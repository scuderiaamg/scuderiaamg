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  <p:sldMasterId id="2147483700" r:id="rId2"/>
  </p:sldMasterIdLst>
  <p:notesMasterIdLst>
    <p:notesMasterId r:id="rId64"/>
  </p:notesMasterIdLst>
  <p:sldIdLst>
    <p:sldId id="574" r:id="rId3"/>
    <p:sldId id="749" r:id="rId4"/>
    <p:sldId id="750" r:id="rId5"/>
    <p:sldId id="751" r:id="rId6"/>
    <p:sldId id="621" r:id="rId7"/>
    <p:sldId id="598" r:id="rId8"/>
    <p:sldId id="622" r:id="rId9"/>
    <p:sldId id="623" r:id="rId10"/>
    <p:sldId id="624" r:id="rId11"/>
    <p:sldId id="625" r:id="rId12"/>
    <p:sldId id="627" r:id="rId13"/>
    <p:sldId id="628" r:id="rId14"/>
    <p:sldId id="629" r:id="rId15"/>
    <p:sldId id="630" r:id="rId16"/>
    <p:sldId id="631" r:id="rId17"/>
    <p:sldId id="752" r:id="rId18"/>
    <p:sldId id="634" r:id="rId19"/>
    <p:sldId id="635" r:id="rId20"/>
    <p:sldId id="636" r:id="rId21"/>
    <p:sldId id="637" r:id="rId22"/>
    <p:sldId id="638" r:id="rId23"/>
    <p:sldId id="642" r:id="rId24"/>
    <p:sldId id="643" r:id="rId25"/>
    <p:sldId id="639" r:id="rId26"/>
    <p:sldId id="641" r:id="rId27"/>
    <p:sldId id="649" r:id="rId28"/>
    <p:sldId id="648" r:id="rId29"/>
    <p:sldId id="646" r:id="rId30"/>
    <p:sldId id="702" r:id="rId31"/>
    <p:sldId id="645" r:id="rId32"/>
    <p:sldId id="644" r:id="rId33"/>
    <p:sldId id="655" r:id="rId34"/>
    <p:sldId id="701" r:id="rId35"/>
    <p:sldId id="754" r:id="rId36"/>
    <p:sldId id="654" r:id="rId37"/>
    <p:sldId id="653" r:id="rId38"/>
    <p:sldId id="652" r:id="rId39"/>
    <p:sldId id="651" r:id="rId40"/>
    <p:sldId id="650" r:id="rId41"/>
    <p:sldId id="640" r:id="rId42"/>
    <p:sldId id="656" r:id="rId43"/>
    <p:sldId id="657" r:id="rId44"/>
    <p:sldId id="658" r:id="rId45"/>
    <p:sldId id="672" r:id="rId46"/>
    <p:sldId id="671" r:id="rId47"/>
    <p:sldId id="673" r:id="rId48"/>
    <p:sldId id="670" r:id="rId49"/>
    <p:sldId id="669" r:id="rId50"/>
    <p:sldId id="678" r:id="rId51"/>
    <p:sldId id="679" r:id="rId52"/>
    <p:sldId id="663" r:id="rId53"/>
    <p:sldId id="677" r:id="rId54"/>
    <p:sldId id="689" r:id="rId55"/>
    <p:sldId id="688" r:id="rId56"/>
    <p:sldId id="686" r:id="rId57"/>
    <p:sldId id="753" r:id="rId58"/>
    <p:sldId id="680" r:id="rId59"/>
    <p:sldId id="684" r:id="rId60"/>
    <p:sldId id="683" r:id="rId61"/>
    <p:sldId id="682" r:id="rId62"/>
    <p:sldId id="681" r:id="rId6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00"/>
    <a:srgbClr val="0000FF"/>
    <a:srgbClr val="FF0066"/>
    <a:srgbClr val="008000"/>
    <a:srgbClr val="CC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3" d="100"/>
          <a:sy n="63" d="100"/>
        </p:scale>
        <p:origin x="840" y="52"/>
      </p:cViewPr>
      <p:guideLst>
        <p:guide orient="horz" pos="2160"/>
        <p:guide pos="28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21" cy="45021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7ADD413-C1E9-429A-9B3D-ADEDC2F578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3A6688C-6E38-42CD-A8BB-BD26897049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DA1529D-B671-4074-9AE3-EB653DB94AE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9710E01-26CA-4BE7-BEC1-BD63F7DB6059}"/>
              </a:ext>
            </a:extLst>
          </p:cNvPr>
          <p:cNvSpPr>
            <a:spLocks noGrp="1" noRot="1" noChangeAspect="1" noChangeArrowheads="1" noTextEdit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         </a:t>
            </a:r>
          </a:p>
          <a:p>
            <a:pPr lvl="1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2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3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4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6548A10-13A6-48B4-A76E-112FE45DD0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b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98709E91-6382-4EA0-ADDB-65A3B5D7A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b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noProof="1">
                <a:latin typeface="Times New Roman" panose="02020603050405020304" pitchFamily="2" charset="0"/>
                <a:cs typeface="+mn-ea"/>
              </a:defRPr>
            </a:lvl1pPr>
          </a:lstStyle>
          <a:p>
            <a:pPr>
              <a:defRPr/>
            </a:pPr>
            <a:fld id="{FD1EF6E6-3DF6-4878-94DE-AD0B896DF91F}" type="slidenum">
              <a:rPr lang="en-US" altLang="x-none"/>
              <a:pPr>
                <a:defRPr/>
              </a:pPr>
              <a:t>‹#›</a:t>
            </a:fld>
            <a:endParaRPr lang="en-US" altLang="x-none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lvl="1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lvl="2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lvl="3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lvl="4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8193">
            <a:extLst>
              <a:ext uri="{FF2B5EF4-FFF2-40B4-BE49-F238E27FC236}">
                <a16:creationId xmlns:a16="http://schemas.microsoft.com/office/drawing/2014/main" id="{2A0E9A7C-E8D5-4C22-AFDD-D0182BB4A2D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9459" name="文本占位符 8194">
            <a:extLst>
              <a:ext uri="{FF2B5EF4-FFF2-40B4-BE49-F238E27FC236}">
                <a16:creationId xmlns:a16="http://schemas.microsoft.com/office/drawing/2014/main" id="{908471AA-331A-46F7-8F85-634FED7135DF}"/>
              </a:ext>
            </a:extLst>
          </p:cNvPr>
          <p:cNvSpPr>
            <a:spLocks noGrp="1" noRot="1" noChangeAspect="1" noChangeArrowheads="1"/>
          </p:cNvSpPr>
          <p:nvPr>
            <p:ph type="body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1. </a:t>
            </a:r>
            <a:r>
              <a:rPr lang="zh-CN" altLang="en-US"/>
              <a:t>虚拟机启动界面，选择</a:t>
            </a:r>
            <a:r>
              <a:rPr lang="en-US" altLang="zh-CN"/>
              <a:t>new</a:t>
            </a:r>
          </a:p>
          <a:p>
            <a:pPr eaLnBrk="1" hangingPunct="1"/>
            <a:r>
              <a:rPr lang="en-US" altLang="zh-CN"/>
              <a:t>2. </a:t>
            </a:r>
            <a:r>
              <a:rPr lang="zh-CN" altLang="en-US"/>
              <a:t>选择程序类型，选</a:t>
            </a:r>
            <a:r>
              <a:rPr lang="en-US" altLang="zh-CN"/>
              <a:t>1</a:t>
            </a:r>
            <a:r>
              <a:rPr lang="zh-CN" altLang="en-US"/>
              <a:t>，生成</a:t>
            </a:r>
            <a:r>
              <a:rPr lang="en-US" altLang="zh-CN"/>
              <a:t>com</a:t>
            </a:r>
            <a:r>
              <a:rPr lang="zh-CN" altLang="en-US"/>
              <a:t>型文件</a:t>
            </a:r>
          </a:p>
          <a:p>
            <a:pPr eaLnBrk="1" hangingPunct="1"/>
            <a:r>
              <a:rPr lang="en-US" altLang="zh-CN"/>
              <a:t>3. </a:t>
            </a:r>
            <a:r>
              <a:rPr lang="zh-CN" altLang="en-US"/>
              <a:t>在模板中编辑指令，如果不会刻意查看</a:t>
            </a:r>
            <a:r>
              <a:rPr lang="en-US" altLang="zh-CN"/>
              <a:t>example</a:t>
            </a:r>
          </a:p>
          <a:p>
            <a:pPr eaLnBrk="1" hangingPunct="1"/>
            <a:r>
              <a:rPr lang="en-US" altLang="zh-CN"/>
              <a:t>4. org</a:t>
            </a:r>
            <a:r>
              <a:rPr lang="zh-CN" altLang="en-US"/>
              <a:t>定位伪指令，先跳转，然后定义数据区，然后为跳转的目的地指令，开始执行，最后</a:t>
            </a:r>
            <a:r>
              <a:rPr lang="en-US" altLang="zh-CN"/>
              <a:t>ret</a:t>
            </a:r>
            <a:r>
              <a:rPr lang="zh-CN" altLang="en-US"/>
              <a:t>返回，</a:t>
            </a:r>
            <a:r>
              <a:rPr lang="en-US" altLang="zh-CN"/>
              <a:t>5. </a:t>
            </a:r>
            <a:r>
              <a:rPr lang="zh-CN" altLang="en-US"/>
              <a:t>程序的功能说明 </a:t>
            </a:r>
          </a:p>
          <a:p>
            <a:pPr eaLnBrk="1" hangingPunct="1"/>
            <a:r>
              <a:rPr lang="en-US" altLang="zh-CN"/>
              <a:t>5. compile</a:t>
            </a:r>
            <a:r>
              <a:rPr lang="zh-CN" altLang="en-US"/>
              <a:t>编译通过，</a:t>
            </a:r>
            <a:r>
              <a:rPr lang="en-US" altLang="zh-CN"/>
              <a:t> </a:t>
            </a:r>
            <a:r>
              <a:rPr lang="zh-CN" altLang="en-US"/>
              <a:t>选择执行，直接执行完毕；或者直接选择</a:t>
            </a:r>
            <a:r>
              <a:rPr lang="en-US" altLang="zh-CN"/>
              <a:t>emulate</a:t>
            </a:r>
            <a:r>
              <a:rPr lang="zh-CN" altLang="en-US"/>
              <a:t>进入调试界面</a:t>
            </a:r>
          </a:p>
          <a:p>
            <a:pPr eaLnBrk="1" hangingPunct="1"/>
            <a:r>
              <a:rPr lang="en-US" altLang="zh-CN"/>
              <a:t>6. reload</a:t>
            </a:r>
            <a:r>
              <a:rPr lang="zh-CN" altLang="en-US"/>
              <a:t>重新加载，然后单步，可以查看寄存器的变化，点击下面的按钮可以观察标志位变化情况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31">
            <a:extLst>
              <a:ext uri="{FF2B5EF4-FFF2-40B4-BE49-F238E27FC236}">
                <a16:creationId xmlns:a16="http://schemas.microsoft.com/office/drawing/2014/main" id="{87EC9434-429D-4F41-9DC3-56271954F1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fld id="{E7CA085B-CA85-4939-8864-2F86806DB59D}" type="slidenum">
              <a:rPr lang="zh-CN" altLang="en-US" sz="1200">
                <a:latin typeface="Times New Roman" panose="02020603050405020304" pitchFamily="18" charset="0"/>
                <a:ea typeface="楷体_GB2312" pitchFamily="49" charset="-122"/>
              </a:rPr>
              <a:pPr/>
              <a:t>53</a:t>
            </a:fld>
            <a:endParaRPr lang="en-US" altLang="zh-CN" sz="1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3107" name="Rectangle 2">
            <a:extLst>
              <a:ext uri="{FF2B5EF4-FFF2-40B4-BE49-F238E27FC236}">
                <a16:creationId xmlns:a16="http://schemas.microsoft.com/office/drawing/2014/main" id="{B5A921DA-7D60-4BF4-857A-CE435AB12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3108" name="Rectangle 3">
            <a:extLst>
              <a:ext uri="{FF2B5EF4-FFF2-40B4-BE49-F238E27FC236}">
                <a16:creationId xmlns:a16="http://schemas.microsoft.com/office/drawing/2014/main" id="{BC44C2B0-4774-4EF2-82D6-1AB38B55E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274638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31650374"/>
      </p:ext>
    </p:extLst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695573"/>
      </p:ext>
    </p:extLst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9038311"/>
      </p:ext>
    </p:extLst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5763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725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90922552"/>
      </p:ext>
    </p:extLst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72590924"/>
      </p:ext>
    </p:extLst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8314281"/>
      </p:ext>
    </p:extLst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985138"/>
      </p:ext>
    </p:extLst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0996839"/>
      </p:ext>
    </p:extLst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48623793"/>
      </p:ext>
    </p:extLst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70890860"/>
      </p:ext>
    </p:extLst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119" y="368300"/>
            <a:ext cx="2093119" cy="6121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5763" y="368300"/>
            <a:ext cx="6158016" cy="6121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62065609"/>
      </p:ext>
    </p:extLst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719A9D-A1BC-4B35-8E58-A740A4E2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1B7CFE-2A88-4421-AD01-4D98E5ECE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E91654-E54E-410F-B352-44D28430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42CCE-170B-40E5-A460-8097DACDE9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832957"/>
      </p:ext>
    </p:extLst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AA85C9-54CA-4E4D-B406-04EB2094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70E815-8613-4BEF-BE15-FCB99107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A6ED9A-A32A-4D16-8ABB-A25AEC51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04ED41-1049-4882-94BB-61FB0CB423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445788"/>
      </p:ext>
    </p:extLst>
  </p:cSld>
  <p:clrMapOvr>
    <a:masterClrMapping/>
  </p:clrMapOvr>
  <p:transition spd="slow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1471B5-8EA8-4127-B194-57CEA9D2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704FB7-C10D-4DDD-870E-80E7D5941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8791EF-4E9D-4256-B60B-1B56AA71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96516-F490-4BD1-9E05-8770311D2E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00856"/>
      </p:ext>
    </p:extLst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395C5D-9C78-4677-A45B-F3F3C4D4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B63AF-0E5E-4C5F-B2DA-3A160FE3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CDA9E-5AE1-4914-8579-21BD470E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4311C-76EE-4929-896F-475272B085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354098"/>
      </p:ext>
    </p:extLst>
  </p:cSld>
  <p:clrMapOvr>
    <a:masterClrMapping/>
  </p:clrMapOvr>
  <p:transition spd="slow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F180068-9D4D-4CAC-9D59-04172884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4F8425C-D54B-45B7-A3C3-2881F74D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D9D7E67-2F73-4BF3-BCE1-57DFE2D6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36392-53A6-4AE4-9F1B-9681448B8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252367"/>
      </p:ext>
    </p:extLst>
  </p:cSld>
  <p:clrMapOvr>
    <a:masterClrMapping/>
  </p:clrMapOvr>
  <p:transition spd="slow"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F26563-6279-4BA1-A1BB-3DD9212B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C933AC-25C1-4CFF-8903-1AB00A0B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C7A4CC7-A410-4FCD-A5AC-4619B795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D450B-20D5-4E5A-B7E1-38AD254879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81633"/>
      </p:ext>
    </p:extLst>
  </p:cSld>
  <p:clrMapOvr>
    <a:masterClrMapping/>
  </p:clrMapOvr>
  <p:transition spd="slow"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253022E-EF93-4537-9560-0B5454D0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F4598A3-A9A8-4FE7-BD74-5481242F0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9685D6-EBB1-49A2-A275-B869882D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A6466-FBC5-49F2-AD97-110B13688D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02420"/>
      </p:ext>
    </p:extLst>
  </p:cSld>
  <p:clrMapOvr>
    <a:masterClrMapping/>
  </p:clrMapOvr>
  <p:transition spd="slow"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383DF-309C-4AE0-BB48-8F10881F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6C6A68-4ACE-42F9-9BD8-52600D0A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66F2B6-34FC-4DBD-A1AB-7C7AEAF7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6AC553-1A5A-45BF-81A9-468C9E9452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920606"/>
      </p:ext>
    </p:extLst>
  </p:cSld>
  <p:clrMapOvr>
    <a:masterClrMapping/>
  </p:clrMapOvr>
  <p:transition spd="slow"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6369A-7530-4935-8738-AD588664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717678-025E-4259-AE64-A65DB9A5A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C6322-5E32-476B-A37E-B6419F54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97080-C018-43FC-AEAA-53A68326F54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270105"/>
      </p:ext>
    </p:extLst>
  </p:cSld>
  <p:clrMapOvr>
    <a:masterClrMapping/>
  </p:clrMapOvr>
  <p:transition spd="slow"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60D47D-742F-49BC-B84E-0131F20F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C08CF4-41CD-4DAC-9595-6F1EBD84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27FE46-089B-445C-9D1D-526A00B0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2C296-E13B-4FDC-AAFB-094ABBEA6C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945062"/>
      </p:ext>
    </p:extLst>
  </p:cSld>
  <p:clrMapOvr>
    <a:masterClrMapping/>
  </p:clrMapOvr>
  <p:transition spd="slow"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9CBC0D-0DFF-4C82-824C-B8CB28B4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14E9FA-7DE4-4942-85F1-2EAB3D328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6A23E5-F93C-4DCC-B756-838F7A70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F2B0E-9673-4DE3-BDE3-09B06DC73E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929157"/>
      </p:ext>
    </p:extLst>
  </p:cSld>
  <p:clrMapOvr>
    <a:masterClrMapping/>
  </p:clrMapOvr>
  <p:transition spd="slow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A239FD22-FDBD-4D23-8CDC-DAF87CF88E44}"/>
              </a:ext>
            </a:extLst>
          </p:cNvPr>
          <p:cNvGrpSpPr>
            <a:grpSpLocks/>
          </p:cNvGrpSpPr>
          <p:nvPr/>
        </p:nvGrpSpPr>
        <p:grpSpPr bwMode="auto">
          <a:xfrm>
            <a:off x="0" y="7938"/>
            <a:ext cx="9140825" cy="6850062"/>
            <a:chOff x="0" y="0"/>
            <a:chExt cx="5758" cy="4315"/>
          </a:xfrm>
        </p:grpSpPr>
        <p:grpSp>
          <p:nvGrpSpPr>
            <p:cNvPr id="1031" name="组合 1026">
              <a:extLst>
                <a:ext uri="{FF2B5EF4-FFF2-40B4-BE49-F238E27FC236}">
                  <a16:creationId xmlns:a16="http://schemas.microsoft.com/office/drawing/2014/main" id="{2862A1FD-A70C-45C2-8EEF-2EB3D5F377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230"/>
              <a:ext cx="4027" cy="2085"/>
              <a:chOff x="0" y="0"/>
              <a:chExt cx="4027" cy="2085"/>
            </a:xfrm>
          </p:grpSpPr>
          <p:sp>
            <p:nvSpPr>
              <p:cNvPr id="1034" name="Freeform 4">
                <a:extLst>
                  <a:ext uri="{FF2B5EF4-FFF2-40B4-BE49-F238E27FC236}">
                    <a16:creationId xmlns:a16="http://schemas.microsoft.com/office/drawing/2014/main" id="{9F6B8627-D533-48A2-BFE6-871AE2A63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" name="Freeform 5">
                <a:extLst>
                  <a:ext uri="{FF2B5EF4-FFF2-40B4-BE49-F238E27FC236}">
                    <a16:creationId xmlns:a16="http://schemas.microsoft.com/office/drawing/2014/main" id="{BB52E002-CF6A-4ED8-87B4-C68B278A9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44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6">
                <a:extLst>
                  <a:ext uri="{FF2B5EF4-FFF2-40B4-BE49-F238E27FC236}">
                    <a16:creationId xmlns:a16="http://schemas.microsoft.com/office/drawing/2014/main" id="{BF2F19EA-2DC2-442F-A577-E6493F52D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" y="111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939"/>
                  </a:gs>
                  <a:gs pos="100000">
                    <a:srgbClr val="00464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7">
                <a:extLst>
                  <a:ext uri="{FF2B5EF4-FFF2-40B4-BE49-F238E27FC236}">
                    <a16:creationId xmlns:a16="http://schemas.microsoft.com/office/drawing/2014/main" id="{5A4E493A-35F0-477D-AB71-688C6B8EC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8">
                <a:extLst>
                  <a:ext uri="{FF2B5EF4-FFF2-40B4-BE49-F238E27FC236}">
                    <a16:creationId xmlns:a16="http://schemas.microsoft.com/office/drawing/2014/main" id="{C1483F33-C575-40DF-9439-CB0597B0D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8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D3D"/>
                  </a:gs>
                  <a:gs pos="100000">
                    <a:srgbClr val="00464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2" name="Freeform 9">
              <a:extLst>
                <a:ext uri="{FF2B5EF4-FFF2-40B4-BE49-F238E27FC236}">
                  <a16:creationId xmlns:a16="http://schemas.microsoft.com/office/drawing/2014/main" id="{CEBAA15D-ACA8-4D3F-B038-D31B2D240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341"/>
              <a:ext cx="1825" cy="1537"/>
            </a:xfrm>
            <a:custGeom>
              <a:avLst/>
              <a:gdLst>
                <a:gd name="T0" fmla="*/ 393 w 2296"/>
                <a:gd name="T1" fmla="*/ 1271 h 1469"/>
                <a:gd name="T2" fmla="*/ 542 w 2296"/>
                <a:gd name="T3" fmla="*/ 1213 h 1469"/>
                <a:gd name="T4" fmla="*/ 665 w 2296"/>
                <a:gd name="T5" fmla="*/ 1146 h 1469"/>
                <a:gd name="T6" fmla="*/ 765 w 2296"/>
                <a:gd name="T7" fmla="*/ 1075 h 1469"/>
                <a:gd name="T8" fmla="*/ 839 w 2296"/>
                <a:gd name="T9" fmla="*/ 997 h 1469"/>
                <a:gd name="T10" fmla="*/ 886 w 2296"/>
                <a:gd name="T11" fmla="*/ 906 h 1469"/>
                <a:gd name="T12" fmla="*/ 912 w 2296"/>
                <a:gd name="T13" fmla="*/ 801 h 1469"/>
                <a:gd name="T14" fmla="*/ 914 w 2296"/>
                <a:gd name="T15" fmla="*/ 671 h 1469"/>
                <a:gd name="T16" fmla="*/ 895 w 2296"/>
                <a:gd name="T17" fmla="*/ 547 h 1469"/>
                <a:gd name="T18" fmla="*/ 855 w 2296"/>
                <a:gd name="T19" fmla="*/ 436 h 1469"/>
                <a:gd name="T20" fmla="*/ 802 w 2296"/>
                <a:gd name="T21" fmla="*/ 332 h 1469"/>
                <a:gd name="T22" fmla="*/ 707 w 2296"/>
                <a:gd name="T23" fmla="*/ 188 h 1469"/>
                <a:gd name="T24" fmla="*/ 643 w 2296"/>
                <a:gd name="T25" fmla="*/ 110 h 1469"/>
                <a:gd name="T26" fmla="*/ 589 w 2296"/>
                <a:gd name="T27" fmla="*/ 51 h 1469"/>
                <a:gd name="T28" fmla="*/ 552 w 2296"/>
                <a:gd name="T29" fmla="*/ 10 h 1469"/>
                <a:gd name="T30" fmla="*/ 537 w 2296"/>
                <a:gd name="T31" fmla="*/ 0 h 1469"/>
                <a:gd name="T32" fmla="*/ 661 w 2296"/>
                <a:gd name="T33" fmla="*/ 143 h 1469"/>
                <a:gd name="T34" fmla="*/ 777 w 2296"/>
                <a:gd name="T35" fmla="*/ 306 h 1469"/>
                <a:gd name="T36" fmla="*/ 826 w 2296"/>
                <a:gd name="T37" fmla="*/ 391 h 1469"/>
                <a:gd name="T38" fmla="*/ 867 w 2296"/>
                <a:gd name="T39" fmla="*/ 481 h 1469"/>
                <a:gd name="T40" fmla="*/ 892 w 2296"/>
                <a:gd name="T41" fmla="*/ 572 h 1469"/>
                <a:gd name="T42" fmla="*/ 904 w 2296"/>
                <a:gd name="T43" fmla="*/ 671 h 1469"/>
                <a:gd name="T44" fmla="*/ 895 w 2296"/>
                <a:gd name="T45" fmla="*/ 762 h 1469"/>
                <a:gd name="T46" fmla="*/ 867 w 2296"/>
                <a:gd name="T47" fmla="*/ 841 h 1469"/>
                <a:gd name="T48" fmla="*/ 823 w 2296"/>
                <a:gd name="T49" fmla="*/ 906 h 1469"/>
                <a:gd name="T50" fmla="*/ 767 w 2296"/>
                <a:gd name="T51" fmla="*/ 959 h 1469"/>
                <a:gd name="T52" fmla="*/ 698 w 2296"/>
                <a:gd name="T53" fmla="*/ 1011 h 1469"/>
                <a:gd name="T54" fmla="*/ 540 w 2296"/>
                <a:gd name="T55" fmla="*/ 1088 h 1469"/>
                <a:gd name="T56" fmla="*/ 368 w 2296"/>
                <a:gd name="T57" fmla="*/ 1160 h 1469"/>
                <a:gd name="T58" fmla="*/ 208 w 2296"/>
                <a:gd name="T59" fmla="*/ 1233 h 1469"/>
                <a:gd name="T60" fmla="*/ 141 w 2296"/>
                <a:gd name="T61" fmla="*/ 1278 h 1469"/>
                <a:gd name="T62" fmla="*/ 82 w 2296"/>
                <a:gd name="T63" fmla="*/ 1323 h 1469"/>
                <a:gd name="T64" fmla="*/ 37 w 2296"/>
                <a:gd name="T65" fmla="*/ 1376 h 1469"/>
                <a:gd name="T66" fmla="*/ 9 w 2296"/>
                <a:gd name="T67" fmla="*/ 1441 h 1469"/>
                <a:gd name="T68" fmla="*/ 0 w 2296"/>
                <a:gd name="T69" fmla="*/ 1512 h 1469"/>
                <a:gd name="T70" fmla="*/ 11 w 2296"/>
                <a:gd name="T71" fmla="*/ 1589 h 1469"/>
                <a:gd name="T72" fmla="*/ 39 w 2296"/>
                <a:gd name="T73" fmla="*/ 1656 h 1469"/>
                <a:gd name="T74" fmla="*/ 79 w 2296"/>
                <a:gd name="T75" fmla="*/ 1708 h 1469"/>
                <a:gd name="T76" fmla="*/ 130 w 2296"/>
                <a:gd name="T77" fmla="*/ 1760 h 1469"/>
                <a:gd name="T78" fmla="*/ 87 w 2296"/>
                <a:gd name="T79" fmla="*/ 1694 h 1469"/>
                <a:gd name="T80" fmla="*/ 59 w 2296"/>
                <a:gd name="T81" fmla="*/ 1630 h 1469"/>
                <a:gd name="T82" fmla="*/ 48 w 2296"/>
                <a:gd name="T83" fmla="*/ 1564 h 1469"/>
                <a:gd name="T84" fmla="*/ 56 w 2296"/>
                <a:gd name="T85" fmla="*/ 1507 h 1469"/>
                <a:gd name="T86" fmla="*/ 85 w 2296"/>
                <a:gd name="T87" fmla="*/ 1448 h 1469"/>
                <a:gd name="T88" fmla="*/ 137 w 2296"/>
                <a:gd name="T89" fmla="*/ 1395 h 1469"/>
                <a:gd name="T90" fmla="*/ 211 w 2296"/>
                <a:gd name="T91" fmla="*/ 1343 h 1469"/>
                <a:gd name="T92" fmla="*/ 308 w 2296"/>
                <a:gd name="T93" fmla="*/ 1304 h 14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B3B"/>
                </a:gs>
                <a:gs pos="100000">
                  <a:srgbClr val="004646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10">
              <a:extLst>
                <a:ext uri="{FF2B5EF4-FFF2-40B4-BE49-F238E27FC236}">
                  <a16:creationId xmlns:a16="http://schemas.microsoft.com/office/drawing/2014/main" id="{9D23D3B1-FF22-461E-B179-4483D7203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437 h 1906"/>
                <a:gd name="T4" fmla="*/ 5812 w 5740"/>
                <a:gd name="T5" fmla="*/ 1437 h 1906"/>
                <a:gd name="T6" fmla="*/ 5812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00464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11">
            <a:extLst>
              <a:ext uri="{FF2B5EF4-FFF2-40B4-BE49-F238E27FC236}">
                <a16:creationId xmlns:a16="http://schemas.microsoft.com/office/drawing/2014/main" id="{3BD36CEE-A6DC-46A4-9361-E5A2F737DEA5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1028" name="Rectangle 12">
            <a:extLst>
              <a:ext uri="{FF2B5EF4-FFF2-40B4-BE49-F238E27FC236}">
                <a16:creationId xmlns:a16="http://schemas.microsoft.com/office/drawing/2014/main" id="{C1E68225-74EC-4363-98A7-D910B48691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85763" y="1314450"/>
            <a:ext cx="8372475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 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 第三级</a:t>
            </a:r>
          </a:p>
        </p:txBody>
      </p:sp>
      <p:sp>
        <p:nvSpPr>
          <p:cNvPr id="1029" name="Text Box 13">
            <a:extLst>
              <a:ext uri="{FF2B5EF4-FFF2-40B4-BE49-F238E27FC236}">
                <a16:creationId xmlns:a16="http://schemas.microsoft.com/office/drawing/2014/main" id="{29EBE468-D760-418C-9009-0443AD36C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0"/>
            <a:ext cx="2555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章 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8086 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指令系统</a:t>
            </a:r>
            <a:endParaRPr lang="zh-CN" altLang="en-US" sz="2400"/>
          </a:p>
        </p:txBody>
      </p:sp>
      <p:sp>
        <p:nvSpPr>
          <p:cNvPr id="1030" name="TextBox 14">
            <a:extLst>
              <a:ext uri="{FF2B5EF4-FFF2-40B4-BE49-F238E27FC236}">
                <a16:creationId xmlns:a16="http://schemas.microsoft.com/office/drawing/2014/main" id="{03AF4CB7-46E1-4541-BA7F-CD79BA080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1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3.3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指令系统</a:t>
            </a: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-1</a:t>
            </a:r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ransition spd="slow">
    <p:wedg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FFFF99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533400" indent="-5334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u"/>
        <a:defRPr sz="26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914400" lvl="1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371600" lvl="2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752600" lvl="3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2209800" lvl="4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lvl="5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6pPr>
      <a:lvl7pPr marL="2971800" lvl="6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7pPr>
      <a:lvl8pPr marL="3429000" lvl="7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8pPr>
      <a:lvl9pPr marL="3886200" lvl="8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11BC3E5-1523-43AA-A071-93B163653EA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5325035-2027-4C58-8413-D0B23F31D5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FB03A0B-AE06-44EA-90D9-870A0ACB8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0916AF1-C8E4-44E2-9D0F-F193CD2AF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7554CA75-018C-4355-83BE-91907E885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cs typeface="+mn-ea"/>
              </a:defRPr>
            </a:lvl1pPr>
          </a:lstStyle>
          <a:p>
            <a:pPr>
              <a:defRPr/>
            </a:pPr>
            <a:fld id="{02B421BD-1121-4AEB-9FA6-D2D8F5139215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ransition spd="slow">
    <p:wedg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5498E80F-D71E-4D43-A11C-B061AC1E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>
                <a:srgbClr val="B4B9BE"/>
              </a:buClr>
              <a:buFontTx/>
              <a:buNone/>
            </a:pPr>
            <a:endParaRPr lang="zh-CN" altLang="en-US" sz="2400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5363" name="Rectangle 9">
            <a:extLst>
              <a:ext uri="{FF2B5EF4-FFF2-40B4-BE49-F238E27FC236}">
                <a16:creationId xmlns:a16="http://schemas.microsoft.com/office/drawing/2014/main" id="{B932B33A-CCB9-4139-9D5B-BEC09E27B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en-US" altLang="zh-CN" sz="1000" b="1" i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M/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5364" name="Rectangle 10">
            <a:extLst>
              <a:ext uri="{FF2B5EF4-FFF2-40B4-BE49-F238E27FC236}">
                <a16:creationId xmlns:a16="http://schemas.microsoft.com/office/drawing/2014/main" id="{2408BBCE-CD1B-4FBC-8A0F-175CA458B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1100" b="1" i="1">
                <a:sym typeface="Arial" panose="020B0604020202020204" pitchFamily="34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100" name="标题 1">
            <a:extLst>
              <a:ext uri="{FF2B5EF4-FFF2-40B4-BE49-F238E27FC236}">
                <a16:creationId xmlns:a16="http://schemas.microsoft.com/office/drawing/2014/main" id="{341F1329-A329-4EA3-9B31-2DA5E617471B}"/>
              </a:ext>
            </a:extLst>
          </p:cNvPr>
          <p:cNvSpPr>
            <a:spLocks noGrp="1"/>
          </p:cNvSpPr>
          <p:nvPr/>
        </p:nvSpPr>
        <p:spPr>
          <a:xfrm>
            <a:off x="304800" y="1117600"/>
            <a:ext cx="8534400" cy="488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>
              <a:spcBef>
                <a:spcPts val="2400"/>
              </a:spcBef>
              <a:spcAft>
                <a:spcPts val="2400"/>
              </a:spcAft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第3章</a:t>
            </a:r>
            <a:endParaRPr lang="en-US" altLang="zh-CN" sz="4800" b="1" noProof="1">
              <a:solidFill>
                <a:schemeClr val="accent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  <a:cs typeface="+mn-ea"/>
              <a:sym typeface="方正姚体" panose="02010601030101010101" pitchFamily="2" charset="-122"/>
            </a:endParaRPr>
          </a:p>
          <a:p>
            <a:pPr algn="ctr" eaLnBrk="1" hangingPunct="1">
              <a:spcBef>
                <a:spcPts val="2400"/>
              </a:spcBef>
              <a:spcAft>
                <a:spcPts val="2400"/>
              </a:spcAft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en-US" altLang="x-none" sz="4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  <a:sym typeface="Times New Roman" panose="02020603050405020304" pitchFamily="2" charset="0"/>
              </a:rPr>
              <a:t>8086的寻址方式和指令系统</a:t>
            </a:r>
          </a:p>
          <a:p>
            <a:pPr algn="ctr" eaLnBrk="1" hangingPunct="1">
              <a:spcBef>
                <a:spcPts val="2400"/>
              </a:spcBef>
              <a:spcAft>
                <a:spcPts val="2400"/>
              </a:spcAft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en-US" altLang="x-none" sz="40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</a:rPr>
              <a:t>PART2 </a:t>
            </a:r>
            <a:r>
              <a:rPr lang="zh-CN" altLang="en-US" sz="40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</a:rPr>
              <a:t>指令系统（一）</a:t>
            </a:r>
          </a:p>
        </p:txBody>
      </p:sp>
    </p:spTree>
  </p:cSld>
  <p:clrMapOvr>
    <a:masterClrMapping/>
  </p:clrMapOvr>
  <p:transition spd="slow">
    <p:plu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B1B58F2B-997F-4D84-AE66-BE89CEC573E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260350" y="160655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4800" b="1">
                <a:solidFill>
                  <a:schemeClr val="accent2"/>
                </a:solidFill>
              </a:rPr>
              <a:t>§3.2  </a:t>
            </a:r>
            <a:r>
              <a:rPr lang="zh-CN" altLang="en-US" sz="4800" b="1">
                <a:solidFill>
                  <a:schemeClr val="accent2"/>
                </a:solidFill>
              </a:rPr>
              <a:t>指令机器码的概念</a:t>
            </a:r>
          </a:p>
        </p:txBody>
      </p:sp>
    </p:spTree>
  </p:cSld>
  <p:clrMapOvr>
    <a:masterClrMapping/>
  </p:clrMapOvr>
  <p:transition spd="slow">
    <p:wheel spokes="2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6145">
            <a:extLst>
              <a:ext uri="{FF2B5EF4-FFF2-40B4-BE49-F238E27FC236}">
                <a16:creationId xmlns:a16="http://schemas.microsoft.com/office/drawing/2014/main" id="{A919ACFB-4EB2-4A50-B4F9-E24A5235B60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>
                <a:solidFill>
                  <a:schemeClr val="accent2"/>
                </a:solidFill>
              </a:rPr>
              <a:t>什么是机器码</a:t>
            </a:r>
          </a:p>
        </p:txBody>
      </p:sp>
      <p:sp>
        <p:nvSpPr>
          <p:cNvPr id="17411" name="文本占位符 6146">
            <a:extLst>
              <a:ext uri="{FF2B5EF4-FFF2-40B4-BE49-F238E27FC236}">
                <a16:creationId xmlns:a16="http://schemas.microsoft.com/office/drawing/2014/main" id="{A2C00B24-BAC2-4B8A-AAE9-1E43A00C0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机器指令：微处理器中指令以</a:t>
            </a:r>
            <a:r>
              <a:rPr lang="zh-CN" altLang="en-US" sz="2400" b="1">
                <a:solidFill>
                  <a:srgbClr val="CC3300"/>
                </a:solidFill>
              </a:rPr>
              <a:t>二进制编码</a:t>
            </a:r>
            <a:r>
              <a:rPr lang="zh-CN" altLang="en-US" sz="2400"/>
              <a:t>的形式出现，称为指令的机器码，或称机器指令</a:t>
            </a: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73DB06CC-E25C-4950-8EB0-AC6926C5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2393950"/>
            <a:ext cx="7834312" cy="96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2000" b="1">
                <a:solidFill>
                  <a:srgbClr val="00CCFF"/>
                </a:solidFill>
              </a:rPr>
              <a:t>     </a:t>
            </a:r>
            <a:r>
              <a:rPr lang="zh-CN" altLang="en-US" sz="2000" b="1">
                <a:solidFill>
                  <a:srgbClr val="CC3300"/>
                </a:solidFill>
              </a:rPr>
              <a:t>地址            机器码                  符号指令                       注释</a:t>
            </a:r>
          </a:p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2000" b="1"/>
              <a:t>2000:0100   </a:t>
            </a:r>
            <a:r>
              <a:rPr lang="zh-CN" altLang="en-US" sz="2000" b="1">
                <a:solidFill>
                  <a:srgbClr val="0000FF"/>
                </a:solidFill>
              </a:rPr>
              <a:t> </a:t>
            </a:r>
            <a:r>
              <a:rPr lang="en-US" altLang="zh-CN" sz="2000" b="1">
                <a:solidFill>
                  <a:srgbClr val="0000FF"/>
                </a:solidFill>
              </a:rPr>
              <a:t>B83412</a:t>
            </a:r>
            <a:r>
              <a:rPr lang="en-US" altLang="zh-CN" sz="2000" b="1"/>
              <a:t>    START:MOV AX，1234H ；1234H → AX</a:t>
            </a:r>
          </a:p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en-US" altLang="zh-CN" sz="2000" b="1"/>
              <a:t>2000:0103   </a:t>
            </a:r>
            <a:r>
              <a:rPr lang="en-US" altLang="zh-CN" sz="2000" b="1">
                <a:solidFill>
                  <a:srgbClr val="0000FF"/>
                </a:solidFill>
              </a:rPr>
              <a:t> 01D8  </a:t>
            </a:r>
            <a:r>
              <a:rPr lang="en-US" altLang="zh-CN" sz="2000" b="1"/>
              <a:t>                   ADD AX,   BX      ； AX+BX→AX</a:t>
            </a:r>
          </a:p>
        </p:txBody>
      </p:sp>
      <p:graphicFrame>
        <p:nvGraphicFramePr>
          <p:cNvPr id="6149" name="表格 6148">
            <a:extLst>
              <a:ext uri="{FF2B5EF4-FFF2-40B4-BE49-F238E27FC236}">
                <a16:creationId xmlns:a16="http://schemas.microsoft.com/office/drawing/2014/main" id="{567C6967-75BF-47F0-B441-0897AA31FD5C}"/>
              </a:ext>
            </a:extLst>
          </p:cNvPr>
          <p:cNvGraphicFramePr/>
          <p:nvPr/>
        </p:nvGraphicFramePr>
        <p:xfrm>
          <a:off x="6464300" y="3789363"/>
          <a:ext cx="1828800" cy="253365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eaLnBrk="0" hangingPunct="0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 eaLnBrk="1" hangingPunct="1"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Garamond" panose="02020404030301010803" pitchFamily="2" charset="0"/>
                          <a:ea typeface="宋体" panose="02010600030101010101" pitchFamily="2" charset="-122"/>
                        </a:rPr>
                        <a:t>B8</a:t>
                      </a:r>
                    </a:p>
                  </a:txBody>
                  <a:tcPr marL="76200" marR="76200" marT="38100" marB="381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eaLnBrk="0" hangingPunct="0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 eaLnBrk="1" hangingPunct="1"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Garamond" panose="02020404030301010803" pitchFamily="2" charset="0"/>
                          <a:ea typeface="宋体" panose="02010600030101010101" pitchFamily="2" charset="-122"/>
                        </a:rPr>
                        <a:t>34</a:t>
                      </a:r>
                    </a:p>
                  </a:txBody>
                  <a:tcPr marL="76200" marR="76200" marT="38100" marB="381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eaLnBrk="0" hangingPunct="0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 eaLnBrk="1" hangingPunct="1"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Garamond" panose="02020404030301010803" pitchFamily="2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76200" marR="76200" marT="38100" marB="381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eaLnBrk="0" hangingPunct="0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 eaLnBrk="1" hangingPunct="1"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Garamond" panose="02020404030301010803" pitchFamily="2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en-US" altLang="x-none" sz="2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Garamond" panose="02020404030301010803" pitchFamily="2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0" marR="76200" marT="38100" marB="381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23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eaLnBrk="0" hangingPunct="0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 algn="ctr" eaLnBrk="1" hangingPunct="1"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x-none" sz="2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Garamond" panose="02020404030301010803" pitchFamily="2" charset="0"/>
                          <a:ea typeface="宋体" panose="02010600030101010101" pitchFamily="2" charset="-122"/>
                        </a:rPr>
                        <a:t>D8</a:t>
                      </a:r>
                    </a:p>
                  </a:txBody>
                  <a:tcPr marL="76200" marR="76200" marT="38100" marB="3810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163" name="组合 6162">
            <a:extLst>
              <a:ext uri="{FF2B5EF4-FFF2-40B4-BE49-F238E27FC236}">
                <a16:creationId xmlns:a16="http://schemas.microsoft.com/office/drawing/2014/main" id="{2DBE8FFD-C026-46F3-8AC5-D4A7C5955128}"/>
              </a:ext>
            </a:extLst>
          </p:cNvPr>
          <p:cNvGrpSpPr>
            <a:grpSpLocks/>
          </p:cNvGrpSpPr>
          <p:nvPr/>
        </p:nvGrpSpPr>
        <p:grpSpPr bwMode="auto">
          <a:xfrm>
            <a:off x="4618038" y="3789363"/>
            <a:ext cx="1752600" cy="2466975"/>
            <a:chOff x="0" y="0"/>
            <a:chExt cx="1104" cy="1554"/>
          </a:xfrm>
        </p:grpSpPr>
        <p:sp>
          <p:nvSpPr>
            <p:cNvPr id="17429" name="Text Box 18">
              <a:extLst>
                <a:ext uri="{FF2B5EF4-FFF2-40B4-BE49-F238E27FC236}">
                  <a16:creationId xmlns:a16="http://schemas.microsoft.com/office/drawing/2014/main" id="{F3B48CD0-4DCB-4223-9C31-9B10B4892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>
                  <a:srgbClr val="B4B9BE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2000: 0100</a:t>
              </a:r>
            </a:p>
          </p:txBody>
        </p:sp>
        <p:sp>
          <p:nvSpPr>
            <p:cNvPr id="17430" name="Text Box 19">
              <a:extLst>
                <a:ext uri="{FF2B5EF4-FFF2-40B4-BE49-F238E27FC236}">
                  <a16:creationId xmlns:a16="http://schemas.microsoft.com/office/drawing/2014/main" id="{7331A18B-6295-4301-8ED8-45DD295C9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7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>
                  <a:srgbClr val="B4B9BE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2000: 0101</a:t>
              </a:r>
            </a:p>
          </p:txBody>
        </p:sp>
        <p:sp>
          <p:nvSpPr>
            <p:cNvPr id="17431" name="Text Box 20">
              <a:extLst>
                <a:ext uri="{FF2B5EF4-FFF2-40B4-BE49-F238E27FC236}">
                  <a16:creationId xmlns:a16="http://schemas.microsoft.com/office/drawing/2014/main" id="{606DAFAE-1F16-439A-94C4-08D00DDA9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645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>
                  <a:srgbClr val="B4B9BE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2000:0102</a:t>
              </a:r>
            </a:p>
          </p:txBody>
        </p:sp>
        <p:sp>
          <p:nvSpPr>
            <p:cNvPr id="17432" name="Text Box 21">
              <a:extLst>
                <a:ext uri="{FF2B5EF4-FFF2-40B4-BE49-F238E27FC236}">
                  <a16:creationId xmlns:a16="http://schemas.microsoft.com/office/drawing/2014/main" id="{BD776188-14B5-4B6D-8DB2-2CA8861CE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948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>
                  <a:srgbClr val="B4B9BE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2000: 0103</a:t>
              </a:r>
            </a:p>
          </p:txBody>
        </p:sp>
        <p:sp>
          <p:nvSpPr>
            <p:cNvPr id="17433" name="Text Box 22">
              <a:extLst>
                <a:ext uri="{FF2B5EF4-FFF2-40B4-BE49-F238E27FC236}">
                  <a16:creationId xmlns:a16="http://schemas.microsoft.com/office/drawing/2014/main" id="{15033801-C00B-4D79-BFDE-CEC5BF92E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66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>
                  <a:srgbClr val="B4B9BE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2000: 0104</a:t>
              </a:r>
            </a:p>
          </p:txBody>
        </p:sp>
      </p:grpSp>
      <p:sp>
        <p:nvSpPr>
          <p:cNvPr id="6169" name="文本框 6168">
            <a:extLst>
              <a:ext uri="{FF2B5EF4-FFF2-40B4-BE49-F238E27FC236}">
                <a16:creationId xmlns:a16="http://schemas.microsoft.com/office/drawing/2014/main" id="{5206E3C4-3BD5-46EE-BBD6-703030984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4240213"/>
            <a:ext cx="3736975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8086指令的连续存放在存储器中，其第一个字节所在的存储器地址为该指令的地址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69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7169">
            <a:extLst>
              <a:ext uri="{FF2B5EF4-FFF2-40B4-BE49-F238E27FC236}">
                <a16:creationId xmlns:a16="http://schemas.microsoft.com/office/drawing/2014/main" id="{B9AE3F31-83A9-415E-9EF5-6D3C98C452E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>
                <a:solidFill>
                  <a:schemeClr val="accent2"/>
                </a:solidFill>
              </a:rPr>
              <a:t>指令学习小伙伴</a:t>
            </a:r>
          </a:p>
        </p:txBody>
      </p:sp>
      <p:sp>
        <p:nvSpPr>
          <p:cNvPr id="18435" name="文本占位符 7170">
            <a:extLst>
              <a:ext uri="{FF2B5EF4-FFF2-40B4-BE49-F238E27FC236}">
                <a16:creationId xmlns:a16="http://schemas.microsoft.com/office/drawing/2014/main" id="{464F6B16-F4B2-450A-B0A4-6D60E0E5B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8463" y="2705100"/>
            <a:ext cx="8229600" cy="847725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CC3300"/>
                </a:solidFill>
              </a:rPr>
              <a:t>用</a:t>
            </a:r>
            <a:r>
              <a:rPr lang="en-US" altLang="zh-CN" b="1">
                <a:solidFill>
                  <a:srgbClr val="CC3300"/>
                </a:solidFill>
              </a:rPr>
              <a:t>Emu8086</a:t>
            </a:r>
            <a:r>
              <a:rPr lang="zh-CN" altLang="en-US" b="1">
                <a:solidFill>
                  <a:srgbClr val="CC3300"/>
                </a:solidFill>
              </a:rPr>
              <a:t>软件看看。。。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DD95DC64-5A72-4874-A23A-CCA04DCC3C3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93700" y="628650"/>
            <a:ext cx="8229600" cy="1771650"/>
          </a:xfrm>
        </p:spPr>
        <p:txBody>
          <a:bodyPr anchor="ctr"/>
          <a:lstStyle/>
          <a:p>
            <a:pPr algn="l" eaLnBrk="1" hangingPunct="1"/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04C92B65-FD14-4901-9BBA-5F9D47037F3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2762250"/>
            <a:ext cx="8186738" cy="3416300"/>
          </a:xfrm>
        </p:spPr>
        <p:txBody>
          <a:bodyPr/>
          <a:lstStyle/>
          <a:p>
            <a:pPr marL="342900" indent="-342900" algn="l" eaLnBrk="1" hangingPunct="1">
              <a:buFontTx/>
              <a:buChar char="•"/>
            </a:pPr>
            <a:r>
              <a:rPr lang="en-US" altLang="zh-CN" sz="2800">
                <a:latin typeface="Times New Roman" panose="02020603050405020304" pitchFamily="18" charset="0"/>
              </a:rPr>
              <a:t>8086</a:t>
            </a:r>
            <a:r>
              <a:rPr lang="zh-CN" altLang="en-US" sz="2800">
                <a:latin typeface="Times New Roman" panose="02020603050405020304" pitchFamily="18" charset="0"/>
              </a:rPr>
              <a:t>的指令共有六大类：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数据传送指令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算术运算指令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逻辑运算和移位指令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字符串处理指令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控制转移指令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处理器控制指令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3600"/>
              </a:spcBef>
              <a:buFont typeface="Wingdings 3" panose="05040102010807070707" pitchFamily="18" charset="2"/>
              <a:buChar char="u"/>
            </a:pPr>
            <a:r>
              <a:rPr lang="zh-CN" altLang="en-US" sz="2800" b="1">
                <a:solidFill>
                  <a:srgbClr val="FF66FF"/>
                </a:solidFill>
              </a:rPr>
              <a:t>本章除详细介绍各类指令外，还将介绍部分伪指令，并给出许多短小的程序设计例子</a:t>
            </a:r>
            <a:r>
              <a:rPr lang="en-US" altLang="zh-CN" sz="2800" b="1">
                <a:solidFill>
                  <a:srgbClr val="FF66FF"/>
                </a:solidFill>
              </a:rPr>
              <a:t>,</a:t>
            </a:r>
            <a:r>
              <a:rPr lang="zh-CN" altLang="en-US" sz="2800" b="1">
                <a:solidFill>
                  <a:srgbClr val="FF66FF"/>
                </a:solidFill>
              </a:rPr>
              <a:t>以便更好理解指令功能</a:t>
            </a:r>
            <a:endParaRPr lang="zh-CN" altLang="en-US" sz="320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DDA6C835-ACED-4CAA-972E-CEFFAAF636F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21507" name="矩形 4">
            <a:extLst>
              <a:ext uri="{FF2B5EF4-FFF2-40B4-BE49-F238E27FC236}">
                <a16:creationId xmlns:a16="http://schemas.microsoft.com/office/drawing/2014/main" id="{C6DD85B9-9943-44D8-B75B-EA69873DC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(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BCD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×</a:t>
            </a: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)</a:t>
            </a:r>
            <a:endParaRPr lang="zh-CN" altLang="en-US" sz="3600" b="1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字符串处理指令 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×</a:t>
            </a:r>
            <a:endParaRPr lang="zh-CN" altLang="en-US" sz="3600" b="1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zh-CN" altLang="en-US" sz="2400">
                <a:solidFill>
                  <a:srgbClr val="00B0F0"/>
                </a:solidFill>
                <a:latin typeface="Times New Roman" panose="02020603050405020304" pitchFamily="18" charset="0"/>
              </a:rPr>
              <a:t>               注：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r>
              <a:rPr lang="zh-CN" altLang="en-US" sz="2400">
                <a:solidFill>
                  <a:srgbClr val="00B0F0"/>
                </a:solidFill>
                <a:latin typeface="Times New Roman" panose="02020603050405020304" pitchFamily="18" charset="0"/>
              </a:rPr>
              <a:t>表示不要求掌握</a:t>
            </a:r>
          </a:p>
        </p:txBody>
      </p:sp>
    </p:spTree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66F06E24-1654-4648-AA4E-6B94D747A60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3.3.1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数据传送指令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C858ADB2-DD78-45BF-BAB9-164E431CDC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27700" y="1314450"/>
            <a:ext cx="2533650" cy="3092450"/>
          </a:xfrm>
        </p:spPr>
        <p:txBody>
          <a:bodyPr/>
          <a:lstStyle/>
          <a:p>
            <a:pPr marL="342900" indent="-342900" algn="l" eaLnBrk="1" hangingPunct="1">
              <a:buFont typeface="Wingdings 3" panose="05040102010807070707" pitchFamily="18" charset="2"/>
              <a:buChar char="á"/>
            </a:pPr>
            <a:r>
              <a:rPr lang="zh-CN" altLang="en-US" sz="2400">
                <a:latin typeface="Times New Roman" panose="02020603050405020304" pitchFamily="18" charset="0"/>
              </a:rPr>
              <a:t>数据传送指令见表</a:t>
            </a:r>
            <a:r>
              <a:rPr lang="en-US" altLang="zh-CN" sz="2400">
                <a:latin typeface="Times New Roman" panose="02020603050405020304" pitchFamily="18" charset="0"/>
              </a:rPr>
              <a:t>3.3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marL="342900" indent="-342900" algn="l" eaLnBrk="1" hangingPunct="1"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</a:rPr>
              <a:t>除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SAHF</a:t>
            </a:r>
            <a:r>
              <a:rPr lang="zh-CN" altLang="en-US" sz="2400"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POPF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指令外，对标志位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均没有影响</a:t>
            </a:r>
          </a:p>
          <a:p>
            <a:pPr marL="342900" indent="-342900" algn="l" eaLnBrk="1" hangingPunct="1">
              <a:buFontTx/>
              <a:buChar char="•"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65354C0E-AE01-4F8E-B0FD-5FEB01728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073150"/>
            <a:ext cx="4813300" cy="565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F38D3F5-4E21-442A-BD3D-C41526AC94A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495300"/>
            <a:ext cx="8229600" cy="844550"/>
          </a:xfrm>
        </p:spPr>
        <p:txBody>
          <a:bodyPr anchor="ctr"/>
          <a:lstStyle/>
          <a:p>
            <a:pPr algn="l" eaLnBrk="1" hangingPunct="1"/>
            <a:r>
              <a:rPr lang="en-US" altLang="zh-CN" sz="3200" b="1">
                <a:solidFill>
                  <a:schemeClr val="accent2"/>
                </a:solidFill>
              </a:rPr>
              <a:t>1. </a:t>
            </a:r>
            <a:r>
              <a:rPr lang="zh-CN" altLang="en-US" sz="3200" b="1">
                <a:solidFill>
                  <a:schemeClr val="accent2"/>
                </a:solidFill>
              </a:rPr>
              <a:t>通用数据传送指令</a:t>
            </a:r>
            <a:r>
              <a:rPr lang="en-US" altLang="zh-CN" sz="1800" b="1">
                <a:solidFill>
                  <a:schemeClr val="accent2"/>
                </a:solidFill>
              </a:rPr>
              <a:t> (General Purpose Data Transfer) 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B228153D-84B8-4A2E-944F-44BEB66AE5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60400" y="1384300"/>
            <a:ext cx="6934200" cy="151130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1) MOV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传送指令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(Move)</a:t>
            </a:r>
            <a:endParaRPr lang="en-US" altLang="zh-CN" sz="24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MOV  </a:t>
            </a:r>
            <a:r>
              <a:rPr lang="zh-CN" altLang="en-US" sz="2800">
                <a:latin typeface="Times New Roman" panose="02020603050405020304" pitchFamily="18" charset="0"/>
              </a:rPr>
              <a:t>目的，源</a:t>
            </a: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指令功能：目的操作数</a:t>
            </a:r>
            <a:r>
              <a:rPr lang="en-US" altLang="zh-CN" sz="2800">
                <a:latin typeface="Times New Roman" panose="02020603050405020304" pitchFamily="18" charset="0"/>
              </a:rPr>
              <a:t>←</a:t>
            </a:r>
            <a:r>
              <a:rPr lang="zh-CN" altLang="en-US" sz="2800">
                <a:latin typeface="Times New Roman" panose="02020603050405020304" pitchFamily="18" charset="0"/>
              </a:rPr>
              <a:t>源操作数</a:t>
            </a:r>
          </a:p>
          <a:p>
            <a:pPr algn="l" eaLnBrk="1" hangingPunct="1"/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2292" name="TextBox 4">
            <a:extLst>
              <a:ext uri="{FF2B5EF4-FFF2-40B4-BE49-F238E27FC236}">
                <a16:creationId xmlns:a16="http://schemas.microsoft.com/office/drawing/2014/main" id="{696940AF-5039-4836-86AA-511EB8BB2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3073400"/>
            <a:ext cx="2578100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FF00"/>
              </a:buClr>
              <a:buFont typeface="Arial" panose="020B0604020202020204" pitchFamily="34" charset="0"/>
              <a:buChar char="l"/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注意：</a:t>
            </a:r>
          </a:p>
          <a:p>
            <a:pPr>
              <a:spcBef>
                <a:spcPct val="0"/>
              </a:spcBef>
              <a:buClr>
                <a:srgbClr val="FFFF00"/>
              </a:buClr>
              <a:buFont typeface="Arial" panose="020B0604020202020204" pitchFamily="34" charset="0"/>
              <a:buChar char="l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CS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不能做目的操作数。</a:t>
            </a:r>
          </a:p>
          <a:p>
            <a:pPr>
              <a:spcBef>
                <a:spcPct val="0"/>
              </a:spcBef>
              <a:buClr>
                <a:srgbClr val="FFFF00"/>
              </a:buClr>
              <a:buFont typeface="Arial" panose="020B0604020202020204" pitchFamily="34" charset="0"/>
              <a:buChar char="l"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立即数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不能做目的地址 </a:t>
            </a:r>
          </a:p>
          <a:p>
            <a:pPr>
              <a:spcBef>
                <a:spcPct val="0"/>
              </a:spcBef>
              <a:buClr>
                <a:srgbClr val="FFFF00"/>
              </a:buClr>
              <a:buFont typeface="Arial" panose="020B0604020202020204" pitchFamily="34" charset="0"/>
              <a:buChar char="l"/>
            </a:pP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指令中至少要有一项明确说明传送的是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字节还是字</a:t>
            </a:r>
            <a:endParaRPr lang="zh-CN" altLang="en-US" sz="2400" b="1">
              <a:latin typeface="Times New Roman" panose="02020603050405020304" pitchFamily="18" charset="0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pic>
        <p:nvPicPr>
          <p:cNvPr id="12293" name="图片 5" descr="LF3-12.png">
            <a:extLst>
              <a:ext uri="{FF2B5EF4-FFF2-40B4-BE49-F238E27FC236}">
                <a16:creationId xmlns:a16="http://schemas.microsoft.com/office/drawing/2014/main" id="{8F0B12D4-9A9F-4BE0-97A5-A22F2CC5D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3073400"/>
            <a:ext cx="5735638" cy="35290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5A6D945-CB46-48B2-831E-F3B6B3878F98}"/>
              </a:ext>
            </a:extLst>
          </p:cNvPr>
          <p:cNvSpPr txBox="1"/>
          <p:nvPr/>
        </p:nvSpPr>
        <p:spPr>
          <a:xfrm>
            <a:off x="5321300" y="1187450"/>
            <a:ext cx="3346450" cy="1187450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问：目的操作数和源操作数同时为存储器单元可不可以？为什么？</a:t>
            </a:r>
            <a:endParaRPr lang="zh-CN" altLang="zh-CN" sz="2400" noProof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4541C590-5C69-46EB-A5B7-A2E7A978F44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rgbClr val="FF0066"/>
                </a:solidFill>
              </a:rPr>
              <a:t>1) MOV</a:t>
            </a:r>
            <a:r>
              <a:rPr lang="zh-CN" altLang="en-US" sz="4400" b="1">
                <a:solidFill>
                  <a:srgbClr val="FF0066"/>
                </a:solidFill>
              </a:rPr>
              <a:t>指令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8A411B83-60E3-43A3-B90E-CFB3ECEA8E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3.24  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MOV    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‘B’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AL←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将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字符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B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的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ASCII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码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(42H)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3.25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MOV    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DATA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MOV    DS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AX</a:t>
            </a:r>
          </a:p>
          <a:p>
            <a:pPr marL="342900" indent="-342900" algn="l" eaLnBrk="1" hangingPunct="1">
              <a:lnSpc>
                <a:spcPct val="90000"/>
              </a:lnSpc>
            </a:pP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DATA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表示数据段的段址，编译后是一个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位常数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，不能被直接送进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，需要先送进另一个数据寄存器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如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AX)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，再传到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中，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这是对段寄存器的保护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 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buFontTx/>
              <a:buChar char="•"/>
            </a:pPr>
            <a:endParaRPr lang="zh-CN" altLang="en-US" sz="32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B383B5-2074-49DA-827B-5CA14042A88A}"/>
              </a:ext>
            </a:extLst>
          </p:cNvPr>
          <p:cNvSpPr txBox="1"/>
          <p:nvPr/>
        </p:nvSpPr>
        <p:spPr>
          <a:xfrm>
            <a:off x="4773613" y="1354138"/>
            <a:ext cx="2740025" cy="4603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注意单引号的作用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7D26B3-75DE-416D-9278-C7AE9EB5B79C}"/>
              </a:ext>
            </a:extLst>
          </p:cNvPr>
          <p:cNvSpPr txBox="1"/>
          <p:nvPr/>
        </p:nvSpPr>
        <p:spPr>
          <a:xfrm>
            <a:off x="2952750" y="5765800"/>
            <a:ext cx="3640138" cy="4603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注意怎么给段寄存器赋值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936418B3-2031-499E-85D5-03EDDA31E2F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000" b="1">
                <a:solidFill>
                  <a:srgbClr val="FF0066"/>
                </a:solidFill>
              </a:rPr>
              <a:t>什么是数据段？（提前学点伪指令）</a:t>
            </a: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830EB279-70F9-4B1C-AD65-40AEAB2D50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04788" y="1042988"/>
            <a:ext cx="7867650" cy="5416550"/>
          </a:xfrm>
        </p:spPr>
        <p:txBody>
          <a:bodyPr/>
          <a:lstStyle/>
          <a:p>
            <a:pPr algn="l" eaLnBrk="1" hangingPunct="1"/>
            <a:r>
              <a:rPr lang="zh-CN" altLang="en-US" sz="2600"/>
              <a:t>下面将举例介绍数据段的基地址、段中各变量的偏移地址、变量定义等概念</a:t>
            </a:r>
          </a:p>
          <a:p>
            <a:pPr algn="l" eaLnBrk="1" hangingPunct="1"/>
            <a:r>
              <a:rPr lang="zh-CN" altLang="en-US" sz="2600"/>
              <a:t>在汇编语言程序中，</a:t>
            </a:r>
            <a:r>
              <a:rPr lang="zh-CN" altLang="en-US" sz="2600" b="1">
                <a:solidFill>
                  <a:srgbClr val="0000FF"/>
                </a:solidFill>
              </a:rPr>
              <a:t>数据</a:t>
            </a:r>
            <a:r>
              <a:rPr lang="zh-CN" altLang="en-US" sz="2600"/>
              <a:t>通常存放在</a:t>
            </a:r>
            <a:r>
              <a:rPr lang="zh-CN" altLang="en-US" sz="2600" b="1">
                <a:solidFill>
                  <a:srgbClr val="CC3300"/>
                </a:solidFill>
              </a:rPr>
              <a:t>数据段</a:t>
            </a:r>
            <a:r>
              <a:rPr lang="zh-CN" altLang="en-US" sz="2600"/>
              <a:t>中</a:t>
            </a:r>
          </a:p>
          <a:p>
            <a:pPr algn="l" eaLnBrk="1" hangingPunct="1">
              <a:spcBef>
                <a:spcPts val="2400"/>
              </a:spcBef>
            </a:pPr>
            <a:r>
              <a:rPr lang="zh-CN" altLang="en-US" sz="2600"/>
              <a:t>下面是某个程序的</a:t>
            </a:r>
            <a:r>
              <a:rPr lang="zh-CN" altLang="en-US" sz="2600" b="1">
                <a:solidFill>
                  <a:srgbClr val="CC3300"/>
                </a:solidFill>
              </a:rPr>
              <a:t>数据段</a:t>
            </a:r>
            <a:r>
              <a:rPr lang="zh-CN" altLang="en-US" sz="2600"/>
              <a:t>：</a:t>
            </a:r>
          </a:p>
          <a:p>
            <a:pPr algn="l" eaLnBrk="1" hangingPunct="1"/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DATA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SEGMENT</a:t>
            </a:r>
            <a:r>
              <a:rPr lang="en-US" altLang="zh-CN" sz="2600">
                <a:solidFill>
                  <a:srgbClr val="FF66FF"/>
                </a:solidFill>
                <a:latin typeface="Times New Roman" panose="02020603050405020304" pitchFamily="18" charset="0"/>
                <a:ea typeface="楷体_GB2312" pitchFamily="1" charset="-122"/>
              </a:rPr>
              <a:t> 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；数据段开始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AREA1	 </a:t>
            </a:r>
            <a:r>
              <a:rPr lang="en-US" altLang="zh-CN" sz="260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 14H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3BH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AREA2	</a:t>
            </a:r>
            <a:r>
              <a:rPr lang="en-US" altLang="zh-CN" sz="260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DB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 3</a:t>
            </a:r>
            <a:r>
              <a:rPr lang="en-US" altLang="zh-CN" sz="260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DUP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(0)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ARRAY	 </a:t>
            </a:r>
            <a:r>
              <a:rPr lang="en-US" altLang="zh-CN" sz="260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DW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 3100H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01A6H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STRING 	 </a:t>
            </a:r>
            <a:r>
              <a:rPr lang="en-US" altLang="zh-CN" sz="260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 ‘GOOD’</a:t>
            </a:r>
          </a:p>
          <a:p>
            <a:pPr algn="l" eaLnBrk="1" hangingPunct="1"/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DATA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ENDS</a:t>
            </a:r>
            <a:r>
              <a:rPr lang="en-US" altLang="zh-CN" sz="2600">
                <a:solidFill>
                  <a:srgbClr val="FF66FF"/>
                </a:solidFill>
                <a:latin typeface="Times New Roman" panose="02020603050405020304" pitchFamily="18" charset="0"/>
                <a:ea typeface="楷体_GB2312" pitchFamily="1" charset="-122"/>
              </a:rPr>
              <a:t>	     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 ；数据段结束</a:t>
            </a:r>
          </a:p>
        </p:txBody>
      </p:sp>
      <p:sp>
        <p:nvSpPr>
          <p:cNvPr id="14340" name="内容占位符 2">
            <a:extLst>
              <a:ext uri="{FF2B5EF4-FFF2-40B4-BE49-F238E27FC236}">
                <a16:creationId xmlns:a16="http://schemas.microsoft.com/office/drawing/2014/main" id="{15D1B5AC-6643-4F34-AA62-5F256CC08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050" y="2663825"/>
            <a:ext cx="3536950" cy="4194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7000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数据段</a:t>
            </a:r>
            <a:r>
              <a:rPr lang="en-US" altLang="zh-CN" sz="2200">
                <a:solidFill>
                  <a:srgbClr val="FF66FF"/>
                </a:solidFill>
                <a:latin typeface="Times New Roman" panose="02020603050405020304" pitchFamily="18" charset="0"/>
              </a:rPr>
              <a:t>SEGMENT</a:t>
            </a:r>
            <a:r>
              <a:rPr lang="zh-CN" altLang="en-US" sz="2200">
                <a:latin typeface="Times New Roman" panose="02020603050405020304" pitchFamily="18" charset="0"/>
              </a:rPr>
              <a:t>开始，</a:t>
            </a:r>
            <a:r>
              <a:rPr lang="en-US" altLang="zh-CN" sz="2200">
                <a:solidFill>
                  <a:srgbClr val="FF66FF"/>
                </a:solidFill>
                <a:latin typeface="Times New Roman" panose="02020603050405020304" pitchFamily="18" charset="0"/>
              </a:rPr>
              <a:t>ENDS</a:t>
            </a:r>
            <a:r>
              <a:rPr lang="zh-CN" altLang="en-US" sz="2200">
                <a:latin typeface="Times New Roman" panose="02020603050405020304" pitchFamily="18" charset="0"/>
              </a:rPr>
              <a:t>结束，</a:t>
            </a:r>
            <a:r>
              <a:rPr lang="en-US" altLang="zh-CN" sz="2200">
                <a:solidFill>
                  <a:srgbClr val="FF66FF"/>
                </a:solidFill>
                <a:latin typeface="Times New Roman" panose="02020603050405020304" pitchFamily="18" charset="0"/>
              </a:rPr>
              <a:t>DATA</a:t>
            </a:r>
            <a:r>
              <a:rPr lang="zh-CN" altLang="en-US" sz="2200">
                <a:latin typeface="Times New Roman" panose="02020603050405020304" pitchFamily="18" charset="0"/>
              </a:rPr>
              <a:t>是</a:t>
            </a:r>
            <a:r>
              <a:rPr lang="zh-CN" altLang="en-US" sz="2200" b="1">
                <a:solidFill>
                  <a:srgbClr val="008000"/>
                </a:solidFill>
                <a:latin typeface="Times New Roman" panose="02020603050405020304" pitchFamily="18" charset="0"/>
              </a:rPr>
              <a:t>段名</a:t>
            </a:r>
            <a:endParaRPr lang="zh-CN" altLang="en-US" sz="220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70000"/>
              </a:spcBef>
              <a:buFontTx/>
              <a:buNone/>
            </a:pPr>
            <a:r>
              <a:rPr lang="en-US" altLang="zh-CN" sz="2200">
                <a:solidFill>
                  <a:srgbClr val="FF66FF"/>
                </a:solidFill>
                <a:latin typeface="Times New Roman" panose="02020603050405020304" pitchFamily="18" charset="0"/>
              </a:rPr>
              <a:t>DB</a:t>
            </a:r>
            <a:r>
              <a:rPr lang="zh-CN" altLang="en-US" sz="2200">
                <a:latin typeface="Times New Roman" panose="02020603050405020304" pitchFamily="18" charset="0"/>
              </a:rPr>
              <a:t>伪操作符定义</a:t>
            </a:r>
            <a:r>
              <a:rPr lang="zh-CN" altLang="en-US" sz="2200" b="1">
                <a:solidFill>
                  <a:srgbClr val="008000"/>
                </a:solidFill>
                <a:latin typeface="Times New Roman" panose="02020603050405020304" pitchFamily="18" charset="0"/>
              </a:rPr>
              <a:t>字节变量</a:t>
            </a:r>
            <a:r>
              <a:rPr lang="zh-CN" altLang="en-US" sz="220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spcBef>
                <a:spcPct val="70000"/>
              </a:spcBef>
              <a:buFontTx/>
              <a:buNone/>
            </a:pPr>
            <a:r>
              <a:rPr lang="en-US" altLang="zh-CN" sz="2200">
                <a:solidFill>
                  <a:srgbClr val="FF66FF"/>
                </a:solidFill>
                <a:latin typeface="Times New Roman" panose="02020603050405020304" pitchFamily="18" charset="0"/>
              </a:rPr>
              <a:t>DW</a:t>
            </a:r>
            <a:r>
              <a:rPr lang="zh-CN" altLang="en-US" sz="2200">
                <a:latin typeface="Times New Roman" panose="02020603050405020304" pitchFamily="18" charset="0"/>
              </a:rPr>
              <a:t>定义</a:t>
            </a:r>
            <a:r>
              <a:rPr lang="zh-CN" altLang="en-US" sz="2200" b="1">
                <a:solidFill>
                  <a:srgbClr val="008000"/>
                </a:solidFill>
                <a:latin typeface="Times New Roman" panose="02020603050405020304" pitchFamily="18" charset="0"/>
              </a:rPr>
              <a:t>字变量</a:t>
            </a:r>
            <a:r>
              <a:rPr lang="zh-CN" altLang="en-US" sz="2200">
                <a:latin typeface="Times New Roman" panose="02020603050405020304" pitchFamily="18" charset="0"/>
              </a:rPr>
              <a:t>，低字节在前，高字节在后</a:t>
            </a:r>
          </a:p>
          <a:p>
            <a:pPr eaLnBrk="1" hangingPunct="1">
              <a:spcBef>
                <a:spcPct val="70000"/>
              </a:spcBef>
              <a:buFontTx/>
              <a:buNone/>
            </a:pPr>
            <a:r>
              <a:rPr lang="en-US" altLang="zh-CN" sz="2200">
                <a:solidFill>
                  <a:srgbClr val="FF66FF"/>
                </a:solidFill>
                <a:latin typeface="Times New Roman" panose="02020603050405020304" pitchFamily="18" charset="0"/>
              </a:rPr>
              <a:t>DUP</a:t>
            </a:r>
            <a:r>
              <a:rPr lang="zh-CN" altLang="en-US" sz="2200" b="1">
                <a:solidFill>
                  <a:srgbClr val="008000"/>
                </a:solidFill>
                <a:latin typeface="Times New Roman" panose="02020603050405020304" pitchFamily="18" charset="0"/>
              </a:rPr>
              <a:t>复制操作符</a:t>
            </a:r>
            <a:r>
              <a:rPr lang="zh-CN" altLang="en-US" sz="2200">
                <a:latin typeface="Times New Roman" panose="02020603050405020304" pitchFamily="18" charset="0"/>
              </a:rPr>
              <a:t>， </a:t>
            </a:r>
            <a:r>
              <a:rPr lang="en-US" altLang="zh-CN" sz="2200"/>
              <a:t>“</a:t>
            </a:r>
            <a:r>
              <a:rPr lang="en-US" altLang="zh-CN" sz="2200">
                <a:latin typeface="Times New Roman" panose="02020603050405020304" pitchFamily="18" charset="0"/>
              </a:rPr>
              <a:t>3</a:t>
            </a:r>
            <a:r>
              <a:rPr lang="en-US" altLang="zh-CN" sz="2200"/>
              <a:t>”</a:t>
            </a:r>
            <a:r>
              <a:rPr lang="zh-CN" altLang="en-US" sz="2200">
                <a:latin typeface="Times New Roman" panose="02020603050405020304" pitchFamily="18" charset="0"/>
              </a:rPr>
              <a:t>说明在存储器中保留</a:t>
            </a:r>
            <a:r>
              <a:rPr lang="en-US" altLang="zh-CN" sz="2200">
                <a:latin typeface="Times New Roman" panose="02020603050405020304" pitchFamily="18" charset="0"/>
              </a:rPr>
              <a:t>3</a:t>
            </a:r>
            <a:r>
              <a:rPr lang="zh-CN" altLang="en-US" sz="2200">
                <a:latin typeface="Times New Roman" panose="02020603050405020304" pitchFamily="18" charset="0"/>
              </a:rPr>
              <a:t>个单元，初值均为</a:t>
            </a:r>
            <a:r>
              <a:rPr lang="en-US" altLang="zh-CN" sz="22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spcBef>
                <a:spcPct val="70000"/>
              </a:spcBef>
              <a:buFontTx/>
              <a:buNone/>
            </a:pPr>
            <a:r>
              <a:rPr lang="zh-CN" altLang="en-US" sz="2200"/>
              <a:t>定义的变量可以给定</a:t>
            </a:r>
            <a:r>
              <a:rPr lang="zh-CN" altLang="en-US" sz="2200" b="1">
                <a:solidFill>
                  <a:srgbClr val="008000"/>
                </a:solidFill>
              </a:rPr>
              <a:t>初值</a:t>
            </a:r>
          </a:p>
        </p:txBody>
      </p:sp>
      <p:sp>
        <p:nvSpPr>
          <p:cNvPr id="14341" name="直接连接符 14340">
            <a:extLst>
              <a:ext uri="{FF2B5EF4-FFF2-40B4-BE49-F238E27FC236}">
                <a16:creationId xmlns:a16="http://schemas.microsoft.com/office/drawing/2014/main" id="{5EF2C1C6-B6EC-427E-A839-C3C6FAA3A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571750"/>
            <a:ext cx="0" cy="414337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AE5F39-A451-4B91-A631-E618CA820D73}"/>
              </a:ext>
            </a:extLst>
          </p:cNvPr>
          <p:cNvSpPr txBox="1"/>
          <p:nvPr/>
        </p:nvSpPr>
        <p:spPr>
          <a:xfrm>
            <a:off x="7464425" y="1716088"/>
            <a:ext cx="1144588" cy="4603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重要！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55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charRg st="55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71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charRg st="71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99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charRg st="99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charRg st="118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3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charRg st="13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60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charRg st="160" end="1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79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39">
                                            <p:txEl>
                                              <p:charRg st="179" end="1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345C4CCF-73EC-4937-9DD2-0187F28874E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rgbClr val="FF0066"/>
                </a:solidFill>
              </a:rPr>
              <a:t>数据段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F242438A-E60A-49F1-8686-C229CD012A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1028700"/>
            <a:ext cx="4541838" cy="5378450"/>
          </a:xfrm>
        </p:spPr>
        <p:txBody>
          <a:bodyPr/>
          <a:lstStyle/>
          <a:p>
            <a:pPr marL="342900" indent="-342900" algn="l" eaLnBrk="1" hangingPunct="1"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</a:rPr>
              <a:t>汇编后，</a:t>
            </a:r>
            <a:r>
              <a:rPr lang="en-US" altLang="zh-CN" sz="2400">
                <a:latin typeface="Times New Roman" panose="02020603050405020304" pitchFamily="18" charset="0"/>
              </a:rPr>
              <a:t>DATA</a:t>
            </a:r>
            <a:r>
              <a:rPr lang="zh-CN" altLang="en-US" sz="2400">
                <a:latin typeface="Times New Roman" panose="02020603050405020304" pitchFamily="18" charset="0"/>
              </a:rPr>
              <a:t>被赋予具体的段地址，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各变量将自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偏移地址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0000H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开始依次存放</a:t>
            </a:r>
            <a:r>
              <a:rPr lang="zh-CN" altLang="en-US" sz="2400">
                <a:latin typeface="Times New Roman" panose="02020603050405020304" pitchFamily="18" charset="0"/>
              </a:rPr>
              <a:t>，各符号地址也被赋予确定的值，等于它们在数据段中的偏移量。</a:t>
            </a:r>
          </a:p>
          <a:p>
            <a:pPr marL="342900" indent="-342900" algn="l" eaLnBrk="1" hangingPunct="1">
              <a:buFontTx/>
              <a:buChar char="•"/>
            </a:pPr>
            <a:r>
              <a:rPr lang="zh-CN" altLang="en-US" sz="2400">
                <a:latin typeface="Times New Roman" panose="02020603050405020304" pitchFamily="18" charset="0"/>
              </a:rPr>
              <a:t>数据占用存储空间的情况如图</a:t>
            </a:r>
            <a:r>
              <a:rPr lang="en-US" altLang="zh-CN" sz="2400">
                <a:latin typeface="Times New Roman" panose="02020603050405020304" pitchFamily="18" charset="0"/>
              </a:rPr>
              <a:t>3.13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AREA1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的偏移地址为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0000H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AREA2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的偏移地址为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0002H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ARRAY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的偏移地址为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0005H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字符串‘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GOOD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’从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0009H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开始存放</a:t>
            </a:r>
            <a:endParaRPr lang="zh-CN" altLang="en-US" sz="3200">
              <a:solidFill>
                <a:srgbClr val="0000FF"/>
              </a:solidFill>
            </a:endParaRPr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4C581E00-80E9-4CA2-A86A-AF68113E8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250950"/>
            <a:ext cx="3476625" cy="509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474E8E65-7EB1-44AC-9049-4BABD7DEFFF4}"/>
              </a:ext>
            </a:extLst>
          </p:cNvPr>
          <p:cNvGrpSpPr>
            <a:grpSpLocks/>
          </p:cNvGrpSpPr>
          <p:nvPr/>
        </p:nvGrpSpPr>
        <p:grpSpPr bwMode="auto">
          <a:xfrm>
            <a:off x="7905750" y="398463"/>
            <a:ext cx="1162050" cy="4379912"/>
            <a:chOff x="12451" y="627"/>
            <a:chExt cx="1828" cy="6897"/>
          </a:xfrm>
        </p:grpSpPr>
        <p:sp>
          <p:nvSpPr>
            <p:cNvPr id="26631" name="文本框 1">
              <a:extLst>
                <a:ext uri="{FF2B5EF4-FFF2-40B4-BE49-F238E27FC236}">
                  <a16:creationId xmlns:a16="http://schemas.microsoft.com/office/drawing/2014/main" id="{43257820-38B0-4768-AB53-82D3297A9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7" y="1970"/>
              <a:ext cx="126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B4B9BE"/>
                </a:buClr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0000H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632" name="文本框 2">
              <a:extLst>
                <a:ext uri="{FF2B5EF4-FFF2-40B4-BE49-F238E27FC236}">
                  <a16:creationId xmlns:a16="http://schemas.microsoft.com/office/drawing/2014/main" id="{1B14959D-C988-4BEC-BF20-7B372AB8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7" y="3168"/>
              <a:ext cx="126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B4B9BE"/>
                </a:buClr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0002H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633" name="文本框 3">
              <a:extLst>
                <a:ext uri="{FF2B5EF4-FFF2-40B4-BE49-F238E27FC236}">
                  <a16:creationId xmlns:a16="http://schemas.microsoft.com/office/drawing/2014/main" id="{4AB45733-849B-4D40-904E-C618E8E8B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7" y="4833"/>
              <a:ext cx="126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B4B9BE"/>
                </a:buClr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0005H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634" name="文本框 4">
              <a:extLst>
                <a:ext uri="{FF2B5EF4-FFF2-40B4-BE49-F238E27FC236}">
                  <a16:creationId xmlns:a16="http://schemas.microsoft.com/office/drawing/2014/main" id="{B8E5AB2C-DA2F-49EF-9E54-6C98652F7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37" y="6944"/>
              <a:ext cx="126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B4B9BE"/>
                </a:buClr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1" charset="-122"/>
                </a:rPr>
                <a:t>0009H</a:t>
              </a: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635" name="文本框 5">
              <a:extLst>
                <a:ext uri="{FF2B5EF4-FFF2-40B4-BE49-F238E27FC236}">
                  <a16:creationId xmlns:a16="http://schemas.microsoft.com/office/drawing/2014/main" id="{36096A3E-7EF0-4F42-9CC2-F5DBF9497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51" y="627"/>
              <a:ext cx="1828" cy="1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B4B9BE"/>
                </a:buClr>
                <a:buFontTx/>
                <a:buNone/>
              </a:pPr>
              <a:r>
                <a:rPr lang="zh-CN" altLang="en-US" sz="1800">
                  <a:solidFill>
                    <a:srgbClr val="0000FF"/>
                  </a:solidFill>
                  <a:latin typeface="Times New Roman" panose="02020603050405020304" pitchFamily="18" charset="0"/>
                </a:rPr>
                <a:t>偏移地址</a:t>
              </a:r>
            </a:p>
            <a:p>
              <a:pPr eaLnBrk="1" hangingPunct="1">
                <a:spcBef>
                  <a:spcPct val="0"/>
                </a:spcBef>
                <a:buClr>
                  <a:srgbClr val="B4B9BE"/>
                </a:buClr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1800">
                  <a:solidFill>
                    <a:srgbClr val="0000FF"/>
                  </a:solidFill>
                  <a:latin typeface="Times New Roman" panose="02020603050405020304" pitchFamily="18" charset="0"/>
                </a:rPr>
                <a:t>有效地址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014D8A1A-8669-4CA0-9E9D-6AE714E7C038}"/>
              </a:ext>
            </a:extLst>
          </p:cNvPr>
          <p:cNvSpPr txBox="1"/>
          <p:nvPr/>
        </p:nvSpPr>
        <p:spPr>
          <a:xfrm>
            <a:off x="393700" y="6049963"/>
            <a:ext cx="4957763" cy="4603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比较：和高级语言的变量定义区别？</a:t>
            </a: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charRg st="68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charRg st="68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charRg st="88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363">
                                            <p:txEl>
                                              <p:charRg st="88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charRg st="105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charRg st="105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charRg st="12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363">
                                            <p:txEl>
                                              <p:charRg st="122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charRg st="139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363">
                                            <p:txEl>
                                              <p:charRg st="139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83E9CC35-C584-4C0D-B93E-BAC066A6370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>
                <a:solidFill>
                  <a:srgbClr val="FF0066"/>
                </a:solidFill>
              </a:rPr>
              <a:t>1</a:t>
            </a:r>
            <a:r>
              <a:rPr lang="zh-CN" altLang="en-US" sz="4400">
                <a:solidFill>
                  <a:srgbClr val="FF0066"/>
                </a:solidFill>
              </a:rPr>
              <a:t>）</a:t>
            </a:r>
            <a:r>
              <a:rPr lang="en-US" altLang="zh-CN" sz="4400">
                <a:solidFill>
                  <a:srgbClr val="FF0066"/>
                </a:solidFill>
              </a:rPr>
              <a:t>MOV</a:t>
            </a:r>
            <a:r>
              <a:rPr lang="zh-CN" altLang="en-US" sz="4400">
                <a:solidFill>
                  <a:srgbClr val="FF0066"/>
                </a:solidFill>
              </a:rPr>
              <a:t>指令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10832A0C-19F6-4BE3-BD8F-6B52F2979B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268413"/>
            <a:ext cx="8372475" cy="5138737"/>
          </a:xfrm>
        </p:spPr>
        <p:txBody>
          <a:bodyPr/>
          <a:lstStyle/>
          <a:p>
            <a:pPr marL="342900" indent="-342900" algn="l" eaLnBrk="1" hangingPunct="1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3.26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MOV   DX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OFFSET 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ARRAY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将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ARRAY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的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偏移地址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送到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，其中，</a:t>
            </a:r>
            <a:r>
              <a:rPr lang="en-US" altLang="zh-CN" sz="26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OFFSET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为属性操作符，表示应把其后的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符号的地址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(</a:t>
            </a:r>
            <a:r>
              <a:rPr lang="zh-CN" altLang="en-US" sz="26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而不是内容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)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作为操作数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若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ARRAY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的值如图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3.13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，则指令执行后，符号地址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ARRAY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的偏移量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0005H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被送到了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中 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3.27</a:t>
            </a:r>
            <a:endParaRPr lang="en-US" altLang="zh-CN" sz="26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AREA1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AREA2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的值如图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3.13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，说明以下指令功能</a:t>
            </a:r>
          </a:p>
          <a:p>
            <a:pPr marL="342900" indent="-342900" algn="l" eaLnBrk="1" hangingPunct="1">
              <a:spcBef>
                <a:spcPts val="1200"/>
              </a:spcBef>
            </a:pP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　  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MOV  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AREA1	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AL←AREA1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中的内容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14H</a:t>
            </a:r>
          </a:p>
          <a:p>
            <a:pPr marL="342900" indent="-342900" algn="l" eaLnBrk="1" hangingPunct="1">
              <a:spcBef>
                <a:spcPts val="1200"/>
              </a:spcBef>
            </a:pP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MOV  AREA2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	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0002H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单元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←14H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EFC963-A0EA-4A32-AB16-061DAD8AE824}"/>
              </a:ext>
            </a:extLst>
          </p:cNvPr>
          <p:cNvSpPr txBox="1"/>
          <p:nvPr/>
        </p:nvSpPr>
        <p:spPr>
          <a:xfrm>
            <a:off x="1381125" y="6049963"/>
            <a:ext cx="3775075" cy="4603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复习：这是什么寻址方式？</a:t>
            </a:r>
          </a:p>
        </p:txBody>
      </p: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31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charRg st="31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charRg st="89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charRg st="89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913B06B3-4719-4FBE-B28F-598B025BC8E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04800" y="3619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>
                <a:solidFill>
                  <a:srgbClr val="FF0066"/>
                </a:solidFill>
              </a:rPr>
              <a:t>1</a:t>
            </a:r>
            <a:r>
              <a:rPr lang="zh-CN" altLang="en-US" sz="4400">
                <a:solidFill>
                  <a:srgbClr val="FF0066"/>
                </a:solidFill>
              </a:rPr>
              <a:t>）</a:t>
            </a:r>
            <a:r>
              <a:rPr lang="en-US" altLang="zh-CN" sz="4400">
                <a:solidFill>
                  <a:srgbClr val="FF0066"/>
                </a:solidFill>
              </a:rPr>
              <a:t>MOV</a:t>
            </a:r>
            <a:r>
              <a:rPr lang="zh-CN" altLang="en-US" sz="4400">
                <a:solidFill>
                  <a:srgbClr val="FF0066"/>
                </a:solidFill>
              </a:rPr>
              <a:t>指令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0E59FDBD-BF1C-4A47-89A4-BA0FEC2D2A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1117600"/>
            <a:ext cx="8267700" cy="2089150"/>
          </a:xfrm>
        </p:spPr>
        <p:txBody>
          <a:bodyPr/>
          <a:lstStyle/>
          <a:p>
            <a:pPr marL="342900" indent="-342900" algn="l" eaLnBrk="1" hangingPunct="1"/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 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3.28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/>
            <a:r>
              <a:rPr lang="en-US" altLang="zh-CN" sz="3200">
                <a:latin typeface="Times New Roman" panose="02020603050405020304" pitchFamily="18" charset="0"/>
                <a:ea typeface="楷体_GB2312" pitchFamily="1" charset="-122"/>
              </a:rPr>
              <a:t>      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MOV   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TABLE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BP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］［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DI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］</a:t>
            </a:r>
          </a:p>
          <a:p>
            <a:pPr marL="342900" indent="-342900"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；将地址为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16×SS+BP+DI+TABLE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的字单元中的内容送进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。</a:t>
            </a:r>
          </a:p>
          <a:p>
            <a:pPr marL="342900" indent="-342900" algn="l" eaLnBrk="1" hangingPunct="1">
              <a:buFontTx/>
              <a:buChar char="•"/>
            </a:pPr>
            <a:endParaRPr lang="zh-CN" altLang="en-US" sz="2800"/>
          </a:p>
        </p:txBody>
      </p:sp>
    </p:spTree>
  </p:cSld>
  <p:clrMapOvr>
    <a:masterClrMapping/>
  </p:clrMapOvr>
  <p:transition spd="slow">
    <p:pull dir="l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F0B8E38B-6476-47D2-9EE6-F3B767AE259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5397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通用数据传送指令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9475FACB-98F0-4FF0-A0E7-5DCB6FB44D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250950"/>
            <a:ext cx="7786688" cy="5175250"/>
          </a:xfrm>
        </p:spPr>
        <p:txBody>
          <a:bodyPr/>
          <a:lstStyle/>
          <a:p>
            <a:pPr marL="342900" indent="-342900" algn="l" eaLnBrk="1" hangingPunct="1"/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2) 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</a:rPr>
              <a:t>进栈指令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PUSH (Push  Word  onto  Stack)</a:t>
            </a:r>
            <a:endParaRPr lang="zh-CN" altLang="en-US" sz="32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342900" indent="-342900" algn="l" eaLnBrk="1" hangingPunct="1"/>
            <a:r>
              <a:rPr lang="zh-CN" altLang="en-US" sz="3200"/>
              <a:t>　</a:t>
            </a:r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PUSH   </a:t>
            </a:r>
            <a:r>
              <a:rPr lang="zh-CN" altLang="en-US" sz="2800">
                <a:latin typeface="Times New Roman" panose="02020603050405020304" pitchFamily="18" charset="0"/>
              </a:rPr>
              <a:t>源</a:t>
            </a: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</a:rPr>
              <a:t>　指令功能： 将源操作数推入堆栈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源操作数可以是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位通用寄存器、段寄存器或存储器中的数据字，但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不能是立即数</a:t>
            </a:r>
            <a:r>
              <a:rPr lang="zh-CN" altLang="en-US" sz="2800">
                <a:latin typeface="Times New Roman" panose="02020603050405020304" pitchFamily="18" charset="0"/>
              </a:rPr>
              <a:t>。　　　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执行</a:t>
            </a:r>
            <a:r>
              <a:rPr lang="en-US" altLang="zh-CN" sz="2800">
                <a:latin typeface="Times New Roman" panose="02020603050405020304" pitchFamily="18" charset="0"/>
              </a:rPr>
              <a:t>PUSH</a:t>
            </a:r>
            <a:r>
              <a:rPr lang="zh-CN" altLang="en-US" sz="2800">
                <a:latin typeface="Times New Roman" panose="02020603050405020304" pitchFamily="18" charset="0"/>
              </a:rPr>
              <a:t>操作后，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先</a:t>
            </a:r>
            <a:r>
              <a:rPr lang="zh-CN" altLang="en-US" sz="2800">
                <a:latin typeface="Times New Roman" panose="02020603050405020304" pitchFamily="18" charset="0"/>
              </a:rPr>
              <a:t>使</a:t>
            </a:r>
            <a:r>
              <a:rPr lang="en-US" altLang="zh-CN" sz="2800">
                <a:latin typeface="Times New Roman" panose="02020603050405020304" pitchFamily="18" charset="0"/>
              </a:rPr>
              <a:t>SP←SP-2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再</a:t>
            </a:r>
            <a:r>
              <a:rPr lang="zh-CN" altLang="en-US" sz="2800">
                <a:latin typeface="Times New Roman" panose="02020603050405020304" pitchFamily="18" charset="0"/>
              </a:rPr>
              <a:t>把源操作数压入</a:t>
            </a:r>
            <a:r>
              <a:rPr lang="en-US" altLang="zh-CN" sz="2800">
                <a:latin typeface="Times New Roman" panose="02020603050405020304" pitchFamily="18" charset="0"/>
              </a:rPr>
              <a:t>SP</a:t>
            </a:r>
            <a:r>
              <a:rPr lang="zh-CN" altLang="en-US" sz="2800">
                <a:latin typeface="Times New Roman" panose="02020603050405020304" pitchFamily="18" charset="0"/>
              </a:rPr>
              <a:t>指示的位置上。</a:t>
            </a:r>
          </a:p>
          <a:p>
            <a:pPr marL="342900" indent="-342900" algn="l" eaLnBrk="1" hangingPunct="1">
              <a:buFontTx/>
              <a:buChar char="•"/>
            </a:pPr>
            <a:endParaRPr lang="zh-CN" altLang="en-US" sz="3200"/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CBE8A646-8F38-4749-B343-DA62DE9520C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6286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通用数据传送指令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A2065200-30D7-458C-8586-A4C714E812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339850"/>
            <a:ext cx="7831138" cy="5175250"/>
          </a:xfrm>
        </p:spPr>
        <p:txBody>
          <a:bodyPr/>
          <a:lstStyle/>
          <a:p>
            <a:pPr marL="342900" indent="-342900" algn="l" eaLnBrk="1" hangingPunct="1"/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3) 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</a:rPr>
              <a:t>出栈指令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POP 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(Pop  Word  off  Stack)</a:t>
            </a: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342900" indent="-342900" algn="l" eaLnBrk="1" hangingPunct="1"/>
            <a:r>
              <a:rPr lang="zh-CN" altLang="en-US" sz="3200"/>
              <a:t>　</a:t>
            </a:r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POP    </a:t>
            </a:r>
            <a:r>
              <a:rPr lang="zh-CN" altLang="en-US" sz="2800">
                <a:latin typeface="Times New Roman" panose="02020603050405020304" pitchFamily="18" charset="0"/>
              </a:rPr>
              <a:t>目的</a:t>
            </a: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</a:rPr>
              <a:t>　指令功能：把当前</a:t>
            </a:r>
            <a:r>
              <a:rPr lang="en-US" altLang="zh-CN" sz="2800">
                <a:latin typeface="Times New Roman" panose="02020603050405020304" pitchFamily="18" charset="0"/>
              </a:rPr>
              <a:t>SP</a:t>
            </a:r>
            <a:r>
              <a:rPr lang="zh-CN" altLang="en-US" sz="2800">
                <a:latin typeface="Times New Roman" panose="02020603050405020304" pitchFamily="18" charset="0"/>
              </a:rPr>
              <a:t>所指向的一个字送到目的操作数中</a:t>
            </a:r>
            <a:r>
              <a:rPr lang="en-US" altLang="zh-CN" sz="2800">
                <a:latin typeface="Times New Roman" panose="02020603050405020304" pitchFamily="18" charset="0"/>
              </a:rPr>
              <a:t>           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目的操作数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</a:rPr>
              <a:t>可以是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</a:rPr>
              <a:t>位通用寄存器、段寄存器或存储单元</a:t>
            </a:r>
            <a:r>
              <a:rPr lang="zh-CN" altLang="en-US" sz="2800">
                <a:latin typeface="Times New Roman" panose="02020603050405020304" pitchFamily="18" charset="0"/>
              </a:rPr>
              <a:t>，但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不能是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CS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每执行一次出栈操作，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先</a:t>
            </a:r>
            <a:r>
              <a:rPr lang="zh-CN" altLang="en-US" sz="2800">
                <a:latin typeface="Times New Roman" panose="02020603050405020304" pitchFamily="18" charset="0"/>
              </a:rPr>
              <a:t>将SP指向的数据送到目的操纵数，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再</a:t>
            </a:r>
            <a:r>
              <a:rPr lang="en-US" altLang="zh-CN" sz="2800">
                <a:latin typeface="Times New Roman" panose="02020603050405020304" pitchFamily="18" charset="0"/>
              </a:rPr>
              <a:t>SP←SP+2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SP</a:t>
            </a:r>
            <a:r>
              <a:rPr lang="zh-CN" altLang="en-US" sz="2800">
                <a:latin typeface="Times New Roman" panose="02020603050405020304" pitchFamily="18" charset="0"/>
              </a:rPr>
              <a:t>向高地址方向移动，指向新的栈顶</a:t>
            </a:r>
          </a:p>
          <a:p>
            <a:pPr marL="342900" indent="-342900" algn="l" eaLnBrk="1" hangingPunct="1">
              <a:buFontTx/>
              <a:buChar char="•"/>
            </a:pPr>
            <a:endParaRPr lang="zh-CN" altLang="en-US" sz="320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4">
            <a:extLst>
              <a:ext uri="{FF2B5EF4-FFF2-40B4-BE49-F238E27FC236}">
                <a16:creationId xmlns:a16="http://schemas.microsoft.com/office/drawing/2014/main" id="{948BD1B2-F314-4FA8-B4FA-A54A47991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673100"/>
            <a:ext cx="2578100" cy="516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3.29 </a:t>
            </a:r>
            <a:endParaRPr lang="zh-CN" altLang="en-US" sz="2400" b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设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SS=2000H</a:t>
            </a:r>
            <a:endParaRPr lang="zh-CN" altLang="en-US" sz="2400" b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SP=40H</a:t>
            </a:r>
            <a:endParaRPr lang="zh-CN" altLang="en-US" sz="2400" b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AX=25FEH</a:t>
            </a:r>
            <a:endParaRPr lang="zh-CN" altLang="en-US" sz="2400" b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X=3120H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依次执行指令：</a:t>
            </a: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PUSH  BX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PUSH  AX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POP     BX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堆栈中的数据和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SP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的变化情况如图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3.14</a:t>
            </a:r>
            <a:r>
              <a:rPr lang="zh-CN" altLang="en-US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所示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0483" name="对象 20482">
            <a:extLst>
              <a:ext uri="{FF2B5EF4-FFF2-40B4-BE49-F238E27FC236}">
                <a16:creationId xmlns:a16="http://schemas.microsoft.com/office/drawing/2014/main" id="{30A96C98-6EEE-469A-BA75-760B33041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" y="727075"/>
          <a:ext cx="2327275" cy="265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3" r:id="rId3" imgW="2673360" imgH="3053520" progId="Visio.Drawing.11">
                  <p:embed/>
                </p:oleObj>
              </mc:Choice>
              <mc:Fallback>
                <p:oleObj r:id="rId3" imgW="2673360" imgH="3053520" progId="Visio.Drawing.11">
                  <p:embed/>
                  <p:pic>
                    <p:nvPicPr>
                      <p:cNvPr id="0" name="对象 204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727075"/>
                        <a:ext cx="2327275" cy="26590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对象 20483">
            <a:extLst>
              <a:ext uri="{FF2B5EF4-FFF2-40B4-BE49-F238E27FC236}">
                <a16:creationId xmlns:a16="http://schemas.microsoft.com/office/drawing/2014/main" id="{4AAC1F5C-61B0-43B4-99E0-9ED593AF56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6588" y="773113"/>
          <a:ext cx="2476500" cy="274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" r:id="rId5" imgW="2739600" imgH="3038760" progId="Visio.Drawing.11">
                  <p:embed/>
                </p:oleObj>
              </mc:Choice>
              <mc:Fallback>
                <p:oleObj r:id="rId5" imgW="2739600" imgH="3038760" progId="Visio.Drawing.11">
                  <p:embed/>
                  <p:pic>
                    <p:nvPicPr>
                      <p:cNvPr id="0" name="对象 204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773113"/>
                        <a:ext cx="2476500" cy="27463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对象 20484">
            <a:extLst>
              <a:ext uri="{FF2B5EF4-FFF2-40B4-BE49-F238E27FC236}">
                <a16:creationId xmlns:a16="http://schemas.microsoft.com/office/drawing/2014/main" id="{3AB05561-9999-4E98-86A0-BF5FDA741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789363"/>
          <a:ext cx="2552700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" r:id="rId7" imgW="2744640" imgH="3038760" progId="Visio.Drawing.11">
                  <p:embed/>
                </p:oleObj>
              </mc:Choice>
              <mc:Fallback>
                <p:oleObj r:id="rId7" imgW="2744640" imgH="3038760" progId="Visio.Drawing.11">
                  <p:embed/>
                  <p:pic>
                    <p:nvPicPr>
                      <p:cNvPr id="0" name="对象 204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789363"/>
                        <a:ext cx="2552700" cy="28257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对象 20485">
            <a:extLst>
              <a:ext uri="{FF2B5EF4-FFF2-40B4-BE49-F238E27FC236}">
                <a16:creationId xmlns:a16="http://schemas.microsoft.com/office/drawing/2014/main" id="{D6AB4264-F40A-4BBA-8173-4D8F54020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1038" y="3789363"/>
          <a:ext cx="2519362" cy="279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6" r:id="rId9" imgW="2743200" imgH="3038760" progId="Visio.Drawing.11">
                  <p:embed/>
                </p:oleObj>
              </mc:Choice>
              <mc:Fallback>
                <p:oleObj r:id="rId9" imgW="2743200" imgH="3038760" progId="Visio.Drawing.11">
                  <p:embed/>
                  <p:pic>
                    <p:nvPicPr>
                      <p:cNvPr id="0" name="对象 204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8" y="3789363"/>
                        <a:ext cx="2519362" cy="27908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5A4D1A05-0A91-48C7-BD88-E9644F0AA36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74663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通用数据传送指令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25FF16B1-5C1A-434B-BE7D-321E2DF73C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073150"/>
            <a:ext cx="8372475" cy="5416550"/>
          </a:xfrm>
        </p:spPr>
        <p:txBody>
          <a:bodyPr/>
          <a:lstStyle/>
          <a:p>
            <a:pPr marL="342900" indent="-342900"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4) 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交换指令</a:t>
            </a:r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XCHG (Exchange)</a:t>
            </a:r>
            <a:endParaRPr lang="zh-CN" altLang="en-US" sz="2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ts val="600"/>
              </a:spcBef>
            </a:pPr>
            <a:r>
              <a:rPr lang="zh-CN" altLang="en-US" sz="2600">
                <a:latin typeface="Times New Roman" panose="02020603050405020304" pitchFamily="18" charset="0"/>
              </a:rPr>
              <a:t>　　指令格式：</a:t>
            </a:r>
            <a:r>
              <a:rPr lang="en-US" altLang="zh-CN" sz="2600">
                <a:latin typeface="Times New Roman" panose="02020603050405020304" pitchFamily="18" charset="0"/>
              </a:rPr>
              <a:t> XCHG	 </a:t>
            </a:r>
            <a:r>
              <a:rPr lang="zh-CN" altLang="en-US" sz="2600">
                <a:latin typeface="Times New Roman" panose="02020603050405020304" pitchFamily="18" charset="0"/>
              </a:rPr>
              <a:t>目的，源</a:t>
            </a:r>
          </a:p>
          <a:p>
            <a:pPr marL="342900" indent="-342900" algn="l" eaLnBrk="1" hangingPunct="1">
              <a:spcBef>
                <a:spcPts val="600"/>
              </a:spcBef>
            </a:pPr>
            <a:r>
              <a:rPr lang="zh-CN" altLang="en-US" sz="2600">
                <a:latin typeface="Times New Roman" panose="02020603050405020304" pitchFamily="18" charset="0"/>
              </a:rPr>
              <a:t>　　指令功能： 源操作数和目的操作数相交换</a:t>
            </a:r>
          </a:p>
          <a:p>
            <a:pPr marL="342900" indent="-342900" algn="l" eaLnBrk="1" hangingPunct="1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交换可以在寄存器之间、寄存器与存储器之间进行，但段寄存器不能作为操作数，也</a:t>
            </a:r>
            <a:r>
              <a:rPr lang="zh-CN" altLang="en-US" sz="2600" b="1">
                <a:solidFill>
                  <a:srgbClr val="C00000"/>
                </a:solidFill>
                <a:latin typeface="Times New Roman" panose="02020603050405020304" pitchFamily="18" charset="0"/>
              </a:rPr>
              <a:t>不能直接交换两个存储单元中的内容</a:t>
            </a:r>
            <a:r>
              <a:rPr lang="zh-CN" altLang="en-US" sz="2600">
                <a:latin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1800"/>
              </a:spcBef>
            </a:pP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3.30  </a:t>
            </a:r>
            <a:r>
              <a:rPr lang="en-US" altLang="zh-CN" sz="26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AX=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2000H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DS=3000H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BX=1800H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(31A00H)=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1995H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，执行指令</a:t>
            </a:r>
          </a:p>
          <a:p>
            <a:pPr marL="342900" indent="-342900" algn="l" eaLnBrk="1" hangingPunct="1">
              <a:spcBef>
                <a:spcPct val="0"/>
              </a:spcBef>
            </a:pP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 </a:t>
            </a:r>
            <a:r>
              <a:rPr lang="en-US" altLang="zh-CN" sz="26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 XCHG	  AX</a:t>
            </a: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，［</a:t>
            </a:r>
            <a:r>
              <a:rPr lang="en-US" altLang="zh-CN" sz="26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BX+200H</a:t>
            </a: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</a:p>
          <a:p>
            <a:pPr marL="342900" indent="-342900" algn="l" eaLnBrk="1" hangingPunct="1">
              <a:spcBef>
                <a:spcPct val="0"/>
              </a:spcBef>
            </a:pP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>
              <a:spcBef>
                <a:spcPct val="0"/>
              </a:spcBef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指令执行后，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AX=1995H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(31A00H)=2000H</a:t>
            </a:r>
            <a:endParaRPr lang="zh-CN" altLang="en-US" sz="26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34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507">
                                            <p:txEl>
                                              <p:charRg st="234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F1AE905A-32EA-4B89-B142-619E6E58368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495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chemeClr val="accent2"/>
                </a:solidFill>
              </a:rPr>
              <a:t>1. </a:t>
            </a:r>
            <a:r>
              <a:rPr lang="zh-CN" altLang="en-US" sz="4000" b="1">
                <a:solidFill>
                  <a:schemeClr val="accent2"/>
                </a:solidFill>
              </a:rPr>
              <a:t>通用数据传送指令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100B31A0-DA50-44AC-BF7B-C663CC4C87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4363" y="1312863"/>
            <a:ext cx="8053387" cy="517525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5)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表转换指令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XLAT (Table Lookup-Translation)</a:t>
            </a:r>
            <a:endParaRPr lang="en-US" altLang="zh-CN" sz="24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ts val="1800"/>
              </a:spcBef>
            </a:pP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ts val="6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       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XLAT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 转换表</a:t>
            </a:r>
            <a:r>
              <a:rPr lang="en-US" altLang="zh-CN" sz="2800">
                <a:latin typeface="Times New Roman" panose="02020603050405020304" pitchFamily="18" charset="0"/>
              </a:rPr>
              <a:t>     </a:t>
            </a:r>
            <a:r>
              <a:rPr lang="zh-CN" altLang="en-US" sz="2800">
                <a:latin typeface="Times New Roman" panose="02020603050405020304" pitchFamily="18" charset="0"/>
              </a:rPr>
              <a:t>；“转换表”为表格首地址</a:t>
            </a:r>
          </a:p>
          <a:p>
            <a:pPr algn="l" eaLnBrk="1" hangingPunct="1">
              <a:spcBef>
                <a:spcPts val="6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或 </a:t>
            </a:r>
            <a:r>
              <a:rPr lang="en-US" altLang="zh-CN" sz="2800">
                <a:latin typeface="Times New Roman" panose="02020603050405020304" pitchFamily="18" charset="0"/>
              </a:rPr>
              <a:t>  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XLAT</a:t>
            </a:r>
            <a:r>
              <a:rPr lang="en-US" altLang="zh-CN" sz="2800">
                <a:latin typeface="Times New Roman" panose="02020603050405020304" pitchFamily="18" charset="0"/>
              </a:rPr>
              <a:t>	 </a:t>
            </a:r>
            <a:r>
              <a:rPr lang="zh-CN" altLang="en-US" sz="2800">
                <a:latin typeface="Times New Roman" panose="02020603050405020304" pitchFamily="18" charset="0"/>
              </a:rPr>
              <a:t>	        ；“转换表”可省略不写</a:t>
            </a:r>
          </a:p>
          <a:p>
            <a:pPr algn="l" eaLnBrk="1" hangingPunct="1">
              <a:spcBef>
                <a:spcPts val="600"/>
              </a:spcBef>
            </a:pP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</a:rPr>
              <a:t>指令功能</a:t>
            </a:r>
            <a:r>
              <a:rPr lang="zh-CN" altLang="en-US" sz="2800">
                <a:latin typeface="Times New Roman" panose="02020603050405020304" pitchFamily="18" charset="0"/>
              </a:rPr>
              <a:t>： 将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个字节从一种代码转换成另一种代码</a:t>
            </a:r>
          </a:p>
          <a:p>
            <a:pPr algn="l"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不要求掌握查表指令</a:t>
            </a:r>
          </a:p>
          <a:p>
            <a:pPr algn="l"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需要了解什么是查表以及如何实现查表</a:t>
            </a:r>
          </a:p>
          <a:p>
            <a:pPr algn="l" eaLnBrk="1" hangingPunct="1"/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07498B94-E67D-4A63-8AA8-EE2170225DF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rgbClr val="FF0066"/>
                </a:solidFill>
              </a:rPr>
              <a:t>查表的实现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4A215C1C-0CAA-4CB8-A54C-84DA885472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04056" y="1799596"/>
            <a:ext cx="7786688" cy="111125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3.31</a:t>
            </a:r>
            <a:r>
              <a:rPr lang="en-US" altLang="zh-CN" sz="28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表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3.4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是十进制数字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0~9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LED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七段码对照表，试用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XLAT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指令求数字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的七段码值。</a:t>
            </a:r>
            <a:endParaRPr lang="zh-CN" altLang="en-US" sz="3200" dirty="0"/>
          </a:p>
        </p:txBody>
      </p:sp>
      <p:pic>
        <p:nvPicPr>
          <p:cNvPr id="23556" name="Picture 2">
            <a:extLst>
              <a:ext uri="{FF2B5EF4-FFF2-40B4-BE49-F238E27FC236}">
                <a16:creationId xmlns:a16="http://schemas.microsoft.com/office/drawing/2014/main" id="{79A1C725-8DB7-4909-92F5-78DFE0E76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61" y="3203895"/>
            <a:ext cx="8058150" cy="312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61DA357-A2B1-4635-BDFB-8747463F7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864" y="646637"/>
            <a:ext cx="4562475" cy="2571750"/>
          </a:xfrm>
          <a:prstGeom prst="rect">
            <a:avLst/>
          </a:prstGeom>
        </p:spPr>
      </p:pic>
    </p:spTree>
  </p:cSld>
  <p:clrMapOvr>
    <a:masterClrMapping/>
  </p:clrMapOvr>
  <p:transition spd="slow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A5472B34-19BE-4A0D-8D86-E61D941F22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762000"/>
            <a:ext cx="8372475" cy="5727700"/>
          </a:xfrm>
        </p:spPr>
        <p:txBody>
          <a:bodyPr/>
          <a:lstStyle/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先用</a:t>
            </a:r>
            <a:r>
              <a:rPr lang="en-US" altLang="zh-CN" sz="2600">
                <a:latin typeface="Times New Roman" panose="02020603050405020304" pitchFamily="18" charset="0"/>
              </a:rPr>
              <a:t>DB</a:t>
            </a:r>
            <a:r>
              <a:rPr lang="zh-CN" altLang="en-US" sz="2600">
                <a:latin typeface="Times New Roman" panose="02020603050405020304" pitchFamily="18" charset="0"/>
              </a:rPr>
              <a:t>伪指令建</a:t>
            </a:r>
            <a:r>
              <a:rPr lang="en-US" altLang="zh-CN" sz="2600"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latin typeface="Times New Roman" panose="02020603050405020304" pitchFamily="18" charset="0"/>
              </a:rPr>
              <a:t>个表格，存放</a:t>
            </a:r>
            <a:r>
              <a:rPr lang="en-US" altLang="zh-CN" sz="2600">
                <a:latin typeface="Times New Roman" panose="02020603050405020304" pitchFamily="18" charset="0"/>
              </a:rPr>
              <a:t>0~9</a:t>
            </a:r>
            <a:r>
              <a:rPr lang="zh-CN" altLang="en-US" sz="2600">
                <a:latin typeface="Times New Roman" panose="02020603050405020304" pitchFamily="18" charset="0"/>
              </a:rPr>
              <a:t>的七段码值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表格起始地址为</a:t>
            </a:r>
            <a:r>
              <a:rPr lang="en-US" altLang="zh-CN" sz="2600">
                <a:latin typeface="Times New Roman" panose="02020603050405020304" pitchFamily="18" charset="0"/>
              </a:rPr>
              <a:t>TABLE</a:t>
            </a:r>
            <a:r>
              <a:rPr lang="zh-CN" altLang="en-US" sz="2600">
                <a:latin typeface="Times New Roman" panose="02020603050405020304" pitchFamily="18" charset="0"/>
              </a:rPr>
              <a:t>，数字</a:t>
            </a:r>
            <a:r>
              <a:rPr lang="en-US" altLang="zh-CN" sz="2600">
                <a:latin typeface="Times New Roman" panose="02020603050405020304" pitchFamily="18" charset="0"/>
              </a:rPr>
              <a:t>0~9</a:t>
            </a:r>
            <a:r>
              <a:rPr lang="zh-CN" altLang="en-US" sz="2600">
                <a:latin typeface="Times New Roman" panose="02020603050405020304" pitchFamily="18" charset="0"/>
              </a:rPr>
              <a:t>的七段码存放在相对于</a:t>
            </a:r>
            <a:r>
              <a:rPr lang="en-US" altLang="zh-CN" sz="2600">
                <a:latin typeface="Times New Roman" panose="02020603050405020304" pitchFamily="18" charset="0"/>
              </a:rPr>
              <a:t>TABLE</a:t>
            </a:r>
            <a:r>
              <a:rPr lang="zh-CN" altLang="en-US" sz="2600">
                <a:latin typeface="Times New Roman" panose="02020603050405020304" pitchFamily="18" charset="0"/>
              </a:rPr>
              <a:t>的位移量为</a:t>
            </a:r>
            <a:r>
              <a:rPr lang="en-US" altLang="zh-CN" sz="2600">
                <a:latin typeface="Times New Roman" panose="02020603050405020304" pitchFamily="18" charset="0"/>
              </a:rPr>
              <a:t>0~9</a:t>
            </a:r>
            <a:r>
              <a:rPr lang="zh-CN" altLang="en-US" sz="2600">
                <a:latin typeface="Times New Roman" panose="02020603050405020304" pitchFamily="18" charset="0"/>
              </a:rPr>
              <a:t>的单元中</a:t>
            </a:r>
            <a:endParaRPr lang="en-US" altLang="zh-CN" sz="2600">
              <a:latin typeface="Times New Roman" panose="02020603050405020304" pitchFamily="18" charset="0"/>
            </a:endParaRP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en-US" altLang="zh-CN" sz="2600">
                <a:latin typeface="Times New Roman" panose="02020603050405020304" pitchFamily="18" charset="0"/>
              </a:rPr>
              <a:t>利用</a:t>
            </a:r>
            <a:r>
              <a:rPr lang="zh-CN" altLang="en-US" sz="2600">
                <a:latin typeface="Times New Roman" panose="02020603050405020304" pitchFamily="18" charset="0"/>
              </a:rPr>
              <a:t>基址变址寻址</a:t>
            </a:r>
            <a:endParaRPr lang="en-US" altLang="zh-CN" sz="2600">
              <a:latin typeface="Times New Roman" panose="02020603050405020304" pitchFamily="18" charset="0"/>
            </a:endParaRPr>
          </a:p>
          <a:p>
            <a:pPr marL="342900" indent="-342900" algn="l" eaLnBrk="1" hangingPunct="1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程序如下</a:t>
            </a:r>
            <a:r>
              <a:rPr lang="zh-CN" altLang="en-US" sz="2600">
                <a:latin typeface="Times New Roman" panose="02020603050405020304" pitchFamily="18" charset="0"/>
              </a:rPr>
              <a:t>：</a:t>
            </a:r>
          </a:p>
          <a:p>
            <a:pPr marL="342900" indent="-342900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TABLE  DB	40H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79H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24H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30H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19H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七段码表格</a:t>
            </a:r>
          </a:p>
          <a:p>
            <a:pPr marL="342900" indent="-342900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     DB	12H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02H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78H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18H</a:t>
            </a:r>
            <a:endParaRPr lang="zh-CN" altLang="en-US" sz="26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        …</a:t>
            </a:r>
            <a:endParaRPr lang="zh-CN" altLang="en-US" sz="2600">
              <a:latin typeface="Times New Roman" panose="02020603050405020304" pitchFamily="18" charset="0"/>
              <a:ea typeface="楷体_GB2312" pitchFamily="1" charset="-122"/>
            </a:endParaRPr>
          </a:p>
          <a:p>
            <a:pPr marL="342900" indent="-342900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MOV	  SI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5		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SI←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数字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5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的位移量</a:t>
            </a:r>
          </a:p>
          <a:p>
            <a:pPr marL="342900" indent="-342900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MOV	  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OFFSET  TABLE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BX←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表格首地址</a:t>
            </a:r>
          </a:p>
          <a:p>
            <a:pPr marL="342900" indent="-342900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MOV  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[BX+SI]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；查表得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AL=12H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79FE01B6-8E26-4D0F-B920-D4D0894ED84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93700" y="3619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chemeClr val="accent2"/>
                </a:solidFill>
              </a:rPr>
              <a:t>2. </a:t>
            </a:r>
            <a:r>
              <a:rPr lang="zh-CN" altLang="en-US" sz="4000" b="1">
                <a:solidFill>
                  <a:schemeClr val="accent2"/>
                </a:solidFill>
              </a:rPr>
              <a:t>输入输出指令 </a:t>
            </a:r>
            <a:r>
              <a:rPr lang="en-US" altLang="zh-CN" sz="4000" b="1">
                <a:solidFill>
                  <a:schemeClr val="accent2"/>
                </a:solidFill>
              </a:rPr>
              <a:t>(Input and Output)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5449DFA9-C57F-4D86-8AAB-1A40648B55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1028700"/>
            <a:ext cx="8372475" cy="5175250"/>
          </a:xfrm>
        </p:spPr>
        <p:txBody>
          <a:bodyPr/>
          <a:lstStyle/>
          <a:p>
            <a:pPr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1) IN 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输入指令</a:t>
            </a:r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 (Input)</a:t>
            </a: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</a:rPr>
              <a:t>　　指令格式：</a:t>
            </a:r>
            <a:r>
              <a:rPr lang="en-US" altLang="zh-CN" sz="2600">
                <a:latin typeface="Times New Roman" panose="02020603050405020304" pitchFamily="18" charset="0"/>
              </a:rPr>
              <a:t>	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  IN  AL</a:t>
            </a:r>
            <a:r>
              <a:rPr lang="zh-CN" altLang="en-US" sz="2600">
                <a:latin typeface="Times New Roman" panose="02020603050405020304" pitchFamily="18" charset="0"/>
              </a:rPr>
              <a:t>，端口地址</a:t>
            </a:r>
            <a:r>
              <a:rPr lang="en-US" altLang="zh-CN" sz="2600">
                <a:latin typeface="Times New Roman" panose="02020603050405020304" pitchFamily="18" charset="0"/>
              </a:rPr>
              <a:t>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</a:rPr>
              <a:t>AL←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位端口读入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字节</a:t>
            </a: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</a:rPr>
              <a:t>或  </a:t>
            </a:r>
            <a:r>
              <a:rPr lang="en-US" altLang="zh-CN" sz="2600">
                <a:latin typeface="Times New Roman" panose="02020603050405020304" pitchFamily="18" charset="0"/>
              </a:rPr>
              <a:t>IN  AX</a:t>
            </a:r>
            <a:r>
              <a:rPr lang="zh-CN" altLang="en-US" sz="2600">
                <a:latin typeface="Times New Roman" panose="02020603050405020304" pitchFamily="18" charset="0"/>
              </a:rPr>
              <a:t>，端口地址</a:t>
            </a:r>
            <a:r>
              <a:rPr lang="en-US" altLang="zh-CN" sz="2600">
                <a:latin typeface="Times New Roman" panose="02020603050405020304" pitchFamily="18" charset="0"/>
              </a:rPr>
              <a:t>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</a:rPr>
              <a:t>AX←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位端口读入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个字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  IN  AL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DX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；端口地址存放在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</a:rPr>
              <a:t>DX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中</a:t>
            </a: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</a:rPr>
              <a:t>或  </a:t>
            </a:r>
            <a:r>
              <a:rPr lang="en-US" altLang="zh-CN" sz="2600">
                <a:latin typeface="Times New Roman" panose="02020603050405020304" pitchFamily="18" charset="0"/>
              </a:rPr>
              <a:t>IN  AX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DX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格式</a:t>
            </a:r>
            <a:r>
              <a:rPr lang="en-US" altLang="zh-CN" sz="2600">
                <a:sym typeface="Wingdings" panose="05000000000000000000" pitchFamily="2" charset="2"/>
              </a:rPr>
              <a:t> 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</a:rPr>
              <a:t>端口地址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</a:rPr>
              <a:t>(00~FFH)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</a:rPr>
              <a:t>直接包含在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</a:rPr>
              <a:t>IN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</a:rPr>
              <a:t>指令里</a:t>
            </a:r>
            <a:r>
              <a:rPr lang="zh-CN" altLang="en-US" sz="2600">
                <a:latin typeface="Times New Roman" panose="02020603050405020304" pitchFamily="18" charset="0"/>
              </a:rPr>
              <a:t>，共允许寻址</a:t>
            </a:r>
            <a:r>
              <a:rPr lang="en-US" altLang="zh-CN" sz="2600">
                <a:latin typeface="Times New Roman" panose="02020603050405020304" pitchFamily="18" charset="0"/>
              </a:rPr>
              <a:t>256</a:t>
            </a:r>
            <a:r>
              <a:rPr lang="zh-CN" altLang="en-US" sz="2600">
                <a:latin typeface="Times New Roman" panose="02020603050405020304" pitchFamily="18" charset="0"/>
              </a:rPr>
              <a:t>个端口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当端口地址大于</a:t>
            </a:r>
            <a:r>
              <a:rPr lang="en-US" altLang="zh-CN" sz="2600">
                <a:latin typeface="Times New Roman" panose="02020603050405020304" pitchFamily="18" charset="0"/>
              </a:rPr>
              <a:t>FFH</a:t>
            </a:r>
            <a:r>
              <a:rPr lang="zh-CN" altLang="en-US" sz="2600">
                <a:latin typeface="Times New Roman" panose="02020603050405020304" pitchFamily="18" charset="0"/>
              </a:rPr>
              <a:t>时，必须用格式</a:t>
            </a:r>
            <a:r>
              <a:rPr lang="en-US" altLang="zh-CN" sz="2600">
                <a:sym typeface="Wingdings" panose="05000000000000000000" pitchFamily="2" charset="2"/>
              </a:rPr>
              <a:t> </a:t>
            </a:r>
            <a:r>
              <a:rPr lang="zh-CN" altLang="en-US" sz="2600">
                <a:latin typeface="Times New Roman" panose="02020603050405020304" pitchFamily="18" charset="0"/>
              </a:rPr>
              <a:t>寻址，即先将端口号送入</a:t>
            </a:r>
            <a:r>
              <a:rPr lang="en-US" altLang="zh-CN" sz="2600">
                <a:latin typeface="Times New Roman" panose="02020603050405020304" pitchFamily="18" charset="0"/>
              </a:rPr>
              <a:t>DX</a:t>
            </a:r>
            <a:r>
              <a:rPr lang="zh-CN" altLang="en-US" sz="2600">
                <a:latin typeface="Times New Roman" panose="02020603050405020304" pitchFamily="18" charset="0"/>
              </a:rPr>
              <a:t>，再执行输入操作，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</a:rPr>
              <a:t>DX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</a:rPr>
              <a:t>允许范围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</a:rPr>
              <a:t>0000~ FFFFH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469D0BCC-61E0-4EF5-9A76-5D92FF5FD1C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04800" y="4508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rgbClr val="FF0066"/>
                </a:solidFill>
              </a:rPr>
              <a:t>2. </a:t>
            </a:r>
            <a:r>
              <a:rPr lang="zh-CN" altLang="en-US" sz="4000" b="1">
                <a:solidFill>
                  <a:srgbClr val="FF0066"/>
                </a:solidFill>
              </a:rPr>
              <a:t>输入输出指令</a:t>
            </a:r>
            <a:r>
              <a:rPr lang="en-US" altLang="zh-CN" sz="4000" b="1">
                <a:solidFill>
                  <a:srgbClr val="FF0066"/>
                </a:solidFill>
              </a:rPr>
              <a:t>举例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5681F54B-7E26-472A-8C4F-7D9677E3D4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 algn="l" eaLnBrk="1" hangingPunct="1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3.32  </a:t>
            </a: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用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IN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指令从输入端口读取数据的例子。</a:t>
            </a:r>
          </a:p>
          <a:p>
            <a:pPr algn="l" eaLnBrk="1" hangingPunct="1">
              <a:spcBef>
                <a:spcPts val="2400"/>
              </a:spcBef>
            </a:pPr>
            <a:r>
              <a:rPr lang="en-US" altLang="zh-CN" sz="2600">
                <a:latin typeface="Times New Roman" panose="02020603050405020304" pitchFamily="18" charset="0"/>
              </a:rPr>
              <a:t>IN	   AL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0F1H	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AL←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从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F1H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端口读入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字节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 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IN	   AX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80H	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AL←80H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端口内容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			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AH←81H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端口内容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 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MOV  DX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310H	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；端口地址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310H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先送入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DX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IN	   AL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DX	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AL←310H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端口内容</a:t>
            </a: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DDEE9E3C-6330-49DB-8151-23ABCBC1CD7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5842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rgbClr val="FF0066"/>
                </a:solidFill>
              </a:rPr>
              <a:t>2. </a:t>
            </a:r>
            <a:r>
              <a:rPr lang="zh-CN" altLang="en-US" sz="4000" b="1">
                <a:solidFill>
                  <a:srgbClr val="FF0066"/>
                </a:solidFill>
              </a:rPr>
              <a:t>输入输出指令</a:t>
            </a:r>
            <a:r>
              <a:rPr lang="en-US" altLang="zh-CN" sz="4000" b="1">
                <a:solidFill>
                  <a:srgbClr val="FF0066"/>
                </a:solidFill>
              </a:rPr>
              <a:t>举例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3CA7C307-96B2-414B-86F7-D8E0390EDF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339850"/>
            <a:ext cx="7831138" cy="5175250"/>
          </a:xfrm>
        </p:spPr>
        <p:txBody>
          <a:bodyPr/>
          <a:lstStyle/>
          <a:p>
            <a:pPr algn="l" eaLnBrk="1" hangingPunct="1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3.33  </a:t>
            </a:r>
            <a:endParaRPr lang="zh-CN" altLang="en-US" sz="26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IN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指令中也可用符号表示地址。例如，要求从一个模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/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数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(A/D)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转换器读入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字节数字量到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中</a:t>
            </a:r>
          </a:p>
          <a:p>
            <a:pPr algn="l" eaLnBrk="1" hangingPunct="1">
              <a:spcBef>
                <a:spcPts val="2400"/>
              </a:spcBef>
            </a:pPr>
            <a:r>
              <a:rPr lang="en-US" altLang="zh-CN" sz="2600" b="1">
                <a:solidFill>
                  <a:srgbClr val="008000"/>
                </a:solidFill>
                <a:latin typeface="Times New Roman" panose="02020603050405020304" pitchFamily="18" charset="0"/>
              </a:rPr>
              <a:t>ATOD</a:t>
            </a:r>
            <a:r>
              <a:rPr lang="en-US" altLang="zh-CN" sz="2600">
                <a:latin typeface="Times New Roman" panose="02020603050405020304" pitchFamily="18" charset="0"/>
              </a:rPr>
              <a:t>    EQU</a:t>
            </a:r>
            <a:r>
              <a:rPr lang="zh-CN" altLang="en-US" sz="2600">
                <a:latin typeface="Times New Roman" panose="02020603050405020304" pitchFamily="18" charset="0"/>
              </a:rPr>
              <a:t>  </a:t>
            </a:r>
            <a:r>
              <a:rPr lang="en-US" altLang="zh-CN" sz="2600">
                <a:latin typeface="Times New Roman" panose="02020603050405020304" pitchFamily="18" charset="0"/>
              </a:rPr>
              <a:t> 54H	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		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A/D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转换器端口地址为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54H</a:t>
            </a:r>
            <a:endParaRPr lang="zh-CN" altLang="en-US" sz="26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IN	  AL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 b="1">
                <a:solidFill>
                  <a:srgbClr val="008000"/>
                </a:solidFill>
                <a:latin typeface="Times New Roman" panose="02020603050405020304" pitchFamily="18" charset="0"/>
              </a:rPr>
              <a:t>ATOD</a:t>
            </a:r>
            <a:r>
              <a:rPr lang="en-US" altLang="zh-CN" sz="2600">
                <a:latin typeface="Times New Roman" panose="02020603050405020304" pitchFamily="18" charset="0"/>
              </a:rPr>
              <a:t>		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</a:rPr>
              <a:t>		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54H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端口的内容读入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中</a:t>
            </a:r>
          </a:p>
          <a:p>
            <a:pPr algn="l" eaLnBrk="1" hangingPunct="1"/>
            <a:endParaRPr lang="zh-CN" altLang="en-US" sz="26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299BDF-E31C-4298-99D9-18F6F9D169C8}"/>
              </a:ext>
            </a:extLst>
          </p:cNvPr>
          <p:cNvSpPr txBox="1"/>
          <p:nvPr/>
        </p:nvSpPr>
        <p:spPr>
          <a:xfrm>
            <a:off x="795338" y="5022850"/>
            <a:ext cx="4184650" cy="4603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复习：这是什么寻址方式？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A9E46BA3-DCC2-4154-9CEE-F0BDF47FBE3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93700" y="495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rgbClr val="FF0066"/>
                </a:solidFill>
              </a:rPr>
              <a:t>2. </a:t>
            </a:r>
            <a:r>
              <a:rPr lang="zh-CN" altLang="en-US" sz="4000" b="1">
                <a:solidFill>
                  <a:srgbClr val="FF0066"/>
                </a:solidFill>
              </a:rPr>
              <a:t>输入输出指令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26C3D710-88CD-4C22-AE9A-742972056C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4062" cy="517525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2) OUT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输出指令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 (Output)</a:t>
            </a: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</a:p>
          <a:p>
            <a:pPr algn="l" eaLnBrk="1" hangingPunct="1">
              <a:spcBef>
                <a:spcPts val="18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   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OUT   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端口地址，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AL	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位端口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←AL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内容</a:t>
            </a:r>
          </a:p>
          <a:p>
            <a:pPr algn="l" eaLnBrk="1" hangingPunct="1">
              <a:spcBef>
                <a:spcPts val="1800"/>
              </a:spcBef>
            </a:pP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   或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OUT   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端口地址，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AX	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16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位端口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←AX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内容</a:t>
            </a:r>
          </a:p>
          <a:p>
            <a:pPr algn="l" eaLnBrk="1" hangingPunct="1">
              <a:spcBef>
                <a:spcPts val="18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ts val="18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 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OUT   DX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AL		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DX=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端口地址</a:t>
            </a:r>
          </a:p>
          <a:p>
            <a:pPr algn="l" eaLnBrk="1" hangingPunct="1">
              <a:spcBef>
                <a:spcPts val="18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   或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OUT   DX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AX</a:t>
            </a:r>
            <a:endParaRPr lang="zh-CN" altLang="en-US" sz="320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>
            <a:extLst>
              <a:ext uri="{FF2B5EF4-FFF2-40B4-BE49-F238E27FC236}">
                <a16:creationId xmlns:a16="http://schemas.microsoft.com/office/drawing/2014/main" id="{3A26CB6A-78E6-4C9E-8D58-7C7CD78A733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5397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rgbClr val="FF0066"/>
                </a:solidFill>
              </a:rPr>
              <a:t>2. </a:t>
            </a:r>
            <a:r>
              <a:rPr lang="zh-CN" altLang="en-US" sz="4000" b="1">
                <a:solidFill>
                  <a:srgbClr val="FF0066"/>
                </a:solidFill>
              </a:rPr>
              <a:t>输入输出指令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E50E141D-F149-4070-9001-68DF45B193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3.34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OUT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指令对输出端口进行操作的例子。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OUT	  85H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AL		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85H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←AL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内容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MOV	  DX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0FF4H	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指向端口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0FF4H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OUT	  DX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</a:rPr>
              <a:t>AL		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FF4H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←AL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内容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 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MOV	  DX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300H	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指向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16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位端口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OUT	  DX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AX		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300H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←AL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内容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	                    		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301H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←AH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1" charset="-122"/>
              </a:rPr>
              <a:t>内容</a:t>
            </a:r>
            <a:endParaRPr lang="zh-CN" altLang="en-US" sz="3200"/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68E9C48D-2E62-42C7-B7FA-7498B6254EF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74663" y="368300"/>
            <a:ext cx="8229600" cy="927100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rgbClr val="FF0066"/>
                </a:solidFill>
              </a:rPr>
              <a:t>3. </a:t>
            </a:r>
            <a:r>
              <a:rPr lang="zh-CN" altLang="en-US" sz="3600" b="1">
                <a:solidFill>
                  <a:srgbClr val="FF0066"/>
                </a:solidFill>
              </a:rPr>
              <a:t>地址目标传送指令</a:t>
            </a:r>
            <a:r>
              <a:rPr lang="en-US" altLang="zh-CN" sz="3600" b="1">
                <a:solidFill>
                  <a:srgbClr val="FF0066"/>
                </a:solidFill>
              </a:rPr>
              <a:t>(</a:t>
            </a:r>
            <a:r>
              <a:rPr lang="en-US" altLang="zh-CN" sz="2000" b="1">
                <a:solidFill>
                  <a:srgbClr val="FF0066"/>
                </a:solidFill>
              </a:rPr>
              <a:t>Address Object Transfers</a:t>
            </a:r>
            <a:r>
              <a:rPr lang="en-US" altLang="zh-CN" sz="3600" b="1">
                <a:solidFill>
                  <a:srgbClr val="FF0066"/>
                </a:solidFill>
              </a:rPr>
              <a:t>)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9614F16C-949D-44F2-A989-D6DEEA6BF8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562100"/>
            <a:ext cx="8372475" cy="4927600"/>
          </a:xfrm>
        </p:spPr>
        <p:txBody>
          <a:bodyPr/>
          <a:lstStyle/>
          <a:p>
            <a:pPr algn="l" eaLnBrk="1" hangingPunct="1">
              <a:spcBef>
                <a:spcPts val="1800"/>
              </a:spcBef>
            </a:pPr>
            <a:r>
              <a:rPr lang="zh-CN" altLang="en-US" sz="2800"/>
              <a:t>这是一类专用于传送地址码的指令，可以用来传送操作数的段地址和偏移地址</a:t>
            </a:r>
          </a:p>
          <a:p>
            <a:pPr algn="l" eaLnBrk="1" hangingPunct="1">
              <a:spcBef>
                <a:spcPts val="2400"/>
              </a:spcBef>
            </a:pP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1) LEA </a:t>
            </a: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</a:rPr>
              <a:t>取有效地址指令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</a:rPr>
              <a:t>(Load Effective Address)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LEA	 </a:t>
            </a:r>
            <a:r>
              <a:rPr lang="zh-CN" altLang="en-US" sz="2800">
                <a:latin typeface="Times New Roman" panose="02020603050405020304" pitchFamily="18" charset="0"/>
              </a:rPr>
              <a:t>目的，源</a:t>
            </a: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取源操作数地址的偏移量，送到目的操作数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源操作数必须是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存储单元</a:t>
            </a:r>
            <a:r>
              <a:rPr lang="zh-CN" altLang="en-US" sz="2800">
                <a:latin typeface="Times New Roman" panose="02020603050405020304" pitchFamily="18" charset="0"/>
              </a:rPr>
              <a:t>，目的操作数是一个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除段寄存器</a:t>
            </a:r>
            <a:r>
              <a:rPr lang="zh-CN" altLang="en-US" sz="2800">
                <a:latin typeface="Times New Roman" panose="02020603050405020304" pitchFamily="18" charset="0"/>
              </a:rPr>
              <a:t>之外的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位寄存器</a:t>
            </a:r>
          </a:p>
          <a:p>
            <a:pPr algn="l" eaLnBrk="1" hangingPunct="1"/>
            <a:endParaRPr lang="zh-CN" altLang="en-US" sz="3200"/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3A13E1E2-C062-4F3D-9EA8-2BBCAAEEEC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368300"/>
            <a:ext cx="8372475" cy="6121400"/>
          </a:xfrm>
        </p:spPr>
        <p:txBody>
          <a:bodyPr/>
          <a:lstStyle/>
          <a:p>
            <a:pPr algn="l" eaLnBrk="1" hangingPunct="1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3.35 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设：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SI=1000H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DS=5000H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(51000H)=1234H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，指令执行结果如下：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LEA	    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，［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SI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  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[SI]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的偏移地址为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1000H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BX←1000H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	MOV	   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，［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SI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      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；偏移地址为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1000 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单元的内容为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1234H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</a:p>
          <a:p>
            <a:pPr algn="l" eaLnBrk="1" hangingPunct="1"/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；指令执行后，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BX←1234H </a:t>
            </a:r>
          </a:p>
          <a:p>
            <a:pPr algn="l" eaLnBrk="1" hangingPunct="1">
              <a:spcBef>
                <a:spcPts val="2400"/>
              </a:spcBef>
            </a:pP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3.36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下面两条指令是等价的，它们都取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TABLE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的偏移地址，送到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中。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LEA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    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TABLE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MOV 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OFFSET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TABLE</a:t>
            </a: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>
            <a:extLst>
              <a:ext uri="{FF2B5EF4-FFF2-40B4-BE49-F238E27FC236}">
                <a16:creationId xmlns:a16="http://schemas.microsoft.com/office/drawing/2014/main" id="{1A23019C-01DD-476F-88F1-05030E0017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458788"/>
            <a:ext cx="8321675" cy="6399212"/>
          </a:xfrm>
        </p:spPr>
        <p:txBody>
          <a:bodyPr/>
          <a:lstStyle/>
          <a:p>
            <a:pPr algn="l" eaLnBrk="1" hangingPunct="1"/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2) LDS 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</a:rPr>
              <a:t>将双字指针送到寄存器和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3200" b="1">
                <a:solidFill>
                  <a:srgbClr val="FF0066"/>
                </a:solidFill>
                <a:latin typeface="Times New Roman" panose="02020603050405020304" pitchFamily="18" charset="0"/>
              </a:rPr>
              <a:t>指令</a:t>
            </a:r>
            <a:r>
              <a:rPr lang="en-US" altLang="zh-CN" sz="3200" b="1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400">
                <a:solidFill>
                  <a:srgbClr val="FFFF99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>
                <a:latin typeface="Times New Roman" panose="02020603050405020304" pitchFamily="18" charset="0"/>
              </a:rPr>
              <a:t>(Load Pointer using DS)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LDS	   </a:t>
            </a:r>
            <a:r>
              <a:rPr lang="zh-CN" altLang="en-US" sz="2800">
                <a:latin typeface="Times New Roman" panose="02020603050405020304" pitchFamily="18" charset="0"/>
              </a:rPr>
              <a:t>目的，源</a:t>
            </a: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从源操作数指定的存储单元中，取出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个</a:t>
            </a:r>
            <a:r>
              <a:rPr lang="en-US" altLang="zh-CN" sz="2800">
                <a:latin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</a:rPr>
              <a:t>字节地址指针，送进目的寄存器</a:t>
            </a:r>
            <a:r>
              <a:rPr lang="en-US" altLang="zh-CN" sz="2800">
                <a:latin typeface="Times New Roman" panose="02020603050405020304" pitchFamily="18" charset="0"/>
              </a:rPr>
              <a:t>DS</a:t>
            </a:r>
            <a:r>
              <a:rPr lang="zh-CN" altLang="en-US" sz="2800">
                <a:latin typeface="Times New Roman" panose="02020603050405020304" pitchFamily="18" charset="0"/>
              </a:rPr>
              <a:t>和指令中指定的目的寄存器中。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源操作数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必须是存储单元</a:t>
            </a:r>
            <a:r>
              <a:rPr lang="zh-CN" altLang="en-US" sz="2800">
                <a:latin typeface="Times New Roman" panose="02020603050405020304" pitchFamily="18" charset="0"/>
              </a:rPr>
              <a:t>，目的操作数必须是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位寄存器，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常用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SI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寄存器</a:t>
            </a:r>
            <a:r>
              <a:rPr lang="zh-CN" altLang="en-US" sz="2800">
                <a:latin typeface="Times New Roman" panose="02020603050405020304" pitchFamily="18" charset="0"/>
              </a:rPr>
              <a:t>，但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不能用段寄存器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algn="l" eaLnBrk="1" hangingPunct="1">
              <a:spcBef>
                <a:spcPts val="18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3.38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设：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DS=1200H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(12450H)=F346H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(12452H)=0A90H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。执行指令：</a:t>
            </a:r>
          </a:p>
          <a:p>
            <a:pPr algn="l" eaLnBrk="1" hangingPunct="1">
              <a:spcBef>
                <a:spcPts val="60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      LDS    SI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，［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450H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ts val="600"/>
              </a:spcBef>
            </a:pPr>
            <a:r>
              <a:rPr lang="zh-CN" altLang="en-US" sz="2800">
                <a:solidFill>
                  <a:srgbClr val="FFC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结果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存储单元前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字节内容为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F346H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SI←F346H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ts val="6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                       后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字节内容为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0A90H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DS←0A90H</a:t>
            </a:r>
            <a:endParaRPr lang="zh-CN" altLang="en-US" sz="2800"/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148BFBB0-8155-4B6B-B5CA-FCFFDC125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762000"/>
            <a:ext cx="8372475" cy="572770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  <a:defRPr/>
            </a:pPr>
            <a:r>
              <a:rPr lang="en-US" altLang="zh-CN" sz="32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3) LES </a:t>
            </a:r>
            <a:r>
              <a:rPr lang="zh-CN" altLang="en-US" sz="32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将双字指针送到寄存器和</a:t>
            </a:r>
            <a:r>
              <a:rPr lang="en-US" altLang="zh-CN" sz="32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ES</a:t>
            </a:r>
            <a:r>
              <a:rPr lang="zh-CN" altLang="en-US" sz="32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指令</a:t>
            </a:r>
            <a:r>
              <a:rPr lang="en-US" altLang="zh-CN" sz="32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  </a:t>
            </a:r>
            <a:endParaRPr lang="zh-CN" altLang="en-US" sz="3200" b="1" noProof="1">
              <a:solidFill>
                <a:srgbClr val="FF0066"/>
              </a:solidFill>
              <a:latin typeface="Times New Roman" panose="02020603050405020304" pitchFamily="2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noProof="1">
                <a:latin typeface="Times New Roman" panose="02020603050405020304" pitchFamily="2" charset="0"/>
              </a:rPr>
              <a:t>       (Load Pointer using ES)</a:t>
            </a:r>
            <a:endParaRPr lang="zh-CN" altLang="en-US" sz="3200" noProof="1">
              <a:latin typeface="Times New Roman" panose="02020603050405020304" pitchFamily="2" charset="0"/>
            </a:endParaRPr>
          </a:p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3200" noProof="1">
                <a:latin typeface="Times New Roman" panose="02020603050405020304" pitchFamily="2" charset="0"/>
              </a:rPr>
              <a:t>指令格式：</a:t>
            </a:r>
            <a:r>
              <a:rPr lang="en-US" altLang="zh-CN" sz="3200" noProof="1">
                <a:latin typeface="Times New Roman" panose="02020603050405020304" pitchFamily="2" charset="0"/>
              </a:rPr>
              <a:t> LES    </a:t>
            </a:r>
            <a:r>
              <a:rPr lang="zh-CN" altLang="en-US" sz="3200" noProof="1">
                <a:latin typeface="Times New Roman" panose="02020603050405020304" pitchFamily="2" charset="0"/>
              </a:rPr>
              <a:t>目的，源</a:t>
            </a:r>
          </a:p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3200" noProof="1">
                <a:latin typeface="Times New Roman" panose="02020603050405020304" pitchFamily="2" charset="0"/>
              </a:rPr>
              <a:t>指令功能：与</a:t>
            </a:r>
            <a:r>
              <a:rPr lang="en-US" altLang="zh-CN" sz="3200" noProof="1">
                <a:latin typeface="Times New Roman" panose="02020603050405020304" pitchFamily="2" charset="0"/>
              </a:rPr>
              <a:t> LDS </a:t>
            </a:r>
            <a:r>
              <a:rPr lang="zh-CN" altLang="en-US" sz="3200" noProof="1">
                <a:latin typeface="Times New Roman" panose="02020603050405020304" pitchFamily="2" charset="0"/>
              </a:rPr>
              <a:t>指令的操作基本相同，但段</a:t>
            </a:r>
            <a:r>
              <a:rPr lang="zh-CN" altLang="en-US" sz="32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寄存器为 </a:t>
            </a:r>
            <a:r>
              <a:rPr lang="en-US" altLang="zh-CN" sz="32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ES</a:t>
            </a:r>
            <a:r>
              <a:rPr lang="zh-CN" altLang="en-US" sz="3200" noProof="1">
                <a:latin typeface="Times New Roman" panose="02020603050405020304" pitchFamily="2" charset="0"/>
              </a:rPr>
              <a:t>，目的</a:t>
            </a:r>
            <a:r>
              <a:rPr lang="zh-CN" altLang="en-US" sz="32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操作数常用</a:t>
            </a:r>
            <a:r>
              <a:rPr lang="en-US" altLang="zh-CN" sz="32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DI</a:t>
            </a:r>
            <a:r>
              <a:rPr lang="zh-CN" altLang="en-US" sz="3200" noProof="1">
                <a:latin typeface="Times New Roman" panose="02020603050405020304" pitchFamily="2" charset="0"/>
              </a:rPr>
              <a:t>。</a:t>
            </a:r>
          </a:p>
          <a:p>
            <a:pPr algn="l" eaLnBrk="1" hangingPunct="1">
              <a:lnSpc>
                <a:spcPct val="90000"/>
              </a:lnSpc>
              <a:spcBef>
                <a:spcPts val="2400"/>
              </a:spcBef>
              <a:defRPr/>
            </a:pPr>
            <a:r>
              <a:rPr lang="zh-CN" altLang="en-US" sz="3200" b="1" noProof="1">
                <a:solidFill>
                  <a:srgbClr val="0000FF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例</a:t>
            </a:r>
            <a:r>
              <a:rPr lang="en-US" altLang="zh-CN" sz="3200" b="1" noProof="1">
                <a:solidFill>
                  <a:srgbClr val="0000FF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3.39 </a:t>
            </a:r>
            <a:r>
              <a:rPr lang="en-US" altLang="zh-CN" sz="3200" noProof="1">
                <a:solidFill>
                  <a:srgbClr val="23FFF8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 </a:t>
            </a: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设</a:t>
            </a: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DS=0100H</a:t>
            </a: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，</a:t>
            </a: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BX=0020H</a:t>
            </a: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，</a:t>
            </a: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(01020H)=0300H</a:t>
            </a: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，</a:t>
            </a: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(01022H)=0500H</a:t>
            </a:r>
            <a:endParaRPr lang="zh-CN" altLang="en-US" sz="3200" noProof="1">
              <a:latin typeface="Times New Roman" panose="02020603050405020304" pitchFamily="2" charset="0"/>
              <a:ea typeface="楷体" panose="02010609060101010101" pitchFamily="1" charset="-122"/>
            </a:endParaRPr>
          </a:p>
          <a:p>
            <a:pPr algn="l" eaLnBrk="1" hangingPunct="1">
              <a:lnSpc>
                <a:spcPct val="90000"/>
              </a:lnSpc>
              <a:defRPr/>
            </a:pP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  	   LES</a:t>
            </a: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   </a:t>
            </a: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 DI</a:t>
            </a: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，［</a:t>
            </a: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BX</a:t>
            </a: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］</a:t>
            </a:r>
            <a:r>
              <a:rPr lang="en-US" altLang="zh-CN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		</a:t>
            </a:r>
            <a:endParaRPr lang="zh-CN" altLang="en-US" sz="3200" noProof="1">
              <a:latin typeface="Times New Roman" panose="02020603050405020304" pitchFamily="2" charset="0"/>
              <a:ea typeface="楷体" panose="02010609060101010101" pitchFamily="1" charset="-122"/>
            </a:endParaRPr>
          </a:p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3200" noProof="1">
                <a:latin typeface="Times New Roman" panose="02020603050405020304" pitchFamily="2" charset="0"/>
                <a:ea typeface="楷体" panose="02010609060101010101" pitchFamily="1" charset="-122"/>
              </a:rPr>
              <a:t>；</a:t>
            </a:r>
            <a:r>
              <a:rPr lang="zh-CN" altLang="en-US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存储单元前</a:t>
            </a:r>
            <a:r>
              <a:rPr lang="en-US" altLang="zh-CN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2</a:t>
            </a:r>
            <a:r>
              <a:rPr lang="zh-CN" altLang="en-US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字节内容为</a:t>
            </a:r>
            <a:r>
              <a:rPr lang="en-US" altLang="zh-CN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0300H </a:t>
            </a:r>
            <a:r>
              <a:rPr lang="zh-CN" altLang="en-US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，</a:t>
            </a:r>
            <a:r>
              <a:rPr lang="en-US" altLang="zh-CN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SI←0300H</a:t>
            </a:r>
            <a:r>
              <a:rPr lang="zh-CN" altLang="en-US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，</a:t>
            </a:r>
          </a:p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；后</a:t>
            </a:r>
            <a:r>
              <a:rPr lang="en-US" altLang="zh-CN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2</a:t>
            </a:r>
            <a:r>
              <a:rPr lang="zh-CN" altLang="en-US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字节内容为</a:t>
            </a:r>
            <a:r>
              <a:rPr lang="en-US" altLang="zh-CN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0500H </a:t>
            </a:r>
            <a:r>
              <a:rPr lang="zh-CN" altLang="en-US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，</a:t>
            </a:r>
            <a:r>
              <a:rPr lang="en-US" altLang="zh-CN" sz="3200" noProof="1">
                <a:solidFill>
                  <a:srgbClr val="008000"/>
                </a:solidFill>
                <a:latin typeface="Times New Roman" panose="02020603050405020304" pitchFamily="2" charset="0"/>
                <a:ea typeface="楷体" panose="02010609060101010101" pitchFamily="1" charset="-122"/>
              </a:rPr>
              <a:t>ES←0500H</a:t>
            </a:r>
            <a:endParaRPr lang="zh-CN" altLang="en-US" sz="3200" noProof="1">
              <a:solidFill>
                <a:srgbClr val="008000"/>
              </a:solidFill>
              <a:latin typeface="Times New Roman" panose="02020603050405020304" pitchFamily="2" charset="0"/>
              <a:ea typeface="楷体" panose="02010609060101010101" pitchFamily="1" charset="-122"/>
            </a:endParaRPr>
          </a:p>
          <a:p>
            <a:pPr algn="l" eaLnBrk="1" hangingPunct="1">
              <a:lnSpc>
                <a:spcPct val="90000"/>
              </a:lnSpc>
              <a:defRPr/>
            </a:pPr>
            <a:endParaRPr lang="zh-CN" altLang="en-US" sz="3200" noProof="1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C1DAB314-2E43-444C-8084-E41B5E24EB9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4064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chemeClr val="accent2"/>
                </a:solidFill>
              </a:rPr>
              <a:t>4. </a:t>
            </a:r>
            <a:r>
              <a:rPr lang="zh-CN" altLang="en-US" sz="4000" b="1">
                <a:solidFill>
                  <a:schemeClr val="accent2"/>
                </a:solidFill>
              </a:rPr>
              <a:t>标志传送指令</a:t>
            </a:r>
            <a:r>
              <a:rPr lang="en-US" altLang="zh-CN" sz="4000" b="1">
                <a:solidFill>
                  <a:schemeClr val="accent2"/>
                </a:solidFill>
              </a:rPr>
              <a:t>(Flag Transfers)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52515038-DEEB-4D86-BF0E-E8F757661D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1358900"/>
            <a:ext cx="8372475" cy="3117850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LAHF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标志送到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AH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指令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Load AH from Flags)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LAHF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把标志寄存器的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SF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ZF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PF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传送到</a:t>
            </a:r>
            <a:r>
              <a:rPr lang="en-US" altLang="zh-CN" sz="2800">
                <a:latin typeface="Times New Roman" panose="02020603050405020304" pitchFamily="18" charset="0"/>
              </a:rPr>
              <a:t>AH</a:t>
            </a:r>
            <a:r>
              <a:rPr lang="zh-CN" altLang="en-US" sz="2800">
                <a:latin typeface="Times New Roman" panose="02020603050405020304" pitchFamily="18" charset="0"/>
              </a:rPr>
              <a:t>寄存器的相应位。</a:t>
            </a:r>
          </a:p>
          <a:p>
            <a:pPr algn="l" eaLnBrk="1" hangingPunct="1"/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 操作示意图如图</a:t>
            </a:r>
            <a:r>
              <a:rPr lang="en-US" altLang="zh-CN" sz="2800">
                <a:latin typeface="Times New Roman" panose="02020603050405020304" pitchFamily="18" charset="0"/>
              </a:rPr>
              <a:t>3.15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algn="l" eaLnBrk="1" hangingPunct="1"/>
            <a:endParaRPr lang="zh-CN" altLang="en-US" sz="2800">
              <a:latin typeface="Times New Roman" panose="02020603050405020304" pitchFamily="18" charset="0"/>
            </a:endParaRPr>
          </a:p>
        </p:txBody>
      </p:sp>
      <p:pic>
        <p:nvPicPr>
          <p:cNvPr id="35844" name="图片 4" descr="LF3-15.png">
            <a:extLst>
              <a:ext uri="{FF2B5EF4-FFF2-40B4-BE49-F238E27FC236}">
                <a16:creationId xmlns:a16="http://schemas.microsoft.com/office/drawing/2014/main" id="{B0B105E3-3354-4847-9102-73D660EE3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4406900"/>
            <a:ext cx="8461375" cy="19081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4EEDFABE-6F19-437E-B554-14D2A927BE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939800"/>
            <a:ext cx="8372475" cy="554990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2) SAHF AH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送标志寄存器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>
                <a:latin typeface="Times New Roman" panose="02020603050405020304" pitchFamily="18" charset="0"/>
              </a:rPr>
              <a:t>      (Store AH into Flags)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SAHF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把</a:t>
            </a:r>
            <a:r>
              <a:rPr lang="en-US" altLang="zh-CN" sz="2800">
                <a:latin typeface="Times New Roman" panose="02020603050405020304" pitchFamily="18" charset="0"/>
              </a:rPr>
              <a:t>AH</a:t>
            </a:r>
            <a:r>
              <a:rPr lang="zh-CN" altLang="en-US" sz="2800">
                <a:latin typeface="Times New Roman" panose="02020603050405020304" pitchFamily="18" charset="0"/>
              </a:rPr>
              <a:t>内容存入标志寄存器。指令功能与</a:t>
            </a:r>
            <a:r>
              <a:rPr lang="en-US" altLang="zh-CN" sz="2800">
                <a:latin typeface="Times New Roman" panose="02020603050405020304" pitchFamily="18" charset="0"/>
              </a:rPr>
              <a:t>LAHF </a:t>
            </a:r>
            <a:r>
              <a:rPr lang="zh-CN" altLang="en-US" sz="2800">
                <a:latin typeface="Times New Roman" panose="02020603050405020304" pitchFamily="18" charset="0"/>
              </a:rPr>
              <a:t>的操作相反。</a:t>
            </a:r>
          </a:p>
          <a:p>
            <a:pPr algn="l" eaLnBrk="1" hangingPunct="1">
              <a:spcBef>
                <a:spcPts val="1800"/>
              </a:spcBef>
            </a:pP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3) PUSHF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标志入栈指</a:t>
            </a:r>
            <a:r>
              <a:rPr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rPr>
              <a:t>令</a:t>
            </a:r>
          </a:p>
          <a:p>
            <a:pPr algn="l" eaLnBrk="1" hangingPunct="1"/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400">
                <a:latin typeface="Times New Roman" panose="02020603050405020304" pitchFamily="18" charset="0"/>
              </a:rPr>
              <a:t>(Push Flags onto Stack)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PUSHF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把整个标志寄存器的内容推入堆栈，并使</a:t>
            </a:r>
            <a:r>
              <a:rPr lang="en-US" altLang="zh-CN" sz="2800">
                <a:latin typeface="Times New Roman" panose="02020603050405020304" pitchFamily="18" charset="0"/>
              </a:rPr>
              <a:t>SP←SP-2</a:t>
            </a:r>
          </a:p>
          <a:p>
            <a:pPr algn="l" eaLnBrk="1" hangingPunct="1"/>
            <a:endParaRPr lang="zh-CN" altLang="en-US" sz="32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8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ED76D292-9B19-41F5-BFBD-87377621BA7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eaLnBrk="1" hangingPunct="1"/>
            <a:endParaRPr lang="zh-CN" altLang="en-US" sz="4400"/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AD03E32C-FB54-417A-8299-4596D5C10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4) POPF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标志出栈指令</a:t>
            </a:r>
            <a:r>
              <a:rPr lang="en-US" altLang="zh-CN" sz="2800">
                <a:solidFill>
                  <a:srgbClr val="FF66FF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>
              <a:solidFill>
                <a:srgbClr val="FF66FF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</a:rPr>
              <a:t>      (Pop Flags off Stack)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POPF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把</a:t>
            </a:r>
            <a:r>
              <a:rPr lang="en-US" altLang="zh-CN" sz="2800">
                <a:latin typeface="Times New Roman" panose="02020603050405020304" pitchFamily="18" charset="0"/>
              </a:rPr>
              <a:t>SP</a:t>
            </a:r>
            <a:r>
              <a:rPr lang="zh-CN" altLang="en-US" sz="2800">
                <a:latin typeface="Times New Roman" panose="02020603050405020304" pitchFamily="18" charset="0"/>
              </a:rPr>
              <a:t>所指的一个字，传送给标志寄存器</a:t>
            </a:r>
            <a:r>
              <a:rPr lang="en-US" altLang="zh-CN" sz="2800">
                <a:latin typeface="Times New Roman" panose="02020603050405020304" pitchFamily="18" charset="0"/>
              </a:rPr>
              <a:t>FLAGS</a:t>
            </a:r>
            <a:r>
              <a:rPr lang="zh-CN" altLang="en-US" sz="2800">
                <a:latin typeface="Times New Roman" panose="02020603050405020304" pitchFamily="18" charset="0"/>
              </a:rPr>
              <a:t>，并使</a:t>
            </a:r>
            <a:r>
              <a:rPr lang="en-US" altLang="zh-CN" sz="2800">
                <a:latin typeface="Times New Roman" panose="02020603050405020304" pitchFamily="18" charset="0"/>
              </a:rPr>
              <a:t>SP←SP+2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algn="l" eaLnBrk="1" hangingPunct="1"/>
            <a:endParaRPr lang="zh-CN" altLang="en-US" sz="3200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D712AE81-E3C0-4A1C-92E7-6CFD71B4E0F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49155" name="矩形 4">
            <a:extLst>
              <a:ext uri="{FF2B5EF4-FFF2-40B4-BE49-F238E27FC236}">
                <a16:creationId xmlns:a16="http://schemas.microsoft.com/office/drawing/2014/main" id="{4C8250C7-9B47-46B5-8285-C7A477BE1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字符串处理指令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D1C9E4E6-96B4-4913-AB79-F092BB9AE52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rgbClr val="FF0066"/>
                </a:solidFill>
                <a:ea typeface="楷体_GB2312" pitchFamily="1" charset="-122"/>
              </a:rPr>
              <a:t>3.3.2  </a:t>
            </a:r>
            <a:r>
              <a:rPr lang="zh-CN" altLang="en-US" sz="3600" b="1">
                <a:solidFill>
                  <a:srgbClr val="FF0066"/>
                </a:solidFill>
                <a:ea typeface="楷体_GB2312" pitchFamily="1" charset="-122"/>
              </a:rPr>
              <a:t>算术运算指令</a:t>
            </a:r>
            <a:endParaRPr lang="zh-CN" altLang="en-US" sz="4400" b="1">
              <a:solidFill>
                <a:srgbClr val="FF0066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F45F22DA-867B-4DA5-A056-9C54F52947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2863"/>
            <a:ext cx="8372475" cy="5372100"/>
          </a:xfrm>
        </p:spPr>
        <p:txBody>
          <a:bodyPr/>
          <a:lstStyle/>
          <a:p>
            <a:pPr marL="458788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学习前先提几个问题，学完要能回答：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</a:t>
            </a: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1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）怎么做多字节的加减法？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2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）为什么加减法指令不分有符号数和无符号数，而乘除法的有符号数和无符号数运算分别是不同的指令？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3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）如何确定指令执行的是字节操作还是字操作？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4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</a:t>
            </a:r>
            <a:r>
              <a:rPr lang="zh-CN" altLang="en-US" sz="260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符号扩展指令在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什么时候会用到，如何用？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5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）取负指令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NEG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为什么执行的是取反加一？</a:t>
            </a: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5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charRg st="157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>
            <a:extLst>
              <a:ext uri="{FF2B5EF4-FFF2-40B4-BE49-F238E27FC236}">
                <a16:creationId xmlns:a16="http://schemas.microsoft.com/office/drawing/2014/main" id="{24412E49-8280-4146-9640-43AE52D0AF2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rgbClr val="FF0066"/>
                </a:solidFill>
                <a:ea typeface="楷体_GB2312" pitchFamily="1" charset="-122"/>
              </a:rPr>
              <a:t>3.3.2  </a:t>
            </a:r>
            <a:r>
              <a:rPr lang="zh-CN" altLang="en-US" sz="3600" b="1">
                <a:solidFill>
                  <a:srgbClr val="FF0066"/>
                </a:solidFill>
                <a:ea typeface="楷体_GB2312" pitchFamily="1" charset="-122"/>
              </a:rPr>
              <a:t>算术运算指令</a:t>
            </a:r>
            <a:endParaRPr lang="zh-CN" altLang="en-US" sz="4400" b="1">
              <a:solidFill>
                <a:srgbClr val="FF0066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97C966D6-CF46-4F2A-8DBB-FF5177BEFD9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算术运算指令可处理</a:t>
            </a:r>
            <a:r>
              <a:rPr lang="en-US" altLang="zh-CN" sz="2600">
                <a:latin typeface="Times New Roman" panose="02020603050405020304" pitchFamily="18" charset="0"/>
              </a:rPr>
              <a:t>4</a:t>
            </a:r>
            <a:r>
              <a:rPr lang="zh-CN" altLang="en-US" sz="2600">
                <a:latin typeface="Times New Roman" panose="02020603050405020304" pitchFamily="18" charset="0"/>
              </a:rPr>
              <a:t>种类型的数：</a:t>
            </a:r>
          </a:p>
          <a:p>
            <a:pPr marL="1588" indent="112713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</a:rPr>
              <a:t>无符号二进制整数</a:t>
            </a:r>
          </a:p>
          <a:p>
            <a:pPr marL="1588" indent="112713" algn="l" eaLnBrk="1" hangingPunct="1"/>
            <a:r>
              <a:rPr lang="en-US" altLang="zh-CN" sz="2600">
                <a:solidFill>
                  <a:srgbClr val="CC3300"/>
                </a:solidFill>
                <a:latin typeface="Times New Roman" panose="02020603050405020304" pitchFamily="18" charset="0"/>
              </a:rPr>
              <a:t>		</a:t>
            </a: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</a:rPr>
              <a:t>带符号二进制整数</a:t>
            </a:r>
          </a:p>
          <a:p>
            <a:pPr marL="1588" indent="112713" algn="l" eaLnBrk="1" hangingPunct="1"/>
            <a:r>
              <a:rPr lang="en-US" altLang="zh-CN" sz="2600">
                <a:latin typeface="Times New Roman" panose="02020603050405020304" pitchFamily="18" charset="0"/>
              </a:rPr>
              <a:t>		</a:t>
            </a: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</a:rPr>
              <a:t>无符号压缩十进制整数</a:t>
            </a:r>
            <a:r>
              <a:rPr lang="en-US" altLang="zh-CN" sz="2600">
                <a:latin typeface="Times New Roman" panose="02020603050405020304" pitchFamily="18" charset="0"/>
              </a:rPr>
              <a:t>(Packed Decimal)</a:t>
            </a:r>
          </a:p>
          <a:p>
            <a:pPr marL="1588" indent="112713" algn="l" eaLnBrk="1" hangingPunct="1"/>
            <a:r>
              <a:rPr lang="en-US" altLang="zh-CN" sz="2600">
                <a:latin typeface="Times New Roman" panose="02020603050405020304" pitchFamily="18" charset="0"/>
              </a:rPr>
              <a:t>		</a:t>
            </a: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</a:rPr>
              <a:t>无符号非压缩十进制整数</a:t>
            </a:r>
            <a:r>
              <a:rPr lang="en-US" altLang="zh-CN" sz="2600">
                <a:latin typeface="Times New Roman" panose="02020603050405020304" pitchFamily="18" charset="0"/>
              </a:rPr>
              <a:t>(Unpacked Decimal)</a:t>
            </a:r>
          </a:p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二进制数可以是</a:t>
            </a:r>
            <a:r>
              <a:rPr lang="en-US" altLang="zh-CN" sz="2600">
                <a:latin typeface="Times New Roman" panose="02020603050405020304" pitchFamily="18" charset="0"/>
              </a:rPr>
              <a:t>8</a:t>
            </a:r>
            <a:r>
              <a:rPr lang="zh-CN" altLang="en-US" sz="2600">
                <a:latin typeface="Times New Roman" panose="02020603050405020304" pitchFamily="18" charset="0"/>
              </a:rPr>
              <a:t>位或</a:t>
            </a:r>
            <a:r>
              <a:rPr lang="en-US" altLang="zh-CN" sz="2600">
                <a:latin typeface="Times New Roman" panose="02020603050405020304" pitchFamily="18" charset="0"/>
              </a:rPr>
              <a:t>16</a:t>
            </a:r>
            <a:r>
              <a:rPr lang="zh-CN" altLang="en-US" sz="2600">
                <a:latin typeface="Times New Roman" panose="02020603050405020304" pitchFamily="18" charset="0"/>
              </a:rPr>
              <a:t>位，如果是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带符号数</a:t>
            </a:r>
            <a:r>
              <a:rPr lang="zh-CN" altLang="en-US" sz="2600">
                <a:latin typeface="Times New Roman" panose="02020603050405020304" pitchFamily="18" charset="0"/>
              </a:rPr>
              <a:t>，则用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补码</a:t>
            </a:r>
            <a:r>
              <a:rPr lang="zh-CN" altLang="en-US" sz="2600">
                <a:latin typeface="Times New Roman" panose="02020603050405020304" pitchFamily="18" charset="0"/>
              </a:rPr>
              <a:t>表示。 </a:t>
            </a:r>
          </a:p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</a:rPr>
              <a:t>压缩十进制数</a:t>
            </a:r>
            <a:r>
              <a:rPr lang="zh-CN" altLang="en-US" sz="2600">
                <a:latin typeface="Times New Roman" panose="02020603050405020304" pitchFamily="18" charset="0"/>
              </a:rPr>
              <a:t>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在一个字节中存放两个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BCD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码十进制数</a:t>
            </a:r>
          </a:p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solidFill>
                  <a:srgbClr val="CC3300"/>
                </a:solidFill>
                <a:latin typeface="Times New Roman" panose="02020603050405020304" pitchFamily="18" charset="0"/>
              </a:rPr>
              <a:t>非压缩十进制数</a:t>
            </a:r>
            <a:r>
              <a:rPr lang="zh-CN" altLang="en-US" sz="2600">
                <a:latin typeface="Times New Roman" panose="02020603050405020304" pitchFamily="18" charset="0"/>
              </a:rPr>
              <a:t>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低半字节存放一个十进制数，高半字节为全零。（译为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ASCII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码数）</a:t>
            </a: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>
            <a:extLst>
              <a:ext uri="{FF2B5EF4-FFF2-40B4-BE49-F238E27FC236}">
                <a16:creationId xmlns:a16="http://schemas.microsoft.com/office/drawing/2014/main" id="{306D63E0-DAA7-4011-AFAA-F04181BF231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rgbClr val="FF0066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算术运算指令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A2F5C840-B3F1-4DAA-B132-1F49286A17D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603250"/>
          </a:xfrm>
        </p:spPr>
        <p:txBody>
          <a:bodyPr/>
          <a:lstStyle/>
          <a:p>
            <a:pPr marL="342900" indent="-342900" algn="l" eaLnBrk="1" hangingPunct="1">
              <a:buFontTx/>
              <a:buChar char="•"/>
            </a:pPr>
            <a:r>
              <a:rPr lang="zh-CN" altLang="en-US" sz="3200">
                <a:latin typeface="Times New Roman" panose="02020603050405020304" pitchFamily="18" charset="0"/>
              </a:rPr>
              <a:t>上述</a:t>
            </a:r>
            <a:r>
              <a:rPr lang="en-US" altLang="zh-CN" sz="3200">
                <a:latin typeface="Times New Roman" panose="02020603050405020304" pitchFamily="18" charset="0"/>
              </a:rPr>
              <a:t>4</a:t>
            </a:r>
            <a:r>
              <a:rPr lang="zh-CN" altLang="en-US" sz="3200">
                <a:latin typeface="Times New Roman" panose="02020603050405020304" pitchFamily="18" charset="0"/>
              </a:rPr>
              <a:t>种类型数的表示方法见表</a:t>
            </a:r>
            <a:r>
              <a:rPr lang="en-US" altLang="zh-CN" sz="3200">
                <a:latin typeface="Times New Roman" panose="02020603050405020304" pitchFamily="18" charset="0"/>
              </a:rPr>
              <a:t>3.5</a:t>
            </a:r>
            <a:r>
              <a:rPr lang="zh-CN" altLang="en-US" sz="3200">
                <a:latin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buFontTx/>
              <a:buChar char="•"/>
            </a:pPr>
            <a:endParaRPr lang="zh-CN" altLang="en-US" sz="3200"/>
          </a:p>
        </p:txBody>
      </p:sp>
      <p:pic>
        <p:nvPicPr>
          <p:cNvPr id="52228" name="Picture 2">
            <a:extLst>
              <a:ext uri="{FF2B5EF4-FFF2-40B4-BE49-F238E27FC236}">
                <a16:creationId xmlns:a16="http://schemas.microsoft.com/office/drawing/2014/main" id="{26C5DF6C-558C-4E0F-AABB-371625C81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39950"/>
            <a:ext cx="8616950" cy="234791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strips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77D33F89-AF73-44B2-91C5-CB84CB682BE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rgbClr val="FF0066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算术运算指令</a:t>
            </a:r>
          </a:p>
        </p:txBody>
      </p:sp>
      <p:sp>
        <p:nvSpPr>
          <p:cNvPr id="53251" name="内容占位符 2">
            <a:extLst>
              <a:ext uri="{FF2B5EF4-FFF2-40B4-BE49-F238E27FC236}">
                <a16:creationId xmlns:a16="http://schemas.microsoft.com/office/drawing/2014/main" id="{04EA33D4-A31A-4F9A-B5F8-69C59E72B1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4800" y="1028700"/>
            <a:ext cx="8372475" cy="1003300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系统提供加、减、乘、除四种基本运算指令，还有各种调整指令，见表</a:t>
            </a:r>
            <a:r>
              <a:rPr lang="en-US" altLang="zh-CN" sz="2800">
                <a:latin typeface="Times New Roman" panose="02020603050405020304" pitchFamily="18" charset="0"/>
              </a:rPr>
              <a:t>3.6</a:t>
            </a:r>
          </a:p>
          <a:p>
            <a:pPr algn="l" eaLnBrk="1" hangingPunct="1"/>
            <a:endParaRPr lang="zh-CN" altLang="en-US" sz="3200"/>
          </a:p>
        </p:txBody>
      </p:sp>
      <p:pic>
        <p:nvPicPr>
          <p:cNvPr id="41988" name="Picture 2">
            <a:extLst>
              <a:ext uri="{FF2B5EF4-FFF2-40B4-BE49-F238E27FC236}">
                <a16:creationId xmlns:a16="http://schemas.microsoft.com/office/drawing/2014/main" id="{886CF867-F17D-4E39-A654-439AA265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2051050"/>
            <a:ext cx="4362450" cy="450850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9" name="Picture 3">
            <a:extLst>
              <a:ext uri="{FF2B5EF4-FFF2-40B4-BE49-F238E27FC236}">
                <a16:creationId xmlns:a16="http://schemas.microsoft.com/office/drawing/2014/main" id="{ADD6126B-19B6-4796-B0C5-5E638D28A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2347913"/>
            <a:ext cx="4181475" cy="287337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0" name="矩形 41989">
            <a:extLst>
              <a:ext uri="{FF2B5EF4-FFF2-40B4-BE49-F238E27FC236}">
                <a16:creationId xmlns:a16="http://schemas.microsoft.com/office/drawing/2014/main" id="{0A9627A3-3F5E-40DB-B718-67C29EC01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" y="3608388"/>
            <a:ext cx="3422650" cy="58578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B4B9BE"/>
              </a:buClr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41991" name="矩形 41990">
            <a:extLst>
              <a:ext uri="{FF2B5EF4-FFF2-40B4-BE49-F238E27FC236}">
                <a16:creationId xmlns:a16="http://schemas.microsoft.com/office/drawing/2014/main" id="{A7DABB4B-8408-4F45-A1D4-FB6644486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5949950"/>
            <a:ext cx="3422650" cy="585788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B4B9BE"/>
              </a:buClr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41992" name="矩形 41991">
            <a:extLst>
              <a:ext uri="{FF2B5EF4-FFF2-40B4-BE49-F238E27FC236}">
                <a16:creationId xmlns:a16="http://schemas.microsoft.com/office/drawing/2014/main" id="{013BA404-877F-4104-B7F8-DDD6B31D9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850" y="3241675"/>
            <a:ext cx="3422650" cy="26987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B4B9BE"/>
              </a:buClr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41993" name="矩形 41992">
            <a:extLst>
              <a:ext uri="{FF2B5EF4-FFF2-40B4-BE49-F238E27FC236}">
                <a16:creationId xmlns:a16="http://schemas.microsoft.com/office/drawing/2014/main" id="{BF4D7FF6-0212-4552-934E-84D4EE038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4322763"/>
            <a:ext cx="3422650" cy="31432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B4B9BE"/>
              </a:buClr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41994" name="文本框 41993">
            <a:extLst>
              <a:ext uri="{FF2B5EF4-FFF2-40B4-BE49-F238E27FC236}">
                <a16:creationId xmlns:a16="http://schemas.microsoft.com/office/drawing/2014/main" id="{64C59B90-9DC3-4A1F-B5EB-206076A44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17" y="5806440"/>
            <a:ext cx="35878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92D050"/>
                </a:solidFill>
                <a:ea typeface="黑体" panose="02010609060101010101" pitchFamily="49" charset="-122"/>
              </a:rPr>
              <a:t>绿框内</a:t>
            </a:r>
            <a:r>
              <a:rPr lang="zh-CN" altLang="en-US" sz="2400" b="1" dirty="0">
                <a:solidFill>
                  <a:srgbClr val="CC3300"/>
                </a:solidFill>
                <a:ea typeface="黑体" panose="02010609060101010101" pitchFamily="49" charset="-122"/>
              </a:rPr>
              <a:t>的十进制调整指令</a:t>
            </a:r>
            <a:endParaRPr lang="en-US" altLang="zh-CN" sz="2400" b="1" dirty="0">
              <a:solidFill>
                <a:srgbClr val="CC3300"/>
              </a:solidFill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CC3300"/>
                </a:solidFill>
                <a:ea typeface="黑体" panose="02010609060101010101" pitchFamily="49" charset="-122"/>
              </a:rPr>
              <a:t>不需要掌握</a:t>
            </a: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4C92BCC7-5E86-41AD-A218-BF3F32461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495300"/>
            <a:ext cx="8453437" cy="5994400"/>
          </a:xfrm>
        </p:spPr>
        <p:txBody>
          <a:bodyPr/>
          <a:lstStyle/>
          <a:p>
            <a:pPr marL="1588" indent="-1588" algn="l" eaLnBrk="1" hangingPunct="1">
              <a:defRPr/>
            </a:pP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加法指令</a:t>
            </a:r>
            <a:r>
              <a:rPr lang="en-US" altLang="zh-CN" sz="2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(Addition)</a:t>
            </a:r>
            <a:endParaRPr lang="zh-CN" altLang="en-US" sz="2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1588" indent="-1588" algn="l" eaLnBrk="1" hangingPunct="1">
              <a:defRPr/>
            </a:pPr>
            <a:r>
              <a:rPr lang="en-US" altLang="zh-CN" sz="26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1) ADD  </a:t>
            </a:r>
            <a:r>
              <a:rPr lang="zh-CN" altLang="en-US" sz="26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加法指令</a:t>
            </a:r>
          </a:p>
          <a:p>
            <a:pPr marL="1588" indent="-1588" algn="l" eaLnBrk="1" hangingPunct="1">
              <a:spcBef>
                <a:spcPts val="600"/>
              </a:spcBef>
              <a:defRPr/>
            </a:pPr>
            <a:r>
              <a:rPr lang="en-US" altLang="zh-CN" sz="2600" dirty="0">
                <a:latin typeface="Times New Roman" panose="02020603050405020304" pitchFamily="18" charset="0"/>
              </a:rPr>
              <a:t>  </a:t>
            </a:r>
            <a:r>
              <a:rPr lang="zh-CN" altLang="en-US" sz="2600" dirty="0">
                <a:latin typeface="Times New Roman" panose="02020603050405020304" pitchFamily="18" charset="0"/>
              </a:rPr>
              <a:t>指令格式：</a:t>
            </a:r>
            <a:r>
              <a:rPr lang="en-US" altLang="zh-CN" sz="2600" dirty="0">
                <a:latin typeface="Times New Roman" panose="02020603050405020304" pitchFamily="18" charset="0"/>
              </a:rPr>
              <a:t> ADD	</a:t>
            </a:r>
            <a:r>
              <a:rPr lang="zh-CN" altLang="en-US" sz="2600" dirty="0">
                <a:latin typeface="Times New Roman" panose="02020603050405020304" pitchFamily="18" charset="0"/>
              </a:rPr>
              <a:t>目的，源</a:t>
            </a:r>
          </a:p>
          <a:p>
            <a:pPr marL="1588" indent="-1588" algn="l" eaLnBrk="1" hangingPunct="1">
              <a:spcBef>
                <a:spcPts val="600"/>
              </a:spcBef>
              <a:defRPr/>
            </a:pPr>
            <a:r>
              <a:rPr lang="en-US" altLang="zh-CN" sz="2600" dirty="0">
                <a:latin typeface="Times New Roman" panose="02020603050405020304" pitchFamily="18" charset="0"/>
              </a:rPr>
              <a:t>  </a:t>
            </a:r>
            <a:r>
              <a:rPr lang="zh-CN" altLang="en-US" sz="2600" dirty="0">
                <a:latin typeface="Times New Roman" panose="02020603050405020304" pitchFamily="18" charset="0"/>
              </a:rPr>
              <a:t>指令功能：目的</a:t>
            </a:r>
            <a:r>
              <a:rPr lang="en-US" altLang="zh-CN" sz="2600" dirty="0">
                <a:latin typeface="Times New Roman" panose="02020603050405020304" pitchFamily="18" charset="0"/>
              </a:rPr>
              <a:t>←</a:t>
            </a:r>
            <a:r>
              <a:rPr lang="zh-CN" altLang="en-US" sz="2600" dirty="0">
                <a:latin typeface="Times New Roman" panose="02020603050405020304" pitchFamily="18" charset="0"/>
              </a:rPr>
              <a:t>源</a:t>
            </a:r>
            <a:r>
              <a:rPr lang="en-US" altLang="zh-CN" sz="2600" dirty="0">
                <a:latin typeface="Times New Roman" panose="02020603050405020304" pitchFamily="18" charset="0"/>
              </a:rPr>
              <a:t>+</a:t>
            </a:r>
            <a:r>
              <a:rPr lang="zh-CN" altLang="en-US" sz="2600" dirty="0">
                <a:latin typeface="Times New Roman" panose="02020603050405020304" pitchFamily="18" charset="0"/>
              </a:rPr>
              <a:t>目的</a:t>
            </a:r>
          </a:p>
          <a:p>
            <a:pPr marL="1588" indent="-1588" algn="l" eaLnBrk="1" hangingPunct="1">
              <a:defRPr/>
            </a:pPr>
            <a:r>
              <a:rPr lang="en-US" altLang="zh-CN" sz="26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2) ADC  </a:t>
            </a:r>
            <a:r>
              <a:rPr lang="zh-CN" altLang="en-US" sz="26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带进位的加法指令</a:t>
            </a:r>
            <a:r>
              <a:rPr lang="en-US" altLang="zh-CN" sz="26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</a:rPr>
              <a:t>(Addition with Carry)</a:t>
            </a:r>
            <a:endParaRPr lang="zh-CN" altLang="en-US" sz="2600" dirty="0">
              <a:latin typeface="Times New Roman" panose="02020603050405020304" pitchFamily="18" charset="0"/>
            </a:endParaRPr>
          </a:p>
          <a:p>
            <a:pPr marL="1588" indent="-1588" algn="l" eaLnBrk="1" hangingPunct="1">
              <a:spcBef>
                <a:spcPts val="600"/>
              </a:spcBef>
              <a:defRPr/>
            </a:pPr>
            <a:r>
              <a:rPr lang="zh-CN" altLang="en-US" sz="2600" dirty="0">
                <a:latin typeface="Times New Roman" panose="02020603050405020304" pitchFamily="18" charset="0"/>
              </a:rPr>
              <a:t>  指令格式：</a:t>
            </a:r>
            <a:r>
              <a:rPr lang="en-US" altLang="zh-CN" sz="2600" dirty="0">
                <a:latin typeface="Times New Roman" panose="02020603050405020304" pitchFamily="18" charset="0"/>
              </a:rPr>
              <a:t> ADC	</a:t>
            </a:r>
            <a:r>
              <a:rPr lang="zh-CN" altLang="en-US" sz="2600" dirty="0">
                <a:latin typeface="Times New Roman" panose="02020603050405020304" pitchFamily="18" charset="0"/>
              </a:rPr>
              <a:t>目的，源</a:t>
            </a:r>
          </a:p>
          <a:p>
            <a:pPr marL="1588" indent="-1588" algn="l" eaLnBrk="1" hangingPunct="1">
              <a:spcBef>
                <a:spcPts val="600"/>
              </a:spcBef>
              <a:defRPr/>
            </a:pPr>
            <a:r>
              <a:rPr lang="zh-CN" altLang="en-US" sz="2600" dirty="0">
                <a:latin typeface="Times New Roman" panose="02020603050405020304" pitchFamily="18" charset="0"/>
              </a:rPr>
              <a:t>  指令功能： 目的</a:t>
            </a:r>
            <a:r>
              <a:rPr lang="en-US" altLang="zh-CN" sz="2600" dirty="0">
                <a:latin typeface="Times New Roman" panose="02020603050405020304" pitchFamily="18" charset="0"/>
              </a:rPr>
              <a:t>←</a:t>
            </a:r>
            <a:r>
              <a:rPr lang="zh-CN" altLang="en-US" sz="2600" dirty="0">
                <a:latin typeface="Times New Roman" panose="02020603050405020304" pitchFamily="18" charset="0"/>
              </a:rPr>
              <a:t>源</a:t>
            </a:r>
            <a:r>
              <a:rPr lang="en-US" altLang="zh-CN" sz="2600" dirty="0">
                <a:latin typeface="Times New Roman" panose="02020603050405020304" pitchFamily="18" charset="0"/>
              </a:rPr>
              <a:t>+</a:t>
            </a:r>
            <a:r>
              <a:rPr lang="zh-CN" altLang="en-US" sz="2600" dirty="0">
                <a:latin typeface="Times New Roman" panose="02020603050405020304" pitchFamily="18" charset="0"/>
              </a:rPr>
              <a:t>目的</a:t>
            </a:r>
            <a:r>
              <a:rPr lang="en-US" altLang="zh-CN" sz="2600" dirty="0">
                <a:latin typeface="Times New Roman" panose="02020603050405020304" pitchFamily="18" charset="0"/>
              </a:rPr>
              <a:t>+CF</a:t>
            </a:r>
            <a:r>
              <a:rPr lang="zh-CN" altLang="en-US" sz="2600" dirty="0">
                <a:latin typeface="Times New Roman" panose="02020603050405020304" pitchFamily="18" charset="0"/>
              </a:rPr>
              <a:t>；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marL="1588" indent="-1588" algn="l" eaLnBrk="1" hangingPunct="1">
              <a:spcBef>
                <a:spcPts val="600"/>
              </a:spcBef>
              <a:defRPr/>
            </a:pPr>
            <a:r>
              <a:rPr lang="en-US" altLang="zh-CN" sz="26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***</a:t>
            </a:r>
            <a:r>
              <a:rPr lang="zh-CN" altLang="en-US" sz="26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用作多字节加法（扩展讲一下。。。）</a:t>
            </a:r>
          </a:p>
          <a:p>
            <a:pPr marL="1588" indent="-1588" algn="l" eaLnBrk="1" hangingPunct="1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latin typeface="Times New Roman" panose="02020603050405020304" pitchFamily="18" charset="0"/>
              </a:rPr>
              <a:t>它们的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源操作数</a:t>
            </a:r>
            <a:r>
              <a:rPr lang="zh-CN" altLang="en-US" sz="2600" dirty="0">
                <a:latin typeface="Times New Roman" panose="02020603050405020304" pitchFamily="18" charset="0"/>
              </a:rPr>
              <a:t>可以是寄存器、存储器或立即数。</a:t>
            </a:r>
          </a:p>
          <a:p>
            <a:pPr marL="1588" indent="-1588" algn="l" eaLnBrk="1" hangingPunct="1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目的操作数</a:t>
            </a:r>
            <a:r>
              <a:rPr lang="zh-CN" altLang="en-US" sz="2600" dirty="0">
                <a:latin typeface="Times New Roman" panose="02020603050405020304" pitchFamily="18" charset="0"/>
              </a:rPr>
              <a:t>只能用寄存器和存储单元，存储单元可以有表</a:t>
            </a:r>
            <a:r>
              <a:rPr lang="en-US" altLang="zh-CN" sz="2600" dirty="0">
                <a:latin typeface="Times New Roman" panose="02020603050405020304" pitchFamily="18" charset="0"/>
              </a:rPr>
              <a:t>3.2</a:t>
            </a:r>
            <a:r>
              <a:rPr lang="zh-CN" altLang="en-US" sz="2600" dirty="0">
                <a:latin typeface="Times New Roman" panose="02020603050405020304" pitchFamily="18" charset="0"/>
              </a:rPr>
              <a:t>中所示的</a:t>
            </a:r>
            <a:r>
              <a:rPr lang="en-US" altLang="zh-CN" sz="2600" dirty="0">
                <a:latin typeface="Times New Roman" panose="02020603050405020304" pitchFamily="18" charset="0"/>
              </a:rPr>
              <a:t>24</a:t>
            </a:r>
            <a:r>
              <a:rPr lang="zh-CN" altLang="en-US" sz="2600" dirty="0">
                <a:latin typeface="Times New Roman" panose="02020603050405020304" pitchFamily="18" charset="0"/>
              </a:rPr>
              <a:t>种表示方法。</a:t>
            </a:r>
            <a:r>
              <a:rPr lang="en-US" altLang="zh-CN" sz="2600" dirty="0">
                <a:latin typeface="Times New Roman" panose="02020603050405020304" pitchFamily="18" charset="0"/>
              </a:rPr>
              <a:t>   </a:t>
            </a:r>
            <a:endParaRPr lang="zh-CN" altLang="en-US" sz="2600" dirty="0">
              <a:latin typeface="Times New Roman" panose="02020603050405020304" pitchFamily="18" charset="0"/>
            </a:endParaRPr>
          </a:p>
          <a:p>
            <a:pPr marL="1588" indent="-1588" algn="l" eaLnBrk="1" hangingPunct="1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latin typeface="Times New Roman" panose="02020603050405020304" pitchFamily="18" charset="0"/>
              </a:rPr>
              <a:t>源和目的操作数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不能同时为存储器</a:t>
            </a:r>
            <a:r>
              <a:rPr lang="zh-CN" altLang="en-US" sz="2600" dirty="0">
                <a:latin typeface="Times New Roman" panose="02020603050405020304" pitchFamily="18" charset="0"/>
              </a:rPr>
              <a:t>，而且它们的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类型必须一致</a:t>
            </a:r>
            <a:r>
              <a:rPr lang="zh-CN" altLang="en-US" sz="2600" dirty="0">
                <a:latin typeface="Times New Roman" panose="02020603050405020304" pitchFamily="18" charset="0"/>
              </a:rPr>
              <a:t>，即都是字节或字</a:t>
            </a: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120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010">
                                            <p:txEl>
                                              <p:charRg st="120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0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0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0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2">
            <a:extLst>
              <a:ext uri="{FF2B5EF4-FFF2-40B4-BE49-F238E27FC236}">
                <a16:creationId xmlns:a16="http://schemas.microsoft.com/office/drawing/2014/main" id="{6FA6794C-466E-4223-AC48-AB61AFE6E5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628650"/>
            <a:ext cx="8372475" cy="5822950"/>
          </a:xfrm>
        </p:spPr>
        <p:txBody>
          <a:bodyPr/>
          <a:lstStyle/>
          <a:p>
            <a:pPr algn="l" eaLnBrk="1" hangingPunct="1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3.40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列举上述两加法指令的实例，说明其用法。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ADD	  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18H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AL←AL+18H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ADC	  BL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CL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BL←BL+CL+CF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ADC	  AX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DX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AX←AX+DX+CF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ADD  	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COST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endParaRPr lang="zh-CN" altLang="en-US" sz="26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内容和物理地址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=DS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(COST+BX)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；的存储字节相加，结果送到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中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ADD	  COST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］，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BL		</a:t>
            </a:r>
            <a:endParaRPr lang="zh-CN" altLang="en-US" sz="26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BL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与物理地址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=DS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(COST+BX)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的存储</a:t>
            </a:r>
          </a:p>
          <a:p>
            <a:pPr algn="l" eaLnBrk="1" hangingPunct="1"/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；字节相加，结果留在该存储单元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它们影响标志位：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 CF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OF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PF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SF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ZF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AF</a:t>
            </a:r>
            <a:endParaRPr lang="zh-CN" altLang="en-US" sz="2600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40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40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>
            <a:extLst>
              <a:ext uri="{FF2B5EF4-FFF2-40B4-BE49-F238E27FC236}">
                <a16:creationId xmlns:a16="http://schemas.microsoft.com/office/drawing/2014/main" id="{48FBF4AB-4BFC-4EBD-8C8A-490BF4F73C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49250" y="939800"/>
            <a:ext cx="8067675" cy="3511550"/>
          </a:xfrm>
        </p:spPr>
        <p:txBody>
          <a:bodyPr/>
          <a:lstStyle/>
          <a:p>
            <a:pPr algn="l" eaLnBrk="1" hangingPunct="1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3.41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试用加法指令对两个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位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16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进制数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5EH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3CH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求和，分析指令执行后对标志位的影响。</a:t>
            </a:r>
          </a:p>
          <a:p>
            <a:pPr algn="l" eaLnBrk="1" hangingPunct="1"/>
            <a:r>
              <a:rPr lang="en-US" altLang="zh-CN" sz="2600"/>
              <a:t>   </a:t>
            </a:r>
            <a:r>
              <a:rPr lang="zh-CN" altLang="en-US" sz="2600"/>
              <a:t>程序如下：</a:t>
            </a: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MOV	   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5EH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AL=5EH (94)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MOV	   BL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3CH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BL=3CH (60)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ADD	   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BL	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；结果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AL=9AH</a:t>
            </a:r>
            <a:endParaRPr lang="zh-CN" altLang="en-US" sz="26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zh-CN" altLang="en-US" sz="2600"/>
              <a:t>   相加过程的算式表示：</a:t>
            </a:r>
          </a:p>
        </p:txBody>
      </p:sp>
      <p:pic>
        <p:nvPicPr>
          <p:cNvPr id="45059" name="Picture 2">
            <a:extLst>
              <a:ext uri="{FF2B5EF4-FFF2-40B4-BE49-F238E27FC236}">
                <a16:creationId xmlns:a16="http://schemas.microsoft.com/office/drawing/2014/main" id="{7FC9F72A-F879-4CE6-ADE0-71407A211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8" y="4260850"/>
            <a:ext cx="378618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F1EABC48-F7FE-4E4E-86FB-2183A432792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5397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0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</a:t>
            </a:r>
            <a:r>
              <a:rPr lang="en-US" altLang="zh-CN" sz="40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3.41</a:t>
            </a:r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D139A56C-8405-4BF8-959C-A1CA9A3D60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206500"/>
            <a:ext cx="8267700" cy="5022850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运算后的标志位：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ZF=0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AF=1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CF=0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SF=1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PF=1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OF=1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endParaRPr lang="en-US" altLang="zh-CN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         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次高位向最高位有进位，最高位向前无进位</a:t>
            </a:r>
            <a:endParaRPr lang="en-US" altLang="zh-CN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        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所以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OF=1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buFont typeface="Wingdings 3" panose="05040102010807070707" pitchFamily="18" charset="2"/>
              <a:buNone/>
            </a:pPr>
            <a:r>
              <a:rPr lang="zh-CN" altLang="en-US" sz="2800" b="1">
                <a:solidFill>
                  <a:srgbClr val="CC3300"/>
                </a:solidFill>
              </a:rPr>
              <a:t>如何对这些标志进行解释，取决于编写的程序，或者说是程序员决定的，因为程序员知道参加运算的是何种类型的数据</a:t>
            </a:r>
            <a:r>
              <a:rPr lang="zh-CN" altLang="en-US" sz="2800"/>
              <a:t>。</a:t>
            </a:r>
            <a:endParaRPr lang="zh-CN" altLang="en-US" sz="3200"/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28A9E2F4-AD8B-4375-A72E-070823D8E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1206500"/>
            <a:ext cx="378618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>
            <a:extLst>
              <a:ext uri="{FF2B5EF4-FFF2-40B4-BE49-F238E27FC236}">
                <a16:creationId xmlns:a16="http://schemas.microsoft.com/office/drawing/2014/main" id="{78128249-9C34-4560-BF40-174DF5612C1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508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加法指令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id="{D4A710DB-BC74-4E48-B15E-9745D07B93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250950"/>
            <a:ext cx="7831138" cy="3911600"/>
          </a:xfrm>
        </p:spPr>
        <p:txBody>
          <a:bodyPr/>
          <a:lstStyle/>
          <a:p>
            <a:pPr marL="1588" indent="-1588"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3) INC 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增量指令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  (Increment)</a:t>
            </a: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indent="-1588"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INC	</a:t>
            </a:r>
            <a:r>
              <a:rPr lang="zh-CN" altLang="en-US" sz="2800">
                <a:latin typeface="Times New Roman" panose="02020603050405020304" pitchFamily="18" charset="0"/>
              </a:rPr>
              <a:t>目的</a:t>
            </a:r>
          </a:p>
          <a:p>
            <a:pPr marL="1588" indent="-1588"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目的 </a:t>
            </a:r>
            <a:r>
              <a:rPr lang="en-US" altLang="zh-CN" sz="2800">
                <a:latin typeface="Times New Roman" panose="02020603050405020304" pitchFamily="18" charset="0"/>
              </a:rPr>
              <a:t>← </a:t>
            </a:r>
            <a:r>
              <a:rPr lang="zh-CN" altLang="en-US" sz="2800">
                <a:latin typeface="Times New Roman" panose="02020603050405020304" pitchFamily="18" charset="0"/>
              </a:rPr>
              <a:t>目的</a:t>
            </a:r>
            <a:r>
              <a:rPr lang="en-US" altLang="zh-CN" sz="2800">
                <a:latin typeface="Times New Roman" panose="02020603050405020304" pitchFamily="18" charset="0"/>
              </a:rPr>
              <a:t> + 1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目的操作数可以是通用寄存器或内存。指令执行后影响</a:t>
            </a:r>
            <a:r>
              <a:rPr lang="en-US" altLang="zh-CN" sz="2800">
                <a:latin typeface="Times New Roman" panose="02020603050405020304" pitchFamily="18" charset="0"/>
              </a:rPr>
              <a:t>AF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OF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PF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SF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ZF</a:t>
            </a:r>
            <a:r>
              <a:rPr lang="zh-CN" altLang="en-US" sz="2800">
                <a:latin typeface="Times New Roman" panose="02020603050405020304" pitchFamily="18" charset="0"/>
              </a:rPr>
              <a:t>，但进位标志</a:t>
            </a:r>
            <a:r>
              <a:rPr lang="en-US" altLang="zh-CN" sz="2800">
                <a:latin typeface="Times New Roman" panose="02020603050405020304" pitchFamily="18" charset="0"/>
              </a:rPr>
              <a:t>CF </a:t>
            </a:r>
            <a:r>
              <a:rPr lang="zh-CN" altLang="en-US" sz="2800">
                <a:latin typeface="Times New Roman" panose="02020603050405020304" pitchFamily="18" charset="0"/>
              </a:rPr>
              <a:t>不受影响</a:t>
            </a:r>
            <a:endParaRPr lang="zh-CN" altLang="en-US" sz="2800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>
            <a:extLst>
              <a:ext uri="{FF2B5EF4-FFF2-40B4-BE49-F238E27FC236}">
                <a16:creationId xmlns:a16="http://schemas.microsoft.com/office/drawing/2014/main" id="{16D03530-9906-4D4D-8EF2-E983D645CA5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95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rgbClr val="FF0066"/>
                </a:solidFill>
              </a:rPr>
              <a:t>1. </a:t>
            </a:r>
            <a:r>
              <a:rPr lang="zh-CN" altLang="en-US" sz="4400" b="1">
                <a:solidFill>
                  <a:srgbClr val="FF0066"/>
                </a:solidFill>
              </a:rPr>
              <a:t>加法指令</a:t>
            </a:r>
          </a:p>
        </p:txBody>
      </p:sp>
      <p:sp>
        <p:nvSpPr>
          <p:cNvPr id="48131" name="内容占位符 2">
            <a:extLst>
              <a:ext uri="{FF2B5EF4-FFF2-40B4-BE49-F238E27FC236}">
                <a16:creationId xmlns:a16="http://schemas.microsoft.com/office/drawing/2014/main" id="{857A60E8-2B0E-4474-AD78-055F61ADF6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60400" y="1162050"/>
            <a:ext cx="8186738" cy="5245100"/>
          </a:xfrm>
          <a:extLst/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3.42 </a:t>
            </a:r>
            <a:r>
              <a:rPr lang="en-US" altLang="zh-CN" sz="28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INC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指令的例子</a:t>
            </a:r>
          </a:p>
          <a:p>
            <a:pPr algn="l" eaLnBrk="1" hangingPunct="1"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INC    BL		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BL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寄存器中内容增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INC    CX		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CX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寄存器中内容增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指令中只有一个操作数，如果是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内存单元</a:t>
            </a:r>
            <a:r>
              <a:rPr lang="zh-CN" altLang="en-US" sz="2800" dirty="0">
                <a:latin typeface="Times New Roman" panose="02020603050405020304" pitchFamily="18" charset="0"/>
              </a:rPr>
              <a:t>，则要用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PTR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操作符</a:t>
            </a:r>
            <a:r>
              <a:rPr lang="zh-CN" altLang="en-US" sz="2800" dirty="0">
                <a:latin typeface="Times New Roman" panose="02020603050405020304" pitchFamily="18" charset="0"/>
              </a:rPr>
              <a:t>说明是字还是字节</a:t>
            </a:r>
          </a:p>
          <a:p>
            <a:pPr algn="l" eaLnBrk="1" hangingPunct="1">
              <a:spcBef>
                <a:spcPts val="2400"/>
              </a:spcBef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3.43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INC    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BYTE   PTR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；内存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</a:rPr>
              <a:t>字节单元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内容增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ts val="60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INC    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WORD  PTR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；内存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</a:rPr>
              <a:t>字单元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内容增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 </a:t>
            </a:r>
            <a:endParaRPr lang="zh-CN" altLang="en-US" sz="3200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6838BE7D-4B8C-4632-BEAA-51CD0E7C015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减法指令 </a:t>
            </a:r>
            <a:r>
              <a:rPr lang="en-US" altLang="zh-CN" sz="4400" b="1">
                <a:solidFill>
                  <a:schemeClr val="accent2"/>
                </a:solidFill>
              </a:rPr>
              <a:t> (Subtraction)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A296C4DF-2F25-4972-B383-833D91436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050" y="1162050"/>
            <a:ext cx="7823200" cy="517525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1) SUB  </a:t>
            </a:r>
            <a:r>
              <a:rPr lang="zh-CN" altLang="en-US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减法指令</a:t>
            </a: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  (Subtraction)</a:t>
            </a:r>
            <a:endParaRPr lang="zh-CN" altLang="en-US" sz="2800" b="1" noProof="1">
              <a:solidFill>
                <a:srgbClr val="FF0066"/>
              </a:solidFill>
              <a:latin typeface="Times New Roman" panose="02020603050405020304" pitchFamily="2" charset="0"/>
            </a:endParaRPr>
          </a:p>
          <a:p>
            <a:pPr algn="l" eaLnBrk="1" hangingPunct="1"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SUB	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</a:t>
            </a:r>
            <a:r>
              <a:rPr lang="en-US" altLang="x-none" sz="2800" noProof="1">
                <a:latin typeface="Times New Roman" panose="02020603050405020304" pitchFamily="2" charset="0"/>
              </a:rPr>
              <a:t> </a:t>
            </a:r>
            <a:r>
              <a:rPr lang="zh-CN" altLang="en-US" sz="2800" noProof="1">
                <a:latin typeface="Times New Roman" panose="02020603050405020304" pitchFamily="2" charset="0"/>
              </a:rPr>
              <a:t>源</a:t>
            </a:r>
          </a:p>
          <a:p>
            <a:pPr algn="l" eaLnBrk="1" hangingPunct="1"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指令功能：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 ← 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  - 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源</a:t>
            </a:r>
            <a:r>
              <a:rPr lang="zh-CN" altLang="en-US" sz="280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（注意顺序）</a:t>
            </a:r>
          </a:p>
          <a:p>
            <a:pPr algn="l" eaLnBrk="1" hangingPunct="1">
              <a:spcBef>
                <a:spcPts val="2400"/>
              </a:spcBef>
              <a:defRPr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3.48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SUB    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BX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AX←AX-BX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SUB    DX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1850H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DX←DX-1850H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SUB    BL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BL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中内容减去物理地址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=DS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：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BX</a:t>
            </a:r>
            <a:endParaRPr lang="zh-CN" altLang="en-US" sz="2800" noProof="1">
              <a:solidFill>
                <a:srgbClr val="0080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defRPr/>
            </a:pP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		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；处的字节，结果存入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BL</a:t>
            </a:r>
            <a:endParaRPr lang="zh-CN" altLang="en-US" sz="3200" noProof="1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28A556FD-5AE4-4E67-9EFD-34D011F643A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减法指令</a:t>
            </a:r>
          </a:p>
        </p:txBody>
      </p:sp>
      <p:sp>
        <p:nvSpPr>
          <p:cNvPr id="50179" name="内容占位符 2">
            <a:extLst>
              <a:ext uri="{FF2B5EF4-FFF2-40B4-BE49-F238E27FC236}">
                <a16:creationId xmlns:a16="http://schemas.microsoft.com/office/drawing/2014/main" id="{407C8142-CCA8-4A36-BD15-25D54DF9E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050" y="1206500"/>
            <a:ext cx="8150225" cy="5175250"/>
          </a:xfrm>
        </p:spPr>
        <p:txBody>
          <a:bodyPr/>
          <a:lstStyle/>
          <a:p>
            <a:pPr marL="1905" indent="-1905" algn="l" eaLnBrk="1" hangingPunct="1">
              <a:defRPr/>
            </a:pP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2) SBB  </a:t>
            </a:r>
            <a:r>
              <a:rPr lang="zh-CN" altLang="en-US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带借位的减法指令</a:t>
            </a: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 (Subtract with Borrow)</a:t>
            </a:r>
            <a:endParaRPr lang="zh-CN" altLang="en-US" sz="2800" b="1" noProof="1">
              <a:solidFill>
                <a:srgbClr val="FF0066"/>
              </a:solidFill>
              <a:latin typeface="Times New Roman" panose="02020603050405020304" pitchFamily="2" charset="0"/>
            </a:endParaRPr>
          </a:p>
          <a:p>
            <a:pPr marL="1905" indent="-1905" algn="l" eaLnBrk="1" hangingPunct="1"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SBB	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目的，源</a:t>
            </a:r>
          </a:p>
          <a:p>
            <a:pPr marL="1905" indent="-1905" algn="l" eaLnBrk="1" hangingPunct="1"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指令功能： 目的</a:t>
            </a:r>
            <a:r>
              <a:rPr lang="en-US" altLang="x-none" sz="2800" noProof="1">
                <a:latin typeface="Times New Roman" panose="02020603050405020304" pitchFamily="2" charset="0"/>
              </a:rPr>
              <a:t> ← </a:t>
            </a:r>
            <a:r>
              <a:rPr lang="zh-CN" altLang="en-US" sz="2800" noProof="1">
                <a:latin typeface="Times New Roman" panose="02020603050405020304" pitchFamily="2" charset="0"/>
              </a:rPr>
              <a:t>目的 </a:t>
            </a:r>
            <a:r>
              <a:rPr lang="en-US" altLang="x-none" sz="2800" noProof="1">
                <a:latin typeface="Times New Roman" panose="02020603050405020304" pitchFamily="2" charset="0"/>
              </a:rPr>
              <a:t>– </a:t>
            </a:r>
            <a:r>
              <a:rPr lang="zh-CN" altLang="en-US" sz="2800" noProof="1">
                <a:latin typeface="Times New Roman" panose="02020603050405020304" pitchFamily="2" charset="0"/>
              </a:rPr>
              <a:t>源 </a:t>
            </a:r>
            <a:r>
              <a:rPr lang="en-US" altLang="x-none" sz="2800" noProof="1">
                <a:latin typeface="Times New Roman" panose="02020603050405020304" pitchFamily="2" charset="0"/>
              </a:rPr>
              <a:t>- CF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-1905" algn="l" eaLnBrk="1" hangingPunct="1">
              <a:spcBef>
                <a:spcPts val="2400"/>
              </a:spcBef>
              <a:defRPr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3.49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 eaLnBrk="1" hangingPunct="1">
              <a:defRPr/>
            </a:pPr>
            <a:r>
              <a:rPr lang="en-US" altLang="x-none" sz="3200" noProof="1">
                <a:latin typeface="Times New Roman" panose="02020603050405020304" pitchFamily="2" charset="0"/>
                <a:ea typeface="楷体_GB2312" pitchFamily="1" charset="-122"/>
              </a:rPr>
              <a:t>   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SBB      AL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CL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AL←AL – CL - CF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 eaLnBrk="1" hangingPunct="1">
              <a:defRPr/>
            </a:pPr>
            <a:r>
              <a:rPr lang="en-US" altLang="x-none" sz="3200" noProof="1">
                <a:latin typeface="Times New Roman" panose="02020603050405020304" pitchFamily="2" charset="0"/>
                <a:ea typeface="楷体_GB2312" pitchFamily="1" charset="-122"/>
              </a:rPr>
              <a:t> </a:t>
            </a:r>
            <a:endParaRPr lang="zh-CN" altLang="en-US" sz="32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112395" algn="l" eaLnBrk="1" hangingPunct="1">
              <a:buFont typeface="Wingdings 3" panose="05040102010807070707" pitchFamily="2" charset="2"/>
              <a:buChar char="u"/>
              <a:defRPr/>
            </a:pP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SBB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主要用于多字节减法中</a:t>
            </a:r>
          </a:p>
          <a:p>
            <a:pPr marL="1905" indent="-1905" algn="l" eaLnBrk="1" hangingPunct="1">
              <a:defRPr/>
            </a:pPr>
            <a:endParaRPr lang="zh-CN" altLang="en-US" sz="3200" noProof="1">
              <a:latin typeface="Times New Roman" panose="02020603050405020304" pitchFamily="2" charset="0"/>
              <a:ea typeface="楷体_GB2312" pitchFamily="1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AA3BA4DE-30DB-463D-AC64-51D09D6676E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减法指令</a:t>
            </a:r>
          </a:p>
        </p:txBody>
      </p:sp>
      <p:sp>
        <p:nvSpPr>
          <p:cNvPr id="51203" name="内容占位符 2">
            <a:extLst>
              <a:ext uri="{FF2B5EF4-FFF2-40B4-BE49-F238E27FC236}">
                <a16:creationId xmlns:a16="http://schemas.microsoft.com/office/drawing/2014/main" id="{0E23F4B7-DC85-4EF7-AFD5-B8531746F4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1314450"/>
            <a:ext cx="8275638" cy="517525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3) DEC 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减量指令 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 (Decrement)</a:t>
            </a: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DEC	</a:t>
            </a:r>
            <a:r>
              <a:rPr lang="zh-CN" altLang="en-US" sz="2800">
                <a:latin typeface="Times New Roman" panose="02020603050405020304" pitchFamily="18" charset="0"/>
              </a:rPr>
              <a:t>目的</a:t>
            </a: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指令功能：目的</a:t>
            </a:r>
            <a:r>
              <a:rPr lang="en-US" altLang="zh-CN" sz="2800">
                <a:latin typeface="Times New Roman" panose="02020603050405020304" pitchFamily="18" charset="0"/>
              </a:rPr>
              <a:t> ← </a:t>
            </a:r>
            <a:r>
              <a:rPr lang="zh-CN" altLang="en-US" sz="2800">
                <a:latin typeface="Times New Roman" panose="02020603050405020304" pitchFamily="18" charset="0"/>
              </a:rPr>
              <a:t>目的 </a:t>
            </a:r>
            <a:r>
              <a:rPr lang="en-US" altLang="zh-CN" sz="2800">
                <a:latin typeface="Times New Roman" panose="02020603050405020304" pitchFamily="18" charset="0"/>
              </a:rPr>
              <a:t>- 1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ts val="24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3.50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DEC   BX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BX←BX - 1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DEC  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WORD  PTR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BP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；堆栈段中位于［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BP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］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；偏置处的字减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  <a:ea typeface="楷体_GB2312" pitchFamily="1" charset="-122"/>
              </a:rPr>
              <a:t> </a:t>
            </a:r>
            <a:endParaRPr lang="zh-CN" altLang="en-US" sz="32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endParaRPr lang="zh-CN" altLang="en-US" sz="3200"/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C00B3CA2-1242-421A-B36C-1F5A7048B54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减法指令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AB73A3D8-914C-4E1C-B72A-2BD135F3A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050" y="1358900"/>
            <a:ext cx="8232775" cy="51308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  <a:defRPr/>
            </a:pP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4) NEG  </a:t>
            </a:r>
            <a:r>
              <a:rPr lang="zh-CN" altLang="en-US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取负指令</a:t>
            </a: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  (Negate)</a:t>
            </a:r>
            <a:endParaRPr lang="zh-CN" altLang="en-US" sz="2800" b="1" noProof="1">
              <a:solidFill>
                <a:srgbClr val="FF0066"/>
              </a:solidFill>
              <a:latin typeface="Times New Roman" panose="02020603050405020304" pitchFamily="2" charset="0"/>
            </a:endParaRPr>
          </a:p>
          <a:p>
            <a:pPr algn="l" eaLnBrk="1" hangingPunct="1">
              <a:lnSpc>
                <a:spcPct val="80000"/>
              </a:lnSpc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NEG</a:t>
            </a:r>
            <a:r>
              <a:rPr lang="zh-CN" altLang="en-US" sz="2800" noProof="1">
                <a:latin typeface="Times New Roman" panose="02020603050405020304" pitchFamily="2" charset="0"/>
              </a:rPr>
              <a:t>   目的</a:t>
            </a:r>
          </a:p>
          <a:p>
            <a:pPr algn="l" eaLnBrk="1" hangingPunct="1">
              <a:lnSpc>
                <a:spcPct val="80000"/>
              </a:lnSpc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指令功能：目的</a:t>
            </a:r>
            <a:r>
              <a:rPr lang="en-US" altLang="x-none" sz="2800" noProof="1">
                <a:latin typeface="Times New Roman" panose="02020603050405020304" pitchFamily="2" charset="0"/>
              </a:rPr>
              <a:t> ←</a:t>
            </a:r>
            <a:r>
              <a:rPr lang="en-US" altLang="x-none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 0 – 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目的</a:t>
            </a:r>
            <a:r>
              <a:rPr lang="zh-CN" altLang="en-US" sz="2800" b="1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（取反加一）</a:t>
            </a: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lnSpc>
                <a:spcPct val="80000"/>
              </a:lnSpc>
              <a:defRPr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3.51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lnSpc>
                <a:spcPct val="80000"/>
              </a:lnSpc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NEG    AX					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lnSpc>
                <a:spcPct val="80000"/>
              </a:lnSpc>
              <a:defRPr/>
            </a:pP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	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；将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AX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中的数取负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(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改变数的符号位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)</a:t>
            </a:r>
            <a:endParaRPr lang="zh-CN" altLang="en-US" sz="2800" noProof="1">
              <a:solidFill>
                <a:srgbClr val="0080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lnSpc>
                <a:spcPct val="80000"/>
              </a:lnSpc>
              <a:spcBef>
                <a:spcPts val="2400"/>
              </a:spcBef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NEG   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 BYTE  PTR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 eaLnBrk="1" hangingPunct="1">
              <a:lnSpc>
                <a:spcPct val="80000"/>
              </a:lnSpc>
              <a:defRPr/>
            </a:pP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	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；对数据段中位于［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］偏置处的字节取负</a:t>
            </a:r>
          </a:p>
          <a:p>
            <a:pPr algn="l" eaLnBrk="1" hangingPunct="1">
              <a:lnSpc>
                <a:spcPct val="80000"/>
              </a:lnSpc>
              <a:defRPr/>
            </a:pP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BB16CC-383C-40C6-92C4-4AC860891149}"/>
              </a:ext>
            </a:extLst>
          </p:cNvPr>
          <p:cNvSpPr txBox="1"/>
          <p:nvPr/>
        </p:nvSpPr>
        <p:spPr>
          <a:xfrm>
            <a:off x="5200650" y="2625725"/>
            <a:ext cx="1504950" cy="4603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为什么？</a:t>
            </a:r>
          </a:p>
        </p:txBody>
      </p:sp>
      <p:sp>
        <p:nvSpPr>
          <p:cNvPr id="63493" name="文本框 1">
            <a:extLst>
              <a:ext uri="{FF2B5EF4-FFF2-40B4-BE49-F238E27FC236}">
                <a16:creationId xmlns:a16="http://schemas.microsoft.com/office/drawing/2014/main" id="{4F4AC3E3-8AE0-4D62-96FD-4077A7529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5905500"/>
            <a:ext cx="4449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补充补码知识</a:t>
            </a:r>
            <a:r>
              <a:rPr lang="en-US" altLang="zh-CN" sz="1800">
                <a:latin typeface="Times New Roman" panose="02020603050405020304" pitchFamily="18" charset="0"/>
              </a:rPr>
              <a:t>——</a:t>
            </a:r>
            <a:r>
              <a:rPr lang="zh-CN" altLang="en-US" sz="1800">
                <a:latin typeface="Times New Roman" panose="02020603050405020304" pitchFamily="18" charset="0"/>
              </a:rPr>
              <a:t>和</a:t>
            </a:r>
            <a:r>
              <a:rPr lang="en-US" altLang="zh-CN" sz="1800">
                <a:latin typeface="Times New Roman" panose="02020603050405020304" pitchFamily="18" charset="0"/>
              </a:rPr>
              <a:t>IMUL</a:t>
            </a:r>
            <a:r>
              <a:rPr lang="zh-CN" altLang="en-US" sz="1800">
                <a:latin typeface="Times New Roman" panose="02020603050405020304" pitchFamily="18" charset="0"/>
              </a:rPr>
              <a:t>和</a:t>
            </a:r>
            <a:r>
              <a:rPr lang="en-US" altLang="zh-CN" sz="1800">
                <a:latin typeface="Times New Roman" panose="02020603050405020304" pitchFamily="18" charset="0"/>
              </a:rPr>
              <a:t>IDIV</a:t>
            </a:r>
            <a:r>
              <a:rPr lang="zh-CN" altLang="en-US" sz="1800">
                <a:latin typeface="Times New Roman" panose="02020603050405020304" pitchFamily="18" charset="0"/>
              </a:rPr>
              <a:t>串联起来</a:t>
            </a:r>
          </a:p>
        </p:txBody>
      </p:sp>
    </p:spTree>
  </p:cSld>
  <p:clrMapOvr>
    <a:masterClrMapping/>
  </p:clrMapOvr>
  <p:transition spd="slow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0C682ECD-4EF3-4A73-9AFC-D0CAFF11B52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减法指令</a:t>
            </a:r>
          </a:p>
        </p:txBody>
      </p:sp>
      <p:sp>
        <p:nvSpPr>
          <p:cNvPr id="53251" name="内容占位符 2">
            <a:extLst>
              <a:ext uri="{FF2B5EF4-FFF2-40B4-BE49-F238E27FC236}">
                <a16:creationId xmlns:a16="http://schemas.microsoft.com/office/drawing/2014/main" id="{89C43EE3-8A24-484B-A93A-20F3FF5BBF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09600" y="1133475"/>
            <a:ext cx="8143875" cy="5422900"/>
          </a:xfrm>
        </p:spPr>
        <p:txBody>
          <a:bodyPr/>
          <a:lstStyle/>
          <a:p>
            <a:pPr marL="1588" indent="-1588"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5) CMP  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比较指令  </a:t>
            </a:r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 (Compare)</a:t>
            </a:r>
            <a:endParaRPr lang="zh-CN" altLang="en-US" sz="2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1588" indent="-1588"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指令格式：</a:t>
            </a:r>
            <a:r>
              <a:rPr lang="en-US" altLang="zh-CN" sz="2600">
                <a:latin typeface="Times New Roman" panose="02020603050405020304" pitchFamily="18" charset="0"/>
              </a:rPr>
              <a:t> CMP	  </a:t>
            </a:r>
            <a:r>
              <a:rPr lang="zh-CN" altLang="en-US" sz="2600">
                <a:latin typeface="Times New Roman" panose="02020603050405020304" pitchFamily="18" charset="0"/>
              </a:rPr>
              <a:t>目的，源</a:t>
            </a:r>
          </a:p>
          <a:p>
            <a:pPr marL="1588" indent="-1588"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指令功能：目的 </a:t>
            </a:r>
            <a:r>
              <a:rPr lang="en-US" altLang="zh-CN" sz="2600">
                <a:latin typeface="Times New Roman" panose="02020603050405020304" pitchFamily="18" charset="0"/>
              </a:rPr>
              <a:t>– </a:t>
            </a:r>
            <a:r>
              <a:rPr lang="zh-CN" altLang="en-US" sz="2600">
                <a:latin typeface="Times New Roman" panose="02020603050405020304" pitchFamily="18" charset="0"/>
              </a:rPr>
              <a:t>源  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en-US" altLang="zh-CN" sz="260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600">
                <a:solidFill>
                  <a:srgbClr val="C00000"/>
                </a:solidFill>
                <a:latin typeface="Times New Roman" panose="02020603050405020304" pitchFamily="18" charset="0"/>
              </a:rPr>
              <a:t>实际上是做减法！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但</a:t>
            </a:r>
            <a:r>
              <a:rPr lang="zh-CN" altLang="en-US" sz="2600">
                <a:solidFill>
                  <a:srgbClr val="FF0000"/>
                </a:solidFill>
                <a:latin typeface="Times New Roman" panose="02020603050405020304" pitchFamily="18" charset="0"/>
              </a:rPr>
              <a:t>结果不回送到目的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，改变标志位</a:t>
            </a:r>
          </a:p>
          <a:p>
            <a:pPr marL="1588" indent="-1588" algn="l" eaLnBrk="1" hangingPunct="1"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</a:rPr>
              <a:t>     </a:t>
            </a:r>
          </a:p>
          <a:p>
            <a:pPr marL="1588" indent="-1588" algn="l" eaLnBrk="1" hangingPunct="1"/>
            <a:endParaRPr lang="zh-CN" altLang="en-US" sz="2600">
              <a:latin typeface="Times New Roman" panose="02020603050405020304" pitchFamily="18" charset="0"/>
            </a:endParaRPr>
          </a:p>
          <a:p>
            <a:pPr marL="1588" indent="-1588" algn="l" eaLnBrk="1" hangingPunct="1"/>
            <a:r>
              <a:rPr lang="zh-CN" altLang="en-US" sz="26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3.52</a:t>
            </a:r>
            <a:endParaRPr lang="zh-CN" altLang="en-US" sz="2600" b="1">
              <a:solidFill>
                <a:srgbClr val="0000FF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  <a:p>
            <a:pPr marL="1588" indent="-1588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CMP    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80H	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与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80H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作比较</a:t>
            </a:r>
          </a:p>
          <a:p>
            <a:pPr marL="1588" indent="-1588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CMP    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DATA1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与数据段中偏移量</a:t>
            </a:r>
            <a:b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</a:b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DATA1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处的字比较</a:t>
            </a:r>
          </a:p>
          <a:p>
            <a:pPr marL="1588" indent="-1588" algn="l" eaLnBrk="1" hangingPunct="1"/>
            <a:r>
              <a:rPr lang="zh-CN" altLang="en-US" sz="2600">
                <a:solidFill>
                  <a:srgbClr val="CC3300"/>
                </a:solidFill>
              </a:rPr>
              <a:t>比较指令主要用在希望比较两个数的大小，而又不破坏原操作数的场合</a:t>
            </a:r>
            <a:endParaRPr lang="zh-CN" altLang="en-US" sz="26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3F89BB-D860-4051-AB21-E742A2F5DBB2}"/>
              </a:ext>
            </a:extLst>
          </p:cNvPr>
          <p:cNvSpPr txBox="1"/>
          <p:nvPr/>
        </p:nvSpPr>
        <p:spPr>
          <a:xfrm>
            <a:off x="1104900" y="3113088"/>
            <a:ext cx="4683125" cy="461962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一般紧跟条件转移指令实现跳转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30E02D0B-4CF5-4A96-BE4B-89CA48B9787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3. </a:t>
            </a:r>
            <a:r>
              <a:rPr lang="zh-CN" altLang="en-US" sz="4400" b="1">
                <a:solidFill>
                  <a:schemeClr val="accent2"/>
                </a:solidFill>
              </a:rPr>
              <a:t>乘法指令</a:t>
            </a:r>
            <a:r>
              <a:rPr lang="en-US" altLang="zh-CN" sz="4400" b="1">
                <a:solidFill>
                  <a:schemeClr val="accent2"/>
                </a:solidFill>
              </a:rPr>
              <a:t> (Multiply)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B7D1AAB3-E234-459C-BDAC-469C469DD4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55638" y="1133475"/>
            <a:ext cx="8097837" cy="5067300"/>
          </a:xfrm>
        </p:spPr>
        <p:txBody>
          <a:bodyPr/>
          <a:lstStyle/>
          <a:p>
            <a:pPr marL="1588" indent="-1588"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1) MUL  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无符号数乘法指令</a:t>
            </a:r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   (Multiply)</a:t>
            </a:r>
            <a:endParaRPr lang="zh-CN" altLang="en-US" sz="2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1588" indent="-1588"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指令格式：</a:t>
            </a:r>
            <a:r>
              <a:rPr lang="en-US" altLang="zh-CN" sz="2600">
                <a:latin typeface="Times New Roman" panose="02020603050405020304" pitchFamily="18" charset="0"/>
              </a:rPr>
              <a:t> MUL  </a:t>
            </a:r>
            <a:r>
              <a:rPr lang="zh-CN" altLang="en-US" sz="2600">
                <a:latin typeface="Times New Roman" panose="02020603050405020304" pitchFamily="18" charset="0"/>
              </a:rPr>
              <a:t>源</a:t>
            </a:r>
          </a:p>
          <a:p>
            <a:pPr marL="1588" indent="-1588"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指令功能： 把源操作数和累加器中的数，都当成无符号数，然后将两数相乘。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其中有一个操作数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一定是累加器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如果源操作数是</a:t>
            </a:r>
            <a:r>
              <a:rPr lang="en-US" altLang="zh-CN" sz="2600"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latin typeface="Times New Roman" panose="02020603050405020304" pitchFamily="18" charset="0"/>
              </a:rPr>
              <a:t>个字节，则 </a:t>
            </a:r>
            <a:r>
              <a:rPr lang="en-US" altLang="zh-CN" sz="2600">
                <a:latin typeface="Times New Roman" panose="02020603050405020304" pitchFamily="18" charset="0"/>
              </a:rPr>
              <a:t>AX ← AL * </a:t>
            </a:r>
            <a:r>
              <a:rPr lang="zh-CN" altLang="en-US" sz="2600">
                <a:latin typeface="Times New Roman" panose="02020603050405020304" pitchFamily="18" charset="0"/>
              </a:rPr>
              <a:t>源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若源操作数是</a:t>
            </a:r>
            <a:r>
              <a:rPr lang="en-US" altLang="zh-CN" sz="2600"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latin typeface="Times New Roman" panose="02020603050405020304" pitchFamily="18" charset="0"/>
              </a:rPr>
              <a:t>个字，</a:t>
            </a:r>
            <a:r>
              <a:rPr lang="en-US" altLang="zh-CN" sz="2600">
                <a:latin typeface="Times New Roman" panose="02020603050405020304" pitchFamily="18" charset="0"/>
              </a:rPr>
              <a:t>  </a:t>
            </a:r>
            <a:r>
              <a:rPr lang="zh-CN" altLang="en-US" sz="2600">
                <a:latin typeface="Times New Roman" panose="02020603050405020304" pitchFamily="18" charset="0"/>
              </a:rPr>
              <a:t>则 </a:t>
            </a:r>
            <a:r>
              <a:rPr lang="en-US" altLang="zh-CN" sz="2600">
                <a:latin typeface="Times New Roman" panose="02020603050405020304" pitchFamily="18" charset="0"/>
              </a:rPr>
              <a:t>(DX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AX) ← AX * </a:t>
            </a:r>
            <a:r>
              <a:rPr lang="zh-CN" altLang="en-US" sz="2600">
                <a:latin typeface="Times New Roman" panose="02020603050405020304" pitchFamily="18" charset="0"/>
              </a:rPr>
              <a:t>源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源操作数可以是寄存器或存储单元，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不能是立即数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当源操作数是存储单元时，应在操作数前加</a:t>
            </a:r>
            <a:r>
              <a:rPr lang="en-US" altLang="zh-CN" sz="2600">
                <a:latin typeface="Times New Roman" panose="02020603050405020304" pitchFamily="18" charset="0"/>
              </a:rPr>
              <a:t>BYTE</a:t>
            </a:r>
            <a:r>
              <a:rPr lang="zh-CN" altLang="en-US" sz="2600">
                <a:latin typeface="Times New Roman" panose="02020603050405020304" pitchFamily="18" charset="0"/>
              </a:rPr>
              <a:t>或</a:t>
            </a:r>
            <a:r>
              <a:rPr lang="en-US" altLang="zh-CN" sz="2600">
                <a:latin typeface="Times New Roman" panose="02020603050405020304" pitchFamily="18" charset="0"/>
              </a:rPr>
              <a:t>WORD(</a:t>
            </a:r>
            <a:r>
              <a:rPr lang="zh-CN" altLang="en-US" sz="2600">
                <a:latin typeface="Times New Roman" panose="02020603050405020304" pitchFamily="18" charset="0"/>
              </a:rPr>
              <a:t>或者用</a:t>
            </a:r>
            <a:r>
              <a:rPr lang="en-US" altLang="zh-CN" sz="2600">
                <a:latin typeface="Times New Roman" panose="02020603050405020304" pitchFamily="18" charset="0"/>
              </a:rPr>
              <a:t>BYTE PTR/WORD PTR)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说明是字节还是字</a:t>
            </a: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>
            <a:extLst>
              <a:ext uri="{FF2B5EF4-FFF2-40B4-BE49-F238E27FC236}">
                <a16:creationId xmlns:a16="http://schemas.microsoft.com/office/drawing/2014/main" id="{B08A8742-EE3F-46DD-8992-516B5BFED69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rgbClr val="FF0066"/>
                </a:solidFill>
              </a:rPr>
              <a:t>3. </a:t>
            </a:r>
            <a:r>
              <a:rPr lang="zh-CN" altLang="en-US" sz="4400" b="1">
                <a:solidFill>
                  <a:srgbClr val="FF0066"/>
                </a:solidFill>
              </a:rPr>
              <a:t>乘法指令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22D171B9-C72C-47C9-9304-30AACE683B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117600"/>
            <a:ext cx="8194675" cy="5334000"/>
          </a:xfrm>
        </p:spPr>
        <p:txBody>
          <a:bodyPr/>
          <a:lstStyle/>
          <a:p>
            <a:pPr marL="1588" indent="-1588" algn="l" eaLnBrk="1" hangingPunct="1"/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3.56</a:t>
            </a:r>
            <a:endParaRPr lang="zh-CN" altLang="en-US" sz="2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indent="-1588" algn="l" eaLnBrk="1" hangingPunct="1">
              <a:spcBef>
                <a:spcPts val="1200"/>
              </a:spcBef>
            </a:pP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MUL    DL	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AX←AL*DL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indent="-1588" algn="l" eaLnBrk="1" hangingPunct="1">
              <a:spcBef>
                <a:spcPct val="0"/>
              </a:spcBef>
            </a:pP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MUL    CX	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(DX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AX)←AX*CX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indent="-1588" algn="l" eaLnBrk="1" hangingPunct="1">
              <a:spcBef>
                <a:spcPct val="0"/>
              </a:spcBef>
            </a:pP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MUL    </a:t>
            </a:r>
            <a:r>
              <a:rPr lang="en-US" altLang="zh-CN" sz="2600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BYTE PTR 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[SI]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AX←AL*(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内存中某字节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</a:p>
          <a:p>
            <a:pPr marL="1588" indent="-1588" algn="l" eaLnBrk="1" hangingPunct="1">
              <a:spcBef>
                <a:spcPct val="0"/>
              </a:spcBef>
            </a:pP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		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BYTE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说明字节乘法</a:t>
            </a:r>
          </a:p>
          <a:p>
            <a:pPr marL="1588" indent="-1588" algn="l" eaLnBrk="1" hangingPunct="1">
              <a:spcBef>
                <a:spcPct val="0"/>
              </a:spcBef>
            </a:pP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MUL    </a:t>
            </a:r>
            <a:r>
              <a:rPr lang="en-US" altLang="zh-CN" sz="260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WORD PTR 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[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BX]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(DX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AX)←AX*(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内存</a:t>
            </a:r>
          </a:p>
          <a:p>
            <a:pPr marL="1588" indent="-1588" algn="l" eaLnBrk="1" hangingPunct="1">
              <a:spcBef>
                <a:spcPct val="0"/>
              </a:spcBef>
            </a:pP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  <a:sym typeface="宋体" panose="02010600030101010101" pitchFamily="2" charset="-122"/>
              </a:rPr>
              <a:t>中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某字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)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WORD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说明字乘法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en-US" altLang="zh-CN" sz="2600" dirty="0">
                <a:latin typeface="Times New Roman" panose="02020603050405020304" pitchFamily="18" charset="0"/>
              </a:rPr>
              <a:t>MUL</a:t>
            </a:r>
            <a:r>
              <a:rPr lang="zh-CN" altLang="en-US" sz="2600" dirty="0">
                <a:latin typeface="Times New Roman" panose="02020603050405020304" pitchFamily="18" charset="0"/>
              </a:rPr>
              <a:t>指令执行后影响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CF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OF</a:t>
            </a:r>
            <a:r>
              <a:rPr lang="zh-CN" altLang="en-US" sz="2600" dirty="0">
                <a:latin typeface="Times New Roman" panose="02020603050405020304" pitchFamily="18" charset="0"/>
              </a:rPr>
              <a:t>标志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 dirty="0">
                <a:latin typeface="Times New Roman" panose="02020603050405020304" pitchFamily="18" charset="0"/>
              </a:rPr>
              <a:t>如果结果的高半部分不为零，则</a:t>
            </a:r>
            <a:r>
              <a:rPr lang="en-US" altLang="zh-CN" sz="2600" dirty="0">
                <a:latin typeface="Times New Roman" panose="02020603050405020304" pitchFamily="18" charset="0"/>
              </a:rPr>
              <a:t>CF</a:t>
            </a:r>
            <a:r>
              <a:rPr lang="zh-CN" altLang="en-US" sz="2600" dirty="0">
                <a:latin typeface="Times New Roman" panose="02020603050405020304" pitchFamily="18" charset="0"/>
              </a:rPr>
              <a:t>、</a:t>
            </a:r>
            <a:r>
              <a:rPr lang="en-US" altLang="zh-CN" sz="2600" dirty="0">
                <a:latin typeface="Times New Roman" panose="02020603050405020304" pitchFamily="18" charset="0"/>
              </a:rPr>
              <a:t>OF</a:t>
            </a:r>
            <a:r>
              <a:rPr lang="zh-CN" altLang="en-US" sz="2600" dirty="0">
                <a:latin typeface="Times New Roman" panose="02020603050405020304" pitchFamily="18" charset="0"/>
              </a:rPr>
              <a:t>均置</a:t>
            </a:r>
            <a:r>
              <a:rPr lang="en-US" altLang="zh-CN" sz="2600" dirty="0">
                <a:latin typeface="Times New Roman" panose="02020603050405020304" pitchFamily="18" charset="0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</a:rPr>
              <a:t>。否则，</a:t>
            </a:r>
            <a:r>
              <a:rPr lang="en-US" altLang="zh-CN" sz="2600" dirty="0">
                <a:latin typeface="Times New Roman" panose="02020603050405020304" pitchFamily="18" charset="0"/>
              </a:rPr>
              <a:t>CF</a:t>
            </a:r>
            <a:r>
              <a:rPr lang="zh-CN" altLang="en-US" sz="2600" dirty="0">
                <a:latin typeface="Times New Roman" panose="02020603050405020304" pitchFamily="18" charset="0"/>
              </a:rPr>
              <a:t>、</a:t>
            </a:r>
            <a:r>
              <a:rPr lang="en-US" altLang="zh-CN" sz="2600" dirty="0">
                <a:latin typeface="Times New Roman" panose="02020603050405020304" pitchFamily="18" charset="0"/>
              </a:rPr>
              <a:t>OF</a:t>
            </a:r>
            <a:r>
              <a:rPr lang="zh-CN" altLang="en-US" sz="2600" dirty="0">
                <a:latin typeface="Times New Roman" panose="02020603050405020304" pitchFamily="18" charset="0"/>
              </a:rPr>
              <a:t>均清</a:t>
            </a:r>
            <a:r>
              <a:rPr lang="en-US" altLang="zh-CN" sz="2600" dirty="0">
                <a:latin typeface="Times New Roman" panose="02020603050405020304" pitchFamily="18" charset="0"/>
              </a:rPr>
              <a:t>0</a:t>
            </a:r>
            <a:endParaRPr lang="zh-CN" altLang="en-US" sz="2600" dirty="0">
              <a:latin typeface="Times New Roman" panose="02020603050405020304" pitchFamily="18" charset="0"/>
            </a:endParaRP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 dirty="0">
                <a:latin typeface="Times New Roman" panose="02020603050405020304" pitchFamily="18" charset="0"/>
              </a:rPr>
              <a:t>通过测试这两个标志，可检测并去除结果中的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无效前导零</a:t>
            </a:r>
          </a:p>
        </p:txBody>
      </p:sp>
    </p:spTree>
  </p:cSld>
  <p:clrMapOvr>
    <a:masterClrMapping/>
  </p:clrMapOvr>
  <p:transition spd="slow">
    <p:strips dir="r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>
            <a:extLst>
              <a:ext uri="{FF2B5EF4-FFF2-40B4-BE49-F238E27FC236}">
                <a16:creationId xmlns:a16="http://schemas.microsoft.com/office/drawing/2014/main" id="{532525BD-704E-476F-934A-367A77C0BB7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95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rgbClr val="FF0066"/>
                </a:solidFill>
              </a:rPr>
              <a:t>3. </a:t>
            </a:r>
            <a:r>
              <a:rPr lang="zh-CN" altLang="en-US" sz="4400" b="1">
                <a:solidFill>
                  <a:srgbClr val="FF0066"/>
                </a:solidFill>
              </a:rPr>
              <a:t>乘法指令</a:t>
            </a:r>
          </a:p>
        </p:txBody>
      </p:sp>
      <p:sp>
        <p:nvSpPr>
          <p:cNvPr id="56323" name="内容占位符 2">
            <a:extLst>
              <a:ext uri="{FF2B5EF4-FFF2-40B4-BE49-F238E27FC236}">
                <a16:creationId xmlns:a16="http://schemas.microsoft.com/office/drawing/2014/main" id="{FEF6C8D4-C4FB-4D67-A875-745024FBD0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04850" y="1314450"/>
            <a:ext cx="8053388" cy="433705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3.57 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AL=55H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BL=14H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，计算它们的积。</a:t>
            </a:r>
          </a:p>
          <a:p>
            <a:pPr algn="l" eaLnBrk="1" hangingPunct="1">
              <a:spcBef>
                <a:spcPts val="240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只要执行下面这条指令：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    MUL	   BL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  结果：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AX=06A4H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由于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AH=06H≠0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，高位部分有效，所以置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CF=1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OF=1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endParaRPr lang="zh-CN" altLang="en-US" sz="32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内容占位符 2">
            <a:extLst>
              <a:ext uri="{FF2B5EF4-FFF2-40B4-BE49-F238E27FC236}">
                <a16:creationId xmlns:a16="http://schemas.microsoft.com/office/drawing/2014/main" id="{7E63A0D8-F9AD-4FA5-BA19-A42854B228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450850"/>
            <a:ext cx="8372475" cy="6038850"/>
          </a:xfrm>
        </p:spPr>
        <p:txBody>
          <a:bodyPr/>
          <a:lstStyle/>
          <a:p>
            <a:pPr marL="1588" indent="-1588"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2) IMUL  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整数乘法指令</a:t>
            </a:r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--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有符号数乘法</a:t>
            </a:r>
          </a:p>
          <a:p>
            <a:pPr marL="1588" indent="-1588"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  		 (Integer Multiply)</a:t>
            </a:r>
            <a:endParaRPr lang="zh-CN" altLang="en-US" sz="26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1588" indent="-1588"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指令格式：</a:t>
            </a:r>
            <a:r>
              <a:rPr lang="en-US" altLang="zh-CN" sz="2600">
                <a:latin typeface="Times New Roman" panose="02020603050405020304" pitchFamily="18" charset="0"/>
              </a:rPr>
              <a:t> IMUL	 </a:t>
            </a:r>
            <a:r>
              <a:rPr lang="zh-CN" altLang="en-US" sz="2600">
                <a:latin typeface="Times New Roman" panose="02020603050405020304" pitchFamily="18" charset="0"/>
              </a:rPr>
              <a:t>源</a:t>
            </a:r>
          </a:p>
          <a:p>
            <a:pPr marL="1588" indent="-1588"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指令功能：把源操作数和累加器中的数，都作为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带符号数</a:t>
            </a:r>
            <a:r>
              <a:rPr lang="zh-CN" altLang="en-US" sz="2600">
                <a:latin typeface="Times New Roman" panose="02020603050405020304" pitchFamily="18" charset="0"/>
              </a:rPr>
              <a:t>，进行相乘。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存放结果的方式与</a:t>
            </a:r>
            <a:r>
              <a:rPr lang="en-US" altLang="zh-CN" sz="2600">
                <a:latin typeface="Times New Roman" panose="02020603050405020304" pitchFamily="18" charset="0"/>
              </a:rPr>
              <a:t>MUL</a:t>
            </a:r>
            <a:r>
              <a:rPr lang="zh-CN" altLang="en-US" sz="2600">
                <a:latin typeface="Times New Roman" panose="02020603050405020304" pitchFamily="18" charset="0"/>
              </a:rPr>
              <a:t>相同，最后给乘积赋予正确的符号。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latin typeface="Times New Roman" panose="02020603050405020304" pitchFamily="18" charset="0"/>
              </a:rPr>
              <a:t>指令执行后，如果乘积的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高半部分不是全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或全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latin typeface="Times New Roman" panose="02020603050405020304" pitchFamily="18" charset="0"/>
              </a:rPr>
              <a:t>，则置</a:t>
            </a:r>
            <a:r>
              <a:rPr lang="en-US" altLang="zh-CN" sz="2600">
                <a:latin typeface="Times New Roman" panose="02020603050405020304" pitchFamily="18" charset="0"/>
              </a:rPr>
              <a:t>CF=1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OF=1</a:t>
            </a:r>
            <a:r>
              <a:rPr lang="zh-CN" altLang="en-US" sz="2600">
                <a:latin typeface="Times New Roman" panose="02020603050405020304" pitchFamily="18" charset="0"/>
              </a:rPr>
              <a:t>。 若结果高半部分为全</a:t>
            </a:r>
            <a:r>
              <a:rPr lang="en-US" altLang="zh-CN" sz="2600">
                <a:latin typeface="Times New Roman" panose="02020603050405020304" pitchFamily="18" charset="0"/>
              </a:rPr>
              <a:t>0</a:t>
            </a:r>
            <a:r>
              <a:rPr lang="zh-CN" altLang="en-US" sz="2600">
                <a:latin typeface="Times New Roman" panose="02020603050405020304" pitchFamily="18" charset="0"/>
              </a:rPr>
              <a:t>或全</a:t>
            </a:r>
            <a:r>
              <a:rPr lang="en-US" altLang="zh-CN" sz="2600">
                <a:latin typeface="Times New Roman" panose="02020603050405020304" pitchFamily="18" charset="0"/>
              </a:rPr>
              <a:t>1</a:t>
            </a:r>
            <a:r>
              <a:rPr lang="zh-CN" altLang="en-US" sz="2600">
                <a:latin typeface="Times New Roman" panose="02020603050405020304" pitchFamily="18" charset="0"/>
              </a:rPr>
              <a:t>，则使</a:t>
            </a:r>
            <a:r>
              <a:rPr lang="en-US" altLang="zh-CN" sz="2600">
                <a:latin typeface="Times New Roman" panose="02020603050405020304" pitchFamily="18" charset="0"/>
              </a:rPr>
              <a:t>CF=0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</a:rPr>
              <a:t>OF=0</a:t>
            </a:r>
            <a:r>
              <a:rPr lang="zh-CN" altLang="en-US" sz="2600">
                <a:latin typeface="Times New Roman" panose="02020603050405020304" pitchFamily="18" charset="0"/>
              </a:rPr>
              <a:t>。这样来决定是否需要保存积的高半部分。</a:t>
            </a:r>
          </a:p>
          <a:p>
            <a:pPr marL="1588" indent="-1588" algn="l" eaLnBrk="1" hangingPunct="1">
              <a:spcBef>
                <a:spcPts val="2400"/>
              </a:spcBef>
            </a:pP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3.59 </a:t>
            </a:r>
            <a:r>
              <a:rPr lang="en-US" altLang="zh-CN" sz="26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AL=-28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BL=59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，试计算它们的乘积。</a:t>
            </a:r>
          </a:p>
          <a:p>
            <a:pPr marL="1588" indent="-1588" algn="l" eaLnBrk="1" hangingPunct="1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IMUL     BL	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AX=F98CH= - 1652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CF=1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OF=1</a:t>
            </a:r>
            <a:endParaRPr lang="zh-CN" altLang="en-US" sz="26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3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2">
            <a:extLst>
              <a:ext uri="{FF2B5EF4-FFF2-40B4-BE49-F238E27FC236}">
                <a16:creationId xmlns:a16="http://schemas.microsoft.com/office/drawing/2014/main" id="{230277EC-1116-496F-8F9C-4451F61C8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A58DDDE-930A-47E2-9AFF-4053E49B34F0}" type="slidenum">
              <a:rPr lang="zh-CN" altLang="en-US" sz="1400"/>
              <a:pPr eaLnBrk="1" hangingPunct="1"/>
              <a:t>53</a:t>
            </a:fld>
            <a:endParaRPr lang="en-US" altLang="zh-CN" sz="1400"/>
          </a:p>
        </p:txBody>
      </p:sp>
      <p:sp>
        <p:nvSpPr>
          <p:cNvPr id="113668" name="Rectangle 21">
            <a:extLst>
              <a:ext uri="{FF2B5EF4-FFF2-40B4-BE49-F238E27FC236}">
                <a16:creationId xmlns:a16="http://schemas.microsoft.com/office/drawing/2014/main" id="{18504F1D-21A4-4C95-9ED1-28BF858AB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244725"/>
            <a:ext cx="83915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5E9EFF"/>
                    </a:gs>
                    <a:gs pos="39999">
                      <a:srgbClr val="85C2FF"/>
                    </a:gs>
                    <a:gs pos="70000">
                      <a:srgbClr val="C4D6EB"/>
                    </a:gs>
                    <a:gs pos="100000">
                      <a:srgbClr val="FFEBFA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143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</a:rPr>
              <a:t>         MUL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指令和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IMUL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指令的使用条件是由数的格式决定的。显然（11111111</a:t>
            </a:r>
            <a:r>
              <a:rPr kumimoji="1" lang="en-US" altLang="zh-CN" sz="2800" b="1">
                <a:latin typeface="Times New Roman" panose="02020603050405020304" pitchFamily="18" charset="0"/>
              </a:rPr>
              <a:t>b）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kumimoji="1" lang="en-US" altLang="zh-CN" sz="2800" b="1">
                <a:latin typeface="Times New Roman" panose="02020603050405020304" pitchFamily="18" charset="0"/>
              </a:rPr>
              <a:t>（11111111b），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当把它看作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无符号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数时应为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255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d × 255d=65025d</a:t>
            </a:r>
            <a:r>
              <a:rPr kumimoji="1" lang="en-US" altLang="zh-CN" sz="2800" b="1">
                <a:latin typeface="Times New Roman" panose="02020603050405020304" pitchFamily="18" charset="0"/>
              </a:rPr>
              <a:t>，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而把它看作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带符号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数时则为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（-1）×（-1）=1。</a:t>
            </a:r>
          </a:p>
        </p:txBody>
      </p:sp>
      <p:sp>
        <p:nvSpPr>
          <p:cNvPr id="659478" name="Text Box 22">
            <a:extLst>
              <a:ext uri="{FF2B5EF4-FFF2-40B4-BE49-F238E27FC236}">
                <a16:creationId xmlns:a16="http://schemas.microsoft.com/office/drawing/2014/main" id="{32820031-1F5E-4786-B261-B066C8201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487" y="4863011"/>
            <a:ext cx="6819900" cy="894989"/>
          </a:xfrm>
          <a:prstGeom prst="rect">
            <a:avLst/>
          </a:prstGeom>
          <a:solidFill>
            <a:srgbClr val="33CCCC"/>
          </a:solidFill>
          <a:ln w="50800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b="1" dirty="0">
                <a:latin typeface="楷体_GB2312" pitchFamily="49" charset="-122"/>
                <a:ea typeface="楷体_GB2312" pitchFamily="49" charset="-122"/>
              </a:rPr>
              <a:t>   指令是不知道你的数是有符号数还是无符号数的，关键是程序员要给数据赋予意义。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41B1A-6FE3-48BD-B778-E8EAC191AF31}"/>
              </a:ext>
            </a:extLst>
          </p:cNvPr>
          <p:cNvSpPr txBox="1"/>
          <p:nvPr/>
        </p:nvSpPr>
        <p:spPr>
          <a:xfrm>
            <a:off x="575236" y="820918"/>
            <a:ext cx="8077200" cy="58477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</a:rPr>
              <a:t>为何要有两个乘法指令：</a:t>
            </a:r>
            <a:r>
              <a:rPr lang="en-US" altLang="zh-CN" sz="3200" b="1" dirty="0">
                <a:solidFill>
                  <a:srgbClr val="FF0000"/>
                </a:solidFill>
              </a:rPr>
              <a:t>MUL</a:t>
            </a:r>
            <a:r>
              <a:rPr lang="zh-CN" altLang="en-US" sz="3200" b="1" dirty="0">
                <a:solidFill>
                  <a:srgbClr val="FF0000"/>
                </a:solidFill>
              </a:rPr>
              <a:t>和</a:t>
            </a:r>
            <a:r>
              <a:rPr lang="en-US" altLang="zh-CN" sz="3200" b="1" dirty="0">
                <a:solidFill>
                  <a:srgbClr val="FF0000"/>
                </a:solidFill>
              </a:rPr>
              <a:t>IMUL</a:t>
            </a:r>
            <a:r>
              <a:rPr lang="zh-CN" altLang="en-US" sz="3200" b="1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78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4DDE6FDA-92AE-4092-BD99-67CE7ADFE77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95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除法指令</a:t>
            </a:r>
            <a:r>
              <a:rPr lang="en-US" altLang="zh-CN" sz="4400" b="1">
                <a:solidFill>
                  <a:schemeClr val="accent2"/>
                </a:solidFill>
              </a:rPr>
              <a:t>   (Division)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93059524-35EA-4402-BFC0-8F53C763BA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marL="1588" indent="-1588" algn="l" eaLnBrk="1" hangingPunct="1"/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1) DIV  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无符号数除法指令 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 (Division</a:t>
            </a: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</a:rPr>
              <a:t>unsigned)</a:t>
            </a: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</a:endParaRPr>
          </a:p>
          <a:p>
            <a:pPr marL="1588" indent="-1588"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DIV	</a:t>
            </a:r>
            <a:r>
              <a:rPr lang="zh-CN" altLang="en-US" sz="2800">
                <a:latin typeface="Times New Roman" panose="02020603050405020304" pitchFamily="18" charset="0"/>
              </a:rPr>
              <a:t>源</a:t>
            </a:r>
          </a:p>
          <a:p>
            <a:pPr marL="1588" indent="-1588" algn="l" eaLnBrk="1" hangingPunct="1"/>
            <a:r>
              <a:rPr lang="zh-CN" altLang="en-US" sz="2800">
                <a:latin typeface="Times New Roman" panose="02020603050405020304" pitchFamily="18" charset="0"/>
              </a:rPr>
              <a:t>指令功能： 对两个无符号二进制数进行除法操作。</a:t>
            </a:r>
          </a:p>
          <a:p>
            <a:pPr marL="1588" indent="-1588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如果源操作数为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字节</a:t>
            </a:r>
            <a:r>
              <a:rPr lang="zh-CN" altLang="en-US" sz="2800">
                <a:latin typeface="Times New Roman" panose="02020603050405020304" pitchFamily="18" charset="0"/>
              </a:rPr>
              <a:t>，被除数必须放在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AX</a:t>
            </a:r>
            <a:r>
              <a:rPr lang="zh-CN" altLang="en-US" sz="2800">
                <a:latin typeface="Times New Roman" panose="02020603050405020304" pitchFamily="18" charset="0"/>
              </a:rPr>
              <a:t>中，并且有：</a:t>
            </a:r>
          </a:p>
          <a:p>
            <a:pPr marL="1588" indent="-1588" algn="l" eaLnBrk="1" hangingPunct="1"/>
            <a:r>
              <a:rPr lang="en-US" altLang="zh-CN" sz="2800">
                <a:latin typeface="Times New Roman" panose="02020603050405020304" pitchFamily="18" charset="0"/>
              </a:rPr>
              <a:t>	AL ← AX/</a:t>
            </a:r>
            <a:r>
              <a:rPr lang="zh-CN" altLang="en-US" sz="2800">
                <a:latin typeface="Times New Roman" panose="02020603050405020304" pitchFamily="18" charset="0"/>
              </a:rPr>
              <a:t>源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字节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的商</a:t>
            </a:r>
          </a:p>
          <a:p>
            <a:pPr marL="1588" indent="-1588" algn="l" eaLnBrk="1" hangingPunct="1"/>
            <a:r>
              <a:rPr lang="en-US" altLang="zh-CN" sz="2800">
                <a:latin typeface="Times New Roman" panose="02020603050405020304" pitchFamily="18" charset="0"/>
              </a:rPr>
              <a:t>	AH ← AX/</a:t>
            </a:r>
            <a:r>
              <a:rPr lang="zh-CN" altLang="en-US" sz="2800">
                <a:latin typeface="Times New Roman" panose="02020603050405020304" pitchFamily="18" charset="0"/>
              </a:rPr>
              <a:t>源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字节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的余数</a:t>
            </a:r>
          </a:p>
          <a:p>
            <a:pPr marL="1588" indent="-1588" algn="l" eaLnBrk="1" hangingPunct="1">
              <a:buFont typeface="Wingdings 3" panose="05040102010807070707" pitchFamily="18" charset="2"/>
              <a:buChar char="u"/>
            </a:pP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要是被除数只有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位，必须把它放在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AL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中，并将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AH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清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，然后相除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marL="1588" indent="-1588" algn="l" eaLnBrk="1" hangingPunct="1"/>
            <a:endParaRPr lang="zh-CN" altLang="en-US" sz="32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>
            <a:extLst>
              <a:ext uri="{FF2B5EF4-FFF2-40B4-BE49-F238E27FC236}">
                <a16:creationId xmlns:a16="http://schemas.microsoft.com/office/drawing/2014/main" id="{54455AFE-6C3E-401C-AF32-891267BD388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除法指令</a:t>
            </a:r>
            <a:r>
              <a:rPr lang="en-US" altLang="zh-CN" sz="4400" b="1">
                <a:solidFill>
                  <a:schemeClr val="accent2"/>
                </a:solidFill>
              </a:rPr>
              <a:t>--</a:t>
            </a:r>
            <a:r>
              <a:rPr lang="zh-CN" altLang="en-US" sz="4400" b="1">
                <a:solidFill>
                  <a:schemeClr val="accent2"/>
                </a:solidFill>
              </a:rPr>
              <a:t>无符号数</a:t>
            </a:r>
          </a:p>
        </p:txBody>
      </p:sp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F0FA4794-F4CB-417D-8939-02F398FDE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231187" cy="4622800"/>
          </a:xfrm>
        </p:spPr>
        <p:txBody>
          <a:bodyPr/>
          <a:lstStyle/>
          <a:p>
            <a:pPr marL="1905" indent="-1905" algn="l" eaLnBrk="1" hangingPunct="1">
              <a:defRPr/>
            </a:pP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1) DIV  </a:t>
            </a:r>
            <a:r>
              <a:rPr lang="zh-CN" altLang="en-US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无符号数除法指令</a:t>
            </a:r>
          </a:p>
          <a:p>
            <a:pPr marL="1905" indent="112395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若源操作数为字，被除数必须放在</a:t>
            </a:r>
            <a:r>
              <a:rPr lang="en-US" altLang="x-none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DX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</a:rPr>
              <a:t>中，并且有：</a:t>
            </a:r>
          </a:p>
          <a:p>
            <a:pPr marL="1905" indent="-1905" algn="l" eaLnBrk="1" hangingPunct="1">
              <a:defRPr/>
            </a:pPr>
            <a:r>
              <a:rPr lang="en-US" altLang="x-none" sz="2800" noProof="1">
                <a:latin typeface="Times New Roman" panose="02020603050405020304" pitchFamily="2" charset="0"/>
              </a:rPr>
              <a:t>	</a:t>
            </a:r>
            <a:r>
              <a:rPr lang="en-US" altLang="x-none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AX</a:t>
            </a:r>
            <a:r>
              <a:rPr lang="en-US" altLang="x-none" sz="2800" noProof="1">
                <a:latin typeface="Times New Roman" panose="02020603050405020304" pitchFamily="2" charset="0"/>
              </a:rPr>
              <a:t> ← (DX</a:t>
            </a:r>
            <a:r>
              <a:rPr lang="zh-CN" altLang="en-US" sz="2800" noProof="1">
                <a:latin typeface="Times New Roman" panose="02020603050405020304" pitchFamily="2" charset="0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</a:rPr>
              <a:t>AX)/</a:t>
            </a:r>
            <a:r>
              <a:rPr lang="zh-CN" altLang="en-US" sz="2800" noProof="1">
                <a:latin typeface="Times New Roman" panose="02020603050405020304" pitchFamily="2" charset="0"/>
              </a:rPr>
              <a:t>源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字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r>
              <a:rPr lang="zh-CN" altLang="en-US" sz="2800" noProof="1">
                <a:latin typeface="Times New Roman" panose="02020603050405020304" pitchFamily="2" charset="0"/>
              </a:rPr>
              <a:t>的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商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-1905" algn="l" eaLnBrk="1" hangingPunct="1">
              <a:defRPr/>
            </a:pP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	DX</a:t>
            </a:r>
            <a:r>
              <a:rPr lang="en-US" altLang="x-none" sz="2800" noProof="1">
                <a:latin typeface="Times New Roman" panose="02020603050405020304" pitchFamily="2" charset="0"/>
              </a:rPr>
              <a:t> ← (DX</a:t>
            </a:r>
            <a:r>
              <a:rPr lang="zh-CN" altLang="en-US" sz="2800" noProof="1">
                <a:latin typeface="Times New Roman" panose="02020603050405020304" pitchFamily="2" charset="0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</a:rPr>
              <a:t>AX)/</a:t>
            </a:r>
            <a:r>
              <a:rPr lang="zh-CN" altLang="en-US" sz="2800" noProof="1">
                <a:latin typeface="Times New Roman" panose="02020603050405020304" pitchFamily="2" charset="0"/>
              </a:rPr>
              <a:t>源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字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r>
              <a:rPr lang="zh-CN" altLang="en-US" sz="2800" noProof="1">
                <a:latin typeface="Times New Roman" panose="02020603050405020304" pitchFamily="2" charset="0"/>
              </a:rPr>
              <a:t>的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余数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 eaLnBrk="1" hangingPunct="1">
              <a:buFont typeface="Wingdings 3" panose="05040102010807070707" pitchFamily="2" charset="2"/>
              <a:buChar char="u"/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要是被除数只有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位，除数也是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位，则必须将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位被除数送入</a:t>
            </a:r>
            <a:r>
              <a:rPr lang="en-US" altLang="x-none" sz="2800" noProof="1">
                <a:latin typeface="Times New Roman" panose="02020603050405020304" pitchFamily="2" charset="0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</a:rPr>
              <a:t>，再将</a:t>
            </a:r>
            <a:r>
              <a:rPr lang="en-US" altLang="x-none" sz="2800" noProof="1">
                <a:latin typeface="Times New Roman" panose="02020603050405020304" pitchFamily="2" charset="0"/>
              </a:rPr>
              <a:t>DX</a:t>
            </a:r>
            <a:r>
              <a:rPr lang="zh-CN" altLang="en-US" sz="2800" noProof="1">
                <a:latin typeface="Times New Roman" panose="02020603050405020304" pitchFamily="2" charset="0"/>
              </a:rPr>
              <a:t>清</a:t>
            </a:r>
            <a:r>
              <a:rPr lang="en-US" altLang="x-none" sz="2800" noProof="1">
                <a:latin typeface="Times New Roman" panose="02020603050405020304" pitchFamily="2" charset="0"/>
              </a:rPr>
              <a:t>0</a:t>
            </a:r>
            <a:r>
              <a:rPr lang="zh-CN" altLang="en-US" sz="2800" noProof="1">
                <a:latin typeface="Times New Roman" panose="02020603050405020304" pitchFamily="2" charset="0"/>
              </a:rPr>
              <a:t>，然后相除。</a:t>
            </a:r>
          </a:p>
          <a:p>
            <a:pPr marL="1905" indent="112395" algn="l" eaLnBrk="1" hangingPunct="1">
              <a:buFont typeface="Wingdings 3" panose="05040102010807070707" pitchFamily="2" charset="2"/>
              <a:buChar char="u"/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与被除数和除数一样，商和余数都是无符号数</a:t>
            </a:r>
            <a:endParaRPr lang="zh-CN" altLang="en-US" sz="3200" noProof="1"/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>
            <a:extLst>
              <a:ext uri="{FF2B5EF4-FFF2-40B4-BE49-F238E27FC236}">
                <a16:creationId xmlns:a16="http://schemas.microsoft.com/office/drawing/2014/main" id="{6695BF34-F6FF-4A54-84FC-8CF32B4FB9C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除法指令</a:t>
            </a:r>
            <a:r>
              <a:rPr lang="en-US" altLang="zh-CN" sz="4400" b="1">
                <a:solidFill>
                  <a:schemeClr val="accent2"/>
                </a:solidFill>
              </a:rPr>
              <a:t>--</a:t>
            </a:r>
            <a:r>
              <a:rPr lang="zh-CN" altLang="en-US" sz="4400" b="1">
                <a:solidFill>
                  <a:schemeClr val="accent2"/>
                </a:solidFill>
              </a:rPr>
              <a:t>有符号数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B09997A-EBEF-4238-9BAB-41563FD4E524}"/>
              </a:ext>
            </a:extLst>
          </p:cNvPr>
          <p:cNvSpPr txBox="1">
            <a:spLocks/>
          </p:cNvSpPr>
          <p:nvPr/>
        </p:nvSpPr>
        <p:spPr bwMode="auto">
          <a:xfrm>
            <a:off x="482600" y="1314450"/>
            <a:ext cx="8372475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indent="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" indent="-1905" algn="l" eaLnBrk="1" hangingPunct="1">
              <a:defRPr/>
            </a:pP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2) IDIV  </a:t>
            </a:r>
            <a:r>
              <a:rPr lang="zh-CN" altLang="en-US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整数（有符号数）除法</a:t>
            </a:r>
            <a:r>
              <a:rPr lang="en-US" altLang="x-none" sz="2800" b="1" noProof="1">
                <a:solidFill>
                  <a:srgbClr val="FF0066"/>
                </a:solidFill>
                <a:latin typeface="Times New Roman" panose="02020603050405020304" pitchFamily="2" charset="0"/>
              </a:rPr>
              <a:t>  (Integer Division)</a:t>
            </a:r>
            <a:endParaRPr lang="zh-CN" altLang="en-US" sz="2800" b="1" noProof="1">
              <a:solidFill>
                <a:srgbClr val="FF0066"/>
              </a:solidFill>
              <a:latin typeface="Times New Roman" panose="02020603050405020304" pitchFamily="2" charset="0"/>
            </a:endParaRPr>
          </a:p>
          <a:p>
            <a:pPr marL="1905" indent="-1905" algn="l" eaLnBrk="1" hangingPunct="1"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IDIV	 </a:t>
            </a:r>
            <a:r>
              <a:rPr lang="zh-CN" altLang="en-US" sz="2800" noProof="1">
                <a:latin typeface="Times New Roman" panose="02020603050405020304" pitchFamily="2" charset="0"/>
              </a:rPr>
              <a:t>源</a:t>
            </a:r>
          </a:p>
          <a:p>
            <a:pPr marL="1905" indent="-1905" algn="l" eaLnBrk="1" hangingPunct="1"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指令功能：功能与</a:t>
            </a:r>
            <a:r>
              <a:rPr lang="en-US" altLang="x-none" sz="2800" noProof="1">
                <a:latin typeface="Times New Roman" panose="02020603050405020304" pitchFamily="2" charset="0"/>
              </a:rPr>
              <a:t>DIV</a:t>
            </a:r>
            <a:r>
              <a:rPr lang="zh-CN" altLang="en-US" sz="2800" noProof="1">
                <a:latin typeface="Times New Roman" panose="02020603050405020304" pitchFamily="2" charset="0"/>
              </a:rPr>
              <a:t>相同，但操作数都必须是带符号数，商和余数也都是带符号数，而且规定余数的符号和被除数的符号相同</a:t>
            </a:r>
          </a:p>
          <a:p>
            <a:pPr marL="1905" indent="-1905" algn="l" eaLnBrk="1" hangingPunct="1">
              <a:defRPr/>
            </a:pPr>
            <a:r>
              <a:rPr lang="en-US" altLang="x-none" sz="3200" noProof="1">
                <a:latin typeface="Times New Roman" panose="02020603050405020304" pitchFamily="2" charset="0"/>
              </a:rPr>
              <a:t> </a:t>
            </a:r>
            <a:endParaRPr lang="zh-CN" altLang="en-US" sz="3200" noProof="1">
              <a:latin typeface="Times New Roman" panose="02020603050405020304" pitchFamily="2" charset="0"/>
            </a:endParaRPr>
          </a:p>
          <a:p>
            <a:pPr marL="1905" indent="112395" algn="l" eaLnBrk="1" hangingPunct="1">
              <a:buFont typeface="Wingdings 3" panose="05040102010807070707" pitchFamily="2" charset="2"/>
              <a:buChar char="u"/>
              <a:defRPr/>
            </a:pPr>
            <a:r>
              <a:rPr lang="zh-CN" altLang="en-US" sz="2800" noProof="1">
                <a:latin typeface="Times New Roman" panose="02020603050405020304" pitchFamily="2" charset="0"/>
              </a:rPr>
              <a:t>进行除法操作时，如果商超过了目标寄存器</a:t>
            </a:r>
            <a:r>
              <a:rPr lang="en-US" altLang="x-none" sz="2800" noProof="1">
                <a:latin typeface="Times New Roman" panose="02020603050405020304" pitchFamily="2" charset="0"/>
              </a:rPr>
              <a:t>AL</a:t>
            </a:r>
            <a:r>
              <a:rPr lang="zh-CN" altLang="en-US" sz="2800" noProof="1">
                <a:latin typeface="Times New Roman" panose="02020603050405020304" pitchFamily="2" charset="0"/>
              </a:rPr>
              <a:t>或</a:t>
            </a:r>
            <a:r>
              <a:rPr lang="en-US" altLang="x-none" sz="2800" noProof="1">
                <a:latin typeface="Times New Roman" panose="02020603050405020304" pitchFamily="2" charset="0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</a:rPr>
              <a:t>所能存放数的范围，计算机会自动产生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除法错中断</a:t>
            </a:r>
            <a:r>
              <a:rPr lang="zh-CN" altLang="en-US" sz="2800" noProof="1">
                <a:latin typeface="Times New Roman" panose="02020603050405020304" pitchFamily="2" charset="0"/>
              </a:rPr>
              <a:t>，相当于执行了除数为</a:t>
            </a:r>
            <a:r>
              <a:rPr lang="en-US" altLang="x-none" sz="2800" noProof="1">
                <a:latin typeface="Times New Roman" panose="02020603050405020304" pitchFamily="2" charset="0"/>
              </a:rPr>
              <a:t>0</a:t>
            </a:r>
            <a:r>
              <a:rPr lang="zh-CN" altLang="en-US" sz="2800" noProof="1">
                <a:latin typeface="Times New Roman" panose="02020603050405020304" pitchFamily="2" charset="0"/>
              </a:rPr>
              <a:t>的运算，所得的商和余数都不确定</a:t>
            </a:r>
            <a:endParaRPr lang="zh-CN" altLang="en-US" sz="3200" noProof="1"/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>
            <a:extLst>
              <a:ext uri="{FF2B5EF4-FFF2-40B4-BE49-F238E27FC236}">
                <a16:creationId xmlns:a16="http://schemas.microsoft.com/office/drawing/2014/main" id="{A75EC092-2149-4CCF-AFCA-F97E2AFB791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5397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rgbClr val="FF0066"/>
                </a:solidFill>
              </a:rPr>
              <a:t>4. </a:t>
            </a:r>
            <a:r>
              <a:rPr lang="zh-CN" altLang="en-US" sz="4000" b="1">
                <a:solidFill>
                  <a:srgbClr val="FF0066"/>
                </a:solidFill>
              </a:rPr>
              <a:t>除法指令溢出举例</a:t>
            </a:r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7FE4FBD4-0202-45E2-88D6-AA0D0EA871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3.61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两个无符号数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7A86H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04H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相除的商，应为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1EA1H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。若用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DIV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指令进行计算，即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MOV	   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7A86H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MOV    BL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04H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DIV	   BL</a:t>
            </a:r>
          </a:p>
          <a:p>
            <a:pPr algn="l" eaLnBrk="1" hangingPunct="1"/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这时，由于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BL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中的除数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04H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为字节，而被除数为字，商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1EA1H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大于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AL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中能存放的最大无符号数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</a:rPr>
              <a:t>FFH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</a:rPr>
              <a:t>，结果将产生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除法错误中断</a:t>
            </a:r>
          </a:p>
          <a:p>
            <a:pPr algn="l" eaLnBrk="1" hangingPunct="1"/>
            <a:endParaRPr lang="zh-CN" altLang="en-US" sz="32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>
            <a:extLst>
              <a:ext uri="{FF2B5EF4-FFF2-40B4-BE49-F238E27FC236}">
                <a16:creationId xmlns:a16="http://schemas.microsoft.com/office/drawing/2014/main" id="{D079DDEF-6DA9-4D59-B09E-DF6C9583FBA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95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rgbClr val="FF0066"/>
                </a:solidFill>
              </a:rPr>
              <a:t>4. </a:t>
            </a:r>
            <a:r>
              <a:rPr lang="zh-CN" altLang="en-US" sz="4400" b="1">
                <a:solidFill>
                  <a:srgbClr val="FF0066"/>
                </a:solidFill>
              </a:rPr>
              <a:t>除法指令</a:t>
            </a: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74D115DE-7B6B-485A-B178-FAA8D26917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339850"/>
            <a:ext cx="7875588" cy="5105400"/>
          </a:xfrm>
        </p:spPr>
        <p:txBody>
          <a:bodyPr/>
          <a:lstStyle/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对于带符号数除法指令，字节操作时要求被除数为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位，字操作时要求被除数为</a:t>
            </a:r>
            <a:r>
              <a:rPr lang="en-US" altLang="zh-CN" sz="2800">
                <a:latin typeface="Times New Roman" panose="02020603050405020304" pitchFamily="18" charset="0"/>
              </a:rPr>
              <a:t>32</a:t>
            </a:r>
            <a:r>
              <a:rPr lang="zh-CN" altLang="en-US" sz="2800">
                <a:latin typeface="Times New Roman" panose="02020603050405020304" pitchFamily="18" charset="0"/>
              </a:rPr>
              <a:t>位</a:t>
            </a:r>
            <a:endParaRPr lang="en-US" altLang="zh-CN" sz="2800">
              <a:latin typeface="Times New Roman" panose="02020603050405020304" pitchFamily="18" charset="0"/>
            </a:endParaRPr>
          </a:p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endParaRPr lang="zh-CN" altLang="en-US" sz="2800">
              <a:latin typeface="Times New Roman" panose="02020603050405020304" pitchFamily="18" charset="0"/>
            </a:endParaRPr>
          </a:p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如果被除数不满足这个条件，不能简单地将高位置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，而应该先用下面的符号扩展指令</a:t>
            </a:r>
            <a:r>
              <a:rPr lang="en-US" altLang="zh-CN" sz="2800">
                <a:latin typeface="Times New Roman" panose="02020603050405020304" pitchFamily="18" charset="0"/>
              </a:rPr>
              <a:t> (Sign Extension)</a:t>
            </a:r>
            <a:r>
              <a:rPr lang="zh-CN" altLang="en-US" sz="2800">
                <a:latin typeface="Times New Roman" panose="02020603050405020304" pitchFamily="18" charset="0"/>
              </a:rPr>
              <a:t>将被除数转换成除法指令所要求的格式</a:t>
            </a:r>
            <a:r>
              <a:rPr lang="en-US" altLang="zh-CN" sz="2800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CBW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CWD</a:t>
            </a:r>
            <a:r>
              <a:rPr lang="zh-CN" altLang="en-US" sz="2800">
                <a:latin typeface="Times New Roman" panose="02020603050405020304" pitchFamily="18" charset="0"/>
              </a:rPr>
              <a:t>，再执行除法指令</a:t>
            </a:r>
          </a:p>
          <a:p>
            <a:pPr marL="1588" indent="112713" algn="l" eaLnBrk="1" hangingPunct="1">
              <a:buFont typeface="Wingdings" panose="05000000000000000000" pitchFamily="2" charset="2"/>
              <a:buChar char="l"/>
            </a:pPr>
            <a:endParaRPr lang="zh-CN" altLang="en-US" sz="3200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>
            <a:extLst>
              <a:ext uri="{FF2B5EF4-FFF2-40B4-BE49-F238E27FC236}">
                <a16:creationId xmlns:a16="http://schemas.microsoft.com/office/drawing/2014/main" id="{72CD530F-F4A2-406B-B78F-DA6F70F8A2C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2730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000" b="1">
                <a:solidFill>
                  <a:schemeClr val="accent2"/>
                </a:solidFill>
              </a:rPr>
              <a:t>4. </a:t>
            </a:r>
            <a:r>
              <a:rPr lang="zh-CN" altLang="en-US" sz="4000" b="1">
                <a:solidFill>
                  <a:schemeClr val="accent2"/>
                </a:solidFill>
              </a:rPr>
              <a:t>除法指令</a:t>
            </a:r>
          </a:p>
        </p:txBody>
      </p:sp>
      <p:sp>
        <p:nvSpPr>
          <p:cNvPr id="63491" name="内容占位符 2">
            <a:extLst>
              <a:ext uri="{FF2B5EF4-FFF2-40B4-BE49-F238E27FC236}">
                <a16:creationId xmlns:a16="http://schemas.microsoft.com/office/drawing/2014/main" id="{E23BCBDD-7B1B-49A0-A4F2-8BF0826C1F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850900"/>
            <a:ext cx="8372475" cy="2844800"/>
          </a:xfrm>
        </p:spPr>
        <p:txBody>
          <a:bodyPr/>
          <a:lstStyle/>
          <a:p>
            <a:pPr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3)CBW  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把字节转换为字指令</a:t>
            </a:r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   (Convert Byte to Word)</a:t>
            </a: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指令格式：</a:t>
            </a:r>
            <a:r>
              <a:rPr lang="en-US" altLang="zh-CN" sz="2600">
                <a:latin typeface="Times New Roman" panose="02020603050405020304" pitchFamily="18" charset="0"/>
              </a:rPr>
              <a:t> CBW</a:t>
            </a: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指令功能： 把</a:t>
            </a:r>
            <a:r>
              <a:rPr lang="en-US" altLang="zh-CN" sz="2600">
                <a:latin typeface="Times New Roman" panose="02020603050405020304" pitchFamily="18" charset="0"/>
              </a:rPr>
              <a:t>AL</a:t>
            </a:r>
            <a:r>
              <a:rPr lang="zh-CN" altLang="en-US" sz="2600">
                <a:latin typeface="Times New Roman" panose="02020603050405020304" pitchFamily="18" charset="0"/>
              </a:rPr>
              <a:t>中字节的符号位扩充到</a:t>
            </a:r>
            <a:r>
              <a:rPr lang="en-US" altLang="zh-CN" sz="2600">
                <a:latin typeface="Times New Roman" panose="02020603050405020304" pitchFamily="18" charset="0"/>
              </a:rPr>
              <a:t>AH</a:t>
            </a:r>
            <a:r>
              <a:rPr lang="zh-CN" altLang="en-US" sz="2600">
                <a:latin typeface="Times New Roman" panose="02020603050405020304" pitchFamily="18" charset="0"/>
              </a:rPr>
              <a:t>的所有位，这时</a:t>
            </a:r>
            <a:r>
              <a:rPr lang="en-US" altLang="zh-CN" sz="2600">
                <a:latin typeface="Times New Roman" panose="02020603050405020304" pitchFamily="18" charset="0"/>
              </a:rPr>
              <a:t>AH</a:t>
            </a:r>
            <a:r>
              <a:rPr lang="zh-CN" altLang="en-US" sz="2600">
                <a:latin typeface="Times New Roman" panose="02020603050405020304" pitchFamily="18" charset="0"/>
              </a:rPr>
              <a:t>被称为是</a:t>
            </a:r>
            <a:r>
              <a:rPr lang="en-US" altLang="zh-CN" sz="2600">
                <a:latin typeface="Times New Roman" panose="02020603050405020304" pitchFamily="18" charset="0"/>
              </a:rPr>
              <a:t>AL </a:t>
            </a:r>
            <a:r>
              <a:rPr lang="zh-CN" altLang="en-US" sz="2600">
                <a:latin typeface="Times New Roman" panose="02020603050405020304" pitchFamily="18" charset="0"/>
              </a:rPr>
              <a:t>的符号扩充。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AL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中的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D7=0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，就将这个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扩展到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AH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中去，使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AH=00H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，即</a:t>
            </a:r>
            <a:endParaRPr lang="en-US" altLang="zh-CN" sz="26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3492" name="Picture 4">
            <a:extLst>
              <a:ext uri="{FF2B5EF4-FFF2-40B4-BE49-F238E27FC236}">
                <a16:creationId xmlns:a16="http://schemas.microsoft.com/office/drawing/2014/main" id="{EE2BC17A-A1DB-4544-88F6-9246E1E52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3695700"/>
            <a:ext cx="605790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5">
            <a:extLst>
              <a:ext uri="{FF2B5EF4-FFF2-40B4-BE49-F238E27FC236}">
                <a16:creationId xmlns:a16="http://schemas.microsoft.com/office/drawing/2014/main" id="{23EF51F3-8683-4891-AE20-21F7BBCAF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5251450"/>
            <a:ext cx="60833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7">
            <a:extLst>
              <a:ext uri="{FF2B5EF4-FFF2-40B4-BE49-F238E27FC236}">
                <a16:creationId xmlns:a16="http://schemas.microsoft.com/office/drawing/2014/main" id="{97336E3B-0AE0-43FD-984C-5EBD90A1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4362450"/>
            <a:ext cx="786765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FF00"/>
              </a:buClr>
              <a:buFontTx/>
              <a:buNone/>
            </a:pP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若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AL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中的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D7=1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，则将这个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1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扩展到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AH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中去，使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AH=FFH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，即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5" name="矩形 8">
            <a:extLst>
              <a:ext uri="{FF2B5EF4-FFF2-40B4-BE49-F238E27FC236}">
                <a16:creationId xmlns:a16="http://schemas.microsoft.com/office/drawing/2014/main" id="{B76485C0-02A3-4B3A-A5E7-B4FA89163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6051550"/>
            <a:ext cx="7467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FF00"/>
              </a:buClr>
              <a:buFont typeface="Arial" panose="020B0604020202020204" pitchFamily="34" charset="0"/>
              <a:buChar char="l"/>
            </a:pP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  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CBW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指令执行后，不影响标志位。</a:t>
            </a:r>
            <a:endParaRPr lang="zh-CN" altLang="en-US" sz="240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/>
      <p:bldP spid="6349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内容占位符 2">
            <a:extLst>
              <a:ext uri="{FF2B5EF4-FFF2-40B4-BE49-F238E27FC236}">
                <a16:creationId xmlns:a16="http://schemas.microsoft.com/office/drawing/2014/main" id="{15B08DAB-85F1-412B-8A84-9D8EBCE914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5275" y="1046163"/>
            <a:ext cx="8634413" cy="3246437"/>
          </a:xfrm>
        </p:spPr>
        <p:txBody>
          <a:bodyPr/>
          <a:lstStyle/>
          <a:p>
            <a:pPr algn="l" eaLnBrk="1" hangingPunct="1"/>
            <a:r>
              <a:rPr lang="en-US" altLang="zh-CN" sz="2600" b="1">
                <a:solidFill>
                  <a:srgbClr val="FF0066"/>
                </a:solidFill>
                <a:latin typeface="Times New Roman" panose="02020603050405020304" pitchFamily="18" charset="0"/>
              </a:rPr>
              <a:t>4) CWD  </a:t>
            </a:r>
            <a:r>
              <a:rPr lang="zh-CN" altLang="en-US" sz="2600" b="1">
                <a:solidFill>
                  <a:srgbClr val="FF0066"/>
                </a:solidFill>
                <a:latin typeface="Times New Roman" panose="02020603050405020304" pitchFamily="18" charset="0"/>
              </a:rPr>
              <a:t>把字转换成双字指令</a:t>
            </a:r>
            <a:r>
              <a:rPr lang="en-US" altLang="zh-CN" sz="2600">
                <a:solidFill>
                  <a:srgbClr val="FF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>
                <a:latin typeface="Times New Roman" panose="02020603050405020304" pitchFamily="18" charset="0"/>
              </a:rPr>
              <a:t> (Convert Word to Double Word)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指令格式：</a:t>
            </a:r>
            <a:r>
              <a:rPr lang="en-US" altLang="zh-CN" sz="2600">
                <a:latin typeface="Times New Roman" panose="02020603050405020304" pitchFamily="18" charset="0"/>
              </a:rPr>
              <a:t> CWD</a:t>
            </a:r>
            <a:endParaRPr lang="zh-CN" altLang="en-US" sz="260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600">
                <a:latin typeface="Times New Roman" panose="02020603050405020304" pitchFamily="18" charset="0"/>
              </a:rPr>
              <a:t>指令功能： 把</a:t>
            </a:r>
            <a:r>
              <a:rPr lang="en-US" altLang="zh-CN" sz="2600">
                <a:latin typeface="Times New Roman" panose="02020603050405020304" pitchFamily="18" charset="0"/>
              </a:rPr>
              <a:t>AX</a:t>
            </a:r>
            <a:r>
              <a:rPr lang="zh-CN" altLang="en-US" sz="2600">
                <a:latin typeface="Times New Roman" panose="02020603050405020304" pitchFamily="18" charset="0"/>
              </a:rPr>
              <a:t>中字的符号位扩充到</a:t>
            </a:r>
            <a:r>
              <a:rPr lang="en-US" altLang="zh-CN" sz="2600">
                <a:latin typeface="Times New Roman" panose="02020603050405020304" pitchFamily="18" charset="0"/>
              </a:rPr>
              <a:t>DX</a:t>
            </a:r>
            <a:r>
              <a:rPr lang="zh-CN" altLang="en-US" sz="2600">
                <a:latin typeface="Times New Roman" panose="02020603050405020304" pitchFamily="18" charset="0"/>
              </a:rPr>
              <a:t>寄存器的所有位中去。</a:t>
            </a: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AX</a:t>
            </a:r>
            <a:r>
              <a:rPr lang="zh-CN" altLang="en-US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en-US" altLang="zh-CN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D15=0</a:t>
            </a:r>
            <a:r>
              <a:rPr lang="zh-CN" altLang="en-US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DX←0000H</a:t>
            </a:r>
            <a:r>
              <a:rPr lang="zh-CN" altLang="en-US" sz="26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</a:p>
          <a:p>
            <a:pPr algn="l" eaLnBrk="1" hangingPunct="1"/>
            <a:endParaRPr lang="zh-CN" altLang="en-US" sz="2600"/>
          </a:p>
          <a:p>
            <a:pPr algn="l" eaLnBrk="1" hangingPunct="1"/>
            <a:endParaRPr lang="zh-CN" altLang="en-US" sz="2600"/>
          </a:p>
        </p:txBody>
      </p:sp>
      <p:pic>
        <p:nvPicPr>
          <p:cNvPr id="64515" name="Picture 2">
            <a:extLst>
              <a:ext uri="{FF2B5EF4-FFF2-40B4-BE49-F238E27FC236}">
                <a16:creationId xmlns:a16="http://schemas.microsoft.com/office/drawing/2014/main" id="{2281F674-3800-4F10-A2CC-A9D56CB9A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4095750"/>
            <a:ext cx="7556500" cy="75565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6" name="Picture 3">
            <a:extLst>
              <a:ext uri="{FF2B5EF4-FFF2-40B4-BE49-F238E27FC236}">
                <a16:creationId xmlns:a16="http://schemas.microsoft.com/office/drawing/2014/main" id="{4F605EFF-AC7F-4921-A8DE-F1ACC9149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5829300"/>
            <a:ext cx="7645400" cy="75565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7" name="矩形 4">
            <a:extLst>
              <a:ext uri="{FF2B5EF4-FFF2-40B4-BE49-F238E27FC236}">
                <a16:creationId xmlns:a16="http://schemas.microsoft.com/office/drawing/2014/main" id="{FA66D1FF-5DAC-4073-B5D7-A8FEDD127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" y="5073650"/>
            <a:ext cx="70675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FF00"/>
              </a:buClr>
              <a:buFont typeface="Arial" panose="020B0604020202020204" pitchFamily="34" charset="0"/>
              <a:buChar char="l"/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  若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AX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中的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D15=1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，则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DX←FFFFH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Times New Roman" panose="02020603050405020304" pitchFamily="18" charset="0"/>
              </a:rPr>
              <a:t>，即</a:t>
            </a:r>
            <a:endParaRPr lang="zh-CN" altLang="en-US" sz="24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2" name="标题 1">
            <a:extLst>
              <a:ext uri="{FF2B5EF4-FFF2-40B4-BE49-F238E27FC236}">
                <a16:creationId xmlns:a16="http://schemas.microsoft.com/office/drawing/2014/main" id="{FE55BDC5-C537-4144-A766-CD9B745B26E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3619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除法指令</a:t>
            </a: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>
            <a:extLst>
              <a:ext uri="{FF2B5EF4-FFF2-40B4-BE49-F238E27FC236}">
                <a16:creationId xmlns:a16="http://schemas.microsoft.com/office/drawing/2014/main" id="{E3C13B4B-43F4-456C-9FA1-15CEBB848C3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5085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4400" b="1">
                <a:solidFill>
                  <a:srgbClr val="FF0066"/>
                </a:solidFill>
              </a:rPr>
              <a:t>4. </a:t>
            </a:r>
            <a:r>
              <a:rPr lang="zh-CN" altLang="en-US" sz="4400" b="1">
                <a:solidFill>
                  <a:srgbClr val="FF0066"/>
                </a:solidFill>
              </a:rPr>
              <a:t>除法指令</a:t>
            </a:r>
          </a:p>
        </p:txBody>
      </p:sp>
      <p:sp>
        <p:nvSpPr>
          <p:cNvPr id="65539" name="内容占位符 2">
            <a:extLst>
              <a:ext uri="{FF2B5EF4-FFF2-40B4-BE49-F238E27FC236}">
                <a16:creationId xmlns:a16="http://schemas.microsoft.com/office/drawing/2014/main" id="{3239E7AB-6946-43DF-8177-359E07C44E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314450"/>
            <a:ext cx="8186738" cy="5175250"/>
          </a:xfrm>
        </p:spPr>
        <p:txBody>
          <a:bodyPr/>
          <a:lstStyle/>
          <a:p>
            <a:pPr algn="l" eaLnBrk="1" hangingPunct="1"/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3.62 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编程求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-38/3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的商和余数</a:t>
            </a:r>
          </a:p>
          <a:p>
            <a:pPr algn="l" eaLnBrk="1" hangingPunct="1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 </a:t>
            </a:r>
            <a:r>
              <a:rPr lang="en-US" altLang="zh-CN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MOV    AL</a:t>
            </a:r>
            <a:r>
              <a:rPr lang="zh-CN" altLang="en-US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11011010B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；被除数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-38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 </a:t>
            </a:r>
            <a:r>
              <a:rPr lang="en-US" altLang="zh-CN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MOV    CH</a:t>
            </a:r>
            <a:r>
              <a:rPr lang="zh-CN" altLang="en-US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00000011B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；除数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+3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 </a:t>
            </a:r>
            <a:r>
              <a:rPr lang="en-US" altLang="zh-CN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CBW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符号扩展到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中</a:t>
            </a:r>
          </a:p>
          <a:p>
            <a:pPr algn="l" eaLnBrk="1" hangingPunct="1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；使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AX=1111 1111  1101 1010B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en-US" altLang="zh-CN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IDIV    CH	</a:t>
            </a:r>
            <a:r>
              <a:rPr lang="zh-CN" altLang="en-US" sz="26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AX/CH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AL=1111 0100B = -12 (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商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)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AH=1111 1110B = -2(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余数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)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endParaRPr lang="zh-CN" altLang="en-US" sz="2600" dirty="0"/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微机模板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4646"/>
    </a:dk2>
    <a:lt2>
      <a:srgbClr val="E1F0FF"/>
    </a:lt2>
    <a:accent1>
      <a:srgbClr val="50742F"/>
    </a:accent1>
    <a:accent2>
      <a:srgbClr val="268868"/>
    </a:accent2>
    <a:accent3>
      <a:srgbClr val="AAB0B0"/>
    </a:accent3>
    <a:accent4>
      <a:srgbClr val="DADADA"/>
    </a:accent4>
    <a:accent5>
      <a:srgbClr val="B3BCAD"/>
    </a:accent5>
    <a:accent6>
      <a:srgbClr val="217B5E"/>
    </a:accent6>
    <a:hlink>
      <a:srgbClr val="D9BE02"/>
    </a:hlink>
    <a:folHlink>
      <a:srgbClr val="F900F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Pages>0</Pages>
  <Words>2547</Words>
  <Characters>0</Characters>
  <Application>Microsoft Office PowerPoint</Application>
  <DocSecurity>0</DocSecurity>
  <PresentationFormat>全屏显示(4:3)</PresentationFormat>
  <Lines>0</Lines>
  <Paragraphs>485</Paragraphs>
  <Slides>61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6" baseType="lpstr">
      <vt:lpstr>方正姚体</vt:lpstr>
      <vt:lpstr>黑体</vt:lpstr>
      <vt:lpstr>华文中宋</vt:lpstr>
      <vt:lpstr>楷体</vt:lpstr>
      <vt:lpstr>楷体_GB2312</vt:lpstr>
      <vt:lpstr>宋体</vt:lpstr>
      <vt:lpstr>Arial</vt:lpstr>
      <vt:lpstr>Garamond</vt:lpstr>
      <vt:lpstr>Symbol</vt:lpstr>
      <vt:lpstr>Times New Roman</vt:lpstr>
      <vt:lpstr>Wingdings</vt:lpstr>
      <vt:lpstr>Wingdings 3</vt:lpstr>
      <vt:lpstr>微机模板</vt:lpstr>
      <vt:lpstr>default</vt:lpstr>
      <vt:lpstr>Microsoft Visio 2003-2010 Drawing</vt:lpstr>
      <vt:lpstr>PowerPoint 演示文稿</vt:lpstr>
      <vt:lpstr>§3.2  指令机器码的概念</vt:lpstr>
      <vt:lpstr>什么是机器码</vt:lpstr>
      <vt:lpstr>指令学习小伙伴</vt:lpstr>
      <vt:lpstr>§3.3  8086的指令系统</vt:lpstr>
      <vt:lpstr>§3.3  8086的指令系统</vt:lpstr>
      <vt:lpstr>3.3.1 数据传送指令</vt:lpstr>
      <vt:lpstr>1. 通用数据传送指令 (General Purpose Data Transfer) </vt:lpstr>
      <vt:lpstr>1) MOV指令</vt:lpstr>
      <vt:lpstr>什么是数据段？（提前学点伪指令）</vt:lpstr>
      <vt:lpstr>数据段</vt:lpstr>
      <vt:lpstr>1）MOV指令</vt:lpstr>
      <vt:lpstr>1）MOV指令</vt:lpstr>
      <vt:lpstr>1. 通用数据传送指令</vt:lpstr>
      <vt:lpstr>1. 通用数据传送指令</vt:lpstr>
      <vt:lpstr>PowerPoint 演示文稿</vt:lpstr>
      <vt:lpstr>1. 通用数据传送指令</vt:lpstr>
      <vt:lpstr>1. 通用数据传送指令</vt:lpstr>
      <vt:lpstr>查表的实现</vt:lpstr>
      <vt:lpstr>PowerPoint 演示文稿</vt:lpstr>
      <vt:lpstr>2. 输入输出指令 (Input and Output)</vt:lpstr>
      <vt:lpstr>2. 输入输出指令举例</vt:lpstr>
      <vt:lpstr>2. 输入输出指令举例</vt:lpstr>
      <vt:lpstr>2. 输入输出指令</vt:lpstr>
      <vt:lpstr>2. 输入输出指令</vt:lpstr>
      <vt:lpstr>3. 地址目标传送指令(Address Object Transfers)</vt:lpstr>
      <vt:lpstr>PowerPoint 演示文稿</vt:lpstr>
      <vt:lpstr>PowerPoint 演示文稿</vt:lpstr>
      <vt:lpstr>PowerPoint 演示文稿</vt:lpstr>
      <vt:lpstr>4. 标志传送指令(Flag Transfers)</vt:lpstr>
      <vt:lpstr>PowerPoint 演示文稿</vt:lpstr>
      <vt:lpstr>PowerPoint 演示文稿</vt:lpstr>
      <vt:lpstr>§3.3  8086的指令系统</vt:lpstr>
      <vt:lpstr>3.3.2  算术运算指令</vt:lpstr>
      <vt:lpstr>3.3.2  算术运算指令</vt:lpstr>
      <vt:lpstr>算术运算指令</vt:lpstr>
      <vt:lpstr>算术运算指令</vt:lpstr>
      <vt:lpstr>PowerPoint 演示文稿</vt:lpstr>
      <vt:lpstr>PowerPoint 演示文稿</vt:lpstr>
      <vt:lpstr>PowerPoint 演示文稿</vt:lpstr>
      <vt:lpstr>例3.41</vt:lpstr>
      <vt:lpstr>1. 加法指令</vt:lpstr>
      <vt:lpstr>1. 加法指令</vt:lpstr>
      <vt:lpstr>2. 减法指令  (Subtraction)</vt:lpstr>
      <vt:lpstr>2. 减法指令</vt:lpstr>
      <vt:lpstr>2. 减法指令</vt:lpstr>
      <vt:lpstr>2. 减法指令</vt:lpstr>
      <vt:lpstr>2. 减法指令</vt:lpstr>
      <vt:lpstr>3. 乘法指令 (Multiply)</vt:lpstr>
      <vt:lpstr>3. 乘法指令</vt:lpstr>
      <vt:lpstr>3. 乘法指令</vt:lpstr>
      <vt:lpstr>PowerPoint 演示文稿</vt:lpstr>
      <vt:lpstr>PowerPoint 演示文稿</vt:lpstr>
      <vt:lpstr>4. 除法指令   (Division)</vt:lpstr>
      <vt:lpstr>4. 除法指令--无符号数</vt:lpstr>
      <vt:lpstr>4. 除法指令--有符号数</vt:lpstr>
      <vt:lpstr>4. 除法指令溢出举例</vt:lpstr>
      <vt:lpstr>4. 除法指令</vt:lpstr>
      <vt:lpstr>4. 除法指令</vt:lpstr>
      <vt:lpstr>4. 除法指令</vt:lpstr>
      <vt:lpstr>4. 除法指令</vt:lpstr>
    </vt:vector>
  </TitlesOfParts>
  <Manager/>
  <Company>UESTC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7.2 8253的应用</dc:title>
  <dc:subject/>
  <dc:creator>冯周</dc:creator>
  <cp:keywords/>
  <dc:description/>
  <cp:lastModifiedBy>Hong Zhang</cp:lastModifiedBy>
  <cp:revision>541</cp:revision>
  <dcterms:created xsi:type="dcterms:W3CDTF">2003-06-02T01:23:00Z</dcterms:created>
  <dcterms:modified xsi:type="dcterms:W3CDTF">2024-03-11T02:17:31Z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