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6" r:id="rId3"/>
  </p:sldMasterIdLst>
  <p:notesMasterIdLst>
    <p:notesMasterId r:id="rId60"/>
  </p:notesMasterIdLst>
  <p:sldIdLst>
    <p:sldId id="369" r:id="rId4"/>
    <p:sldId id="1208" r:id="rId5"/>
    <p:sldId id="256" r:id="rId6"/>
    <p:sldId id="511" r:id="rId7"/>
    <p:sldId id="512" r:id="rId8"/>
    <p:sldId id="1209" r:id="rId9"/>
    <p:sldId id="513" r:id="rId10"/>
    <p:sldId id="881" r:id="rId11"/>
    <p:sldId id="1214" r:id="rId12"/>
    <p:sldId id="882" r:id="rId13"/>
    <p:sldId id="1166" r:id="rId14"/>
    <p:sldId id="1024" r:id="rId15"/>
    <p:sldId id="510" r:id="rId16"/>
    <p:sldId id="364" r:id="rId17"/>
    <p:sldId id="371" r:id="rId18"/>
    <p:sldId id="1212" r:id="rId19"/>
    <p:sldId id="1167" r:id="rId20"/>
    <p:sldId id="257" r:id="rId21"/>
    <p:sldId id="258" r:id="rId22"/>
    <p:sldId id="259" r:id="rId23"/>
    <p:sldId id="265" r:id="rId24"/>
    <p:sldId id="1210" r:id="rId25"/>
    <p:sldId id="260" r:id="rId26"/>
    <p:sldId id="267" r:id="rId27"/>
    <p:sldId id="268" r:id="rId28"/>
    <p:sldId id="269" r:id="rId29"/>
    <p:sldId id="270" r:id="rId30"/>
    <p:sldId id="373" r:id="rId31"/>
    <p:sldId id="271" r:id="rId32"/>
    <p:sldId id="272" r:id="rId33"/>
    <p:sldId id="370" r:id="rId34"/>
    <p:sldId id="1168" r:id="rId35"/>
    <p:sldId id="275" r:id="rId36"/>
    <p:sldId id="1211" r:id="rId37"/>
    <p:sldId id="374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655" r:id="rId46"/>
    <p:sldId id="283" r:id="rId47"/>
    <p:sldId id="656" r:id="rId48"/>
    <p:sldId id="769" r:id="rId49"/>
    <p:sldId id="1170" r:id="rId50"/>
    <p:sldId id="284" r:id="rId51"/>
    <p:sldId id="397" r:id="rId52"/>
    <p:sldId id="379" r:id="rId53"/>
    <p:sldId id="380" r:id="rId54"/>
    <p:sldId id="654" r:id="rId55"/>
    <p:sldId id="381" r:id="rId56"/>
    <p:sldId id="1213" r:id="rId57"/>
    <p:sldId id="657" r:id="rId58"/>
    <p:sldId id="383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7C80"/>
    <a:srgbClr val="00FF00"/>
    <a:srgbClr val="FF6600"/>
    <a:srgbClr val="66CCFF"/>
    <a:srgbClr val="66FF66"/>
    <a:srgbClr val="FCF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8" autoAdjust="0"/>
    <p:restoredTop sz="76400" autoAdjust="0"/>
  </p:normalViewPr>
  <p:slideViewPr>
    <p:cSldViewPr>
      <p:cViewPr varScale="1">
        <p:scale>
          <a:sx n="51" d="100"/>
          <a:sy n="51" d="100"/>
        </p:scale>
        <p:origin x="17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2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AA05-0E8F-4B30-90EB-221DAE72111C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4D7E3-6717-4005-851D-679C6E0D92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60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此处可以提到计算机系的</a:t>
            </a:r>
            <a:r>
              <a:rPr lang="en-US" altLang="zh-CN" dirty="0"/>
              <a:t>《</a:t>
            </a:r>
            <a:r>
              <a:rPr lang="zh-CN" altLang="en-US" dirty="0"/>
              <a:t>计算机组成原理</a:t>
            </a:r>
            <a:r>
              <a:rPr lang="en-US" altLang="zh-CN" dirty="0"/>
              <a:t>》</a:t>
            </a:r>
            <a:r>
              <a:rPr lang="zh-CN" altLang="en-US" dirty="0"/>
              <a:t>课程；可以提到关于数字电路基础知识部分：基本组合逻辑电路，三态门，</a:t>
            </a:r>
            <a:r>
              <a:rPr lang="en-US" altLang="zh-CN" dirty="0"/>
              <a:t>D</a:t>
            </a:r>
            <a:r>
              <a:rPr lang="zh-CN" altLang="en-US" dirty="0"/>
              <a:t>触发器，编码器，译码器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7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此处可以提到计算机系的</a:t>
            </a:r>
            <a:r>
              <a:rPr lang="en-US" altLang="zh-CN" dirty="0"/>
              <a:t>《</a:t>
            </a:r>
            <a:r>
              <a:rPr lang="zh-CN" altLang="en-US" dirty="0"/>
              <a:t>计算机组成原理</a:t>
            </a:r>
            <a:r>
              <a:rPr lang="en-US" altLang="zh-CN" dirty="0"/>
              <a:t>》</a:t>
            </a:r>
            <a:r>
              <a:rPr lang="zh-CN" altLang="en-US" dirty="0"/>
              <a:t>课程；可以提到关于数字电路基础知识部分：基本组合逻辑电路，三态门，</a:t>
            </a:r>
            <a:r>
              <a:rPr lang="en-US" altLang="zh-CN" dirty="0"/>
              <a:t>D</a:t>
            </a:r>
            <a:r>
              <a:rPr lang="zh-CN" altLang="en-US" dirty="0"/>
              <a:t>触发器，编码器，译码器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773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关于“难”</a:t>
            </a:r>
            <a:r>
              <a:rPr lang="en-US" altLang="zh-CN" dirty="0"/>
              <a:t>——</a:t>
            </a:r>
            <a:r>
              <a:rPr lang="zh-CN" altLang="en-US" dirty="0"/>
              <a:t>本科同学学微机原理觉得难的故事；</a:t>
            </a:r>
            <a:endParaRPr lang="en-US" altLang="zh-CN" dirty="0"/>
          </a:p>
          <a:p>
            <a:r>
              <a:rPr lang="zh-CN" altLang="en-US" dirty="0"/>
              <a:t>关于基础的问题</a:t>
            </a:r>
            <a:r>
              <a:rPr lang="en-US" altLang="zh-CN" dirty="0"/>
              <a:t>——2007</a:t>
            </a:r>
            <a:r>
              <a:rPr lang="zh-CN" altLang="en-US" dirty="0"/>
              <a:t>年卢剑的故事；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01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（本章内容大家已经在计算机概论课程中有所涉及，但有些内容非常必要加强和巩固，特别是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节。）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380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这里应该板书提示；以后应该加点图示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144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8</a:t>
            </a:r>
            <a:r>
              <a:rPr lang="zh-CN" altLang="en-US" dirty="0"/>
              <a:t>为数为例讲解：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、数字在计算机里面的实际状态：一串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1---</a:t>
            </a:r>
            <a:r>
              <a:rPr lang="zh-CN" altLang="en-US" dirty="0"/>
              <a:t>电路状态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、怎么来表示这串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1----</a:t>
            </a:r>
            <a:r>
              <a:rPr lang="zh-CN" altLang="en-US" dirty="0"/>
              <a:t>二进制、八进制、十进制、十六进制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、程序员给这串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赋予的意义</a:t>
            </a:r>
            <a:r>
              <a:rPr lang="en-US" altLang="zh-CN" dirty="0"/>
              <a:t>——</a:t>
            </a:r>
            <a:r>
              <a:rPr lang="zh-CN" altLang="en-US" dirty="0"/>
              <a:t>以</a:t>
            </a:r>
            <a:r>
              <a:rPr lang="en-US" altLang="zh-CN" dirty="0"/>
              <a:t>C</a:t>
            </a:r>
            <a:r>
              <a:rPr lang="zh-CN" altLang="en-US" dirty="0"/>
              <a:t>语言的</a:t>
            </a:r>
            <a:r>
              <a:rPr lang="en-US" altLang="zh-CN" dirty="0"/>
              <a:t>int</a:t>
            </a:r>
            <a:r>
              <a:rPr lang="zh-CN" altLang="en-US" dirty="0"/>
              <a:t>和</a:t>
            </a:r>
            <a:r>
              <a:rPr lang="en-US" altLang="zh-CN" dirty="0" err="1"/>
              <a:t>uint</a:t>
            </a:r>
            <a:r>
              <a:rPr lang="zh-CN" altLang="en-US" dirty="0"/>
              <a:t>来讲解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999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为了和变量的命名相区分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220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500034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357166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285728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2910" y="500042"/>
            <a:ext cx="7776000" cy="917596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7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/>
  <p:txStyles>
    <p:titleStyle>
      <a:lvl1pPr algn="ctr" rtl="0" eaLnBrk="1" latinLnBrk="0" hangingPunct="1">
        <a:spcBef>
          <a:spcPct val="0"/>
        </a:spcBef>
        <a:buNone/>
        <a:defRPr kumimoji="0" lang="zh-CN" altLang="en-US" sz="3600" b="1" kern="1200" spc="50" dirty="0">
          <a:ln w="12700">
            <a:noFill/>
            <a:prstDash val="solid"/>
          </a:ln>
          <a:solidFill>
            <a:schemeClr val="tx1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楷体_GB2312" panose="02010609030101010101" pitchFamily="49" charset="-122"/>
          <a:ea typeface="楷体_GB2312" panose="02010609030101010101" pitchFamily="49" charset="-122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2800" b="1" kern="1200">
          <a:solidFill>
            <a:srgbClr val="FFFF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黑体" panose="02010609060101010101" pitchFamily="2" charset="-122"/>
          <a:cs typeface="Times New Roman" panose="02020603050405020304" pitchFamily="18" charset="0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600" b="1" kern="1200">
          <a:solidFill>
            <a:srgbClr val="FFFF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楷体_GB2312" panose="02010609030101010101" pitchFamily="49" charset="-122"/>
          <a:cs typeface="Times New Roman" panose="02020603050405020304" pitchFamily="18" charset="0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华文中宋" panose="02010600040101010101" pitchFamily="2" charset="-122"/>
          <a:cs typeface="Times New Roman" panose="02020603050405020304" pitchFamily="18" charset="0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63B7-6BDA-4589-9F08-21186ABD36D1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jpeg"/><Relationship Id="rId9" Type="http://schemas.openxmlformats.org/officeDocument/2006/relationships/image" Target="../media/image15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95536" y="5129808"/>
            <a:ext cx="8077200" cy="1728192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                                                                    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/>
            <a:r>
              <a:rPr lang="zh-CN" altLang="en-US" sz="3900" dirty="0"/>
              <a:t>                                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14282" y="571480"/>
            <a:ext cx="8534400" cy="571504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微型计算机原理与接口技术</a:t>
            </a:r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》</a:t>
            </a:r>
          </a:p>
          <a:p>
            <a:pPr algn="ctr"/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Microcomputer principle and interface technology </a:t>
            </a:r>
          </a:p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张  洪</a:t>
            </a:r>
          </a:p>
          <a:p>
            <a:pPr algn="ctr"/>
            <a:endParaRPr lang="zh-CN" altLang="en-US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人工智能与自动化学院</a:t>
            </a:r>
          </a:p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测量系</a:t>
            </a: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华文隶书" panose="0201080004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华文隶书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959485" y="1818640"/>
            <a:ext cx="6696075" cy="252793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教材</a:t>
            </a:r>
            <a:endParaRPr lang="zh-CN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0070C0"/>
              </a:solidFill>
              <a:effectLst/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教学内容</a:t>
            </a:r>
          </a:p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如何教和学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0235" y="1036320"/>
            <a:ext cx="34569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引言（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Foreword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1411286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教材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周荷琴，吴秀清，微型计算机原理与接口技术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（第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版）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，中国科学技术大学，20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13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.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3</a:t>
            </a:r>
          </a:p>
          <a:p>
            <a:pPr algn="l">
              <a:lnSpc>
                <a:spcPct val="150000"/>
              </a:lnSpc>
            </a:pPr>
            <a:r>
              <a:rPr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注：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版和第</a:t>
            </a:r>
            <a:r>
              <a:rPr lang="en-US" alt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版差别不大</a:t>
            </a:r>
            <a:endParaRPr lang="zh-CN" altLang="en-US" sz="2800" b="1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参考书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周佩玲等，16位微型计算机原理接口及其应用，中国科学技术大学，2002年</a:t>
            </a: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	郑学坚，微型计算机原理及应用，清华大学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出版社, 2002年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2420" y="748030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教材与参考书</a:t>
            </a:r>
          </a:p>
        </p:txBody>
      </p:sp>
    </p:spTree>
  </p:cSld>
  <p:clrMapOvr>
    <a:masterClrMapping/>
  </p:clrMapOvr>
  <p:transition spd="slow">
    <p:cover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887" y="1584625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2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理论与实践结合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两个教学分量</a:t>
            </a:r>
            <a:r>
              <a:rPr lang="zh-CN" altLang="en-US" sz="2800" dirty="0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</a:t>
            </a:r>
            <a:endParaRPr lang="zh-CN" altLang="en-US" sz="2800" dirty="0">
              <a:solidFill>
                <a:srgbClr val="FFFFFF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课堂教学（</a:t>
            </a:r>
            <a:r>
              <a:rPr lang="en-US" altLang="x-none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40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课时）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zh-CN" altLang="en-US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marL="457200" lvl="0" indent="-4572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实验（</a:t>
            </a:r>
            <a:r>
              <a:rPr lang="en-US" altLang="x-none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16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学时）        </a:t>
            </a:r>
          </a:p>
          <a:p>
            <a:pPr lvl="0">
              <a:buClr>
                <a:srgbClr val="000000"/>
              </a:buClr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共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4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次，预计第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8~11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周，每周一次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lvl="0">
              <a:lnSpc>
                <a:spcPct val="150000"/>
              </a:lnSpc>
              <a:buClr>
                <a:srgbClr val="000000"/>
              </a:buClr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请学习委员提前和中心实验室老师预约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lvl="0">
              <a:lnSpc>
                <a:spcPct val="150000"/>
              </a:lnSpc>
              <a:buClr>
                <a:srgbClr val="000000"/>
              </a:buClr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    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刘老师：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15071138273	</a:t>
            </a:r>
            <a:endParaRPr lang="zh-CN" altLang="en-US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宋体" panose="02010600030101010101" pitchFamily="2" charset="-122"/>
            </a:endParaRPr>
          </a:p>
          <a:p>
            <a:pPr lvl="0">
              <a:buClr>
                <a:srgbClr val="000000"/>
              </a:buClr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endParaRPr sz="28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6544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2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教学与实验安排</a:t>
            </a:r>
          </a:p>
        </p:txBody>
      </p:sp>
    </p:spTree>
  </p:cSld>
  <p:clrMapOvr>
    <a:masterClrMapping/>
  </p:clrMapOvr>
  <p:transition spd="slow">
    <p:cover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490855" y="1659890"/>
            <a:ext cx="8534400" cy="302323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16位Intel 8086微处理器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为主线，介绍微型计算机的组成、系统结构、指令系统、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汇编程序设计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、接口电路设计及其应用的课程。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</a:t>
            </a:r>
            <a:endParaRPr sz="28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课堂教学内容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C5A830-90A4-4311-86F8-6D24B65E37E4}"/>
              </a:ext>
            </a:extLst>
          </p:cNvPr>
          <p:cNvSpPr/>
          <p:nvPr/>
        </p:nvSpPr>
        <p:spPr>
          <a:xfrm>
            <a:off x="1763688" y="3861048"/>
            <a:ext cx="67687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1978</a:t>
            </a:r>
            <a:r>
              <a:rPr lang="zh-CN" altLang="en-US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INTEL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推出了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8086 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微处理器 ，主频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4.77MHz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，采用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寄存器 、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数据总线 和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29000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微米技术 的 晶体管 ，标志着第三代微处理器问世。 售价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美元。</a:t>
            </a:r>
            <a:endParaRPr lang="zh-CN" altLang="en-US" sz="2800" dirty="0"/>
          </a:p>
        </p:txBody>
      </p:sp>
      <p:pic>
        <p:nvPicPr>
          <p:cNvPr id="1028" name="Picture 4" descr="https://bkimg.cdn.bcebos.com/pic/c9d4cf437dffd63e72f05d46?x-bce-process=image/format,f_auto/watermark,image_d2F0ZXIvYmFpa2UyNzI,g_7,xp_5,yp_5,P_20/resize,m_lfit,limit_1,h_1080">
            <a:extLst>
              <a:ext uri="{FF2B5EF4-FFF2-40B4-BE49-F238E27FC236}">
                <a16:creationId xmlns:a16="http://schemas.microsoft.com/office/drawing/2014/main" id="{289FC76C-22EE-4B18-8B2D-6B3AECE3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845324"/>
            <a:ext cx="4476750" cy="265747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755576" y="1132840"/>
            <a:ext cx="8388424" cy="5219700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章节安排：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zh-CN" altLang="en-US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</a:t>
            </a:r>
            <a:r>
              <a:rPr lang="zh-CN" altLang="en-US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绪论（重在数的表示，特别是补码的表示）</a:t>
            </a:r>
            <a:endParaRPr lang="en-US" altLang="zh-CN" sz="2600" dirty="0">
              <a:solidFill>
                <a:srgbClr val="FFC000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2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8086CPU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3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8086的寻址方式和指令系统（课堂教学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+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自学，笔记本电脑都有吗？）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4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汇编语言程序设计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（课堂教学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+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自学）</a:t>
            </a:r>
            <a:endParaRPr lang="zh-CN" altLang="en-US" sz="2600" dirty="0">
              <a:solidFill>
                <a:srgbClr val="C00000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5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存储器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2" charset="0"/>
              </a:rPr>
              <a:t>（内容少，却不可或缺）</a:t>
            </a:r>
            <a:endParaRPr lang="zh-CN" altLang="en-US" sz="2600" dirty="0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* 第6章  I/O接口和并行接口芯片8255A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7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可编程计数器／定时器8253/8254及其应用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8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中断和可编程中断控制器8259A（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8259A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不讲）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</a:t>
            </a:r>
            <a:endParaRPr sz="26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课堂教学内容</a:t>
            </a:r>
          </a:p>
        </p:txBody>
      </p:sp>
    </p:spTree>
  </p:cSld>
  <p:clrMapOvr>
    <a:masterClrMapping/>
  </p:clrMapOvr>
  <p:transition spd="slow">
    <p:cover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1844824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1：为什么会选择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16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位8086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CP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U？</a:t>
            </a:r>
          </a:p>
          <a:p>
            <a:pPr algn="l">
              <a:buNone/>
            </a:pPr>
            <a:r>
              <a:rPr lang="zh-CN" altLang="en-US" sz="2800" dirty="0">
                <a:sym typeface="Arial" panose="020B0604020202020204" pitchFamily="34" charset="0"/>
              </a:rPr>
              <a:t>           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0000FF"/>
                </a:solidFill>
                <a:sym typeface="Arial" panose="020B0604020202020204" pitchFamily="34" charset="0"/>
              </a:rPr>
              <a:t>降低入门难度</a:t>
            </a:r>
            <a:r>
              <a:rPr lang="zh-CN" altLang="en-US" sz="3200" b="1" dirty="0">
                <a:solidFill>
                  <a:srgbClr val="0000FF"/>
                </a:solidFill>
                <a:sym typeface="+mn-ea"/>
              </a:rPr>
              <a:t>；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  <a:p>
            <a:r>
              <a:rPr lang="zh-CN" altLang="en-US" sz="2800" dirty="0">
                <a:sym typeface="+mn-ea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“对于intel 80x86系列微处理器，由于属于</a:t>
            </a:r>
            <a:r>
              <a:rPr lang="zh-CN" altLang="en-US" sz="2800" dirty="0">
                <a:solidFill>
                  <a:srgbClr val="FF0000"/>
                </a:solidFill>
                <a:ea typeface="仿宋_GB2312" panose="02010609030101010101" pitchFamily="49" charset="-122"/>
                <a:sym typeface="+mn-ea"/>
              </a:rPr>
              <a:t>复杂指令集计算机（</a:t>
            </a:r>
            <a:r>
              <a:rPr lang="zh-CN" altLang="en-US" sz="28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CISC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: </a:t>
            </a:r>
            <a:r>
              <a:rPr lang="en-US" altLang="zh-CN" sz="2800" dirty="0">
                <a:solidFill>
                  <a:srgbClr val="C00000"/>
                </a:solidFill>
              </a:rPr>
              <a:t>Complex Instruction Set Computer</a:t>
            </a:r>
            <a:r>
              <a:rPr lang="zh-CN" altLang="en-US" sz="2800" dirty="0">
                <a:solidFill>
                  <a:srgbClr val="FF0000"/>
                </a:solidFill>
                <a:ea typeface="仿宋_GB2312" panose="02010609030101010101" pitchFamily="49" charset="-122"/>
                <a:sym typeface="+mn-ea"/>
              </a:rPr>
              <a:t>）</a:t>
            </a: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，再加上几十年发展的历史沉淀，因此它的指令系统非常庞大和复杂。...学生会面对繁杂的指令望而却步、失去进一步学习的兴趣。”     </a:t>
            </a:r>
            <a:endParaRPr lang="zh-CN" altLang="en-US" sz="2800" dirty="0">
              <a:solidFill>
                <a:schemeClr val="tx2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         ——摘自钱晓捷《汇编语言程序设计》第4版</a:t>
            </a:r>
          </a:p>
          <a:p>
            <a:pPr>
              <a:buNone/>
            </a:pP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   所以：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从基础的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16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位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8086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开始学习</a:t>
            </a:r>
          </a:p>
          <a:p>
            <a:pPr>
              <a:buNone/>
            </a:pP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              旨在降低入门难度。</a:t>
            </a:r>
            <a:endParaRPr lang="en-US" altLang="zh-CN" sz="2800" dirty="0">
              <a:solidFill>
                <a:srgbClr val="C00000"/>
              </a:solidFill>
              <a:ea typeface="仿宋_GB2312" panose="02010609030101010101" pitchFamily="49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rgbClr val="C00000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endParaRPr sz="24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50863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）正本清源：回答几个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4077072"/>
            <a:ext cx="8534400" cy="3154751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endParaRPr lang="zh-CN" altLang="en-US" sz="2400" dirty="0">
              <a:solidFill>
                <a:srgbClr val="C00000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2：学习目的是什么？学到什么程度？</a:t>
            </a:r>
            <a:endParaRPr lang="zh-CN" altLang="en-US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         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  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打好基础</a:t>
            </a:r>
            <a:r>
              <a:rPr lang="en-US" altLang="zh-CN" sz="2800" dirty="0"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使用汇编语言编程，嵌入式系统硬件设计入门；</a:t>
            </a:r>
            <a:endParaRPr lang="en-US" altLang="zh-CN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*掌握了基础知识后，进一步学习其他系统，如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ARM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DSP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RISC-V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等系统将水到渠成。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应用为先</a:t>
            </a:r>
            <a:r>
              <a:rPr lang="en-US" altLang="zh-CN" sz="2800" dirty="0"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用计算机为测量和控制服务，不是设计计算机，这是</a:t>
            </a:r>
            <a:r>
              <a:rPr lang="zh-CN" altLang="zh-CN" sz="2800" dirty="0">
                <a:sym typeface="+mn-ea"/>
              </a:rPr>
              <a:t>自动化专业特点决定的。</a:t>
            </a:r>
          </a:p>
          <a:p>
            <a:r>
              <a:rPr lang="zh-CN" altLang="zh-CN" sz="2800" dirty="0">
                <a:sym typeface="+mn-ea"/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*计算机专业一般学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《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计算机组成原理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》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，和本课程有些类似，是以</a:t>
            </a:r>
            <a:r>
              <a:rPr lang="zh-CN" altLang="en-US" sz="2400" b="1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设计计算机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为主旨教授。</a:t>
            </a:r>
            <a:endParaRPr lang="en-US" altLang="zh-CN" sz="2400" dirty="0">
              <a:solidFill>
                <a:srgbClr val="0000FF"/>
              </a:solidFill>
              <a:ea typeface="仿宋_GB2312" panose="02010609030101010101" pitchFamily="49" charset="-122"/>
              <a:sym typeface="+mn-ea"/>
            </a:endParaRPr>
          </a:p>
          <a:p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            </a:t>
            </a:r>
          </a:p>
          <a:p>
            <a:r>
              <a:rPr lang="en-US" altLang="zh-CN" sz="2400" dirty="0">
                <a:ea typeface="仿宋_GB2312" panose="02010609030101010101" pitchFamily="49" charset="-122"/>
                <a:sym typeface="+mn-ea"/>
              </a:rPr>
              <a:t>            </a:t>
            </a:r>
            <a:r>
              <a:rPr lang="zh-CN" altLang="en-US" sz="2400" dirty="0">
                <a:ea typeface="仿宋_GB2312" panose="02010609030101010101" pitchFamily="49" charset="-122"/>
                <a:sym typeface="+mn-ea"/>
              </a:rPr>
              <a:t>那么：学完本课程能不能学习</a:t>
            </a:r>
            <a:r>
              <a:rPr lang="en-US" altLang="zh-CN" sz="2400" dirty="0">
                <a:ea typeface="仿宋_GB2312" panose="02010609030101010101" pitchFamily="49" charset="-122"/>
                <a:sym typeface="+mn-ea"/>
              </a:rPr>
              <a:t>CPU</a:t>
            </a:r>
            <a:r>
              <a:rPr lang="zh-CN" altLang="en-US" sz="2400" dirty="0">
                <a:ea typeface="仿宋_GB2312" panose="02010609030101010101" pitchFamily="49" charset="-122"/>
                <a:sym typeface="+mn-ea"/>
              </a:rPr>
              <a:t>芯片设计呢？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endParaRPr lang="zh-CN" altLang="zh-CN" sz="2800" dirty="0">
              <a:sym typeface="+mn-ea"/>
            </a:endParaRPr>
          </a:p>
          <a:p>
            <a:pPr>
              <a:buNone/>
            </a:pPr>
            <a:r>
              <a:rPr lang="zh-CN" altLang="zh-CN" sz="2800" dirty="0">
                <a:sym typeface="+mn-ea"/>
              </a:rPr>
              <a:t>         </a:t>
            </a: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 </a:t>
            </a:r>
            <a:endParaRPr lang="zh-CN" altLang="en-US" sz="24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4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2282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377825" y="2924944"/>
            <a:ext cx="8534400" cy="2518177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endParaRPr lang="zh-CN" altLang="en-US" sz="2400" dirty="0">
              <a:solidFill>
                <a:srgbClr val="C00000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FAQ-3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：现在有了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AI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大模型，还有必要学微机原理这样的课程吗？</a:t>
            </a:r>
            <a:endParaRPr lang="zh-CN" altLang="en-US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         </a:t>
            </a:r>
            <a:endParaRPr lang="zh-CN" altLang="en-US" sz="2800" dirty="0">
              <a:sym typeface="+mn-ea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想问下大家怎么认识的？</a:t>
            </a:r>
            <a:endParaRPr lang="zh-CN" altLang="zh-CN" sz="2800" dirty="0">
              <a:sym typeface="+mn-ea"/>
            </a:endParaRPr>
          </a:p>
          <a:p>
            <a:pPr>
              <a:buNone/>
            </a:pPr>
            <a:r>
              <a:rPr lang="zh-CN" altLang="zh-CN" sz="2800" dirty="0">
                <a:sym typeface="+mn-ea"/>
              </a:rPr>
              <a:t>         </a:t>
            </a: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 </a:t>
            </a:r>
            <a:endParaRPr lang="zh-CN" altLang="en-US" sz="24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4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2282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  <p:extLst>
      <p:ext uri="{BB962C8B-B14F-4D97-AF65-F5344CB8AC3E}">
        <p14:creationId xmlns:p14="http://schemas.microsoft.com/office/powerpoint/2010/main" val="4283560150"/>
      </p:ext>
    </p:extLst>
  </p:cSld>
  <p:clrMapOvr>
    <a:masterClrMapping/>
  </p:clrMapOvr>
  <p:transition spd="slow">
    <p:cover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377825" y="980728"/>
            <a:ext cx="8534400" cy="3456384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FAQ-4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：怎么学习？</a:t>
            </a:r>
          </a:p>
          <a:p>
            <a:pPr algn="l">
              <a:buNone/>
            </a:pPr>
            <a:endParaRPr lang="zh-CN" altLang="en-US" sz="24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对本课程认识：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绝对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难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，相对“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易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！</a:t>
            </a:r>
          </a:p>
          <a:p>
            <a:pPr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想最后一星期搞定？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不可能！</a:t>
            </a: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  我基础差能不能学？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绝对没问题！</a:t>
            </a:r>
          </a:p>
          <a:p>
            <a:pPr>
              <a:buNone/>
            </a:pPr>
            <a:r>
              <a:rPr lang="en-US" altLang="zh-CN" sz="2400" b="1" dirty="0">
                <a:sym typeface="+mn-ea"/>
              </a:rPr>
              <a:t>	      </a:t>
            </a:r>
            <a:r>
              <a:rPr lang="zh-CN" altLang="en-US" sz="2400" b="1" dirty="0">
                <a:sym typeface="+mn-ea"/>
              </a:rPr>
              <a:t>听课</a:t>
            </a:r>
            <a:r>
              <a:rPr lang="en-US" altLang="zh-CN" sz="2400" b="1" dirty="0">
                <a:sym typeface="+mn-ea"/>
              </a:rPr>
              <a:t>+</a:t>
            </a:r>
            <a:r>
              <a:rPr lang="zh-CN" altLang="en-US" sz="2400" b="1" dirty="0">
                <a:sym typeface="+mn-ea"/>
              </a:rPr>
              <a:t>做练习</a:t>
            </a:r>
            <a:r>
              <a:rPr lang="en-US" altLang="zh-CN" sz="2400" b="1" dirty="0">
                <a:sym typeface="+mn-ea"/>
              </a:rPr>
              <a:t>+</a:t>
            </a:r>
            <a:r>
              <a:rPr lang="zh-CN" altLang="en-US" sz="2400" b="1" dirty="0">
                <a:sym typeface="+mn-ea"/>
              </a:rPr>
              <a:t>动手实验（</a:t>
            </a:r>
            <a:r>
              <a:rPr lang="zh-CN" altLang="en-US" sz="2400" dirty="0">
                <a:sym typeface="+mn-ea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Emu8086，实验课</a:t>
            </a:r>
            <a:r>
              <a:rPr lang="zh-CN" altLang="en-US" sz="2400" b="1" dirty="0">
                <a:sym typeface="+mn-ea"/>
              </a:rPr>
              <a:t>）；</a:t>
            </a:r>
          </a:p>
          <a:p>
            <a:pPr lvl="1" indent="0">
              <a:buNone/>
            </a:pPr>
            <a:r>
              <a:rPr lang="en-US" altLang="zh-CN" sz="2400" b="1" dirty="0">
                <a:sym typeface="+mn-ea"/>
              </a:rPr>
              <a:t>	      </a:t>
            </a:r>
            <a:r>
              <a:rPr lang="zh-CN" altLang="en-US" sz="2400" b="1" dirty="0">
                <a:sym typeface="+mn-ea"/>
              </a:rPr>
              <a:t>理解的基础上记忆</a:t>
            </a:r>
            <a:r>
              <a:rPr lang="en-US" altLang="zh-CN" sz="2400" b="1" dirty="0">
                <a:sym typeface="+mn-ea"/>
              </a:rPr>
              <a:t>——</a:t>
            </a:r>
            <a:r>
              <a:rPr lang="zh-CN" altLang="en-US" sz="2400" b="1" dirty="0">
                <a:sym typeface="+mn-ea"/>
              </a:rPr>
              <a:t>切勿死记硬背</a:t>
            </a:r>
            <a:endParaRPr lang="en-US" altLang="zh-CN" sz="24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7A7CD5-F244-4985-B05C-B6F3DA157431}"/>
              </a:ext>
            </a:extLst>
          </p:cNvPr>
          <p:cNvSpPr/>
          <p:nvPr/>
        </p:nvSpPr>
        <p:spPr>
          <a:xfrm>
            <a:off x="1835696" y="4702990"/>
            <a:ext cx="64801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>
                <a:sym typeface="+mn-ea"/>
              </a:rPr>
              <a:t>*</a:t>
            </a:r>
            <a:r>
              <a:rPr lang="zh-CN" altLang="en-US" sz="2400" b="1" dirty="0">
                <a:sym typeface="+mn-ea"/>
              </a:rPr>
              <a:t>学会按机器的逻辑思考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FF0066"/>
                </a:solidFill>
                <a:sym typeface="+mn-ea"/>
              </a:rPr>
              <a:t>  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如果我要是机器，我要怎么做，为什么这么做？ </a:t>
            </a:r>
            <a:r>
              <a:rPr lang="zh-CN" altLang="en-US" sz="2400" b="1" dirty="0">
                <a:sym typeface="+mn-ea"/>
              </a:rPr>
              <a:t>*如何记指令</a:t>
            </a:r>
          </a:p>
          <a:p>
            <a:r>
              <a:rPr lang="zh-CN" altLang="en-US" sz="2400" b="1" dirty="0">
                <a:sym typeface="+mn-ea"/>
              </a:rPr>
              <a:t>  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结合英文原意来记忆：例如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指令</a:t>
            </a: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516890" y="1407795"/>
            <a:ext cx="8534400" cy="4169410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8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5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：关于考试</a:t>
            </a:r>
          </a:p>
          <a:p>
            <a:pPr algn="l">
              <a:buNone/>
            </a:pPr>
            <a:endParaRPr lang="zh-CN" altLang="en-US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全院统考，闭卷</a:t>
            </a:r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卷面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60%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；</a:t>
            </a:r>
            <a:endParaRPr lang="en-US" altLang="zh-CN" sz="2800" dirty="0">
              <a:solidFill>
                <a:srgbClr val="FF0066"/>
              </a:solidFill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实验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15%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平时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25%——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作业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+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课堂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+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小测验（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5%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）        </a:t>
            </a: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8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941705" y="2143125"/>
            <a:ext cx="7679690" cy="471487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老师我会怎么做？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认真备课；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小测验；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课堂习题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	   	    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欢迎提问讨论：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教学相长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（课堂：可以随时提问，也可课下提问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               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QQ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：</a:t>
            </a: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596541290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；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            邮件：</a:t>
            </a: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sunracer@hust.edu.cn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）</a:t>
            </a: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8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214282" y="928670"/>
            <a:ext cx="8534400" cy="4714908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第</a:t>
            </a:r>
            <a:r>
              <a:rPr lang="en-US" altLang="zh-CN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章  绪 论</a:t>
            </a:r>
          </a:p>
          <a:p>
            <a:pPr algn="ctr"/>
            <a:r>
              <a:rPr lang="en-US" altLang="zh-CN" sz="4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Chapter One: Introduction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10" y="1071546"/>
            <a:ext cx="8229600" cy="4714908"/>
          </a:xfrm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lang="zh-CN" altLang="en-US" sz="49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本章主要内容</a:t>
            </a:r>
            <a:r>
              <a:rPr lang="en-US" altLang="zh-CN" sz="49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br>
              <a:rPr lang="en-US" altLang="zh-CN" sz="4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r>
              <a:rPr 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重点</a:t>
            </a:r>
            <a:r>
              <a:rPr 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)</a:t>
            </a:r>
            <a:b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§1.2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计算机的基本结构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（部分）</a:t>
            </a:r>
            <a:b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§1.3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微型计算机结构和系统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（略）</a:t>
            </a:r>
            <a:b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§1.4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微型计算机的发展概况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（略）</a:t>
            </a:r>
            <a:b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endParaRPr 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1000108"/>
            <a:ext cx="7776000" cy="917596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endParaRPr lang="zh-CN" altLang="en-US" sz="4000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5852" y="2428868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1000108"/>
            <a:ext cx="7776000" cy="917596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endParaRPr lang="zh-CN" altLang="en-US" sz="4000" dirty="0">
              <a:solidFill>
                <a:schemeClr val="tx2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842B04-6EEC-415C-AAE5-92C03F9BE67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31640" y="2088576"/>
            <a:ext cx="5841664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>
              <a:buNone/>
            </a:pP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 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友情提示：关于计算机的数据</a:t>
            </a:r>
            <a:endParaRPr lang="en-US" altLang="zh-C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81412C8-5DB3-4AE1-80A6-F1ED2EC693B1}"/>
              </a:ext>
            </a:extLst>
          </p:cNvPr>
          <p:cNvSpPr txBox="1">
            <a:spLocks/>
          </p:cNvSpPr>
          <p:nvPr/>
        </p:nvSpPr>
        <p:spPr>
          <a:xfrm>
            <a:off x="1475656" y="3068678"/>
            <a:ext cx="7344816" cy="34566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状态</a:t>
            </a:r>
            <a:r>
              <a:rPr lang="zh-CN" altLang="en-US" sz="2800" dirty="0"/>
              <a:t>：数字在计算机里面的</a:t>
            </a:r>
            <a:r>
              <a:rPr lang="zh-CN" altLang="en-US" sz="2800" dirty="0">
                <a:highlight>
                  <a:srgbClr val="FFFF00"/>
                </a:highlight>
              </a:rPr>
              <a:t>实际状态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一串“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”</a:t>
            </a:r>
            <a:r>
              <a:rPr lang="en-US" altLang="zh-CN" sz="2800" dirty="0"/>
              <a:t>---</a:t>
            </a:r>
            <a:r>
              <a:rPr lang="zh-CN" altLang="en-US" sz="2800" dirty="0"/>
              <a:t>电路状态</a:t>
            </a:r>
            <a:r>
              <a:rPr lang="en-US" altLang="zh-CN" sz="2800" dirty="0"/>
              <a:t>---</a:t>
            </a:r>
            <a:r>
              <a:rPr lang="zh-CN" altLang="en-US" sz="2800" dirty="0"/>
              <a:t>高低电平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表示</a:t>
            </a:r>
            <a:r>
              <a:rPr lang="zh-CN" altLang="en-US" sz="2800" dirty="0"/>
              <a:t>：怎么来</a:t>
            </a:r>
            <a:r>
              <a:rPr lang="zh-CN" altLang="en-US" sz="2800" dirty="0">
                <a:highlight>
                  <a:srgbClr val="FFFF00"/>
                </a:highlight>
              </a:rPr>
              <a:t>表示</a:t>
            </a:r>
            <a:r>
              <a:rPr lang="zh-CN" altLang="en-US" sz="2800" dirty="0"/>
              <a:t>这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一串“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”</a:t>
            </a:r>
            <a:endParaRPr lang="en-US" altLang="zh-CN" sz="2800" u="wavyDbl" dirty="0">
              <a:uFill>
                <a:solidFill>
                  <a:srgbClr val="FF0000"/>
                </a:solidFill>
              </a:uFill>
              <a:latin typeface="仿宋_GB231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dirty="0"/>
              <a:t>二进制、八进制、十进制、十六进制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意义</a:t>
            </a:r>
            <a:r>
              <a:rPr lang="zh-CN" altLang="en-US" sz="2800" dirty="0"/>
              <a:t>：</a:t>
            </a:r>
            <a:r>
              <a:rPr lang="zh-CN" altLang="en-US" sz="2800" b="1" dirty="0">
                <a:solidFill>
                  <a:srgbClr val="0000FF"/>
                </a:solidFill>
              </a:rPr>
              <a:t>程序员</a:t>
            </a:r>
            <a:r>
              <a:rPr lang="zh-CN" altLang="en-US" sz="2800" dirty="0"/>
              <a:t>赋予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这串“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”</a:t>
            </a:r>
            <a:r>
              <a:rPr lang="zh-CN" altLang="en-US" sz="2800" u="wavyDbl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zh-CN" altLang="en-US" sz="2800" dirty="0">
                <a:highlight>
                  <a:srgbClr val="FFFF00"/>
                </a:highlight>
              </a:rPr>
              <a:t>意义：编码</a:t>
            </a:r>
            <a:endParaRPr lang="en-US" altLang="zh-CN" sz="2800" dirty="0">
              <a:highlight>
                <a:srgbClr val="FFFF00"/>
              </a:highlight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dirty="0"/>
              <a:t>如</a:t>
            </a:r>
            <a:r>
              <a:rPr lang="en-US" altLang="zh-CN" sz="2800" dirty="0"/>
              <a:t>C</a:t>
            </a:r>
            <a:r>
              <a:rPr lang="zh-CN" altLang="en-US" sz="2800" dirty="0"/>
              <a:t>语言的</a:t>
            </a:r>
            <a:r>
              <a:rPr lang="en-US" altLang="zh-CN" sz="2800" dirty="0"/>
              <a:t>int</a:t>
            </a:r>
            <a:r>
              <a:rPr lang="zh-CN" altLang="en-US" sz="2800" dirty="0"/>
              <a:t>和</a:t>
            </a:r>
            <a:r>
              <a:rPr lang="en-US" altLang="zh-CN" sz="2800" dirty="0"/>
              <a:t>unsigned int</a:t>
            </a:r>
          </a:p>
          <a:p>
            <a:pPr>
              <a:spcBef>
                <a:spcPts val="3000"/>
              </a:spcBef>
              <a:buFont typeface="Arial" panose="020B0604020202020204" pitchFamily="34" charset="0"/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394937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1.1.1  </a:t>
            </a:r>
            <a:r>
              <a:rPr lang="zh-CN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进位计数制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00174"/>
            <a:ext cx="8229600" cy="5143536"/>
          </a:xfrm>
        </p:spPr>
        <p:txBody>
          <a:bodyPr>
            <a:normAutofit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zh-CN" sz="2800" b="1" dirty="0"/>
              <a:t>用一组固定的数字符号和特定的规则来表示数的方法</a:t>
            </a:r>
            <a:r>
              <a:rPr lang="zh-CN" altLang="en-US" sz="2800" b="1" dirty="0"/>
              <a:t>，称为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进位计数制</a:t>
            </a:r>
            <a:r>
              <a:rPr lang="zh-CN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Clr>
                <a:srgbClr val="C00000"/>
              </a:buClr>
              <a:buSzPct val="85000"/>
              <a:buNone/>
            </a:pPr>
            <a:r>
              <a:rPr lang="en-US" altLang="zh-CN" dirty="0">
                <a:latin typeface="黑体" panose="02010609060101010101" pitchFamily="2" charset="-122"/>
              </a:rPr>
              <a:t>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平时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人们习惯上常使用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r>
              <a:rPr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进制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也可用其它进制，如</a:t>
            </a:r>
            <a:r>
              <a:rPr lang="zh-CN" altLang="en-US" dirty="0">
                <a:latin typeface="黑体" panose="02010609060101010101" pitchFamily="2" charset="-122"/>
              </a:rPr>
              <a:t>：</a:t>
            </a:r>
            <a:endParaRPr lang="en-US" altLang="zh-CN" dirty="0">
              <a:latin typeface="黑体" panose="02010609060101010101" pitchFamily="2" charset="-122"/>
            </a:endParaRPr>
          </a:p>
          <a:p>
            <a:pPr marL="363855" indent="0">
              <a:buClr>
                <a:srgbClr val="C00000"/>
              </a:buClr>
              <a:buNone/>
            </a:pPr>
            <a:r>
              <a:rPr lang="en-US" altLang="zh-CN" sz="2800" b="1" dirty="0">
                <a:solidFill>
                  <a:srgbClr val="FF7C80"/>
                </a:solidFill>
                <a:ea typeface="楷体_GB2312" panose="02010609030101010101" pitchFamily="49" charset="-122"/>
              </a:rPr>
              <a:t>    60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进制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分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秒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FF7C80"/>
                </a:solidFill>
                <a:ea typeface="楷体_GB2312" panose="02010609030101010101" pitchFamily="49" charset="-122"/>
              </a:rPr>
              <a:t>24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进制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天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小时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)</a:t>
            </a:r>
          </a:p>
          <a:p>
            <a:pPr algn="just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endParaRPr lang="en-US" altLang="zh-CN" sz="2800" b="1" dirty="0"/>
          </a:p>
        </p:txBody>
      </p:sp>
    </p:spTree>
  </p:cSld>
  <p:clrMapOvr>
    <a:masterClrMapping/>
  </p:clrMapOvr>
  <p:transition spd="slow">
    <p:strips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1.1.1  </a:t>
            </a:r>
            <a:r>
              <a:rPr lang="zh-CN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进位计数制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00174"/>
            <a:ext cx="8229600" cy="5143536"/>
          </a:xfrm>
        </p:spPr>
        <p:txBody>
          <a:bodyPr>
            <a:normAutofit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800" b="1" dirty="0"/>
              <a:t>计算机中，采用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zh-CN" altLang="en-US" sz="2800" b="1" dirty="0"/>
              <a:t>和</a:t>
            </a:r>
            <a:r>
              <a:rPr lang="en-US" altLang="zh-CN" sz="2800" b="1" dirty="0">
                <a:solidFill>
                  <a:srgbClr val="00B0F0"/>
                </a:solidFill>
              </a:rPr>
              <a:t>1</a:t>
            </a:r>
            <a:r>
              <a:rPr lang="zh-CN" altLang="en-US" sz="2800" b="1" dirty="0"/>
              <a:t>来表示数字、</a:t>
            </a:r>
            <a:r>
              <a:rPr lang="zh-CN" altLang="zh-CN" sz="2800" b="1" dirty="0"/>
              <a:t>字母、符号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图形</a:t>
            </a:r>
            <a:r>
              <a:rPr lang="zh-CN" altLang="en-US" sz="2800" b="1" dirty="0"/>
              <a:t>等。</a:t>
            </a:r>
            <a:endParaRPr lang="en-US" altLang="zh-CN" sz="2800" b="1" dirty="0"/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原因：</a:t>
            </a:r>
            <a:r>
              <a:rPr lang="zh-CN" altLang="en-US" b="1" dirty="0">
                <a:ea typeface="楷体_GB2312" panose="02010609030101010101" pitchFamily="49" charset="-122"/>
              </a:rPr>
              <a:t>数字计算机是电子设备（由数字逻辑电路组成），即两种状态</a:t>
            </a:r>
            <a:r>
              <a:rPr lang="en-US" altLang="zh-CN" b="1" dirty="0">
                <a:ea typeface="楷体_GB2312" panose="02010609030101010101" pitchFamily="49" charset="-122"/>
              </a:rPr>
              <a:t>0</a:t>
            </a:r>
            <a:r>
              <a:rPr lang="zh-CN" altLang="en-US" b="1" dirty="0">
                <a:ea typeface="楷体_GB2312" panose="02010609030101010101" pitchFamily="49" charset="-122"/>
              </a:rPr>
              <a:t>和</a:t>
            </a:r>
            <a:r>
              <a:rPr lang="en-US" altLang="zh-CN" b="1" dirty="0">
                <a:ea typeface="楷体_GB2312" panose="02010609030101010101" pitchFamily="49" charset="-122"/>
              </a:rPr>
              <a:t>1</a:t>
            </a:r>
            <a:r>
              <a:rPr lang="zh-CN" altLang="en-US" b="1" dirty="0">
                <a:ea typeface="楷体_GB2312" panose="02010609030101010101" pitchFamily="49" charset="-122"/>
              </a:rPr>
              <a:t>。</a:t>
            </a:r>
            <a:endParaRPr lang="en-US" altLang="zh-CN" b="1" dirty="0">
              <a:ea typeface="楷体_GB2312" panose="0201060903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缺点：</a:t>
            </a:r>
            <a:r>
              <a:rPr lang="zh-CN" altLang="en-US" b="1" dirty="0">
                <a:ea typeface="楷体_GB2312" panose="02010609030101010101" pitchFamily="49" charset="-122"/>
              </a:rPr>
              <a:t>从人的观点来看，二进制太长，不便书写和记忆。</a:t>
            </a: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sz="2800" b="1" dirty="0"/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解决方案：</a:t>
            </a:r>
            <a:r>
              <a:rPr lang="zh-CN" altLang="en-US" b="1" dirty="0">
                <a:ea typeface="楷体_GB2312" panose="02010609030101010101" pitchFamily="49" charset="-122"/>
              </a:rPr>
              <a:t>人和计算机</a:t>
            </a:r>
            <a:r>
              <a:rPr lang="zh-CN" altLang="en-US" sz="3200" b="1" dirty="0">
                <a:ea typeface="楷体_GB2312" panose="02010609030101010101" pitchFamily="49" charset="-122"/>
              </a:rPr>
              <a:t>间折中</a:t>
            </a:r>
            <a:r>
              <a:rPr lang="en-US" altLang="zh-CN" sz="3200" b="1" dirty="0">
                <a:ea typeface="楷体_GB2312" panose="02010609030101010101" pitchFamily="49" charset="-122"/>
              </a:rPr>
              <a:t>——</a:t>
            </a:r>
            <a:endParaRPr lang="zh-CN" altLang="en-US" sz="3200" b="1" dirty="0">
              <a:ea typeface="楷体_GB2312" panose="0201060903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zh-CN" altLang="en-US" sz="3200" b="1" dirty="0">
                <a:ea typeface="楷体_GB2312" panose="02010609030101010101" pitchFamily="49" charset="-122"/>
              </a:rPr>
              <a:t>                                              </a:t>
            </a:r>
            <a:r>
              <a:rPr lang="zh-CN" altLang="en-US" b="1" dirty="0">
                <a:solidFill>
                  <a:srgbClr val="0000FF"/>
                </a:solidFill>
                <a:ea typeface="楷体_GB2312" panose="02010609030101010101" pitchFamily="49" charset="-122"/>
                <a:sym typeface="+mn-ea"/>
              </a:rPr>
              <a:t>十六</a:t>
            </a:r>
            <a:r>
              <a:rPr lang="zh-CN" altLang="en-US" sz="3200" b="1" dirty="0">
                <a:solidFill>
                  <a:srgbClr val="0000FF"/>
                </a:solidFill>
                <a:ea typeface="楷体_GB2312" panose="02010609030101010101" pitchFamily="49" charset="-122"/>
              </a:rPr>
              <a:t>进制</a:t>
            </a:r>
          </a:p>
        </p:txBody>
      </p:sp>
    </p:spTree>
  </p:cSld>
  <p:clrMapOvr>
    <a:masterClrMapping/>
  </p:clrMapOvr>
  <p:transition spd="slow">
    <p:strips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428604"/>
            <a:ext cx="7776000" cy="928694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sz="32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不同进制的数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SzPct val="90000"/>
              <a:buNone/>
            </a:pPr>
            <a:r>
              <a:rPr lang="en-US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进制数（</a:t>
            </a:r>
            <a:r>
              <a:rPr lang="en-US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Denary</a:t>
            </a:r>
            <a:r>
              <a:rPr lang="zh-CN" altLang="en-US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3200" dirty="0">
                <a:solidFill>
                  <a:srgbClr val="0070C0"/>
                </a:solidFill>
                <a:highlight>
                  <a:srgbClr val="FFFF00"/>
                </a:highlight>
                <a:ea typeface="楷体_GB2312" panose="02010609030101010101" pitchFamily="49" charset="-122"/>
              </a:rPr>
              <a:t>Decimal</a:t>
            </a:r>
            <a:r>
              <a:rPr lang="zh-CN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）</a:t>
            </a:r>
            <a:endParaRPr lang="en-US" altLang="zh-CN" sz="32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dirty="0"/>
              <a:t>10</a:t>
            </a:r>
            <a:r>
              <a:rPr lang="zh-CN" altLang="zh-CN" dirty="0"/>
              <a:t>个数字</a:t>
            </a:r>
            <a:r>
              <a:rPr lang="en-US" altLang="zh-CN" dirty="0"/>
              <a:t>0</a:t>
            </a:r>
            <a:r>
              <a:rPr lang="zh-CN" altLang="zh-CN" dirty="0"/>
              <a:t>～</a:t>
            </a:r>
            <a:r>
              <a:rPr lang="en-US" altLang="zh-CN" dirty="0"/>
              <a:t>9</a:t>
            </a:r>
            <a:r>
              <a:rPr lang="zh-CN" altLang="zh-CN" dirty="0"/>
              <a:t>，基数为</a:t>
            </a:r>
            <a:r>
              <a:rPr lang="en-US" altLang="zh-CN" dirty="0"/>
              <a:t>10</a:t>
            </a:r>
            <a:r>
              <a:rPr lang="zh-CN" altLang="zh-CN" dirty="0"/>
              <a:t>，各位权值</a:t>
            </a:r>
            <a:r>
              <a:rPr lang="en-US" altLang="zh-CN" dirty="0"/>
              <a:t>10</a:t>
            </a:r>
            <a:r>
              <a:rPr lang="en-US" altLang="zh-CN" b="1" baseline="30000" dirty="0">
                <a:ea typeface="GungsuhChe" pitchFamily="49" charset="-127"/>
              </a:rPr>
              <a:t>i</a:t>
            </a:r>
            <a:endParaRPr lang="en-US" altLang="zh-CN" baseline="30000" dirty="0">
              <a:ea typeface="GungsuhChe" pitchFamily="49" charset="-127"/>
            </a:endParaRPr>
          </a:p>
          <a:p>
            <a:pPr>
              <a:buClr>
                <a:srgbClr val="C00000"/>
              </a:buClr>
              <a:buSzPct val="90000"/>
              <a:buNone/>
            </a:pPr>
            <a:r>
              <a:rPr lang="en-US" altLang="zh-CN" baseline="30000" dirty="0">
                <a:ea typeface="GungsuhChe" pitchFamily="49" charset="-127"/>
              </a:rPr>
              <a:t> </a:t>
            </a:r>
            <a:r>
              <a:rPr lang="en-US" altLang="zh-CN" dirty="0">
                <a:ea typeface="GungsuhChe" pitchFamily="49" charset="-127"/>
              </a:rPr>
              <a:t>          </a:t>
            </a:r>
            <a:r>
              <a:rPr lang="zh-CN" altLang="zh-CN" dirty="0"/>
              <a:t>实际值</a:t>
            </a:r>
            <a:r>
              <a:rPr lang="en-US" altLang="zh-CN" dirty="0"/>
              <a:t>=</a:t>
            </a:r>
            <a:r>
              <a:rPr lang="zh-CN" altLang="en-US" dirty="0"/>
              <a:t>按权</a:t>
            </a:r>
            <a:r>
              <a:rPr lang="zh-CN" altLang="zh-CN" dirty="0"/>
              <a:t>展开</a:t>
            </a:r>
            <a:r>
              <a:rPr lang="zh-CN" altLang="en-US" dirty="0"/>
              <a:t>再</a:t>
            </a:r>
            <a:r>
              <a:rPr lang="zh-CN" altLang="zh-CN" dirty="0"/>
              <a:t>相加</a:t>
            </a:r>
          </a:p>
          <a:p>
            <a:pPr>
              <a:buClr>
                <a:srgbClr val="C00000"/>
              </a:buClr>
              <a:buSzPct val="90000"/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Clr>
                <a:srgbClr val="C00000"/>
              </a:buClr>
              <a:buSzPct val="80000"/>
              <a:buNone/>
            </a:pPr>
            <a:r>
              <a:rPr lang="en-US" altLang="zh-CN" dirty="0"/>
              <a:t>       </a:t>
            </a:r>
            <a:r>
              <a:rPr lang="en-US" altLang="zh-CN" b="1" dirty="0">
                <a:solidFill>
                  <a:srgbClr val="00B0F0"/>
                </a:solidFill>
              </a:rPr>
              <a:t>347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0</a:t>
            </a:r>
          </a:p>
          <a:p>
            <a:pPr>
              <a:buClr>
                <a:srgbClr val="C00000"/>
              </a:buClr>
              <a:buSzPct val="80000"/>
              <a:buNone/>
            </a:pPr>
            <a:endParaRPr lang="en-US" altLang="zh-CN" baseline="30000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dirty="0"/>
              <a:t>10</a:t>
            </a:r>
            <a:r>
              <a:rPr lang="zh-CN" altLang="zh-CN" dirty="0"/>
              <a:t>进制数</a:t>
            </a:r>
            <a:r>
              <a:rPr lang="zh-CN" altLang="en-US" dirty="0"/>
              <a:t>的表示</a:t>
            </a:r>
            <a:endParaRPr lang="en-US" altLang="zh-CN" dirty="0"/>
          </a:p>
          <a:p>
            <a:pPr>
              <a:buClr>
                <a:srgbClr val="C00000"/>
              </a:buClr>
              <a:buSzPct val="80000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可</a:t>
            </a:r>
            <a:r>
              <a:rPr lang="zh-CN" altLang="zh-CN" dirty="0"/>
              <a:t>加后缀</a:t>
            </a:r>
            <a:r>
              <a:rPr lang="en-US" altLang="zh-CN" dirty="0"/>
              <a:t>D</a:t>
            </a:r>
            <a:r>
              <a:rPr lang="zh-CN" altLang="zh-CN" dirty="0"/>
              <a:t>，</a:t>
            </a:r>
            <a:r>
              <a:rPr lang="zh-CN" altLang="en-US" dirty="0"/>
              <a:t>如</a:t>
            </a:r>
            <a:r>
              <a:rPr lang="en-US" altLang="zh-CN" dirty="0"/>
              <a:t>347</a:t>
            </a:r>
            <a:r>
              <a:rPr lang="en-US" altLang="zh-CN" dirty="0">
                <a:solidFill>
                  <a:srgbClr val="FF7C80"/>
                </a:solidFill>
              </a:rPr>
              <a:t>D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en-US" altLang="zh-CN" dirty="0">
                <a:solidFill>
                  <a:srgbClr val="FF7C80"/>
                </a:solidFill>
              </a:rPr>
              <a:t>D</a:t>
            </a:r>
            <a:r>
              <a:rPr lang="zh-CN" altLang="en-US" dirty="0"/>
              <a:t>等，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但后缀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通常可以</a:t>
            </a:r>
            <a:r>
              <a:rPr lang="zh-C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省略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不写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06" y="211437"/>
            <a:ext cx="7704562" cy="1143000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二进制数（</a:t>
            </a:r>
            <a:r>
              <a:rPr lang="en-US" altLang="zh-CN" sz="32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054" y="1343045"/>
            <a:ext cx="8229600" cy="5110292"/>
          </a:xfrm>
        </p:spPr>
        <p:txBody>
          <a:bodyPr>
            <a:normAutofit lnSpcReduction="10000"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二进制数</a:t>
            </a:r>
            <a:r>
              <a:rPr lang="zh-CN" altLang="zh-CN" dirty="0"/>
              <a:t>只</a:t>
            </a:r>
            <a:r>
              <a:rPr lang="zh-CN" altLang="en-US" dirty="0"/>
              <a:t>包含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两个数字，基数为</a:t>
            </a:r>
            <a:r>
              <a:rPr lang="en-US" altLang="zh-CN" dirty="0"/>
              <a:t>2</a:t>
            </a:r>
            <a:r>
              <a:rPr lang="zh-CN" altLang="zh-CN" dirty="0"/>
              <a:t>，各位的权值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en-US" altLang="zh-CN" baseline="30000" dirty="0">
                <a:ea typeface="GungsuhChe" pitchFamily="49" charset="-127"/>
              </a:rPr>
              <a:t>i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二进制数</a:t>
            </a:r>
            <a:r>
              <a:rPr lang="zh-CN" altLang="zh-CN" dirty="0">
                <a:highlight>
                  <a:srgbClr val="FFFF00"/>
                </a:highlight>
              </a:rPr>
              <a:t>必须加后缀</a:t>
            </a:r>
            <a:r>
              <a:rPr lang="en-US" altLang="zh-CN" dirty="0">
                <a:solidFill>
                  <a:srgbClr val="FF7C80"/>
                </a:solidFill>
                <a:highlight>
                  <a:srgbClr val="FFFF00"/>
                </a:highlight>
              </a:rPr>
              <a:t>B</a:t>
            </a:r>
            <a:r>
              <a:rPr lang="zh-CN" altLang="zh-CN" dirty="0"/>
              <a:t>。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二进制数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en-US" altLang="zh-CN" dirty="0">
                <a:solidFill>
                  <a:srgbClr val="00B0F0"/>
                </a:solidFill>
              </a:rPr>
              <a:t>10110</a:t>
            </a:r>
            <a:r>
              <a:rPr lang="en-US" altLang="zh-CN" dirty="0">
                <a:solidFill>
                  <a:srgbClr val="FF7C80"/>
                </a:solidFill>
              </a:rPr>
              <a:t>B 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= 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4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3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2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0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baseline="30000" dirty="0">
                <a:solidFill>
                  <a:schemeClr val="tx1"/>
                </a:solidFill>
              </a:rPr>
              <a:t>                   </a:t>
            </a:r>
            <a:r>
              <a:rPr lang="en-US" altLang="zh-CN" dirty="0">
                <a:solidFill>
                  <a:schemeClr val="tx1"/>
                </a:solidFill>
              </a:rPr>
              <a:t>= 22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/>
              <a:t>          </a:t>
            </a:r>
            <a:r>
              <a:rPr lang="zh-CN" altLang="en-US" dirty="0"/>
              <a:t>可用</a:t>
            </a:r>
            <a:r>
              <a:rPr lang="en-US" altLang="zh-CN" dirty="0"/>
              <a:t>22</a:t>
            </a:r>
            <a:r>
              <a:rPr lang="zh-CN" altLang="en-US" dirty="0"/>
              <a:t>或</a:t>
            </a:r>
            <a:r>
              <a:rPr lang="en-US" altLang="zh-CN" dirty="0"/>
              <a:t>10110B</a:t>
            </a:r>
            <a:r>
              <a:rPr lang="zh-CN" altLang="en-US" dirty="0">
                <a:highlight>
                  <a:srgbClr val="FFFF00"/>
                </a:highlight>
              </a:rPr>
              <a:t>表示</a:t>
            </a:r>
            <a:r>
              <a:rPr lang="zh-CN" altLang="en-US" dirty="0"/>
              <a:t>计算机里的数</a:t>
            </a:r>
          </a:p>
        </p:txBody>
      </p:sp>
    </p:spTree>
  </p:cSld>
  <p:clrMapOvr>
    <a:masterClrMapping/>
  </p:clrMapOvr>
  <p:transition spd="slow">
    <p:strips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7633124" cy="917596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Hexadecimal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sz="2800" dirty="0"/>
              <a:t>由</a:t>
            </a:r>
            <a:r>
              <a:rPr lang="en-US" altLang="zh-CN" sz="2800" dirty="0"/>
              <a:t>0</a:t>
            </a:r>
            <a:r>
              <a:rPr lang="zh-CN" altLang="zh-CN" sz="2800" dirty="0"/>
              <a:t>～</a:t>
            </a:r>
            <a:r>
              <a:rPr lang="en-US" altLang="zh-CN" sz="2800" dirty="0"/>
              <a:t>9</a:t>
            </a:r>
            <a:r>
              <a:rPr lang="zh-CN" altLang="zh-CN" sz="2800" dirty="0"/>
              <a:t>、</a:t>
            </a:r>
            <a:r>
              <a:rPr lang="en-US" altLang="zh-CN" sz="2800" dirty="0"/>
              <a:t>A</a:t>
            </a:r>
            <a:r>
              <a:rPr lang="zh-CN" altLang="zh-CN" sz="2800" dirty="0"/>
              <a:t>、</a:t>
            </a:r>
            <a:r>
              <a:rPr lang="en-US" altLang="zh-CN" sz="2800" dirty="0"/>
              <a:t>B</a:t>
            </a:r>
            <a:r>
              <a:rPr lang="zh-CN" altLang="zh-CN" sz="2800" dirty="0"/>
              <a:t>、</a:t>
            </a:r>
            <a:r>
              <a:rPr lang="en-US" altLang="zh-CN" sz="2800" dirty="0"/>
              <a:t>C</a:t>
            </a:r>
            <a:r>
              <a:rPr lang="zh-CN" altLang="zh-CN" sz="2800" dirty="0"/>
              <a:t>、</a:t>
            </a:r>
            <a:r>
              <a:rPr lang="en-US" altLang="zh-CN" sz="2800" dirty="0"/>
              <a:t>D</a:t>
            </a:r>
            <a:r>
              <a:rPr lang="zh-CN" altLang="zh-CN" sz="2800" dirty="0"/>
              <a:t>、</a:t>
            </a:r>
            <a:r>
              <a:rPr lang="en-US" altLang="zh-CN" sz="2800" dirty="0"/>
              <a:t>E</a:t>
            </a:r>
            <a:r>
              <a:rPr lang="zh-CN" altLang="zh-CN" sz="2800" dirty="0"/>
              <a:t>、</a:t>
            </a:r>
            <a:r>
              <a:rPr lang="en-US" altLang="zh-CN" sz="2800" dirty="0"/>
              <a:t>F</a:t>
            </a:r>
            <a:r>
              <a:rPr lang="zh-CN" altLang="zh-CN" sz="2800" dirty="0"/>
              <a:t>共</a:t>
            </a:r>
            <a:r>
              <a:rPr lang="en-US" altLang="zh-CN" sz="2800" dirty="0"/>
              <a:t>16</a:t>
            </a:r>
            <a:r>
              <a:rPr lang="zh-CN" altLang="zh-CN" sz="2800" dirty="0"/>
              <a:t>个数字组成，数字</a:t>
            </a:r>
            <a:r>
              <a:rPr lang="en-US" altLang="zh-CN" sz="2800" dirty="0"/>
              <a:t>A</a:t>
            </a:r>
            <a:r>
              <a:rPr lang="zh-CN" altLang="zh-CN" sz="2800" dirty="0"/>
              <a:t>～</a:t>
            </a:r>
            <a:r>
              <a:rPr lang="en-US" altLang="zh-CN" sz="2800" dirty="0"/>
              <a:t>F</a:t>
            </a:r>
            <a:r>
              <a:rPr lang="zh-CN" altLang="zh-CN" sz="2800" dirty="0"/>
              <a:t>分别表示</a:t>
            </a:r>
            <a:r>
              <a:rPr lang="en-US" altLang="zh-CN" sz="2800" dirty="0"/>
              <a:t>10</a:t>
            </a:r>
            <a:r>
              <a:rPr lang="zh-CN" altLang="zh-CN" sz="2800" dirty="0"/>
              <a:t>进制的</a:t>
            </a:r>
            <a:r>
              <a:rPr lang="en-US" altLang="zh-CN" sz="2800" dirty="0"/>
              <a:t>10</a:t>
            </a:r>
            <a:r>
              <a:rPr lang="zh-CN" altLang="zh-CN" sz="2800" dirty="0"/>
              <a:t>～</a:t>
            </a:r>
            <a:r>
              <a:rPr lang="en-US" altLang="zh-CN" sz="2800" dirty="0"/>
              <a:t>15</a:t>
            </a:r>
            <a:r>
              <a:rPr lang="zh-CN" altLang="zh-CN" sz="2800" dirty="0"/>
              <a:t>。其基数为</a:t>
            </a:r>
            <a:r>
              <a:rPr lang="en-US" altLang="zh-CN" sz="2800" dirty="0"/>
              <a:t>16</a:t>
            </a:r>
            <a:r>
              <a:rPr lang="zh-CN" altLang="zh-CN" sz="2800" dirty="0"/>
              <a:t>，各位权值</a:t>
            </a:r>
            <a:r>
              <a:rPr lang="en-US" altLang="zh-CN" sz="2800" dirty="0"/>
              <a:t>16</a:t>
            </a:r>
            <a:r>
              <a:rPr lang="en-US" altLang="zh-CN" sz="2800" b="1" baseline="30000" dirty="0"/>
              <a:t>i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800" dirty="0"/>
              <a:t>16</a:t>
            </a:r>
            <a:r>
              <a:rPr lang="zh-CN" altLang="zh-CN" sz="2800" dirty="0"/>
              <a:t>进制数</a:t>
            </a:r>
            <a:r>
              <a:rPr lang="zh-CN" altLang="zh-CN" sz="2800" dirty="0">
                <a:highlight>
                  <a:srgbClr val="FFFF00"/>
                </a:highlight>
              </a:rPr>
              <a:t>必须加后缀</a:t>
            </a:r>
            <a:r>
              <a:rPr lang="en-US" altLang="zh-CN" sz="2800" dirty="0">
                <a:solidFill>
                  <a:srgbClr val="FF7C80"/>
                </a:solidFill>
                <a:highlight>
                  <a:srgbClr val="FFFF00"/>
                </a:highlight>
              </a:rPr>
              <a:t>H</a:t>
            </a:r>
            <a:r>
              <a:rPr lang="zh-CN" altLang="zh-CN" sz="2800" dirty="0"/>
              <a:t>。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zh-CN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sz="2800" dirty="0">
                <a:solidFill>
                  <a:srgbClr val="00B0F0"/>
                </a:solidFill>
              </a:rPr>
              <a:t>3A0F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>
                <a:solidFill>
                  <a:schemeClr val="tx1"/>
                </a:solidFill>
              </a:rPr>
              <a:t> =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F0"/>
                </a:solidFill>
              </a:rPr>
              <a:t>3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3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10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2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1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15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0  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en-US" altLang="zh-CN" sz="2800" baseline="30000" dirty="0">
                <a:solidFill>
                  <a:schemeClr val="tx1"/>
                </a:solidFill>
              </a:rPr>
              <a:t>                                        </a:t>
            </a:r>
            <a:r>
              <a:rPr lang="en-US" altLang="zh-CN" sz="2800" dirty="0">
                <a:solidFill>
                  <a:schemeClr val="tx1"/>
                </a:solidFill>
              </a:rPr>
              <a:t>= 3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4096 +10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256 +0 +15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                 = 14863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endParaRPr lang="zh-CN" altLang="zh-CN" sz="2800" dirty="0"/>
          </a:p>
          <a:p>
            <a:pPr>
              <a:spcBef>
                <a:spcPts val="800"/>
              </a:spcBef>
            </a:pP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1D9792-DD56-4DDC-B9C6-0B1A0B87B5BB}"/>
              </a:ext>
            </a:extLst>
          </p:cNvPr>
          <p:cNvSpPr/>
          <p:nvPr/>
        </p:nvSpPr>
        <p:spPr>
          <a:xfrm>
            <a:off x="1838450" y="5473005"/>
            <a:ext cx="684835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highlight>
                  <a:srgbClr val="FFFF00"/>
                </a:highlight>
              </a:rPr>
              <a:t>* </a:t>
            </a:r>
            <a:r>
              <a:rPr lang="zh-CN" altLang="en-US" sz="2800" dirty="0">
                <a:highlight>
                  <a:srgbClr val="FFFF00"/>
                </a:highlight>
              </a:rPr>
              <a:t>如果是字母开头的十六进制数，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en-US" altLang="zh-CN" sz="2800" dirty="0">
                <a:highlight>
                  <a:srgbClr val="FFFF00"/>
                </a:highlight>
              </a:rPr>
              <a:t>         </a:t>
            </a:r>
            <a:r>
              <a:rPr lang="zh-CN" altLang="en-US" sz="2800" dirty="0">
                <a:highlight>
                  <a:srgbClr val="FFFF00"/>
                </a:highlight>
              </a:rPr>
              <a:t>在编写程序时，还需在前面加</a:t>
            </a:r>
            <a:r>
              <a:rPr lang="en-US" altLang="zh-CN" sz="2800" dirty="0">
                <a:highlight>
                  <a:srgbClr val="FFFF00"/>
                </a:highlight>
              </a:rPr>
              <a:t>0</a:t>
            </a:r>
            <a:r>
              <a:rPr lang="zh-CN" altLang="en-US" sz="2800" dirty="0">
                <a:highlight>
                  <a:srgbClr val="FFFF00"/>
                </a:highlight>
              </a:rPr>
              <a:t>，如：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en-US" altLang="zh-CN" sz="2800" dirty="0"/>
              <a:t>          AFH</a:t>
            </a:r>
            <a:r>
              <a:rPr lang="zh-CN" altLang="en-US" sz="2800" dirty="0"/>
              <a:t>应写为：</a:t>
            </a:r>
            <a:r>
              <a:rPr lang="en-US" altLang="zh-CN" sz="2800" dirty="0"/>
              <a:t>0AFH</a:t>
            </a: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7633124" cy="917596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Hexadecimal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800" dirty="0"/>
              <a:t>一位</a:t>
            </a:r>
            <a:r>
              <a:rPr lang="en-US" altLang="zh-CN" sz="2800" dirty="0"/>
              <a:t>16</a:t>
            </a:r>
            <a:r>
              <a:rPr lang="zh-CN" altLang="zh-CN" sz="2800" dirty="0"/>
              <a:t>进制数字可用</a:t>
            </a:r>
            <a:r>
              <a:rPr lang="en-US" altLang="zh-CN" sz="2800" dirty="0"/>
              <a:t>4</a:t>
            </a:r>
            <a:r>
              <a:rPr lang="zh-CN" altLang="zh-CN" sz="2800" dirty="0"/>
              <a:t>位二进制数表示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zh-CN" altLang="en-US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 </a:t>
            </a:r>
            <a:r>
              <a:rPr lang="en-US" altLang="zh-CN" sz="2800" dirty="0"/>
              <a:t>0A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/>
              <a:t>=1010</a:t>
            </a:r>
            <a:r>
              <a:rPr lang="en-US" altLang="zh-CN" sz="2800" dirty="0">
                <a:solidFill>
                  <a:srgbClr val="FF7C80"/>
                </a:solidFill>
              </a:rPr>
              <a:t>B</a:t>
            </a:r>
            <a:r>
              <a:rPr lang="zh-CN" altLang="zh-CN" sz="2800" dirty="0"/>
              <a:t>，</a:t>
            </a:r>
            <a:r>
              <a:rPr lang="en-US" altLang="zh-CN" sz="2800" dirty="0"/>
              <a:t>0F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/>
              <a:t>=1111</a:t>
            </a:r>
            <a:r>
              <a:rPr lang="en-US" altLang="zh-CN" sz="2800" dirty="0">
                <a:solidFill>
                  <a:srgbClr val="FF7C80"/>
                </a:solidFill>
              </a:rPr>
              <a:t>B</a:t>
            </a:r>
            <a:endParaRPr lang="en-US" altLang="zh-CN" sz="2800" dirty="0">
              <a:ea typeface="楷体_GB2312" panose="02010609030101010101" pitchFamily="49" charset="-122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800" dirty="0"/>
              <a:t>16</a:t>
            </a:r>
            <a:r>
              <a:rPr lang="zh-CN" altLang="zh-CN" sz="2800" dirty="0"/>
              <a:t>进制数</a:t>
            </a:r>
            <a:r>
              <a:rPr lang="zh-CN" altLang="en-US" sz="2800" dirty="0"/>
              <a:t>的</a:t>
            </a:r>
            <a:r>
              <a:rPr lang="zh-CN" altLang="zh-CN" sz="2800" dirty="0"/>
              <a:t>长度只有二进制数的</a:t>
            </a:r>
            <a:r>
              <a:rPr lang="en-US" altLang="zh-CN" sz="2800" dirty="0"/>
              <a:t>1/4</a:t>
            </a:r>
            <a:r>
              <a:rPr lang="zh-CN" altLang="zh-CN" sz="2800" dirty="0"/>
              <a:t>，</a:t>
            </a:r>
            <a:r>
              <a:rPr lang="zh-CN" altLang="en-US" sz="2800" dirty="0"/>
              <a:t>两者</a:t>
            </a:r>
            <a:r>
              <a:rPr lang="zh-CN" altLang="zh-CN" sz="2800" dirty="0"/>
              <a:t>转换方便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sz="2800" dirty="0"/>
              <a:t>编写汇编语言程序</a:t>
            </a:r>
            <a:r>
              <a:rPr lang="zh-CN" altLang="en-US" sz="2800" dirty="0"/>
              <a:t>（如</a:t>
            </a:r>
            <a:r>
              <a:rPr lang="zh-CN" altLang="zh-CN" sz="2800" dirty="0"/>
              <a:t>表示存储器地址和数据</a:t>
            </a:r>
            <a:r>
              <a:rPr lang="zh-CN" altLang="en-US" sz="2800" dirty="0"/>
              <a:t>）以及</a:t>
            </a:r>
            <a:r>
              <a:rPr lang="zh-CN" altLang="zh-CN" sz="2800" dirty="0"/>
              <a:t>打印程序清单时，</a:t>
            </a:r>
            <a:r>
              <a:rPr lang="zh-CN" altLang="en-US" sz="2800" dirty="0"/>
              <a:t>常</a:t>
            </a:r>
            <a:r>
              <a:rPr lang="zh-CN" altLang="zh-CN" sz="2800" dirty="0"/>
              <a:t>用</a:t>
            </a:r>
            <a:r>
              <a:rPr lang="en-US" altLang="zh-CN" sz="2800" dirty="0"/>
              <a:t>16</a:t>
            </a:r>
            <a:r>
              <a:rPr lang="zh-CN" altLang="zh-CN" sz="2800" dirty="0"/>
              <a:t>进制数。</a:t>
            </a:r>
          </a:p>
          <a:p>
            <a:pPr>
              <a:spcBef>
                <a:spcPts val="800"/>
              </a:spcBef>
            </a:pP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476672"/>
            <a:ext cx="7670362" cy="1143000"/>
          </a:xfrm>
        </p:spPr>
        <p:txBody>
          <a:bodyPr>
            <a:normAutofit/>
          </a:bodyPr>
          <a:lstStyle/>
          <a:p>
            <a:pPr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025" dirty="0"/>
              <a:t>8</a:t>
            </a:r>
            <a:r>
              <a:rPr lang="zh-CN" altLang="zh-CN" sz="3025" dirty="0"/>
              <a:t>进制数必须加后缀</a:t>
            </a:r>
            <a:r>
              <a:rPr lang="en-US" altLang="zh-CN" sz="3025" dirty="0">
                <a:solidFill>
                  <a:srgbClr val="FF7C80"/>
                </a:solidFill>
              </a:rPr>
              <a:t>O</a:t>
            </a:r>
            <a:r>
              <a:rPr lang="zh-CN" altLang="zh-CN" sz="3025" dirty="0"/>
              <a:t>或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zh-CN" altLang="zh-CN" sz="3025" dirty="0"/>
              <a:t>。</a:t>
            </a:r>
          </a:p>
          <a:p>
            <a:pPr>
              <a:buClr>
                <a:srgbClr val="C00000"/>
              </a:buClr>
              <a:buSzPct val="80000"/>
              <a:buNone/>
            </a:pPr>
            <a:r>
              <a:rPr lang="zh-CN" altLang="zh-CN" sz="3025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sz="3025" dirty="0">
                <a:solidFill>
                  <a:srgbClr val="00B0F0"/>
                </a:solidFill>
              </a:rPr>
              <a:t>753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en-US" altLang="zh-CN" sz="3025" dirty="0">
                <a:solidFill>
                  <a:schemeClr val="tx1"/>
                </a:solidFill>
              </a:rPr>
              <a:t> = </a:t>
            </a:r>
            <a:r>
              <a:rPr lang="en-US" altLang="zh-CN" sz="3025" dirty="0">
                <a:solidFill>
                  <a:srgbClr val="00B0F0"/>
                </a:solidFill>
              </a:rPr>
              <a:t>7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2 </a:t>
            </a:r>
            <a:r>
              <a:rPr lang="en-US" altLang="zh-CN" sz="3025" dirty="0">
                <a:solidFill>
                  <a:schemeClr val="tx1"/>
                </a:solidFill>
              </a:rPr>
              <a:t>+</a:t>
            </a:r>
            <a:r>
              <a:rPr lang="en-US" altLang="zh-CN" sz="3025" dirty="0">
                <a:solidFill>
                  <a:srgbClr val="00B0F0"/>
                </a:solidFill>
              </a:rPr>
              <a:t>5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1 </a:t>
            </a:r>
            <a:r>
              <a:rPr lang="en-US" altLang="zh-CN" sz="3025" dirty="0">
                <a:solidFill>
                  <a:schemeClr val="tx1"/>
                </a:solidFill>
              </a:rPr>
              <a:t>+</a:t>
            </a:r>
            <a:r>
              <a:rPr lang="en-US" altLang="zh-CN" sz="3025" dirty="0">
                <a:solidFill>
                  <a:srgbClr val="00B0F0"/>
                </a:solidFill>
              </a:rPr>
              <a:t>3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0  </a:t>
            </a:r>
            <a:r>
              <a:rPr lang="en-US" altLang="zh-CN" sz="3025" dirty="0">
                <a:solidFill>
                  <a:schemeClr val="tx1"/>
                </a:solidFill>
              </a:rPr>
              <a:t>= 491</a:t>
            </a:r>
            <a:endParaRPr lang="zh-CN" altLang="zh-CN" sz="3025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sz="3025" dirty="0"/>
              <a:t>每位</a:t>
            </a:r>
            <a:r>
              <a:rPr lang="en-US" altLang="zh-CN" sz="3025" dirty="0"/>
              <a:t>8</a:t>
            </a:r>
            <a:r>
              <a:rPr lang="zh-CN" altLang="zh-CN" sz="3025" dirty="0"/>
              <a:t>进制数由</a:t>
            </a:r>
            <a:r>
              <a:rPr lang="en-US" altLang="zh-CN" sz="3025" dirty="0"/>
              <a:t>3</a:t>
            </a:r>
            <a:r>
              <a:rPr lang="zh-CN" altLang="zh-CN" sz="3025" dirty="0"/>
              <a:t>位二进制数组成</a:t>
            </a:r>
            <a:r>
              <a:rPr lang="zh-CN" altLang="en-US" sz="3025" dirty="0"/>
              <a:t>，容易转换。</a:t>
            </a:r>
            <a:endParaRPr lang="en-US" altLang="zh-CN" sz="3025" dirty="0"/>
          </a:p>
          <a:p>
            <a:pPr>
              <a:buClr>
                <a:srgbClr val="C00000"/>
              </a:buClr>
              <a:buSzPct val="80000"/>
              <a:buNone/>
            </a:pPr>
            <a:r>
              <a:rPr lang="zh-CN" altLang="zh-CN" sz="3025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sz="3025" dirty="0">
                <a:solidFill>
                  <a:srgbClr val="00B0F0"/>
                </a:solidFill>
              </a:rPr>
              <a:t>627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en-US" altLang="zh-CN" sz="3025" dirty="0">
                <a:solidFill>
                  <a:schemeClr val="tx1"/>
                </a:solidFill>
              </a:rPr>
              <a:t>=</a:t>
            </a:r>
            <a:r>
              <a:rPr lang="en-US" altLang="zh-CN" sz="3025" dirty="0">
                <a:solidFill>
                  <a:srgbClr val="00B0F0"/>
                </a:solidFill>
              </a:rPr>
              <a:t>110</a:t>
            </a:r>
            <a:r>
              <a:rPr lang="en-US" altLang="zh-CN" sz="3025" dirty="0">
                <a:solidFill>
                  <a:schemeClr val="tx1"/>
                </a:solidFill>
              </a:rPr>
              <a:t>   </a:t>
            </a:r>
            <a:r>
              <a:rPr lang="en-US" altLang="zh-CN" sz="3025" dirty="0">
                <a:solidFill>
                  <a:srgbClr val="00B0F0"/>
                </a:solidFill>
              </a:rPr>
              <a:t>010</a:t>
            </a:r>
            <a:r>
              <a:rPr lang="en-US" altLang="zh-CN" sz="3025" dirty="0">
                <a:solidFill>
                  <a:schemeClr val="tx1"/>
                </a:solidFill>
              </a:rPr>
              <a:t>  </a:t>
            </a:r>
            <a:r>
              <a:rPr lang="en-US" altLang="zh-CN" sz="3025" dirty="0">
                <a:solidFill>
                  <a:srgbClr val="00B0F0"/>
                </a:solidFill>
              </a:rPr>
              <a:t>111</a:t>
            </a:r>
            <a:r>
              <a:rPr lang="en-US" altLang="zh-CN" sz="3025" dirty="0">
                <a:solidFill>
                  <a:srgbClr val="FF7C80"/>
                </a:solidFill>
              </a:rPr>
              <a:t>B</a:t>
            </a:r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sz="3025" dirty="0"/>
              <a:t>在</a:t>
            </a:r>
            <a:r>
              <a:rPr lang="en-US" altLang="zh-CN" sz="3025" dirty="0"/>
              <a:t>1970</a:t>
            </a:r>
            <a:r>
              <a:rPr lang="zh-CN" altLang="zh-CN" sz="3025" dirty="0"/>
              <a:t>、</a:t>
            </a:r>
            <a:r>
              <a:rPr lang="en-US" altLang="zh-CN" sz="3025" dirty="0"/>
              <a:t>1980</a:t>
            </a:r>
            <a:r>
              <a:rPr lang="zh-CN" altLang="zh-CN" sz="3025" dirty="0"/>
              <a:t>年代的小型机上，</a:t>
            </a:r>
            <a:r>
              <a:rPr lang="zh-CN" altLang="en-US" sz="3025" dirty="0"/>
              <a:t>常</a:t>
            </a:r>
            <a:r>
              <a:rPr lang="zh-CN" altLang="zh-CN" sz="3025" dirty="0"/>
              <a:t>用</a:t>
            </a:r>
            <a:r>
              <a:rPr lang="en-US" altLang="zh-CN" sz="3025" dirty="0"/>
              <a:t>8</a:t>
            </a:r>
            <a:r>
              <a:rPr lang="zh-CN" altLang="zh-CN" sz="3025" dirty="0"/>
              <a:t>进制数编写汇编语言程序和打印程序清单。</a:t>
            </a:r>
            <a:endParaRPr lang="en-US" altLang="zh-CN" sz="3025" dirty="0"/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025" dirty="0"/>
              <a:t>当代计算</a:t>
            </a:r>
            <a:r>
              <a:rPr lang="zh-CN" altLang="zh-CN" sz="3025" dirty="0"/>
              <a:t>机</a:t>
            </a:r>
            <a:r>
              <a:rPr lang="zh-CN" altLang="en-US" sz="3025" dirty="0"/>
              <a:t>采</a:t>
            </a:r>
            <a:r>
              <a:rPr lang="zh-CN" altLang="zh-CN" sz="3025" dirty="0"/>
              <a:t>用</a:t>
            </a:r>
            <a:r>
              <a:rPr lang="en-US" altLang="zh-CN" sz="3025" dirty="0"/>
              <a:t>16</a:t>
            </a:r>
            <a:r>
              <a:rPr lang="zh-CN" altLang="zh-CN" sz="3025" dirty="0"/>
              <a:t>进制计数法</a:t>
            </a:r>
            <a:r>
              <a:rPr lang="zh-CN" altLang="en-US" sz="3025" dirty="0"/>
              <a:t>，通常不再使用</a:t>
            </a:r>
            <a:r>
              <a:rPr lang="en-US" altLang="zh-CN" sz="3025" dirty="0"/>
              <a:t>8</a:t>
            </a:r>
            <a:r>
              <a:rPr lang="zh-CN" altLang="en-US" sz="3025" dirty="0"/>
              <a:t>进制数</a:t>
            </a:r>
            <a:r>
              <a:rPr lang="zh-CN" altLang="zh-CN" sz="3025" dirty="0"/>
              <a:t>。</a:t>
            </a:r>
          </a:p>
          <a:p>
            <a:endParaRPr lang="zh-CN" altLang="en-US" sz="3025" dirty="0"/>
          </a:p>
        </p:txBody>
      </p: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85725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sz="3200" b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不同进制间的转换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熟练掌握！</a:t>
            </a:r>
            <a:r>
              <a:rPr lang="en-US" altLang="zh-CN" sz="32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3200" dirty="0">
              <a:solidFill>
                <a:schemeClr val="tx2"/>
              </a:solidFill>
              <a:highlight>
                <a:srgbClr val="FFFF00"/>
              </a:highligh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857628"/>
            <a:ext cx="492372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42976" y="607220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结果：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25 = 11001</a:t>
            </a:r>
            <a:r>
              <a:rPr lang="en-US" altLang="zh-CN" sz="2800" b="1" dirty="0">
                <a:solidFill>
                  <a:srgbClr val="FF7C8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2800" b="1" dirty="0">
              <a:solidFill>
                <a:srgbClr val="FF7C8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214422"/>
            <a:ext cx="792961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二进制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进制转换成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如前所述，只要将各位按权展开再相加即可。</a:t>
            </a:r>
            <a:endParaRPr lang="en-US" altLang="zh-CN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10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进制转换成二进制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用除</a:t>
            </a:r>
            <a:r>
              <a:rPr lang="en-US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求余数的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方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法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br>
              <a:rPr lang="en-US" altLang="zh-CN" sz="280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endParaRPr lang="en-US" altLang="zh-CN" sz="1000" dirty="0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例如：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转换成二进制</a:t>
            </a:r>
            <a:endParaRPr lang="zh-CN" altLang="en-US" sz="2800" b="1" dirty="0">
              <a:solidFill>
                <a:srgbClr val="FFC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09210" y="3395345"/>
            <a:ext cx="31711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注：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做题时，这么算太麻烦！</a:t>
            </a:r>
          </a:p>
        </p:txBody>
      </p:sp>
    </p:spTree>
  </p:cSld>
  <p:clrMapOvr>
    <a:masterClrMapping/>
  </p:clrMapOvr>
  <p:transition spd="slow"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000108"/>
            <a:ext cx="7962678" cy="5155795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二进制数转换成</a:t>
            </a:r>
            <a:r>
              <a:rPr lang="en-US" altLang="zh-CN" dirty="0"/>
              <a:t>16</a:t>
            </a:r>
            <a:r>
              <a:rPr lang="zh-CN" altLang="zh-CN" dirty="0"/>
              <a:t>进制数</a:t>
            </a:r>
            <a:endParaRPr lang="zh-CN" altLang="en-US" dirty="0"/>
          </a:p>
          <a:p>
            <a:pPr>
              <a:spcBef>
                <a:spcPts val="18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600" dirty="0">
                <a:ea typeface="楷体_GB2312" panose="02010609030101010101" pitchFamily="49" charset="-122"/>
              </a:rPr>
              <a:t>由表</a:t>
            </a:r>
            <a:r>
              <a:rPr lang="en-US" altLang="zh-CN" sz="2600" dirty="0">
                <a:ea typeface="楷体_GB2312" panose="02010609030101010101" pitchFamily="49" charset="-122"/>
              </a:rPr>
              <a:t>1.1</a:t>
            </a:r>
            <a:r>
              <a:rPr lang="zh-CN" altLang="en-US" sz="2600" dirty="0">
                <a:ea typeface="楷体_GB2312" panose="02010609030101010101" pitchFamily="49" charset="-122"/>
              </a:rPr>
              <a:t>知，每</a:t>
            </a:r>
            <a:r>
              <a:rPr lang="en-US" altLang="zh-CN" sz="2600" dirty="0">
                <a:ea typeface="楷体_GB2312" panose="02010609030101010101" pitchFamily="49" charset="-122"/>
              </a:rPr>
              <a:t>4</a:t>
            </a:r>
            <a:r>
              <a:rPr lang="zh-CN" altLang="en-US" sz="2600" dirty="0">
                <a:ea typeface="楷体_GB2312" panose="02010609030101010101" pitchFamily="49" charset="-122"/>
              </a:rPr>
              <a:t>位</a:t>
            </a:r>
            <a:r>
              <a:rPr lang="en-US" altLang="zh-CN" sz="2600" dirty="0">
                <a:ea typeface="楷体_GB2312" panose="02010609030101010101" pitchFamily="49" charset="-122"/>
              </a:rPr>
              <a:t>2</a:t>
            </a:r>
            <a:r>
              <a:rPr lang="zh-CN" altLang="en-US" sz="2600" dirty="0">
                <a:ea typeface="楷体_GB2312" panose="02010609030101010101" pitchFamily="49" charset="-122"/>
              </a:rPr>
              <a:t>进制数可用一个</a:t>
            </a:r>
            <a:r>
              <a:rPr lang="en-US" altLang="zh-CN" sz="2600" dirty="0">
                <a:ea typeface="楷体_GB2312" panose="02010609030101010101" pitchFamily="49" charset="-122"/>
              </a:rPr>
              <a:t>16</a:t>
            </a:r>
            <a:r>
              <a:rPr lang="zh-CN" altLang="en-US" sz="2600" dirty="0">
                <a:ea typeface="楷体_GB2312" panose="02010609030101010101" pitchFamily="49" charset="-122"/>
              </a:rPr>
              <a:t>进制数来表示。</a:t>
            </a:r>
            <a:endParaRPr lang="en-US" altLang="zh-CN" sz="2600" dirty="0">
              <a:ea typeface="楷体_GB2312" panose="02010609030101010101" pitchFamily="49" charset="-122"/>
            </a:endParaRPr>
          </a:p>
          <a:p>
            <a:pPr algn="just">
              <a:spcBef>
                <a:spcPts val="18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600" dirty="0">
                <a:ea typeface="楷体_GB2312" panose="02010609030101010101" pitchFamily="49" charset="-122"/>
              </a:rPr>
              <a:t>为便于阅读，书写</a:t>
            </a:r>
            <a:r>
              <a:rPr lang="en-US" altLang="zh-CN" sz="2600" dirty="0">
                <a:ea typeface="楷体_GB2312" panose="02010609030101010101" pitchFamily="49" charset="-122"/>
              </a:rPr>
              <a:t>2</a:t>
            </a:r>
            <a:r>
              <a:rPr lang="zh-CN" altLang="en-US" sz="2600" dirty="0">
                <a:ea typeface="楷体_GB2312" panose="02010609030101010101" pitchFamily="49" charset="-122"/>
              </a:rPr>
              <a:t>进制数时，从最低位（</a:t>
            </a:r>
            <a:r>
              <a:rPr lang="en-US" altLang="zh-CN" sz="2600" dirty="0">
                <a:ea typeface="楷体_GB2312" panose="02010609030101010101" pitchFamily="49" charset="-122"/>
              </a:rPr>
              <a:t>LSB</a:t>
            </a:r>
            <a:r>
              <a:rPr lang="zh-CN" altLang="en-US" sz="2600" dirty="0">
                <a:ea typeface="楷体_GB2312" panose="02010609030101010101" pitchFamily="49" charset="-122"/>
              </a:rPr>
              <a:t>）开始，每</a:t>
            </a:r>
            <a:r>
              <a:rPr lang="en-US" altLang="zh-CN" sz="2600" dirty="0">
                <a:ea typeface="楷体_GB2312" panose="02010609030101010101" pitchFamily="49" charset="-122"/>
              </a:rPr>
              <a:t>4</a:t>
            </a:r>
            <a:r>
              <a:rPr lang="zh-CN" altLang="en-US" sz="2600" dirty="0">
                <a:ea typeface="楷体_GB2312" panose="02010609030101010101" pitchFamily="49" charset="-122"/>
              </a:rPr>
              <a:t>位用空格隔开，但数据输入计算机时，不能留空格。</a:t>
            </a:r>
            <a:endParaRPr lang="en-US" altLang="zh-CN" sz="2600" dirty="0">
              <a:ea typeface="楷体_GB2312" panose="02010609030101010101" pitchFamily="49" charset="-122"/>
            </a:endParaRPr>
          </a:p>
          <a:p>
            <a:pPr>
              <a:buClr>
                <a:srgbClr val="FFFF00"/>
              </a:buClr>
              <a:buSzPct val="80000"/>
              <a:buNone/>
            </a:pPr>
            <a:endParaRPr lang="en-US" altLang="zh-CN" sz="2600" dirty="0">
              <a:ea typeface="+mn-ea"/>
            </a:endParaRPr>
          </a:p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70C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dirty="0">
                <a:solidFill>
                  <a:srgbClr val="0070C0"/>
                </a:solidFill>
                <a:ea typeface="楷体_GB2312" panose="02010609030101010101" pitchFamily="49" charset="-122"/>
              </a:rPr>
              <a:t>：</a:t>
            </a:r>
            <a:r>
              <a:rPr lang="en-US" altLang="zh-CN" dirty="0"/>
              <a:t>1000 1010</a:t>
            </a:r>
            <a:r>
              <a:rPr lang="en-US" altLang="zh-CN" dirty="0">
                <a:solidFill>
                  <a:srgbClr val="FF7C80"/>
                </a:solidFill>
              </a:rPr>
              <a:t>B</a:t>
            </a:r>
            <a:r>
              <a:rPr lang="en-US" altLang="zh-CN" dirty="0"/>
              <a:t> = 8A</a:t>
            </a:r>
            <a:r>
              <a:rPr lang="en-US" altLang="zh-CN" dirty="0">
                <a:solidFill>
                  <a:srgbClr val="FF7C80"/>
                </a:solidFill>
              </a:rPr>
              <a:t>H</a:t>
            </a:r>
          </a:p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70C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dirty="0">
                <a:solidFill>
                  <a:srgbClr val="0070C0"/>
                </a:solidFill>
                <a:ea typeface="楷体_GB2312" panose="02010609030101010101" pitchFamily="49" charset="-122"/>
              </a:rPr>
              <a:t>：</a:t>
            </a:r>
            <a:r>
              <a:rPr lang="en-US" altLang="zh-CN" dirty="0"/>
              <a:t>1011 0100 1101 1001</a:t>
            </a:r>
            <a:r>
              <a:rPr lang="en-US" altLang="zh-CN" dirty="0">
                <a:solidFill>
                  <a:srgbClr val="FF7C80"/>
                </a:solidFill>
              </a:rPr>
              <a:t>B</a:t>
            </a:r>
            <a:r>
              <a:rPr lang="en-US" altLang="zh-CN" dirty="0"/>
              <a:t> = B4D9</a:t>
            </a:r>
            <a:r>
              <a:rPr lang="en-US" altLang="zh-CN" dirty="0">
                <a:solidFill>
                  <a:srgbClr val="FF7C80"/>
                </a:solidFill>
              </a:rPr>
              <a:t>H</a:t>
            </a:r>
            <a:endParaRPr lang="zh-CN" altLang="en-US" dirty="0">
              <a:solidFill>
                <a:srgbClr val="FF7C80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940" y="231437"/>
            <a:ext cx="7776000" cy="11430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</a:t>
            </a:r>
            <a:r>
              <a:rPr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信息单位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513" y="1136320"/>
            <a:ext cx="8229600" cy="5490243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Bit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比特</a:t>
            </a:r>
            <a:r>
              <a:rPr lang="zh-CN" altLang="en-US" sz="2800" dirty="0"/>
              <a:t>），简称</a:t>
            </a:r>
            <a:r>
              <a:rPr lang="zh-CN" altLang="zh-CN" sz="2800" b="1" dirty="0">
                <a:solidFill>
                  <a:srgbClr val="FF7C80"/>
                </a:solidFill>
              </a:rPr>
              <a:t>位，简写为</a:t>
            </a:r>
            <a:r>
              <a:rPr lang="en-US" altLang="zh-CN" sz="2800" b="1" dirty="0">
                <a:solidFill>
                  <a:srgbClr val="FF7C80"/>
                </a:solidFill>
              </a:rPr>
              <a:t>b</a:t>
            </a:r>
          </a:p>
          <a:p>
            <a:pPr marL="0" indent="0" algn="just"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</a:t>
            </a:r>
            <a:r>
              <a:rPr lang="zh-CN" altLang="zh-CN" sz="2800" dirty="0"/>
              <a:t>二进制数的每</a:t>
            </a:r>
            <a:r>
              <a:rPr lang="en-US" altLang="zh-CN" sz="2800" dirty="0"/>
              <a:t>1</a:t>
            </a:r>
            <a:r>
              <a:rPr lang="zh-CN" altLang="zh-CN" sz="2800" dirty="0"/>
              <a:t>位（</a:t>
            </a:r>
            <a:r>
              <a:rPr lang="en-US" altLang="zh-CN" sz="2800" dirty="0"/>
              <a:t>0</a:t>
            </a:r>
            <a:r>
              <a:rPr lang="zh-CN" altLang="zh-CN" sz="2800" dirty="0"/>
              <a:t>或</a:t>
            </a:r>
            <a:r>
              <a:rPr lang="en-US" altLang="zh-CN" sz="2800" dirty="0"/>
              <a:t>1</a:t>
            </a:r>
            <a:r>
              <a:rPr lang="zh-CN" altLang="zh-CN" sz="2800" dirty="0"/>
              <a:t>）</a:t>
            </a:r>
            <a:endParaRPr lang="en-US" altLang="zh-CN" sz="2800" b="1" dirty="0">
              <a:solidFill>
                <a:srgbClr val="FF7C80"/>
              </a:solidFill>
            </a:endParaRPr>
          </a:p>
          <a:p>
            <a:pPr algn="just"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Byte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字节</a:t>
            </a:r>
            <a:r>
              <a:rPr lang="zh-CN" altLang="en-US" sz="2800" dirty="0"/>
              <a:t>），</a:t>
            </a:r>
            <a:r>
              <a:rPr lang="zh-CN" altLang="zh-CN" sz="2800" b="1" dirty="0">
                <a:solidFill>
                  <a:srgbClr val="FF7C80"/>
                </a:solidFill>
              </a:rPr>
              <a:t>简写为B</a:t>
            </a:r>
            <a:endParaRPr lang="en-US" altLang="zh-CN" sz="2800" dirty="0"/>
          </a:p>
          <a:p>
            <a:pPr marL="0" indent="0" algn="just"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8</a:t>
            </a:r>
            <a:r>
              <a:rPr lang="zh-CN" altLang="en-US" sz="2800" dirty="0"/>
              <a:t>位</a:t>
            </a:r>
            <a:r>
              <a:rPr lang="zh-CN" altLang="zh-CN" sz="2800" dirty="0"/>
              <a:t>二进制信息组成的</a:t>
            </a:r>
            <a:r>
              <a:rPr lang="zh-CN" altLang="en-US" sz="2800" dirty="0"/>
              <a:t>信息</a:t>
            </a:r>
            <a:r>
              <a:rPr lang="zh-CN" altLang="zh-CN" sz="2800" dirty="0"/>
              <a:t>单位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        1 byte = 8 bit</a:t>
            </a:r>
            <a:endParaRPr lang="zh-CN" altLang="zh-CN" sz="2800" dirty="0"/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Word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字</a:t>
            </a:r>
            <a:r>
              <a:rPr lang="zh-CN" altLang="en-US" sz="2800" dirty="0"/>
              <a:t>），</a:t>
            </a:r>
            <a:r>
              <a:rPr lang="zh-CN" altLang="zh-CN" sz="2800" b="1" dirty="0">
                <a:solidFill>
                  <a:srgbClr val="FF7C80"/>
                </a:solidFill>
              </a:rPr>
              <a:t>简写为W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zh-CN" altLang="en-US" sz="2800" dirty="0"/>
              <a:t>       包含</a:t>
            </a:r>
            <a:r>
              <a:rPr lang="en-US" altLang="zh-CN" sz="2800" dirty="0"/>
              <a:t>16</a:t>
            </a:r>
            <a:r>
              <a:rPr lang="zh-CN" altLang="zh-CN" sz="2800" dirty="0"/>
              <a:t>位二进制数</a:t>
            </a:r>
            <a:r>
              <a:rPr lang="zh-CN" altLang="en-US" sz="2800" dirty="0"/>
              <a:t>，</a:t>
            </a:r>
            <a:r>
              <a:rPr lang="zh-CN" altLang="zh-CN" sz="2800" dirty="0"/>
              <a:t>即两个字节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800" dirty="0"/>
              <a:t>            </a:t>
            </a:r>
            <a:r>
              <a:rPr lang="zh-CN" altLang="zh-CN" sz="2800" dirty="0">
                <a:highlight>
                  <a:srgbClr val="FFFF00"/>
                </a:highlight>
              </a:rPr>
              <a:t>一个</a:t>
            </a:r>
            <a:r>
              <a:rPr lang="en-US" altLang="zh-CN" sz="2800" dirty="0">
                <a:highlight>
                  <a:srgbClr val="FFFF00"/>
                </a:highlight>
              </a:rPr>
              <a:t>16</a:t>
            </a:r>
            <a:r>
              <a:rPr lang="zh-CN" altLang="zh-CN" sz="2800" dirty="0">
                <a:highlight>
                  <a:srgbClr val="FFFF00"/>
                </a:highlight>
              </a:rPr>
              <a:t>位的字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15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0 </a:t>
            </a:r>
            <a:r>
              <a:rPr lang="en-US" altLang="zh-CN" sz="2800" dirty="0">
                <a:highlight>
                  <a:srgbClr val="FFFF00"/>
                </a:highlight>
              </a:rPr>
              <a:t>=</a:t>
            </a:r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800" dirty="0"/>
              <a:t>                                        </a:t>
            </a:r>
            <a:r>
              <a:rPr lang="zh-CN" altLang="zh-CN" sz="2800" dirty="0">
                <a:highlight>
                  <a:srgbClr val="FFFF00"/>
                </a:highlight>
              </a:rPr>
              <a:t>高字节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15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8  </a:t>
            </a:r>
            <a:r>
              <a:rPr lang="en-US" altLang="zh-CN" sz="2800" dirty="0">
                <a:highlight>
                  <a:srgbClr val="FFFF00"/>
                </a:highlight>
              </a:rPr>
              <a:t>+  </a:t>
            </a:r>
            <a:r>
              <a:rPr lang="zh-CN" altLang="zh-CN" sz="2800" dirty="0">
                <a:highlight>
                  <a:srgbClr val="FFFF00"/>
                </a:highlight>
              </a:rPr>
              <a:t>低字节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7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0</a:t>
            </a:r>
          </a:p>
        </p:txBody>
      </p:sp>
    </p:spTree>
  </p:cSld>
  <p:clrMapOvr>
    <a:masterClrMapping/>
  </p:clrMapOvr>
  <p:transition spd="slow">
    <p:wipe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7776000" cy="917596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计算机中信息的单位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b="1" dirty="0"/>
              <a:t>Word Length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0000FF"/>
                </a:solidFill>
              </a:rPr>
              <a:t>字长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它</a:t>
            </a:r>
            <a:r>
              <a:rPr lang="zh-CN" altLang="zh-CN" sz="2800" dirty="0"/>
              <a:t>决定计算机一次可处理的二进制</a:t>
            </a:r>
            <a:r>
              <a:rPr lang="zh-CN" altLang="en-US" sz="2800" dirty="0"/>
              <a:t>数据</a:t>
            </a:r>
            <a:r>
              <a:rPr lang="zh-CN" altLang="zh-CN" sz="2800" dirty="0"/>
              <a:t>的位数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它取决于计算机的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运算器</a:t>
            </a:r>
            <a:r>
              <a:rPr lang="zh-CN" altLang="zh-CN" sz="2800" dirty="0"/>
              <a:t>、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通用寄存器</a:t>
            </a:r>
            <a:r>
              <a:rPr lang="zh-CN" altLang="zh-CN" sz="2800" dirty="0"/>
              <a:t>和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数据总线</a:t>
            </a:r>
            <a:r>
              <a:rPr lang="zh-CN" altLang="zh-CN" sz="2800" dirty="0"/>
              <a:t>的位数。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根据字长将计算机分为</a:t>
            </a:r>
            <a:r>
              <a:rPr lang="en-US" altLang="zh-CN" sz="2800" dirty="0"/>
              <a:t>8</a:t>
            </a:r>
            <a:r>
              <a:rPr lang="zh-CN" altLang="zh-CN" sz="2800" dirty="0"/>
              <a:t>位机、</a:t>
            </a:r>
            <a:r>
              <a:rPr lang="en-US" altLang="zh-CN" sz="2800" dirty="0"/>
              <a:t>16</a:t>
            </a:r>
            <a:r>
              <a:rPr lang="zh-CN" altLang="zh-CN" sz="2800" dirty="0"/>
              <a:t>位机、</a:t>
            </a:r>
            <a:r>
              <a:rPr lang="en-US" altLang="zh-CN" sz="2800" dirty="0"/>
              <a:t>32</a:t>
            </a:r>
            <a:r>
              <a:rPr lang="zh-CN" altLang="zh-CN" sz="2800" dirty="0"/>
              <a:t>位机和</a:t>
            </a:r>
            <a:r>
              <a:rPr lang="en-US" altLang="zh-CN" sz="2800" dirty="0"/>
              <a:t>64</a:t>
            </a:r>
            <a:r>
              <a:rPr lang="zh-CN" altLang="zh-CN" sz="2800" dirty="0"/>
              <a:t>位机等机型</a:t>
            </a:r>
            <a:r>
              <a:rPr lang="zh-CN" altLang="en-US" sz="2800" dirty="0"/>
              <a:t>，现在主流的</a:t>
            </a:r>
            <a:r>
              <a:rPr lang="en-US" altLang="zh-CN" sz="2800" dirty="0"/>
              <a:t>CPU</a:t>
            </a:r>
            <a:r>
              <a:rPr lang="zh-CN" altLang="en-US" sz="2800" dirty="0"/>
              <a:t>为</a:t>
            </a:r>
            <a:r>
              <a:rPr lang="en-US" altLang="zh-CN" sz="2800" dirty="0"/>
              <a:t>64</a:t>
            </a:r>
            <a:r>
              <a:rPr lang="zh-CN" altLang="en-US" sz="2800" dirty="0"/>
              <a:t>位。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字长越长，计算机一次能传送和处理的数据就越 多，运算速度越快，精度也越高，</a:t>
            </a:r>
            <a:r>
              <a:rPr lang="zh-CN" altLang="en-US" sz="2800" dirty="0"/>
              <a:t>但</a:t>
            </a:r>
            <a:r>
              <a:rPr lang="zh-CN" altLang="zh-CN" sz="2800" dirty="0"/>
              <a:t>制造工艺</a:t>
            </a:r>
            <a:r>
              <a:rPr lang="zh-CN" altLang="en-US" sz="2800" dirty="0"/>
              <a:t>也</a:t>
            </a:r>
          </a:p>
          <a:p>
            <a:pPr marL="0" indent="0" algn="just">
              <a:buClr>
                <a:srgbClr val="FF0000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dirty="0"/>
              <a:t>             </a:t>
            </a:r>
            <a:r>
              <a:rPr lang="zh-CN" altLang="zh-CN" sz="2800" dirty="0"/>
              <a:t>复杂。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7290" y="2285993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1.1.2  </a:t>
            </a:r>
            <a:r>
              <a:rPr lang="zh-CN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二进制编码</a:t>
            </a:r>
            <a:endParaRPr lang="zh-CN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2545"/>
          </a:xfrm>
        </p:spPr>
        <p:txBody>
          <a:bodyPr>
            <a:normAutofit fontScale="90000" lnSpcReduction="10000"/>
          </a:bodyPr>
          <a:lstStyle/>
          <a:p>
            <a:pPr algn="just"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dirty="0"/>
              <a:t>计算机中，数都用二进制表示，因此各种数字、英文字母、运算符号等，都要用特定的二进制码的组合来表示，</a:t>
            </a:r>
            <a:r>
              <a:rPr lang="zh-CN" altLang="en-US" dirty="0"/>
              <a:t>即</a:t>
            </a:r>
            <a:r>
              <a:rPr lang="zh-CN" altLang="zh-CN" dirty="0"/>
              <a:t>二进制编码。</a:t>
            </a:r>
            <a:endParaRPr lang="en-US" altLang="zh-CN" dirty="0"/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sym typeface="+mn-ea"/>
              </a:rPr>
              <a:t>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*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想想</a:t>
            </a: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怎么理解编码？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和前面讲的各种进制千万别混淆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——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计算机里面就只有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0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和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sym typeface="+mn-ea"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   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——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关键是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我们赋予它什么意义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                        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代表的意义：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编码</a:t>
            </a:r>
            <a:endParaRPr lang="zh-CN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sym typeface="+mn-ea"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        其二进制数的表示：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进制数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dirty="0"/>
              <a:t>         最常用的编码有：</a:t>
            </a:r>
            <a:r>
              <a:rPr lang="en-US" altLang="zh-CN" dirty="0"/>
              <a:t>BCD</a:t>
            </a:r>
            <a:r>
              <a:rPr lang="zh-CN" altLang="zh-CN" dirty="0"/>
              <a:t>码和</a:t>
            </a:r>
            <a:r>
              <a:rPr lang="en-US" altLang="zh-CN" dirty="0"/>
              <a:t>ASCII</a:t>
            </a:r>
            <a:r>
              <a:rPr lang="zh-CN" altLang="zh-CN" dirty="0"/>
              <a:t>码等              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424936" cy="1143000"/>
          </a:xfrm>
        </p:spPr>
        <p:txBody>
          <a:bodyPr>
            <a:normAutofit fontScale="90000"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inary</a:t>
            </a:r>
            <a:r>
              <a:rPr lang="en-US" altLang="zh-CN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oded 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ecimal</a:t>
            </a:r>
            <a:r>
              <a:rPr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）码</a:t>
            </a:r>
            <a:endParaRPr lang="zh-CN" alt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4896544"/>
          </a:xfrm>
        </p:spPr>
        <p:txBody>
          <a:bodyPr>
            <a:normAutofit fontScale="97500" lnSpcReduction="10000"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二进制编码的BCD数</a:t>
            </a:r>
            <a:r>
              <a:rPr lang="zh-CN" altLang="en-US" sz="2600" dirty="0"/>
              <a:t>，</a:t>
            </a:r>
            <a:r>
              <a:rPr lang="en-US" altLang="zh-CN" sz="2600" dirty="0"/>
              <a:t>4</a:t>
            </a:r>
            <a:r>
              <a:rPr lang="zh-CN" altLang="zh-CN" sz="2600" dirty="0"/>
              <a:t>位二进制</a:t>
            </a:r>
            <a:r>
              <a:rPr lang="zh-CN" altLang="en-US" sz="2600" dirty="0"/>
              <a:t>，</a:t>
            </a:r>
            <a:r>
              <a:rPr lang="zh-CN" altLang="zh-CN" sz="2600" dirty="0"/>
              <a:t>取</a:t>
            </a:r>
            <a:r>
              <a:rPr lang="en-US" altLang="zh-CN" sz="2600" dirty="0"/>
              <a:t>0000</a:t>
            </a:r>
            <a:r>
              <a:rPr lang="zh-CN" altLang="zh-CN" sz="2600" dirty="0"/>
              <a:t>～</a:t>
            </a:r>
            <a:r>
              <a:rPr lang="en-US" altLang="zh-CN" sz="2600" dirty="0"/>
              <a:t>1111</a:t>
            </a:r>
            <a:r>
              <a:rPr lang="zh-CN" altLang="en-US" sz="2600" dirty="0"/>
              <a:t>中的</a:t>
            </a:r>
            <a:r>
              <a:rPr lang="zh-CN" altLang="zh-CN" sz="2600" dirty="0"/>
              <a:t>前</a:t>
            </a:r>
            <a:r>
              <a:rPr lang="en-US" altLang="zh-CN" sz="2600" dirty="0"/>
              <a:t>10</a:t>
            </a:r>
            <a:r>
              <a:rPr lang="zh-CN" altLang="zh-CN" sz="2600" dirty="0"/>
              <a:t>个码</a:t>
            </a:r>
            <a:r>
              <a:rPr lang="zh-CN" altLang="en-US" sz="2600" dirty="0"/>
              <a:t>表示</a:t>
            </a:r>
            <a:r>
              <a:rPr lang="en-US" altLang="zh-CN" sz="2600" dirty="0"/>
              <a:t>0 </a:t>
            </a:r>
            <a:r>
              <a:rPr lang="zh-CN" altLang="en-US" sz="2600" dirty="0"/>
              <a:t>～ </a:t>
            </a:r>
            <a:r>
              <a:rPr lang="en-US" altLang="zh-CN" sz="2600" dirty="0"/>
              <a:t>9</a:t>
            </a:r>
            <a:r>
              <a:rPr lang="zh-CN" altLang="zh-CN" sz="2600" dirty="0"/>
              <a:t>，</a:t>
            </a:r>
            <a:r>
              <a:rPr lang="zh-CN" altLang="en-US" sz="2600" dirty="0"/>
              <a:t>各</a:t>
            </a:r>
            <a:r>
              <a:rPr lang="zh-CN" altLang="zh-CN" sz="2600" dirty="0"/>
              <a:t>位的权值是</a:t>
            </a:r>
            <a:r>
              <a:rPr lang="en-US" altLang="zh-CN" sz="2600" dirty="0"/>
              <a:t>8</a:t>
            </a:r>
            <a:r>
              <a:rPr lang="zh-CN" altLang="zh-CN" sz="2600" dirty="0"/>
              <a:t>、</a:t>
            </a:r>
            <a:r>
              <a:rPr lang="en-US" altLang="zh-CN" sz="2600" dirty="0"/>
              <a:t>4</a:t>
            </a:r>
            <a:r>
              <a:rPr lang="zh-CN" altLang="zh-CN" sz="2600" dirty="0"/>
              <a:t>、</a:t>
            </a:r>
            <a:r>
              <a:rPr lang="en-US" altLang="zh-CN" sz="2600" dirty="0"/>
              <a:t>2</a:t>
            </a:r>
            <a:r>
              <a:rPr lang="zh-CN" altLang="zh-CN" sz="2600" dirty="0"/>
              <a:t>、</a:t>
            </a:r>
            <a:r>
              <a:rPr lang="en-US" altLang="zh-CN" sz="2600" dirty="0"/>
              <a:t>1</a:t>
            </a:r>
            <a:r>
              <a:rPr lang="zh-CN" altLang="zh-CN" sz="2600" dirty="0"/>
              <a:t>，也称</a:t>
            </a:r>
            <a:r>
              <a:rPr lang="zh-CN" altLang="en-US" sz="2600" dirty="0"/>
              <a:t> </a:t>
            </a:r>
            <a:r>
              <a:rPr lang="en-US" altLang="zh-CN" sz="2600" b="1" dirty="0">
                <a:solidFill>
                  <a:srgbClr val="FF7C80"/>
                </a:solidFill>
              </a:rPr>
              <a:t>8421</a:t>
            </a:r>
            <a:r>
              <a:rPr lang="zh-CN" altLang="en-US" sz="2600" b="1" dirty="0">
                <a:solidFill>
                  <a:srgbClr val="FF7C80"/>
                </a:solidFill>
              </a:rPr>
              <a:t>码，</a:t>
            </a:r>
            <a:r>
              <a:rPr lang="zh-CN" altLang="en-US" sz="2600" b="1" dirty="0"/>
              <a:t>也叫</a:t>
            </a:r>
            <a:r>
              <a:rPr lang="en-US" altLang="zh-CN" sz="2600" b="1" dirty="0">
                <a:solidFill>
                  <a:srgbClr val="FF7C80"/>
                </a:solidFill>
              </a:rPr>
              <a:t>BCD</a:t>
            </a:r>
            <a:r>
              <a:rPr lang="zh-CN" altLang="zh-CN" sz="2600" b="1" dirty="0">
                <a:solidFill>
                  <a:srgbClr val="FF7C80"/>
                </a:solidFill>
              </a:rPr>
              <a:t>码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600" dirty="0"/>
              <a:t>BCD</a:t>
            </a:r>
            <a:r>
              <a:rPr lang="zh-CN" altLang="en-US" sz="2600" dirty="0"/>
              <a:t>码表示的数</a:t>
            </a:r>
            <a:r>
              <a:rPr lang="zh-CN" altLang="zh-CN" sz="2600" dirty="0"/>
              <a:t>也</a:t>
            </a:r>
            <a:r>
              <a:rPr lang="zh-CN" altLang="en-US" sz="2600" dirty="0"/>
              <a:t>是</a:t>
            </a:r>
            <a:r>
              <a:rPr lang="zh-CN" altLang="zh-CN" sz="2600" dirty="0"/>
              <a:t>逢</a:t>
            </a:r>
            <a:r>
              <a:rPr lang="en-US" altLang="zh-CN" sz="2600" dirty="0"/>
              <a:t>10</a:t>
            </a:r>
            <a:r>
              <a:rPr lang="zh-CN" altLang="zh-CN" sz="2600" dirty="0"/>
              <a:t>进</a:t>
            </a:r>
            <a:r>
              <a:rPr lang="en-US" altLang="zh-CN" sz="2600" dirty="0"/>
              <a:t>1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600" dirty="0"/>
              <a:t>BCD</a:t>
            </a:r>
            <a:r>
              <a:rPr lang="zh-CN" altLang="en-US" sz="2600" dirty="0"/>
              <a:t>数与</a:t>
            </a:r>
            <a:r>
              <a:rPr lang="en-US" altLang="zh-CN" sz="2600" dirty="0"/>
              <a:t>10</a:t>
            </a:r>
            <a:r>
              <a:rPr lang="zh-CN" altLang="en-US" sz="2600" dirty="0"/>
              <a:t>进制数的转换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b="1" dirty="0">
                <a:solidFill>
                  <a:srgbClr val="66FF66"/>
                </a:solidFill>
                <a:ea typeface="楷体_GB2312" panose="02010609030101010101" pitchFamily="49" charset="-122"/>
              </a:rPr>
              <a:t>  </a:t>
            </a:r>
            <a:r>
              <a:rPr lang="zh-CN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1.2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用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8421  BCD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码表示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327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。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en-US" altLang="zh-CN" sz="2600" dirty="0"/>
              <a:t>      </a:t>
            </a:r>
            <a:r>
              <a:rPr lang="en-US" altLang="zh-CN" dirty="0"/>
              <a:t>327 =</a:t>
            </a:r>
            <a:r>
              <a:rPr lang="zh-CN" altLang="zh-CN" dirty="0"/>
              <a:t>（</a:t>
            </a:r>
            <a:r>
              <a:rPr lang="en-US" altLang="zh-CN" dirty="0"/>
              <a:t>0011  0010  0111</a:t>
            </a:r>
            <a:r>
              <a:rPr lang="zh-CN" altLang="zh-CN" dirty="0"/>
              <a:t>）</a:t>
            </a:r>
            <a:r>
              <a:rPr lang="en-US" altLang="zh-CN" baseline="-25000" dirty="0"/>
              <a:t>BCD</a:t>
            </a:r>
            <a:r>
              <a:rPr lang="zh-CN" altLang="zh-CN" baseline="-25000" dirty="0"/>
              <a:t>码</a:t>
            </a:r>
            <a:endParaRPr lang="zh-CN" altLang="zh-CN" dirty="0"/>
          </a:p>
          <a:p>
            <a:pPr>
              <a:lnSpc>
                <a:spcPts val="1200"/>
              </a:lnSpc>
              <a:spcBef>
                <a:spcPts val="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600" dirty="0"/>
              <a:t> </a:t>
            </a:r>
            <a:r>
              <a:rPr lang="en-US" altLang="zh-CN" sz="1000" dirty="0"/>
              <a:t> 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                     </a:t>
            </a:r>
            <a:r>
              <a:rPr lang="zh-CN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1.3  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求</a:t>
            </a:r>
            <a:r>
              <a:rPr lang="en-US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BCD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码的</a:t>
            </a:r>
            <a:r>
              <a:rPr lang="en-US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。</a:t>
            </a:r>
            <a:endParaRPr lang="en-US" altLang="zh-CN" sz="2800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en-US" altLang="zh-CN" sz="2800" dirty="0">
                <a:ea typeface="楷体_GB2312" panose="02010609030101010101" pitchFamily="49" charset="-122"/>
              </a:rPr>
              <a:t>                    </a:t>
            </a:r>
            <a:r>
              <a:rPr lang="zh-CN" altLang="zh-CN" sz="2800" dirty="0">
                <a:ea typeface="楷体_GB2312" panose="02010609030101010101" pitchFamily="49" charset="-122"/>
              </a:rPr>
              <a:t>（</a:t>
            </a:r>
            <a:r>
              <a:rPr lang="en-US" altLang="zh-CN" sz="2800" dirty="0">
                <a:ea typeface="楷体_GB2312" panose="02010609030101010101" pitchFamily="49" charset="-122"/>
              </a:rPr>
              <a:t>1001  0101 1000</a:t>
            </a:r>
            <a:r>
              <a:rPr lang="zh-CN" altLang="zh-CN" sz="2800" dirty="0">
                <a:ea typeface="楷体_GB2312" panose="02010609030101010101" pitchFamily="49" charset="-122"/>
              </a:rPr>
              <a:t>）</a:t>
            </a:r>
            <a:r>
              <a:rPr lang="en-US" altLang="zh-CN" sz="2800" baseline="-25000" dirty="0">
                <a:ea typeface="楷体_GB2312" panose="02010609030101010101" pitchFamily="49" charset="-122"/>
              </a:rPr>
              <a:t>BCD</a:t>
            </a:r>
            <a:r>
              <a:rPr lang="zh-CN" altLang="zh-CN" sz="2800" b="0" baseline="-25000" dirty="0"/>
              <a:t>码</a:t>
            </a:r>
            <a:r>
              <a:rPr lang="en-US" altLang="zh-CN" sz="2800" b="0" baseline="-25000" dirty="0"/>
              <a:t> </a:t>
            </a:r>
            <a:r>
              <a:rPr lang="en-US" altLang="zh-CN" sz="2800" dirty="0">
                <a:ea typeface="楷体_GB2312" panose="02010609030101010101" pitchFamily="49" charset="-122"/>
              </a:rPr>
              <a:t>= 958                                          </a:t>
            </a:r>
            <a:endParaRPr lang="en-US" altLang="zh-CN" sz="2600" dirty="0"/>
          </a:p>
          <a:p>
            <a:pPr>
              <a:buNone/>
            </a:pPr>
            <a:endParaRPr lang="zh-CN" altLang="zh-CN" sz="2600" dirty="0"/>
          </a:p>
          <a:p>
            <a:pPr>
              <a:buNone/>
            </a:pPr>
            <a:endParaRPr lang="zh-CN" altLang="zh-CN" sz="2600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83515" y="3048635"/>
            <a:ext cx="8777605" cy="1353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扩展：以上为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压缩的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BCD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码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，是用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位二进制表示一个十进制位。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如果用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8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位表示一个十进制位，叫做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非压缩的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BCD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码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如用 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01H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表示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09H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表示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9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，十进制数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91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即为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0901H</a:t>
            </a: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85728"/>
            <a:ext cx="5031029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圆角矩形 1"/>
          <p:cNvSpPr/>
          <p:nvPr/>
        </p:nvSpPr>
        <p:spPr>
          <a:xfrm>
            <a:off x="5447665" y="4420235"/>
            <a:ext cx="1511935" cy="2088515"/>
          </a:xfrm>
          <a:prstGeom prst="round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725930" y="964565"/>
            <a:ext cx="656907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 dirty="0">
                <a:ea typeface="宋体" panose="02010600030101010101" pitchFamily="2" charset="-122"/>
              </a:rPr>
              <a:t>试题实战：</a:t>
            </a:r>
          </a:p>
          <a:p>
            <a:pPr indent="0"/>
            <a:endParaRPr lang="zh-CN" sz="2800" b="0" dirty="0">
              <a:ea typeface="宋体" panose="02010600030101010101" pitchFamily="2" charset="-122"/>
            </a:endParaRPr>
          </a:p>
          <a:p>
            <a:pPr indent="0"/>
            <a:r>
              <a:rPr lang="zh-CN" sz="2800" b="0" dirty="0">
                <a:ea typeface="宋体" panose="02010600030101010101" pitchFamily="2" charset="-122"/>
              </a:rPr>
              <a:t>非压缩的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码数据</a:t>
            </a:r>
            <a:r>
              <a:rPr lang="en-US" sz="2800" b="0" dirty="0">
                <a:latin typeface="Times New Roman" panose="02020603050405020304" pitchFamily="18" charset="0"/>
              </a:rPr>
              <a:t>X=0603H</a:t>
            </a:r>
            <a:r>
              <a:rPr lang="zh-CN" sz="2800" b="0" dirty="0">
                <a:ea typeface="宋体" panose="02010600030101010101" pitchFamily="2" charset="-122"/>
              </a:rPr>
              <a:t>，代表十进制数据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，如果表示为压缩的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码应为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。压缩的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码数据</a:t>
            </a:r>
            <a:r>
              <a:rPr lang="en-US" altLang="zh-CN" sz="2800" b="0" dirty="0">
                <a:ea typeface="宋体" panose="02010600030101010101" pitchFamily="2" charset="-122"/>
              </a:rPr>
              <a:t>36</a:t>
            </a:r>
            <a:r>
              <a:rPr lang="en-US" sz="2800" b="0" dirty="0">
                <a:latin typeface="Times New Roman" panose="02020603050405020304" pitchFamily="18" charset="0"/>
              </a:rPr>
              <a:t>H</a:t>
            </a:r>
            <a:r>
              <a:rPr lang="zh-CN" sz="2800" b="0" dirty="0">
                <a:ea typeface="宋体" panose="02010600030101010101" pitchFamily="2" charset="-122"/>
              </a:rPr>
              <a:t>和</a:t>
            </a:r>
            <a:r>
              <a:rPr lang="en-US" sz="2800" b="0" dirty="0">
                <a:latin typeface="Times New Roman" panose="02020603050405020304" pitchFamily="18" charset="0"/>
              </a:rPr>
              <a:t>23H</a:t>
            </a:r>
            <a:r>
              <a:rPr lang="zh-CN" sz="2800" b="0" dirty="0">
                <a:ea typeface="宋体" panose="02010600030101010101" pitchFamily="2" charset="-122"/>
              </a:rPr>
              <a:t>相加结果应为</a:t>
            </a:r>
            <a:r>
              <a:rPr lang="zh-CN" altLang="en-US" sz="2800" b="0" dirty="0">
                <a:ea typeface="宋体" panose="02010600030101010101" pitchFamily="2" charset="-122"/>
              </a:rPr>
              <a:t>压缩的</a:t>
            </a:r>
            <a:r>
              <a:rPr lang="en-US" sz="2800" b="0" dirty="0">
                <a:latin typeface="Times New Roman" panose="02020603050405020304" pitchFamily="18" charset="0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</a:t>
            </a:r>
            <a:r>
              <a:rPr lang="zh-CN" altLang="en-US" sz="2800" b="0" dirty="0">
                <a:ea typeface="宋体" panose="02010600030101010101" pitchFamily="2" charset="-122"/>
              </a:rPr>
              <a:t>：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。</a:t>
            </a:r>
            <a:endParaRPr lang="zh-CN" altLang="en-US" sz="2800" dirty="0"/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7776000" cy="1143000"/>
          </a:xfrm>
        </p:spPr>
        <p:txBody>
          <a:bodyPr>
            <a:normAutofit/>
          </a:bodyPr>
          <a:lstStyle/>
          <a:p>
            <a:pPr>
              <a:lnSpc>
                <a:spcPts val="26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</a:t>
            </a:r>
            <a:b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merican</a:t>
            </a:r>
            <a:r>
              <a:rPr lang="en-US" altLang="zh-CN" sz="3200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tandard Code for</a:t>
            </a:r>
            <a:b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nformation Interchange</a:t>
            </a:r>
            <a:r>
              <a:rPr lang="zh-CN" altLang="zh-CN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4824536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美国标准信息交换码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用</a:t>
            </a:r>
            <a:r>
              <a:rPr lang="en-US" altLang="zh-CN" sz="2600" dirty="0"/>
              <a:t>7</a:t>
            </a:r>
            <a:r>
              <a:rPr lang="zh-CN" altLang="zh-CN" sz="2600" dirty="0"/>
              <a:t>位代码</a:t>
            </a:r>
            <a:r>
              <a:rPr lang="en-US" altLang="zh-CN" sz="2600" b="1" dirty="0">
                <a:solidFill>
                  <a:srgbClr val="FF7C80"/>
                </a:solidFill>
              </a:rPr>
              <a:t>00</a:t>
            </a:r>
            <a:r>
              <a:rPr lang="zh-CN" altLang="zh-CN" sz="2600" b="1" dirty="0">
                <a:solidFill>
                  <a:srgbClr val="FF7C80"/>
                </a:solidFill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</a:rPr>
              <a:t>7FH</a:t>
            </a:r>
            <a:r>
              <a:rPr lang="zh-CN" altLang="zh-CN" sz="2600" dirty="0"/>
              <a:t>表示计算机中存储的</a:t>
            </a:r>
            <a:r>
              <a:rPr lang="zh-CN" altLang="zh-CN" sz="2600" dirty="0">
                <a:solidFill>
                  <a:srgbClr val="FF7C80"/>
                </a:solidFill>
              </a:rPr>
              <a:t>字母</a:t>
            </a:r>
            <a:r>
              <a:rPr lang="zh-CN" altLang="zh-CN" sz="2600" dirty="0"/>
              <a:t>、</a:t>
            </a:r>
            <a:r>
              <a:rPr lang="zh-CN" altLang="zh-CN" sz="2600" dirty="0">
                <a:solidFill>
                  <a:srgbClr val="FF7C80"/>
                </a:solidFill>
              </a:rPr>
              <a:t>数字</a:t>
            </a:r>
            <a:r>
              <a:rPr lang="zh-CN" altLang="zh-CN" sz="2600" dirty="0"/>
              <a:t>及</a:t>
            </a:r>
            <a:r>
              <a:rPr lang="zh-CN" altLang="zh-CN" sz="2600" dirty="0">
                <a:solidFill>
                  <a:srgbClr val="FF7C80"/>
                </a:solidFill>
              </a:rPr>
              <a:t>符号</a:t>
            </a:r>
            <a:r>
              <a:rPr lang="zh-CN" altLang="zh-CN" sz="2600" dirty="0"/>
              <a:t>，共可表示</a:t>
            </a:r>
            <a:r>
              <a:rPr lang="en-US" altLang="zh-CN" sz="2600" dirty="0"/>
              <a:t>128</a:t>
            </a:r>
            <a:r>
              <a:rPr lang="zh-CN" altLang="zh-CN" sz="2600" dirty="0"/>
              <a:t>个字符。</a:t>
            </a:r>
            <a:r>
              <a:rPr lang="en-US" altLang="zh-CN" sz="2600" dirty="0"/>
              <a:t>ASCII</a:t>
            </a:r>
            <a:r>
              <a:rPr lang="zh-CN" altLang="zh-CN" sz="2600" dirty="0"/>
              <a:t>码表见附录</a:t>
            </a:r>
            <a:r>
              <a:rPr lang="en-US" altLang="zh-CN" sz="2600" dirty="0"/>
              <a:t>B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键盘键入的数、字母</a:t>
            </a:r>
            <a:r>
              <a:rPr lang="zh-CN" altLang="en-US" sz="2600" dirty="0"/>
              <a:t>、</a:t>
            </a:r>
            <a:r>
              <a:rPr lang="zh-CN" altLang="zh-CN" sz="2600" dirty="0"/>
              <a:t>送到</a:t>
            </a:r>
            <a:r>
              <a:rPr lang="en-US" altLang="zh-CN" sz="2600" dirty="0"/>
              <a:t>CRT</a:t>
            </a:r>
            <a:r>
              <a:rPr lang="zh-CN" altLang="zh-CN" sz="2600" dirty="0"/>
              <a:t>显示的字符都必须用</a:t>
            </a:r>
            <a:r>
              <a:rPr lang="en-US" altLang="zh-CN" sz="2600" dirty="0"/>
              <a:t>ASCII</a:t>
            </a:r>
            <a:r>
              <a:rPr lang="zh-CN" altLang="zh-CN" sz="2600" dirty="0"/>
              <a:t>码表示。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None/>
            </a:pPr>
            <a:r>
              <a:rPr lang="zh-CN" altLang="en-US" sz="2600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数字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0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9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ASCII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码为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30H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39H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，字母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A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41H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5AH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）、小写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a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61H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 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7AH 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）等。</a:t>
            </a:r>
            <a:endParaRPr lang="en-US" altLang="zh-CN" sz="2600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600" dirty="0"/>
              <a:t>      包含若干控</a:t>
            </a:r>
            <a:r>
              <a:rPr lang="zh-CN" altLang="zh-CN" sz="2600" dirty="0"/>
              <a:t>制字符</a:t>
            </a:r>
            <a:r>
              <a:rPr lang="zh-CN" altLang="en-US" sz="2600" dirty="0"/>
              <a:t>。</a:t>
            </a:r>
            <a:r>
              <a:rPr lang="zh-CN" altLang="en-US" sz="2600" dirty="0">
                <a:solidFill>
                  <a:srgbClr val="00B0F0"/>
                </a:solidFill>
                <a:ea typeface="楷体_GB2312" panose="02010609030101010101" pitchFamily="49" charset="-122"/>
              </a:rPr>
              <a:t>如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控制符，如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CR</a:t>
            </a:r>
            <a:r>
              <a:rPr lang="zh-CN" altLang="zh-CN" sz="2600" dirty="0">
                <a:solidFill>
                  <a:srgbClr val="FF7C80"/>
                </a:solidFill>
                <a:ea typeface="楷体_GB2312" panose="02010609030101010101" pitchFamily="49" charset="-122"/>
              </a:rPr>
              <a:t>回车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LF</a:t>
            </a:r>
            <a:r>
              <a:rPr lang="zh-CN" altLang="zh-CN" sz="2600" dirty="0">
                <a:solidFill>
                  <a:srgbClr val="FF7C80"/>
                </a:solidFill>
                <a:ea typeface="楷体_GB2312" panose="02010609030101010101" pitchFamily="49" charset="-122"/>
              </a:rPr>
              <a:t>换行</a:t>
            </a:r>
            <a:r>
              <a:rPr lang="zh-CN" altLang="zh-CN" sz="2600" dirty="0">
                <a:solidFill>
                  <a:srgbClr val="C00000"/>
                </a:solidFill>
                <a:ea typeface="楷体_GB2312" panose="02010609030101010101" pitchFamily="49" charset="-122"/>
              </a:rPr>
              <a:t>     </a:t>
            </a:r>
            <a:endParaRPr lang="zh-CN" altLang="en-US" sz="2600" u="sng" dirty="0"/>
          </a:p>
        </p:txBody>
      </p:sp>
    </p:spTree>
  </p:cSld>
  <p:clrMapOvr>
    <a:masterClrMapping/>
  </p:clrMapOvr>
  <p:transition spd="slow">
    <p:pull dir="l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725930" y="964565"/>
            <a:ext cx="6569075" cy="4431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实战练习：</a:t>
            </a:r>
          </a:p>
          <a:p>
            <a:pPr indent="0"/>
            <a:endParaRPr lang="zh-CN" sz="2800" b="0">
              <a:ea typeface="宋体" panose="02010600030101010101" pitchFamily="2" charset="-122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查表附录</a:t>
            </a:r>
            <a:r>
              <a:rPr lang="en-US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page490</a:t>
            </a:r>
            <a:r>
              <a:rPr lang="zh-CN" altLang="en-US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）</a:t>
            </a:r>
            <a:r>
              <a:rPr lang="zh-CN" altLang="en-US" sz="2800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：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‘a’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的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  <a:endParaRPr lang="zh-CN" altLang="en-US" sz="2800" dirty="0">
              <a:solidFill>
                <a:srgbClr val="FF7C80"/>
              </a:solidFill>
              <a:ea typeface="楷体_GB2312" panose="02010609030101010101" pitchFamily="49" charset="-122"/>
              <a:sym typeface="+mn-ea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‘A’</a:t>
            </a:r>
            <a:r>
              <a:rPr lang="en-US" altLang="zh-CN" sz="2800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=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  <a:endParaRPr lang="zh-CN" altLang="en-US" sz="2800" dirty="0">
              <a:solidFill>
                <a:srgbClr val="FF7C80"/>
              </a:solidFill>
              <a:ea typeface="楷体_GB2312" panose="02010609030101010101" pitchFamily="49" charset="-122"/>
              <a:sym typeface="+mn-ea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‘1’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的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‘9’</a:t>
            </a:r>
            <a:r>
              <a:rPr lang="zh-CN" altLang="en-US" sz="2800">
                <a:solidFill>
                  <a:srgbClr val="FF0000"/>
                </a:solidFill>
              </a:rPr>
              <a:t>的</a:t>
            </a:r>
            <a:r>
              <a:rPr lang="en-US" altLang="zh-CN" sz="2800">
                <a:solidFill>
                  <a:srgbClr val="FF0000"/>
                </a:solidFill>
              </a:rPr>
              <a:t>ASCII</a:t>
            </a:r>
            <a:r>
              <a:rPr lang="zh-CN" altLang="en-US" sz="2800">
                <a:solidFill>
                  <a:srgbClr val="FF0000"/>
                </a:solidFill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endParaRPr lang="zh-CN" altLang="en-US" sz="2800"/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/>
              <a:t>注：</a:t>
            </a:r>
            <a:r>
              <a:rPr lang="en-US" altLang="zh-CN" sz="2800"/>
              <a:t>ASCII</a:t>
            </a:r>
            <a:r>
              <a:rPr lang="zh-CN" altLang="en-US" sz="2800"/>
              <a:t>码表无需记忆</a:t>
            </a:r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14480" y="2071678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7720" y="5013325"/>
            <a:ext cx="1808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zh-CN" sz="3200" dirty="0">
                <a:solidFill>
                  <a:srgbClr val="00B0F0"/>
                </a:solidFill>
                <a:ea typeface="楷体_GB2312" panose="02010609030101010101" pitchFamily="49" charset="-122"/>
                <a:sym typeface="+mn-ea"/>
              </a:rPr>
              <a:t>重难点！</a:t>
            </a:r>
          </a:p>
        </p:txBody>
      </p:sp>
    </p:spTree>
  </p:cSld>
  <p:clrMapOvr>
    <a:masterClrMapping/>
  </p:clrMapOvr>
  <p:transition spd="slow">
    <p:wedg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476672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1.1.3 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带符号数的表示方法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5025740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3200" dirty="0"/>
              <a:t>符号表示</a:t>
            </a:r>
            <a:endParaRPr lang="en-US" altLang="zh-CN" sz="3200" dirty="0"/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800" dirty="0"/>
              <a:t>最高位</a:t>
            </a:r>
            <a:r>
              <a:rPr lang="zh-CN" altLang="en-US" sz="2800" dirty="0"/>
              <a:t>做</a:t>
            </a:r>
            <a:r>
              <a:rPr lang="zh-CN" altLang="zh-CN" sz="2800" dirty="0"/>
              <a:t>符号位</a:t>
            </a:r>
            <a:endParaRPr lang="en-US" altLang="zh-CN" sz="2800" dirty="0"/>
          </a:p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对于</a:t>
            </a:r>
            <a:r>
              <a:rPr lang="zh-CN" altLang="zh-CN" sz="2800" dirty="0"/>
              <a:t>长度</a:t>
            </a:r>
            <a:r>
              <a:rPr lang="en-US" altLang="zh-CN" sz="2800" dirty="0"/>
              <a:t>8</a:t>
            </a:r>
            <a:r>
              <a:rPr lang="zh-CN" altLang="zh-CN" sz="2800" dirty="0"/>
              <a:t>位</a:t>
            </a:r>
            <a:r>
              <a:rPr lang="zh-CN" altLang="en-US" sz="2800" dirty="0"/>
              <a:t>的数</a:t>
            </a:r>
            <a:r>
              <a:rPr lang="zh-CN" altLang="zh-CN" sz="2800" dirty="0"/>
              <a:t>（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zh-CN" altLang="zh-CN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r>
              <a:rPr lang="zh-CN" altLang="zh-CN" sz="2800" dirty="0"/>
              <a:t>），用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zh-CN" altLang="zh-CN" sz="2800" dirty="0"/>
              <a:t>位作符号位，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=1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负数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=0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正数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>
              <a:buClr>
                <a:srgbClr val="FF0000"/>
              </a:buClr>
              <a:buSzPct val="80000"/>
              <a:buNone/>
            </a:pPr>
            <a:r>
              <a:rPr lang="en-US" altLang="zh-CN" sz="2800" b="1" dirty="0">
                <a:solidFill>
                  <a:srgbClr val="00B0F0"/>
                </a:solidFill>
              </a:rPr>
              <a:t>   </a:t>
            </a:r>
            <a:r>
              <a:rPr lang="zh-CN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1.4</a:t>
            </a:r>
            <a:r>
              <a:rPr lang="en-US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    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en-US" altLang="zh-CN" sz="2800" dirty="0"/>
              <a:t>101 1101B = </a:t>
            </a:r>
            <a:r>
              <a:rPr lang="en-US" altLang="zh-CN" sz="2800" b="1" dirty="0">
                <a:solidFill>
                  <a:srgbClr val="00B0F0"/>
                </a:solidFill>
              </a:rPr>
              <a:t>+</a:t>
            </a:r>
            <a:r>
              <a:rPr lang="en-US" altLang="zh-CN" sz="2800" dirty="0"/>
              <a:t>93</a:t>
            </a:r>
            <a:endParaRPr lang="zh-CN" altLang="zh-CN" sz="2800" dirty="0"/>
          </a:p>
          <a:p>
            <a:pPr>
              <a:buClr>
                <a:srgbClr val="FF0000"/>
              </a:buClr>
              <a:buSzPct val="80000"/>
              <a:buNone/>
            </a:pPr>
            <a:r>
              <a:rPr lang="en-US" altLang="zh-CN" sz="2800" dirty="0"/>
              <a:t>                </a:t>
            </a:r>
            <a:r>
              <a:rPr lang="en-US" altLang="zh-CN" sz="2800" b="1" dirty="0">
                <a:solidFill>
                  <a:srgbClr val="00B0F0"/>
                </a:solidFill>
              </a:rPr>
              <a:t>1</a:t>
            </a:r>
            <a:r>
              <a:rPr lang="en-US" altLang="zh-CN" sz="2800" dirty="0"/>
              <a:t>101 1101B =</a:t>
            </a:r>
            <a:r>
              <a:rPr lang="en-US" altLang="zh-CN" sz="2800" dirty="0">
                <a:solidFill>
                  <a:srgbClr val="FF7C80"/>
                </a:solidFill>
              </a:rPr>
              <a:t> </a:t>
            </a:r>
            <a:r>
              <a:rPr lang="en-US" altLang="zh-CN" sz="2800" b="1" dirty="0">
                <a:solidFill>
                  <a:srgbClr val="00B0F0"/>
                </a:solidFill>
              </a:rPr>
              <a:t>−</a:t>
            </a:r>
            <a:r>
              <a:rPr lang="en-US" altLang="zh-CN" sz="2800" dirty="0"/>
              <a:t>93</a:t>
            </a:r>
          </a:p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对于长度</a:t>
            </a:r>
            <a:r>
              <a:rPr lang="en-US" altLang="zh-CN" sz="2800" dirty="0"/>
              <a:t>16</a:t>
            </a:r>
            <a:r>
              <a:rPr lang="zh-CN" altLang="zh-CN" sz="2800" dirty="0"/>
              <a:t>位</a:t>
            </a:r>
            <a:r>
              <a:rPr lang="zh-CN" altLang="en-US" sz="2800" dirty="0"/>
              <a:t>的</a:t>
            </a:r>
            <a:r>
              <a:rPr lang="zh-CN" altLang="zh-CN" sz="2800" dirty="0"/>
              <a:t>数（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zh-CN" altLang="zh-CN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r>
              <a:rPr lang="zh-CN" altLang="zh-CN" sz="2800" dirty="0"/>
              <a:t>），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=1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负数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=0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正数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 marL="0" indent="0">
              <a:spcBef>
                <a:spcPts val="24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dirty="0"/>
              <a:t>	   </a:t>
            </a:r>
            <a:r>
              <a:rPr lang="zh-CN" altLang="en-US" sz="2800" dirty="0"/>
              <a:t>带</a:t>
            </a:r>
            <a:r>
              <a:rPr lang="zh-CN" altLang="zh-CN" sz="2800" dirty="0"/>
              <a:t>符号位</a:t>
            </a:r>
            <a:r>
              <a:rPr lang="zh-CN" altLang="en-US" sz="2800" dirty="0"/>
              <a:t>的</a:t>
            </a:r>
            <a:r>
              <a:rPr lang="zh-CN" altLang="zh-CN" sz="2800" dirty="0"/>
              <a:t>数称为</a:t>
            </a:r>
            <a:r>
              <a:rPr lang="zh-CN" altLang="zh-CN" sz="2800" b="1" dirty="0">
                <a:solidFill>
                  <a:srgbClr val="FF7C80"/>
                </a:solidFill>
              </a:rPr>
              <a:t>机器数</a:t>
            </a:r>
            <a:r>
              <a:rPr lang="zh-CN" altLang="en-US" sz="2800" b="1" dirty="0"/>
              <a:t>，</a:t>
            </a:r>
            <a:endParaRPr lang="en-US" altLang="zh-CN" sz="2800" dirty="0"/>
          </a:p>
          <a:p>
            <a:pPr>
              <a:buClr>
                <a:srgbClr val="FFFF00"/>
              </a:buClr>
              <a:buSzPct val="90000"/>
              <a:buNone/>
            </a:pPr>
            <a:r>
              <a:rPr lang="en-US" altLang="zh-CN" sz="2800" dirty="0"/>
              <a:t>    		   </a:t>
            </a:r>
            <a:r>
              <a:rPr lang="zh-CN" altLang="zh-CN" sz="2800" dirty="0"/>
              <a:t>它表示的实际数值称为机器数的</a:t>
            </a:r>
            <a:r>
              <a:rPr lang="zh-CN" altLang="zh-CN" sz="2800" b="1" dirty="0">
                <a:solidFill>
                  <a:srgbClr val="FF7C80"/>
                </a:solidFill>
              </a:rPr>
              <a:t>真值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 dir="l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7776000" cy="11430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原码、反码和补码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2132856"/>
            <a:ext cx="7972452" cy="3993307"/>
          </a:xfrm>
        </p:spPr>
        <p:txBody>
          <a:bodyPr/>
          <a:lstStyle/>
          <a:p>
            <a:pPr>
              <a:buNone/>
            </a:pPr>
            <a:r>
              <a:rPr lang="zh-CN" altLang="zh-CN" dirty="0">
                <a:ea typeface="黑体" panose="02010609060101010101" pitchFamily="2" charset="-122"/>
              </a:rPr>
              <a:t>机器数（带符号的数）</a:t>
            </a:r>
            <a:r>
              <a:rPr lang="zh-CN" altLang="en-US" dirty="0">
                <a:ea typeface="黑体" panose="02010609060101010101" pitchFamily="2" charset="-122"/>
              </a:rPr>
              <a:t>可</a:t>
            </a:r>
            <a:r>
              <a:rPr lang="zh-CN" altLang="zh-CN" dirty="0">
                <a:ea typeface="黑体" panose="02010609060101010101" pitchFamily="2" charset="-122"/>
              </a:rPr>
              <a:t>表示</a:t>
            </a:r>
            <a:r>
              <a:rPr lang="zh-CN" altLang="en-US" dirty="0">
                <a:ea typeface="黑体" panose="02010609060101010101" pitchFamily="2" charset="-122"/>
              </a:rPr>
              <a:t>成：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原码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反码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补码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pull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776000" cy="80918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原码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305165"/>
            <a:ext cx="8229600" cy="4911741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u="sng" dirty="0">
                <a:solidFill>
                  <a:schemeClr val="accent4"/>
                </a:solidFill>
              </a:rPr>
              <a:t>正数的符号位用</a:t>
            </a:r>
            <a:r>
              <a:rPr lang="en-US" altLang="zh-CN" sz="3025" u="sng" dirty="0">
                <a:solidFill>
                  <a:schemeClr val="accent4"/>
                </a:solidFill>
              </a:rPr>
              <a:t>0</a:t>
            </a:r>
            <a:r>
              <a:rPr lang="zh-CN" altLang="zh-CN" sz="3025" u="sng" dirty="0">
                <a:solidFill>
                  <a:schemeClr val="accent4"/>
                </a:solidFill>
              </a:rPr>
              <a:t>表示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zh-CN" altLang="zh-CN" sz="3025" u="sng" dirty="0">
                <a:solidFill>
                  <a:schemeClr val="accent4"/>
                </a:solidFill>
              </a:rPr>
              <a:t>负数</a:t>
            </a:r>
            <a:r>
              <a:rPr lang="zh-CN" altLang="en-US" sz="3025" u="sng" dirty="0">
                <a:solidFill>
                  <a:schemeClr val="accent4"/>
                </a:solidFill>
              </a:rPr>
              <a:t>符号位</a:t>
            </a:r>
            <a:r>
              <a:rPr lang="zh-CN" altLang="zh-CN" sz="3025" u="sng" dirty="0">
                <a:solidFill>
                  <a:schemeClr val="accent4"/>
                </a:solidFill>
              </a:rPr>
              <a:t>用</a:t>
            </a:r>
            <a:r>
              <a:rPr lang="en-US" altLang="zh-CN" sz="3025" u="sng" dirty="0">
                <a:solidFill>
                  <a:schemeClr val="accent4"/>
                </a:solidFill>
              </a:rPr>
              <a:t>1</a:t>
            </a:r>
            <a:r>
              <a:rPr lang="zh-CN" altLang="zh-CN" sz="3025" u="sng" dirty="0">
                <a:solidFill>
                  <a:schemeClr val="accent4"/>
                </a:solidFill>
              </a:rPr>
              <a:t>表示</a:t>
            </a:r>
            <a:r>
              <a:rPr lang="zh-CN" altLang="zh-CN" sz="3025" dirty="0">
                <a:solidFill>
                  <a:schemeClr val="accent4"/>
                </a:solidFill>
              </a:rPr>
              <a:t>，其余位为二进制数值，这种表示方法称为原码。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zh-CN" altLang="zh-CN" sz="3025" dirty="0">
                <a:solidFill>
                  <a:schemeClr val="accent4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3025" b="1" dirty="0">
                <a:solidFill>
                  <a:schemeClr val="accent4"/>
                </a:solidFill>
                <a:ea typeface="楷体_GB2312" panose="02010609030101010101" pitchFamily="49" charset="-122"/>
              </a:rPr>
              <a:t>1.5</a:t>
            </a:r>
            <a:r>
              <a:rPr lang="en-US" altLang="zh-CN" sz="3025" dirty="0">
                <a:solidFill>
                  <a:schemeClr val="accent4"/>
                </a:solidFill>
                <a:ea typeface="楷体_GB2312" panose="02010609030101010101" pitchFamily="49" charset="-122"/>
              </a:rPr>
              <a:t>   </a:t>
            </a:r>
            <a:r>
              <a:rPr lang="en-US" altLang="zh-CN" sz="3025" dirty="0">
                <a:solidFill>
                  <a:schemeClr val="accent4"/>
                </a:solidFill>
              </a:rPr>
              <a:t>X=+105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en-US" altLang="zh-CN" sz="3025" dirty="0">
                <a:solidFill>
                  <a:schemeClr val="accent4"/>
                </a:solidFill>
              </a:rPr>
              <a:t>[X]</a:t>
            </a:r>
            <a:r>
              <a:rPr lang="zh-CN" altLang="zh-CN" sz="3025" baseline="-25000" dirty="0">
                <a:solidFill>
                  <a:schemeClr val="accent4"/>
                </a:solidFill>
              </a:rPr>
              <a:t>原</a:t>
            </a:r>
            <a:r>
              <a:rPr lang="en-US" altLang="zh-CN" sz="3025" dirty="0">
                <a:solidFill>
                  <a:schemeClr val="accent4"/>
                </a:solidFill>
              </a:rPr>
              <a:t>=0110 1001B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en-US" altLang="zh-CN" sz="3025" dirty="0">
                <a:solidFill>
                  <a:schemeClr val="accent4"/>
                </a:solidFill>
              </a:rPr>
              <a:t>            X=−105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en-US" altLang="zh-CN" sz="3025" dirty="0">
                <a:solidFill>
                  <a:schemeClr val="accent4"/>
                </a:solidFill>
              </a:rPr>
              <a:t>[X]</a:t>
            </a:r>
            <a:r>
              <a:rPr lang="zh-CN" altLang="zh-CN" sz="3025" baseline="-25000" dirty="0">
                <a:solidFill>
                  <a:schemeClr val="accent4"/>
                </a:solidFill>
              </a:rPr>
              <a:t>原</a:t>
            </a:r>
            <a:r>
              <a:rPr lang="en-US" altLang="zh-CN" sz="3025" dirty="0">
                <a:solidFill>
                  <a:schemeClr val="accent4"/>
                </a:solidFill>
              </a:rPr>
              <a:t>=1110 1001B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* 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有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+0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和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之分，也就是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有两个码同时表示</a:t>
            </a:r>
            <a:endParaRPr lang="en-US" altLang="zh-CN" sz="3025" dirty="0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原码简单易懂，与真值换算很方便</a:t>
            </a:r>
            <a:r>
              <a:rPr lang="zh-CN" altLang="en-US" sz="3025" dirty="0">
                <a:solidFill>
                  <a:schemeClr val="accent4"/>
                </a:solidFill>
              </a:rPr>
              <a:t>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若要进行两个异号数相加</a:t>
            </a:r>
            <a:r>
              <a:rPr lang="zh-CN" altLang="en-US" sz="3025" dirty="0">
                <a:solidFill>
                  <a:schemeClr val="accent4"/>
                </a:solidFill>
              </a:rPr>
              <a:t>，</a:t>
            </a:r>
            <a:r>
              <a:rPr lang="zh-CN" altLang="zh-CN" sz="3025" dirty="0">
                <a:solidFill>
                  <a:schemeClr val="accent4"/>
                </a:solidFill>
              </a:rPr>
              <a:t>或两个同号数相减的运算，就要做减法操作。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一般的计算机中</a:t>
            </a:r>
            <a:r>
              <a:rPr lang="zh-CN" altLang="zh-CN" sz="3025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没有减法运算部件</a:t>
            </a:r>
            <a:r>
              <a:rPr lang="zh-CN" altLang="zh-CN" sz="3025" b="1" dirty="0">
                <a:solidFill>
                  <a:schemeClr val="accent4"/>
                </a:solidFill>
                <a:effectLst/>
              </a:rPr>
              <a:t>（</a:t>
            </a:r>
            <a:r>
              <a:rPr lang="zh-CN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换言之，能不能有种办法，让计算机的减法也可以用加法器实现</a:t>
            </a:r>
            <a:r>
              <a:rPr lang="en-US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简化了</a:t>
            </a:r>
            <a:r>
              <a:rPr lang="en-US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CPU</a:t>
            </a:r>
            <a:r>
              <a:rPr lang="zh-CN" altLang="en-US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设计</a:t>
            </a:r>
            <a:r>
              <a:rPr lang="zh-CN" altLang="zh-CN" sz="3025" b="1" dirty="0">
                <a:solidFill>
                  <a:schemeClr val="accent4"/>
                </a:solidFill>
                <a:effectLst/>
              </a:rPr>
              <a:t>）</a:t>
            </a:r>
            <a:endParaRPr lang="zh-CN" altLang="zh-CN" sz="3025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7776000" cy="81089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反码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857892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正数的反码与原码相同</a:t>
            </a:r>
            <a:r>
              <a:rPr lang="zh-CN" altLang="zh-CN" dirty="0"/>
              <a:t>，最高位为符号位用</a:t>
            </a:r>
            <a:r>
              <a:rPr lang="en-US" altLang="zh-CN" dirty="0"/>
              <a:t>0</a:t>
            </a:r>
            <a:r>
              <a:rPr lang="zh-CN" altLang="zh-CN" dirty="0"/>
              <a:t>表示，其余位为数值。</a:t>
            </a:r>
          </a:p>
          <a:p>
            <a:pPr>
              <a:buClr>
                <a:srgbClr val="C00000"/>
              </a:buCl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1.6</a:t>
            </a:r>
            <a:r>
              <a:rPr lang="en-US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	 </a:t>
            </a:r>
            <a:r>
              <a:rPr lang="en-US" altLang="zh-CN" dirty="0"/>
              <a:t>[+4]</a:t>
            </a:r>
            <a:r>
              <a:rPr lang="zh-CN" altLang="zh-CN" baseline="-25000" dirty="0"/>
              <a:t>反</a:t>
            </a:r>
            <a:r>
              <a:rPr lang="en-US" altLang="zh-CN" dirty="0"/>
              <a:t>=0000 0100B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      	 [+31]</a:t>
            </a:r>
            <a:r>
              <a:rPr lang="zh-CN" altLang="zh-CN" baseline="-25000" dirty="0"/>
              <a:t>反</a:t>
            </a:r>
            <a:r>
              <a:rPr lang="en-US" altLang="zh-CN" dirty="0"/>
              <a:t>=0001 1111B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      	 [+127]</a:t>
            </a:r>
            <a:r>
              <a:rPr lang="zh-CN" altLang="zh-CN" baseline="-25000" dirty="0"/>
              <a:t>反</a:t>
            </a:r>
            <a:r>
              <a:rPr lang="en-US" altLang="zh-CN" dirty="0"/>
              <a:t>=0111 1111B  (</a:t>
            </a:r>
            <a:r>
              <a:rPr lang="zh-CN" altLang="zh-CN" dirty="0"/>
              <a:t>最大值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负数的反码为它的正数按位取反</a:t>
            </a:r>
            <a:r>
              <a:rPr lang="zh-CN" altLang="zh-CN" dirty="0"/>
              <a:t>，即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连符号位一同取反</a:t>
            </a:r>
            <a:r>
              <a:rPr lang="zh-CN" altLang="zh-CN" dirty="0"/>
              <a:t>。</a:t>
            </a:r>
          </a:p>
          <a:p>
            <a:pPr>
              <a:buClr>
                <a:srgbClr val="C00000"/>
              </a:buCl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1.7    </a:t>
            </a:r>
            <a:r>
              <a:rPr lang="en-US" altLang="zh-CN" dirty="0"/>
              <a:t>[−4]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1111 1011B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	 [−31]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1110 0000B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	 [−127]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1000 0000B  (</a:t>
            </a:r>
            <a:r>
              <a:rPr lang="zh-CN" altLang="zh-CN" dirty="0"/>
              <a:t>最小值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dirty="0"/>
              <a:t>8</a:t>
            </a:r>
            <a:r>
              <a:rPr lang="zh-CN" altLang="zh-CN" dirty="0"/>
              <a:t>位二进制数的反码范围为</a:t>
            </a:r>
            <a:r>
              <a:rPr lang="en-US" altLang="zh-CN" dirty="0"/>
              <a:t>−127</a:t>
            </a:r>
            <a:r>
              <a:rPr lang="zh-CN" altLang="zh-CN" dirty="0"/>
              <a:t>～</a:t>
            </a:r>
            <a:r>
              <a:rPr lang="en-US" altLang="zh-CN" dirty="0"/>
              <a:t>+127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/>
              <a:t>带符号数用反码表示时，最高位为符号位，当它为正数时，后</a:t>
            </a:r>
            <a:r>
              <a:rPr lang="en-US" altLang="zh-CN" dirty="0"/>
              <a:t>7</a:t>
            </a:r>
            <a:r>
              <a:rPr lang="zh-CN" altLang="zh-CN" dirty="0"/>
              <a:t>位为真正的值，它为负数时，后</a:t>
            </a:r>
            <a:r>
              <a:rPr lang="en-US" altLang="zh-CN" dirty="0"/>
              <a:t>7</a:t>
            </a:r>
            <a:r>
              <a:rPr lang="zh-CN" altLang="zh-CN" dirty="0"/>
              <a:t>位要取反后才能得到真正的值。</a:t>
            </a:r>
          </a:p>
          <a:p>
            <a:pP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              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1.8</a:t>
            </a:r>
            <a:r>
              <a:rPr lang="en-US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  </a:t>
            </a:r>
            <a:r>
              <a:rPr lang="en-US" altLang="zh-CN" dirty="0"/>
              <a:t>[X]</a:t>
            </a:r>
            <a:r>
              <a:rPr lang="zh-CN" altLang="zh-CN" baseline="-25000" dirty="0"/>
              <a:t>反</a:t>
            </a:r>
            <a:r>
              <a:rPr lang="en-US" altLang="zh-CN" dirty="0"/>
              <a:t>=1001 0100B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	                       [X]</a:t>
            </a:r>
            <a:r>
              <a:rPr lang="zh-CN" altLang="zh-CN" baseline="-25000" dirty="0"/>
              <a:t>真值</a:t>
            </a:r>
            <a:r>
              <a:rPr lang="en-US" altLang="zh-CN" dirty="0"/>
              <a:t>=−[110 1011]= −107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zoom dir="in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80918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补码（重点）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1915" y="1285875"/>
            <a:ext cx="7247255" cy="5572125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正数的补码</a:t>
            </a:r>
            <a:r>
              <a:rPr lang="zh-CN" altLang="en-US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同</a:t>
            </a: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原码</a:t>
            </a:r>
            <a:r>
              <a:rPr lang="zh-CN" altLang="en-US" dirty="0"/>
              <a:t>，</a:t>
            </a:r>
            <a:r>
              <a:rPr lang="zh-CN" altLang="zh-CN" dirty="0"/>
              <a:t>符号位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</a:p>
          <a:p>
            <a:pPr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负数的补码</a:t>
            </a:r>
            <a:r>
              <a:rPr lang="zh-CN" altLang="en-US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为其</a:t>
            </a: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反码加</a:t>
            </a:r>
            <a:r>
              <a:rPr lang="en-US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  <a:r>
              <a:rPr lang="zh-CN" altLang="zh-CN" dirty="0"/>
              <a:t>。</a:t>
            </a:r>
            <a:r>
              <a:rPr lang="zh-CN" altLang="zh-CN" dirty="0">
                <a:sym typeface="+mn-ea"/>
              </a:rPr>
              <a:t>符号位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1</a:t>
            </a:r>
            <a:endParaRPr lang="zh-CN" altLang="zh-CN" dirty="0"/>
          </a:p>
          <a:p>
            <a:pPr>
              <a:buNone/>
            </a:pPr>
            <a:r>
              <a:rPr lang="zh-CN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1.9 </a:t>
            </a:r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[+4]</a:t>
            </a:r>
            <a:r>
              <a:rPr lang="zh-CN" altLang="zh-CN" baseline="-25000" dirty="0"/>
              <a:t>原</a:t>
            </a:r>
            <a:r>
              <a:rPr lang="en-US" altLang="zh-CN" dirty="0"/>
              <a:t>=0000 0100 = [+4]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[+4]</a:t>
            </a:r>
            <a:r>
              <a:rPr lang="zh-CN" altLang="zh-CN" baseline="-25000" dirty="0"/>
              <a:t>补</a:t>
            </a:r>
            <a:endParaRPr lang="zh-CN" altLang="zh-CN" dirty="0"/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[−4]</a:t>
            </a:r>
            <a:r>
              <a:rPr lang="zh-CN" altLang="zh-CN" baseline="-25000" dirty="0"/>
              <a:t>原</a:t>
            </a:r>
            <a:r>
              <a:rPr lang="en-US" altLang="zh-CN" dirty="0"/>
              <a:t>=1000 0100B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[−4]</a:t>
            </a:r>
            <a:r>
              <a:rPr lang="zh-CN" altLang="zh-CN" baseline="-25000" dirty="0"/>
              <a:t>反</a:t>
            </a:r>
            <a:r>
              <a:rPr lang="en-US" altLang="zh-CN" dirty="0"/>
              <a:t>=1111 1011B     </a:t>
            </a:r>
            <a:r>
              <a:rPr lang="zh-CN" altLang="zh-CN" dirty="0"/>
              <a:t>（正数按位取反）</a:t>
            </a:r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[−4]</a:t>
            </a:r>
            <a:r>
              <a:rPr lang="zh-CN" altLang="zh-CN" baseline="-25000" dirty="0"/>
              <a:t>补</a:t>
            </a:r>
            <a:r>
              <a:rPr lang="en-US" altLang="zh-CN" dirty="0"/>
              <a:t>=1111 1100B     </a:t>
            </a:r>
            <a:r>
              <a:rPr lang="zh-CN" altLang="zh-CN" dirty="0"/>
              <a:t>（反码</a:t>
            </a:r>
            <a:r>
              <a:rPr lang="en-US" altLang="zh-CN" dirty="0"/>
              <a:t>+1</a:t>
            </a:r>
            <a:r>
              <a:rPr lang="zh-CN" altLang="zh-CN" dirty="0"/>
              <a:t>）</a:t>
            </a:r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[+127]</a:t>
            </a:r>
            <a:r>
              <a:rPr lang="zh-CN" altLang="zh-CN" baseline="-25000" dirty="0"/>
              <a:t>原</a:t>
            </a:r>
            <a:r>
              <a:rPr lang="en-US" altLang="zh-CN" dirty="0"/>
              <a:t>=0111 1111B = [+127]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[+127]</a:t>
            </a:r>
            <a:r>
              <a:rPr lang="zh-CN" altLang="zh-CN" baseline="-25000" dirty="0"/>
              <a:t>补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原</a:t>
            </a:r>
            <a:r>
              <a:rPr lang="en-US" altLang="zh-CN" dirty="0"/>
              <a:t>=1111 1111B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反</a:t>
            </a:r>
            <a:r>
              <a:rPr lang="en-US" altLang="zh-CN" dirty="0"/>
              <a:t>=1000 0000B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补</a:t>
            </a:r>
            <a:r>
              <a:rPr lang="en-US" altLang="zh-CN" dirty="0"/>
              <a:t>=1000 0001B</a:t>
            </a:r>
            <a:endParaRPr lang="zh-CN" altLang="zh-CN" dirty="0"/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>
                <a:solidFill>
                  <a:srgbClr val="C00000"/>
                </a:solidFill>
              </a:rPr>
              <a:t>[−128]</a:t>
            </a:r>
            <a:r>
              <a:rPr lang="zh-CN" altLang="zh-CN" baseline="-25000" dirty="0">
                <a:solidFill>
                  <a:srgbClr val="C00000"/>
                </a:solidFill>
              </a:rPr>
              <a:t>补</a:t>
            </a:r>
            <a:r>
              <a:rPr lang="en-US" altLang="zh-CN" dirty="0">
                <a:solidFill>
                  <a:srgbClr val="C00000"/>
                </a:solidFill>
              </a:rPr>
              <a:t>=1000 0000B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274853" y="6237312"/>
            <a:ext cx="3840480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为什么补码多出来一个数？</a:t>
            </a:r>
          </a:p>
        </p:txBody>
      </p:sp>
    </p:spTree>
  </p:cSld>
  <p:clrMapOvr>
    <a:masterClrMapping/>
  </p:clrMapOvr>
  <p:transition spd="slow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7776000" cy="952634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补码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3366706"/>
          </a:xfrm>
        </p:spPr>
        <p:txBody>
          <a:bodyPr>
            <a:normAutofit fontScale="92500"/>
          </a:bodyPr>
          <a:lstStyle/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dirty="0"/>
              <a:t>8</a:t>
            </a:r>
            <a:r>
              <a:rPr lang="zh-CN" altLang="zh-CN" dirty="0"/>
              <a:t>位二进制数能表示的补码范围为</a:t>
            </a:r>
            <a:r>
              <a:rPr lang="en-US" altLang="zh-CN" dirty="0">
                <a:solidFill>
                  <a:srgbClr val="C00000"/>
                </a:solidFill>
              </a:rPr>
              <a:t>−128</a:t>
            </a:r>
            <a:r>
              <a:rPr lang="zh-CN" altLang="zh-CN" dirty="0">
                <a:solidFill>
                  <a:srgbClr val="C00000"/>
                </a:solidFill>
              </a:rPr>
              <a:t>～</a:t>
            </a:r>
            <a:r>
              <a:rPr lang="en-US" altLang="zh-CN" dirty="0">
                <a:solidFill>
                  <a:srgbClr val="C00000"/>
                </a:solidFill>
              </a:rPr>
              <a:t>+127</a:t>
            </a:r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dirty="0"/>
              <a:t>16</a:t>
            </a:r>
            <a:r>
              <a:rPr lang="zh-CN" altLang="zh-CN" dirty="0"/>
              <a:t>位二进制数能表示的补码范围为</a:t>
            </a:r>
            <a:r>
              <a:rPr lang="en-US" altLang="zh-CN" dirty="0">
                <a:solidFill>
                  <a:srgbClr val="C00000"/>
                </a:solidFill>
              </a:rPr>
              <a:t>−32768</a:t>
            </a:r>
            <a:r>
              <a:rPr lang="zh-CN" altLang="zh-CN" dirty="0">
                <a:solidFill>
                  <a:srgbClr val="C00000"/>
                </a:solidFill>
              </a:rPr>
              <a:t>～</a:t>
            </a:r>
            <a:r>
              <a:rPr lang="en-US" altLang="zh-CN" dirty="0">
                <a:solidFill>
                  <a:srgbClr val="C00000"/>
                </a:solidFill>
              </a:rPr>
              <a:t>+32767</a:t>
            </a:r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dirty="0"/>
              <a:t>带符号数用补码表示时，最高位是符号位</a:t>
            </a:r>
            <a:endParaRPr lang="en-US" altLang="zh-CN" dirty="0"/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/>
              <a:t>当符号位</a:t>
            </a:r>
            <a:r>
              <a:rPr lang="en-US" altLang="zh-CN" dirty="0"/>
              <a:t>=0</a:t>
            </a:r>
            <a:r>
              <a:rPr lang="zh-CN" altLang="zh-CN" dirty="0"/>
              <a:t>，表示正数，后</a:t>
            </a:r>
            <a:r>
              <a:rPr lang="en-US" altLang="zh-CN" dirty="0"/>
              <a:t>7</a:t>
            </a:r>
            <a:r>
              <a:rPr lang="zh-CN" altLang="zh-CN" dirty="0"/>
              <a:t>位为其真正的数；</a:t>
            </a:r>
            <a:endParaRPr lang="en-US" altLang="zh-CN" dirty="0"/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/>
              <a:t>当符号位</a:t>
            </a:r>
            <a:r>
              <a:rPr lang="en-US" altLang="zh-CN" dirty="0"/>
              <a:t>=1</a:t>
            </a:r>
            <a:r>
              <a:rPr lang="zh-CN" altLang="zh-CN" dirty="0"/>
              <a:t>，表示负数，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要换算才能得到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真数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wheel spokes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1143000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补码（数学表达）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</p:spPr>
        <p:txBody>
          <a:bodyPr>
            <a:normAutofit fontScale="85000" lnSpcReduction="10000"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可将补码</a:t>
            </a:r>
            <a:r>
              <a:rPr lang="zh-CN" altLang="en-US" dirty="0"/>
              <a:t>连同</a:t>
            </a:r>
            <a:r>
              <a:rPr lang="zh-CN" altLang="zh-CN" dirty="0"/>
              <a:t>符号位看</a:t>
            </a:r>
            <a:r>
              <a:rPr lang="zh-CN" altLang="en-US" dirty="0"/>
              <a:t>成</a:t>
            </a:r>
            <a:r>
              <a:rPr lang="zh-CN" altLang="zh-CN" dirty="0"/>
              <a:t>一个数，各位的权都是</a:t>
            </a:r>
            <a:r>
              <a:rPr lang="en-US" altLang="zh-CN" dirty="0"/>
              <a:t>2</a:t>
            </a:r>
            <a:r>
              <a:rPr lang="en-US" altLang="zh-CN" baseline="30000" dirty="0"/>
              <a:t>i</a:t>
            </a:r>
            <a:r>
              <a:rPr lang="zh-CN" altLang="en-US" dirty="0"/>
              <a:t>。其</a:t>
            </a:r>
            <a:r>
              <a:rPr lang="zh-CN" altLang="zh-CN" dirty="0"/>
              <a:t>最高位</a:t>
            </a:r>
            <a:r>
              <a:rPr lang="en-US" altLang="zh-CN" dirty="0"/>
              <a:t>=0</a:t>
            </a:r>
            <a:r>
              <a:rPr lang="zh-CN" altLang="zh-CN" dirty="0"/>
              <a:t>时</a:t>
            </a:r>
            <a:r>
              <a:rPr lang="zh-CN" altLang="en-US" dirty="0"/>
              <a:t>为</a:t>
            </a:r>
            <a:r>
              <a:rPr lang="zh-CN" altLang="zh-CN" dirty="0"/>
              <a:t>正，</a:t>
            </a:r>
            <a:r>
              <a:rPr lang="en-US" altLang="zh-CN" dirty="0"/>
              <a:t>=1</a:t>
            </a:r>
            <a:r>
              <a:rPr lang="zh-CN" altLang="zh-CN" dirty="0"/>
              <a:t>时</a:t>
            </a:r>
            <a:r>
              <a:rPr lang="zh-CN" altLang="en-US" dirty="0"/>
              <a:t>为</a:t>
            </a:r>
            <a:r>
              <a:rPr lang="zh-CN" altLang="zh-CN" dirty="0"/>
              <a:t>负，其余为数值，设其字长为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/>
              <a:t>，每位数值为</a:t>
            </a:r>
            <a:r>
              <a:rPr lang="en-US" altLang="zh-CN" dirty="0"/>
              <a:t>b</a:t>
            </a:r>
            <a:r>
              <a:rPr lang="en-US" altLang="zh-CN" i="1" baseline="-25000" dirty="0"/>
              <a:t>i</a:t>
            </a:r>
            <a:r>
              <a:rPr lang="zh-CN" altLang="en-US" dirty="0"/>
              <a:t>其值为则</a:t>
            </a:r>
            <a:r>
              <a:rPr lang="zh-CN" altLang="zh-CN" dirty="0"/>
              <a:t>：</a:t>
            </a:r>
          </a:p>
          <a:p>
            <a:pPr marL="914400" lvl="2" indent="0" fontAlgn="auto">
              <a:spcBef>
                <a:spcPts val="1200"/>
              </a:spcBef>
              <a:spcAft>
                <a:spcPts val="1200"/>
              </a:spcAft>
              <a:buClr>
                <a:srgbClr val="C00000"/>
              </a:buClr>
              <a:buSzPct val="80000"/>
              <a:buNone/>
            </a:pPr>
            <a:r>
              <a:rPr lang="en-US" altLang="zh-CN" dirty="0"/>
              <a:t>	</a:t>
            </a:r>
            <a:r>
              <a:rPr lang="en-US" altLang="zh-CN" sz="3600" dirty="0"/>
              <a:t>X=</a:t>
            </a:r>
            <a:r>
              <a:rPr lang="en-US" altLang="zh-CN" sz="3600" dirty="0">
                <a:solidFill>
                  <a:srgbClr val="FF0000"/>
                </a:solidFill>
              </a:rPr>
              <a:t>(+</a:t>
            </a:r>
            <a:r>
              <a:rPr lang="zh-CN" altLang="zh-CN" sz="3600" dirty="0">
                <a:solidFill>
                  <a:srgbClr val="FF0000"/>
                </a:solidFill>
              </a:rPr>
              <a:t>或</a:t>
            </a:r>
            <a:r>
              <a:rPr lang="en-US" altLang="zh-CN" sz="3600" dirty="0">
                <a:solidFill>
                  <a:srgbClr val="FF0000"/>
                </a:solidFill>
              </a:rPr>
              <a:t>-)b</a:t>
            </a:r>
            <a:r>
              <a:rPr lang="en-US" altLang="zh-CN" sz="3600" i="1" baseline="-25000" dirty="0">
                <a:solidFill>
                  <a:srgbClr val="FF0000"/>
                </a:solidFill>
              </a:rPr>
              <a:t>k-1</a:t>
            </a:r>
            <a:r>
              <a:rPr lang="zh-CN" altLang="en-US" sz="3600" i="1" dirty="0">
                <a:solidFill>
                  <a:srgbClr val="FF0000"/>
                </a:solidFill>
              </a:rPr>
              <a:t>×</a:t>
            </a:r>
            <a:r>
              <a:rPr lang="en-US" altLang="zh-CN" sz="3600" dirty="0">
                <a:solidFill>
                  <a:srgbClr val="FF0000"/>
                </a:solidFill>
              </a:rPr>
              <a:t>2</a:t>
            </a:r>
            <a:r>
              <a:rPr lang="en-US" altLang="zh-CN" sz="3600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zh-CN" sz="3600" dirty="0"/>
              <a:t>+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3600" i="1" baseline="-25000" dirty="0">
                <a:solidFill>
                  <a:schemeClr val="tx1"/>
                </a:solidFill>
                <a:sym typeface="+mn-ea"/>
              </a:rPr>
              <a:t>k-1</a:t>
            </a:r>
            <a:r>
              <a:rPr lang="zh-CN" altLang="en-US" sz="3600" i="1" dirty="0">
                <a:solidFill>
                  <a:schemeClr val="tx1"/>
                </a:solidFill>
                <a:sym typeface="+mn-ea"/>
              </a:rPr>
              <a:t>×</a:t>
            </a:r>
            <a:r>
              <a:rPr lang="en-US" altLang="zh-CN" sz="3600" dirty="0">
                <a:solidFill>
                  <a:schemeClr val="tx1"/>
                </a:solidFill>
              </a:rPr>
              <a:t>2</a:t>
            </a:r>
            <a:r>
              <a:rPr lang="en-US" altLang="zh-CN" sz="3600" i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k-2</a:t>
            </a:r>
            <a:r>
              <a:rPr lang="en-US" altLang="zh-CN" sz="3600" dirty="0">
                <a:sym typeface="+mn-ea"/>
              </a:rPr>
              <a:t>+...b</a:t>
            </a:r>
            <a:r>
              <a:rPr lang="en-US" altLang="zh-CN" sz="3600" baseline="-25000" dirty="0">
                <a:sym typeface="+mn-ea"/>
              </a:rPr>
              <a:t>0</a:t>
            </a:r>
            <a:r>
              <a:rPr lang="zh-CN" altLang="en-US" sz="3600" dirty="0">
                <a:sym typeface="+mn-ea"/>
              </a:rPr>
              <a:t>×</a:t>
            </a:r>
            <a:r>
              <a:rPr lang="en-US" altLang="zh-CN" sz="3600" dirty="0">
                <a:sym typeface="+mn-ea"/>
              </a:rPr>
              <a:t>2</a:t>
            </a:r>
            <a:r>
              <a:rPr lang="en-US" altLang="zh-CN" sz="3600" i="1" baseline="30000" dirty="0">
                <a:latin typeface="Times New Roman" panose="02020603050405020304" pitchFamily="18" charset="0"/>
                <a:sym typeface="+mn-ea"/>
              </a:rPr>
              <a:t>0</a:t>
            </a:r>
          </a:p>
          <a:p>
            <a:pPr marL="0" lvl="2" indent="0" algn="l" fontAlgn="auto">
              <a:spcBef>
                <a:spcPct val="200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3200" dirty="0"/>
              <a:t>例1.11 </a:t>
            </a:r>
          </a:p>
          <a:p>
            <a:pPr>
              <a:buNone/>
            </a:pP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</a:rPr>
              <a:t>		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[−128]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1000 0000B = 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−1</a:t>
            </a:r>
            <a:r>
              <a:rPr lang="zh-CN" altLang="en-US" dirty="0">
                <a:solidFill>
                  <a:srgbClr val="FF0000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+0=-128</a:t>
            </a: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最高位的权为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2</a:t>
            </a:r>
            <a:r>
              <a:rPr lang="en-US" altLang="zh-CN" baseline="30000" dirty="0">
                <a:solidFill>
                  <a:schemeClr val="tx1"/>
                </a:solidFill>
                <a:ea typeface="楷体_GB2312" panose="02010609030101010101" pitchFamily="49" charset="-122"/>
              </a:rPr>
              <a:t>7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=128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同样，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[−4]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1111 1100B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            =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−128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+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64+32+16+8+4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	   =  −4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   [+4]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0000 0100B =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+0</a:t>
            </a:r>
            <a:r>
              <a:rPr lang="zh-CN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+1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= 4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1143000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补码（本质）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484784"/>
            <a:ext cx="8229600" cy="5184576"/>
          </a:xfrm>
        </p:spPr>
        <p:txBody>
          <a:bodyPr>
            <a:normAutofit fontScale="87500" lnSpcReduction="20000"/>
          </a:bodyPr>
          <a:lstStyle/>
          <a:p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再教大家一个计算的方法</a:t>
            </a:r>
            <a:r>
              <a:rPr lang="zh-CN" altLang="en-US" dirty="0">
                <a:solidFill>
                  <a:srgbClr val="FF0000"/>
                </a:solidFill>
                <a:ea typeface="楷体_GB2312" panose="02010609030101010101" pitchFamily="49" charset="-122"/>
              </a:rPr>
              <a:t>（记住这个就够了）</a:t>
            </a:r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[X]</a:t>
            </a:r>
            <a:r>
              <a:rPr lang="zh-CN" altLang="en-US" b="1" baseline="-25000" dirty="0">
                <a:latin typeface="Comic Sans MS" panose="030F0702030302020204" pitchFamily="2" charset="0"/>
                <a:sym typeface="+mn-ea"/>
              </a:rPr>
              <a:t>补</a:t>
            </a:r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= [</a:t>
            </a:r>
            <a:r>
              <a:rPr lang="en-US" altLang="zh-CN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-</a:t>
            </a:r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X]</a:t>
            </a:r>
            <a:r>
              <a:rPr lang="zh-CN" altLang="en-US" b="1" baseline="-25000" dirty="0">
                <a:latin typeface="Comic Sans MS" panose="030F0702030302020204" pitchFamily="2" charset="0"/>
                <a:sym typeface="+mn-ea"/>
              </a:rPr>
              <a:t>补</a:t>
            </a:r>
            <a:r>
              <a:rPr lang="zh-CN" altLang="en-US" b="1" dirty="0">
                <a:latin typeface="Comic Sans MS" panose="030F0702030302020204" pitchFamily="2" charset="0"/>
                <a:sym typeface="+mn-ea"/>
              </a:rPr>
              <a:t>带符号位一起取反加一</a:t>
            </a:r>
            <a:endParaRPr lang="en-US" altLang="zh-CN" b="1" dirty="0">
              <a:latin typeface="Comic Sans MS" panose="030F0702030302020204" pitchFamily="2" charset="0"/>
              <a:sym typeface="+mn-ea"/>
            </a:endParaRPr>
          </a:p>
          <a:p>
            <a:r>
              <a:rPr lang="zh-CN" altLang="en-US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即：对一个补码进行取反加一，就得到其相反数的补码</a:t>
            </a:r>
          </a:p>
          <a:p>
            <a:pPr marL="0" indent="0">
              <a:buNone/>
            </a:pPr>
            <a:r>
              <a:rPr lang="zh-CN" altLang="zh-CN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例</a:t>
            </a:r>
            <a:r>
              <a:rPr lang="en-US" altLang="zh-CN" b="1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1.10</a:t>
            </a: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 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若已知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[X]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=1001 0100B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，求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X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的原码。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解：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符号位不变，其余位取反加一</a:t>
            </a:r>
            <a:endParaRPr lang="en-US" altLang="zh-CN" dirty="0">
              <a:ea typeface="楷体_GB2312" panose="02010609030101010101" pitchFamily="49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   1 0010100B</a:t>
            </a: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取反</a:t>
            </a:r>
          </a:p>
          <a:p>
            <a:pPr>
              <a:buNone/>
            </a:pP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                               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1101011B</a:t>
            </a: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</a:t>
            </a:r>
            <a:r>
              <a:rPr lang="en-US" altLang="zh-CN" u="sng" dirty="0">
                <a:ea typeface="楷体_GB2312" panose="02010609030101010101" pitchFamily="49" charset="-122"/>
                <a:sym typeface="+mn-ea"/>
              </a:rPr>
              <a:t>+                 1B</a:t>
            </a: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加</a:t>
            </a:r>
            <a:r>
              <a:rPr lang="en-US" altLang="zh-CN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1</a:t>
            </a:r>
            <a:endParaRPr lang="en-US" altLang="zh-CN" u="sng" dirty="0">
              <a:ea typeface="楷体_GB2312" panose="02010609030101010101" pitchFamily="49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		      1 1101100B(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原码，即为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-108)        </a:t>
            </a: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		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楷体_GB2312" panose="02010609030101010101" pitchFamily="49" charset="-122"/>
                <a:sym typeface="+mn-ea"/>
              </a:rPr>
              <a:t>*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楷体_GB2312" panose="02010609030101010101" pitchFamily="49" charset="-122"/>
                <a:sym typeface="+mn-ea"/>
              </a:rPr>
              <a:t>补码的本质是什么？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108+148=256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）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                                                    </a:t>
            </a:r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355976" y="2921635"/>
            <a:ext cx="3494405" cy="507365"/>
            <a:chOff x="6280" y="4638"/>
            <a:chExt cx="5503" cy="799"/>
          </a:xfrm>
        </p:grpSpPr>
        <p:sp>
          <p:nvSpPr>
            <p:cNvPr id="2" name="文本框 1"/>
            <p:cNvSpPr txBox="1"/>
            <p:nvPr/>
          </p:nvSpPr>
          <p:spPr>
            <a:xfrm>
              <a:off x="6919" y="4638"/>
              <a:ext cx="4865" cy="7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dirty="0">
                  <a:ea typeface="楷体_GB2312" panose="02010609030101010101" pitchFamily="49" charset="-122"/>
                  <a:sym typeface="+mn-ea"/>
                </a:rPr>
                <a:t>=148</a:t>
              </a:r>
              <a:r>
                <a:rPr lang="zh-CN" altLang="en-US" sz="2400" dirty="0">
                  <a:ea typeface="楷体_GB2312" panose="02010609030101010101" pitchFamily="49" charset="-122"/>
                  <a:sym typeface="+mn-ea"/>
                </a:rPr>
                <a:t>，</a:t>
              </a:r>
              <a:r>
                <a:rPr lang="en-US" altLang="zh-CN" sz="2400" dirty="0">
                  <a:ea typeface="楷体_GB2312" panose="02010609030101010101" pitchFamily="49" charset="-122"/>
                  <a:sym typeface="+mn-ea"/>
                </a:rPr>
                <a:t>108+148=256</a:t>
              </a:r>
              <a:endParaRPr lang="zh-CN" altLang="en-US" sz="2400" dirty="0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6280" y="5059"/>
              <a:ext cx="466" cy="379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箭头连接符 6"/>
          <p:cNvCxnSpPr/>
          <p:nvPr/>
        </p:nvCxnSpPr>
        <p:spPr>
          <a:xfrm flipH="1">
            <a:off x="1979295" y="4293235"/>
            <a:ext cx="635" cy="86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835150" y="3883025"/>
            <a:ext cx="288290" cy="18497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补码（意义）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71546"/>
            <a:ext cx="8229600" cy="5429288"/>
          </a:xfrm>
        </p:spPr>
        <p:txBody>
          <a:bodyPr>
            <a:normAutofit fontScale="90000" lnSpcReduction="10000"/>
          </a:bodyPr>
          <a:lstStyle/>
          <a:p>
            <a:pPr>
              <a:spcAft>
                <a:spcPts val="12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补码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可</a:t>
            </a: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看成“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带</a:t>
            </a: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符号位的数”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符号位也参加运算</a:t>
            </a:r>
            <a:r>
              <a:rPr lang="zh-CN" altLang="en-US" sz="2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要减去一个数，只要加上其补码。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zh-CN" b="1" dirty="0">
                <a:solidFill>
                  <a:srgbClr val="66CCFF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66CCFF"/>
                </a:solidFill>
                <a:ea typeface="楷体_GB2312" panose="02010609030101010101" pitchFamily="49" charset="-122"/>
              </a:rPr>
              <a:t>1.12</a:t>
            </a: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</a:rPr>
              <a:t>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要做减法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[7−19]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可用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[7]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来完成。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[7]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0000 0111B    [+19]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0001 0011B    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		        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1110 1101B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0000 0111B   	-------- [7]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	  </a:t>
            </a:r>
            <a:r>
              <a:rPr lang="en-US" altLang="zh-CN" u="sng" dirty="0">
                <a:solidFill>
                  <a:schemeClr val="tx1"/>
                </a:solidFill>
                <a:ea typeface="楷体_GB2312" panose="02010609030101010101" pitchFamily="49" charset="-122"/>
              </a:rPr>
              <a:t>+	1110 1101B  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-------- 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   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1111 0100B = F4H	-------- 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和的补码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和的补码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= F4H = 1111 0100B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其真值为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-12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      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可见，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7 +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−19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 −12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，答案正确。</a:t>
            </a:r>
          </a:p>
          <a:p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补码（小结）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84" y="1215056"/>
            <a:ext cx="8229600" cy="5429288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1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）已知真值，求补码</a:t>
            </a:r>
          </a:p>
          <a:p>
            <a:pPr marL="0" indent="0">
              <a:buNone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         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  正数：为其原码，十进制转二进制</a:t>
            </a:r>
          </a:p>
          <a:p>
            <a:pPr marL="0" indent="0">
              <a:buNone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	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负数：如求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[-23]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补码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=[23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的二进制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取反加一</a:t>
            </a:r>
          </a:p>
          <a:p>
            <a:pPr algn="l"/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2）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已知补码，求真值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正数：二进制转十进制</a:t>
            </a:r>
          </a:p>
          <a:p>
            <a:pPr marL="0" indent="0">
              <a:buNone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负数：如求补码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FAH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的真值的步骤为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                     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[FAH]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取反加一 </a:t>
            </a:r>
          </a:p>
          <a:p>
            <a:pPr marL="0" indent="0">
              <a:buNone/>
            </a:pPr>
            <a:r>
              <a:rPr lang="en-US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	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</a:t>
            </a:r>
            <a:r>
              <a:rPr lang="zh-CN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再转换为十进制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	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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加上负号</a:t>
            </a:r>
          </a:p>
          <a:p>
            <a:pPr marL="0" indent="342265" algn="l" fontAlgn="auto">
              <a:spcBef>
                <a:spcPts val="0"/>
              </a:spcBef>
            </a:pP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3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）求和、差的补码，减法转换为加其负数</a:t>
            </a:r>
          </a:p>
          <a:p>
            <a:pPr marL="0" indent="0" algn="l" fontAlgn="auto">
              <a:spcBef>
                <a:spcPts val="0"/>
              </a:spcBef>
              <a:buNone/>
            </a:pP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	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的补码（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不管正数还是负数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84" y="1550336"/>
            <a:ext cx="8229600" cy="3030792"/>
          </a:xfrm>
        </p:spPr>
        <p:txBody>
          <a:bodyPr>
            <a:normAutofit/>
          </a:bodyPr>
          <a:lstStyle/>
          <a:p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重要说明：</a:t>
            </a:r>
          </a:p>
          <a:p>
            <a:pPr marL="0" indent="0">
              <a:buNone/>
            </a:pPr>
            <a:r>
              <a:rPr lang="zh-CN" altLang="zh-CN" dirty="0">
                <a:ea typeface="黑体" panose="02010609060101010101" pitchFamily="2" charset="-122"/>
              </a:rPr>
              <a:t>          以后的学习中，</a:t>
            </a:r>
            <a:r>
              <a:rPr lang="zh-CN" altLang="zh-CN" dirty="0">
                <a:solidFill>
                  <a:srgbClr val="FF0000"/>
                </a:solidFill>
                <a:ea typeface="黑体" panose="02010609060101010101" pitchFamily="2" charset="-122"/>
              </a:rPr>
              <a:t>所有计算机内的有符号整数都是用补码表示的</a:t>
            </a:r>
            <a:r>
              <a:rPr lang="zh-CN" altLang="zh-CN" dirty="0">
                <a:ea typeface="黑体" panose="02010609060101010101" pitchFamily="2" charset="-122"/>
              </a:rPr>
              <a:t>，</a:t>
            </a:r>
            <a:r>
              <a:rPr lang="zh-CN" altLang="en-US" dirty="0">
                <a:ea typeface="黑体" panose="02010609060101010101" pitchFamily="2" charset="-122"/>
              </a:rPr>
              <a:t>不</a:t>
            </a:r>
            <a:r>
              <a:rPr lang="zh-CN" altLang="zh-CN" dirty="0">
                <a:ea typeface="黑体" panose="02010609060101010101" pitchFamily="2" charset="-122"/>
              </a:rPr>
              <a:t>再</a:t>
            </a:r>
            <a:r>
              <a:rPr lang="zh-CN" altLang="en-US" dirty="0">
                <a:ea typeface="黑体" panose="02010609060101010101" pitchFamily="2" charset="-122"/>
              </a:rPr>
              <a:t>特别</a:t>
            </a:r>
            <a:r>
              <a:rPr lang="zh-CN" altLang="zh-CN" dirty="0">
                <a:ea typeface="黑体" panose="02010609060101010101" pitchFamily="2" charset="-122"/>
              </a:rPr>
              <a:t>说明。</a:t>
            </a:r>
          </a:p>
          <a:p>
            <a:pPr marL="0" indent="0">
              <a:buNone/>
            </a:pPr>
            <a:r>
              <a:rPr lang="zh-CN" altLang="zh-CN" dirty="0">
                <a:ea typeface="黑体" panose="02010609060101010101" pitchFamily="2" charset="-122"/>
              </a:rPr>
              <a:t>           所以大家以后都需要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按补码的思维</a:t>
            </a:r>
            <a:r>
              <a:rPr lang="zh-CN" altLang="zh-CN" dirty="0">
                <a:ea typeface="黑体" panose="02010609060101010101" pitchFamily="2" charset="-122"/>
              </a:rPr>
              <a:t>来理解以后所学的某些指令所包含的意义。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720090" y="2021205"/>
            <a:ext cx="770382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补码</a:t>
            </a:r>
            <a:r>
              <a:rPr lang="en-US" altLang="zh-CN" sz="2800" b="0">
                <a:ea typeface="宋体" panose="02010600030101010101" pitchFamily="2" charset="-122"/>
              </a:rPr>
              <a:t>——</a:t>
            </a:r>
            <a:r>
              <a:rPr lang="zh-CN" sz="2800" b="0">
                <a:ea typeface="宋体" panose="02010600030101010101" pitchFamily="2" charset="-122"/>
              </a:rPr>
              <a:t>试题实战：</a:t>
            </a:r>
          </a:p>
          <a:p>
            <a:pPr indent="0"/>
            <a:endParaRPr lang="zh-CN" sz="2800" b="0">
              <a:ea typeface="宋体" panose="02010600030101010101" pitchFamily="2" charset="-122"/>
            </a:endParaRPr>
          </a:p>
          <a:p>
            <a:pPr indent="0"/>
            <a:r>
              <a:rPr sz="2800" b="0"/>
              <a:t>8位数据[X]</a:t>
            </a:r>
            <a:r>
              <a:rPr sz="2800" b="0" baseline="-25000"/>
              <a:t>补</a:t>
            </a:r>
            <a:r>
              <a:rPr sz="2800" b="0"/>
              <a:t>=BAH，[Y]</a:t>
            </a:r>
            <a:r>
              <a:rPr sz="2800" b="0" baseline="-25000"/>
              <a:t>补</a:t>
            </a:r>
            <a:r>
              <a:rPr sz="2800" b="0"/>
              <a:t>=35H，[X-Y]</a:t>
            </a:r>
            <a:r>
              <a:rPr sz="2800" b="0" baseline="-25000"/>
              <a:t>补</a:t>
            </a:r>
            <a:r>
              <a:rPr sz="2800" b="0"/>
              <a:t>=</a:t>
            </a:r>
            <a:r>
              <a:rPr sz="2800" b="0" u="sng"/>
              <a:t>        </a:t>
            </a:r>
            <a:r>
              <a:rPr sz="2800" b="0"/>
              <a:t>，</a:t>
            </a:r>
          </a:p>
          <a:p>
            <a:pPr indent="0"/>
            <a:r>
              <a:rPr sz="2800" b="0"/>
              <a:t>将结果[X-Y]</a:t>
            </a:r>
            <a:r>
              <a:rPr sz="2800" b="0" baseline="-25000"/>
              <a:t>补</a:t>
            </a:r>
            <a:r>
              <a:rPr sz="2800" b="0"/>
              <a:t>表示为16位数则为</a:t>
            </a:r>
            <a:r>
              <a:rPr sz="2800" b="0" u="sng"/>
              <a:t>         </a:t>
            </a:r>
            <a:r>
              <a:rPr sz="2800" b="0"/>
              <a:t>。</a:t>
            </a:r>
          </a:p>
          <a:p>
            <a:pPr indent="0"/>
            <a:r>
              <a:rPr lang="en-US" sz="2800" b="0"/>
              <a:t> [X+Y]</a:t>
            </a:r>
            <a:r>
              <a:rPr sz="2800" baseline="-25000">
                <a:sym typeface="+mn-ea"/>
              </a:rPr>
              <a:t>补</a:t>
            </a:r>
            <a:r>
              <a:rPr lang="en-US" sz="2800" b="0"/>
              <a:t>=</a:t>
            </a:r>
            <a:r>
              <a:rPr sz="2800" u="sng">
                <a:sym typeface="+mn-ea"/>
              </a:rPr>
              <a:t>        </a:t>
            </a:r>
            <a:r>
              <a:rPr sz="2800">
                <a:sym typeface="+mn-ea"/>
              </a:rPr>
              <a:t>。</a:t>
            </a:r>
            <a:r>
              <a:rPr sz="2800" u="sng">
                <a:sym typeface="+mn-ea"/>
              </a:rPr>
              <a:t>      </a:t>
            </a:r>
            <a:endParaRPr lang="en-US" sz="2800" b="0" u="sng"/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571480"/>
            <a:ext cx="7776000" cy="917596"/>
          </a:xfrm>
        </p:spPr>
        <p:txBody>
          <a:bodyPr/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实数的表示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【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不考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】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4525963"/>
          </a:xfrm>
        </p:spPr>
        <p:txBody>
          <a:bodyPr/>
          <a:lstStyle/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>
                <a:ea typeface="黑体" panose="02010609060101010101" pitchFamily="2" charset="-122"/>
              </a:rPr>
              <a:t>前面</a:t>
            </a:r>
            <a:r>
              <a:rPr lang="zh-CN" altLang="en-US" dirty="0">
                <a:ea typeface="黑体" panose="02010609060101010101" pitchFamily="2" charset="-122"/>
              </a:rPr>
              <a:t>内容涉及</a:t>
            </a:r>
            <a:r>
              <a:rPr lang="zh-CN" altLang="zh-CN" dirty="0">
                <a:ea typeface="黑体" panose="02010609060101010101" pitchFamily="2" charset="-122"/>
              </a:rPr>
              <a:t>的都是整数</a:t>
            </a:r>
            <a:r>
              <a:rPr lang="zh-CN" altLang="en-US" dirty="0">
                <a:ea typeface="黑体" panose="02010609060101010101" pitchFamily="2" charset="-122"/>
              </a:rPr>
              <a:t>。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>
                <a:ea typeface="黑体" panose="02010609060101010101" pitchFamily="2" charset="-122"/>
              </a:rPr>
              <a:t>实数</a:t>
            </a:r>
            <a:r>
              <a:rPr lang="zh-CN" altLang="en-US" dirty="0">
                <a:ea typeface="黑体" panose="02010609060101010101" pitchFamily="2" charset="-122"/>
              </a:rPr>
              <a:t>（</a:t>
            </a:r>
            <a:r>
              <a:rPr lang="zh-CN" altLang="zh-CN" dirty="0">
                <a:ea typeface="黑体" panose="02010609060101010101" pitchFamily="2" charset="-122"/>
              </a:rPr>
              <a:t>带小数点的数</a:t>
            </a:r>
            <a:r>
              <a:rPr lang="zh-CN" altLang="en-US" dirty="0">
                <a:ea typeface="黑体" panose="02010609060101010101" pitchFamily="2" charset="-122"/>
              </a:rPr>
              <a:t>）通常</a:t>
            </a:r>
            <a:r>
              <a:rPr lang="zh-CN" altLang="zh-CN" dirty="0">
                <a:ea typeface="黑体" panose="02010609060101010101" pitchFamily="2" charset="-122"/>
              </a:rPr>
              <a:t>用浮点数表示</a:t>
            </a:r>
            <a:r>
              <a:rPr lang="zh-CN" altLang="en-US" dirty="0">
                <a:ea typeface="黑体" panose="02010609060101010101" pitchFamily="2" charset="-122"/>
              </a:rPr>
              <a:t>。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/>
              <a:t>（不做考试要求）</a:t>
            </a:r>
          </a:p>
          <a:p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8662" y="2500306"/>
            <a:ext cx="777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 sz="44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1.2  </a:t>
            </a:r>
            <a:r>
              <a:rPr lang="zh-CN" altLang="en-US" sz="4400" b="1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计算机的基本结构</a:t>
            </a:r>
            <a:endParaRPr lang="zh-CN" altLang="en-US" sz="4400" b="1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500034" y="1357298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CN" sz="4400" dirty="0">
                <a:latin typeface="Times New Roman" panose="02020603050405020304"/>
                <a:cs typeface="Times New Roman" panose="02020603050405020304"/>
              </a:rPr>
              <a:t>§</a:t>
            </a:r>
            <a:r>
              <a:rPr lang="en-US" altLang="zh-CN" sz="44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1.2  </a:t>
            </a:r>
            <a:r>
              <a:rPr altLang="zh-CN" sz="44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计算机的基本结构</a:t>
            </a:r>
            <a:endParaRPr lang="zh-CN" altLang="en-US" sz="44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714480" y="3143248"/>
            <a:ext cx="6883698" cy="2357454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1.2.1  </a:t>
            </a:r>
            <a:r>
              <a:rPr altLang="zh-CN" sz="4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计算机的基本结构</a:t>
            </a:r>
            <a:endParaRPr lang="en-US" altLang="zh-CN" sz="4000" dirty="0">
              <a:solidFill>
                <a:srgbClr val="C00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</a:pPr>
            <a:r>
              <a:rPr lang="en-US" altLang="zh-CN" sz="4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1.2.2  </a:t>
            </a:r>
            <a:r>
              <a:rPr altLang="zh-CN" sz="4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计算机软件</a:t>
            </a:r>
            <a:endParaRPr lang="en-US" altLang="zh-CN" sz="40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1.2.1 </a:t>
            </a:r>
            <a:r>
              <a:rPr lang="zh-CN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计算机的基本结构</a:t>
            </a:r>
            <a:endParaRPr lang="zh-CN" alt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3886" y="2272651"/>
            <a:ext cx="8229600" cy="495259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主流的计算机结构有两种：</a:t>
            </a:r>
          </a:p>
          <a:p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冯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诺依曼结构（普林斯顿结构）</a:t>
            </a: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程序总线和数据总线混合编址</a:t>
            </a:r>
          </a:p>
          <a:p>
            <a:pPr algn="l"/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哈佛结构</a:t>
            </a: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程序总线和数据总线独立编址</a:t>
            </a: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* X86 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属于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冯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诺依曼结构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</a:t>
            </a:r>
          </a:p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zh-CN" dirty="0">
              <a:ea typeface="黑体" panose="0201060906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87638" y="1129581"/>
            <a:ext cx="7776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zh-CN" sz="36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计算机的基本组成</a:t>
            </a:r>
            <a:endParaRPr lang="zh-CN" altLang="en-US" sz="3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895401" y="2328222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1.2.1 </a:t>
            </a:r>
            <a:r>
              <a:rPr lang="zh-CN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计算机的基本结构</a:t>
            </a:r>
            <a:endParaRPr lang="zh-CN" alt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952592"/>
          </a:xfrm>
        </p:spPr>
        <p:txBody>
          <a:bodyPr/>
          <a:lstStyle/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诺依曼计算机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个部分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zh-CN" dirty="0">
              <a:ea typeface="黑体" panose="02010609060101010101" pitchFamily="2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895401" y="3828420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181153" y="2542536"/>
            <a:ext cx="1219200" cy="4572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运算器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324029" y="3971296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存储器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95401" y="5328618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324029" y="5542932"/>
            <a:ext cx="1071570" cy="377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控制器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395071" y="3828420"/>
            <a:ext cx="17526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609385" y="3971296"/>
            <a:ext cx="128588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输入设备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610045" y="3828420"/>
            <a:ext cx="17526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824359" y="3971296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输出设备</a:t>
            </a: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3180715" y="4114165"/>
            <a:ext cx="672465" cy="238125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5824227" y="4114172"/>
            <a:ext cx="762000" cy="23813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4681219" y="3114040"/>
            <a:ext cx="285752" cy="681038"/>
          </a:xfrm>
          <a:prstGeom prst="upDownArrow">
            <a:avLst>
              <a:gd name="adj1" fmla="val 50000"/>
              <a:gd name="adj2" fmla="val 53333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2" name="AutoShape 14"/>
          <p:cNvSpPr>
            <a:spLocks noChangeArrowheads="1"/>
          </p:cNvSpPr>
          <p:nvPr/>
        </p:nvSpPr>
        <p:spPr bwMode="auto">
          <a:xfrm rot="5400000">
            <a:off x="4478814" y="4816643"/>
            <a:ext cx="690562" cy="285752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rot="5400000" flipH="1" flipV="1">
            <a:off x="3895401" y="4971428"/>
            <a:ext cx="71438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824227" y="5471494"/>
            <a:ext cx="285752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rot="5400000" flipH="1" flipV="1">
            <a:off x="4716562" y="4078035"/>
            <a:ext cx="2786876" cy="16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95335" y="4828552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读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38409" y="468567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指令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7947" y="3399792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程序和数据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5797" y="3399792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处理结果</a:t>
            </a:r>
          </a:p>
        </p:txBody>
      </p:sp>
      <p:cxnSp>
        <p:nvCxnSpPr>
          <p:cNvPr id="84" name="直接箭头连接符 83"/>
          <p:cNvCxnSpPr/>
          <p:nvPr/>
        </p:nvCxnSpPr>
        <p:spPr>
          <a:xfrm rot="10800000">
            <a:off x="5752789" y="2685413"/>
            <a:ext cx="357190" cy="132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2180889" y="5685808"/>
            <a:ext cx="178595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rot="5400000" flipH="1" flipV="1">
            <a:off x="1645104" y="5150023"/>
            <a:ext cx="107157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824227" y="5900122"/>
            <a:ext cx="1714512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rot="5400000" flipH="1" flipV="1">
            <a:off x="6895797" y="5257180"/>
            <a:ext cx="1285884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718" y="669826"/>
            <a:ext cx="8229600" cy="50166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以二进制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形式存放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原始数据、中间结果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程序。</a:t>
            </a:r>
          </a:p>
          <a:p>
            <a:pPr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运算器（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Unit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执行算术运算（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＋－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×÷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）、逻辑运算（与、或、非、异或）和移位等操作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的部件。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控制器（Co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ntrol Unit）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指挥和控制各部件协调工作，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取指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，译码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，形成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控制命令，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让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计算机按程序设定的步骤自动操作。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输入设备（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 Device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）：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输入原始数据和程序。</a:t>
            </a:r>
            <a:endParaRPr lang="zh-CN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输出设备（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 Device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 ：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输出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运算结果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endParaRPr lang="zh-CN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40200" y="626110"/>
            <a:ext cx="4436110" cy="4819015"/>
            <a:chOff x="6520" y="986"/>
            <a:chExt cx="6986" cy="7589"/>
          </a:xfrm>
        </p:grpSpPr>
        <p:grpSp>
          <p:nvGrpSpPr>
            <p:cNvPr id="8" name="组合 7"/>
            <p:cNvGrpSpPr/>
            <p:nvPr/>
          </p:nvGrpSpPr>
          <p:grpSpPr>
            <a:xfrm>
              <a:off x="7595" y="3258"/>
              <a:ext cx="5417" cy="2181"/>
              <a:chOff x="7556" y="3119"/>
              <a:chExt cx="5417" cy="218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8885" y="3199"/>
                <a:ext cx="4088" cy="16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zh-CN" altLang="en-US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中央处理器（</a:t>
                </a:r>
                <a:r>
                  <a:rPr lang="en-US" altLang="zh-CN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CPU</a:t>
                </a:r>
                <a:r>
                  <a:rPr lang="zh-CN" altLang="en-US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）</a:t>
                </a: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7893" y="3119"/>
                <a:ext cx="1008" cy="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V="1">
                <a:off x="7556" y="3832"/>
                <a:ext cx="1345" cy="14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9418" y="986"/>
              <a:ext cx="4088" cy="9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主机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520" y="1431"/>
              <a:ext cx="2898" cy="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7881" y="1453"/>
              <a:ext cx="1537" cy="14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7361" y="1544"/>
              <a:ext cx="1994" cy="3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8706" y="7555"/>
              <a:ext cx="4088" cy="91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I/O</a:t>
              </a:r>
              <a:r>
                <a:rPr lang="zh-CN" alt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设备</a:t>
              </a: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427" y="7781"/>
              <a:ext cx="1279" cy="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7427" y="8019"/>
              <a:ext cx="1279" cy="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2122AA-83FC-434F-9917-DC6EE7428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9" name="Picture 3" descr="u=3681062339,1091823042&amp;fm=21&amp;gp=0">
            <a:extLst>
              <a:ext uri="{FF2B5EF4-FFF2-40B4-BE49-F238E27FC236}">
                <a16:creationId xmlns:a16="http://schemas.microsoft.com/office/drawing/2014/main" id="{B20534CD-9E05-47E7-B646-1BB5B87A2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22" y="3962803"/>
            <a:ext cx="250825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4" descr="u=3223720451,3840139540&amp;fm=23&amp;gp=0">
            <a:extLst>
              <a:ext uri="{FF2B5EF4-FFF2-40B4-BE49-F238E27FC236}">
                <a16:creationId xmlns:a16="http://schemas.microsoft.com/office/drawing/2014/main" id="{1ACEF804-BC86-42FE-A67F-5AFB8CB02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72" y="1294215"/>
            <a:ext cx="2836863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FF9D2D95-D6A3-4847-8E4A-48076545E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442534"/>
              </p:ext>
            </p:extLst>
          </p:nvPr>
        </p:nvGraphicFramePr>
        <p:xfrm>
          <a:off x="3219797" y="2742015"/>
          <a:ext cx="3671888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5" imgW="4210638" imgH="2876190" progId="PBrush">
                  <p:embed/>
                </p:oleObj>
              </mc:Choice>
              <mc:Fallback>
                <p:oleObj r:id="rId5" imgW="4210638" imgH="2876190" progId="PBrush">
                  <p:embed/>
                  <p:pic>
                    <p:nvPicPr>
                      <p:cNvPr id="34" name="Object 5">
                        <a:extLst>
                          <a:ext uri="{FF2B5EF4-FFF2-40B4-BE49-F238E27FC236}">
                            <a16:creationId xmlns:a16="http://schemas.microsoft.com/office/drawing/2014/main" id="{B0FE0D25-F14F-E555-5EFD-7BF1B9CFF7F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797" y="2742015"/>
                        <a:ext cx="3671888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6">
            <a:extLst>
              <a:ext uri="{FF2B5EF4-FFF2-40B4-BE49-F238E27FC236}">
                <a16:creationId xmlns:a16="http://schemas.microsoft.com/office/drawing/2014/main" id="{010E98C7-3051-448E-9F17-02834245E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22" y="725890"/>
            <a:ext cx="1944688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" name="Picture 7" descr="u=376109778,609245749&amp;fm=11&amp;gp=0">
            <a:extLst>
              <a:ext uri="{FF2B5EF4-FFF2-40B4-BE49-F238E27FC236}">
                <a16:creationId xmlns:a16="http://schemas.microsoft.com/office/drawing/2014/main" id="{4672611E-0D5E-4144-B26A-2466C47D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22" y="2589615"/>
            <a:ext cx="2447925" cy="149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8" descr="u=2446065938,753239281&amp;fm=21&amp;gp=0">
            <a:extLst>
              <a:ext uri="{FF2B5EF4-FFF2-40B4-BE49-F238E27FC236}">
                <a16:creationId xmlns:a16="http://schemas.microsoft.com/office/drawing/2014/main" id="{BE960009-B965-4393-8D0C-CB1A9870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35" y="1294215"/>
            <a:ext cx="215741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Line 9">
            <a:extLst>
              <a:ext uri="{FF2B5EF4-FFF2-40B4-BE49-F238E27FC236}">
                <a16:creationId xmlns:a16="http://schemas.microsoft.com/office/drawing/2014/main" id="{8CBDA537-EF5A-4E99-923F-A54101027E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1272" y="2589615"/>
            <a:ext cx="1512888" cy="576263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0">
            <a:extLst>
              <a:ext uri="{FF2B5EF4-FFF2-40B4-BE49-F238E27FC236}">
                <a16:creationId xmlns:a16="http://schemas.microsoft.com/office/drawing/2014/main" id="{23A9E4A5-3A9B-4497-B96A-457C045B86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5460" y="2014940"/>
            <a:ext cx="1223962" cy="1704975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F0746362-9E73-4385-B21F-AA7C050B89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5460" y="3916765"/>
            <a:ext cx="1546225" cy="6223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2">
            <a:extLst>
              <a:ext uri="{FF2B5EF4-FFF2-40B4-BE49-F238E27FC236}">
                <a16:creationId xmlns:a16="http://schemas.microsoft.com/office/drawing/2014/main" id="{5A88EEBC-34B0-4823-88D1-DE257DF47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0047" y="3918353"/>
            <a:ext cx="1154113" cy="4064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3">
            <a:extLst>
              <a:ext uri="{FF2B5EF4-FFF2-40B4-BE49-F238E27FC236}">
                <a16:creationId xmlns:a16="http://schemas.microsoft.com/office/drawing/2014/main" id="{A2F81339-AEE4-47EF-96AE-D25F794A5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4735" y="2589615"/>
            <a:ext cx="1587" cy="216693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4A6AE0AA-8069-42BB-9F35-383A80B09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860" y="1095778"/>
            <a:ext cx="1198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b="1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微处理器</a:t>
            </a:r>
          </a:p>
        </p:txBody>
      </p:sp>
    </p:spTree>
    <p:extLst>
      <p:ext uri="{BB962C8B-B14F-4D97-AF65-F5344CB8AC3E}">
        <p14:creationId xmlns:p14="http://schemas.microsoft.com/office/powerpoint/2010/main" val="2299983820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428604"/>
            <a:ext cx="7776000" cy="1143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1.3.1 </a:t>
            </a:r>
            <a:r>
              <a:rPr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微型计算机基本结构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500188"/>
            <a:ext cx="8229600" cy="5715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微型计算机基本结构框图</a:t>
            </a:r>
            <a:endParaRPr lang="en-US" altLang="zh-CN" dirty="0"/>
          </a:p>
          <a:p>
            <a:pPr fontAlgn="auto"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05731" y="5085184"/>
            <a:ext cx="77382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一般采用</a:t>
            </a:r>
            <a:r>
              <a:rPr lang="zh-CN" altLang="zh-CN" sz="24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冯·诺依曼结构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：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集成化的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微处理器，各部件通过总线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+mn-ea"/>
              </a:rPr>
              <a:t>相连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所有外设都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应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接口电路才能连到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还有一种常见的结构：</a:t>
            </a:r>
            <a:r>
              <a:rPr lang="zh-CN" altLang="en-US" sz="24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哈弗结构</a:t>
            </a:r>
          </a:p>
        </p:txBody>
      </p:sp>
      <p:grpSp>
        <p:nvGrpSpPr>
          <p:cNvPr id="4" name="Group 6"/>
          <p:cNvGrpSpPr/>
          <p:nvPr/>
        </p:nvGrpSpPr>
        <p:grpSpPr bwMode="auto">
          <a:xfrm>
            <a:off x="539750" y="2204864"/>
            <a:ext cx="7848600" cy="2667000"/>
            <a:chOff x="384" y="2352"/>
            <a:chExt cx="4944" cy="1680"/>
          </a:xfrm>
        </p:grpSpPr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4272" y="2400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地址总线</a:t>
              </a:r>
            </a:p>
          </p:txBody>
        </p:sp>
        <p:sp>
          <p:nvSpPr>
            <p:cNvPr id="15368" name="AutoShape 8"/>
            <p:cNvSpPr>
              <a:spLocks noChangeArrowheads="1"/>
            </p:cNvSpPr>
            <p:nvPr/>
          </p:nvSpPr>
          <p:spPr bwMode="auto">
            <a:xfrm>
              <a:off x="3312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" name="AutoShape 9"/>
            <p:cNvSpPr>
              <a:spLocks noChangeArrowheads="1"/>
            </p:cNvSpPr>
            <p:nvPr/>
          </p:nvSpPr>
          <p:spPr bwMode="auto">
            <a:xfrm>
              <a:off x="2118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Rectangle 10"/>
            <p:cNvSpPr>
              <a:spLocks noChangeArrowheads="1"/>
            </p:cNvSpPr>
            <p:nvPr/>
          </p:nvSpPr>
          <p:spPr bwMode="auto">
            <a:xfrm>
              <a:off x="3852" y="2841"/>
              <a:ext cx="61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总线</a:t>
              </a:r>
            </a:p>
          </p:txBody>
        </p:sp>
        <p:sp>
          <p:nvSpPr>
            <p:cNvPr id="15371" name="AutoShape 11"/>
            <p:cNvSpPr>
              <a:spLocks noChangeArrowheads="1"/>
            </p:cNvSpPr>
            <p:nvPr/>
          </p:nvSpPr>
          <p:spPr bwMode="auto">
            <a:xfrm>
              <a:off x="1296" y="2448"/>
              <a:ext cx="3024" cy="125"/>
            </a:xfrm>
            <a:prstGeom prst="rightArrow">
              <a:avLst>
                <a:gd name="adj1" fmla="val 54167"/>
                <a:gd name="adj2" fmla="val 7683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384" y="2352"/>
              <a:ext cx="912" cy="1680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微处理器</a:t>
              </a:r>
            </a:p>
            <a:p>
              <a:pPr algn="ctr"/>
              <a:endParaRPr lang="zh-CN" altLang="en-US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endParaRPr lang="zh-CN" altLang="en-US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CPU</a:t>
              </a:r>
            </a:p>
            <a:p>
              <a:pPr algn="ctr"/>
              <a:endParaRPr lang="en-US" altLang="zh-CN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endParaRPr lang="en-US" altLang="zh-CN" b="1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5373" name="Rectangle 13"/>
            <p:cNvSpPr>
              <a:spLocks noChangeArrowheads="1"/>
            </p:cNvSpPr>
            <p:nvPr/>
          </p:nvSpPr>
          <p:spPr bwMode="auto">
            <a:xfrm>
              <a:off x="17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存储器</a:t>
              </a:r>
            </a:p>
          </p:txBody>
        </p:sp>
        <p:sp>
          <p:nvSpPr>
            <p:cNvPr id="15374" name="Rectangle 14"/>
            <p:cNvSpPr>
              <a:spLocks noChangeArrowheads="1"/>
            </p:cNvSpPr>
            <p:nvPr/>
          </p:nvSpPr>
          <p:spPr bwMode="auto">
            <a:xfrm>
              <a:off x="29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接口</a:t>
              </a:r>
            </a:p>
          </p:txBody>
        </p:sp>
        <p:sp>
          <p:nvSpPr>
            <p:cNvPr id="15375" name="Rectangle 15"/>
            <p:cNvSpPr>
              <a:spLocks noChangeArrowheads="1"/>
            </p:cNvSpPr>
            <p:nvPr/>
          </p:nvSpPr>
          <p:spPr bwMode="auto">
            <a:xfrm>
              <a:off x="4560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设备</a:t>
              </a:r>
            </a:p>
          </p:txBody>
        </p:sp>
        <p:sp>
          <p:nvSpPr>
            <p:cNvPr id="15376" name="AutoShape 16"/>
            <p:cNvSpPr>
              <a:spLocks noChangeArrowheads="1"/>
            </p:cNvSpPr>
            <p:nvPr/>
          </p:nvSpPr>
          <p:spPr bwMode="auto">
            <a:xfrm>
              <a:off x="1296" y="3573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AutoShape 17"/>
            <p:cNvSpPr>
              <a:spLocks noChangeArrowheads="1"/>
            </p:cNvSpPr>
            <p:nvPr/>
          </p:nvSpPr>
          <p:spPr bwMode="auto">
            <a:xfrm>
              <a:off x="3744" y="3024"/>
              <a:ext cx="816" cy="125"/>
            </a:xfrm>
            <a:prstGeom prst="leftRightArrow">
              <a:avLst>
                <a:gd name="adj1" fmla="val 57287"/>
                <a:gd name="adj2" fmla="val 790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AutoShape 18"/>
            <p:cNvSpPr>
              <a:spLocks noChangeArrowheads="1"/>
            </p:cNvSpPr>
            <p:nvPr/>
          </p:nvSpPr>
          <p:spPr bwMode="auto">
            <a:xfrm rot="5400000">
              <a:off x="1827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AutoShape 19"/>
            <p:cNvSpPr>
              <a:spLocks noChangeArrowheads="1"/>
            </p:cNvSpPr>
            <p:nvPr/>
          </p:nvSpPr>
          <p:spPr bwMode="auto">
            <a:xfrm rot="5400000">
              <a:off x="3036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AutoShape 20"/>
            <p:cNvSpPr>
              <a:spLocks noChangeArrowheads="1"/>
            </p:cNvSpPr>
            <p:nvPr/>
          </p:nvSpPr>
          <p:spPr bwMode="auto">
            <a:xfrm>
              <a:off x="1296" y="3792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AutoShape 21"/>
            <p:cNvSpPr>
              <a:spLocks noChangeArrowheads="1"/>
            </p:cNvSpPr>
            <p:nvPr/>
          </p:nvSpPr>
          <p:spPr bwMode="auto">
            <a:xfrm>
              <a:off x="23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2" name="AutoShape 22"/>
            <p:cNvSpPr>
              <a:spLocks noChangeArrowheads="1"/>
            </p:cNvSpPr>
            <p:nvPr/>
          </p:nvSpPr>
          <p:spPr bwMode="auto">
            <a:xfrm>
              <a:off x="35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3" name="Rectangle 23"/>
            <p:cNvSpPr>
              <a:spLocks noChangeArrowheads="1"/>
            </p:cNvSpPr>
            <p:nvPr/>
          </p:nvSpPr>
          <p:spPr bwMode="auto">
            <a:xfrm>
              <a:off x="2304" y="3838"/>
              <a:ext cx="96" cy="41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4" name="Rectangle 24"/>
            <p:cNvSpPr>
              <a:spLocks noChangeArrowheads="1"/>
            </p:cNvSpPr>
            <p:nvPr/>
          </p:nvSpPr>
          <p:spPr bwMode="auto">
            <a:xfrm>
              <a:off x="3513" y="3831"/>
              <a:ext cx="96" cy="41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Rectangle 25"/>
            <p:cNvSpPr>
              <a:spLocks noChangeArrowheads="1"/>
            </p:cNvSpPr>
            <p:nvPr/>
          </p:nvSpPr>
          <p:spPr bwMode="auto">
            <a:xfrm>
              <a:off x="4300" y="3513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数据总线</a:t>
              </a:r>
            </a:p>
          </p:txBody>
        </p:sp>
        <p:sp>
          <p:nvSpPr>
            <p:cNvPr id="15386" name="Rectangle 26"/>
            <p:cNvSpPr>
              <a:spLocks noChangeArrowheads="1"/>
            </p:cNvSpPr>
            <p:nvPr/>
          </p:nvSpPr>
          <p:spPr bwMode="auto">
            <a:xfrm>
              <a:off x="4300" y="3753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控制总线</a:t>
              </a:r>
            </a:p>
          </p:txBody>
        </p:sp>
      </p:grpSp>
    </p:spTree>
  </p:cSld>
  <p:clrMapOvr>
    <a:masterClrMapping/>
  </p:clrMapOvr>
  <p:transition spd="slow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635" y="2264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本章余下的部分有兴趣的同学自己扩展阅读</a:t>
            </a:r>
            <a:b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如有对计算机结构有问题，欢迎提问。。。</a:t>
            </a:r>
          </a:p>
        </p:txBody>
      </p:sp>
    </p:spTree>
  </p:cSld>
  <p:clrMapOvr>
    <a:masterClrMapping/>
  </p:clrMapOvr>
  <p:transition spd="slow">
    <p:pull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我的PPT-1.1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675</TotalTime>
  <Words>3417</Words>
  <Application>Microsoft Office PowerPoint</Application>
  <PresentationFormat>全屏显示(4:3)</PresentationFormat>
  <Paragraphs>465</Paragraphs>
  <Slides>56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56</vt:i4>
      </vt:variant>
    </vt:vector>
  </HeadingPairs>
  <TitlesOfParts>
    <vt:vector size="81" baseType="lpstr">
      <vt:lpstr>GungsuhChe</vt:lpstr>
      <vt:lpstr>等线</vt:lpstr>
      <vt:lpstr>仿宋</vt:lpstr>
      <vt:lpstr>仿宋_GB2312</vt:lpstr>
      <vt:lpstr>黑体</vt:lpstr>
      <vt:lpstr>华文楷体</vt:lpstr>
      <vt:lpstr>华文隶书</vt:lpstr>
      <vt:lpstr>华文中宋</vt:lpstr>
      <vt:lpstr>楷体_GB2312</vt:lpstr>
      <vt:lpstr>宋体</vt:lpstr>
      <vt:lpstr>Microsoft YaHei</vt:lpstr>
      <vt:lpstr>Microsoft YaHei</vt:lpstr>
      <vt:lpstr>Arial</vt:lpstr>
      <vt:lpstr>Calibri</vt:lpstr>
      <vt:lpstr>Comic Sans MS</vt:lpstr>
      <vt:lpstr>Garamond</vt:lpstr>
      <vt:lpstr>Goudy Old Style</vt:lpstr>
      <vt:lpstr>Symbol</vt:lpstr>
      <vt:lpstr>Times New Roman</vt:lpstr>
      <vt:lpstr>Wingdings</vt:lpstr>
      <vt:lpstr>Wingdings 2</vt:lpstr>
      <vt:lpstr>Wingdings 3</vt:lpstr>
      <vt:lpstr>我的PPT-1.1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本章主要内容: §1.1  计算机中数的表示方法(重点) §1.2  计算机的基本结构（部分） §1.3  微型计算机结构和系统（略） §1.4  微型计算机的发展概况（略） </vt:lpstr>
      <vt:lpstr>§1.1  计算机中数的表示方法</vt:lpstr>
      <vt:lpstr>§1.1  计算机中数的表示方法</vt:lpstr>
      <vt:lpstr>1.1.1  进位计数制</vt:lpstr>
      <vt:lpstr>1.1.1  进位计数制</vt:lpstr>
      <vt:lpstr>不同进制的数</vt:lpstr>
      <vt:lpstr>二进制数（Binary）</vt:lpstr>
      <vt:lpstr>16进制数（Hexadecimal）</vt:lpstr>
      <vt:lpstr>16进制数（Hexadecimal）</vt:lpstr>
      <vt:lpstr>8进制数（Octal）(略…)</vt:lpstr>
      <vt:lpstr>不同进制间的转换(熟练掌握！)</vt:lpstr>
      <vt:lpstr>PowerPoint 演示文稿</vt:lpstr>
      <vt:lpstr>计算机中的信息单位</vt:lpstr>
      <vt:lpstr>计算机中信息的单位</vt:lpstr>
      <vt:lpstr>PowerPoint 演示文稿</vt:lpstr>
      <vt:lpstr>1.1.2  二进制编码</vt:lpstr>
      <vt:lpstr>BCD（Binary Coded Decimal）码</vt:lpstr>
      <vt:lpstr>PowerPoint 演示文稿</vt:lpstr>
      <vt:lpstr>PowerPoint 演示文稿</vt:lpstr>
      <vt:lpstr>ASCII码        American Standard Code for              Information Interchange </vt:lpstr>
      <vt:lpstr>PowerPoint 演示文稿</vt:lpstr>
      <vt:lpstr>PowerPoint 演示文稿</vt:lpstr>
      <vt:lpstr>1.1.3 带符号数的表示方法</vt:lpstr>
      <vt:lpstr>原码、反码和补码</vt:lpstr>
      <vt:lpstr>原码</vt:lpstr>
      <vt:lpstr>反码</vt:lpstr>
      <vt:lpstr>补码（重点）</vt:lpstr>
      <vt:lpstr>补码</vt:lpstr>
      <vt:lpstr>补码（数学表达）</vt:lpstr>
      <vt:lpstr>补码（本质）</vt:lpstr>
      <vt:lpstr>补码（意义）</vt:lpstr>
      <vt:lpstr>补码（小结）</vt:lpstr>
      <vt:lpstr>补码</vt:lpstr>
      <vt:lpstr>PowerPoint 演示文稿</vt:lpstr>
      <vt:lpstr>实数的表示【不考】</vt:lpstr>
      <vt:lpstr>§1.2  计算机的基本结构</vt:lpstr>
      <vt:lpstr>§1.2  计算机的基本结构</vt:lpstr>
      <vt:lpstr>1.2.1 计算机的基本结构</vt:lpstr>
      <vt:lpstr>1.2.1 计算机的基本结构</vt:lpstr>
      <vt:lpstr>PowerPoint 演示文稿</vt:lpstr>
      <vt:lpstr>PowerPoint 演示文稿</vt:lpstr>
      <vt:lpstr>1.3.1 微型计算机基本结构</vt:lpstr>
      <vt:lpstr>本章余下的部分有兴趣的同学自己扩展阅读 如有对计算机结构有问题，欢迎提问。。。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</dc:title>
  <dc:creator>冯周</dc:creator>
  <cp:lastModifiedBy>Hong Zhang</cp:lastModifiedBy>
  <cp:revision>363</cp:revision>
  <dcterms:created xsi:type="dcterms:W3CDTF">2013-01-17T01:49:00Z</dcterms:created>
  <dcterms:modified xsi:type="dcterms:W3CDTF">2025-08-31T14:44:34Z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B1ADEFA5BD174A82A1CCB0891AB74B11</vt:lpwstr>
  </property>
</Properties>
</file>