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87" r:id="rId2"/>
  </p:sldMasterIdLst>
  <p:notesMasterIdLst>
    <p:notesMasterId r:id="rId39"/>
  </p:notesMasterIdLst>
  <p:sldIdLst>
    <p:sldId id="257" r:id="rId3"/>
    <p:sldId id="264" r:id="rId4"/>
    <p:sldId id="559" r:id="rId5"/>
    <p:sldId id="496" r:id="rId6"/>
    <p:sldId id="479" r:id="rId7"/>
    <p:sldId id="373" r:id="rId8"/>
    <p:sldId id="487" r:id="rId9"/>
    <p:sldId id="561" r:id="rId10"/>
    <p:sldId id="562" r:id="rId11"/>
    <p:sldId id="563" r:id="rId12"/>
    <p:sldId id="497" r:id="rId13"/>
    <p:sldId id="589" r:id="rId14"/>
    <p:sldId id="590" r:id="rId15"/>
    <p:sldId id="591" r:id="rId16"/>
    <p:sldId id="488" r:id="rId17"/>
    <p:sldId id="519" r:id="rId18"/>
    <p:sldId id="440" r:id="rId19"/>
    <p:sldId id="565" r:id="rId20"/>
    <p:sldId id="410" r:id="rId21"/>
    <p:sldId id="501" r:id="rId22"/>
    <p:sldId id="474" r:id="rId23"/>
    <p:sldId id="543" r:id="rId24"/>
    <p:sldId id="347" r:id="rId25"/>
    <p:sldId id="477" r:id="rId26"/>
    <p:sldId id="413" r:id="rId27"/>
    <p:sldId id="414" r:id="rId28"/>
    <p:sldId id="550" r:id="rId29"/>
    <p:sldId id="547" r:id="rId30"/>
    <p:sldId id="548" r:id="rId31"/>
    <p:sldId id="549" r:id="rId32"/>
    <p:sldId id="551" r:id="rId33"/>
    <p:sldId id="552" r:id="rId34"/>
    <p:sldId id="555" r:id="rId35"/>
    <p:sldId id="592" r:id="rId36"/>
    <p:sldId id="553" r:id="rId37"/>
    <p:sldId id="556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pos="2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66FF"/>
    <a:srgbClr val="FF0000"/>
    <a:srgbClr val="33CCFF"/>
    <a:srgbClr val="66FF33"/>
    <a:srgbClr val="FFFF00"/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62" d="100"/>
          <a:sy n="62" d="100"/>
        </p:scale>
        <p:origin x="676" y="52"/>
      </p:cViewPr>
      <p:guideLst>
        <p:guide orient="horz" pos="480"/>
        <p:guide pos="2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>
            <a:extLst>
              <a:ext uri="{FF2B5EF4-FFF2-40B4-BE49-F238E27FC236}">
                <a16:creationId xmlns:a16="http://schemas.microsoft.com/office/drawing/2014/main" id="{3530CE99-6262-4A40-ACC4-7AEBB5959D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3074">
            <a:extLst>
              <a:ext uri="{FF2B5EF4-FFF2-40B4-BE49-F238E27FC236}">
                <a16:creationId xmlns:a16="http://schemas.microsoft.com/office/drawing/2014/main" id="{A7B6A696-8573-4092-B151-C8BCCF62C9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2" name="幻灯片图像占位符 3075">
            <a:extLst>
              <a:ext uri="{FF2B5EF4-FFF2-40B4-BE49-F238E27FC236}">
                <a16:creationId xmlns:a16="http://schemas.microsoft.com/office/drawing/2014/main" id="{C0A6BB52-E9B4-4CC4-8015-3C7F46112C3C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2667000" y="12954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3" name="文本占位符 3076">
            <a:extLst>
              <a:ext uri="{FF2B5EF4-FFF2-40B4-BE49-F238E27FC236}">
                <a16:creationId xmlns:a16="http://schemas.microsoft.com/office/drawing/2014/main" id="{0444D647-77D1-4F88-9FC8-E12C28E0A662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页脚占位符 3077">
            <a:extLst>
              <a:ext uri="{FF2B5EF4-FFF2-40B4-BE49-F238E27FC236}">
                <a16:creationId xmlns:a16="http://schemas.microsoft.com/office/drawing/2014/main" id="{2484DC55-CA48-493D-AF51-D63E434851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灯片编号占位符 3078">
            <a:extLst>
              <a:ext uri="{FF2B5EF4-FFF2-40B4-BE49-F238E27FC236}">
                <a16:creationId xmlns:a16="http://schemas.microsoft.com/office/drawing/2014/main" id="{B0E726E4-E1AB-476C-BAD0-F9D860622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noProof="1" dirty="0">
                <a:latin typeface="Verdana" panose="020B0604030504040204" pitchFamily="2" charset="0"/>
              </a:defRPr>
            </a:lvl1pPr>
          </a:lstStyle>
          <a:p>
            <a:pPr>
              <a:defRPr/>
            </a:pPr>
            <a:fld id="{F248E7AD-914F-4D21-8B41-9E2B5299D455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E95932D7-CA37-4D70-B97F-81C8C0EE6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EA51C9D5-1583-4E73-9EBF-8808BCC7F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126512BC-DA76-41F8-9207-6B9C44DF7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BFE6966C-09C3-428E-B7F7-7B2A37213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25DBED52-71C5-44FE-AF2E-C4F86E271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23F56515-B452-49AA-AFC5-DDF3B2DC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27181480-D254-42DB-BE9B-ADCC74615C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fld id="{C78D8307-9CC6-489B-9B3A-774433D3E0F5}" type="datetime8">
              <a:rPr lang="ko-KR" altLang="en-US"/>
              <a:pPr>
                <a:defRPr/>
              </a:pPr>
              <a:t>25년 10월 12일 21시 59분 56초</a:t>
            </a:fld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355E644C-4589-4F65-A0F9-2FBA05BA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CEDC8F43-F92C-45C3-AA68-8099D010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2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30684843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35188803-CA16-4606-B333-0A8B2D202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92ED3-FF36-41B7-B665-B960FFABAC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18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ACCEA543-D15F-4E96-9474-75E0D6671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4015C-67EA-4C94-8E6B-7FE20572AC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03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FA5B7A8-DED2-447E-8F87-5C65698B0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EF0B8-D3A0-4D8B-965E-7C40DC4946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9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4562699E-F348-4CD2-8BC6-934310D44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BEA11-1EC7-45D9-A911-48D6C16BB9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45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C238392B-B89F-4EF9-A835-9BF78500F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4FABE-40A5-4B5E-AF4B-C38DECCF39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96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CFBDE543-C178-4450-A3D3-6FE5437A6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CA290-A234-4056-888D-E0AC2E2A0E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18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BABAAFF4-050B-4E25-8D39-E38E2C210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C02BC1-E149-4E3E-8A41-E0AB0FC841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91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FC4A1E87-7D1F-4930-B2F4-BF8210802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A003E-C571-4485-BC6F-37A3978CEC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9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2517D14C-0698-43E0-AF02-1B5EEC10B9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0BA5A-212C-4D71-AE0A-08BDA62964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8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21E23E5A-936B-4B07-BA36-A8F112B85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A960DF-CAFD-4AE4-B84A-CCB30CBB56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27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FB0CED60-6AF0-47DA-9EB7-E116EB183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80DE2335-A517-4F24-9958-8AF6DC380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C7848C5E-0888-4B82-A3BD-5F9230FB7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AA54F3D1-9DB2-496B-A980-2A5975539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2F29244A-3798-452D-9025-69AE39658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6481990F-3BB1-40F9-81F2-C6C5465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029E98BB-6498-4309-8B1B-4F58E9F1B3C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fld id="{D5827DC4-A41B-4CCE-BD07-E16562FF69B7}" type="datetime8">
              <a:rPr lang="ko-KR" altLang="en-US"/>
              <a:pPr>
                <a:defRPr/>
              </a:pPr>
              <a:t>25년 10월 12일 21시 59분 56초</a:t>
            </a:fld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D674C5A8-E8D6-4898-8432-21E88FD2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DBE9C41B-2532-4A54-BEB4-2C31961D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2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79446005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34D3C2B0-64C9-4878-820C-BB3B75E55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2A781-D3C1-4216-99BC-FD8A1B48A6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70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F0136FBF-AAB3-43E0-B3FE-65085BF02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10738-E972-4F9D-8085-5C99555E43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260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DD937D74-FF4A-42BE-AF1A-ED53AD315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CBBEE-1625-432D-9094-A24746556D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249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67D05F59-FC68-48A3-B676-78E1A7363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B07AE-0FE1-41C7-B388-9640CC0317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505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36E92EBC-15CD-4509-8FF7-AD5BE333F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CC85-E8E9-4DAA-AF75-AC022A5F0C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414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10AAF79B-A8A7-4C89-A6BD-8A811D4CF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D1737-92D4-431E-BA98-5B10FD4FBA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694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D9239F8-06A3-4B26-957E-007D1FA21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F20EF-68F2-413B-BAA6-FDBB0264FB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630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14FF4513-9DE8-4663-8AEC-B83F61E98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7C857-7F23-4316-AB37-98AD0BB51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711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461EBFE8-3271-454E-B302-49C6F8BCD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826E5-63CA-4AA9-8E7D-41F59DC42C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85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4A81A9AA-64BF-4682-8AC3-E61A7FAF5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86FBE-278B-4272-8EC9-57231B8033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96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25">
            <a:extLst>
              <a:ext uri="{FF2B5EF4-FFF2-40B4-BE49-F238E27FC236}">
                <a16:creationId xmlns:a16="http://schemas.microsoft.com/office/drawing/2014/main" id="{A76A1BB9-3584-44D4-8192-1CBC91B62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6A7ABBDD-807E-4E36-8DFE-CF4EC0E4A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 dirty="0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fld id="{0BB46AA2-6EE0-48BC-BF34-438B7B2F86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7EBFF523-EBB2-4BAB-B1FB-83432C5F0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</a:rPr>
              <a:t>COMPANY LOGO</a:t>
            </a:r>
          </a:p>
        </p:txBody>
      </p:sp>
      <p:sp>
        <p:nvSpPr>
          <p:cNvPr id="1029" name="未知">
            <a:extLst>
              <a:ext uri="{FF2B5EF4-FFF2-40B4-BE49-F238E27FC236}">
                <a16:creationId xmlns:a16="http://schemas.microsoft.com/office/drawing/2014/main" id="{69016361-D1A0-4407-B527-F929951C1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460375 h 291"/>
              <a:gd name="T2" fmla="*/ 1586 w 5764"/>
              <a:gd name="T3" fmla="*/ 306387 h 291"/>
              <a:gd name="T4" fmla="*/ 2906858 w 5764"/>
              <a:gd name="T5" fmla="*/ 39687 h 291"/>
              <a:gd name="T6" fmla="*/ 6289471 w 5764"/>
              <a:gd name="T7" fmla="*/ 65087 h 291"/>
              <a:gd name="T8" fmla="*/ 9134482 w 5764"/>
              <a:gd name="T9" fmla="*/ 292100 h 291"/>
              <a:gd name="T10" fmla="*/ 9140825 w 5764"/>
              <a:gd name="T11" fmla="*/ 461962 h 291"/>
              <a:gd name="T12" fmla="*/ 0 w 5764"/>
              <a:gd name="T13" fmla="*/ 460375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文本占位符 1029">
            <a:extLst>
              <a:ext uri="{FF2B5EF4-FFF2-40B4-BE49-F238E27FC236}">
                <a16:creationId xmlns:a16="http://schemas.microsoft.com/office/drawing/2014/main" id="{E812666A-DF2D-4994-AB3D-E72D24827B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1" name="圆角矩形 1030">
            <a:extLst>
              <a:ext uri="{FF2B5EF4-FFF2-40B4-BE49-F238E27FC236}">
                <a16:creationId xmlns:a16="http://schemas.microsoft.com/office/drawing/2014/main" id="{EF998CD3-4B73-4022-A2C4-8039990B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1032" name="直接连接符 1031">
            <a:extLst>
              <a:ext uri="{FF2B5EF4-FFF2-40B4-BE49-F238E27FC236}">
                <a16:creationId xmlns:a16="http://schemas.microsoft.com/office/drawing/2014/main" id="{0EBC1B58-A811-41A6-B317-6EF8A3480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标题 1032">
            <a:extLst>
              <a:ext uri="{FF2B5EF4-FFF2-40B4-BE49-F238E27FC236}">
                <a16:creationId xmlns:a16="http://schemas.microsoft.com/office/drawing/2014/main" id="{706D00EB-3165-438B-A57F-8F46285D22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25">
            <a:extLst>
              <a:ext uri="{FF2B5EF4-FFF2-40B4-BE49-F238E27FC236}">
                <a16:creationId xmlns:a16="http://schemas.microsoft.com/office/drawing/2014/main" id="{7A51FDBF-A51E-4D21-8836-A6F0818E3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5597F09E-DB1D-4372-B0D9-F57BFD0DE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 dirty="0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fld id="{AE8B1FBB-9B87-46E0-B1CA-0A5675AD18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2052" name="文本框 1027">
            <a:extLst>
              <a:ext uri="{FF2B5EF4-FFF2-40B4-BE49-F238E27FC236}">
                <a16:creationId xmlns:a16="http://schemas.microsoft.com/office/drawing/2014/main" id="{1E6B570A-663D-4B2B-95C4-D7029C15C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</a:rPr>
              <a:t>COMPANY LOGO</a:t>
            </a:r>
          </a:p>
        </p:txBody>
      </p:sp>
      <p:sp>
        <p:nvSpPr>
          <p:cNvPr id="2053" name="未知">
            <a:extLst>
              <a:ext uri="{FF2B5EF4-FFF2-40B4-BE49-F238E27FC236}">
                <a16:creationId xmlns:a16="http://schemas.microsoft.com/office/drawing/2014/main" id="{E3EC4AEA-88EB-41AE-8ED2-130B1732A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460375 h 291"/>
              <a:gd name="T2" fmla="*/ 1586 w 5764"/>
              <a:gd name="T3" fmla="*/ 306387 h 291"/>
              <a:gd name="T4" fmla="*/ 2906858 w 5764"/>
              <a:gd name="T5" fmla="*/ 39687 h 291"/>
              <a:gd name="T6" fmla="*/ 6289471 w 5764"/>
              <a:gd name="T7" fmla="*/ 65087 h 291"/>
              <a:gd name="T8" fmla="*/ 9134482 w 5764"/>
              <a:gd name="T9" fmla="*/ 292100 h 291"/>
              <a:gd name="T10" fmla="*/ 9140825 w 5764"/>
              <a:gd name="T11" fmla="*/ 461962 h 291"/>
              <a:gd name="T12" fmla="*/ 0 w 5764"/>
              <a:gd name="T13" fmla="*/ 460375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文本占位符 1029">
            <a:extLst>
              <a:ext uri="{FF2B5EF4-FFF2-40B4-BE49-F238E27FC236}">
                <a16:creationId xmlns:a16="http://schemas.microsoft.com/office/drawing/2014/main" id="{655F801D-8B32-4432-B9B1-9B0FA78A14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5" name="圆角矩形 1030">
            <a:extLst>
              <a:ext uri="{FF2B5EF4-FFF2-40B4-BE49-F238E27FC236}">
                <a16:creationId xmlns:a16="http://schemas.microsoft.com/office/drawing/2014/main" id="{31370B80-6947-4BC6-9A95-39DB64331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2056" name="直接连接符 1031">
            <a:extLst>
              <a:ext uri="{FF2B5EF4-FFF2-40B4-BE49-F238E27FC236}">
                <a16:creationId xmlns:a16="http://schemas.microsoft.com/office/drawing/2014/main" id="{4417C646-F54D-4377-9333-649B9E983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" name="标题 1032">
            <a:extLst>
              <a:ext uri="{FF2B5EF4-FFF2-40B4-BE49-F238E27FC236}">
                <a16:creationId xmlns:a16="http://schemas.microsoft.com/office/drawing/2014/main" id="{B206F957-8FEC-4EBC-8F6E-4950756253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6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4097">
            <a:extLst>
              <a:ext uri="{FF2B5EF4-FFF2-40B4-BE49-F238E27FC236}">
                <a16:creationId xmlns:a16="http://schemas.microsoft.com/office/drawing/2014/main" id="{86B1969C-9A05-4BD6-BD16-5B68E1900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215900"/>
            <a:ext cx="74723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4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第五章 存储器与存储器系统</a:t>
            </a:r>
          </a:p>
        </p:txBody>
      </p:sp>
      <p:sp>
        <p:nvSpPr>
          <p:cNvPr id="4099" name="文本框 409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FBCCD73-8126-4E6F-AC2B-32BB6162A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116138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    </a:t>
            </a:r>
            <a:r>
              <a:rPr lang="zh-CN" altLang="en-US" sz="3600" b="1">
                <a:latin typeface="Times New Roman" panose="02020603050405020304" pitchFamily="18" charset="0"/>
              </a:rPr>
              <a:t>存储器概述</a:t>
            </a:r>
          </a:p>
        </p:txBody>
      </p:sp>
      <p:pic>
        <p:nvPicPr>
          <p:cNvPr id="4100" name="图片 4099" descr="black">
            <a:extLst>
              <a:ext uri="{FF2B5EF4-FFF2-40B4-BE49-F238E27FC236}">
                <a16:creationId xmlns:a16="http://schemas.microsoft.com/office/drawing/2014/main" id="{99A9C204-937E-41B5-86BC-2466084AC2C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2368550"/>
            <a:ext cx="304800" cy="303213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文本框 410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47035A1-A586-47C7-9E76-E3073E79E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59113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     </a:t>
            </a:r>
            <a:r>
              <a:rPr lang="en-US" altLang="zh-CN" sz="3600" b="1">
                <a:latin typeface="Times New Roman" panose="02020603050405020304" pitchFamily="18" charset="0"/>
              </a:rPr>
              <a:t>8086</a:t>
            </a:r>
            <a:r>
              <a:rPr lang="zh-CN" altLang="en-US" sz="3600" b="1">
                <a:latin typeface="Times New Roman" panose="02020603050405020304" pitchFamily="18" charset="0"/>
              </a:rPr>
              <a:t>系统的存储器组织</a:t>
            </a:r>
          </a:p>
        </p:txBody>
      </p:sp>
      <p:pic>
        <p:nvPicPr>
          <p:cNvPr id="4102" name="图片 4101" descr="black">
            <a:extLst>
              <a:ext uri="{FF2B5EF4-FFF2-40B4-BE49-F238E27FC236}">
                <a16:creationId xmlns:a16="http://schemas.microsoft.com/office/drawing/2014/main" id="{09B7FAF0-CE5E-45A2-80D0-DA3F3F9ABE6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3254375"/>
            <a:ext cx="304800" cy="303213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灯片编号占位符 1">
            <a:extLst>
              <a:ext uri="{FF2B5EF4-FFF2-40B4-BE49-F238E27FC236}">
                <a16:creationId xmlns:a16="http://schemas.microsoft.com/office/drawing/2014/main" id="{16AE47BD-99E8-4E1F-A0E0-57D99374E7F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A9FFA9-917A-45F7-84DF-D0F6A386AAC5}" type="slidenum">
              <a:rPr altLang="en-US" smtClean="0">
                <a:latin typeface="Times New Roman" panose="02020603050405020304" pitchFamily="18" charset="0"/>
              </a:rPr>
              <a:pPr/>
              <a:t>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0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5121">
            <a:hlinkClick r:id="rId2" action="ppaction://hlinksldjump"/>
            <a:extLst>
              <a:ext uri="{FF2B5EF4-FFF2-40B4-BE49-F238E27FC236}">
                <a16:creationId xmlns:a16="http://schemas.microsoft.com/office/drawing/2014/main" id="{17F3231B-3FFB-422A-B88C-D1AC7D4EA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62188"/>
            <a:ext cx="449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Times New Roman" panose="02020603050405020304" pitchFamily="18" charset="0"/>
              </a:rPr>
              <a:t>1.1</a:t>
            </a:r>
            <a:r>
              <a:rPr lang="zh-CN" altLang="en-US" sz="3200" b="1">
                <a:latin typeface="Times New Roman" panose="02020603050405020304" pitchFamily="18" charset="0"/>
              </a:rPr>
              <a:t>、按存储介质</a:t>
            </a:r>
          </a:p>
        </p:txBody>
      </p:sp>
      <p:sp>
        <p:nvSpPr>
          <p:cNvPr id="5123" name="文本框 5122">
            <a:extLst>
              <a:ext uri="{FF2B5EF4-FFF2-40B4-BE49-F238E27FC236}">
                <a16:creationId xmlns:a16="http://schemas.microsoft.com/office/drawing/2014/main" id="{B0ED143B-CC12-4B5E-B56B-6AF64E05A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2738438"/>
            <a:ext cx="693420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半导体存储器（</a:t>
            </a:r>
            <a:r>
              <a:rPr lang="en-US" altLang="zh-CN" sz="2400" b="1">
                <a:latin typeface="宋体" panose="02010600030101010101" pitchFamily="2" charset="-122"/>
              </a:rPr>
              <a:t>70</a:t>
            </a:r>
            <a:r>
              <a:rPr lang="zh-CN" altLang="en-US" sz="2400" b="1">
                <a:latin typeface="宋体" panose="02010600030101010101" pitchFamily="2" charset="-122"/>
              </a:rPr>
              <a:t>年代开始广泛使用</a:t>
            </a:r>
            <a:r>
              <a:rPr lang="en-US" altLang="zh-CN" sz="2400" b="1">
                <a:latin typeface="宋体" panose="02010600030101010101" pitchFamily="2" charset="-122"/>
              </a:rPr>
              <a:t>,RAM,ROM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光电存储器（光盘）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磁性介质存储器	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solidFill>
                  <a:srgbClr val="FF3300"/>
                </a:solidFill>
              </a:rPr>
              <a:t>第一个磁盘系统是</a:t>
            </a:r>
            <a:r>
              <a:rPr lang="en-US" altLang="zh-CN" sz="2400" b="1">
                <a:solidFill>
                  <a:srgbClr val="FF3300"/>
                </a:solidFill>
              </a:rPr>
              <a:t>IBM</a:t>
            </a:r>
            <a:r>
              <a:rPr lang="zh-CN" altLang="en-US" sz="2400" b="1">
                <a:solidFill>
                  <a:srgbClr val="FF3300"/>
                </a:solidFill>
              </a:rPr>
              <a:t>的</a:t>
            </a:r>
            <a:r>
              <a:rPr lang="en-US" altLang="zh-CN" sz="2400" b="1">
                <a:solidFill>
                  <a:srgbClr val="FF3300"/>
                </a:solidFill>
              </a:rPr>
              <a:t>IBM 350 RAMAC</a:t>
            </a:r>
            <a:r>
              <a:rPr lang="en-US" altLang="zh-CN">
                <a:solidFill>
                  <a:srgbClr val="FF3300"/>
                </a:solidFill>
              </a:rPr>
              <a:t> </a:t>
            </a:r>
            <a:r>
              <a:rPr lang="en-US" altLang="zh-CN" sz="2400" b="1">
                <a:solidFill>
                  <a:srgbClr val="CC6600"/>
                </a:solidFill>
                <a:latin typeface="宋体" panose="02010600030101010101" pitchFamily="2" charset="-122"/>
              </a:rPr>
              <a:t>    </a:t>
            </a:r>
          </a:p>
        </p:txBody>
      </p:sp>
      <p:sp>
        <p:nvSpPr>
          <p:cNvPr id="9220" name="矩形 5123">
            <a:extLst>
              <a:ext uri="{FF2B5EF4-FFF2-40B4-BE49-F238E27FC236}">
                <a16:creationId xmlns:a16="http://schemas.microsoft.com/office/drawing/2014/main" id="{032A446D-4D23-44B3-B8FB-5AFA1D1D5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1554163"/>
            <a:ext cx="54816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</a:rPr>
              <a:t>、存储器的分类</a:t>
            </a:r>
          </a:p>
        </p:txBody>
      </p:sp>
      <p:sp>
        <p:nvSpPr>
          <p:cNvPr id="9221" name="文本框 5124">
            <a:extLst>
              <a:ext uri="{FF2B5EF4-FFF2-40B4-BE49-F238E27FC236}">
                <a16:creationId xmlns:a16="http://schemas.microsoft.com/office/drawing/2014/main" id="{45D0ADBE-7C4C-489A-B1B9-DD80D82DB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5243513"/>
            <a:ext cx="6819900" cy="1025525"/>
          </a:xfrm>
          <a:prstGeom prst="rect">
            <a:avLst/>
          </a:prstGeom>
          <a:noFill/>
          <a:ln w="1905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chemeClr val="hlink"/>
                </a:solidFill>
                <a:ea typeface="楷体_GB2312" pitchFamily="49" charset="-122"/>
              </a:rPr>
              <a:t>从原理上讲只要具有两个明显稳定的物理状态，并满足一定技术条件（电信号转换、便于读写、速度高、可靠性好）的器件和介质都可用来存储二进制信息</a:t>
            </a:r>
          </a:p>
        </p:txBody>
      </p:sp>
      <p:sp>
        <p:nvSpPr>
          <p:cNvPr id="9222" name="矩形 5125">
            <a:extLst>
              <a:ext uri="{FF2B5EF4-FFF2-40B4-BE49-F238E27FC236}">
                <a16:creationId xmlns:a16="http://schemas.microsoft.com/office/drawing/2014/main" id="{44A1FEE7-597B-4E3C-A064-C336B485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258763"/>
            <a:ext cx="4422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第一节 存储器概述</a:t>
            </a:r>
          </a:p>
        </p:txBody>
      </p:sp>
      <p:sp>
        <p:nvSpPr>
          <p:cNvPr id="9223" name="灯片编号占位符 1">
            <a:extLst>
              <a:ext uri="{FF2B5EF4-FFF2-40B4-BE49-F238E27FC236}">
                <a16:creationId xmlns:a16="http://schemas.microsoft.com/office/drawing/2014/main" id="{D7CA56FB-69CB-4B90-BD0E-2F49FA343E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49E6EC5-A691-475E-91A6-162B3552F57D}" type="slidenum">
              <a:rPr altLang="en-US" smtClean="0">
                <a:latin typeface="Times New Roman" panose="02020603050405020304" pitchFamily="18" charset="0"/>
              </a:rPr>
              <a:pPr/>
              <a:t>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uiExpand="1"/>
      <p:bldP spid="5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5123">
            <a:extLst>
              <a:ext uri="{FF2B5EF4-FFF2-40B4-BE49-F238E27FC236}">
                <a16:creationId xmlns:a16="http://schemas.microsoft.com/office/drawing/2014/main" id="{684A76D0-3062-4E1E-9205-F0C661AE8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8538"/>
            <a:ext cx="54816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</a:rPr>
              <a:t>、存储器的分类</a:t>
            </a:r>
          </a:p>
        </p:txBody>
      </p:sp>
      <p:sp>
        <p:nvSpPr>
          <p:cNvPr id="10243" name="矩形 5125">
            <a:extLst>
              <a:ext uri="{FF2B5EF4-FFF2-40B4-BE49-F238E27FC236}">
                <a16:creationId xmlns:a16="http://schemas.microsoft.com/office/drawing/2014/main" id="{B3817DB3-4341-4C5A-9E85-5A752E1A2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258763"/>
            <a:ext cx="4422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第一节 存储器概述</a:t>
            </a:r>
          </a:p>
        </p:txBody>
      </p:sp>
      <p:sp>
        <p:nvSpPr>
          <p:cNvPr id="10244" name="灯片编号占位符 1">
            <a:extLst>
              <a:ext uri="{FF2B5EF4-FFF2-40B4-BE49-F238E27FC236}">
                <a16:creationId xmlns:a16="http://schemas.microsoft.com/office/drawing/2014/main" id="{19DA605A-F5EC-49F9-ADDA-7D9AA3BE43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88816376-D4CF-4D65-893B-C578909A007F}" type="slidenum">
              <a:rPr altLang="en-US" smtClean="0">
                <a:latin typeface="Times New Roman" panose="02020603050405020304" pitchFamily="18" charset="0"/>
              </a:rPr>
              <a:pPr eaLnBrk="0" hangingPunct="0"/>
              <a:t>3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0245" name="组合 3">
            <a:extLst>
              <a:ext uri="{FF2B5EF4-FFF2-40B4-BE49-F238E27FC236}">
                <a16:creationId xmlns:a16="http://schemas.microsoft.com/office/drawing/2014/main" id="{12F64FD9-59C8-4561-A5FA-6F115529D224}"/>
              </a:ext>
            </a:extLst>
          </p:cNvPr>
          <p:cNvGrpSpPr>
            <a:grpSpLocks/>
          </p:cNvGrpSpPr>
          <p:nvPr/>
        </p:nvGrpSpPr>
        <p:grpSpPr bwMode="auto">
          <a:xfrm>
            <a:off x="1111250" y="1673225"/>
            <a:ext cx="6505575" cy="5065713"/>
            <a:chOff x="840" y="931"/>
            <a:chExt cx="13080" cy="10997"/>
          </a:xfrm>
        </p:grpSpPr>
        <p:sp>
          <p:nvSpPr>
            <p:cNvPr id="10246" name="TextBox 6">
              <a:extLst>
                <a:ext uri="{FF2B5EF4-FFF2-40B4-BE49-F238E27FC236}">
                  <a16:creationId xmlns:a16="http://schemas.microsoft.com/office/drawing/2014/main" id="{5F22BC53-50CA-42A8-85A1-23DD13C7F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" y="1440"/>
              <a:ext cx="3480" cy="10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8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吋软盘</a:t>
              </a:r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1971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年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5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.25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吋软盘</a:t>
              </a:r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1976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年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160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360KB</a:t>
              </a: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1.2MB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等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3.5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吋软盘</a:t>
              </a:r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1984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年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360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720KB</a:t>
              </a: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1.44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2.88MB</a:t>
              </a:r>
              <a:endParaRPr lang="zh-CN" altLang="en-US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23CE809-0F59-4799-B886-B44D5E419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" y="5760"/>
              <a:ext cx="9240" cy="4541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4E00314-84BB-4E52-AA8F-3C3987AB2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" y="931"/>
              <a:ext cx="9240" cy="4489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组合 6145">
            <a:extLst>
              <a:ext uri="{FF2B5EF4-FFF2-40B4-BE49-F238E27FC236}">
                <a16:creationId xmlns:a16="http://schemas.microsoft.com/office/drawing/2014/main" id="{2EA12814-4AEF-4DFF-A1B6-B42A4566F1B9}"/>
              </a:ext>
            </a:extLst>
          </p:cNvPr>
          <p:cNvGrpSpPr>
            <a:grpSpLocks/>
          </p:cNvGrpSpPr>
          <p:nvPr/>
        </p:nvGrpSpPr>
        <p:grpSpPr bwMode="auto">
          <a:xfrm>
            <a:off x="481013" y="1012825"/>
            <a:ext cx="6946900" cy="5157788"/>
            <a:chOff x="0" y="0"/>
            <a:chExt cx="4390" cy="3549"/>
          </a:xfrm>
        </p:grpSpPr>
        <p:sp>
          <p:nvSpPr>
            <p:cNvPr id="11269" name="矩形 6146">
              <a:extLst>
                <a:ext uri="{FF2B5EF4-FFF2-40B4-BE49-F238E27FC236}">
                  <a16:creationId xmlns:a16="http://schemas.microsoft.com/office/drawing/2014/main" id="{74300C9E-CDB1-41C9-9585-BAA8FE30D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80"/>
              <a:ext cx="979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宋体" panose="02010600030101010101" pitchFamily="2" charset="-122"/>
                </a:rPr>
                <a:t>半导体存储器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0" name="矩形 6147">
              <a:extLst>
                <a:ext uri="{FF2B5EF4-FFF2-40B4-BE49-F238E27FC236}">
                  <a16:creationId xmlns:a16="http://schemas.microsoft.com/office/drawing/2014/main" id="{F53CC1AB-A984-456C-AF1A-5C4B9DAA7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269"/>
              <a:ext cx="26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1" name="矩形 6148">
              <a:extLst>
                <a:ext uri="{FF2B5EF4-FFF2-40B4-BE49-F238E27FC236}">
                  <a16:creationId xmlns:a16="http://schemas.microsoft.com/office/drawing/2014/main" id="{25FD7A41-DE45-453D-BA51-37C51A754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71"/>
              <a:ext cx="920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0000"/>
                  </a:solidFill>
                  <a:latin typeface="宋体" panose="02010600030101010101" pitchFamily="2" charset="-122"/>
                </a:rPr>
                <a:t>静态存储器</a:t>
              </a:r>
            </a:p>
            <a:p>
              <a:pPr eaLnBrk="1" hangingPunct="1"/>
              <a:endParaRPr lang="zh-CN" altLang="en-US" sz="240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" name="矩形 6149">
              <a:extLst>
                <a:ext uri="{FF2B5EF4-FFF2-40B4-BE49-F238E27FC236}">
                  <a16:creationId xmlns:a16="http://schemas.microsoft.com/office/drawing/2014/main" id="{844FCBB5-7146-49C1-B112-24A8B6748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279"/>
              <a:ext cx="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3" name="矩形 6150">
              <a:extLst>
                <a:ext uri="{FF2B5EF4-FFF2-40B4-BE49-F238E27FC236}">
                  <a16:creationId xmlns:a16="http://schemas.microsoft.com/office/drawing/2014/main" id="{AC152F46-4723-497A-8FCD-1097AA565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126"/>
              <a:ext cx="942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随机存取</a:t>
              </a:r>
              <a:r>
                <a:rPr lang="zh-CN" altLang="en-US" sz="2000"/>
                <a:t>存储器</a:t>
              </a:r>
              <a:r>
                <a:rPr lang="en-US" altLang="zh-CN" sz="2000"/>
                <a:t>RAM</a:t>
              </a:r>
            </a:p>
          </p:txBody>
        </p:sp>
        <p:sp>
          <p:nvSpPr>
            <p:cNvPr id="11274" name="矩形 6151">
              <a:extLst>
                <a:ext uri="{FF2B5EF4-FFF2-40B4-BE49-F238E27FC236}">
                  <a16:creationId xmlns:a16="http://schemas.microsoft.com/office/drawing/2014/main" id="{889EBB0D-2916-4A2F-87C8-C138A6D5C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145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5" name="矩形 6152">
              <a:extLst>
                <a:ext uri="{FF2B5EF4-FFF2-40B4-BE49-F238E27FC236}">
                  <a16:creationId xmlns:a16="http://schemas.microsoft.com/office/drawing/2014/main" id="{8E84EADE-FAE0-40B9-9BD5-6A51FC614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9" y="285"/>
              <a:ext cx="2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6" name="矩形 6153">
              <a:extLst>
                <a:ext uri="{FF2B5EF4-FFF2-40B4-BE49-F238E27FC236}">
                  <a16:creationId xmlns:a16="http://schemas.microsoft.com/office/drawing/2014/main" id="{A3832089-C63B-430F-8630-A4EA31B8B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16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7" name="矩形 6154">
              <a:extLst>
                <a:ext uri="{FF2B5EF4-FFF2-40B4-BE49-F238E27FC236}">
                  <a16:creationId xmlns:a16="http://schemas.microsoft.com/office/drawing/2014/main" id="{BCEFC2EE-E662-4EBE-9324-6F1B5E02F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0"/>
              <a:ext cx="793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8" name="矩形 6155">
              <a:extLst>
                <a:ext uri="{FF2B5EF4-FFF2-40B4-BE49-F238E27FC236}">
                  <a16:creationId xmlns:a16="http://schemas.microsoft.com/office/drawing/2014/main" id="{25CC2EDB-6EC1-4915-BEC1-8640B0850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1" y="0"/>
              <a:ext cx="48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宋体" panose="02010600030101010101" pitchFamily="2" charset="-122"/>
                </a:rPr>
                <a:t>双极型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9" name="矩形 6156">
              <a:extLst>
                <a:ext uri="{FF2B5EF4-FFF2-40B4-BE49-F238E27FC236}">
                  <a16:creationId xmlns:a16="http://schemas.microsoft.com/office/drawing/2014/main" id="{556D01A3-63D8-41C1-A0F7-A730E0F47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6" y="52"/>
              <a:ext cx="30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80" name="组合 6157">
              <a:extLst>
                <a:ext uri="{FF2B5EF4-FFF2-40B4-BE49-F238E27FC236}">
                  <a16:creationId xmlns:a16="http://schemas.microsoft.com/office/drawing/2014/main" id="{CA0346BC-4E09-46D6-8FCC-120C8E03DE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2" y="1583"/>
              <a:ext cx="793" cy="453"/>
              <a:chOff x="0" y="0"/>
              <a:chExt cx="793" cy="453"/>
            </a:xfrm>
          </p:grpSpPr>
          <p:sp>
            <p:nvSpPr>
              <p:cNvPr id="11352" name="矩形 6158">
                <a:extLst>
                  <a:ext uri="{FF2B5EF4-FFF2-40B4-BE49-F238E27FC236}">
                    <a16:creationId xmlns:a16="http://schemas.microsoft.com/office/drawing/2014/main" id="{36DA032B-DAE9-4437-BD36-837227EE4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45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53" name="矩形 6159">
                <a:extLst>
                  <a:ext uri="{FF2B5EF4-FFF2-40B4-BE49-F238E27FC236}">
                    <a16:creationId xmlns:a16="http://schemas.microsoft.com/office/drawing/2014/main" id="{1C5232A3-F06B-4778-AC9D-33F65A77E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85"/>
                <a:ext cx="6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宋体" panose="02010600030101010101" pitchFamily="2" charset="-122"/>
                  </a:rPr>
                  <a:t>可擦除</a:t>
                </a:r>
                <a:r>
                  <a:rPr lang="en-US" altLang="zh-CN" sz="1600"/>
                  <a:t>ROM</a:t>
                </a:r>
              </a:p>
              <a:p>
                <a:pPr algn="ctr" eaLnBrk="1" hangingPunct="1"/>
                <a:r>
                  <a:rPr lang="en-US" altLang="zh-CN" sz="1600"/>
                  <a:t>EPROM</a:t>
                </a:r>
              </a:p>
            </p:txBody>
          </p:sp>
          <p:sp>
            <p:nvSpPr>
              <p:cNvPr id="11354" name="矩形 6160">
                <a:extLst>
                  <a:ext uri="{FF2B5EF4-FFF2-40B4-BE49-F238E27FC236}">
                    <a16:creationId xmlns:a16="http://schemas.microsoft.com/office/drawing/2014/main" id="{759D999D-791C-42E2-805A-1CEBAC031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65"/>
                <a:ext cx="28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55" name="矩形 6161">
                <a:extLst>
                  <a:ext uri="{FF2B5EF4-FFF2-40B4-BE49-F238E27FC236}">
                    <a16:creationId xmlns:a16="http://schemas.microsoft.com/office/drawing/2014/main" id="{F2C08EB6-0404-4102-95B8-A9CD14BF2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" y="196"/>
                <a:ext cx="30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81" name="组合 6162">
              <a:extLst>
                <a:ext uri="{FF2B5EF4-FFF2-40B4-BE49-F238E27FC236}">
                  <a16:creationId xmlns:a16="http://schemas.microsoft.com/office/drawing/2014/main" id="{BFD92298-8D9F-4AAE-9F2A-8372FEC01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4" y="121"/>
              <a:ext cx="225" cy="414"/>
              <a:chOff x="0" y="0"/>
              <a:chExt cx="225" cy="414"/>
            </a:xfrm>
          </p:grpSpPr>
          <p:sp>
            <p:nvSpPr>
              <p:cNvPr id="11350" name="直接连接符 6163">
                <a:extLst>
                  <a:ext uri="{FF2B5EF4-FFF2-40B4-BE49-F238E27FC236}">
                    <a16:creationId xmlns:a16="http://schemas.microsoft.com/office/drawing/2014/main" id="{1B8A8EF9-9318-47B0-875D-DB5CA2D14B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07"/>
                <a:ext cx="126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1" name="未知">
                <a:extLst>
                  <a:ext uri="{FF2B5EF4-FFF2-40B4-BE49-F238E27FC236}">
                    <a16:creationId xmlns:a16="http://schemas.microsoft.com/office/drawing/2014/main" id="{70913DB1-4302-48E3-A656-76A1392EF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" y="0"/>
                <a:ext cx="98" cy="414"/>
              </a:xfrm>
              <a:custGeom>
                <a:avLst/>
                <a:gdLst>
                  <a:gd name="T0" fmla="*/ 98 w 98"/>
                  <a:gd name="T1" fmla="*/ 0 h 414"/>
                  <a:gd name="T2" fmla="*/ 78 w 98"/>
                  <a:gd name="T3" fmla="*/ 0 h 414"/>
                  <a:gd name="T4" fmla="*/ 61 w 98"/>
                  <a:gd name="T5" fmla="*/ 0 h 414"/>
                  <a:gd name="T6" fmla="*/ 43 w 98"/>
                  <a:gd name="T7" fmla="*/ 0 h 414"/>
                  <a:gd name="T8" fmla="*/ 29 w 98"/>
                  <a:gd name="T9" fmla="*/ 0 h 414"/>
                  <a:gd name="T10" fmla="*/ 17 w 98"/>
                  <a:gd name="T11" fmla="*/ 0 h 414"/>
                  <a:gd name="T12" fmla="*/ 7 w 98"/>
                  <a:gd name="T13" fmla="*/ 0 h 414"/>
                  <a:gd name="T14" fmla="*/ 1 w 98"/>
                  <a:gd name="T15" fmla="*/ 0 h 414"/>
                  <a:gd name="T16" fmla="*/ 0 w 98"/>
                  <a:gd name="T17" fmla="*/ 0 h 414"/>
                  <a:gd name="T18" fmla="*/ 0 w 98"/>
                  <a:gd name="T19" fmla="*/ 414 h 414"/>
                  <a:gd name="T20" fmla="*/ 1 w 98"/>
                  <a:gd name="T21" fmla="*/ 414 h 414"/>
                  <a:gd name="T22" fmla="*/ 7 w 98"/>
                  <a:gd name="T23" fmla="*/ 414 h 414"/>
                  <a:gd name="T24" fmla="*/ 17 w 98"/>
                  <a:gd name="T25" fmla="*/ 414 h 414"/>
                  <a:gd name="T26" fmla="*/ 29 w 98"/>
                  <a:gd name="T27" fmla="*/ 414 h 414"/>
                  <a:gd name="T28" fmla="*/ 43 w 98"/>
                  <a:gd name="T29" fmla="*/ 414 h 414"/>
                  <a:gd name="T30" fmla="*/ 61 w 98"/>
                  <a:gd name="T31" fmla="*/ 414 h 414"/>
                  <a:gd name="T32" fmla="*/ 78 w 98"/>
                  <a:gd name="T33" fmla="*/ 414 h 414"/>
                  <a:gd name="T34" fmla="*/ 98 w 98"/>
                  <a:gd name="T35" fmla="*/ 414 h 41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414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414"/>
                    </a:lnTo>
                    <a:lnTo>
                      <a:pt x="1" y="414"/>
                    </a:lnTo>
                    <a:lnTo>
                      <a:pt x="7" y="414"/>
                    </a:lnTo>
                    <a:lnTo>
                      <a:pt x="17" y="414"/>
                    </a:lnTo>
                    <a:lnTo>
                      <a:pt x="29" y="414"/>
                    </a:lnTo>
                    <a:lnTo>
                      <a:pt x="43" y="414"/>
                    </a:lnTo>
                    <a:lnTo>
                      <a:pt x="61" y="414"/>
                    </a:lnTo>
                    <a:lnTo>
                      <a:pt x="78" y="414"/>
                    </a:lnTo>
                    <a:lnTo>
                      <a:pt x="98" y="414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82" name="矩形 6165">
              <a:extLst>
                <a:ext uri="{FF2B5EF4-FFF2-40B4-BE49-F238E27FC236}">
                  <a16:creationId xmlns:a16="http://schemas.microsoft.com/office/drawing/2014/main" id="{0287BECC-AB98-4256-9C40-EC6D02E03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415"/>
              <a:ext cx="793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3" name="矩形 6166">
              <a:extLst>
                <a:ext uri="{FF2B5EF4-FFF2-40B4-BE49-F238E27FC236}">
                  <a16:creationId xmlns:a16="http://schemas.microsoft.com/office/drawing/2014/main" id="{BBBBF135-6BB0-4CF0-A094-348C2F95E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8" y="435"/>
              <a:ext cx="509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MOS</a:t>
              </a:r>
              <a:r>
                <a:rPr lang="zh-CN" altLang="en-US" sz="2000"/>
                <a:t>型</a:t>
              </a:r>
            </a:p>
          </p:txBody>
        </p:sp>
        <p:sp>
          <p:nvSpPr>
            <p:cNvPr id="11284" name="矩形 6167">
              <a:extLst>
                <a:ext uri="{FF2B5EF4-FFF2-40B4-BE49-F238E27FC236}">
                  <a16:creationId xmlns:a16="http://schemas.microsoft.com/office/drawing/2014/main" id="{8F521C07-FA75-4AB6-86FC-B75AFD1FD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7" y="490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5" name="直接连接符 6168">
              <a:extLst>
                <a:ext uri="{FF2B5EF4-FFF2-40B4-BE49-F238E27FC236}">
                  <a16:creationId xmlns:a16="http://schemas.microsoft.com/office/drawing/2014/main" id="{909E582E-70CB-4F59-B636-AE43A98A9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0" y="1811"/>
              <a:ext cx="118" cy="1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未知">
              <a:extLst>
                <a:ext uri="{FF2B5EF4-FFF2-40B4-BE49-F238E27FC236}">
                  <a16:creationId xmlns:a16="http://schemas.microsoft.com/office/drawing/2014/main" id="{512C9053-D76C-4721-976F-26583FDF5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" y="1395"/>
              <a:ext cx="99" cy="414"/>
            </a:xfrm>
            <a:custGeom>
              <a:avLst/>
              <a:gdLst>
                <a:gd name="T0" fmla="*/ 99 w 99"/>
                <a:gd name="T1" fmla="*/ 0 h 414"/>
                <a:gd name="T2" fmla="*/ 79 w 99"/>
                <a:gd name="T3" fmla="*/ 0 h 414"/>
                <a:gd name="T4" fmla="*/ 60 w 99"/>
                <a:gd name="T5" fmla="*/ 0 h 414"/>
                <a:gd name="T6" fmla="*/ 44 w 99"/>
                <a:gd name="T7" fmla="*/ 0 h 414"/>
                <a:gd name="T8" fmla="*/ 29 w 99"/>
                <a:gd name="T9" fmla="*/ 0 h 414"/>
                <a:gd name="T10" fmla="*/ 17 w 99"/>
                <a:gd name="T11" fmla="*/ 0 h 414"/>
                <a:gd name="T12" fmla="*/ 7 w 99"/>
                <a:gd name="T13" fmla="*/ 0 h 414"/>
                <a:gd name="T14" fmla="*/ 1 w 99"/>
                <a:gd name="T15" fmla="*/ 0 h 414"/>
                <a:gd name="T16" fmla="*/ 0 w 99"/>
                <a:gd name="T17" fmla="*/ 0 h 414"/>
                <a:gd name="T18" fmla="*/ 0 w 99"/>
                <a:gd name="T19" fmla="*/ 414 h 414"/>
                <a:gd name="T20" fmla="*/ 1 w 99"/>
                <a:gd name="T21" fmla="*/ 414 h 414"/>
                <a:gd name="T22" fmla="*/ 7 w 99"/>
                <a:gd name="T23" fmla="*/ 414 h 414"/>
                <a:gd name="T24" fmla="*/ 17 w 99"/>
                <a:gd name="T25" fmla="*/ 414 h 414"/>
                <a:gd name="T26" fmla="*/ 29 w 99"/>
                <a:gd name="T27" fmla="*/ 414 h 414"/>
                <a:gd name="T28" fmla="*/ 44 w 99"/>
                <a:gd name="T29" fmla="*/ 414 h 414"/>
                <a:gd name="T30" fmla="*/ 60 w 99"/>
                <a:gd name="T31" fmla="*/ 414 h 414"/>
                <a:gd name="T32" fmla="*/ 79 w 99"/>
                <a:gd name="T33" fmla="*/ 414 h 414"/>
                <a:gd name="T34" fmla="*/ 99 w 99"/>
                <a:gd name="T35" fmla="*/ 414 h 4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9" h="414">
                  <a:moveTo>
                    <a:pt x="99" y="0"/>
                  </a:moveTo>
                  <a:lnTo>
                    <a:pt x="79" y="0"/>
                  </a:lnTo>
                  <a:lnTo>
                    <a:pt x="60" y="0"/>
                  </a:lnTo>
                  <a:lnTo>
                    <a:pt x="44" y="0"/>
                  </a:lnTo>
                  <a:lnTo>
                    <a:pt x="29" y="0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414"/>
                  </a:lnTo>
                  <a:lnTo>
                    <a:pt x="1" y="414"/>
                  </a:lnTo>
                  <a:lnTo>
                    <a:pt x="7" y="414"/>
                  </a:lnTo>
                  <a:lnTo>
                    <a:pt x="17" y="414"/>
                  </a:lnTo>
                  <a:lnTo>
                    <a:pt x="29" y="414"/>
                  </a:lnTo>
                  <a:lnTo>
                    <a:pt x="44" y="414"/>
                  </a:lnTo>
                  <a:lnTo>
                    <a:pt x="60" y="414"/>
                  </a:lnTo>
                  <a:lnTo>
                    <a:pt x="79" y="414"/>
                  </a:lnTo>
                  <a:lnTo>
                    <a:pt x="99" y="41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矩形 6170">
              <a:extLst>
                <a:ext uri="{FF2B5EF4-FFF2-40B4-BE49-F238E27FC236}">
                  <a16:creationId xmlns:a16="http://schemas.microsoft.com/office/drawing/2014/main" id="{CD1FF27D-DFC4-4359-92C2-27BACD785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687"/>
              <a:ext cx="26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8" name="矩形 6171">
              <a:extLst>
                <a:ext uri="{FF2B5EF4-FFF2-40B4-BE49-F238E27FC236}">
                  <a16:creationId xmlns:a16="http://schemas.microsoft.com/office/drawing/2014/main" id="{3A3E98C3-FECD-4DF8-9F9D-D50C43788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0" y="615"/>
              <a:ext cx="803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0000"/>
                  </a:solidFill>
                  <a:latin typeface="宋体" panose="02010600030101010101" pitchFamily="2" charset="-122"/>
                </a:rPr>
                <a:t>动态存储器</a:t>
              </a:r>
            </a:p>
          </p:txBody>
        </p:sp>
        <p:sp>
          <p:nvSpPr>
            <p:cNvPr id="11289" name="矩形 6172">
              <a:extLst>
                <a:ext uri="{FF2B5EF4-FFF2-40B4-BE49-F238E27FC236}">
                  <a16:creationId xmlns:a16="http://schemas.microsoft.com/office/drawing/2014/main" id="{1D8DD11E-D3B7-46B3-B33A-02DE5B7D9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698"/>
              <a:ext cx="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0" name="矩形 6173">
              <a:extLst>
                <a:ext uri="{FF2B5EF4-FFF2-40B4-BE49-F238E27FC236}">
                  <a16:creationId xmlns:a16="http://schemas.microsoft.com/office/drawing/2014/main" id="{1282F5E7-9431-4711-84FD-6B68C4D90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1098"/>
              <a:ext cx="793" cy="4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1" name="矩形 6174">
              <a:extLst>
                <a:ext uri="{FF2B5EF4-FFF2-40B4-BE49-F238E27FC236}">
                  <a16:creationId xmlns:a16="http://schemas.microsoft.com/office/drawing/2014/main" id="{643AC72B-7915-48CA-8A8F-EB01599A2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1119"/>
              <a:ext cx="845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只读存储器</a:t>
              </a:r>
            </a:p>
            <a:p>
              <a:pPr algn="ctr" eaLnBrk="1" hangingPunct="1"/>
              <a:r>
                <a:rPr lang="en-US" altLang="zh-CN" sz="2000"/>
                <a:t>ROM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1292" name="矩形 6175">
              <a:extLst>
                <a:ext uri="{FF2B5EF4-FFF2-40B4-BE49-F238E27FC236}">
                  <a16:creationId xmlns:a16="http://schemas.microsoft.com/office/drawing/2014/main" id="{DBB08A03-0225-40CA-8215-ED8566EE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" y="1187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3" name="矩形 6176">
              <a:extLst>
                <a:ext uri="{FF2B5EF4-FFF2-40B4-BE49-F238E27FC236}">
                  <a16:creationId xmlns:a16="http://schemas.microsoft.com/office/drawing/2014/main" id="{081DECF8-9A4E-40E8-A850-280D33873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1318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94" name="组合 6177">
              <a:extLst>
                <a:ext uri="{FF2B5EF4-FFF2-40B4-BE49-F238E27FC236}">
                  <a16:creationId xmlns:a16="http://schemas.microsoft.com/office/drawing/2014/main" id="{20BFBB86-A5B4-4FD1-A1E0-29E7CDF14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773"/>
              <a:ext cx="793" cy="239"/>
              <a:chOff x="0" y="0"/>
              <a:chExt cx="793" cy="239"/>
            </a:xfrm>
          </p:grpSpPr>
          <p:sp>
            <p:nvSpPr>
              <p:cNvPr id="11348" name="矩形 6178">
                <a:extLst>
                  <a:ext uri="{FF2B5EF4-FFF2-40B4-BE49-F238E27FC236}">
                    <a16:creationId xmlns:a16="http://schemas.microsoft.com/office/drawing/2014/main" id="{1ECA5202-44F5-45F0-953D-3D2837DD6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9" name="矩形 6179">
                <a:extLst>
                  <a:ext uri="{FF2B5EF4-FFF2-40B4-BE49-F238E27FC236}">
                    <a16:creationId xmlns:a16="http://schemas.microsoft.com/office/drawing/2014/main" id="{B764C02E-4A9C-4FAB-AB98-7DDEE0913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" y="29"/>
                <a:ext cx="671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/>
                  <a:t>掩</a:t>
                </a:r>
                <a:r>
                  <a:rPr lang="zh-CN" altLang="en-US" sz="2000"/>
                  <a:t>膜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ROM</a:t>
                </a:r>
              </a:p>
            </p:txBody>
          </p:sp>
        </p:grpSp>
        <p:sp>
          <p:nvSpPr>
            <p:cNvPr id="11295" name="矩形 6180">
              <a:extLst>
                <a:ext uri="{FF2B5EF4-FFF2-40B4-BE49-F238E27FC236}">
                  <a16:creationId xmlns:a16="http://schemas.microsoft.com/office/drawing/2014/main" id="{E721CCF3-EA28-4A79-97E3-D4B7367DB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841"/>
              <a:ext cx="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96" name="组合 6181">
              <a:extLst>
                <a:ext uri="{FF2B5EF4-FFF2-40B4-BE49-F238E27FC236}">
                  <a16:creationId xmlns:a16="http://schemas.microsoft.com/office/drawing/2014/main" id="{E6E26BA5-A5D2-4E9B-857A-D57AB4A32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0" y="897"/>
              <a:ext cx="229" cy="906"/>
              <a:chOff x="0" y="0"/>
              <a:chExt cx="229" cy="906"/>
            </a:xfrm>
          </p:grpSpPr>
          <p:sp>
            <p:nvSpPr>
              <p:cNvPr id="11346" name="直接连接符 6182">
                <a:extLst>
                  <a:ext uri="{FF2B5EF4-FFF2-40B4-BE49-F238E27FC236}">
                    <a16:creationId xmlns:a16="http://schemas.microsoft.com/office/drawing/2014/main" id="{8BBF117F-0EB8-47B1-B252-77C81F9F8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407"/>
                <a:ext cx="229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7" name="未知">
                <a:extLst>
                  <a:ext uri="{FF2B5EF4-FFF2-40B4-BE49-F238E27FC236}">
                    <a16:creationId xmlns:a16="http://schemas.microsoft.com/office/drawing/2014/main" id="{64C74DED-5AEE-4B83-8E8F-CB3A91F0C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" y="0"/>
                <a:ext cx="98" cy="906"/>
              </a:xfrm>
              <a:custGeom>
                <a:avLst/>
                <a:gdLst>
                  <a:gd name="T0" fmla="*/ 98 w 98"/>
                  <a:gd name="T1" fmla="*/ 0 h 819"/>
                  <a:gd name="T2" fmla="*/ 78 w 98"/>
                  <a:gd name="T3" fmla="*/ 0 h 819"/>
                  <a:gd name="T4" fmla="*/ 61 w 98"/>
                  <a:gd name="T5" fmla="*/ 0 h 819"/>
                  <a:gd name="T6" fmla="*/ 43 w 98"/>
                  <a:gd name="T7" fmla="*/ 0 h 819"/>
                  <a:gd name="T8" fmla="*/ 29 w 98"/>
                  <a:gd name="T9" fmla="*/ 0 h 819"/>
                  <a:gd name="T10" fmla="*/ 17 w 98"/>
                  <a:gd name="T11" fmla="*/ 0 h 819"/>
                  <a:gd name="T12" fmla="*/ 7 w 98"/>
                  <a:gd name="T13" fmla="*/ 0 h 819"/>
                  <a:gd name="T14" fmla="*/ 1 w 98"/>
                  <a:gd name="T15" fmla="*/ 0 h 819"/>
                  <a:gd name="T16" fmla="*/ 0 w 98"/>
                  <a:gd name="T17" fmla="*/ 0 h 819"/>
                  <a:gd name="T18" fmla="*/ 0 w 98"/>
                  <a:gd name="T19" fmla="*/ 906 h 819"/>
                  <a:gd name="T20" fmla="*/ 1 w 98"/>
                  <a:gd name="T21" fmla="*/ 906 h 819"/>
                  <a:gd name="T22" fmla="*/ 7 w 98"/>
                  <a:gd name="T23" fmla="*/ 906 h 819"/>
                  <a:gd name="T24" fmla="*/ 17 w 98"/>
                  <a:gd name="T25" fmla="*/ 906 h 819"/>
                  <a:gd name="T26" fmla="*/ 29 w 98"/>
                  <a:gd name="T27" fmla="*/ 906 h 819"/>
                  <a:gd name="T28" fmla="*/ 43 w 98"/>
                  <a:gd name="T29" fmla="*/ 906 h 819"/>
                  <a:gd name="T30" fmla="*/ 61 w 98"/>
                  <a:gd name="T31" fmla="*/ 906 h 819"/>
                  <a:gd name="T32" fmla="*/ 78 w 98"/>
                  <a:gd name="T33" fmla="*/ 906 h 819"/>
                  <a:gd name="T34" fmla="*/ 98 w 98"/>
                  <a:gd name="T35" fmla="*/ 906 h 81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819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819"/>
                    </a:lnTo>
                    <a:lnTo>
                      <a:pt x="1" y="819"/>
                    </a:lnTo>
                    <a:lnTo>
                      <a:pt x="7" y="819"/>
                    </a:lnTo>
                    <a:lnTo>
                      <a:pt x="17" y="819"/>
                    </a:lnTo>
                    <a:lnTo>
                      <a:pt x="29" y="819"/>
                    </a:lnTo>
                    <a:lnTo>
                      <a:pt x="43" y="819"/>
                    </a:lnTo>
                    <a:lnTo>
                      <a:pt x="61" y="819"/>
                    </a:lnTo>
                    <a:lnTo>
                      <a:pt x="78" y="819"/>
                    </a:lnTo>
                    <a:lnTo>
                      <a:pt x="98" y="819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7" name="组合 6184">
              <a:extLst>
                <a:ext uri="{FF2B5EF4-FFF2-40B4-BE49-F238E27FC236}">
                  <a16:creationId xmlns:a16="http://schemas.microsoft.com/office/drawing/2014/main" id="{5865C403-FEBA-46D7-9DBA-6DBFD6ECA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1061"/>
              <a:ext cx="793" cy="453"/>
              <a:chOff x="0" y="0"/>
              <a:chExt cx="793" cy="453"/>
            </a:xfrm>
          </p:grpSpPr>
          <p:sp>
            <p:nvSpPr>
              <p:cNvPr id="11342" name="矩形 6185">
                <a:extLst>
                  <a:ext uri="{FF2B5EF4-FFF2-40B4-BE49-F238E27FC236}">
                    <a16:creationId xmlns:a16="http://schemas.microsoft.com/office/drawing/2014/main" id="{BDB7B01F-9CF0-4B2F-A13F-E1E20626F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45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3" name="矩形 6186">
                <a:extLst>
                  <a:ext uri="{FF2B5EF4-FFF2-40B4-BE49-F238E27FC236}">
                    <a16:creationId xmlns:a16="http://schemas.microsoft.com/office/drawing/2014/main" id="{137FE6C2-AF26-422B-B3A6-0BF4A36D2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" y="78"/>
                <a:ext cx="729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宋体" panose="02010600030101010101" pitchFamily="2" charset="-122"/>
                  </a:rPr>
                  <a:t>可编程</a:t>
                </a:r>
                <a:r>
                  <a:rPr lang="en-US" altLang="zh-CN" sz="1600"/>
                  <a:t>ROM </a:t>
                </a:r>
              </a:p>
              <a:p>
                <a:pPr algn="ctr" eaLnBrk="1" hangingPunct="1"/>
                <a:r>
                  <a:rPr lang="en-US" altLang="zh-CN" sz="1600"/>
                  <a:t>PROM</a:t>
                </a:r>
              </a:p>
            </p:txBody>
          </p:sp>
          <p:sp>
            <p:nvSpPr>
              <p:cNvPr id="11344" name="矩形 6187">
                <a:extLst>
                  <a:ext uri="{FF2B5EF4-FFF2-40B4-BE49-F238E27FC236}">
                    <a16:creationId xmlns:a16="http://schemas.microsoft.com/office/drawing/2014/main" id="{4221B231-64EC-49D7-B8D1-1438F17A7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90"/>
                <a:ext cx="28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45" name="矩形 6188">
                <a:extLst>
                  <a:ext uri="{FF2B5EF4-FFF2-40B4-BE49-F238E27FC236}">
                    <a16:creationId xmlns:a16="http://schemas.microsoft.com/office/drawing/2014/main" id="{7B4C1571-AC98-4132-9EFB-42E4830B9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" y="222"/>
                <a:ext cx="28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298" name="矩形 6189">
              <a:extLst>
                <a:ext uri="{FF2B5EF4-FFF2-40B4-BE49-F238E27FC236}">
                  <a16:creationId xmlns:a16="http://schemas.microsoft.com/office/drawing/2014/main" id="{BE62EC21-5CD8-4622-9FAC-6A964A384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2209"/>
              <a:ext cx="793" cy="4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9" name="矩形 6190">
              <a:extLst>
                <a:ext uri="{FF2B5EF4-FFF2-40B4-BE49-F238E27FC236}">
                  <a16:creationId xmlns:a16="http://schemas.microsoft.com/office/drawing/2014/main" id="{DDC536B9-008E-4958-BAB7-A553B6BBA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4" y="2229"/>
              <a:ext cx="481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串行</a:t>
              </a:r>
            </a:p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存储器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300" name="矩形 6191">
              <a:extLst>
                <a:ext uri="{FF2B5EF4-FFF2-40B4-BE49-F238E27FC236}">
                  <a16:creationId xmlns:a16="http://schemas.microsoft.com/office/drawing/2014/main" id="{9D71C532-D81A-435A-BAF4-9165CF898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" y="2261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301" name="组合 6192">
              <a:extLst>
                <a:ext uri="{FF2B5EF4-FFF2-40B4-BE49-F238E27FC236}">
                  <a16:creationId xmlns:a16="http://schemas.microsoft.com/office/drawing/2014/main" id="{90444BCE-3768-4CB2-BE62-F6D0A0093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2" y="2122"/>
              <a:ext cx="805" cy="227"/>
              <a:chOff x="0" y="0"/>
              <a:chExt cx="805" cy="227"/>
            </a:xfrm>
          </p:grpSpPr>
          <p:sp>
            <p:nvSpPr>
              <p:cNvPr id="11340" name="矩形 6193">
                <a:extLst>
                  <a:ext uri="{FF2B5EF4-FFF2-40B4-BE49-F238E27FC236}">
                    <a16:creationId xmlns:a16="http://schemas.microsoft.com/office/drawing/2014/main" id="{E6C0094A-46E5-4FD4-A29D-2D8F11EC6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1" name="矩形 6194">
                <a:extLst>
                  <a:ext uri="{FF2B5EF4-FFF2-40B4-BE49-F238E27FC236}">
                    <a16:creationId xmlns:a16="http://schemas.microsoft.com/office/drawing/2014/main" id="{A442D376-1110-463C-A004-20F02B835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" y="16"/>
                <a:ext cx="802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宋体" panose="02010600030101010101" pitchFamily="2" charset="-122"/>
                  </a:rPr>
                  <a:t>移位寄存器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302" name="组合 6195">
              <a:extLst>
                <a:ext uri="{FF2B5EF4-FFF2-40B4-BE49-F238E27FC236}">
                  <a16:creationId xmlns:a16="http://schemas.microsoft.com/office/drawing/2014/main" id="{62F899B9-D591-42C2-801D-A913C4132B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2235"/>
              <a:ext cx="225" cy="378"/>
              <a:chOff x="0" y="0"/>
              <a:chExt cx="225" cy="378"/>
            </a:xfrm>
          </p:grpSpPr>
          <p:sp>
            <p:nvSpPr>
              <p:cNvPr id="11338" name="直接连接符 6196">
                <a:extLst>
                  <a:ext uri="{FF2B5EF4-FFF2-40B4-BE49-F238E27FC236}">
                    <a16:creationId xmlns:a16="http://schemas.microsoft.com/office/drawing/2014/main" id="{B4D2FA67-793A-4499-8C07-BFD176919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94"/>
                <a:ext cx="121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9" name="未知">
                <a:extLst>
                  <a:ext uri="{FF2B5EF4-FFF2-40B4-BE49-F238E27FC236}">
                    <a16:creationId xmlns:a16="http://schemas.microsoft.com/office/drawing/2014/main" id="{8C189D52-9620-4115-84E3-BBB941294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" y="0"/>
                <a:ext cx="98" cy="378"/>
              </a:xfrm>
              <a:custGeom>
                <a:avLst/>
                <a:gdLst>
                  <a:gd name="T0" fmla="*/ 98 w 98"/>
                  <a:gd name="T1" fmla="*/ 0 h 378"/>
                  <a:gd name="T2" fmla="*/ 78 w 98"/>
                  <a:gd name="T3" fmla="*/ 0 h 378"/>
                  <a:gd name="T4" fmla="*/ 61 w 98"/>
                  <a:gd name="T5" fmla="*/ 0 h 378"/>
                  <a:gd name="T6" fmla="*/ 43 w 98"/>
                  <a:gd name="T7" fmla="*/ 0 h 378"/>
                  <a:gd name="T8" fmla="*/ 29 w 98"/>
                  <a:gd name="T9" fmla="*/ 0 h 378"/>
                  <a:gd name="T10" fmla="*/ 17 w 98"/>
                  <a:gd name="T11" fmla="*/ 0 h 378"/>
                  <a:gd name="T12" fmla="*/ 7 w 98"/>
                  <a:gd name="T13" fmla="*/ 0 h 378"/>
                  <a:gd name="T14" fmla="*/ 1 w 98"/>
                  <a:gd name="T15" fmla="*/ 0 h 378"/>
                  <a:gd name="T16" fmla="*/ 0 w 98"/>
                  <a:gd name="T17" fmla="*/ 0 h 378"/>
                  <a:gd name="T18" fmla="*/ 0 w 98"/>
                  <a:gd name="T19" fmla="*/ 378 h 378"/>
                  <a:gd name="T20" fmla="*/ 1 w 98"/>
                  <a:gd name="T21" fmla="*/ 378 h 378"/>
                  <a:gd name="T22" fmla="*/ 7 w 98"/>
                  <a:gd name="T23" fmla="*/ 378 h 378"/>
                  <a:gd name="T24" fmla="*/ 17 w 98"/>
                  <a:gd name="T25" fmla="*/ 378 h 378"/>
                  <a:gd name="T26" fmla="*/ 29 w 98"/>
                  <a:gd name="T27" fmla="*/ 378 h 378"/>
                  <a:gd name="T28" fmla="*/ 43 w 98"/>
                  <a:gd name="T29" fmla="*/ 378 h 378"/>
                  <a:gd name="T30" fmla="*/ 61 w 98"/>
                  <a:gd name="T31" fmla="*/ 378 h 378"/>
                  <a:gd name="T32" fmla="*/ 78 w 98"/>
                  <a:gd name="T33" fmla="*/ 378 h 378"/>
                  <a:gd name="T34" fmla="*/ 98 w 98"/>
                  <a:gd name="T35" fmla="*/ 378 h 3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378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378"/>
                    </a:lnTo>
                    <a:lnTo>
                      <a:pt x="1" y="378"/>
                    </a:lnTo>
                    <a:lnTo>
                      <a:pt x="7" y="378"/>
                    </a:lnTo>
                    <a:lnTo>
                      <a:pt x="17" y="378"/>
                    </a:lnTo>
                    <a:lnTo>
                      <a:pt x="29" y="378"/>
                    </a:lnTo>
                    <a:lnTo>
                      <a:pt x="43" y="378"/>
                    </a:lnTo>
                    <a:lnTo>
                      <a:pt x="61" y="378"/>
                    </a:lnTo>
                    <a:lnTo>
                      <a:pt x="78" y="378"/>
                    </a:lnTo>
                    <a:lnTo>
                      <a:pt x="98" y="378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3" name="组合 6198">
              <a:extLst>
                <a:ext uri="{FF2B5EF4-FFF2-40B4-BE49-F238E27FC236}">
                  <a16:creationId xmlns:a16="http://schemas.microsoft.com/office/drawing/2014/main" id="{9F599EF1-A24C-4AE4-9AEA-994CE9FE73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0" y="2409"/>
              <a:ext cx="793" cy="453"/>
              <a:chOff x="0" y="0"/>
              <a:chExt cx="793" cy="453"/>
            </a:xfrm>
          </p:grpSpPr>
          <p:sp>
            <p:nvSpPr>
              <p:cNvPr id="11336" name="矩形 6199">
                <a:extLst>
                  <a:ext uri="{FF2B5EF4-FFF2-40B4-BE49-F238E27FC236}">
                    <a16:creationId xmlns:a16="http://schemas.microsoft.com/office/drawing/2014/main" id="{9DC82235-0D1A-452B-95BA-0490EEF06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45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37" name="矩形 6200">
                <a:extLst>
                  <a:ext uri="{FF2B5EF4-FFF2-40B4-BE49-F238E27FC236}">
                    <a16:creationId xmlns:a16="http://schemas.microsoft.com/office/drawing/2014/main" id="{D33C1F64-2DC3-48DB-A83A-D64E1CE57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" y="53"/>
                <a:ext cx="722" cy="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latin typeface="宋体" panose="02010600030101010101" pitchFamily="2" charset="-122"/>
                  </a:rPr>
                  <a:t>电荷耦合器</a:t>
                </a:r>
              </a:p>
              <a:p>
                <a:pPr algn="ctr" eaLnBrk="1" hangingPunct="1"/>
                <a:r>
                  <a:rPr lang="zh-CN" altLang="en-US">
                    <a:latin typeface="宋体" panose="02010600030101010101" pitchFamily="2" charset="-122"/>
                  </a:rPr>
                  <a:t>件</a:t>
                </a:r>
                <a:r>
                  <a:rPr lang="en-US" altLang="zh-CN"/>
                  <a:t>CCD</a:t>
                </a:r>
              </a:p>
            </p:txBody>
          </p:sp>
        </p:grpSp>
        <p:sp>
          <p:nvSpPr>
            <p:cNvPr id="11304" name="矩形 6201">
              <a:extLst>
                <a:ext uri="{FF2B5EF4-FFF2-40B4-BE49-F238E27FC236}">
                  <a16:creationId xmlns:a16="http://schemas.microsoft.com/office/drawing/2014/main" id="{CEBB7FB3-29CF-410E-BD1B-D47429FBA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2532"/>
              <a:ext cx="2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5" name="矩形 6202">
              <a:extLst>
                <a:ext uri="{FF2B5EF4-FFF2-40B4-BE49-F238E27FC236}">
                  <a16:creationId xmlns:a16="http://schemas.microsoft.com/office/drawing/2014/main" id="{C539B8B6-7805-4FB7-8AFE-86617EFD1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1252"/>
              <a:ext cx="80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紫外线擦除</a:t>
              </a:r>
            </a:p>
            <a:p>
              <a:pPr algn="ctr" eaLnBrk="1" hangingPunct="1"/>
              <a:r>
                <a:rPr lang="en-US" altLang="zh-CN" sz="2000"/>
                <a:t>EPROM</a:t>
              </a:r>
            </a:p>
          </p:txBody>
        </p:sp>
        <p:sp>
          <p:nvSpPr>
            <p:cNvPr id="11306" name="矩形 6203">
              <a:extLst>
                <a:ext uri="{FF2B5EF4-FFF2-40B4-BE49-F238E27FC236}">
                  <a16:creationId xmlns:a16="http://schemas.microsoft.com/office/drawing/2014/main" id="{CEDC45A7-2096-4C74-8366-22EB5B193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1280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7" name="矩形 6204">
              <a:extLst>
                <a:ext uri="{FF2B5EF4-FFF2-40B4-BE49-F238E27FC236}">
                  <a16:creationId xmlns:a16="http://schemas.microsoft.com/office/drawing/2014/main" id="{33CD62D0-86F8-4294-A7EB-46966454A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418"/>
              <a:ext cx="2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8" name="矩形 6205">
              <a:extLst>
                <a:ext uri="{FF2B5EF4-FFF2-40B4-BE49-F238E27FC236}">
                  <a16:creationId xmlns:a16="http://schemas.microsoft.com/office/drawing/2014/main" id="{90ABB4F4-8252-461F-829D-15B7A0F10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1649"/>
              <a:ext cx="672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电擦除</a:t>
              </a:r>
            </a:p>
            <a:p>
              <a:pPr algn="ctr" eaLnBrk="1" hangingPunct="1"/>
              <a:r>
                <a:rPr lang="en-US" altLang="zh-CN" sz="2000"/>
                <a:t>EEPROM</a:t>
              </a:r>
            </a:p>
          </p:txBody>
        </p:sp>
        <p:sp>
          <p:nvSpPr>
            <p:cNvPr id="11309" name="矩形 6206">
              <a:extLst>
                <a:ext uri="{FF2B5EF4-FFF2-40B4-BE49-F238E27FC236}">
                  <a16:creationId xmlns:a16="http://schemas.microsoft.com/office/drawing/2014/main" id="{52029C9F-4BCD-4FD3-AB2F-FB108FD84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9" y="1701"/>
              <a:ext cx="2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10" name="矩形 6207">
              <a:extLst>
                <a:ext uri="{FF2B5EF4-FFF2-40B4-BE49-F238E27FC236}">
                  <a16:creationId xmlns:a16="http://schemas.microsoft.com/office/drawing/2014/main" id="{29307C1C-6DD8-4218-AF3A-B4F5EADCA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" y="1839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11" name="直接连接符 6208">
              <a:extLst>
                <a:ext uri="{FF2B5EF4-FFF2-40B4-BE49-F238E27FC236}">
                  <a16:creationId xmlns:a16="http://schemas.microsoft.com/office/drawing/2014/main" id="{98568F37-9BDF-44CC-92CC-DFC45E501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513"/>
              <a:ext cx="118" cy="1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未知">
              <a:extLst>
                <a:ext uri="{FF2B5EF4-FFF2-40B4-BE49-F238E27FC236}">
                  <a16:creationId xmlns:a16="http://schemas.microsoft.com/office/drawing/2014/main" id="{8B9BDB63-3784-40BA-9945-C964AD36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" y="305"/>
              <a:ext cx="99" cy="414"/>
            </a:xfrm>
            <a:custGeom>
              <a:avLst/>
              <a:gdLst>
                <a:gd name="T0" fmla="*/ 99 w 99"/>
                <a:gd name="T1" fmla="*/ 0 h 414"/>
                <a:gd name="T2" fmla="*/ 79 w 99"/>
                <a:gd name="T3" fmla="*/ 0 h 414"/>
                <a:gd name="T4" fmla="*/ 60 w 99"/>
                <a:gd name="T5" fmla="*/ 0 h 414"/>
                <a:gd name="T6" fmla="*/ 44 w 99"/>
                <a:gd name="T7" fmla="*/ 0 h 414"/>
                <a:gd name="T8" fmla="*/ 29 w 99"/>
                <a:gd name="T9" fmla="*/ 0 h 414"/>
                <a:gd name="T10" fmla="*/ 17 w 99"/>
                <a:gd name="T11" fmla="*/ 0 h 414"/>
                <a:gd name="T12" fmla="*/ 7 w 99"/>
                <a:gd name="T13" fmla="*/ 0 h 414"/>
                <a:gd name="T14" fmla="*/ 1 w 99"/>
                <a:gd name="T15" fmla="*/ 0 h 414"/>
                <a:gd name="T16" fmla="*/ 0 w 99"/>
                <a:gd name="T17" fmla="*/ 0 h 414"/>
                <a:gd name="T18" fmla="*/ 0 w 99"/>
                <a:gd name="T19" fmla="*/ 414 h 414"/>
                <a:gd name="T20" fmla="*/ 1 w 99"/>
                <a:gd name="T21" fmla="*/ 414 h 414"/>
                <a:gd name="T22" fmla="*/ 7 w 99"/>
                <a:gd name="T23" fmla="*/ 414 h 414"/>
                <a:gd name="T24" fmla="*/ 17 w 99"/>
                <a:gd name="T25" fmla="*/ 414 h 414"/>
                <a:gd name="T26" fmla="*/ 29 w 99"/>
                <a:gd name="T27" fmla="*/ 414 h 414"/>
                <a:gd name="T28" fmla="*/ 44 w 99"/>
                <a:gd name="T29" fmla="*/ 414 h 414"/>
                <a:gd name="T30" fmla="*/ 60 w 99"/>
                <a:gd name="T31" fmla="*/ 414 h 414"/>
                <a:gd name="T32" fmla="*/ 79 w 99"/>
                <a:gd name="T33" fmla="*/ 414 h 414"/>
                <a:gd name="T34" fmla="*/ 99 w 99"/>
                <a:gd name="T35" fmla="*/ 414 h 4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9" h="414">
                  <a:moveTo>
                    <a:pt x="99" y="0"/>
                  </a:moveTo>
                  <a:lnTo>
                    <a:pt x="79" y="0"/>
                  </a:lnTo>
                  <a:lnTo>
                    <a:pt x="60" y="0"/>
                  </a:lnTo>
                  <a:lnTo>
                    <a:pt x="44" y="0"/>
                  </a:lnTo>
                  <a:lnTo>
                    <a:pt x="29" y="0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414"/>
                  </a:lnTo>
                  <a:lnTo>
                    <a:pt x="1" y="414"/>
                  </a:lnTo>
                  <a:lnTo>
                    <a:pt x="7" y="414"/>
                  </a:lnTo>
                  <a:lnTo>
                    <a:pt x="17" y="414"/>
                  </a:lnTo>
                  <a:lnTo>
                    <a:pt x="29" y="414"/>
                  </a:lnTo>
                  <a:lnTo>
                    <a:pt x="44" y="414"/>
                  </a:lnTo>
                  <a:lnTo>
                    <a:pt x="60" y="414"/>
                  </a:lnTo>
                  <a:lnTo>
                    <a:pt x="79" y="414"/>
                  </a:lnTo>
                  <a:lnTo>
                    <a:pt x="99" y="41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椭圆 6210">
              <a:extLst>
                <a:ext uri="{FF2B5EF4-FFF2-40B4-BE49-F238E27FC236}">
                  <a16:creationId xmlns:a16="http://schemas.microsoft.com/office/drawing/2014/main" id="{18DE1193-6435-47AE-A2FA-747358C1E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" y="1288"/>
              <a:ext cx="36" cy="35"/>
            </a:xfrm>
            <a:prstGeom prst="ellipse">
              <a:avLst/>
            </a:pr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4" name="矩形 6211">
              <a:extLst>
                <a:ext uri="{FF2B5EF4-FFF2-40B4-BE49-F238E27FC236}">
                  <a16:creationId xmlns:a16="http://schemas.microsoft.com/office/drawing/2014/main" id="{6F23CBF5-13EF-4215-B5CB-42D4A6046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2128"/>
              <a:ext cx="50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FLASH</a:t>
              </a:r>
            </a:p>
          </p:txBody>
        </p:sp>
        <p:sp>
          <p:nvSpPr>
            <p:cNvPr id="11315" name="未知">
              <a:extLst>
                <a:ext uri="{FF2B5EF4-FFF2-40B4-BE49-F238E27FC236}">
                  <a16:creationId xmlns:a16="http://schemas.microsoft.com/office/drawing/2014/main" id="{D0DB26A3-74DA-4FB6-B72A-54979E9D0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1810"/>
              <a:ext cx="99" cy="414"/>
            </a:xfrm>
            <a:custGeom>
              <a:avLst/>
              <a:gdLst>
                <a:gd name="T0" fmla="*/ 99 w 99"/>
                <a:gd name="T1" fmla="*/ 0 h 414"/>
                <a:gd name="T2" fmla="*/ 79 w 99"/>
                <a:gd name="T3" fmla="*/ 0 h 414"/>
                <a:gd name="T4" fmla="*/ 60 w 99"/>
                <a:gd name="T5" fmla="*/ 0 h 414"/>
                <a:gd name="T6" fmla="*/ 44 w 99"/>
                <a:gd name="T7" fmla="*/ 0 h 414"/>
                <a:gd name="T8" fmla="*/ 29 w 99"/>
                <a:gd name="T9" fmla="*/ 0 h 414"/>
                <a:gd name="T10" fmla="*/ 17 w 99"/>
                <a:gd name="T11" fmla="*/ 0 h 414"/>
                <a:gd name="T12" fmla="*/ 7 w 99"/>
                <a:gd name="T13" fmla="*/ 0 h 414"/>
                <a:gd name="T14" fmla="*/ 1 w 99"/>
                <a:gd name="T15" fmla="*/ 0 h 414"/>
                <a:gd name="T16" fmla="*/ 0 w 99"/>
                <a:gd name="T17" fmla="*/ 0 h 414"/>
                <a:gd name="T18" fmla="*/ 0 w 99"/>
                <a:gd name="T19" fmla="*/ 414 h 414"/>
                <a:gd name="T20" fmla="*/ 1 w 99"/>
                <a:gd name="T21" fmla="*/ 414 h 414"/>
                <a:gd name="T22" fmla="*/ 7 w 99"/>
                <a:gd name="T23" fmla="*/ 414 h 414"/>
                <a:gd name="T24" fmla="*/ 17 w 99"/>
                <a:gd name="T25" fmla="*/ 414 h 414"/>
                <a:gd name="T26" fmla="*/ 29 w 99"/>
                <a:gd name="T27" fmla="*/ 414 h 414"/>
                <a:gd name="T28" fmla="*/ 44 w 99"/>
                <a:gd name="T29" fmla="*/ 414 h 414"/>
                <a:gd name="T30" fmla="*/ 60 w 99"/>
                <a:gd name="T31" fmla="*/ 414 h 414"/>
                <a:gd name="T32" fmla="*/ 79 w 99"/>
                <a:gd name="T33" fmla="*/ 414 h 414"/>
                <a:gd name="T34" fmla="*/ 99 w 99"/>
                <a:gd name="T35" fmla="*/ 414 h 4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9" h="414">
                  <a:moveTo>
                    <a:pt x="99" y="0"/>
                  </a:moveTo>
                  <a:lnTo>
                    <a:pt x="79" y="0"/>
                  </a:lnTo>
                  <a:lnTo>
                    <a:pt x="60" y="0"/>
                  </a:lnTo>
                  <a:lnTo>
                    <a:pt x="44" y="0"/>
                  </a:lnTo>
                  <a:lnTo>
                    <a:pt x="29" y="0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414"/>
                  </a:lnTo>
                  <a:lnTo>
                    <a:pt x="1" y="414"/>
                  </a:lnTo>
                  <a:lnTo>
                    <a:pt x="7" y="414"/>
                  </a:lnTo>
                  <a:lnTo>
                    <a:pt x="17" y="414"/>
                  </a:lnTo>
                  <a:lnTo>
                    <a:pt x="29" y="414"/>
                  </a:lnTo>
                  <a:lnTo>
                    <a:pt x="44" y="414"/>
                  </a:lnTo>
                  <a:lnTo>
                    <a:pt x="60" y="414"/>
                  </a:lnTo>
                  <a:lnTo>
                    <a:pt x="79" y="414"/>
                  </a:lnTo>
                  <a:lnTo>
                    <a:pt x="99" y="41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16" name="组合 6213">
              <a:extLst>
                <a:ext uri="{FF2B5EF4-FFF2-40B4-BE49-F238E27FC236}">
                  <a16:creationId xmlns:a16="http://schemas.microsoft.com/office/drawing/2014/main" id="{48612905-527D-45F8-B220-8D2B9FA80F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9" y="3064"/>
              <a:ext cx="234" cy="378"/>
              <a:chOff x="0" y="0"/>
              <a:chExt cx="234" cy="378"/>
            </a:xfrm>
          </p:grpSpPr>
          <p:sp>
            <p:nvSpPr>
              <p:cNvPr id="11334" name="未知">
                <a:extLst>
                  <a:ext uri="{FF2B5EF4-FFF2-40B4-BE49-F238E27FC236}">
                    <a16:creationId xmlns:a16="http://schemas.microsoft.com/office/drawing/2014/main" id="{D46E8F4C-E24B-485D-B70D-1D347378A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0"/>
                <a:ext cx="98" cy="378"/>
              </a:xfrm>
              <a:custGeom>
                <a:avLst/>
                <a:gdLst>
                  <a:gd name="T0" fmla="*/ 98 w 98"/>
                  <a:gd name="T1" fmla="*/ 0 h 378"/>
                  <a:gd name="T2" fmla="*/ 78 w 98"/>
                  <a:gd name="T3" fmla="*/ 0 h 378"/>
                  <a:gd name="T4" fmla="*/ 61 w 98"/>
                  <a:gd name="T5" fmla="*/ 0 h 378"/>
                  <a:gd name="T6" fmla="*/ 43 w 98"/>
                  <a:gd name="T7" fmla="*/ 0 h 378"/>
                  <a:gd name="T8" fmla="*/ 29 w 98"/>
                  <a:gd name="T9" fmla="*/ 0 h 378"/>
                  <a:gd name="T10" fmla="*/ 17 w 98"/>
                  <a:gd name="T11" fmla="*/ 0 h 378"/>
                  <a:gd name="T12" fmla="*/ 7 w 98"/>
                  <a:gd name="T13" fmla="*/ 0 h 378"/>
                  <a:gd name="T14" fmla="*/ 1 w 98"/>
                  <a:gd name="T15" fmla="*/ 0 h 378"/>
                  <a:gd name="T16" fmla="*/ 0 w 98"/>
                  <a:gd name="T17" fmla="*/ 0 h 378"/>
                  <a:gd name="T18" fmla="*/ 0 w 98"/>
                  <a:gd name="T19" fmla="*/ 378 h 378"/>
                  <a:gd name="T20" fmla="*/ 1 w 98"/>
                  <a:gd name="T21" fmla="*/ 378 h 378"/>
                  <a:gd name="T22" fmla="*/ 7 w 98"/>
                  <a:gd name="T23" fmla="*/ 378 h 378"/>
                  <a:gd name="T24" fmla="*/ 17 w 98"/>
                  <a:gd name="T25" fmla="*/ 378 h 378"/>
                  <a:gd name="T26" fmla="*/ 29 w 98"/>
                  <a:gd name="T27" fmla="*/ 378 h 378"/>
                  <a:gd name="T28" fmla="*/ 43 w 98"/>
                  <a:gd name="T29" fmla="*/ 378 h 378"/>
                  <a:gd name="T30" fmla="*/ 61 w 98"/>
                  <a:gd name="T31" fmla="*/ 378 h 378"/>
                  <a:gd name="T32" fmla="*/ 78 w 98"/>
                  <a:gd name="T33" fmla="*/ 378 h 378"/>
                  <a:gd name="T34" fmla="*/ 98 w 98"/>
                  <a:gd name="T35" fmla="*/ 378 h 3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378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378"/>
                    </a:lnTo>
                    <a:lnTo>
                      <a:pt x="1" y="378"/>
                    </a:lnTo>
                    <a:lnTo>
                      <a:pt x="7" y="378"/>
                    </a:lnTo>
                    <a:lnTo>
                      <a:pt x="17" y="378"/>
                    </a:lnTo>
                    <a:lnTo>
                      <a:pt x="29" y="378"/>
                    </a:lnTo>
                    <a:lnTo>
                      <a:pt x="43" y="378"/>
                    </a:lnTo>
                    <a:lnTo>
                      <a:pt x="61" y="378"/>
                    </a:lnTo>
                    <a:lnTo>
                      <a:pt x="78" y="378"/>
                    </a:lnTo>
                    <a:lnTo>
                      <a:pt x="98" y="378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5" name="直接连接符 6215">
                <a:extLst>
                  <a:ext uri="{FF2B5EF4-FFF2-40B4-BE49-F238E27FC236}">
                    <a16:creationId xmlns:a16="http://schemas.microsoft.com/office/drawing/2014/main" id="{5502E288-F103-491D-8165-998CE95F2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85"/>
                <a:ext cx="136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17" name="组合 6216">
              <a:extLst>
                <a:ext uri="{FF2B5EF4-FFF2-40B4-BE49-F238E27FC236}">
                  <a16:creationId xmlns:a16="http://schemas.microsoft.com/office/drawing/2014/main" id="{F42FDB6D-9D06-465B-867A-3B1D5EEED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" y="332"/>
              <a:ext cx="359" cy="2906"/>
              <a:chOff x="0" y="0"/>
              <a:chExt cx="359" cy="2906"/>
            </a:xfrm>
          </p:grpSpPr>
          <p:sp>
            <p:nvSpPr>
              <p:cNvPr id="11328" name="直接连接符 6217">
                <a:extLst>
                  <a:ext uri="{FF2B5EF4-FFF2-40B4-BE49-F238E27FC236}">
                    <a16:creationId xmlns:a16="http://schemas.microsoft.com/office/drawing/2014/main" id="{184E91DC-C59B-4C65-9F38-6217052CF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971"/>
                <a:ext cx="242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29" name="组合 6218">
                <a:extLst>
                  <a:ext uri="{FF2B5EF4-FFF2-40B4-BE49-F238E27FC236}">
                    <a16:creationId xmlns:a16="http://schemas.microsoft.com/office/drawing/2014/main" id="{759F5B4F-50B8-4618-A157-8F00237E97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" y="0"/>
                <a:ext cx="114" cy="1996"/>
                <a:chOff x="0" y="0"/>
                <a:chExt cx="114" cy="1996"/>
              </a:xfrm>
            </p:grpSpPr>
            <p:sp>
              <p:nvSpPr>
                <p:cNvPr id="11332" name="未知">
                  <a:extLst>
                    <a:ext uri="{FF2B5EF4-FFF2-40B4-BE49-F238E27FC236}">
                      <a16:creationId xmlns:a16="http://schemas.microsoft.com/office/drawing/2014/main" id="{431B30A3-DEF7-4536-8B48-7EABBE5A66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98" cy="1996"/>
                </a:xfrm>
                <a:custGeom>
                  <a:avLst/>
                  <a:gdLst>
                    <a:gd name="T0" fmla="*/ 98 w 98"/>
                    <a:gd name="T1" fmla="*/ 0 h 1996"/>
                    <a:gd name="T2" fmla="*/ 78 w 98"/>
                    <a:gd name="T3" fmla="*/ 0 h 1996"/>
                    <a:gd name="T4" fmla="*/ 60 w 98"/>
                    <a:gd name="T5" fmla="*/ 0 h 1996"/>
                    <a:gd name="T6" fmla="*/ 43 w 98"/>
                    <a:gd name="T7" fmla="*/ 0 h 1996"/>
                    <a:gd name="T8" fmla="*/ 29 w 98"/>
                    <a:gd name="T9" fmla="*/ 0 h 1996"/>
                    <a:gd name="T10" fmla="*/ 17 w 98"/>
                    <a:gd name="T11" fmla="*/ 0 h 1996"/>
                    <a:gd name="T12" fmla="*/ 7 w 98"/>
                    <a:gd name="T13" fmla="*/ 0 h 1996"/>
                    <a:gd name="T14" fmla="*/ 1 w 98"/>
                    <a:gd name="T15" fmla="*/ 0 h 1996"/>
                    <a:gd name="T16" fmla="*/ 0 w 98"/>
                    <a:gd name="T17" fmla="*/ 0 h 1996"/>
                    <a:gd name="T18" fmla="*/ 0 w 98"/>
                    <a:gd name="T19" fmla="*/ 1996 h 1996"/>
                    <a:gd name="T20" fmla="*/ 1 w 98"/>
                    <a:gd name="T21" fmla="*/ 1996 h 1996"/>
                    <a:gd name="T22" fmla="*/ 7 w 98"/>
                    <a:gd name="T23" fmla="*/ 1996 h 1996"/>
                    <a:gd name="T24" fmla="*/ 17 w 98"/>
                    <a:gd name="T25" fmla="*/ 1996 h 1996"/>
                    <a:gd name="T26" fmla="*/ 29 w 98"/>
                    <a:gd name="T27" fmla="*/ 1996 h 1996"/>
                    <a:gd name="T28" fmla="*/ 43 w 98"/>
                    <a:gd name="T29" fmla="*/ 1996 h 1996"/>
                    <a:gd name="T30" fmla="*/ 60 w 98"/>
                    <a:gd name="T31" fmla="*/ 1996 h 1996"/>
                    <a:gd name="T32" fmla="*/ 78 w 98"/>
                    <a:gd name="T33" fmla="*/ 1996 h 1996"/>
                    <a:gd name="T34" fmla="*/ 98 w 98"/>
                    <a:gd name="T35" fmla="*/ 1996 h 199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98" h="1996">
                      <a:moveTo>
                        <a:pt x="98" y="0"/>
                      </a:moveTo>
                      <a:lnTo>
                        <a:pt x="78" y="0"/>
                      </a:lnTo>
                      <a:lnTo>
                        <a:pt x="60" y="0"/>
                      </a:lnTo>
                      <a:lnTo>
                        <a:pt x="43" y="0"/>
                      </a:lnTo>
                      <a:lnTo>
                        <a:pt x="29" y="0"/>
                      </a:lnTo>
                      <a:lnTo>
                        <a:pt x="17" y="0"/>
                      </a:lnTo>
                      <a:lnTo>
                        <a:pt x="7" y="0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1996"/>
                      </a:lnTo>
                      <a:lnTo>
                        <a:pt x="1" y="1996"/>
                      </a:lnTo>
                      <a:lnTo>
                        <a:pt x="7" y="1996"/>
                      </a:lnTo>
                      <a:lnTo>
                        <a:pt x="17" y="1996"/>
                      </a:lnTo>
                      <a:lnTo>
                        <a:pt x="29" y="1996"/>
                      </a:lnTo>
                      <a:lnTo>
                        <a:pt x="43" y="1996"/>
                      </a:lnTo>
                      <a:lnTo>
                        <a:pt x="60" y="1996"/>
                      </a:lnTo>
                      <a:lnTo>
                        <a:pt x="78" y="1996"/>
                      </a:lnTo>
                      <a:lnTo>
                        <a:pt x="98" y="1996"/>
                      </a:lnTo>
                    </a:path>
                  </a:pathLst>
                </a:custGeom>
                <a:noFill/>
                <a:ln w="2540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33" name="直接连接符 6220">
                  <a:extLst>
                    <a:ext uri="{FF2B5EF4-FFF2-40B4-BE49-F238E27FC236}">
                      <a16:creationId xmlns:a16="http://schemas.microsoft.com/office/drawing/2014/main" id="{20605C67-443A-42B7-812F-5AFD5FE314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0" y="972"/>
                  <a:ext cx="114" cy="1"/>
                </a:xfrm>
                <a:prstGeom prst="line">
                  <a:avLst/>
                </a:prstGeom>
                <a:noFill/>
                <a:ln w="2540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330" name="直接连接符 6221">
                <a:extLst>
                  <a:ext uri="{FF2B5EF4-FFF2-40B4-BE49-F238E27FC236}">
                    <a16:creationId xmlns:a16="http://schemas.microsoft.com/office/drawing/2014/main" id="{628FB86A-6E49-44A8-BA22-9F003A12B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" y="1998"/>
                <a:ext cx="0" cy="907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1" name="直接连接符 6222">
                <a:extLst>
                  <a:ext uri="{FF2B5EF4-FFF2-40B4-BE49-F238E27FC236}">
                    <a16:creationId xmlns:a16="http://schemas.microsoft.com/office/drawing/2014/main" id="{DA985922-A907-46FC-8D12-C565A6C56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" y="2905"/>
                <a:ext cx="121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18" name="组合 6223">
              <a:extLst>
                <a:ext uri="{FF2B5EF4-FFF2-40B4-BE49-F238E27FC236}">
                  <a16:creationId xmlns:a16="http://schemas.microsoft.com/office/drawing/2014/main" id="{9F393CC1-75B0-4DEF-A2A6-6E2BDBDAC8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1" y="2946"/>
              <a:ext cx="793" cy="227"/>
              <a:chOff x="0" y="0"/>
              <a:chExt cx="793" cy="227"/>
            </a:xfrm>
          </p:grpSpPr>
          <p:sp>
            <p:nvSpPr>
              <p:cNvPr id="11326" name="矩形 6224">
                <a:extLst>
                  <a:ext uri="{FF2B5EF4-FFF2-40B4-BE49-F238E27FC236}">
                    <a16:creationId xmlns:a16="http://schemas.microsoft.com/office/drawing/2014/main" id="{60A0ED5E-DD10-4814-8753-862ADF0AE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27" name="矩形 6225">
                <a:extLst>
                  <a:ext uri="{FF2B5EF4-FFF2-40B4-BE49-F238E27FC236}">
                    <a16:creationId xmlns:a16="http://schemas.microsoft.com/office/drawing/2014/main" id="{15E803E6-779F-4D20-BC10-8770E94B9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" y="16"/>
                <a:ext cx="34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FIFO</a:t>
                </a:r>
              </a:p>
            </p:txBody>
          </p:sp>
        </p:grpSp>
        <p:grpSp>
          <p:nvGrpSpPr>
            <p:cNvPr id="11319" name="组合 6226">
              <a:extLst>
                <a:ext uri="{FF2B5EF4-FFF2-40B4-BE49-F238E27FC236}">
                  <a16:creationId xmlns:a16="http://schemas.microsoft.com/office/drawing/2014/main" id="{CE6AD43C-9D84-4FA0-A4EE-7E1EF250A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9" y="3322"/>
              <a:ext cx="793" cy="227"/>
              <a:chOff x="0" y="0"/>
              <a:chExt cx="793" cy="227"/>
            </a:xfrm>
          </p:grpSpPr>
          <p:sp>
            <p:nvSpPr>
              <p:cNvPr id="11324" name="矩形 6227">
                <a:extLst>
                  <a:ext uri="{FF2B5EF4-FFF2-40B4-BE49-F238E27FC236}">
                    <a16:creationId xmlns:a16="http://schemas.microsoft.com/office/drawing/2014/main" id="{41D30746-E7F8-4F08-B3A7-56F141536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25" name="矩形 6228">
                <a:extLst>
                  <a:ext uri="{FF2B5EF4-FFF2-40B4-BE49-F238E27FC236}">
                    <a16:creationId xmlns:a16="http://schemas.microsoft.com/office/drawing/2014/main" id="{4B47C97C-1AAE-4980-B5A5-AF1A1F8A5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" y="12"/>
                <a:ext cx="68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双口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RAM</a:t>
                </a:r>
              </a:p>
            </p:txBody>
          </p:sp>
        </p:grpSp>
        <p:grpSp>
          <p:nvGrpSpPr>
            <p:cNvPr id="11320" name="组合 6229">
              <a:extLst>
                <a:ext uri="{FF2B5EF4-FFF2-40B4-BE49-F238E27FC236}">
                  <a16:creationId xmlns:a16="http://schemas.microsoft.com/office/drawing/2014/main" id="{70F376E6-1F95-4283-8F69-6693B06070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6" y="3137"/>
              <a:ext cx="793" cy="227"/>
              <a:chOff x="0" y="0"/>
              <a:chExt cx="793" cy="227"/>
            </a:xfrm>
          </p:grpSpPr>
          <p:sp>
            <p:nvSpPr>
              <p:cNvPr id="11322" name="矩形 6230">
                <a:extLst>
                  <a:ext uri="{FF2B5EF4-FFF2-40B4-BE49-F238E27FC236}">
                    <a16:creationId xmlns:a16="http://schemas.microsoft.com/office/drawing/2014/main" id="{BFF2B9C0-FB52-4135-8FA8-1058F3217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23" name="矩形 6231">
                <a:extLst>
                  <a:ext uri="{FF2B5EF4-FFF2-40B4-BE49-F238E27FC236}">
                    <a16:creationId xmlns:a16="http://schemas.microsoft.com/office/drawing/2014/main" id="{0518F8BF-E3D7-45DE-A664-F4A46C430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" y="15"/>
                <a:ext cx="321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其他</a:t>
                </a:r>
              </a:p>
            </p:txBody>
          </p:sp>
        </p:grpSp>
        <p:sp>
          <p:nvSpPr>
            <p:cNvPr id="11321" name="矩形 6232">
              <a:extLst>
                <a:ext uri="{FF2B5EF4-FFF2-40B4-BE49-F238E27FC236}">
                  <a16:creationId xmlns:a16="http://schemas.microsoft.com/office/drawing/2014/main" id="{45467BC2-1A2F-42B7-9872-0F73E31B4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90"/>
              <a:ext cx="793" cy="4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1267" name="矩形 6233">
            <a:extLst>
              <a:ext uri="{FF2B5EF4-FFF2-40B4-BE49-F238E27FC236}">
                <a16:creationId xmlns:a16="http://schemas.microsoft.com/office/drawing/2014/main" id="{335546D4-44B0-4C5D-9077-5E18DD27A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274638"/>
            <a:ext cx="5048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</a:rPr>
              <a:t>1.2</a:t>
            </a:r>
            <a:r>
              <a:rPr lang="zh-CN" altLang="en-US" sz="2800" b="1">
                <a:solidFill>
                  <a:srgbClr val="FFFF00"/>
                </a:solidFill>
              </a:rPr>
              <a:t>、半导体存储器的分类</a:t>
            </a:r>
          </a:p>
        </p:txBody>
      </p:sp>
      <p:sp>
        <p:nvSpPr>
          <p:cNvPr id="11268" name="灯片编号占位符 1">
            <a:extLst>
              <a:ext uri="{FF2B5EF4-FFF2-40B4-BE49-F238E27FC236}">
                <a16:creationId xmlns:a16="http://schemas.microsoft.com/office/drawing/2014/main" id="{D8B80663-9B24-4349-BC89-0444989AFD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A7C75C-8DA1-4504-987D-1ABADFC0F19A}" type="slidenum">
              <a:rPr altLang="en-US" smtClean="0">
                <a:latin typeface="Times New Roman" panose="02020603050405020304" pitchFamily="18" charset="0"/>
              </a:rPr>
              <a:pPr/>
              <a:t>4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7169">
            <a:extLst>
              <a:ext uri="{FF2B5EF4-FFF2-40B4-BE49-F238E27FC236}">
                <a16:creationId xmlns:a16="http://schemas.microsoft.com/office/drawing/2014/main" id="{67FC67E9-E340-45C2-94FC-05E3C5D6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85750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RAM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分类</a:t>
            </a:r>
          </a:p>
        </p:txBody>
      </p:sp>
      <p:sp>
        <p:nvSpPr>
          <p:cNvPr id="7171" name="矩形 7170">
            <a:extLst>
              <a:ext uri="{FF2B5EF4-FFF2-40B4-BE49-F238E27FC236}">
                <a16:creationId xmlns:a16="http://schemas.microsoft.com/office/drawing/2014/main" id="{DED2080A-A0B1-453F-834C-C3BA623FD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985838"/>
            <a:ext cx="1784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双极性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RAM</a:t>
            </a:r>
          </a:p>
        </p:txBody>
      </p:sp>
      <p:sp>
        <p:nvSpPr>
          <p:cNvPr id="7172" name="文本框 7171">
            <a:extLst>
              <a:ext uri="{FF2B5EF4-FFF2-40B4-BE49-F238E27FC236}">
                <a16:creationId xmlns:a16="http://schemas.microsoft.com/office/drawing/2014/main" id="{244C7627-A701-4178-B68A-9E045B650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315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FF00FF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1">
                <a:latin typeface="宋体" panose="02010600030101010101" pitchFamily="2" charset="-122"/>
              </a:rPr>
              <a:t>存取速度高，集成度低，功耗大，成本高。用于速度较高的场合。</a:t>
            </a:r>
          </a:p>
        </p:txBody>
      </p:sp>
      <p:grpSp>
        <p:nvGrpSpPr>
          <p:cNvPr id="12293" name="组合 7172">
            <a:extLst>
              <a:ext uri="{FF2B5EF4-FFF2-40B4-BE49-F238E27FC236}">
                <a16:creationId xmlns:a16="http://schemas.microsoft.com/office/drawing/2014/main" id="{1DC02364-56CE-4147-9823-D8C4D788A96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330450"/>
            <a:ext cx="6457950" cy="1371600"/>
            <a:chOff x="0" y="0"/>
            <a:chExt cx="4068" cy="864"/>
          </a:xfrm>
        </p:grpSpPr>
        <p:sp>
          <p:nvSpPr>
            <p:cNvPr id="12296" name="矩形 7173">
              <a:extLst>
                <a:ext uri="{FF2B5EF4-FFF2-40B4-BE49-F238E27FC236}">
                  <a16:creationId xmlns:a16="http://schemas.microsoft.com/office/drawing/2014/main" id="{9C035B05-3C3F-4F3B-98EA-7F3C78FAC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6"/>
              <a:ext cx="26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场效应管</a:t>
              </a:r>
              <a:r>
                <a:rPr lang="en-US" altLang="zh-CN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RAM</a:t>
              </a:r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MOS RAM</a:t>
              </a:r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）</a:t>
              </a:r>
            </a:p>
          </p:txBody>
        </p:sp>
        <p:grpSp>
          <p:nvGrpSpPr>
            <p:cNvPr id="12297" name="组合 7174">
              <a:extLst>
                <a:ext uri="{FF2B5EF4-FFF2-40B4-BE49-F238E27FC236}">
                  <a16:creationId xmlns:a16="http://schemas.microsoft.com/office/drawing/2014/main" id="{AD035CEC-DF35-4801-9145-01C4A20E8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6" y="0"/>
              <a:ext cx="1152" cy="864"/>
              <a:chOff x="0" y="0"/>
              <a:chExt cx="1152" cy="864"/>
            </a:xfrm>
          </p:grpSpPr>
          <p:sp>
            <p:nvSpPr>
              <p:cNvPr id="12304" name="矩形 7175">
                <a:extLst>
                  <a:ext uri="{FF2B5EF4-FFF2-40B4-BE49-F238E27FC236}">
                    <a16:creationId xmlns:a16="http://schemas.microsoft.com/office/drawing/2014/main" id="{96D19A62-C9CB-4F8E-8E1E-94CA85887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1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400" b="1">
                    <a:latin typeface="Times New Roman" panose="02020603050405020304" pitchFamily="18" charset="0"/>
                  </a:rPr>
                  <a:t>静态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RAM</a:t>
                </a:r>
              </a:p>
            </p:txBody>
          </p:sp>
          <p:sp>
            <p:nvSpPr>
              <p:cNvPr id="12305" name="矩形 7176">
                <a:extLst>
                  <a:ext uri="{FF2B5EF4-FFF2-40B4-BE49-F238E27FC236}">
                    <a16:creationId xmlns:a16="http://schemas.microsoft.com/office/drawing/2014/main" id="{15A96B31-2DC4-43AA-A1F7-80A0D74E0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6"/>
                <a:ext cx="11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400" b="1">
                    <a:latin typeface="Times New Roman" panose="02020603050405020304" pitchFamily="18" charset="0"/>
                  </a:rPr>
                  <a:t>动态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RAM</a:t>
                </a:r>
              </a:p>
            </p:txBody>
          </p:sp>
        </p:grpSp>
        <p:grpSp>
          <p:nvGrpSpPr>
            <p:cNvPr id="12298" name="组合 7177">
              <a:extLst>
                <a:ext uri="{FF2B5EF4-FFF2-40B4-BE49-F238E27FC236}">
                  <a16:creationId xmlns:a16="http://schemas.microsoft.com/office/drawing/2014/main" id="{0A4BECCF-C5F9-4683-9FB5-E8D3AA62F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0" y="120"/>
              <a:ext cx="432" cy="624"/>
              <a:chOff x="0" y="0"/>
              <a:chExt cx="432" cy="624"/>
            </a:xfrm>
          </p:grpSpPr>
          <p:sp>
            <p:nvSpPr>
              <p:cNvPr id="12299" name="直接连接符 7178">
                <a:extLst>
                  <a:ext uri="{FF2B5EF4-FFF2-40B4-BE49-F238E27FC236}">
                    <a16:creationId xmlns:a16="http://schemas.microsoft.com/office/drawing/2014/main" id="{2A868FF4-F08A-4EC9-9A85-6B7EE9BE4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8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0" name="直接连接符 7179">
                <a:extLst>
                  <a:ext uri="{FF2B5EF4-FFF2-40B4-BE49-F238E27FC236}">
                    <a16:creationId xmlns:a16="http://schemas.microsoft.com/office/drawing/2014/main" id="{CB7542EE-083E-49A6-991A-18122BE045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0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301" name="组合 7180">
                <a:extLst>
                  <a:ext uri="{FF2B5EF4-FFF2-40B4-BE49-F238E27FC236}">
                    <a16:creationId xmlns:a16="http://schemas.microsoft.com/office/drawing/2014/main" id="{D27E30D0-E12F-4BEF-BE0A-308675B9C8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240" cy="624"/>
                <a:chOff x="0" y="0"/>
                <a:chExt cx="240" cy="624"/>
              </a:xfrm>
            </p:grpSpPr>
            <p:sp>
              <p:nvSpPr>
                <p:cNvPr id="12302" name="直接连接符 7181">
                  <a:extLst>
                    <a:ext uri="{FF2B5EF4-FFF2-40B4-BE49-F238E27FC236}">
                      <a16:creationId xmlns:a16="http://schemas.microsoft.com/office/drawing/2014/main" id="{F02E615B-6005-4083-B32B-8A341D71A7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3" name="直接连接符 7182">
                  <a:extLst>
                    <a:ext uri="{FF2B5EF4-FFF2-40B4-BE49-F238E27FC236}">
                      <a16:creationId xmlns:a16="http://schemas.microsoft.com/office/drawing/2014/main" id="{A328B0EE-5950-4A8A-A0DC-527F07B62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624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184" name="文本框 7183">
            <a:extLst>
              <a:ext uri="{FF2B5EF4-FFF2-40B4-BE49-F238E27FC236}">
                <a16:creationId xmlns:a16="http://schemas.microsoft.com/office/drawing/2014/main" id="{63F577F4-CD62-4B60-80BB-BEA454093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3822700"/>
            <a:ext cx="8051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静态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RAM(</a:t>
            </a: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</a:rPr>
              <a:t>SRAM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</a:rPr>
              <a:t>只要电源存在，数据可长期保留。价格高，容量小。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动态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RAM(</a:t>
            </a: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</a:rPr>
              <a:t>DRAM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</a:rPr>
              <a:t>基本存储电路由单管线路组成，依靠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MOS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管的栅极电容暂存信息，因此需不断刷新（充电）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r>
              <a:rPr lang="zh-CN" altLang="en-US" sz="2400" b="1" dirty="0">
                <a:latin typeface="宋体" panose="02010600030101010101" pitchFamily="2" charset="-122"/>
              </a:rPr>
              <a:t> 价格便宜，容量大。    </a:t>
            </a:r>
          </a:p>
        </p:txBody>
      </p:sp>
      <p:sp>
        <p:nvSpPr>
          <p:cNvPr id="12295" name="灯片编号占位符 1">
            <a:extLst>
              <a:ext uri="{FF2B5EF4-FFF2-40B4-BE49-F238E27FC236}">
                <a16:creationId xmlns:a16="http://schemas.microsoft.com/office/drawing/2014/main" id="{492BCF82-327B-4352-BC6F-C595FB56B2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F3478AE-2637-4F37-B994-43AAD7CF9C05}" type="slidenum">
              <a:rPr altLang="en-US" smtClean="0">
                <a:latin typeface="Times New Roman" panose="02020603050405020304" pitchFamily="18" charset="0"/>
              </a:rPr>
              <a:pPr/>
              <a:t>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72" grpId="0"/>
      <p:bldP spid="71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8193">
            <a:extLst>
              <a:ext uri="{FF2B5EF4-FFF2-40B4-BE49-F238E27FC236}">
                <a16:creationId xmlns:a16="http://schemas.microsoft.com/office/drawing/2014/main" id="{F450B95B-535D-4A4D-89DE-4EB645395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1295400"/>
            <a:ext cx="68580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FF00FF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1">
                <a:latin typeface="宋体" panose="02010600030101010101" pitchFamily="2" charset="-122"/>
              </a:rPr>
              <a:t>这种</a:t>
            </a:r>
            <a:r>
              <a:rPr lang="en-US" altLang="zh-CN" sz="2400" b="1"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latin typeface="宋体" panose="02010600030101010101" pitchFamily="2" charset="-122"/>
              </a:rPr>
              <a:t>是在制作集成电路时，用定做的掩模进行编程的。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一旦制造完毕，存储器的内容就被固定下来</a:t>
            </a:r>
            <a:r>
              <a:rPr lang="zh-CN" altLang="en-US" sz="2400" b="1">
                <a:latin typeface="宋体" panose="02010600030101010101" pitchFamily="2" charset="-122"/>
              </a:rPr>
              <a:t>，用户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只能读但不能改变</a:t>
            </a:r>
            <a:r>
              <a:rPr lang="zh-CN" altLang="en-US" sz="2400" b="1">
                <a:latin typeface="宋体" panose="02010600030101010101" pitchFamily="2" charset="-122"/>
              </a:rPr>
              <a:t>。若要修改存储器的内容， 就只能重新设计掩模。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3315" name="矩形 8194">
            <a:extLst>
              <a:ext uri="{FF2B5EF4-FFF2-40B4-BE49-F238E27FC236}">
                <a16:creationId xmlns:a16="http://schemas.microsoft.com/office/drawing/2014/main" id="{8712B9E4-DAC2-403E-BF4B-D8431C67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8196" name="矩形 8195">
            <a:extLst>
              <a:ext uri="{FF2B5EF4-FFF2-40B4-BE49-F238E27FC236}">
                <a16:creationId xmlns:a16="http://schemas.microsoft.com/office/drawing/2014/main" id="{7087A23B-7250-4C25-939C-4AA056258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877888"/>
            <a:ext cx="1973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、掩模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ROM</a:t>
            </a:r>
          </a:p>
        </p:txBody>
      </p:sp>
      <p:sp>
        <p:nvSpPr>
          <p:cNvPr id="8197" name="文本框 8196">
            <a:extLst>
              <a:ext uri="{FF2B5EF4-FFF2-40B4-BE49-F238E27FC236}">
                <a16:creationId xmlns:a16="http://schemas.microsoft.com/office/drawing/2014/main" id="{3F2E92EF-7CDC-499B-BB19-B2F328D2E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3743325"/>
            <a:ext cx="733901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    这是为便于用户根据自己的需要来写</a:t>
            </a:r>
            <a:r>
              <a:rPr lang="en-US" altLang="zh-CN" sz="2400" b="1"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latin typeface="宋体" panose="02010600030101010101" pitchFamily="2" charset="-122"/>
              </a:rPr>
              <a:t>而发展出来的，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用户可对它编程，但只允许一次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8198" name="矩形 8197">
            <a:extLst>
              <a:ext uri="{FF2B5EF4-FFF2-40B4-BE49-F238E27FC236}">
                <a16:creationId xmlns:a16="http://schemas.microsoft.com/office/drawing/2014/main" id="{67C8307F-9E6A-49E9-A7B6-8C8A2530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189288"/>
            <a:ext cx="8237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、可编程的只读存储器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Programmable 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8199" name="矩形 8198">
            <a:extLst>
              <a:ext uri="{FF2B5EF4-FFF2-40B4-BE49-F238E27FC236}">
                <a16:creationId xmlns:a16="http://schemas.microsoft.com/office/drawing/2014/main" id="{DEB24306-6428-46CD-8860-E86A248C3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4856163"/>
            <a:ext cx="8234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、可擦除的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EPROM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Erasable 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—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紫外线擦除</a:t>
            </a:r>
          </a:p>
        </p:txBody>
      </p:sp>
      <p:sp>
        <p:nvSpPr>
          <p:cNvPr id="8200" name="矩形 8199">
            <a:extLst>
              <a:ext uri="{FF2B5EF4-FFF2-40B4-BE49-F238E27FC236}">
                <a16:creationId xmlns:a16="http://schemas.microsoft.com/office/drawing/2014/main" id="{2AB1A57F-5FDE-4FBA-8250-D8A91D34D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75275"/>
            <a:ext cx="81915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    有时，不仅需要</a:t>
            </a:r>
            <a:r>
              <a:rPr lang="en-US" altLang="zh-CN" sz="2400" b="1"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latin typeface="宋体" panose="02010600030101010101" pitchFamily="2" charset="-122"/>
              </a:rPr>
              <a:t>能写入信息，且在不需要这些信息时，能将它擦除后再写，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可多次改写</a:t>
            </a:r>
            <a:r>
              <a:rPr lang="zh-CN" altLang="en-US" sz="2400" b="1">
                <a:latin typeface="宋体" panose="02010600030101010101" pitchFamily="2" charset="-122"/>
              </a:rPr>
              <a:t>，这就是</a:t>
            </a:r>
            <a:r>
              <a:rPr lang="en-US" altLang="zh-CN" sz="2400" b="1">
                <a:latin typeface="宋体" panose="02010600030101010101" pitchFamily="2" charset="-122"/>
              </a:rPr>
              <a:t>EPROM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321" name="灯片编号占位符 1">
            <a:extLst>
              <a:ext uri="{FF2B5EF4-FFF2-40B4-BE49-F238E27FC236}">
                <a16:creationId xmlns:a16="http://schemas.microsoft.com/office/drawing/2014/main" id="{8BF6923E-4BFD-4D5B-A2D7-0A771CB16E8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2C560B3-AD17-434C-80C8-51E732D7453D}" type="slidenum">
              <a:rPr altLang="en-US" smtClean="0">
                <a:latin typeface="Times New Roman" panose="02020603050405020304" pitchFamily="18" charset="0"/>
              </a:rPr>
              <a:pPr/>
              <a:t>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6" grpId="0"/>
      <p:bldP spid="8197" grpId="0"/>
      <p:bldP spid="8198" grpId="0"/>
      <p:bldP spid="8199" grpId="0"/>
      <p:bldP spid="82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9217">
            <a:extLst>
              <a:ext uri="{FF2B5EF4-FFF2-40B4-BE49-F238E27FC236}">
                <a16:creationId xmlns:a16="http://schemas.microsoft.com/office/drawing/2014/main" id="{43B0F40F-0B46-4BB1-9512-8070EDB9B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7613"/>
            <a:ext cx="9144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、电可擦除的 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sz="2800" b="1" baseline="30000">
                <a:solidFill>
                  <a:srgbClr val="FF66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FF6600"/>
                </a:solidFill>
                <a:latin typeface="宋体" panose="02010600030101010101" pitchFamily="2" charset="-122"/>
              </a:rPr>
              <a:t>Eelectricity Erasable 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9219" name="文本框 9218">
            <a:extLst>
              <a:ext uri="{FF2B5EF4-FFF2-40B4-BE49-F238E27FC236}">
                <a16:creationId xmlns:a16="http://schemas.microsoft.com/office/drawing/2014/main" id="{21CE0C3A-FC20-4C56-8734-D1D0610C9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739900"/>
            <a:ext cx="7940675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宋体" panose="02010600030101010101" pitchFamily="2" charset="-122"/>
              </a:rPr>
              <a:t>    通过一定的电流（或电压）擦除其中的信息，再重新写入，用户可对它编程；可在应用系统中在线改写，断电后信息保存。</a:t>
            </a:r>
          </a:p>
        </p:txBody>
      </p:sp>
      <p:sp>
        <p:nvSpPr>
          <p:cNvPr id="14340" name="文本框 9219">
            <a:extLst>
              <a:ext uri="{FF2B5EF4-FFF2-40B4-BE49-F238E27FC236}">
                <a16:creationId xmlns:a16="http://schemas.microsoft.com/office/drawing/2014/main" id="{5BFA4804-8393-489E-AED8-C211959B8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5" y="2938463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、快擦写存储器（</a:t>
            </a:r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Flash   Memory</a:t>
            </a:r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9221" name="文本框 9220">
            <a:extLst>
              <a:ext uri="{FF2B5EF4-FFF2-40B4-BE49-F238E27FC236}">
                <a16:creationId xmlns:a16="http://schemas.microsoft.com/office/drawing/2014/main" id="{8D639DC0-BE1C-4331-A0F1-0CE96287E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3394075"/>
            <a:ext cx="79406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宋体" panose="02010600030101010101" pitchFamily="2" charset="-122"/>
              </a:rPr>
              <a:t>    可在不加电的情况下长期保存信息，还能在线快速擦除重写，兼有 </a:t>
            </a:r>
            <a:r>
              <a:rPr lang="en-US" altLang="zh-CN" sz="2400" b="1">
                <a:latin typeface="宋体" panose="02010600030101010101" pitchFamily="2" charset="-122"/>
              </a:rPr>
              <a:t>E</a:t>
            </a:r>
            <a:r>
              <a:rPr lang="en-US" altLang="zh-CN" sz="2400" b="1" baseline="30000">
                <a:latin typeface="宋体" panose="02010600030101010101" pitchFamily="2" charset="-122"/>
              </a:rPr>
              <a:t>2</a:t>
            </a:r>
            <a:r>
              <a:rPr lang="en-US" altLang="zh-CN" sz="2400" b="1">
                <a:latin typeface="宋体" panose="02010600030101010101" pitchFamily="2" charset="-122"/>
              </a:rPr>
              <a:t>PROM </a:t>
            </a:r>
            <a:r>
              <a:rPr lang="zh-CN" altLang="en-US" sz="2400" b="1">
                <a:latin typeface="宋体" panose="02010600030101010101" pitchFamily="2" charset="-122"/>
              </a:rPr>
              <a:t>和静态 </a:t>
            </a:r>
            <a:r>
              <a:rPr lang="en-US" altLang="zh-CN" sz="2400" b="1">
                <a:latin typeface="宋体" panose="02010600030101010101" pitchFamily="2" charset="-122"/>
              </a:rPr>
              <a:t>RAM</a:t>
            </a:r>
            <a:r>
              <a:rPr lang="zh-CN" altLang="en-US" sz="2400" b="1">
                <a:latin typeface="宋体" panose="02010600030101010101" pitchFamily="2" charset="-122"/>
              </a:rPr>
              <a:t>的特点，集成度和价位接近 </a:t>
            </a:r>
            <a:r>
              <a:rPr lang="en-US" altLang="zh-CN" sz="2400" b="1">
                <a:latin typeface="宋体" panose="02010600030101010101" pitchFamily="2" charset="-122"/>
              </a:rPr>
              <a:t>EPROM 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  <a:r>
              <a:rPr lang="zh-CN" altLang="en-US" sz="2400">
                <a:solidFill>
                  <a:schemeClr val="bg1"/>
                </a:solidFill>
              </a:rPr>
              <a:t>具</a:t>
            </a:r>
          </a:p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FF0000"/>
                </a:solidFill>
              </a:rPr>
              <a:t>在线进行快速电擦除</a:t>
            </a:r>
          </a:p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FF0000"/>
                </a:solidFill>
              </a:rPr>
              <a:t>编程速度可达</a:t>
            </a:r>
            <a:r>
              <a:rPr lang="en-US" altLang="zh-CN" sz="2400">
                <a:solidFill>
                  <a:srgbClr val="FF0000"/>
                </a:solidFill>
              </a:rPr>
              <a:t>10ns/byte</a:t>
            </a:r>
            <a:r>
              <a:rPr lang="zh-CN" altLang="en-US" sz="2400">
                <a:solidFill>
                  <a:srgbClr val="FF0000"/>
                </a:solidFill>
              </a:rPr>
              <a:t>，比</a:t>
            </a:r>
            <a:r>
              <a:rPr lang="en-US" altLang="zh-CN" sz="2400">
                <a:solidFill>
                  <a:srgbClr val="FF0000"/>
                </a:solidFill>
              </a:rPr>
              <a:t>EPROM</a:t>
            </a:r>
            <a:r>
              <a:rPr lang="zh-CN" altLang="en-US" sz="2400">
                <a:solidFill>
                  <a:srgbClr val="FF0000"/>
                </a:solidFill>
              </a:rPr>
              <a:t>和</a:t>
            </a:r>
            <a:r>
              <a:rPr lang="en-US" altLang="zh-CN" sz="2400">
                <a:solidFill>
                  <a:srgbClr val="FF0000"/>
                </a:solidFill>
              </a:rPr>
              <a:t>EEP ROM</a:t>
            </a:r>
            <a:r>
              <a:rPr lang="zh-CN" altLang="en-US" sz="2400">
                <a:solidFill>
                  <a:srgbClr val="FF0000"/>
                </a:solidFill>
              </a:rPr>
              <a:t>快</a:t>
            </a:r>
            <a:r>
              <a:rPr lang="zh-CN" altLang="en-US" sz="2400">
                <a:solidFill>
                  <a:schemeClr val="bg1"/>
                </a:solidFill>
              </a:rPr>
              <a:t>；</a:t>
            </a:r>
            <a:endParaRPr lang="en-US" altLang="zh-CN" sz="2400">
              <a:solidFill>
                <a:schemeClr val="bg1"/>
              </a:solidFill>
            </a:endParaRPr>
          </a:p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FF0000"/>
                </a:solidFill>
              </a:rPr>
              <a:t>价格已低于</a:t>
            </a:r>
            <a:r>
              <a:rPr lang="en-US" altLang="zh-CN" sz="2400">
                <a:solidFill>
                  <a:srgbClr val="FF0000"/>
                </a:solidFill>
              </a:rPr>
              <a:t>DRAM</a:t>
            </a:r>
            <a:r>
              <a:rPr lang="zh-CN" altLang="en-US" sz="2400">
                <a:solidFill>
                  <a:srgbClr val="FF0000"/>
                </a:solidFill>
              </a:rPr>
              <a:t>，容量则接近于</a:t>
            </a:r>
            <a:r>
              <a:rPr lang="en-US" altLang="zh-CN" sz="2400">
                <a:solidFill>
                  <a:srgbClr val="FF0000"/>
                </a:solidFill>
              </a:rPr>
              <a:t>DRAM</a:t>
            </a:r>
            <a:r>
              <a:rPr lang="zh-CN" altLang="en-US" sz="2400">
                <a:solidFill>
                  <a:schemeClr val="bg1"/>
                </a:solidFill>
              </a:rPr>
              <a:t>。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14342" name="矩形 9221">
            <a:extLst>
              <a:ext uri="{FF2B5EF4-FFF2-40B4-BE49-F238E27FC236}">
                <a16:creationId xmlns:a16="http://schemas.microsoft.com/office/drawing/2014/main" id="{8A1A0DBA-A711-4910-98A1-BD90EABC7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14343" name="灯片编号占位符 1">
            <a:extLst>
              <a:ext uri="{FF2B5EF4-FFF2-40B4-BE49-F238E27FC236}">
                <a16:creationId xmlns:a16="http://schemas.microsoft.com/office/drawing/2014/main" id="{DF36C60B-86FE-4B64-959C-8D37B0D3985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CF002FB-A935-4FB5-B884-4A33CD941FA4}" type="slidenum">
              <a:rPr altLang="en-US" smtClean="0">
                <a:latin typeface="Times New Roman" panose="02020603050405020304" pitchFamily="18" charset="0"/>
              </a:rPr>
              <a:pPr/>
              <a:t>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6233">
            <a:extLst>
              <a:ext uri="{FF2B5EF4-FFF2-40B4-BE49-F238E27FC236}">
                <a16:creationId xmlns:a16="http://schemas.microsoft.com/office/drawing/2014/main" id="{45F2087B-ADC0-47F7-98AE-7E0DD6B0C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274638"/>
            <a:ext cx="5048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</a:rPr>
              <a:t>1.2</a:t>
            </a:r>
            <a:r>
              <a:rPr lang="zh-CN" altLang="en-US" sz="2800" b="1">
                <a:solidFill>
                  <a:srgbClr val="FFFF00"/>
                </a:solidFill>
              </a:rPr>
              <a:t>、半导体存储器的分类</a:t>
            </a:r>
          </a:p>
        </p:txBody>
      </p:sp>
      <p:sp>
        <p:nvSpPr>
          <p:cNvPr id="15363" name="灯片编号占位符 1">
            <a:extLst>
              <a:ext uri="{FF2B5EF4-FFF2-40B4-BE49-F238E27FC236}">
                <a16:creationId xmlns:a16="http://schemas.microsoft.com/office/drawing/2014/main" id="{C92F63C2-49CB-40EF-BB69-74A2C2BCB5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6732B502-D8F2-40AB-9C81-86B0CC3CCE2B}" type="slidenum">
              <a:rPr altLang="en-US" smtClean="0">
                <a:latin typeface="Times New Roman" panose="02020603050405020304" pitchFamily="18" charset="0"/>
              </a:rPr>
              <a:pPr eaLnBrk="0" hangingPunct="0"/>
              <a:t>8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13DB62-1E07-43AB-868C-5A5955C7F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" y="1040130"/>
            <a:ext cx="1728470" cy="274256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2120BC6-F473-477C-9C29-F46731002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25" y="1769745"/>
            <a:ext cx="1692910" cy="140335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B2C2E9-4D8B-4947-A374-1C979DD72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605" y="1499235"/>
            <a:ext cx="3004820" cy="209638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4FB0B12-31D7-487C-A30E-AE51DA7B1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820" y="4643755"/>
            <a:ext cx="1529715" cy="149415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9020B0-B882-448B-9899-C037800FB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363335" y="3913505"/>
            <a:ext cx="1139825" cy="28067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5369" name="文本框 7">
            <a:extLst>
              <a:ext uri="{FF2B5EF4-FFF2-40B4-BE49-F238E27FC236}">
                <a16:creationId xmlns:a16="http://schemas.microsoft.com/office/drawing/2014/main" id="{5FE45D4F-E05A-4D94-9D7E-0D2A26E2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919538"/>
            <a:ext cx="2722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EPROM</a:t>
            </a:r>
            <a:r>
              <a:rPr lang="zh-CN" altLang="en-US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Erasable PROM</a:t>
            </a:r>
            <a:r>
              <a:rPr lang="zh-CN" altLang="en-US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  <a:endParaRPr lang="zh-CN" altLang="en-US"/>
          </a:p>
        </p:txBody>
      </p:sp>
      <p:sp>
        <p:nvSpPr>
          <p:cNvPr id="15370" name="文本框 8">
            <a:extLst>
              <a:ext uri="{FF2B5EF4-FFF2-40B4-BE49-F238E27FC236}">
                <a16:creationId xmlns:a16="http://schemas.microsoft.com/office/drawing/2014/main" id="{B12F2134-BAA9-409E-A28C-D4C9D59D0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3783013"/>
            <a:ext cx="836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b="1" baseline="30000">
                <a:solidFill>
                  <a:srgbClr val="FF66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PROM</a:t>
            </a:r>
            <a:endParaRPr lang="zh-CN" altLang="en-US"/>
          </a:p>
        </p:txBody>
      </p:sp>
      <p:sp>
        <p:nvSpPr>
          <p:cNvPr id="15371" name="文本框 9">
            <a:extLst>
              <a:ext uri="{FF2B5EF4-FFF2-40B4-BE49-F238E27FC236}">
                <a16:creationId xmlns:a16="http://schemas.microsoft.com/office/drawing/2014/main" id="{8067679B-DA23-4D00-95D6-C9BE68BF6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5207000"/>
            <a:ext cx="1725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6600"/>
                </a:solidFill>
                <a:latin typeface="Times New Roman" panose="02020603050405020304" pitchFamily="18" charset="0"/>
              </a:rPr>
              <a:t>Flash   Memory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文本框 9219">
            <a:extLst>
              <a:ext uri="{FF2B5EF4-FFF2-40B4-BE49-F238E27FC236}">
                <a16:creationId xmlns:a16="http://schemas.microsoft.com/office/drawing/2014/main" id="{5A8B31A3-C09C-4472-AFAC-15ADC473A744}"/>
              </a:ext>
            </a:extLst>
          </p:cNvPr>
          <p:cNvSpPr txBox="1"/>
          <p:nvPr/>
        </p:nvSpPr>
        <p:spPr>
          <a:xfrm>
            <a:off x="200025" y="1062038"/>
            <a:ext cx="6324600" cy="95408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algn="r">
              <a:buFont typeface="Arial" panose="020B0604020202020204" pitchFamily="34" charset="0"/>
              <a:buNone/>
              <a:defRPr/>
            </a:pP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、快擦写存储器（</a:t>
            </a: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Flash   Memory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）</a:t>
            </a:r>
            <a:r>
              <a:rPr lang="zh-CN" altLang="en-US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两种类型：</a:t>
            </a:r>
            <a:r>
              <a:rPr lang="en-US" altLang="zh-CN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NAND</a:t>
            </a:r>
            <a:r>
              <a:rPr lang="zh-CN" altLang="en-US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和</a:t>
            </a:r>
            <a:r>
              <a:rPr lang="en-US" altLang="zh-CN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NOR</a:t>
            </a:r>
          </a:p>
        </p:txBody>
      </p:sp>
      <p:sp>
        <p:nvSpPr>
          <p:cNvPr id="16387" name="矩形 9221">
            <a:extLst>
              <a:ext uri="{FF2B5EF4-FFF2-40B4-BE49-F238E27FC236}">
                <a16:creationId xmlns:a16="http://schemas.microsoft.com/office/drawing/2014/main" id="{6EA817C9-CCA2-4C91-98FA-22BF085E9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16388" name="灯片编号占位符 1">
            <a:extLst>
              <a:ext uri="{FF2B5EF4-FFF2-40B4-BE49-F238E27FC236}">
                <a16:creationId xmlns:a16="http://schemas.microsoft.com/office/drawing/2014/main" id="{89EC1E44-3CBD-482A-A70E-7AA888A551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6A90A7A1-8CAB-48C5-B5C6-558EEBB163FC}" type="slidenum">
              <a:rPr altLang="en-US" smtClean="0">
                <a:latin typeface="Times New Roman" panose="02020603050405020304" pitchFamily="18" charset="0"/>
              </a:rPr>
              <a:pPr eaLnBrk="0" hangingPunct="0"/>
              <a:t>9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5A4AAE1-49FE-477D-9A8D-8FC1C4A4DFF2}"/>
              </a:ext>
            </a:extLst>
          </p:cNvPr>
          <p:cNvSpPr>
            <a:spLocks noGrp="1"/>
          </p:cNvSpPr>
          <p:nvPr/>
        </p:nvSpPr>
        <p:spPr>
          <a:xfrm>
            <a:off x="457200" y="2071688"/>
            <a:ext cx="8229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rgbClr val="FFFF00"/>
              </a:buClr>
              <a:buSzPct val="95000"/>
              <a:buFont typeface="Wingdings" panose="05000000000000000000" pitchFamily="2" charset="2"/>
              <a:buChar char="l"/>
              <a:defRPr kumimoji="0"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黑体" panose="02010609060101010101" pitchFamily="49" charset="-122"/>
                <a:cs typeface="Times New Roman" panose="02020603050405020304" pitchFamily="2" charset="0"/>
              </a:defRPr>
            </a:lvl1pPr>
            <a:lvl2pPr marL="740410" indent="-285750" algn="l" rtl="0" eaLnBrk="1" latinLnBrk="0" hangingPunct="1">
              <a:spcBef>
                <a:spcPct val="200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Ø"/>
              <a:defRPr kumimoji="0" sz="2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cs typeface="Times New Roman" panose="02020603050405020304" pitchFamily="2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745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 panose="05040102010807070707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4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0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8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423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NOR</a:t>
            </a:r>
            <a:r>
              <a:rPr lang="zh-CN" alt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闪存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，独立地址</a:t>
            </a:r>
            <a:r>
              <a:rPr lang="en-US" altLang="zh-CN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/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数据线，可访问到每</a:t>
            </a:r>
            <a:r>
              <a:rPr lang="en-US" altLang="zh-CN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1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位，价格较高，容量较小，适用于手机等需频繁随机读写的产品。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数据可靠性高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。</a:t>
            </a:r>
            <a:endParaRPr lang="en-US" altLang="zh-CN" b="0" noProof="1">
              <a:solidFill>
                <a:schemeClr val="bg2">
                  <a:lumMod val="10000"/>
                </a:schemeClr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NAND</a:t>
            </a:r>
            <a:r>
              <a:rPr lang="zh-CN" alt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闪存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，共用地址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/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数据线，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8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根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I/O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线，传送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8</a:t>
            </a:r>
            <a:r>
              <a:rPr lang="en-US" altLang="zh-CN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/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16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位数据，接口技术复杂。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密度和速度更高，成本更低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。</a:t>
            </a:r>
            <a:endParaRPr lang="en-US" altLang="zh-CN" b="0" noProof="1">
              <a:solidFill>
                <a:schemeClr val="bg2">
                  <a:lumMod val="10000"/>
                </a:schemeClr>
              </a:solidFill>
              <a:effectLst/>
              <a:ea typeface="+mn-ea"/>
            </a:endParaRPr>
          </a:p>
          <a:p>
            <a:pPr marL="68580" indent="0" algn="just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    </a:t>
            </a:r>
            <a:r>
              <a:rPr lang="zh-CN" altLang="en-US" sz="2600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        </a:t>
            </a:r>
            <a:endParaRPr lang="en-US" altLang="en-US" sz="2600" b="0" noProof="1">
              <a:solidFill>
                <a:schemeClr val="bg2">
                  <a:lumMod val="10000"/>
                </a:schemeClr>
              </a:solidFill>
              <a:effectLst/>
              <a:ea typeface="+mn-ea"/>
            </a:endParaRP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15F9912-DE10-46C3-AE20-D8CEAA48DE71}"/>
              </a:ext>
            </a:extLst>
          </p:cNvPr>
          <p:cNvSpPr>
            <a:spLocks noGrp="1"/>
          </p:cNvSpPr>
          <p:nvPr/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0" algn="l" rtl="0" eaLnBrk="1" latinLnBrk="0" hangingPunct="1">
              <a:defRPr kumimoji="0" kern="1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3AADAEA9-27E6-46A3-8896-809DD6302B8A}" type="datetime10">
              <a:rPr lang="zh-CN" altLang="en-US" noProof="1" smtClean="0"/>
              <a:pPr>
                <a:buFont typeface="Arial" panose="020B0604020202020204" pitchFamily="34" charset="0"/>
                <a:buNone/>
                <a:defRPr/>
              </a:pPr>
              <a:t>21:59</a:t>
            </a:fld>
            <a:endParaRPr lang="en-US" altLang="zh-CN" noProof="1"/>
          </a:p>
        </p:txBody>
      </p:sp>
      <p:sp>
        <p:nvSpPr>
          <p:cNvPr id="16391" name="灯片编号占位符 4">
            <a:extLst>
              <a:ext uri="{FF2B5EF4-FFF2-40B4-BE49-F238E27FC236}">
                <a16:creationId xmlns:a16="http://schemas.microsoft.com/office/drawing/2014/main" id="{AD8D07A7-0AD9-40E2-A5D2-3D30B400E46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B0A3A0-B8B2-4ABD-A0B3-CA6FC80171AC}" type="slidenum">
              <a:rPr lang="zh-CN" altLang="en-US"/>
              <a:pPr eaLnBrk="1" hangingPunct="1"/>
              <a:t>9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文本框 9219">
            <a:extLst>
              <a:ext uri="{FF2B5EF4-FFF2-40B4-BE49-F238E27FC236}">
                <a16:creationId xmlns:a16="http://schemas.microsoft.com/office/drawing/2014/main" id="{6D89C4E2-72D9-4A6B-9C8D-F3122A397C44}"/>
              </a:ext>
            </a:extLst>
          </p:cNvPr>
          <p:cNvSpPr txBox="1"/>
          <p:nvPr/>
        </p:nvSpPr>
        <p:spPr>
          <a:xfrm>
            <a:off x="200025" y="1062038"/>
            <a:ext cx="6324600" cy="95408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、快擦写存储器（</a:t>
            </a: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Flash   Memory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）   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     </a:t>
            </a:r>
            <a:r>
              <a:rPr lang="zh-CN" altLang="en-US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 应用广泛</a:t>
            </a:r>
          </a:p>
        </p:txBody>
      </p:sp>
      <p:sp>
        <p:nvSpPr>
          <p:cNvPr id="17411" name="矩形 9221">
            <a:extLst>
              <a:ext uri="{FF2B5EF4-FFF2-40B4-BE49-F238E27FC236}">
                <a16:creationId xmlns:a16="http://schemas.microsoft.com/office/drawing/2014/main" id="{F3D85212-D887-44A3-AEEF-80FAB9865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17412" name="灯片编号占位符 1">
            <a:extLst>
              <a:ext uri="{FF2B5EF4-FFF2-40B4-BE49-F238E27FC236}">
                <a16:creationId xmlns:a16="http://schemas.microsoft.com/office/drawing/2014/main" id="{0A459412-D1BB-40BE-9E15-1C96C38B58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FCBC3B78-9480-48FD-9579-D0113AE98239}" type="slidenum">
              <a:rPr altLang="en-US" smtClean="0">
                <a:latin typeface="Times New Roman" panose="02020603050405020304" pitchFamily="18" charset="0"/>
              </a:rPr>
              <a:pPr eaLnBrk="0" hangingPunct="0"/>
              <a:t>10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4262E54-AE13-4408-A85F-1994AFA33D1A}"/>
              </a:ext>
            </a:extLst>
          </p:cNvPr>
          <p:cNvSpPr>
            <a:spLocks noGrp="1"/>
          </p:cNvSpPr>
          <p:nvPr/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0" algn="l" rtl="0" eaLnBrk="1" latinLnBrk="0" hangingPunct="1">
              <a:defRPr kumimoji="0" kern="1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3AADAEA9-27E6-46A3-8896-809DD6302B8A}" type="datetime10">
              <a:rPr lang="zh-CN" altLang="en-US" noProof="1" smtClean="0"/>
              <a:pPr>
                <a:buFont typeface="Arial" panose="020B0604020202020204" pitchFamily="34" charset="0"/>
                <a:buNone/>
                <a:defRPr/>
              </a:pPr>
              <a:t>21:59</a:t>
            </a:fld>
            <a:endParaRPr lang="en-US" altLang="zh-CN" noProof="1"/>
          </a:p>
        </p:txBody>
      </p:sp>
      <p:sp>
        <p:nvSpPr>
          <p:cNvPr id="17414" name="灯片编号占位符 4">
            <a:extLst>
              <a:ext uri="{FF2B5EF4-FFF2-40B4-BE49-F238E27FC236}">
                <a16:creationId xmlns:a16="http://schemas.microsoft.com/office/drawing/2014/main" id="{99F3F437-06EE-4445-A6C9-E7FFD428E71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103A0D-0941-4DD8-BDCE-7064A30E0004}" type="slidenum">
              <a:rPr lang="zh-CN" altLang="en-US"/>
              <a:pPr eaLnBrk="1" hangingPunct="1"/>
              <a:t>10</a:t>
            </a:fld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E3479-406E-4D41-851B-98009463A3D0}"/>
              </a:ext>
            </a:extLst>
          </p:cNvPr>
          <p:cNvSpPr>
            <a:spLocks noGrp="1"/>
          </p:cNvSpPr>
          <p:nvPr/>
        </p:nvSpPr>
        <p:spPr>
          <a:xfrm>
            <a:off x="373063" y="2120900"/>
            <a:ext cx="8229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rgbClr val="FFFF00"/>
              </a:buClr>
              <a:buSzPct val="95000"/>
              <a:buFont typeface="Wingdings" panose="05000000000000000000" pitchFamily="2" charset="2"/>
              <a:buChar char="l"/>
              <a:defRPr kumimoji="0"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黑体" panose="02010609060101010101" pitchFamily="49" charset="-122"/>
                <a:cs typeface="Times New Roman" panose="02020603050405020304" pitchFamily="2" charset="0"/>
              </a:defRPr>
            </a:lvl1pPr>
            <a:lvl2pPr marL="740410" indent="-285750" algn="l" rtl="0" eaLnBrk="1" latinLnBrk="0" hangingPunct="1">
              <a:spcBef>
                <a:spcPct val="200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Ø"/>
              <a:defRPr kumimoji="0" sz="2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cs typeface="Times New Roman" panose="02020603050405020304" pitchFamily="2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745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 panose="05040102010807070707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4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0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8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423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取代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EPROM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和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EEPROM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，固化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BIOS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，并用在打印机、条码阅读器、各种仪器和外设中。</a:t>
            </a: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NOR</a:t>
            </a:r>
            <a:r>
              <a:rPr lang="zh-CN" altLang="en-US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型</a:t>
            </a:r>
            <a:endParaRPr lang="zh-CN" altLang="en-US" sz="2400" b="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制作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USB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闪存盘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(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U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盘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)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固态硬盘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(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Solid State Disk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，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SSD)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，不用盘片和读写头，容量高达几百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GB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，是大量应用的新型外存。</a:t>
            </a: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NAND</a:t>
            </a:r>
            <a:r>
              <a:rPr lang="zh-CN" altLang="en-US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型</a:t>
            </a:r>
            <a:endParaRPr lang="zh-CN" altLang="en-US" sz="2400" b="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各类小型存储介质。</a:t>
            </a: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NAND型</a:t>
            </a:r>
            <a:endParaRPr lang="zh-CN" altLang="en-US" sz="240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     CF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紧凑式闪存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  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SM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固态软盘卡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     SD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安全数码卡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  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MMC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多媒体卡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	 MS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记忆棒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    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XD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尖端数字图像卡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等</a:t>
            </a:r>
            <a:endParaRPr lang="en-US" altLang="zh-CN" sz="2400" b="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     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性能好、功耗低、体积小、重量轻。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">
            <a:extLst>
              <a:ext uri="{FF2B5EF4-FFF2-40B4-BE49-F238E27FC236}">
                <a16:creationId xmlns:a16="http://schemas.microsoft.com/office/drawing/2014/main" id="{D471FDED-8D40-492A-BD41-73BABFABA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3782696"/>
            <a:ext cx="5410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4" name="文本框 10293">
            <a:extLst>
              <a:ext uri="{FF2B5EF4-FFF2-40B4-BE49-F238E27FC236}">
                <a16:creationId xmlns:a16="http://schemas.microsoft.com/office/drawing/2014/main" id="{83F26957-5689-4C05-B2A5-F0299EE3D341}"/>
              </a:ext>
            </a:extLst>
          </p:cNvPr>
          <p:cNvSpPr txBox="1"/>
          <p:nvPr/>
        </p:nvSpPr>
        <p:spPr>
          <a:xfrm>
            <a:off x="1485900" y="1435100"/>
            <a:ext cx="7213600" cy="26479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Verdana" panose="020B0604030504040204" pitchFamily="2" charset="0"/>
              </a:rPr>
              <a:t>主存储器（内存，采用</a:t>
            </a:r>
            <a:r>
              <a:rPr lang="en-US" altLang="zh-CN" sz="2400" noProof="1">
                <a:latin typeface="Verdana" panose="020B0604030504040204" pitchFamily="2" charset="0"/>
              </a:rPr>
              <a:t>DRAM</a:t>
            </a:r>
            <a:r>
              <a:rPr lang="zh-CN" altLang="en-US" sz="2400" noProof="1">
                <a:latin typeface="Verdana" panose="020B0604030504040204" pitchFamily="2" charset="0"/>
              </a:rPr>
              <a:t>，</a:t>
            </a:r>
            <a:r>
              <a:rPr lang="en-US" altLang="zh-CN" sz="2400" noProof="1">
                <a:latin typeface="Verdana" panose="020B0604030504040204" pitchFamily="2" charset="0"/>
              </a:rPr>
              <a:t>SDRAM</a:t>
            </a:r>
            <a:r>
              <a:rPr lang="zh-CN" altLang="en-US" sz="2400" noProof="1">
                <a:latin typeface="Verdana" panose="020B0604030504040204" pitchFamily="2" charset="0"/>
              </a:rPr>
              <a:t>）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Verdana" panose="020B0604030504040204" pitchFamily="2" charset="0"/>
              </a:rPr>
              <a:t>辅助存储器（硬盘，</a:t>
            </a:r>
            <a:r>
              <a:rPr lang="en-US" altLang="zh-CN" sz="2400" noProof="1">
                <a:latin typeface="Verdana" panose="020B0604030504040204" pitchFamily="2" charset="0"/>
              </a:rPr>
              <a:t>U</a:t>
            </a:r>
            <a:r>
              <a:rPr lang="zh-CN" altLang="en-US" sz="2400" noProof="1">
                <a:latin typeface="Verdana" panose="020B0604030504040204" pitchFamily="2" charset="0"/>
              </a:rPr>
              <a:t>盘，光盘）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</a:rPr>
              <a:t>高速缓存（采用</a:t>
            </a:r>
            <a:r>
              <a:rPr lang="en-US" altLang="zh-CN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</a:rPr>
              <a:t>SRAM</a:t>
            </a:r>
            <a:r>
              <a:rPr lang="zh-CN" alt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</a:rPr>
              <a:t>）</a:t>
            </a:r>
            <a:endParaRPr lang="zh-CN" altLang="en-US" sz="2400" noProof="1">
              <a:latin typeface="Verdana" panose="020B0604030504040204" pitchFamily="2" charset="0"/>
            </a:endParaRP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Verdana" panose="020B0604030504040204" pitchFamily="2" charset="0"/>
              </a:rPr>
              <a:t>控制存储器</a:t>
            </a:r>
            <a:r>
              <a:rPr lang="en-US" altLang="zh-CN" sz="2400" noProof="1">
                <a:latin typeface="Verdana" panose="020B0604030504040204" pitchFamily="2" charset="0"/>
              </a:rPr>
              <a:t>(CPU</a:t>
            </a:r>
            <a:r>
              <a:rPr lang="zh-CN" altLang="en-US" sz="2400" noProof="1">
                <a:latin typeface="Verdana" panose="020B0604030504040204" pitchFamily="2" charset="0"/>
              </a:rPr>
              <a:t>内部寄存器</a:t>
            </a:r>
            <a:r>
              <a:rPr lang="en-US" altLang="zh-CN" sz="2400" noProof="1">
                <a:latin typeface="Verdana" panose="020B0604030504040204" pitchFamily="2" charset="0"/>
              </a:rPr>
              <a:t>)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en-US" sz="2400" noProof="1">
              <a:latin typeface="Verdana" panose="020B0604030504040204" pitchFamily="2" charset="0"/>
            </a:endParaRPr>
          </a:p>
        </p:txBody>
      </p:sp>
      <p:sp>
        <p:nvSpPr>
          <p:cNvPr id="10295" name="文本框 10294">
            <a:extLst>
              <a:ext uri="{FF2B5EF4-FFF2-40B4-BE49-F238E27FC236}">
                <a16:creationId xmlns:a16="http://schemas.microsoft.com/office/drawing/2014/main" id="{B7E36B4B-175C-414E-8B64-94D01AD7C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4650"/>
            <a:ext cx="4214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计算机中存储器类型</a:t>
            </a:r>
          </a:p>
        </p:txBody>
      </p:sp>
      <p:sp>
        <p:nvSpPr>
          <p:cNvPr id="18437" name="灯片编号占位符 1">
            <a:extLst>
              <a:ext uri="{FF2B5EF4-FFF2-40B4-BE49-F238E27FC236}">
                <a16:creationId xmlns:a16="http://schemas.microsoft.com/office/drawing/2014/main" id="{724AE788-A5BB-44BC-8372-06CD52050C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8F3B9BE-D5B3-4708-AEEB-A3C794C57DB1}" type="slidenum">
              <a:rPr altLang="en-US" smtClean="0">
                <a:latin typeface="Times New Roman" panose="02020603050405020304" pitchFamily="18" charset="0"/>
              </a:rPr>
              <a:pPr/>
              <a:t>11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28673">
            <a:extLst>
              <a:ext uri="{FF2B5EF4-FFF2-40B4-BE49-F238E27FC236}">
                <a16:creationId xmlns:a16="http://schemas.microsoft.com/office/drawing/2014/main" id="{124A8C68-57AA-488C-BDE7-8ED6CE9EF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5.5 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高速缓冲存储器  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Cache</a:t>
            </a:r>
          </a:p>
        </p:txBody>
      </p:sp>
      <p:sp>
        <p:nvSpPr>
          <p:cNvPr id="39939" name="矩形 28674">
            <a:extLst>
              <a:ext uri="{FF2B5EF4-FFF2-40B4-BE49-F238E27FC236}">
                <a16:creationId xmlns:a16="http://schemas.microsoft.com/office/drawing/2014/main" id="{CE297C5C-B8D1-4F9D-A726-7FD038921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0" name="灯片编号占位符 1">
            <a:extLst>
              <a:ext uri="{FF2B5EF4-FFF2-40B4-BE49-F238E27FC236}">
                <a16:creationId xmlns:a16="http://schemas.microsoft.com/office/drawing/2014/main" id="{53D6F13F-F242-41C8-AF5E-7FB2F1EF12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987BB8-8652-4C1D-A9FA-2C36F1BFD128}" type="slidenum">
              <a:rPr altLang="en-US" smtClean="0">
                <a:latin typeface="Times New Roman" panose="02020603050405020304" pitchFamily="18" charset="0"/>
              </a:rPr>
              <a:pPr/>
              <a:t>12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9941" name="文本框 1">
            <a:extLst>
              <a:ext uri="{FF2B5EF4-FFF2-40B4-BE49-F238E27FC236}">
                <a16:creationId xmlns:a16="http://schemas.microsoft.com/office/drawing/2014/main" id="{C0D26885-9FEB-4A48-936E-A0D5E7BA5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1204913"/>
            <a:ext cx="2686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</a:rPr>
              <a:t>高速缓存的概念</a:t>
            </a:r>
          </a:p>
        </p:txBody>
      </p:sp>
      <p:sp>
        <p:nvSpPr>
          <p:cNvPr id="39942" name="文本框 2">
            <a:extLst>
              <a:ext uri="{FF2B5EF4-FFF2-40B4-BE49-F238E27FC236}">
                <a16:creationId xmlns:a16="http://schemas.microsoft.com/office/drawing/2014/main" id="{7C990266-3CD3-4519-8378-A54253354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78025"/>
            <a:ext cx="763428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746125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高速缓存（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Cache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是位于</a:t>
            </a:r>
            <a:r>
              <a:rPr lang="en-US" altLang="zh-CN" sz="2800" b="1" dirty="0"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</a:rPr>
              <a:t>和动态存储器（</a:t>
            </a:r>
            <a:r>
              <a:rPr lang="en-US" altLang="zh-CN" sz="2800" b="1" dirty="0">
                <a:latin typeface="Times New Roman" panose="02020603050405020304" pitchFamily="18" charset="0"/>
              </a:rPr>
              <a:t>DRAM</a:t>
            </a:r>
            <a:r>
              <a:rPr lang="zh-CN" altLang="en-US" sz="2800" b="1" dirty="0">
                <a:latin typeface="Times New Roman" panose="02020603050405020304" pitchFamily="18" charset="0"/>
              </a:rPr>
              <a:t>）之间的小容量静态存储器（</a:t>
            </a:r>
            <a:r>
              <a:rPr lang="en-US" altLang="zh-CN" sz="2800" b="1" dirty="0">
                <a:latin typeface="Times New Roman" panose="02020603050405020304" pitchFamily="18" charset="0"/>
              </a:rPr>
              <a:t>SRAM</a:t>
            </a:r>
            <a:r>
              <a:rPr lang="zh-CN" altLang="en-US" sz="2800" b="1" dirty="0">
                <a:latin typeface="Times New Roman" panose="02020603050405020304" pitchFamily="18" charset="0"/>
              </a:rPr>
              <a:t>）。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设置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的目的是协调</a:t>
            </a:r>
            <a:r>
              <a:rPr lang="en-US" altLang="zh-CN" sz="2800" b="1" dirty="0"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</a:rPr>
              <a:t>（速度快）和</a:t>
            </a:r>
            <a:r>
              <a:rPr lang="en-US" altLang="zh-CN" sz="2800" b="1" dirty="0">
                <a:latin typeface="Times New Roman" panose="02020603050405020304" pitchFamily="18" charset="0"/>
              </a:rPr>
              <a:t>DRAM</a:t>
            </a:r>
            <a:r>
              <a:rPr lang="zh-CN" altLang="en-US" sz="2800" b="1" dirty="0">
                <a:latin typeface="Times New Roman" panose="02020603050405020304" pitchFamily="18" charset="0"/>
              </a:rPr>
              <a:t>（速度慢）之间的速度的。</a:t>
            </a:r>
          </a:p>
          <a:p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Cache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存在的基础认识：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</a:rPr>
              <a:t>DRAM</a:t>
            </a:r>
            <a:r>
              <a:rPr lang="zh-CN" altLang="en-US" sz="2800" b="1" dirty="0">
                <a:latin typeface="Times New Roman" panose="02020603050405020304" pitchFamily="18" charset="0"/>
              </a:rPr>
              <a:t>容量大，速度慢，便宜；</a:t>
            </a:r>
            <a:r>
              <a:rPr lang="en-US" altLang="zh-CN" sz="2800" b="1" dirty="0">
                <a:latin typeface="Times New Roman" panose="02020603050405020304" pitchFamily="18" charset="0"/>
              </a:rPr>
              <a:t>SRAM</a:t>
            </a:r>
            <a:r>
              <a:rPr lang="zh-CN" altLang="en-US" sz="2800" b="1" dirty="0">
                <a:latin typeface="Times New Roman" panose="02020603050405020304" pitchFamily="18" charset="0"/>
              </a:rPr>
              <a:t>容量小，价格太贵。</a:t>
            </a:r>
          </a:p>
        </p:txBody>
      </p:sp>
    </p:spTree>
    <p:extLst>
      <p:ext uri="{BB962C8B-B14F-4D97-AF65-F5344CB8AC3E}">
        <p14:creationId xmlns:p14="http://schemas.microsoft.com/office/powerpoint/2010/main" val="36576447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28673">
            <a:extLst>
              <a:ext uri="{FF2B5EF4-FFF2-40B4-BE49-F238E27FC236}">
                <a16:creationId xmlns:a16="http://schemas.microsoft.com/office/drawing/2014/main" id="{9AFE56F9-0492-4576-BC0D-5B720CD59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5.5 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高速缓冲存储器  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Cache</a:t>
            </a:r>
          </a:p>
        </p:txBody>
      </p:sp>
      <p:sp>
        <p:nvSpPr>
          <p:cNvPr id="40963" name="矩形 28674">
            <a:extLst>
              <a:ext uri="{FF2B5EF4-FFF2-40B4-BE49-F238E27FC236}">
                <a16:creationId xmlns:a16="http://schemas.microsoft.com/office/drawing/2014/main" id="{2086A529-AAAD-4F3E-8733-7F08EBB71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64" name="灯片编号占位符 1">
            <a:extLst>
              <a:ext uri="{FF2B5EF4-FFF2-40B4-BE49-F238E27FC236}">
                <a16:creationId xmlns:a16="http://schemas.microsoft.com/office/drawing/2014/main" id="{4551E24F-EB68-4CCE-89FC-D118ECA505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FC0F560-00D7-4697-BB40-64A67B160492}" type="slidenum">
              <a:rPr altLang="en-US" smtClean="0">
                <a:latin typeface="Times New Roman" panose="02020603050405020304" pitchFamily="18" charset="0"/>
              </a:rPr>
              <a:pPr/>
              <a:t>13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0965" name="文本框 1">
            <a:extLst>
              <a:ext uri="{FF2B5EF4-FFF2-40B4-BE49-F238E27FC236}">
                <a16:creationId xmlns:a16="http://schemas.microsoft.com/office/drawing/2014/main" id="{79B861E3-A4FC-48C5-9590-624F83C8E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9950"/>
            <a:ext cx="862447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dirty="0">
                <a:latin typeface="Times New Roman" panose="02020603050405020304" pitchFamily="18" charset="0"/>
              </a:rPr>
              <a:t>被经常存取的指令和数据会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自动</a:t>
            </a:r>
            <a:r>
              <a:rPr lang="zh-CN" altLang="zh-CN" sz="2800" b="1" dirty="0">
                <a:latin typeface="Times New Roman" panose="02020603050405020304" pitchFamily="18" charset="0"/>
              </a:rPr>
              <a:t>从内存搬进Cache，</a:t>
            </a:r>
          </a:p>
          <a:p>
            <a:r>
              <a:rPr lang="zh-CN" altLang="zh-CN" sz="2800" b="1" dirty="0">
                <a:latin typeface="Times New Roman" panose="02020603050405020304" pitchFamily="18" charset="0"/>
              </a:rPr>
              <a:t>形成主存部分内容的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副本</a:t>
            </a:r>
            <a:r>
              <a:rPr lang="zh-CN" altLang="zh-CN" sz="2800" b="1" dirty="0">
                <a:latin typeface="Times New Roman" panose="02020603050405020304" pitchFamily="18" charset="0"/>
              </a:rPr>
              <a:t>。CPU会先向它读/写数据，</a:t>
            </a:r>
          </a:p>
          <a:p>
            <a:r>
              <a:rPr lang="zh-CN" altLang="zh-CN" sz="2800" b="1" dirty="0">
                <a:latin typeface="Times New Roman" panose="02020603050405020304" pitchFamily="18" charset="0"/>
              </a:rPr>
              <a:t>只有当其中无所需数据或Cache已满，它才对内存读</a:t>
            </a:r>
          </a:p>
          <a:p>
            <a:r>
              <a:rPr lang="zh-CN" altLang="zh-CN" sz="2800" b="1" dirty="0">
                <a:latin typeface="Times New Roman" panose="02020603050405020304" pitchFamily="18" charset="0"/>
              </a:rPr>
              <a:t>写。空闲时Cache也会与内存交换数据，更新保存其</a:t>
            </a:r>
          </a:p>
          <a:p>
            <a:r>
              <a:rPr lang="zh-CN" altLang="zh-CN" sz="2800" b="1" dirty="0">
                <a:latin typeface="Times New Roman" panose="02020603050405020304" pitchFamily="18" charset="0"/>
              </a:rPr>
              <a:t>中的副本。</a:t>
            </a:r>
          </a:p>
        </p:txBody>
      </p:sp>
      <p:sp>
        <p:nvSpPr>
          <p:cNvPr id="40966" name="文本框 3">
            <a:extLst>
              <a:ext uri="{FF2B5EF4-FFF2-40B4-BE49-F238E27FC236}">
                <a16:creationId xmlns:a16="http://schemas.microsoft.com/office/drawing/2014/main" id="{C095D86D-9569-4A2D-AE16-E28B88385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4649788"/>
            <a:ext cx="2917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命中率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40967" name="文本框 4">
            <a:extLst>
              <a:ext uri="{FF2B5EF4-FFF2-40B4-BE49-F238E27FC236}">
                <a16:creationId xmlns:a16="http://schemas.microsoft.com/office/drawing/2014/main" id="{5F5E120C-3014-423F-A62C-6C0F7C62F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5259388"/>
            <a:ext cx="784542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</a:rPr>
              <a:t>       </a:t>
            </a:r>
            <a:r>
              <a:rPr lang="zh-CN" altLang="en-US" sz="2800" b="1">
                <a:latin typeface="Times New Roman" panose="02020603050405020304" pitchFamily="18" charset="0"/>
              </a:rPr>
              <a:t>在任一时刻，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zh-CN" altLang="en-US" sz="2800" b="1">
                <a:latin typeface="Times New Roman" panose="02020603050405020304" pitchFamily="18" charset="0"/>
              </a:rPr>
              <a:t>能从</a:t>
            </a:r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中可靠获取数据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的几率称为命中率。</a:t>
            </a:r>
          </a:p>
        </p:txBody>
      </p:sp>
      <p:sp>
        <p:nvSpPr>
          <p:cNvPr id="40968" name="文本框 7">
            <a:extLst>
              <a:ext uri="{FF2B5EF4-FFF2-40B4-BE49-F238E27FC236}">
                <a16:creationId xmlns:a16="http://schemas.microsoft.com/office/drawing/2014/main" id="{8E27D7F0-E601-436C-901B-50DF7CE3F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1527175"/>
            <a:ext cx="3276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工作原理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04237457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矩形 28673">
            <a:extLst>
              <a:ext uri="{FF2B5EF4-FFF2-40B4-BE49-F238E27FC236}">
                <a16:creationId xmlns:a16="http://schemas.microsoft.com/office/drawing/2014/main" id="{65C87CDA-7F0F-48AA-8050-2F06ADB92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5.5 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高速缓冲存储器  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Cache</a:t>
            </a:r>
          </a:p>
        </p:txBody>
      </p:sp>
      <p:sp>
        <p:nvSpPr>
          <p:cNvPr id="41987" name="矩形 28674">
            <a:extLst>
              <a:ext uri="{FF2B5EF4-FFF2-40B4-BE49-F238E27FC236}">
                <a16:creationId xmlns:a16="http://schemas.microsoft.com/office/drawing/2014/main" id="{2BE143DF-94B5-4184-9AAC-62A2CFBFA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88" name="灯片编号占位符 1">
            <a:extLst>
              <a:ext uri="{FF2B5EF4-FFF2-40B4-BE49-F238E27FC236}">
                <a16:creationId xmlns:a16="http://schemas.microsoft.com/office/drawing/2014/main" id="{871CCB97-E0A5-4F93-9AEE-1126117F9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C036D2-7473-4CF3-A545-5F9001AC5091}" type="slidenum">
              <a:rPr altLang="en-US" smtClean="0">
                <a:latin typeface="Times New Roman" panose="02020603050405020304" pitchFamily="18" charset="0"/>
              </a:rPr>
              <a:pPr/>
              <a:t>14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1989" name="Picture 2">
            <a:extLst>
              <a:ext uri="{FF2B5EF4-FFF2-40B4-BE49-F238E27FC236}">
                <a16:creationId xmlns:a16="http://schemas.microsoft.com/office/drawing/2014/main" id="{7940F24E-4A6F-47AE-9212-51F5FC684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97263"/>
            <a:ext cx="5410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文本框 1">
            <a:extLst>
              <a:ext uri="{FF2B5EF4-FFF2-40B4-BE49-F238E27FC236}">
                <a16:creationId xmlns:a16="http://schemas.microsoft.com/office/drawing/2014/main" id="{A316DABA-7827-4EA1-9A6A-12658C5E3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46225"/>
            <a:ext cx="840581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三级结构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采用性能最好的</a:t>
            </a:r>
            <a:r>
              <a:rPr lang="en-US" altLang="zh-CN" sz="2800" b="1">
                <a:latin typeface="Times New Roman" panose="02020603050405020304" pitchFamily="18" charset="0"/>
              </a:rPr>
              <a:t>SRAM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全部功能由硬件实现，对程序员是透明的，用户感觉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不到</a:t>
            </a:r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的存在。</a:t>
            </a:r>
          </a:p>
        </p:txBody>
      </p:sp>
    </p:spTree>
    <p:extLst>
      <p:ext uri="{BB962C8B-B14F-4D97-AF65-F5344CB8AC3E}">
        <p14:creationId xmlns:p14="http://schemas.microsoft.com/office/powerpoint/2010/main" val="25371854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1265">
            <a:extLst>
              <a:ext uri="{FF2B5EF4-FFF2-40B4-BE49-F238E27FC236}">
                <a16:creationId xmlns:a16="http://schemas.microsoft.com/office/drawing/2014/main" id="{51CA77CA-C93A-41B8-88D4-8C7767947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38125"/>
            <a:ext cx="6276975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第二节  </a:t>
            </a: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3600" b="1">
                <a:solidFill>
                  <a:srgbClr val="FFFF00"/>
                </a:solidFill>
                <a:latin typeface="Times New Roman" panose="02020603050405020304" pitchFamily="18" charset="0"/>
              </a:rPr>
              <a:t>与存储器的连接</a:t>
            </a:r>
          </a:p>
          <a:p>
            <a:pPr algn="r"/>
            <a:endParaRPr lang="zh-CN" altLang="en-US" sz="3200" b="1">
              <a:latin typeface="宋体" panose="02010600030101010101" pitchFamily="2" charset="-122"/>
            </a:endParaRPr>
          </a:p>
        </p:txBody>
      </p:sp>
      <p:grpSp>
        <p:nvGrpSpPr>
          <p:cNvPr id="19459" name="组合 11266">
            <a:extLst>
              <a:ext uri="{FF2B5EF4-FFF2-40B4-BE49-F238E27FC236}">
                <a16:creationId xmlns:a16="http://schemas.microsoft.com/office/drawing/2014/main" id="{56535895-6B05-4BDF-A32E-6D0CED04EF2D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2459038"/>
            <a:ext cx="5776913" cy="1871662"/>
            <a:chOff x="0" y="0"/>
            <a:chExt cx="3639" cy="1179"/>
          </a:xfrm>
        </p:grpSpPr>
        <p:sp>
          <p:nvSpPr>
            <p:cNvPr id="19473" name="矩形 11267">
              <a:extLst>
                <a:ext uri="{FF2B5EF4-FFF2-40B4-BE49-F238E27FC236}">
                  <a16:creationId xmlns:a16="http://schemas.microsoft.com/office/drawing/2014/main" id="{DD1BD8DD-0D94-4ED5-9DD2-C222206C1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zh-CN" altLang="en-US" sz="2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三总线的连接：</a:t>
              </a:r>
            </a:p>
          </p:txBody>
        </p:sp>
        <p:sp>
          <p:nvSpPr>
            <p:cNvPr id="19474" name="矩形 11268">
              <a:extLst>
                <a:ext uri="{FF2B5EF4-FFF2-40B4-BE49-F238E27FC236}">
                  <a16:creationId xmlns:a16="http://schemas.microsoft.com/office/drawing/2014/main" id="{8305899B-D1D1-41FD-A9A1-3BA108F1E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31"/>
              <a:ext cx="3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800" b="1">
                  <a:latin typeface="宋体" panose="02010600030101010101" pitchFamily="2" charset="-122"/>
                </a:rPr>
                <a:t>地址总线的连接</a:t>
              </a:r>
              <a:r>
                <a:rPr lang="zh-CN" altLang="en-US" sz="2400" b="1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19475" name="矩形 11269">
              <a:extLst>
                <a:ext uri="{FF2B5EF4-FFF2-40B4-BE49-F238E27FC236}">
                  <a16:creationId xmlns:a16="http://schemas.microsoft.com/office/drawing/2014/main" id="{3205A9DA-BA3A-40C4-90C1-A54B410D9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" y="531"/>
              <a:ext cx="3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800" b="1">
                  <a:latin typeface="宋体" panose="02010600030101010101" pitchFamily="2" charset="-122"/>
                </a:rPr>
                <a:t>数据总线的连接</a:t>
              </a:r>
              <a:r>
                <a:rPr lang="zh-CN" altLang="en-US" sz="2400" b="1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19476" name="矩形 11270">
              <a:extLst>
                <a:ext uri="{FF2B5EF4-FFF2-40B4-BE49-F238E27FC236}">
                  <a16:creationId xmlns:a16="http://schemas.microsoft.com/office/drawing/2014/main" id="{CBC7ED1B-8907-4B1D-914A-D2DC531B9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843"/>
              <a:ext cx="3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800" b="1">
                  <a:latin typeface="宋体" panose="02010600030101010101" pitchFamily="2" charset="-122"/>
                </a:rPr>
                <a:t>控制总线的连接</a:t>
              </a:r>
              <a:r>
                <a:rPr lang="zh-CN" altLang="en-US" sz="2400" b="1">
                  <a:latin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9460" name="矩形 11271">
            <a:extLst>
              <a:ext uri="{FF2B5EF4-FFF2-40B4-BE49-F238E27FC236}">
                <a16:creationId xmlns:a16="http://schemas.microsoft.com/office/drawing/2014/main" id="{82BA41BF-E75C-4230-9773-612A92E2B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82750"/>
            <a:ext cx="4148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zh-CN" altLang="en-US" sz="2800" b="1">
                <a:latin typeface="Times New Roman" panose="02020603050405020304" pitchFamily="18" charset="0"/>
              </a:rPr>
              <a:t>与存储器的接口</a:t>
            </a:r>
          </a:p>
        </p:txBody>
      </p:sp>
      <p:grpSp>
        <p:nvGrpSpPr>
          <p:cNvPr id="19461" name="组合 11272">
            <a:extLst>
              <a:ext uri="{FF2B5EF4-FFF2-40B4-BE49-F238E27FC236}">
                <a16:creationId xmlns:a16="http://schemas.microsoft.com/office/drawing/2014/main" id="{7584B730-1AB7-417F-BBE7-EA0B9F8FAF81}"/>
              </a:ext>
            </a:extLst>
          </p:cNvPr>
          <p:cNvGrpSpPr>
            <a:grpSpLocks/>
          </p:cNvGrpSpPr>
          <p:nvPr/>
        </p:nvGrpSpPr>
        <p:grpSpPr bwMode="auto">
          <a:xfrm>
            <a:off x="4668838" y="2800350"/>
            <a:ext cx="3429000" cy="2366963"/>
            <a:chOff x="0" y="0"/>
            <a:chExt cx="2160" cy="1491"/>
          </a:xfrm>
        </p:grpSpPr>
        <p:sp>
          <p:nvSpPr>
            <p:cNvPr id="19463" name="矩形 11273">
              <a:extLst>
                <a:ext uri="{FF2B5EF4-FFF2-40B4-BE49-F238E27FC236}">
                  <a16:creationId xmlns:a16="http://schemas.microsoft.com/office/drawing/2014/main" id="{80C6349C-955F-4711-90A5-BC89AB0B1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20" cy="14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4" name="文本框 11274">
              <a:extLst>
                <a:ext uri="{FF2B5EF4-FFF2-40B4-BE49-F238E27FC236}">
                  <a16:creationId xmlns:a16="http://schemas.microsoft.com/office/drawing/2014/main" id="{BE352BFE-1FC8-4CF0-846B-6E5137B63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26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CPU</a:t>
              </a:r>
            </a:p>
          </p:txBody>
        </p:sp>
        <p:sp>
          <p:nvSpPr>
            <p:cNvPr id="19465" name="左箭头 11275">
              <a:extLst>
                <a:ext uri="{FF2B5EF4-FFF2-40B4-BE49-F238E27FC236}">
                  <a16:creationId xmlns:a16="http://schemas.microsoft.com/office/drawing/2014/main" id="{D1C2512E-A5EC-4F59-A29F-92BF6E0D0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" y="516"/>
              <a:ext cx="1285" cy="497"/>
            </a:xfrm>
            <a:prstGeom prst="leftArrow">
              <a:avLst>
                <a:gd name="adj1" fmla="val 50000"/>
                <a:gd name="adj2" fmla="val 6461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466" name="文本框 11276">
              <a:extLst>
                <a:ext uri="{FF2B5EF4-FFF2-40B4-BE49-F238E27FC236}">
                  <a16:creationId xmlns:a16="http://schemas.microsoft.com/office/drawing/2014/main" id="{9DE2A2BD-D971-4BD3-BCAF-BD33184B2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" y="621"/>
              <a:ext cx="19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数据总线</a:t>
              </a:r>
            </a:p>
          </p:txBody>
        </p:sp>
        <p:sp>
          <p:nvSpPr>
            <p:cNvPr id="19467" name="矩形 11277">
              <a:extLst>
                <a:ext uri="{FF2B5EF4-FFF2-40B4-BE49-F238E27FC236}">
                  <a16:creationId xmlns:a16="http://schemas.microsoft.com/office/drawing/2014/main" id="{74FF3CA0-9726-4895-8D69-CB2BF2489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0"/>
              <a:ext cx="422" cy="14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8" name="文本框 11278">
              <a:extLst>
                <a:ext uri="{FF2B5EF4-FFF2-40B4-BE49-F238E27FC236}">
                  <a16:creationId xmlns:a16="http://schemas.microsoft.com/office/drawing/2014/main" id="{6B1BC3E1-3DFF-4A83-8D57-302433F04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434"/>
              <a:ext cx="34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存储器</a:t>
              </a:r>
            </a:p>
          </p:txBody>
        </p:sp>
        <p:sp>
          <p:nvSpPr>
            <p:cNvPr id="19469" name="右箭头 11279">
              <a:extLst>
                <a:ext uri="{FF2B5EF4-FFF2-40B4-BE49-F238E27FC236}">
                  <a16:creationId xmlns:a16="http://schemas.microsoft.com/office/drawing/2014/main" id="{DDF32675-5579-423E-94F2-5DED6CE3C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994"/>
              <a:ext cx="1285" cy="497"/>
            </a:xfrm>
            <a:prstGeom prst="rightArrow">
              <a:avLst>
                <a:gd name="adj1" fmla="val 50000"/>
                <a:gd name="adj2" fmla="val 6461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9470" name="右箭头 11280">
              <a:extLst>
                <a:ext uri="{FF2B5EF4-FFF2-40B4-BE49-F238E27FC236}">
                  <a16:creationId xmlns:a16="http://schemas.microsoft.com/office/drawing/2014/main" id="{EB76BAC3-720A-4501-85AB-C815C1B9C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0"/>
              <a:ext cx="1285" cy="497"/>
            </a:xfrm>
            <a:prstGeom prst="rightArrow">
              <a:avLst>
                <a:gd name="adj1" fmla="val 50000"/>
                <a:gd name="adj2" fmla="val 6461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9471" name="文本框 11281">
              <a:extLst>
                <a:ext uri="{FF2B5EF4-FFF2-40B4-BE49-F238E27FC236}">
                  <a16:creationId xmlns:a16="http://schemas.microsoft.com/office/drawing/2014/main" id="{918EB9D7-F8C5-490B-BCB6-DF522D010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" y="105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地址总线</a:t>
              </a:r>
            </a:p>
          </p:txBody>
        </p:sp>
        <p:sp>
          <p:nvSpPr>
            <p:cNvPr id="19472" name="文本框 11282">
              <a:extLst>
                <a:ext uri="{FF2B5EF4-FFF2-40B4-BE49-F238E27FC236}">
                  <a16:creationId xmlns:a16="http://schemas.microsoft.com/office/drawing/2014/main" id="{F4E92277-BEE0-4558-A0F8-27AFA6AFD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98"/>
              <a:ext cx="11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控制总线</a:t>
              </a:r>
            </a:p>
          </p:txBody>
        </p:sp>
      </p:grpSp>
      <p:sp>
        <p:nvSpPr>
          <p:cNvPr id="19462" name="灯片编号占位符 1">
            <a:extLst>
              <a:ext uri="{FF2B5EF4-FFF2-40B4-BE49-F238E27FC236}">
                <a16:creationId xmlns:a16="http://schemas.microsoft.com/office/drawing/2014/main" id="{45BFD6E5-96D0-4EA8-8C0D-CB31489CAE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FD7596-C761-47BA-815E-0781B283E5C9}" type="slidenum">
              <a:rPr altLang="en-US" smtClean="0">
                <a:latin typeface="Times New Roman" panose="02020603050405020304" pitchFamily="18" charset="0"/>
              </a:rPr>
              <a:pPr/>
              <a:t>15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2289">
            <a:extLst>
              <a:ext uri="{FF2B5EF4-FFF2-40B4-BE49-F238E27FC236}">
                <a16:creationId xmlns:a16="http://schemas.microsoft.com/office/drawing/2014/main" id="{22B8350C-B9AE-49EE-BBBF-7AD91741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217613"/>
            <a:ext cx="6548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存储器与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的连接应注意问题</a:t>
            </a:r>
          </a:p>
        </p:txBody>
      </p:sp>
      <p:sp>
        <p:nvSpPr>
          <p:cNvPr id="20483" name="矩形 12290">
            <a:extLst>
              <a:ext uri="{FF2B5EF4-FFF2-40B4-BE49-F238E27FC236}">
                <a16:creationId xmlns:a16="http://schemas.microsoft.com/office/drawing/2014/main" id="{A84995DB-D5C1-4DED-877B-C9F1DC4D8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914525"/>
            <a:ext cx="783590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en-US" altLang="zh-CN" sz="2800">
                <a:latin typeface="宋体" panose="02010600030101010101" pitchFamily="2" charset="-122"/>
              </a:rPr>
              <a:t>CPU</a:t>
            </a:r>
            <a:r>
              <a:rPr lang="zh-CN" altLang="en-US" sz="2800">
                <a:latin typeface="宋体" panose="02010600030101010101" pitchFamily="2" charset="-122"/>
              </a:rPr>
              <a:t>总线的负载能力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en-US" altLang="zh-CN" sz="2800">
                <a:latin typeface="宋体" panose="02010600030101010101" pitchFamily="2" charset="-122"/>
              </a:rPr>
              <a:t>CPU</a:t>
            </a:r>
            <a:r>
              <a:rPr lang="zh-CN" altLang="en-US" sz="2800">
                <a:latin typeface="宋体" panose="02010600030101010101" pitchFamily="2" charset="-122"/>
              </a:rPr>
              <a:t>的时序和存储器存取速度的配合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800">
                <a:latin typeface="宋体" panose="02010600030101010101" pitchFamily="2" charset="-122"/>
              </a:rPr>
              <a:t>存储器的地址分配和选片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800">
                <a:latin typeface="宋体" panose="02010600030101010101" pitchFamily="2" charset="-122"/>
              </a:rPr>
              <a:t>控制信号的连接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0484" name="灯片编号占位符 1">
            <a:extLst>
              <a:ext uri="{FF2B5EF4-FFF2-40B4-BE49-F238E27FC236}">
                <a16:creationId xmlns:a16="http://schemas.microsoft.com/office/drawing/2014/main" id="{A61DBA0D-734C-4D6E-A9D1-4D00B93BFE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D85282-BEAF-419B-B8DE-BB2ED4BF7904}" type="slidenum">
              <a:rPr altLang="en-US" smtClean="0">
                <a:latin typeface="Times New Roman" panose="02020603050405020304" pitchFamily="18" charset="0"/>
              </a:rPr>
              <a:pPr/>
              <a:t>16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3313">
            <a:extLst>
              <a:ext uri="{FF2B5EF4-FFF2-40B4-BE49-F238E27FC236}">
                <a16:creationId xmlns:a16="http://schemas.microsoft.com/office/drawing/2014/main" id="{AA953190-2DF5-4990-8E15-5FED1E669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331913"/>
            <a:ext cx="8829675" cy="352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    由于单片存储器芯片的存储容量有限，故微机中的内存储器由若干芯片组成。 CPU的地址总线和数据总线与各种不同的存储器芯片的连接方法有：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位扩展</a:t>
            </a:r>
            <a:r>
              <a:rPr lang="zh-CN" altLang="en-US" sz="2400">
                <a:latin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字扩展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存储器容量的表示方式：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		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2K</a:t>
            </a:r>
            <a:r>
              <a:rPr lang="zh-CN" altLang="en-US" sz="2400">
                <a:latin typeface="宋体" panose="02010600030101010101" pitchFamily="2" charset="-122"/>
              </a:rPr>
              <a:t>×</a:t>
            </a:r>
            <a:r>
              <a:rPr lang="zh-CN" altLang="en-US" sz="2400">
                <a:solidFill>
                  <a:schemeClr val="folHlink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>
                <a:latin typeface="宋体" panose="02010600030101010101" pitchFamily="2" charset="-122"/>
              </a:rPr>
              <a:t>——代表共有2K个存储单元，每个存储单元存储8位二进制数据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		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位扩展</a:t>
            </a:r>
            <a:r>
              <a:rPr lang="zh-CN" altLang="en-US" sz="2400">
                <a:latin typeface="宋体" panose="02010600030101010101" pitchFamily="2" charset="-122"/>
              </a:rPr>
              <a:t>——扩展存储单元的位数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		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字扩展</a:t>
            </a:r>
            <a:r>
              <a:rPr lang="zh-CN" altLang="en-US" sz="2400">
                <a:latin typeface="宋体" panose="02010600030101010101" pitchFamily="2" charset="-122"/>
              </a:rPr>
              <a:t>——扩展存储单元的数量</a:t>
            </a:r>
          </a:p>
        </p:txBody>
      </p:sp>
      <p:sp>
        <p:nvSpPr>
          <p:cNvPr id="13315" name="矩形 13314">
            <a:extLst>
              <a:ext uri="{FF2B5EF4-FFF2-40B4-BE49-F238E27FC236}">
                <a16:creationId xmlns:a16="http://schemas.microsoft.com/office/drawing/2014/main" id="{F36C224F-AD35-47D1-AD94-575DC9882201}"/>
              </a:ext>
            </a:extLst>
          </p:cNvPr>
          <p:cNvSpPr/>
          <p:nvPr/>
        </p:nvSpPr>
        <p:spPr>
          <a:xfrm>
            <a:off x="736600" y="279400"/>
            <a:ext cx="3948113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2、8086CPU的容量扩展</a:t>
            </a:r>
          </a:p>
        </p:txBody>
      </p:sp>
      <p:sp>
        <p:nvSpPr>
          <p:cNvPr id="21508" name="灯片编号占位符 1">
            <a:extLst>
              <a:ext uri="{FF2B5EF4-FFF2-40B4-BE49-F238E27FC236}">
                <a16:creationId xmlns:a16="http://schemas.microsoft.com/office/drawing/2014/main" id="{DD7AEDF2-4357-41DC-A65F-5F62761BFDE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0D3DA9-36EF-4CD6-A518-F95CCDDB8AFE}" type="slidenum">
              <a:rPr altLang="en-US" smtClean="0">
                <a:latin typeface="Times New Roman" panose="02020603050405020304" pitchFamily="18" charset="0"/>
              </a:rPr>
              <a:pPr/>
              <a:t>17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15361">
            <a:extLst>
              <a:ext uri="{FF2B5EF4-FFF2-40B4-BE49-F238E27FC236}">
                <a16:creationId xmlns:a16="http://schemas.microsoft.com/office/drawing/2014/main" id="{60A6531A-FD52-47F6-9AAA-FAF35B831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285750"/>
            <a:ext cx="822007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FF00"/>
                </a:solidFill>
                <a:latin typeface="Tahoma" panose="020B0604030504040204" pitchFamily="34" charset="0"/>
              </a:rPr>
              <a:t>  2.2存储器的字扩展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800">
              <a:latin typeface="Tahoma" panose="020B0604030504040204" pitchFamily="34" charset="0"/>
            </a:endParaRPr>
          </a:p>
        </p:txBody>
      </p:sp>
      <p:sp>
        <p:nvSpPr>
          <p:cNvPr id="22531" name="灯片编号占位符 1">
            <a:extLst>
              <a:ext uri="{FF2B5EF4-FFF2-40B4-BE49-F238E27FC236}">
                <a16:creationId xmlns:a16="http://schemas.microsoft.com/office/drawing/2014/main" id="{970BC5BC-7A2C-4EF1-A0E0-EB7D6E2605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19CFBCCF-0C41-4A33-8E41-8C135CF12CEB}" type="slidenum">
              <a:rPr altLang="en-US" smtClean="0">
                <a:latin typeface="Times New Roman" panose="02020603050405020304" pitchFamily="18" charset="0"/>
              </a:rPr>
              <a:pPr eaLnBrk="0" hangingPunct="0"/>
              <a:t>18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707DFE54-D9D0-4A03-863E-BC44F8E98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54175"/>
            <a:ext cx="84931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F293F5-4FEE-4D0C-B16E-E59B418F6536}"/>
              </a:ext>
            </a:extLst>
          </p:cNvPr>
          <p:cNvSpPr>
            <a:spLocks noGrp="1"/>
          </p:cNvSpPr>
          <p:nvPr/>
        </p:nvSpPr>
        <p:spPr>
          <a:xfrm>
            <a:off x="495272" y="4458341"/>
            <a:ext cx="8153400" cy="2124068"/>
          </a:xfrm>
          <a:prstGeom prst="rect">
            <a:avLst/>
          </a:prstGeo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rgbClr val="FFFF00"/>
              </a:buClr>
              <a:buSzPct val="95000"/>
              <a:buFont typeface="Wingdings" panose="05000000000000000000" pitchFamily="2" charset="2"/>
              <a:buChar char="l"/>
              <a:defRPr kumimoji="0"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黑体" panose="02010609060101010101" pitchFamily="49" charset="-122"/>
                <a:cs typeface="Times New Roman" panose="02020603050405020304" pitchFamily="2" charset="0"/>
              </a:defRPr>
            </a:lvl1pPr>
            <a:lvl2pPr marL="740410" indent="-285750" algn="l" rtl="0" eaLnBrk="1" latinLnBrk="0" hangingPunct="1">
              <a:spcBef>
                <a:spcPct val="200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Ø"/>
              <a:defRPr kumimoji="0" sz="2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cs typeface="Times New Roman" panose="02020603050405020304" pitchFamily="2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745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 panose="05040102010807070707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4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0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8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423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当控制端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G</a:t>
            </a:r>
            <a:r>
              <a:rPr 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1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=1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    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=0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和      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=0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时，由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个输入端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C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B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A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电平决定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Y</a:t>
            </a:r>
            <a:r>
              <a:rPr 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7</a:t>
            </a:r>
            <a:r>
              <a:rPr lang="zh-CN" alt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～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Y</a:t>
            </a:r>
            <a:r>
              <a:rPr 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0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中哪个输出低电平。常用高位地址和存储器操作信号（如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M/ 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    ）作控制端输入。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C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B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A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与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根地址线连，形成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位二进制编码输入。</a:t>
            </a:r>
          </a:p>
        </p:txBody>
      </p:sp>
      <p:graphicFrame>
        <p:nvGraphicFramePr>
          <p:cNvPr id="22534" name="对象 4">
            <a:extLst>
              <a:ext uri="{FF2B5EF4-FFF2-40B4-BE49-F238E27FC236}">
                <a16:creationId xmlns:a16="http://schemas.microsoft.com/office/drawing/2014/main" id="{C6D5C240-4A16-4DF2-BEF7-55B2BCB0C4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4521200"/>
          <a:ext cx="5111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6" r:id="rId4" imgW="7315200" imgH="6096000" progId="Equation.DSMT4">
                  <p:embed/>
                </p:oleObj>
              </mc:Choice>
              <mc:Fallback>
                <p:oleObj r:id="rId4" imgW="7315200" imgH="6096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4521200"/>
                        <a:ext cx="5111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6">
            <a:extLst>
              <a:ext uri="{FF2B5EF4-FFF2-40B4-BE49-F238E27FC236}">
                <a16:creationId xmlns:a16="http://schemas.microsoft.com/office/drawing/2014/main" id="{F00F5444-5A4D-4FA3-A47C-37EA4C55F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1163" y="4546600"/>
          <a:ext cx="5000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7" r:id="rId6" imgW="7010400" imgH="6096000" progId="Equation.DSMT4">
                  <p:embed/>
                </p:oleObj>
              </mc:Choice>
              <mc:Fallback>
                <p:oleObj r:id="rId6" imgW="7010400" imgH="60960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4546600"/>
                        <a:ext cx="50006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对象 7">
            <a:extLst>
              <a:ext uri="{FF2B5EF4-FFF2-40B4-BE49-F238E27FC236}">
                <a16:creationId xmlns:a16="http://schemas.microsoft.com/office/drawing/2014/main" id="{33D3100B-C7D2-4FE9-BD7D-A41802E25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2988" y="5416550"/>
          <a:ext cx="3794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8" r:id="rId8" imgW="4876800" imgH="5181600" progId="Equation.DSMT4">
                  <p:embed/>
                </p:oleObj>
              </mc:Choice>
              <mc:Fallback>
                <p:oleObj r:id="rId8" imgW="4876800" imgH="51816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988" y="5416550"/>
                        <a:ext cx="3794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6B94BA9-80AC-42D1-8D51-4710A01F1782}"/>
              </a:ext>
            </a:extLst>
          </p:cNvPr>
          <p:cNvSpPr txBox="1"/>
          <p:nvPr/>
        </p:nvSpPr>
        <p:spPr>
          <a:xfrm>
            <a:off x="723900" y="1035050"/>
            <a:ext cx="3575050" cy="522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*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先复习下</a:t>
            </a:r>
            <a:r>
              <a:rPr lang="en-US" altLang="zh-CN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138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译码器</a:t>
            </a:r>
            <a:endParaRPr lang="zh-CN" altLang="en-US" sz="2800" noProof="1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ea"/>
              <a:sym typeface="+mn-ea"/>
            </a:endParaRPr>
          </a:p>
        </p:txBody>
      </p:sp>
      <p:sp>
        <p:nvSpPr>
          <p:cNvPr id="22538" name="矩形 10">
            <a:extLst>
              <a:ext uri="{FF2B5EF4-FFF2-40B4-BE49-F238E27FC236}">
                <a16:creationId xmlns:a16="http://schemas.microsoft.com/office/drawing/2014/main" id="{3B4E309D-E452-4A57-9D4C-7E7CB14DC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5" y="1284288"/>
            <a:ext cx="369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5.16 74LS138</a:t>
            </a:r>
            <a:r>
              <a:rPr lang="zh-CN" altLang="en-US">
                <a:solidFill>
                  <a:srgbClr val="FF0000"/>
                </a:solidFill>
              </a:rPr>
              <a:t>引脚和输出真值表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4337">
            <a:extLst>
              <a:ext uri="{FF2B5EF4-FFF2-40B4-BE49-F238E27FC236}">
                <a16:creationId xmlns:a16="http://schemas.microsoft.com/office/drawing/2014/main" id="{BDB3627C-2382-4BED-A5D9-B12198980D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5150" y="352425"/>
            <a:ext cx="8064500" cy="1727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FF00"/>
                </a:solidFill>
                <a:ea typeface="宋体" panose="02010600030101010101" pitchFamily="2" charset="-122"/>
              </a:rPr>
              <a:t>2.1存储器的位扩展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FF6600"/>
                </a:solidFill>
                <a:ea typeface="宋体" panose="02010600030101010101" pitchFamily="2" charset="-122"/>
              </a:rPr>
              <a:t>          </a:t>
            </a:r>
            <a:r>
              <a:rPr lang="zh-CN" altLang="en-US" sz="2400" b="0" u="sng" dirty="0">
                <a:solidFill>
                  <a:srgbClr val="FF6600"/>
                </a:solidFill>
                <a:ea typeface="宋体" panose="02010600030101010101" pitchFamily="2" charset="-122"/>
              </a:rPr>
              <a:t>位扩展</a:t>
            </a:r>
            <a:r>
              <a:rPr lang="zh-CN" altLang="en-US" sz="2400" dirty="0">
                <a:ea typeface="宋体" panose="02010600030101010101" pitchFamily="2" charset="-122"/>
              </a:rPr>
              <a:t>是指增加存储器的字长即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en-US" sz="24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增加存储芯片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的方法来实现其</a:t>
            </a:r>
            <a:r>
              <a:rPr lang="zh-CN" altLang="en-US" sz="24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与数据位数宽的CPU的连接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。例如，4片2716（EPROM:</a:t>
            </a:r>
            <a:r>
              <a:rPr lang="zh-CN" altLang="en-US" sz="2400" b="0" dirty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2K×8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）可构成</a:t>
            </a:r>
            <a:r>
              <a:rPr lang="zh-CN" altLang="en-US" sz="2400" b="0" dirty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4K*16bit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的存储器，如下页图所示。</a:t>
            </a:r>
          </a:p>
        </p:txBody>
      </p:sp>
      <p:sp>
        <p:nvSpPr>
          <p:cNvPr id="23555" name="矩形 14338">
            <a:extLst>
              <a:ext uri="{FF2B5EF4-FFF2-40B4-BE49-F238E27FC236}">
                <a16:creationId xmlns:a16="http://schemas.microsoft.com/office/drawing/2014/main" id="{857F793E-45E1-45E6-BE63-3D877CDE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3698875"/>
            <a:ext cx="623888" cy="1447800"/>
          </a:xfrm>
          <a:prstGeom prst="rect">
            <a:avLst/>
          </a:prstGeom>
          <a:noFill/>
          <a:ln w="25400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6" name="文本框 14339">
            <a:extLst>
              <a:ext uri="{FF2B5EF4-FFF2-40B4-BE49-F238E27FC236}">
                <a16:creationId xmlns:a16="http://schemas.microsoft.com/office/drawing/2014/main" id="{25706ABC-BB33-4B13-9BF3-1604B3BA1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4095750"/>
            <a:ext cx="793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地址</a:t>
            </a:r>
          </a:p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输入</a:t>
            </a:r>
          </a:p>
        </p:txBody>
      </p:sp>
      <p:sp>
        <p:nvSpPr>
          <p:cNvPr id="23557" name="矩形 14340">
            <a:extLst>
              <a:ext uri="{FF2B5EF4-FFF2-40B4-BE49-F238E27FC236}">
                <a16:creationId xmlns:a16="http://schemas.microsoft.com/office/drawing/2014/main" id="{8C750742-B21B-4530-B3F2-5B0761F54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775075"/>
            <a:ext cx="623887" cy="1447800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8" name="文本框 14341">
            <a:extLst>
              <a:ext uri="{FF2B5EF4-FFF2-40B4-BE49-F238E27FC236}">
                <a16:creationId xmlns:a16="http://schemas.microsoft.com/office/drawing/2014/main" id="{27751736-4EC5-4F85-9493-563FC0FBA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738" y="38195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CE</a:t>
            </a:r>
          </a:p>
        </p:txBody>
      </p:sp>
      <p:sp>
        <p:nvSpPr>
          <p:cNvPr id="23559" name="直接连接符 14342">
            <a:extLst>
              <a:ext uri="{FF2B5EF4-FFF2-40B4-BE49-F238E27FC236}">
                <a16:creationId xmlns:a16="http://schemas.microsoft.com/office/drawing/2014/main" id="{2DBEAA40-B1DE-4651-8C8B-0A7ADF79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0563" y="38512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文本框 14343">
            <a:extLst>
              <a:ext uri="{FF2B5EF4-FFF2-40B4-BE49-F238E27FC236}">
                <a16:creationId xmlns:a16="http://schemas.microsoft.com/office/drawing/2014/main" id="{B4247BC5-633D-49AC-BDDC-2CF542FF7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42005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OE</a:t>
            </a:r>
          </a:p>
        </p:txBody>
      </p:sp>
      <p:sp>
        <p:nvSpPr>
          <p:cNvPr id="23561" name="直接连接符 14344">
            <a:extLst>
              <a:ext uri="{FF2B5EF4-FFF2-40B4-BE49-F238E27FC236}">
                <a16:creationId xmlns:a16="http://schemas.microsoft.com/office/drawing/2014/main" id="{E56B5E8F-CBFE-4067-A902-2F831C7D2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188" y="42322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562" name="组合 14345">
            <a:extLst>
              <a:ext uri="{FF2B5EF4-FFF2-40B4-BE49-F238E27FC236}">
                <a16:creationId xmlns:a16="http://schemas.microsoft.com/office/drawing/2014/main" id="{FD42CBB1-5F3D-4A51-99EC-7BD11C310106}"/>
              </a:ext>
            </a:extLst>
          </p:cNvPr>
          <p:cNvGrpSpPr>
            <a:grpSpLocks/>
          </p:cNvGrpSpPr>
          <p:nvPr/>
        </p:nvGrpSpPr>
        <p:grpSpPr bwMode="auto">
          <a:xfrm>
            <a:off x="5449888" y="3362325"/>
            <a:ext cx="412750" cy="366713"/>
            <a:chOff x="0" y="0"/>
            <a:chExt cx="260" cy="231"/>
          </a:xfrm>
        </p:grpSpPr>
        <p:sp>
          <p:nvSpPr>
            <p:cNvPr id="23674" name="文本框 14346">
              <a:extLst>
                <a:ext uri="{FF2B5EF4-FFF2-40B4-BE49-F238E27FC236}">
                  <a16:creationId xmlns:a16="http://schemas.microsoft.com/office/drawing/2014/main" id="{75E2F7E0-35DF-4526-AE98-7701C6D75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OE</a:t>
              </a:r>
            </a:p>
          </p:txBody>
        </p:sp>
        <p:sp>
          <p:nvSpPr>
            <p:cNvPr id="23675" name="直接连接符 14347">
              <a:extLst>
                <a:ext uri="{FF2B5EF4-FFF2-40B4-BE49-F238E27FC236}">
                  <a16:creationId xmlns:a16="http://schemas.microsoft.com/office/drawing/2014/main" id="{F3BEDD95-2D76-4623-9D72-3309D1CEF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3" name="组合 14348">
            <a:extLst>
              <a:ext uri="{FF2B5EF4-FFF2-40B4-BE49-F238E27FC236}">
                <a16:creationId xmlns:a16="http://schemas.microsoft.com/office/drawing/2014/main" id="{324809BF-B117-444C-8ED8-3A52F3DC855B}"/>
              </a:ext>
            </a:extLst>
          </p:cNvPr>
          <p:cNvGrpSpPr>
            <a:grpSpLocks/>
          </p:cNvGrpSpPr>
          <p:nvPr/>
        </p:nvGrpSpPr>
        <p:grpSpPr bwMode="auto">
          <a:xfrm>
            <a:off x="5449888" y="2981325"/>
            <a:ext cx="412750" cy="366713"/>
            <a:chOff x="0" y="0"/>
            <a:chExt cx="260" cy="231"/>
          </a:xfrm>
        </p:grpSpPr>
        <p:sp>
          <p:nvSpPr>
            <p:cNvPr id="23672" name="文本框 14349">
              <a:extLst>
                <a:ext uri="{FF2B5EF4-FFF2-40B4-BE49-F238E27FC236}">
                  <a16:creationId xmlns:a16="http://schemas.microsoft.com/office/drawing/2014/main" id="{CE836971-CD81-4124-982D-0D85DD29D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CE</a:t>
              </a:r>
            </a:p>
          </p:txBody>
        </p:sp>
        <p:sp>
          <p:nvSpPr>
            <p:cNvPr id="23673" name="直接连接符 14350">
              <a:extLst>
                <a:ext uri="{FF2B5EF4-FFF2-40B4-BE49-F238E27FC236}">
                  <a16:creationId xmlns:a16="http://schemas.microsoft.com/office/drawing/2014/main" id="{711B520D-A496-4DF9-BEB6-6A1C27206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4" name="组合 14351">
            <a:extLst>
              <a:ext uri="{FF2B5EF4-FFF2-40B4-BE49-F238E27FC236}">
                <a16:creationId xmlns:a16="http://schemas.microsoft.com/office/drawing/2014/main" id="{07F671B9-D48A-4C8D-993E-61300BAB0613}"/>
              </a:ext>
            </a:extLst>
          </p:cNvPr>
          <p:cNvGrpSpPr>
            <a:grpSpLocks/>
          </p:cNvGrpSpPr>
          <p:nvPr/>
        </p:nvGrpSpPr>
        <p:grpSpPr bwMode="auto">
          <a:xfrm>
            <a:off x="3392488" y="3438525"/>
            <a:ext cx="412750" cy="366713"/>
            <a:chOff x="0" y="0"/>
            <a:chExt cx="260" cy="231"/>
          </a:xfrm>
        </p:grpSpPr>
        <p:sp>
          <p:nvSpPr>
            <p:cNvPr id="23670" name="文本框 14352">
              <a:extLst>
                <a:ext uri="{FF2B5EF4-FFF2-40B4-BE49-F238E27FC236}">
                  <a16:creationId xmlns:a16="http://schemas.microsoft.com/office/drawing/2014/main" id="{3FE49E6B-AB5B-470A-A2D4-3AA137A7D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OE</a:t>
              </a:r>
            </a:p>
          </p:txBody>
        </p:sp>
        <p:sp>
          <p:nvSpPr>
            <p:cNvPr id="23671" name="直接连接符 14353">
              <a:extLst>
                <a:ext uri="{FF2B5EF4-FFF2-40B4-BE49-F238E27FC236}">
                  <a16:creationId xmlns:a16="http://schemas.microsoft.com/office/drawing/2014/main" id="{750A037D-9632-4584-B5FF-7ED83C293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5" name="组合 14354">
            <a:extLst>
              <a:ext uri="{FF2B5EF4-FFF2-40B4-BE49-F238E27FC236}">
                <a16:creationId xmlns:a16="http://schemas.microsoft.com/office/drawing/2014/main" id="{D6BE89E1-43BD-46D5-9A80-4DB311620B13}"/>
              </a:ext>
            </a:extLst>
          </p:cNvPr>
          <p:cNvGrpSpPr>
            <a:grpSpLocks/>
          </p:cNvGrpSpPr>
          <p:nvPr/>
        </p:nvGrpSpPr>
        <p:grpSpPr bwMode="auto">
          <a:xfrm>
            <a:off x="3392488" y="3057525"/>
            <a:ext cx="412750" cy="366713"/>
            <a:chOff x="0" y="0"/>
            <a:chExt cx="260" cy="231"/>
          </a:xfrm>
        </p:grpSpPr>
        <p:sp>
          <p:nvSpPr>
            <p:cNvPr id="23668" name="文本框 14355">
              <a:extLst>
                <a:ext uri="{FF2B5EF4-FFF2-40B4-BE49-F238E27FC236}">
                  <a16:creationId xmlns:a16="http://schemas.microsoft.com/office/drawing/2014/main" id="{BBA12374-E153-4DE7-91B5-3BAC1A931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CE</a:t>
              </a:r>
            </a:p>
          </p:txBody>
        </p:sp>
        <p:sp>
          <p:nvSpPr>
            <p:cNvPr id="23669" name="直接连接符 14356">
              <a:extLst>
                <a:ext uri="{FF2B5EF4-FFF2-40B4-BE49-F238E27FC236}">
                  <a16:creationId xmlns:a16="http://schemas.microsoft.com/office/drawing/2014/main" id="{DAB5DAB3-FAFC-42C8-B347-ADDB3BAFA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66" name="右箭头 14357">
            <a:extLst>
              <a:ext uri="{FF2B5EF4-FFF2-40B4-BE49-F238E27FC236}">
                <a16:creationId xmlns:a16="http://schemas.microsoft.com/office/drawing/2014/main" id="{BC0122B0-BCEA-4382-A0EE-56BEF2126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4460875"/>
            <a:ext cx="1377950" cy="609600"/>
          </a:xfrm>
          <a:prstGeom prst="rightArrow">
            <a:avLst>
              <a:gd name="adj1" fmla="val 50000"/>
              <a:gd name="adj2" fmla="val 56489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7" name="文本框 14358">
            <a:extLst>
              <a:ext uri="{FF2B5EF4-FFF2-40B4-BE49-F238E27FC236}">
                <a16:creationId xmlns:a16="http://schemas.microsoft.com/office/drawing/2014/main" id="{1A7E801A-5E30-47E2-A266-E6F916561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4657725"/>
            <a:ext cx="5413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10-0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68" name="右箭头 14359">
            <a:extLst>
              <a:ext uri="{FF2B5EF4-FFF2-40B4-BE49-F238E27FC236}">
                <a16:creationId xmlns:a16="http://schemas.microsoft.com/office/drawing/2014/main" id="{411C21B6-7EE8-43EC-988E-E2BD03CB5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4460875"/>
            <a:ext cx="755650" cy="609600"/>
          </a:xfrm>
          <a:prstGeom prst="rightArrow">
            <a:avLst>
              <a:gd name="adj1" fmla="val 50000"/>
              <a:gd name="adj2" fmla="val 30978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9" name="直接连接符 14360">
            <a:extLst>
              <a:ext uri="{FF2B5EF4-FFF2-40B4-BE49-F238E27FC236}">
                <a16:creationId xmlns:a16="http://schemas.microsoft.com/office/drawing/2014/main" id="{04E97BBD-0311-457A-BB09-48D483C6D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8588" y="4918075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直接连接符 14361">
            <a:extLst>
              <a:ext uri="{FF2B5EF4-FFF2-40B4-BE49-F238E27FC236}">
                <a16:creationId xmlns:a16="http://schemas.microsoft.com/office/drawing/2014/main" id="{04EE8E88-945F-4D63-901F-853B879A9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88" y="4918075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1" name="文本框 14362">
            <a:extLst>
              <a:ext uri="{FF2B5EF4-FFF2-40B4-BE49-F238E27FC236}">
                <a16:creationId xmlns:a16="http://schemas.microsoft.com/office/drawing/2014/main" id="{A8155A63-302D-40EB-AC02-601668FFFD79}"/>
              </a:ext>
            </a:extLst>
          </p:cNvPr>
          <p:cNvSpPr txBox="1">
            <a:spLocks noChangeArrowheads="1"/>
          </p:cNvSpPr>
          <p:nvPr/>
        </p:nvSpPr>
        <p:spPr bwMode="auto">
          <a:xfrm rot="-5346855">
            <a:off x="3081338" y="47005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2716</a:t>
            </a:r>
          </a:p>
        </p:txBody>
      </p:sp>
      <p:sp>
        <p:nvSpPr>
          <p:cNvPr id="23572" name="文本框 14363">
            <a:extLst>
              <a:ext uri="{FF2B5EF4-FFF2-40B4-BE49-F238E27FC236}">
                <a16:creationId xmlns:a16="http://schemas.microsoft.com/office/drawing/2014/main" id="{0567F2B4-6A66-426E-845F-BF22156EF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37433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CE</a:t>
            </a:r>
          </a:p>
        </p:txBody>
      </p:sp>
      <p:sp>
        <p:nvSpPr>
          <p:cNvPr id="23573" name="直接连接符 14364">
            <a:extLst>
              <a:ext uri="{FF2B5EF4-FFF2-40B4-BE49-F238E27FC236}">
                <a16:creationId xmlns:a16="http://schemas.microsoft.com/office/drawing/2014/main" id="{36A89A1D-31F6-4DAA-A742-A108FE3D2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5588" y="37750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文本框 14365">
            <a:extLst>
              <a:ext uri="{FF2B5EF4-FFF2-40B4-BE49-F238E27FC236}">
                <a16:creationId xmlns:a16="http://schemas.microsoft.com/office/drawing/2014/main" id="{2DE54D41-E2B5-4FFD-A9F7-2EF64153C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41243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OE</a:t>
            </a:r>
          </a:p>
        </p:txBody>
      </p:sp>
      <p:sp>
        <p:nvSpPr>
          <p:cNvPr id="23575" name="直接连接符 14366">
            <a:extLst>
              <a:ext uri="{FF2B5EF4-FFF2-40B4-BE49-F238E27FC236}">
                <a16:creationId xmlns:a16="http://schemas.microsoft.com/office/drawing/2014/main" id="{56D1D787-2E81-4434-8DCD-9D426DCE8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5588" y="41560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6" name="文本框 14367">
            <a:extLst>
              <a:ext uri="{FF2B5EF4-FFF2-40B4-BE49-F238E27FC236}">
                <a16:creationId xmlns:a16="http://schemas.microsoft.com/office/drawing/2014/main" id="{A3A52DDA-59A1-45C9-B045-BC1E68DC2F26}"/>
              </a:ext>
            </a:extLst>
          </p:cNvPr>
          <p:cNvSpPr txBox="1">
            <a:spLocks noChangeArrowheads="1"/>
          </p:cNvSpPr>
          <p:nvPr/>
        </p:nvSpPr>
        <p:spPr bwMode="auto">
          <a:xfrm rot="-5346855">
            <a:off x="5245101" y="4622800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2716</a:t>
            </a:r>
          </a:p>
        </p:txBody>
      </p:sp>
      <p:sp>
        <p:nvSpPr>
          <p:cNvPr id="23577" name="直接连接符 14368">
            <a:extLst>
              <a:ext uri="{FF2B5EF4-FFF2-40B4-BE49-F238E27FC236}">
                <a16:creationId xmlns:a16="http://schemas.microsoft.com/office/drawing/2014/main" id="{CA00806D-03AD-44C9-8A50-9E6D12EF2D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788" y="3775075"/>
            <a:ext cx="0" cy="552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8" name="直接连接符 14369">
            <a:extLst>
              <a:ext uri="{FF2B5EF4-FFF2-40B4-BE49-F238E27FC236}">
                <a16:creationId xmlns:a16="http://schemas.microsoft.com/office/drawing/2014/main" id="{67DB097A-4DB1-42A9-93FF-3276BB98E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003675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9" name="矩形 14370">
            <a:extLst>
              <a:ext uri="{FF2B5EF4-FFF2-40B4-BE49-F238E27FC236}">
                <a16:creationId xmlns:a16="http://schemas.microsoft.com/office/drawing/2014/main" id="{A85F5CEF-6E76-4CBC-9FA1-A2780127C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3546475"/>
            <a:ext cx="5334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0" name="直接连接符 14371">
            <a:extLst>
              <a:ext uri="{FF2B5EF4-FFF2-40B4-BE49-F238E27FC236}">
                <a16:creationId xmlns:a16="http://schemas.microsoft.com/office/drawing/2014/main" id="{E7030E0D-4428-4866-A139-FC0AB08FF0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788" y="3165475"/>
            <a:ext cx="0" cy="287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1" name="直接连接符 14372">
            <a:extLst>
              <a:ext uri="{FF2B5EF4-FFF2-40B4-BE49-F238E27FC236}">
                <a16:creationId xmlns:a16="http://schemas.microsoft.com/office/drawing/2014/main" id="{F63466C4-71F4-4759-8016-DAD2C91D1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165475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2" name="文本框 14373">
            <a:extLst>
              <a:ext uri="{FF2B5EF4-FFF2-40B4-BE49-F238E27FC236}">
                <a16:creationId xmlns:a16="http://schemas.microsoft.com/office/drawing/2014/main" id="{AA2CBB47-BE89-452E-988B-6D8B4AC22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38" y="407035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83" name="直接连接符 14374">
            <a:extLst>
              <a:ext uri="{FF2B5EF4-FFF2-40B4-BE49-F238E27FC236}">
                <a16:creationId xmlns:a16="http://schemas.microsoft.com/office/drawing/2014/main" id="{F7860DDE-3D17-47BA-8FE8-A740A2F3D7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8563" y="2632075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4" name="直接连接符 14375">
            <a:extLst>
              <a:ext uri="{FF2B5EF4-FFF2-40B4-BE49-F238E27FC236}">
                <a16:creationId xmlns:a16="http://schemas.microsoft.com/office/drawing/2014/main" id="{7FE4961E-37EA-4C30-A5DA-A2D9CD293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8" y="2327275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5" name="直接连接符 14376">
            <a:extLst>
              <a:ext uri="{FF2B5EF4-FFF2-40B4-BE49-F238E27FC236}">
                <a16:creationId xmlns:a16="http://schemas.microsoft.com/office/drawing/2014/main" id="{A099771A-F7A8-45B0-AF06-0000510AF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8563" y="2632075"/>
            <a:ext cx="18002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6" name="矩形 14377">
            <a:extLst>
              <a:ext uri="{FF2B5EF4-FFF2-40B4-BE49-F238E27FC236}">
                <a16:creationId xmlns:a16="http://schemas.microsoft.com/office/drawing/2014/main" id="{026D0F33-03BB-4D03-89CE-662EEB5C6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4003675"/>
            <a:ext cx="6477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7" name="直接连接符 14378">
            <a:extLst>
              <a:ext uri="{FF2B5EF4-FFF2-40B4-BE49-F238E27FC236}">
                <a16:creationId xmlns:a16="http://schemas.microsoft.com/office/drawing/2014/main" id="{2D388292-F64F-43AB-9DA7-C0796185B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15607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8" name="直接连接符 14379">
            <a:extLst>
              <a:ext uri="{FF2B5EF4-FFF2-40B4-BE49-F238E27FC236}">
                <a16:creationId xmlns:a16="http://schemas.microsoft.com/office/drawing/2014/main" id="{87634A9E-3A56-472B-808A-1051DDE75C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2188" y="2479675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9" name="矩形 14380">
            <a:extLst>
              <a:ext uri="{FF2B5EF4-FFF2-40B4-BE49-F238E27FC236}">
                <a16:creationId xmlns:a16="http://schemas.microsoft.com/office/drawing/2014/main" id="{34750CD6-0E54-4621-9D1D-E293276DE48C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3887788" y="3089275"/>
            <a:ext cx="16764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90" name="直接连接符 14381">
            <a:extLst>
              <a:ext uri="{FF2B5EF4-FFF2-40B4-BE49-F238E27FC236}">
                <a16:creationId xmlns:a16="http://schemas.microsoft.com/office/drawing/2014/main" id="{1C506585-F4DF-46A8-A810-AA84306AD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0036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1" name="直接连接符 14382">
            <a:extLst>
              <a:ext uri="{FF2B5EF4-FFF2-40B4-BE49-F238E27FC236}">
                <a16:creationId xmlns:a16="http://schemas.microsoft.com/office/drawing/2014/main" id="{D189B688-EDE7-4AA8-BA1D-0AF668A19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2305050"/>
            <a:ext cx="0" cy="169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2" name="直接连接符 14383">
            <a:extLst>
              <a:ext uri="{FF2B5EF4-FFF2-40B4-BE49-F238E27FC236}">
                <a16:creationId xmlns:a16="http://schemas.microsoft.com/office/drawing/2014/main" id="{0D53AED6-BA2D-4E9C-9744-235FFD5A6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788" y="26320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3" name="直接连接符 14384">
            <a:extLst>
              <a:ext uri="{FF2B5EF4-FFF2-40B4-BE49-F238E27FC236}">
                <a16:creationId xmlns:a16="http://schemas.microsoft.com/office/drawing/2014/main" id="{76AF5460-DDCB-43CE-8DB8-7D1A0FC63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3851275"/>
            <a:ext cx="374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4" name="直接连接符 14385">
            <a:extLst>
              <a:ext uri="{FF2B5EF4-FFF2-40B4-BE49-F238E27FC236}">
                <a16:creationId xmlns:a16="http://schemas.microsoft.com/office/drawing/2014/main" id="{54BD81F9-DBB8-44DE-8FC6-02FC8385D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3851275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5" name="直接连接符 14386">
            <a:extLst>
              <a:ext uri="{FF2B5EF4-FFF2-40B4-BE49-F238E27FC236}">
                <a16:creationId xmlns:a16="http://schemas.microsoft.com/office/drawing/2014/main" id="{8CF56B01-A2AC-4043-9C5D-F116C94B8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8588" y="5680075"/>
            <a:ext cx="198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6" name="直接连接符 14387">
            <a:extLst>
              <a:ext uri="{FF2B5EF4-FFF2-40B4-BE49-F238E27FC236}">
                <a16:creationId xmlns:a16="http://schemas.microsoft.com/office/drawing/2014/main" id="{507632D7-0DC9-4B02-A810-A5468731E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88" y="5527675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7" name="直接连接符 14388">
            <a:extLst>
              <a:ext uri="{FF2B5EF4-FFF2-40B4-BE49-F238E27FC236}">
                <a16:creationId xmlns:a16="http://schemas.microsoft.com/office/drawing/2014/main" id="{75CCEB99-2671-4249-9E54-73DA3CEE15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7388" y="4918075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8" name="直接连接符 14389">
            <a:extLst>
              <a:ext uri="{FF2B5EF4-FFF2-40B4-BE49-F238E27FC236}">
                <a16:creationId xmlns:a16="http://schemas.microsoft.com/office/drawing/2014/main" id="{D73144B9-4687-49B2-9045-F4174DC6A4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4918075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9" name="直接连接符 14390">
            <a:extLst>
              <a:ext uri="{FF2B5EF4-FFF2-40B4-BE49-F238E27FC236}">
                <a16:creationId xmlns:a16="http://schemas.microsoft.com/office/drawing/2014/main" id="{280A3E3B-68E6-4FEA-BB74-335356036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316547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0" name="直接连接符 14391">
            <a:extLst>
              <a:ext uri="{FF2B5EF4-FFF2-40B4-BE49-F238E27FC236}">
                <a16:creationId xmlns:a16="http://schemas.microsoft.com/office/drawing/2014/main" id="{C6EB1113-E541-44EE-8F7F-1D168C758B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7388" y="3165475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1" name="直接连接符 14392">
            <a:extLst>
              <a:ext uri="{FF2B5EF4-FFF2-40B4-BE49-F238E27FC236}">
                <a16:creationId xmlns:a16="http://schemas.microsoft.com/office/drawing/2014/main" id="{B6D00FC7-D1AC-47F3-B60A-8943819E7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7388" y="2327275"/>
            <a:ext cx="0" cy="831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2" name="直接连接符 14393">
            <a:extLst>
              <a:ext uri="{FF2B5EF4-FFF2-40B4-BE49-F238E27FC236}">
                <a16:creationId xmlns:a16="http://schemas.microsoft.com/office/drawing/2014/main" id="{B499CC3A-81E2-4887-829C-A6B7D63CF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3788" y="2335213"/>
            <a:ext cx="213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3" name="直接连接符 14394">
            <a:extLst>
              <a:ext uri="{FF2B5EF4-FFF2-40B4-BE49-F238E27FC236}">
                <a16:creationId xmlns:a16="http://schemas.microsoft.com/office/drawing/2014/main" id="{2B2F12D0-F111-4BC2-8D9F-36E5FF019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2327275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4" name="矩形 14395">
            <a:extLst>
              <a:ext uri="{FF2B5EF4-FFF2-40B4-BE49-F238E27FC236}">
                <a16:creationId xmlns:a16="http://schemas.microsoft.com/office/drawing/2014/main" id="{10E5FFBE-8753-4616-8D0A-67B6CD91F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354263"/>
            <a:ext cx="1690687" cy="1254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05" name="直接连接符 14396">
            <a:extLst>
              <a:ext uri="{FF2B5EF4-FFF2-40B4-BE49-F238E27FC236}">
                <a16:creationId xmlns:a16="http://schemas.microsoft.com/office/drawing/2014/main" id="{BF73C560-3EC3-455E-A644-200AC18D4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2479675"/>
            <a:ext cx="15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6" name="矩形 14397">
            <a:extLst>
              <a:ext uri="{FF2B5EF4-FFF2-40B4-BE49-F238E27FC236}">
                <a16:creationId xmlns:a16="http://schemas.microsoft.com/office/drawing/2014/main" id="{D7E4E4D9-89B9-4679-98C5-934415B43EF7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5805488" y="2873375"/>
            <a:ext cx="118745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07" name="右箭头 14398">
            <a:extLst>
              <a:ext uri="{FF2B5EF4-FFF2-40B4-BE49-F238E27FC236}">
                <a16:creationId xmlns:a16="http://schemas.microsoft.com/office/drawing/2014/main" id="{0ABE43AE-0CE7-4EFA-8349-4604FD07A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363" y="368935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08" name="文本框 14399">
            <a:extLst>
              <a:ext uri="{FF2B5EF4-FFF2-40B4-BE49-F238E27FC236}">
                <a16:creationId xmlns:a16="http://schemas.microsoft.com/office/drawing/2014/main" id="{7A69D4FD-FE63-44AC-94FF-FE8749571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4479925"/>
            <a:ext cx="5603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7-0</a:t>
            </a:r>
          </a:p>
        </p:txBody>
      </p:sp>
      <p:sp>
        <p:nvSpPr>
          <p:cNvPr id="23609" name="直接连接符 14400">
            <a:extLst>
              <a:ext uri="{FF2B5EF4-FFF2-40B4-BE49-F238E27FC236}">
                <a16:creationId xmlns:a16="http://schemas.microsoft.com/office/drawing/2014/main" id="{C416018F-0477-4E82-B267-6459B11300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6188" y="2479675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0" name="直接连接符 14401">
            <a:extLst>
              <a:ext uri="{FF2B5EF4-FFF2-40B4-BE49-F238E27FC236}">
                <a16:creationId xmlns:a16="http://schemas.microsoft.com/office/drawing/2014/main" id="{D3D768B1-3DD2-4A21-B145-7DE7BA7D4A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8588" y="2327275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1" name="右箭头 14402">
            <a:extLst>
              <a:ext uri="{FF2B5EF4-FFF2-40B4-BE49-F238E27FC236}">
                <a16:creationId xmlns:a16="http://schemas.microsoft.com/office/drawing/2014/main" id="{917E64BA-F48D-4680-85F3-2700C59F6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089275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12" name="文本框 14403">
            <a:extLst>
              <a:ext uri="{FF2B5EF4-FFF2-40B4-BE49-F238E27FC236}">
                <a16:creationId xmlns:a16="http://schemas.microsoft.com/office/drawing/2014/main" id="{E478A931-7E5A-4F1C-9171-0EFC8813E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2562225"/>
            <a:ext cx="5667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15-8</a:t>
            </a:r>
          </a:p>
        </p:txBody>
      </p:sp>
      <p:sp>
        <p:nvSpPr>
          <p:cNvPr id="23613" name="文本框 14404">
            <a:extLst>
              <a:ext uri="{FF2B5EF4-FFF2-40B4-BE49-F238E27FC236}">
                <a16:creationId xmlns:a16="http://schemas.microsoft.com/office/drawing/2014/main" id="{D842D447-8BE2-4F9D-93F5-92D6C2080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3306763"/>
            <a:ext cx="793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数据</a:t>
            </a:r>
          </a:p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输出</a:t>
            </a:r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3614" name="组合 14405">
            <a:extLst>
              <a:ext uri="{FF2B5EF4-FFF2-40B4-BE49-F238E27FC236}">
                <a16:creationId xmlns:a16="http://schemas.microsoft.com/office/drawing/2014/main" id="{F5DD04C4-BA53-447E-B254-1DA72EC2C6FC}"/>
              </a:ext>
            </a:extLst>
          </p:cNvPr>
          <p:cNvGrpSpPr>
            <a:grpSpLocks/>
          </p:cNvGrpSpPr>
          <p:nvPr/>
        </p:nvGrpSpPr>
        <p:grpSpPr bwMode="auto">
          <a:xfrm>
            <a:off x="1658938" y="2670175"/>
            <a:ext cx="514350" cy="457200"/>
            <a:chOff x="0" y="0"/>
            <a:chExt cx="324" cy="288"/>
          </a:xfrm>
        </p:grpSpPr>
        <p:sp>
          <p:nvSpPr>
            <p:cNvPr id="23666" name="文本框 14406">
              <a:extLst>
                <a:ext uri="{FF2B5EF4-FFF2-40B4-BE49-F238E27FC236}">
                  <a16:creationId xmlns:a16="http://schemas.microsoft.com/office/drawing/2014/main" id="{0E1E71B8-1B85-45C0-8CEB-A69BCBCA4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en-US" altLang="zh-CN" sz="1400">
                  <a:latin typeface="楷体_GB2312" pitchFamily="49" charset="-122"/>
                  <a:ea typeface="楷体_GB2312" pitchFamily="49" charset="-122"/>
                </a:rPr>
                <a:t>11</a:t>
              </a:r>
              <a:endParaRPr lang="en-US" altLang="zh-CN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3667" name="直接连接符 14407">
              <a:extLst>
                <a:ext uri="{FF2B5EF4-FFF2-40B4-BE49-F238E27FC236}">
                  <a16:creationId xmlns:a16="http://schemas.microsoft.com/office/drawing/2014/main" id="{A1355758-4F44-4313-B2B9-5D3F10470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" y="48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615" name="文本框 14408">
            <a:extLst>
              <a:ext uri="{FF2B5EF4-FFF2-40B4-BE49-F238E27FC236}">
                <a16:creationId xmlns:a16="http://schemas.microsoft.com/office/drawing/2014/main" id="{9B698292-7D2F-4F86-8B28-0720E7013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5743575"/>
            <a:ext cx="6319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组合</a:t>
            </a:r>
            <a:r>
              <a:rPr lang="en-US" altLang="zh-CN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2K*8</a:t>
            </a:r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的存储器构成一个</a:t>
            </a:r>
            <a:r>
              <a:rPr lang="en-US" altLang="zh-CN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4K*16</a:t>
            </a:r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的存储器</a:t>
            </a:r>
          </a:p>
        </p:txBody>
      </p:sp>
      <p:sp>
        <p:nvSpPr>
          <p:cNvPr id="23616" name="直接连接符 14409">
            <a:extLst>
              <a:ext uri="{FF2B5EF4-FFF2-40B4-BE49-F238E27FC236}">
                <a16:creationId xmlns:a16="http://schemas.microsoft.com/office/drawing/2014/main" id="{FA240303-C165-4B5B-AF0B-8C289B73F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15607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7" name="直接连接符 14410">
            <a:extLst>
              <a:ext uri="{FF2B5EF4-FFF2-40B4-BE49-F238E27FC236}">
                <a16:creationId xmlns:a16="http://schemas.microsoft.com/office/drawing/2014/main" id="{E11E9551-D32E-4662-B0B8-757DBBA037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2188" y="2479675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8" name="直接连接符 14411">
            <a:extLst>
              <a:ext uri="{FF2B5EF4-FFF2-40B4-BE49-F238E27FC236}">
                <a16:creationId xmlns:a16="http://schemas.microsoft.com/office/drawing/2014/main" id="{84A92AF4-B891-4F39-8FEB-5D50EC457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0036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9" name="直接连接符 14412">
            <a:extLst>
              <a:ext uri="{FF2B5EF4-FFF2-40B4-BE49-F238E27FC236}">
                <a16:creationId xmlns:a16="http://schemas.microsoft.com/office/drawing/2014/main" id="{1953C5F3-BFBB-455C-B4BA-7149B4D82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2305050"/>
            <a:ext cx="0" cy="169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0" name="直接连接符 14413">
            <a:extLst>
              <a:ext uri="{FF2B5EF4-FFF2-40B4-BE49-F238E27FC236}">
                <a16:creationId xmlns:a16="http://schemas.microsoft.com/office/drawing/2014/main" id="{CA759537-2297-4A5E-A8C7-3BD3D1813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2327275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1" name="直接连接符 14414">
            <a:extLst>
              <a:ext uri="{FF2B5EF4-FFF2-40B4-BE49-F238E27FC236}">
                <a16:creationId xmlns:a16="http://schemas.microsoft.com/office/drawing/2014/main" id="{57E5DB78-3432-4BE1-8672-AE3A00488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2479675"/>
            <a:ext cx="15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2" name="直接连接符 14415">
            <a:extLst>
              <a:ext uri="{FF2B5EF4-FFF2-40B4-BE49-F238E27FC236}">
                <a16:creationId xmlns:a16="http://schemas.microsoft.com/office/drawing/2014/main" id="{8D30D149-6ABD-400E-9ED9-12F16BD8A9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6188" y="2479675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3" name="直接连接符 14416">
            <a:extLst>
              <a:ext uri="{FF2B5EF4-FFF2-40B4-BE49-F238E27FC236}">
                <a16:creationId xmlns:a16="http://schemas.microsoft.com/office/drawing/2014/main" id="{89E29421-55C5-4951-97A7-EC1490FA4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8588" y="2327275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4" name="文本框 14417">
            <a:extLst>
              <a:ext uri="{FF2B5EF4-FFF2-40B4-BE49-F238E27FC236}">
                <a16:creationId xmlns:a16="http://schemas.microsoft.com/office/drawing/2014/main" id="{4DD74757-C1E6-4FB3-91D5-2009538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438" y="3532188"/>
            <a:ext cx="93634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1400" dirty="0">
                <a:latin typeface="楷体_GB2312" pitchFamily="49" charset="-122"/>
                <a:ea typeface="楷体_GB2312" pitchFamily="49" charset="-122"/>
              </a:rPr>
              <a:t>15-0</a:t>
            </a:r>
          </a:p>
        </p:txBody>
      </p:sp>
      <p:sp>
        <p:nvSpPr>
          <p:cNvPr id="23625" name="直接连接符 14418">
            <a:extLst>
              <a:ext uri="{FF2B5EF4-FFF2-40B4-BE49-F238E27FC236}">
                <a16:creationId xmlns:a16="http://schemas.microsoft.com/office/drawing/2014/main" id="{B7D35F99-8A7E-4854-BB01-0BA6F2BFE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914650"/>
            <a:ext cx="0" cy="14224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6" name="直接连接符 14419">
            <a:extLst>
              <a:ext uri="{FF2B5EF4-FFF2-40B4-BE49-F238E27FC236}">
                <a16:creationId xmlns:a16="http://schemas.microsoft.com/office/drawing/2014/main" id="{E7BFA130-F79F-473E-8945-B4BB9837E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525" y="2927350"/>
            <a:ext cx="68580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7" name="直接连接符 14420">
            <a:extLst>
              <a:ext uri="{FF2B5EF4-FFF2-40B4-BE49-F238E27FC236}">
                <a16:creationId xmlns:a16="http://schemas.microsoft.com/office/drawing/2014/main" id="{DB3E2B58-7F2A-4103-BD82-E384B35E8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525" y="2914650"/>
            <a:ext cx="0" cy="827088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8" name="直接连接符 14421">
            <a:extLst>
              <a:ext uri="{FF2B5EF4-FFF2-40B4-BE49-F238E27FC236}">
                <a16:creationId xmlns:a16="http://schemas.microsoft.com/office/drawing/2014/main" id="{469E6265-6FE0-4A81-87D2-9352341613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1425" y="4327525"/>
            <a:ext cx="333375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9" name="直接连接符 14422">
            <a:extLst>
              <a:ext uri="{FF2B5EF4-FFF2-40B4-BE49-F238E27FC236}">
                <a16:creationId xmlns:a16="http://schemas.microsoft.com/office/drawing/2014/main" id="{3FE764FE-2642-4FCA-A224-F60F499BE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1725" y="2847975"/>
            <a:ext cx="0" cy="142240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0" name="直接连接符 14423">
            <a:extLst>
              <a:ext uri="{FF2B5EF4-FFF2-40B4-BE49-F238E27FC236}">
                <a16:creationId xmlns:a16="http://schemas.microsoft.com/office/drawing/2014/main" id="{E48EB565-9AB4-408B-9843-B0844FE3C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450" y="2860675"/>
            <a:ext cx="685800" cy="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1" name="直接连接符 14424">
            <a:extLst>
              <a:ext uri="{FF2B5EF4-FFF2-40B4-BE49-F238E27FC236}">
                <a16:creationId xmlns:a16="http://schemas.microsoft.com/office/drawing/2014/main" id="{46EB2825-ABD1-4708-ADC5-6C7FDC719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450" y="2847975"/>
            <a:ext cx="0" cy="827088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2" name="直接连接符 14425">
            <a:extLst>
              <a:ext uri="{FF2B5EF4-FFF2-40B4-BE49-F238E27FC236}">
                <a16:creationId xmlns:a16="http://schemas.microsoft.com/office/drawing/2014/main" id="{1621415F-BF6F-4731-944C-E0AAD218F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8350" y="4260850"/>
            <a:ext cx="333375" cy="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3" name="椭圆 14426">
            <a:extLst>
              <a:ext uri="{FF2B5EF4-FFF2-40B4-BE49-F238E27FC236}">
                <a16:creationId xmlns:a16="http://schemas.microsoft.com/office/drawing/2014/main" id="{0F1F8D7E-5FCE-478E-8AA8-0AEAC623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513" y="3460750"/>
            <a:ext cx="71437" cy="714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34" name="直接连接符 14427">
            <a:extLst>
              <a:ext uri="{FF2B5EF4-FFF2-40B4-BE49-F238E27FC236}">
                <a16:creationId xmlns:a16="http://schemas.microsoft.com/office/drawing/2014/main" id="{57BE3E4F-6523-4F06-B55C-CCA94BF80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3117850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5" name="直接连接符 14428">
            <a:extLst>
              <a:ext uri="{FF2B5EF4-FFF2-40B4-BE49-F238E27FC236}">
                <a16:creationId xmlns:a16="http://schemas.microsoft.com/office/drawing/2014/main" id="{7D94C701-23CD-48EA-8BCB-393125BD0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3498850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6" name="直接连接符 14429">
            <a:extLst>
              <a:ext uri="{FF2B5EF4-FFF2-40B4-BE49-F238E27FC236}">
                <a16:creationId xmlns:a16="http://schemas.microsoft.com/office/drawing/2014/main" id="{5356AE96-8B36-4EB0-9A79-B269AEF31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4663" y="30511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7" name="直接连接符 14430">
            <a:extLst>
              <a:ext uri="{FF2B5EF4-FFF2-40B4-BE49-F238E27FC236}">
                <a16:creationId xmlns:a16="http://schemas.microsoft.com/office/drawing/2014/main" id="{B41FA481-E52A-4ADD-BBC2-ADF270599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4663" y="34321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8" name="直接连接符 14431">
            <a:extLst>
              <a:ext uri="{FF2B5EF4-FFF2-40B4-BE49-F238E27FC236}">
                <a16:creationId xmlns:a16="http://schemas.microsoft.com/office/drawing/2014/main" id="{61215F5D-70A9-4164-9D2F-AFF26FC21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4829175"/>
            <a:ext cx="395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9" name="直接连接符 14432">
            <a:extLst>
              <a:ext uri="{FF2B5EF4-FFF2-40B4-BE49-F238E27FC236}">
                <a16:creationId xmlns:a16="http://schemas.microsoft.com/office/drawing/2014/main" id="{7E18C363-20C4-4278-818E-D0E3B60BD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41900"/>
            <a:ext cx="539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0" name="直接连接符 14433">
            <a:extLst>
              <a:ext uri="{FF2B5EF4-FFF2-40B4-BE49-F238E27FC236}">
                <a16:creationId xmlns:a16="http://schemas.microsoft.com/office/drawing/2014/main" id="{A68BE03A-62B2-4CAB-8D35-0B2B633F7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2588" y="4176713"/>
            <a:ext cx="0" cy="642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1" name="直接连接符 14434">
            <a:extLst>
              <a:ext uri="{FF2B5EF4-FFF2-40B4-BE49-F238E27FC236}">
                <a16:creationId xmlns:a16="http://schemas.microsoft.com/office/drawing/2014/main" id="{43B00B59-20CA-4D7F-BA85-0F060CBB3C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750" y="4119563"/>
            <a:ext cx="0" cy="935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2" name="矩形 14435">
            <a:extLst>
              <a:ext uri="{FF2B5EF4-FFF2-40B4-BE49-F238E27FC236}">
                <a16:creationId xmlns:a16="http://schemas.microsoft.com/office/drawing/2014/main" id="{960E6500-7EBD-48FD-AF87-FCB7B8F29677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3915569" y="4428332"/>
            <a:ext cx="719137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43" name="矩形 14436">
            <a:extLst>
              <a:ext uri="{FF2B5EF4-FFF2-40B4-BE49-F238E27FC236}">
                <a16:creationId xmlns:a16="http://schemas.microsoft.com/office/drawing/2014/main" id="{926A2917-2CD0-40EF-9664-14829264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4860925"/>
            <a:ext cx="53975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44" name="直接连接符 14437">
            <a:extLst>
              <a:ext uri="{FF2B5EF4-FFF2-40B4-BE49-F238E27FC236}">
                <a16:creationId xmlns:a16="http://schemas.microsoft.com/office/drawing/2014/main" id="{16BEE8EC-8666-4633-A61D-8B1B9F2A2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263" y="4838700"/>
            <a:ext cx="395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5" name="直接连接符 14438">
            <a:extLst>
              <a:ext uri="{FF2B5EF4-FFF2-40B4-BE49-F238E27FC236}">
                <a16:creationId xmlns:a16="http://schemas.microsoft.com/office/drawing/2014/main" id="{936D0E12-E6D1-4862-B6AF-61549F9B1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263" y="5051425"/>
            <a:ext cx="539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6" name="直接连接符 14439">
            <a:extLst>
              <a:ext uri="{FF2B5EF4-FFF2-40B4-BE49-F238E27FC236}">
                <a16:creationId xmlns:a16="http://schemas.microsoft.com/office/drawing/2014/main" id="{73FA1A20-680F-405B-A743-E89D1802A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7613" y="4186238"/>
            <a:ext cx="0" cy="642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7" name="直接连接符 14440">
            <a:extLst>
              <a:ext uri="{FF2B5EF4-FFF2-40B4-BE49-F238E27FC236}">
                <a16:creationId xmlns:a16="http://schemas.microsoft.com/office/drawing/2014/main" id="{09A5F586-E5A7-45C1-AB2B-CCB0396CE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4775" y="4129088"/>
            <a:ext cx="0" cy="935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8" name="矩形 14441">
            <a:extLst>
              <a:ext uri="{FF2B5EF4-FFF2-40B4-BE49-F238E27FC236}">
                <a16:creationId xmlns:a16="http://schemas.microsoft.com/office/drawing/2014/main" id="{FA1563C2-C264-44DA-9EB0-3439A15490E6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6020594" y="4437857"/>
            <a:ext cx="719137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49" name="矩形 14442">
            <a:extLst>
              <a:ext uri="{FF2B5EF4-FFF2-40B4-BE49-F238E27FC236}">
                <a16:creationId xmlns:a16="http://schemas.microsoft.com/office/drawing/2014/main" id="{7FCA97BA-FECF-47F7-BCA6-E304C5A5B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563" y="4870450"/>
            <a:ext cx="53975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50" name="直接连接符 14443">
            <a:extLst>
              <a:ext uri="{FF2B5EF4-FFF2-40B4-BE49-F238E27FC236}">
                <a16:creationId xmlns:a16="http://schemas.microsoft.com/office/drawing/2014/main" id="{8B1C89A5-92F6-4513-8DFC-5F71303B5E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4188" y="4327525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1" name="直接连接符 14444">
            <a:extLst>
              <a:ext uri="{FF2B5EF4-FFF2-40B4-BE49-F238E27FC236}">
                <a16:creationId xmlns:a16="http://schemas.microsoft.com/office/drawing/2014/main" id="{006B65E6-D642-4348-95F0-21323E8E9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3632200"/>
            <a:ext cx="0" cy="97155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2" name="直接连接符 14445">
            <a:extLst>
              <a:ext uri="{FF2B5EF4-FFF2-40B4-BE49-F238E27FC236}">
                <a16:creationId xmlns:a16="http://schemas.microsoft.com/office/drawing/2014/main" id="{E79BF0BE-918B-4174-A429-A16B20302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863" y="4384675"/>
            <a:ext cx="5762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3" name="直接连接符 14446">
            <a:extLst>
              <a:ext uri="{FF2B5EF4-FFF2-40B4-BE49-F238E27FC236}">
                <a16:creationId xmlns:a16="http://schemas.microsoft.com/office/drawing/2014/main" id="{442BB5EC-57AA-4E01-B568-8784FA78F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3622675"/>
            <a:ext cx="827087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4" name="直接连接符 14447">
            <a:extLst>
              <a:ext uri="{FF2B5EF4-FFF2-40B4-BE49-F238E27FC236}">
                <a16:creationId xmlns:a16="http://schemas.microsoft.com/office/drawing/2014/main" id="{8519549F-F963-4AAC-8D0B-4CBFFAA4F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863" y="4908550"/>
            <a:ext cx="0" cy="3603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5" name="直接连接符 14448">
            <a:extLst>
              <a:ext uri="{FF2B5EF4-FFF2-40B4-BE49-F238E27FC236}">
                <a16:creationId xmlns:a16="http://schemas.microsoft.com/office/drawing/2014/main" id="{FDD013FE-2112-4EF9-A812-2E549238A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5245100"/>
            <a:ext cx="9001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6" name="文本框 14449">
            <a:extLst>
              <a:ext uri="{FF2B5EF4-FFF2-40B4-BE49-F238E27FC236}">
                <a16:creationId xmlns:a16="http://schemas.microsoft.com/office/drawing/2014/main" id="{74CAC9C4-6293-4A3C-83E2-B03DBE2FE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5084763"/>
            <a:ext cx="6842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RD</a:t>
            </a:r>
          </a:p>
        </p:txBody>
      </p:sp>
      <p:sp>
        <p:nvSpPr>
          <p:cNvPr id="23657" name="直接连接符 14450">
            <a:extLst>
              <a:ext uri="{FF2B5EF4-FFF2-40B4-BE49-F238E27FC236}">
                <a16:creationId xmlns:a16="http://schemas.microsoft.com/office/drawing/2014/main" id="{A5F4EC19-DAB2-4B70-9164-3E041DA63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9838" y="5103813"/>
            <a:ext cx="287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8" name="直接连接符 14451">
            <a:extLst>
              <a:ext uri="{FF2B5EF4-FFF2-40B4-BE49-F238E27FC236}">
                <a16:creationId xmlns:a16="http://schemas.microsoft.com/office/drawing/2014/main" id="{FAD2F179-E069-4CFD-99C1-33BCAC561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63" y="3584575"/>
            <a:ext cx="0" cy="97155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9" name="直接连接符 14452">
            <a:extLst>
              <a:ext uri="{FF2B5EF4-FFF2-40B4-BE49-F238E27FC236}">
                <a16:creationId xmlns:a16="http://schemas.microsoft.com/office/drawing/2014/main" id="{5567F157-3247-4E78-94C1-693DC69F2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63" y="4337050"/>
            <a:ext cx="3603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0" name="直接连接符 14453">
            <a:extLst>
              <a:ext uri="{FF2B5EF4-FFF2-40B4-BE49-F238E27FC236}">
                <a16:creationId xmlns:a16="http://schemas.microsoft.com/office/drawing/2014/main" id="{0EA70A2A-D05C-4E3B-A228-6E4468DFB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013" y="3575050"/>
            <a:ext cx="5762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1" name="直接连接符 14454">
            <a:extLst>
              <a:ext uri="{FF2B5EF4-FFF2-40B4-BE49-F238E27FC236}">
                <a16:creationId xmlns:a16="http://schemas.microsoft.com/office/drawing/2014/main" id="{A7B31A7D-673F-4004-B01C-F38993D25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438" y="4918075"/>
            <a:ext cx="0" cy="3603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2" name="直接连接符 14455">
            <a:extLst>
              <a:ext uri="{FF2B5EF4-FFF2-40B4-BE49-F238E27FC236}">
                <a16:creationId xmlns:a16="http://schemas.microsoft.com/office/drawing/2014/main" id="{A38AA28B-027E-4410-8F4B-E89973D06C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863" y="5260975"/>
            <a:ext cx="85725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3" name="直接连接符 14456">
            <a:extLst>
              <a:ext uri="{FF2B5EF4-FFF2-40B4-BE49-F238E27FC236}">
                <a16:creationId xmlns:a16="http://schemas.microsoft.com/office/drawing/2014/main" id="{36DFFE3E-9CC2-47FF-A544-8C7B7775C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5280025"/>
            <a:ext cx="16557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4" name="直接连接符 14457">
            <a:extLst>
              <a:ext uri="{FF2B5EF4-FFF2-40B4-BE49-F238E27FC236}">
                <a16:creationId xmlns:a16="http://schemas.microsoft.com/office/drawing/2014/main" id="{0497E040-0DDF-467A-92A0-50E842171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5268913"/>
            <a:ext cx="24765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5" name="灯片编号占位符 1">
            <a:extLst>
              <a:ext uri="{FF2B5EF4-FFF2-40B4-BE49-F238E27FC236}">
                <a16:creationId xmlns:a16="http://schemas.microsoft.com/office/drawing/2014/main" id="{7C7A4CC0-9457-4447-8CA0-311BE0E0E03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27DFADA-8A67-4F37-90F0-685BD089A0EA}" type="slidenum">
              <a:rPr altLang="en-US" smtClean="0">
                <a:latin typeface="Times New Roman" panose="02020603050405020304" pitchFamily="18" charset="0"/>
              </a:rPr>
              <a:pPr/>
              <a:t>19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15361">
            <a:extLst>
              <a:ext uri="{FF2B5EF4-FFF2-40B4-BE49-F238E27FC236}">
                <a16:creationId xmlns:a16="http://schemas.microsoft.com/office/drawing/2014/main" id="{38947B37-9CD4-42D7-8EA2-EFDCF6B2F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285750"/>
            <a:ext cx="82200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FF00"/>
                </a:solidFill>
                <a:latin typeface="Tahoma" panose="020B0604030504040204" pitchFamily="34" charset="0"/>
              </a:rPr>
              <a:t>  2.2存储器的字扩展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u="sng">
                <a:solidFill>
                  <a:srgbClr val="FF6600"/>
                </a:solidFill>
                <a:latin typeface="Tahoma" panose="020B0604030504040204" pitchFamily="34" charset="0"/>
              </a:rPr>
              <a:t>字扩展</a:t>
            </a:r>
            <a:r>
              <a:rPr lang="zh-CN" altLang="en-US" sz="2800">
                <a:latin typeface="Tahoma" panose="020B0604030504040204" pitchFamily="34" charset="0"/>
              </a:rPr>
              <a:t>是指增加存储器的字的数量，如4片1K*8的存储器，可组成4K*8的存储器，即存储器的容量增加到原来的四倍</a:t>
            </a:r>
          </a:p>
        </p:txBody>
      </p:sp>
      <p:sp>
        <p:nvSpPr>
          <p:cNvPr id="24579" name="直接连接符 15362">
            <a:extLst>
              <a:ext uri="{FF2B5EF4-FFF2-40B4-BE49-F238E27FC236}">
                <a16:creationId xmlns:a16="http://schemas.microsoft.com/office/drawing/2014/main" id="{8181E2CE-82A0-4622-A903-EE842BF5D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2581275"/>
            <a:ext cx="571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直接连接符 15363">
            <a:extLst>
              <a:ext uri="{FF2B5EF4-FFF2-40B4-BE49-F238E27FC236}">
                <a16:creationId xmlns:a16="http://schemas.microsoft.com/office/drawing/2014/main" id="{01DA4FA0-68EA-419C-9681-5A4CB0E30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100" y="25812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矩形 15364">
            <a:extLst>
              <a:ext uri="{FF2B5EF4-FFF2-40B4-BE49-F238E27FC236}">
                <a16:creationId xmlns:a16="http://schemas.microsoft.com/office/drawing/2014/main" id="{29DAAF32-2E60-4D18-8E87-FE14B828D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3114675"/>
            <a:ext cx="914400" cy="1905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EPROM</a:t>
            </a:r>
          </a:p>
        </p:txBody>
      </p:sp>
      <p:sp>
        <p:nvSpPr>
          <p:cNvPr id="24582" name="文本框 15365">
            <a:extLst>
              <a:ext uri="{FF2B5EF4-FFF2-40B4-BE49-F238E27FC236}">
                <a16:creationId xmlns:a16="http://schemas.microsoft.com/office/drawing/2014/main" id="{357C62EF-89FE-4BD5-B993-09E5556BD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0" y="4702175"/>
            <a:ext cx="498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CE</a:t>
            </a:r>
          </a:p>
        </p:txBody>
      </p:sp>
      <p:sp>
        <p:nvSpPr>
          <p:cNvPr id="24583" name="直接连接符 15366">
            <a:extLst>
              <a:ext uri="{FF2B5EF4-FFF2-40B4-BE49-F238E27FC236}">
                <a16:creationId xmlns:a16="http://schemas.microsoft.com/office/drawing/2014/main" id="{1143CBCA-0839-4B15-AB77-F387B7898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7529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584" name="组合 15367">
            <a:extLst>
              <a:ext uri="{FF2B5EF4-FFF2-40B4-BE49-F238E27FC236}">
                <a16:creationId xmlns:a16="http://schemas.microsoft.com/office/drawing/2014/main" id="{D5E365A7-6A15-49DA-B7B2-9D2EF9AEB9E5}"/>
              </a:ext>
            </a:extLst>
          </p:cNvPr>
          <p:cNvGrpSpPr>
            <a:grpSpLocks/>
          </p:cNvGrpSpPr>
          <p:nvPr/>
        </p:nvGrpSpPr>
        <p:grpSpPr bwMode="auto">
          <a:xfrm>
            <a:off x="2476500" y="3190875"/>
            <a:ext cx="511175" cy="366713"/>
            <a:chOff x="0" y="0"/>
            <a:chExt cx="322" cy="231"/>
          </a:xfrm>
        </p:grpSpPr>
        <p:sp>
          <p:nvSpPr>
            <p:cNvPr id="24694" name="文本框 15368">
              <a:extLst>
                <a:ext uri="{FF2B5EF4-FFF2-40B4-BE49-F238E27FC236}">
                  <a16:creationId xmlns:a16="http://schemas.microsoft.com/office/drawing/2014/main" id="{4FC30E96-D70A-4F2B-B0C6-5971F943B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OE</a:t>
              </a:r>
            </a:p>
          </p:txBody>
        </p:sp>
        <p:sp>
          <p:nvSpPr>
            <p:cNvPr id="24695" name="直接连接符 15369">
              <a:extLst>
                <a:ext uri="{FF2B5EF4-FFF2-40B4-BE49-F238E27FC236}">
                  <a16:creationId xmlns:a16="http://schemas.microsoft.com/office/drawing/2014/main" id="{965C7220-EE3F-4506-903B-E2E71A8DE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" y="0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5" name="文本框 15370">
            <a:extLst>
              <a:ext uri="{FF2B5EF4-FFF2-40B4-BE49-F238E27FC236}">
                <a16:creationId xmlns:a16="http://schemas.microsoft.com/office/drawing/2014/main" id="{612C2D19-E25F-48E7-9814-8083F41C3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4333875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OUT</a:t>
            </a:r>
          </a:p>
        </p:txBody>
      </p:sp>
      <p:sp>
        <p:nvSpPr>
          <p:cNvPr id="24586" name="直接连接符 15371">
            <a:extLst>
              <a:ext uri="{FF2B5EF4-FFF2-40B4-BE49-F238E27FC236}">
                <a16:creationId xmlns:a16="http://schemas.microsoft.com/office/drawing/2014/main" id="{CE2211B8-75C6-486C-91C1-33B58017E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2581275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直接连接符 15372">
            <a:extLst>
              <a:ext uri="{FF2B5EF4-FFF2-40B4-BE49-F238E27FC236}">
                <a16:creationId xmlns:a16="http://schemas.microsoft.com/office/drawing/2014/main" id="{0A760FD0-6466-41E2-BD76-1E9D7B4DF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3100" y="2581275"/>
            <a:ext cx="0" cy="3429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直接连接符 15373">
            <a:extLst>
              <a:ext uri="{FF2B5EF4-FFF2-40B4-BE49-F238E27FC236}">
                <a16:creationId xmlns:a16="http://schemas.microsoft.com/office/drawing/2014/main" id="{ED83EE70-DF2F-4036-AD2C-B09A78FD4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2581275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直接连接符 15374">
            <a:extLst>
              <a:ext uri="{FF2B5EF4-FFF2-40B4-BE49-F238E27FC236}">
                <a16:creationId xmlns:a16="http://schemas.microsoft.com/office/drawing/2014/main" id="{4ECF7D0A-32DF-4A05-A0F1-9A9AB0CB5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2962275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590" name="组合 15375">
            <a:extLst>
              <a:ext uri="{FF2B5EF4-FFF2-40B4-BE49-F238E27FC236}">
                <a16:creationId xmlns:a16="http://schemas.microsoft.com/office/drawing/2014/main" id="{A7227934-FD16-49C3-BEA6-DFD839AE898F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2962275"/>
            <a:ext cx="304800" cy="762000"/>
            <a:chOff x="0" y="0"/>
            <a:chExt cx="192" cy="480"/>
          </a:xfrm>
        </p:grpSpPr>
        <p:sp>
          <p:nvSpPr>
            <p:cNvPr id="24692" name="直接连接符 15376">
              <a:extLst>
                <a:ext uri="{FF2B5EF4-FFF2-40B4-BE49-F238E27FC236}">
                  <a16:creationId xmlns:a16="http://schemas.microsoft.com/office/drawing/2014/main" id="{6E7F749A-71FA-4C9A-97B5-5B61CE0EB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3" name="直接连接符 15377">
              <a:extLst>
                <a:ext uri="{FF2B5EF4-FFF2-40B4-BE49-F238E27FC236}">
                  <a16:creationId xmlns:a16="http://schemas.microsoft.com/office/drawing/2014/main" id="{7FE715A5-506E-489F-BF75-3061B9402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91" name="组合 15378">
            <a:extLst>
              <a:ext uri="{FF2B5EF4-FFF2-40B4-BE49-F238E27FC236}">
                <a16:creationId xmlns:a16="http://schemas.microsoft.com/office/drawing/2014/main" id="{324FB1FA-E8A1-4B3C-8CA6-DE376C3C626C}"/>
              </a:ext>
            </a:extLst>
          </p:cNvPr>
          <p:cNvGrpSpPr>
            <a:grpSpLocks/>
          </p:cNvGrpSpPr>
          <p:nvPr/>
        </p:nvGrpSpPr>
        <p:grpSpPr bwMode="auto">
          <a:xfrm>
            <a:off x="3543300" y="2962275"/>
            <a:ext cx="304800" cy="762000"/>
            <a:chOff x="0" y="0"/>
            <a:chExt cx="192" cy="480"/>
          </a:xfrm>
        </p:grpSpPr>
        <p:sp>
          <p:nvSpPr>
            <p:cNvPr id="24690" name="直接连接符 15379">
              <a:extLst>
                <a:ext uri="{FF2B5EF4-FFF2-40B4-BE49-F238E27FC236}">
                  <a16:creationId xmlns:a16="http://schemas.microsoft.com/office/drawing/2014/main" id="{EC6F26FA-F007-44E8-B24D-2B3F9B757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1" name="直接连接符 15380">
              <a:extLst>
                <a:ext uri="{FF2B5EF4-FFF2-40B4-BE49-F238E27FC236}">
                  <a16:creationId xmlns:a16="http://schemas.microsoft.com/office/drawing/2014/main" id="{C3C169D3-E6F6-4338-B157-21DC36C31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92" name="组合 15381">
            <a:extLst>
              <a:ext uri="{FF2B5EF4-FFF2-40B4-BE49-F238E27FC236}">
                <a16:creationId xmlns:a16="http://schemas.microsoft.com/office/drawing/2014/main" id="{8050E2B9-FAC1-46A6-AF62-EE78C2BB06BF}"/>
              </a:ext>
            </a:extLst>
          </p:cNvPr>
          <p:cNvGrpSpPr>
            <a:grpSpLocks/>
          </p:cNvGrpSpPr>
          <p:nvPr/>
        </p:nvGrpSpPr>
        <p:grpSpPr bwMode="auto">
          <a:xfrm>
            <a:off x="6591300" y="2962275"/>
            <a:ext cx="304800" cy="762000"/>
            <a:chOff x="0" y="0"/>
            <a:chExt cx="192" cy="480"/>
          </a:xfrm>
        </p:grpSpPr>
        <p:sp>
          <p:nvSpPr>
            <p:cNvPr id="24688" name="直接连接符 15382">
              <a:extLst>
                <a:ext uri="{FF2B5EF4-FFF2-40B4-BE49-F238E27FC236}">
                  <a16:creationId xmlns:a16="http://schemas.microsoft.com/office/drawing/2014/main" id="{2060723B-9841-472E-A79C-81B6190D0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9" name="直接连接符 15383">
              <a:extLst>
                <a:ext uri="{FF2B5EF4-FFF2-40B4-BE49-F238E27FC236}">
                  <a16:creationId xmlns:a16="http://schemas.microsoft.com/office/drawing/2014/main" id="{F3E0AA68-9FD7-4C71-9D8C-2819B8508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93" name="组合 15384">
            <a:extLst>
              <a:ext uri="{FF2B5EF4-FFF2-40B4-BE49-F238E27FC236}">
                <a16:creationId xmlns:a16="http://schemas.microsoft.com/office/drawing/2014/main" id="{ABF5E48B-E9EB-43B9-983A-0EEE1AC75D13}"/>
              </a:ext>
            </a:extLst>
          </p:cNvPr>
          <p:cNvGrpSpPr>
            <a:grpSpLocks/>
          </p:cNvGrpSpPr>
          <p:nvPr/>
        </p:nvGrpSpPr>
        <p:grpSpPr bwMode="auto">
          <a:xfrm>
            <a:off x="5067300" y="2962275"/>
            <a:ext cx="304800" cy="762000"/>
            <a:chOff x="0" y="0"/>
            <a:chExt cx="192" cy="480"/>
          </a:xfrm>
        </p:grpSpPr>
        <p:sp>
          <p:nvSpPr>
            <p:cNvPr id="24686" name="直接连接符 15385">
              <a:extLst>
                <a:ext uri="{FF2B5EF4-FFF2-40B4-BE49-F238E27FC236}">
                  <a16:creationId xmlns:a16="http://schemas.microsoft.com/office/drawing/2014/main" id="{39AFDDC5-B60B-4338-B2DC-651B04341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7" name="直接连接符 15386">
              <a:extLst>
                <a:ext uri="{FF2B5EF4-FFF2-40B4-BE49-F238E27FC236}">
                  <a16:creationId xmlns:a16="http://schemas.microsoft.com/office/drawing/2014/main" id="{03E5D27D-B85E-4D30-B363-E67BAA3C5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94" name="文本框 15387">
            <a:extLst>
              <a:ext uri="{FF2B5EF4-FFF2-40B4-BE49-F238E27FC236}">
                <a16:creationId xmlns:a16="http://schemas.microsoft.com/office/drawing/2014/main" id="{DAFCD636-D3D5-4427-B97C-E1BBD4333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3571875"/>
            <a:ext cx="549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Vcc</a:t>
            </a:r>
          </a:p>
        </p:txBody>
      </p:sp>
      <p:grpSp>
        <p:nvGrpSpPr>
          <p:cNvPr id="24595" name="组合 15388">
            <a:extLst>
              <a:ext uri="{FF2B5EF4-FFF2-40B4-BE49-F238E27FC236}">
                <a16:creationId xmlns:a16="http://schemas.microsoft.com/office/drawing/2014/main" id="{E8860A32-CEC9-4AE6-B68B-1BC568B1B120}"/>
              </a:ext>
            </a:extLst>
          </p:cNvPr>
          <p:cNvGrpSpPr>
            <a:grpSpLocks/>
          </p:cNvGrpSpPr>
          <p:nvPr/>
        </p:nvGrpSpPr>
        <p:grpSpPr bwMode="auto">
          <a:xfrm>
            <a:off x="3771900" y="3114675"/>
            <a:ext cx="1060450" cy="1966913"/>
            <a:chOff x="0" y="0"/>
            <a:chExt cx="668" cy="1239"/>
          </a:xfrm>
        </p:grpSpPr>
        <p:grpSp>
          <p:nvGrpSpPr>
            <p:cNvPr id="24676" name="组合 15389">
              <a:extLst>
                <a:ext uri="{FF2B5EF4-FFF2-40B4-BE49-F238E27FC236}">
                  <a16:creationId xmlns:a16="http://schemas.microsoft.com/office/drawing/2014/main" id="{6556DD61-3FDC-4A43-B24B-0829842046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" y="0"/>
              <a:ext cx="576" cy="1239"/>
              <a:chOff x="0" y="0"/>
              <a:chExt cx="576" cy="1239"/>
            </a:xfrm>
          </p:grpSpPr>
          <p:sp>
            <p:nvSpPr>
              <p:cNvPr id="24679" name="矩形 15390" descr="新闻纸">
                <a:extLst>
                  <a:ext uri="{FF2B5EF4-FFF2-40B4-BE49-F238E27FC236}">
                    <a16:creationId xmlns:a16="http://schemas.microsoft.com/office/drawing/2014/main" id="{E4F1F8DC-E730-4F35-A435-D3DCAABA7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" cy="120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EPROM</a:t>
                </a:r>
              </a:p>
            </p:txBody>
          </p:sp>
          <p:grpSp>
            <p:nvGrpSpPr>
              <p:cNvPr id="24680" name="组合 15391">
                <a:extLst>
                  <a:ext uri="{FF2B5EF4-FFF2-40B4-BE49-F238E27FC236}">
                    <a16:creationId xmlns:a16="http://schemas.microsoft.com/office/drawing/2014/main" id="{0AA68C16-6814-4362-8A08-B3BC54CEBE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008"/>
                <a:ext cx="314" cy="231"/>
                <a:chOff x="0" y="0"/>
                <a:chExt cx="314" cy="231"/>
              </a:xfrm>
            </p:grpSpPr>
            <p:sp>
              <p:nvSpPr>
                <p:cNvPr id="24684" name="文本框 15392">
                  <a:extLst>
                    <a:ext uri="{FF2B5EF4-FFF2-40B4-BE49-F238E27FC236}">
                      <a16:creationId xmlns:a16="http://schemas.microsoft.com/office/drawing/2014/main" id="{76BF191B-F05B-4489-85CD-C695FD07FC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1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CE</a:t>
                  </a:r>
                </a:p>
              </p:txBody>
            </p:sp>
            <p:sp>
              <p:nvSpPr>
                <p:cNvPr id="24685" name="直接连接符 15393">
                  <a:extLst>
                    <a:ext uri="{FF2B5EF4-FFF2-40B4-BE49-F238E27FC236}">
                      <a16:creationId xmlns:a16="http://schemas.microsoft.com/office/drawing/2014/main" id="{36E29FA1-A17D-4F59-A5B1-E6DCFC222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81" name="组合 15394">
                <a:extLst>
                  <a:ext uri="{FF2B5EF4-FFF2-40B4-BE49-F238E27FC236}">
                    <a16:creationId xmlns:a16="http://schemas.microsoft.com/office/drawing/2014/main" id="{F75925B4-C486-4DB4-B63E-0B5FE71E9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48"/>
                <a:ext cx="322" cy="231"/>
                <a:chOff x="0" y="0"/>
                <a:chExt cx="322" cy="231"/>
              </a:xfrm>
            </p:grpSpPr>
            <p:sp>
              <p:nvSpPr>
                <p:cNvPr id="24682" name="文本框 15395">
                  <a:extLst>
                    <a:ext uri="{FF2B5EF4-FFF2-40B4-BE49-F238E27FC236}">
                      <a16:creationId xmlns:a16="http://schemas.microsoft.com/office/drawing/2014/main" id="{DCF0F671-A4F3-498D-9894-6CB12BE6FB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2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OE</a:t>
                  </a:r>
                </a:p>
              </p:txBody>
            </p:sp>
            <p:sp>
              <p:nvSpPr>
                <p:cNvPr id="24683" name="直接连接符 15396">
                  <a:extLst>
                    <a:ext uri="{FF2B5EF4-FFF2-40B4-BE49-F238E27FC236}">
                      <a16:creationId xmlns:a16="http://schemas.microsoft.com/office/drawing/2014/main" id="{9229834F-0F28-4FCD-8124-D56CB6D45A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77" name="文本框 15397">
              <a:extLst>
                <a:ext uri="{FF2B5EF4-FFF2-40B4-BE49-F238E27FC236}">
                  <a16:creationId xmlns:a16="http://schemas.microsoft.com/office/drawing/2014/main" id="{3189B564-FD42-47ED-8D28-61638B79A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" y="768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24678" name="文本框 15398">
              <a:extLst>
                <a:ext uri="{FF2B5EF4-FFF2-40B4-BE49-F238E27FC236}">
                  <a16:creationId xmlns:a16="http://schemas.microsoft.com/office/drawing/2014/main" id="{8D4146B3-18AD-4918-B8D6-94D38337D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8"/>
              <a:ext cx="3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Vcc</a:t>
              </a:r>
            </a:p>
          </p:txBody>
        </p:sp>
      </p:grpSp>
      <p:grpSp>
        <p:nvGrpSpPr>
          <p:cNvPr id="24596" name="组合 15399">
            <a:extLst>
              <a:ext uri="{FF2B5EF4-FFF2-40B4-BE49-F238E27FC236}">
                <a16:creationId xmlns:a16="http://schemas.microsoft.com/office/drawing/2014/main" id="{FDAB2A15-0759-40B7-9BE7-FADE5D18DA00}"/>
              </a:ext>
            </a:extLst>
          </p:cNvPr>
          <p:cNvGrpSpPr>
            <a:grpSpLocks/>
          </p:cNvGrpSpPr>
          <p:nvPr/>
        </p:nvGrpSpPr>
        <p:grpSpPr bwMode="auto">
          <a:xfrm>
            <a:off x="5295900" y="3114675"/>
            <a:ext cx="1044575" cy="1966913"/>
            <a:chOff x="0" y="0"/>
            <a:chExt cx="658" cy="1239"/>
          </a:xfrm>
        </p:grpSpPr>
        <p:grpSp>
          <p:nvGrpSpPr>
            <p:cNvPr id="24666" name="组合 15400">
              <a:extLst>
                <a:ext uri="{FF2B5EF4-FFF2-40B4-BE49-F238E27FC236}">
                  <a16:creationId xmlns:a16="http://schemas.microsoft.com/office/drawing/2014/main" id="{214452DA-32CD-411E-92CE-1B5BD8F2F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0"/>
              <a:ext cx="576" cy="1239"/>
              <a:chOff x="0" y="0"/>
              <a:chExt cx="576" cy="1239"/>
            </a:xfrm>
          </p:grpSpPr>
          <p:sp>
            <p:nvSpPr>
              <p:cNvPr id="24669" name="矩形 15401" descr="新闻纸">
                <a:extLst>
                  <a:ext uri="{FF2B5EF4-FFF2-40B4-BE49-F238E27FC236}">
                    <a16:creationId xmlns:a16="http://schemas.microsoft.com/office/drawing/2014/main" id="{24335CC6-91BF-4AED-93D8-0A27794C2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" cy="120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EPROM</a:t>
                </a:r>
              </a:p>
            </p:txBody>
          </p:sp>
          <p:grpSp>
            <p:nvGrpSpPr>
              <p:cNvPr id="24670" name="组合 15402">
                <a:extLst>
                  <a:ext uri="{FF2B5EF4-FFF2-40B4-BE49-F238E27FC236}">
                    <a16:creationId xmlns:a16="http://schemas.microsoft.com/office/drawing/2014/main" id="{3C336A96-720A-4C75-A8C4-205223DCDC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008"/>
                <a:ext cx="314" cy="231"/>
                <a:chOff x="0" y="0"/>
                <a:chExt cx="314" cy="231"/>
              </a:xfrm>
            </p:grpSpPr>
            <p:sp>
              <p:nvSpPr>
                <p:cNvPr id="24674" name="文本框 15403">
                  <a:extLst>
                    <a:ext uri="{FF2B5EF4-FFF2-40B4-BE49-F238E27FC236}">
                      <a16:creationId xmlns:a16="http://schemas.microsoft.com/office/drawing/2014/main" id="{3F35EA93-FEB6-41E5-AE20-594A365F6F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1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CE</a:t>
                  </a:r>
                </a:p>
              </p:txBody>
            </p:sp>
            <p:sp>
              <p:nvSpPr>
                <p:cNvPr id="24675" name="直接连接符 15404">
                  <a:extLst>
                    <a:ext uri="{FF2B5EF4-FFF2-40B4-BE49-F238E27FC236}">
                      <a16:creationId xmlns:a16="http://schemas.microsoft.com/office/drawing/2014/main" id="{2F9ADA08-B51C-44B5-9C69-A96BABAC12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71" name="组合 15405">
                <a:extLst>
                  <a:ext uri="{FF2B5EF4-FFF2-40B4-BE49-F238E27FC236}">
                    <a16:creationId xmlns:a16="http://schemas.microsoft.com/office/drawing/2014/main" id="{C8E4B40A-DDE5-4F17-B7C9-BB4C674646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48"/>
                <a:ext cx="322" cy="231"/>
                <a:chOff x="0" y="0"/>
                <a:chExt cx="322" cy="231"/>
              </a:xfrm>
            </p:grpSpPr>
            <p:sp>
              <p:nvSpPr>
                <p:cNvPr id="24672" name="文本框 15406">
                  <a:extLst>
                    <a:ext uri="{FF2B5EF4-FFF2-40B4-BE49-F238E27FC236}">
                      <a16:creationId xmlns:a16="http://schemas.microsoft.com/office/drawing/2014/main" id="{DF7E3860-22D7-4A80-8D7A-7577D2B399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2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OE</a:t>
                  </a:r>
                </a:p>
              </p:txBody>
            </p:sp>
            <p:sp>
              <p:nvSpPr>
                <p:cNvPr id="24673" name="直接连接符 15407">
                  <a:extLst>
                    <a:ext uri="{FF2B5EF4-FFF2-40B4-BE49-F238E27FC236}">
                      <a16:creationId xmlns:a16="http://schemas.microsoft.com/office/drawing/2014/main" id="{B84AEF21-D47E-4B7C-9E4D-3A91C55E75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67" name="文本框 15408">
              <a:extLst>
                <a:ext uri="{FF2B5EF4-FFF2-40B4-BE49-F238E27FC236}">
                  <a16:creationId xmlns:a16="http://schemas.microsoft.com/office/drawing/2014/main" id="{FBC36AC1-F87F-4D41-A993-8EB12CDDE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" y="768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24668" name="文本框 15409">
              <a:extLst>
                <a:ext uri="{FF2B5EF4-FFF2-40B4-BE49-F238E27FC236}">
                  <a16:creationId xmlns:a16="http://schemas.microsoft.com/office/drawing/2014/main" id="{126C4C24-996E-422D-A4F1-3A3EFA783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8"/>
              <a:ext cx="3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Vcc</a:t>
              </a:r>
            </a:p>
          </p:txBody>
        </p:sp>
      </p:grpSp>
      <p:grpSp>
        <p:nvGrpSpPr>
          <p:cNvPr id="24597" name="组合 15410">
            <a:extLst>
              <a:ext uri="{FF2B5EF4-FFF2-40B4-BE49-F238E27FC236}">
                <a16:creationId xmlns:a16="http://schemas.microsoft.com/office/drawing/2014/main" id="{9EDC81E3-9657-47E5-ACB7-2259E842801D}"/>
              </a:ext>
            </a:extLst>
          </p:cNvPr>
          <p:cNvGrpSpPr>
            <a:grpSpLocks/>
          </p:cNvGrpSpPr>
          <p:nvPr/>
        </p:nvGrpSpPr>
        <p:grpSpPr bwMode="auto">
          <a:xfrm>
            <a:off x="6819900" y="3114675"/>
            <a:ext cx="1044575" cy="1966913"/>
            <a:chOff x="0" y="0"/>
            <a:chExt cx="658" cy="1239"/>
          </a:xfrm>
        </p:grpSpPr>
        <p:grpSp>
          <p:nvGrpSpPr>
            <p:cNvPr id="24656" name="组合 15411">
              <a:extLst>
                <a:ext uri="{FF2B5EF4-FFF2-40B4-BE49-F238E27FC236}">
                  <a16:creationId xmlns:a16="http://schemas.microsoft.com/office/drawing/2014/main" id="{0481ADFF-F665-4FA1-8B8D-9F69C4A02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0"/>
              <a:ext cx="576" cy="1239"/>
              <a:chOff x="0" y="0"/>
              <a:chExt cx="576" cy="1239"/>
            </a:xfrm>
          </p:grpSpPr>
          <p:sp>
            <p:nvSpPr>
              <p:cNvPr id="24659" name="矩形 15412" descr="新闻纸">
                <a:extLst>
                  <a:ext uri="{FF2B5EF4-FFF2-40B4-BE49-F238E27FC236}">
                    <a16:creationId xmlns:a16="http://schemas.microsoft.com/office/drawing/2014/main" id="{FCDEFE1A-FC43-4BA6-ABF1-F864AEFC9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" cy="120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EPROM</a:t>
                </a:r>
              </a:p>
            </p:txBody>
          </p:sp>
          <p:grpSp>
            <p:nvGrpSpPr>
              <p:cNvPr id="24660" name="组合 15413">
                <a:extLst>
                  <a:ext uri="{FF2B5EF4-FFF2-40B4-BE49-F238E27FC236}">
                    <a16:creationId xmlns:a16="http://schemas.microsoft.com/office/drawing/2014/main" id="{4A668463-AD92-4A35-A801-6327A40ECD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008"/>
                <a:ext cx="314" cy="231"/>
                <a:chOff x="0" y="0"/>
                <a:chExt cx="314" cy="231"/>
              </a:xfrm>
            </p:grpSpPr>
            <p:sp>
              <p:nvSpPr>
                <p:cNvPr id="24664" name="文本框 15414">
                  <a:extLst>
                    <a:ext uri="{FF2B5EF4-FFF2-40B4-BE49-F238E27FC236}">
                      <a16:creationId xmlns:a16="http://schemas.microsoft.com/office/drawing/2014/main" id="{E191D323-DDE9-40F0-8F5E-BD2D33DA7C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1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CE</a:t>
                  </a:r>
                </a:p>
              </p:txBody>
            </p:sp>
            <p:sp>
              <p:nvSpPr>
                <p:cNvPr id="24665" name="直接连接符 15415">
                  <a:extLst>
                    <a:ext uri="{FF2B5EF4-FFF2-40B4-BE49-F238E27FC236}">
                      <a16:creationId xmlns:a16="http://schemas.microsoft.com/office/drawing/2014/main" id="{50BA508E-0942-4537-BA00-538D821E37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61" name="组合 15416">
                <a:extLst>
                  <a:ext uri="{FF2B5EF4-FFF2-40B4-BE49-F238E27FC236}">
                    <a16:creationId xmlns:a16="http://schemas.microsoft.com/office/drawing/2014/main" id="{1914BB88-2C60-439A-83EA-D91AE3724C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48"/>
                <a:ext cx="322" cy="231"/>
                <a:chOff x="0" y="0"/>
                <a:chExt cx="322" cy="231"/>
              </a:xfrm>
            </p:grpSpPr>
            <p:sp>
              <p:nvSpPr>
                <p:cNvPr id="24662" name="文本框 15417">
                  <a:extLst>
                    <a:ext uri="{FF2B5EF4-FFF2-40B4-BE49-F238E27FC236}">
                      <a16:creationId xmlns:a16="http://schemas.microsoft.com/office/drawing/2014/main" id="{B7AD5B17-8356-445E-A159-46FA7E6EA1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2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OE</a:t>
                  </a:r>
                </a:p>
              </p:txBody>
            </p:sp>
            <p:sp>
              <p:nvSpPr>
                <p:cNvPr id="24663" name="直接连接符 15418">
                  <a:extLst>
                    <a:ext uri="{FF2B5EF4-FFF2-40B4-BE49-F238E27FC236}">
                      <a16:creationId xmlns:a16="http://schemas.microsoft.com/office/drawing/2014/main" id="{51E2349E-4A95-470E-9EF6-6DA31E8181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57" name="文本框 15419">
              <a:extLst>
                <a:ext uri="{FF2B5EF4-FFF2-40B4-BE49-F238E27FC236}">
                  <a16:creationId xmlns:a16="http://schemas.microsoft.com/office/drawing/2014/main" id="{46F8E29B-02D3-40B7-825A-747A008D2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" y="768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24658" name="文本框 15420">
              <a:extLst>
                <a:ext uri="{FF2B5EF4-FFF2-40B4-BE49-F238E27FC236}">
                  <a16:creationId xmlns:a16="http://schemas.microsoft.com/office/drawing/2014/main" id="{5CDAEA58-A7B4-4751-8BFC-AF276D412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8"/>
              <a:ext cx="3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Vcc</a:t>
              </a:r>
            </a:p>
          </p:txBody>
        </p:sp>
      </p:grpSp>
      <p:sp>
        <p:nvSpPr>
          <p:cNvPr id="24598" name="文本框 15421">
            <a:extLst>
              <a:ext uri="{FF2B5EF4-FFF2-40B4-BE49-F238E27FC236}">
                <a16:creationId xmlns:a16="http://schemas.microsoft.com/office/drawing/2014/main" id="{99F2C2F7-47D8-4AB4-A59A-8D07B2B5E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809875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+5V</a:t>
            </a:r>
          </a:p>
        </p:txBody>
      </p:sp>
      <p:sp>
        <p:nvSpPr>
          <p:cNvPr id="24599" name="文本框 15422">
            <a:extLst>
              <a:ext uri="{FF2B5EF4-FFF2-40B4-BE49-F238E27FC236}">
                <a16:creationId xmlns:a16="http://schemas.microsoft.com/office/drawing/2014/main" id="{74EE8E76-E180-4796-8475-512D67459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2428875"/>
            <a:ext cx="511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RD</a:t>
            </a:r>
          </a:p>
        </p:txBody>
      </p:sp>
      <p:sp>
        <p:nvSpPr>
          <p:cNvPr id="24600" name="矩形 15423">
            <a:extLst>
              <a:ext uri="{FF2B5EF4-FFF2-40B4-BE49-F238E27FC236}">
                <a16:creationId xmlns:a16="http://schemas.microsoft.com/office/drawing/2014/main" id="{8AF4D182-B618-4303-9611-2D8A59FA1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400675"/>
            <a:ext cx="45720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latin typeface="Times New Roman" panose="02020603050405020304" pitchFamily="18" charset="0"/>
              </a:rPr>
              <a:t>译码</a:t>
            </a:r>
          </a:p>
          <a:p>
            <a:pPr algn="ctr"/>
            <a:r>
              <a:rPr lang="zh-CN" altLang="en-US" b="1">
                <a:latin typeface="Times New Roman" panose="02020603050405020304" pitchFamily="18" charset="0"/>
              </a:rPr>
              <a:t>电路</a:t>
            </a:r>
          </a:p>
        </p:txBody>
      </p:sp>
      <p:sp>
        <p:nvSpPr>
          <p:cNvPr id="24601" name="直接连接符 15424">
            <a:extLst>
              <a:ext uri="{FF2B5EF4-FFF2-40B4-BE49-F238E27FC236}">
                <a16:creationId xmlns:a16="http://schemas.microsoft.com/office/drawing/2014/main" id="{C1524833-CA1E-470D-8890-5470ED565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7900" y="55530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直接连接符 15425">
            <a:extLst>
              <a:ext uri="{FF2B5EF4-FFF2-40B4-BE49-F238E27FC236}">
                <a16:creationId xmlns:a16="http://schemas.microsoft.com/office/drawing/2014/main" id="{1186B392-F93D-4143-8F11-301294A102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7900" y="5781675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3" name="直接连接符 15426">
            <a:extLst>
              <a:ext uri="{FF2B5EF4-FFF2-40B4-BE49-F238E27FC236}">
                <a16:creationId xmlns:a16="http://schemas.microsoft.com/office/drawing/2014/main" id="{732E60C1-48A0-40FB-8E4F-245ADAF6B4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7900" y="6010275"/>
            <a:ext cx="350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4" name="直接连接符 15427">
            <a:extLst>
              <a:ext uri="{FF2B5EF4-FFF2-40B4-BE49-F238E27FC236}">
                <a16:creationId xmlns:a16="http://schemas.microsoft.com/office/drawing/2014/main" id="{247162D8-692C-4862-BEC1-593D6863FF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7900" y="6315075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5" name="直接连接符 15428">
            <a:extLst>
              <a:ext uri="{FF2B5EF4-FFF2-40B4-BE49-F238E27FC236}">
                <a16:creationId xmlns:a16="http://schemas.microsoft.com/office/drawing/2014/main" id="{46F9560C-BF85-4C69-B5A8-634339426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5781675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6" name="直接连接符 15429">
            <a:extLst>
              <a:ext uri="{FF2B5EF4-FFF2-40B4-BE49-F238E27FC236}">
                <a16:creationId xmlns:a16="http://schemas.microsoft.com/office/drawing/2014/main" id="{43ACD97C-F0BA-4281-A714-C36A8F35C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6238875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7" name="直接连接符 15430">
            <a:extLst>
              <a:ext uri="{FF2B5EF4-FFF2-40B4-BE49-F238E27FC236}">
                <a16:creationId xmlns:a16="http://schemas.microsoft.com/office/drawing/2014/main" id="{ACB54590-806D-41F9-83F0-09E7CB161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3300" y="5476875"/>
            <a:ext cx="495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608" name="组合 15431">
            <a:extLst>
              <a:ext uri="{FF2B5EF4-FFF2-40B4-BE49-F238E27FC236}">
                <a16:creationId xmlns:a16="http://schemas.microsoft.com/office/drawing/2014/main" id="{E8820858-F2DD-4945-98E5-F7B8DD199C3B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4486275"/>
            <a:ext cx="304800" cy="990600"/>
            <a:chOff x="0" y="0"/>
            <a:chExt cx="192" cy="624"/>
          </a:xfrm>
        </p:grpSpPr>
        <p:sp>
          <p:nvSpPr>
            <p:cNvPr id="24654" name="直接连接符 15432">
              <a:extLst>
                <a:ext uri="{FF2B5EF4-FFF2-40B4-BE49-F238E27FC236}">
                  <a16:creationId xmlns:a16="http://schemas.microsoft.com/office/drawing/2014/main" id="{FFC79337-9A6C-4AB9-8994-CD832F99C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直接连接符 15433">
              <a:extLst>
                <a:ext uri="{FF2B5EF4-FFF2-40B4-BE49-F238E27FC236}">
                  <a16:creationId xmlns:a16="http://schemas.microsoft.com/office/drawing/2014/main" id="{3BB942C4-BA50-4D17-820A-CEA3B5321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09" name="组合 15434">
            <a:extLst>
              <a:ext uri="{FF2B5EF4-FFF2-40B4-BE49-F238E27FC236}">
                <a16:creationId xmlns:a16="http://schemas.microsoft.com/office/drawing/2014/main" id="{499704AD-3F8C-4DC5-819A-F32DC3D3BBA7}"/>
              </a:ext>
            </a:extLst>
          </p:cNvPr>
          <p:cNvGrpSpPr>
            <a:grpSpLocks/>
          </p:cNvGrpSpPr>
          <p:nvPr/>
        </p:nvGrpSpPr>
        <p:grpSpPr bwMode="auto">
          <a:xfrm>
            <a:off x="4762500" y="4486275"/>
            <a:ext cx="304800" cy="990600"/>
            <a:chOff x="0" y="0"/>
            <a:chExt cx="192" cy="624"/>
          </a:xfrm>
        </p:grpSpPr>
        <p:sp>
          <p:nvSpPr>
            <p:cNvPr id="24652" name="直接连接符 15435">
              <a:extLst>
                <a:ext uri="{FF2B5EF4-FFF2-40B4-BE49-F238E27FC236}">
                  <a16:creationId xmlns:a16="http://schemas.microsoft.com/office/drawing/2014/main" id="{4215A862-F233-4EF0-AF12-5974CEE0C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直接连接符 15436">
              <a:extLst>
                <a:ext uri="{FF2B5EF4-FFF2-40B4-BE49-F238E27FC236}">
                  <a16:creationId xmlns:a16="http://schemas.microsoft.com/office/drawing/2014/main" id="{2D4061B5-B2CC-4CA2-8564-939ACC8BD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10" name="组合 15437">
            <a:extLst>
              <a:ext uri="{FF2B5EF4-FFF2-40B4-BE49-F238E27FC236}">
                <a16:creationId xmlns:a16="http://schemas.microsoft.com/office/drawing/2014/main" id="{AE9652C5-CE72-4119-8FC9-4B55CF211C35}"/>
              </a:ext>
            </a:extLst>
          </p:cNvPr>
          <p:cNvGrpSpPr>
            <a:grpSpLocks/>
          </p:cNvGrpSpPr>
          <p:nvPr/>
        </p:nvGrpSpPr>
        <p:grpSpPr bwMode="auto">
          <a:xfrm>
            <a:off x="6286500" y="4486275"/>
            <a:ext cx="304800" cy="990600"/>
            <a:chOff x="0" y="0"/>
            <a:chExt cx="192" cy="624"/>
          </a:xfrm>
        </p:grpSpPr>
        <p:sp>
          <p:nvSpPr>
            <p:cNvPr id="24650" name="直接连接符 15438">
              <a:extLst>
                <a:ext uri="{FF2B5EF4-FFF2-40B4-BE49-F238E27FC236}">
                  <a16:creationId xmlns:a16="http://schemas.microsoft.com/office/drawing/2014/main" id="{C88393F1-91D8-4EF1-BE77-02ED83BAE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直接连接符 15439">
              <a:extLst>
                <a:ext uri="{FF2B5EF4-FFF2-40B4-BE49-F238E27FC236}">
                  <a16:creationId xmlns:a16="http://schemas.microsoft.com/office/drawing/2014/main" id="{26D8CE23-9C1E-4D59-9739-DB3C5692F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11" name="组合 15440">
            <a:extLst>
              <a:ext uri="{FF2B5EF4-FFF2-40B4-BE49-F238E27FC236}">
                <a16:creationId xmlns:a16="http://schemas.microsoft.com/office/drawing/2014/main" id="{4B37DECF-AB3F-4AC5-A056-00B85DFDA005}"/>
              </a:ext>
            </a:extLst>
          </p:cNvPr>
          <p:cNvGrpSpPr>
            <a:grpSpLocks/>
          </p:cNvGrpSpPr>
          <p:nvPr/>
        </p:nvGrpSpPr>
        <p:grpSpPr bwMode="auto">
          <a:xfrm>
            <a:off x="7810500" y="4486275"/>
            <a:ext cx="304800" cy="990600"/>
            <a:chOff x="0" y="0"/>
            <a:chExt cx="192" cy="624"/>
          </a:xfrm>
        </p:grpSpPr>
        <p:sp>
          <p:nvSpPr>
            <p:cNvPr id="24648" name="直接连接符 15441">
              <a:extLst>
                <a:ext uri="{FF2B5EF4-FFF2-40B4-BE49-F238E27FC236}">
                  <a16:creationId xmlns:a16="http://schemas.microsoft.com/office/drawing/2014/main" id="{68E5CC12-EC85-421D-905F-50C5D2BCA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直接连接符 15442">
              <a:extLst>
                <a:ext uri="{FF2B5EF4-FFF2-40B4-BE49-F238E27FC236}">
                  <a16:creationId xmlns:a16="http://schemas.microsoft.com/office/drawing/2014/main" id="{CB2A63A9-E4B7-4C86-98E2-941439764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44" name="组合 15443">
            <a:extLst>
              <a:ext uri="{FF2B5EF4-FFF2-40B4-BE49-F238E27FC236}">
                <a16:creationId xmlns:a16="http://schemas.microsoft.com/office/drawing/2014/main" id="{B0BCF62D-B5B3-4003-8BAD-9F4A7614D6E6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2581275"/>
            <a:ext cx="5715000" cy="381000"/>
            <a:chOff x="0" y="0"/>
            <a:chExt cx="3600" cy="240"/>
          </a:xfrm>
        </p:grpSpPr>
        <p:sp>
          <p:nvSpPr>
            <p:cNvPr id="24646" name="直接连接符 15444">
              <a:extLst>
                <a:ext uri="{FF2B5EF4-FFF2-40B4-BE49-F238E27FC236}">
                  <a16:creationId xmlns:a16="http://schemas.microsoft.com/office/drawing/2014/main" id="{B35B8385-BE05-4854-B443-137C88600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360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7" name="直接连接符 15445">
              <a:extLst>
                <a:ext uri="{FF2B5EF4-FFF2-40B4-BE49-F238E27FC236}">
                  <a16:creationId xmlns:a16="http://schemas.microsoft.com/office/drawing/2014/main" id="{A24DC807-4368-41B5-933D-2F4DE219E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40"/>
              <a:ext cx="316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47" name="组合 15446">
            <a:extLst>
              <a:ext uri="{FF2B5EF4-FFF2-40B4-BE49-F238E27FC236}">
                <a16:creationId xmlns:a16="http://schemas.microsoft.com/office/drawing/2014/main" id="{5A9FFF4B-DCE9-4D18-A5FF-C0F75313AAA1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2581275"/>
            <a:ext cx="5257800" cy="1143000"/>
            <a:chOff x="0" y="0"/>
            <a:chExt cx="3312" cy="720"/>
          </a:xfrm>
        </p:grpSpPr>
        <p:sp>
          <p:nvSpPr>
            <p:cNvPr id="24637" name="直接连接符 15447">
              <a:extLst>
                <a:ext uri="{FF2B5EF4-FFF2-40B4-BE49-F238E27FC236}">
                  <a16:creationId xmlns:a16="http://schemas.microsoft.com/office/drawing/2014/main" id="{03E55201-3055-44AA-A041-266DD1F2C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直接连接符 15448">
              <a:extLst>
                <a:ext uri="{FF2B5EF4-FFF2-40B4-BE49-F238E27FC236}">
                  <a16:creationId xmlns:a16="http://schemas.microsoft.com/office/drawing/2014/main" id="{EA99C089-B2F9-4A4C-BB0F-BB392D8F8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9" name="直接连接符 15449">
              <a:extLst>
                <a:ext uri="{FF2B5EF4-FFF2-40B4-BE49-F238E27FC236}">
                  <a16:creationId xmlns:a16="http://schemas.microsoft.com/office/drawing/2014/main" id="{6A4D090C-D2EB-4574-A7E0-854E3BB83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0" name="直接连接符 15450">
              <a:extLst>
                <a:ext uri="{FF2B5EF4-FFF2-40B4-BE49-F238E27FC236}">
                  <a16:creationId xmlns:a16="http://schemas.microsoft.com/office/drawing/2014/main" id="{48E31F37-1FF9-47EA-B33E-5EBA3E26F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41" name="组合 15451">
              <a:extLst>
                <a:ext uri="{FF2B5EF4-FFF2-40B4-BE49-F238E27FC236}">
                  <a16:creationId xmlns:a16="http://schemas.microsoft.com/office/drawing/2014/main" id="{D6E96981-0F5C-4C49-B43B-5B834B7854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40"/>
              <a:ext cx="2880" cy="480"/>
              <a:chOff x="0" y="0"/>
              <a:chExt cx="2880" cy="480"/>
            </a:xfrm>
          </p:grpSpPr>
          <p:sp>
            <p:nvSpPr>
              <p:cNvPr id="24642" name="直接连接符 15452">
                <a:extLst>
                  <a:ext uri="{FF2B5EF4-FFF2-40B4-BE49-F238E27FC236}">
                    <a16:creationId xmlns:a16="http://schemas.microsoft.com/office/drawing/2014/main" id="{E67DD5F1-6D2D-4B3C-A6E7-681438EAC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3" name="直接连接符 15453">
                <a:extLst>
                  <a:ext uri="{FF2B5EF4-FFF2-40B4-BE49-F238E27FC236}">
                    <a16:creationId xmlns:a16="http://schemas.microsoft.com/office/drawing/2014/main" id="{B28F5140-49E7-4C5C-A055-A074506DA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4" name="直接连接符 15454">
                <a:extLst>
                  <a:ext uri="{FF2B5EF4-FFF2-40B4-BE49-F238E27FC236}">
                    <a16:creationId xmlns:a16="http://schemas.microsoft.com/office/drawing/2014/main" id="{40A77281-7DC5-46DC-8DC0-928765727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5" name="直接连接符 15455">
                <a:extLst>
                  <a:ext uri="{FF2B5EF4-FFF2-40B4-BE49-F238E27FC236}">
                    <a16:creationId xmlns:a16="http://schemas.microsoft.com/office/drawing/2014/main" id="{0C012D8D-ADD1-4992-9D28-8B80FB8FE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457" name="组合 15456">
            <a:extLst>
              <a:ext uri="{FF2B5EF4-FFF2-40B4-BE49-F238E27FC236}">
                <a16:creationId xmlns:a16="http://schemas.microsoft.com/office/drawing/2014/main" id="{1577A3D2-DD51-49E6-B385-09188477511F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3724275"/>
            <a:ext cx="4876800" cy="0"/>
            <a:chOff x="0" y="0"/>
            <a:chExt cx="3072" cy="0"/>
          </a:xfrm>
        </p:grpSpPr>
        <p:sp>
          <p:nvSpPr>
            <p:cNvPr id="24633" name="直接连接符 15457">
              <a:extLst>
                <a:ext uri="{FF2B5EF4-FFF2-40B4-BE49-F238E27FC236}">
                  <a16:creationId xmlns:a16="http://schemas.microsoft.com/office/drawing/2014/main" id="{DB6EE785-8BA5-4BEA-8D74-4D8CBA08B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4" name="直接连接符 15458">
              <a:extLst>
                <a:ext uri="{FF2B5EF4-FFF2-40B4-BE49-F238E27FC236}">
                  <a16:creationId xmlns:a16="http://schemas.microsoft.com/office/drawing/2014/main" id="{E8B7FC60-07A9-4525-B5EC-F6963CACD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5" name="直接连接符 15459">
              <a:extLst>
                <a:ext uri="{FF2B5EF4-FFF2-40B4-BE49-F238E27FC236}">
                  <a16:creationId xmlns:a16="http://schemas.microsoft.com/office/drawing/2014/main" id="{FF9E396D-69F8-418C-AA4B-DF7B454DF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6" name="直接连接符 15460">
              <a:extLst>
                <a:ext uri="{FF2B5EF4-FFF2-40B4-BE49-F238E27FC236}">
                  <a16:creationId xmlns:a16="http://schemas.microsoft.com/office/drawing/2014/main" id="{A357E41A-CE3E-44D8-BCDB-F3FEB1B56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462" name="文本框 15461">
            <a:extLst>
              <a:ext uri="{FF2B5EF4-FFF2-40B4-BE49-F238E27FC236}">
                <a16:creationId xmlns:a16="http://schemas.microsoft.com/office/drawing/2014/main" id="{6F9979AC-2152-4919-895F-DEB60D0A2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5553075"/>
            <a:ext cx="2952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0</a:t>
            </a:r>
          </a:p>
          <a:p>
            <a:pPr algn="ctr"/>
            <a:endParaRPr lang="en-US" altLang="zh-CN" b="1">
              <a:latin typeface="Times New Roman" panose="02020603050405020304" pitchFamily="18" charset="0"/>
            </a:endParaRPr>
          </a:p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463" name="直接连接符 15462">
            <a:extLst>
              <a:ext uri="{FF2B5EF4-FFF2-40B4-BE49-F238E27FC236}">
                <a16:creationId xmlns:a16="http://schemas.microsoft.com/office/drawing/2014/main" id="{7FE08EA2-262F-484D-AD8A-465E902C3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7900" y="5781675"/>
            <a:ext cx="1981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" name="直接连接符 15463">
            <a:extLst>
              <a:ext uri="{FF2B5EF4-FFF2-40B4-BE49-F238E27FC236}">
                <a16:creationId xmlns:a16="http://schemas.microsoft.com/office/drawing/2014/main" id="{552053B1-316D-44E1-AD1E-211FFEB8A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5019675"/>
            <a:ext cx="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" name="直接连接符 15464">
            <a:extLst>
              <a:ext uri="{FF2B5EF4-FFF2-40B4-BE49-F238E27FC236}">
                <a16:creationId xmlns:a16="http://schemas.microsoft.com/office/drawing/2014/main" id="{66005C98-0488-4AC9-8211-FE25F5FFC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0" y="4486275"/>
            <a:ext cx="304800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6" name="直接连接符 15465">
            <a:extLst>
              <a:ext uri="{FF2B5EF4-FFF2-40B4-BE49-F238E27FC236}">
                <a16:creationId xmlns:a16="http://schemas.microsoft.com/office/drawing/2014/main" id="{35ECD1EF-0858-4E03-97B5-DBE2A0ED2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4486275"/>
            <a:ext cx="0" cy="99060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7" name="直接连接符 15466">
            <a:extLst>
              <a:ext uri="{FF2B5EF4-FFF2-40B4-BE49-F238E27FC236}">
                <a16:creationId xmlns:a16="http://schemas.microsoft.com/office/drawing/2014/main" id="{805471EE-5131-4901-BE88-92E2C545E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5476875"/>
            <a:ext cx="3429000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468" name="组合 15467">
            <a:extLst>
              <a:ext uri="{FF2B5EF4-FFF2-40B4-BE49-F238E27FC236}">
                <a16:creationId xmlns:a16="http://schemas.microsoft.com/office/drawing/2014/main" id="{10256F4B-1B8A-4F93-96DE-C00EADB90C39}"/>
              </a:ext>
            </a:extLst>
          </p:cNvPr>
          <p:cNvGrpSpPr>
            <a:grpSpLocks/>
          </p:cNvGrpSpPr>
          <p:nvPr/>
        </p:nvGrpSpPr>
        <p:grpSpPr bwMode="auto">
          <a:xfrm>
            <a:off x="3857625" y="3114675"/>
            <a:ext cx="981075" cy="1905000"/>
            <a:chOff x="0" y="0"/>
            <a:chExt cx="618" cy="1200"/>
          </a:xfrm>
        </p:grpSpPr>
        <p:sp>
          <p:nvSpPr>
            <p:cNvPr id="24625" name="矩形 15468">
              <a:extLst>
                <a:ext uri="{FF2B5EF4-FFF2-40B4-BE49-F238E27FC236}">
                  <a16:creationId xmlns:a16="http://schemas.microsoft.com/office/drawing/2014/main" id="{CC957F8C-268B-4114-B2EF-55600E333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" cy="1200"/>
            </a:xfrm>
            <a:prstGeom prst="rect">
              <a:avLst/>
            </a:prstGeom>
            <a:solidFill>
              <a:srgbClr val="CC66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EPROM</a:t>
              </a:r>
            </a:p>
          </p:txBody>
        </p:sp>
        <p:grpSp>
          <p:nvGrpSpPr>
            <p:cNvPr id="24626" name="组合 15469">
              <a:extLst>
                <a:ext uri="{FF2B5EF4-FFF2-40B4-BE49-F238E27FC236}">
                  <a16:creationId xmlns:a16="http://schemas.microsoft.com/office/drawing/2014/main" id="{B60A1E8C-0019-470E-85A5-D7C3784775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960"/>
              <a:ext cx="314" cy="231"/>
              <a:chOff x="0" y="0"/>
              <a:chExt cx="314" cy="231"/>
            </a:xfrm>
          </p:grpSpPr>
          <p:sp>
            <p:nvSpPr>
              <p:cNvPr id="24631" name="文本框 15470">
                <a:extLst>
                  <a:ext uri="{FF2B5EF4-FFF2-40B4-BE49-F238E27FC236}">
                    <a16:creationId xmlns:a16="http://schemas.microsoft.com/office/drawing/2014/main" id="{1E4515C6-04F3-43CD-8F91-DAB59BB741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1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CE</a:t>
                </a:r>
              </a:p>
            </p:txBody>
          </p:sp>
          <p:sp>
            <p:nvSpPr>
              <p:cNvPr id="24632" name="直接连接符 15471">
                <a:extLst>
                  <a:ext uri="{FF2B5EF4-FFF2-40B4-BE49-F238E27FC236}">
                    <a16:creationId xmlns:a16="http://schemas.microsoft.com/office/drawing/2014/main" id="{57168773-9E98-4493-A275-2FD07FB26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0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27" name="组合 15472">
              <a:extLst>
                <a:ext uri="{FF2B5EF4-FFF2-40B4-BE49-F238E27FC236}">
                  <a16:creationId xmlns:a16="http://schemas.microsoft.com/office/drawing/2014/main" id="{771D7C1E-7A05-415D-9692-9C5FEB4A9A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0"/>
              <a:ext cx="322" cy="231"/>
              <a:chOff x="0" y="0"/>
              <a:chExt cx="322" cy="231"/>
            </a:xfrm>
          </p:grpSpPr>
          <p:sp>
            <p:nvSpPr>
              <p:cNvPr id="24629" name="文本框 15473">
                <a:extLst>
                  <a:ext uri="{FF2B5EF4-FFF2-40B4-BE49-F238E27FC236}">
                    <a16:creationId xmlns:a16="http://schemas.microsoft.com/office/drawing/2014/main" id="{39B803E9-EF4C-4E4A-9633-6F812B10A2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22" cy="231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OE</a:t>
                </a:r>
              </a:p>
            </p:txBody>
          </p:sp>
          <p:sp>
            <p:nvSpPr>
              <p:cNvPr id="24630" name="直接连接符 15474">
                <a:extLst>
                  <a:ext uri="{FF2B5EF4-FFF2-40B4-BE49-F238E27FC236}">
                    <a16:creationId xmlns:a16="http://schemas.microsoft.com/office/drawing/2014/main" id="{F82E3190-59D3-4EAE-9FE7-AA4DF72D0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" y="0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8" name="文本框 15475">
              <a:extLst>
                <a:ext uri="{FF2B5EF4-FFF2-40B4-BE49-F238E27FC236}">
                  <a16:creationId xmlns:a16="http://schemas.microsoft.com/office/drawing/2014/main" id="{FA86A93B-0B66-4426-83F5-CABD8C05D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20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15477" name="文本框 15476">
            <a:extLst>
              <a:ext uri="{FF2B5EF4-FFF2-40B4-BE49-F238E27FC236}">
                <a16:creationId xmlns:a16="http://schemas.microsoft.com/office/drawing/2014/main" id="{4F25320B-FF9C-4AE7-8ACF-7B7C89E46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5629275"/>
            <a:ext cx="1406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latin typeface="Times New Roman" panose="02020603050405020304" pitchFamily="18" charset="0"/>
              </a:rPr>
              <a:t>数据读出</a:t>
            </a:r>
          </a:p>
        </p:txBody>
      </p:sp>
      <p:sp>
        <p:nvSpPr>
          <p:cNvPr id="24623" name="直接连接符 15477">
            <a:extLst>
              <a:ext uri="{FF2B5EF4-FFF2-40B4-BE49-F238E27FC236}">
                <a16:creationId xmlns:a16="http://schemas.microsoft.com/office/drawing/2014/main" id="{65498094-6BF4-49ED-A6D4-6BB7AB4C4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50323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4" name="灯片编号占位符 1">
            <a:extLst>
              <a:ext uri="{FF2B5EF4-FFF2-40B4-BE49-F238E27FC236}">
                <a16:creationId xmlns:a16="http://schemas.microsoft.com/office/drawing/2014/main" id="{E8D57BAB-4D70-45AD-A49A-2FDA76489D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430EAF0-4298-487E-AC73-19DCAFBD4CFD}" type="slidenum">
              <a:rPr altLang="en-US" smtClean="0">
                <a:latin typeface="Times New Roman" panose="02020603050405020304" pitchFamily="18" charset="0"/>
              </a:rPr>
              <a:pPr/>
              <a:t>20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1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" grpId="0"/>
      <p:bldP spid="1547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框 16385">
            <a:extLst>
              <a:ext uri="{FF2B5EF4-FFF2-40B4-BE49-F238E27FC236}">
                <a16:creationId xmlns:a16="http://schemas.microsoft.com/office/drawing/2014/main" id="{9BF7E7E3-2C6F-4F19-B50F-99ECAFDD7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117475"/>
            <a:ext cx="389572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40000"/>
              </a:lnSpc>
            </a:pPr>
            <a:r>
              <a:rPr lang="en-US" altLang="zh-CN" sz="3200">
                <a:solidFill>
                  <a:srgbClr val="FFFF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3200">
                <a:solidFill>
                  <a:srgbClr val="FFFF00"/>
                </a:solidFill>
                <a:latin typeface="宋体" panose="02010600030101010101" pitchFamily="2" charset="-122"/>
              </a:rPr>
              <a:t>、存储器地址分配</a:t>
            </a:r>
            <a:endParaRPr lang="zh-CN" altLang="en-US" sz="32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文本框 16386">
            <a:extLst>
              <a:ext uri="{FF2B5EF4-FFF2-40B4-BE49-F238E27FC236}">
                <a16:creationId xmlns:a16="http://schemas.microsoft.com/office/drawing/2014/main" id="{F64B61E8-F0C0-4BD2-B9A2-F897F4150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11430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endParaRPr lang="zh-CN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25604" name="文本框 16387">
            <a:extLst>
              <a:ext uri="{FF2B5EF4-FFF2-40B4-BE49-F238E27FC236}">
                <a16:creationId xmlns:a16="http://schemas.microsoft.com/office/drawing/2014/main" id="{B5C2F5D6-AB36-4769-BDD8-458EEA6F2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990600"/>
            <a:ext cx="861218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访问内存时，</a:t>
            </a:r>
            <a:r>
              <a:rPr lang="zh-CN" altLang="en-US" sz="2400" dirty="0">
                <a:latin typeface="宋体" panose="02010600030101010101" pitchFamily="2" charset="-122"/>
              </a:rPr>
              <a:t>首先要选择存储芯片，即</a:t>
            </a:r>
            <a:r>
              <a:rPr lang="zh-CN" altLang="en-US" sz="2400" dirty="0">
                <a:solidFill>
                  <a:schemeClr val="folHlink"/>
                </a:solidFill>
                <a:latin typeface="宋体" panose="02010600030101010101" pitchFamily="2" charset="-122"/>
              </a:rPr>
              <a:t>片选</a:t>
            </a:r>
            <a:r>
              <a:rPr lang="zh-CN" altLang="en-US" sz="2400" dirty="0">
                <a:latin typeface="宋体" panose="02010600030101010101" pitchFamily="2" charset="-122"/>
              </a:rPr>
              <a:t>。然后再从该芯片中依地址码选择出相应的存储单元，以进行数据存取，即</a:t>
            </a:r>
            <a:r>
              <a:rPr lang="zh-CN" altLang="en-US" sz="2400" dirty="0">
                <a:solidFill>
                  <a:schemeClr val="folHlink"/>
                </a:solidFill>
                <a:latin typeface="宋体" panose="02010600030101010101" pitchFamily="2" charset="-122"/>
              </a:rPr>
              <a:t>字选</a:t>
            </a: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400" dirty="0">
                <a:latin typeface="宋体" panose="02010600030101010101" pitchFamily="2" charset="-122"/>
              </a:rPr>
              <a:t>其中</a:t>
            </a:r>
            <a:r>
              <a:rPr lang="zh-CN" altLang="en-US" sz="2400" dirty="0">
                <a:solidFill>
                  <a:schemeClr val="folHlink"/>
                </a:solidFill>
                <a:latin typeface="宋体" panose="02010600030101010101" pitchFamily="2" charset="-122"/>
              </a:rPr>
              <a:t>片选</a:t>
            </a:r>
            <a:r>
              <a:rPr lang="zh-CN" altLang="en-US" sz="2400" dirty="0">
                <a:latin typeface="宋体" panose="02010600030101010101" pitchFamily="2" charset="-122"/>
              </a:rPr>
              <a:t>由</a:t>
            </a:r>
            <a:r>
              <a:rPr lang="zh-CN" altLang="en-US" sz="2400" dirty="0">
                <a:solidFill>
                  <a:srgbClr val="FF6600"/>
                </a:solidFill>
                <a:latin typeface="宋体" panose="02010600030101010101" pitchFamily="2" charset="-122"/>
              </a:rPr>
              <a:t>地址译码方式</a:t>
            </a:r>
            <a:r>
              <a:rPr lang="zh-CN" altLang="en-US" sz="2400" dirty="0">
                <a:latin typeface="宋体" panose="02010600030101010101" pitchFamily="2" charset="-122"/>
              </a:rPr>
              <a:t>来完成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zh-CN" altLang="en-US" sz="2400" dirty="0">
                <a:latin typeface="宋体" panose="02010600030101010101" pitchFamily="2" charset="-122"/>
              </a:rPr>
              <a:t>方法有三种：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FF6600"/>
                </a:solidFill>
                <a:latin typeface="宋体" panose="02010600030101010101" pitchFamily="2" charset="-122"/>
              </a:rPr>
              <a:t>     </a:t>
            </a:r>
            <a:endParaRPr lang="en-US" altLang="zh-CN" sz="2400" dirty="0">
              <a:solidFill>
                <a:srgbClr val="FF6600"/>
              </a:solidFill>
              <a:latin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FF66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1" dirty="0">
                <a:solidFill>
                  <a:srgbClr val="0066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全译码法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66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线选法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66FF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部分译码法</a:t>
            </a:r>
          </a:p>
        </p:txBody>
      </p:sp>
      <p:sp>
        <p:nvSpPr>
          <p:cNvPr id="25605" name="矩形 16388">
            <a:extLst>
              <a:ext uri="{FF2B5EF4-FFF2-40B4-BE49-F238E27FC236}">
                <a16:creationId xmlns:a16="http://schemas.microsoft.com/office/drawing/2014/main" id="{4DD6B747-098B-4368-B8FF-746540A88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3143250"/>
            <a:ext cx="83153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）全译码法</a:t>
            </a:r>
            <a:r>
              <a:rPr lang="zh-CN" altLang="en-US" sz="2400" dirty="0">
                <a:latin typeface="宋体" panose="02010600030101010101" pitchFamily="2" charset="-122"/>
              </a:rPr>
              <a:t>       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在存储芯片较多时，常采用这种方法。此时，将</a:t>
            </a:r>
            <a:r>
              <a:rPr lang="en-US" altLang="zh-CN" sz="2400" dirty="0">
                <a:latin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条</a:t>
            </a:r>
            <a:r>
              <a:rPr lang="zh-CN" altLang="en-US" sz="2400" b="1" dirty="0">
                <a:solidFill>
                  <a:srgbClr val="FF6600"/>
                </a:solidFill>
                <a:latin typeface="宋体" panose="02010600030101010101" pitchFamily="2" charset="-122"/>
              </a:rPr>
              <a:t>低位地址线</a:t>
            </a:r>
            <a:r>
              <a:rPr lang="zh-CN" altLang="en-US" sz="2400" dirty="0">
                <a:latin typeface="宋体" panose="02010600030101010101" pitchFamily="2" charset="-122"/>
              </a:rPr>
              <a:t>直接接到所有存储器芯片的</a:t>
            </a:r>
            <a:r>
              <a:rPr lang="zh-CN" altLang="en-US" sz="2400" b="1" dirty="0">
                <a:solidFill>
                  <a:srgbClr val="FF6600"/>
                </a:solidFill>
                <a:latin typeface="宋体" panose="02010600030101010101" pitchFamily="2" charset="-122"/>
              </a:rPr>
              <a:t>地址输入端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由片内存储容量决定）， 以进行存储器芯片</a:t>
            </a: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</a:rPr>
              <a:t>片内</a:t>
            </a:r>
            <a:r>
              <a:rPr lang="zh-CN" altLang="en-US" sz="2400" dirty="0">
                <a:latin typeface="宋体" panose="02010600030101010101" pitchFamily="2" charset="-122"/>
              </a:rPr>
              <a:t>存储单元</a:t>
            </a:r>
            <a:r>
              <a:rPr lang="zh-CN" altLang="en-US" sz="2400" dirty="0">
                <a:solidFill>
                  <a:srgbClr val="FF6600"/>
                </a:solidFill>
                <a:latin typeface="宋体" panose="02010600030101010101" pitchFamily="2" charset="-122"/>
              </a:rPr>
              <a:t>寻址（字选）</a:t>
            </a: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将</a:t>
            </a:r>
            <a:r>
              <a:rPr lang="en-US" altLang="zh-CN" sz="2400" dirty="0">
                <a:latin typeface="宋体" panose="02010600030101010101" pitchFamily="2" charset="-122"/>
              </a:rPr>
              <a:t>CPU</a:t>
            </a:r>
            <a:r>
              <a:rPr lang="zh-CN" altLang="en-US" sz="2400" dirty="0">
                <a:latin typeface="宋体" panose="02010600030101010101" pitchFamily="2" charset="-122"/>
              </a:rPr>
              <a:t>地址总线中剩下的</a:t>
            </a:r>
            <a:r>
              <a:rPr lang="zh-CN" altLang="en-US" sz="2400" dirty="0">
                <a:solidFill>
                  <a:srgbClr val="FF6600"/>
                </a:solidFill>
                <a:latin typeface="宋体" panose="02010600030101010101" pitchFamily="2" charset="-122"/>
              </a:rPr>
              <a:t>高位地址线全部</a:t>
            </a:r>
            <a:r>
              <a:rPr lang="zh-CN" altLang="en-US" sz="2400" dirty="0">
                <a:latin typeface="宋体" panose="02010600030101010101" pitchFamily="2" charset="-122"/>
              </a:rPr>
              <a:t>接往</a:t>
            </a:r>
            <a:r>
              <a:rPr lang="zh-CN" altLang="en-US" sz="2400" dirty="0">
                <a:solidFill>
                  <a:schemeClr val="folHlink"/>
                </a:solidFill>
                <a:latin typeface="宋体" panose="02010600030101010101" pitchFamily="2" charset="-122"/>
              </a:rPr>
              <a:t>地址译码器</a:t>
            </a:r>
            <a:r>
              <a:rPr lang="zh-CN" altLang="en-US" sz="2400" dirty="0">
                <a:solidFill>
                  <a:srgbClr val="FF6600"/>
                </a:solidFill>
                <a:latin typeface="宋体" panose="02010600030101010101" pitchFamily="2" charset="-122"/>
              </a:rPr>
              <a:t>的输入端</a:t>
            </a: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400" dirty="0">
                <a:latin typeface="宋体" panose="02010600030101010101" pitchFamily="2" charset="-122"/>
              </a:rPr>
              <a:t>把经译码器译码后的输出作为各芯片的片选信号，分别接到芯片的片选端，实现</a:t>
            </a:r>
            <a:r>
              <a:rPr lang="zh-CN" altLang="en-US" sz="2400" dirty="0">
                <a:solidFill>
                  <a:schemeClr val="folHlink"/>
                </a:solidFill>
                <a:latin typeface="宋体" panose="02010600030101010101" pitchFamily="2" charset="-122"/>
              </a:rPr>
              <a:t>片选</a:t>
            </a:r>
            <a:r>
              <a:rPr lang="zh-CN" altLang="en-US" sz="2400" dirty="0">
                <a:latin typeface="宋体" panose="02010600030101010101" pitchFamily="2" charset="-122"/>
              </a:rPr>
              <a:t>。其连线如下图所示。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5606" name="灯片编号占位符 1">
            <a:extLst>
              <a:ext uri="{FF2B5EF4-FFF2-40B4-BE49-F238E27FC236}">
                <a16:creationId xmlns:a16="http://schemas.microsoft.com/office/drawing/2014/main" id="{2E0A64EE-0024-4ABC-B2B2-FD28106B932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8FA2D16-976A-4D51-9A8D-438260F8129B}" type="slidenum">
              <a:rPr altLang="en-US" smtClean="0">
                <a:latin typeface="Times New Roman" panose="02020603050405020304" pitchFamily="18" charset="0"/>
              </a:rPr>
              <a:pPr/>
              <a:t>21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表格 17409">
            <a:extLst>
              <a:ext uri="{FF2B5EF4-FFF2-40B4-BE49-F238E27FC236}">
                <a16:creationId xmlns:a16="http://schemas.microsoft.com/office/drawing/2014/main" id="{11E006DE-14AA-43F8-888F-D8C26C4B1CE1}"/>
              </a:ext>
            </a:extLst>
          </p:cNvPr>
          <p:cNvGraphicFramePr/>
          <p:nvPr/>
        </p:nvGraphicFramePr>
        <p:xfrm>
          <a:off x="361950" y="3933825"/>
          <a:ext cx="8286750" cy="167963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09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just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地  址</a:t>
                      </a: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器件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just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A15A14 A13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A12A11</a:t>
                      </a:r>
                      <a:r>
                        <a:rPr lang="en-US" altLang="zh-CN" sz="1600" b="0">
                          <a:latin typeface="Verdana" panose="020B0604030504040204" pitchFamily="2" charset="0"/>
                          <a:ea typeface="宋体" panose="02010600030101010101" pitchFamily="2" charset="-122"/>
                        </a:rPr>
                        <a:t>…</a:t>
                      </a: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A1A0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译码器输出</a:t>
                      </a:r>
                      <a:endParaRPr lang="zh-CN" altLang="en-US" sz="1600" b="0" dirty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09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0000~1FFFH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U1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93980" lvl="0" indent="-93980" algn="ctr" defTabSz="282575">
                        <a:buNone/>
                        <a:tabLst>
                          <a:tab pos="282575" algn="l"/>
                        </a:tabLst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0  0  0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00</a:t>
                      </a:r>
                      <a:r>
                        <a:rPr lang="en-US" altLang="zh-CN" sz="1600" b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00~111</a:t>
                      </a:r>
                      <a:r>
                        <a:rPr lang="en-US" altLang="zh-CN" sz="1600" b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11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Y0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2000~3FFFH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U2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      0  0  1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同上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Y1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4000~5FFFH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U3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      0  1  0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同上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Y2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6000~7FFFH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U4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      0  1  1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同上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Y3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664" name="组合 17447">
            <a:extLst>
              <a:ext uri="{FF2B5EF4-FFF2-40B4-BE49-F238E27FC236}">
                <a16:creationId xmlns:a16="http://schemas.microsoft.com/office/drawing/2014/main" id="{12A45905-4080-473C-9731-E6863ADC15BF}"/>
              </a:ext>
            </a:extLst>
          </p:cNvPr>
          <p:cNvGrpSpPr>
            <a:grpSpLocks/>
          </p:cNvGrpSpPr>
          <p:nvPr/>
        </p:nvGrpSpPr>
        <p:grpSpPr bwMode="auto">
          <a:xfrm>
            <a:off x="2463800" y="922338"/>
            <a:ext cx="4195763" cy="2914650"/>
            <a:chOff x="0" y="0"/>
            <a:chExt cx="2643" cy="1836"/>
          </a:xfrm>
        </p:grpSpPr>
        <p:sp>
          <p:nvSpPr>
            <p:cNvPr id="26669" name="直接连接符 17448">
              <a:extLst>
                <a:ext uri="{FF2B5EF4-FFF2-40B4-BE49-F238E27FC236}">
                  <a16:creationId xmlns:a16="http://schemas.microsoft.com/office/drawing/2014/main" id="{4C2E87D6-DF47-4ADC-BA1A-0D8DEC3A2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0" y="1705"/>
              <a:ext cx="74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0" name="矩形 17449">
              <a:extLst>
                <a:ext uri="{FF2B5EF4-FFF2-40B4-BE49-F238E27FC236}">
                  <a16:creationId xmlns:a16="http://schemas.microsoft.com/office/drawing/2014/main" id="{C0E2387A-ADDF-4A40-A0A8-4C5A41850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1753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6671" name="矩形 17450">
              <a:extLst>
                <a:ext uri="{FF2B5EF4-FFF2-40B4-BE49-F238E27FC236}">
                  <a16:creationId xmlns:a16="http://schemas.microsoft.com/office/drawing/2014/main" id="{E467C532-3660-4059-9994-5B7938BB1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1711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672" name="矩形 17451">
              <a:extLst>
                <a:ext uri="{FF2B5EF4-FFF2-40B4-BE49-F238E27FC236}">
                  <a16:creationId xmlns:a16="http://schemas.microsoft.com/office/drawing/2014/main" id="{3F2AAEE0-8274-4261-BE58-B93DF41DC9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24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73" name="矩形 17452">
              <a:extLst>
                <a:ext uri="{FF2B5EF4-FFF2-40B4-BE49-F238E27FC236}">
                  <a16:creationId xmlns:a16="http://schemas.microsoft.com/office/drawing/2014/main" id="{D7E04F5A-3F5E-4ED9-9470-BA97F13D7F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333"/>
              <a:ext cx="368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74" name="矩形 17453">
              <a:extLst>
                <a:ext uri="{FF2B5EF4-FFF2-40B4-BE49-F238E27FC236}">
                  <a16:creationId xmlns:a16="http://schemas.microsoft.com/office/drawing/2014/main" id="{1D774645-247A-411A-9E05-66401309BC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56" y="371"/>
              <a:ext cx="16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75" name="矩形 17454">
              <a:extLst>
                <a:ext uri="{FF2B5EF4-FFF2-40B4-BE49-F238E27FC236}">
                  <a16:creationId xmlns:a16="http://schemas.microsoft.com/office/drawing/2014/main" id="{03271577-8EB0-43BC-AA49-2A32A2476B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8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76" name="矩形 17455">
              <a:extLst>
                <a:ext uri="{FF2B5EF4-FFF2-40B4-BE49-F238E27FC236}">
                  <a16:creationId xmlns:a16="http://schemas.microsoft.com/office/drawing/2014/main" id="{E8C6B08E-6C57-4DE0-9F0E-F6956B1FE2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7" y="54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677" name="矩形 17456">
              <a:extLst>
                <a:ext uri="{FF2B5EF4-FFF2-40B4-BE49-F238E27FC236}">
                  <a16:creationId xmlns:a16="http://schemas.microsoft.com/office/drawing/2014/main" id="{FB41EB57-19FC-4235-A87F-A7A5EB342C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71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6678" name="矩形 17457">
              <a:extLst>
                <a:ext uri="{FF2B5EF4-FFF2-40B4-BE49-F238E27FC236}">
                  <a16:creationId xmlns:a16="http://schemas.microsoft.com/office/drawing/2014/main" id="{938518D3-D9E5-4AC5-AA95-0114AE8A59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5" y="54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679" name="组合 17458">
              <a:extLst>
                <a:ext uri="{FF2B5EF4-FFF2-40B4-BE49-F238E27FC236}">
                  <a16:creationId xmlns:a16="http://schemas.microsoft.com/office/drawing/2014/main" id="{763502F0-BE70-47D0-8F33-A7CFD7BA26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72" y="813"/>
              <a:ext cx="150" cy="133"/>
              <a:chOff x="0" y="0"/>
              <a:chExt cx="134" cy="119"/>
            </a:xfrm>
          </p:grpSpPr>
          <p:sp>
            <p:nvSpPr>
              <p:cNvPr id="26766" name="直接连接符 17459">
                <a:extLst>
                  <a:ext uri="{FF2B5EF4-FFF2-40B4-BE49-F238E27FC236}">
                    <a16:creationId xmlns:a16="http://schemas.microsoft.com/office/drawing/2014/main" id="{BD43B0A4-33C5-4E6A-B6F9-9E1F02EA66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7" name="矩形 17460">
                <a:extLst>
                  <a:ext uri="{FF2B5EF4-FFF2-40B4-BE49-F238E27FC236}">
                    <a16:creationId xmlns:a16="http://schemas.microsoft.com/office/drawing/2014/main" id="{D5C322C9-C07D-49FA-8629-52243BB5D6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680" name="矩形 17461">
              <a:extLst>
                <a:ext uri="{FF2B5EF4-FFF2-40B4-BE49-F238E27FC236}">
                  <a16:creationId xmlns:a16="http://schemas.microsoft.com/office/drawing/2014/main" id="{B784DE60-C052-426D-8803-84C1AADB6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8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81" name="矩形 17462">
              <a:extLst>
                <a:ext uri="{FF2B5EF4-FFF2-40B4-BE49-F238E27FC236}">
                  <a16:creationId xmlns:a16="http://schemas.microsoft.com/office/drawing/2014/main" id="{9FFD2C3F-93CB-40B8-9754-A7FCEE1941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1" y="333"/>
              <a:ext cx="367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82" name="矩形 17463">
              <a:extLst>
                <a:ext uri="{FF2B5EF4-FFF2-40B4-BE49-F238E27FC236}">
                  <a16:creationId xmlns:a16="http://schemas.microsoft.com/office/drawing/2014/main" id="{A7A27E76-391A-4C6E-BA1D-AC2D022143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56" y="371"/>
              <a:ext cx="16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83" name="矩形 17464">
              <a:extLst>
                <a:ext uri="{FF2B5EF4-FFF2-40B4-BE49-F238E27FC236}">
                  <a16:creationId xmlns:a16="http://schemas.microsoft.com/office/drawing/2014/main" id="{6620806E-DD1F-4CAA-9745-CE93B763BC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0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84" name="矩形 17465">
              <a:extLst>
                <a:ext uri="{FF2B5EF4-FFF2-40B4-BE49-F238E27FC236}">
                  <a16:creationId xmlns:a16="http://schemas.microsoft.com/office/drawing/2014/main" id="{7E25770E-6139-46F0-A47F-74AC6BAEC7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9" y="54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685" name="矩形 17466">
              <a:extLst>
                <a:ext uri="{FF2B5EF4-FFF2-40B4-BE49-F238E27FC236}">
                  <a16:creationId xmlns:a16="http://schemas.microsoft.com/office/drawing/2014/main" id="{E5FD4096-9AFD-4820-AAA9-6BB56DD770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73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6686" name="矩形 17467">
              <a:extLst>
                <a:ext uri="{FF2B5EF4-FFF2-40B4-BE49-F238E27FC236}">
                  <a16:creationId xmlns:a16="http://schemas.microsoft.com/office/drawing/2014/main" id="{E961E814-AA59-4FCD-9AA0-80BE0ED89A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06" y="54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687" name="组合 17468">
              <a:extLst>
                <a:ext uri="{FF2B5EF4-FFF2-40B4-BE49-F238E27FC236}">
                  <a16:creationId xmlns:a16="http://schemas.microsoft.com/office/drawing/2014/main" id="{F26638B6-D6BD-47F8-B41B-AB1C5EEF29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73" y="813"/>
              <a:ext cx="150" cy="133"/>
              <a:chOff x="0" y="0"/>
              <a:chExt cx="134" cy="119"/>
            </a:xfrm>
          </p:grpSpPr>
          <p:sp>
            <p:nvSpPr>
              <p:cNvPr id="26764" name="直接连接符 17469">
                <a:extLst>
                  <a:ext uri="{FF2B5EF4-FFF2-40B4-BE49-F238E27FC236}">
                    <a16:creationId xmlns:a16="http://schemas.microsoft.com/office/drawing/2014/main" id="{377BCB9A-4EE1-4D09-9319-F5C4D83769F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5" name="矩形 17470">
                <a:extLst>
                  <a:ext uri="{FF2B5EF4-FFF2-40B4-BE49-F238E27FC236}">
                    <a16:creationId xmlns:a16="http://schemas.microsoft.com/office/drawing/2014/main" id="{672E9D13-F85B-429F-98A8-899E2288A3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9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688" name="矩形 17471">
              <a:extLst>
                <a:ext uri="{FF2B5EF4-FFF2-40B4-BE49-F238E27FC236}">
                  <a16:creationId xmlns:a16="http://schemas.microsoft.com/office/drawing/2014/main" id="{ECF3035A-8573-4BFE-B449-3EB02F54DF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0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89" name="矩形 17472">
              <a:extLst>
                <a:ext uri="{FF2B5EF4-FFF2-40B4-BE49-F238E27FC236}">
                  <a16:creationId xmlns:a16="http://schemas.microsoft.com/office/drawing/2014/main" id="{2EF1EA69-F19F-41B7-9632-6520120A28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3" y="333"/>
              <a:ext cx="367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90" name="矩形 17473">
              <a:extLst>
                <a:ext uri="{FF2B5EF4-FFF2-40B4-BE49-F238E27FC236}">
                  <a16:creationId xmlns:a16="http://schemas.microsoft.com/office/drawing/2014/main" id="{23F02B4A-2882-46C4-8407-2996C2ECA0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60" y="371"/>
              <a:ext cx="16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91" name="矩形 17474">
              <a:extLst>
                <a:ext uri="{FF2B5EF4-FFF2-40B4-BE49-F238E27FC236}">
                  <a16:creationId xmlns:a16="http://schemas.microsoft.com/office/drawing/2014/main" id="{8CD72121-AFFF-4A64-905C-D8DE5F107F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53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92" name="矩形 17475">
              <a:extLst>
                <a:ext uri="{FF2B5EF4-FFF2-40B4-BE49-F238E27FC236}">
                  <a16:creationId xmlns:a16="http://schemas.microsoft.com/office/drawing/2014/main" id="{91B02138-4E32-4B30-B068-612F589027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02" y="548"/>
              <a:ext cx="6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693" name="矩形 17476">
              <a:extLst>
                <a:ext uri="{FF2B5EF4-FFF2-40B4-BE49-F238E27FC236}">
                  <a16:creationId xmlns:a16="http://schemas.microsoft.com/office/drawing/2014/main" id="{1CDB86CD-E44F-4E8C-9298-0477C179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76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26694" name="矩形 17477">
              <a:extLst>
                <a:ext uri="{FF2B5EF4-FFF2-40B4-BE49-F238E27FC236}">
                  <a16:creationId xmlns:a16="http://schemas.microsoft.com/office/drawing/2014/main" id="{7FDD9DCD-0D36-4B5D-AFEB-DBE5907A92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09" y="548"/>
              <a:ext cx="2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695" name="组合 17478">
              <a:extLst>
                <a:ext uri="{FF2B5EF4-FFF2-40B4-BE49-F238E27FC236}">
                  <a16:creationId xmlns:a16="http://schemas.microsoft.com/office/drawing/2014/main" id="{5F32DBE2-D594-45BD-A011-42241CEAEE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5" y="813"/>
              <a:ext cx="150" cy="133"/>
              <a:chOff x="0" y="0"/>
              <a:chExt cx="134" cy="119"/>
            </a:xfrm>
          </p:grpSpPr>
          <p:sp>
            <p:nvSpPr>
              <p:cNvPr id="26762" name="直接连接符 17479">
                <a:extLst>
                  <a:ext uri="{FF2B5EF4-FFF2-40B4-BE49-F238E27FC236}">
                    <a16:creationId xmlns:a16="http://schemas.microsoft.com/office/drawing/2014/main" id="{73ED7F44-7E2B-47DA-BAC5-FA98B9DD46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3" name="矩形 17480">
                <a:extLst>
                  <a:ext uri="{FF2B5EF4-FFF2-40B4-BE49-F238E27FC236}">
                    <a16:creationId xmlns:a16="http://schemas.microsoft.com/office/drawing/2014/main" id="{06CEFA6F-3DA2-4C43-BF9A-E5D63F2635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9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696" name="矩形 17481">
              <a:extLst>
                <a:ext uri="{FF2B5EF4-FFF2-40B4-BE49-F238E27FC236}">
                  <a16:creationId xmlns:a16="http://schemas.microsoft.com/office/drawing/2014/main" id="{28A5C857-C9C2-44F0-ADC5-AFE98F7C80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53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97" name="矩形 17482">
              <a:extLst>
                <a:ext uri="{FF2B5EF4-FFF2-40B4-BE49-F238E27FC236}">
                  <a16:creationId xmlns:a16="http://schemas.microsoft.com/office/drawing/2014/main" id="{F3A9E83B-D8AA-48EB-A2A6-C8E5A8EC7B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6" y="333"/>
              <a:ext cx="367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98" name="矩形 17483">
              <a:extLst>
                <a:ext uri="{FF2B5EF4-FFF2-40B4-BE49-F238E27FC236}">
                  <a16:creationId xmlns:a16="http://schemas.microsoft.com/office/drawing/2014/main" id="{0C82F3CE-C631-4E24-9556-E9CF83B707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63" y="371"/>
              <a:ext cx="16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99" name="矩形 17484">
              <a:extLst>
                <a:ext uri="{FF2B5EF4-FFF2-40B4-BE49-F238E27FC236}">
                  <a16:creationId xmlns:a16="http://schemas.microsoft.com/office/drawing/2014/main" id="{8980D419-E4BE-4C06-98F1-D7F478BDA2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6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00" name="矩形 17485">
              <a:extLst>
                <a:ext uri="{FF2B5EF4-FFF2-40B4-BE49-F238E27FC236}">
                  <a16:creationId xmlns:a16="http://schemas.microsoft.com/office/drawing/2014/main" id="{4F908B3E-40E9-44E3-B1C6-0A547A8C9A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4" y="54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701" name="矩形 17486">
              <a:extLst>
                <a:ext uri="{FF2B5EF4-FFF2-40B4-BE49-F238E27FC236}">
                  <a16:creationId xmlns:a16="http://schemas.microsoft.com/office/drawing/2014/main" id="{2BB79736-7795-4105-8E58-FC5C4970AE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8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6702" name="矩形 17487">
              <a:extLst>
                <a:ext uri="{FF2B5EF4-FFF2-40B4-BE49-F238E27FC236}">
                  <a16:creationId xmlns:a16="http://schemas.microsoft.com/office/drawing/2014/main" id="{2E1C852F-46F4-4E52-A661-3265CCA2F8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12" y="54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703" name="组合 17488">
              <a:extLst>
                <a:ext uri="{FF2B5EF4-FFF2-40B4-BE49-F238E27FC236}">
                  <a16:creationId xmlns:a16="http://schemas.microsoft.com/office/drawing/2014/main" id="{4F980E47-E11E-4CD8-BC93-B8DAAACE4B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76" y="813"/>
              <a:ext cx="151" cy="133"/>
              <a:chOff x="0" y="0"/>
              <a:chExt cx="134" cy="119"/>
            </a:xfrm>
          </p:grpSpPr>
          <p:sp>
            <p:nvSpPr>
              <p:cNvPr id="26760" name="直接连接符 17489">
                <a:extLst>
                  <a:ext uri="{FF2B5EF4-FFF2-40B4-BE49-F238E27FC236}">
                    <a16:creationId xmlns:a16="http://schemas.microsoft.com/office/drawing/2014/main" id="{0F39602A-D9B9-4FA9-B977-8FAE1B26EE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1" name="矩形 17490">
                <a:extLst>
                  <a:ext uri="{FF2B5EF4-FFF2-40B4-BE49-F238E27FC236}">
                    <a16:creationId xmlns:a16="http://schemas.microsoft.com/office/drawing/2014/main" id="{3FD4FF3C-E7BE-44EA-8A89-A623AE19FA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704" name="矩形 17491">
              <a:extLst>
                <a:ext uri="{FF2B5EF4-FFF2-40B4-BE49-F238E27FC236}">
                  <a16:creationId xmlns:a16="http://schemas.microsoft.com/office/drawing/2014/main" id="{ED5082F9-143C-4DA0-9196-5631FD5564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6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05" name="未知">
              <a:extLst>
                <a:ext uri="{FF2B5EF4-FFF2-40B4-BE49-F238E27FC236}">
                  <a16:creationId xmlns:a16="http://schemas.microsoft.com/office/drawing/2014/main" id="{C87BCCE0-E6F1-46ED-BBD8-D254A34A19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2" y="1018"/>
              <a:ext cx="248" cy="242"/>
            </a:xfrm>
            <a:custGeom>
              <a:avLst/>
              <a:gdLst>
                <a:gd name="T0" fmla="*/ 248 w 221"/>
                <a:gd name="T1" fmla="*/ 0 h 216"/>
                <a:gd name="T2" fmla="*/ 248 w 221"/>
                <a:gd name="T3" fmla="*/ 242 h 216"/>
                <a:gd name="T4" fmla="*/ 0 w 221"/>
                <a:gd name="T5" fmla="*/ 242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" h="216">
                  <a:moveTo>
                    <a:pt x="221" y="0"/>
                  </a:moveTo>
                  <a:lnTo>
                    <a:pt x="221" y="216"/>
                  </a:lnTo>
                  <a:lnTo>
                    <a:pt x="0" y="216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6" name="未知">
              <a:extLst>
                <a:ext uri="{FF2B5EF4-FFF2-40B4-BE49-F238E27FC236}">
                  <a16:creationId xmlns:a16="http://schemas.microsoft.com/office/drawing/2014/main" id="{190E8BCD-4641-452B-924D-8AC50A6310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8" y="1018"/>
              <a:ext cx="766" cy="327"/>
            </a:xfrm>
            <a:custGeom>
              <a:avLst/>
              <a:gdLst>
                <a:gd name="T0" fmla="*/ 766 w 684"/>
                <a:gd name="T1" fmla="*/ 0 h 292"/>
                <a:gd name="T2" fmla="*/ 766 w 684"/>
                <a:gd name="T3" fmla="*/ 327 h 292"/>
                <a:gd name="T4" fmla="*/ 0 w 684"/>
                <a:gd name="T5" fmla="*/ 327 h 2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4" h="292">
                  <a:moveTo>
                    <a:pt x="684" y="0"/>
                  </a:moveTo>
                  <a:lnTo>
                    <a:pt x="684" y="292"/>
                  </a:lnTo>
                  <a:lnTo>
                    <a:pt x="0" y="29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7" name="未知">
              <a:extLst>
                <a:ext uri="{FF2B5EF4-FFF2-40B4-BE49-F238E27FC236}">
                  <a16:creationId xmlns:a16="http://schemas.microsoft.com/office/drawing/2014/main" id="{B6306D31-9BB1-45EF-885E-1EEFB20398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" y="1018"/>
              <a:ext cx="1275" cy="407"/>
            </a:xfrm>
            <a:custGeom>
              <a:avLst/>
              <a:gdLst>
                <a:gd name="T0" fmla="*/ 1275 w 1138"/>
                <a:gd name="T1" fmla="*/ 0 h 363"/>
                <a:gd name="T2" fmla="*/ 1275 w 1138"/>
                <a:gd name="T3" fmla="*/ 407 h 363"/>
                <a:gd name="T4" fmla="*/ 0 w 1138"/>
                <a:gd name="T5" fmla="*/ 407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8" h="363">
                  <a:moveTo>
                    <a:pt x="1138" y="0"/>
                  </a:moveTo>
                  <a:lnTo>
                    <a:pt x="1138" y="363"/>
                  </a:lnTo>
                  <a:lnTo>
                    <a:pt x="0" y="363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8" name="未知">
              <a:extLst>
                <a:ext uri="{FF2B5EF4-FFF2-40B4-BE49-F238E27FC236}">
                  <a16:creationId xmlns:a16="http://schemas.microsoft.com/office/drawing/2014/main" id="{9DEB93DB-7981-4DA8-912B-54145E130E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5" y="1018"/>
              <a:ext cx="1781" cy="479"/>
            </a:xfrm>
            <a:custGeom>
              <a:avLst/>
              <a:gdLst>
                <a:gd name="T0" fmla="*/ 1781 w 1590"/>
                <a:gd name="T1" fmla="*/ 0 h 428"/>
                <a:gd name="T2" fmla="*/ 1781 w 1590"/>
                <a:gd name="T3" fmla="*/ 479 h 428"/>
                <a:gd name="T4" fmla="*/ 0 w 1590"/>
                <a:gd name="T5" fmla="*/ 479 h 4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90" h="428">
                  <a:moveTo>
                    <a:pt x="1590" y="0"/>
                  </a:moveTo>
                  <a:lnTo>
                    <a:pt x="1590" y="428"/>
                  </a:lnTo>
                  <a:lnTo>
                    <a:pt x="0" y="428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9" name="矩形 17496">
              <a:extLst>
                <a:ext uri="{FF2B5EF4-FFF2-40B4-BE49-F238E27FC236}">
                  <a16:creationId xmlns:a16="http://schemas.microsoft.com/office/drawing/2014/main" id="{E4B726B0-603A-485E-B4FA-5D9F20DF2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1" y="1201"/>
              <a:ext cx="222" cy="46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10" name="矩形 17497">
              <a:extLst>
                <a:ext uri="{FF2B5EF4-FFF2-40B4-BE49-F238E27FC236}">
                  <a16:creationId xmlns:a16="http://schemas.microsoft.com/office/drawing/2014/main" id="{987324DC-49EC-4A2F-A308-35942EA148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446" y="1357"/>
              <a:ext cx="2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latin typeface="宋体" panose="02010600030101010101" pitchFamily="2" charset="-122"/>
                </a:rPr>
                <a:t>译码器</a:t>
              </a:r>
              <a:endParaRPr lang="zh-CN" altLang="en-US"/>
            </a:p>
          </p:txBody>
        </p:sp>
        <p:sp>
          <p:nvSpPr>
            <p:cNvPr id="26711" name="矩形 17498">
              <a:extLst>
                <a:ext uri="{FF2B5EF4-FFF2-40B4-BE49-F238E27FC236}">
                  <a16:creationId xmlns:a16="http://schemas.microsoft.com/office/drawing/2014/main" id="{09C9DDB8-CD65-4AF7-ABD6-C216388321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574" y="154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12" name="矩形 17499">
              <a:extLst>
                <a:ext uri="{FF2B5EF4-FFF2-40B4-BE49-F238E27FC236}">
                  <a16:creationId xmlns:a16="http://schemas.microsoft.com/office/drawing/2014/main" id="{3CBA0683-57C2-4D97-B685-08CEC59161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1252"/>
              <a:ext cx="463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13" name="矩形 17500">
              <a:extLst>
                <a:ext uri="{FF2B5EF4-FFF2-40B4-BE49-F238E27FC236}">
                  <a16:creationId xmlns:a16="http://schemas.microsoft.com/office/drawing/2014/main" id="{37454725-B834-4471-8201-9E6B28322A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4" y="1282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26714" name="矩形 17501">
              <a:extLst>
                <a:ext uri="{FF2B5EF4-FFF2-40B4-BE49-F238E27FC236}">
                  <a16:creationId xmlns:a16="http://schemas.microsoft.com/office/drawing/2014/main" id="{DE623FC6-5F36-4900-8008-58C745A20C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" y="1329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15</a:t>
              </a:r>
              <a:endParaRPr lang="en-US" altLang="zh-CN"/>
            </a:p>
          </p:txBody>
        </p:sp>
        <p:sp>
          <p:nvSpPr>
            <p:cNvPr id="26715" name="矩形 17502">
              <a:extLst>
                <a:ext uri="{FF2B5EF4-FFF2-40B4-BE49-F238E27FC236}">
                  <a16:creationId xmlns:a16="http://schemas.microsoft.com/office/drawing/2014/main" id="{9506230B-9990-48A9-A3F9-5600273DE3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" y="1282"/>
              <a:ext cx="11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~A</a:t>
              </a:r>
              <a:endParaRPr lang="en-US" altLang="zh-CN"/>
            </a:p>
          </p:txBody>
        </p:sp>
        <p:sp>
          <p:nvSpPr>
            <p:cNvPr id="26716" name="矩形 17503">
              <a:extLst>
                <a:ext uri="{FF2B5EF4-FFF2-40B4-BE49-F238E27FC236}">
                  <a16:creationId xmlns:a16="http://schemas.microsoft.com/office/drawing/2014/main" id="{41FDC90F-87A1-4783-A41C-902CEAE42C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" y="1329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13</a:t>
              </a:r>
              <a:endParaRPr lang="en-US" altLang="zh-CN"/>
            </a:p>
          </p:txBody>
        </p:sp>
        <p:sp>
          <p:nvSpPr>
            <p:cNvPr id="26717" name="矩形 17504">
              <a:extLst>
                <a:ext uri="{FF2B5EF4-FFF2-40B4-BE49-F238E27FC236}">
                  <a16:creationId xmlns:a16="http://schemas.microsoft.com/office/drawing/2014/main" id="{3EB53116-D82E-4E46-B85C-88962C9D51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0" y="1282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18" name="未知">
              <a:extLst>
                <a:ext uri="{FF2B5EF4-FFF2-40B4-BE49-F238E27FC236}">
                  <a16:creationId xmlns:a16="http://schemas.microsoft.com/office/drawing/2014/main" id="{6C4F00F8-9DBA-419B-8F98-5C86A61394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" y="1376"/>
              <a:ext cx="268" cy="126"/>
            </a:xfrm>
            <a:custGeom>
              <a:avLst/>
              <a:gdLst>
                <a:gd name="T0" fmla="*/ 201 w 239"/>
                <a:gd name="T1" fmla="*/ 0 h 112"/>
                <a:gd name="T2" fmla="*/ 201 w 239"/>
                <a:gd name="T3" fmla="*/ 39 h 112"/>
                <a:gd name="T4" fmla="*/ 0 w 239"/>
                <a:gd name="T5" fmla="*/ 39 h 112"/>
                <a:gd name="T6" fmla="*/ 0 w 239"/>
                <a:gd name="T7" fmla="*/ 87 h 112"/>
                <a:gd name="T8" fmla="*/ 201 w 239"/>
                <a:gd name="T9" fmla="*/ 87 h 112"/>
                <a:gd name="T10" fmla="*/ 201 w 239"/>
                <a:gd name="T11" fmla="*/ 126 h 112"/>
                <a:gd name="T12" fmla="*/ 268 w 239"/>
                <a:gd name="T13" fmla="*/ 62 h 112"/>
                <a:gd name="T14" fmla="*/ 201 w 239"/>
                <a:gd name="T15" fmla="*/ 0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9" h="112">
                  <a:moveTo>
                    <a:pt x="179" y="0"/>
                  </a:moveTo>
                  <a:lnTo>
                    <a:pt x="179" y="35"/>
                  </a:lnTo>
                  <a:lnTo>
                    <a:pt x="0" y="35"/>
                  </a:lnTo>
                  <a:lnTo>
                    <a:pt x="0" y="77"/>
                  </a:lnTo>
                  <a:lnTo>
                    <a:pt x="179" y="77"/>
                  </a:lnTo>
                  <a:lnTo>
                    <a:pt x="179" y="112"/>
                  </a:lnTo>
                  <a:lnTo>
                    <a:pt x="239" y="55"/>
                  </a:lnTo>
                  <a:lnTo>
                    <a:pt x="179" y="0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19" name="未知">
              <a:extLst>
                <a:ext uri="{FF2B5EF4-FFF2-40B4-BE49-F238E27FC236}">
                  <a16:creationId xmlns:a16="http://schemas.microsoft.com/office/drawing/2014/main" id="{B3884F28-8D03-41B2-8442-8F4117657B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9" y="176"/>
              <a:ext cx="127" cy="152"/>
            </a:xfrm>
            <a:custGeom>
              <a:avLst/>
              <a:gdLst>
                <a:gd name="T0" fmla="*/ 0 w 113"/>
                <a:gd name="T1" fmla="*/ 115 h 171"/>
                <a:gd name="T2" fmla="*/ 40 w 113"/>
                <a:gd name="T3" fmla="*/ 115 h 171"/>
                <a:gd name="T4" fmla="*/ 40 w 113"/>
                <a:gd name="T5" fmla="*/ 0 h 171"/>
                <a:gd name="T6" fmla="*/ 88 w 113"/>
                <a:gd name="T7" fmla="*/ 0 h 171"/>
                <a:gd name="T8" fmla="*/ 88 w 113"/>
                <a:gd name="T9" fmla="*/ 115 h 171"/>
                <a:gd name="T10" fmla="*/ 127 w 113"/>
                <a:gd name="T11" fmla="*/ 115 h 171"/>
                <a:gd name="T12" fmla="*/ 64 w 113"/>
                <a:gd name="T13" fmla="*/ 152 h 171"/>
                <a:gd name="T14" fmla="*/ 0 w 113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3" h="171">
                  <a:moveTo>
                    <a:pt x="0" y="129"/>
                  </a:moveTo>
                  <a:lnTo>
                    <a:pt x="36" y="129"/>
                  </a:lnTo>
                  <a:lnTo>
                    <a:pt x="36" y="0"/>
                  </a:lnTo>
                  <a:lnTo>
                    <a:pt x="78" y="0"/>
                  </a:lnTo>
                  <a:lnTo>
                    <a:pt x="78" y="129"/>
                  </a:lnTo>
                  <a:lnTo>
                    <a:pt x="113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0" name="未知">
              <a:extLst>
                <a:ext uri="{FF2B5EF4-FFF2-40B4-BE49-F238E27FC236}">
                  <a16:creationId xmlns:a16="http://schemas.microsoft.com/office/drawing/2014/main" id="{4EABB557-2376-4C67-8A52-BEC9EDAB59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05" y="169"/>
              <a:ext cx="128" cy="152"/>
            </a:xfrm>
            <a:custGeom>
              <a:avLst/>
              <a:gdLst>
                <a:gd name="T0" fmla="*/ 0 w 114"/>
                <a:gd name="T1" fmla="*/ 115 h 171"/>
                <a:gd name="T2" fmla="*/ 42 w 114"/>
                <a:gd name="T3" fmla="*/ 115 h 171"/>
                <a:gd name="T4" fmla="*/ 42 w 114"/>
                <a:gd name="T5" fmla="*/ 0 h 171"/>
                <a:gd name="T6" fmla="*/ 88 w 114"/>
                <a:gd name="T7" fmla="*/ 0 h 171"/>
                <a:gd name="T8" fmla="*/ 88 w 114"/>
                <a:gd name="T9" fmla="*/ 115 h 171"/>
                <a:gd name="T10" fmla="*/ 128 w 114"/>
                <a:gd name="T11" fmla="*/ 115 h 171"/>
                <a:gd name="T12" fmla="*/ 64 w 114"/>
                <a:gd name="T13" fmla="*/ 152 h 171"/>
                <a:gd name="T14" fmla="*/ 0 w 114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4" h="171">
                  <a:moveTo>
                    <a:pt x="0" y="129"/>
                  </a:moveTo>
                  <a:lnTo>
                    <a:pt x="37" y="129"/>
                  </a:lnTo>
                  <a:lnTo>
                    <a:pt x="37" y="0"/>
                  </a:lnTo>
                  <a:lnTo>
                    <a:pt x="78" y="0"/>
                  </a:lnTo>
                  <a:lnTo>
                    <a:pt x="78" y="129"/>
                  </a:lnTo>
                  <a:lnTo>
                    <a:pt x="114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1" name="未知">
              <a:extLst>
                <a:ext uri="{FF2B5EF4-FFF2-40B4-BE49-F238E27FC236}">
                  <a16:creationId xmlns:a16="http://schemas.microsoft.com/office/drawing/2014/main" id="{DA00CACA-2C33-45BF-BAD2-A75F739CB1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81" y="169"/>
              <a:ext cx="128" cy="152"/>
            </a:xfrm>
            <a:custGeom>
              <a:avLst/>
              <a:gdLst>
                <a:gd name="T0" fmla="*/ 0 w 114"/>
                <a:gd name="T1" fmla="*/ 115 h 171"/>
                <a:gd name="T2" fmla="*/ 40 w 114"/>
                <a:gd name="T3" fmla="*/ 115 h 171"/>
                <a:gd name="T4" fmla="*/ 40 w 114"/>
                <a:gd name="T5" fmla="*/ 0 h 171"/>
                <a:gd name="T6" fmla="*/ 88 w 114"/>
                <a:gd name="T7" fmla="*/ 0 h 171"/>
                <a:gd name="T8" fmla="*/ 88 w 114"/>
                <a:gd name="T9" fmla="*/ 115 h 171"/>
                <a:gd name="T10" fmla="*/ 128 w 114"/>
                <a:gd name="T11" fmla="*/ 115 h 171"/>
                <a:gd name="T12" fmla="*/ 64 w 114"/>
                <a:gd name="T13" fmla="*/ 152 h 171"/>
                <a:gd name="T14" fmla="*/ 0 w 114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4" h="171">
                  <a:moveTo>
                    <a:pt x="0" y="129"/>
                  </a:moveTo>
                  <a:lnTo>
                    <a:pt x="36" y="129"/>
                  </a:lnTo>
                  <a:lnTo>
                    <a:pt x="36" y="0"/>
                  </a:lnTo>
                  <a:lnTo>
                    <a:pt x="78" y="0"/>
                  </a:lnTo>
                  <a:lnTo>
                    <a:pt x="78" y="129"/>
                  </a:lnTo>
                  <a:lnTo>
                    <a:pt x="114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2" name="未知">
              <a:extLst>
                <a:ext uri="{FF2B5EF4-FFF2-40B4-BE49-F238E27FC236}">
                  <a16:creationId xmlns:a16="http://schemas.microsoft.com/office/drawing/2014/main" id="{66DD9EB4-CDB9-4EE7-8531-1480A04C1C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95" y="169"/>
              <a:ext cx="128" cy="152"/>
            </a:xfrm>
            <a:custGeom>
              <a:avLst/>
              <a:gdLst>
                <a:gd name="T0" fmla="*/ 0 w 114"/>
                <a:gd name="T1" fmla="*/ 115 h 171"/>
                <a:gd name="T2" fmla="*/ 40 w 114"/>
                <a:gd name="T3" fmla="*/ 115 h 171"/>
                <a:gd name="T4" fmla="*/ 40 w 114"/>
                <a:gd name="T5" fmla="*/ 0 h 171"/>
                <a:gd name="T6" fmla="*/ 86 w 114"/>
                <a:gd name="T7" fmla="*/ 0 h 171"/>
                <a:gd name="T8" fmla="*/ 86 w 114"/>
                <a:gd name="T9" fmla="*/ 115 h 171"/>
                <a:gd name="T10" fmla="*/ 128 w 114"/>
                <a:gd name="T11" fmla="*/ 115 h 171"/>
                <a:gd name="T12" fmla="*/ 64 w 114"/>
                <a:gd name="T13" fmla="*/ 152 h 171"/>
                <a:gd name="T14" fmla="*/ 0 w 114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4" h="171">
                  <a:moveTo>
                    <a:pt x="0" y="129"/>
                  </a:moveTo>
                  <a:lnTo>
                    <a:pt x="36" y="129"/>
                  </a:lnTo>
                  <a:lnTo>
                    <a:pt x="36" y="0"/>
                  </a:lnTo>
                  <a:lnTo>
                    <a:pt x="77" y="0"/>
                  </a:lnTo>
                  <a:lnTo>
                    <a:pt x="77" y="129"/>
                  </a:lnTo>
                  <a:lnTo>
                    <a:pt x="114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3" name="直接连接符 17510">
              <a:extLst>
                <a:ext uri="{FF2B5EF4-FFF2-40B4-BE49-F238E27FC236}">
                  <a16:creationId xmlns:a16="http://schemas.microsoft.com/office/drawing/2014/main" id="{8AB6B1F8-186B-4EE9-B3F7-0E3C71B86A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66" y="172"/>
              <a:ext cx="482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4" name="直接连接符 17511">
              <a:extLst>
                <a:ext uri="{FF2B5EF4-FFF2-40B4-BE49-F238E27FC236}">
                  <a16:creationId xmlns:a16="http://schemas.microsoft.com/office/drawing/2014/main" id="{58573A2C-1B53-4067-AA7E-9BA4B3A7C8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94" y="172"/>
              <a:ext cx="426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5" name="直接连接符 17512">
              <a:extLst>
                <a:ext uri="{FF2B5EF4-FFF2-40B4-BE49-F238E27FC236}">
                  <a16:creationId xmlns:a16="http://schemas.microsoft.com/office/drawing/2014/main" id="{2426A86F-AE80-4E3A-AC9B-A2B0F1FBE1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70" y="172"/>
              <a:ext cx="464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6" name="未知">
              <a:extLst>
                <a:ext uri="{FF2B5EF4-FFF2-40B4-BE49-F238E27FC236}">
                  <a16:creationId xmlns:a16="http://schemas.microsoft.com/office/drawing/2014/main" id="{07A23022-DFA0-46B0-A34B-C7DB060076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0" y="123"/>
              <a:ext cx="2251" cy="53"/>
            </a:xfrm>
            <a:custGeom>
              <a:avLst/>
              <a:gdLst>
                <a:gd name="T0" fmla="*/ 2251 w 2010"/>
                <a:gd name="T1" fmla="*/ 53 h 47"/>
                <a:gd name="T2" fmla="*/ 2251 w 2010"/>
                <a:gd name="T3" fmla="*/ 0 h 47"/>
                <a:gd name="T4" fmla="*/ 0 w 2010"/>
                <a:gd name="T5" fmla="*/ 0 h 47"/>
                <a:gd name="T6" fmla="*/ 0 w 2010"/>
                <a:gd name="T7" fmla="*/ 52 h 47"/>
                <a:gd name="T8" fmla="*/ 686 w 2010"/>
                <a:gd name="T9" fmla="*/ 5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0" h="47">
                  <a:moveTo>
                    <a:pt x="2010" y="47"/>
                  </a:moveTo>
                  <a:lnTo>
                    <a:pt x="2010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613" y="46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7" name="矩形 17514">
              <a:extLst>
                <a:ext uri="{FF2B5EF4-FFF2-40B4-BE49-F238E27FC236}">
                  <a16:creationId xmlns:a16="http://schemas.microsoft.com/office/drawing/2014/main" id="{45212335-1A00-40FE-B2A3-01DF0F2975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" y="0"/>
              <a:ext cx="463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28" name="矩形 17515">
              <a:extLst>
                <a:ext uri="{FF2B5EF4-FFF2-40B4-BE49-F238E27FC236}">
                  <a16:creationId xmlns:a16="http://schemas.microsoft.com/office/drawing/2014/main" id="{630BD3A6-91B7-4379-860B-A121CE1E3B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9" y="1"/>
              <a:ext cx="6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26729" name="矩形 17516">
              <a:extLst>
                <a:ext uri="{FF2B5EF4-FFF2-40B4-BE49-F238E27FC236}">
                  <a16:creationId xmlns:a16="http://schemas.microsoft.com/office/drawing/2014/main" id="{9D59F01A-C334-441E-9181-B7CE6E47C0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" y="48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12</a:t>
              </a:r>
              <a:endParaRPr lang="en-US" altLang="zh-CN"/>
            </a:p>
          </p:txBody>
        </p:sp>
        <p:sp>
          <p:nvSpPr>
            <p:cNvPr id="26730" name="矩形 17517">
              <a:extLst>
                <a:ext uri="{FF2B5EF4-FFF2-40B4-BE49-F238E27FC236}">
                  <a16:creationId xmlns:a16="http://schemas.microsoft.com/office/drawing/2014/main" id="{94F7EADB-443C-427B-B2CE-90F967AEBA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" y="1"/>
              <a:ext cx="11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~A</a:t>
              </a:r>
              <a:endParaRPr lang="en-US" altLang="zh-CN"/>
            </a:p>
          </p:txBody>
        </p:sp>
        <p:sp>
          <p:nvSpPr>
            <p:cNvPr id="26731" name="矩形 17518">
              <a:extLst>
                <a:ext uri="{FF2B5EF4-FFF2-40B4-BE49-F238E27FC236}">
                  <a16:creationId xmlns:a16="http://schemas.microsoft.com/office/drawing/2014/main" id="{01347195-8B09-4E93-B7DC-C7283F3E34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7" y="48"/>
              <a:ext cx="3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0</a:t>
              </a:r>
              <a:endParaRPr lang="en-US" altLang="zh-CN"/>
            </a:p>
          </p:txBody>
        </p:sp>
        <p:sp>
          <p:nvSpPr>
            <p:cNvPr id="26732" name="矩形 17519">
              <a:extLst>
                <a:ext uri="{FF2B5EF4-FFF2-40B4-BE49-F238E27FC236}">
                  <a16:creationId xmlns:a16="http://schemas.microsoft.com/office/drawing/2014/main" id="{49F331C5-2DA9-4E33-B5CD-5079E2E5CA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1" y="1"/>
              <a:ext cx="2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33" name="椭圆 17520">
              <a:extLst>
                <a:ext uri="{FF2B5EF4-FFF2-40B4-BE49-F238E27FC236}">
                  <a16:creationId xmlns:a16="http://schemas.microsoft.com/office/drawing/2014/main" id="{7AA25A28-F454-4DC5-B863-2ADE427A8B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22" y="1016"/>
              <a:ext cx="32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4" name="椭圆 17521">
              <a:extLst>
                <a:ext uri="{FF2B5EF4-FFF2-40B4-BE49-F238E27FC236}">
                  <a16:creationId xmlns:a16="http://schemas.microsoft.com/office/drawing/2014/main" id="{EBCBBB69-E583-4F6A-A73E-19CC591E64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6" y="1016"/>
              <a:ext cx="33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5" name="椭圆 17522">
              <a:extLst>
                <a:ext uri="{FF2B5EF4-FFF2-40B4-BE49-F238E27FC236}">
                  <a16:creationId xmlns:a16="http://schemas.microsoft.com/office/drawing/2014/main" id="{2F180B1D-A593-4F03-B269-9E31BBB973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0" y="1016"/>
              <a:ext cx="34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6" name="椭圆 17523">
              <a:extLst>
                <a:ext uri="{FF2B5EF4-FFF2-40B4-BE49-F238E27FC236}">
                  <a16:creationId xmlns:a16="http://schemas.microsoft.com/office/drawing/2014/main" id="{24ABA9CC-5A48-4BF8-BFBD-DE0E730127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43" y="1016"/>
              <a:ext cx="34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7" name="直接连接符 17524">
              <a:extLst>
                <a:ext uri="{FF2B5EF4-FFF2-40B4-BE49-F238E27FC236}">
                  <a16:creationId xmlns:a16="http://schemas.microsoft.com/office/drawing/2014/main" id="{25FCE962-78EF-44BE-B625-D668E279D2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71" y="1126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38" name="矩形 17525">
              <a:extLst>
                <a:ext uri="{FF2B5EF4-FFF2-40B4-BE49-F238E27FC236}">
                  <a16:creationId xmlns:a16="http://schemas.microsoft.com/office/drawing/2014/main" id="{EA68BE71-534A-4817-B6B8-8D38796470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62" y="1177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0</a:t>
              </a:r>
              <a:endParaRPr lang="en-US" altLang="zh-CN"/>
            </a:p>
          </p:txBody>
        </p:sp>
        <p:sp>
          <p:nvSpPr>
            <p:cNvPr id="26739" name="矩形 17526">
              <a:extLst>
                <a:ext uri="{FF2B5EF4-FFF2-40B4-BE49-F238E27FC236}">
                  <a16:creationId xmlns:a16="http://schemas.microsoft.com/office/drawing/2014/main" id="{C4B4FF17-68B2-429F-96EC-6EAB5ABDD6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9" y="1130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740" name="矩形 17527">
              <a:extLst>
                <a:ext uri="{FF2B5EF4-FFF2-40B4-BE49-F238E27FC236}">
                  <a16:creationId xmlns:a16="http://schemas.microsoft.com/office/drawing/2014/main" id="{5C77C768-A19A-44CE-AD10-61771818A9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7" y="1142"/>
              <a:ext cx="2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1" name="矩形 17528">
              <a:extLst>
                <a:ext uri="{FF2B5EF4-FFF2-40B4-BE49-F238E27FC236}">
                  <a16:creationId xmlns:a16="http://schemas.microsoft.com/office/drawing/2014/main" id="{3C6DD376-A230-4BA7-B1CE-2AB4CA4F5E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33" y="1269"/>
              <a:ext cx="2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2" name="矩形 17529">
              <a:extLst>
                <a:ext uri="{FF2B5EF4-FFF2-40B4-BE49-F238E27FC236}">
                  <a16:creationId xmlns:a16="http://schemas.microsoft.com/office/drawing/2014/main" id="{9E66B449-24F4-4A6B-A989-8C86E0B76B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9" y="1186"/>
              <a:ext cx="333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43" name="直接连接符 17530">
              <a:extLst>
                <a:ext uri="{FF2B5EF4-FFF2-40B4-BE49-F238E27FC236}">
                  <a16:creationId xmlns:a16="http://schemas.microsoft.com/office/drawing/2014/main" id="{7933398F-BB03-4B8C-9E47-935B4A3655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90" y="1223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44" name="矩形 17531">
              <a:extLst>
                <a:ext uri="{FF2B5EF4-FFF2-40B4-BE49-F238E27FC236}">
                  <a16:creationId xmlns:a16="http://schemas.microsoft.com/office/drawing/2014/main" id="{420FCC57-678B-460E-A177-B138FFC1A2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3" y="1276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6745" name="矩形 17532">
              <a:extLst>
                <a:ext uri="{FF2B5EF4-FFF2-40B4-BE49-F238E27FC236}">
                  <a16:creationId xmlns:a16="http://schemas.microsoft.com/office/drawing/2014/main" id="{6297CD66-BE31-4B46-B973-1F35F74D1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89" y="1229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746" name="矩形 17533">
              <a:extLst>
                <a:ext uri="{FF2B5EF4-FFF2-40B4-BE49-F238E27FC236}">
                  <a16:creationId xmlns:a16="http://schemas.microsoft.com/office/drawing/2014/main" id="{AFDBBB98-7105-409D-93EF-6F3E946621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4" y="1240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7" name="矩形 17534">
              <a:extLst>
                <a:ext uri="{FF2B5EF4-FFF2-40B4-BE49-F238E27FC236}">
                  <a16:creationId xmlns:a16="http://schemas.microsoft.com/office/drawing/2014/main" id="{318D7722-ABB7-4A33-B79C-24AA2D8347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5" y="1367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8" name="直接连接符 17535">
              <a:extLst>
                <a:ext uri="{FF2B5EF4-FFF2-40B4-BE49-F238E27FC236}">
                  <a16:creationId xmlns:a16="http://schemas.microsoft.com/office/drawing/2014/main" id="{B2334174-A8A7-436F-B2D6-C91E18F07E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35" y="1283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49" name="矩形 17536">
              <a:extLst>
                <a:ext uri="{FF2B5EF4-FFF2-40B4-BE49-F238E27FC236}">
                  <a16:creationId xmlns:a16="http://schemas.microsoft.com/office/drawing/2014/main" id="{0897AAC1-2E0E-4EB2-AF9F-0F16CA8B2B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6" y="1336"/>
              <a:ext cx="31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6750" name="矩形 17537">
              <a:extLst>
                <a:ext uri="{FF2B5EF4-FFF2-40B4-BE49-F238E27FC236}">
                  <a16:creationId xmlns:a16="http://schemas.microsoft.com/office/drawing/2014/main" id="{D7C58A2E-D5CB-4BB2-9901-6D0CA6D640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3" y="1289"/>
              <a:ext cx="75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751" name="矩形 17538">
              <a:extLst>
                <a:ext uri="{FF2B5EF4-FFF2-40B4-BE49-F238E27FC236}">
                  <a16:creationId xmlns:a16="http://schemas.microsoft.com/office/drawing/2014/main" id="{88D06BA1-21B8-47A6-A208-B7951AFA16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0" y="1380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52" name="矩形 17539">
              <a:extLst>
                <a:ext uri="{FF2B5EF4-FFF2-40B4-BE49-F238E27FC236}">
                  <a16:creationId xmlns:a16="http://schemas.microsoft.com/office/drawing/2014/main" id="{0953EA8C-C68F-4A9A-AFB3-AE94ACC0DC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1665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53" name="直接连接符 17540">
              <a:extLst>
                <a:ext uri="{FF2B5EF4-FFF2-40B4-BE49-F238E27FC236}">
                  <a16:creationId xmlns:a16="http://schemas.microsoft.com/office/drawing/2014/main" id="{1A3A4938-787F-4597-9E10-A6DC6C42C3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0" y="1614"/>
              <a:ext cx="15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54" name="矩形 17541">
              <a:extLst>
                <a:ext uri="{FF2B5EF4-FFF2-40B4-BE49-F238E27FC236}">
                  <a16:creationId xmlns:a16="http://schemas.microsoft.com/office/drawing/2014/main" id="{C5540556-4106-411E-A2E7-4C679D3936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11" y="1464"/>
              <a:ext cx="145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55" name="矩形 17542">
              <a:extLst>
                <a:ext uri="{FF2B5EF4-FFF2-40B4-BE49-F238E27FC236}">
                  <a16:creationId xmlns:a16="http://schemas.microsoft.com/office/drawing/2014/main" id="{311CC7D0-9989-4306-9865-59C41633DA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64" y="1491"/>
              <a:ext cx="11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latin typeface="Times New Roman" panose="02020603050405020304" pitchFamily="18" charset="0"/>
                </a:rPr>
                <a:t>…</a:t>
              </a:r>
              <a:endParaRPr lang="en-US" altLang="zh-CN" sz="1400"/>
            </a:p>
          </p:txBody>
        </p:sp>
        <p:sp>
          <p:nvSpPr>
            <p:cNvPr id="26756" name="矩形 17543">
              <a:extLst>
                <a:ext uri="{FF2B5EF4-FFF2-40B4-BE49-F238E27FC236}">
                  <a16:creationId xmlns:a16="http://schemas.microsoft.com/office/drawing/2014/main" id="{58F70C44-59B8-45E4-B99B-DE551E9668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70" y="155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57" name="直接连接符 17544">
              <a:extLst>
                <a:ext uri="{FF2B5EF4-FFF2-40B4-BE49-F238E27FC236}">
                  <a16:creationId xmlns:a16="http://schemas.microsoft.com/office/drawing/2014/main" id="{6CE27006-8FCA-47D9-B386-A9EFE8C64F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93" y="1364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58" name="矩形 17545">
              <a:extLst>
                <a:ext uri="{FF2B5EF4-FFF2-40B4-BE49-F238E27FC236}">
                  <a16:creationId xmlns:a16="http://schemas.microsoft.com/office/drawing/2014/main" id="{5BD08B00-04A3-4020-91B1-614B508AE8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4" y="1417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26759" name="矩形 17546">
              <a:extLst>
                <a:ext uri="{FF2B5EF4-FFF2-40B4-BE49-F238E27FC236}">
                  <a16:creationId xmlns:a16="http://schemas.microsoft.com/office/drawing/2014/main" id="{12B5FA7A-D39D-401F-A6DE-EBF509DAFC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91" y="1370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</p:grpSp>
      <p:sp>
        <p:nvSpPr>
          <p:cNvPr id="26665" name="文本框 17547">
            <a:extLst>
              <a:ext uri="{FF2B5EF4-FFF2-40B4-BE49-F238E27FC236}">
                <a16:creationId xmlns:a16="http://schemas.microsoft.com/office/drawing/2014/main" id="{7C167CEE-B342-484D-85AF-A8FC63D75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261938"/>
            <a:ext cx="6038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8</a:t>
            </a:r>
            <a:r>
              <a:rPr lang="zh-CN" altLang="en-US" sz="3200">
                <a:solidFill>
                  <a:srgbClr val="FFFF00"/>
                </a:solidFill>
              </a:rPr>
              <a:t>位微处理器的全译码</a:t>
            </a:r>
          </a:p>
        </p:txBody>
      </p:sp>
      <p:sp>
        <p:nvSpPr>
          <p:cNvPr id="26666" name="文本框 17548">
            <a:extLst>
              <a:ext uri="{FF2B5EF4-FFF2-40B4-BE49-F238E27FC236}">
                <a16:creationId xmlns:a16="http://schemas.microsoft.com/office/drawing/2014/main" id="{13779650-6AA8-4C2F-BD64-CE4603134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11" y="5743871"/>
            <a:ext cx="72635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全译码法：地址空间连续，不会出现空间重叠和冲突</a:t>
            </a:r>
          </a:p>
        </p:txBody>
      </p:sp>
      <p:sp>
        <p:nvSpPr>
          <p:cNvPr id="26667" name="文本框 17549">
            <a:extLst>
              <a:ext uri="{FF2B5EF4-FFF2-40B4-BE49-F238E27FC236}">
                <a16:creationId xmlns:a16="http://schemas.microsoft.com/office/drawing/2014/main" id="{8B629385-6874-4568-BC83-AE0607E9E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1493838"/>
            <a:ext cx="23177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寻址空间</a:t>
            </a:r>
          </a:p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0~FFFFH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16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位根地址线</a:t>
            </a:r>
          </a:p>
        </p:txBody>
      </p:sp>
      <p:sp>
        <p:nvSpPr>
          <p:cNvPr id="26668" name="灯片编号占位符 1">
            <a:extLst>
              <a:ext uri="{FF2B5EF4-FFF2-40B4-BE49-F238E27FC236}">
                <a16:creationId xmlns:a16="http://schemas.microsoft.com/office/drawing/2014/main" id="{0767B3DE-6E04-45E7-B605-3E25889BBD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0582C2-D8ED-4324-86EF-DCBE8EAC3119}" type="slidenum">
              <a:rPr altLang="en-US" smtClean="0">
                <a:latin typeface="Times New Roman" panose="02020603050405020304" pitchFamily="18" charset="0"/>
              </a:rPr>
              <a:pPr/>
              <a:t>22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18433">
            <a:extLst>
              <a:ext uri="{FF2B5EF4-FFF2-40B4-BE49-F238E27FC236}">
                <a16:creationId xmlns:a16="http://schemas.microsoft.com/office/drawing/2014/main" id="{CA419D71-6CC5-406D-B13C-8CFE67CA4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7050" y="263525"/>
            <a:ext cx="8432800" cy="581025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2）线选法</a:t>
            </a:r>
            <a:endParaRPr lang="zh-CN" altLang="en-US" sz="240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18435" name="左右箭头 18434">
            <a:extLst>
              <a:ext uri="{FF2B5EF4-FFF2-40B4-BE49-F238E27FC236}">
                <a16:creationId xmlns:a16="http://schemas.microsoft.com/office/drawing/2014/main" id="{65C31222-EBF6-4FB8-909A-AB70BB992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5010150"/>
            <a:ext cx="3429000" cy="609600"/>
          </a:xfrm>
          <a:prstGeom prst="leftRightArrow">
            <a:avLst>
              <a:gd name="adj1" fmla="val 50000"/>
              <a:gd name="adj2" fmla="val 112500"/>
            </a:avLst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2" name="文本框 18435">
            <a:extLst>
              <a:ext uri="{FF2B5EF4-FFF2-40B4-BE49-F238E27FC236}">
                <a16:creationId xmlns:a16="http://schemas.microsoft.com/office/drawing/2014/main" id="{FC029CAB-8888-48EB-90EF-2035D9F07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32766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3" name="文本框 18436">
            <a:extLst>
              <a:ext uri="{FF2B5EF4-FFF2-40B4-BE49-F238E27FC236}">
                <a16:creationId xmlns:a16="http://schemas.microsoft.com/office/drawing/2014/main" id="{AC7A73AF-0E3D-4F0E-97F9-22E53D274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603625"/>
            <a:ext cx="3206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。。。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4" name="文本框 18437">
            <a:extLst>
              <a:ext uri="{FF2B5EF4-FFF2-40B4-BE49-F238E27FC236}">
                <a16:creationId xmlns:a16="http://schemas.microsoft.com/office/drawing/2014/main" id="{736B09D5-17A7-4436-8194-6E52B868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0" y="3725863"/>
            <a:ext cx="42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5" name="矩形 18438">
            <a:extLst>
              <a:ext uri="{FF2B5EF4-FFF2-40B4-BE49-F238E27FC236}">
                <a16:creationId xmlns:a16="http://schemas.microsoft.com/office/drawing/2014/main" id="{401C0118-1D2B-4F33-BD29-8A12AD45A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229100"/>
            <a:ext cx="1219200" cy="685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6" name="文本框 18439">
            <a:extLst>
              <a:ext uri="{FF2B5EF4-FFF2-40B4-BE49-F238E27FC236}">
                <a16:creationId xmlns:a16="http://schemas.microsoft.com/office/drawing/2014/main" id="{76791C79-96F6-42BC-8A0D-D22567853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4118402"/>
            <a:ext cx="12618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11    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0</a:t>
            </a:r>
          </a:p>
          <a:p>
            <a:pPr eaLnBrk="1" hangingPunct="1"/>
            <a:r>
              <a:rPr lang="en-US" altLang="zh-CN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2732</a:t>
            </a:r>
            <a:r>
              <a:rPr lang="en-US" altLang="zh-CN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CS</a:t>
            </a:r>
            <a:endParaRPr lang="en-US" altLang="zh-CN" sz="2400" u="sng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7" name="直接连接符 18440">
            <a:extLst>
              <a:ext uri="{FF2B5EF4-FFF2-40B4-BE49-F238E27FC236}">
                <a16:creationId xmlns:a16="http://schemas.microsoft.com/office/drawing/2014/main" id="{353846F9-A37A-47B0-9732-36548CCC9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1325" y="4548188"/>
            <a:ext cx="228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" name="直接连接符 18441">
            <a:extLst>
              <a:ext uri="{FF2B5EF4-FFF2-40B4-BE49-F238E27FC236}">
                <a16:creationId xmlns:a16="http://schemas.microsoft.com/office/drawing/2014/main" id="{1A95A237-D260-42F8-A781-F5C8CD966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3581400"/>
            <a:ext cx="3429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矩形 18442">
            <a:extLst>
              <a:ext uri="{FF2B5EF4-FFF2-40B4-BE49-F238E27FC236}">
                <a16:creationId xmlns:a16="http://schemas.microsoft.com/office/drawing/2014/main" id="{8EEB82B9-8DF3-48E6-8E86-8B547E941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0" y="2590800"/>
            <a:ext cx="228600" cy="381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0" name="文本框 18443">
            <a:extLst>
              <a:ext uri="{FF2B5EF4-FFF2-40B4-BE49-F238E27FC236}">
                <a16:creationId xmlns:a16="http://schemas.microsoft.com/office/drawing/2014/main" id="{3F9C9185-67C6-4AFA-9E50-E735952F0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350" y="2514600"/>
            <a:ext cx="22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61" name="直接连接符 18444">
            <a:extLst>
              <a:ext uri="{FF2B5EF4-FFF2-40B4-BE49-F238E27FC236}">
                <a16:creationId xmlns:a16="http://schemas.microsoft.com/office/drawing/2014/main" id="{334ADCCC-E507-4F57-AD25-34595DE086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2819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直接连接符 18445">
            <a:extLst>
              <a:ext uri="{FF2B5EF4-FFF2-40B4-BE49-F238E27FC236}">
                <a16:creationId xmlns:a16="http://schemas.microsoft.com/office/drawing/2014/main" id="{29304752-2210-447A-900A-701EB6633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3675" y="2819400"/>
            <a:ext cx="2339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文本框 18446">
            <a:extLst>
              <a:ext uri="{FF2B5EF4-FFF2-40B4-BE49-F238E27FC236}">
                <a16:creationId xmlns:a16="http://schemas.microsoft.com/office/drawing/2014/main" id="{910D0F4B-7C8A-493A-AE98-93E796C8D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29718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64" name="矩形 18447">
            <a:extLst>
              <a:ext uri="{FF2B5EF4-FFF2-40B4-BE49-F238E27FC236}">
                <a16:creationId xmlns:a16="http://schemas.microsoft.com/office/drawing/2014/main" id="{F91EE3C0-6C0D-4089-9AD5-78D6DD7BD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4232275"/>
            <a:ext cx="121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5" name="直接连接符 18448">
            <a:extLst>
              <a:ext uri="{FF2B5EF4-FFF2-40B4-BE49-F238E27FC236}">
                <a16:creationId xmlns:a16="http://schemas.microsoft.com/office/drawing/2014/main" id="{ECD747CD-6420-4D9C-90BA-F192F7ABD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2950" y="4551363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6" name="直接连接符 18449">
            <a:extLst>
              <a:ext uri="{FF2B5EF4-FFF2-40B4-BE49-F238E27FC236}">
                <a16:creationId xmlns:a16="http://schemas.microsoft.com/office/drawing/2014/main" id="{EF99CDC3-E007-4E2F-B44C-28C00DFD3B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7150" y="3584575"/>
            <a:ext cx="0" cy="542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7" name="直接连接符 18450">
            <a:extLst>
              <a:ext uri="{FF2B5EF4-FFF2-40B4-BE49-F238E27FC236}">
                <a16:creationId xmlns:a16="http://schemas.microsoft.com/office/drawing/2014/main" id="{378C1CC0-5EB7-4238-8FD9-A6EAA47E95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22950" y="4033838"/>
            <a:ext cx="0" cy="936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8" name="文本框 18451">
            <a:extLst>
              <a:ext uri="{FF2B5EF4-FFF2-40B4-BE49-F238E27FC236}">
                <a16:creationId xmlns:a16="http://schemas.microsoft.com/office/drawing/2014/main" id="{19B06D87-B14E-4795-B09A-FF4D22F84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675" y="32496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69" name="直接连接符 18452">
            <a:extLst>
              <a:ext uri="{FF2B5EF4-FFF2-40B4-BE49-F238E27FC236}">
                <a16:creationId xmlns:a16="http://schemas.microsoft.com/office/drawing/2014/main" id="{44D8DB13-900F-42FC-8C4A-D55502924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9663" y="4754563"/>
            <a:ext cx="158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0" name="下箭头 18453">
            <a:extLst>
              <a:ext uri="{FF2B5EF4-FFF2-40B4-BE49-F238E27FC236}">
                <a16:creationId xmlns:a16="http://schemas.microsoft.com/office/drawing/2014/main" id="{A6510712-A241-4A09-8AF7-5751E65A9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976813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71" name="直接连接符 18454">
            <a:extLst>
              <a:ext uri="{FF2B5EF4-FFF2-40B4-BE49-F238E27FC236}">
                <a16:creationId xmlns:a16="http://schemas.microsoft.com/office/drawing/2014/main" id="{9262E209-4CE3-4431-894B-B143727398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6950" y="3581400"/>
            <a:ext cx="0" cy="654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2" name="直接连接符 18455">
            <a:extLst>
              <a:ext uri="{FF2B5EF4-FFF2-40B4-BE49-F238E27FC236}">
                <a16:creationId xmlns:a16="http://schemas.microsoft.com/office/drawing/2014/main" id="{F438EDF7-AF3E-4A16-8995-7945A949BC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2750" y="4030663"/>
            <a:ext cx="0" cy="193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3" name="文本框 18456">
            <a:extLst>
              <a:ext uri="{FF2B5EF4-FFF2-40B4-BE49-F238E27FC236}">
                <a16:creationId xmlns:a16="http://schemas.microsoft.com/office/drawing/2014/main" id="{1FC364F2-985D-41F7-A27D-5BF16D22C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37068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74" name="文本框 18457">
            <a:extLst>
              <a:ext uri="{FF2B5EF4-FFF2-40B4-BE49-F238E27FC236}">
                <a16:creationId xmlns:a16="http://schemas.microsoft.com/office/drawing/2014/main" id="{33D403C8-6272-46D0-BBF2-12FCBD7F2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3246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75" name="直接连接符 18458">
            <a:extLst>
              <a:ext uri="{FF2B5EF4-FFF2-40B4-BE49-F238E27FC236}">
                <a16:creationId xmlns:a16="http://schemas.microsoft.com/office/drawing/2014/main" id="{308FFC9E-FDC3-4AAD-9DAF-3A28DF732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3" y="4751388"/>
            <a:ext cx="1539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6" name="下箭头 18459">
            <a:extLst>
              <a:ext uri="{FF2B5EF4-FFF2-40B4-BE49-F238E27FC236}">
                <a16:creationId xmlns:a16="http://schemas.microsoft.com/office/drawing/2014/main" id="{68FBD437-D0C6-4707-B37D-C9BB34662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973638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77" name="直接连接符 18460">
            <a:extLst>
              <a:ext uri="{FF2B5EF4-FFF2-40B4-BE49-F238E27FC236}">
                <a16:creationId xmlns:a16="http://schemas.microsoft.com/office/drawing/2014/main" id="{57A0F8BE-9C13-43C5-8C2F-9C6316D440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1388" y="3268663"/>
            <a:ext cx="0" cy="1485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8" name="文本框 18461">
            <a:extLst>
              <a:ext uri="{FF2B5EF4-FFF2-40B4-BE49-F238E27FC236}">
                <a16:creationId xmlns:a16="http://schemas.microsoft.com/office/drawing/2014/main" id="{EF42B06B-EBF8-4576-A5F6-0DB237CB0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25146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13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79" name="矩形 18462">
            <a:extLst>
              <a:ext uri="{FF2B5EF4-FFF2-40B4-BE49-F238E27FC236}">
                <a16:creationId xmlns:a16="http://schemas.microsoft.com/office/drawing/2014/main" id="{43CDB3F5-652B-488C-8C7A-5ABBE3141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0" y="3048000"/>
            <a:ext cx="228600" cy="381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80" name="文本框 18463">
            <a:extLst>
              <a:ext uri="{FF2B5EF4-FFF2-40B4-BE49-F238E27FC236}">
                <a16:creationId xmlns:a16="http://schemas.microsoft.com/office/drawing/2014/main" id="{B7BC6E2B-826B-4F26-A005-7910AB131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350" y="2971800"/>
            <a:ext cx="22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81" name="直接连接符 18464">
            <a:extLst>
              <a:ext uri="{FF2B5EF4-FFF2-40B4-BE49-F238E27FC236}">
                <a16:creationId xmlns:a16="http://schemas.microsoft.com/office/drawing/2014/main" id="{F96AADB5-106F-4FB5-84CC-56722DFEA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3276600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2" name="直接连接符 18465">
            <a:extLst>
              <a:ext uri="{FF2B5EF4-FFF2-40B4-BE49-F238E27FC236}">
                <a16:creationId xmlns:a16="http://schemas.microsoft.com/office/drawing/2014/main" id="{AF165843-BBB3-4B1F-B258-079E35554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7950" y="3276600"/>
            <a:ext cx="838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3" name="直接连接符 18466">
            <a:extLst>
              <a:ext uri="{FF2B5EF4-FFF2-40B4-BE49-F238E27FC236}">
                <a16:creationId xmlns:a16="http://schemas.microsoft.com/office/drawing/2014/main" id="{08773310-FF95-477C-8B9F-E108B03AF6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4038600"/>
            <a:ext cx="3429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4" name="直接连接符 18467">
            <a:extLst>
              <a:ext uri="{FF2B5EF4-FFF2-40B4-BE49-F238E27FC236}">
                <a16:creationId xmlns:a16="http://schemas.microsoft.com/office/drawing/2014/main" id="{DBCF5F0C-EAFD-4595-B72E-52D2E7677B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5713" y="2819400"/>
            <a:ext cx="0" cy="19288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5" name="左右箭头 18468">
            <a:extLst>
              <a:ext uri="{FF2B5EF4-FFF2-40B4-BE49-F238E27FC236}">
                <a16:creationId xmlns:a16="http://schemas.microsoft.com/office/drawing/2014/main" id="{9674BAD3-5583-4920-91BE-EEC3922DF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5010150"/>
            <a:ext cx="3429000" cy="609600"/>
          </a:xfrm>
          <a:prstGeom prst="leftRightArrow">
            <a:avLst>
              <a:gd name="adj1" fmla="val 50000"/>
              <a:gd name="adj2" fmla="val 1125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86" name="文本框 18469">
            <a:extLst>
              <a:ext uri="{FF2B5EF4-FFF2-40B4-BE49-F238E27FC236}">
                <a16:creationId xmlns:a16="http://schemas.microsoft.com/office/drawing/2014/main" id="{CE439902-0627-4229-9B90-6EDDBCD38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0" y="5116513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CC6600"/>
                </a:solidFill>
                <a:latin typeface="楷体_GB2312" pitchFamily="49" charset="-122"/>
                <a:ea typeface="楷体_GB2312" pitchFamily="49" charset="-122"/>
              </a:rPr>
              <a:t>数据总线</a:t>
            </a:r>
          </a:p>
        </p:txBody>
      </p:sp>
      <p:sp>
        <p:nvSpPr>
          <p:cNvPr id="18471" name="文本框 18470">
            <a:extLst>
              <a:ext uri="{FF2B5EF4-FFF2-40B4-BE49-F238E27FC236}">
                <a16:creationId xmlns:a16="http://schemas.microsoft.com/office/drawing/2014/main" id="{28671307-A9D4-47DD-B22A-69FCCAAD0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29718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12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72" name="直接连接符 18471">
            <a:extLst>
              <a:ext uri="{FF2B5EF4-FFF2-40B4-BE49-F238E27FC236}">
                <a16:creationId xmlns:a16="http://schemas.microsoft.com/office/drawing/2014/main" id="{B3AC5594-B357-42D8-9E9B-B6F25BCB6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75" y="4751388"/>
            <a:ext cx="153988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78" name="组合 18477">
            <a:extLst>
              <a:ext uri="{FF2B5EF4-FFF2-40B4-BE49-F238E27FC236}">
                <a16:creationId xmlns:a16="http://schemas.microsoft.com/office/drawing/2014/main" id="{991C3F66-4686-428B-9DE2-AC55DAFB4161}"/>
              </a:ext>
            </a:extLst>
          </p:cNvPr>
          <p:cNvGrpSpPr>
            <a:grpSpLocks/>
          </p:cNvGrpSpPr>
          <p:nvPr/>
        </p:nvGrpSpPr>
        <p:grpSpPr bwMode="auto">
          <a:xfrm>
            <a:off x="3421063" y="3246438"/>
            <a:ext cx="1014412" cy="989012"/>
            <a:chOff x="0" y="0"/>
            <a:chExt cx="639" cy="623"/>
          </a:xfrm>
        </p:grpSpPr>
        <p:grpSp>
          <p:nvGrpSpPr>
            <p:cNvPr id="27707" name="组合 18478">
              <a:extLst>
                <a:ext uri="{FF2B5EF4-FFF2-40B4-BE49-F238E27FC236}">
                  <a16:creationId xmlns:a16="http://schemas.microsoft.com/office/drawing/2014/main" id="{DF3E6DEA-63FB-414F-AC10-B8F9DB0FF8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12" cy="623"/>
              <a:chOff x="0" y="0"/>
              <a:chExt cx="212" cy="623"/>
            </a:xfrm>
          </p:grpSpPr>
          <p:sp>
            <p:nvSpPr>
              <p:cNvPr id="27711" name="直接连接符 18479">
                <a:extLst>
                  <a:ext uri="{FF2B5EF4-FFF2-40B4-BE49-F238E27FC236}">
                    <a16:creationId xmlns:a16="http://schemas.microsoft.com/office/drawing/2014/main" id="{68BC1604-9652-48F4-965B-2A4E5878D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" y="211"/>
                <a:ext cx="0" cy="41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2" name="文本框 18480">
                <a:extLst>
                  <a:ext uri="{FF2B5EF4-FFF2-40B4-BE49-F238E27FC236}">
                    <a16:creationId xmlns:a16="http://schemas.microsoft.com/office/drawing/2014/main" id="{85186D96-1AD1-41F0-B235-78C86A63C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  <a:endParaRPr lang="en-US" altLang="zh-CN" sz="2400" u="sng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27708" name="组合 18481">
              <a:extLst>
                <a:ext uri="{FF2B5EF4-FFF2-40B4-BE49-F238E27FC236}">
                  <a16:creationId xmlns:a16="http://schemas.microsoft.com/office/drawing/2014/main" id="{6297F0F0-8AAE-439B-B939-D2429DD43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" y="290"/>
              <a:ext cx="212" cy="326"/>
              <a:chOff x="0" y="0"/>
              <a:chExt cx="212" cy="326"/>
            </a:xfrm>
          </p:grpSpPr>
          <p:sp>
            <p:nvSpPr>
              <p:cNvPr id="27709" name="文本框 18482">
                <a:extLst>
                  <a:ext uri="{FF2B5EF4-FFF2-40B4-BE49-F238E27FC236}">
                    <a16:creationId xmlns:a16="http://schemas.microsoft.com/office/drawing/2014/main" id="{C235B078-6A27-49F2-8B03-9101130841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  <a:endParaRPr lang="en-US" altLang="zh-CN" sz="2400" u="sng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7710" name="直接连接符 18483">
                <a:extLst>
                  <a:ext uri="{FF2B5EF4-FFF2-40B4-BE49-F238E27FC236}">
                    <a16:creationId xmlns:a16="http://schemas.microsoft.com/office/drawing/2014/main" id="{F053E5B7-AD3F-48C3-BAC4-1803825CB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" y="204"/>
                <a:ext cx="0" cy="12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85" name="下箭头 18484">
            <a:extLst>
              <a:ext uri="{FF2B5EF4-FFF2-40B4-BE49-F238E27FC236}">
                <a16:creationId xmlns:a16="http://schemas.microsoft.com/office/drawing/2014/main" id="{8C8CA7F3-C5FC-4036-B6A6-D4BCFF2A6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973638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86" name="直接连接符 18485">
            <a:extLst>
              <a:ext uri="{FF2B5EF4-FFF2-40B4-BE49-F238E27FC236}">
                <a16:creationId xmlns:a16="http://schemas.microsoft.com/office/drawing/2014/main" id="{CAA5E522-D1A8-4BC7-9943-951E103D4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1388" y="3268663"/>
            <a:ext cx="0" cy="14859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3" name="矩形 18486">
            <a:extLst>
              <a:ext uri="{FF2B5EF4-FFF2-40B4-BE49-F238E27FC236}">
                <a16:creationId xmlns:a16="http://schemas.microsoft.com/office/drawing/2014/main" id="{A240A944-8D64-49D9-8D2B-6344F68B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3048000"/>
            <a:ext cx="228600" cy="3810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88" name="直接连接符 18487">
            <a:extLst>
              <a:ext uri="{FF2B5EF4-FFF2-40B4-BE49-F238E27FC236}">
                <a16:creationId xmlns:a16="http://schemas.microsoft.com/office/drawing/2014/main" id="{DD882B6C-A57C-486B-913E-E3A64FD7B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7800" y="3276600"/>
            <a:ext cx="7556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89" name="组合 18488">
            <a:extLst>
              <a:ext uri="{FF2B5EF4-FFF2-40B4-BE49-F238E27FC236}">
                <a16:creationId xmlns:a16="http://schemas.microsoft.com/office/drawing/2014/main" id="{4EC2BEF1-78B0-4CCF-90AB-86AC111D9699}"/>
              </a:ext>
            </a:extLst>
          </p:cNvPr>
          <p:cNvGrpSpPr>
            <a:grpSpLocks/>
          </p:cNvGrpSpPr>
          <p:nvPr/>
        </p:nvGrpSpPr>
        <p:grpSpPr bwMode="auto">
          <a:xfrm>
            <a:off x="3082925" y="3581400"/>
            <a:ext cx="1143000" cy="457200"/>
            <a:chOff x="0" y="0"/>
            <a:chExt cx="720" cy="288"/>
          </a:xfrm>
        </p:grpSpPr>
        <p:sp>
          <p:nvSpPr>
            <p:cNvPr id="27705" name="直接连接符 18489">
              <a:extLst>
                <a:ext uri="{FF2B5EF4-FFF2-40B4-BE49-F238E27FC236}">
                  <a16:creationId xmlns:a16="http://schemas.microsoft.com/office/drawing/2014/main" id="{9682B841-4C3E-496D-8F13-C7E8504AB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6" name="直接连接符 18490">
              <a:extLst>
                <a:ext uri="{FF2B5EF4-FFF2-40B4-BE49-F238E27FC236}">
                  <a16:creationId xmlns:a16="http://schemas.microsoft.com/office/drawing/2014/main" id="{AB46EB6D-F0CF-4196-948D-58D570BB0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72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92" name="直接连接符 18491">
            <a:extLst>
              <a:ext uri="{FF2B5EF4-FFF2-40B4-BE49-F238E27FC236}">
                <a16:creationId xmlns:a16="http://schemas.microsoft.com/office/drawing/2014/main" id="{7598FB87-0A32-4C0B-AF39-4B291D1BC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1338" y="3276600"/>
            <a:ext cx="6096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7" name="文本框 18492">
            <a:extLst>
              <a:ext uri="{FF2B5EF4-FFF2-40B4-BE49-F238E27FC236}">
                <a16:creationId xmlns:a16="http://schemas.microsoft.com/office/drawing/2014/main" id="{C2E13549-364A-43F5-B08C-689233E4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175" y="2743200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1”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选通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98" name="文本框 18493">
            <a:extLst>
              <a:ext uri="{FF2B5EF4-FFF2-40B4-BE49-F238E27FC236}">
                <a16:creationId xmlns:a16="http://schemas.microsoft.com/office/drawing/2014/main" id="{73B73384-1F52-4060-98BE-02F74A0BF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5867400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u="sng">
                <a:solidFill>
                  <a:srgbClr val="CC6600"/>
                </a:solidFill>
                <a:latin typeface="楷体_GB2312" pitchFamily="49" charset="-122"/>
                <a:ea typeface="楷体_GB2312" pitchFamily="49" charset="-122"/>
              </a:rPr>
              <a:t>线选法寻址示意图</a:t>
            </a:r>
          </a:p>
        </p:txBody>
      </p:sp>
      <p:sp>
        <p:nvSpPr>
          <p:cNvPr id="27699" name="椭圆 18494">
            <a:extLst>
              <a:ext uri="{FF2B5EF4-FFF2-40B4-BE49-F238E27FC236}">
                <a16:creationId xmlns:a16="http://schemas.microsoft.com/office/drawing/2014/main" id="{9E05C779-02DE-4CB0-8C7D-EE9E225A9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2782888"/>
            <a:ext cx="71438" cy="7143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700" name="椭圆 18495">
            <a:extLst>
              <a:ext uri="{FF2B5EF4-FFF2-40B4-BE49-F238E27FC236}">
                <a16:creationId xmlns:a16="http://schemas.microsoft.com/office/drawing/2014/main" id="{CDC6721D-E253-4E3D-861C-F699231F7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3221038"/>
            <a:ext cx="71438" cy="71437"/>
          </a:xfrm>
          <a:prstGeom prst="ellipse">
            <a:avLst/>
          </a:prstGeom>
          <a:noFill/>
          <a:ln w="158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701" name="文本框 18496">
            <a:extLst>
              <a:ext uri="{FF2B5EF4-FFF2-40B4-BE49-F238E27FC236}">
                <a16:creationId xmlns:a16="http://schemas.microsoft.com/office/drawing/2014/main" id="{FE31194A-3457-4075-864A-DEE6B96BA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5" y="4121577"/>
            <a:ext cx="1261884" cy="83099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 dirty="0">
                <a:latin typeface="楷体_GB2312" pitchFamily="49" charset="-122"/>
                <a:ea typeface="楷体_GB2312" pitchFamily="49" charset="-122"/>
              </a:rPr>
              <a:t>11   </a:t>
            </a:r>
            <a:r>
              <a:rPr lang="en-US" altLang="zh-CN" sz="1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 dirty="0">
                <a:latin typeface="楷体_GB2312" pitchFamily="49" charset="-122"/>
                <a:ea typeface="楷体_GB2312" pitchFamily="49" charset="-122"/>
              </a:rPr>
              <a:t>0</a:t>
            </a:r>
          </a:p>
          <a:p>
            <a:pPr eaLnBrk="1" hangingPunct="1"/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2732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CS</a:t>
            </a:r>
            <a:endParaRPr lang="en-US" altLang="zh-CN" sz="2400" u="sng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702" name="文本框 18497">
            <a:extLst>
              <a:ext uri="{FF2B5EF4-FFF2-40B4-BE49-F238E27FC236}">
                <a16:creationId xmlns:a16="http://schemas.microsoft.com/office/drawing/2014/main" id="{E48B4F11-9BFA-48A9-8176-EB30FFD7D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097" y="4544050"/>
            <a:ext cx="23304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folHlink"/>
                </a:solidFill>
              </a:rPr>
              <a:t>线选法电路简单实用，但存在</a:t>
            </a:r>
            <a:r>
              <a:rPr lang="zh-CN" altLang="en-US" sz="2000" b="1" dirty="0">
                <a:highlight>
                  <a:srgbClr val="FFFF00"/>
                </a:highlight>
              </a:rPr>
              <a:t>地址重叠</a:t>
            </a:r>
            <a:r>
              <a:rPr lang="zh-CN" altLang="en-US" sz="2000" b="1" dirty="0">
                <a:solidFill>
                  <a:schemeClr val="folHlink"/>
                </a:solidFill>
                <a:highlight>
                  <a:srgbClr val="FFFF00"/>
                </a:highlight>
              </a:rPr>
              <a:t>，</a:t>
            </a:r>
            <a:r>
              <a:rPr lang="zh-CN" altLang="en-US" sz="2000" b="1" dirty="0">
                <a:highlight>
                  <a:srgbClr val="FFFF00"/>
                </a:highlight>
              </a:rPr>
              <a:t>地址不连续</a:t>
            </a:r>
            <a:r>
              <a:rPr lang="zh-CN" altLang="en-US" sz="2000" b="1" dirty="0">
                <a:solidFill>
                  <a:schemeClr val="folHlink"/>
                </a:solidFill>
              </a:rPr>
              <a:t>问题，需要特别注意。</a:t>
            </a:r>
          </a:p>
        </p:txBody>
      </p:sp>
      <p:sp>
        <p:nvSpPr>
          <p:cNvPr id="27703" name="文本框 18498">
            <a:extLst>
              <a:ext uri="{FF2B5EF4-FFF2-40B4-BE49-F238E27FC236}">
                <a16:creationId xmlns:a16="http://schemas.microsoft.com/office/drawing/2014/main" id="{EE65049E-F60D-4D61-AFE1-5DE377AF2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804863"/>
            <a:ext cx="7927975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       线选法即直接将某地址线高位接往某存储芯片的片选端，当该地址线信息为1时，就选中该存储器，然后再依低地址位对其进行片内寻址。下图就是采用线选法对2片2732进行片选的连线图。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/>
          </a:p>
        </p:txBody>
      </p:sp>
      <p:sp>
        <p:nvSpPr>
          <p:cNvPr id="27704" name="灯片编号占位符 1">
            <a:extLst>
              <a:ext uri="{FF2B5EF4-FFF2-40B4-BE49-F238E27FC236}">
                <a16:creationId xmlns:a16="http://schemas.microsoft.com/office/drawing/2014/main" id="{10341AC6-2C2C-4771-9F07-CAA1ABF0A9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AC3334A-1C6D-404B-890B-182DE9306E51}" type="slidenum">
              <a:rPr altLang="en-US" smtClean="0">
                <a:latin typeface="Times New Roman" panose="02020603050405020304" pitchFamily="18" charset="0"/>
              </a:rPr>
              <a:pPr/>
              <a:t>23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7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 advAuto="0"/>
      <p:bldP spid="1847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框 19457">
            <a:extLst>
              <a:ext uri="{FF2B5EF4-FFF2-40B4-BE49-F238E27FC236}">
                <a16:creationId xmlns:a16="http://schemas.microsoft.com/office/drawing/2014/main" id="{DCBBB575-A430-4DBF-9080-52E1A95AA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88913"/>
            <a:ext cx="8335962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40000"/>
              </a:lnSpc>
            </a:pPr>
            <a:r>
              <a:rPr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    最高地址            最低地址</a:t>
            </a:r>
            <a:r>
              <a:rPr lang="zh-CN" altLang="en-US" sz="2400" b="1">
                <a:latin typeface="宋体" panose="02010600030101010101" pitchFamily="2" charset="-122"/>
              </a:rPr>
              <a:t>     </a:t>
            </a:r>
          </a:p>
          <a:p>
            <a:pPr algn="r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第一块（左）   </a:t>
            </a:r>
            <a:r>
              <a:rPr lang="en-US" altLang="zh-CN" sz="2400" b="1">
                <a:latin typeface="宋体" panose="02010600030101010101" pitchFamily="2" charset="-122"/>
              </a:rPr>
              <a:t>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*1</a:t>
            </a:r>
            <a:r>
              <a:rPr lang="en-US" altLang="zh-CN" sz="2400" b="1">
                <a:latin typeface="宋体" panose="02010600030101010101" pitchFamily="2" charset="-122"/>
              </a:rPr>
              <a:t> 111111111111    00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*1</a:t>
            </a:r>
            <a:r>
              <a:rPr lang="en-US" altLang="zh-CN" sz="2400" b="1">
                <a:latin typeface="宋体" panose="02010600030101010101" pitchFamily="2" charset="-122"/>
              </a:rPr>
              <a:t> 000000000000</a:t>
            </a:r>
          </a:p>
          <a:p>
            <a:pPr algn="r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第二块（右）   </a:t>
            </a:r>
            <a:r>
              <a:rPr lang="en-US" altLang="zh-CN" sz="2400" b="1">
                <a:latin typeface="宋体" panose="02010600030101010101" pitchFamily="2" charset="-122"/>
              </a:rPr>
              <a:t>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1*</a:t>
            </a:r>
            <a:r>
              <a:rPr lang="en-US" altLang="zh-CN" sz="2400" b="1">
                <a:latin typeface="宋体" panose="02010600030101010101" pitchFamily="2" charset="-122"/>
              </a:rPr>
              <a:t> 111111111111    00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1*</a:t>
            </a:r>
            <a:r>
              <a:rPr lang="en-US" altLang="zh-CN" sz="2400" b="1">
                <a:latin typeface="宋体" panose="02010600030101010101" pitchFamily="2" charset="-122"/>
              </a:rPr>
              <a:t> 100000000000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8675" name="文本框 19458">
            <a:extLst>
              <a:ext uri="{FF2B5EF4-FFF2-40B4-BE49-F238E27FC236}">
                <a16:creationId xmlns:a16="http://schemas.microsoft.com/office/drawing/2014/main" id="{8FA093C5-4033-4C86-92F8-9793486C6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075" y="1646238"/>
            <a:ext cx="487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A13</a:t>
            </a:r>
          </a:p>
        </p:txBody>
      </p:sp>
      <p:sp>
        <p:nvSpPr>
          <p:cNvPr id="28676" name="文本框 19459">
            <a:extLst>
              <a:ext uri="{FF2B5EF4-FFF2-40B4-BE49-F238E27FC236}">
                <a16:creationId xmlns:a16="http://schemas.microsoft.com/office/drawing/2014/main" id="{4E387DF5-A2D5-400A-AB01-32A13A773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638" y="1127125"/>
            <a:ext cx="4873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A12</a:t>
            </a:r>
          </a:p>
        </p:txBody>
      </p:sp>
      <p:sp>
        <p:nvSpPr>
          <p:cNvPr id="28677" name="文本框 19460">
            <a:extLst>
              <a:ext uri="{FF2B5EF4-FFF2-40B4-BE49-F238E27FC236}">
                <a16:creationId xmlns:a16="http://schemas.microsoft.com/office/drawing/2014/main" id="{5C4833B8-E419-448D-9375-DBEDCE8CF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963" y="1106488"/>
            <a:ext cx="4873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A12</a:t>
            </a:r>
          </a:p>
        </p:txBody>
      </p:sp>
      <p:sp>
        <p:nvSpPr>
          <p:cNvPr id="28678" name="文本框 19461">
            <a:extLst>
              <a:ext uri="{FF2B5EF4-FFF2-40B4-BE49-F238E27FC236}">
                <a16:creationId xmlns:a16="http://schemas.microsoft.com/office/drawing/2014/main" id="{ADA964D5-71C8-45F8-936C-B655471AA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657350"/>
            <a:ext cx="487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A13</a:t>
            </a:r>
          </a:p>
        </p:txBody>
      </p:sp>
      <p:sp>
        <p:nvSpPr>
          <p:cNvPr id="28679" name="矩形 19462">
            <a:extLst>
              <a:ext uri="{FF2B5EF4-FFF2-40B4-BE49-F238E27FC236}">
                <a16:creationId xmlns:a16="http://schemas.microsoft.com/office/drawing/2014/main" id="{96A058A5-8CAF-4E84-BC83-E75F7C056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1965325"/>
            <a:ext cx="6953250" cy="119697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“*” 表示可为任意值，不影响对当前片的选择则第一</a:t>
            </a:r>
            <a:r>
              <a:rPr lang="en-US" altLang="zh-CN" sz="2400" b="1">
                <a:latin typeface="宋体" panose="02010600030101010101" pitchFamily="2" charset="-122"/>
              </a:rPr>
              <a:t>/</a:t>
            </a:r>
            <a:r>
              <a:rPr lang="zh-CN" altLang="en-US" sz="2400" b="1">
                <a:latin typeface="宋体" panose="02010600030101010101" pitchFamily="2" charset="-122"/>
              </a:rPr>
              <a:t>二块的</a:t>
            </a:r>
            <a:r>
              <a:rPr lang="zh-CN" altLang="en-US" sz="2400" b="1">
                <a:solidFill>
                  <a:schemeClr val="folHlink"/>
                </a:solidFill>
                <a:latin typeface="宋体" panose="02010600030101010101" pitchFamily="2" charset="-122"/>
              </a:rPr>
              <a:t>地址重叠</a:t>
            </a:r>
            <a:r>
              <a:rPr lang="zh-CN" altLang="en-US" sz="2400" b="1">
                <a:latin typeface="宋体" panose="02010600030101010101" pitchFamily="2" charset="-122"/>
              </a:rPr>
              <a:t>区间为</a:t>
            </a:r>
            <a:r>
              <a:rPr lang="en-US" altLang="zh-CN" sz="2400" b="1">
                <a:latin typeface="宋体" panose="02010600030101010101" pitchFamily="2" charset="-122"/>
              </a:rPr>
              <a:t>3000H--3FFFH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  <a:r>
              <a:rPr lang="zh-CN" altLang="en-US" sz="2400" b="1">
                <a:latin typeface="Times New Roman" panose="02020603050405020304" pitchFamily="18" charset="0"/>
              </a:rPr>
              <a:t>由于存在冲突，在重复区间内的地址是不可用的。</a:t>
            </a:r>
          </a:p>
        </p:txBody>
      </p:sp>
      <p:sp>
        <p:nvSpPr>
          <p:cNvPr id="28680" name="文本框 19463">
            <a:extLst>
              <a:ext uri="{FF2B5EF4-FFF2-40B4-BE49-F238E27FC236}">
                <a16:creationId xmlns:a16="http://schemas.microsoft.com/office/drawing/2014/main" id="{D53A9068-D7E9-4D44-8117-C5883F384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113213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1" name="文本框 19464">
            <a:extLst>
              <a:ext uri="{FF2B5EF4-FFF2-40B4-BE49-F238E27FC236}">
                <a16:creationId xmlns:a16="http://schemas.microsoft.com/office/drawing/2014/main" id="{2480EB00-758A-46B5-8476-D96CE4E1C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4440238"/>
            <a:ext cx="3206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。。。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2" name="文本框 19465">
            <a:extLst>
              <a:ext uri="{FF2B5EF4-FFF2-40B4-BE49-F238E27FC236}">
                <a16:creationId xmlns:a16="http://schemas.microsoft.com/office/drawing/2014/main" id="{2AE0115C-0853-4604-8CC6-05FBBC0E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4562475"/>
            <a:ext cx="42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3" name="矩形 19466">
            <a:extLst>
              <a:ext uri="{FF2B5EF4-FFF2-40B4-BE49-F238E27FC236}">
                <a16:creationId xmlns:a16="http://schemas.microsoft.com/office/drawing/2014/main" id="{FAF31FA6-EBBE-4EA3-B405-4DB63D1A1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975" y="5065713"/>
            <a:ext cx="1219200" cy="685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4" name="文本框 19467">
            <a:extLst>
              <a:ext uri="{FF2B5EF4-FFF2-40B4-BE49-F238E27FC236}">
                <a16:creationId xmlns:a16="http://schemas.microsoft.com/office/drawing/2014/main" id="{E2B77F73-754F-44CB-A379-8A0C6D539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4959350"/>
            <a:ext cx="1250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    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</a:p>
          <a:p>
            <a:pPr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2732 CS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5" name="直接连接符 19468">
            <a:extLst>
              <a:ext uri="{FF2B5EF4-FFF2-40B4-BE49-F238E27FC236}">
                <a16:creationId xmlns:a16="http://schemas.microsoft.com/office/drawing/2014/main" id="{BB0CDCCE-BB70-42F3-A812-73DAEC3FF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5384800"/>
            <a:ext cx="228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矩形 19470">
            <a:extLst>
              <a:ext uri="{FF2B5EF4-FFF2-40B4-BE49-F238E27FC236}">
                <a16:creationId xmlns:a16="http://schemas.microsoft.com/office/drawing/2014/main" id="{9E68BADC-39C8-4611-B01C-6CEDAFCAA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3429000"/>
            <a:ext cx="228600" cy="381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7" name="直接连接符 19471">
            <a:extLst>
              <a:ext uri="{FF2B5EF4-FFF2-40B4-BE49-F238E27FC236}">
                <a16:creationId xmlns:a16="http://schemas.microsoft.com/office/drawing/2014/main" id="{75327DA6-AB35-46BA-85CB-8E312E875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0" y="3656013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8" name="直接连接符 19472">
            <a:extLst>
              <a:ext uri="{FF2B5EF4-FFF2-40B4-BE49-F238E27FC236}">
                <a16:creationId xmlns:a16="http://schemas.microsoft.com/office/drawing/2014/main" id="{7DFEE638-F042-4B65-9218-6DFAE78A55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656013"/>
            <a:ext cx="2368550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文本框 19473">
            <a:extLst>
              <a:ext uri="{FF2B5EF4-FFF2-40B4-BE49-F238E27FC236}">
                <a16:creationId xmlns:a16="http://schemas.microsoft.com/office/drawing/2014/main" id="{B7E1A560-38BA-40C4-ADC2-17B384614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808413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12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8690" name="组合 19474">
            <a:extLst>
              <a:ext uri="{FF2B5EF4-FFF2-40B4-BE49-F238E27FC236}">
                <a16:creationId xmlns:a16="http://schemas.microsoft.com/office/drawing/2014/main" id="{768C2423-823B-4CA6-9480-ED60BAA4A618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962525"/>
            <a:ext cx="1625600" cy="822325"/>
            <a:chOff x="0" y="0"/>
            <a:chExt cx="1024" cy="518"/>
          </a:xfrm>
        </p:grpSpPr>
        <p:grpSp>
          <p:nvGrpSpPr>
            <p:cNvPr id="28762" name="组合 19475">
              <a:extLst>
                <a:ext uri="{FF2B5EF4-FFF2-40B4-BE49-F238E27FC236}">
                  <a16:creationId xmlns:a16="http://schemas.microsoft.com/office/drawing/2014/main" id="{FBF30F6E-2293-4893-9033-745F2C90AD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88" cy="518"/>
              <a:chOff x="0" y="0"/>
              <a:chExt cx="788" cy="518"/>
            </a:xfrm>
          </p:grpSpPr>
          <p:sp>
            <p:nvSpPr>
              <p:cNvPr id="28764" name="矩形 19476">
                <a:extLst>
                  <a:ext uri="{FF2B5EF4-FFF2-40B4-BE49-F238E27FC236}">
                    <a16:creationId xmlns:a16="http://schemas.microsoft.com/office/drawing/2014/main" id="{EC6A9C64-16B5-45A6-97A4-6D42C3D35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" y="67"/>
                <a:ext cx="768" cy="43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765" name="文本框 19477">
                <a:extLst>
                  <a:ext uri="{FF2B5EF4-FFF2-40B4-BE49-F238E27FC236}">
                    <a16:creationId xmlns:a16="http://schemas.microsoft.com/office/drawing/2014/main" id="{94BBD2E6-1BD8-44EC-8B53-61D098B2ED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88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lang="en-US" altLang="zh-CN" sz="1400">
                    <a:latin typeface="楷体_GB2312" pitchFamily="49" charset="-122"/>
                    <a:ea typeface="楷体_GB2312" pitchFamily="49" charset="-122"/>
                  </a:rPr>
                  <a:t>11    </a:t>
                </a:r>
                <a:r>
                  <a:rPr lang="en-US" altLang="zh-CN" sz="2400"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lang="en-US" altLang="zh-CN" sz="1400">
                    <a:latin typeface="楷体_GB2312" pitchFamily="49" charset="-122"/>
                    <a:ea typeface="楷体_GB2312" pitchFamily="49" charset="-122"/>
                  </a:rPr>
                  <a:t>0</a:t>
                </a:r>
              </a:p>
              <a:p>
                <a:pPr eaLnBrk="1" hangingPunct="1"/>
                <a:r>
                  <a:rPr lang="en-US" altLang="zh-CN" sz="2400">
                    <a:latin typeface="楷体_GB2312" pitchFamily="49" charset="-122"/>
                    <a:ea typeface="楷体_GB2312" pitchFamily="49" charset="-122"/>
                  </a:rPr>
                  <a:t>2732 CS</a:t>
                </a:r>
                <a:endParaRPr lang="en-US" altLang="zh-CN" sz="2400" u="sng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8766" name="直接连接符 19478">
                <a:extLst>
                  <a:ext uri="{FF2B5EF4-FFF2-40B4-BE49-F238E27FC236}">
                    <a16:creationId xmlns:a16="http://schemas.microsoft.com/office/drawing/2014/main" id="{3E019483-5FF7-42E2-8F7C-2599EB348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8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63" name="文本框 19479">
              <a:extLst>
                <a:ext uri="{FF2B5EF4-FFF2-40B4-BE49-F238E27FC236}">
                  <a16:creationId xmlns:a16="http://schemas.microsoft.com/office/drawing/2014/main" id="{66A83DE1-792A-408E-8E70-DEF902CDD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" y="19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zh-CN" altLang="en-US" sz="2400" u="sng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8691" name="直接连接符 19480">
            <a:extLst>
              <a:ext uri="{FF2B5EF4-FFF2-40B4-BE49-F238E27FC236}">
                <a16:creationId xmlns:a16="http://schemas.microsoft.com/office/drawing/2014/main" id="{3BDC8413-C949-4D19-B411-2DB5471BA8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41900" y="4421188"/>
            <a:ext cx="0" cy="654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2" name="直接连接符 19481">
            <a:extLst>
              <a:ext uri="{FF2B5EF4-FFF2-40B4-BE49-F238E27FC236}">
                <a16:creationId xmlns:a16="http://schemas.microsoft.com/office/drawing/2014/main" id="{62B464A7-82C5-4E3E-87F8-B03891D2A2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7700" y="4870450"/>
            <a:ext cx="0" cy="193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3" name="文本框 19482">
            <a:extLst>
              <a:ext uri="{FF2B5EF4-FFF2-40B4-BE49-F238E27FC236}">
                <a16:creationId xmlns:a16="http://schemas.microsoft.com/office/drawing/2014/main" id="{220852A0-BF53-4C6D-BA4A-EF84425B4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45402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94" name="文本框 19483">
            <a:extLst>
              <a:ext uri="{FF2B5EF4-FFF2-40B4-BE49-F238E27FC236}">
                <a16:creationId xmlns:a16="http://schemas.microsoft.com/office/drawing/2014/main" id="{A56C1102-4BE4-4548-ACB2-7EC84C443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25" y="40862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95" name="直接连接符 19484">
            <a:extLst>
              <a:ext uri="{FF2B5EF4-FFF2-40B4-BE49-F238E27FC236}">
                <a16:creationId xmlns:a16="http://schemas.microsoft.com/office/drawing/2014/main" id="{610A2AB0-CCB8-4D01-9013-D046EF0F5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13" y="5591175"/>
            <a:ext cx="1587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6" name="下箭头 19485">
            <a:extLst>
              <a:ext uri="{FF2B5EF4-FFF2-40B4-BE49-F238E27FC236}">
                <a16:creationId xmlns:a16="http://schemas.microsoft.com/office/drawing/2014/main" id="{1410FEBB-61B3-40C1-94D0-78F2539C4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0" y="5756275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97" name="直接连接符 19486">
            <a:extLst>
              <a:ext uri="{FF2B5EF4-FFF2-40B4-BE49-F238E27FC236}">
                <a16:creationId xmlns:a16="http://schemas.microsoft.com/office/drawing/2014/main" id="{6DA22048-4377-47B8-B959-0CF9E7A2B8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1700" y="4418013"/>
            <a:ext cx="0" cy="654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8" name="直接连接符 19487">
            <a:extLst>
              <a:ext uri="{FF2B5EF4-FFF2-40B4-BE49-F238E27FC236}">
                <a16:creationId xmlns:a16="http://schemas.microsoft.com/office/drawing/2014/main" id="{FB379854-D949-4946-9AE0-7F64980983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7500" y="4867275"/>
            <a:ext cx="0" cy="193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9" name="文本框 19488">
            <a:extLst>
              <a:ext uri="{FF2B5EF4-FFF2-40B4-BE49-F238E27FC236}">
                <a16:creationId xmlns:a16="http://schemas.microsoft.com/office/drawing/2014/main" id="{4089EEB0-2EAA-4510-BA58-7110D0A8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2088" y="45434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00" name="文本框 19489">
            <a:extLst>
              <a:ext uri="{FF2B5EF4-FFF2-40B4-BE49-F238E27FC236}">
                <a16:creationId xmlns:a16="http://schemas.microsoft.com/office/drawing/2014/main" id="{AA7E123A-0890-4867-90DF-E0D4B4083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4083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01" name="直接连接符 19490">
            <a:extLst>
              <a:ext uri="{FF2B5EF4-FFF2-40B4-BE49-F238E27FC236}">
                <a16:creationId xmlns:a16="http://schemas.microsoft.com/office/drawing/2014/main" id="{6960F724-BCBF-48EE-ABC5-FDC6A0DB2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213" y="5588000"/>
            <a:ext cx="1539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2" name="下箭头 19491">
            <a:extLst>
              <a:ext uri="{FF2B5EF4-FFF2-40B4-BE49-F238E27FC236}">
                <a16:creationId xmlns:a16="http://schemas.microsoft.com/office/drawing/2014/main" id="{666D5952-768B-47F1-97CD-B1D52DC8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5753100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703" name="直接连接符 19492">
            <a:extLst>
              <a:ext uri="{FF2B5EF4-FFF2-40B4-BE49-F238E27FC236}">
                <a16:creationId xmlns:a16="http://schemas.microsoft.com/office/drawing/2014/main" id="{65E8BDC5-2BF9-45F6-B3E3-2B7237F34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6138" y="4105275"/>
            <a:ext cx="0" cy="1485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4" name="文本框 19493">
            <a:extLst>
              <a:ext uri="{FF2B5EF4-FFF2-40B4-BE49-F238E27FC236}">
                <a16:creationId xmlns:a16="http://schemas.microsoft.com/office/drawing/2014/main" id="{CBCE9063-698C-48F3-82F3-CA66204B5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190875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13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05" name="矩形 19494">
            <a:extLst>
              <a:ext uri="{FF2B5EF4-FFF2-40B4-BE49-F238E27FC236}">
                <a16:creationId xmlns:a16="http://schemas.microsoft.com/office/drawing/2014/main" id="{0A4E16B1-4E69-46BC-9F40-061A3DF7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884613"/>
            <a:ext cx="228600" cy="381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706" name="直接连接符 19495">
            <a:extLst>
              <a:ext uri="{FF2B5EF4-FFF2-40B4-BE49-F238E27FC236}">
                <a16:creationId xmlns:a16="http://schemas.microsoft.com/office/drawing/2014/main" id="{AFD1066B-1107-479D-9FF6-A47E8BFC3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113213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7" name="直接连接符 19496">
            <a:extLst>
              <a:ext uri="{FF2B5EF4-FFF2-40B4-BE49-F238E27FC236}">
                <a16:creationId xmlns:a16="http://schemas.microsoft.com/office/drawing/2014/main" id="{458090EF-2D07-4A02-B71D-66F85A36A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113213"/>
            <a:ext cx="762000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8708" name="组合 19497">
            <a:extLst>
              <a:ext uri="{FF2B5EF4-FFF2-40B4-BE49-F238E27FC236}">
                <a16:creationId xmlns:a16="http://schemas.microsoft.com/office/drawing/2014/main" id="{DE9BFF08-6465-4A92-8F21-551488C8D363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4418013"/>
            <a:ext cx="3429000" cy="457200"/>
            <a:chOff x="0" y="0"/>
            <a:chExt cx="2160" cy="288"/>
          </a:xfrm>
        </p:grpSpPr>
        <p:sp>
          <p:nvSpPr>
            <p:cNvPr id="28760" name="直接连接符 19498">
              <a:extLst>
                <a:ext uri="{FF2B5EF4-FFF2-40B4-BE49-F238E27FC236}">
                  <a16:creationId xmlns:a16="http://schemas.microsoft.com/office/drawing/2014/main" id="{4CAB789C-048F-479E-9D67-62C9B44F3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1" name="直接连接符 19499">
              <a:extLst>
                <a:ext uri="{FF2B5EF4-FFF2-40B4-BE49-F238E27FC236}">
                  <a16:creationId xmlns:a16="http://schemas.microsoft.com/office/drawing/2014/main" id="{3B366F5F-3464-448F-A626-6E92F0F35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2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709" name="直接连接符 19500">
            <a:extLst>
              <a:ext uri="{FF2B5EF4-FFF2-40B4-BE49-F238E27FC236}">
                <a16:creationId xmlns:a16="http://schemas.microsoft.com/office/drawing/2014/main" id="{08E9F248-CB26-4BD4-ACEF-6490B04FC3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0463" y="3656013"/>
            <a:ext cx="0" cy="19288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0" name="文本框 19501">
            <a:extLst>
              <a:ext uri="{FF2B5EF4-FFF2-40B4-BE49-F238E27FC236}">
                <a16:creationId xmlns:a16="http://schemas.microsoft.com/office/drawing/2014/main" id="{9787C95F-654F-46E6-8850-02F05067B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2515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数据总线</a:t>
            </a:r>
          </a:p>
        </p:txBody>
      </p:sp>
      <p:grpSp>
        <p:nvGrpSpPr>
          <p:cNvPr id="19503" name="组合 19502">
            <a:extLst>
              <a:ext uri="{FF2B5EF4-FFF2-40B4-BE49-F238E27FC236}">
                <a16:creationId xmlns:a16="http://schemas.microsoft.com/office/drawing/2014/main" id="{95B16F5E-797F-4F54-908E-00C18E230FE6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113213"/>
            <a:ext cx="2638425" cy="990600"/>
            <a:chOff x="0" y="0"/>
            <a:chExt cx="1662" cy="624"/>
          </a:xfrm>
        </p:grpSpPr>
        <p:grpSp>
          <p:nvGrpSpPr>
            <p:cNvPr id="28746" name="组合 19503">
              <a:extLst>
                <a:ext uri="{FF2B5EF4-FFF2-40B4-BE49-F238E27FC236}">
                  <a16:creationId xmlns:a16="http://schemas.microsoft.com/office/drawing/2014/main" id="{FC60A4AE-A3EF-4C7A-9114-8A0F7A5A76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" y="0"/>
              <a:ext cx="639" cy="623"/>
              <a:chOff x="0" y="0"/>
              <a:chExt cx="639" cy="623"/>
            </a:xfrm>
          </p:grpSpPr>
          <p:grpSp>
            <p:nvGrpSpPr>
              <p:cNvPr id="28754" name="组合 19504">
                <a:extLst>
                  <a:ext uri="{FF2B5EF4-FFF2-40B4-BE49-F238E27FC236}">
                    <a16:creationId xmlns:a16="http://schemas.microsoft.com/office/drawing/2014/main" id="{80F4EB34-A6EB-410A-B2EB-211203883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12" cy="623"/>
                <a:chOff x="0" y="0"/>
                <a:chExt cx="212" cy="623"/>
              </a:xfrm>
            </p:grpSpPr>
            <p:sp>
              <p:nvSpPr>
                <p:cNvPr id="28758" name="直接连接符 19505">
                  <a:extLst>
                    <a:ext uri="{FF2B5EF4-FFF2-40B4-BE49-F238E27FC236}">
                      <a16:creationId xmlns:a16="http://schemas.microsoft.com/office/drawing/2014/main" id="{0217D6C5-289F-4CB7-B0E4-A7F5C92311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4" y="211"/>
                  <a:ext cx="0" cy="41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9" name="文本框 19506">
                  <a:extLst>
                    <a:ext uri="{FF2B5EF4-FFF2-40B4-BE49-F238E27FC236}">
                      <a16:creationId xmlns:a16="http://schemas.microsoft.com/office/drawing/2014/main" id="{497227ED-644C-4F79-87BD-2B377ADB3E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28755" name="组合 19507">
                <a:extLst>
                  <a:ext uri="{FF2B5EF4-FFF2-40B4-BE49-F238E27FC236}">
                    <a16:creationId xmlns:a16="http://schemas.microsoft.com/office/drawing/2014/main" id="{0358BF7B-3E58-4234-AC25-D26BC3D6FD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" y="290"/>
                <a:ext cx="212" cy="326"/>
                <a:chOff x="0" y="0"/>
                <a:chExt cx="212" cy="326"/>
              </a:xfrm>
            </p:grpSpPr>
            <p:sp>
              <p:nvSpPr>
                <p:cNvPr id="28756" name="文本框 19508">
                  <a:extLst>
                    <a:ext uri="{FF2B5EF4-FFF2-40B4-BE49-F238E27FC236}">
                      <a16:creationId xmlns:a16="http://schemas.microsoft.com/office/drawing/2014/main" id="{3173DBE4-A78B-4934-BFC5-23573C17C4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28757" name="直接连接符 19509">
                  <a:extLst>
                    <a:ext uri="{FF2B5EF4-FFF2-40B4-BE49-F238E27FC236}">
                      <a16:creationId xmlns:a16="http://schemas.microsoft.com/office/drawing/2014/main" id="{D61D9B50-212C-482C-9C37-0AEFBF9C19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" y="204"/>
                  <a:ext cx="0" cy="12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8747" name="组合 19510">
              <a:extLst>
                <a:ext uri="{FF2B5EF4-FFF2-40B4-BE49-F238E27FC236}">
                  <a16:creationId xmlns:a16="http://schemas.microsoft.com/office/drawing/2014/main" id="{F676BA3F-4919-46F7-B451-70A14FE07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"/>
              <a:ext cx="639" cy="623"/>
              <a:chOff x="0" y="0"/>
              <a:chExt cx="639" cy="623"/>
            </a:xfrm>
          </p:grpSpPr>
          <p:grpSp>
            <p:nvGrpSpPr>
              <p:cNvPr id="28748" name="组合 19511">
                <a:extLst>
                  <a:ext uri="{FF2B5EF4-FFF2-40B4-BE49-F238E27FC236}">
                    <a16:creationId xmlns:a16="http://schemas.microsoft.com/office/drawing/2014/main" id="{F922F24B-6182-4CB8-BD54-F66D90FAC6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12" cy="623"/>
                <a:chOff x="0" y="0"/>
                <a:chExt cx="212" cy="623"/>
              </a:xfrm>
            </p:grpSpPr>
            <p:sp>
              <p:nvSpPr>
                <p:cNvPr id="28752" name="直接连接符 19512">
                  <a:extLst>
                    <a:ext uri="{FF2B5EF4-FFF2-40B4-BE49-F238E27FC236}">
                      <a16:creationId xmlns:a16="http://schemas.microsoft.com/office/drawing/2014/main" id="{745C99BB-C2B0-4895-8EDC-9EA2F12D6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4" y="211"/>
                  <a:ext cx="0" cy="41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3" name="文本框 19513">
                  <a:extLst>
                    <a:ext uri="{FF2B5EF4-FFF2-40B4-BE49-F238E27FC236}">
                      <a16:creationId xmlns:a16="http://schemas.microsoft.com/office/drawing/2014/main" id="{ECA184E6-8C33-412A-A3A0-63CB3FA6E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28749" name="组合 19514">
                <a:extLst>
                  <a:ext uri="{FF2B5EF4-FFF2-40B4-BE49-F238E27FC236}">
                    <a16:creationId xmlns:a16="http://schemas.microsoft.com/office/drawing/2014/main" id="{459AD115-2094-4E4A-9D34-886280FB83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" y="290"/>
                <a:ext cx="212" cy="326"/>
                <a:chOff x="0" y="0"/>
                <a:chExt cx="212" cy="326"/>
              </a:xfrm>
            </p:grpSpPr>
            <p:sp>
              <p:nvSpPr>
                <p:cNvPr id="28750" name="文本框 19515">
                  <a:extLst>
                    <a:ext uri="{FF2B5EF4-FFF2-40B4-BE49-F238E27FC236}">
                      <a16:creationId xmlns:a16="http://schemas.microsoft.com/office/drawing/2014/main" id="{B0A55F37-B89D-475A-893B-51B9316C89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28751" name="直接连接符 19516">
                  <a:extLst>
                    <a:ext uri="{FF2B5EF4-FFF2-40B4-BE49-F238E27FC236}">
                      <a16:creationId xmlns:a16="http://schemas.microsoft.com/office/drawing/2014/main" id="{26FFE0FD-BBFC-40AB-BFB9-FD56DCFF16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" y="204"/>
                  <a:ext cx="0" cy="12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9518" name="文本框 19517">
            <a:extLst>
              <a:ext uri="{FF2B5EF4-FFF2-40B4-BE49-F238E27FC236}">
                <a16:creationId xmlns:a16="http://schemas.microsoft.com/office/drawing/2014/main" id="{ACCC4D68-3FFE-4A03-9F05-279B6EB53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338" y="3232150"/>
            <a:ext cx="3349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  <a:p>
            <a:pPr algn="r"/>
            <a:endParaRPr lang="en-US" altLang="zh-CN" sz="900" b="1">
              <a:latin typeface="Times New Roman" panose="02020603050405020304" pitchFamily="18" charset="0"/>
            </a:endParaRPr>
          </a:p>
          <a:p>
            <a:pPr algn="r"/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19519" name="组合 19518">
            <a:extLst>
              <a:ext uri="{FF2B5EF4-FFF2-40B4-BE49-F238E27FC236}">
                <a16:creationId xmlns:a16="http://schemas.microsoft.com/office/drawing/2014/main" id="{BED74791-0902-4BC2-A45C-9E8B363DF56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418013"/>
            <a:ext cx="3429000" cy="457200"/>
            <a:chOff x="0" y="0"/>
            <a:chExt cx="2160" cy="288"/>
          </a:xfrm>
        </p:grpSpPr>
        <p:sp>
          <p:nvSpPr>
            <p:cNvPr id="28744" name="直接连接符 19519">
              <a:extLst>
                <a:ext uri="{FF2B5EF4-FFF2-40B4-BE49-F238E27FC236}">
                  <a16:creationId xmlns:a16="http://schemas.microsoft.com/office/drawing/2014/main" id="{A029E4A1-F130-47F6-BB06-A847EFE26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1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5" name="直接连接符 19520">
              <a:extLst>
                <a:ext uri="{FF2B5EF4-FFF2-40B4-BE49-F238E27FC236}">
                  <a16:creationId xmlns:a16="http://schemas.microsoft.com/office/drawing/2014/main" id="{F277EE76-8135-4CBF-96D4-F556EDB7E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21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2" name="组合 19521">
            <a:extLst>
              <a:ext uri="{FF2B5EF4-FFF2-40B4-BE49-F238E27FC236}">
                <a16:creationId xmlns:a16="http://schemas.microsoft.com/office/drawing/2014/main" id="{48297ECF-989D-4A89-B872-E298B6B4C5FF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5570538"/>
            <a:ext cx="1754188" cy="0"/>
            <a:chOff x="0" y="0"/>
            <a:chExt cx="1105" cy="0"/>
          </a:xfrm>
        </p:grpSpPr>
        <p:sp>
          <p:nvSpPr>
            <p:cNvPr id="28742" name="直接连接符 19522">
              <a:extLst>
                <a:ext uri="{FF2B5EF4-FFF2-40B4-BE49-F238E27FC236}">
                  <a16:creationId xmlns:a16="http://schemas.microsoft.com/office/drawing/2014/main" id="{BE659607-384F-423F-B80C-F9AFE8D3C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0"/>
              <a:ext cx="9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3" name="直接连接符 19523">
              <a:extLst>
                <a:ext uri="{FF2B5EF4-FFF2-40B4-BE49-F238E27FC236}">
                  <a16:creationId xmlns:a16="http://schemas.microsoft.com/office/drawing/2014/main" id="{300452F6-7B2F-47F5-B9EC-E5A911A79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9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5" name="组合 19524">
            <a:extLst>
              <a:ext uri="{FF2B5EF4-FFF2-40B4-BE49-F238E27FC236}">
                <a16:creationId xmlns:a16="http://schemas.microsoft.com/office/drawing/2014/main" id="{1C833F14-3E37-4A91-8861-5A44FED81B3E}"/>
              </a:ext>
            </a:extLst>
          </p:cNvPr>
          <p:cNvGrpSpPr>
            <a:grpSpLocks/>
          </p:cNvGrpSpPr>
          <p:nvPr/>
        </p:nvGrpSpPr>
        <p:grpSpPr bwMode="auto">
          <a:xfrm>
            <a:off x="3860800" y="3656013"/>
            <a:ext cx="2374900" cy="457200"/>
            <a:chOff x="-8" y="0"/>
            <a:chExt cx="1544" cy="288"/>
          </a:xfrm>
        </p:grpSpPr>
        <p:sp>
          <p:nvSpPr>
            <p:cNvPr id="28740" name="直接连接符 19525">
              <a:extLst>
                <a:ext uri="{FF2B5EF4-FFF2-40B4-BE49-F238E27FC236}">
                  <a16:creationId xmlns:a16="http://schemas.microsoft.com/office/drawing/2014/main" id="{F70286DC-1647-4F06-99CF-58257D851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5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1" name="直接连接符 19526">
              <a:extLst>
                <a:ext uri="{FF2B5EF4-FFF2-40B4-BE49-F238E27FC236}">
                  <a16:creationId xmlns:a16="http://schemas.microsoft.com/office/drawing/2014/main" id="{171348A6-065F-4B45-9662-25356D34F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8" y="288"/>
              <a:ext cx="5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8" name="组合 19527">
            <a:extLst>
              <a:ext uri="{FF2B5EF4-FFF2-40B4-BE49-F238E27FC236}">
                <a16:creationId xmlns:a16="http://schemas.microsoft.com/office/drawing/2014/main" id="{073E8063-130C-4F71-B4A1-3E536467EE3C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656013"/>
            <a:ext cx="1600200" cy="1889125"/>
            <a:chOff x="0" y="0"/>
            <a:chExt cx="1008" cy="1248"/>
          </a:xfrm>
        </p:grpSpPr>
        <p:sp>
          <p:nvSpPr>
            <p:cNvPr id="28738" name="直接连接符 19528">
              <a:extLst>
                <a:ext uri="{FF2B5EF4-FFF2-40B4-BE49-F238E27FC236}">
                  <a16:creationId xmlns:a16="http://schemas.microsoft.com/office/drawing/2014/main" id="{9EFBD6C7-1048-49FD-986F-5CAE9937B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0"/>
              <a:ext cx="0" cy="124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9" name="直接连接符 19529">
              <a:extLst>
                <a:ext uri="{FF2B5EF4-FFF2-40B4-BE49-F238E27FC236}">
                  <a16:creationId xmlns:a16="http://schemas.microsoft.com/office/drawing/2014/main" id="{838B8E50-F9E5-42A4-835E-A2002BCA1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0" cy="91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31" name="组合 19530">
            <a:extLst>
              <a:ext uri="{FF2B5EF4-FFF2-40B4-BE49-F238E27FC236}">
                <a16:creationId xmlns:a16="http://schemas.microsoft.com/office/drawing/2014/main" id="{B78BBBE1-F262-47B7-A256-AA9EBF6603C8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951413"/>
            <a:ext cx="2927350" cy="822325"/>
            <a:chOff x="0" y="0"/>
            <a:chExt cx="1844" cy="518"/>
          </a:xfrm>
        </p:grpSpPr>
        <p:grpSp>
          <p:nvGrpSpPr>
            <p:cNvPr id="28728" name="组合 19531">
              <a:extLst>
                <a:ext uri="{FF2B5EF4-FFF2-40B4-BE49-F238E27FC236}">
                  <a16:creationId xmlns:a16="http://schemas.microsoft.com/office/drawing/2014/main" id="{BFD1F267-E4DE-4309-A07E-674169473F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88" cy="518"/>
              <a:chOff x="0" y="0"/>
              <a:chExt cx="788" cy="518"/>
            </a:xfrm>
          </p:grpSpPr>
          <p:grpSp>
            <p:nvGrpSpPr>
              <p:cNvPr id="28734" name="组合 19532">
                <a:extLst>
                  <a:ext uri="{FF2B5EF4-FFF2-40B4-BE49-F238E27FC236}">
                    <a16:creationId xmlns:a16="http://schemas.microsoft.com/office/drawing/2014/main" id="{46C9D4CD-59F3-47AE-8339-0C749694E6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88" cy="518"/>
                <a:chOff x="0" y="0"/>
                <a:chExt cx="788" cy="518"/>
              </a:xfrm>
            </p:grpSpPr>
            <p:sp>
              <p:nvSpPr>
                <p:cNvPr id="28736" name="矩形 19533">
                  <a:extLst>
                    <a:ext uri="{FF2B5EF4-FFF2-40B4-BE49-F238E27FC236}">
                      <a16:creationId xmlns:a16="http://schemas.microsoft.com/office/drawing/2014/main" id="{B55A0143-445D-40AC-97EC-F237DDCA2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1"/>
                  <a:ext cx="768" cy="432"/>
                </a:xfrm>
                <a:prstGeom prst="rect">
                  <a:avLst/>
                </a:prstGeom>
                <a:solidFill>
                  <a:srgbClr val="CC6600"/>
                </a:solidFill>
                <a:ln>
                  <a:noFill/>
                </a:ln>
                <a:effectLst>
                  <a:outerShdw dist="107763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737" name="文本框 19534">
                  <a:extLst>
                    <a:ext uri="{FF2B5EF4-FFF2-40B4-BE49-F238E27FC236}">
                      <a16:creationId xmlns:a16="http://schemas.microsoft.com/office/drawing/2014/main" id="{60498435-EF4D-4878-97EB-5A4A9B6DE6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788" cy="51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11    </a:t>
                  </a:r>
                  <a:r>
                    <a:rPr lang="en-US" altLang="zh-CN" sz="2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0</a:t>
                  </a:r>
                </a:p>
                <a:p>
                  <a:pPr eaLnBrk="1" hangingPunct="1"/>
                  <a:r>
                    <a:rPr lang="en-US" altLang="zh-CN" sz="2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     CS</a:t>
                  </a:r>
                  <a:endParaRPr lang="en-US" altLang="zh-CN" sz="2400" u="sng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28735" name="直接连接符 19535">
                <a:extLst>
                  <a:ext uri="{FF2B5EF4-FFF2-40B4-BE49-F238E27FC236}">
                    <a16:creationId xmlns:a16="http://schemas.microsoft.com/office/drawing/2014/main" id="{61DA1710-0767-4C59-90BD-D6D25A07D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288"/>
                <a:ext cx="14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9" name="组合 19536">
              <a:extLst>
                <a:ext uri="{FF2B5EF4-FFF2-40B4-BE49-F238E27FC236}">
                  <a16:creationId xmlns:a16="http://schemas.microsoft.com/office/drawing/2014/main" id="{1FBE9623-FAD8-4729-9573-67990536AC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0"/>
              <a:ext cx="788" cy="518"/>
              <a:chOff x="0" y="0"/>
              <a:chExt cx="788" cy="518"/>
            </a:xfrm>
          </p:grpSpPr>
          <p:grpSp>
            <p:nvGrpSpPr>
              <p:cNvPr id="28730" name="组合 19537">
                <a:extLst>
                  <a:ext uri="{FF2B5EF4-FFF2-40B4-BE49-F238E27FC236}">
                    <a16:creationId xmlns:a16="http://schemas.microsoft.com/office/drawing/2014/main" id="{DCF8D658-0D7B-4AF1-B16E-704628C978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88" cy="518"/>
                <a:chOff x="0" y="0"/>
                <a:chExt cx="788" cy="518"/>
              </a:xfrm>
            </p:grpSpPr>
            <p:sp>
              <p:nvSpPr>
                <p:cNvPr id="28732" name="矩形 19538">
                  <a:extLst>
                    <a:ext uri="{FF2B5EF4-FFF2-40B4-BE49-F238E27FC236}">
                      <a16:creationId xmlns:a16="http://schemas.microsoft.com/office/drawing/2014/main" id="{65BF6B4E-B672-4C9D-98B4-7D0935D6B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1"/>
                  <a:ext cx="768" cy="43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dist="107763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733" name="文本框 19539">
                  <a:extLst>
                    <a:ext uri="{FF2B5EF4-FFF2-40B4-BE49-F238E27FC236}">
                      <a16:creationId xmlns:a16="http://schemas.microsoft.com/office/drawing/2014/main" id="{9C9BDC6F-EACA-4A69-8141-6762FB5A78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788" cy="51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latin typeface="楷体_GB2312" pitchFamily="49" charset="-122"/>
                      <a:ea typeface="楷体_GB2312" pitchFamily="49" charset="-122"/>
                    </a:rPr>
                    <a:t>11    </a:t>
                  </a:r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latin typeface="楷体_GB2312" pitchFamily="49" charset="-122"/>
                      <a:ea typeface="楷体_GB2312" pitchFamily="49" charset="-122"/>
                    </a:rPr>
                    <a:t>0</a:t>
                  </a:r>
                </a:p>
                <a:p>
                  <a:pPr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     CS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28731" name="直接连接符 19540">
                <a:extLst>
                  <a:ext uri="{FF2B5EF4-FFF2-40B4-BE49-F238E27FC236}">
                    <a16:creationId xmlns:a16="http://schemas.microsoft.com/office/drawing/2014/main" id="{0BCC2D5F-3AFA-4C45-9E1A-DACCFE99D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288"/>
                <a:ext cx="14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542" name="组合 19541">
            <a:extLst>
              <a:ext uri="{FF2B5EF4-FFF2-40B4-BE49-F238E27FC236}">
                <a16:creationId xmlns:a16="http://schemas.microsoft.com/office/drawing/2014/main" id="{DD60FC18-FEE6-4717-885C-303E1F25985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780088"/>
            <a:ext cx="1905000" cy="190500"/>
            <a:chOff x="0" y="0"/>
            <a:chExt cx="1200" cy="120"/>
          </a:xfrm>
        </p:grpSpPr>
        <p:sp>
          <p:nvSpPr>
            <p:cNvPr id="28726" name="下箭头 19542">
              <a:extLst>
                <a:ext uri="{FF2B5EF4-FFF2-40B4-BE49-F238E27FC236}">
                  <a16:creationId xmlns:a16="http://schemas.microsoft.com/office/drawing/2014/main" id="{A033D104-07D6-4DD3-AF4D-6A3825A3B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0"/>
              <a:ext cx="192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5050"/>
            </a:solidFill>
            <a:ln w="3810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27" name="下箭头 19543">
              <a:extLst>
                <a:ext uri="{FF2B5EF4-FFF2-40B4-BE49-F238E27FC236}">
                  <a16:creationId xmlns:a16="http://schemas.microsoft.com/office/drawing/2014/main" id="{7D06DFD1-6FDF-46E6-B434-6A3346DC6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2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6600"/>
            </a:solidFill>
            <a:ln w="3810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9545" name="爆炸形 1 19544">
            <a:extLst>
              <a:ext uri="{FF2B5EF4-FFF2-40B4-BE49-F238E27FC236}">
                <a16:creationId xmlns:a16="http://schemas.microsoft.com/office/drawing/2014/main" id="{F1B7F9E2-D748-4779-9A20-1B2EA539B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06938"/>
            <a:ext cx="2209800" cy="1600200"/>
          </a:xfrm>
          <a:prstGeom prst="irregularSeal1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数据冲突</a:t>
            </a:r>
          </a:p>
        </p:txBody>
      </p:sp>
      <p:sp>
        <p:nvSpPr>
          <p:cNvPr id="28720" name="矩形 19545">
            <a:extLst>
              <a:ext uri="{FF2B5EF4-FFF2-40B4-BE49-F238E27FC236}">
                <a16:creationId xmlns:a16="http://schemas.microsoft.com/office/drawing/2014/main" id="{8611EA71-72C9-4273-ADC3-FCDE6856F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5970588"/>
            <a:ext cx="4083050" cy="1905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721" name="矩形 19546">
            <a:extLst>
              <a:ext uri="{FF2B5EF4-FFF2-40B4-BE49-F238E27FC236}">
                <a16:creationId xmlns:a16="http://schemas.microsoft.com/office/drawing/2014/main" id="{CF53B2CE-F9D2-4E59-B4CC-C841F1E37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3648075"/>
            <a:ext cx="1603375" cy="735013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要求会计算</a:t>
            </a:r>
          </a:p>
          <a:p>
            <a:pPr algn="ctr" eaLnBrk="1" hangingPunct="1"/>
            <a:r>
              <a:rPr lang="zh-CN" altLang="en-US" b="1"/>
              <a:t>地址重叠区域</a:t>
            </a:r>
          </a:p>
        </p:txBody>
      </p:sp>
      <p:sp>
        <p:nvSpPr>
          <p:cNvPr id="28722" name="灯片编号占位符 1">
            <a:extLst>
              <a:ext uri="{FF2B5EF4-FFF2-40B4-BE49-F238E27FC236}">
                <a16:creationId xmlns:a16="http://schemas.microsoft.com/office/drawing/2014/main" id="{79A0C820-C946-42B9-BBCA-87C4ACB94F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BD18F64-95A7-4721-B1AF-BDEAF3168740}" type="slidenum">
              <a:rPr altLang="en-US" smtClean="0">
                <a:latin typeface="Times New Roman" panose="02020603050405020304" pitchFamily="18" charset="0"/>
              </a:rPr>
              <a:pPr/>
              <a:t>24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723" name="文本框 19469">
            <a:extLst>
              <a:ext uri="{FF2B5EF4-FFF2-40B4-BE49-F238E27FC236}">
                <a16:creationId xmlns:a16="http://schemas.microsoft.com/office/drawing/2014/main" id="{C3898EF3-43C4-4089-B128-938FC17C6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5" y="52752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24" name="文本框 1">
            <a:extLst>
              <a:ext uri="{FF2B5EF4-FFF2-40B4-BE49-F238E27FC236}">
                <a16:creationId xmlns:a16="http://schemas.microsoft.com/office/drawing/2014/main" id="{5C31E5CB-C71E-4A22-99D0-FB802A0EA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3359150"/>
            <a:ext cx="487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8725" name="文本框 2">
            <a:extLst>
              <a:ext uri="{FF2B5EF4-FFF2-40B4-BE49-F238E27FC236}">
                <a16:creationId xmlns:a16="http://schemas.microsoft.com/office/drawing/2014/main" id="{01D0DBA1-2785-44EE-B136-FF824D8C2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525" y="3814763"/>
            <a:ext cx="488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18" grpId="0"/>
      <p:bldP spid="1954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0481">
            <a:extLst>
              <a:ext uri="{FF2B5EF4-FFF2-40B4-BE49-F238E27FC236}">
                <a16:creationId xmlns:a16="http://schemas.microsoft.com/office/drawing/2014/main" id="{43DC1DC9-7C0A-4A18-994A-82F8A5A2E9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77875"/>
            <a:ext cx="8716963" cy="1539875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部分译码法就是</a:t>
            </a:r>
            <a:r>
              <a:rPr lang="zh-CN" altLang="en-US" sz="2000" b="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线选法和全译码法相结合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的方法。利用地址线高位进行译码产生片选信号时，有的地址线未参加译码，直接与芯片片选信号相连，以对芯片进行片选。 因此,该方式</a:t>
            </a:r>
            <a:r>
              <a:rPr lang="zh-CN" altLang="en-US" sz="2000" b="0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也</a:t>
            </a:r>
            <a:r>
              <a:rPr lang="zh-CN" altLang="en-US" sz="2000" b="0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存在地址重叠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的问题。</a:t>
            </a:r>
            <a:r>
              <a:rPr lang="zh-CN" altLang="en-US" sz="24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</a:p>
        </p:txBody>
      </p:sp>
      <p:sp>
        <p:nvSpPr>
          <p:cNvPr id="29699" name="直接连接符 20482">
            <a:extLst>
              <a:ext uri="{FF2B5EF4-FFF2-40B4-BE49-F238E27FC236}">
                <a16:creationId xmlns:a16="http://schemas.microsoft.com/office/drawing/2014/main" id="{3DBE5F52-E11F-49DC-ABD8-D445B5DC3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832225"/>
            <a:ext cx="0" cy="522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右箭头 20483">
            <a:extLst>
              <a:ext uri="{FF2B5EF4-FFF2-40B4-BE49-F238E27FC236}">
                <a16:creationId xmlns:a16="http://schemas.microsoft.com/office/drawing/2014/main" id="{AE4E00AB-0EB6-4906-ABE5-E3A27301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169025"/>
            <a:ext cx="287338" cy="219075"/>
          </a:xfrm>
          <a:prstGeom prst="rightArrow">
            <a:avLst>
              <a:gd name="adj1" fmla="val 50000"/>
              <a:gd name="adj2" fmla="val 3277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1" name="上下箭头 20484">
            <a:extLst>
              <a:ext uri="{FF2B5EF4-FFF2-40B4-BE49-F238E27FC236}">
                <a16:creationId xmlns:a16="http://schemas.microsoft.com/office/drawing/2014/main" id="{F5E83C33-6FBE-4B27-A2E4-80432541A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5875338"/>
            <a:ext cx="152400" cy="323850"/>
          </a:xfrm>
          <a:prstGeom prst="upDownArrow">
            <a:avLst>
              <a:gd name="adj1" fmla="val 50000"/>
              <a:gd name="adj2" fmla="val 42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2" name="下箭头 20485">
            <a:extLst>
              <a:ext uri="{FF2B5EF4-FFF2-40B4-BE49-F238E27FC236}">
                <a16:creationId xmlns:a16="http://schemas.microsoft.com/office/drawing/2014/main" id="{E12E0A3B-E0DE-4893-BDBD-F480C9A98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4171950"/>
            <a:ext cx="152400" cy="287338"/>
          </a:xfrm>
          <a:prstGeom prst="downArrow">
            <a:avLst>
              <a:gd name="adj1" fmla="val 50000"/>
              <a:gd name="adj2" fmla="val 4711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3" name="直接连接符 20486">
            <a:extLst>
              <a:ext uri="{FF2B5EF4-FFF2-40B4-BE49-F238E27FC236}">
                <a16:creationId xmlns:a16="http://schemas.microsoft.com/office/drawing/2014/main" id="{35DD035E-F7CB-4C06-9D43-D181CF43F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50323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直接连接符 20487">
            <a:extLst>
              <a:ext uri="{FF2B5EF4-FFF2-40B4-BE49-F238E27FC236}">
                <a16:creationId xmlns:a16="http://schemas.microsoft.com/office/drawing/2014/main" id="{7B5B30C8-99FF-4195-B2D8-9116B8971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6313" y="5262563"/>
            <a:ext cx="0" cy="1436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5" name="直接连接符 20488">
            <a:extLst>
              <a:ext uri="{FF2B5EF4-FFF2-40B4-BE49-F238E27FC236}">
                <a16:creationId xmlns:a16="http://schemas.microsoft.com/office/drawing/2014/main" id="{44B7A19B-42D8-492B-9E02-0834AAA3F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9488" y="5254625"/>
            <a:ext cx="320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6" name="矩形 20489">
            <a:extLst>
              <a:ext uri="{FF2B5EF4-FFF2-40B4-BE49-F238E27FC236}">
                <a16:creationId xmlns:a16="http://schemas.microsoft.com/office/drawing/2014/main" id="{C2939B4C-7E6B-4463-BEE1-9D9258B29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263900"/>
            <a:ext cx="838200" cy="3276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7" name="矩形 20490">
            <a:extLst>
              <a:ext uri="{FF2B5EF4-FFF2-40B4-BE49-F238E27FC236}">
                <a16:creationId xmlns:a16="http://schemas.microsoft.com/office/drawing/2014/main" id="{8DF20391-A5BD-4AC2-A5A7-DE2AA9766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2882900"/>
            <a:ext cx="696912" cy="1066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8" name="文本框 20491">
            <a:extLst>
              <a:ext uri="{FF2B5EF4-FFF2-40B4-BE49-F238E27FC236}">
                <a16:creationId xmlns:a16="http://schemas.microsoft.com/office/drawing/2014/main" id="{90EC94BC-55D9-4791-9951-4A605D50F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2908300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2: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４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09" name="文本框 20492">
            <a:extLst>
              <a:ext uri="{FF2B5EF4-FFF2-40B4-BE49-F238E27FC236}">
                <a16:creationId xmlns:a16="http://schemas.microsoft.com/office/drawing/2014/main" id="{07E78E88-E4B9-40CF-A191-2D7C8D8FD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775" y="3259138"/>
            <a:ext cx="396875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译码器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0" name="文本框 20493">
            <a:extLst>
              <a:ext uri="{FF2B5EF4-FFF2-40B4-BE49-F238E27FC236}">
                <a16:creationId xmlns:a16="http://schemas.microsoft.com/office/drawing/2014/main" id="{3DEFBA6D-B7AB-44E5-A036-592834D6C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33375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１</a:t>
            </a:r>
            <a:r>
              <a:rPr lang="en-US" altLang="zh-CN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－１</a:t>
            </a:r>
            <a:r>
              <a:rPr lang="en-US" altLang="zh-CN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1" name="左箭头 20494">
            <a:extLst>
              <a:ext uri="{FF2B5EF4-FFF2-40B4-BE49-F238E27FC236}">
                <a16:creationId xmlns:a16="http://schemas.microsoft.com/office/drawing/2014/main" id="{B120BDDC-7439-4577-B21D-2D60E3AA1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6176963"/>
            <a:ext cx="287338" cy="207962"/>
          </a:xfrm>
          <a:prstGeom prst="leftArrow">
            <a:avLst>
              <a:gd name="adj1" fmla="val 50000"/>
              <a:gd name="adj2" fmla="val 34529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2" name="右箭头 20495">
            <a:extLst>
              <a:ext uri="{FF2B5EF4-FFF2-40B4-BE49-F238E27FC236}">
                <a16:creationId xmlns:a16="http://schemas.microsoft.com/office/drawing/2014/main" id="{4143F31E-AA24-4B46-8C97-8AF4D5392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79788"/>
            <a:ext cx="550863" cy="228600"/>
          </a:xfrm>
          <a:prstGeom prst="rightArrow">
            <a:avLst>
              <a:gd name="adj1" fmla="val 50000"/>
              <a:gd name="adj2" fmla="val 60221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3" name="直接连接符 20496">
            <a:extLst>
              <a:ext uri="{FF2B5EF4-FFF2-40B4-BE49-F238E27FC236}">
                <a16:creationId xmlns:a16="http://schemas.microsoft.com/office/drawing/2014/main" id="{8E1C0564-6C0C-4AB1-BA95-8181DC604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825" y="6686550"/>
            <a:ext cx="6183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4" name="文本框 20497">
            <a:extLst>
              <a:ext uri="{FF2B5EF4-FFF2-40B4-BE49-F238E27FC236}">
                <a16:creationId xmlns:a16="http://schemas.microsoft.com/office/drawing/2014/main" id="{90FA153A-82CA-4398-8974-4124D22A7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5130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5" name="直接连接符 20498">
            <a:extLst>
              <a:ext uri="{FF2B5EF4-FFF2-40B4-BE49-F238E27FC236}">
                <a16:creationId xmlns:a16="http://schemas.microsoft.com/office/drawing/2014/main" id="{504F5E92-CE1D-4687-8E3B-1FD3583BD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7375" y="2695575"/>
            <a:ext cx="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6" name="直接连接符 20499">
            <a:extLst>
              <a:ext uri="{FF2B5EF4-FFF2-40B4-BE49-F238E27FC236}">
                <a16:creationId xmlns:a16="http://schemas.microsoft.com/office/drawing/2014/main" id="{6855EB9F-6723-41DC-B46C-ABFBFF33B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703513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7" name="直接连接符 20500">
            <a:extLst>
              <a:ext uri="{FF2B5EF4-FFF2-40B4-BE49-F238E27FC236}">
                <a16:creationId xmlns:a16="http://schemas.microsoft.com/office/drawing/2014/main" id="{E5236982-C599-4EB6-AC16-82B738E344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711450"/>
            <a:ext cx="0" cy="1800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8" name="文本框 20501">
            <a:extLst>
              <a:ext uri="{FF2B5EF4-FFF2-40B4-BE49-F238E27FC236}">
                <a16:creationId xmlns:a16="http://schemas.microsoft.com/office/drawing/2014/main" id="{69A34EFA-FA1D-4404-8DFA-B147AF05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49700"/>
            <a:ext cx="704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９－０</a:t>
            </a:r>
            <a:endParaRPr lang="zh-CN" altLang="en-US" sz="1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9" name="文本框 20502">
            <a:extLst>
              <a:ext uri="{FF2B5EF4-FFF2-40B4-BE49-F238E27FC236}">
                <a16:creationId xmlns:a16="http://schemas.microsoft.com/office/drawing/2014/main" id="{0FBAD4CF-09D2-4E9E-8349-4B16DBD0B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330700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M/IO</a:t>
            </a:r>
            <a:endParaRPr lang="en-US" altLang="zh-CN" sz="1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0" name="直接连接符 20503">
            <a:extLst>
              <a:ext uri="{FF2B5EF4-FFF2-40B4-BE49-F238E27FC236}">
                <a16:creationId xmlns:a16="http://schemas.microsoft.com/office/drawing/2014/main" id="{BCD3A5ED-9C63-4449-976E-93DA640D2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4398963"/>
            <a:ext cx="144463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1" name="直接连接符 20504">
            <a:extLst>
              <a:ext uri="{FF2B5EF4-FFF2-40B4-BE49-F238E27FC236}">
                <a16:creationId xmlns:a16="http://schemas.microsoft.com/office/drawing/2014/main" id="{B33A5EEC-5C31-435D-B9A0-233F8C6D8D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4497388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2" name="文本框 20505">
            <a:extLst>
              <a:ext uri="{FF2B5EF4-FFF2-40B4-BE49-F238E27FC236}">
                <a16:creationId xmlns:a16="http://schemas.microsoft.com/office/drawing/2014/main" id="{49A05C3A-4B23-4303-8713-CF4CFA9CF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" y="4940300"/>
            <a:ext cx="71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ＣＰＵ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9723" name="组合 20506">
            <a:extLst>
              <a:ext uri="{FF2B5EF4-FFF2-40B4-BE49-F238E27FC236}">
                <a16:creationId xmlns:a16="http://schemas.microsoft.com/office/drawing/2014/main" id="{F849E10C-9E34-4472-A5EE-5103383D6952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549900"/>
            <a:ext cx="539750" cy="304800"/>
            <a:chOff x="0" y="0"/>
            <a:chExt cx="340" cy="192"/>
          </a:xfrm>
        </p:grpSpPr>
        <p:sp>
          <p:nvSpPr>
            <p:cNvPr id="29820" name="文本框 20507">
              <a:extLst>
                <a:ext uri="{FF2B5EF4-FFF2-40B4-BE49-F238E27FC236}">
                  <a16:creationId xmlns:a16="http://schemas.microsoft.com/office/drawing/2014/main" id="{EDEFD541-B477-4D7A-98E1-3648D90C4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ＷＲ</a:t>
              </a:r>
            </a:p>
          </p:txBody>
        </p:sp>
        <p:sp>
          <p:nvSpPr>
            <p:cNvPr id="29821" name="直接连接符 20508">
              <a:extLst>
                <a:ext uri="{FF2B5EF4-FFF2-40B4-BE49-F238E27FC236}">
                  <a16:creationId xmlns:a16="http://schemas.microsoft.com/office/drawing/2014/main" id="{039CA562-BD38-4A9E-84F8-D4850D33C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48"/>
              <a:ext cx="19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24" name="直接连接符 20509">
            <a:extLst>
              <a:ext uri="{FF2B5EF4-FFF2-40B4-BE49-F238E27FC236}">
                <a16:creationId xmlns:a16="http://schemas.microsoft.com/office/drawing/2014/main" id="{5D251F36-611D-402F-B154-C9DC460509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5695950"/>
            <a:ext cx="0" cy="990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5" name="直接连接符 20510">
            <a:extLst>
              <a:ext uri="{FF2B5EF4-FFF2-40B4-BE49-F238E27FC236}">
                <a16:creationId xmlns:a16="http://schemas.microsoft.com/office/drawing/2014/main" id="{B8B131E8-77C9-4393-8CC1-4C9E9B4D5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702300"/>
            <a:ext cx="228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6" name="文本框 20511">
            <a:extLst>
              <a:ext uri="{FF2B5EF4-FFF2-40B4-BE49-F238E27FC236}">
                <a16:creationId xmlns:a16="http://schemas.microsoft.com/office/drawing/2014/main" id="{D4696449-CF1E-4A7C-BE76-AF7C1F17E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3401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7" name="文本框 20512">
            <a:extLst>
              <a:ext uri="{FF2B5EF4-FFF2-40B4-BE49-F238E27FC236}">
                <a16:creationId xmlns:a16="http://schemas.microsoft.com/office/drawing/2014/main" id="{853106ED-848E-470E-B6C1-860420825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1877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8" name="文本框 20513">
            <a:extLst>
              <a:ext uri="{FF2B5EF4-FFF2-40B4-BE49-F238E27FC236}">
                <a16:creationId xmlns:a16="http://schemas.microsoft.com/office/drawing/2014/main" id="{8A45980A-ED33-42BD-B7DF-65BBF3AF2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035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9" name="矩形 20514">
            <a:extLst>
              <a:ext uri="{FF2B5EF4-FFF2-40B4-BE49-F238E27FC236}">
                <a16:creationId xmlns:a16="http://schemas.microsoft.com/office/drawing/2014/main" id="{1415D2B6-A8EA-42E6-934D-697A3C463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4552950"/>
            <a:ext cx="708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30" name="文本框 20515">
            <a:extLst>
              <a:ext uri="{FF2B5EF4-FFF2-40B4-BE49-F238E27FC236}">
                <a16:creationId xmlns:a16="http://schemas.microsoft.com/office/drawing/2014/main" id="{5FF08F73-1DD6-4E3C-8A2E-4BB1EF74D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650" y="4440238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31" name="直接连接符 20516">
            <a:extLst>
              <a:ext uri="{FF2B5EF4-FFF2-40B4-BE49-F238E27FC236}">
                <a16:creationId xmlns:a16="http://schemas.microsoft.com/office/drawing/2014/main" id="{B14DDAFA-154A-4A06-9799-AF06F5ABA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94665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2" name="直接连接符 20517">
            <a:extLst>
              <a:ext uri="{FF2B5EF4-FFF2-40B4-BE49-F238E27FC236}">
                <a16:creationId xmlns:a16="http://schemas.microsoft.com/office/drawing/2014/main" id="{66FBD5F3-AC56-4F28-9A0A-6245983AF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0963" y="5162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3" name="文本框 20518">
            <a:extLst>
              <a:ext uri="{FF2B5EF4-FFF2-40B4-BE49-F238E27FC236}">
                <a16:creationId xmlns:a16="http://schemas.microsoft.com/office/drawing/2014/main" id="{BA1CB0AA-07BB-4E84-82E6-322DD0389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46878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34" name="文本框 20519">
            <a:extLst>
              <a:ext uri="{FF2B5EF4-FFF2-40B4-BE49-F238E27FC236}">
                <a16:creationId xmlns:a16="http://schemas.microsoft.com/office/drawing/2014/main" id="{F32CDAB6-7665-4C34-95FB-A33B73C4D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49164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35" name="直接连接符 20520">
            <a:extLst>
              <a:ext uri="{FF2B5EF4-FFF2-40B4-BE49-F238E27FC236}">
                <a16:creationId xmlns:a16="http://schemas.microsoft.com/office/drawing/2014/main" id="{EB447736-BB3E-42CB-9018-90F334DEE5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3623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6" name="直接连接符 20521">
            <a:extLst>
              <a:ext uri="{FF2B5EF4-FFF2-40B4-BE49-F238E27FC236}">
                <a16:creationId xmlns:a16="http://schemas.microsoft.com/office/drawing/2014/main" id="{7CE703C2-A357-4328-9443-CFF290304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5838" y="3379788"/>
            <a:ext cx="3789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7" name="直接连接符 20522">
            <a:extLst>
              <a:ext uri="{FF2B5EF4-FFF2-40B4-BE49-F238E27FC236}">
                <a16:creationId xmlns:a16="http://schemas.microsoft.com/office/drawing/2014/main" id="{F19FB5DA-7B1E-4038-B59A-201C8F948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3527425"/>
            <a:ext cx="2411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8" name="直接连接符 20523">
            <a:extLst>
              <a:ext uri="{FF2B5EF4-FFF2-40B4-BE49-F238E27FC236}">
                <a16:creationId xmlns:a16="http://schemas.microsoft.com/office/drawing/2014/main" id="{52EE6139-6BF8-4DB8-89A7-FF4410613A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5" y="366871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9" name="直接连接符 20524">
            <a:extLst>
              <a:ext uri="{FF2B5EF4-FFF2-40B4-BE49-F238E27FC236}">
                <a16:creationId xmlns:a16="http://schemas.microsoft.com/office/drawing/2014/main" id="{3EECFB07-F145-428B-92D0-850002C7B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3678238"/>
            <a:ext cx="1008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0" name="上下箭头 20525">
            <a:extLst>
              <a:ext uri="{FF2B5EF4-FFF2-40B4-BE49-F238E27FC236}">
                <a16:creationId xmlns:a16="http://schemas.microsoft.com/office/drawing/2014/main" id="{FF568AF2-A6A9-42BC-A7C2-23873CA1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0" y="5872163"/>
            <a:ext cx="152400" cy="323850"/>
          </a:xfrm>
          <a:prstGeom prst="upDownArrow">
            <a:avLst>
              <a:gd name="adj1" fmla="val 50000"/>
              <a:gd name="adj2" fmla="val 42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41" name="下箭头 20526">
            <a:extLst>
              <a:ext uri="{FF2B5EF4-FFF2-40B4-BE49-F238E27FC236}">
                <a16:creationId xmlns:a16="http://schemas.microsoft.com/office/drawing/2014/main" id="{BECEE741-2F22-4B45-A94F-87FC8C368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171950"/>
            <a:ext cx="152400" cy="287338"/>
          </a:xfrm>
          <a:prstGeom prst="downArrow">
            <a:avLst>
              <a:gd name="adj1" fmla="val 50000"/>
              <a:gd name="adj2" fmla="val 4711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42" name="矩形 20527">
            <a:extLst>
              <a:ext uri="{FF2B5EF4-FFF2-40B4-BE49-F238E27FC236}">
                <a16:creationId xmlns:a16="http://schemas.microsoft.com/office/drawing/2014/main" id="{D30CB4D6-DBC0-40DE-803C-AAEFDE295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4559300"/>
            <a:ext cx="708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43" name="文本框 20528">
            <a:extLst>
              <a:ext uri="{FF2B5EF4-FFF2-40B4-BE49-F238E27FC236}">
                <a16:creationId xmlns:a16="http://schemas.microsoft.com/office/drawing/2014/main" id="{7316D22D-0FF1-45F1-8329-B83AD2288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4446588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44" name="直接连接符 20529">
            <a:extLst>
              <a:ext uri="{FF2B5EF4-FFF2-40B4-BE49-F238E27FC236}">
                <a16:creationId xmlns:a16="http://schemas.microsoft.com/office/drawing/2014/main" id="{8D59658F-08EE-4FBA-818A-F650F71BF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5700" y="49530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5" name="直接连接符 20530">
            <a:extLst>
              <a:ext uri="{FF2B5EF4-FFF2-40B4-BE49-F238E27FC236}">
                <a16:creationId xmlns:a16="http://schemas.microsoft.com/office/drawing/2014/main" id="{38CBC77B-FB90-4E17-B19B-A41F77715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263" y="51689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6" name="文本框 20531">
            <a:extLst>
              <a:ext uri="{FF2B5EF4-FFF2-40B4-BE49-F238E27FC236}">
                <a16:creationId xmlns:a16="http://schemas.microsoft.com/office/drawing/2014/main" id="{43380C44-4C4B-487E-A8F2-72DFBC1FE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0" y="46942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47" name="文本框 20532">
            <a:extLst>
              <a:ext uri="{FF2B5EF4-FFF2-40B4-BE49-F238E27FC236}">
                <a16:creationId xmlns:a16="http://schemas.microsoft.com/office/drawing/2014/main" id="{E267F4BC-17D1-4C53-BBFB-5867E466F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0" y="49228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48" name="直接连接符 20533">
            <a:extLst>
              <a:ext uri="{FF2B5EF4-FFF2-40B4-BE49-F238E27FC236}">
                <a16:creationId xmlns:a16="http://schemas.microsoft.com/office/drawing/2014/main" id="{B8D5BBF1-DC70-4D49-9561-3624014CDF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788" y="50292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9" name="直接连接符 20534">
            <a:extLst>
              <a:ext uri="{FF2B5EF4-FFF2-40B4-BE49-F238E27FC236}">
                <a16:creationId xmlns:a16="http://schemas.microsoft.com/office/drawing/2014/main" id="{811B807E-761F-4086-AD2A-8ACE18130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788" y="525938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0" name="直接连接符 20535">
            <a:extLst>
              <a:ext uri="{FF2B5EF4-FFF2-40B4-BE49-F238E27FC236}">
                <a16:creationId xmlns:a16="http://schemas.microsoft.com/office/drawing/2014/main" id="{339E8413-382E-408A-B2CE-769C61C64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160838"/>
            <a:ext cx="0" cy="874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1" name="直接连接符 20536">
            <a:extLst>
              <a:ext uri="{FF2B5EF4-FFF2-40B4-BE49-F238E27FC236}">
                <a16:creationId xmlns:a16="http://schemas.microsoft.com/office/drawing/2014/main" id="{7116F05F-4AF8-4656-990B-E28A16FB2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5259388"/>
            <a:ext cx="0" cy="979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2" name="直接连接符 20537">
            <a:extLst>
              <a:ext uri="{FF2B5EF4-FFF2-40B4-BE49-F238E27FC236}">
                <a16:creationId xmlns:a16="http://schemas.microsoft.com/office/drawing/2014/main" id="{F202E909-1AFF-48A1-99A8-85CA912BA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633253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3" name="文本框 20538">
            <a:extLst>
              <a:ext uri="{FF2B5EF4-FFF2-40B4-BE49-F238E27FC236}">
                <a16:creationId xmlns:a16="http://schemas.microsoft.com/office/drawing/2014/main" id="{97F943BE-8C83-4F79-B5BB-C360CD9AA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9913" y="63627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54" name="直接连接符 20539">
            <a:extLst>
              <a:ext uri="{FF2B5EF4-FFF2-40B4-BE49-F238E27FC236}">
                <a16:creationId xmlns:a16="http://schemas.microsoft.com/office/drawing/2014/main" id="{D6BAE69C-C176-4E86-A508-801FC931BD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6138" y="3516313"/>
            <a:ext cx="0" cy="1528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5" name="上下箭头 20540">
            <a:extLst>
              <a:ext uri="{FF2B5EF4-FFF2-40B4-BE49-F238E27FC236}">
                <a16:creationId xmlns:a16="http://schemas.microsoft.com/office/drawing/2014/main" id="{BA44F210-2852-4692-8699-FDED99A0F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5881688"/>
            <a:ext cx="146050" cy="323850"/>
          </a:xfrm>
          <a:prstGeom prst="upDownArrow">
            <a:avLst>
              <a:gd name="adj1" fmla="val 50000"/>
              <a:gd name="adj2" fmla="val 4432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56" name="下箭头 20541">
            <a:extLst>
              <a:ext uri="{FF2B5EF4-FFF2-40B4-BE49-F238E27FC236}">
                <a16:creationId xmlns:a16="http://schemas.microsoft.com/office/drawing/2014/main" id="{E1DD0A34-A6EC-41E1-A7FF-0BD40BA18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163" y="4171950"/>
            <a:ext cx="147637" cy="287338"/>
          </a:xfrm>
          <a:prstGeom prst="downArrow">
            <a:avLst>
              <a:gd name="adj1" fmla="val 50000"/>
              <a:gd name="adj2" fmla="val 4863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57" name="矩形 20542">
            <a:extLst>
              <a:ext uri="{FF2B5EF4-FFF2-40B4-BE49-F238E27FC236}">
                <a16:creationId xmlns:a16="http://schemas.microsoft.com/office/drawing/2014/main" id="{4ADFD3A1-24C7-4957-AB62-E54332739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4559300"/>
            <a:ext cx="6826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58" name="文本框 20543">
            <a:extLst>
              <a:ext uri="{FF2B5EF4-FFF2-40B4-BE49-F238E27FC236}">
                <a16:creationId xmlns:a16="http://schemas.microsoft.com/office/drawing/2014/main" id="{016654BB-B9EF-4ECC-8853-B7614287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4446588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59" name="直接连接符 20544">
            <a:extLst>
              <a:ext uri="{FF2B5EF4-FFF2-40B4-BE49-F238E27FC236}">
                <a16:creationId xmlns:a16="http://schemas.microsoft.com/office/drawing/2014/main" id="{D408CD38-FFC0-49F7-AC7E-46B86C60E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9525" y="4953000"/>
            <a:ext cx="220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0" name="直接连接符 20545">
            <a:extLst>
              <a:ext uri="{FF2B5EF4-FFF2-40B4-BE49-F238E27FC236}">
                <a16:creationId xmlns:a16="http://schemas.microsoft.com/office/drawing/2014/main" id="{361A862A-6D0C-4814-A147-438CA4013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1263" y="5168900"/>
            <a:ext cx="293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1" name="文本框 20546">
            <a:extLst>
              <a:ext uri="{FF2B5EF4-FFF2-40B4-BE49-F238E27FC236}">
                <a16:creationId xmlns:a16="http://schemas.microsoft.com/office/drawing/2014/main" id="{FE43AE91-0CF5-4872-821C-B45C6F7D6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6942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62" name="文本框 20547">
            <a:extLst>
              <a:ext uri="{FF2B5EF4-FFF2-40B4-BE49-F238E27FC236}">
                <a16:creationId xmlns:a16="http://schemas.microsoft.com/office/drawing/2014/main" id="{C827F6CB-58C8-4D69-A53B-02662A637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49228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63" name="直接连接符 20548">
            <a:extLst>
              <a:ext uri="{FF2B5EF4-FFF2-40B4-BE49-F238E27FC236}">
                <a16:creationId xmlns:a16="http://schemas.microsoft.com/office/drawing/2014/main" id="{E5AB41E1-B848-45A5-86E4-7D17338E5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488" y="5029200"/>
            <a:ext cx="293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4" name="直接连接符 20549">
            <a:extLst>
              <a:ext uri="{FF2B5EF4-FFF2-40B4-BE49-F238E27FC236}">
                <a16:creationId xmlns:a16="http://schemas.microsoft.com/office/drawing/2014/main" id="{F1F9EA56-AA81-4BDD-B321-A70A1FB37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488" y="5259388"/>
            <a:ext cx="293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5" name="直接连接符 20550">
            <a:extLst>
              <a:ext uri="{FF2B5EF4-FFF2-40B4-BE49-F238E27FC236}">
                <a16:creationId xmlns:a16="http://schemas.microsoft.com/office/drawing/2014/main" id="{2BDC94B1-5487-455E-83AC-B38F716ED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259388"/>
            <a:ext cx="0" cy="979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6" name="直接连接符 20551">
            <a:extLst>
              <a:ext uri="{FF2B5EF4-FFF2-40B4-BE49-F238E27FC236}">
                <a16:creationId xmlns:a16="http://schemas.microsoft.com/office/drawing/2014/main" id="{F1A43A59-2DD6-4C77-837F-AC0627F9C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6613" y="633253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7" name="文本框 20552">
            <a:extLst>
              <a:ext uri="{FF2B5EF4-FFF2-40B4-BE49-F238E27FC236}">
                <a16:creationId xmlns:a16="http://schemas.microsoft.com/office/drawing/2014/main" id="{496E005B-0B69-438A-88E3-DFF8D6741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63627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68" name="文本框 20553">
            <a:extLst>
              <a:ext uri="{FF2B5EF4-FFF2-40B4-BE49-F238E27FC236}">
                <a16:creationId xmlns:a16="http://schemas.microsoft.com/office/drawing/2014/main" id="{495F55C4-C9EE-466E-98E1-4A4CF80E3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451225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</a:t>
            </a:r>
          </a:p>
        </p:txBody>
      </p:sp>
      <p:sp>
        <p:nvSpPr>
          <p:cNvPr id="29769" name="文本框 20554">
            <a:extLst>
              <a:ext uri="{FF2B5EF4-FFF2-40B4-BE49-F238E27FC236}">
                <a16:creationId xmlns:a16="http://schemas.microsoft.com/office/drawing/2014/main" id="{28955564-B6C7-4505-84F7-01948C884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303588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sp>
        <p:nvSpPr>
          <p:cNvPr id="29770" name="文本框 20555">
            <a:extLst>
              <a:ext uri="{FF2B5EF4-FFF2-40B4-BE49-F238E27FC236}">
                <a16:creationId xmlns:a16="http://schemas.microsoft.com/office/drawing/2014/main" id="{2375A267-3251-45DB-9E3F-05EC12ECF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115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3</a:t>
            </a:r>
          </a:p>
        </p:txBody>
      </p:sp>
      <p:sp>
        <p:nvSpPr>
          <p:cNvPr id="29771" name="文本框 20556">
            <a:extLst>
              <a:ext uri="{FF2B5EF4-FFF2-40B4-BE49-F238E27FC236}">
                <a16:creationId xmlns:a16="http://schemas.microsoft.com/office/drawing/2014/main" id="{58531561-3161-40C3-9335-407D724D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2654300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u="sng">
                <a:solidFill>
                  <a:srgbClr val="CC6600"/>
                </a:solidFill>
                <a:latin typeface="楷体_GB2312" pitchFamily="49" charset="-122"/>
                <a:ea typeface="楷体_GB2312" pitchFamily="49" charset="-122"/>
              </a:rPr>
              <a:t>部分译码法</a:t>
            </a:r>
          </a:p>
        </p:txBody>
      </p:sp>
      <p:sp>
        <p:nvSpPr>
          <p:cNvPr id="29772" name="矩形 20557">
            <a:extLst>
              <a:ext uri="{FF2B5EF4-FFF2-40B4-BE49-F238E27FC236}">
                <a16:creationId xmlns:a16="http://schemas.microsoft.com/office/drawing/2014/main" id="{2962DA03-2A38-43F5-84C6-2B6BA6E9E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027488"/>
            <a:ext cx="5943600" cy="1444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3" name="矩形 20558">
            <a:extLst>
              <a:ext uri="{FF2B5EF4-FFF2-40B4-BE49-F238E27FC236}">
                <a16:creationId xmlns:a16="http://schemas.microsoft.com/office/drawing/2014/main" id="{08D4B2C8-A1E5-4DE0-8CE1-D36D3F8CD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6229350"/>
            <a:ext cx="5791200" cy="1000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4" name="下箭头 20559">
            <a:extLst>
              <a:ext uri="{FF2B5EF4-FFF2-40B4-BE49-F238E27FC236}">
                <a16:creationId xmlns:a16="http://schemas.microsoft.com/office/drawing/2014/main" id="{BDDDE68D-4042-4864-810E-4EE90ABF6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78300"/>
            <a:ext cx="152400" cy="287338"/>
          </a:xfrm>
          <a:prstGeom prst="downArrow">
            <a:avLst>
              <a:gd name="adj1" fmla="val 50000"/>
              <a:gd name="adj2" fmla="val 4711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5" name="矩形 20560">
            <a:extLst>
              <a:ext uri="{FF2B5EF4-FFF2-40B4-BE49-F238E27FC236}">
                <a16:creationId xmlns:a16="http://schemas.microsoft.com/office/drawing/2014/main" id="{1F0C2941-87B1-4852-B35B-9A535F698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138" y="4562475"/>
            <a:ext cx="708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6" name="文本框 20561">
            <a:extLst>
              <a:ext uri="{FF2B5EF4-FFF2-40B4-BE49-F238E27FC236}">
                <a16:creationId xmlns:a16="http://schemas.microsoft.com/office/drawing/2014/main" id="{E6DF117E-4D64-41DC-9C9D-EA74737E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4449763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77" name="直接连接符 20562">
            <a:extLst>
              <a:ext uri="{FF2B5EF4-FFF2-40B4-BE49-F238E27FC236}">
                <a16:creationId xmlns:a16="http://schemas.microsoft.com/office/drawing/2014/main" id="{5037FC24-EE72-40BB-981C-B883D2872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7913" y="49561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78" name="直接连接符 20563">
            <a:extLst>
              <a:ext uri="{FF2B5EF4-FFF2-40B4-BE49-F238E27FC236}">
                <a16:creationId xmlns:a16="http://schemas.microsoft.com/office/drawing/2014/main" id="{83EFF639-ADFB-4746-A42C-F115F736F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6475" y="51720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79" name="文本框 20564">
            <a:extLst>
              <a:ext uri="{FF2B5EF4-FFF2-40B4-BE49-F238E27FC236}">
                <a16:creationId xmlns:a16="http://schemas.microsoft.com/office/drawing/2014/main" id="{786F6B52-523D-4AFA-86B9-4BD5BE91F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6974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80" name="文本框 20565">
            <a:extLst>
              <a:ext uri="{FF2B5EF4-FFF2-40B4-BE49-F238E27FC236}">
                <a16:creationId xmlns:a16="http://schemas.microsoft.com/office/drawing/2014/main" id="{ED4E6284-2850-490F-A6B5-CB67BA4DA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9260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81" name="直接连接符 20566">
            <a:extLst>
              <a:ext uri="{FF2B5EF4-FFF2-40B4-BE49-F238E27FC236}">
                <a16:creationId xmlns:a16="http://schemas.microsoft.com/office/drawing/2014/main" id="{132D99E0-9F52-4834-8D05-F78AA06BC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5032375"/>
            <a:ext cx="304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2" name="直接连接符 20567">
            <a:extLst>
              <a:ext uri="{FF2B5EF4-FFF2-40B4-BE49-F238E27FC236}">
                <a16:creationId xmlns:a16="http://schemas.microsoft.com/office/drawing/2014/main" id="{14C43B6E-F0EA-4748-B213-1641793DB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5254625"/>
            <a:ext cx="304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3" name="直接连接符 20568">
            <a:extLst>
              <a:ext uri="{FF2B5EF4-FFF2-40B4-BE49-F238E27FC236}">
                <a16:creationId xmlns:a16="http://schemas.microsoft.com/office/drawing/2014/main" id="{8AF859C2-0923-4D92-9B8F-61B4159F8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4525" y="5257800"/>
            <a:ext cx="0" cy="979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4" name="直接连接符 20569">
            <a:extLst>
              <a:ext uri="{FF2B5EF4-FFF2-40B4-BE49-F238E27FC236}">
                <a16:creationId xmlns:a16="http://schemas.microsoft.com/office/drawing/2014/main" id="{A8F5B695-EAA7-47DF-88FD-7DEDD33E2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5838" y="3836988"/>
            <a:ext cx="2079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785" name="组合 20570">
            <a:extLst>
              <a:ext uri="{FF2B5EF4-FFF2-40B4-BE49-F238E27FC236}">
                <a16:creationId xmlns:a16="http://schemas.microsoft.com/office/drawing/2014/main" id="{7951E4BA-6809-4BF8-B849-5C3366F6484B}"/>
              </a:ext>
            </a:extLst>
          </p:cNvPr>
          <p:cNvGrpSpPr>
            <a:grpSpLocks/>
          </p:cNvGrpSpPr>
          <p:nvPr/>
        </p:nvGrpSpPr>
        <p:grpSpPr bwMode="auto">
          <a:xfrm>
            <a:off x="3057525" y="6319838"/>
            <a:ext cx="336550" cy="487362"/>
            <a:chOff x="0" y="0"/>
            <a:chExt cx="212" cy="307"/>
          </a:xfrm>
        </p:grpSpPr>
        <p:sp>
          <p:nvSpPr>
            <p:cNvPr id="29818" name="直接连接符 20571">
              <a:extLst>
                <a:ext uri="{FF2B5EF4-FFF2-40B4-BE49-F238E27FC236}">
                  <a16:creationId xmlns:a16="http://schemas.microsoft.com/office/drawing/2014/main" id="{5ADC41BB-5F3A-4D54-8D3A-B6BE7C700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" y="0"/>
              <a:ext cx="0" cy="2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9" name="文本框 20572">
              <a:extLst>
                <a:ext uri="{FF2B5EF4-FFF2-40B4-BE49-F238E27FC236}">
                  <a16:creationId xmlns:a16="http://schemas.microsoft.com/office/drawing/2014/main" id="{53DF2391-6DCE-4A1E-B096-0B172C27B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.</a:t>
              </a:r>
              <a:endParaRPr lang="en-US" altLang="zh-CN" sz="2400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9786" name="直接连接符 20573">
            <a:extLst>
              <a:ext uri="{FF2B5EF4-FFF2-40B4-BE49-F238E27FC236}">
                <a16:creationId xmlns:a16="http://schemas.microsoft.com/office/drawing/2014/main" id="{B77C2685-13E8-4824-8EF2-3AD1857543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357688"/>
            <a:ext cx="0" cy="6477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7" name="直接连接符 20574">
            <a:extLst>
              <a:ext uri="{FF2B5EF4-FFF2-40B4-BE49-F238E27FC236}">
                <a16:creationId xmlns:a16="http://schemas.microsoft.com/office/drawing/2014/main" id="{607E5900-92B1-442D-9C08-24FF89D92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352925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6" name="文本框 20575">
            <a:extLst>
              <a:ext uri="{FF2B5EF4-FFF2-40B4-BE49-F238E27FC236}">
                <a16:creationId xmlns:a16="http://schemas.microsoft.com/office/drawing/2014/main" id="{667039ED-6EC1-4CD7-8BDF-9A5656544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5" y="5905500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900">
                <a:latin typeface="楷体_GB2312" pitchFamily="49" charset="-122"/>
                <a:ea typeface="楷体_GB2312" pitchFamily="49" charset="-122"/>
              </a:rPr>
              <a:t>7-0</a:t>
            </a:r>
            <a:endParaRPr lang="en-US" altLang="zh-CN" sz="1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77" name="文本框 20576">
            <a:extLst>
              <a:ext uri="{FF2B5EF4-FFF2-40B4-BE49-F238E27FC236}">
                <a16:creationId xmlns:a16="http://schemas.microsoft.com/office/drawing/2014/main" id="{57DE24C9-EDE9-4EB9-87F3-146CDF923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3336925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１</a:t>
            </a:r>
            <a:r>
              <a:rPr lang="en-US" altLang="zh-CN" sz="90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－１</a:t>
            </a:r>
            <a:r>
              <a:rPr lang="en-US" altLang="zh-CN" sz="900"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78" name="右箭头 20577">
            <a:extLst>
              <a:ext uri="{FF2B5EF4-FFF2-40B4-BE49-F238E27FC236}">
                <a16:creationId xmlns:a16="http://schemas.microsoft.com/office/drawing/2014/main" id="{663E706B-2098-441D-AF95-DDE3046DF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379788"/>
            <a:ext cx="550863" cy="228600"/>
          </a:xfrm>
          <a:prstGeom prst="rightArrow">
            <a:avLst>
              <a:gd name="adj1" fmla="val 50000"/>
              <a:gd name="adj2" fmla="val 60221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79" name="文本框 20578">
            <a:extLst>
              <a:ext uri="{FF2B5EF4-FFF2-40B4-BE49-F238E27FC236}">
                <a16:creationId xmlns:a16="http://schemas.microsoft.com/office/drawing/2014/main" id="{5EF250CE-CB57-4864-9CFB-9061AF2E7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763" y="3943350"/>
            <a:ext cx="704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９－０</a:t>
            </a:r>
            <a:endParaRPr lang="zh-CN" altLang="en-US" sz="1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92" name="文本框 20579">
            <a:extLst>
              <a:ext uri="{FF2B5EF4-FFF2-40B4-BE49-F238E27FC236}">
                <a16:creationId xmlns:a16="http://schemas.microsoft.com/office/drawing/2014/main" id="{038AA5F8-C2DA-4992-B349-395569C04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5467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ＷＲ</a:t>
            </a:r>
          </a:p>
        </p:txBody>
      </p:sp>
      <p:sp>
        <p:nvSpPr>
          <p:cNvPr id="29793" name="直接连接符 20580">
            <a:extLst>
              <a:ext uri="{FF2B5EF4-FFF2-40B4-BE49-F238E27FC236}">
                <a16:creationId xmlns:a16="http://schemas.microsoft.com/office/drawing/2014/main" id="{6D66171F-4C90-4772-82AA-FE2A63242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61816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2" name="直接连接符 20581">
            <a:extLst>
              <a:ext uri="{FF2B5EF4-FFF2-40B4-BE49-F238E27FC236}">
                <a16:creationId xmlns:a16="http://schemas.microsoft.com/office/drawing/2014/main" id="{E32DB01C-6B8E-4230-91C9-4D15F20388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43000" y="5695950"/>
            <a:ext cx="0" cy="10080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3" name="直接连接符 20582">
            <a:extLst>
              <a:ext uri="{FF2B5EF4-FFF2-40B4-BE49-F238E27FC236}">
                <a16:creationId xmlns:a16="http://schemas.microsoft.com/office/drawing/2014/main" id="{7A8786D5-E46B-4D08-9756-724B2E25F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697538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4" name="直接连接符 20583">
            <a:extLst>
              <a:ext uri="{FF2B5EF4-FFF2-40B4-BE49-F238E27FC236}">
                <a16:creationId xmlns:a16="http://schemas.microsoft.com/office/drawing/2014/main" id="{BE6D4930-A14F-4265-84C3-45514513F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436562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5" name="直接连接符 20584">
            <a:extLst>
              <a:ext uri="{FF2B5EF4-FFF2-40B4-BE49-F238E27FC236}">
                <a16:creationId xmlns:a16="http://schemas.microsoft.com/office/drawing/2014/main" id="{AC1904CA-E1A8-43D2-849F-6132278A0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5254625"/>
            <a:ext cx="3159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6" name="直接连接符 20585">
            <a:extLst>
              <a:ext uri="{FF2B5EF4-FFF2-40B4-BE49-F238E27FC236}">
                <a16:creationId xmlns:a16="http://schemas.microsoft.com/office/drawing/2014/main" id="{E0C3005E-5C0D-47F2-B8F3-112BFEDF0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352925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7" name="直接连接符 20586">
            <a:extLst>
              <a:ext uri="{FF2B5EF4-FFF2-40B4-BE49-F238E27FC236}">
                <a16:creationId xmlns:a16="http://schemas.microsoft.com/office/drawing/2014/main" id="{C3E70404-87CF-454D-9A72-77A1B0F3C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171950"/>
            <a:ext cx="0" cy="144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8" name="直接连接符 20587">
            <a:extLst>
              <a:ext uri="{FF2B5EF4-FFF2-40B4-BE49-F238E27FC236}">
                <a16:creationId xmlns:a16="http://schemas.microsoft.com/office/drawing/2014/main" id="{A9DD9FDC-B0C0-4682-B112-51E231F5F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816350"/>
            <a:ext cx="0" cy="207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801" name="文本框 20588">
            <a:extLst>
              <a:ext uri="{FF2B5EF4-FFF2-40B4-BE49-F238E27FC236}">
                <a16:creationId xmlns:a16="http://schemas.microsoft.com/office/drawing/2014/main" id="{DFE3C5AA-0FDF-4F11-B97C-F826D42E9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6938" y="35941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</a:p>
        </p:txBody>
      </p:sp>
      <p:sp>
        <p:nvSpPr>
          <p:cNvPr id="20590" name="直接连接符 20589">
            <a:extLst>
              <a:ext uri="{FF2B5EF4-FFF2-40B4-BE49-F238E27FC236}">
                <a16:creationId xmlns:a16="http://schemas.microsoft.com/office/drawing/2014/main" id="{C05836F5-15DD-4696-9647-AE0EA8CC7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8875" y="6686550"/>
            <a:ext cx="2041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1" name="直接连接符 20590">
            <a:extLst>
              <a:ext uri="{FF2B5EF4-FFF2-40B4-BE49-F238E27FC236}">
                <a16:creationId xmlns:a16="http://schemas.microsoft.com/office/drawing/2014/main" id="{F18685E1-F0CD-4AB7-AB1A-74CE6133A2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83698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2" name="直接连接符 20591">
            <a:extLst>
              <a:ext uri="{FF2B5EF4-FFF2-40B4-BE49-F238E27FC236}">
                <a16:creationId xmlns:a16="http://schemas.microsoft.com/office/drawing/2014/main" id="{1AFF1FE1-4559-468B-BD79-227A21CE1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0292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3" name="直接连接符 20592">
            <a:extLst>
              <a:ext uri="{FF2B5EF4-FFF2-40B4-BE49-F238E27FC236}">
                <a16:creationId xmlns:a16="http://schemas.microsoft.com/office/drawing/2014/main" id="{6D938A22-ECA6-4279-8669-EB151A40D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523875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4" name="直接连接符 20593">
            <a:extLst>
              <a:ext uri="{FF2B5EF4-FFF2-40B4-BE49-F238E27FC236}">
                <a16:creationId xmlns:a16="http://schemas.microsoft.com/office/drawing/2014/main" id="{DA024248-8EB1-44DE-8598-3FBAA37043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1350" y="63055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5" name="上下箭头 20594">
            <a:extLst>
              <a:ext uri="{FF2B5EF4-FFF2-40B4-BE49-F238E27FC236}">
                <a16:creationId xmlns:a16="http://schemas.microsoft.com/office/drawing/2014/main" id="{B663D167-9DA5-4C62-AC18-0A6557BA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5867400"/>
            <a:ext cx="152400" cy="323850"/>
          </a:xfrm>
          <a:prstGeom prst="upDownArrow">
            <a:avLst>
              <a:gd name="adj1" fmla="val 50000"/>
              <a:gd name="adj2" fmla="val 42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0596" name="组合 20595">
            <a:extLst>
              <a:ext uri="{FF2B5EF4-FFF2-40B4-BE49-F238E27FC236}">
                <a16:creationId xmlns:a16="http://schemas.microsoft.com/office/drawing/2014/main" id="{DA4FB79F-9055-4350-9D2C-60FB06C4F81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529263"/>
            <a:ext cx="762000" cy="304800"/>
            <a:chOff x="0" y="0"/>
            <a:chExt cx="480" cy="801"/>
          </a:xfrm>
        </p:grpSpPr>
        <p:sp>
          <p:nvSpPr>
            <p:cNvPr id="29814" name="矩形 20596">
              <a:extLst>
                <a:ext uri="{FF2B5EF4-FFF2-40B4-BE49-F238E27FC236}">
                  <a16:creationId xmlns:a16="http://schemas.microsoft.com/office/drawing/2014/main" id="{3CE4792B-2FB2-41F1-8766-3562B642D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5"/>
              <a:ext cx="446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815" name="文本框 20597">
              <a:extLst>
                <a:ext uri="{FF2B5EF4-FFF2-40B4-BE49-F238E27FC236}">
                  <a16:creationId xmlns:a16="http://schemas.microsoft.com/office/drawing/2014/main" id="{8CFD3877-664C-4F46-B04E-9172480C1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44" cy="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楷体_GB2312" pitchFamily="49" charset="-122"/>
                  <a:ea typeface="楷体_GB2312" pitchFamily="49" charset="-122"/>
                </a:rPr>
                <a:t>Ｄ</a:t>
              </a:r>
              <a:r>
                <a:rPr lang="zh-CN" altLang="en-US" sz="900">
                  <a:latin typeface="楷体_GB2312" pitchFamily="49" charset="-122"/>
                  <a:ea typeface="楷体_GB2312" pitchFamily="49" charset="-122"/>
                </a:rPr>
                <a:t>７－０</a:t>
              </a:r>
              <a:endParaRPr lang="zh-CN" altLang="en-US" sz="2400" u="sng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816" name="直接连接符 20598">
              <a:extLst>
                <a:ext uri="{FF2B5EF4-FFF2-40B4-BE49-F238E27FC236}">
                  <a16:creationId xmlns:a16="http://schemas.microsoft.com/office/drawing/2014/main" id="{6F9A8FDB-0560-450D-9892-EE399AC72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" y="273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7" name="直接连接符 20599">
              <a:extLst>
                <a:ext uri="{FF2B5EF4-FFF2-40B4-BE49-F238E27FC236}">
                  <a16:creationId xmlns:a16="http://schemas.microsoft.com/office/drawing/2014/main" id="{BA919188-D015-4FA9-A6D9-F3DE2FE8C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" y="409"/>
              <a:ext cx="19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01" name="矩形 20600">
            <a:extLst>
              <a:ext uri="{FF2B5EF4-FFF2-40B4-BE49-F238E27FC236}">
                <a16:creationId xmlns:a16="http://schemas.microsoft.com/office/drawing/2014/main" id="{64BD0CC0-C44A-4706-B01D-28E4D5B1E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052888"/>
            <a:ext cx="18002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810" name="文本框 20601">
            <a:extLst>
              <a:ext uri="{FF2B5EF4-FFF2-40B4-BE49-F238E27FC236}">
                <a16:creationId xmlns:a16="http://schemas.microsoft.com/office/drawing/2014/main" id="{11D603BB-70FA-4DEC-9C0A-419604ABD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16138"/>
            <a:ext cx="876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例   由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1K*8 </a:t>
            </a:r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RAM</a:t>
            </a:r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构成 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4K*8 </a:t>
            </a:r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RAM </a:t>
            </a:r>
            <a:r>
              <a:rPr lang="zh-CN" altLang="en-US" sz="2800" b="1">
                <a:solidFill>
                  <a:schemeClr val="hlink"/>
                </a:solidFill>
                <a:latin typeface="宋体" panose="02010600030101010101" pitchFamily="2" charset="-122"/>
              </a:rPr>
              <a:t>（部分译码）</a:t>
            </a:r>
          </a:p>
        </p:txBody>
      </p:sp>
      <p:sp>
        <p:nvSpPr>
          <p:cNvPr id="29811" name="文本框 20602">
            <a:extLst>
              <a:ext uri="{FF2B5EF4-FFF2-40B4-BE49-F238E27FC236}">
                <a16:creationId xmlns:a16="http://schemas.microsoft.com/office/drawing/2014/main" id="{33CF160D-1382-4A19-A4DE-7D29CD45F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4075" y="2714625"/>
            <a:ext cx="247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u="sng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A12</a:t>
            </a:r>
            <a:r>
              <a:rPr lang="en-US" altLang="zh-CN" sz="2000" u="sng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en-US" altLang="zh-CN" sz="2000" u="sng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A15</a:t>
            </a:r>
            <a:r>
              <a:rPr lang="zh-CN" altLang="en-US" sz="2000" u="sng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未参与译码</a:t>
            </a:r>
          </a:p>
        </p:txBody>
      </p:sp>
      <p:sp>
        <p:nvSpPr>
          <p:cNvPr id="29812" name="文本框 20603">
            <a:extLst>
              <a:ext uri="{FF2B5EF4-FFF2-40B4-BE49-F238E27FC236}">
                <a16:creationId xmlns:a16="http://schemas.microsoft.com/office/drawing/2014/main" id="{0287F942-6CAC-4C7D-B5F8-2B7D2C4E3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20675"/>
            <a:ext cx="21399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）部分译码</a:t>
            </a:r>
            <a:endParaRPr lang="zh-CN" altLang="en-US" sz="2800" b="1">
              <a:solidFill>
                <a:srgbClr val="FFFF00"/>
              </a:solidFill>
            </a:endParaRPr>
          </a:p>
        </p:txBody>
      </p:sp>
      <p:sp>
        <p:nvSpPr>
          <p:cNvPr id="29813" name="灯片编号占位符 1">
            <a:extLst>
              <a:ext uri="{FF2B5EF4-FFF2-40B4-BE49-F238E27FC236}">
                <a16:creationId xmlns:a16="http://schemas.microsoft.com/office/drawing/2014/main" id="{D855C07E-1D09-4462-8945-AC52BD2D1F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E4D4AA-3211-4C5E-9C7A-FD5BBA6E9C1D}" type="slidenum">
              <a:rPr altLang="en-US" smtClean="0">
                <a:latin typeface="Times New Roman" panose="02020603050405020304" pitchFamily="18" charset="0"/>
              </a:rPr>
              <a:pPr/>
              <a:t>25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2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2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4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500"/>
                                        <p:tgtEl>
                                          <p:spTgt spid="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5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2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2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6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73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5" dur="500"/>
                                        <p:tgtEl>
                                          <p:spTgt spid="2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500"/>
                                        <p:tgtEl>
                                          <p:spTgt spid="2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8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3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 advAuto="0"/>
      <p:bldP spid="20576" grpId="0"/>
      <p:bldP spid="20577" grpId="0"/>
      <p:bldP spid="205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1505">
            <a:extLst>
              <a:ext uri="{FF2B5EF4-FFF2-40B4-BE49-F238E27FC236}">
                <a16:creationId xmlns:a16="http://schemas.microsoft.com/office/drawing/2014/main" id="{6A944372-C972-4D8A-A6DE-C72F9F6967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933450"/>
            <a:ext cx="8877300" cy="36195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            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1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   </a:t>
            </a:r>
            <a:r>
              <a:rPr lang="zh-CN" altLang="en-US" sz="1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                                   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zh-CN" altLang="en-US" sz="2400" b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一组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0 0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0 0 0 0 0 0 0 0 0 0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0 0</a:t>
            </a:r>
            <a:r>
              <a:rPr lang="zh-CN" altLang="en-US" sz="240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0000-03FFH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二组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0 1</a:t>
            </a:r>
            <a:r>
              <a:rPr lang="zh-CN" altLang="en-US" sz="2400" b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0 0 0 0 0 0 0 0 0 0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0 1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0400-07FFH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三组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1 0 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0 0 0 0 0 0 0 0 0 0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1 0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0800-0BFFH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四组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1 1</a:t>
            </a:r>
            <a:r>
              <a:rPr lang="zh-CN" altLang="en-US" sz="240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0 0 0 0 0 0 0 0 0 0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1 1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0C00-0FFFFH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地址区间为：0000--0FFFFH。</a:t>
            </a:r>
          </a:p>
        </p:txBody>
      </p:sp>
      <p:sp>
        <p:nvSpPr>
          <p:cNvPr id="30723" name="灯片编号占位符 1">
            <a:extLst>
              <a:ext uri="{FF2B5EF4-FFF2-40B4-BE49-F238E27FC236}">
                <a16:creationId xmlns:a16="http://schemas.microsoft.com/office/drawing/2014/main" id="{C3337ECF-78AC-4F5E-85F7-F547ED995D0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F1BF5BF-FC33-4E4A-A6BE-37122BB9AF3A}" type="slidenum">
              <a:rPr altLang="en-US" smtClean="0">
                <a:latin typeface="Times New Roman" panose="02020603050405020304" pitchFamily="18" charset="0"/>
              </a:rPr>
              <a:pPr/>
              <a:t>26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2529">
            <a:extLst>
              <a:ext uri="{FF2B5EF4-FFF2-40B4-BE49-F238E27FC236}">
                <a16:creationId xmlns:a16="http://schemas.microsoft.com/office/drawing/2014/main" id="{0CC7C1DB-6DE4-470F-90DD-F6E211E3C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36663"/>
            <a:ext cx="8829675" cy="161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8086</a:t>
            </a:r>
            <a:r>
              <a:rPr lang="zh-CN" altLang="en-US" sz="2400" b="1">
                <a:latin typeface="宋体" panose="02010600030101010101" pitchFamily="2" charset="-122"/>
              </a:rPr>
              <a:t>系统存储器连接的特点：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	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奇偶存储器的分体结构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66FF33"/>
                </a:solidFill>
                <a:latin typeface="宋体" panose="02010600030101010101" pitchFamily="2" charset="-122"/>
              </a:rPr>
              <a:t>	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要求：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AutoNum type="circleNumDbPlain"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给定地址空间，完成</a:t>
            </a:r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与存储器间连线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AutoNum type="circleNumDbPlain"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根据</a:t>
            </a:r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与存储器间连线图分析地址空间</a:t>
            </a:r>
          </a:p>
        </p:txBody>
      </p:sp>
      <p:sp>
        <p:nvSpPr>
          <p:cNvPr id="22531" name="矩形 22530">
            <a:extLst>
              <a:ext uri="{FF2B5EF4-FFF2-40B4-BE49-F238E27FC236}">
                <a16:creationId xmlns:a16="http://schemas.microsoft.com/office/drawing/2014/main" id="{4E512F59-3466-4F5C-A143-E05DA13A5750}"/>
              </a:ext>
            </a:extLst>
          </p:cNvPr>
          <p:cNvSpPr/>
          <p:nvPr/>
        </p:nvSpPr>
        <p:spPr>
          <a:xfrm>
            <a:off x="520700" y="292100"/>
            <a:ext cx="4433888" cy="520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4</a:t>
            </a:r>
            <a:r>
              <a:rPr lang="zh-CN" altLang="en-US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8086</a:t>
            </a:r>
            <a:r>
              <a:rPr lang="zh-CN" altLang="en-US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系统的存储器连接</a:t>
            </a:r>
          </a:p>
        </p:txBody>
      </p:sp>
      <p:sp>
        <p:nvSpPr>
          <p:cNvPr id="31748" name="灯片编号占位符 1">
            <a:extLst>
              <a:ext uri="{FF2B5EF4-FFF2-40B4-BE49-F238E27FC236}">
                <a16:creationId xmlns:a16="http://schemas.microsoft.com/office/drawing/2014/main" id="{86AEE1CB-5C12-4825-9C06-2629D8AB937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98A8F39-3D45-4976-BB14-1E19B83F7130}" type="slidenum">
              <a:rPr altLang="en-US" smtClean="0">
                <a:latin typeface="Times New Roman" panose="02020603050405020304" pitchFamily="18" charset="0"/>
              </a:rPr>
              <a:pPr/>
              <a:t>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23553">
            <a:extLst>
              <a:ext uri="{FF2B5EF4-FFF2-40B4-BE49-F238E27FC236}">
                <a16:creationId xmlns:a16="http://schemas.microsoft.com/office/drawing/2014/main" id="{ED05E892-4D9F-46E8-A318-A1EE21868D95}"/>
              </a:ext>
            </a:extLst>
          </p:cNvPr>
          <p:cNvGrpSpPr>
            <a:grpSpLocks/>
          </p:cNvGrpSpPr>
          <p:nvPr/>
        </p:nvGrpSpPr>
        <p:grpSpPr bwMode="auto">
          <a:xfrm>
            <a:off x="328613" y="682625"/>
            <a:ext cx="7773987" cy="5351463"/>
            <a:chOff x="0" y="0"/>
            <a:chExt cx="4897" cy="3371"/>
          </a:xfrm>
        </p:grpSpPr>
        <p:sp>
          <p:nvSpPr>
            <p:cNvPr id="32773" name="文本框 23554">
              <a:extLst>
                <a:ext uri="{FF2B5EF4-FFF2-40B4-BE49-F238E27FC236}">
                  <a16:creationId xmlns:a16="http://schemas.microsoft.com/office/drawing/2014/main" id="{5AAA4E27-09FC-4328-8E02-318E146C52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448"/>
              <a:ext cx="5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READY</a:t>
              </a:r>
              <a:endParaRPr lang="en-US" altLang="zh-CN" sz="1000">
                <a:latin typeface="Times New Roman" panose="02020603050405020304" pitchFamily="18" charset="0"/>
              </a:endParaRPr>
            </a:p>
          </p:txBody>
        </p:sp>
        <p:grpSp>
          <p:nvGrpSpPr>
            <p:cNvPr id="32774" name="组合 23555">
              <a:extLst>
                <a:ext uri="{FF2B5EF4-FFF2-40B4-BE49-F238E27FC236}">
                  <a16:creationId xmlns:a16="http://schemas.microsoft.com/office/drawing/2014/main" id="{D2BAAC20-97B4-43DF-A964-247A2B81A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897" cy="3371"/>
              <a:chOff x="0" y="0"/>
              <a:chExt cx="4897" cy="3371"/>
            </a:xfrm>
          </p:grpSpPr>
          <p:grpSp>
            <p:nvGrpSpPr>
              <p:cNvPr id="32775" name="组合 23556">
                <a:extLst>
                  <a:ext uri="{FF2B5EF4-FFF2-40B4-BE49-F238E27FC236}">
                    <a16:creationId xmlns:a16="http://schemas.microsoft.com/office/drawing/2014/main" id="{1B91D3C6-2248-4111-B335-E6D2F46CF3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145" y="515"/>
                <a:ext cx="329" cy="386"/>
                <a:chOff x="0" y="0"/>
                <a:chExt cx="336" cy="288"/>
              </a:xfrm>
            </p:grpSpPr>
            <p:sp>
              <p:nvSpPr>
                <p:cNvPr id="32863" name="直接连接符 23557">
                  <a:extLst>
                    <a:ext uri="{FF2B5EF4-FFF2-40B4-BE49-F238E27FC236}">
                      <a16:creationId xmlns:a16="http://schemas.microsoft.com/office/drawing/2014/main" id="{FE254D8A-5A17-43E6-AC5F-4B6ADE3FC0C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0" y="0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64" name="直接连接符 23558">
                  <a:extLst>
                    <a:ext uri="{FF2B5EF4-FFF2-40B4-BE49-F238E27FC236}">
                      <a16:creationId xmlns:a16="http://schemas.microsoft.com/office/drawing/2014/main" id="{5E777842-3B2A-41D9-A2FA-6EEF9516EB1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0" y="144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65" name="直接连接符 23559">
                  <a:extLst>
                    <a:ext uri="{FF2B5EF4-FFF2-40B4-BE49-F238E27FC236}">
                      <a16:creationId xmlns:a16="http://schemas.microsoft.com/office/drawing/2014/main" id="{5E6EAEF3-DE6C-4BA1-A724-D957F5A9183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0" y="288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776" name="矩形 23560">
                <a:extLst>
                  <a:ext uri="{FF2B5EF4-FFF2-40B4-BE49-F238E27FC236}">
                    <a16:creationId xmlns:a16="http://schemas.microsoft.com/office/drawing/2014/main" id="{40873F00-4A15-4CD3-87AA-1A40FA5777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36" y="1416"/>
                <a:ext cx="47" cy="32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32777" name="组合 23561">
                <a:extLst>
                  <a:ext uri="{FF2B5EF4-FFF2-40B4-BE49-F238E27FC236}">
                    <a16:creationId xmlns:a16="http://schemas.microsoft.com/office/drawing/2014/main" id="{A21C3FFD-B517-41EA-BF43-9F2A265ECCB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96" y="0"/>
                <a:ext cx="566" cy="1029"/>
                <a:chOff x="0" y="0"/>
                <a:chExt cx="576" cy="768"/>
              </a:xfrm>
            </p:grpSpPr>
            <p:sp>
              <p:nvSpPr>
                <p:cNvPr id="32852" name="矩形 23562">
                  <a:extLst>
                    <a:ext uri="{FF2B5EF4-FFF2-40B4-BE49-F238E27FC236}">
                      <a16:creationId xmlns:a16="http://schemas.microsoft.com/office/drawing/2014/main" id="{85CB1377-E666-4D45-BFED-B799A9B8C4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88"/>
                  <a:ext cx="576" cy="48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>
                      <a:latin typeface="Times New Roman" panose="02020603050405020304" pitchFamily="18" charset="0"/>
                      <a:ea typeface="楷体_GB2312" pitchFamily="49" charset="-122"/>
                    </a:rPr>
                    <a:t>X</a:t>
                  </a:r>
                  <a:r>
                    <a:rPr lang="en-US" altLang="zh-CN" sz="1000" b="1">
                      <a:latin typeface="Times New Roman" panose="02020603050405020304" pitchFamily="18" charset="0"/>
                      <a:ea typeface="楷体_GB2312" pitchFamily="49" charset="-122"/>
                    </a:rPr>
                    <a:t>1</a:t>
                  </a:r>
                  <a:r>
                    <a:rPr lang="en-US" altLang="zh-CN" sz="1600" b="1">
                      <a:latin typeface="Times New Roman" panose="02020603050405020304" pitchFamily="18" charset="0"/>
                      <a:ea typeface="楷体_GB2312" pitchFamily="49" charset="-122"/>
                    </a:rPr>
                    <a:t>        </a:t>
                  </a:r>
                  <a:r>
                    <a:rPr lang="en-US" altLang="zh-CN" sz="1400">
                      <a:latin typeface="Times New Roman" panose="02020603050405020304" pitchFamily="18" charset="0"/>
                      <a:ea typeface="楷体_GB2312" pitchFamily="49" charset="-122"/>
                    </a:rPr>
                    <a:t>X</a:t>
                  </a:r>
                  <a:r>
                    <a:rPr lang="en-US" altLang="zh-CN" sz="1200" b="1">
                      <a:latin typeface="Times New Roman" panose="02020603050405020304" pitchFamily="18" charset="0"/>
                      <a:ea typeface="楷体_GB2312" pitchFamily="49" charset="-122"/>
                    </a:rPr>
                    <a:t>2</a:t>
                  </a:r>
                  <a:endParaRPr lang="en-US" altLang="zh-CN" sz="1600" b="1"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 eaLnBrk="1" hangingPunct="1"/>
                  <a:endParaRPr lang="en-US" altLang="zh-CN" sz="1600" b="1"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 eaLnBrk="1" hangingPunct="1"/>
                  <a:r>
                    <a:rPr lang="zh-CN" altLang="en-US" sz="1600" b="1">
                      <a:latin typeface="Times New Roman" panose="02020603050405020304" pitchFamily="18" charset="0"/>
                      <a:ea typeface="楷体_GB2312" pitchFamily="49" charset="-122"/>
                    </a:rPr>
                    <a:t>（</a:t>
                  </a:r>
                  <a:r>
                    <a:rPr lang="en-US" altLang="zh-CN" sz="1600" b="1">
                      <a:latin typeface="Times New Roman" panose="02020603050405020304" pitchFamily="18" charset="0"/>
                      <a:ea typeface="楷体_GB2312" pitchFamily="49" charset="-122"/>
                    </a:rPr>
                    <a:t>8284A</a:t>
                  </a:r>
                  <a:r>
                    <a:rPr lang="zh-CN" altLang="en-US" sz="1600" b="1">
                      <a:latin typeface="Times New Roman" panose="02020603050405020304" pitchFamily="18" charset="0"/>
                      <a:ea typeface="楷体_GB2312" pitchFamily="49" charset="-122"/>
                    </a:rPr>
                    <a:t>）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53" name="组合 23563">
                  <a:extLst>
                    <a:ext uri="{FF2B5EF4-FFF2-40B4-BE49-F238E27FC236}">
                      <a16:creationId xmlns:a16="http://schemas.microsoft.com/office/drawing/2014/main" id="{387387FB-1849-46B6-9E18-0A466AFFA4E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27" y="0"/>
                  <a:ext cx="336" cy="288"/>
                  <a:chOff x="0" y="0"/>
                  <a:chExt cx="336" cy="288"/>
                </a:xfrm>
              </p:grpSpPr>
              <p:sp>
                <p:nvSpPr>
                  <p:cNvPr id="32854" name="矩形 23564">
                    <a:extLst>
                      <a:ext uri="{FF2B5EF4-FFF2-40B4-BE49-F238E27FC236}">
                        <a16:creationId xmlns:a16="http://schemas.microsoft.com/office/drawing/2014/main" id="{7F654547-427D-4E25-A176-6264CD01BCE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44" y="0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32855" name="组合 23565">
                    <a:extLst>
                      <a:ext uri="{FF2B5EF4-FFF2-40B4-BE49-F238E27FC236}">
                        <a16:creationId xmlns:a16="http://schemas.microsoft.com/office/drawing/2014/main" id="{A486AB6A-CAC9-4BF4-A60F-B4BC34BF24D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0" y="0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32860" name="直接连接符 23566">
                      <a:extLst>
                        <a:ext uri="{FF2B5EF4-FFF2-40B4-BE49-F238E27FC236}">
                          <a16:creationId xmlns:a16="http://schemas.microsoft.com/office/drawing/2014/main" id="{CE0229D4-431D-41F2-BCB0-A3EB56FEC862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96" y="0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61" name="直接连接符 23567">
                      <a:extLst>
                        <a:ext uri="{FF2B5EF4-FFF2-40B4-BE49-F238E27FC236}">
                          <a16:creationId xmlns:a16="http://schemas.microsoft.com/office/drawing/2014/main" id="{BFD8DB5F-848C-4478-8A5A-E685F862DFE1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62" name="直接连接符 23568">
                      <a:extLst>
                        <a:ext uri="{FF2B5EF4-FFF2-40B4-BE49-F238E27FC236}">
                          <a16:creationId xmlns:a16="http://schemas.microsoft.com/office/drawing/2014/main" id="{0FF9F497-3B10-4FAD-A08F-38467AD79C51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2856" name="组合 23569">
                    <a:extLst>
                      <a:ext uri="{FF2B5EF4-FFF2-40B4-BE49-F238E27FC236}">
                        <a16:creationId xmlns:a16="http://schemas.microsoft.com/office/drawing/2014/main" id="{31032593-FA9F-4F66-B070-2000E75181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240" y="0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32857" name="直接连接符 23570">
                      <a:extLst>
                        <a:ext uri="{FF2B5EF4-FFF2-40B4-BE49-F238E27FC236}">
                          <a16:creationId xmlns:a16="http://schemas.microsoft.com/office/drawing/2014/main" id="{B27391E6-2B45-40D8-ADAF-C1A4E8D54275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96" y="0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58" name="直接连接符 23571">
                      <a:extLst>
                        <a:ext uri="{FF2B5EF4-FFF2-40B4-BE49-F238E27FC236}">
                          <a16:creationId xmlns:a16="http://schemas.microsoft.com/office/drawing/2014/main" id="{71BC866D-7E49-4A85-B757-4DD8DA8C641E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59" name="直接连接符 23572">
                      <a:extLst>
                        <a:ext uri="{FF2B5EF4-FFF2-40B4-BE49-F238E27FC236}">
                          <a16:creationId xmlns:a16="http://schemas.microsoft.com/office/drawing/2014/main" id="{80A2D41E-3350-4EA0-909E-4EC7EC9234EF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32778" name="矩形 23573">
                <a:extLst>
                  <a:ext uri="{FF2B5EF4-FFF2-40B4-BE49-F238E27FC236}">
                    <a16:creationId xmlns:a16="http://schemas.microsoft.com/office/drawing/2014/main" id="{5830136D-8558-498A-A1D5-2F30B6A214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0" y="193"/>
                <a:ext cx="519" cy="135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79" name="矩形 23574">
                <a:extLst>
                  <a:ext uri="{FF2B5EF4-FFF2-40B4-BE49-F238E27FC236}">
                    <a16:creationId xmlns:a16="http://schemas.microsoft.com/office/drawing/2014/main" id="{C93FE4CA-770E-4DC3-9057-204990F662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83" y="258"/>
                <a:ext cx="782" cy="3113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80" name="文本框 23575">
                <a:extLst>
                  <a:ext uri="{FF2B5EF4-FFF2-40B4-BE49-F238E27FC236}">
                    <a16:creationId xmlns:a16="http://schemas.microsoft.com/office/drawing/2014/main" id="{7509E7CA-43F4-4BFD-8977-F45127D3116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05" y="258"/>
                <a:ext cx="707" cy="1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4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1" name="文本框 23576">
                <a:extLst>
                  <a:ext uri="{FF2B5EF4-FFF2-40B4-BE49-F238E27FC236}">
                    <a16:creationId xmlns:a16="http://schemas.microsoft.com/office/drawing/2014/main" id="{E9D79DFA-F482-4C14-B0B0-67C98F4BEB7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15" y="1543"/>
                <a:ext cx="37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8086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2" name="直接连接符 23577">
                <a:extLst>
                  <a:ext uri="{FF2B5EF4-FFF2-40B4-BE49-F238E27FC236}">
                    <a16:creationId xmlns:a16="http://schemas.microsoft.com/office/drawing/2014/main" id="{88597863-5968-4C3D-A608-74F1E263B9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54" y="333"/>
                <a:ext cx="14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3" name="文本框 23578">
                <a:extLst>
                  <a:ext uri="{FF2B5EF4-FFF2-40B4-BE49-F238E27FC236}">
                    <a16:creationId xmlns:a16="http://schemas.microsoft.com/office/drawing/2014/main" id="{C98AC49A-D2C1-4771-8F6E-EAC1CBD3322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689" y="327"/>
                <a:ext cx="801" cy="3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地址</a:t>
                </a:r>
              </a:p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锁存器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4" name="文本框 23579">
                <a:extLst>
                  <a:ext uri="{FF2B5EF4-FFF2-40B4-BE49-F238E27FC236}">
                    <a16:creationId xmlns:a16="http://schemas.microsoft.com/office/drawing/2014/main" id="{80E19E98-8E24-41E8-9ECF-C52A60EA497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30" y="707"/>
                <a:ext cx="3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STB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5" name="文本框 23580">
                <a:extLst>
                  <a:ext uri="{FF2B5EF4-FFF2-40B4-BE49-F238E27FC236}">
                    <a16:creationId xmlns:a16="http://schemas.microsoft.com/office/drawing/2014/main" id="{158AACD1-B942-49D9-814E-6269E7ED093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36" y="1286"/>
                <a:ext cx="75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400" b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1400" b="1">
                    <a:latin typeface="Times New Roman" panose="02020603050405020304" pitchFamily="18" charset="0"/>
                  </a:rPr>
                  <a:t>8282*3</a:t>
                </a:r>
                <a:r>
                  <a:rPr lang="zh-CN" altLang="en-US" sz="1400" b="1">
                    <a:latin typeface="Times New Roman" panose="02020603050405020304" pitchFamily="18" charset="0"/>
                  </a:rPr>
                  <a:t>）</a:t>
                </a:r>
                <a:endParaRPr lang="zh-CN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6" name="直接连接符 23581">
                <a:extLst>
                  <a:ext uri="{FF2B5EF4-FFF2-40B4-BE49-F238E27FC236}">
                    <a16:creationId xmlns:a16="http://schemas.microsoft.com/office/drawing/2014/main" id="{1F2770FF-AB8D-4A90-97C7-103C4A05F2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253"/>
                <a:ext cx="1995" cy="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7" name="直接连接符 23582">
                <a:extLst>
                  <a:ext uri="{FF2B5EF4-FFF2-40B4-BE49-F238E27FC236}">
                    <a16:creationId xmlns:a16="http://schemas.microsoft.com/office/drawing/2014/main" id="{FFD0A0B1-8AA1-40C3-BA76-B97E0B5005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3239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8" name="直接连接符 23583">
                <a:extLst>
                  <a:ext uri="{FF2B5EF4-FFF2-40B4-BE49-F238E27FC236}">
                    <a16:creationId xmlns:a16="http://schemas.microsoft.com/office/drawing/2014/main" id="{A69CED40-7490-47DB-B788-2B72A49EC2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265" y="2742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9" name="直接连接符 23584">
                <a:extLst>
                  <a:ext uri="{FF2B5EF4-FFF2-40B4-BE49-F238E27FC236}">
                    <a16:creationId xmlns:a16="http://schemas.microsoft.com/office/drawing/2014/main" id="{ECA39D58-674C-4A1D-A094-E300737D1DD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918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0" name="直接连接符 23585">
                <a:extLst>
                  <a:ext uri="{FF2B5EF4-FFF2-40B4-BE49-F238E27FC236}">
                    <a16:creationId xmlns:a16="http://schemas.microsoft.com/office/drawing/2014/main" id="{3192AB88-C969-41F7-92CA-56D109EE832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265" y="3062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1" name="直接连接符 23586">
                <a:extLst>
                  <a:ext uri="{FF2B5EF4-FFF2-40B4-BE49-F238E27FC236}">
                    <a16:creationId xmlns:a16="http://schemas.microsoft.com/office/drawing/2014/main" id="{E4445E88-E19C-4DA7-BBD4-0687DC994CC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433"/>
                <a:ext cx="1995" cy="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2" name="直接连接符 23587">
                <a:extLst>
                  <a:ext uri="{FF2B5EF4-FFF2-40B4-BE49-F238E27FC236}">
                    <a16:creationId xmlns:a16="http://schemas.microsoft.com/office/drawing/2014/main" id="{02FD445C-78F5-4F47-B1E6-D44DDE5BB2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585"/>
                <a:ext cx="1995" cy="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3" name="直接连接符 23588">
                <a:extLst>
                  <a:ext uri="{FF2B5EF4-FFF2-40B4-BE49-F238E27FC236}">
                    <a16:creationId xmlns:a16="http://schemas.microsoft.com/office/drawing/2014/main" id="{CE18C8D6-C7DA-420D-A70D-F83BD3CC00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1921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直接连接符 23589">
                <a:extLst>
                  <a:ext uri="{FF2B5EF4-FFF2-40B4-BE49-F238E27FC236}">
                    <a16:creationId xmlns:a16="http://schemas.microsoft.com/office/drawing/2014/main" id="{1923406A-F00C-48F5-92A8-D0912FDF7A1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097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矩形 23590">
                <a:extLst>
                  <a:ext uri="{FF2B5EF4-FFF2-40B4-BE49-F238E27FC236}">
                    <a16:creationId xmlns:a16="http://schemas.microsoft.com/office/drawing/2014/main" id="{986EE036-C395-49E4-86B4-F91242FF36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0" y="1609"/>
                <a:ext cx="519" cy="57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96" name="文本框 23591">
                <a:extLst>
                  <a:ext uri="{FF2B5EF4-FFF2-40B4-BE49-F238E27FC236}">
                    <a16:creationId xmlns:a16="http://schemas.microsoft.com/office/drawing/2014/main" id="{29AA6039-0CDF-4A45-AD9B-0199886EDF9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36" y="1609"/>
                <a:ext cx="80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400" b="1" dirty="0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1400" b="1" dirty="0">
                    <a:latin typeface="Times New Roman" panose="02020603050405020304" pitchFamily="18" charset="0"/>
                  </a:rPr>
                  <a:t>74LS245*2</a:t>
                </a:r>
                <a:r>
                  <a:rPr lang="zh-CN" altLang="en-US" sz="1400" b="1" dirty="0">
                    <a:latin typeface="Times New Roman" panose="02020603050405020304" pitchFamily="18" charset="0"/>
                  </a:rPr>
                  <a:t>）</a:t>
                </a:r>
                <a:endParaRPr lang="zh-CN" altLang="en-US" sz="1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7" name="文本框 23592">
                <a:extLst>
                  <a:ext uri="{FF2B5EF4-FFF2-40B4-BE49-F238E27FC236}">
                    <a16:creationId xmlns:a16="http://schemas.microsoft.com/office/drawing/2014/main" id="{10F826EF-3ADF-48BB-BB4E-FFA332765C2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08" y="1833"/>
                <a:ext cx="28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OE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8" name="文本框 23593">
                <a:extLst>
                  <a:ext uri="{FF2B5EF4-FFF2-40B4-BE49-F238E27FC236}">
                    <a16:creationId xmlns:a16="http://schemas.microsoft.com/office/drawing/2014/main" id="{D0930E43-5F3B-4E21-8E44-B9F1DC58E2A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77" y="1955"/>
                <a:ext cx="5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400">
                    <a:latin typeface="Times New Roman" panose="02020603050405020304" pitchFamily="18" charset="0"/>
                  </a:rPr>
                  <a:t>（选用）</a:t>
                </a:r>
                <a:endParaRPr lang="zh-CN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9" name="直接连接符 23594">
                <a:extLst>
                  <a:ext uri="{FF2B5EF4-FFF2-40B4-BE49-F238E27FC236}">
                    <a16:creationId xmlns:a16="http://schemas.microsoft.com/office/drawing/2014/main" id="{88E93FB5-3927-4BB6-942A-2E1F672BEF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71" y="1856"/>
                <a:ext cx="14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左右箭头 23595">
                <a:extLst>
                  <a:ext uri="{FF2B5EF4-FFF2-40B4-BE49-F238E27FC236}">
                    <a16:creationId xmlns:a16="http://schemas.microsoft.com/office/drawing/2014/main" id="{ED3D26B5-2F09-42B0-85C7-6222B39994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5" y="1351"/>
                <a:ext cx="565" cy="115"/>
              </a:xfrm>
              <a:prstGeom prst="leftRightArrow">
                <a:avLst>
                  <a:gd name="adj1" fmla="val 50000"/>
                  <a:gd name="adj2" fmla="val 98215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1" name="右箭头 23596">
                <a:extLst>
                  <a:ext uri="{FF2B5EF4-FFF2-40B4-BE49-F238E27FC236}">
                    <a16:creationId xmlns:a16="http://schemas.microsoft.com/office/drawing/2014/main" id="{08937636-1019-4FA8-8986-86272CDDBB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36" y="1672"/>
                <a:ext cx="283" cy="130"/>
              </a:xfrm>
              <a:prstGeom prst="rightArrow">
                <a:avLst>
                  <a:gd name="adj1" fmla="val 50000"/>
                  <a:gd name="adj2" fmla="val 54403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2" name="右箭头 23597">
                <a:extLst>
                  <a:ext uri="{FF2B5EF4-FFF2-40B4-BE49-F238E27FC236}">
                    <a16:creationId xmlns:a16="http://schemas.microsoft.com/office/drawing/2014/main" id="{B505A82D-FEC8-41EE-9481-DD098B67BA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5" y="1171"/>
                <a:ext cx="565" cy="116"/>
              </a:xfrm>
              <a:prstGeom prst="rightArrow">
                <a:avLst>
                  <a:gd name="adj1" fmla="val 50000"/>
                  <a:gd name="adj2" fmla="val 121722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3" name="直接连接符 23598">
                <a:extLst>
                  <a:ext uri="{FF2B5EF4-FFF2-40B4-BE49-F238E27FC236}">
                    <a16:creationId xmlns:a16="http://schemas.microsoft.com/office/drawing/2014/main" id="{501535BA-2744-4E1D-BD31-052B71CC69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836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4" name="直接连接符 23599">
                <a:extLst>
                  <a:ext uri="{FF2B5EF4-FFF2-40B4-BE49-F238E27FC236}">
                    <a16:creationId xmlns:a16="http://schemas.microsoft.com/office/drawing/2014/main" id="{C04EA935-10DB-4736-8200-F227821E6BF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1029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5" name="左右箭头 23600">
                <a:extLst>
                  <a:ext uri="{FF2B5EF4-FFF2-40B4-BE49-F238E27FC236}">
                    <a16:creationId xmlns:a16="http://schemas.microsoft.com/office/drawing/2014/main" id="{84028B6B-6CC8-4EF7-B54E-E7DBFC1C5A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62" y="1798"/>
                <a:ext cx="895" cy="128"/>
              </a:xfrm>
              <a:prstGeom prst="leftRightArrow">
                <a:avLst>
                  <a:gd name="adj1" fmla="val 50000"/>
                  <a:gd name="adj2" fmla="val 139779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6" name="右箭头 23601">
                <a:extLst>
                  <a:ext uri="{FF2B5EF4-FFF2-40B4-BE49-F238E27FC236}">
                    <a16:creationId xmlns:a16="http://schemas.microsoft.com/office/drawing/2014/main" id="{A677E55A-DA36-4604-824C-EF72D08F77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49" y="772"/>
                <a:ext cx="895" cy="129"/>
              </a:xfrm>
              <a:prstGeom prst="rightArrow">
                <a:avLst>
                  <a:gd name="adj1" fmla="val 50000"/>
                  <a:gd name="adj2" fmla="val 173385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7" name="直接连接符 23602">
                <a:extLst>
                  <a:ext uri="{FF2B5EF4-FFF2-40B4-BE49-F238E27FC236}">
                    <a16:creationId xmlns:a16="http://schemas.microsoft.com/office/drawing/2014/main" id="{1F3FB45E-FA3F-40EC-903D-652CAF39538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49" y="386"/>
                <a:ext cx="8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8" name="文本框 23603">
                <a:extLst>
                  <a:ext uri="{FF2B5EF4-FFF2-40B4-BE49-F238E27FC236}">
                    <a16:creationId xmlns:a16="http://schemas.microsoft.com/office/drawing/2014/main" id="{DF5C3F85-44D8-4EF8-8F08-75ADF38EE0E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37" y="129"/>
                <a:ext cx="42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</a:rPr>
                  <a:t>BHE</a:t>
                </a:r>
              </a:p>
            </p:txBody>
          </p:sp>
          <p:sp>
            <p:nvSpPr>
              <p:cNvPr id="32809" name="文本框 23604">
                <a:extLst>
                  <a:ext uri="{FF2B5EF4-FFF2-40B4-BE49-F238E27FC236}">
                    <a16:creationId xmlns:a16="http://schemas.microsoft.com/office/drawing/2014/main" id="{DF7141CD-16FC-4474-834F-A1864F8A462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10" y="489"/>
                <a:ext cx="74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</a:rPr>
                  <a:t>A19~A0</a:t>
                </a:r>
              </a:p>
            </p:txBody>
          </p:sp>
          <p:sp>
            <p:nvSpPr>
              <p:cNvPr id="32810" name="文本框 23605">
                <a:extLst>
                  <a:ext uri="{FF2B5EF4-FFF2-40B4-BE49-F238E27FC236}">
                    <a16:creationId xmlns:a16="http://schemas.microsoft.com/office/drawing/2014/main" id="{BBD78226-26F8-45CB-98FB-CE49284F509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90" y="1478"/>
                <a:ext cx="65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</a:rPr>
                  <a:t>D15~D0</a:t>
                </a:r>
              </a:p>
            </p:txBody>
          </p:sp>
          <p:sp>
            <p:nvSpPr>
              <p:cNvPr id="32811" name="文本框 23606">
                <a:extLst>
                  <a:ext uri="{FF2B5EF4-FFF2-40B4-BE49-F238E27FC236}">
                    <a16:creationId xmlns:a16="http://schemas.microsoft.com/office/drawing/2014/main" id="{32A966AD-DE76-4D96-BD5A-659A84B9821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90" y="901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地址总线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2" name="文本框 23607">
                <a:extLst>
                  <a:ext uri="{FF2B5EF4-FFF2-40B4-BE49-F238E27FC236}">
                    <a16:creationId xmlns:a16="http://schemas.microsoft.com/office/drawing/2014/main" id="{FD60EA6B-F415-4775-98FB-2131CABF37E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43" y="1930"/>
                <a:ext cx="77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数据总线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3" name="直接连接符 23608">
                <a:extLst>
                  <a:ext uri="{FF2B5EF4-FFF2-40B4-BE49-F238E27FC236}">
                    <a16:creationId xmlns:a16="http://schemas.microsoft.com/office/drawing/2014/main" id="{148A0A37-B7AE-4A13-9935-90C49E5F69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265" y="410"/>
                <a:ext cx="28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4" name="文本框 23609">
                <a:extLst>
                  <a:ext uri="{FF2B5EF4-FFF2-40B4-BE49-F238E27FC236}">
                    <a16:creationId xmlns:a16="http://schemas.microsoft.com/office/drawing/2014/main" id="{18CA2A4E-2750-45DB-9164-92C53D19B7F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27" y="256"/>
                <a:ext cx="56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 pitchFamily="49" charset="-122"/>
                  </a:rPr>
                  <a:t>+5V</a:t>
                </a:r>
                <a:endParaRPr lang="en-US" altLang="zh-CN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5" name="文本框 23610">
                <a:extLst>
                  <a:ext uri="{FF2B5EF4-FFF2-40B4-BE49-F238E27FC236}">
                    <a16:creationId xmlns:a16="http://schemas.microsoft.com/office/drawing/2014/main" id="{E86A4285-1825-4CF5-A519-59E8D2FA7CA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93" y="347"/>
                <a:ext cx="660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MN/MX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6" name="文本框 23611">
                <a:extLst>
                  <a:ext uri="{FF2B5EF4-FFF2-40B4-BE49-F238E27FC236}">
                    <a16:creationId xmlns:a16="http://schemas.microsoft.com/office/drawing/2014/main" id="{B1715D46-668B-46AF-AE3E-FF8F424C2DB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55" y="809"/>
                <a:ext cx="37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CLK</a:t>
                </a:r>
              </a:p>
            </p:txBody>
          </p:sp>
          <p:sp>
            <p:nvSpPr>
              <p:cNvPr id="32817" name="直接连接符 23612">
                <a:extLst>
                  <a:ext uri="{FF2B5EF4-FFF2-40B4-BE49-F238E27FC236}">
                    <a16:creationId xmlns:a16="http://schemas.microsoft.com/office/drawing/2014/main" id="{A8D3D825-0F46-46D2-85A6-4EC00A345C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9" y="643"/>
                <a:ext cx="3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8" name="直接连接符 23613">
                <a:extLst>
                  <a:ext uri="{FF2B5EF4-FFF2-40B4-BE49-F238E27FC236}">
                    <a16:creationId xmlns:a16="http://schemas.microsoft.com/office/drawing/2014/main" id="{2805C271-50D7-4BB8-B4ED-62625D7B0C4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9" y="901"/>
                <a:ext cx="3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9" name="文本框 23614">
                <a:extLst>
                  <a:ext uri="{FF2B5EF4-FFF2-40B4-BE49-F238E27FC236}">
                    <a16:creationId xmlns:a16="http://schemas.microsoft.com/office/drawing/2014/main" id="{4FFD5D8F-13AF-4535-93B7-440C616B642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720"/>
                <a:ext cx="51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RESET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20" name="矩形 23615">
                <a:extLst>
                  <a:ext uri="{FF2B5EF4-FFF2-40B4-BE49-F238E27FC236}">
                    <a16:creationId xmlns:a16="http://schemas.microsoft.com/office/drawing/2014/main" id="{475A3DD4-8C50-4C50-A3A7-BB042D1E87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87" y="1320"/>
                <a:ext cx="62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AD</a:t>
                </a:r>
                <a:r>
                  <a:rPr lang="en-US" altLang="zh-CN" sz="1000">
                    <a:latin typeface="Times New Roman" panose="02020603050405020304" pitchFamily="18" charset="0"/>
                  </a:rPr>
                  <a:t>15</a:t>
                </a:r>
                <a:r>
                  <a:rPr lang="en-US" altLang="zh-CN" sz="1400">
                    <a:latin typeface="Times New Roman" panose="02020603050405020304" pitchFamily="18" charset="0"/>
                  </a:rPr>
                  <a:t>~AD</a:t>
                </a:r>
                <a:r>
                  <a:rPr lang="en-US" altLang="zh-CN" sz="1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2821" name="矩形 23616">
                <a:extLst>
                  <a:ext uri="{FF2B5EF4-FFF2-40B4-BE49-F238E27FC236}">
                    <a16:creationId xmlns:a16="http://schemas.microsoft.com/office/drawing/2014/main" id="{29A66643-9ACF-41B7-95FA-3A6C73C5E8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44" y="1124"/>
                <a:ext cx="5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A19~A16</a:t>
                </a:r>
              </a:p>
            </p:txBody>
          </p:sp>
          <p:grpSp>
            <p:nvGrpSpPr>
              <p:cNvPr id="32822" name="组合 23617">
                <a:extLst>
                  <a:ext uri="{FF2B5EF4-FFF2-40B4-BE49-F238E27FC236}">
                    <a16:creationId xmlns:a16="http://schemas.microsoft.com/office/drawing/2014/main" id="{F3B789AF-83B2-4522-A518-D7296932B2C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61" y="1832"/>
                <a:ext cx="346" cy="136"/>
                <a:chOff x="0" y="0"/>
                <a:chExt cx="370" cy="146"/>
              </a:xfrm>
            </p:grpSpPr>
            <p:sp>
              <p:nvSpPr>
                <p:cNvPr id="32850" name="直接连接符 23618">
                  <a:extLst>
                    <a:ext uri="{FF2B5EF4-FFF2-40B4-BE49-F238E27FC236}">
                      <a16:creationId xmlns:a16="http://schemas.microsoft.com/office/drawing/2014/main" id="{3D1FAC33-FBF8-4E84-8A45-DC1743128FC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90" y="0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51" name="矩形 23619">
                  <a:extLst>
                    <a:ext uri="{FF2B5EF4-FFF2-40B4-BE49-F238E27FC236}">
                      <a16:creationId xmlns:a16="http://schemas.microsoft.com/office/drawing/2014/main" id="{11F6EF8D-C5CC-4749-88E5-840792F0BE2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6"/>
                  <a:ext cx="370" cy="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DEN</a:t>
                  </a:r>
                </a:p>
              </p:txBody>
            </p:sp>
          </p:grpSp>
          <p:grpSp>
            <p:nvGrpSpPr>
              <p:cNvPr id="32823" name="组合 23620">
                <a:extLst>
                  <a:ext uri="{FF2B5EF4-FFF2-40B4-BE49-F238E27FC236}">
                    <a16:creationId xmlns:a16="http://schemas.microsoft.com/office/drawing/2014/main" id="{20B5E38F-E012-48A8-978B-DDF7EE4F0DC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38" y="2028"/>
                <a:ext cx="371" cy="136"/>
                <a:chOff x="0" y="0"/>
                <a:chExt cx="396" cy="145"/>
              </a:xfrm>
            </p:grpSpPr>
            <p:sp>
              <p:nvSpPr>
                <p:cNvPr id="32848" name="直接连接符 23621">
                  <a:extLst>
                    <a:ext uri="{FF2B5EF4-FFF2-40B4-BE49-F238E27FC236}">
                      <a16:creationId xmlns:a16="http://schemas.microsoft.com/office/drawing/2014/main" id="{BF5BE6C7-A015-44E9-97D8-DEAB036AF4A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36" y="0"/>
                  <a:ext cx="8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9" name="矩形 23622">
                  <a:extLst>
                    <a:ext uri="{FF2B5EF4-FFF2-40B4-BE49-F238E27FC236}">
                      <a16:creationId xmlns:a16="http://schemas.microsoft.com/office/drawing/2014/main" id="{A8C55060-CEDF-493F-82B7-6668D029E0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5"/>
                  <a:ext cx="396" cy="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DT/R</a:t>
                  </a:r>
                </a:p>
              </p:txBody>
            </p:sp>
          </p:grpSp>
          <p:grpSp>
            <p:nvGrpSpPr>
              <p:cNvPr id="32824" name="组合 23623">
                <a:extLst>
                  <a:ext uri="{FF2B5EF4-FFF2-40B4-BE49-F238E27FC236}">
                    <a16:creationId xmlns:a16="http://schemas.microsoft.com/office/drawing/2014/main" id="{4AC541EF-9940-4A00-A05D-78D27C7EB42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49" y="2163"/>
                <a:ext cx="365" cy="192"/>
                <a:chOff x="0" y="0"/>
                <a:chExt cx="390" cy="205"/>
              </a:xfrm>
            </p:grpSpPr>
            <p:sp>
              <p:nvSpPr>
                <p:cNvPr id="32846" name="直接连接符 23624">
                  <a:extLst>
                    <a:ext uri="{FF2B5EF4-FFF2-40B4-BE49-F238E27FC236}">
                      <a16:creationId xmlns:a16="http://schemas.microsoft.com/office/drawing/2014/main" id="{039BF00D-8076-4CE4-8BCF-8AEF5BFFC24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08" y="36"/>
                  <a:ext cx="8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7" name="矩形 23625">
                  <a:extLst>
                    <a:ext uri="{FF2B5EF4-FFF2-40B4-BE49-F238E27FC236}">
                      <a16:creationId xmlns:a16="http://schemas.microsoft.com/office/drawing/2014/main" id="{DCB07112-1F2F-4EBB-88BF-BD5E97EA274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390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400">
                      <a:latin typeface="Times New Roman" panose="02020603050405020304" pitchFamily="18" charset="0"/>
                    </a:rPr>
                    <a:t>M/IO</a:t>
                  </a:r>
                </a:p>
              </p:txBody>
            </p:sp>
          </p:grpSp>
          <p:grpSp>
            <p:nvGrpSpPr>
              <p:cNvPr id="32825" name="组合 23626">
                <a:extLst>
                  <a:ext uri="{FF2B5EF4-FFF2-40B4-BE49-F238E27FC236}">
                    <a16:creationId xmlns:a16="http://schemas.microsoft.com/office/drawing/2014/main" id="{E1AEBB3B-4AD1-467A-A459-BB61CC26F0E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05" y="2365"/>
                <a:ext cx="297" cy="141"/>
                <a:chOff x="0" y="0"/>
                <a:chExt cx="317" cy="150"/>
              </a:xfrm>
            </p:grpSpPr>
            <p:sp>
              <p:nvSpPr>
                <p:cNvPr id="32844" name="直接连接符 23627">
                  <a:extLst>
                    <a:ext uri="{FF2B5EF4-FFF2-40B4-BE49-F238E27FC236}">
                      <a16:creationId xmlns:a16="http://schemas.microsoft.com/office/drawing/2014/main" id="{2BF324D3-66D4-487A-95C5-A10DC70762B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77" y="0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5" name="矩形 23628">
                  <a:extLst>
                    <a:ext uri="{FF2B5EF4-FFF2-40B4-BE49-F238E27FC236}">
                      <a16:creationId xmlns:a16="http://schemas.microsoft.com/office/drawing/2014/main" id="{B07773D8-D157-485D-93D0-D281F2FB68D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31"/>
                  <a:ext cx="317" cy="1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WR</a:t>
                  </a:r>
                </a:p>
              </p:txBody>
            </p:sp>
          </p:grpSp>
          <p:grpSp>
            <p:nvGrpSpPr>
              <p:cNvPr id="32826" name="组合 23629">
                <a:extLst>
                  <a:ext uri="{FF2B5EF4-FFF2-40B4-BE49-F238E27FC236}">
                    <a16:creationId xmlns:a16="http://schemas.microsoft.com/office/drawing/2014/main" id="{4BF952DC-A46D-49C5-BE75-6CAE61CF02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39" y="2495"/>
                <a:ext cx="272" cy="192"/>
                <a:chOff x="0" y="0"/>
                <a:chExt cx="291" cy="206"/>
              </a:xfrm>
            </p:grpSpPr>
            <p:sp>
              <p:nvSpPr>
                <p:cNvPr id="32842" name="直接连接符 23630">
                  <a:extLst>
                    <a:ext uri="{FF2B5EF4-FFF2-40B4-BE49-F238E27FC236}">
                      <a16:creationId xmlns:a16="http://schemas.microsoft.com/office/drawing/2014/main" id="{05243827-131C-4DBB-8831-5C305934D90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68" y="30"/>
                  <a:ext cx="15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3" name="矩形 23631">
                  <a:extLst>
                    <a:ext uri="{FF2B5EF4-FFF2-40B4-BE49-F238E27FC236}">
                      <a16:creationId xmlns:a16="http://schemas.microsoft.com/office/drawing/2014/main" id="{316F2EE9-BAAE-4004-9913-2CDD2F2C644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291" cy="2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400">
                      <a:latin typeface="Times New Roman" panose="02020603050405020304" pitchFamily="18" charset="0"/>
                    </a:rPr>
                    <a:t>RD</a:t>
                  </a:r>
                </a:p>
              </p:txBody>
            </p:sp>
          </p:grpSp>
          <p:sp>
            <p:nvSpPr>
              <p:cNvPr id="32827" name="矩形 23632">
                <a:extLst>
                  <a:ext uri="{FF2B5EF4-FFF2-40B4-BE49-F238E27FC236}">
                    <a16:creationId xmlns:a16="http://schemas.microsoft.com/office/drawing/2014/main" id="{7044A303-1F1B-482B-B4AF-22091B01BB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79" y="2646"/>
                <a:ext cx="42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HOLD</a:t>
                </a:r>
              </a:p>
            </p:txBody>
          </p:sp>
          <p:sp>
            <p:nvSpPr>
              <p:cNvPr id="32828" name="矩形 23633">
                <a:extLst>
                  <a:ext uri="{FF2B5EF4-FFF2-40B4-BE49-F238E27FC236}">
                    <a16:creationId xmlns:a16="http://schemas.microsoft.com/office/drawing/2014/main" id="{A897A7CA-5D57-4285-8D29-B559D08887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72" y="2798"/>
                <a:ext cx="42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HLDA</a:t>
                </a:r>
              </a:p>
            </p:txBody>
          </p:sp>
          <p:sp>
            <p:nvSpPr>
              <p:cNvPr id="32829" name="矩形 23634">
                <a:extLst>
                  <a:ext uri="{FF2B5EF4-FFF2-40B4-BE49-F238E27FC236}">
                    <a16:creationId xmlns:a16="http://schemas.microsoft.com/office/drawing/2014/main" id="{DD02032D-3ABB-4B96-AA8F-C902CA34A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26" y="2950"/>
                <a:ext cx="37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INTR</a:t>
                </a:r>
              </a:p>
            </p:txBody>
          </p:sp>
          <p:grpSp>
            <p:nvGrpSpPr>
              <p:cNvPr id="32830" name="组合 23635">
                <a:extLst>
                  <a:ext uri="{FF2B5EF4-FFF2-40B4-BE49-F238E27FC236}">
                    <a16:creationId xmlns:a16="http://schemas.microsoft.com/office/drawing/2014/main" id="{B7563978-3E26-49FB-BE61-955D4FAF463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20" y="3159"/>
                <a:ext cx="383" cy="140"/>
                <a:chOff x="0" y="0"/>
                <a:chExt cx="410" cy="149"/>
              </a:xfrm>
            </p:grpSpPr>
            <p:sp>
              <p:nvSpPr>
                <p:cNvPr id="32840" name="直接连接符 23636">
                  <a:extLst>
                    <a:ext uri="{FF2B5EF4-FFF2-40B4-BE49-F238E27FC236}">
                      <a16:creationId xmlns:a16="http://schemas.microsoft.com/office/drawing/2014/main" id="{4084A128-58D7-4CC1-851A-C8295411CFB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69" y="0"/>
                  <a:ext cx="25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1" name="矩形 23637">
                  <a:extLst>
                    <a:ext uri="{FF2B5EF4-FFF2-40B4-BE49-F238E27FC236}">
                      <a16:creationId xmlns:a16="http://schemas.microsoft.com/office/drawing/2014/main" id="{13D87F2C-994F-480E-AD7E-90BAFC851B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30"/>
                  <a:ext cx="410" cy="1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INTA</a:t>
                  </a:r>
                </a:p>
              </p:txBody>
            </p:sp>
          </p:grpSp>
          <p:sp>
            <p:nvSpPr>
              <p:cNvPr id="32831" name="矩形 23638">
                <a:extLst>
                  <a:ext uri="{FF2B5EF4-FFF2-40B4-BE49-F238E27FC236}">
                    <a16:creationId xmlns:a16="http://schemas.microsoft.com/office/drawing/2014/main" id="{3478C046-8598-4DEC-AEE6-E0C264BABB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2" y="747"/>
                <a:ext cx="3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ALE</a:t>
                </a:r>
              </a:p>
            </p:txBody>
          </p:sp>
          <p:grpSp>
            <p:nvGrpSpPr>
              <p:cNvPr id="32832" name="组合 23639">
                <a:extLst>
                  <a:ext uri="{FF2B5EF4-FFF2-40B4-BE49-F238E27FC236}">
                    <a16:creationId xmlns:a16="http://schemas.microsoft.com/office/drawing/2014/main" id="{BE3A6687-8068-4F9F-8832-8E6BFC5724C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55" y="954"/>
                <a:ext cx="340" cy="192"/>
                <a:chOff x="0" y="0"/>
                <a:chExt cx="363" cy="205"/>
              </a:xfrm>
            </p:grpSpPr>
            <p:sp>
              <p:nvSpPr>
                <p:cNvPr id="32838" name="直接连接符 23640">
                  <a:extLst>
                    <a:ext uri="{FF2B5EF4-FFF2-40B4-BE49-F238E27FC236}">
                      <a16:creationId xmlns:a16="http://schemas.microsoft.com/office/drawing/2014/main" id="{5390AA9F-7F83-4F65-BC95-BDD3F9069BA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85" y="31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39" name="矩形 23641">
                  <a:extLst>
                    <a:ext uri="{FF2B5EF4-FFF2-40B4-BE49-F238E27FC236}">
                      <a16:creationId xmlns:a16="http://schemas.microsoft.com/office/drawing/2014/main" id="{36A4EF78-9EA2-41C1-A41D-5771564B2B4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363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400">
                      <a:latin typeface="Times New Roman" panose="02020603050405020304" pitchFamily="18" charset="0"/>
                    </a:rPr>
                    <a:t>BHE</a:t>
                  </a:r>
                </a:p>
              </p:txBody>
            </p:sp>
          </p:grpSp>
          <p:sp>
            <p:nvSpPr>
              <p:cNvPr id="32833" name="矩形 23642">
                <a:extLst>
                  <a:ext uri="{FF2B5EF4-FFF2-40B4-BE49-F238E27FC236}">
                    <a16:creationId xmlns:a16="http://schemas.microsoft.com/office/drawing/2014/main" id="{F4433099-28BA-46E8-B9AD-3A4319916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44" y="439"/>
                <a:ext cx="50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READY</a:t>
                </a:r>
              </a:p>
            </p:txBody>
          </p:sp>
          <p:sp>
            <p:nvSpPr>
              <p:cNvPr id="32834" name="矩形 23643">
                <a:extLst>
                  <a:ext uri="{FF2B5EF4-FFF2-40B4-BE49-F238E27FC236}">
                    <a16:creationId xmlns:a16="http://schemas.microsoft.com/office/drawing/2014/main" id="{E2C87F85-2C91-4C75-8D11-85858D161E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40" y="670"/>
                <a:ext cx="45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RESET</a:t>
                </a:r>
              </a:p>
            </p:txBody>
          </p:sp>
          <p:sp>
            <p:nvSpPr>
              <p:cNvPr id="32835" name="文本框 23644">
                <a:extLst>
                  <a:ext uri="{FF2B5EF4-FFF2-40B4-BE49-F238E27FC236}">
                    <a16:creationId xmlns:a16="http://schemas.microsoft.com/office/drawing/2014/main" id="{5C1DC9D6-127F-4395-A6B1-7163B8CD89D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07" y="1998"/>
                <a:ext cx="40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 pitchFamily="49" charset="-122"/>
                  </a:rPr>
                  <a:t>T</a:t>
                </a:r>
                <a:endParaRPr lang="en-US" altLang="zh-CN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36" name="矩形 23645">
                <a:extLst>
                  <a:ext uri="{FF2B5EF4-FFF2-40B4-BE49-F238E27FC236}">
                    <a16:creationId xmlns:a16="http://schemas.microsoft.com/office/drawing/2014/main" id="{444DA692-37FE-4BFC-8EEA-1453D6B7D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2" y="258"/>
                <a:ext cx="605" cy="311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37" name="文本框 23646">
                <a:extLst>
                  <a:ext uri="{FF2B5EF4-FFF2-40B4-BE49-F238E27FC236}">
                    <a16:creationId xmlns:a16="http://schemas.microsoft.com/office/drawing/2014/main" id="{5DED1044-085B-4878-84AD-09A8D4DFC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2" y="1085"/>
                <a:ext cx="605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/>
                  <a:t>存储器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/>
                  <a:t>子系统</a:t>
                </a:r>
              </a:p>
            </p:txBody>
          </p:sp>
        </p:grpSp>
      </p:grpSp>
      <p:sp>
        <p:nvSpPr>
          <p:cNvPr id="32771" name="矩形 23647">
            <a:extLst>
              <a:ext uri="{FF2B5EF4-FFF2-40B4-BE49-F238E27FC236}">
                <a16:creationId xmlns:a16="http://schemas.microsoft.com/office/drawing/2014/main" id="{4A5F3B4F-41A6-4260-A24D-F424CEA44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9188"/>
            <a:ext cx="2652713" cy="3905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楷体_GB2312" pitchFamily="49" charset="-122"/>
              </a:rPr>
              <a:t>最小模式下的存储器配置</a:t>
            </a:r>
          </a:p>
        </p:txBody>
      </p:sp>
      <p:sp>
        <p:nvSpPr>
          <p:cNvPr id="32772" name="灯片编号占位符 1">
            <a:extLst>
              <a:ext uri="{FF2B5EF4-FFF2-40B4-BE49-F238E27FC236}">
                <a16:creationId xmlns:a16="http://schemas.microsoft.com/office/drawing/2014/main" id="{69F0B10F-EA34-43CE-AD84-7C9A255650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7EFB27-CF9F-43A4-A335-203F50736959}" type="slidenum">
              <a:rPr altLang="en-US" smtClean="0">
                <a:latin typeface="Times New Roman" panose="02020603050405020304" pitchFamily="18" charset="0"/>
              </a:rPr>
              <a:pPr/>
              <a:t>28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24577">
            <a:extLst>
              <a:ext uri="{FF2B5EF4-FFF2-40B4-BE49-F238E27FC236}">
                <a16:creationId xmlns:a16="http://schemas.microsoft.com/office/drawing/2014/main" id="{481CAA36-85D5-4B93-9332-406F1AFB8023}"/>
              </a:ext>
            </a:extLst>
          </p:cNvPr>
          <p:cNvGrpSpPr>
            <a:grpSpLocks/>
          </p:cNvGrpSpPr>
          <p:nvPr/>
        </p:nvGrpSpPr>
        <p:grpSpPr bwMode="auto">
          <a:xfrm>
            <a:off x="722313" y="865188"/>
            <a:ext cx="3313112" cy="579437"/>
            <a:chOff x="0" y="0"/>
            <a:chExt cx="1993" cy="365"/>
          </a:xfrm>
        </p:grpSpPr>
        <p:sp>
          <p:nvSpPr>
            <p:cNvPr id="33855" name="矩形 24578">
              <a:extLst>
                <a:ext uri="{FF2B5EF4-FFF2-40B4-BE49-F238E27FC236}">
                  <a16:creationId xmlns:a16="http://schemas.microsoft.com/office/drawing/2014/main" id="{8358D99A-0D5D-4BB9-873F-C08F97644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9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A0</a:t>
              </a:r>
              <a:r>
                <a:rPr lang="zh-CN" altLang="en-US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和</a:t>
              </a:r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BHE</a:t>
              </a:r>
              <a:r>
                <a:rPr lang="zh-CN" altLang="en-US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的作用</a:t>
              </a:r>
              <a:endParaRPr lang="zh-CN" altLang="en-US" sz="3200" b="1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856" name="直接连接符 24579">
              <a:extLst>
                <a:ext uri="{FF2B5EF4-FFF2-40B4-BE49-F238E27FC236}">
                  <a16:creationId xmlns:a16="http://schemas.microsoft.com/office/drawing/2014/main" id="{ECA887A1-4F07-4CC1-933E-B3DC57A97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" y="48"/>
              <a:ext cx="50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795" name="组合 24580">
            <a:extLst>
              <a:ext uri="{FF2B5EF4-FFF2-40B4-BE49-F238E27FC236}">
                <a16:creationId xmlns:a16="http://schemas.microsoft.com/office/drawing/2014/main" id="{A386FB5B-D0C7-4101-BD3F-B223C8ECE7C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657350"/>
            <a:ext cx="7296150" cy="1243013"/>
            <a:chOff x="0" y="0"/>
            <a:chExt cx="4596" cy="783"/>
          </a:xfrm>
        </p:grpSpPr>
        <p:sp>
          <p:nvSpPr>
            <p:cNvPr id="33852" name="矩形 24581">
              <a:extLst>
                <a:ext uri="{FF2B5EF4-FFF2-40B4-BE49-F238E27FC236}">
                  <a16:creationId xmlns:a16="http://schemas.microsoft.com/office/drawing/2014/main" id="{18874504-17A8-492D-98EA-9334275C2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596" cy="16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53" name="下箭头 24582">
              <a:extLst>
                <a:ext uri="{FF2B5EF4-FFF2-40B4-BE49-F238E27FC236}">
                  <a16:creationId xmlns:a16="http://schemas.microsoft.com/office/drawing/2014/main" id="{B8F7009C-12DF-4B2D-950B-578AC29AE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168"/>
              <a:ext cx="252" cy="615"/>
            </a:xfrm>
            <a:prstGeom prst="downArrow">
              <a:avLst>
                <a:gd name="adj1" fmla="val 50000"/>
                <a:gd name="adj2" fmla="val 60989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54" name="下箭头 24583">
              <a:extLst>
                <a:ext uri="{FF2B5EF4-FFF2-40B4-BE49-F238E27FC236}">
                  <a16:creationId xmlns:a16="http://schemas.microsoft.com/office/drawing/2014/main" id="{5CE241B2-A527-4AB3-97D8-443BFD03F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68"/>
              <a:ext cx="252" cy="615"/>
            </a:xfrm>
            <a:prstGeom prst="downArrow">
              <a:avLst>
                <a:gd name="adj1" fmla="val 50000"/>
                <a:gd name="adj2" fmla="val 60989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796" name="文本框 24584">
            <a:extLst>
              <a:ext uri="{FF2B5EF4-FFF2-40B4-BE49-F238E27FC236}">
                <a16:creationId xmlns:a16="http://schemas.microsoft.com/office/drawing/2014/main" id="{A90E756E-20E7-4E68-A4FC-CB037CA1E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2914650"/>
            <a:ext cx="2405063" cy="11049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3200" b="1">
                <a:latin typeface="Times New Roman" panose="02020603050405020304" pitchFamily="18" charset="0"/>
              </a:rPr>
              <a:t>    </a:t>
            </a:r>
          </a:p>
          <a:p>
            <a:pPr algn="r"/>
            <a:endParaRPr lang="zh-CN" altLang="en-US" sz="3200" b="1">
              <a:latin typeface="Times New Roman" panose="02020603050405020304" pitchFamily="18" charset="0"/>
            </a:endParaRPr>
          </a:p>
        </p:txBody>
      </p:sp>
      <p:sp>
        <p:nvSpPr>
          <p:cNvPr id="33797" name="文本框 24585">
            <a:extLst>
              <a:ext uri="{FF2B5EF4-FFF2-40B4-BE49-F238E27FC236}">
                <a16:creationId xmlns:a16="http://schemas.microsoft.com/office/drawing/2014/main" id="{C4B53E71-19FA-4DA4-8157-3A111AB74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2986088"/>
            <a:ext cx="928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SEL</a:t>
            </a:r>
          </a:p>
        </p:txBody>
      </p:sp>
      <p:sp>
        <p:nvSpPr>
          <p:cNvPr id="33798" name="直接连接符 24586">
            <a:extLst>
              <a:ext uri="{FF2B5EF4-FFF2-40B4-BE49-F238E27FC236}">
                <a16:creationId xmlns:a16="http://schemas.microsoft.com/office/drawing/2014/main" id="{5A73D5E7-2812-428B-8F1A-D90C0D0CB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3175" y="3043238"/>
            <a:ext cx="454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9" name="文本框 24587">
            <a:extLst>
              <a:ext uri="{FF2B5EF4-FFF2-40B4-BE49-F238E27FC236}">
                <a16:creationId xmlns:a16="http://schemas.microsoft.com/office/drawing/2014/main" id="{BC768B62-06CC-40B0-A4B2-545276958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788" y="3608388"/>
            <a:ext cx="9334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D0~D7</a:t>
            </a:r>
          </a:p>
        </p:txBody>
      </p:sp>
      <p:sp>
        <p:nvSpPr>
          <p:cNvPr id="33800" name="文本框 24588">
            <a:extLst>
              <a:ext uri="{FF2B5EF4-FFF2-40B4-BE49-F238E27FC236}">
                <a16:creationId xmlns:a16="http://schemas.microsoft.com/office/drawing/2014/main" id="{74636828-7CA7-449A-8E40-77696A2B2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1600200"/>
            <a:ext cx="1062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A1~A19</a:t>
            </a:r>
          </a:p>
        </p:txBody>
      </p:sp>
      <p:grpSp>
        <p:nvGrpSpPr>
          <p:cNvPr id="33801" name="组合 24589">
            <a:extLst>
              <a:ext uri="{FF2B5EF4-FFF2-40B4-BE49-F238E27FC236}">
                <a16:creationId xmlns:a16="http://schemas.microsoft.com/office/drawing/2014/main" id="{D214118B-4912-4841-AAF8-1CBF57463AD4}"/>
              </a:ext>
            </a:extLst>
          </p:cNvPr>
          <p:cNvGrpSpPr>
            <a:grpSpLocks/>
          </p:cNvGrpSpPr>
          <p:nvPr/>
        </p:nvGrpSpPr>
        <p:grpSpPr bwMode="auto">
          <a:xfrm>
            <a:off x="444500" y="2392363"/>
            <a:ext cx="717550" cy="396875"/>
            <a:chOff x="0" y="0"/>
            <a:chExt cx="452" cy="250"/>
          </a:xfrm>
        </p:grpSpPr>
        <p:sp>
          <p:nvSpPr>
            <p:cNvPr id="33850" name="文本框 24590">
              <a:extLst>
                <a:ext uri="{FF2B5EF4-FFF2-40B4-BE49-F238E27FC236}">
                  <a16:creationId xmlns:a16="http://schemas.microsoft.com/office/drawing/2014/main" id="{78D48CF8-2DF2-48A6-AC88-567CF7668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>
                  <a:latin typeface="Times New Roman" panose="02020603050405020304" pitchFamily="18" charset="0"/>
                </a:rPr>
                <a:t>BHE</a:t>
              </a:r>
            </a:p>
          </p:txBody>
        </p:sp>
        <p:sp>
          <p:nvSpPr>
            <p:cNvPr id="33851" name="直接连接符 24591">
              <a:extLst>
                <a:ext uri="{FF2B5EF4-FFF2-40B4-BE49-F238E27FC236}">
                  <a16:creationId xmlns:a16="http://schemas.microsoft.com/office/drawing/2014/main" id="{924C8796-8D54-4FC7-8BA3-2274834EB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" y="12"/>
              <a:ext cx="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802" name="组合 24592">
            <a:extLst>
              <a:ext uri="{FF2B5EF4-FFF2-40B4-BE49-F238E27FC236}">
                <a16:creationId xmlns:a16="http://schemas.microsoft.com/office/drawing/2014/main" id="{EBC6CFF5-134E-4077-A7A6-A15C8356221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33650"/>
            <a:ext cx="385763" cy="400050"/>
            <a:chOff x="0" y="0"/>
            <a:chExt cx="243" cy="252"/>
          </a:xfrm>
        </p:grpSpPr>
        <p:sp>
          <p:nvSpPr>
            <p:cNvPr id="33848" name="直接连接符 24593">
              <a:extLst>
                <a:ext uri="{FF2B5EF4-FFF2-40B4-BE49-F238E27FC236}">
                  <a16:creationId xmlns:a16="http://schemas.microsoft.com/office/drawing/2014/main" id="{0DB68C0E-4F49-4091-B3C9-41BBED2C1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9" name="直接连接符 24594">
              <a:extLst>
                <a:ext uri="{FF2B5EF4-FFF2-40B4-BE49-F238E27FC236}">
                  <a16:creationId xmlns:a16="http://schemas.microsoft.com/office/drawing/2014/main" id="{998F62A2-4C03-4C51-BF96-4D19514F8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" y="0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3" name="文本框 24595">
            <a:extLst>
              <a:ext uri="{FF2B5EF4-FFF2-40B4-BE49-F238E27FC236}">
                <a16:creationId xmlns:a16="http://schemas.microsoft.com/office/drawing/2014/main" id="{A6348B59-1BCA-4973-9729-81F8901E1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2900363"/>
            <a:ext cx="2189163" cy="11049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3200" b="1">
                <a:latin typeface="Times New Roman" panose="02020603050405020304" pitchFamily="18" charset="0"/>
              </a:rPr>
              <a:t>    </a:t>
            </a:r>
          </a:p>
          <a:p>
            <a:pPr algn="r"/>
            <a:endParaRPr lang="zh-CN" altLang="en-US" sz="3200" b="1">
              <a:latin typeface="Times New Roman" panose="02020603050405020304" pitchFamily="18" charset="0"/>
            </a:endParaRPr>
          </a:p>
        </p:txBody>
      </p:sp>
      <p:sp>
        <p:nvSpPr>
          <p:cNvPr id="33804" name="文本框 24596">
            <a:extLst>
              <a:ext uri="{FF2B5EF4-FFF2-40B4-BE49-F238E27FC236}">
                <a16:creationId xmlns:a16="http://schemas.microsoft.com/office/drawing/2014/main" id="{D2917432-24B6-4C9C-9CC8-BC3156680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2971800"/>
            <a:ext cx="84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SEL</a:t>
            </a:r>
          </a:p>
        </p:txBody>
      </p:sp>
      <p:sp>
        <p:nvSpPr>
          <p:cNvPr id="33805" name="直接连接符 24597">
            <a:extLst>
              <a:ext uri="{FF2B5EF4-FFF2-40B4-BE49-F238E27FC236}">
                <a16:creationId xmlns:a16="http://schemas.microsoft.com/office/drawing/2014/main" id="{71FF984E-0B8B-43F1-889E-379BC4364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3041650"/>
            <a:ext cx="414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6" name="文本框 24598">
            <a:extLst>
              <a:ext uri="{FF2B5EF4-FFF2-40B4-BE49-F238E27FC236}">
                <a16:creationId xmlns:a16="http://schemas.microsoft.com/office/drawing/2014/main" id="{9D8AD2F2-30D6-4AA8-95D5-B791C131A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425" y="3608388"/>
            <a:ext cx="119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D0~D7</a:t>
            </a:r>
          </a:p>
        </p:txBody>
      </p:sp>
      <p:grpSp>
        <p:nvGrpSpPr>
          <p:cNvPr id="33807" name="组合 24599">
            <a:extLst>
              <a:ext uri="{FF2B5EF4-FFF2-40B4-BE49-F238E27FC236}">
                <a16:creationId xmlns:a16="http://schemas.microsoft.com/office/drawing/2014/main" id="{D9C16B79-ABB8-4D25-BE2D-17CD0610C7FC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187575"/>
            <a:ext cx="5376863" cy="731838"/>
            <a:chOff x="0" y="0"/>
            <a:chExt cx="3387" cy="461"/>
          </a:xfrm>
        </p:grpSpPr>
        <p:sp>
          <p:nvSpPr>
            <p:cNvPr id="33845" name="直接连接符 24600">
              <a:extLst>
                <a:ext uri="{FF2B5EF4-FFF2-40B4-BE49-F238E27FC236}">
                  <a16:creationId xmlns:a16="http://schemas.microsoft.com/office/drawing/2014/main" id="{A7B06865-2B3B-4171-AB09-06042134E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6" name="直接连接符 24601">
              <a:extLst>
                <a:ext uri="{FF2B5EF4-FFF2-40B4-BE49-F238E27FC236}">
                  <a16:creationId xmlns:a16="http://schemas.microsoft.com/office/drawing/2014/main" id="{73D8927B-984A-481A-98EE-4FDCC5945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0"/>
              <a:ext cx="25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7" name="直接连接符 24602">
              <a:extLst>
                <a:ext uri="{FF2B5EF4-FFF2-40B4-BE49-F238E27FC236}">
                  <a16:creationId xmlns:a16="http://schemas.microsoft.com/office/drawing/2014/main" id="{6F4B1BBC-1AC2-446D-96EB-AFF8B145E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7" y="0"/>
              <a:ext cx="0" cy="4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8" name="文本框 24603">
            <a:extLst>
              <a:ext uri="{FF2B5EF4-FFF2-40B4-BE49-F238E27FC236}">
                <a16:creationId xmlns:a16="http://schemas.microsoft.com/office/drawing/2014/main" id="{CDA67E13-3021-4CE5-9546-10FD17F4A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976438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A0</a:t>
            </a:r>
          </a:p>
        </p:txBody>
      </p:sp>
      <p:grpSp>
        <p:nvGrpSpPr>
          <p:cNvPr id="33809" name="组合 24604">
            <a:extLst>
              <a:ext uri="{FF2B5EF4-FFF2-40B4-BE49-F238E27FC236}">
                <a16:creationId xmlns:a16="http://schemas.microsoft.com/office/drawing/2014/main" id="{294B1188-28A3-464F-94E5-04B71193E571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4441825"/>
            <a:ext cx="8301037" cy="396875"/>
            <a:chOff x="0" y="0"/>
            <a:chExt cx="5229" cy="250"/>
          </a:xfrm>
        </p:grpSpPr>
        <p:sp>
          <p:nvSpPr>
            <p:cNvPr id="33843" name="矩形 24605">
              <a:extLst>
                <a:ext uri="{FF2B5EF4-FFF2-40B4-BE49-F238E27FC236}">
                  <a16:creationId xmlns:a16="http://schemas.microsoft.com/office/drawing/2014/main" id="{331D442B-72E7-4CE7-AF5B-873AAEC80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22"/>
              <a:ext cx="4596" cy="16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44" name="文本框 24606">
              <a:extLst>
                <a:ext uri="{FF2B5EF4-FFF2-40B4-BE49-F238E27FC236}">
                  <a16:creationId xmlns:a16="http://schemas.microsoft.com/office/drawing/2014/main" id="{331162E4-873D-41F7-BEBD-F43249E6E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>
                  <a:latin typeface="Times New Roman" panose="02020603050405020304" pitchFamily="18" charset="0"/>
                </a:rPr>
                <a:t>D8~D15</a:t>
              </a:r>
            </a:p>
          </p:txBody>
        </p:sp>
      </p:grpSp>
      <p:grpSp>
        <p:nvGrpSpPr>
          <p:cNvPr id="33810" name="组合 24607">
            <a:extLst>
              <a:ext uri="{FF2B5EF4-FFF2-40B4-BE49-F238E27FC236}">
                <a16:creationId xmlns:a16="http://schemas.microsoft.com/office/drawing/2014/main" id="{A0F79C0D-98B7-49F2-918E-B155E02763D3}"/>
              </a:ext>
            </a:extLst>
          </p:cNvPr>
          <p:cNvGrpSpPr>
            <a:grpSpLocks/>
          </p:cNvGrpSpPr>
          <p:nvPr/>
        </p:nvGrpSpPr>
        <p:grpSpPr bwMode="auto">
          <a:xfrm>
            <a:off x="155575" y="4838700"/>
            <a:ext cx="8248650" cy="396875"/>
            <a:chOff x="0" y="0"/>
            <a:chExt cx="5196" cy="250"/>
          </a:xfrm>
        </p:grpSpPr>
        <p:sp>
          <p:nvSpPr>
            <p:cNvPr id="33841" name="矩形 24608">
              <a:extLst>
                <a:ext uri="{FF2B5EF4-FFF2-40B4-BE49-F238E27FC236}">
                  <a16:creationId xmlns:a16="http://schemas.microsoft.com/office/drawing/2014/main" id="{36CFBE95-E76B-4478-8BC8-2D57DA1FF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82"/>
              <a:ext cx="4596" cy="16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42" name="文本框 24609">
              <a:extLst>
                <a:ext uri="{FF2B5EF4-FFF2-40B4-BE49-F238E27FC236}">
                  <a16:creationId xmlns:a16="http://schemas.microsoft.com/office/drawing/2014/main" id="{18AC21E2-F5E9-4F95-B0FF-94B1CD218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>
                  <a:latin typeface="Times New Roman" panose="02020603050405020304" pitchFamily="18" charset="0"/>
                </a:rPr>
                <a:t>D0~D7</a:t>
              </a:r>
            </a:p>
          </p:txBody>
        </p:sp>
      </p:grpSp>
      <p:sp>
        <p:nvSpPr>
          <p:cNvPr id="33811" name="上下箭头 24610">
            <a:extLst>
              <a:ext uri="{FF2B5EF4-FFF2-40B4-BE49-F238E27FC236}">
                <a16:creationId xmlns:a16="http://schemas.microsoft.com/office/drawing/2014/main" id="{B685DC16-4FF2-44C6-A73C-522483412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3984625"/>
            <a:ext cx="242887" cy="457200"/>
          </a:xfrm>
          <a:prstGeom prst="upDownArrow">
            <a:avLst>
              <a:gd name="adj1" fmla="val 50000"/>
              <a:gd name="adj2" fmla="val 3763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2" name="下箭头 24611">
            <a:extLst>
              <a:ext uri="{FF2B5EF4-FFF2-40B4-BE49-F238E27FC236}">
                <a16:creationId xmlns:a16="http://schemas.microsoft.com/office/drawing/2014/main" id="{822F49D3-3A07-42D5-BBED-0D52D09B8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4443413"/>
            <a:ext cx="238125" cy="560387"/>
          </a:xfrm>
          <a:prstGeom prst="downArrow">
            <a:avLst>
              <a:gd name="adj1" fmla="val 50000"/>
              <a:gd name="adj2" fmla="val 5881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3" name="上箭头 24612">
            <a:extLst>
              <a:ext uri="{FF2B5EF4-FFF2-40B4-BE49-F238E27FC236}">
                <a16:creationId xmlns:a16="http://schemas.microsoft.com/office/drawing/2014/main" id="{4408072D-F450-4B4D-A5E1-2CE5D7225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163" y="4005263"/>
            <a:ext cx="239712" cy="471487"/>
          </a:xfrm>
          <a:prstGeom prst="upArrow">
            <a:avLst>
              <a:gd name="adj1" fmla="val 50000"/>
              <a:gd name="adj2" fmla="val 49154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4" name="文本框 24613">
            <a:extLst>
              <a:ext uri="{FF2B5EF4-FFF2-40B4-BE49-F238E27FC236}">
                <a16:creationId xmlns:a16="http://schemas.microsoft.com/office/drawing/2014/main" id="{77B4670D-E793-4D63-A0ED-351396137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3062288"/>
            <a:ext cx="86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奇存储体</a:t>
            </a:r>
          </a:p>
        </p:txBody>
      </p:sp>
      <p:sp>
        <p:nvSpPr>
          <p:cNvPr id="33815" name="文本框 24614">
            <a:extLst>
              <a:ext uri="{FF2B5EF4-FFF2-40B4-BE49-F238E27FC236}">
                <a16:creationId xmlns:a16="http://schemas.microsoft.com/office/drawing/2014/main" id="{530AFF2F-A1B9-42E1-AF57-EBF130F2D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3062288"/>
            <a:ext cx="86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偶存储体</a:t>
            </a:r>
          </a:p>
        </p:txBody>
      </p:sp>
      <p:grpSp>
        <p:nvGrpSpPr>
          <p:cNvPr id="33816" name="组合 24615">
            <a:extLst>
              <a:ext uri="{FF2B5EF4-FFF2-40B4-BE49-F238E27FC236}">
                <a16:creationId xmlns:a16="http://schemas.microsoft.com/office/drawing/2014/main" id="{A5362D0D-4A13-4BE0-A5A9-91D83289F61F}"/>
              </a:ext>
            </a:extLst>
          </p:cNvPr>
          <p:cNvGrpSpPr>
            <a:grpSpLocks/>
          </p:cNvGrpSpPr>
          <p:nvPr/>
        </p:nvGrpSpPr>
        <p:grpSpPr bwMode="auto">
          <a:xfrm>
            <a:off x="4797425" y="6076950"/>
            <a:ext cx="2979738" cy="457200"/>
            <a:chOff x="0" y="0"/>
            <a:chExt cx="1877" cy="288"/>
          </a:xfrm>
        </p:grpSpPr>
        <p:sp>
          <p:nvSpPr>
            <p:cNvPr id="33839" name="文本框 24616">
              <a:extLst>
                <a:ext uri="{FF2B5EF4-FFF2-40B4-BE49-F238E27FC236}">
                  <a16:creationId xmlns:a16="http://schemas.microsoft.com/office/drawing/2014/main" id="{88408F08-721C-4DBC-9042-F7FC4E2F5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877" cy="288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ffectLst>
              <a:outerShdw dist="107763" dir="13500000" sx="75000" sy="75000" algn="tl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zh-CN" altLang="en-US" sz="2400" b="1">
                  <a:latin typeface="Times New Roman" panose="02020603050405020304" pitchFamily="18" charset="0"/>
                </a:rPr>
                <a:t>由</a:t>
              </a:r>
              <a:r>
                <a:rPr lang="en-US" altLang="zh-CN" sz="2400" b="1">
                  <a:latin typeface="Times New Roman" panose="02020603050405020304" pitchFamily="18" charset="0"/>
                </a:rPr>
                <a:t>BHE</a:t>
              </a:r>
              <a:r>
                <a:rPr lang="zh-CN" altLang="en-US" sz="2400" b="1">
                  <a:latin typeface="Times New Roman" panose="02020603050405020304" pitchFamily="18" charset="0"/>
                </a:rPr>
                <a:t>选通奇存储体</a:t>
              </a:r>
            </a:p>
          </p:txBody>
        </p:sp>
        <p:sp>
          <p:nvSpPr>
            <p:cNvPr id="33840" name="直接连接符 24617">
              <a:extLst>
                <a:ext uri="{FF2B5EF4-FFF2-40B4-BE49-F238E27FC236}">
                  <a16:creationId xmlns:a16="http://schemas.microsoft.com/office/drawing/2014/main" id="{B9FFC345-2948-4097-9204-504441641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" y="36"/>
              <a:ext cx="3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17" name="文本框 24618">
            <a:extLst>
              <a:ext uri="{FF2B5EF4-FFF2-40B4-BE49-F238E27FC236}">
                <a16:creationId xmlns:a16="http://schemas.microsoft.com/office/drawing/2014/main" id="{4C1ACC3D-AA56-42EE-9BA4-9D734834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6076950"/>
            <a:ext cx="2709862" cy="457200"/>
          </a:xfrm>
          <a:prstGeom prst="rect">
            <a:avLst/>
          </a:prstGeom>
          <a:solidFill>
            <a:srgbClr val="33CCFF"/>
          </a:solidFill>
          <a:ln>
            <a:noFill/>
          </a:ln>
          <a:effectLst>
            <a:outerShdw dist="107763" dir="13500000" sx="75000" sy="75000" algn="tl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400" b="1">
                <a:latin typeface="Times New Roman" panose="02020603050405020304" pitchFamily="18" charset="0"/>
              </a:rPr>
              <a:t>由</a:t>
            </a:r>
            <a:r>
              <a:rPr lang="en-US" altLang="zh-CN" sz="2400" b="1">
                <a:latin typeface="Times New Roman" panose="02020603050405020304" pitchFamily="18" charset="0"/>
              </a:rPr>
              <a:t>A0</a:t>
            </a:r>
            <a:r>
              <a:rPr lang="zh-CN" altLang="en-US" sz="2400" b="1">
                <a:latin typeface="Times New Roman" panose="02020603050405020304" pitchFamily="18" charset="0"/>
              </a:rPr>
              <a:t>选通偶存储体</a:t>
            </a:r>
          </a:p>
        </p:txBody>
      </p:sp>
      <p:sp>
        <p:nvSpPr>
          <p:cNvPr id="33818" name="文本框 24619">
            <a:extLst>
              <a:ext uri="{FF2B5EF4-FFF2-40B4-BE49-F238E27FC236}">
                <a16:creationId xmlns:a16="http://schemas.microsoft.com/office/drawing/2014/main" id="{0C28121E-CCF6-40C0-ACDB-05241D155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2933700"/>
            <a:ext cx="1060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A0~A18</a:t>
            </a:r>
          </a:p>
        </p:txBody>
      </p:sp>
      <p:sp>
        <p:nvSpPr>
          <p:cNvPr id="33819" name="文本框 24620">
            <a:extLst>
              <a:ext uri="{FF2B5EF4-FFF2-40B4-BE49-F238E27FC236}">
                <a16:creationId xmlns:a16="http://schemas.microsoft.com/office/drawing/2014/main" id="{DC4A5D6A-D091-4688-84CE-17CBC1935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938" y="2900363"/>
            <a:ext cx="10604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A0~A18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20" name="直接连接符 24621">
            <a:extLst>
              <a:ext uri="{FF2B5EF4-FFF2-40B4-BE49-F238E27FC236}">
                <a16:creationId xmlns:a16="http://schemas.microsoft.com/office/drawing/2014/main" id="{011AF099-AF13-44C3-BE31-46AB9E1AF5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2050" y="5870575"/>
            <a:ext cx="5957888" cy="2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1" name="直接连接符 24622">
            <a:extLst>
              <a:ext uri="{FF2B5EF4-FFF2-40B4-BE49-F238E27FC236}">
                <a16:creationId xmlns:a16="http://schemas.microsoft.com/office/drawing/2014/main" id="{828AA477-074D-49EB-9133-E90AE1119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527675"/>
            <a:ext cx="53768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2" name="直接连接符 24623">
            <a:extLst>
              <a:ext uri="{FF2B5EF4-FFF2-40B4-BE49-F238E27FC236}">
                <a16:creationId xmlns:a16="http://schemas.microsoft.com/office/drawing/2014/main" id="{6E2FDA19-F854-4D99-81BB-A5DB2339C6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5563" y="4005263"/>
            <a:ext cx="1587" cy="1508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3" name="文本框 24624">
            <a:extLst>
              <a:ext uri="{FF2B5EF4-FFF2-40B4-BE49-F238E27FC236}">
                <a16:creationId xmlns:a16="http://schemas.microsoft.com/office/drawing/2014/main" id="{44682B5B-D3C3-40D8-8283-D475B69BB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330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RD</a:t>
            </a:r>
          </a:p>
        </p:txBody>
      </p:sp>
      <p:sp>
        <p:nvSpPr>
          <p:cNvPr id="33824" name="直接连接符 24625">
            <a:extLst>
              <a:ext uri="{FF2B5EF4-FFF2-40B4-BE49-F238E27FC236}">
                <a16:creationId xmlns:a16="http://schemas.microsoft.com/office/drawing/2014/main" id="{2BA9A9FA-80F1-40C9-AE45-F0FDCD5B0B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9863" y="4019550"/>
            <a:ext cx="1587" cy="1508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5" name="文本框 24626">
            <a:extLst>
              <a:ext uri="{FF2B5EF4-FFF2-40B4-BE49-F238E27FC236}">
                <a16:creationId xmlns:a16="http://schemas.microsoft.com/office/drawing/2014/main" id="{5365501A-746C-4E36-B1C1-D84F92280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569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WR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26" name="直接连接符 24627">
            <a:extLst>
              <a:ext uri="{FF2B5EF4-FFF2-40B4-BE49-F238E27FC236}">
                <a16:creationId xmlns:a16="http://schemas.microsoft.com/office/drawing/2014/main" id="{91C5C28D-29E0-4080-BACB-B2FF34AD9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6575" y="4005263"/>
            <a:ext cx="0" cy="18653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7" name="直接连接符 24628">
            <a:extLst>
              <a:ext uri="{FF2B5EF4-FFF2-40B4-BE49-F238E27FC236}">
                <a16:creationId xmlns:a16="http://schemas.microsoft.com/office/drawing/2014/main" id="{0B2B142D-53D0-4871-BA43-D26D16F16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8350" y="3984625"/>
            <a:ext cx="0" cy="1863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8" name="文本框 24629">
            <a:extLst>
              <a:ext uri="{FF2B5EF4-FFF2-40B4-BE49-F238E27FC236}">
                <a16:creationId xmlns:a16="http://schemas.microsoft.com/office/drawing/2014/main" id="{47D829A9-610F-41B2-8ADA-D71C429A3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36083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OE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29" name="文本框 24630">
            <a:extLst>
              <a:ext uri="{FF2B5EF4-FFF2-40B4-BE49-F238E27FC236}">
                <a16:creationId xmlns:a16="http://schemas.microsoft.com/office/drawing/2014/main" id="{7208F671-765F-4575-ACA9-FCE660B6F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50" y="36179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WE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30" name="文本框 24631">
            <a:extLst>
              <a:ext uri="{FF2B5EF4-FFF2-40B4-BE49-F238E27FC236}">
                <a16:creationId xmlns:a16="http://schemas.microsoft.com/office/drawing/2014/main" id="{61308715-02B3-460F-BC63-F4E4B9DA1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8" y="36052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OE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31" name="文本框 24632">
            <a:extLst>
              <a:ext uri="{FF2B5EF4-FFF2-40B4-BE49-F238E27FC236}">
                <a16:creationId xmlns:a16="http://schemas.microsoft.com/office/drawing/2014/main" id="{3F98801D-2592-41D8-AEB0-474450A6E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36147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WE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32" name="直接连接符 24633">
            <a:extLst>
              <a:ext uri="{FF2B5EF4-FFF2-40B4-BE49-F238E27FC236}">
                <a16:creationId xmlns:a16="http://schemas.microsoft.com/office/drawing/2014/main" id="{9E32C24F-1DD7-4ADD-A583-4F618A2B2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6813" y="3665538"/>
            <a:ext cx="3365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3" name="直接连接符 24634">
            <a:extLst>
              <a:ext uri="{FF2B5EF4-FFF2-40B4-BE49-F238E27FC236}">
                <a16:creationId xmlns:a16="http://schemas.microsoft.com/office/drawing/2014/main" id="{DD6CA8F3-8280-4627-9C7B-F53BC2538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3678238"/>
            <a:ext cx="3365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4" name="直接连接符 24635">
            <a:extLst>
              <a:ext uri="{FF2B5EF4-FFF2-40B4-BE49-F238E27FC236}">
                <a16:creationId xmlns:a16="http://schemas.microsoft.com/office/drawing/2014/main" id="{FBB837EB-2A3C-4E72-B0E1-0B9346F1D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3654425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5" name="直接连接符 24636">
            <a:extLst>
              <a:ext uri="{FF2B5EF4-FFF2-40B4-BE49-F238E27FC236}">
                <a16:creationId xmlns:a16="http://schemas.microsoft.com/office/drawing/2014/main" id="{ED15E8E5-F2F9-4E55-AA0A-B48058DB1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3667125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6" name="直接连接符 24637">
            <a:extLst>
              <a:ext uri="{FF2B5EF4-FFF2-40B4-BE49-F238E27FC236}">
                <a16:creationId xmlns:a16="http://schemas.microsoft.com/office/drawing/2014/main" id="{A6000452-39A3-4CA7-B1D1-C32C514E0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" y="5378450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7" name="直接连接符 24638">
            <a:extLst>
              <a:ext uri="{FF2B5EF4-FFF2-40B4-BE49-F238E27FC236}">
                <a16:creationId xmlns:a16="http://schemas.microsoft.com/office/drawing/2014/main" id="{C3F6D066-2571-46CB-A1CD-AD42F5A59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" y="5745163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8" name="灯片编号占位符 1">
            <a:extLst>
              <a:ext uri="{FF2B5EF4-FFF2-40B4-BE49-F238E27FC236}">
                <a16:creationId xmlns:a16="http://schemas.microsoft.com/office/drawing/2014/main" id="{82FD529F-229D-4165-BA6A-A8DE845FA53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A01AA80-F4F8-424C-A8DA-7D3838610319}" type="slidenum">
              <a:rPr altLang="en-US" smtClean="0">
                <a:latin typeface="Times New Roman" panose="02020603050405020304" pitchFamily="18" charset="0"/>
              </a:rPr>
              <a:pPr/>
              <a:t>29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25601">
            <a:extLst>
              <a:ext uri="{FF2B5EF4-FFF2-40B4-BE49-F238E27FC236}">
                <a16:creationId xmlns:a16="http://schemas.microsoft.com/office/drawing/2014/main" id="{6994D9CC-934C-4EEF-8CAD-92C5E6F6F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"/>
            <a:ext cx="5773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</a:t>
            </a:r>
          </a:p>
        </p:txBody>
      </p:sp>
      <p:sp>
        <p:nvSpPr>
          <p:cNvPr id="34819" name="文本框 25602">
            <a:extLst>
              <a:ext uri="{FF2B5EF4-FFF2-40B4-BE49-F238E27FC236}">
                <a16:creationId xmlns:a16="http://schemas.microsoft.com/office/drawing/2014/main" id="{45B958E9-4FAF-4853-B892-5EC767ADF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49388"/>
            <a:ext cx="885825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 dirty="0">
                <a:latin typeface="Times New Roman" panose="02020603050405020304" pitchFamily="18" charset="0"/>
              </a:rPr>
              <a:t>8086CPU</a:t>
            </a:r>
            <a:r>
              <a:rPr lang="zh-CN" altLang="en-US" sz="2800" b="1" dirty="0">
                <a:latin typeface="Times New Roman" panose="02020603050405020304" pitchFamily="18" charset="0"/>
              </a:rPr>
              <a:t>将</a:t>
            </a:r>
            <a:r>
              <a:rPr lang="en-US" altLang="zh-CN" sz="2800" b="1" dirty="0">
                <a:latin typeface="Times New Roman" panose="02020603050405020304" pitchFamily="18" charset="0"/>
              </a:rPr>
              <a:t>1MB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的存储空间分成两个</a:t>
            </a:r>
            <a:r>
              <a:rPr lang="en-US" altLang="zh-CN" sz="2800" b="1" dirty="0">
                <a:latin typeface="Times New Roman" panose="02020603050405020304" pitchFamily="18" charset="0"/>
              </a:rPr>
              <a:t>512KB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存储体：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0" name="矩形 25603">
            <a:extLst>
              <a:ext uri="{FF2B5EF4-FFF2-40B4-BE49-F238E27FC236}">
                <a16:creationId xmlns:a16="http://schemas.microsoft.com/office/drawing/2014/main" id="{03938DC6-331E-49A6-8461-A20306949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1949450"/>
            <a:ext cx="3395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奇存储体和偶存储体</a:t>
            </a:r>
          </a:p>
        </p:txBody>
      </p:sp>
      <p:sp>
        <p:nvSpPr>
          <p:cNvPr id="34821" name="矩形 25604">
            <a:extLst>
              <a:ext uri="{FF2B5EF4-FFF2-40B4-BE49-F238E27FC236}">
                <a16:creationId xmlns:a16="http://schemas.microsoft.com/office/drawing/2014/main" id="{C25759BE-6A70-44AC-9DB8-F637BC712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2563813"/>
            <a:ext cx="750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偶数地址</a:t>
            </a:r>
            <a:r>
              <a:rPr lang="zh-CN" altLang="en-US" sz="2800" b="1">
                <a:latin typeface="Times New Roman" panose="02020603050405020304" pitchFamily="18" charset="0"/>
              </a:rPr>
              <a:t>存储区的数据线与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D0~D7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相连</a:t>
            </a:r>
          </a:p>
        </p:txBody>
      </p:sp>
      <p:sp>
        <p:nvSpPr>
          <p:cNvPr id="34822" name="矩形 25605">
            <a:extLst>
              <a:ext uri="{FF2B5EF4-FFF2-40B4-BE49-F238E27FC236}">
                <a16:creationId xmlns:a16="http://schemas.microsoft.com/office/drawing/2014/main" id="{D47A5729-0ACC-4C64-8F72-6CFE37DD9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3025775"/>
            <a:ext cx="7323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奇数地址</a:t>
            </a:r>
            <a:r>
              <a:rPr lang="zh-CN" altLang="en-US" sz="2800" b="1">
                <a:latin typeface="Times New Roman" panose="02020603050405020304" pitchFamily="18" charset="0"/>
              </a:rPr>
              <a:t>存储区的数据线与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D8~D15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相连</a:t>
            </a:r>
          </a:p>
        </p:txBody>
      </p:sp>
      <p:graphicFrame>
        <p:nvGraphicFramePr>
          <p:cNvPr id="25607" name="表格 25606">
            <a:extLst>
              <a:ext uri="{FF2B5EF4-FFF2-40B4-BE49-F238E27FC236}">
                <a16:creationId xmlns:a16="http://schemas.microsoft.com/office/drawing/2014/main" id="{B024AE2F-D01F-4E3D-974A-C0610AE2365C}"/>
              </a:ext>
            </a:extLst>
          </p:cNvPr>
          <p:cNvGraphicFramePr/>
          <p:nvPr/>
        </p:nvGraphicFramePr>
        <p:xfrm>
          <a:off x="647700" y="3854450"/>
          <a:ext cx="6381750" cy="2600325"/>
        </p:xfrm>
        <a:graphic>
          <a:graphicData uri="http://schemas.openxmlformats.org/drawingml/2006/table">
            <a:tbl>
              <a:tblPr/>
              <a:tblGrid>
                <a:gridCol w="1065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2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2000" b="0" dirty="0">
                          <a:solidFill>
                            <a:srgbClr val="CC6600"/>
                          </a:solidFill>
                          <a:ea typeface="宋体" panose="02010600030101010101" pitchFamily="2" charset="-122"/>
                        </a:rPr>
                        <a:t>BHE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2000" b="0" dirty="0">
                          <a:solidFill>
                            <a:srgbClr val="CC6600"/>
                          </a:solidFill>
                          <a:ea typeface="宋体" panose="02010600030101010101" pitchFamily="2" charset="-122"/>
                        </a:rPr>
                        <a:t>A0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b="0" dirty="0">
                          <a:solidFill>
                            <a:srgbClr val="CC6600"/>
                          </a:solidFill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高低字节同时传送（奇偶地址）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低位字节（偶地址）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高位字节（奇地址）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无效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49" name="直接连接符 25632">
            <a:extLst>
              <a:ext uri="{FF2B5EF4-FFF2-40B4-BE49-F238E27FC236}">
                <a16:creationId xmlns:a16="http://schemas.microsoft.com/office/drawing/2014/main" id="{95BAB40A-0AFF-4BB3-B9C9-9BAF6D081F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9813" y="3930650"/>
            <a:ext cx="496887" cy="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0" name="文本框 25633">
            <a:extLst>
              <a:ext uri="{FF2B5EF4-FFF2-40B4-BE49-F238E27FC236}">
                <a16:creationId xmlns:a16="http://schemas.microsoft.com/office/drawing/2014/main" id="{4E235807-3F04-49C5-AC62-62A466FE0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488" y="4375150"/>
            <a:ext cx="20685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CC6600"/>
                </a:solidFill>
                <a:latin typeface="Times New Roman" panose="02020603050405020304" pitchFamily="18" charset="0"/>
              </a:rPr>
              <a:t>还记得规则字和非规则字的概念吗？</a:t>
            </a:r>
          </a:p>
        </p:txBody>
      </p:sp>
      <p:sp>
        <p:nvSpPr>
          <p:cNvPr id="34851" name="灯片编号占位符 1">
            <a:extLst>
              <a:ext uri="{FF2B5EF4-FFF2-40B4-BE49-F238E27FC236}">
                <a16:creationId xmlns:a16="http://schemas.microsoft.com/office/drawing/2014/main" id="{AC9EC1E8-B4EF-4923-8A6E-E135832D26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FD432C-5EAB-4892-891A-57753E5BF901}" type="slidenum">
              <a:rPr altLang="en-US" smtClean="0">
                <a:latin typeface="Times New Roman" panose="02020603050405020304" pitchFamily="18" charset="0"/>
              </a:rPr>
              <a:pPr/>
              <a:t>30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矩形 26625">
            <a:extLst>
              <a:ext uri="{FF2B5EF4-FFF2-40B4-BE49-F238E27FC236}">
                <a16:creationId xmlns:a16="http://schemas.microsoft.com/office/drawing/2014/main" id="{3F06FC13-037D-413F-855E-985D4C74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85750"/>
            <a:ext cx="67071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地址分配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35843" name="对象 26626">
            <a:extLst>
              <a:ext uri="{FF2B5EF4-FFF2-40B4-BE49-F238E27FC236}">
                <a16:creationId xmlns:a16="http://schemas.microsoft.com/office/drawing/2014/main" id="{AF4782CD-1F2B-449A-9246-82C47F585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013" y="1027113"/>
          <a:ext cx="7381875" cy="386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7" r:id="rId3" imgW="4302000" imgH="2251800" progId="Visio.Drawing.11">
                  <p:embed/>
                </p:oleObj>
              </mc:Choice>
              <mc:Fallback>
                <p:oleObj r:id="rId3" imgW="4302000" imgH="2251800" progId="Visio.Drawing.11">
                  <p:embed/>
                  <p:pic>
                    <p:nvPicPr>
                      <p:cNvPr id="0" name="对象 266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1027113"/>
                        <a:ext cx="7381875" cy="386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矩形 26627">
            <a:extLst>
              <a:ext uri="{FF2B5EF4-FFF2-40B4-BE49-F238E27FC236}">
                <a16:creationId xmlns:a16="http://schemas.microsoft.com/office/drawing/2014/main" id="{3C3DE6FD-E359-4653-823C-C8D503BEC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5" name="矩形 26628">
            <a:extLst>
              <a:ext uri="{FF2B5EF4-FFF2-40B4-BE49-F238E27FC236}">
                <a16:creationId xmlns:a16="http://schemas.microsoft.com/office/drawing/2014/main" id="{34E86453-9D54-463F-98E9-1EB9B64C6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4932363"/>
            <a:ext cx="5703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分析：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U1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的地址空间：</a:t>
            </a:r>
          </a:p>
        </p:txBody>
      </p:sp>
      <p:sp>
        <p:nvSpPr>
          <p:cNvPr id="35846" name="矩形 26629">
            <a:extLst>
              <a:ext uri="{FF2B5EF4-FFF2-40B4-BE49-F238E27FC236}">
                <a16:creationId xmlns:a16="http://schemas.microsoft.com/office/drawing/2014/main" id="{9A47FB73-370B-45C3-9F8A-08A49806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451475"/>
            <a:ext cx="5703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	 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U2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的地址空间：</a:t>
            </a:r>
          </a:p>
        </p:txBody>
      </p:sp>
      <p:sp>
        <p:nvSpPr>
          <p:cNvPr id="35847" name="灯片编号占位符 1">
            <a:extLst>
              <a:ext uri="{FF2B5EF4-FFF2-40B4-BE49-F238E27FC236}">
                <a16:creationId xmlns:a16="http://schemas.microsoft.com/office/drawing/2014/main" id="{8FD6B1A1-4984-4A66-AFCB-6F893ACA5C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37E772-55B2-4E00-9C7E-7FEAD92006CB}" type="slidenum">
              <a:rPr altLang="en-US" smtClean="0">
                <a:latin typeface="Times New Roman" panose="02020603050405020304" pitchFamily="18" charset="0"/>
              </a:rPr>
              <a:pPr/>
              <a:t>31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27649">
            <a:extLst>
              <a:ext uri="{FF2B5EF4-FFF2-40B4-BE49-F238E27FC236}">
                <a16:creationId xmlns:a16="http://schemas.microsoft.com/office/drawing/2014/main" id="{7A0E24A2-DB4A-4F91-A384-B2ECB16FB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85750"/>
            <a:ext cx="711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的连接（地址分配）</a:t>
            </a:r>
          </a:p>
        </p:txBody>
      </p:sp>
      <p:sp>
        <p:nvSpPr>
          <p:cNvPr id="36867" name="矩形 27650">
            <a:extLst>
              <a:ext uri="{FF2B5EF4-FFF2-40B4-BE49-F238E27FC236}">
                <a16:creationId xmlns:a16="http://schemas.microsoft.com/office/drawing/2014/main" id="{7A92E29A-2FD7-4237-80DF-13E3323B6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68" name="对象 27651">
            <a:extLst>
              <a:ext uri="{FF2B5EF4-FFF2-40B4-BE49-F238E27FC236}">
                <a16:creationId xmlns:a16="http://schemas.microsoft.com/office/drawing/2014/main" id="{6E398D99-75E3-4177-B09B-F42F986C4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3800" y="1146175"/>
          <a:ext cx="6908800" cy="361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0" r:id="rId3" imgW="4302000" imgH="2251800" progId="Visio.Drawing.11">
                  <p:embed/>
                </p:oleObj>
              </mc:Choice>
              <mc:Fallback>
                <p:oleObj r:id="rId3" imgW="4302000" imgH="2251800" progId="Visio.Drawing.11">
                  <p:embed/>
                  <p:pic>
                    <p:nvPicPr>
                      <p:cNvPr id="0" name="对象 276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1146175"/>
                        <a:ext cx="6908800" cy="361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矩形 27652">
            <a:extLst>
              <a:ext uri="{FF2B5EF4-FFF2-40B4-BE49-F238E27FC236}">
                <a16:creationId xmlns:a16="http://schemas.microsoft.com/office/drawing/2014/main" id="{D9EC5492-202F-4F93-8B1C-EDC1E55DB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4932363"/>
            <a:ext cx="7583487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课堂作业（</a:t>
            </a:r>
            <a:r>
              <a:rPr lang="zh-CN" altLang="en-US" sz="2800" b="1" dirty="0">
                <a:solidFill>
                  <a:srgbClr val="FF33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上交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）：</a:t>
            </a:r>
          </a:p>
          <a:p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分配给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M1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M2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的地址空间从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9C000H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开始分配，请填空，并连接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74LS138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输出线</a:t>
            </a:r>
          </a:p>
        </p:txBody>
      </p:sp>
      <p:sp>
        <p:nvSpPr>
          <p:cNvPr id="36870" name="灯片编号占位符 1">
            <a:extLst>
              <a:ext uri="{FF2B5EF4-FFF2-40B4-BE49-F238E27FC236}">
                <a16:creationId xmlns:a16="http://schemas.microsoft.com/office/drawing/2014/main" id="{C2CAC00C-9606-4870-A0A9-4B0886457F6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231188-CB5B-4010-9796-41EBE00362A3}" type="slidenum">
              <a:rPr altLang="en-US" smtClean="0">
                <a:latin typeface="Times New Roman" panose="02020603050405020304" pitchFamily="18" charset="0"/>
              </a:rPr>
              <a:pPr/>
              <a:t>32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28673">
            <a:extLst>
              <a:ext uri="{FF2B5EF4-FFF2-40B4-BE49-F238E27FC236}">
                <a16:creationId xmlns:a16="http://schemas.microsoft.com/office/drawing/2014/main" id="{2902D79C-4BEF-4C2A-96FC-22C069B22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的连接（控制总线）</a:t>
            </a:r>
          </a:p>
        </p:txBody>
      </p:sp>
      <p:sp>
        <p:nvSpPr>
          <p:cNvPr id="37891" name="矩形 28674">
            <a:extLst>
              <a:ext uri="{FF2B5EF4-FFF2-40B4-BE49-F238E27FC236}">
                <a16:creationId xmlns:a16="http://schemas.microsoft.com/office/drawing/2014/main" id="{31A9EB28-44CF-4298-A01D-F69D2A4AA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7892" name="对象 28675">
            <a:extLst>
              <a:ext uri="{FF2B5EF4-FFF2-40B4-BE49-F238E27FC236}">
                <a16:creationId xmlns:a16="http://schemas.microsoft.com/office/drawing/2014/main" id="{6979C65A-1EB9-436A-8F3F-48E3E31E8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" y="1292225"/>
          <a:ext cx="8337550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3" r:id="rId3" imgW="5673960" imgH="2727360" progId="Visio.Drawing.11">
                  <p:embed/>
                </p:oleObj>
              </mc:Choice>
              <mc:Fallback>
                <p:oleObj r:id="rId3" imgW="5673960" imgH="2727360" progId="Visio.Drawing.11">
                  <p:embed/>
                  <p:pic>
                    <p:nvPicPr>
                      <p:cNvPr id="0" name="对象 286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299" t="-6335" r="-3299" b="-6335"/>
                      <a:stretch>
                        <a:fillRect/>
                      </a:stretch>
                    </p:blipFill>
                    <p:spPr bwMode="auto">
                      <a:xfrm>
                        <a:off x="428625" y="1292225"/>
                        <a:ext cx="8337550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灯片编号占位符 1">
            <a:extLst>
              <a:ext uri="{FF2B5EF4-FFF2-40B4-BE49-F238E27FC236}">
                <a16:creationId xmlns:a16="http://schemas.microsoft.com/office/drawing/2014/main" id="{3812F03F-5776-4998-830E-EFB03FB3979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678173-2E25-4166-A141-BD431AE1EDA3}" type="slidenum">
              <a:rPr altLang="en-US" smtClean="0">
                <a:latin typeface="Times New Roman" panose="02020603050405020304" pitchFamily="18" charset="0"/>
              </a:rPr>
              <a:pPr/>
              <a:t>33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2AFDC14-D884-4C4B-B676-A00BF02326EA}"/>
              </a:ext>
            </a:extLst>
          </p:cNvPr>
          <p:cNvSpPr/>
          <p:nvPr/>
        </p:nvSpPr>
        <p:spPr>
          <a:xfrm>
            <a:off x="904126" y="2486346"/>
            <a:ext cx="893852" cy="523976"/>
          </a:xfrm>
          <a:prstGeom prst="ellipse">
            <a:avLst/>
          </a:prstGeom>
          <a:noFill/>
          <a:ln w="3492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94D6FB7-66BC-4AF4-B993-2070FAF35D66}"/>
              </a:ext>
            </a:extLst>
          </p:cNvPr>
          <p:cNvSpPr/>
          <p:nvPr/>
        </p:nvSpPr>
        <p:spPr>
          <a:xfrm>
            <a:off x="2424701" y="4726112"/>
            <a:ext cx="1375025" cy="839663"/>
          </a:xfrm>
          <a:prstGeom prst="ellipse">
            <a:avLst/>
          </a:prstGeom>
          <a:noFill/>
          <a:ln w="3492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29697">
            <a:extLst>
              <a:ext uri="{FF2B5EF4-FFF2-40B4-BE49-F238E27FC236}">
                <a16:creationId xmlns:a16="http://schemas.microsoft.com/office/drawing/2014/main" id="{893A65F4-FE75-45DA-97DB-F3B4DCCEF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300" y="1492250"/>
            <a:ext cx="5773738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CC6600"/>
                </a:solidFill>
                <a:latin typeface="Times New Roman" panose="02020603050405020304" pitchFamily="18" charset="0"/>
              </a:rPr>
              <a:t>一个更综合的例子：</a:t>
            </a:r>
          </a:p>
          <a:p>
            <a:endParaRPr lang="zh-CN" altLang="en-US" sz="3200" b="1">
              <a:solidFill>
                <a:srgbClr val="CC6600"/>
              </a:solidFill>
              <a:latin typeface="Times New Roman" panose="02020603050405020304" pitchFamily="18" charset="0"/>
            </a:endParaRPr>
          </a:p>
          <a:p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CC6600"/>
                </a:solidFill>
                <a:latin typeface="Times New Roman" panose="02020603050405020304" pitchFamily="18" charset="0"/>
              </a:rPr>
              <a:t>教材</a:t>
            </a:r>
            <a:r>
              <a:rPr lang="en-US" altLang="zh-CN" sz="3200" b="1">
                <a:solidFill>
                  <a:srgbClr val="CC6600"/>
                </a:solidFill>
                <a:latin typeface="Times New Roman" panose="02020603050405020304" pitchFamily="18" charset="0"/>
              </a:rPr>
              <a:t>P182 </a:t>
            </a:r>
            <a:r>
              <a:rPr lang="zh-CN" altLang="en-US" sz="3200" b="1">
                <a:solidFill>
                  <a:srgbClr val="CC66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>
                <a:solidFill>
                  <a:srgbClr val="CC6600"/>
                </a:solidFill>
                <a:latin typeface="Times New Roman" panose="02020603050405020304" pitchFamily="18" charset="0"/>
              </a:rPr>
              <a:t>5.8</a:t>
            </a:r>
          </a:p>
          <a:p>
            <a:r>
              <a:rPr lang="en-US" altLang="zh-CN" sz="3200" b="1">
                <a:solidFill>
                  <a:srgbClr val="CC6600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包括</a:t>
            </a:r>
            <a:r>
              <a:rPr lang="en-US" altLang="zh-CN" sz="3200" b="1">
                <a:solidFill>
                  <a:srgbClr val="CC66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3200" b="1">
                <a:solidFill>
                  <a:srgbClr val="CC6600"/>
                </a:solidFill>
                <a:latin typeface="宋体" panose="02010600030101010101" pitchFamily="2" charset="-122"/>
              </a:rPr>
              <a:t>EPROM</a:t>
            </a:r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的例子</a:t>
            </a:r>
          </a:p>
          <a:p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	要求消化和掌握</a:t>
            </a:r>
          </a:p>
        </p:txBody>
      </p:sp>
      <p:sp>
        <p:nvSpPr>
          <p:cNvPr id="38915" name="矩形 29698">
            <a:extLst>
              <a:ext uri="{FF2B5EF4-FFF2-40B4-BE49-F238E27FC236}">
                <a16:creationId xmlns:a16="http://schemas.microsoft.com/office/drawing/2014/main" id="{9CBE6FC3-AE25-43B4-B0BC-0A0DB3AD0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2818DA50-9208-4D5A-980D-D30B0609A2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0EDEB7-6B43-4126-BC70-A738273ECAFF}" type="slidenum">
              <a:rPr altLang="en-US" smtClean="0">
                <a:latin typeface="Times New Roman" panose="02020603050405020304" pitchFamily="18" charset="0"/>
              </a:rPr>
              <a:pPr/>
              <a:t>34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30249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29697">
            <a:extLst>
              <a:ext uri="{FF2B5EF4-FFF2-40B4-BE49-F238E27FC236}">
                <a16:creationId xmlns:a16="http://schemas.microsoft.com/office/drawing/2014/main" id="{893A65F4-FE75-45DA-97DB-F3B4DCCEF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" y="303530"/>
            <a:ext cx="577373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CC6600"/>
                </a:solidFill>
                <a:latin typeface="Times New Roman" panose="02020603050405020304" pitchFamily="18" charset="0"/>
              </a:rPr>
              <a:t>考题实例：</a:t>
            </a:r>
          </a:p>
          <a:p>
            <a:endParaRPr lang="zh-CN" altLang="en-US" sz="3200" b="1" dirty="0">
              <a:solidFill>
                <a:srgbClr val="CC6600"/>
              </a:solidFill>
              <a:latin typeface="宋体" panose="02010600030101010101" pitchFamily="2" charset="-122"/>
            </a:endParaRPr>
          </a:p>
        </p:txBody>
      </p:sp>
      <p:sp>
        <p:nvSpPr>
          <p:cNvPr id="38915" name="矩形 29698">
            <a:extLst>
              <a:ext uri="{FF2B5EF4-FFF2-40B4-BE49-F238E27FC236}">
                <a16:creationId xmlns:a16="http://schemas.microsoft.com/office/drawing/2014/main" id="{9CBE6FC3-AE25-43B4-B0BC-0A0DB3AD0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2818DA50-9208-4D5A-980D-D30B0609A2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0EDEB7-6B43-4126-BC70-A738273ECAFF}" type="slidenum">
              <a:rPr altLang="en-US" smtClean="0">
                <a:latin typeface="Times New Roman" panose="02020603050405020304" pitchFamily="18" charset="0"/>
              </a:rPr>
              <a:pPr/>
              <a:t>35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8A3EFB-E4C8-4106-9F5D-419030249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985524"/>
            <a:ext cx="8818880" cy="52023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0721">
            <a:extLst>
              <a:ext uri="{FF2B5EF4-FFF2-40B4-BE49-F238E27FC236}">
                <a16:creationId xmlns:a16="http://schemas.microsoft.com/office/drawing/2014/main" id="{A7FEF375-0594-4F0D-AEC6-B6FA74F78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615950"/>
            <a:ext cx="7302500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 b="1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endParaRPr lang="zh-CN" altLang="en-US" sz="3200" b="1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了解半导体存储器类型：</a:t>
            </a:r>
            <a:r>
              <a:rPr lang="zh-CN" altLang="en-US" sz="3200" b="1">
                <a:latin typeface="Times New Roman" panose="02020603050405020304" pitchFamily="18" charset="0"/>
              </a:rPr>
              <a:t>各种</a:t>
            </a:r>
            <a:r>
              <a:rPr lang="en-US" altLang="zh-CN" sz="3200" b="1">
                <a:latin typeface="Times New Roman" panose="02020603050405020304" pitchFamily="18" charset="0"/>
              </a:rPr>
              <a:t>RAM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latin typeface="Times New Roman" panose="02020603050405020304" pitchFamily="18" charset="0"/>
              </a:rPr>
              <a:t>及其特点</a:t>
            </a:r>
          </a:p>
          <a:p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掌握</a:t>
            </a: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和存储器地址译码方式：</a:t>
            </a:r>
            <a:r>
              <a:rPr lang="zh-CN" altLang="en-US" sz="3200" b="1">
                <a:latin typeface="Times New Roman" panose="02020603050405020304" pitchFamily="18" charset="0"/>
              </a:rPr>
              <a:t>全译码、部分译码和线选方式</a:t>
            </a:r>
          </a:p>
          <a:p>
            <a:r>
              <a:rPr lang="zh-CN" altLang="en-US" sz="3200" b="1"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重点掌握</a:t>
            </a: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</a:rPr>
              <a:t>8086CPU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与存储器间的连接：</a:t>
            </a:r>
            <a:r>
              <a:rPr lang="zh-CN" altLang="en-US" sz="3200" b="1">
                <a:latin typeface="Times New Roman" panose="02020603050405020304" pitchFamily="18" charset="0"/>
              </a:rPr>
              <a:t>奇偶存储器体结构，</a:t>
            </a:r>
            <a:r>
              <a:rPr lang="en-US" altLang="zh-CN" sz="3200" b="1">
                <a:latin typeface="Times New Roman" panose="02020603050405020304" pitchFamily="18" charset="0"/>
              </a:rPr>
              <a:t>A0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BHE</a:t>
            </a:r>
            <a:r>
              <a:rPr lang="zh-CN" altLang="en-US" sz="3200" b="1">
                <a:latin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</a:rPr>
              <a:t>M/IO</a:t>
            </a:r>
            <a:r>
              <a:rPr lang="zh-CN" altLang="en-US" sz="3200" b="1">
                <a:latin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</a:rPr>
              <a:t>RD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OE</a:t>
            </a:r>
            <a:r>
              <a:rPr lang="zh-CN" altLang="en-US" sz="3200" b="1">
                <a:latin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</a:rPr>
              <a:t>WR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WE</a:t>
            </a:r>
          </a:p>
          <a:p>
            <a:r>
              <a:rPr lang="en-US" altLang="zh-CN" sz="3200" b="1">
                <a:latin typeface="Times New Roman" panose="02020603050405020304" pitchFamily="18" charset="0"/>
              </a:rPr>
              <a:t>        </a:t>
            </a:r>
            <a:r>
              <a:rPr lang="zh-CN" altLang="en-US" sz="3200" b="1">
                <a:latin typeface="Times New Roman" panose="02020603050405020304" pitchFamily="18" charset="0"/>
              </a:rPr>
              <a:t>地址范围计算，根据地址正确连线</a:t>
            </a:r>
          </a:p>
          <a:p>
            <a:r>
              <a:rPr lang="zh-CN" altLang="en-US" sz="3200" b="1">
                <a:latin typeface="宋体" panose="02010600030101010101" pitchFamily="2" charset="-122"/>
              </a:rPr>
              <a:t>    </a:t>
            </a:r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</a:rPr>
              <a:t>了解高速缓存的概念</a:t>
            </a:r>
          </a:p>
        </p:txBody>
      </p:sp>
      <p:sp>
        <p:nvSpPr>
          <p:cNvPr id="43011" name="矩形 30722">
            <a:extLst>
              <a:ext uri="{FF2B5EF4-FFF2-40B4-BE49-F238E27FC236}">
                <a16:creationId xmlns:a16="http://schemas.microsoft.com/office/drawing/2014/main" id="{41C894D3-92FF-4C1C-9741-1E4D5D0B2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12" name="直接连接符 30723">
            <a:extLst>
              <a:ext uri="{FF2B5EF4-FFF2-40B4-BE49-F238E27FC236}">
                <a16:creationId xmlns:a16="http://schemas.microsoft.com/office/drawing/2014/main" id="{483689BE-82D4-4968-A18F-9852DAD09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127500"/>
            <a:ext cx="69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直接连接符 30724">
            <a:extLst>
              <a:ext uri="{FF2B5EF4-FFF2-40B4-BE49-F238E27FC236}">
                <a16:creationId xmlns:a16="http://schemas.microsoft.com/office/drawing/2014/main" id="{3D314BCE-DFD6-44B3-BF60-7027A4AA0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7500" y="46355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4" name="直接连接符 30725">
            <a:extLst>
              <a:ext uri="{FF2B5EF4-FFF2-40B4-BE49-F238E27FC236}">
                <a16:creationId xmlns:a16="http://schemas.microsoft.com/office/drawing/2014/main" id="{66C079D0-A983-49CC-92EC-8EA06EDAB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4635500"/>
            <a:ext cx="546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5" name="直接连接符 30726">
            <a:extLst>
              <a:ext uri="{FF2B5EF4-FFF2-40B4-BE49-F238E27FC236}">
                <a16:creationId xmlns:a16="http://schemas.microsoft.com/office/drawing/2014/main" id="{3A647811-6892-4B0D-825C-9097D91D6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6355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6" name="直接连接符 30727">
            <a:extLst>
              <a:ext uri="{FF2B5EF4-FFF2-40B4-BE49-F238E27FC236}">
                <a16:creationId xmlns:a16="http://schemas.microsoft.com/office/drawing/2014/main" id="{6BFC119F-D8BC-413D-A20B-52AB87159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635500"/>
            <a:ext cx="69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7" name="直接连接符 30728">
            <a:extLst>
              <a:ext uri="{FF2B5EF4-FFF2-40B4-BE49-F238E27FC236}">
                <a16:creationId xmlns:a16="http://schemas.microsoft.com/office/drawing/2014/main" id="{110E95F8-5A32-4AF7-A48B-8A4FF46F9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00" y="4635500"/>
            <a:ext cx="69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8" name="文本框 30729">
            <a:extLst>
              <a:ext uri="{FF2B5EF4-FFF2-40B4-BE49-F238E27FC236}">
                <a16:creationId xmlns:a16="http://schemas.microsoft.com/office/drawing/2014/main" id="{3F33DA4F-BA56-4BAD-81F3-88A60A181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" y="268288"/>
            <a:ext cx="3035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本章小结：</a:t>
            </a:r>
            <a:endParaRPr lang="zh-CN" altLang="en-US" sz="3200" b="1">
              <a:solidFill>
                <a:srgbClr val="FFFF00"/>
              </a:solidFill>
            </a:endParaRPr>
          </a:p>
        </p:txBody>
      </p:sp>
      <p:sp>
        <p:nvSpPr>
          <p:cNvPr id="43019" name="灯片编号占位符 1">
            <a:extLst>
              <a:ext uri="{FF2B5EF4-FFF2-40B4-BE49-F238E27FC236}">
                <a16:creationId xmlns:a16="http://schemas.microsoft.com/office/drawing/2014/main" id="{859C14CD-6DF4-4F4D-B359-14FF3D1C0B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2D656BC-624B-4699-900B-B30A43A97CC0}" type="slidenum">
              <a:rPr altLang="en-US" smtClean="0">
                <a:latin typeface="Times New Roman" panose="02020603050405020304" pitchFamily="18" charset="0"/>
              </a:rPr>
              <a:pPr/>
              <a:t>36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41</TotalTime>
  <Pages>0</Pages>
  <Words>2879</Words>
  <Characters>0</Characters>
  <Application>Microsoft Office PowerPoint</Application>
  <DocSecurity>0</DocSecurity>
  <PresentationFormat>全屏显示(4:3)</PresentationFormat>
  <Lines>0</Lines>
  <Paragraphs>615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Monotype Sorts</vt:lpstr>
      <vt:lpstr>楷体_GB2312</vt:lpstr>
      <vt:lpstr>隶书</vt:lpstr>
      <vt:lpstr>宋体</vt:lpstr>
      <vt:lpstr>Arial</vt:lpstr>
      <vt:lpstr>Lucida Sans Unicode</vt:lpstr>
      <vt:lpstr>Tahoma</vt:lpstr>
      <vt:lpstr>Times New Roman</vt:lpstr>
      <vt:lpstr>Verdana</vt:lpstr>
      <vt:lpstr>Wingdings</vt:lpstr>
      <vt:lpstr>&amp;&amp;微机原理课件模板</vt:lpstr>
      <vt:lpstr>1_&amp;&amp;微机原理课件模板</vt:lpstr>
      <vt:lpstr>Equation.DSMT4</vt:lpstr>
      <vt:lpstr>Microsoft Visio 2003-2010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subject/>
  <dc:creator>徐维兵</dc:creator>
  <cp:keywords/>
  <dc:description/>
  <cp:lastModifiedBy>Lenovo</cp:lastModifiedBy>
  <cp:revision>830</cp:revision>
  <dcterms:created xsi:type="dcterms:W3CDTF">1999-04-15T11:06:34Z</dcterms:created>
  <dcterms:modified xsi:type="dcterms:W3CDTF">2025-10-12T14:21:27Z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