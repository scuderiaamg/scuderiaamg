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1" r:id="rId1"/>
    <p:sldMasterId id="2147483692" r:id="rId2"/>
  </p:sldMasterIdLst>
  <p:notesMasterIdLst>
    <p:notesMasterId r:id="rId77"/>
  </p:notesMasterIdLst>
  <p:handoutMasterIdLst>
    <p:handoutMasterId r:id="rId78"/>
  </p:handoutMasterIdLst>
  <p:sldIdLst>
    <p:sldId id="574" r:id="rId3"/>
    <p:sldId id="598" r:id="rId4"/>
    <p:sldId id="754" r:id="rId5"/>
    <p:sldId id="622" r:id="rId6"/>
    <p:sldId id="698" r:id="rId7"/>
    <p:sldId id="697" r:id="rId8"/>
    <p:sldId id="812" r:id="rId9"/>
    <p:sldId id="696" r:id="rId10"/>
    <p:sldId id="695" r:id="rId11"/>
    <p:sldId id="691" r:id="rId12"/>
    <p:sldId id="693" r:id="rId13"/>
    <p:sldId id="813" r:id="rId14"/>
    <p:sldId id="692" r:id="rId15"/>
    <p:sldId id="711" r:id="rId16"/>
    <p:sldId id="710" r:id="rId17"/>
    <p:sldId id="709" r:id="rId18"/>
    <p:sldId id="708" r:id="rId19"/>
    <p:sldId id="707" r:id="rId20"/>
    <p:sldId id="699" r:id="rId21"/>
    <p:sldId id="706" r:id="rId22"/>
    <p:sldId id="705" r:id="rId23"/>
    <p:sldId id="721" r:id="rId24"/>
    <p:sldId id="732" r:id="rId25"/>
    <p:sldId id="913" r:id="rId26"/>
    <p:sldId id="723" r:id="rId27"/>
    <p:sldId id="722" r:id="rId28"/>
    <p:sldId id="731" r:id="rId29"/>
    <p:sldId id="730" r:id="rId30"/>
    <p:sldId id="729" r:id="rId31"/>
    <p:sldId id="728" r:id="rId32"/>
    <p:sldId id="726" r:id="rId33"/>
    <p:sldId id="727" r:id="rId34"/>
    <p:sldId id="733" r:id="rId35"/>
    <p:sldId id="734" r:id="rId36"/>
    <p:sldId id="735" r:id="rId37"/>
    <p:sldId id="736" r:id="rId38"/>
    <p:sldId id="737" r:id="rId39"/>
    <p:sldId id="876" r:id="rId40"/>
    <p:sldId id="745" r:id="rId41"/>
    <p:sldId id="744" r:id="rId42"/>
    <p:sldId id="780" r:id="rId43"/>
    <p:sldId id="741" r:id="rId44"/>
    <p:sldId id="781" r:id="rId45"/>
    <p:sldId id="740" r:id="rId46"/>
    <p:sldId id="739" r:id="rId47"/>
    <p:sldId id="738" r:id="rId48"/>
    <p:sldId id="746" r:id="rId49"/>
    <p:sldId id="747" r:id="rId50"/>
    <p:sldId id="748" r:id="rId51"/>
    <p:sldId id="750" r:id="rId52"/>
    <p:sldId id="751" r:id="rId53"/>
    <p:sldId id="877" r:id="rId54"/>
    <p:sldId id="749" r:id="rId55"/>
    <p:sldId id="752" r:id="rId56"/>
    <p:sldId id="753" r:id="rId57"/>
    <p:sldId id="762" r:id="rId58"/>
    <p:sldId id="761" r:id="rId59"/>
    <p:sldId id="760" r:id="rId60"/>
    <p:sldId id="759" r:id="rId61"/>
    <p:sldId id="758" r:id="rId62"/>
    <p:sldId id="757" r:id="rId63"/>
    <p:sldId id="756" r:id="rId64"/>
    <p:sldId id="755" r:id="rId65"/>
    <p:sldId id="767" r:id="rId66"/>
    <p:sldId id="783" r:id="rId67"/>
    <p:sldId id="912" r:id="rId68"/>
    <p:sldId id="773" r:id="rId69"/>
    <p:sldId id="774" r:id="rId70"/>
    <p:sldId id="782" r:id="rId71"/>
    <p:sldId id="779" r:id="rId72"/>
    <p:sldId id="775" r:id="rId73"/>
    <p:sldId id="776" r:id="rId74"/>
    <p:sldId id="777" r:id="rId75"/>
    <p:sldId id="778" r:id="rId76"/>
  </p:sldIdLst>
  <p:sldSz cx="9144000" cy="6858000" type="screen4x3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Clr>
        <a:srgbClr val="B4B9BE"/>
      </a:buClr>
      <a:buFont typeface="Arial" panose="020B0604020202020204" pitchFamily="34" charset="0"/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Clr>
        <a:srgbClr val="B4B9BE"/>
      </a:buClr>
      <a:buFont typeface="Arial" panose="020B0604020202020204" pitchFamily="34" charset="0"/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Clr>
        <a:srgbClr val="B4B9BE"/>
      </a:buClr>
      <a:buFont typeface="Arial" panose="020B0604020202020204" pitchFamily="34" charset="0"/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Clr>
        <a:srgbClr val="B4B9BE"/>
      </a:buClr>
      <a:buFont typeface="Arial" panose="020B0604020202020204" pitchFamily="34" charset="0"/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Clr>
        <a:srgbClr val="B4B9BE"/>
      </a:buClr>
      <a:buFont typeface="Arial" panose="020B0604020202020204" pitchFamily="34" charset="0"/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CC3300"/>
    <a:srgbClr val="008000"/>
    <a:srgbClr val="996633"/>
    <a:srgbClr val="FF0066"/>
    <a:srgbClr val="CC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60" autoAdjust="0"/>
  </p:normalViewPr>
  <p:slideViewPr>
    <p:cSldViewPr>
      <p:cViewPr varScale="1">
        <p:scale>
          <a:sx n="62" d="100"/>
          <a:sy n="62" d="100"/>
        </p:scale>
        <p:origin x="1400" y="52"/>
      </p:cViewPr>
      <p:guideLst>
        <p:guide orient="horz" pos="2160"/>
        <p:guide pos="287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5021" cy="45021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presProps" Target="presProps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tableStyles" Target="tableStyles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80" Type="http://schemas.openxmlformats.org/officeDocument/2006/relationships/viewProps" Target="view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handoutMaster" Target="handoutMasters/handoutMaster1.xml"/><Relationship Id="rId8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9781C655-D436-401D-AD76-8D872E6FE85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noProof="1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271FADB-8C8A-4F32-9C83-6643A56B4D4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noProof="1" smtClean="0">
                <a:latin typeface="Times New Roman" panose="02020603050405020304" pitchFamily="2" charset="0"/>
                <a:cs typeface="+mn-ea"/>
              </a:defRPr>
            </a:lvl1pPr>
          </a:lstStyle>
          <a:p>
            <a:fld id="{0F9B84EA-7D68-4D60-9CB1-D50884785D1C}" type="datetimeFigureOut">
              <a:rPr lang="zh-CN" altLang="en-US"/>
              <a:pPr/>
              <a:t>2025/9/23</a:t>
            </a:fld>
            <a:endParaRPr lang="zh-CN" altLang="en-US">
              <a:latin typeface="Times New Roman" panose="02020603050405020304" pitchFamily="18" charset="0"/>
              <a:cs typeface="+mn-cs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571A1AD-5F50-4CF6-AD47-2C994A3BD3E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noProof="1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73A0E64-72F6-4007-97BA-450FABF974D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noProof="1" smtClean="0">
                <a:latin typeface="Times New Roman" panose="02020603050405020304" pitchFamily="2" charset="0"/>
                <a:cs typeface="+mn-ea"/>
              </a:defRPr>
            </a:lvl1pPr>
          </a:lstStyle>
          <a:p>
            <a:fld id="{AAEAD7E6-069A-459B-ABB9-34F53ED54464}" type="slidenum">
              <a:rPr lang="zh-CN" altLang="en-US"/>
              <a:pPr/>
              <a:t>‹#›</a:t>
            </a:fld>
            <a:endParaRPr lang="zh-CN" altLang="en-US">
              <a:latin typeface="Times New Roman" panose="02020603050405020304" pitchFamily="18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87DE9CDD-829A-4410-AED7-52CCF7528E3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noProof="1" dirty="0"/>
            </a:lvl1pPr>
          </a:lstStyle>
          <a:p>
            <a:endParaRPr lang="zh-CN" alt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CE8AF1F3-3ED0-4BFB-BFFE-938EA6FDE16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noProof="1" dirty="0"/>
            </a:lvl1pPr>
          </a:lstStyle>
          <a:p>
            <a:endParaRPr lang="zh-CN" altLang="en-US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83C18A22-4CC5-447C-AA1F-6D6622164198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265F4940-A1E6-4CD2-913E-E80A5D0193E4}"/>
              </a:ext>
            </a:extLst>
          </p:cNvPr>
          <p:cNvSpPr>
            <a:spLocks noGrp="1" noRot="1" noChangeAspect="1" noChangeArrowheads="1" noTextEdit="1"/>
          </p:cNvSpPr>
          <p:nvPr/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/>
              <a:t>单击此处编辑母版文本样式</a:t>
            </a:r>
          </a:p>
          <a:p>
            <a:r>
              <a:rPr lang="zh-CN" altLang="en-US"/>
              <a:t>第二级</a:t>
            </a:r>
          </a:p>
          <a:p>
            <a:r>
              <a:rPr lang="zh-CN" altLang="en-US"/>
              <a:t>第三级</a:t>
            </a:r>
          </a:p>
          <a:p>
            <a:r>
              <a:rPr lang="zh-CN" altLang="en-US"/>
              <a:t>第四级</a:t>
            </a:r>
          </a:p>
          <a:p>
            <a:r>
              <a:rPr lang="zh-CN" altLang="en-US"/>
              <a:t>第五级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5A11E89F-F4EF-4366-941E-ABC1D322B99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>
              <a:defRPr noProof="1" dirty="0"/>
            </a:lvl1pPr>
          </a:lstStyle>
          <a:p>
            <a:endParaRPr lang="zh-CN" altLang="en-US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EBD14E8C-936A-43C4-9066-D5440E2F0B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>
            <a:lvl1pPr>
              <a:defRPr noProof="1" dirty="0">
                <a:latin typeface="Times New Roman" panose="02020603050405020304" pitchFamily="2" charset="0"/>
                <a:cs typeface="+mn-ea"/>
              </a:defRPr>
            </a:lvl1pPr>
          </a:lstStyle>
          <a:p>
            <a:fld id="{13C71608-1994-46BB-A7CD-BEEBC27D4AC6}" type="slidenum">
              <a:rPr lang="en-US" altLang="x-none"/>
              <a:pPr/>
              <a:t>‹#›</a:t>
            </a:fld>
            <a:endParaRPr lang="en-US" altLang="x-none">
              <a:latin typeface="Times New Roman" panose="02020603050405020304" pitchFamily="18" charset="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</a:defRPr>
    </a:lvl1pPr>
    <a:lvl2pPr lvl="1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</a:defRPr>
    </a:lvl2pPr>
    <a:lvl3pPr lvl="2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</a:defRPr>
    </a:lvl3pPr>
    <a:lvl4pPr lvl="3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</a:defRPr>
    </a:lvl4pPr>
    <a:lvl5pPr lvl="4"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</a:defRPr>
    </a:lvl5pPr>
    <a:lvl6pPr marL="2286000" lvl="5" indent="0" algn="l" defTabSz="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</a:defRPr>
    </a:lvl6pPr>
    <a:lvl7pPr marL="2743200" lvl="6" indent="0" algn="l" defTabSz="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</a:defRPr>
    </a:lvl7pPr>
    <a:lvl8pPr marL="3200400" lvl="7" indent="0" algn="l" defTabSz="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</a:defRPr>
    </a:lvl8pPr>
    <a:lvl9pPr marL="3657600" lvl="8" indent="0" algn="l" defTabSz="0" eaLnBrk="0" fontAlgn="base" latinLnBrk="0" hangingPunct="0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Arial" panose="020B0604020202020204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slide" Target="../slides/slide44.xml"/><Relationship Id="rId2" Type="http://schemas.openxmlformats.org/officeDocument/2006/relationships/notesMaster" Target="../notesMasters/notesMaster1.xml"/><Relationship Id="rId1" Type="http://schemas.openxmlformats.org/officeDocument/2006/relationships/themeOverride" Target="../theme/themeOverr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幻灯片图像占位符 44033">
            <a:extLst>
              <a:ext uri="{FF2B5EF4-FFF2-40B4-BE49-F238E27FC236}">
                <a16:creationId xmlns:a16="http://schemas.microsoft.com/office/drawing/2014/main" id="{C9548080-0279-4670-885B-1097A866C2C8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/>
      </p:sp>
      <p:sp>
        <p:nvSpPr>
          <p:cNvPr id="48131" name="文本占位符 44034">
            <a:extLst>
              <a:ext uri="{FF2B5EF4-FFF2-40B4-BE49-F238E27FC236}">
                <a16:creationId xmlns:a16="http://schemas.microsoft.com/office/drawing/2014/main" id="{B2852E70-3665-4D7A-8D3E-7608A37B0B37}"/>
              </a:ext>
            </a:extLst>
          </p:cNvPr>
          <p:cNvSpPr>
            <a:spLocks noGrp="1" noRot="1" noChangeAspect="1" noChangeArrowheads="1"/>
          </p:cNvSpPr>
          <p:nvPr>
            <p:ph type="body" idx="4294967295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zh-CN" altLang="en-US">
                <a:ea typeface="宋体" panose="02010600030101010101" pitchFamily="2" charset="-122"/>
                <a:cs typeface="Arial" panose="020B0604020202020204" pitchFamily="34" charset="0"/>
              </a:rPr>
              <a:t>有效地址即段内偏移地址</a:t>
            </a:r>
          </a:p>
        </p:txBody>
      </p:sp>
    </p:spTree>
  </p:cSld>
  <p:clrMapOvr>
    <a:overrideClrMapping bg1="dk2" tx1="lt1" bg2="dk1" tx2="lt2" accent1="accent1" accent2="accent2" accent3="accent3" accent4="accent4" accent5="accent5" accent6="accent6" hlink="hlink" folHlink="folHlink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369084509"/>
      </p:ext>
    </p:extLst>
  </p:cSld>
  <p:clrMapOvr>
    <a:masterClrMapping/>
  </p:clrMapOvr>
  <p:transition spd="slow"/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647813112"/>
      </p:ext>
    </p:extLst>
  </p:cSld>
  <p:clrMapOvr>
    <a:masterClrMapping/>
  </p:clrMapOvr>
  <p:transition spd="slow"/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899269368"/>
      </p:ext>
    </p:extLst>
  </p:cSld>
  <p:clrMapOvr>
    <a:masterClrMapping/>
  </p:clrMapOvr>
  <p:transition spd="slow"/>
  <p:hf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5763" y="1314450"/>
            <a:ext cx="4102513" cy="517525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725" y="1314450"/>
            <a:ext cx="4102513" cy="517525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60589873"/>
      </p:ext>
    </p:extLst>
  </p:cSld>
  <p:clrMapOvr>
    <a:masterClrMapping/>
  </p:clrMapOvr>
  <p:transition spd="slow"/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4369498"/>
      </p:ext>
    </p:extLst>
  </p:cSld>
  <p:clrMapOvr>
    <a:masterClrMapping/>
  </p:clrMapOvr>
  <p:transition spd="slow"/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279762619"/>
      </p:ext>
    </p:extLst>
  </p:cSld>
  <p:clrMapOvr>
    <a:masterClrMapping/>
  </p:clrMapOvr>
  <p:transition spd="slow"/>
  <p:hf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7141300"/>
      </p:ext>
    </p:extLst>
  </p:cSld>
  <p:clrMapOvr>
    <a:masterClrMapping/>
  </p:clrMapOvr>
  <p:transition spd="slow"/>
  <p:hf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989706027"/>
      </p:ext>
    </p:extLst>
  </p:cSld>
  <p:clrMapOvr>
    <a:masterClrMapping/>
  </p:clrMapOvr>
  <p:transition spd="slow"/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964506267"/>
      </p:ext>
    </p:extLst>
  </p:cSld>
  <p:clrMapOvr>
    <a:masterClrMapping/>
  </p:clrMapOvr>
  <p:transition spd="slow"/>
  <p:hf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704735960"/>
      </p:ext>
    </p:extLst>
  </p:cSld>
  <p:clrMapOvr>
    <a:masterClrMapping/>
  </p:clrMapOvr>
  <p:transition spd="slow"/>
  <p:hf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5119" y="368300"/>
            <a:ext cx="2093119" cy="61214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5763" y="368300"/>
            <a:ext cx="6158016" cy="61214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204713231"/>
      </p:ext>
    </p:extLst>
  </p:cSld>
  <p:clrMapOvr>
    <a:masterClrMapping/>
  </p:clrMapOvr>
  <p:transition spd="slow"/>
  <p:hf sldNum="0"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EC88DAD-1225-46CE-B5E4-CBF06A40C1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962C8B-B14F-4D97-AF65-F5344CB8AC3E}" type="datetime10">
              <a:rPr lang="zh-CN" altLang="en-US"/>
              <a:pPr/>
              <a:t>22:51</a:t>
            </a:fld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F23E2C8-5E0B-470E-8952-6AF310162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CA49838-4E4F-48D0-88D6-847D0730C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8D7F16-D63B-4BF2-B8AE-BFEAD2A0433C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5754605"/>
      </p:ext>
    </p:extLst>
  </p:cSld>
  <p:clrMapOvr>
    <a:masterClrMapping/>
  </p:clrMapOvr>
  <p:transition spd="slow"/>
  <p:hf sldNum="0"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9DE752D-E887-41DD-8F13-F97AB6E993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962C8B-B14F-4D97-AF65-F5344CB8AC3E}" type="datetime10">
              <a:rPr lang="zh-CN" altLang="en-US"/>
              <a:pPr/>
              <a:t>22:51</a:t>
            </a:fld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34E1EA84-A9CA-4E7A-8311-59CB5DA34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6035979-4C99-4545-8D19-67C6AA47D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5207DA5-7E11-4181-834E-CB90D46E72D0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3551969"/>
      </p:ext>
    </p:extLst>
  </p:cSld>
  <p:clrMapOvr>
    <a:masterClrMapping/>
  </p:clrMapOvr>
  <p:transition spd="slow"/>
  <p:hf sldNum="0"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0A0BFA6-E3D6-4A6F-BCA6-23514DCC45D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962C8B-B14F-4D97-AF65-F5344CB8AC3E}" type="datetime10">
              <a:rPr lang="zh-CN" altLang="en-US"/>
              <a:pPr/>
              <a:t>22:51</a:t>
            </a:fld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1F5D215-7556-4DC8-B3DE-BA5E92AA5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C56A3A6-4115-4E0E-B8A5-34B8376A7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217B72C-22F6-4F26-9150-193557F67C73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7275313"/>
      </p:ext>
    </p:extLst>
  </p:cSld>
  <p:clrMapOvr>
    <a:masterClrMapping/>
  </p:clrMapOvr>
  <p:transition spd="slow"/>
  <p:hf sldNum="0"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C00CF8A-357A-4FD5-88C6-219E28BC119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962C8B-B14F-4D97-AF65-F5344CB8AC3E}" type="datetime10">
              <a:rPr lang="zh-CN" altLang="en-US"/>
              <a:pPr/>
              <a:t>22:51</a:t>
            </a:fld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5AA514E-7B3E-4FF0-97B1-22FC113B31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8719A3-9E6D-4573-B3E9-89D5A465F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CED4088-D871-40F6-99E9-FE3C1AA986D1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6146218"/>
      </p:ext>
    </p:extLst>
  </p:cSld>
  <p:clrMapOvr>
    <a:masterClrMapping/>
  </p:clrMapOvr>
  <p:transition spd="slow"/>
  <p:hf sldNum="0" hdr="0" ft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7AE9D397-BDE0-464D-B703-431B83546C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962C8B-B14F-4D97-AF65-F5344CB8AC3E}" type="datetime10">
              <a:rPr lang="zh-CN" altLang="en-US"/>
              <a:pPr/>
              <a:t>22:51</a:t>
            </a:fld>
            <a:endParaRPr lang="zh-CN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2783BE5-2895-4A1F-AB00-6FFD06C8A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DAC8A506-7CF4-4513-8D69-403001FC1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2E7F9EA-A070-4746-8B67-CAFB0F12DB40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7411682"/>
      </p:ext>
    </p:extLst>
  </p:cSld>
  <p:clrMapOvr>
    <a:masterClrMapping/>
  </p:clrMapOvr>
  <p:transition spd="slow"/>
  <p:hf sldNum="0" hdr="0" ft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E9543F14-FDFF-4DF4-ABCE-EEAF2EB2BE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962C8B-B14F-4D97-AF65-F5344CB8AC3E}" type="datetime10">
              <a:rPr lang="zh-CN" altLang="en-US"/>
              <a:pPr/>
              <a:t>22:51</a:t>
            </a:fld>
            <a:endParaRPr lang="zh-CN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E5DBC70-F129-471A-8C00-6EF7E59B5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D18D962-870D-42A2-8996-80482160F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EA0ED9-CC40-48B0-844E-FE886F5CF821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3817485"/>
      </p:ext>
    </p:extLst>
  </p:cSld>
  <p:clrMapOvr>
    <a:masterClrMapping/>
  </p:clrMapOvr>
  <p:transition spd="slow"/>
  <p:hf sldNum="0" hdr="0" ft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E017A018-3846-4ACC-B346-5508A75988C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962C8B-B14F-4D97-AF65-F5344CB8AC3E}" type="datetime10">
              <a:rPr lang="zh-CN" altLang="en-US"/>
              <a:pPr/>
              <a:t>22:51</a:t>
            </a:fld>
            <a:endParaRPr lang="zh-CN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8A0AE4B-FF6C-49E2-9650-F66990C1B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CD1B4A5-BDFF-4955-A746-B8C638262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5DDD1A-785C-4FBC-9CF0-029E1B059096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5073352"/>
      </p:ext>
    </p:extLst>
  </p:cSld>
  <p:clrMapOvr>
    <a:masterClrMapping/>
  </p:clrMapOvr>
  <p:transition spd="slow"/>
  <p:hf sldNum="0" hdr="0" ft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F44474-FE12-4D8A-BC91-D2ABF932D7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962C8B-B14F-4D97-AF65-F5344CB8AC3E}" type="datetime10">
              <a:rPr lang="zh-CN" altLang="en-US"/>
              <a:pPr/>
              <a:t>22:51</a:t>
            </a:fld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BB842D-4113-4E92-A120-64F752D72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6D4063-624C-4D4E-9C3E-AD5B4D5383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860999-41FC-4FC2-948C-590BE95DD3A5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7247793"/>
      </p:ext>
    </p:extLst>
  </p:cSld>
  <p:clrMapOvr>
    <a:masterClrMapping/>
  </p:clrMapOvr>
  <p:transition spd="slow"/>
  <p:hf sldNum="0" hdr="0" ft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E8C815-0593-4B13-BD56-C1F076352F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962C8B-B14F-4D97-AF65-F5344CB8AC3E}" type="datetime10">
              <a:rPr lang="zh-CN" altLang="en-US"/>
              <a:pPr/>
              <a:t>22:51</a:t>
            </a:fld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E9CD928-B945-4B3C-8414-BC2EE3738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84DD10-2AAC-47F0-AD70-C3E51E9ED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419241-1DCF-4A08-8170-93235EB1C019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361450"/>
      </p:ext>
    </p:extLst>
  </p:cSld>
  <p:clrMapOvr>
    <a:masterClrMapping/>
  </p:clrMapOvr>
  <p:transition spd="slow"/>
  <p:hf sldNum="0" hdr="0" ft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0279683-BB75-464A-A8D7-183C9F32AC3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962C8B-B14F-4D97-AF65-F5344CB8AC3E}" type="datetime10">
              <a:rPr lang="zh-CN" altLang="en-US"/>
              <a:pPr/>
              <a:t>22:51</a:t>
            </a:fld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17360F0-F15A-4E34-A528-407AC8EA4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467D7AD-43CA-416F-A39D-EC24FC53D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AE70C54-BFF6-4151-8868-CBCC931B39E1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2443176"/>
      </p:ext>
    </p:extLst>
  </p:cSld>
  <p:clrMapOvr>
    <a:masterClrMapping/>
  </p:clrMapOvr>
  <p:transition spd="slow"/>
  <p:hf sldNum="0" hdr="0" ft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50C3AD7-67FC-491E-917D-B117EDAC52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962C8B-B14F-4D97-AF65-F5344CB8AC3E}" type="datetime10">
              <a:rPr lang="zh-CN" altLang="en-US"/>
              <a:pPr/>
              <a:t>22:51</a:t>
            </a:fld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E3F4D56-1FA0-479A-A5D9-ED4D621E5D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4D0331D-C26A-49B8-9419-6FE882CB6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EA312CC-2CD9-4958-A52D-E78C47950C53}" type="slidenum">
              <a:rPr lang="zh-CN" altLang="en-US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1478627"/>
      </p:ext>
    </p:extLst>
  </p:cSld>
  <p:clrMapOvr>
    <a:masterClrMapping/>
  </p:clrMapOvr>
  <p:transition spd="slow"/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组合 1025">
            <a:extLst>
              <a:ext uri="{FF2B5EF4-FFF2-40B4-BE49-F238E27FC236}">
                <a16:creationId xmlns:a16="http://schemas.microsoft.com/office/drawing/2014/main" id="{A7366DD4-6E33-43F5-A9A3-4A5DF7BFD528}"/>
              </a:ext>
            </a:extLst>
          </p:cNvPr>
          <p:cNvGrpSpPr>
            <a:grpSpLocks/>
          </p:cNvGrpSpPr>
          <p:nvPr/>
        </p:nvGrpSpPr>
        <p:grpSpPr bwMode="auto">
          <a:xfrm>
            <a:off x="0" y="7938"/>
            <a:ext cx="9140825" cy="6850062"/>
            <a:chOff x="0" y="0"/>
            <a:chExt cx="5758" cy="4315"/>
          </a:xfrm>
        </p:grpSpPr>
        <p:grpSp>
          <p:nvGrpSpPr>
            <p:cNvPr id="1027" name="组合 1026">
              <a:extLst>
                <a:ext uri="{FF2B5EF4-FFF2-40B4-BE49-F238E27FC236}">
                  <a16:creationId xmlns:a16="http://schemas.microsoft.com/office/drawing/2014/main" id="{3F61F0AD-ADC7-4F60-8A65-A39AB03E0F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8" y="2230"/>
              <a:ext cx="4027" cy="2085"/>
              <a:chOff x="0" y="0"/>
              <a:chExt cx="4027" cy="2085"/>
            </a:xfrm>
          </p:grpSpPr>
          <p:sp>
            <p:nvSpPr>
              <p:cNvPr id="1028" name="Freeform 4">
                <a:extLst>
                  <a:ext uri="{FF2B5EF4-FFF2-40B4-BE49-F238E27FC236}">
                    <a16:creationId xmlns:a16="http://schemas.microsoft.com/office/drawing/2014/main" id="{45779A07-D872-470D-988E-72F0193971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414"/>
                <a:ext cx="2882" cy="1671"/>
              </a:xfrm>
              <a:custGeom>
                <a:avLst/>
                <a:gdLst>
                  <a:gd name="T0" fmla="*/ 2740 w 2882"/>
                  <a:gd name="T1" fmla="*/ 528 h 1671"/>
                  <a:gd name="T2" fmla="*/ 2632 w 2882"/>
                  <a:gd name="T3" fmla="*/ 484 h 1671"/>
                  <a:gd name="T4" fmla="*/ 2480 w 2882"/>
                  <a:gd name="T5" fmla="*/ 424 h 1671"/>
                  <a:gd name="T6" fmla="*/ 2203 w 2882"/>
                  <a:gd name="T7" fmla="*/ 343 h 1671"/>
                  <a:gd name="T8" fmla="*/ 1970 w 2882"/>
                  <a:gd name="T9" fmla="*/ 277 h 1671"/>
                  <a:gd name="T10" fmla="*/ 1807 w 2882"/>
                  <a:gd name="T11" fmla="*/ 212 h 1671"/>
                  <a:gd name="T12" fmla="*/ 1693 w 2882"/>
                  <a:gd name="T13" fmla="*/ 152 h 1671"/>
                  <a:gd name="T14" fmla="*/ 1628 w 2882"/>
                  <a:gd name="T15" fmla="*/ 103 h 1671"/>
                  <a:gd name="T16" fmla="*/ 1590 w 2882"/>
                  <a:gd name="T17" fmla="*/ 60 h 1671"/>
                  <a:gd name="T18" fmla="*/ 1579 w 2882"/>
                  <a:gd name="T19" fmla="*/ 27 h 1671"/>
                  <a:gd name="T20" fmla="*/ 1585 w 2882"/>
                  <a:gd name="T21" fmla="*/ 0 h 1671"/>
                  <a:gd name="T22" fmla="*/ 1557 w 2882"/>
                  <a:gd name="T23" fmla="*/ 49 h 1671"/>
                  <a:gd name="T24" fmla="*/ 1568 w 2882"/>
                  <a:gd name="T25" fmla="*/ 98 h 1671"/>
                  <a:gd name="T26" fmla="*/ 1617 w 2882"/>
                  <a:gd name="T27" fmla="*/ 141 h 1671"/>
                  <a:gd name="T28" fmla="*/ 1688 w 2882"/>
                  <a:gd name="T29" fmla="*/ 185 h 1671"/>
                  <a:gd name="T30" fmla="*/ 1791 w 2882"/>
                  <a:gd name="T31" fmla="*/ 228 h 1671"/>
                  <a:gd name="T32" fmla="*/ 2040 w 2882"/>
                  <a:gd name="T33" fmla="*/ 310 h 1671"/>
                  <a:gd name="T34" fmla="*/ 2285 w 2882"/>
                  <a:gd name="T35" fmla="*/ 381 h 1671"/>
                  <a:gd name="T36" fmla="*/ 2464 w 2882"/>
                  <a:gd name="T37" fmla="*/ 435 h 1671"/>
                  <a:gd name="T38" fmla="*/ 2605 w 2882"/>
                  <a:gd name="T39" fmla="*/ 484 h 1671"/>
                  <a:gd name="T40" fmla="*/ 2708 w 2882"/>
                  <a:gd name="T41" fmla="*/ 528 h 1671"/>
                  <a:gd name="T42" fmla="*/ 2768 w 2882"/>
                  <a:gd name="T43" fmla="*/ 560 h 1671"/>
                  <a:gd name="T44" fmla="*/ 2795 w 2882"/>
                  <a:gd name="T45" fmla="*/ 593 h 1671"/>
                  <a:gd name="T46" fmla="*/ 2795 w 2882"/>
                  <a:gd name="T47" fmla="*/ 642 h 1671"/>
                  <a:gd name="T48" fmla="*/ 2762 w 2882"/>
                  <a:gd name="T49" fmla="*/ 691 h 1671"/>
                  <a:gd name="T50" fmla="*/ 2692 w 2882"/>
                  <a:gd name="T51" fmla="*/ 735 h 1671"/>
                  <a:gd name="T52" fmla="*/ 2589 w 2882"/>
                  <a:gd name="T53" fmla="*/ 778 h 1671"/>
                  <a:gd name="T54" fmla="*/ 2458 w 2882"/>
                  <a:gd name="T55" fmla="*/ 822 h 1671"/>
                  <a:gd name="T56" fmla="*/ 2301 w 2882"/>
                  <a:gd name="T57" fmla="*/ 865 h 1671"/>
                  <a:gd name="T58" fmla="*/ 2030 w 2882"/>
                  <a:gd name="T59" fmla="*/ 930 h 1671"/>
                  <a:gd name="T60" fmla="*/ 1606 w 2882"/>
                  <a:gd name="T61" fmla="*/ 1034 h 1671"/>
                  <a:gd name="T62" fmla="*/ 1145 w 2882"/>
                  <a:gd name="T63" fmla="*/ 1164 h 1671"/>
                  <a:gd name="T64" fmla="*/ 673 w 2882"/>
                  <a:gd name="T65" fmla="*/ 1328 h 1671"/>
                  <a:gd name="T66" fmla="*/ 217 w 2882"/>
                  <a:gd name="T67" fmla="*/ 1545 h 1671"/>
                  <a:gd name="T68" fmla="*/ 353 w 2882"/>
                  <a:gd name="T69" fmla="*/ 1671 h 1671"/>
                  <a:gd name="T70" fmla="*/ 754 w 2882"/>
                  <a:gd name="T71" fmla="*/ 1469 h 1671"/>
                  <a:gd name="T72" fmla="*/ 1145 w 2882"/>
                  <a:gd name="T73" fmla="*/ 1311 h 1671"/>
                  <a:gd name="T74" fmla="*/ 1519 w 2882"/>
                  <a:gd name="T75" fmla="*/ 1186 h 1671"/>
                  <a:gd name="T76" fmla="*/ 1861 w 2882"/>
                  <a:gd name="T77" fmla="*/ 1083 h 1671"/>
                  <a:gd name="T78" fmla="*/ 2165 w 2882"/>
                  <a:gd name="T79" fmla="*/ 1007 h 1671"/>
                  <a:gd name="T80" fmla="*/ 2426 w 2882"/>
                  <a:gd name="T81" fmla="*/ 947 h 1671"/>
                  <a:gd name="T82" fmla="*/ 2626 w 2882"/>
                  <a:gd name="T83" fmla="*/ 892 h 1671"/>
                  <a:gd name="T84" fmla="*/ 2762 w 2882"/>
                  <a:gd name="T85" fmla="*/ 838 h 1671"/>
                  <a:gd name="T86" fmla="*/ 2827 w 2882"/>
                  <a:gd name="T87" fmla="*/ 794 h 1671"/>
                  <a:gd name="T88" fmla="*/ 2865 w 2882"/>
                  <a:gd name="T89" fmla="*/ 745 h 1671"/>
                  <a:gd name="T90" fmla="*/ 2882 w 2882"/>
                  <a:gd name="T91" fmla="*/ 702 h 1671"/>
                  <a:gd name="T92" fmla="*/ 2854 w 2882"/>
                  <a:gd name="T93" fmla="*/ 620 h 1671"/>
                  <a:gd name="T94" fmla="*/ 2800 w 2882"/>
                  <a:gd name="T95" fmla="*/ 560 h 1671"/>
                  <a:gd name="T96" fmla="*/ 2773 w 2882"/>
                  <a:gd name="T97" fmla="*/ 544 h 167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4646"/>
                  </a:gs>
                  <a:gs pos="100000">
                    <a:srgbClr val="003F3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9" name="Freeform 5">
                <a:extLst>
                  <a:ext uri="{FF2B5EF4-FFF2-40B4-BE49-F238E27FC236}">
                    <a16:creationId xmlns:a16="http://schemas.microsoft.com/office/drawing/2014/main" id="{585DC4B9-D3AB-4B2F-A624-A81C24EDDB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2" y="441"/>
                <a:ext cx="1259" cy="811"/>
              </a:xfrm>
              <a:custGeom>
                <a:avLst/>
                <a:gdLst>
                  <a:gd name="T0" fmla="*/ 1259 w 1259"/>
                  <a:gd name="T1" fmla="*/ 615 h 811"/>
                  <a:gd name="T2" fmla="*/ 1248 w 1259"/>
                  <a:gd name="T3" fmla="*/ 588 h 811"/>
                  <a:gd name="T4" fmla="*/ 1237 w 1259"/>
                  <a:gd name="T5" fmla="*/ 566 h 811"/>
                  <a:gd name="T6" fmla="*/ 1216 w 1259"/>
                  <a:gd name="T7" fmla="*/ 539 h 811"/>
                  <a:gd name="T8" fmla="*/ 1188 w 1259"/>
                  <a:gd name="T9" fmla="*/ 517 h 811"/>
                  <a:gd name="T10" fmla="*/ 1123 w 1259"/>
                  <a:gd name="T11" fmla="*/ 479 h 811"/>
                  <a:gd name="T12" fmla="*/ 1042 w 1259"/>
                  <a:gd name="T13" fmla="*/ 441 h 811"/>
                  <a:gd name="T14" fmla="*/ 944 w 1259"/>
                  <a:gd name="T15" fmla="*/ 408 h 811"/>
                  <a:gd name="T16" fmla="*/ 841 w 1259"/>
                  <a:gd name="T17" fmla="*/ 381 h 811"/>
                  <a:gd name="T18" fmla="*/ 727 w 1259"/>
                  <a:gd name="T19" fmla="*/ 348 h 811"/>
                  <a:gd name="T20" fmla="*/ 613 w 1259"/>
                  <a:gd name="T21" fmla="*/ 321 h 811"/>
                  <a:gd name="T22" fmla="*/ 499 w 1259"/>
                  <a:gd name="T23" fmla="*/ 294 h 811"/>
                  <a:gd name="T24" fmla="*/ 391 w 1259"/>
                  <a:gd name="T25" fmla="*/ 261 h 811"/>
                  <a:gd name="T26" fmla="*/ 288 w 1259"/>
                  <a:gd name="T27" fmla="*/ 229 h 811"/>
                  <a:gd name="T28" fmla="*/ 195 w 1259"/>
                  <a:gd name="T29" fmla="*/ 196 h 811"/>
                  <a:gd name="T30" fmla="*/ 119 w 1259"/>
                  <a:gd name="T31" fmla="*/ 152 h 811"/>
                  <a:gd name="T32" fmla="*/ 54 w 1259"/>
                  <a:gd name="T33" fmla="*/ 109 h 811"/>
                  <a:gd name="T34" fmla="*/ 33 w 1259"/>
                  <a:gd name="T35" fmla="*/ 87 h 811"/>
                  <a:gd name="T36" fmla="*/ 16 w 1259"/>
                  <a:gd name="T37" fmla="*/ 60 h 811"/>
                  <a:gd name="T38" fmla="*/ 5 w 1259"/>
                  <a:gd name="T39" fmla="*/ 33 h 811"/>
                  <a:gd name="T40" fmla="*/ 0 w 1259"/>
                  <a:gd name="T41" fmla="*/ 0 h 811"/>
                  <a:gd name="T42" fmla="*/ 0 w 1259"/>
                  <a:gd name="T43" fmla="*/ 6 h 811"/>
                  <a:gd name="T44" fmla="*/ 0 w 1259"/>
                  <a:gd name="T45" fmla="*/ 11 h 811"/>
                  <a:gd name="T46" fmla="*/ 0 w 1259"/>
                  <a:gd name="T47" fmla="*/ 38 h 811"/>
                  <a:gd name="T48" fmla="*/ 5 w 1259"/>
                  <a:gd name="T49" fmla="*/ 60 h 811"/>
                  <a:gd name="T50" fmla="*/ 16 w 1259"/>
                  <a:gd name="T51" fmla="*/ 87 h 811"/>
                  <a:gd name="T52" fmla="*/ 33 w 1259"/>
                  <a:gd name="T53" fmla="*/ 114 h 811"/>
                  <a:gd name="T54" fmla="*/ 54 w 1259"/>
                  <a:gd name="T55" fmla="*/ 142 h 811"/>
                  <a:gd name="T56" fmla="*/ 87 w 1259"/>
                  <a:gd name="T57" fmla="*/ 174 h 811"/>
                  <a:gd name="T58" fmla="*/ 125 w 1259"/>
                  <a:gd name="T59" fmla="*/ 207 h 811"/>
                  <a:gd name="T60" fmla="*/ 179 w 1259"/>
                  <a:gd name="T61" fmla="*/ 240 h 811"/>
                  <a:gd name="T62" fmla="*/ 244 w 1259"/>
                  <a:gd name="T63" fmla="*/ 278 h 811"/>
                  <a:gd name="T64" fmla="*/ 326 w 1259"/>
                  <a:gd name="T65" fmla="*/ 310 h 811"/>
                  <a:gd name="T66" fmla="*/ 418 w 1259"/>
                  <a:gd name="T67" fmla="*/ 348 h 811"/>
                  <a:gd name="T68" fmla="*/ 526 w 1259"/>
                  <a:gd name="T69" fmla="*/ 381 h 811"/>
                  <a:gd name="T70" fmla="*/ 657 w 1259"/>
                  <a:gd name="T71" fmla="*/ 414 h 811"/>
                  <a:gd name="T72" fmla="*/ 749 w 1259"/>
                  <a:gd name="T73" fmla="*/ 435 h 811"/>
                  <a:gd name="T74" fmla="*/ 830 w 1259"/>
                  <a:gd name="T75" fmla="*/ 463 h 811"/>
                  <a:gd name="T76" fmla="*/ 901 w 1259"/>
                  <a:gd name="T77" fmla="*/ 490 h 811"/>
                  <a:gd name="T78" fmla="*/ 966 w 1259"/>
                  <a:gd name="T79" fmla="*/ 512 h 811"/>
                  <a:gd name="T80" fmla="*/ 1015 w 1259"/>
                  <a:gd name="T81" fmla="*/ 539 h 811"/>
                  <a:gd name="T82" fmla="*/ 1053 w 1259"/>
                  <a:gd name="T83" fmla="*/ 566 h 811"/>
                  <a:gd name="T84" fmla="*/ 1080 w 1259"/>
                  <a:gd name="T85" fmla="*/ 593 h 811"/>
                  <a:gd name="T86" fmla="*/ 1102 w 1259"/>
                  <a:gd name="T87" fmla="*/ 620 h 811"/>
                  <a:gd name="T88" fmla="*/ 1112 w 1259"/>
                  <a:gd name="T89" fmla="*/ 648 h 811"/>
                  <a:gd name="T90" fmla="*/ 1118 w 1259"/>
                  <a:gd name="T91" fmla="*/ 675 h 811"/>
                  <a:gd name="T92" fmla="*/ 1112 w 1259"/>
                  <a:gd name="T93" fmla="*/ 697 h 811"/>
                  <a:gd name="T94" fmla="*/ 1096 w 1259"/>
                  <a:gd name="T95" fmla="*/ 724 h 811"/>
                  <a:gd name="T96" fmla="*/ 1080 w 1259"/>
                  <a:gd name="T97" fmla="*/ 746 h 811"/>
                  <a:gd name="T98" fmla="*/ 1053 w 1259"/>
                  <a:gd name="T99" fmla="*/ 767 h 811"/>
                  <a:gd name="T100" fmla="*/ 1015 w 1259"/>
                  <a:gd name="T101" fmla="*/ 789 h 811"/>
                  <a:gd name="T102" fmla="*/ 977 w 1259"/>
                  <a:gd name="T103" fmla="*/ 811 h 811"/>
                  <a:gd name="T104" fmla="*/ 1047 w 1259"/>
                  <a:gd name="T105" fmla="*/ 789 h 811"/>
                  <a:gd name="T106" fmla="*/ 1107 w 1259"/>
                  <a:gd name="T107" fmla="*/ 767 h 811"/>
                  <a:gd name="T108" fmla="*/ 1156 w 1259"/>
                  <a:gd name="T109" fmla="*/ 746 h 811"/>
                  <a:gd name="T110" fmla="*/ 1199 w 1259"/>
                  <a:gd name="T111" fmla="*/ 724 h 811"/>
                  <a:gd name="T112" fmla="*/ 1226 w 1259"/>
                  <a:gd name="T113" fmla="*/ 702 h 811"/>
                  <a:gd name="T114" fmla="*/ 1248 w 1259"/>
                  <a:gd name="T115" fmla="*/ 675 h 811"/>
                  <a:gd name="T116" fmla="*/ 1259 w 1259"/>
                  <a:gd name="T117" fmla="*/ 648 h 811"/>
                  <a:gd name="T118" fmla="*/ 1259 w 1259"/>
                  <a:gd name="T119" fmla="*/ 615 h 811"/>
                  <a:gd name="T120" fmla="*/ 1259 w 1259"/>
                  <a:gd name="T121" fmla="*/ 615 h 8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4646"/>
                  </a:gs>
                  <a:gs pos="100000">
                    <a:srgbClr val="003F3F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0" name="Freeform 6">
                <a:extLst>
                  <a:ext uri="{FF2B5EF4-FFF2-40B4-BE49-F238E27FC236}">
                    <a16:creationId xmlns:a16="http://schemas.microsoft.com/office/drawing/2014/main" id="{1FABE6A8-2CC1-4F3D-98CC-FF03CD699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" y="1116"/>
                <a:ext cx="2849" cy="969"/>
              </a:xfrm>
              <a:custGeom>
                <a:avLst/>
                <a:gdLst>
                  <a:gd name="T0" fmla="*/ 92 w 2849"/>
                  <a:gd name="T1" fmla="*/ 958 h 969"/>
                  <a:gd name="T2" fmla="*/ 0 w 2849"/>
                  <a:gd name="T3" fmla="*/ 969 h 969"/>
                  <a:gd name="T4" fmla="*/ 391 w 2849"/>
                  <a:gd name="T5" fmla="*/ 969 h 969"/>
                  <a:gd name="T6" fmla="*/ 434 w 2849"/>
                  <a:gd name="T7" fmla="*/ 947 h 969"/>
                  <a:gd name="T8" fmla="*/ 483 w 2849"/>
                  <a:gd name="T9" fmla="*/ 914 h 969"/>
                  <a:gd name="T10" fmla="*/ 554 w 2849"/>
                  <a:gd name="T11" fmla="*/ 876 h 969"/>
                  <a:gd name="T12" fmla="*/ 635 w 2849"/>
                  <a:gd name="T13" fmla="*/ 838 h 969"/>
                  <a:gd name="T14" fmla="*/ 727 w 2849"/>
                  <a:gd name="T15" fmla="*/ 794 h 969"/>
                  <a:gd name="T16" fmla="*/ 836 w 2849"/>
                  <a:gd name="T17" fmla="*/ 745 h 969"/>
                  <a:gd name="T18" fmla="*/ 961 w 2849"/>
                  <a:gd name="T19" fmla="*/ 696 h 969"/>
                  <a:gd name="T20" fmla="*/ 1102 w 2849"/>
                  <a:gd name="T21" fmla="*/ 642 h 969"/>
                  <a:gd name="T22" fmla="*/ 1259 w 2849"/>
                  <a:gd name="T23" fmla="*/ 582 h 969"/>
                  <a:gd name="T24" fmla="*/ 1433 w 2849"/>
                  <a:gd name="T25" fmla="*/ 522 h 969"/>
                  <a:gd name="T26" fmla="*/ 1623 w 2849"/>
                  <a:gd name="T27" fmla="*/ 462 h 969"/>
                  <a:gd name="T28" fmla="*/ 1829 w 2849"/>
                  <a:gd name="T29" fmla="*/ 403 h 969"/>
                  <a:gd name="T30" fmla="*/ 2057 w 2849"/>
                  <a:gd name="T31" fmla="*/ 343 h 969"/>
                  <a:gd name="T32" fmla="*/ 2301 w 2849"/>
                  <a:gd name="T33" fmla="*/ 283 h 969"/>
                  <a:gd name="T34" fmla="*/ 2567 w 2849"/>
                  <a:gd name="T35" fmla="*/ 223 h 969"/>
                  <a:gd name="T36" fmla="*/ 2849 w 2849"/>
                  <a:gd name="T37" fmla="*/ 163 h 969"/>
                  <a:gd name="T38" fmla="*/ 2849 w 2849"/>
                  <a:gd name="T39" fmla="*/ 0 h 969"/>
                  <a:gd name="T40" fmla="*/ 2817 w 2849"/>
                  <a:gd name="T41" fmla="*/ 16 h 969"/>
                  <a:gd name="T42" fmla="*/ 2773 w 2849"/>
                  <a:gd name="T43" fmla="*/ 33 h 969"/>
                  <a:gd name="T44" fmla="*/ 2719 w 2849"/>
                  <a:gd name="T45" fmla="*/ 54 h 969"/>
                  <a:gd name="T46" fmla="*/ 2648 w 2849"/>
                  <a:gd name="T47" fmla="*/ 76 h 969"/>
                  <a:gd name="T48" fmla="*/ 2572 w 2849"/>
                  <a:gd name="T49" fmla="*/ 98 h 969"/>
                  <a:gd name="T50" fmla="*/ 2491 w 2849"/>
                  <a:gd name="T51" fmla="*/ 120 h 969"/>
                  <a:gd name="T52" fmla="*/ 2399 w 2849"/>
                  <a:gd name="T53" fmla="*/ 147 h 969"/>
                  <a:gd name="T54" fmla="*/ 2301 w 2849"/>
                  <a:gd name="T55" fmla="*/ 169 h 969"/>
                  <a:gd name="T56" fmla="*/ 2095 w 2849"/>
                  <a:gd name="T57" fmla="*/ 223 h 969"/>
                  <a:gd name="T58" fmla="*/ 1889 w 2849"/>
                  <a:gd name="T59" fmla="*/ 277 h 969"/>
                  <a:gd name="T60" fmla="*/ 1688 w 2849"/>
                  <a:gd name="T61" fmla="*/ 326 h 969"/>
                  <a:gd name="T62" fmla="*/ 1590 w 2849"/>
                  <a:gd name="T63" fmla="*/ 354 h 969"/>
                  <a:gd name="T64" fmla="*/ 1503 w 2849"/>
                  <a:gd name="T65" fmla="*/ 381 h 969"/>
                  <a:gd name="T66" fmla="*/ 1107 w 2849"/>
                  <a:gd name="T67" fmla="*/ 506 h 969"/>
                  <a:gd name="T68" fmla="*/ 912 w 2849"/>
                  <a:gd name="T69" fmla="*/ 577 h 969"/>
                  <a:gd name="T70" fmla="*/ 727 w 2849"/>
                  <a:gd name="T71" fmla="*/ 647 h 969"/>
                  <a:gd name="T72" fmla="*/ 548 w 2849"/>
                  <a:gd name="T73" fmla="*/ 718 h 969"/>
                  <a:gd name="T74" fmla="*/ 380 w 2849"/>
                  <a:gd name="T75" fmla="*/ 794 h 969"/>
                  <a:gd name="T76" fmla="*/ 228 w 2849"/>
                  <a:gd name="T77" fmla="*/ 876 h 969"/>
                  <a:gd name="T78" fmla="*/ 92 w 2849"/>
                  <a:gd name="T79" fmla="*/ 958 h 969"/>
                  <a:gd name="T80" fmla="*/ 92 w 2849"/>
                  <a:gd name="T81" fmla="*/ 958 h 9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3939"/>
                  </a:gs>
                  <a:gs pos="100000">
                    <a:srgbClr val="004646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1" name="Freeform 7">
                <a:extLst>
                  <a:ext uri="{FF2B5EF4-FFF2-40B4-BE49-F238E27FC236}">
                    <a16:creationId xmlns:a16="http://schemas.microsoft.com/office/drawing/2014/main" id="{A98BDD92-1E92-45C2-B393-21709C79CB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0" y="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2" name="Freeform 8">
                <a:extLst>
                  <a:ext uri="{FF2B5EF4-FFF2-40B4-BE49-F238E27FC236}">
                    <a16:creationId xmlns:a16="http://schemas.microsoft.com/office/drawing/2014/main" id="{969BB36F-7E6E-4E84-977B-989354FFC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3" y="87"/>
                <a:ext cx="1248" cy="539"/>
              </a:xfrm>
              <a:custGeom>
                <a:avLst/>
                <a:gdLst>
                  <a:gd name="T0" fmla="*/ 0 w 1248"/>
                  <a:gd name="T1" fmla="*/ 332 h 539"/>
                  <a:gd name="T2" fmla="*/ 0 w 1248"/>
                  <a:gd name="T3" fmla="*/ 360 h 539"/>
                  <a:gd name="T4" fmla="*/ 5 w 1248"/>
                  <a:gd name="T5" fmla="*/ 387 h 539"/>
                  <a:gd name="T6" fmla="*/ 27 w 1248"/>
                  <a:gd name="T7" fmla="*/ 414 h 539"/>
                  <a:gd name="T8" fmla="*/ 54 w 1248"/>
                  <a:gd name="T9" fmla="*/ 436 h 539"/>
                  <a:gd name="T10" fmla="*/ 92 w 1248"/>
                  <a:gd name="T11" fmla="*/ 463 h 539"/>
                  <a:gd name="T12" fmla="*/ 141 w 1248"/>
                  <a:gd name="T13" fmla="*/ 490 h 539"/>
                  <a:gd name="T14" fmla="*/ 195 w 1248"/>
                  <a:gd name="T15" fmla="*/ 512 h 539"/>
                  <a:gd name="T16" fmla="*/ 255 w 1248"/>
                  <a:gd name="T17" fmla="*/ 539 h 539"/>
                  <a:gd name="T18" fmla="*/ 212 w 1248"/>
                  <a:gd name="T19" fmla="*/ 517 h 539"/>
                  <a:gd name="T20" fmla="*/ 179 w 1248"/>
                  <a:gd name="T21" fmla="*/ 490 h 539"/>
                  <a:gd name="T22" fmla="*/ 157 w 1248"/>
                  <a:gd name="T23" fmla="*/ 468 h 539"/>
                  <a:gd name="T24" fmla="*/ 141 w 1248"/>
                  <a:gd name="T25" fmla="*/ 447 h 539"/>
                  <a:gd name="T26" fmla="*/ 136 w 1248"/>
                  <a:gd name="T27" fmla="*/ 425 h 539"/>
                  <a:gd name="T28" fmla="*/ 136 w 1248"/>
                  <a:gd name="T29" fmla="*/ 403 h 539"/>
                  <a:gd name="T30" fmla="*/ 141 w 1248"/>
                  <a:gd name="T31" fmla="*/ 381 h 539"/>
                  <a:gd name="T32" fmla="*/ 157 w 1248"/>
                  <a:gd name="T33" fmla="*/ 365 h 539"/>
                  <a:gd name="T34" fmla="*/ 179 w 1248"/>
                  <a:gd name="T35" fmla="*/ 343 h 539"/>
                  <a:gd name="T36" fmla="*/ 201 w 1248"/>
                  <a:gd name="T37" fmla="*/ 327 h 539"/>
                  <a:gd name="T38" fmla="*/ 266 w 1248"/>
                  <a:gd name="T39" fmla="*/ 294 h 539"/>
                  <a:gd name="T40" fmla="*/ 353 w 1248"/>
                  <a:gd name="T41" fmla="*/ 262 h 539"/>
                  <a:gd name="T42" fmla="*/ 445 w 1248"/>
                  <a:gd name="T43" fmla="*/ 234 h 539"/>
                  <a:gd name="T44" fmla="*/ 554 w 1248"/>
                  <a:gd name="T45" fmla="*/ 213 h 539"/>
                  <a:gd name="T46" fmla="*/ 662 w 1248"/>
                  <a:gd name="T47" fmla="*/ 191 h 539"/>
                  <a:gd name="T48" fmla="*/ 890 w 1248"/>
                  <a:gd name="T49" fmla="*/ 153 h 539"/>
                  <a:gd name="T50" fmla="*/ 993 w 1248"/>
                  <a:gd name="T51" fmla="*/ 136 h 539"/>
                  <a:gd name="T52" fmla="*/ 1091 w 1248"/>
                  <a:gd name="T53" fmla="*/ 120 h 539"/>
                  <a:gd name="T54" fmla="*/ 1178 w 1248"/>
                  <a:gd name="T55" fmla="*/ 115 h 539"/>
                  <a:gd name="T56" fmla="*/ 1248 w 1248"/>
                  <a:gd name="T57" fmla="*/ 104 h 539"/>
                  <a:gd name="T58" fmla="*/ 1248 w 1248"/>
                  <a:gd name="T59" fmla="*/ 0 h 539"/>
                  <a:gd name="T60" fmla="*/ 1161 w 1248"/>
                  <a:gd name="T61" fmla="*/ 22 h 539"/>
                  <a:gd name="T62" fmla="*/ 1069 w 1248"/>
                  <a:gd name="T63" fmla="*/ 38 h 539"/>
                  <a:gd name="T64" fmla="*/ 874 w 1248"/>
                  <a:gd name="T65" fmla="*/ 71 h 539"/>
                  <a:gd name="T66" fmla="*/ 673 w 1248"/>
                  <a:gd name="T67" fmla="*/ 93 h 539"/>
                  <a:gd name="T68" fmla="*/ 483 w 1248"/>
                  <a:gd name="T69" fmla="*/ 126 h 539"/>
                  <a:gd name="T70" fmla="*/ 391 w 1248"/>
                  <a:gd name="T71" fmla="*/ 142 h 539"/>
                  <a:gd name="T72" fmla="*/ 309 w 1248"/>
                  <a:gd name="T73" fmla="*/ 158 h 539"/>
                  <a:gd name="T74" fmla="*/ 228 w 1248"/>
                  <a:gd name="T75" fmla="*/ 180 h 539"/>
                  <a:gd name="T76" fmla="*/ 163 w 1248"/>
                  <a:gd name="T77" fmla="*/ 202 h 539"/>
                  <a:gd name="T78" fmla="*/ 103 w 1248"/>
                  <a:gd name="T79" fmla="*/ 229 h 539"/>
                  <a:gd name="T80" fmla="*/ 54 w 1248"/>
                  <a:gd name="T81" fmla="*/ 256 h 539"/>
                  <a:gd name="T82" fmla="*/ 22 w 1248"/>
                  <a:gd name="T83" fmla="*/ 294 h 539"/>
                  <a:gd name="T84" fmla="*/ 0 w 1248"/>
                  <a:gd name="T85" fmla="*/ 332 h 539"/>
                  <a:gd name="T86" fmla="*/ 0 w 1248"/>
                  <a:gd name="T87" fmla="*/ 332 h 5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3D3D"/>
                  </a:gs>
                  <a:gs pos="100000">
                    <a:srgbClr val="004646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33" name="Freeform 9">
              <a:extLst>
                <a:ext uri="{FF2B5EF4-FFF2-40B4-BE49-F238E27FC236}">
                  <a16:creationId xmlns:a16="http://schemas.microsoft.com/office/drawing/2014/main" id="{AFDA4FE0-9BFD-4A77-8082-055B2D2AA8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2" y="1341"/>
              <a:ext cx="1825" cy="1537"/>
            </a:xfrm>
            <a:custGeom>
              <a:avLst/>
              <a:gdLst>
                <a:gd name="T0" fmla="*/ 982 w 2296"/>
                <a:gd name="T1" fmla="*/ 1061 h 1469"/>
                <a:gd name="T2" fmla="*/ 1357 w 2296"/>
                <a:gd name="T3" fmla="*/ 1012 h 1469"/>
                <a:gd name="T4" fmla="*/ 1666 w 2296"/>
                <a:gd name="T5" fmla="*/ 957 h 1469"/>
                <a:gd name="T6" fmla="*/ 1916 w 2296"/>
                <a:gd name="T7" fmla="*/ 897 h 1469"/>
                <a:gd name="T8" fmla="*/ 2100 w 2296"/>
                <a:gd name="T9" fmla="*/ 832 h 1469"/>
                <a:gd name="T10" fmla="*/ 2220 w 2296"/>
                <a:gd name="T11" fmla="*/ 756 h 1469"/>
                <a:gd name="T12" fmla="*/ 2285 w 2296"/>
                <a:gd name="T13" fmla="*/ 669 h 1469"/>
                <a:gd name="T14" fmla="*/ 2290 w 2296"/>
                <a:gd name="T15" fmla="*/ 560 h 1469"/>
                <a:gd name="T16" fmla="*/ 2241 w 2296"/>
                <a:gd name="T17" fmla="*/ 457 h 1469"/>
                <a:gd name="T18" fmla="*/ 2144 w 2296"/>
                <a:gd name="T19" fmla="*/ 364 h 1469"/>
                <a:gd name="T20" fmla="*/ 2008 w 2296"/>
                <a:gd name="T21" fmla="*/ 277 h 1469"/>
                <a:gd name="T22" fmla="*/ 1769 w 2296"/>
                <a:gd name="T23" fmla="*/ 157 h 1469"/>
                <a:gd name="T24" fmla="*/ 1612 w 2296"/>
                <a:gd name="T25" fmla="*/ 92 h 1469"/>
                <a:gd name="T26" fmla="*/ 1476 w 2296"/>
                <a:gd name="T27" fmla="*/ 43 h 1469"/>
                <a:gd name="T28" fmla="*/ 1384 w 2296"/>
                <a:gd name="T29" fmla="*/ 10 h 1469"/>
                <a:gd name="T30" fmla="*/ 1346 w 2296"/>
                <a:gd name="T31" fmla="*/ 0 h 1469"/>
                <a:gd name="T32" fmla="*/ 1655 w 2296"/>
                <a:gd name="T33" fmla="*/ 119 h 1469"/>
                <a:gd name="T34" fmla="*/ 1948 w 2296"/>
                <a:gd name="T35" fmla="*/ 255 h 1469"/>
                <a:gd name="T36" fmla="*/ 2068 w 2296"/>
                <a:gd name="T37" fmla="*/ 326 h 1469"/>
                <a:gd name="T38" fmla="*/ 2171 w 2296"/>
                <a:gd name="T39" fmla="*/ 402 h 1469"/>
                <a:gd name="T40" fmla="*/ 2236 w 2296"/>
                <a:gd name="T41" fmla="*/ 478 h 1469"/>
                <a:gd name="T42" fmla="*/ 2263 w 2296"/>
                <a:gd name="T43" fmla="*/ 560 h 1469"/>
                <a:gd name="T44" fmla="*/ 2241 w 2296"/>
                <a:gd name="T45" fmla="*/ 636 h 1469"/>
                <a:gd name="T46" fmla="*/ 2171 w 2296"/>
                <a:gd name="T47" fmla="*/ 702 h 1469"/>
                <a:gd name="T48" fmla="*/ 2062 w 2296"/>
                <a:gd name="T49" fmla="*/ 756 h 1469"/>
                <a:gd name="T50" fmla="*/ 1921 w 2296"/>
                <a:gd name="T51" fmla="*/ 800 h 1469"/>
                <a:gd name="T52" fmla="*/ 1748 w 2296"/>
                <a:gd name="T53" fmla="*/ 843 h 1469"/>
                <a:gd name="T54" fmla="*/ 1351 w 2296"/>
                <a:gd name="T55" fmla="*/ 908 h 1469"/>
                <a:gd name="T56" fmla="*/ 923 w 2296"/>
                <a:gd name="T57" fmla="*/ 968 h 1469"/>
                <a:gd name="T58" fmla="*/ 521 w 2296"/>
                <a:gd name="T59" fmla="*/ 1028 h 1469"/>
                <a:gd name="T60" fmla="*/ 353 w 2296"/>
                <a:gd name="T61" fmla="*/ 1066 h 1469"/>
                <a:gd name="T62" fmla="*/ 206 w 2296"/>
                <a:gd name="T63" fmla="*/ 1104 h 1469"/>
                <a:gd name="T64" fmla="*/ 92 w 2296"/>
                <a:gd name="T65" fmla="*/ 1148 h 1469"/>
                <a:gd name="T66" fmla="*/ 22 w 2296"/>
                <a:gd name="T67" fmla="*/ 1202 h 1469"/>
                <a:gd name="T68" fmla="*/ 0 w 2296"/>
                <a:gd name="T69" fmla="*/ 1262 h 1469"/>
                <a:gd name="T70" fmla="*/ 27 w 2296"/>
                <a:gd name="T71" fmla="*/ 1327 h 1469"/>
                <a:gd name="T72" fmla="*/ 98 w 2296"/>
                <a:gd name="T73" fmla="*/ 1382 h 1469"/>
                <a:gd name="T74" fmla="*/ 196 w 2296"/>
                <a:gd name="T75" fmla="*/ 1425 h 1469"/>
                <a:gd name="T76" fmla="*/ 326 w 2296"/>
                <a:gd name="T77" fmla="*/ 1469 h 1469"/>
                <a:gd name="T78" fmla="*/ 217 w 2296"/>
                <a:gd name="T79" fmla="*/ 1414 h 1469"/>
                <a:gd name="T80" fmla="*/ 147 w 2296"/>
                <a:gd name="T81" fmla="*/ 1360 h 1469"/>
                <a:gd name="T82" fmla="*/ 120 w 2296"/>
                <a:gd name="T83" fmla="*/ 1306 h 1469"/>
                <a:gd name="T84" fmla="*/ 141 w 2296"/>
                <a:gd name="T85" fmla="*/ 1257 h 1469"/>
                <a:gd name="T86" fmla="*/ 212 w 2296"/>
                <a:gd name="T87" fmla="*/ 1208 h 1469"/>
                <a:gd name="T88" fmla="*/ 342 w 2296"/>
                <a:gd name="T89" fmla="*/ 1164 h 1469"/>
                <a:gd name="T90" fmla="*/ 527 w 2296"/>
                <a:gd name="T91" fmla="*/ 1121 h 1469"/>
                <a:gd name="T92" fmla="*/ 771 w 2296"/>
                <a:gd name="T93" fmla="*/ 1088 h 14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rgbClr val="003B3B"/>
                </a:gs>
                <a:gs pos="100000">
                  <a:srgbClr val="004646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4" name="Freeform 10">
              <a:extLst>
                <a:ext uri="{FF2B5EF4-FFF2-40B4-BE49-F238E27FC236}">
                  <a16:creationId xmlns:a16="http://schemas.microsoft.com/office/drawing/2014/main" id="{00D1A596-4BAE-40B5-AF05-53C701FD7D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758" cy="1776"/>
            </a:xfrm>
            <a:custGeom>
              <a:avLst/>
              <a:gdLst>
                <a:gd name="T0" fmla="*/ 0 w 5740"/>
                <a:gd name="T1" fmla="*/ 0 h 1906"/>
                <a:gd name="T2" fmla="*/ 0 w 5740"/>
                <a:gd name="T3" fmla="*/ 1906 h 1906"/>
                <a:gd name="T4" fmla="*/ 5740 w 5740"/>
                <a:gd name="T5" fmla="*/ 1906 h 1906"/>
                <a:gd name="T6" fmla="*/ 5740 w 5740"/>
                <a:gd name="T7" fmla="*/ 0 h 1906"/>
                <a:gd name="T8" fmla="*/ 0 w 5740"/>
                <a:gd name="T9" fmla="*/ 0 h 1906"/>
                <a:gd name="T10" fmla="*/ 0 w 5740"/>
                <a:gd name="T11" fmla="*/ 0 h 19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004646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35" name="Rectangle 11">
            <a:extLst>
              <a:ext uri="{FF2B5EF4-FFF2-40B4-BE49-F238E27FC236}">
                <a16:creationId xmlns:a16="http://schemas.microsoft.com/office/drawing/2014/main" id="{D3074BFA-9F90-4306-A9D0-2B0724990A6F}"/>
              </a:ext>
            </a:extLst>
          </p:cNvPr>
          <p:cNvSpPr>
            <a:spLocks noGrp="1" noRot="1" noChangeArrowheads="1"/>
          </p:cNvSpPr>
          <p:nvPr>
            <p:ph type="title" idx="4294967295"/>
          </p:nvPr>
        </p:nvSpPr>
        <p:spPr bwMode="auto">
          <a:xfrm>
            <a:off x="482600" y="368300"/>
            <a:ext cx="8229600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>
                <a:sym typeface="Times New Roman" panose="02020603050405020304" pitchFamily="18" charset="0"/>
              </a:rPr>
              <a:t>单击此处编辑母版标题样式</a:t>
            </a:r>
          </a:p>
        </p:txBody>
      </p:sp>
      <p:sp>
        <p:nvSpPr>
          <p:cNvPr id="1036" name="Rectangle 12">
            <a:extLst>
              <a:ext uri="{FF2B5EF4-FFF2-40B4-BE49-F238E27FC236}">
                <a16:creationId xmlns:a16="http://schemas.microsoft.com/office/drawing/2014/main" id="{C8AF63D5-35A2-4931-9201-E9AD530021D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385763" y="1314450"/>
            <a:ext cx="8372475" cy="517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>
                <a:sym typeface="Times New Roman" panose="02020603050405020304" pitchFamily="18" charset="0"/>
              </a:rPr>
              <a:t>单击此处编辑母版文本样式</a:t>
            </a:r>
          </a:p>
          <a:p>
            <a:pPr lvl="1"/>
            <a:r>
              <a:rPr lang="zh-CN" altLang="en-US">
                <a:sym typeface="Times New Roman" panose="02020603050405020304" pitchFamily="18" charset="0"/>
              </a:rPr>
              <a:t> 第二级</a:t>
            </a:r>
          </a:p>
          <a:p>
            <a:pPr lvl="2"/>
            <a:r>
              <a:rPr lang="zh-CN" altLang="en-US">
                <a:sym typeface="Times New Roman" panose="02020603050405020304" pitchFamily="18" charset="0"/>
              </a:rPr>
              <a:t> 第三级</a:t>
            </a:r>
          </a:p>
        </p:txBody>
      </p:sp>
      <p:sp>
        <p:nvSpPr>
          <p:cNvPr id="1037" name="Text Box 13">
            <a:extLst>
              <a:ext uri="{FF2B5EF4-FFF2-40B4-BE49-F238E27FC236}">
                <a16:creationId xmlns:a16="http://schemas.microsoft.com/office/drawing/2014/main" id="{2CA4A022-1EF3-45B6-8D5F-58BED2C0B5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25" y="0"/>
            <a:ext cx="25558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lang="zh-CN" altLang="en-US" b="1">
                <a:solidFill>
                  <a:srgbClr val="FFFFFF"/>
                </a:solidFill>
                <a:sym typeface="Times New Roman" panose="02020603050405020304" pitchFamily="18" charset="0"/>
              </a:rPr>
              <a:t>第</a:t>
            </a:r>
            <a:r>
              <a:rPr lang="en-US" altLang="zh-CN" b="1">
                <a:solidFill>
                  <a:srgbClr val="FFFFFF"/>
                </a:solidFill>
                <a:sym typeface="Times New Roman" panose="02020603050405020304" pitchFamily="18" charset="0"/>
              </a:rPr>
              <a:t>3</a:t>
            </a:r>
            <a:r>
              <a:rPr lang="zh-CN" altLang="en-US" b="1">
                <a:solidFill>
                  <a:srgbClr val="FFFFFF"/>
                </a:solidFill>
                <a:sym typeface="Times New Roman" panose="02020603050405020304" pitchFamily="18" charset="0"/>
              </a:rPr>
              <a:t>章 </a:t>
            </a:r>
            <a:r>
              <a:rPr lang="en-US" altLang="zh-CN" b="1">
                <a:solidFill>
                  <a:srgbClr val="FFFFFF"/>
                </a:solidFill>
                <a:sym typeface="Times New Roman" panose="02020603050405020304" pitchFamily="18" charset="0"/>
              </a:rPr>
              <a:t>8086 </a:t>
            </a:r>
            <a:r>
              <a:rPr lang="zh-CN" altLang="en-US" b="1">
                <a:solidFill>
                  <a:srgbClr val="FFFFFF"/>
                </a:solidFill>
                <a:sym typeface="Times New Roman" panose="02020603050405020304" pitchFamily="18" charset="0"/>
              </a:rPr>
              <a:t>指令系统</a:t>
            </a:r>
            <a:endParaRPr lang="zh-CN" altLang="en-US" sz="2400"/>
          </a:p>
        </p:txBody>
      </p:sp>
      <p:sp>
        <p:nvSpPr>
          <p:cNvPr id="1038" name="TextBox 14">
            <a:extLst>
              <a:ext uri="{FF2B5EF4-FFF2-40B4-BE49-F238E27FC236}">
                <a16:creationId xmlns:a16="http://schemas.microsoft.com/office/drawing/2014/main" id="{9FCFC455-628A-4A36-91B2-F4EA322BC1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161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lang="en-US" altLang="zh-CN" b="1">
                <a:solidFill>
                  <a:srgbClr val="FFC000"/>
                </a:solidFill>
                <a:ea typeface="黑体" panose="02010609060101010101" pitchFamily="49" charset="-122"/>
                <a:sym typeface="Times New Roman" panose="02020603050405020304" pitchFamily="18" charset="0"/>
              </a:rPr>
              <a:t>3.3  </a:t>
            </a:r>
            <a:r>
              <a:rPr lang="zh-CN" altLang="en-US" b="1">
                <a:solidFill>
                  <a:srgbClr val="FFC000"/>
                </a:solidFill>
                <a:ea typeface="黑体" panose="02010609060101010101" pitchFamily="49" charset="-122"/>
                <a:sym typeface="Times New Roman" panose="02020603050405020304" pitchFamily="18" charset="0"/>
              </a:rPr>
              <a:t>指令系统</a:t>
            </a:r>
            <a:r>
              <a:rPr lang="en-US" altLang="zh-CN" b="1">
                <a:solidFill>
                  <a:srgbClr val="FFC000"/>
                </a:solidFill>
                <a:ea typeface="黑体" panose="02010609060101010101" pitchFamily="49" charset="-122"/>
                <a:sym typeface="Times New Roman" panose="02020603050405020304" pitchFamily="18" charset="0"/>
              </a:rPr>
              <a:t>-2</a:t>
            </a:r>
            <a:endParaRPr lang="zh-CN" altLang="en-US" sz="2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2" r:id="rId2"/>
    <p:sldLayoutId id="2147483701" r:id="rId3"/>
    <p:sldLayoutId id="2147483700" r:id="rId4"/>
    <p:sldLayoutId id="2147483699" r:id="rId5"/>
    <p:sldLayoutId id="2147483698" r:id="rId6"/>
    <p:sldLayoutId id="2147483697" r:id="rId7"/>
    <p:sldLayoutId id="2147483696" r:id="rId8"/>
    <p:sldLayoutId id="2147483695" r:id="rId9"/>
    <p:sldLayoutId id="2147483694" r:id="rId10"/>
    <p:sldLayoutId id="2147483693" r:id="rId11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rgbClr val="FFFF99"/>
          </a:solidFill>
          <a:latin typeface="+mj-lt"/>
          <a:ea typeface="+mj-ea"/>
          <a:cs typeface="+mj-cs"/>
          <a:sym typeface="Times New Roman" panose="02020603050405020304" pitchFamily="18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FF99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FF99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FF99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FF99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FF99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FF99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FF99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FF99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9pPr>
    </p:titleStyle>
    <p:bodyStyle>
      <a:lvl1pPr marL="533400" indent="-533400" algn="l" defTabSz="0" rtl="0" eaLnBrk="0" fontAlgn="base" hangingPunct="0">
        <a:spcBef>
          <a:spcPct val="30000"/>
        </a:spcBef>
        <a:spcAft>
          <a:spcPct val="0"/>
        </a:spcAft>
        <a:buClr>
          <a:srgbClr val="FFFF00"/>
        </a:buClr>
        <a:buFont typeface="Wingdings" panose="05000000000000000000" pitchFamily="2" charset="2"/>
        <a:buChar char="u"/>
        <a:defRPr sz="2600" b="1" kern="1200">
          <a:solidFill>
            <a:srgbClr val="FFFF00"/>
          </a:solidFill>
          <a:latin typeface="+mn-lt"/>
          <a:ea typeface="+mn-ea"/>
          <a:cs typeface="+mn-cs"/>
          <a:sym typeface="Times New Roman" panose="02020603050405020304" pitchFamily="18" charset="0"/>
        </a:defRPr>
      </a:lvl1pPr>
      <a:lvl2pPr marL="914400" lvl="1" indent="-457200" algn="l" defTabSz="0" rtl="0" eaLnBrk="0" fontAlgn="base" hangingPunct="0">
        <a:spcBef>
          <a:spcPct val="30000"/>
        </a:spcBef>
        <a:spcAft>
          <a:spcPct val="0"/>
        </a:spcAft>
        <a:buClr>
          <a:srgbClr val="FFFF00"/>
        </a:buClr>
        <a:buFont typeface="Wingdings" panose="05000000000000000000" pitchFamily="2" charset="2"/>
        <a:buChar char="Ø"/>
        <a:defRPr sz="2400" b="1" kern="1200">
          <a:solidFill>
            <a:srgbClr val="FFFF00"/>
          </a:solidFill>
          <a:latin typeface="+mn-lt"/>
          <a:ea typeface="+mn-ea"/>
          <a:cs typeface="+mn-cs"/>
          <a:sym typeface="Times New Roman" panose="02020603050405020304" pitchFamily="18" charset="0"/>
        </a:defRPr>
      </a:lvl2pPr>
      <a:lvl3pPr marL="1371600" lvl="2" indent="-457200" algn="l" defTabSz="0" rtl="0" eaLnBrk="0" fontAlgn="base" hangingPunct="0">
        <a:spcBef>
          <a:spcPct val="30000"/>
        </a:spcBef>
        <a:spcAft>
          <a:spcPct val="0"/>
        </a:spcAft>
        <a:buClr>
          <a:srgbClr val="FFFF00"/>
        </a:buClr>
        <a:buFont typeface="Wingdings" panose="05000000000000000000" pitchFamily="2" charset="2"/>
        <a:buChar char="ü"/>
        <a:defRPr sz="2400" b="1" kern="1200">
          <a:solidFill>
            <a:srgbClr val="FFFF00"/>
          </a:solidFill>
          <a:latin typeface="+mn-lt"/>
          <a:ea typeface="+mn-ea"/>
          <a:cs typeface="+mn-cs"/>
          <a:sym typeface="Times New Roman" panose="02020603050405020304" pitchFamily="18" charset="0"/>
        </a:defRPr>
      </a:lvl3pPr>
      <a:lvl4pPr marL="1752600" lvl="3" indent="-381000" algn="l" defTabSz="0" rtl="0" eaLnBrk="0" fontAlgn="base" hangingPunct="0">
        <a:spcBef>
          <a:spcPct val="30000"/>
        </a:spcBef>
        <a:spcAft>
          <a:spcPct val="0"/>
        </a:spcAft>
        <a:buClr>
          <a:srgbClr val="FFFF00"/>
        </a:buClr>
        <a:buFont typeface="Wingdings" panose="05000000000000000000" pitchFamily="2" charset="2"/>
        <a:defRPr sz="2400" b="1" kern="1200">
          <a:solidFill>
            <a:srgbClr val="FFFF00"/>
          </a:solidFill>
          <a:latin typeface="+mn-lt"/>
          <a:ea typeface="+mn-ea"/>
          <a:cs typeface="+mn-cs"/>
          <a:sym typeface="Times New Roman" panose="02020603050405020304" pitchFamily="18" charset="0"/>
        </a:defRPr>
      </a:lvl4pPr>
      <a:lvl5pPr marL="2209800" lvl="4" indent="-381000" algn="l" defTabSz="0" rtl="0" eaLnBrk="0" fontAlgn="base" hangingPunct="0">
        <a:spcBef>
          <a:spcPct val="30000"/>
        </a:spcBef>
        <a:spcAft>
          <a:spcPct val="0"/>
        </a:spcAft>
        <a:buClr>
          <a:srgbClr val="B4B9BE"/>
        </a:buClr>
        <a:buFont typeface="Wingdings" panose="05000000000000000000" pitchFamily="2" charset="2"/>
        <a:buChar char="l"/>
        <a:defRPr sz="2400" b="1" kern="1200">
          <a:solidFill>
            <a:srgbClr val="FFFF00"/>
          </a:solidFill>
          <a:latin typeface="+mn-lt"/>
          <a:ea typeface="+mn-ea"/>
          <a:cs typeface="+mn-cs"/>
          <a:sym typeface="Times New Roman" panose="02020603050405020304" pitchFamily="18" charset="0"/>
        </a:defRPr>
      </a:lvl5pPr>
      <a:lvl6pPr marL="2514600" lvl="5" indent="-228600" algn="l" defTabSz="0" eaLnBrk="0" fontAlgn="base" latinLnBrk="0" hangingPunct="0">
        <a:lnSpc>
          <a:spcPct val="100000"/>
        </a:lnSpc>
        <a:spcBef>
          <a:spcPct val="30000"/>
        </a:spcBef>
        <a:spcAft>
          <a:spcPct val="0"/>
        </a:spcAft>
        <a:buClr>
          <a:srgbClr val="B4B9BE"/>
        </a:buClr>
        <a:buFont typeface="Wingdings" panose="05000000000000000000" pitchFamily="2" charset="2"/>
        <a:buChar char="l"/>
        <a:defRPr sz="2400" b="1" i="0" u="none" kern="1200" baseline="0">
          <a:solidFill>
            <a:srgbClr val="FFFF00"/>
          </a:solidFill>
          <a:latin typeface="+mn-lt"/>
          <a:ea typeface="+mn-ea"/>
          <a:cs typeface="+mn-cs"/>
          <a:sym typeface="Times New Roman" panose="02020603050405020304" pitchFamily="2" charset="0"/>
        </a:defRPr>
      </a:lvl6pPr>
      <a:lvl7pPr marL="2971800" lvl="6" indent="-228600" algn="l" defTabSz="0" eaLnBrk="0" fontAlgn="base" latinLnBrk="0" hangingPunct="0">
        <a:lnSpc>
          <a:spcPct val="100000"/>
        </a:lnSpc>
        <a:spcBef>
          <a:spcPct val="30000"/>
        </a:spcBef>
        <a:spcAft>
          <a:spcPct val="0"/>
        </a:spcAft>
        <a:buClr>
          <a:srgbClr val="B4B9BE"/>
        </a:buClr>
        <a:buFont typeface="Wingdings" panose="05000000000000000000" pitchFamily="2" charset="2"/>
        <a:buChar char="l"/>
        <a:defRPr sz="2400" b="1" i="0" u="none" kern="1200" baseline="0">
          <a:solidFill>
            <a:srgbClr val="FFFF00"/>
          </a:solidFill>
          <a:latin typeface="+mn-lt"/>
          <a:ea typeface="+mn-ea"/>
          <a:cs typeface="+mn-cs"/>
          <a:sym typeface="Times New Roman" panose="02020603050405020304" pitchFamily="2" charset="0"/>
        </a:defRPr>
      </a:lvl7pPr>
      <a:lvl8pPr marL="3429000" lvl="7" indent="-228600" algn="l" defTabSz="0" eaLnBrk="0" fontAlgn="base" latinLnBrk="0" hangingPunct="0">
        <a:lnSpc>
          <a:spcPct val="100000"/>
        </a:lnSpc>
        <a:spcBef>
          <a:spcPct val="30000"/>
        </a:spcBef>
        <a:spcAft>
          <a:spcPct val="0"/>
        </a:spcAft>
        <a:buClr>
          <a:srgbClr val="B4B9BE"/>
        </a:buClr>
        <a:buFont typeface="Wingdings" panose="05000000000000000000" pitchFamily="2" charset="2"/>
        <a:buChar char="l"/>
        <a:defRPr sz="2400" b="1" i="0" u="none" kern="1200" baseline="0">
          <a:solidFill>
            <a:srgbClr val="FFFF00"/>
          </a:solidFill>
          <a:latin typeface="+mn-lt"/>
          <a:ea typeface="+mn-ea"/>
          <a:cs typeface="+mn-cs"/>
          <a:sym typeface="Times New Roman" panose="02020603050405020304" pitchFamily="2" charset="0"/>
        </a:defRPr>
      </a:lvl8pPr>
      <a:lvl9pPr marL="3886200" lvl="8" indent="-228600" algn="l" defTabSz="0" eaLnBrk="0" fontAlgn="base" latinLnBrk="0" hangingPunct="0">
        <a:lnSpc>
          <a:spcPct val="100000"/>
        </a:lnSpc>
        <a:spcBef>
          <a:spcPct val="30000"/>
        </a:spcBef>
        <a:spcAft>
          <a:spcPct val="0"/>
        </a:spcAft>
        <a:buClr>
          <a:srgbClr val="B4B9BE"/>
        </a:buClr>
        <a:buFont typeface="Wingdings" panose="05000000000000000000" pitchFamily="2" charset="2"/>
        <a:buChar char="l"/>
        <a:defRPr sz="2400" b="1" i="0" u="none" kern="1200" baseline="0">
          <a:solidFill>
            <a:srgbClr val="FFFF00"/>
          </a:solidFill>
          <a:latin typeface="+mn-lt"/>
          <a:ea typeface="+mn-ea"/>
          <a:cs typeface="+mn-cs"/>
          <a:sym typeface="Times New Roman" panose="02020603050405020304" pitchFamily="2" charset="0"/>
        </a:defRPr>
      </a:lvl9pPr>
    </p:bodyStyle>
    <p:otherStyle>
      <a:lvl1pPr marL="0" lvl="0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7E128DB-3C3E-4DE0-AF81-A99BACD128F8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AB28B152-A21A-4BFE-ADD3-B1283EE575B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5B767CEC-DF96-4523-BFC6-88C3C9128B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 noProof="1" dirty="0">
                <a:latin typeface="Times New Roman" panose="02020603050405020304" pitchFamily="2" charset="0"/>
              </a:defRPr>
            </a:lvl1pPr>
          </a:lstStyle>
          <a:p>
            <a:fld id="{BB962C8B-B14F-4D97-AF65-F5344CB8AC3E}" type="datetime10">
              <a:rPr lang="zh-CN" altLang="en-US"/>
              <a:pPr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500F103A-7AE0-4BD0-BCF1-51FC52A4A4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 noProof="1" dirty="0"/>
            </a:lvl1pPr>
          </a:lstStyle>
          <a:p>
            <a:endParaRPr lang="zh-CN" altLang="en-US"/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8E9272BC-F8BE-4A82-B036-6B84702B05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 noProof="1" dirty="0">
                <a:latin typeface="Times New Roman" panose="02020603050405020304" pitchFamily="2" charset="0"/>
                <a:cs typeface="+mn-ea"/>
              </a:defRPr>
            </a:lvl1pPr>
          </a:lstStyle>
          <a:p>
            <a:fld id="{64077FBE-FFD7-486C-8CA1-3AD0B9852922}" type="slidenum">
              <a:rPr lang="zh-CN" altLang="en-US"/>
              <a:pPr/>
              <a:t>‹#›</a:t>
            </a:fld>
            <a:endParaRPr lang="zh-CN" altLang="en-US">
              <a:latin typeface="Times New Roman" panose="02020603050405020304" pitchFamily="18" charset="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3" r:id="rId2"/>
    <p:sldLayoutId id="2147483712" r:id="rId3"/>
    <p:sldLayoutId id="2147483711" r:id="rId4"/>
    <p:sldLayoutId id="2147483710" r:id="rId5"/>
    <p:sldLayoutId id="2147483709" r:id="rId6"/>
    <p:sldLayoutId id="2147483708" r:id="rId7"/>
    <p:sldLayoutId id="2147483707" r:id="rId8"/>
    <p:sldLayoutId id="2147483706" r:id="rId9"/>
    <p:sldLayoutId id="2147483705" r:id="rId10"/>
    <p:sldLayoutId id="2147483704" r:id="rId11"/>
  </p:sldLayoutIdLst>
  <p:transition spd="slow"/>
  <p:hf sldNum="0" hdr="0" ftr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8">
            <a:extLst>
              <a:ext uri="{FF2B5EF4-FFF2-40B4-BE49-F238E27FC236}">
                <a16:creationId xmlns:a16="http://schemas.microsoft.com/office/drawing/2014/main" id="{509371B6-BD78-4DCF-A602-9802B13AD3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pPr algn="just" eaLnBrk="0" hangingPunct="0"/>
            <a:endParaRPr lang="zh-CN" altLang="en-US" sz="2400">
              <a:solidFill>
                <a:srgbClr val="FFFFFF"/>
              </a:solidFill>
              <a:sym typeface="Times New Roman" panose="02020603050405020304" pitchFamily="18" charset="0"/>
            </a:endParaRPr>
          </a:p>
        </p:txBody>
      </p:sp>
      <p:sp>
        <p:nvSpPr>
          <p:cNvPr id="5122" name="Rectangle 9">
            <a:extLst>
              <a:ext uri="{FF2B5EF4-FFF2-40B4-BE49-F238E27FC236}">
                <a16:creationId xmlns:a16="http://schemas.microsoft.com/office/drawing/2014/main" id="{7918CDCB-EF3F-48AA-92CC-2DBC9942E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altLang="zh-CN" sz="1000" b="1" i="1">
                <a:solidFill>
                  <a:srgbClr val="000000"/>
                </a:solidFill>
                <a:sym typeface="Times New Roman" panose="02020603050405020304" pitchFamily="18" charset="0"/>
              </a:rPr>
              <a:t>M/</a:t>
            </a:r>
            <a:endParaRPr lang="en-US" altLang="zh-CN" sz="2400"/>
          </a:p>
        </p:txBody>
      </p:sp>
      <p:sp>
        <p:nvSpPr>
          <p:cNvPr id="5123" name="Rectangle 10">
            <a:extLst>
              <a:ext uri="{FF2B5EF4-FFF2-40B4-BE49-F238E27FC236}">
                <a16:creationId xmlns:a16="http://schemas.microsoft.com/office/drawing/2014/main" id="{5136B442-6CD9-4D09-B30F-3032C13A28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90500"/>
            <a:ext cx="9144000" cy="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zh-CN" altLang="en-US" sz="1100" b="1" i="1">
                <a:latin typeface="Arial" panose="020B0604020202020204" pitchFamily="34" charset="0"/>
                <a:sym typeface="Arial" panose="020B0604020202020204" pitchFamily="34" charset="0"/>
              </a:rPr>
              <a:t> </a:t>
            </a:r>
            <a:endParaRPr lang="zh-CN" altLang="en-US" sz="2400"/>
          </a:p>
        </p:txBody>
      </p:sp>
      <p:sp>
        <p:nvSpPr>
          <p:cNvPr id="4100" name="标题 1">
            <a:extLst>
              <a:ext uri="{FF2B5EF4-FFF2-40B4-BE49-F238E27FC236}">
                <a16:creationId xmlns:a16="http://schemas.microsoft.com/office/drawing/2014/main" id="{756A24CB-669C-479F-8EAE-BE93B31F9B60}"/>
              </a:ext>
            </a:extLst>
          </p:cNvPr>
          <p:cNvSpPr>
            <a:spLocks noGrp="1"/>
          </p:cNvSpPr>
          <p:nvPr/>
        </p:nvSpPr>
        <p:spPr>
          <a:xfrm>
            <a:off x="260350" y="1028700"/>
            <a:ext cx="8534400" cy="48895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ctr" eaLnBrk="0" hangingPunct="0"/>
            <a:endParaRPr lang="zh-CN" altLang="en-US" sz="3600" b="1" noProof="1">
              <a:solidFill>
                <a:srgbClr val="FFFF00"/>
              </a:solidFill>
              <a:latin typeface="Times New Roman" panose="02020603050405020304" pitchFamily="2" charset="0"/>
              <a:sym typeface="Times New Roman" panose="02020603050405020304" pitchFamily="2" charset="0"/>
            </a:endParaRPr>
          </a:p>
          <a:p>
            <a:pPr algn="ctr" eaLnBrk="0" hangingPunct="0"/>
            <a:r>
              <a:rPr lang="zh-CN" altLang="en-US" sz="4800" b="1" noProof="1">
                <a:solidFill>
                  <a:schemeClr val="accent1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方正姚体" panose="02010601030101010101" pitchFamily="2" charset="-122"/>
                <a:ea typeface="方正姚体" panose="02010601030101010101" pitchFamily="2" charset="-122"/>
                <a:cs typeface="+mn-ea"/>
                <a:sym typeface="方正姚体" panose="02010601030101010101" pitchFamily="2" charset="-122"/>
              </a:rPr>
              <a:t>第3章</a:t>
            </a:r>
            <a:endParaRPr lang="zh-CN" altLang="en-US" sz="4000" b="1" noProof="1">
              <a:solidFill>
                <a:srgbClr val="FFC000"/>
              </a:solidFill>
              <a:latin typeface="方正姚体" panose="02010601030101010101" pitchFamily="2" charset="-122"/>
              <a:ea typeface="方正姚体" panose="02010601030101010101" pitchFamily="2" charset="-122"/>
              <a:sym typeface="方正姚体" panose="02010601030101010101" pitchFamily="2" charset="-122"/>
            </a:endParaRPr>
          </a:p>
          <a:p>
            <a:pPr algn="ctr">
              <a:spcBef>
                <a:spcPts val="2400"/>
              </a:spcBef>
              <a:spcAft>
                <a:spcPts val="2400"/>
              </a:spcAft>
            </a:pPr>
            <a:r>
              <a:rPr lang="en-US" altLang="x-none" sz="4800" b="1" noProof="1">
                <a:solidFill>
                  <a:srgbClr val="0033CC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2" charset="0"/>
                <a:ea typeface="华文中宋" panose="02010600040101010101" pitchFamily="2" charset="-122"/>
                <a:cs typeface="+mn-ea"/>
                <a:sym typeface="Times New Roman" panose="02020603050405020304" pitchFamily="2" charset="0"/>
              </a:rPr>
              <a:t>8086的寻址方式和指令系统</a:t>
            </a:r>
          </a:p>
          <a:p>
            <a:pPr algn="ctr">
              <a:spcBef>
                <a:spcPts val="2400"/>
              </a:spcBef>
              <a:spcAft>
                <a:spcPts val="2400"/>
              </a:spcAft>
            </a:pPr>
            <a:r>
              <a:rPr lang="en-US" altLang="x-none" sz="4000" b="1" noProof="1">
                <a:solidFill>
                  <a:srgbClr val="CC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2" charset="0"/>
                <a:ea typeface="华文中宋" panose="02010600040101010101" pitchFamily="2" charset="-122"/>
                <a:cs typeface="+mn-ea"/>
                <a:sym typeface="+mn-ea"/>
              </a:rPr>
              <a:t>PART2 </a:t>
            </a:r>
            <a:r>
              <a:rPr lang="zh-CN" altLang="en-US" sz="4000" b="1" noProof="1">
                <a:solidFill>
                  <a:srgbClr val="CC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2" charset="0"/>
                <a:ea typeface="华文中宋" panose="02010600040101010101" pitchFamily="2" charset="-122"/>
                <a:cs typeface="+mn-ea"/>
                <a:sym typeface="+mn-ea"/>
              </a:rPr>
              <a:t>指令系统（二）</a:t>
            </a:r>
            <a:endParaRPr lang="en-US" altLang="zh-CN" sz="4000" b="1" noProof="1">
              <a:solidFill>
                <a:srgbClr val="CC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2" charset="0"/>
              <a:ea typeface="华文中宋" panose="02010600040101010101" pitchFamily="2" charset="-122"/>
              <a:cs typeface="+mn-ea"/>
              <a:sym typeface="+mn-ea"/>
            </a:endParaRPr>
          </a:p>
          <a:p>
            <a:pPr algn="ctr">
              <a:spcBef>
                <a:spcPts val="2400"/>
              </a:spcBef>
              <a:spcAft>
                <a:spcPts val="2400"/>
              </a:spcAft>
            </a:pPr>
            <a:endParaRPr lang="en-US" altLang="x-none" sz="4800" b="1" noProof="1">
              <a:solidFill>
                <a:srgbClr val="0033CC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2" charset="0"/>
              <a:ea typeface="华文中宋" panose="02010600040101010101" pitchFamily="2" charset="-122"/>
              <a:cs typeface="+mn-ea"/>
            </a:endParaRPr>
          </a:p>
        </p:txBody>
      </p:sp>
      <p:sp>
        <p:nvSpPr>
          <p:cNvPr id="5125" name="日期占位符 1">
            <a:extLst>
              <a:ext uri="{FF2B5EF4-FFF2-40B4-BE49-F238E27FC236}">
                <a16:creationId xmlns:a16="http://schemas.microsoft.com/office/drawing/2014/main" id="{AB816825-71E9-4D04-AEE5-5EA2CB889058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2DDC700F-C3FD-4B77-A314-11C1ADF75C96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circl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标题 1">
            <a:extLst>
              <a:ext uri="{FF2B5EF4-FFF2-40B4-BE49-F238E27FC236}">
                <a16:creationId xmlns:a16="http://schemas.microsoft.com/office/drawing/2014/main" id="{57929FCF-A8E4-4341-A437-BE666023C95A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0" y="628650"/>
            <a:ext cx="8534400" cy="1466850"/>
          </a:xfrm>
        </p:spPr>
        <p:txBody>
          <a:bodyPr anchor="ctr"/>
          <a:lstStyle/>
          <a:p>
            <a:r>
              <a:rPr lang="en-US" altLang="zh-CN" sz="4800">
                <a:solidFill>
                  <a:schemeClr val="accent2"/>
                </a:solidFill>
              </a:rPr>
              <a:t>§3.3  8086</a:t>
            </a:r>
            <a:r>
              <a:rPr lang="zh-CN" altLang="en-US" sz="4800">
                <a:solidFill>
                  <a:schemeClr val="accent2"/>
                </a:solidFill>
              </a:rPr>
              <a:t>的指令系统</a:t>
            </a:r>
            <a:endParaRPr lang="zh-CN" altLang="en-US" sz="4400">
              <a:solidFill>
                <a:schemeClr val="accent2"/>
              </a:solidFill>
            </a:endParaRPr>
          </a:p>
        </p:txBody>
      </p:sp>
      <p:sp>
        <p:nvSpPr>
          <p:cNvPr id="6146" name="矩形 4">
            <a:extLst>
              <a:ext uri="{FF2B5EF4-FFF2-40B4-BE49-F238E27FC236}">
                <a16:creationId xmlns:a16="http://schemas.microsoft.com/office/drawing/2014/main" id="{737F924F-C2FA-4EA1-AE3F-8CBCB9235D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3850" y="2095500"/>
            <a:ext cx="6356350" cy="380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>
              <a:spcBef>
                <a:spcPts val="600"/>
              </a:spcBef>
            </a:pPr>
            <a:r>
              <a:rPr lang="en-US" altLang="zh-CN" sz="3600" b="1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3.3.1  </a:t>
            </a:r>
            <a:r>
              <a:rPr lang="zh-CN" altLang="en-US" sz="3600" b="1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数据传送指令</a:t>
            </a:r>
          </a:p>
          <a:p>
            <a:pPr algn="just" eaLnBrk="0" hangingPunct="0">
              <a:spcBef>
                <a:spcPts val="600"/>
              </a:spcBef>
            </a:pPr>
            <a:r>
              <a:rPr lang="en-US" altLang="zh-CN" sz="3600" b="1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3.3.2  </a:t>
            </a:r>
            <a:r>
              <a:rPr lang="zh-CN" altLang="en-US" sz="3600" b="1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算术运算指令</a:t>
            </a:r>
          </a:p>
          <a:p>
            <a:pPr algn="just" eaLnBrk="0" hangingPunct="0">
              <a:spcBef>
                <a:spcPts val="600"/>
              </a:spcBef>
            </a:pPr>
            <a:r>
              <a:rPr lang="en-US" altLang="zh-CN" sz="3600" b="1">
                <a:solidFill>
                  <a:srgbClr val="CC3300"/>
                </a:solidFill>
                <a:ea typeface="楷体_GB2312" pitchFamily="1" charset="-122"/>
                <a:sym typeface="Times New Roman" panose="02020603050405020304" pitchFamily="18" charset="0"/>
              </a:rPr>
              <a:t>3.3.3  </a:t>
            </a:r>
            <a:r>
              <a:rPr lang="zh-CN" altLang="en-US" sz="3600" b="1">
                <a:solidFill>
                  <a:srgbClr val="CC3300"/>
                </a:solidFill>
                <a:ea typeface="楷体_GB2312" pitchFamily="1" charset="-122"/>
                <a:sym typeface="Times New Roman" panose="02020603050405020304" pitchFamily="18" charset="0"/>
              </a:rPr>
              <a:t>逻辑运算和移位指令</a:t>
            </a:r>
          </a:p>
          <a:p>
            <a:pPr algn="just" eaLnBrk="0" hangingPunct="0">
              <a:spcBef>
                <a:spcPts val="600"/>
              </a:spcBef>
            </a:pPr>
            <a:r>
              <a:rPr lang="en-US" altLang="zh-CN" sz="3600" b="1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3.3.4  </a:t>
            </a:r>
            <a:r>
              <a:rPr lang="zh-CN" altLang="en-US" sz="3600" b="1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字符串处理指令</a:t>
            </a:r>
          </a:p>
          <a:p>
            <a:pPr algn="just" eaLnBrk="0" hangingPunct="0">
              <a:spcBef>
                <a:spcPts val="600"/>
              </a:spcBef>
            </a:pPr>
            <a:r>
              <a:rPr lang="en-US" altLang="zh-CN" sz="3600" b="1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3.3.5  </a:t>
            </a:r>
            <a:r>
              <a:rPr lang="zh-CN" altLang="en-US" sz="3600" b="1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控制转移指令</a:t>
            </a:r>
          </a:p>
          <a:p>
            <a:pPr algn="just" eaLnBrk="0" hangingPunct="0">
              <a:spcBef>
                <a:spcPts val="600"/>
              </a:spcBef>
            </a:pPr>
            <a:r>
              <a:rPr lang="en-US" altLang="zh-CN" sz="3600" b="1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3.3.6  </a:t>
            </a:r>
            <a:r>
              <a:rPr lang="zh-CN" altLang="en-US" sz="3600" b="1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处理器控制指令</a:t>
            </a:r>
            <a:endParaRPr lang="en-US" altLang="zh-CN" sz="2400">
              <a:solidFill>
                <a:srgbClr val="008000"/>
              </a:solidFill>
            </a:endParaRPr>
          </a:p>
        </p:txBody>
      </p:sp>
      <p:sp>
        <p:nvSpPr>
          <p:cNvPr id="6147" name="日期占位符 1">
            <a:extLst>
              <a:ext uri="{FF2B5EF4-FFF2-40B4-BE49-F238E27FC236}">
                <a16:creationId xmlns:a16="http://schemas.microsoft.com/office/drawing/2014/main" id="{87B8B626-1871-46FC-80BA-078E82E7CA5E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0D8FCF15-7496-4FE8-A1F5-E918FD12E2DB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edg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标题 1">
            <a:extLst>
              <a:ext uri="{FF2B5EF4-FFF2-40B4-BE49-F238E27FC236}">
                <a16:creationId xmlns:a16="http://schemas.microsoft.com/office/drawing/2014/main" id="{D1C9E4E6-96B4-4913-AB79-F092BB9AE520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en-US" altLang="zh-CN" sz="3600" b="1" dirty="0">
                <a:solidFill>
                  <a:srgbClr val="FF0066"/>
                </a:solidFill>
                <a:ea typeface="楷体_GB2312" pitchFamily="1" charset="-122"/>
              </a:rPr>
              <a:t>3.3.3  </a:t>
            </a:r>
            <a:r>
              <a:rPr lang="zh-CN" altLang="en-US" sz="3600" b="1" dirty="0">
                <a:solidFill>
                  <a:srgbClr val="FF0066"/>
                </a:solidFill>
                <a:ea typeface="楷体_GB2312" pitchFamily="1" charset="-122"/>
              </a:rPr>
              <a:t>逻辑运算和移位指令</a:t>
            </a:r>
            <a:endParaRPr lang="zh-CN" altLang="en-US" sz="4400" b="1" dirty="0">
              <a:solidFill>
                <a:srgbClr val="FF0066"/>
              </a:solidFill>
            </a:endParaRPr>
          </a:p>
        </p:txBody>
      </p:sp>
      <p:sp>
        <p:nvSpPr>
          <p:cNvPr id="39939" name="内容占位符 2">
            <a:extLst>
              <a:ext uri="{FF2B5EF4-FFF2-40B4-BE49-F238E27FC236}">
                <a16:creationId xmlns:a16="http://schemas.microsoft.com/office/drawing/2014/main" id="{F45F22DA-867B-4DA5-A056-9C54F529472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1312863"/>
            <a:ext cx="8372475" cy="5372100"/>
          </a:xfrm>
        </p:spPr>
        <p:txBody>
          <a:bodyPr/>
          <a:lstStyle/>
          <a:p>
            <a:pPr marL="458788" indent="-457200" algn="l" eaLnBrk="1" hangingPunct="1">
              <a:buFont typeface="Arial" panose="020B0604020202020204" pitchFamily="34" charset="0"/>
              <a:buChar char="•"/>
              <a:defRPr/>
            </a:pPr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1" charset="-122"/>
              </a:rPr>
              <a:t>学习前先提几个问题，学完要能回答：</a:t>
            </a:r>
            <a:r>
              <a:rPr lang="en-US" altLang="zh-CN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       </a:t>
            </a:r>
          </a:p>
          <a:p>
            <a:pPr marL="458788" indent="-457200" algn="l" eaLnBrk="1" hangingPunct="1">
              <a:buFont typeface="Arial" panose="020B0604020202020204" pitchFamily="34" charset="0"/>
              <a:buChar char="•"/>
              <a:defRPr/>
            </a:pPr>
            <a:endParaRPr lang="en-US" altLang="zh-CN" sz="2600" dirty="0">
              <a:solidFill>
                <a:srgbClr val="0070C0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marL="1588" algn="l" eaLnBrk="1" hangingPunct="1">
              <a:defRPr/>
            </a:pPr>
            <a:r>
              <a:rPr lang="en-US" altLang="zh-CN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       1</a:t>
            </a:r>
            <a:r>
              <a:rPr lang="zh-CN" altLang="en-US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）如何对一个</a:t>
            </a:r>
            <a:r>
              <a:rPr lang="en-US" altLang="zh-CN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8</a:t>
            </a:r>
            <a:r>
              <a:rPr lang="zh-CN" altLang="en-US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位的操作数进行：按位清零、按位置一和按位取反？</a:t>
            </a:r>
            <a:endParaRPr lang="en-US" altLang="zh-CN" sz="2600" dirty="0">
              <a:solidFill>
                <a:srgbClr val="0070C0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marL="1588" algn="l">
              <a:defRPr/>
            </a:pPr>
            <a:r>
              <a:rPr lang="en-US" altLang="zh-CN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       2</a:t>
            </a:r>
            <a:r>
              <a:rPr lang="zh-CN" altLang="en-US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）程序初始化之前，常常会对</a:t>
            </a:r>
            <a:r>
              <a:rPr lang="en-US" altLang="zh-CN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AX</a:t>
            </a:r>
            <a:r>
              <a:rPr lang="zh-CN" altLang="en-US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寄存器清零，一般会用：</a:t>
            </a:r>
            <a:r>
              <a:rPr lang="en-US" altLang="zh-CN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XOR AX,AX </a:t>
            </a:r>
            <a:r>
              <a:rPr lang="zh-CN" altLang="en-US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，而不是采用：</a:t>
            </a:r>
            <a:r>
              <a:rPr lang="en-US" altLang="zh-CN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MOV AX,0H</a:t>
            </a:r>
            <a:r>
              <a:rPr lang="zh-CN" altLang="en-US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，为什么呢？</a:t>
            </a:r>
            <a:r>
              <a:rPr lang="en-US" altLang="zh-CN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      </a:t>
            </a:r>
          </a:p>
          <a:p>
            <a:pPr marL="1588" algn="l">
              <a:defRPr/>
            </a:pPr>
            <a:r>
              <a:rPr lang="en-US" altLang="zh-CN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       3</a:t>
            </a:r>
            <a:r>
              <a:rPr lang="zh-CN" altLang="en-US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）算术移位和逻辑移位有何差别？为什么算术右移要这么设计？和补码有什么关系？</a:t>
            </a:r>
            <a:endParaRPr lang="en-US" altLang="zh-CN" sz="2600" dirty="0">
              <a:solidFill>
                <a:srgbClr val="0070C0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marL="1588" algn="l">
              <a:defRPr/>
            </a:pPr>
            <a:r>
              <a:rPr lang="en-US" altLang="zh-CN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       4)	TEST </a:t>
            </a:r>
            <a:r>
              <a:rPr lang="zh-CN" altLang="en-US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指令通常在什么情况下使用？</a:t>
            </a:r>
            <a:endParaRPr lang="en-US" altLang="zh-CN" sz="2600" dirty="0">
              <a:solidFill>
                <a:srgbClr val="0070C0"/>
              </a:solidFill>
              <a:latin typeface="Times New Roman" panose="02020603050405020304" pitchFamily="18" charset="0"/>
              <a:ea typeface="楷体_GB2312" pitchFamily="1" charset="-122"/>
            </a:endParaRPr>
          </a:p>
        </p:txBody>
      </p:sp>
    </p:spTree>
  </p:cSld>
  <p:clrMapOvr>
    <a:masterClrMapping/>
  </p:clrMapOvr>
  <p:transition spd="slow">
    <p:strips dir="l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标题 1">
            <a:extLst>
              <a:ext uri="{FF2B5EF4-FFF2-40B4-BE49-F238E27FC236}">
                <a16:creationId xmlns:a16="http://schemas.microsoft.com/office/drawing/2014/main" id="{9C5CD5E2-B3FC-4660-8031-33215342DBFA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en-US" altLang="zh-CN" sz="3600" b="1" dirty="0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3.3.3  </a:t>
            </a:r>
            <a:r>
              <a:rPr lang="zh-CN" altLang="en-US" sz="3600" b="1" dirty="0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逻辑运算和移位指令</a:t>
            </a:r>
            <a:endParaRPr lang="zh-CN" altLang="en-US" sz="4400" b="1" dirty="0">
              <a:solidFill>
                <a:schemeClr val="accent2"/>
              </a:solidFill>
            </a:endParaRPr>
          </a:p>
        </p:txBody>
      </p:sp>
      <p:sp>
        <p:nvSpPr>
          <p:cNvPr id="6147" name="内容占位符 4">
            <a:extLst>
              <a:ext uri="{FF2B5EF4-FFF2-40B4-BE49-F238E27FC236}">
                <a16:creationId xmlns:a16="http://schemas.microsoft.com/office/drawing/2014/main" id="{475F056D-7756-4C06-915B-2C204A29154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1314450"/>
            <a:ext cx="3240087" cy="2514600"/>
          </a:xfrm>
        </p:spPr>
        <p:txBody>
          <a:bodyPr/>
          <a:lstStyle/>
          <a:p>
            <a:pPr algn="l"/>
            <a:r>
              <a:rPr lang="zh-CN" altLang="en-US" sz="2800">
                <a:latin typeface="Times New Roman" panose="02020603050405020304" pitchFamily="18" charset="0"/>
              </a:rPr>
              <a:t>逻辑运算和移位指令，对字节或字操作数进行</a:t>
            </a:r>
            <a:r>
              <a:rPr lang="zh-CN" altLang="en-US" sz="2800" b="1">
                <a:solidFill>
                  <a:srgbClr val="CC3300"/>
                </a:solidFill>
                <a:latin typeface="Times New Roman" panose="02020603050405020304" pitchFamily="18" charset="0"/>
              </a:rPr>
              <a:t>按位操作</a:t>
            </a:r>
            <a:r>
              <a:rPr lang="zh-CN" altLang="en-US" sz="2800">
                <a:latin typeface="Times New Roman" panose="02020603050405020304" pitchFamily="18" charset="0"/>
              </a:rPr>
              <a:t>，见表</a:t>
            </a:r>
            <a:r>
              <a:rPr lang="en-US" altLang="zh-CN" sz="2800">
                <a:latin typeface="Times New Roman" panose="02020603050405020304" pitchFamily="18" charset="0"/>
              </a:rPr>
              <a:t>3.7</a:t>
            </a:r>
          </a:p>
          <a:p>
            <a:pPr algn="l"/>
            <a:endParaRPr lang="zh-CN" altLang="en-US" sz="3200"/>
          </a:p>
        </p:txBody>
      </p:sp>
      <p:pic>
        <p:nvPicPr>
          <p:cNvPr id="6148" name="Picture 2">
            <a:extLst>
              <a:ext uri="{FF2B5EF4-FFF2-40B4-BE49-F238E27FC236}">
                <a16:creationId xmlns:a16="http://schemas.microsoft.com/office/drawing/2014/main" id="{A6FAA5E9-356E-4DE5-8224-B6B050847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06825" y="1133475"/>
            <a:ext cx="4262438" cy="5467350"/>
          </a:xfrm>
          <a:prstGeom prst="rect">
            <a:avLst/>
          </a:prstGeom>
          <a:noFill/>
          <a:ln w="38100" cap="sq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172" name="Rectangle 15">
            <a:extLst>
              <a:ext uri="{FF2B5EF4-FFF2-40B4-BE49-F238E27FC236}">
                <a16:creationId xmlns:a16="http://schemas.microsoft.com/office/drawing/2014/main" id="{FA38E3E5-80A2-4364-9BAA-B46040E7F8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2288" y="3294063"/>
            <a:ext cx="2968625" cy="2606675"/>
          </a:xfrm>
          <a:prstGeom prst="rect">
            <a:avLst/>
          </a:prstGeom>
          <a:pattFill prst="pct5">
            <a:fgClr>
              <a:srgbClr val="FFC000"/>
            </a:fgClr>
            <a:bgClr>
              <a:schemeClr val="bg1"/>
            </a:bgClr>
          </a:patt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tIns="0" anchor="ctr">
            <a:spAutoFit/>
          </a:bodyPr>
          <a:lstStyle/>
          <a:p>
            <a:r>
              <a:rPr lang="zh-CN" altLang="en-US" sz="2400" b="1">
                <a:solidFill>
                  <a:srgbClr val="0000FF"/>
                </a:solidFill>
                <a:latin typeface="Garamond" panose="02020404030301010803" pitchFamily="18" charset="0"/>
              </a:rPr>
              <a:t>记住下面几个单词</a:t>
            </a:r>
          </a:p>
          <a:p>
            <a:r>
              <a:rPr lang="en-US" altLang="zh-CN" sz="2400" b="1">
                <a:solidFill>
                  <a:srgbClr val="FF0000"/>
                </a:solidFill>
                <a:latin typeface="Garamond" panose="02020404030301010803" pitchFamily="18" charset="0"/>
              </a:rPr>
              <a:t>A</a:t>
            </a:r>
            <a:r>
              <a:rPr lang="en-US" altLang="zh-CN" sz="2400" b="1">
                <a:latin typeface="Garamond" panose="02020404030301010803" pitchFamily="18" charset="0"/>
              </a:rPr>
              <a:t>rithmetic</a:t>
            </a:r>
            <a:r>
              <a:rPr lang="zh-CN" altLang="en-US" sz="2400" b="1">
                <a:latin typeface="Garamond" panose="02020404030301010803" pitchFamily="18" charset="0"/>
              </a:rPr>
              <a:t>：算术</a:t>
            </a:r>
          </a:p>
          <a:p>
            <a:r>
              <a:rPr lang="en-US" altLang="zh-CN" sz="2400" b="1">
                <a:solidFill>
                  <a:srgbClr val="FF0000"/>
                </a:solidFill>
                <a:latin typeface="Garamond" panose="02020404030301010803" pitchFamily="18" charset="0"/>
              </a:rPr>
              <a:t>L</a:t>
            </a:r>
            <a:r>
              <a:rPr lang="en-US" altLang="zh-CN" sz="2400" b="1">
                <a:latin typeface="Garamond" panose="02020404030301010803" pitchFamily="18" charset="0"/>
              </a:rPr>
              <a:t>ogic</a:t>
            </a:r>
            <a:r>
              <a:rPr lang="zh-CN" altLang="en-US" sz="2400" b="1">
                <a:latin typeface="Garamond" panose="02020404030301010803" pitchFamily="18" charset="0"/>
              </a:rPr>
              <a:t>：逻辑</a:t>
            </a:r>
          </a:p>
          <a:p>
            <a:r>
              <a:rPr lang="en-US" altLang="zh-CN" sz="2400" b="1">
                <a:solidFill>
                  <a:srgbClr val="FF0000"/>
                </a:solidFill>
                <a:latin typeface="Garamond" panose="02020404030301010803" pitchFamily="18" charset="0"/>
              </a:rPr>
              <a:t>RO</a:t>
            </a:r>
            <a:r>
              <a:rPr lang="en-US" altLang="zh-CN" sz="2400" b="1">
                <a:latin typeface="Garamond" panose="02020404030301010803" pitchFamily="18" charset="0"/>
              </a:rPr>
              <a:t>tate</a:t>
            </a:r>
            <a:r>
              <a:rPr lang="zh-CN" altLang="en-US" sz="2400" b="1">
                <a:latin typeface="Garamond" panose="02020404030301010803" pitchFamily="18" charset="0"/>
              </a:rPr>
              <a:t>：循环</a:t>
            </a:r>
          </a:p>
          <a:p>
            <a:r>
              <a:rPr lang="en-US" altLang="zh-CN" sz="2400" b="1">
                <a:solidFill>
                  <a:srgbClr val="FF0000"/>
                </a:solidFill>
                <a:latin typeface="Garamond" panose="02020404030301010803" pitchFamily="18" charset="0"/>
              </a:rPr>
              <a:t>SH</a:t>
            </a:r>
            <a:r>
              <a:rPr lang="en-US" altLang="zh-CN" sz="2400" b="1">
                <a:latin typeface="Garamond" panose="02020404030301010803" pitchFamily="18" charset="0"/>
              </a:rPr>
              <a:t>ift</a:t>
            </a:r>
            <a:r>
              <a:rPr lang="zh-CN" altLang="en-US" sz="2400" b="1">
                <a:latin typeface="Garamond" panose="02020404030301010803" pitchFamily="18" charset="0"/>
              </a:rPr>
              <a:t>：移位</a:t>
            </a:r>
          </a:p>
          <a:p>
            <a:r>
              <a:rPr lang="en-US" altLang="zh-CN" sz="2400" b="1">
                <a:solidFill>
                  <a:srgbClr val="FF0000"/>
                </a:solidFill>
                <a:latin typeface="Garamond" panose="02020404030301010803" pitchFamily="18" charset="0"/>
              </a:rPr>
              <a:t>L</a:t>
            </a:r>
            <a:r>
              <a:rPr lang="en-US" altLang="zh-CN" sz="2400" b="1">
                <a:latin typeface="Garamond" panose="02020404030301010803" pitchFamily="18" charset="0"/>
              </a:rPr>
              <a:t>eft</a:t>
            </a:r>
            <a:r>
              <a:rPr lang="zh-CN" altLang="en-US" sz="2400" b="1">
                <a:latin typeface="Garamond" panose="02020404030301010803" pitchFamily="18" charset="0"/>
              </a:rPr>
              <a:t>：左</a:t>
            </a:r>
          </a:p>
          <a:p>
            <a:r>
              <a:rPr lang="en-US" altLang="zh-CN" sz="2400" b="1">
                <a:solidFill>
                  <a:srgbClr val="FF0000"/>
                </a:solidFill>
                <a:latin typeface="Garamond" panose="02020404030301010803" pitchFamily="18" charset="0"/>
              </a:rPr>
              <a:t>R</a:t>
            </a:r>
            <a:r>
              <a:rPr lang="en-US" altLang="zh-CN" sz="2400" b="1">
                <a:latin typeface="Garamond" panose="02020404030301010803" pitchFamily="18" charset="0"/>
              </a:rPr>
              <a:t>ight</a:t>
            </a:r>
            <a:r>
              <a:rPr lang="zh-CN" altLang="en-US" sz="2400" b="1">
                <a:latin typeface="Garamond" panose="02020404030301010803" pitchFamily="18" charset="0"/>
              </a:rPr>
              <a:t>：右</a:t>
            </a:r>
          </a:p>
        </p:txBody>
      </p:sp>
      <p:sp>
        <p:nvSpPr>
          <p:cNvPr id="7173" name="日期占位符 1">
            <a:extLst>
              <a:ext uri="{FF2B5EF4-FFF2-40B4-BE49-F238E27FC236}">
                <a16:creationId xmlns:a16="http://schemas.microsoft.com/office/drawing/2014/main" id="{EE8AB2F6-14CA-48AF-96C1-D7BE81C07B0A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32714B80-8D67-4BC4-8063-3ECBDF140BC4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标题 1">
            <a:extLst>
              <a:ext uri="{FF2B5EF4-FFF2-40B4-BE49-F238E27FC236}">
                <a16:creationId xmlns:a16="http://schemas.microsoft.com/office/drawing/2014/main" id="{62F511C9-674C-4772-B6D0-AC5BA6694E85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520700" y="368300"/>
            <a:ext cx="8231188" cy="674688"/>
          </a:xfrm>
        </p:spPr>
        <p:txBody>
          <a:bodyPr anchor="ctr"/>
          <a:lstStyle/>
          <a:p>
            <a:pPr algn="l"/>
            <a:r>
              <a:rPr lang="en-US" altLang="zh-CN" sz="3600" b="1">
                <a:solidFill>
                  <a:schemeClr val="accent2"/>
                </a:solidFill>
              </a:rPr>
              <a:t>1. </a:t>
            </a:r>
            <a:r>
              <a:rPr lang="zh-CN" altLang="en-US" sz="3600" b="1">
                <a:solidFill>
                  <a:schemeClr val="accent2"/>
                </a:solidFill>
              </a:rPr>
              <a:t>逻辑运算指令</a:t>
            </a:r>
            <a:r>
              <a:rPr lang="en-US" altLang="zh-CN" sz="3600" b="1">
                <a:solidFill>
                  <a:schemeClr val="accent2"/>
                </a:solidFill>
              </a:rPr>
              <a:t>  (Logical Operations)</a:t>
            </a:r>
          </a:p>
        </p:txBody>
      </p:sp>
      <p:sp>
        <p:nvSpPr>
          <p:cNvPr id="7171" name="内容占位符 2">
            <a:extLst>
              <a:ext uri="{FF2B5EF4-FFF2-40B4-BE49-F238E27FC236}">
                <a16:creationId xmlns:a16="http://schemas.microsoft.com/office/drawing/2014/main" id="{8FF2B1A4-98BC-4567-BC09-6BCD005401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0850" y="1250950"/>
            <a:ext cx="8372475" cy="5175250"/>
          </a:xfrm>
        </p:spPr>
        <p:txBody>
          <a:bodyPr/>
          <a:lstStyle/>
          <a:p>
            <a:pPr algn="l"/>
            <a:r>
              <a:rPr lang="en-US" altLang="x-none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1) NOT   </a:t>
            </a:r>
            <a:r>
              <a:rPr lang="zh-CN" altLang="en-US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取反指令</a:t>
            </a:r>
            <a:r>
              <a:rPr lang="en-US" altLang="x-none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 (Logical Not)</a:t>
            </a:r>
          </a:p>
          <a:p>
            <a:pPr algn="l"/>
            <a:r>
              <a:rPr lang="zh-CN" altLang="en-US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格式</a:t>
            </a:r>
            <a:r>
              <a:rPr lang="zh-CN" altLang="en-US" sz="2800" noProof="1">
                <a:latin typeface="Times New Roman" panose="02020603050405020304" pitchFamily="2" charset="0"/>
              </a:rPr>
              <a:t>：</a:t>
            </a:r>
            <a:r>
              <a:rPr lang="en-US" altLang="x-none" sz="2800" noProof="1">
                <a:latin typeface="Times New Roman" panose="02020603050405020304" pitchFamily="2" charset="0"/>
              </a:rPr>
              <a:t> </a:t>
            </a:r>
            <a:r>
              <a:rPr lang="en-US" altLang="x-none" sz="2800" noProof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2" charset="0"/>
              </a:rPr>
              <a:t>NOT  </a:t>
            </a:r>
            <a:r>
              <a:rPr lang="zh-CN" altLang="en-US" sz="2800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2" charset="0"/>
              </a:rPr>
              <a:t>目的操作数</a:t>
            </a:r>
          </a:p>
          <a:p>
            <a:pPr algn="l"/>
            <a:r>
              <a:rPr lang="zh-CN" altLang="en-US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功能</a:t>
            </a:r>
            <a:r>
              <a:rPr lang="zh-CN" altLang="en-US" sz="2800" noProof="1">
                <a:latin typeface="Times New Roman" panose="02020603050405020304" pitchFamily="2" charset="0"/>
              </a:rPr>
              <a:t>：</a:t>
            </a:r>
            <a:r>
              <a:rPr lang="zh-CN" altLang="en-US" sz="2800" noProof="1">
                <a:solidFill>
                  <a:srgbClr val="FF0000"/>
                </a:solidFill>
                <a:latin typeface="Times New Roman" panose="02020603050405020304" pitchFamily="2" charset="0"/>
              </a:rPr>
              <a:t>目的</a:t>
            </a:r>
            <a:r>
              <a:rPr lang="en-US" altLang="x-none" sz="2800" noProof="1">
                <a:latin typeface="Times New Roman" panose="02020603050405020304" pitchFamily="2" charset="0"/>
              </a:rPr>
              <a:t>←</a:t>
            </a:r>
            <a:r>
              <a:rPr lang="zh-CN" altLang="en-US" sz="2800" noProof="1">
                <a:solidFill>
                  <a:srgbClr val="0000FF"/>
                </a:solidFill>
                <a:latin typeface="Times New Roman" panose="02020603050405020304" pitchFamily="2" charset="0"/>
              </a:rPr>
              <a:t>目的操作数</a:t>
            </a:r>
            <a:r>
              <a:rPr lang="zh-CN" altLang="en-US" sz="2800" b="1" noProof="1">
                <a:solidFill>
                  <a:srgbClr val="FF0000"/>
                </a:solidFill>
                <a:latin typeface="Times New Roman" panose="02020603050405020304" pitchFamily="2" charset="0"/>
              </a:rPr>
              <a:t>按位取反</a:t>
            </a:r>
          </a:p>
          <a:p>
            <a:pPr algn="l"/>
            <a:r>
              <a:rPr lang="zh-CN" altLang="en-US" sz="2800" noProof="1">
                <a:latin typeface="Times New Roman" panose="02020603050405020304" pitchFamily="2" charset="0"/>
              </a:rPr>
              <a:t>目的操作数可以是</a:t>
            </a:r>
            <a:r>
              <a:rPr lang="en-US" altLang="x-none" sz="2800" noProof="1">
                <a:latin typeface="Times New Roman" panose="02020603050405020304" pitchFamily="2" charset="0"/>
              </a:rPr>
              <a:t>8</a:t>
            </a:r>
            <a:r>
              <a:rPr lang="zh-CN" altLang="en-US" sz="2800" noProof="1">
                <a:latin typeface="Times New Roman" panose="02020603050405020304" pitchFamily="2" charset="0"/>
              </a:rPr>
              <a:t>位或</a:t>
            </a:r>
            <a:r>
              <a:rPr lang="en-US" altLang="x-none" sz="2800" noProof="1">
                <a:latin typeface="Times New Roman" panose="02020603050405020304" pitchFamily="2" charset="0"/>
              </a:rPr>
              <a:t>16</a:t>
            </a:r>
            <a:r>
              <a:rPr lang="zh-CN" altLang="en-US" sz="2800" noProof="1">
                <a:latin typeface="Times New Roman" panose="02020603050405020304" pitchFamily="2" charset="0"/>
              </a:rPr>
              <a:t>位</a:t>
            </a:r>
            <a:r>
              <a:rPr lang="zh-CN" altLang="en-US" sz="2800" noProof="1">
                <a:solidFill>
                  <a:srgbClr val="0000FF"/>
                </a:solidFill>
                <a:latin typeface="Times New Roman" panose="02020603050405020304" pitchFamily="2" charset="0"/>
              </a:rPr>
              <a:t>寄存器</a:t>
            </a:r>
            <a:r>
              <a:rPr lang="zh-CN" altLang="en-US" sz="2800" noProof="1">
                <a:latin typeface="Times New Roman" panose="02020603050405020304" pitchFamily="2" charset="0"/>
              </a:rPr>
              <a:t>或</a:t>
            </a:r>
            <a:r>
              <a:rPr lang="zh-CN" altLang="en-US" sz="2800" noProof="1">
                <a:solidFill>
                  <a:srgbClr val="0000FF"/>
                </a:solidFill>
                <a:latin typeface="Times New Roman" panose="02020603050405020304" pitchFamily="2" charset="0"/>
              </a:rPr>
              <a:t>存储器</a:t>
            </a:r>
            <a:r>
              <a:rPr lang="zh-CN" altLang="en-US" sz="2800" noProof="1">
                <a:latin typeface="Times New Roman" panose="02020603050405020304" pitchFamily="2" charset="0"/>
              </a:rPr>
              <a:t>，对存储器操作数要说明类型</a:t>
            </a:r>
          </a:p>
          <a:p>
            <a:pPr algn="l">
              <a:spcBef>
                <a:spcPts val="2400"/>
              </a:spcBef>
            </a:pPr>
            <a:r>
              <a:rPr lang="zh-CN" altLang="en-US" sz="2800" b="1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例</a:t>
            </a:r>
            <a:r>
              <a:rPr lang="en-US" altLang="x-none" sz="2800" b="1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3.65 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 NOT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指令只有一个操作数，介绍几种用法</a:t>
            </a:r>
          </a:p>
          <a:p>
            <a:pPr algn="l">
              <a:spcBef>
                <a:spcPts val="600"/>
              </a:spcBef>
            </a:pP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   NOT    AX	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；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AX←AX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取反</a:t>
            </a:r>
          </a:p>
          <a:p>
            <a:pPr algn="l">
              <a:spcBef>
                <a:spcPts val="600"/>
              </a:spcBef>
            </a:pP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   NOT    BL		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；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BL←BL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取反</a:t>
            </a:r>
          </a:p>
          <a:p>
            <a:pPr algn="l">
              <a:spcBef>
                <a:spcPts val="600"/>
              </a:spcBef>
            </a:pP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   NOT   </a:t>
            </a:r>
            <a:r>
              <a:rPr lang="en-US" altLang="x-none" sz="2800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 BYTE  PTR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［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BX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］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	</a:t>
            </a:r>
          </a:p>
          <a:p>
            <a:pPr algn="l">
              <a:spcBef>
                <a:spcPct val="0"/>
              </a:spcBef>
            </a:pP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 	</a:t>
            </a:r>
            <a:r>
              <a:rPr lang="zh-CN" altLang="en-US" sz="3200" noProof="1">
                <a:latin typeface="Times New Roman" panose="02020603050405020304" pitchFamily="2" charset="0"/>
                <a:ea typeface="楷体_GB2312" pitchFamily="1" charset="-122"/>
              </a:rPr>
              <a:t>；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对存储器</a:t>
            </a:r>
            <a:r>
              <a:rPr lang="zh-CN" altLang="en-US" sz="2800" b="1" noProof="1">
                <a:solidFill>
                  <a:srgbClr val="CC3300"/>
                </a:solidFill>
                <a:latin typeface="Times New Roman" panose="02020603050405020304" pitchFamily="2" charset="0"/>
                <a:ea typeface="楷体_GB2312" pitchFamily="1" charset="-122"/>
              </a:rPr>
              <a:t>字节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单元内容取反后送回该单元</a:t>
            </a:r>
            <a:r>
              <a:rPr lang="en-US" altLang="x-none" sz="2800" noProof="1"/>
              <a:t> </a:t>
            </a:r>
          </a:p>
        </p:txBody>
      </p:sp>
      <p:sp>
        <p:nvSpPr>
          <p:cNvPr id="8195" name="日期占位符 1">
            <a:extLst>
              <a:ext uri="{FF2B5EF4-FFF2-40B4-BE49-F238E27FC236}">
                <a16:creationId xmlns:a16="http://schemas.microsoft.com/office/drawing/2014/main" id="{C2C14E7C-411F-4591-9925-CE08950D3AA8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CF4C44C3-3951-46FC-B191-C9C93C63265B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charRg st="56" end="9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171">
                                            <p:txEl>
                                              <p:charRg st="56" end="9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charRg st="91" end="1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171">
                                            <p:txEl>
                                              <p:charRg st="91" end="1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charRg st="118" end="1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171">
                                            <p:txEl>
                                              <p:charRg st="118" end="1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charRg st="140" end="16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7171">
                                            <p:txEl>
                                              <p:charRg st="140" end="16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charRg st="163" end="1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171">
                                            <p:txEl>
                                              <p:charRg st="163" end="18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1">
                                            <p:txEl>
                                              <p:charRg st="188" end="2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7171">
                                            <p:txEl>
                                              <p:charRg st="188" end="2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内容占位符 2">
            <a:extLst>
              <a:ext uri="{FF2B5EF4-FFF2-40B4-BE49-F238E27FC236}">
                <a16:creationId xmlns:a16="http://schemas.microsoft.com/office/drawing/2014/main" id="{0CBFAE50-8038-450F-AA87-ABE8BBE82D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763" y="406400"/>
            <a:ext cx="8372475" cy="6223000"/>
          </a:xfrm>
        </p:spPr>
        <p:txBody>
          <a:bodyPr/>
          <a:lstStyle/>
          <a:p>
            <a:pPr marL="1905" algn="l">
              <a:spcBef>
                <a:spcPct val="0"/>
              </a:spcBef>
              <a:buClr>
                <a:srgbClr val="FF66FF"/>
              </a:buClr>
              <a:buFont typeface="Wingdings" panose="05000000000000000000" pitchFamily="2" charset="2"/>
              <a:buNone/>
            </a:pPr>
            <a:r>
              <a:rPr lang="en-US" altLang="x-none" sz="4000" b="1" noProof="1">
                <a:solidFill>
                  <a:schemeClr val="accent2"/>
                </a:solidFill>
                <a:latin typeface="+mj-lt"/>
                <a:ea typeface="+mj-ea"/>
                <a:cs typeface="+mj-cs"/>
                <a:sym typeface="+mn-ea"/>
              </a:rPr>
              <a:t>1. </a:t>
            </a:r>
            <a:r>
              <a:rPr lang="zh-CN" altLang="en-US" sz="4000" b="1" noProof="1">
                <a:solidFill>
                  <a:schemeClr val="accent2"/>
                </a:solidFill>
                <a:latin typeface="+mj-lt"/>
                <a:ea typeface="+mj-ea"/>
                <a:cs typeface="+mj-cs"/>
                <a:sym typeface="+mn-ea"/>
              </a:rPr>
              <a:t>逻辑运算指令</a:t>
            </a:r>
            <a:r>
              <a:rPr lang="en-US" altLang="x-none" sz="2800" b="1" noProof="1">
                <a:solidFill>
                  <a:schemeClr val="accent2"/>
                </a:solidFill>
                <a:latin typeface="+mj-lt"/>
                <a:ea typeface="+mj-ea"/>
                <a:cs typeface="+mj-cs"/>
                <a:sym typeface="+mn-ea"/>
              </a:rPr>
              <a:t> </a:t>
            </a:r>
          </a:p>
          <a:p>
            <a:pPr marL="1905" algn="l">
              <a:spcBef>
                <a:spcPct val="0"/>
              </a:spcBef>
              <a:buClr>
                <a:srgbClr val="FF66FF"/>
              </a:buClr>
              <a:buFont typeface="Wingdings" panose="05000000000000000000" pitchFamily="2" charset="2"/>
              <a:buNone/>
            </a:pPr>
            <a:endParaRPr lang="zh-CN" altLang="en-US" sz="2800" noProof="1">
              <a:latin typeface="Times New Roman" panose="02020603050405020304" pitchFamily="2" charset="0"/>
            </a:endParaRPr>
          </a:p>
          <a:p>
            <a:pPr marL="1905" indent="112395" algn="l">
              <a:spcBef>
                <a:spcPct val="0"/>
              </a:spcBef>
              <a:buClr>
                <a:srgbClr val="FF66FF"/>
              </a:buClr>
              <a:buFont typeface="Wingdings" panose="05000000000000000000" pitchFamily="2" charset="2"/>
              <a:buChar char="u"/>
            </a:pPr>
            <a:r>
              <a:rPr lang="zh-CN" altLang="en-US" sz="2800" noProof="1">
                <a:latin typeface="Times New Roman" panose="02020603050405020304" pitchFamily="2" charset="0"/>
              </a:rPr>
              <a:t>以下为</a:t>
            </a:r>
            <a:r>
              <a:rPr lang="zh-CN" altLang="en-US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双操作数指令</a:t>
            </a:r>
            <a:r>
              <a:rPr lang="zh-CN" altLang="en-US" sz="2800" noProof="1">
                <a:latin typeface="Times New Roman" panose="02020603050405020304" pitchFamily="2" charset="0"/>
              </a:rPr>
              <a:t>。源操作数可以是</a:t>
            </a:r>
            <a:r>
              <a:rPr lang="en-US" altLang="x-none" sz="2800" noProof="1">
                <a:latin typeface="Times New Roman" panose="02020603050405020304" pitchFamily="2" charset="0"/>
              </a:rPr>
              <a:t>8</a:t>
            </a:r>
            <a:r>
              <a:rPr lang="zh-CN" altLang="en-US" sz="2800" noProof="1">
                <a:latin typeface="Times New Roman" panose="02020603050405020304" pitchFamily="2" charset="0"/>
              </a:rPr>
              <a:t>或</a:t>
            </a:r>
            <a:r>
              <a:rPr lang="en-US" altLang="x-none" sz="2800" noProof="1">
                <a:latin typeface="Times New Roman" panose="02020603050405020304" pitchFamily="2" charset="0"/>
              </a:rPr>
              <a:t>16</a:t>
            </a:r>
            <a:r>
              <a:rPr lang="zh-CN" altLang="en-US" sz="2800" noProof="1">
                <a:latin typeface="Times New Roman" panose="02020603050405020304" pitchFamily="2" charset="0"/>
              </a:rPr>
              <a:t>位立即数、寄存器、存储器，目的操作数只能是寄存器或存储器，两个操作数不能同时为存储器。</a:t>
            </a:r>
          </a:p>
          <a:p>
            <a:pPr marL="1905" algn="l">
              <a:spcBef>
                <a:spcPct val="0"/>
              </a:spcBef>
              <a:buClr>
                <a:srgbClr val="FF66FF"/>
              </a:buClr>
              <a:buFont typeface="Wingdings" panose="05000000000000000000" pitchFamily="2" charset="2"/>
              <a:buNone/>
            </a:pPr>
            <a:endParaRPr lang="zh-CN" altLang="en-US" sz="2800" noProof="1">
              <a:latin typeface="Times New Roman" panose="02020603050405020304" pitchFamily="2" charset="0"/>
            </a:endParaRPr>
          </a:p>
          <a:p>
            <a:pPr marL="1905" algn="l">
              <a:spcBef>
                <a:spcPct val="0"/>
              </a:spcBef>
              <a:buClr>
                <a:srgbClr val="FF66FF"/>
              </a:buClr>
              <a:buFont typeface="Wingdings" panose="05000000000000000000" pitchFamily="2" charset="2"/>
              <a:buNone/>
            </a:pPr>
            <a:r>
              <a:rPr lang="zh-CN" altLang="en-US" sz="2800" noProof="1">
                <a:latin typeface="Times New Roman" panose="02020603050405020304" pitchFamily="2" charset="0"/>
              </a:rPr>
              <a:t>包括：</a:t>
            </a:r>
            <a:r>
              <a:rPr lang="en-US" altLang="zh-CN" sz="2800" noProof="1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2" charset="0"/>
              </a:rPr>
              <a:t>AND   </a:t>
            </a:r>
            <a:r>
              <a:rPr lang="zh-CN" altLang="en-US" sz="2800" noProof="1">
                <a:latin typeface="Times New Roman" panose="02020603050405020304" pitchFamily="2" charset="0"/>
              </a:rPr>
              <a:t>与操作</a:t>
            </a:r>
          </a:p>
          <a:p>
            <a:pPr marL="1905" algn="l">
              <a:spcBef>
                <a:spcPct val="0"/>
              </a:spcBef>
              <a:buClr>
                <a:srgbClr val="FF66FF"/>
              </a:buClr>
              <a:buFont typeface="Wingdings" panose="05000000000000000000" pitchFamily="2" charset="2"/>
              <a:buNone/>
            </a:pPr>
            <a:r>
              <a:rPr lang="zh-CN" altLang="en-US" sz="2800" noProof="1">
                <a:latin typeface="Times New Roman" panose="02020603050405020304" pitchFamily="2" charset="0"/>
              </a:rPr>
              <a:t> </a:t>
            </a:r>
            <a:r>
              <a:rPr lang="en-US" altLang="zh-CN" sz="2800" noProof="1">
                <a:latin typeface="Times New Roman" panose="02020603050405020304" pitchFamily="2" charset="0"/>
              </a:rPr>
              <a:t>	 </a:t>
            </a:r>
            <a:r>
              <a:rPr lang="en-US" altLang="zh-CN" sz="2800" noProof="1">
                <a:solidFill>
                  <a:srgbClr val="FF0000"/>
                </a:solidFill>
                <a:latin typeface="Times New Roman" panose="02020603050405020304" pitchFamily="2" charset="0"/>
              </a:rPr>
              <a:t>OR  </a:t>
            </a:r>
            <a:r>
              <a:rPr lang="en-US" altLang="zh-CN" sz="2800" noProof="1">
                <a:latin typeface="Times New Roman" panose="02020603050405020304" pitchFamily="2" charset="0"/>
              </a:rPr>
              <a:t>     </a:t>
            </a:r>
            <a:r>
              <a:rPr lang="zh-CN" altLang="en-US" sz="2800" noProof="1">
                <a:latin typeface="Times New Roman" panose="02020603050405020304" pitchFamily="2" charset="0"/>
              </a:rPr>
              <a:t>或操作</a:t>
            </a:r>
          </a:p>
          <a:p>
            <a:pPr marL="1905" algn="l">
              <a:spcBef>
                <a:spcPct val="0"/>
              </a:spcBef>
              <a:buClr>
                <a:srgbClr val="FF66FF"/>
              </a:buClr>
              <a:buFont typeface="Wingdings" panose="05000000000000000000" pitchFamily="2" charset="2"/>
              <a:buNone/>
            </a:pPr>
            <a:r>
              <a:rPr lang="en-US" altLang="zh-CN" sz="2800" noProof="1">
                <a:latin typeface="Times New Roman" panose="02020603050405020304" pitchFamily="2" charset="0"/>
              </a:rPr>
              <a:t>	 </a:t>
            </a:r>
            <a:r>
              <a:rPr lang="en-US" altLang="zh-CN" sz="2800" noProof="1">
                <a:solidFill>
                  <a:srgbClr val="FF0000"/>
                </a:solidFill>
                <a:latin typeface="Times New Roman" panose="02020603050405020304" pitchFamily="2" charset="0"/>
              </a:rPr>
              <a:t>XOR</a:t>
            </a:r>
            <a:r>
              <a:rPr lang="en-US" altLang="zh-CN" sz="2800" noProof="1">
                <a:latin typeface="Times New Roman" panose="02020603050405020304" pitchFamily="2" charset="0"/>
              </a:rPr>
              <a:t>	  </a:t>
            </a:r>
            <a:r>
              <a:rPr lang="zh-CN" altLang="en-US" sz="2800" noProof="1">
                <a:latin typeface="Times New Roman" panose="02020603050405020304" pitchFamily="2" charset="0"/>
              </a:rPr>
              <a:t>异或操作</a:t>
            </a:r>
          </a:p>
          <a:p>
            <a:pPr marL="1905" algn="l">
              <a:spcBef>
                <a:spcPct val="0"/>
              </a:spcBef>
              <a:buClr>
                <a:srgbClr val="FF66FF"/>
              </a:buClr>
              <a:buFont typeface="Wingdings" panose="05000000000000000000" pitchFamily="2" charset="2"/>
              <a:buNone/>
            </a:pPr>
            <a:r>
              <a:rPr lang="en-US" altLang="zh-CN" sz="2800" noProof="1">
                <a:latin typeface="Times New Roman" panose="02020603050405020304" pitchFamily="2" charset="0"/>
              </a:rPr>
              <a:t>	 </a:t>
            </a:r>
            <a:r>
              <a:rPr lang="en-US" altLang="zh-CN" sz="2800" noProof="1">
                <a:solidFill>
                  <a:srgbClr val="FF0000"/>
                </a:solidFill>
                <a:latin typeface="Times New Roman" panose="02020603050405020304" pitchFamily="2" charset="0"/>
              </a:rPr>
              <a:t>TEST</a:t>
            </a:r>
            <a:r>
              <a:rPr lang="en-US" altLang="zh-CN" sz="2800" noProof="1">
                <a:latin typeface="Times New Roman" panose="02020603050405020304" pitchFamily="2" charset="0"/>
              </a:rPr>
              <a:t>   </a:t>
            </a:r>
            <a:r>
              <a:rPr lang="zh-CN" altLang="en-US" sz="2800" noProof="1">
                <a:latin typeface="Times New Roman" panose="02020603050405020304" pitchFamily="2" charset="0"/>
              </a:rPr>
              <a:t>测试（</a:t>
            </a:r>
            <a:r>
              <a:rPr lang="zh-CN" altLang="en-US" sz="2400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2" charset="0"/>
              </a:rPr>
              <a:t>执行</a:t>
            </a:r>
            <a:r>
              <a:rPr lang="en-US" altLang="zh-CN" sz="2400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2" charset="0"/>
              </a:rPr>
              <a:t>AND</a:t>
            </a:r>
            <a:r>
              <a:rPr lang="zh-CN" altLang="en-US" sz="2400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2" charset="0"/>
              </a:rPr>
              <a:t>操作，不改目的操作数</a:t>
            </a:r>
            <a:r>
              <a:rPr lang="zh-CN" altLang="en-US" sz="2800" noProof="1">
                <a:latin typeface="Times New Roman" panose="02020603050405020304" pitchFamily="2" charset="0"/>
              </a:rPr>
              <a:t>）</a:t>
            </a:r>
          </a:p>
          <a:p>
            <a:pPr marL="1905" indent="112395" algn="l">
              <a:spcBef>
                <a:spcPct val="0"/>
              </a:spcBef>
              <a:buClr>
                <a:srgbClr val="FF66FF"/>
              </a:buClr>
              <a:buFont typeface="Wingdings" panose="05000000000000000000" pitchFamily="2" charset="2"/>
              <a:buChar char="u"/>
            </a:pPr>
            <a:endParaRPr lang="zh-CN" altLang="en-US" sz="2800" noProof="1">
              <a:latin typeface="Times New Roman" panose="02020603050405020304" pitchFamily="2" charset="0"/>
            </a:endParaRPr>
          </a:p>
          <a:p>
            <a:pPr marL="1905" indent="112395" algn="l">
              <a:spcBef>
                <a:spcPct val="0"/>
              </a:spcBef>
              <a:buClr>
                <a:srgbClr val="FF66FF"/>
              </a:buClr>
              <a:buFont typeface="Wingdings" panose="05000000000000000000" pitchFamily="2" charset="2"/>
              <a:buChar char="u"/>
            </a:pPr>
            <a:r>
              <a:rPr lang="zh-CN" altLang="en-US" sz="2800" noProof="1">
                <a:latin typeface="Times New Roman" panose="02020603050405020304" pitchFamily="2" charset="0"/>
              </a:rPr>
              <a:t>指令执行后，</a:t>
            </a:r>
            <a:r>
              <a:rPr lang="zh-CN" altLang="en-US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均将</a:t>
            </a:r>
            <a:r>
              <a:rPr lang="en-US" altLang="x-none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CF</a:t>
            </a:r>
            <a:r>
              <a:rPr lang="zh-CN" altLang="en-US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和</a:t>
            </a:r>
            <a:r>
              <a:rPr lang="en-US" altLang="x-none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OF</a:t>
            </a:r>
            <a:r>
              <a:rPr lang="zh-CN" altLang="en-US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清</a:t>
            </a:r>
            <a:r>
              <a:rPr lang="en-US" altLang="x-none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0</a:t>
            </a:r>
            <a:r>
              <a:rPr lang="zh-CN" altLang="en-US" sz="2800" noProof="1">
                <a:latin typeface="Times New Roman" panose="02020603050405020304" pitchFamily="2" charset="0"/>
              </a:rPr>
              <a:t>，</a:t>
            </a:r>
            <a:r>
              <a:rPr lang="en-US" altLang="x-none" sz="2800" noProof="1">
                <a:latin typeface="Times New Roman" panose="02020603050405020304" pitchFamily="2" charset="0"/>
              </a:rPr>
              <a:t>ZF</a:t>
            </a:r>
            <a:r>
              <a:rPr lang="zh-CN" altLang="en-US" sz="2800" noProof="1">
                <a:latin typeface="Times New Roman" panose="02020603050405020304" pitchFamily="2" charset="0"/>
              </a:rPr>
              <a:t>、</a:t>
            </a:r>
            <a:r>
              <a:rPr lang="en-US" altLang="x-none" sz="2800" noProof="1">
                <a:latin typeface="Times New Roman" panose="02020603050405020304" pitchFamily="2" charset="0"/>
              </a:rPr>
              <a:t>SF</a:t>
            </a:r>
            <a:r>
              <a:rPr lang="zh-CN" altLang="en-US" sz="2800" noProof="1">
                <a:latin typeface="Times New Roman" panose="02020603050405020304" pitchFamily="2" charset="0"/>
              </a:rPr>
              <a:t>和</a:t>
            </a:r>
            <a:r>
              <a:rPr lang="en-US" altLang="x-none" sz="2800" noProof="1">
                <a:latin typeface="Times New Roman" panose="02020603050405020304" pitchFamily="2" charset="0"/>
              </a:rPr>
              <a:t>PF</a:t>
            </a:r>
            <a:r>
              <a:rPr lang="zh-CN" altLang="en-US" sz="2800" noProof="1">
                <a:latin typeface="Times New Roman" panose="02020603050405020304" pitchFamily="2" charset="0"/>
              </a:rPr>
              <a:t>反映操作结果，</a:t>
            </a:r>
            <a:r>
              <a:rPr lang="en-US" altLang="x-none" sz="2800" noProof="1">
                <a:latin typeface="Times New Roman" panose="02020603050405020304" pitchFamily="2" charset="0"/>
              </a:rPr>
              <a:t>AF</a:t>
            </a:r>
            <a:r>
              <a:rPr lang="zh-CN" altLang="en-US" sz="2800" noProof="1">
                <a:latin typeface="Times New Roman" panose="02020603050405020304" pitchFamily="2" charset="0"/>
              </a:rPr>
              <a:t>未定义，源操作数不变</a:t>
            </a:r>
            <a:endParaRPr lang="zh-CN" altLang="en-US" sz="2800" noProof="1">
              <a:solidFill>
                <a:srgbClr val="0000FF"/>
              </a:solidFill>
              <a:latin typeface="Times New Roman" panose="02020603050405020304" pitchFamily="2" charset="0"/>
              <a:ea typeface="楷体_GB2312" pitchFamily="1" charset="-122"/>
            </a:endParaRPr>
          </a:p>
        </p:txBody>
      </p:sp>
      <p:sp>
        <p:nvSpPr>
          <p:cNvPr id="9218" name="日期占位符 1">
            <a:extLst>
              <a:ext uri="{FF2B5EF4-FFF2-40B4-BE49-F238E27FC236}">
                <a16:creationId xmlns:a16="http://schemas.microsoft.com/office/drawing/2014/main" id="{1B49A5AA-11F7-4405-8998-747C3E70309C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8B126675-D40B-4BE8-968C-6C7112CA3A08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charRg st="65" end="1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194">
                                            <p:txEl>
                                              <p:charRg st="65" end="10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内容占位符 2">
            <a:extLst>
              <a:ext uri="{FF2B5EF4-FFF2-40B4-BE49-F238E27FC236}">
                <a16:creationId xmlns:a16="http://schemas.microsoft.com/office/drawing/2014/main" id="{AFA4D010-B619-4642-80CD-33B26ECFB3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763" y="406400"/>
            <a:ext cx="8372475" cy="6223000"/>
          </a:xfrm>
        </p:spPr>
        <p:txBody>
          <a:bodyPr/>
          <a:lstStyle/>
          <a:p>
            <a:pPr marL="1905" algn="l">
              <a:spcBef>
                <a:spcPct val="0"/>
              </a:spcBef>
              <a:buClr>
                <a:srgbClr val="FF66FF"/>
              </a:buClr>
              <a:buFont typeface="Wingdings" panose="05000000000000000000" pitchFamily="2" charset="2"/>
              <a:buNone/>
            </a:pPr>
            <a:r>
              <a:rPr lang="en-US" altLang="x-none" sz="4000" b="1" noProof="1">
                <a:solidFill>
                  <a:schemeClr val="accent2"/>
                </a:solidFill>
                <a:latin typeface="+mj-lt"/>
                <a:ea typeface="+mj-ea"/>
                <a:cs typeface="+mj-cs"/>
                <a:sym typeface="+mn-ea"/>
              </a:rPr>
              <a:t>1. </a:t>
            </a:r>
            <a:r>
              <a:rPr lang="zh-CN" altLang="en-US" sz="4000" b="1" noProof="1">
                <a:solidFill>
                  <a:schemeClr val="accent2"/>
                </a:solidFill>
                <a:latin typeface="+mj-lt"/>
                <a:ea typeface="+mj-ea"/>
                <a:cs typeface="+mj-cs"/>
                <a:sym typeface="+mn-ea"/>
              </a:rPr>
              <a:t>逻辑运算指令</a:t>
            </a:r>
            <a:r>
              <a:rPr lang="en-US" altLang="x-none" sz="2800" b="1" noProof="1">
                <a:solidFill>
                  <a:schemeClr val="accent2"/>
                </a:solidFill>
                <a:latin typeface="+mj-lt"/>
                <a:ea typeface="+mj-ea"/>
                <a:cs typeface="+mj-cs"/>
                <a:sym typeface="+mn-ea"/>
              </a:rPr>
              <a:t> </a:t>
            </a:r>
          </a:p>
          <a:p>
            <a:pPr marL="1905" algn="l">
              <a:spcBef>
                <a:spcPct val="0"/>
              </a:spcBef>
              <a:buClr>
                <a:srgbClr val="FF66FF"/>
              </a:buClr>
              <a:buFont typeface="Wingdings" panose="05000000000000000000" pitchFamily="2" charset="2"/>
              <a:buNone/>
            </a:pPr>
            <a:endParaRPr lang="en-US" altLang="x-none" sz="2800" b="1" noProof="1">
              <a:solidFill>
                <a:srgbClr val="CC3300"/>
              </a:solidFill>
              <a:latin typeface="Times New Roman" panose="02020603050405020304" pitchFamily="2" charset="0"/>
            </a:endParaRPr>
          </a:p>
          <a:p>
            <a:pPr marL="1905" algn="l">
              <a:spcBef>
                <a:spcPct val="0"/>
              </a:spcBef>
              <a:buClr>
                <a:srgbClr val="FF66FF"/>
              </a:buClr>
              <a:buFont typeface="Wingdings" panose="05000000000000000000" pitchFamily="2" charset="2"/>
              <a:buNone/>
            </a:pPr>
            <a:r>
              <a:rPr lang="en-US" altLang="x-none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2) AND </a:t>
            </a:r>
            <a:r>
              <a:rPr lang="zh-CN" altLang="en-US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逻辑与指令</a:t>
            </a:r>
            <a:r>
              <a:rPr lang="en-US" altLang="x-none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 (Logical AND)</a:t>
            </a:r>
          </a:p>
          <a:p>
            <a:pPr marL="1905" indent="-1905" algn="l">
              <a:spcBef>
                <a:spcPct val="0"/>
              </a:spcBef>
            </a:pPr>
            <a:endParaRPr lang="zh-CN" altLang="en-US" sz="2800" noProof="1">
              <a:latin typeface="Times New Roman" panose="02020603050405020304" pitchFamily="2" charset="0"/>
            </a:endParaRPr>
          </a:p>
          <a:p>
            <a:pPr marL="1905" indent="-1905" algn="l">
              <a:spcBef>
                <a:spcPct val="0"/>
              </a:spcBef>
            </a:pPr>
            <a:r>
              <a:rPr lang="zh-CN" altLang="en-US" sz="2800" noProof="1">
                <a:latin typeface="Times New Roman" panose="02020603050405020304" pitchFamily="2" charset="0"/>
              </a:rPr>
              <a:t>指令格式：</a:t>
            </a:r>
            <a:r>
              <a:rPr lang="en-US" altLang="x-none" sz="2800" noProof="1">
                <a:latin typeface="Times New Roman" panose="02020603050405020304" pitchFamily="2" charset="0"/>
              </a:rPr>
              <a:t> AND	</a:t>
            </a:r>
            <a:r>
              <a:rPr lang="zh-CN" altLang="en-US" sz="2800" noProof="1">
                <a:latin typeface="Times New Roman" panose="02020603050405020304" pitchFamily="2" charset="0"/>
              </a:rPr>
              <a:t>目的，源</a:t>
            </a:r>
          </a:p>
          <a:p>
            <a:pPr marL="1905" indent="-1905" algn="l">
              <a:spcBef>
                <a:spcPct val="0"/>
              </a:spcBef>
            </a:pPr>
            <a:r>
              <a:rPr lang="zh-CN" altLang="en-US" sz="2800" noProof="1">
                <a:latin typeface="Times New Roman" panose="02020603050405020304" pitchFamily="2" charset="0"/>
              </a:rPr>
              <a:t>指令功能：</a:t>
            </a:r>
            <a:r>
              <a:rPr lang="en-US" altLang="x-none" sz="2800" noProof="1">
                <a:latin typeface="Times New Roman" panose="02020603050405020304" pitchFamily="2" charset="0"/>
              </a:rPr>
              <a:t> </a:t>
            </a:r>
            <a:r>
              <a:rPr lang="zh-CN" altLang="en-US" sz="2800" noProof="1">
                <a:latin typeface="Times New Roman" panose="02020603050405020304" pitchFamily="2" charset="0"/>
              </a:rPr>
              <a:t>目的</a:t>
            </a:r>
            <a:r>
              <a:rPr lang="en-US" altLang="x-none" sz="2800" noProof="1">
                <a:latin typeface="Times New Roman" panose="02020603050405020304" pitchFamily="2" charset="0"/>
              </a:rPr>
              <a:t>←</a:t>
            </a:r>
            <a:r>
              <a:rPr lang="zh-CN" altLang="en-US" sz="2800" noProof="1">
                <a:latin typeface="Times New Roman" panose="02020603050405020304" pitchFamily="2" charset="0"/>
              </a:rPr>
              <a:t>目的</a:t>
            </a:r>
            <a:r>
              <a:rPr lang="en-US" altLang="x-none" sz="2800" noProof="1">
                <a:latin typeface="Times New Roman" panose="02020603050405020304" pitchFamily="2" charset="0"/>
              </a:rPr>
              <a:t>∧</a:t>
            </a:r>
            <a:r>
              <a:rPr lang="zh-CN" altLang="en-US" sz="2800" noProof="1">
                <a:latin typeface="Times New Roman" panose="02020603050405020304" pitchFamily="2" charset="0"/>
              </a:rPr>
              <a:t>源 </a:t>
            </a:r>
          </a:p>
          <a:p>
            <a:pPr marL="1905" indent="-1905" algn="l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zh-CN" altLang="en-US" sz="2800" noProof="1">
                <a:latin typeface="Times New Roman" panose="02020603050405020304" pitchFamily="2" charset="0"/>
              </a:rPr>
              <a:t>主要用于使操作数的某些位保留</a:t>
            </a:r>
            <a:r>
              <a:rPr lang="en-US" altLang="x-none" sz="2800" noProof="1">
                <a:latin typeface="Times New Roman" panose="02020603050405020304" pitchFamily="2" charset="0"/>
              </a:rPr>
              <a:t>(</a:t>
            </a:r>
            <a:r>
              <a:rPr lang="zh-CN" altLang="en-US" sz="2800" noProof="1">
                <a:latin typeface="Times New Roman" panose="02020603050405020304" pitchFamily="2" charset="0"/>
              </a:rPr>
              <a:t>和</a:t>
            </a:r>
            <a:r>
              <a:rPr lang="en-US" altLang="x-none" sz="2800" noProof="1">
                <a:latin typeface="Times New Roman" panose="02020603050405020304" pitchFamily="2" charset="0"/>
              </a:rPr>
              <a:t>“1”</a:t>
            </a:r>
            <a:r>
              <a:rPr lang="zh-CN" altLang="en-US" sz="2800" noProof="1">
                <a:latin typeface="Times New Roman" panose="02020603050405020304" pitchFamily="2" charset="0"/>
              </a:rPr>
              <a:t>相与</a:t>
            </a:r>
            <a:r>
              <a:rPr lang="en-US" altLang="x-none" sz="2800" noProof="1">
                <a:latin typeface="Times New Roman" panose="02020603050405020304" pitchFamily="2" charset="0"/>
              </a:rPr>
              <a:t>)</a:t>
            </a:r>
            <a:r>
              <a:rPr lang="zh-CN" altLang="en-US" sz="2800" noProof="1">
                <a:latin typeface="Times New Roman" panose="02020603050405020304" pitchFamily="2" charset="0"/>
              </a:rPr>
              <a:t>，而使某些位清除</a:t>
            </a:r>
            <a:r>
              <a:rPr lang="en-US" altLang="x-none" sz="2800" noProof="1">
                <a:latin typeface="Times New Roman" panose="02020603050405020304" pitchFamily="2" charset="0"/>
              </a:rPr>
              <a:t>(</a:t>
            </a:r>
            <a:r>
              <a:rPr lang="zh-CN" altLang="en-US" sz="2800" noProof="1">
                <a:latin typeface="Times New Roman" panose="02020603050405020304" pitchFamily="2" charset="0"/>
              </a:rPr>
              <a:t>和</a:t>
            </a:r>
            <a:r>
              <a:rPr lang="en-US" altLang="x-none" sz="2800" noProof="1">
                <a:latin typeface="Times New Roman" panose="02020603050405020304" pitchFamily="2" charset="0"/>
              </a:rPr>
              <a:t>“0”</a:t>
            </a:r>
            <a:r>
              <a:rPr lang="zh-CN" altLang="en-US" sz="2800" noProof="1">
                <a:latin typeface="Times New Roman" panose="02020603050405020304" pitchFamily="2" charset="0"/>
              </a:rPr>
              <a:t>相与</a:t>
            </a:r>
            <a:r>
              <a:rPr lang="en-US" altLang="x-none" sz="2800" noProof="1">
                <a:latin typeface="Times New Roman" panose="02020603050405020304" pitchFamily="2" charset="0"/>
              </a:rPr>
              <a:t>)</a:t>
            </a:r>
          </a:p>
          <a:p>
            <a:pPr marL="1905" indent="-1905" algn="l">
              <a:spcBef>
                <a:spcPts val="1800"/>
              </a:spcBef>
            </a:pPr>
            <a:r>
              <a:rPr lang="zh-CN" altLang="en-US" sz="2800" b="1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例</a:t>
            </a:r>
            <a:r>
              <a:rPr lang="en-US" altLang="x-none" sz="2800" b="1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3.66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 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设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AX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中是数字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5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和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8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的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ASCII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码，即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AX=3538H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，将它们转换成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BCD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码，结果仍放回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AX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。指令如下：</a:t>
            </a:r>
          </a:p>
          <a:p>
            <a:pPr marL="1905" indent="-1905" algn="l">
              <a:spcBef>
                <a:spcPct val="0"/>
              </a:spcBef>
            </a:pP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      AND   AX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，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0F0FH 	</a:t>
            </a:r>
            <a:r>
              <a:rPr lang="zh-CN" altLang="en-US" sz="2800" noProof="1">
                <a:solidFill>
                  <a:schemeClr val="accent2"/>
                </a:solidFill>
                <a:latin typeface="Times New Roman" panose="02020603050405020304" pitchFamily="2" charset="0"/>
                <a:ea typeface="楷体_GB2312" pitchFamily="1" charset="-122"/>
              </a:rPr>
              <a:t>；</a:t>
            </a:r>
            <a:r>
              <a:rPr lang="en-US" altLang="x-none" sz="2800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AX←0508H</a:t>
            </a:r>
            <a:r>
              <a:rPr lang="zh-CN" altLang="en-US" sz="2800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。屏蔽高</a:t>
            </a:r>
            <a:r>
              <a:rPr lang="en-US" altLang="x-none" sz="2800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4</a:t>
            </a:r>
            <a:r>
              <a:rPr lang="zh-CN" altLang="en-US" sz="2800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位，</a:t>
            </a:r>
          </a:p>
          <a:p>
            <a:pPr marL="1905" indent="-1905" algn="l">
              <a:spcBef>
                <a:spcPct val="0"/>
              </a:spcBef>
            </a:pPr>
            <a:r>
              <a:rPr lang="en-US" altLang="x-none" sz="2800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					</a:t>
            </a:r>
            <a:r>
              <a:rPr lang="zh-CN" altLang="en-US" sz="2800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；截得低</a:t>
            </a:r>
            <a:r>
              <a:rPr lang="en-US" altLang="x-none" sz="2800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4</a:t>
            </a:r>
            <a:r>
              <a:rPr lang="zh-CN" altLang="en-US" sz="2800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位</a:t>
            </a:r>
          </a:p>
        </p:txBody>
      </p:sp>
      <p:sp>
        <p:nvSpPr>
          <p:cNvPr id="10242" name="日期占位符 1">
            <a:extLst>
              <a:ext uri="{FF2B5EF4-FFF2-40B4-BE49-F238E27FC236}">
                <a16:creationId xmlns:a16="http://schemas.microsoft.com/office/drawing/2014/main" id="{D97641CB-B6D6-4CC4-B94F-50F4E77B99D5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84A18DEA-CF6F-40B7-9EFA-9D4478F5A83A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charRg st="109" end="1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194">
                                            <p:txEl>
                                              <p:charRg st="109" end="1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81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charRg st="136" end="1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8194">
                                            <p:txEl>
                                              <p:charRg st="136" end="15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charRg st="151" end="1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8194">
                                            <p:txEl>
                                              <p:charRg st="151" end="16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charRg st="166" end="2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8194">
                                            <p:txEl>
                                              <p:charRg st="166" end="20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charRg st="205" end="2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8194">
                                            <p:txEl>
                                              <p:charRg st="205" end="2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charRg st="219" end="2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8194">
                                            <p:txEl>
                                              <p:charRg st="219" end="2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>
                                            <p:txEl>
                                              <p:charRg st="219" end="2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8194">
                                            <p:txEl>
                                              <p:charRg st="219" end="2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内容占位符 2">
            <a:extLst>
              <a:ext uri="{FF2B5EF4-FFF2-40B4-BE49-F238E27FC236}">
                <a16:creationId xmlns:a16="http://schemas.microsoft.com/office/drawing/2014/main" id="{A7B09D96-8EAE-4E1D-A484-891EED0E43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763" y="1250950"/>
            <a:ext cx="8372475" cy="5238750"/>
          </a:xfrm>
        </p:spPr>
        <p:txBody>
          <a:bodyPr/>
          <a:lstStyle/>
          <a:p>
            <a:pPr algn="l"/>
            <a:r>
              <a:rPr lang="en-US" altLang="x-none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3) OR </a:t>
            </a:r>
            <a:r>
              <a:rPr lang="zh-CN" altLang="en-US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逻辑或指令</a:t>
            </a:r>
            <a:r>
              <a:rPr lang="en-US" altLang="x-none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 (Logical OR)</a:t>
            </a:r>
            <a:endParaRPr lang="zh-CN" altLang="en-US" sz="2800" b="1" noProof="1">
              <a:solidFill>
                <a:srgbClr val="CC3300"/>
              </a:solidFill>
              <a:latin typeface="Times New Roman" panose="02020603050405020304" pitchFamily="2" charset="0"/>
            </a:endParaRPr>
          </a:p>
          <a:p>
            <a:pPr algn="l"/>
            <a:r>
              <a:rPr lang="zh-CN" altLang="en-US" sz="2800" noProof="1">
                <a:latin typeface="Times New Roman" panose="02020603050405020304" pitchFamily="2" charset="0"/>
              </a:rPr>
              <a:t>指令格式：</a:t>
            </a:r>
            <a:r>
              <a:rPr lang="en-US" altLang="x-none" sz="2800" noProof="1">
                <a:latin typeface="Times New Roman" panose="02020603050405020304" pitchFamily="2" charset="0"/>
              </a:rPr>
              <a:t> OR	</a:t>
            </a:r>
            <a:r>
              <a:rPr lang="zh-CN" altLang="en-US" sz="2800" noProof="1">
                <a:latin typeface="Times New Roman" panose="02020603050405020304" pitchFamily="2" charset="0"/>
              </a:rPr>
              <a:t>目的，源</a:t>
            </a:r>
          </a:p>
          <a:p>
            <a:pPr algn="l"/>
            <a:r>
              <a:rPr lang="zh-CN" altLang="en-US" sz="2800" noProof="1">
                <a:latin typeface="Times New Roman" panose="02020603050405020304" pitchFamily="2" charset="0"/>
              </a:rPr>
              <a:t>指令功能： 目的</a:t>
            </a:r>
            <a:r>
              <a:rPr lang="en-US" altLang="x-none" sz="2800" noProof="1">
                <a:latin typeface="Times New Roman" panose="02020603050405020304" pitchFamily="2" charset="0"/>
              </a:rPr>
              <a:t>←</a:t>
            </a:r>
            <a:r>
              <a:rPr lang="zh-CN" altLang="en-US" sz="2800" noProof="1">
                <a:latin typeface="Times New Roman" panose="02020603050405020304" pitchFamily="2" charset="0"/>
              </a:rPr>
              <a:t>目的</a:t>
            </a:r>
            <a:r>
              <a:rPr lang="en-US" altLang="x-none" sz="2800" noProof="1">
                <a:latin typeface="Times New Roman" panose="02020603050405020304" pitchFamily="2" charset="0"/>
              </a:rPr>
              <a:t>∨</a:t>
            </a:r>
            <a:r>
              <a:rPr lang="zh-CN" altLang="en-US" sz="2800" noProof="1">
                <a:latin typeface="Times New Roman" panose="02020603050405020304" pitchFamily="2" charset="0"/>
              </a:rPr>
              <a:t>源 </a:t>
            </a:r>
          </a:p>
          <a:p>
            <a:pPr algn="l">
              <a:buFont typeface="Wingdings" panose="05000000000000000000" pitchFamily="2" charset="2"/>
              <a:buNone/>
            </a:pPr>
            <a:r>
              <a:rPr lang="zh-CN" altLang="en-US" sz="2800" noProof="1">
                <a:latin typeface="Times New Roman" panose="02020603050405020304" pitchFamily="2" charset="0"/>
              </a:rPr>
              <a:t>它主要用于使操作数的某些位保留</a:t>
            </a:r>
            <a:r>
              <a:rPr lang="en-US" altLang="x-none" sz="2800" noProof="1">
                <a:latin typeface="Times New Roman" panose="02020603050405020304" pitchFamily="2" charset="0"/>
              </a:rPr>
              <a:t>(</a:t>
            </a:r>
            <a:r>
              <a:rPr lang="zh-CN" altLang="en-US" sz="2800" noProof="1">
                <a:latin typeface="Times New Roman" panose="02020603050405020304" pitchFamily="2" charset="0"/>
              </a:rPr>
              <a:t>和</a:t>
            </a:r>
            <a:r>
              <a:rPr lang="en-US" altLang="x-none" sz="2800" noProof="1">
                <a:latin typeface="Times New Roman" panose="02020603050405020304" pitchFamily="2" charset="0"/>
              </a:rPr>
              <a:t>“0”</a:t>
            </a:r>
            <a:r>
              <a:rPr lang="zh-CN" altLang="en-US" sz="2800" noProof="1">
                <a:latin typeface="Times New Roman" panose="02020603050405020304" pitchFamily="2" charset="0"/>
              </a:rPr>
              <a:t>相或</a:t>
            </a:r>
            <a:r>
              <a:rPr lang="en-US" altLang="x-none" sz="2800" noProof="1">
                <a:latin typeface="Times New Roman" panose="02020603050405020304" pitchFamily="2" charset="0"/>
              </a:rPr>
              <a:t>)</a:t>
            </a:r>
            <a:r>
              <a:rPr lang="zh-CN" altLang="en-US" sz="2800" noProof="1">
                <a:latin typeface="Times New Roman" panose="02020603050405020304" pitchFamily="2" charset="0"/>
              </a:rPr>
              <a:t>，而使某些位置</a:t>
            </a:r>
            <a:r>
              <a:rPr lang="en-US" altLang="x-none" sz="2800" noProof="1">
                <a:latin typeface="Times New Roman" panose="02020603050405020304" pitchFamily="2" charset="0"/>
              </a:rPr>
              <a:t>1(</a:t>
            </a:r>
            <a:r>
              <a:rPr lang="zh-CN" altLang="en-US" sz="2800" noProof="1">
                <a:latin typeface="Times New Roman" panose="02020603050405020304" pitchFamily="2" charset="0"/>
              </a:rPr>
              <a:t>和</a:t>
            </a:r>
            <a:r>
              <a:rPr lang="en-US" altLang="x-none" sz="2800" noProof="1">
                <a:latin typeface="Times New Roman" panose="02020603050405020304" pitchFamily="2" charset="0"/>
              </a:rPr>
              <a:t>“1”</a:t>
            </a:r>
            <a:r>
              <a:rPr lang="zh-CN" altLang="en-US" sz="2800" noProof="1">
                <a:latin typeface="Times New Roman" panose="02020603050405020304" pitchFamily="2" charset="0"/>
              </a:rPr>
              <a:t>相或</a:t>
            </a:r>
            <a:r>
              <a:rPr lang="en-US" altLang="x-none" sz="2800" noProof="1">
                <a:latin typeface="Times New Roman" panose="02020603050405020304" pitchFamily="2" charset="0"/>
              </a:rPr>
              <a:t>)</a:t>
            </a:r>
            <a:endParaRPr lang="zh-CN" altLang="en-US" sz="2800" noProof="1">
              <a:latin typeface="Times New Roman" panose="02020603050405020304" pitchFamily="2" charset="0"/>
            </a:endParaRPr>
          </a:p>
          <a:p>
            <a:pPr algn="l">
              <a:spcBef>
                <a:spcPts val="1800"/>
              </a:spcBef>
            </a:pPr>
            <a:r>
              <a:rPr lang="zh-CN" altLang="en-US" sz="2800" b="1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例</a:t>
            </a:r>
            <a:r>
              <a:rPr lang="en-US" altLang="x-none" sz="2800" b="1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3.67 </a:t>
            </a:r>
            <a:r>
              <a:rPr lang="en-US" altLang="x-none" sz="2800" noProof="1">
                <a:solidFill>
                  <a:srgbClr val="23FFF8"/>
                </a:solidFill>
                <a:latin typeface="Times New Roman" panose="02020603050405020304" pitchFamily="2" charset="0"/>
                <a:ea typeface="楷体_GB2312" pitchFamily="1" charset="-122"/>
              </a:rPr>
              <a:t> 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设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AX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中存有两个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BCD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数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0508H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，要将它们分别转换成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ASCII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码，结果仍在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 AX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中。可用如下指令实现：</a:t>
            </a:r>
          </a:p>
          <a:p>
            <a:pPr algn="l"/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    OR	    AX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，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3030H	</a:t>
            </a:r>
            <a:r>
              <a:rPr lang="zh-CN" altLang="en-US" sz="2800" noProof="1">
                <a:solidFill>
                  <a:srgbClr val="008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2" charset="0"/>
                <a:ea typeface="楷体_GB2312" pitchFamily="1" charset="-122"/>
              </a:rPr>
              <a:t>；</a:t>
            </a:r>
            <a:r>
              <a:rPr lang="en-US" altLang="x-none" sz="2800" noProof="1">
                <a:solidFill>
                  <a:srgbClr val="008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2" charset="0"/>
                <a:ea typeface="楷体_GB2312" pitchFamily="1" charset="-122"/>
              </a:rPr>
              <a:t>AX←3538H</a:t>
            </a:r>
          </a:p>
          <a:p>
            <a:pPr algn="l"/>
            <a:endParaRPr lang="en-US" altLang="x-none" sz="2800" noProof="1">
              <a:solidFill>
                <a:srgbClr val="008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2" charset="0"/>
              <a:ea typeface="楷体_GB2312" pitchFamily="1" charset="-122"/>
            </a:endParaRPr>
          </a:p>
        </p:txBody>
      </p:sp>
      <p:sp>
        <p:nvSpPr>
          <p:cNvPr id="11266" name="标题 1">
            <a:extLst>
              <a:ext uri="{FF2B5EF4-FFF2-40B4-BE49-F238E27FC236}">
                <a16:creationId xmlns:a16="http://schemas.microsoft.com/office/drawing/2014/main" id="{33E033C2-543F-467C-8039-9CA8E7C84105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349250" y="406400"/>
            <a:ext cx="8229600" cy="674688"/>
          </a:xfrm>
        </p:spPr>
        <p:txBody>
          <a:bodyPr anchor="ctr"/>
          <a:lstStyle/>
          <a:p>
            <a:pPr algn="l"/>
            <a:r>
              <a:rPr lang="en-US" altLang="zh-CN" sz="4400" b="1">
                <a:solidFill>
                  <a:schemeClr val="accent2"/>
                </a:solidFill>
              </a:rPr>
              <a:t>1. </a:t>
            </a:r>
            <a:r>
              <a:rPr lang="zh-CN" altLang="en-US" sz="4400" b="1">
                <a:solidFill>
                  <a:schemeClr val="accent2"/>
                </a:solidFill>
              </a:rPr>
              <a:t>逻辑运算指令</a:t>
            </a:r>
          </a:p>
        </p:txBody>
      </p:sp>
      <p:sp>
        <p:nvSpPr>
          <p:cNvPr id="11267" name="日期占位符 1">
            <a:extLst>
              <a:ext uri="{FF2B5EF4-FFF2-40B4-BE49-F238E27FC236}">
                <a16:creationId xmlns:a16="http://schemas.microsoft.com/office/drawing/2014/main" id="{24187E3F-4287-405C-9295-18DC43A90898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23ED22B3-5AC8-4516-B1BE-EC08C4DB8992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2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92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92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标题 1">
            <a:extLst>
              <a:ext uri="{FF2B5EF4-FFF2-40B4-BE49-F238E27FC236}">
                <a16:creationId xmlns:a16="http://schemas.microsoft.com/office/drawing/2014/main" id="{CBE1B70F-89D6-46CE-B85D-8EA109D8E092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en-US" altLang="zh-CN" sz="4400" b="1">
                <a:solidFill>
                  <a:schemeClr val="accent2"/>
                </a:solidFill>
              </a:rPr>
              <a:t>1. </a:t>
            </a:r>
            <a:r>
              <a:rPr lang="zh-CN" altLang="en-US" sz="4400" b="1">
                <a:solidFill>
                  <a:schemeClr val="accent2"/>
                </a:solidFill>
              </a:rPr>
              <a:t>逻辑运算指令</a:t>
            </a:r>
          </a:p>
        </p:txBody>
      </p:sp>
      <p:sp>
        <p:nvSpPr>
          <p:cNvPr id="10243" name="内容占位符 2">
            <a:extLst>
              <a:ext uri="{FF2B5EF4-FFF2-40B4-BE49-F238E27FC236}">
                <a16:creationId xmlns:a16="http://schemas.microsoft.com/office/drawing/2014/main" id="{2EE0F000-E0F6-4A98-A520-80875E336AD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482600" y="1028700"/>
            <a:ext cx="8372475" cy="5556250"/>
          </a:xfrm>
        </p:spPr>
        <p:txBody>
          <a:bodyPr/>
          <a:lstStyle/>
          <a:p>
            <a:pPr algn="l"/>
            <a:r>
              <a:rPr lang="en-US" altLang="zh-CN" sz="2800" b="1" dirty="0">
                <a:solidFill>
                  <a:srgbClr val="CC3300"/>
                </a:solidFill>
                <a:latin typeface="Times New Roman" panose="02020603050405020304" pitchFamily="18" charset="0"/>
              </a:rPr>
              <a:t>4) XOR </a:t>
            </a:r>
            <a:r>
              <a:rPr lang="zh-CN" altLang="en-US" sz="2800" b="1" dirty="0">
                <a:solidFill>
                  <a:srgbClr val="CC3300"/>
                </a:solidFill>
                <a:latin typeface="Times New Roman" panose="02020603050405020304" pitchFamily="18" charset="0"/>
              </a:rPr>
              <a:t>异或操作指令</a:t>
            </a:r>
            <a:r>
              <a:rPr lang="en-US" altLang="zh-CN" sz="2800" b="1" dirty="0">
                <a:solidFill>
                  <a:srgbClr val="CC3300"/>
                </a:solidFill>
                <a:latin typeface="Times New Roman" panose="02020603050405020304" pitchFamily="18" charset="0"/>
              </a:rPr>
              <a:t> (Exclusive OR)</a:t>
            </a:r>
            <a:endParaRPr lang="zh-CN" altLang="en-US" sz="2800" b="1" dirty="0">
              <a:solidFill>
                <a:srgbClr val="CC3300"/>
              </a:solidFill>
              <a:latin typeface="Times New Roman" panose="02020603050405020304" pitchFamily="18" charset="0"/>
            </a:endParaRPr>
          </a:p>
          <a:p>
            <a:pPr algn="l"/>
            <a:r>
              <a:rPr lang="zh-CN" altLang="en-US" sz="2800" dirty="0">
                <a:latin typeface="Times New Roman" panose="02020603050405020304" pitchFamily="18" charset="0"/>
              </a:rPr>
              <a:t>指令格式：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XOR</a:t>
            </a:r>
            <a:r>
              <a:rPr lang="en-US" altLang="zh-CN" sz="2800" dirty="0">
                <a:latin typeface="Times New Roman" panose="02020603050405020304" pitchFamily="18" charset="0"/>
              </a:rPr>
              <a:t>	   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目的，源</a:t>
            </a:r>
          </a:p>
          <a:p>
            <a:pPr algn="l"/>
            <a:r>
              <a:rPr lang="zh-CN" altLang="en-US" sz="2800" dirty="0">
                <a:latin typeface="Times New Roman" panose="02020603050405020304" pitchFamily="18" charset="0"/>
              </a:rPr>
              <a:t>指令功能： 对两个操作数进行按位逻辑异或运算，结果送回目的操作数，即：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目的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←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目的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  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</a:t>
            </a:r>
            <a:r>
              <a:rPr lang="zh-CN" altLang="en-US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  </a:t>
            </a:r>
            <a:r>
              <a:rPr lang="en-US" altLang="zh-CN" sz="2800" dirty="0">
                <a:solidFill>
                  <a:srgbClr val="0000FF"/>
                </a:solidFill>
                <a:latin typeface="Times New Roman" panose="02020603050405020304" pitchFamily="18" charset="0"/>
              </a:rPr>
              <a:t>源</a:t>
            </a:r>
          </a:p>
          <a:p>
            <a:pPr algn="l">
              <a:buFont typeface="Wingdings" panose="05000000000000000000" pitchFamily="2" charset="2"/>
              <a:buNone/>
            </a:pP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☼</a:t>
            </a:r>
            <a:r>
              <a:rPr lang="zh-CN" altLang="en-US" sz="2800" dirty="0">
                <a:latin typeface="Times New Roman" panose="02020603050405020304" pitchFamily="18" charset="0"/>
              </a:rPr>
              <a:t>用于使操作数的某些位保留</a:t>
            </a:r>
            <a:r>
              <a:rPr lang="en-US" altLang="zh-CN" sz="2800" dirty="0">
                <a:latin typeface="Times New Roman" panose="02020603050405020304" pitchFamily="18" charset="0"/>
              </a:rPr>
              <a:t>(</a:t>
            </a:r>
            <a:r>
              <a:rPr lang="zh-CN" altLang="en-US" sz="2800" dirty="0">
                <a:latin typeface="Times New Roman" panose="02020603050405020304" pitchFamily="18" charset="0"/>
              </a:rPr>
              <a:t>和</a:t>
            </a:r>
            <a:r>
              <a:rPr lang="en-US" altLang="zh-CN" sz="2800" dirty="0">
                <a:latin typeface="Times New Roman" panose="02020603050405020304" pitchFamily="18" charset="0"/>
              </a:rPr>
              <a:t>“0”</a:t>
            </a:r>
            <a:r>
              <a:rPr lang="zh-CN" altLang="en-US" sz="2800" dirty="0">
                <a:latin typeface="Times New Roman" panose="02020603050405020304" pitchFamily="18" charset="0"/>
              </a:rPr>
              <a:t>相异或</a:t>
            </a:r>
            <a:r>
              <a:rPr lang="en-US" altLang="zh-CN" sz="2800" dirty="0">
                <a:latin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</a:rPr>
              <a:t>，而使某些位</a:t>
            </a:r>
            <a:r>
              <a:rPr lang="zh-CN" altLang="en-US" sz="2800" b="1" dirty="0">
                <a:solidFill>
                  <a:srgbClr val="CC3300"/>
                </a:solidFill>
                <a:latin typeface="Times New Roman" panose="02020603050405020304" pitchFamily="18" charset="0"/>
              </a:rPr>
              <a:t>取反</a:t>
            </a:r>
            <a:r>
              <a:rPr lang="en-US" altLang="zh-CN" sz="2800" dirty="0">
                <a:latin typeface="Times New Roman" panose="02020603050405020304" pitchFamily="18" charset="0"/>
              </a:rPr>
              <a:t>(</a:t>
            </a:r>
            <a:r>
              <a:rPr lang="zh-CN" altLang="en-US" sz="2800" dirty="0">
                <a:latin typeface="Times New Roman" panose="02020603050405020304" pitchFamily="18" charset="0"/>
              </a:rPr>
              <a:t>和</a:t>
            </a:r>
            <a:r>
              <a:rPr lang="en-US" altLang="zh-CN" sz="2800" dirty="0">
                <a:latin typeface="Times New Roman" panose="02020603050405020304" pitchFamily="18" charset="0"/>
              </a:rPr>
              <a:t>“1”</a:t>
            </a:r>
            <a:r>
              <a:rPr lang="zh-CN" altLang="en-US" sz="2800" dirty="0">
                <a:latin typeface="Times New Roman" panose="02020603050405020304" pitchFamily="18" charset="0"/>
              </a:rPr>
              <a:t>相异或</a:t>
            </a:r>
            <a:r>
              <a:rPr lang="en-US" altLang="zh-CN" sz="2800" dirty="0">
                <a:latin typeface="Times New Roman" panose="02020603050405020304" pitchFamily="18" charset="0"/>
              </a:rPr>
              <a:t>)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【</a:t>
            </a: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重要！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</a:rPr>
              <a:t>】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algn="l"/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3.68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若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AL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中存有某外设端口的状态信息，其中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D1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位控制扬声器发声，要求该位在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0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和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之间来回变化，原来是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变成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0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，原来是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0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变成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，其余各位保留不变</a:t>
            </a:r>
          </a:p>
          <a:p>
            <a:pPr algn="l"/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       可用以下指令实现：</a:t>
            </a:r>
          </a:p>
          <a:p>
            <a:pPr algn="l">
              <a:spcBef>
                <a:spcPct val="0"/>
              </a:spcBef>
            </a:pP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      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XOR    AL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00000010B</a:t>
            </a:r>
            <a:endParaRPr lang="zh-CN" altLang="en-US" sz="2800" b="1" dirty="0">
              <a:solidFill>
                <a:srgbClr val="0000FF"/>
              </a:solidFill>
            </a:endParaRPr>
          </a:p>
        </p:txBody>
      </p:sp>
      <p:sp>
        <p:nvSpPr>
          <p:cNvPr id="12291" name="日期占位符 1">
            <a:extLst>
              <a:ext uri="{FF2B5EF4-FFF2-40B4-BE49-F238E27FC236}">
                <a16:creationId xmlns:a16="http://schemas.microsoft.com/office/drawing/2014/main" id="{C641A133-B6BC-4CE1-AD17-7A0846F5ED1E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DF298558-AEF8-4C96-9EB4-2C8D0302C55B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ll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0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02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024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标题 1">
            <a:extLst>
              <a:ext uri="{FF2B5EF4-FFF2-40B4-BE49-F238E27FC236}">
                <a16:creationId xmlns:a16="http://schemas.microsoft.com/office/drawing/2014/main" id="{EFDD0AAA-AF03-4BDB-B1AC-3A8237DF7E37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en-US" altLang="zh-CN" sz="4400" b="1">
                <a:solidFill>
                  <a:schemeClr val="accent2"/>
                </a:solidFill>
              </a:rPr>
              <a:t>1. </a:t>
            </a:r>
            <a:r>
              <a:rPr lang="zh-CN" altLang="en-US" sz="4400" b="1">
                <a:solidFill>
                  <a:schemeClr val="accent2"/>
                </a:solidFill>
              </a:rPr>
              <a:t>逻辑运算指令</a:t>
            </a:r>
          </a:p>
        </p:txBody>
      </p:sp>
      <p:sp>
        <p:nvSpPr>
          <p:cNvPr id="11267" name="内容占位符 2">
            <a:extLst>
              <a:ext uri="{FF2B5EF4-FFF2-40B4-BE49-F238E27FC236}">
                <a16:creationId xmlns:a16="http://schemas.microsoft.com/office/drawing/2014/main" id="{1DA4979A-65AF-4407-B546-09821529BB2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1314450"/>
            <a:ext cx="8372475" cy="5175250"/>
          </a:xfrm>
        </p:spPr>
        <p:txBody>
          <a:bodyPr/>
          <a:lstStyle/>
          <a:p>
            <a:pPr algn="l"/>
            <a:r>
              <a:rPr lang="en-US" altLang="zh-CN" sz="2800" b="1">
                <a:solidFill>
                  <a:srgbClr val="CC3300"/>
                </a:solidFill>
                <a:latin typeface="Times New Roman" panose="02020603050405020304" pitchFamily="18" charset="0"/>
              </a:rPr>
              <a:t>5) TEST </a:t>
            </a:r>
            <a:r>
              <a:rPr lang="zh-CN" altLang="en-US" sz="2800" b="1">
                <a:solidFill>
                  <a:srgbClr val="CC3300"/>
                </a:solidFill>
                <a:latin typeface="Times New Roman" panose="02020603050405020304" pitchFamily="18" charset="0"/>
              </a:rPr>
              <a:t>测试指令</a:t>
            </a:r>
            <a:r>
              <a:rPr lang="en-US" altLang="zh-CN" sz="2800" b="1">
                <a:solidFill>
                  <a:srgbClr val="CC3300"/>
                </a:solidFill>
                <a:latin typeface="Times New Roman" panose="02020603050405020304" pitchFamily="18" charset="0"/>
              </a:rPr>
              <a:t> (Test)</a:t>
            </a:r>
            <a:endParaRPr lang="zh-CN" altLang="en-US" sz="2800" b="1">
              <a:solidFill>
                <a:srgbClr val="CC3300"/>
              </a:solidFill>
              <a:latin typeface="Times New Roman" panose="02020603050405020304" pitchFamily="18" charset="0"/>
            </a:endParaRPr>
          </a:p>
          <a:p>
            <a:pPr algn="l"/>
            <a:r>
              <a:rPr lang="zh-CN" altLang="en-US" sz="2800">
                <a:latin typeface="Times New Roman" panose="02020603050405020304" pitchFamily="18" charset="0"/>
              </a:rPr>
              <a:t>指令格式：</a:t>
            </a:r>
            <a:r>
              <a:rPr lang="en-US" altLang="zh-CN" sz="2800">
                <a:latin typeface="Times New Roman" panose="02020603050405020304" pitchFamily="18" charset="0"/>
              </a:rPr>
              <a:t> TEST    </a:t>
            </a:r>
            <a:r>
              <a:rPr lang="zh-CN" altLang="en-US" sz="2800">
                <a:latin typeface="Times New Roman" panose="02020603050405020304" pitchFamily="18" charset="0"/>
              </a:rPr>
              <a:t>目的，源</a:t>
            </a:r>
          </a:p>
          <a:p>
            <a:pPr algn="l"/>
            <a:r>
              <a:rPr lang="zh-CN" altLang="en-US" sz="2800">
                <a:latin typeface="Times New Roman" panose="02020603050405020304" pitchFamily="18" charset="0"/>
              </a:rPr>
              <a:t>指令功能： 目的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“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与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”</a:t>
            </a:r>
            <a:r>
              <a:rPr lang="zh-CN" altLang="en-US" sz="2800">
                <a:latin typeface="Times New Roman" panose="02020603050405020304" pitchFamily="18" charset="0"/>
              </a:rPr>
              <a:t>源，并修改标志位，但</a:t>
            </a:r>
            <a:r>
              <a:rPr lang="zh-CN" altLang="en-US" sz="2800" b="1">
                <a:solidFill>
                  <a:srgbClr val="CC3300"/>
                </a:solidFill>
                <a:latin typeface="Times New Roman" panose="02020603050405020304" pitchFamily="18" charset="0"/>
              </a:rPr>
              <a:t>不回送结果</a:t>
            </a:r>
          </a:p>
          <a:p>
            <a:pPr algn="l">
              <a:buFont typeface="Wingdings" panose="05000000000000000000" pitchFamily="2" charset="2"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它常用在要检测某些条件是否满足，但又不希望改变原有操作数的情况下</a:t>
            </a:r>
            <a:endParaRPr lang="zh-CN" altLang="en-US" sz="3200"/>
          </a:p>
        </p:txBody>
      </p:sp>
      <p:sp>
        <p:nvSpPr>
          <p:cNvPr id="13315" name="日期占位符 1">
            <a:extLst>
              <a:ext uri="{FF2B5EF4-FFF2-40B4-BE49-F238E27FC236}">
                <a16:creationId xmlns:a16="http://schemas.microsoft.com/office/drawing/2014/main" id="{79EA6F86-856B-4CC1-8FC9-88CF139074DF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779792ED-40A4-44AB-B32E-838A6BE613C3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charRg st="64" end="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67">
                                            <p:txEl>
                                              <p:charRg st="64" end="9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标题 1">
            <a:extLst>
              <a:ext uri="{FF2B5EF4-FFF2-40B4-BE49-F238E27FC236}">
                <a16:creationId xmlns:a16="http://schemas.microsoft.com/office/drawing/2014/main" id="{0B19A8AF-8179-45C2-9CB2-095E75A33591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en-US" altLang="zh-CN" sz="4400" b="1">
                <a:solidFill>
                  <a:schemeClr val="accent2"/>
                </a:solidFill>
              </a:rPr>
              <a:t>1. </a:t>
            </a:r>
            <a:r>
              <a:rPr lang="zh-CN" altLang="en-US" sz="4400" b="1">
                <a:solidFill>
                  <a:schemeClr val="accent2"/>
                </a:solidFill>
              </a:rPr>
              <a:t>逻辑运算指令</a:t>
            </a:r>
            <a:r>
              <a:rPr lang="en-US" altLang="zh-CN" sz="4400" b="1">
                <a:solidFill>
                  <a:schemeClr val="accent2"/>
                </a:solidFill>
              </a:rPr>
              <a:t>（test</a:t>
            </a:r>
            <a:r>
              <a:rPr lang="zh-CN" altLang="en-US" sz="4400" b="1">
                <a:solidFill>
                  <a:schemeClr val="accent2"/>
                </a:solidFill>
              </a:rPr>
              <a:t>举例）</a:t>
            </a:r>
            <a:endParaRPr lang="en-US" altLang="zh-CN" sz="4400" b="1">
              <a:solidFill>
                <a:schemeClr val="accent2"/>
              </a:solidFill>
            </a:endParaRPr>
          </a:p>
        </p:txBody>
      </p:sp>
      <p:sp>
        <p:nvSpPr>
          <p:cNvPr id="12291" name="内容占位符 2">
            <a:extLst>
              <a:ext uri="{FF2B5EF4-FFF2-40B4-BE49-F238E27FC236}">
                <a16:creationId xmlns:a16="http://schemas.microsoft.com/office/drawing/2014/main" id="{E9719368-5F3F-4697-B477-D383F022EB6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15950" y="1028700"/>
            <a:ext cx="8142288" cy="5461000"/>
          </a:xfrm>
        </p:spPr>
        <p:txBody>
          <a:bodyPr/>
          <a:lstStyle/>
          <a:p>
            <a:pPr algn="l"/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例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3.69 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设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AL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寄存器中存有报警标志。若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D7=1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，表示温度报警，程序要转到温度报警处理程序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T_ALARM; D6=1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，则转压力报警程序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P_ALARM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。为此，可用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TEST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指令来实现这种功能：</a:t>
            </a:r>
          </a:p>
          <a:p>
            <a:pPr algn="l"/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	TEST	AL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80H		</a:t>
            </a:r>
            <a:r>
              <a:rPr lang="zh-CN" altLang="en-US" sz="28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1" charset="-122"/>
              </a:rPr>
              <a:t>；查</a:t>
            </a:r>
            <a:r>
              <a:rPr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1" charset="-122"/>
              </a:rPr>
              <a:t>AL</a:t>
            </a:r>
            <a:r>
              <a:rPr lang="zh-CN" altLang="en-US" sz="28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1" charset="-122"/>
              </a:rPr>
              <a:t>的</a:t>
            </a:r>
            <a:r>
              <a:rPr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1" charset="-122"/>
              </a:rPr>
              <a:t>D7=1?</a:t>
            </a:r>
            <a:endParaRPr lang="zh-CN" altLang="en-US" sz="2800">
              <a:solidFill>
                <a:schemeClr val="accent2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	JNZ	T_ALARM		</a:t>
            </a:r>
            <a:r>
              <a:rPr lang="zh-CN" altLang="en-US" sz="28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1" charset="-122"/>
              </a:rPr>
              <a:t>；是</a:t>
            </a:r>
            <a:r>
              <a:rPr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1" charset="-122"/>
              </a:rPr>
              <a:t>1(</a:t>
            </a:r>
            <a:r>
              <a:rPr lang="zh-CN" altLang="en-US" sz="28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1" charset="-122"/>
              </a:rPr>
              <a:t>非零</a:t>
            </a:r>
            <a:r>
              <a:rPr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1" charset="-122"/>
              </a:rPr>
              <a:t>)</a:t>
            </a:r>
            <a:r>
              <a:rPr lang="zh-CN" altLang="en-US" sz="28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1" charset="-122"/>
              </a:rPr>
              <a:t>，则转</a:t>
            </a:r>
          </a:p>
          <a:p>
            <a:pPr algn="l"/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					</a:t>
            </a:r>
            <a:r>
              <a:rPr lang="zh-CN" altLang="en-US" sz="28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1" charset="-122"/>
              </a:rPr>
              <a:t>；温度报警程序</a:t>
            </a:r>
          </a:p>
          <a:p>
            <a:pPr algn="l"/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	TEST	AL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40H		</a:t>
            </a:r>
            <a:r>
              <a:rPr lang="zh-CN" altLang="en-US" sz="28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1" charset="-122"/>
              </a:rPr>
              <a:t>D7=0</a:t>
            </a:r>
            <a:r>
              <a:rPr lang="zh-CN" altLang="en-US" sz="28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1" charset="-122"/>
              </a:rPr>
              <a:t>D6=1?</a:t>
            </a:r>
            <a:endParaRPr lang="zh-CN" altLang="en-US" sz="2800">
              <a:solidFill>
                <a:schemeClr val="accent2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	JNZ	P_ALARM		</a:t>
            </a:r>
            <a:r>
              <a:rPr lang="zh-CN" altLang="en-US" sz="28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1" charset="-122"/>
              </a:rPr>
              <a:t>；是</a:t>
            </a:r>
            <a:r>
              <a:rPr lang="en-US" altLang="zh-CN" sz="28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1" charset="-122"/>
              </a:rPr>
              <a:t>1</a:t>
            </a:r>
            <a:r>
              <a:rPr lang="zh-CN" altLang="en-US" sz="280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1" charset="-122"/>
              </a:rPr>
              <a:t>，转压力报警</a:t>
            </a:r>
          </a:p>
          <a:p>
            <a:pPr algn="l">
              <a:buFont typeface="Wingdings" panose="05000000000000000000" pitchFamily="2" charset="2"/>
              <a:buNone/>
            </a:pPr>
            <a:r>
              <a:rPr lang="zh-CN" altLang="en-US" sz="2800">
                <a:latin typeface="Times New Roman" panose="02020603050405020304" pitchFamily="18" charset="0"/>
              </a:rPr>
              <a:t>其中，</a:t>
            </a:r>
            <a:r>
              <a:rPr lang="en-US" altLang="zh-CN" sz="2800">
                <a:latin typeface="Times New Roman" panose="02020603050405020304" pitchFamily="18" charset="0"/>
              </a:rPr>
              <a:t>JNZ</a:t>
            </a:r>
            <a:r>
              <a:rPr lang="zh-CN" altLang="en-US" sz="2800">
                <a:latin typeface="Times New Roman" panose="02020603050405020304" pitchFamily="18" charset="0"/>
              </a:rPr>
              <a:t>为条件转移指令，表示结果非</a:t>
            </a:r>
            <a:r>
              <a:rPr lang="en-US" altLang="zh-CN" sz="2800">
                <a:latin typeface="Times New Roman" panose="02020603050405020304" pitchFamily="18" charset="0"/>
              </a:rPr>
              <a:t>0(ZF=1)</a:t>
            </a:r>
            <a:r>
              <a:rPr lang="zh-CN" altLang="en-US" sz="2800">
                <a:latin typeface="Times New Roman" panose="02020603050405020304" pitchFamily="18" charset="0"/>
              </a:rPr>
              <a:t>则转移</a:t>
            </a:r>
          </a:p>
          <a:p>
            <a:pPr algn="l"/>
            <a:endParaRPr lang="zh-CN" altLang="en-US" sz="2800"/>
          </a:p>
        </p:txBody>
      </p:sp>
      <p:sp>
        <p:nvSpPr>
          <p:cNvPr id="14339" name="日期占位符 1">
            <a:extLst>
              <a:ext uri="{FF2B5EF4-FFF2-40B4-BE49-F238E27FC236}">
                <a16:creationId xmlns:a16="http://schemas.microsoft.com/office/drawing/2014/main" id="{4D7FE1DA-6905-413B-9CF7-1B7D9D41A264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A2224598-41D0-46C9-9FDE-961600268698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ll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22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标题 1">
            <a:extLst>
              <a:ext uri="{FF2B5EF4-FFF2-40B4-BE49-F238E27FC236}">
                <a16:creationId xmlns:a16="http://schemas.microsoft.com/office/drawing/2014/main" id="{96D95C8E-57CE-4019-8E48-E8A763005D2C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en-US" altLang="zh-CN" sz="4400" b="1">
                <a:solidFill>
                  <a:schemeClr val="accent2"/>
                </a:solidFill>
              </a:rPr>
              <a:t>1. </a:t>
            </a:r>
            <a:r>
              <a:rPr lang="zh-CN" altLang="en-US" sz="4400" b="1">
                <a:solidFill>
                  <a:schemeClr val="accent2"/>
                </a:solidFill>
              </a:rPr>
              <a:t>逻辑运算指令</a:t>
            </a:r>
            <a:r>
              <a:rPr lang="en-US" altLang="zh-CN" sz="4400" b="1">
                <a:solidFill>
                  <a:schemeClr val="accent2"/>
                </a:solidFill>
              </a:rPr>
              <a:t>  </a:t>
            </a:r>
            <a:r>
              <a:rPr lang="zh-CN" altLang="en-US" sz="4400" b="1">
                <a:solidFill>
                  <a:srgbClr val="FF0000"/>
                </a:solidFill>
              </a:rPr>
              <a:t>小结</a:t>
            </a:r>
            <a:r>
              <a:rPr lang="en-US" altLang="zh-CN" sz="4400" b="1">
                <a:solidFill>
                  <a:srgbClr val="FF0000"/>
                </a:solidFill>
              </a:rPr>
              <a:t>*</a:t>
            </a:r>
          </a:p>
        </p:txBody>
      </p:sp>
      <p:sp>
        <p:nvSpPr>
          <p:cNvPr id="15362" name="内容占位符 2">
            <a:extLst>
              <a:ext uri="{FF2B5EF4-FFF2-40B4-BE49-F238E27FC236}">
                <a16:creationId xmlns:a16="http://schemas.microsoft.com/office/drawing/2014/main" id="{028AFFEA-75E4-42E7-94B3-D71C71425FD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15950" y="1028700"/>
            <a:ext cx="8142288" cy="5461000"/>
          </a:xfrm>
        </p:spPr>
        <p:txBody>
          <a:bodyPr/>
          <a:lstStyle/>
          <a:p>
            <a:pPr algn="l" eaLnBrk="0" fontAlgn="ctr" hangingPunct="0"/>
            <a:r>
              <a:rPr lang="zh-CN" altLang="en-US" sz="2400" dirty="0">
                <a:latin typeface="Times New Roman" panose="02020603050405020304" pitchFamily="18" charset="0"/>
              </a:rPr>
              <a:t>取反的方法： </a:t>
            </a:r>
            <a:r>
              <a:rPr lang="en-US" altLang="zh-CN" sz="2400" b="1" dirty="0">
                <a:latin typeface="Times New Roman" panose="02020603050405020304" pitchFamily="18" charset="0"/>
                <a:sym typeface="Arial" panose="020B0604020202020204" pitchFamily="34" charset="0"/>
              </a:rPr>
              <a:t>NOT  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AL </a:t>
            </a:r>
            <a:r>
              <a:rPr lang="en-US" altLang="zh-CN" sz="2400" dirty="0">
                <a:solidFill>
                  <a:schemeClr val="hlink"/>
                </a:solidFill>
                <a:latin typeface="Times New Roman" panose="02020603050405020304" pitchFamily="18" charset="0"/>
              </a:rPr>
              <a:t>	               </a:t>
            </a:r>
            <a:r>
              <a:rPr lang="en-US" altLang="zh-CN" sz="2400" dirty="0">
                <a:latin typeface="Times New Roman" panose="02020603050405020304" pitchFamily="18" charset="0"/>
              </a:rPr>
              <a:t>;AL</a:t>
            </a:r>
            <a:r>
              <a:rPr lang="zh-CN" altLang="en-US" sz="2400" dirty="0">
                <a:latin typeface="Times New Roman" panose="02020603050405020304" pitchFamily="18" charset="0"/>
              </a:rPr>
              <a:t>每一位都取反</a:t>
            </a:r>
          </a:p>
          <a:p>
            <a:pPr algn="l" eaLnBrk="0" fontAlgn="ctr" hangingPunct="0"/>
            <a:r>
              <a:rPr lang="zh-CN" altLang="en-US" sz="2400" dirty="0">
                <a:solidFill>
                  <a:schemeClr val="hlink"/>
                </a:solidFill>
                <a:latin typeface="Times New Roman" panose="02020603050405020304" pitchFamily="18" charset="0"/>
              </a:rPr>
              <a:t>		 </a:t>
            </a:r>
            <a:r>
              <a:rPr lang="en-US" altLang="zh-CN" sz="2400" b="1" dirty="0">
                <a:latin typeface="Times New Roman" panose="02020603050405020304" pitchFamily="18" charset="0"/>
                <a:sym typeface="Arial" panose="020B0604020202020204" pitchFamily="34" charset="0"/>
              </a:rPr>
              <a:t>XOR  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AL,01H</a:t>
            </a:r>
            <a:r>
              <a:rPr lang="en-US" altLang="zh-CN" sz="2400" dirty="0">
                <a:solidFill>
                  <a:schemeClr val="hlink"/>
                </a:solidFill>
                <a:latin typeface="Times New Roman" panose="02020603050405020304" pitchFamily="18" charset="0"/>
              </a:rPr>
              <a:t>	   </a:t>
            </a:r>
            <a:r>
              <a:rPr lang="en-US" altLang="zh-CN" sz="2400" dirty="0">
                <a:latin typeface="Times New Roman" panose="02020603050405020304" pitchFamily="18" charset="0"/>
              </a:rPr>
              <a:t>;</a:t>
            </a:r>
            <a:r>
              <a:rPr lang="zh-CN" altLang="en-US" sz="2400" dirty="0">
                <a:latin typeface="Times New Roman" panose="02020603050405020304" pitchFamily="18" charset="0"/>
              </a:rPr>
              <a:t>最低位取反，其他不变</a:t>
            </a:r>
          </a:p>
          <a:p>
            <a:pPr algn="l" eaLnBrk="0" fontAlgn="ctr" hangingPunct="0"/>
            <a:r>
              <a:rPr lang="zh-CN" altLang="en-US" sz="2400" dirty="0">
                <a:latin typeface="Times New Roman" panose="02020603050405020304" pitchFamily="18" charset="0"/>
              </a:rPr>
              <a:t>置</a:t>
            </a:r>
            <a:r>
              <a:rPr lang="en-US" altLang="zh-CN" sz="2400" dirty="0">
                <a:latin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</a:rPr>
              <a:t>的方法：</a:t>
            </a:r>
            <a:r>
              <a:rPr lang="en-US" altLang="zh-CN" sz="2400" b="1" dirty="0">
                <a:latin typeface="Times New Roman" panose="02020603050405020304" pitchFamily="18" charset="0"/>
              </a:rPr>
              <a:t>   </a:t>
            </a:r>
            <a:r>
              <a:rPr lang="en-US" altLang="zh-CN" sz="2400" b="1" dirty="0">
                <a:latin typeface="Times New Roman" panose="02020603050405020304" pitchFamily="18" charset="0"/>
                <a:sym typeface="Arial" panose="020B0604020202020204" pitchFamily="34" charset="0"/>
              </a:rPr>
              <a:t>OR    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AL,0FH</a:t>
            </a:r>
            <a:r>
              <a:rPr lang="en-US" altLang="zh-CN" sz="2400" dirty="0">
                <a:solidFill>
                  <a:schemeClr val="hlink"/>
                </a:solidFill>
                <a:latin typeface="Times New Roman" panose="02020603050405020304" pitchFamily="18" charset="0"/>
              </a:rPr>
              <a:t>	   </a:t>
            </a:r>
            <a:r>
              <a:rPr lang="en-US" altLang="zh-CN" sz="2400" dirty="0">
                <a:latin typeface="Times New Roman" panose="02020603050405020304" pitchFamily="18" charset="0"/>
              </a:rPr>
              <a:t>;</a:t>
            </a:r>
            <a:r>
              <a:rPr lang="zh-CN" altLang="en-US" sz="2400" dirty="0">
                <a:latin typeface="Times New Roman" panose="02020603050405020304" pitchFamily="18" charset="0"/>
              </a:rPr>
              <a:t> 低</a:t>
            </a:r>
            <a:r>
              <a:rPr lang="en-US" altLang="zh-CN" sz="2400" dirty="0">
                <a:latin typeface="Times New Roman" panose="02020603050405020304" pitchFamily="18" charset="0"/>
              </a:rPr>
              <a:t>4</a:t>
            </a:r>
            <a:r>
              <a:rPr lang="zh-CN" altLang="en-US" sz="2400" dirty="0">
                <a:latin typeface="Times New Roman" panose="02020603050405020304" pitchFamily="18" charset="0"/>
              </a:rPr>
              <a:t>位置</a:t>
            </a:r>
            <a:r>
              <a:rPr lang="en-US" altLang="zh-CN" sz="2400" dirty="0">
                <a:latin typeface="Times New Roman" panose="02020603050405020304" pitchFamily="18" charset="0"/>
              </a:rPr>
              <a:t>1</a:t>
            </a:r>
            <a:r>
              <a:rPr lang="zh-CN" altLang="en-US" sz="2400" dirty="0">
                <a:latin typeface="Times New Roman" panose="02020603050405020304" pitchFamily="18" charset="0"/>
              </a:rPr>
              <a:t>，高</a:t>
            </a:r>
            <a:r>
              <a:rPr lang="en-US" altLang="zh-CN" sz="2400" dirty="0">
                <a:latin typeface="Times New Roman" panose="02020603050405020304" pitchFamily="18" charset="0"/>
              </a:rPr>
              <a:t>4</a:t>
            </a:r>
            <a:r>
              <a:rPr lang="zh-CN" altLang="en-US" sz="2400" dirty="0">
                <a:latin typeface="Times New Roman" panose="02020603050405020304" pitchFamily="18" charset="0"/>
              </a:rPr>
              <a:t>位不变</a:t>
            </a:r>
          </a:p>
          <a:p>
            <a:pPr algn="l"/>
            <a:r>
              <a:rPr lang="zh-CN" altLang="en-US" sz="2400" dirty="0">
                <a:latin typeface="Garamond" panose="02020404030301010803" pitchFamily="18" charset="0"/>
              </a:rPr>
              <a:t>清</a:t>
            </a:r>
            <a:r>
              <a:rPr lang="en-US" altLang="zh-CN" sz="2400" dirty="0">
                <a:latin typeface="Garamond" panose="02020404030301010803" pitchFamily="18" charset="0"/>
              </a:rPr>
              <a:t>0</a:t>
            </a:r>
            <a:r>
              <a:rPr lang="zh-CN" altLang="en-US" sz="2400" dirty="0">
                <a:latin typeface="Garamond" panose="02020404030301010803" pitchFamily="18" charset="0"/>
              </a:rPr>
              <a:t>的方法：</a:t>
            </a:r>
            <a:r>
              <a:rPr lang="zh-CN" altLang="en-US" sz="2400" b="1" dirty="0">
                <a:latin typeface="Garamond" panose="02020404030301010803" pitchFamily="18" charset="0"/>
                <a:sym typeface="Arial" panose="020B0604020202020204" pitchFamily="34" charset="0"/>
              </a:rPr>
              <a:t> </a:t>
            </a:r>
            <a:r>
              <a:rPr lang="en-US" altLang="zh-CN" sz="2400" b="1" dirty="0">
                <a:latin typeface="Times New Roman" panose="02020603050405020304" pitchFamily="18" charset="0"/>
                <a:sym typeface="Arial" panose="020B0604020202020204" pitchFamily="34" charset="0"/>
              </a:rPr>
              <a:t>AND 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AL,0FH </a:t>
            </a:r>
            <a:r>
              <a:rPr lang="en-US" altLang="zh-CN" sz="2400" dirty="0">
                <a:latin typeface="Garamond" panose="02020404030301010803" pitchFamily="18" charset="0"/>
              </a:rPr>
              <a:t>;</a:t>
            </a:r>
            <a:r>
              <a:rPr lang="zh-CN" altLang="en-US" sz="2400" dirty="0">
                <a:latin typeface="Garamond" panose="02020404030301010803" pitchFamily="18" charset="0"/>
              </a:rPr>
              <a:t> 高</a:t>
            </a:r>
            <a:r>
              <a:rPr lang="en-US" altLang="zh-CN" sz="2400" dirty="0">
                <a:latin typeface="Garamond" panose="02020404030301010803" pitchFamily="18" charset="0"/>
              </a:rPr>
              <a:t>4</a:t>
            </a:r>
            <a:r>
              <a:rPr lang="zh-CN" altLang="en-US" sz="2400" dirty="0">
                <a:latin typeface="Garamond" panose="02020404030301010803" pitchFamily="18" charset="0"/>
              </a:rPr>
              <a:t>位清</a:t>
            </a:r>
            <a:r>
              <a:rPr lang="en-US" altLang="zh-CN" sz="2400" dirty="0">
                <a:latin typeface="Garamond" panose="02020404030301010803" pitchFamily="18" charset="0"/>
              </a:rPr>
              <a:t>0</a:t>
            </a:r>
            <a:r>
              <a:rPr lang="zh-CN" altLang="en-US" sz="2400" dirty="0">
                <a:latin typeface="Garamond" panose="02020404030301010803" pitchFamily="18" charset="0"/>
              </a:rPr>
              <a:t>，低</a:t>
            </a:r>
            <a:r>
              <a:rPr lang="en-US" altLang="zh-CN" sz="2400" dirty="0">
                <a:latin typeface="Garamond" panose="02020404030301010803" pitchFamily="18" charset="0"/>
              </a:rPr>
              <a:t>4</a:t>
            </a:r>
            <a:r>
              <a:rPr lang="zh-CN" altLang="en-US" sz="2400" dirty="0">
                <a:latin typeface="Garamond" panose="02020404030301010803" pitchFamily="18" charset="0"/>
              </a:rPr>
              <a:t>位不变</a:t>
            </a:r>
          </a:p>
          <a:p>
            <a:pPr algn="l"/>
            <a:endParaRPr lang="zh-CN" altLang="en-US" sz="2400" dirty="0">
              <a:latin typeface="Garamond" panose="02020404030301010803" pitchFamily="18" charset="0"/>
            </a:endParaRPr>
          </a:p>
          <a:p>
            <a:pPr algn="l"/>
            <a:r>
              <a:rPr lang="zh-CN" altLang="en-US" sz="2400" dirty="0">
                <a:latin typeface="Garamond" panose="02020404030301010803" pitchFamily="18" charset="0"/>
              </a:rPr>
              <a:t>测试某位：  </a:t>
            </a:r>
            <a:r>
              <a:rPr lang="en-US" altLang="zh-CN" sz="2400" b="1" dirty="0">
                <a:latin typeface="Times New Roman" panose="02020603050405020304" pitchFamily="18" charset="0"/>
                <a:sym typeface="Arial" panose="020B0604020202020204" pitchFamily="34" charset="0"/>
              </a:rPr>
              <a:t>TEST 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AL,00000011B</a:t>
            </a:r>
            <a:r>
              <a:rPr lang="en-US" altLang="zh-CN" sz="2400" dirty="0">
                <a:latin typeface="Garamond" panose="02020404030301010803" pitchFamily="18" charset="0"/>
              </a:rPr>
              <a:t>;</a:t>
            </a:r>
            <a:r>
              <a:rPr lang="zh-CN" altLang="en-US" sz="2400" dirty="0">
                <a:latin typeface="Garamond" panose="02020404030301010803" pitchFamily="18" charset="0"/>
              </a:rPr>
              <a:t>测试低两位是否为</a:t>
            </a:r>
            <a:r>
              <a:rPr lang="en-US" altLang="zh-CN" sz="2400" dirty="0">
                <a:latin typeface="Garamond" panose="02020404030301010803" pitchFamily="18" charset="0"/>
              </a:rPr>
              <a:t>0</a:t>
            </a:r>
            <a:endParaRPr lang="zh-CN" altLang="en-US" sz="2400" dirty="0">
              <a:latin typeface="Garamond" panose="02020404030301010803" pitchFamily="18" charset="0"/>
            </a:endParaRPr>
          </a:p>
          <a:p>
            <a:pPr algn="l"/>
            <a:endParaRPr lang="zh-CN" altLang="en-US" sz="2400" dirty="0">
              <a:latin typeface="Garamond" panose="02020404030301010803" pitchFamily="18" charset="0"/>
            </a:endParaRPr>
          </a:p>
          <a:p>
            <a:pPr algn="l"/>
            <a:r>
              <a:rPr lang="en-US" altLang="zh-CN" sz="2400" dirty="0">
                <a:solidFill>
                  <a:srgbClr val="FF0000"/>
                </a:solidFill>
                <a:latin typeface="Garamond" panose="02020404030301010803" pitchFamily="18" charset="0"/>
              </a:rPr>
              <a:t>*</a:t>
            </a:r>
            <a:r>
              <a:rPr lang="zh-CN" altLang="en-US" sz="2400" dirty="0">
                <a:solidFill>
                  <a:srgbClr val="FF0000"/>
                </a:solidFill>
                <a:latin typeface="Garamond" panose="02020404030301010803" pitchFamily="18" charset="0"/>
              </a:rPr>
              <a:t>逻辑指令对</a:t>
            </a:r>
            <a:r>
              <a:rPr lang="en-US" altLang="zh-CN" sz="2400" dirty="0">
                <a:solidFill>
                  <a:srgbClr val="FF0000"/>
                </a:solidFill>
                <a:latin typeface="Garamond" panose="02020404030301010803" pitchFamily="18" charset="0"/>
              </a:rPr>
              <a:t>CF</a:t>
            </a:r>
            <a:r>
              <a:rPr lang="zh-CN" altLang="en-US" sz="2400" dirty="0">
                <a:solidFill>
                  <a:srgbClr val="FF0000"/>
                </a:solidFill>
                <a:latin typeface="Garamond" panose="02020404030301010803" pitchFamily="18" charset="0"/>
              </a:rPr>
              <a:t>、</a:t>
            </a:r>
            <a:r>
              <a:rPr lang="en-US" altLang="zh-CN" sz="2400" dirty="0">
                <a:solidFill>
                  <a:srgbClr val="FF0000"/>
                </a:solidFill>
                <a:latin typeface="Garamond" panose="02020404030301010803" pitchFamily="18" charset="0"/>
              </a:rPr>
              <a:t>OF</a:t>
            </a:r>
            <a:r>
              <a:rPr lang="zh-CN" altLang="en-US" sz="2400" dirty="0">
                <a:solidFill>
                  <a:srgbClr val="FF0000"/>
                </a:solidFill>
                <a:latin typeface="Garamond" panose="02020404030301010803" pitchFamily="18" charset="0"/>
              </a:rPr>
              <a:t>的影响</a:t>
            </a:r>
            <a:r>
              <a:rPr lang="zh-CN" altLang="en-US" sz="2400" dirty="0">
                <a:latin typeface="Garamond" panose="02020404030301010803" pitchFamily="18" charset="0"/>
              </a:rPr>
              <a:t>：清</a:t>
            </a:r>
            <a:r>
              <a:rPr lang="en-US" altLang="zh-CN" sz="2400" dirty="0">
                <a:latin typeface="Garamond" panose="02020404030301010803" pitchFamily="18" charset="0"/>
              </a:rPr>
              <a:t>0</a:t>
            </a:r>
          </a:p>
          <a:p>
            <a:pPr algn="l"/>
            <a:r>
              <a:rPr lang="en-US" altLang="zh-CN" sz="2400" dirty="0">
                <a:latin typeface="Garamond" panose="02020404030301010803" pitchFamily="18" charset="0"/>
              </a:rPr>
              <a:t>    </a:t>
            </a:r>
            <a:r>
              <a:rPr lang="zh-CN" altLang="en-US" sz="2400" dirty="0">
                <a:latin typeface="Garamond" panose="02020404030301010803" pitchFamily="18" charset="0"/>
              </a:rPr>
              <a:t>如： </a:t>
            </a:r>
            <a:r>
              <a:rPr lang="en-US" altLang="zh-CN" sz="2400" b="1" dirty="0">
                <a:latin typeface="Times New Roman" panose="02020603050405020304" pitchFamily="18" charset="0"/>
                <a:sym typeface="Arial" panose="020B0604020202020204" pitchFamily="34" charset="0"/>
              </a:rPr>
              <a:t>AND 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AX, AX </a:t>
            </a:r>
            <a:r>
              <a:rPr lang="zh-CN" altLang="en-US" sz="2400" b="1" dirty="0">
                <a:solidFill>
                  <a:schemeClr val="hlink"/>
                </a:solidFill>
                <a:latin typeface="Garamond" panose="02020404030301010803" pitchFamily="18" charset="0"/>
                <a:sym typeface="Arial" panose="020B0604020202020204" pitchFamily="34" charset="0"/>
              </a:rPr>
              <a:t>  </a:t>
            </a:r>
            <a:r>
              <a:rPr lang="en-US" altLang="zh-CN" sz="2400" b="1" dirty="0">
                <a:solidFill>
                  <a:schemeClr val="hlink"/>
                </a:solidFill>
                <a:latin typeface="Garamond" panose="02020404030301010803" pitchFamily="18" charset="0"/>
                <a:sym typeface="Arial" panose="020B0604020202020204" pitchFamily="34" charset="0"/>
              </a:rPr>
              <a:t> </a:t>
            </a:r>
            <a:r>
              <a:rPr lang="en-US" altLang="zh-CN" sz="2400" b="1" dirty="0">
                <a:latin typeface="Garamond" panose="02020404030301010803" pitchFamily="18" charset="0"/>
              </a:rPr>
              <a:t>;AX</a:t>
            </a:r>
            <a:r>
              <a:rPr lang="zh-CN" altLang="en-US" sz="2400" b="1" dirty="0">
                <a:latin typeface="Garamond" panose="02020404030301010803" pitchFamily="18" charset="0"/>
              </a:rPr>
              <a:t>值不变，</a:t>
            </a:r>
            <a:r>
              <a:rPr lang="en-US" altLang="zh-CN" sz="2400" b="1" dirty="0">
                <a:latin typeface="Garamond" panose="02020404030301010803" pitchFamily="18" charset="0"/>
              </a:rPr>
              <a:t>CF=0</a:t>
            </a:r>
            <a:r>
              <a:rPr lang="zh-CN" altLang="en-US" sz="2400" b="1" dirty="0">
                <a:latin typeface="Garamond" panose="02020404030301010803" pitchFamily="18" charset="0"/>
              </a:rPr>
              <a:t>，</a:t>
            </a:r>
            <a:r>
              <a:rPr lang="en-US" altLang="zh-CN" sz="2400" b="1" dirty="0">
                <a:latin typeface="Garamond" panose="02020404030301010803" pitchFamily="18" charset="0"/>
              </a:rPr>
              <a:t>OF=0</a:t>
            </a:r>
          </a:p>
          <a:p>
            <a:pPr algn="l" eaLnBrk="0" fontAlgn="ctr" hangingPunct="0"/>
            <a:r>
              <a:rPr lang="zh-CN" altLang="en-US" sz="2400" b="1" dirty="0">
                <a:latin typeface="Garamond" panose="02020404030301010803" pitchFamily="18" charset="0"/>
                <a:sym typeface="Arial" panose="020B0604020202020204" pitchFamily="34" charset="0"/>
              </a:rPr>
              <a:t>       </a:t>
            </a:r>
            <a:r>
              <a:rPr lang="en-US" altLang="zh-CN" sz="2400" b="1" dirty="0">
                <a:latin typeface="Times New Roman" panose="02020603050405020304" pitchFamily="18" charset="0"/>
                <a:sym typeface="Arial" panose="020B0604020202020204" pitchFamily="34" charset="0"/>
              </a:rPr>
              <a:t>      OR </a:t>
            </a:r>
            <a:r>
              <a:rPr lang="en-US" altLang="zh-CN" sz="2400" b="1" dirty="0">
                <a:latin typeface="Garamond" panose="02020404030301010803" pitchFamily="18" charset="0"/>
                <a:sym typeface="Arial" panose="020B0604020202020204" pitchFamily="34" charset="0"/>
              </a:rPr>
              <a:t> 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AX, AX </a:t>
            </a:r>
            <a:r>
              <a:rPr lang="zh-CN" altLang="en-US" sz="2400" b="1" dirty="0">
                <a:solidFill>
                  <a:schemeClr val="hlink"/>
                </a:solidFill>
                <a:latin typeface="Garamond" panose="02020404030301010803" pitchFamily="18" charset="0"/>
                <a:sym typeface="Arial" panose="020B0604020202020204" pitchFamily="34" charset="0"/>
              </a:rPr>
              <a:t>   </a:t>
            </a:r>
            <a:r>
              <a:rPr lang="en-US" altLang="zh-CN" sz="2400" b="1" dirty="0">
                <a:latin typeface="Garamond" panose="02020404030301010803" pitchFamily="18" charset="0"/>
              </a:rPr>
              <a:t> ;AX</a:t>
            </a:r>
            <a:r>
              <a:rPr lang="zh-CN" altLang="en-US" sz="2400" b="1" dirty="0">
                <a:latin typeface="Garamond" panose="02020404030301010803" pitchFamily="18" charset="0"/>
              </a:rPr>
              <a:t>值不变，</a:t>
            </a:r>
            <a:r>
              <a:rPr lang="en-US" altLang="zh-CN" sz="2400" b="1" dirty="0">
                <a:latin typeface="Garamond" panose="02020404030301010803" pitchFamily="18" charset="0"/>
              </a:rPr>
              <a:t>CF=0</a:t>
            </a:r>
            <a:r>
              <a:rPr lang="zh-CN" altLang="en-US" sz="2400" b="1" dirty="0">
                <a:latin typeface="Garamond" panose="02020404030301010803" pitchFamily="18" charset="0"/>
              </a:rPr>
              <a:t>，</a:t>
            </a:r>
            <a:r>
              <a:rPr lang="en-US" altLang="zh-CN" sz="2400" b="1" dirty="0">
                <a:latin typeface="Garamond" panose="02020404030301010803" pitchFamily="18" charset="0"/>
              </a:rPr>
              <a:t>OF=0</a:t>
            </a:r>
          </a:p>
          <a:p>
            <a:pPr algn="l" eaLnBrk="0" fontAlgn="ctr" hangingPunct="0"/>
            <a:r>
              <a:rPr lang="en-US" altLang="zh-CN" sz="2400" dirty="0">
                <a:latin typeface="Garamond" panose="02020404030301010803" pitchFamily="18" charset="0"/>
              </a:rPr>
              <a:t>	</a:t>
            </a:r>
            <a:r>
              <a:rPr lang="zh-CN" altLang="en-US" sz="2400" dirty="0">
                <a:latin typeface="Garamond" panose="02020404030301010803" pitchFamily="18" charset="0"/>
              </a:rPr>
              <a:t>  </a:t>
            </a:r>
            <a:r>
              <a:rPr lang="en-US" altLang="zh-CN" sz="2400" b="1" dirty="0">
                <a:latin typeface="Times New Roman" panose="02020603050405020304" pitchFamily="18" charset="0"/>
              </a:rPr>
              <a:t>XOR </a:t>
            </a:r>
            <a:r>
              <a:rPr lang="en-US" altLang="zh-CN" sz="2400" dirty="0">
                <a:solidFill>
                  <a:srgbClr val="0000FF"/>
                </a:solidFill>
                <a:latin typeface="Times New Roman" panose="02020603050405020304" pitchFamily="18" charset="0"/>
              </a:rPr>
              <a:t>AX, AX </a:t>
            </a:r>
            <a:r>
              <a:rPr lang="en-US" altLang="zh-CN" sz="2400" b="1" dirty="0">
                <a:latin typeface="Garamond" panose="02020404030301010803" pitchFamily="18" charset="0"/>
              </a:rPr>
              <a:t> </a:t>
            </a:r>
            <a:r>
              <a:rPr lang="zh-CN" altLang="en-US" sz="2400" b="1" dirty="0">
                <a:latin typeface="Garamond" panose="02020404030301010803" pitchFamily="18" charset="0"/>
              </a:rPr>
              <a:t>  </a:t>
            </a:r>
            <a:r>
              <a:rPr lang="en-US" altLang="zh-CN" sz="2400" b="1" dirty="0">
                <a:latin typeface="Garamond" panose="02020404030301010803" pitchFamily="18" charset="0"/>
              </a:rPr>
              <a:t>;</a:t>
            </a:r>
            <a:r>
              <a:rPr lang="en-US" altLang="zh-CN" sz="2400" b="1" dirty="0">
                <a:latin typeface="Garamond" panose="02020404030301010803" pitchFamily="18" charset="0"/>
                <a:sym typeface="Arial" panose="020B0604020202020204" pitchFamily="34" charset="0"/>
              </a:rPr>
              <a:t>AX=0,CF=</a:t>
            </a:r>
            <a:r>
              <a:rPr lang="en-US" altLang="zh-CN" sz="2400" b="1" dirty="0">
                <a:latin typeface="Garamond" panose="02020404030301010803" pitchFamily="18" charset="0"/>
              </a:rPr>
              <a:t>0,OF=0</a:t>
            </a:r>
            <a:endParaRPr lang="zh-CN" altLang="en-US" sz="2400" dirty="0"/>
          </a:p>
        </p:txBody>
      </p:sp>
      <p:sp>
        <p:nvSpPr>
          <p:cNvPr id="15363" name="日期占位符 1">
            <a:extLst>
              <a:ext uri="{FF2B5EF4-FFF2-40B4-BE49-F238E27FC236}">
                <a16:creationId xmlns:a16="http://schemas.microsoft.com/office/drawing/2014/main" id="{0691F5FD-160C-45A3-B643-AF1074BA8298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92AE4161-9006-4DE2-A464-3E1FF2121B04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ll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标题 1">
            <a:extLst>
              <a:ext uri="{FF2B5EF4-FFF2-40B4-BE49-F238E27FC236}">
                <a16:creationId xmlns:a16="http://schemas.microsoft.com/office/drawing/2014/main" id="{17BC41B9-0558-4BC2-8B88-8B79A6447BA9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527050" y="495300"/>
            <a:ext cx="8229600" cy="1030288"/>
          </a:xfrm>
        </p:spPr>
        <p:txBody>
          <a:bodyPr anchor="ctr"/>
          <a:lstStyle/>
          <a:p>
            <a:pPr algn="l"/>
            <a:r>
              <a:rPr lang="en-US" altLang="zh-CN" sz="3600" b="1">
                <a:solidFill>
                  <a:schemeClr val="accent2"/>
                </a:solidFill>
              </a:rPr>
              <a:t>2. </a:t>
            </a:r>
            <a:r>
              <a:rPr lang="zh-CN" altLang="en-US" sz="3600" b="1">
                <a:solidFill>
                  <a:schemeClr val="accent2"/>
                </a:solidFill>
              </a:rPr>
              <a:t>算术逻辑移位指令</a:t>
            </a:r>
            <a:br>
              <a:rPr lang="zh-CN" altLang="en-US" sz="3600" b="1">
                <a:solidFill>
                  <a:schemeClr val="accent2"/>
                </a:solidFill>
              </a:rPr>
            </a:br>
            <a:r>
              <a:rPr lang="zh-CN" altLang="en-US" sz="3600" b="1">
                <a:solidFill>
                  <a:schemeClr val="accent2"/>
                </a:solidFill>
              </a:rPr>
              <a:t>    </a:t>
            </a:r>
            <a:r>
              <a:rPr lang="en-US" altLang="zh-CN" sz="3600" b="1">
                <a:solidFill>
                  <a:schemeClr val="accent2"/>
                </a:solidFill>
              </a:rPr>
              <a:t>(Shift Arithmetic and Shift Logical)</a:t>
            </a:r>
          </a:p>
        </p:txBody>
      </p:sp>
      <p:sp>
        <p:nvSpPr>
          <p:cNvPr id="16386" name="内容占位符 2">
            <a:extLst>
              <a:ext uri="{FF2B5EF4-FFF2-40B4-BE49-F238E27FC236}">
                <a16:creationId xmlns:a16="http://schemas.microsoft.com/office/drawing/2014/main" id="{7C4A6051-1ED5-45C2-9050-3FED4BE4D59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438150" y="1651000"/>
            <a:ext cx="8372475" cy="1466850"/>
          </a:xfrm>
        </p:spPr>
        <p:txBody>
          <a:bodyPr/>
          <a:lstStyle/>
          <a:p>
            <a:pPr algn="l"/>
            <a:r>
              <a:rPr lang="zh-CN" altLang="en-US" sz="2800">
                <a:latin typeface="Times New Roman" panose="02020603050405020304" pitchFamily="18" charset="0"/>
              </a:rPr>
              <a:t>可对寄存器或存储器中的字或字节的各位进行算术移位或逻辑移位，移动的次数由指令中的计数值决定，如图</a:t>
            </a:r>
            <a:r>
              <a:rPr lang="en-US" altLang="zh-CN" sz="2800">
                <a:latin typeface="Times New Roman" panose="02020603050405020304" pitchFamily="18" charset="0"/>
              </a:rPr>
              <a:t>3.17</a:t>
            </a:r>
            <a:r>
              <a:rPr lang="zh-CN" altLang="en-US" sz="2800">
                <a:latin typeface="Times New Roman" panose="02020603050405020304" pitchFamily="18" charset="0"/>
              </a:rPr>
              <a:t>。</a:t>
            </a:r>
            <a:endParaRPr lang="zh-CN" altLang="en-US" sz="3200"/>
          </a:p>
        </p:txBody>
      </p:sp>
      <p:pic>
        <p:nvPicPr>
          <p:cNvPr id="13316" name="图片 4" descr="LF3-17.png">
            <a:extLst>
              <a:ext uri="{FF2B5EF4-FFF2-40B4-BE49-F238E27FC236}">
                <a16:creationId xmlns:a16="http://schemas.microsoft.com/office/drawing/2014/main" id="{7290DB7C-FDBA-4A37-8C7A-1DBB5BF801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" y="3295650"/>
            <a:ext cx="8682038" cy="29337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8" name="日期占位符 1">
            <a:extLst>
              <a:ext uri="{FF2B5EF4-FFF2-40B4-BE49-F238E27FC236}">
                <a16:creationId xmlns:a16="http://schemas.microsoft.com/office/drawing/2014/main" id="{54340E2F-E820-4201-9234-B43B7366FECE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CE73984F-4BB7-4DFC-816C-D92BB13A0765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9642DF6-6BA8-4252-97D8-2093E65ABCA7}"/>
              </a:ext>
            </a:extLst>
          </p:cNvPr>
          <p:cNvSpPr txBox="1"/>
          <p:nvPr/>
        </p:nvSpPr>
        <p:spPr>
          <a:xfrm>
            <a:off x="2089450" y="2599185"/>
            <a:ext cx="6843713" cy="461665"/>
          </a:xfrm>
          <a:prstGeom prst="rect">
            <a:avLst/>
          </a:prstGeom>
          <a:gradFill>
            <a:gsLst>
              <a:gs pos="0">
                <a:srgbClr val="9EE256"/>
              </a:gs>
              <a:gs pos="100000">
                <a:srgbClr val="52762D"/>
              </a:gs>
            </a:gsLst>
            <a:lin ang="5400000" scaled="0"/>
          </a:gradFill>
          <a:ln w="53975" cmpd="sng">
            <a:solidFill>
              <a:srgbClr val="92D050"/>
            </a:solidFill>
            <a:prstDash val="solid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wrap="square">
            <a:spAutoFit/>
          </a:bodyPr>
          <a:lstStyle/>
          <a:p>
            <a:pPr eaLnBrk="1" hangingPunct="1">
              <a:buClr>
                <a:srgbClr val="B4B9BE"/>
              </a:buClr>
              <a:buFont typeface="Arial" panose="020B0604020202020204" pitchFamily="34" charset="0"/>
              <a:buNone/>
              <a:defRPr/>
            </a:pPr>
            <a:r>
              <a:rPr lang="zh-CN" altLang="en-US" sz="2400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2" charset="0"/>
                <a:cs typeface="+mn-ea"/>
              </a:rPr>
              <a:t>移位指令的一个重要作用是简化</a:t>
            </a:r>
            <a:r>
              <a:rPr lang="en-US" altLang="zh-CN" sz="2400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2" charset="0"/>
                <a:cs typeface="+mn-ea"/>
              </a:rPr>
              <a:t>2</a:t>
            </a:r>
            <a:r>
              <a:rPr lang="zh-CN" altLang="en-US" sz="2400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2" charset="0"/>
                <a:cs typeface="+mn-ea"/>
              </a:rPr>
              <a:t>的整数倍乘除法</a:t>
            </a:r>
          </a:p>
        </p:txBody>
      </p:sp>
    </p:spTree>
  </p:cSld>
  <p:clrMapOvr>
    <a:masterClrMapping/>
  </p:clrMapOvr>
  <p:transition spd="slow">
    <p:pull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3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内容占位符 2">
            <a:extLst>
              <a:ext uri="{FF2B5EF4-FFF2-40B4-BE49-F238E27FC236}">
                <a16:creationId xmlns:a16="http://schemas.microsoft.com/office/drawing/2014/main" id="{1DF11835-FDB7-45A6-9758-2C67B4365A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763" y="628650"/>
            <a:ext cx="8372475" cy="5861050"/>
          </a:xfrm>
        </p:spPr>
        <p:txBody>
          <a:bodyPr/>
          <a:lstStyle/>
          <a:p>
            <a:pPr marL="1905" indent="-1905" algn="l"/>
            <a:r>
              <a:rPr lang="en-US" altLang="x-none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1) SAL </a:t>
            </a:r>
            <a:r>
              <a:rPr lang="zh-CN" altLang="en-US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算术左移指令</a:t>
            </a:r>
            <a:r>
              <a:rPr lang="en-US" altLang="x-none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 (Shift Arithmetic Left)</a:t>
            </a:r>
            <a:endParaRPr lang="zh-CN" altLang="en-US" sz="2800" b="1" noProof="1">
              <a:solidFill>
                <a:srgbClr val="CC3300"/>
              </a:solidFill>
              <a:latin typeface="Times New Roman" panose="02020603050405020304" pitchFamily="2" charset="0"/>
            </a:endParaRPr>
          </a:p>
          <a:p>
            <a:pPr marL="1905" indent="-1905" algn="l"/>
            <a:r>
              <a:rPr lang="zh-CN" altLang="en-US" sz="2800" noProof="1">
                <a:latin typeface="Times New Roman" panose="02020603050405020304" pitchFamily="2" charset="0"/>
              </a:rPr>
              <a:t>指令格式：</a:t>
            </a:r>
            <a:r>
              <a:rPr lang="en-US" altLang="x-none" sz="2800" noProof="1">
                <a:latin typeface="Times New Roman" panose="02020603050405020304" pitchFamily="2" charset="0"/>
              </a:rPr>
              <a:t>SAL 	 </a:t>
            </a:r>
            <a:r>
              <a:rPr lang="zh-CN" altLang="en-US" sz="2800" noProof="1">
                <a:latin typeface="Times New Roman" panose="02020603050405020304" pitchFamily="2" charset="0"/>
              </a:rPr>
              <a:t>目的，计数值</a:t>
            </a:r>
          </a:p>
          <a:p>
            <a:pPr marL="1905" indent="-1905" algn="l"/>
            <a:r>
              <a:rPr lang="en-US" altLang="x-none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2) SHL </a:t>
            </a:r>
            <a:r>
              <a:rPr lang="zh-CN" altLang="en-US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逻辑左移指令</a:t>
            </a:r>
            <a:r>
              <a:rPr lang="en-US" altLang="x-none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 (Shift Logic Left)</a:t>
            </a:r>
            <a:endParaRPr lang="zh-CN" altLang="en-US" sz="2800" b="1" noProof="1">
              <a:solidFill>
                <a:srgbClr val="CC3300"/>
              </a:solidFill>
              <a:latin typeface="Times New Roman" panose="02020603050405020304" pitchFamily="2" charset="0"/>
            </a:endParaRPr>
          </a:p>
          <a:p>
            <a:pPr marL="1905" indent="-1905" algn="l"/>
            <a:r>
              <a:rPr lang="zh-CN" altLang="en-US" sz="2800" noProof="1">
                <a:latin typeface="Times New Roman" panose="02020603050405020304" pitchFamily="2" charset="0"/>
              </a:rPr>
              <a:t>指令格式：</a:t>
            </a:r>
            <a:r>
              <a:rPr lang="en-US" altLang="x-none" sz="2800" noProof="1">
                <a:latin typeface="Times New Roman" panose="02020603050405020304" pitchFamily="2" charset="0"/>
              </a:rPr>
              <a:t>SHL 	 </a:t>
            </a:r>
            <a:r>
              <a:rPr lang="zh-CN" altLang="en-US" sz="2800" noProof="1">
                <a:latin typeface="Times New Roman" panose="02020603050405020304" pitchFamily="2" charset="0"/>
              </a:rPr>
              <a:t>目的，计数值</a:t>
            </a:r>
          </a:p>
          <a:p>
            <a:pPr marL="1905" indent="-1905" algn="l"/>
            <a:r>
              <a:rPr lang="zh-CN" altLang="en-US" sz="28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指令功能：以上两条指令的功能完全相同</a:t>
            </a:r>
          </a:p>
          <a:p>
            <a:pPr marL="1905" indent="112395" algn="l">
              <a:buFont typeface="Wingdings" panose="05000000000000000000" pitchFamily="2" charset="2"/>
              <a:buChar char="l"/>
            </a:pPr>
            <a:r>
              <a:rPr lang="zh-CN" altLang="en-US" sz="2800" noProof="1">
                <a:latin typeface="Times New Roman" panose="02020603050405020304" pitchFamily="2" charset="0"/>
              </a:rPr>
              <a:t>均将目的操作数的各位左移，每移一次，最低位</a:t>
            </a:r>
            <a:r>
              <a:rPr lang="en-US" altLang="x-none" sz="2800" noProof="1">
                <a:latin typeface="Times New Roman" panose="02020603050405020304" pitchFamily="2" charset="0"/>
              </a:rPr>
              <a:t>LSB</a:t>
            </a:r>
            <a:r>
              <a:rPr lang="zh-CN" altLang="en-US" sz="2800" noProof="1">
                <a:latin typeface="Times New Roman" panose="02020603050405020304" pitchFamily="2" charset="0"/>
              </a:rPr>
              <a:t>补</a:t>
            </a:r>
            <a:r>
              <a:rPr lang="en-US" altLang="x-none" sz="2800" noProof="1">
                <a:latin typeface="Times New Roman" panose="02020603050405020304" pitchFamily="2" charset="0"/>
              </a:rPr>
              <a:t>0</a:t>
            </a:r>
            <a:r>
              <a:rPr lang="zh-CN" altLang="en-US" sz="2800" noProof="1">
                <a:latin typeface="Times New Roman" panose="02020603050405020304" pitchFamily="2" charset="0"/>
              </a:rPr>
              <a:t>，最高位</a:t>
            </a:r>
            <a:r>
              <a:rPr lang="en-US" altLang="x-none" sz="2800" noProof="1">
                <a:latin typeface="Times New Roman" panose="02020603050405020304" pitchFamily="2" charset="0"/>
              </a:rPr>
              <a:t>MSB</a:t>
            </a:r>
            <a:r>
              <a:rPr lang="zh-CN" altLang="en-US" sz="2800" noProof="1">
                <a:latin typeface="Times New Roman" panose="02020603050405020304" pitchFamily="2" charset="0"/>
              </a:rPr>
              <a:t>进标志位</a:t>
            </a:r>
            <a:r>
              <a:rPr lang="en-US" altLang="x-none" sz="2800" noProof="1">
                <a:latin typeface="Times New Roman" panose="02020603050405020304" pitchFamily="2" charset="0"/>
              </a:rPr>
              <a:t>CF</a:t>
            </a:r>
            <a:r>
              <a:rPr lang="zh-CN" altLang="en-US" sz="2800" noProof="1">
                <a:latin typeface="Times New Roman" panose="02020603050405020304" pitchFamily="2" charset="0"/>
              </a:rPr>
              <a:t>。移动一次，相当于将目的操作数乘以</a:t>
            </a:r>
            <a:r>
              <a:rPr lang="en-US" altLang="x-none" sz="2800" noProof="1">
                <a:latin typeface="Times New Roman" panose="02020603050405020304" pitchFamily="2" charset="0"/>
              </a:rPr>
              <a:t>2</a:t>
            </a:r>
            <a:endParaRPr lang="zh-CN" altLang="en-US" sz="2800" noProof="1">
              <a:latin typeface="Times New Roman" panose="02020603050405020304" pitchFamily="2" charset="0"/>
            </a:endParaRPr>
          </a:p>
          <a:p>
            <a:pPr marL="1905" indent="112395" algn="l">
              <a:buFont typeface="Wingdings" panose="05000000000000000000" pitchFamily="2" charset="2"/>
              <a:buChar char="l"/>
            </a:pPr>
            <a:r>
              <a:rPr lang="zh-CN" altLang="en-US" sz="2800" noProof="1">
                <a:latin typeface="Times New Roman" panose="02020603050405020304" pitchFamily="2" charset="0"/>
              </a:rPr>
              <a:t>计数值表示移位次数，可以是</a:t>
            </a:r>
            <a:r>
              <a:rPr lang="en-US" altLang="x-none" sz="2800" noProof="1">
                <a:latin typeface="Times New Roman" panose="02020603050405020304" pitchFamily="2" charset="0"/>
              </a:rPr>
              <a:t>1</a:t>
            </a:r>
            <a:r>
              <a:rPr lang="zh-CN" altLang="en-US" sz="2800" noProof="1">
                <a:latin typeface="Times New Roman" panose="02020603050405020304" pitchFamily="2" charset="0"/>
              </a:rPr>
              <a:t>。</a:t>
            </a:r>
            <a:r>
              <a:rPr lang="zh-CN" altLang="en-US" sz="28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若大于</a:t>
            </a:r>
            <a:r>
              <a:rPr lang="en-US" altLang="x-none" sz="28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1</a:t>
            </a:r>
            <a:r>
              <a:rPr lang="zh-CN" altLang="en-US" sz="28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，则用</a:t>
            </a:r>
            <a:r>
              <a:rPr lang="en-US" altLang="x-none" sz="28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CL</a:t>
            </a:r>
            <a:r>
              <a:rPr lang="zh-CN" altLang="en-US" sz="2800" noProof="1">
                <a:latin typeface="Times New Roman" panose="02020603050405020304" pitchFamily="2" charset="0"/>
              </a:rPr>
              <a:t>存放，并要事先将次数存入</a:t>
            </a:r>
            <a:r>
              <a:rPr lang="en-US" altLang="x-none" sz="2800" noProof="1">
                <a:latin typeface="Times New Roman" panose="02020603050405020304" pitchFamily="2" charset="0"/>
              </a:rPr>
              <a:t>CL</a:t>
            </a:r>
            <a:endParaRPr lang="zh-CN" altLang="en-US" sz="2800" noProof="1">
              <a:latin typeface="Times New Roman" panose="02020603050405020304" pitchFamily="2" charset="0"/>
            </a:endParaRPr>
          </a:p>
          <a:p>
            <a:pPr marL="1905" indent="112395" algn="l">
              <a:buFont typeface="Wingdings" panose="05000000000000000000" pitchFamily="2" charset="2"/>
              <a:buChar char="l"/>
            </a:pPr>
            <a:r>
              <a:rPr lang="zh-CN" altLang="en-US" sz="2800" noProof="1">
                <a:latin typeface="Times New Roman" panose="02020603050405020304" pitchFamily="2" charset="0"/>
              </a:rPr>
              <a:t>移位次数最多为</a:t>
            </a:r>
            <a:r>
              <a:rPr lang="en-US" altLang="x-none" sz="2800" noProof="1">
                <a:latin typeface="Times New Roman" panose="02020603050405020304" pitchFamily="2" charset="0"/>
              </a:rPr>
              <a:t>31(</a:t>
            </a:r>
            <a:r>
              <a:rPr lang="zh-CN" altLang="en-US" sz="2800" noProof="1">
                <a:latin typeface="Times New Roman" panose="02020603050405020304" pitchFamily="2" charset="0"/>
              </a:rPr>
              <a:t>即</a:t>
            </a:r>
            <a:r>
              <a:rPr lang="en-US" altLang="x-none" sz="2800" noProof="1">
                <a:latin typeface="Times New Roman" panose="02020603050405020304" pitchFamily="2" charset="0"/>
              </a:rPr>
              <a:t>00011111B)</a:t>
            </a:r>
            <a:endParaRPr lang="zh-CN" altLang="en-US" sz="3200" noProof="1"/>
          </a:p>
        </p:txBody>
      </p:sp>
      <p:sp>
        <p:nvSpPr>
          <p:cNvPr id="17410" name="日期占位符 1">
            <a:extLst>
              <a:ext uri="{FF2B5EF4-FFF2-40B4-BE49-F238E27FC236}">
                <a16:creationId xmlns:a16="http://schemas.microsoft.com/office/drawing/2014/main" id="{CE208B94-A3DE-4B0E-B442-170CF53440AA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D5F0F816-EB85-4F3B-AF10-E3676BA11C01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ll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3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43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433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433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433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1433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标题 1">
            <a:extLst>
              <a:ext uri="{FF2B5EF4-FFF2-40B4-BE49-F238E27FC236}">
                <a16:creationId xmlns:a16="http://schemas.microsoft.com/office/drawing/2014/main" id="{28637307-2A77-4866-A926-D5BA8772A9B9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32775" cy="676275"/>
          </a:xfrm>
        </p:spPr>
        <p:txBody>
          <a:bodyPr anchor="ctr"/>
          <a:lstStyle/>
          <a:p>
            <a:pPr algn="l"/>
            <a:r>
              <a:rPr lang="en-US" altLang="zh-CN" sz="3600" b="1">
                <a:solidFill>
                  <a:schemeClr val="accent2"/>
                </a:solidFill>
              </a:rPr>
              <a:t>2. </a:t>
            </a:r>
            <a:r>
              <a:rPr lang="zh-CN" altLang="en-US" sz="3600" b="1">
                <a:solidFill>
                  <a:schemeClr val="accent2"/>
                </a:solidFill>
              </a:rPr>
              <a:t>算术逻辑移位指令</a:t>
            </a:r>
            <a:r>
              <a:rPr lang="en-US" altLang="zh-CN" sz="3600" b="1">
                <a:solidFill>
                  <a:schemeClr val="accent2"/>
                </a:solidFill>
              </a:rPr>
              <a:t>（SAL SHL</a:t>
            </a:r>
            <a:r>
              <a:rPr lang="zh-CN" altLang="en-US" sz="3600" b="1">
                <a:solidFill>
                  <a:schemeClr val="accent2"/>
                </a:solidFill>
              </a:rPr>
              <a:t>举例）</a:t>
            </a:r>
            <a:endParaRPr lang="en-US" altLang="zh-CN" sz="3600" b="1">
              <a:solidFill>
                <a:schemeClr val="accent2"/>
              </a:solidFill>
            </a:endParaRPr>
          </a:p>
        </p:txBody>
      </p:sp>
      <p:sp>
        <p:nvSpPr>
          <p:cNvPr id="15363" name="内容占位符 2">
            <a:extLst>
              <a:ext uri="{FF2B5EF4-FFF2-40B4-BE49-F238E27FC236}">
                <a16:creationId xmlns:a16="http://schemas.microsoft.com/office/drawing/2014/main" id="{59D3DA40-2624-4260-B53E-D26EBCB469B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482600" y="1339850"/>
            <a:ext cx="8372475" cy="5175250"/>
          </a:xfrm>
        </p:spPr>
        <p:txBody>
          <a:bodyPr/>
          <a:lstStyle/>
          <a:p>
            <a:pPr algn="l"/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3.70</a:t>
            </a:r>
            <a:endParaRPr lang="zh-CN" altLang="en-US" sz="28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MOV	   AH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00000110B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AH=06H</a:t>
            </a:r>
            <a:endParaRPr lang="zh-CN" altLang="en-US" sz="2800" dirty="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r>
              <a:rPr lang="en-US" altLang="zh-CN" sz="2800" b="1" dirty="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SAL	   AH</a:t>
            </a:r>
            <a:r>
              <a:rPr lang="zh-CN" altLang="en-US" sz="2800" b="1" dirty="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 b="1" dirty="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1		 </a:t>
            </a:r>
            <a:r>
              <a:rPr lang="zh-CN" altLang="en-US" sz="2800" b="1" dirty="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；将</a:t>
            </a:r>
            <a:r>
              <a:rPr lang="en-US" altLang="zh-CN" sz="2800" b="1" dirty="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AH</a:t>
            </a:r>
            <a:r>
              <a:rPr lang="zh-CN" altLang="en-US" sz="2800" b="1" dirty="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内容左移一位后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，</a:t>
            </a:r>
          </a:p>
          <a:p>
            <a:pPr algn="l"/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				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AH=0CH</a:t>
            </a:r>
            <a:endParaRPr lang="zh-CN" altLang="en-US" sz="2800" dirty="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MOV	   CL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03H		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CL←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移位次数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3</a:t>
            </a:r>
            <a:endParaRPr lang="zh-CN" altLang="en-US" sz="2800" dirty="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r>
              <a:rPr lang="en-US" altLang="zh-CN" sz="2800" b="1" dirty="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SHL	   DI</a:t>
            </a:r>
            <a:r>
              <a:rPr lang="zh-CN" altLang="en-US" sz="2800" b="1" dirty="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 b="1" dirty="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CL		 </a:t>
            </a:r>
            <a:r>
              <a:rPr lang="zh-CN" altLang="en-US" sz="2800" b="1" dirty="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；将</a:t>
            </a:r>
            <a:r>
              <a:rPr lang="en-US" altLang="zh-CN" sz="2800" b="1" dirty="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DI</a:t>
            </a:r>
            <a:r>
              <a:rPr lang="zh-CN" altLang="en-US" sz="2800" b="1" dirty="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内容左移</a:t>
            </a:r>
            <a:r>
              <a:rPr lang="en-US" altLang="zh-CN" sz="2800" b="1" dirty="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3</a:t>
            </a:r>
            <a:r>
              <a:rPr lang="zh-CN" altLang="en-US" sz="2800" b="1" dirty="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次</a:t>
            </a:r>
          </a:p>
          <a:p>
            <a:pPr algn="l"/>
            <a:r>
              <a:rPr lang="en-US" altLang="zh-CN" sz="2800" b="1" dirty="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SAL	  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BYTE  PTR</a:t>
            </a:r>
            <a:r>
              <a:rPr lang="zh-CN" altLang="en-US" sz="2800" b="1" dirty="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［</a:t>
            </a:r>
            <a:r>
              <a:rPr lang="en-US" altLang="zh-CN" sz="2800" b="1" dirty="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BX</a:t>
            </a:r>
            <a:r>
              <a:rPr lang="zh-CN" altLang="en-US" sz="2800" b="1" dirty="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］，</a:t>
            </a:r>
            <a:r>
              <a:rPr lang="en-US" altLang="zh-CN" sz="2800" b="1" dirty="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1	</a:t>
            </a:r>
            <a:endParaRPr lang="zh-CN" altLang="en-US" sz="2800" b="1" dirty="0">
              <a:solidFill>
                <a:srgbClr val="CC3300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				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；将内存单元字节左移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1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位</a:t>
            </a:r>
          </a:p>
          <a:p>
            <a:pPr algn="l"/>
            <a:endParaRPr lang="zh-CN" altLang="en-US" sz="3200" dirty="0"/>
          </a:p>
        </p:txBody>
      </p:sp>
      <p:sp>
        <p:nvSpPr>
          <p:cNvPr id="18435" name="日期占位符 1">
            <a:extLst>
              <a:ext uri="{FF2B5EF4-FFF2-40B4-BE49-F238E27FC236}">
                <a16:creationId xmlns:a16="http://schemas.microsoft.com/office/drawing/2014/main" id="{01DA4593-C283-4260-B5FC-0D76C8FDC855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CEF75532-4516-47DD-9386-6A4E7EFD9BB3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ll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53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标题 1">
            <a:extLst>
              <a:ext uri="{FF2B5EF4-FFF2-40B4-BE49-F238E27FC236}">
                <a16:creationId xmlns:a16="http://schemas.microsoft.com/office/drawing/2014/main" id="{8FAF528E-3EAA-496A-93E3-F87DC215EC7B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349250" y="406400"/>
            <a:ext cx="8229600" cy="674688"/>
          </a:xfrm>
        </p:spPr>
        <p:txBody>
          <a:bodyPr anchor="ctr"/>
          <a:lstStyle/>
          <a:p>
            <a:pPr algn="l"/>
            <a:r>
              <a:rPr lang="en-US" altLang="zh-CN" sz="4400" b="1">
                <a:solidFill>
                  <a:schemeClr val="accent2"/>
                </a:solidFill>
              </a:rPr>
              <a:t>2. </a:t>
            </a:r>
            <a:r>
              <a:rPr lang="zh-CN" altLang="en-US" sz="4400" b="1">
                <a:solidFill>
                  <a:schemeClr val="accent2"/>
                </a:solidFill>
              </a:rPr>
              <a:t>算术逻辑移位指令</a:t>
            </a:r>
          </a:p>
        </p:txBody>
      </p:sp>
      <p:sp>
        <p:nvSpPr>
          <p:cNvPr id="16387" name="内容占位符 2">
            <a:extLst>
              <a:ext uri="{FF2B5EF4-FFF2-40B4-BE49-F238E27FC236}">
                <a16:creationId xmlns:a16="http://schemas.microsoft.com/office/drawing/2014/main" id="{F7B29CCA-3A5A-4720-B08C-26E61B300C7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763" y="1117600"/>
            <a:ext cx="8497887" cy="5372100"/>
          </a:xfrm>
        </p:spPr>
        <p:txBody>
          <a:bodyPr/>
          <a:lstStyle/>
          <a:p>
            <a:pPr marL="1905" indent="-1905" algn="l"/>
            <a:r>
              <a:rPr lang="en-US" altLang="x-none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3) SHR </a:t>
            </a:r>
            <a:r>
              <a:rPr lang="zh-CN" altLang="en-US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逻辑右移指令</a:t>
            </a:r>
            <a:r>
              <a:rPr lang="en-US" altLang="x-none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 (Shift Logic Right)</a:t>
            </a:r>
          </a:p>
          <a:p>
            <a:pPr marL="1905" indent="-1905" algn="l"/>
            <a:r>
              <a:rPr lang="zh-CN" altLang="en-US" sz="2800" noProof="1">
                <a:latin typeface="Times New Roman" panose="02020603050405020304" pitchFamily="2" charset="0"/>
              </a:rPr>
              <a:t>指令格式：</a:t>
            </a:r>
            <a:r>
              <a:rPr lang="en-US" altLang="x-none" sz="2800" noProof="1">
                <a:latin typeface="Times New Roman" panose="02020603050405020304" pitchFamily="2" charset="0"/>
              </a:rPr>
              <a:t>SHR   </a:t>
            </a:r>
            <a:r>
              <a:rPr lang="zh-CN" altLang="en-US" sz="2800" noProof="1">
                <a:latin typeface="Times New Roman" panose="02020603050405020304" pitchFamily="2" charset="0"/>
              </a:rPr>
              <a:t>目的，计数值</a:t>
            </a:r>
          </a:p>
          <a:p>
            <a:pPr marL="1905" indent="-1905" algn="l"/>
            <a:r>
              <a:rPr lang="zh-CN" altLang="en-US" sz="2800" noProof="1">
                <a:latin typeface="Times New Roman" panose="02020603050405020304" pitchFamily="2" charset="0"/>
              </a:rPr>
              <a:t>指令功能：使目的操作数各位右移，每移一次，最低位进入</a:t>
            </a:r>
            <a:r>
              <a:rPr lang="en-US" altLang="x-none" sz="2800" noProof="1">
                <a:latin typeface="Times New Roman" panose="02020603050405020304" pitchFamily="2" charset="0"/>
              </a:rPr>
              <a:t>CF</a:t>
            </a:r>
            <a:r>
              <a:rPr lang="zh-CN" altLang="en-US" sz="2800" noProof="1">
                <a:latin typeface="Times New Roman" panose="02020603050405020304" pitchFamily="2" charset="0"/>
              </a:rPr>
              <a:t>，最高位补</a:t>
            </a:r>
            <a:r>
              <a:rPr lang="en-US" altLang="x-none" sz="2800" noProof="1">
                <a:latin typeface="Times New Roman" panose="02020603050405020304" pitchFamily="2" charset="0"/>
              </a:rPr>
              <a:t>0</a:t>
            </a:r>
          </a:p>
          <a:p>
            <a:pPr marL="1905" indent="112395" algn="l">
              <a:buFont typeface="Wingdings" panose="05000000000000000000" pitchFamily="2" charset="2"/>
              <a:buChar char="l"/>
            </a:pPr>
            <a:r>
              <a:rPr lang="zh-CN" altLang="en-US" sz="2800" noProof="1">
                <a:latin typeface="Times New Roman" panose="02020603050405020304" pitchFamily="2" charset="0"/>
              </a:rPr>
              <a:t>右移次数由计数值决定，同</a:t>
            </a:r>
            <a:r>
              <a:rPr lang="en-US" altLang="x-none" sz="2800" noProof="1">
                <a:latin typeface="Times New Roman" panose="02020603050405020304" pitchFamily="2" charset="0"/>
              </a:rPr>
              <a:t>SAL/SHL</a:t>
            </a:r>
            <a:r>
              <a:rPr lang="zh-CN" altLang="en-US" sz="2800" noProof="1">
                <a:latin typeface="Times New Roman" panose="02020603050405020304" pitchFamily="2" charset="0"/>
              </a:rPr>
              <a:t>指令一样</a:t>
            </a:r>
          </a:p>
          <a:p>
            <a:pPr marL="1905" indent="112395" algn="l">
              <a:buFont typeface="Wingdings" panose="05000000000000000000" pitchFamily="2" charset="2"/>
              <a:buChar char="l"/>
            </a:pPr>
            <a:r>
              <a:rPr lang="zh-CN" altLang="en-US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若目的操作数为无符号数，每右移一次，使目的操作数除以</a:t>
            </a:r>
            <a:r>
              <a:rPr lang="en-US" altLang="x-none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2</a:t>
            </a:r>
          </a:p>
          <a:p>
            <a:pPr marL="1905" indent="-1905" algn="l"/>
            <a:r>
              <a:rPr lang="zh-CN" altLang="en-US" sz="2800" b="1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例</a:t>
            </a:r>
            <a:r>
              <a:rPr lang="en-US" altLang="x-none" sz="2800" b="1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3.71  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用右移的方法做除法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133/8=16…5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，即：</a:t>
            </a:r>
          </a:p>
          <a:p>
            <a:pPr marL="1905" indent="-1905" algn="l"/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MOV	AL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，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	10000101B	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；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AL=133</a:t>
            </a:r>
          </a:p>
          <a:p>
            <a:pPr marL="1905" indent="-1905" algn="l"/>
            <a:r>
              <a:rPr lang="en-US" altLang="x-none" sz="2800" noProof="1">
                <a:solidFill>
                  <a:srgbClr val="CC3300"/>
                </a:solidFill>
                <a:latin typeface="Times New Roman" panose="02020603050405020304" pitchFamily="2" charset="0"/>
                <a:ea typeface="楷体_GB2312" pitchFamily="1" charset="-122"/>
              </a:rPr>
              <a:t>MOV	CL</a:t>
            </a:r>
            <a:r>
              <a:rPr lang="zh-CN" altLang="en-US" sz="2800" noProof="1">
                <a:solidFill>
                  <a:srgbClr val="CC3300"/>
                </a:solidFill>
                <a:latin typeface="Times New Roman" panose="02020603050405020304" pitchFamily="2" charset="0"/>
                <a:ea typeface="楷体_GB2312" pitchFamily="1" charset="-122"/>
              </a:rPr>
              <a:t>，</a:t>
            </a:r>
            <a:r>
              <a:rPr lang="en-US" altLang="x-none" sz="2800" noProof="1">
                <a:solidFill>
                  <a:srgbClr val="CC3300"/>
                </a:solidFill>
                <a:latin typeface="Times New Roman" panose="02020603050405020304" pitchFamily="2" charset="0"/>
                <a:ea typeface="楷体_GB2312" pitchFamily="1" charset="-122"/>
              </a:rPr>
              <a:t>	03H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		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；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CL=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移位次数</a:t>
            </a:r>
          </a:p>
          <a:p>
            <a:pPr marL="1905" indent="-1905" algn="l"/>
            <a:r>
              <a:rPr lang="en-US" altLang="x-none" sz="2800" noProof="1">
                <a:solidFill>
                  <a:srgbClr val="CC3300"/>
                </a:solidFill>
                <a:latin typeface="Times New Roman" panose="02020603050405020304" pitchFamily="2" charset="0"/>
                <a:ea typeface="楷体_GB2312" pitchFamily="1" charset="-122"/>
              </a:rPr>
              <a:t>SHR	AL</a:t>
            </a:r>
            <a:r>
              <a:rPr lang="zh-CN" altLang="en-US" sz="2800" noProof="1">
                <a:solidFill>
                  <a:srgbClr val="CC3300"/>
                </a:solidFill>
                <a:latin typeface="Times New Roman" panose="02020603050405020304" pitchFamily="2" charset="0"/>
                <a:ea typeface="楷体_GB2312" pitchFamily="1" charset="-122"/>
              </a:rPr>
              <a:t>，</a:t>
            </a:r>
            <a:r>
              <a:rPr lang="en-US" altLang="x-none" sz="2800" noProof="1">
                <a:solidFill>
                  <a:srgbClr val="CC3300"/>
                </a:solidFill>
                <a:latin typeface="Times New Roman" panose="02020603050405020304" pitchFamily="2" charset="0"/>
                <a:ea typeface="楷体_GB2312" pitchFamily="1" charset="-122"/>
              </a:rPr>
              <a:t>	CL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	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；右移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3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次，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AL=10H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，余数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5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丢失</a:t>
            </a:r>
          </a:p>
        </p:txBody>
      </p:sp>
      <p:sp>
        <p:nvSpPr>
          <p:cNvPr id="19459" name="日期占位符 1">
            <a:extLst>
              <a:ext uri="{FF2B5EF4-FFF2-40B4-BE49-F238E27FC236}">
                <a16:creationId xmlns:a16="http://schemas.microsoft.com/office/drawing/2014/main" id="{0DC0AC87-7054-45A4-A5D1-009A4B1A0F82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45F4B927-A2DB-4DC8-91A8-78AD619E7BBF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3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63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63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63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638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63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63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标题 1">
            <a:extLst>
              <a:ext uri="{FF2B5EF4-FFF2-40B4-BE49-F238E27FC236}">
                <a16:creationId xmlns:a16="http://schemas.microsoft.com/office/drawing/2014/main" id="{2A735902-F80E-4112-AF05-25645D3133B2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en-US" altLang="zh-CN" sz="4400" b="1">
                <a:solidFill>
                  <a:schemeClr val="accent2"/>
                </a:solidFill>
              </a:rPr>
              <a:t>2. </a:t>
            </a:r>
            <a:r>
              <a:rPr lang="zh-CN" altLang="en-US" sz="4400" b="1">
                <a:solidFill>
                  <a:schemeClr val="accent2"/>
                </a:solidFill>
              </a:rPr>
              <a:t>算术逻辑移位指令</a:t>
            </a:r>
          </a:p>
        </p:txBody>
      </p:sp>
      <p:sp>
        <p:nvSpPr>
          <p:cNvPr id="17411" name="内容占位符 2">
            <a:extLst>
              <a:ext uri="{FF2B5EF4-FFF2-40B4-BE49-F238E27FC236}">
                <a16:creationId xmlns:a16="http://schemas.microsoft.com/office/drawing/2014/main" id="{0DB17DC9-F02A-4D28-904B-FDD222C8278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571500" y="1028700"/>
            <a:ext cx="8186738" cy="5461000"/>
          </a:xfrm>
        </p:spPr>
        <p:txBody>
          <a:bodyPr/>
          <a:lstStyle/>
          <a:p>
            <a:pPr algn="l"/>
            <a:r>
              <a:rPr lang="en-US" altLang="zh-CN" sz="2800" b="1">
                <a:solidFill>
                  <a:srgbClr val="CC3300"/>
                </a:solidFill>
                <a:latin typeface="Times New Roman" panose="02020603050405020304" pitchFamily="18" charset="0"/>
              </a:rPr>
              <a:t>4) SAR </a:t>
            </a:r>
            <a:r>
              <a:rPr lang="zh-CN" altLang="en-US" sz="2800" b="1">
                <a:solidFill>
                  <a:srgbClr val="CC3300"/>
                </a:solidFill>
                <a:latin typeface="Times New Roman" panose="02020603050405020304" pitchFamily="18" charset="0"/>
              </a:rPr>
              <a:t>算术右移指令</a:t>
            </a:r>
            <a:r>
              <a:rPr lang="en-US" altLang="zh-CN" sz="2800" b="1">
                <a:solidFill>
                  <a:srgbClr val="CC3300"/>
                </a:solidFill>
                <a:latin typeface="Times New Roman" panose="02020603050405020304" pitchFamily="18" charset="0"/>
              </a:rPr>
              <a:t> (Shift Arithmetic Right)</a:t>
            </a:r>
            <a:endParaRPr lang="zh-CN" altLang="en-US" sz="2800" b="1">
              <a:solidFill>
                <a:srgbClr val="CC3300"/>
              </a:solidFill>
              <a:latin typeface="Times New Roman" panose="02020603050405020304" pitchFamily="18" charset="0"/>
            </a:endParaRPr>
          </a:p>
          <a:p>
            <a:pPr algn="l"/>
            <a:r>
              <a:rPr lang="zh-CN" altLang="en-US" sz="2800">
                <a:latin typeface="Times New Roman" panose="02020603050405020304" pitchFamily="18" charset="0"/>
              </a:rPr>
              <a:t>指令格式：</a:t>
            </a:r>
            <a:r>
              <a:rPr lang="en-US" altLang="zh-CN" sz="2800">
                <a:latin typeface="Times New Roman" panose="02020603050405020304" pitchFamily="18" charset="0"/>
              </a:rPr>
              <a:t> SAR</a:t>
            </a:r>
            <a:r>
              <a:rPr lang="zh-CN" altLang="en-US" sz="2800">
                <a:latin typeface="Times New Roman" panose="02020603050405020304" pitchFamily="18" charset="0"/>
              </a:rPr>
              <a:t>目的，计数值</a:t>
            </a:r>
          </a:p>
          <a:p>
            <a:pPr algn="l"/>
            <a:r>
              <a:rPr lang="zh-CN" altLang="en-US" sz="2800">
                <a:latin typeface="Times New Roman" panose="02020603050405020304" pitchFamily="18" charset="0"/>
              </a:rPr>
              <a:t>指令功能：每移位一次，最低位进入</a:t>
            </a:r>
            <a:r>
              <a:rPr lang="en-US" altLang="zh-CN" sz="2800">
                <a:latin typeface="Times New Roman" panose="02020603050405020304" pitchFamily="18" charset="0"/>
              </a:rPr>
              <a:t>CF</a:t>
            </a:r>
            <a:r>
              <a:rPr lang="zh-CN" altLang="en-US" sz="2800">
                <a:latin typeface="Times New Roman" panose="02020603050405020304" pitchFamily="18" charset="0"/>
              </a:rPr>
              <a:t>，但最高位</a:t>
            </a:r>
            <a:r>
              <a:rPr lang="en-US" altLang="zh-CN" sz="2800">
                <a:latin typeface="Times New Roman" panose="02020603050405020304" pitchFamily="18" charset="0"/>
              </a:rPr>
              <a:t>(</a:t>
            </a:r>
            <a:r>
              <a:rPr lang="zh-CN" altLang="en-US" sz="2800">
                <a:latin typeface="Times New Roman" panose="02020603050405020304" pitchFamily="18" charset="0"/>
              </a:rPr>
              <a:t>即符号位</a:t>
            </a:r>
            <a:r>
              <a:rPr lang="en-US" altLang="zh-CN" sz="2800">
                <a:latin typeface="Times New Roman" panose="02020603050405020304" pitchFamily="18" charset="0"/>
              </a:rPr>
              <a:t>)</a:t>
            </a:r>
            <a:r>
              <a:rPr lang="zh-CN" altLang="en-US" sz="2800">
                <a:latin typeface="Times New Roman" panose="02020603050405020304" pitchFamily="18" charset="0"/>
              </a:rPr>
              <a:t>保持不变，而不是补</a:t>
            </a:r>
            <a:r>
              <a:rPr lang="en-US" altLang="zh-CN" sz="2800">
                <a:latin typeface="Times New Roman" panose="02020603050405020304" pitchFamily="18" charset="0"/>
              </a:rPr>
              <a:t>0</a:t>
            </a:r>
            <a:r>
              <a:rPr lang="zh-CN" altLang="en-US" sz="2800">
                <a:latin typeface="Times New Roman" panose="02020603050405020304" pitchFamily="18" charset="0"/>
              </a:rPr>
              <a:t>。相当于对带符号数进行除</a:t>
            </a:r>
            <a:r>
              <a:rPr lang="en-US" altLang="zh-CN" sz="2800">
                <a:latin typeface="Times New Roman" panose="02020603050405020304" pitchFamily="18" charset="0"/>
              </a:rPr>
              <a:t>2</a:t>
            </a:r>
            <a:r>
              <a:rPr lang="zh-CN" altLang="en-US" sz="2800">
                <a:latin typeface="Times New Roman" panose="02020603050405020304" pitchFamily="18" charset="0"/>
              </a:rPr>
              <a:t>操作</a:t>
            </a:r>
          </a:p>
          <a:p>
            <a:pPr algn="l">
              <a:spcBef>
                <a:spcPts val="2400"/>
              </a:spcBef>
            </a:pP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例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3.72 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用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SAR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指令计算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-128/8=-16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的程序段如下：</a:t>
            </a:r>
          </a:p>
          <a:p>
            <a:pPr algn="l"/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MOV	   AL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10000000B	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AL= 128</a:t>
            </a:r>
            <a:endParaRPr lang="zh-CN" altLang="en-US" sz="28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MOV	   CL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03H			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；右移次数为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3</a:t>
            </a:r>
            <a:endParaRPr lang="zh-CN" altLang="en-US" sz="28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r>
              <a:rPr lang="en-US" altLang="zh-CN" sz="280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SAR	   AL</a:t>
            </a:r>
            <a:r>
              <a:rPr lang="zh-CN" altLang="en-US" sz="280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CL			</a:t>
            </a:r>
            <a:r>
              <a:rPr lang="zh-CN" altLang="en-US" sz="280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；算术右移</a:t>
            </a:r>
            <a:r>
              <a:rPr lang="en-US" altLang="zh-CN" sz="280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3</a:t>
            </a:r>
            <a:r>
              <a:rPr lang="zh-CN" altLang="en-US" sz="280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次后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，</a:t>
            </a:r>
          </a:p>
          <a:p>
            <a:pPr algn="l"/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					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AL=0F0H=-16</a:t>
            </a:r>
            <a:endParaRPr lang="zh-CN" altLang="en-US" sz="3200"/>
          </a:p>
        </p:txBody>
      </p:sp>
      <p:sp>
        <p:nvSpPr>
          <p:cNvPr id="20483" name="日期占位符 1">
            <a:extLst>
              <a:ext uri="{FF2B5EF4-FFF2-40B4-BE49-F238E27FC236}">
                <a16:creationId xmlns:a16="http://schemas.microsoft.com/office/drawing/2014/main" id="{81B71A0E-A86D-4A56-B6E3-A46C171B210B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EF6B3EC4-C02D-495B-89AD-5D6C7ADE59FB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74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74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74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标题 1">
            <a:extLst>
              <a:ext uri="{FF2B5EF4-FFF2-40B4-BE49-F238E27FC236}">
                <a16:creationId xmlns:a16="http://schemas.microsoft.com/office/drawing/2014/main" id="{A14E019C-438E-410C-BB1C-479C2B600C67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en-US" altLang="zh-CN" sz="4400" b="1">
                <a:solidFill>
                  <a:schemeClr val="accent2"/>
                </a:solidFill>
              </a:rPr>
              <a:t>3. </a:t>
            </a:r>
            <a:r>
              <a:rPr lang="zh-CN" altLang="en-US" sz="4400" b="1">
                <a:solidFill>
                  <a:schemeClr val="accent2"/>
                </a:solidFill>
              </a:rPr>
              <a:t>循环移位指令</a:t>
            </a:r>
            <a:r>
              <a:rPr lang="en-US" altLang="zh-CN" sz="4400" b="1">
                <a:solidFill>
                  <a:schemeClr val="accent2"/>
                </a:solidFill>
              </a:rPr>
              <a:t> (Rotate)</a:t>
            </a:r>
            <a:endParaRPr lang="zh-CN" altLang="en-US" sz="4400" b="1">
              <a:solidFill>
                <a:schemeClr val="accent2"/>
              </a:solidFill>
            </a:endParaRPr>
          </a:p>
        </p:txBody>
      </p:sp>
      <p:sp>
        <p:nvSpPr>
          <p:cNvPr id="18435" name="内容占位符 2">
            <a:extLst>
              <a:ext uri="{FF2B5EF4-FFF2-40B4-BE49-F238E27FC236}">
                <a16:creationId xmlns:a16="http://schemas.microsoft.com/office/drawing/2014/main" id="{E91681B3-E0CD-4C71-BFB4-B93276BCC9B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527050" y="1073150"/>
            <a:ext cx="8231188" cy="5422900"/>
          </a:xfrm>
        </p:spPr>
        <p:txBody>
          <a:bodyPr/>
          <a:lstStyle/>
          <a:p>
            <a:pPr algn="l"/>
            <a:r>
              <a:rPr lang="zh-CN" altLang="en-US" sz="2800"/>
              <a:t>算术逻辑移位指令，</a:t>
            </a:r>
            <a:r>
              <a:rPr lang="zh-CN" altLang="en-US" sz="2800" b="1">
                <a:solidFill>
                  <a:srgbClr val="0000FF"/>
                </a:solidFill>
              </a:rPr>
              <a:t>移出的操作数数位均丢失</a:t>
            </a:r>
            <a:r>
              <a:rPr lang="zh-CN" altLang="en-US" sz="2800"/>
              <a:t>。循环移位指令则把数位从操作数的一端移到其另一端，从操作数中</a:t>
            </a:r>
            <a:r>
              <a:rPr lang="zh-CN" altLang="en-US" sz="2800" b="1">
                <a:solidFill>
                  <a:srgbClr val="0000FF"/>
                </a:solidFill>
              </a:rPr>
              <a:t>移走的位不会丢失</a:t>
            </a:r>
          </a:p>
          <a:p>
            <a:pPr algn="l">
              <a:spcBef>
                <a:spcPts val="1200"/>
              </a:spcBef>
            </a:pPr>
            <a:r>
              <a:rPr lang="en-US" altLang="zh-CN" sz="2800" b="1">
                <a:solidFill>
                  <a:srgbClr val="CC3300"/>
                </a:solidFill>
                <a:latin typeface="Times New Roman" panose="02020603050405020304" pitchFamily="18" charset="0"/>
              </a:rPr>
              <a:t>1) ROL </a:t>
            </a:r>
            <a:r>
              <a:rPr lang="zh-CN" altLang="en-US" sz="2800" b="1">
                <a:solidFill>
                  <a:srgbClr val="CC3300"/>
                </a:solidFill>
                <a:latin typeface="Times New Roman" panose="02020603050405020304" pitchFamily="18" charset="0"/>
              </a:rPr>
              <a:t>循环左移指令</a:t>
            </a:r>
            <a:r>
              <a:rPr lang="en-US" altLang="zh-CN" sz="2800" b="1">
                <a:solidFill>
                  <a:srgbClr val="CC3300"/>
                </a:solidFill>
                <a:latin typeface="Times New Roman" panose="02020603050405020304" pitchFamily="18" charset="0"/>
              </a:rPr>
              <a:t> (Rotate Left)</a:t>
            </a:r>
            <a:endParaRPr lang="zh-CN" altLang="en-US" sz="2800" b="1">
              <a:solidFill>
                <a:srgbClr val="CC3300"/>
              </a:solidFill>
              <a:latin typeface="Times New Roman" panose="02020603050405020304" pitchFamily="18" charset="0"/>
            </a:endParaRPr>
          </a:p>
          <a:p>
            <a:pPr algn="l">
              <a:spcBef>
                <a:spcPct val="0"/>
              </a:spcBef>
            </a:pPr>
            <a:r>
              <a:rPr lang="zh-CN" altLang="en-US" sz="2800">
                <a:latin typeface="Times New Roman" panose="02020603050405020304" pitchFamily="18" charset="0"/>
              </a:rPr>
              <a:t>指令格式：</a:t>
            </a:r>
            <a:r>
              <a:rPr lang="en-US" altLang="zh-CN" sz="2800">
                <a:latin typeface="Times New Roman" panose="02020603050405020304" pitchFamily="18" charset="0"/>
              </a:rPr>
              <a:t> ROL  </a:t>
            </a:r>
            <a:r>
              <a:rPr lang="zh-CN" altLang="en-US" sz="2800">
                <a:latin typeface="Times New Roman" panose="02020603050405020304" pitchFamily="18" charset="0"/>
              </a:rPr>
              <a:t>目的，计数值</a:t>
            </a:r>
          </a:p>
          <a:p>
            <a:pPr algn="l"/>
            <a:r>
              <a:rPr lang="en-US" altLang="zh-CN" sz="2800">
                <a:latin typeface="Times New Roman" panose="02020603050405020304" pitchFamily="18" charset="0"/>
              </a:rPr>
              <a:t> </a:t>
            </a:r>
            <a:endParaRPr lang="zh-CN" altLang="en-US" sz="2800">
              <a:latin typeface="Times New Roman" panose="02020603050405020304" pitchFamily="18" charset="0"/>
            </a:endParaRPr>
          </a:p>
          <a:p>
            <a:pPr algn="l"/>
            <a:endParaRPr lang="zh-CN" altLang="en-US" sz="2800"/>
          </a:p>
          <a:p>
            <a:pPr algn="l">
              <a:spcBef>
                <a:spcPts val="1200"/>
              </a:spcBef>
            </a:pPr>
            <a:r>
              <a:rPr lang="en-US" altLang="zh-CN" sz="2800" b="1">
                <a:solidFill>
                  <a:srgbClr val="CC3300"/>
                </a:solidFill>
                <a:latin typeface="Times New Roman" panose="02020603050405020304" pitchFamily="18" charset="0"/>
              </a:rPr>
              <a:t>2) ROR </a:t>
            </a:r>
            <a:r>
              <a:rPr lang="zh-CN" altLang="en-US" sz="2800" b="1">
                <a:solidFill>
                  <a:srgbClr val="CC3300"/>
                </a:solidFill>
                <a:latin typeface="Times New Roman" panose="02020603050405020304" pitchFamily="18" charset="0"/>
              </a:rPr>
              <a:t>循环右移指令</a:t>
            </a:r>
            <a:r>
              <a:rPr lang="en-US" altLang="zh-CN" sz="2800" b="1">
                <a:solidFill>
                  <a:srgbClr val="CC3300"/>
                </a:solidFill>
                <a:latin typeface="Times New Roman" panose="02020603050405020304" pitchFamily="18" charset="0"/>
              </a:rPr>
              <a:t> (Rotate Right)</a:t>
            </a:r>
            <a:endParaRPr lang="zh-CN" altLang="en-US" sz="2800" b="1">
              <a:solidFill>
                <a:srgbClr val="CC3300"/>
              </a:solidFill>
              <a:latin typeface="Times New Roman" panose="02020603050405020304" pitchFamily="18" charset="0"/>
            </a:endParaRPr>
          </a:p>
          <a:p>
            <a:pPr algn="l">
              <a:spcBef>
                <a:spcPct val="0"/>
              </a:spcBef>
            </a:pPr>
            <a:r>
              <a:rPr lang="zh-CN" altLang="en-US" sz="2800">
                <a:latin typeface="Times New Roman" panose="02020603050405020304" pitchFamily="18" charset="0"/>
              </a:rPr>
              <a:t>指令格式：</a:t>
            </a:r>
            <a:r>
              <a:rPr lang="en-US" altLang="zh-CN" sz="2800">
                <a:latin typeface="Times New Roman" panose="02020603050405020304" pitchFamily="18" charset="0"/>
              </a:rPr>
              <a:t> ROR  </a:t>
            </a:r>
            <a:r>
              <a:rPr lang="zh-CN" altLang="en-US" sz="2800">
                <a:latin typeface="Times New Roman" panose="02020603050405020304" pitchFamily="18" charset="0"/>
              </a:rPr>
              <a:t>目的，计数值</a:t>
            </a:r>
          </a:p>
          <a:p>
            <a:pPr algn="l"/>
            <a:endParaRPr lang="zh-CN" altLang="en-US" sz="2800"/>
          </a:p>
        </p:txBody>
      </p:sp>
      <p:pic>
        <p:nvPicPr>
          <p:cNvPr id="18436" name="Picture 3">
            <a:extLst>
              <a:ext uri="{FF2B5EF4-FFF2-40B4-BE49-F238E27FC236}">
                <a16:creationId xmlns:a16="http://schemas.microsoft.com/office/drawing/2014/main" id="{1DAFCF89-6ED4-4BF8-8D2A-0BE234A105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0325" y="3473450"/>
            <a:ext cx="5734050" cy="895350"/>
          </a:xfrm>
          <a:prstGeom prst="rect">
            <a:avLst/>
          </a:prstGeom>
          <a:noFill/>
          <a:ln w="38100" cap="sq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7" name="Picture 4">
            <a:extLst>
              <a:ext uri="{FF2B5EF4-FFF2-40B4-BE49-F238E27FC236}">
                <a16:creationId xmlns:a16="http://schemas.microsoft.com/office/drawing/2014/main" id="{1C64A127-D9FC-4313-9120-47AB624679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150" y="5518150"/>
            <a:ext cx="5778500" cy="963613"/>
          </a:xfrm>
          <a:prstGeom prst="rect">
            <a:avLst/>
          </a:prstGeom>
          <a:noFill/>
          <a:ln w="38100" cap="sq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509" name="日期占位符 1">
            <a:extLst>
              <a:ext uri="{FF2B5EF4-FFF2-40B4-BE49-F238E27FC236}">
                <a16:creationId xmlns:a16="http://schemas.microsoft.com/office/drawing/2014/main" id="{DE78A486-A950-4224-9C30-1AE56072205A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C22CE6DE-E4E4-49E9-B701-61F01C4268FE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84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内容占位符 2">
            <a:extLst>
              <a:ext uri="{FF2B5EF4-FFF2-40B4-BE49-F238E27FC236}">
                <a16:creationId xmlns:a16="http://schemas.microsoft.com/office/drawing/2014/main" id="{FACB0C92-D859-4CEB-9B76-646BA1DCB43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55638" y="1358900"/>
            <a:ext cx="7467600" cy="5016500"/>
          </a:xfrm>
        </p:spPr>
        <p:txBody>
          <a:bodyPr/>
          <a:lstStyle/>
          <a:p>
            <a:pPr algn="l">
              <a:spcBef>
                <a:spcPts val="600"/>
              </a:spcBef>
            </a:pPr>
            <a:r>
              <a:rPr lang="en-US" altLang="zh-CN" sz="2800" b="1">
                <a:solidFill>
                  <a:srgbClr val="CC3300"/>
                </a:solidFill>
                <a:latin typeface="Times New Roman" panose="02020603050405020304" pitchFamily="18" charset="0"/>
              </a:rPr>
              <a:t>3) RCL </a:t>
            </a:r>
            <a:r>
              <a:rPr lang="zh-CN" altLang="en-US" sz="2800" b="1">
                <a:solidFill>
                  <a:srgbClr val="CC3300"/>
                </a:solidFill>
                <a:latin typeface="Times New Roman" panose="02020603050405020304" pitchFamily="18" charset="0"/>
              </a:rPr>
              <a:t>通过进位位循环左移</a:t>
            </a:r>
            <a:r>
              <a:rPr lang="en-US" altLang="zh-CN" sz="2800" b="1">
                <a:solidFill>
                  <a:srgbClr val="CC3300"/>
                </a:solidFill>
                <a:latin typeface="Times New Roman" panose="02020603050405020304" pitchFamily="18" charset="0"/>
              </a:rPr>
              <a:t> </a:t>
            </a:r>
            <a:endParaRPr lang="zh-CN" altLang="en-US" sz="2800" b="1">
              <a:solidFill>
                <a:srgbClr val="CC3300"/>
              </a:solidFill>
              <a:latin typeface="Times New Roman" panose="02020603050405020304" pitchFamily="18" charset="0"/>
            </a:endParaRPr>
          </a:p>
          <a:p>
            <a:pPr algn="l">
              <a:spcBef>
                <a:spcPts val="600"/>
              </a:spcBef>
            </a:pPr>
            <a:r>
              <a:rPr lang="en-US" altLang="zh-CN" sz="2800">
                <a:latin typeface="Times New Roman" panose="02020603050405020304" pitchFamily="18" charset="0"/>
              </a:rPr>
              <a:t>     (Rotate through Carry Left)</a:t>
            </a:r>
            <a:endParaRPr lang="zh-CN" altLang="en-US" sz="2800">
              <a:latin typeface="Times New Roman" panose="02020603050405020304" pitchFamily="18" charset="0"/>
            </a:endParaRPr>
          </a:p>
          <a:p>
            <a:pPr algn="l">
              <a:spcBef>
                <a:spcPts val="600"/>
              </a:spcBef>
            </a:pP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</a:rPr>
              <a:t>指令格式：</a:t>
            </a:r>
            <a:r>
              <a:rPr lang="en-US" altLang="zh-CN" sz="2800">
                <a:solidFill>
                  <a:srgbClr val="0000FF"/>
                </a:solidFill>
                <a:latin typeface="Times New Roman" panose="02020603050405020304" pitchFamily="18" charset="0"/>
              </a:rPr>
              <a:t> RCL  </a:t>
            </a: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</a:rPr>
              <a:t>目的，计数值</a:t>
            </a:r>
          </a:p>
          <a:p>
            <a:pPr algn="l"/>
            <a:r>
              <a:rPr lang="en-US" altLang="zh-CN" sz="2800">
                <a:latin typeface="Times New Roman" panose="02020603050405020304" pitchFamily="18" charset="0"/>
              </a:rPr>
              <a:t> </a:t>
            </a:r>
            <a:endParaRPr lang="zh-CN" altLang="en-US" sz="2800">
              <a:latin typeface="Times New Roman" panose="02020603050405020304" pitchFamily="18" charset="0"/>
            </a:endParaRPr>
          </a:p>
          <a:p>
            <a:pPr algn="l"/>
            <a:endParaRPr lang="zh-CN" altLang="en-US" sz="2800">
              <a:latin typeface="Times New Roman" panose="02020603050405020304" pitchFamily="18" charset="0"/>
            </a:endParaRPr>
          </a:p>
          <a:p>
            <a:pPr algn="l">
              <a:spcBef>
                <a:spcPts val="600"/>
              </a:spcBef>
            </a:pPr>
            <a:r>
              <a:rPr lang="en-US" altLang="zh-CN" sz="2800" b="1">
                <a:solidFill>
                  <a:srgbClr val="CC3300"/>
                </a:solidFill>
                <a:latin typeface="Times New Roman" panose="02020603050405020304" pitchFamily="18" charset="0"/>
              </a:rPr>
              <a:t>4) RCR </a:t>
            </a:r>
            <a:r>
              <a:rPr lang="zh-CN" altLang="en-US" sz="2800" b="1">
                <a:solidFill>
                  <a:srgbClr val="CC3300"/>
                </a:solidFill>
                <a:latin typeface="Times New Roman" panose="02020603050405020304" pitchFamily="18" charset="0"/>
              </a:rPr>
              <a:t>通过进位位循环右移</a:t>
            </a:r>
          </a:p>
          <a:p>
            <a:pPr algn="l">
              <a:spcBef>
                <a:spcPts val="600"/>
              </a:spcBef>
            </a:pPr>
            <a:r>
              <a:rPr lang="en-US" altLang="zh-CN" sz="2800">
                <a:latin typeface="Times New Roman" panose="02020603050405020304" pitchFamily="18" charset="0"/>
              </a:rPr>
              <a:t>     (Rotate through Carry Right)</a:t>
            </a:r>
            <a:endParaRPr lang="zh-CN" altLang="en-US" sz="2800">
              <a:latin typeface="Times New Roman" panose="02020603050405020304" pitchFamily="18" charset="0"/>
            </a:endParaRPr>
          </a:p>
          <a:p>
            <a:pPr algn="l">
              <a:spcBef>
                <a:spcPts val="600"/>
              </a:spcBef>
            </a:pP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</a:rPr>
              <a:t>指令格式：</a:t>
            </a:r>
            <a:r>
              <a:rPr lang="en-US" altLang="zh-CN" sz="2800">
                <a:solidFill>
                  <a:srgbClr val="0000FF"/>
                </a:solidFill>
                <a:latin typeface="Times New Roman" panose="02020603050405020304" pitchFamily="18" charset="0"/>
              </a:rPr>
              <a:t> RCR  </a:t>
            </a: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</a:rPr>
              <a:t>目的，计数值</a:t>
            </a:r>
          </a:p>
          <a:p>
            <a:pPr algn="l"/>
            <a:endParaRPr lang="zh-CN" altLang="en-US" sz="2800"/>
          </a:p>
        </p:txBody>
      </p:sp>
      <p:pic>
        <p:nvPicPr>
          <p:cNvPr id="19459" name="Picture 4">
            <a:extLst>
              <a:ext uri="{FF2B5EF4-FFF2-40B4-BE49-F238E27FC236}">
                <a16:creationId xmlns:a16="http://schemas.microsoft.com/office/drawing/2014/main" id="{74DB4C90-49A3-4481-A730-42F28B54CC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0500" y="2940050"/>
            <a:ext cx="5911850" cy="846138"/>
          </a:xfrm>
          <a:prstGeom prst="rect">
            <a:avLst/>
          </a:prstGeom>
          <a:noFill/>
          <a:ln w="38100" cap="sq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460" name="Picture 5">
            <a:extLst>
              <a:ext uri="{FF2B5EF4-FFF2-40B4-BE49-F238E27FC236}">
                <a16:creationId xmlns:a16="http://schemas.microsoft.com/office/drawing/2014/main" id="{E85C7F41-BA89-4337-BEE4-17899DF1AF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6050" y="5518150"/>
            <a:ext cx="5967413" cy="904875"/>
          </a:xfrm>
          <a:prstGeom prst="rect">
            <a:avLst/>
          </a:prstGeom>
          <a:noFill/>
          <a:ln w="38100" cap="sq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532" name="标题 1">
            <a:extLst>
              <a:ext uri="{FF2B5EF4-FFF2-40B4-BE49-F238E27FC236}">
                <a16:creationId xmlns:a16="http://schemas.microsoft.com/office/drawing/2014/main" id="{75FFE4B6-D58E-4DBC-A465-7ED15C48DA16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527050" y="495300"/>
            <a:ext cx="8229600" cy="674688"/>
          </a:xfrm>
        </p:spPr>
        <p:txBody>
          <a:bodyPr anchor="ctr"/>
          <a:lstStyle/>
          <a:p>
            <a:pPr algn="l"/>
            <a:r>
              <a:rPr lang="en-US" altLang="zh-CN" sz="4400" b="1">
                <a:solidFill>
                  <a:schemeClr val="accent2"/>
                </a:solidFill>
              </a:rPr>
              <a:t>3. </a:t>
            </a:r>
            <a:r>
              <a:rPr lang="zh-CN" altLang="en-US" sz="4400" b="1">
                <a:solidFill>
                  <a:schemeClr val="accent2"/>
                </a:solidFill>
              </a:rPr>
              <a:t>循环移位指令</a:t>
            </a:r>
            <a:r>
              <a:rPr lang="en-US" altLang="zh-CN" sz="4400" b="1">
                <a:solidFill>
                  <a:schemeClr val="accent2"/>
                </a:solidFill>
              </a:rPr>
              <a:t> (Rotate)</a:t>
            </a:r>
            <a:endParaRPr lang="zh-CN" altLang="en-US" sz="4400" b="1">
              <a:solidFill>
                <a:schemeClr val="accent2"/>
              </a:solidFill>
            </a:endParaRPr>
          </a:p>
        </p:txBody>
      </p:sp>
      <p:sp>
        <p:nvSpPr>
          <p:cNvPr id="22533" name="日期占位符 1">
            <a:extLst>
              <a:ext uri="{FF2B5EF4-FFF2-40B4-BE49-F238E27FC236}">
                <a16:creationId xmlns:a16="http://schemas.microsoft.com/office/drawing/2014/main" id="{85D23849-8C07-4360-A029-FD8674B28D70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EB8BDB46-FEED-4342-9DAB-AC6BBDEB1959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94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94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94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945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1945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945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标题 1">
            <a:extLst>
              <a:ext uri="{FF2B5EF4-FFF2-40B4-BE49-F238E27FC236}">
                <a16:creationId xmlns:a16="http://schemas.microsoft.com/office/drawing/2014/main" id="{F1278992-3214-4729-81B0-802EF4DF0C1D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en-US" altLang="zh-CN" sz="4400" b="1">
                <a:solidFill>
                  <a:schemeClr val="accent2"/>
                </a:solidFill>
              </a:rPr>
              <a:t>3. </a:t>
            </a:r>
            <a:r>
              <a:rPr lang="zh-CN" altLang="en-US" sz="4400" b="1">
                <a:solidFill>
                  <a:schemeClr val="accent2"/>
                </a:solidFill>
              </a:rPr>
              <a:t>循环移位指令</a:t>
            </a:r>
            <a:r>
              <a:rPr lang="en-US" altLang="zh-CN" sz="4400" b="1">
                <a:solidFill>
                  <a:schemeClr val="accent2"/>
                </a:solidFill>
              </a:rPr>
              <a:t> </a:t>
            </a:r>
            <a:r>
              <a:rPr lang="zh-CN" altLang="en-US" sz="4400" b="1">
                <a:solidFill>
                  <a:schemeClr val="accent2"/>
                </a:solidFill>
              </a:rPr>
              <a:t>特点</a:t>
            </a:r>
            <a:endParaRPr lang="en-US" altLang="zh-CN" sz="4400" b="1">
              <a:solidFill>
                <a:schemeClr val="accent2"/>
              </a:solidFill>
            </a:endParaRPr>
          </a:p>
        </p:txBody>
      </p:sp>
      <p:sp>
        <p:nvSpPr>
          <p:cNvPr id="20483" name="内容占位符 2">
            <a:extLst>
              <a:ext uri="{FF2B5EF4-FFF2-40B4-BE49-F238E27FC236}">
                <a16:creationId xmlns:a16="http://schemas.microsoft.com/office/drawing/2014/main" id="{B4731185-9E29-4134-BFFE-55E1223362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7050" y="1162050"/>
            <a:ext cx="8231188" cy="5327650"/>
          </a:xfrm>
        </p:spPr>
        <p:txBody>
          <a:bodyPr/>
          <a:lstStyle/>
          <a:p>
            <a:pPr marL="1905" indent="112395" algn="l">
              <a:buFont typeface="Wingdings" panose="05000000000000000000" pitchFamily="2" charset="2"/>
              <a:buChar char="l"/>
            </a:pPr>
            <a:r>
              <a:rPr lang="zh-CN" altLang="en-US" sz="2800" noProof="1">
                <a:latin typeface="Times New Roman" panose="02020603050405020304" pitchFamily="2" charset="0"/>
              </a:rPr>
              <a:t>目的操作数可以是</a:t>
            </a:r>
            <a:r>
              <a:rPr lang="en-US" altLang="x-none" sz="2800" noProof="1">
                <a:latin typeface="Times New Roman" panose="02020603050405020304" pitchFamily="2" charset="0"/>
              </a:rPr>
              <a:t>8/16</a:t>
            </a:r>
            <a:r>
              <a:rPr lang="zh-CN" altLang="en-US" sz="2800" noProof="1">
                <a:latin typeface="Times New Roman" panose="02020603050405020304" pitchFamily="2" charset="0"/>
              </a:rPr>
              <a:t>位的寄存器操作数或内存操作数，计数值含义同上，即</a:t>
            </a:r>
            <a:r>
              <a:rPr lang="en-US" altLang="x-none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1</a:t>
            </a:r>
            <a:r>
              <a:rPr lang="zh-CN" altLang="en-US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或由</a:t>
            </a:r>
            <a:r>
              <a:rPr lang="en-US" altLang="x-none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CL</a:t>
            </a:r>
            <a:r>
              <a:rPr lang="zh-CN" altLang="en-US" sz="2800" noProof="1">
                <a:latin typeface="Times New Roman" panose="02020603050405020304" pitchFamily="2" charset="0"/>
              </a:rPr>
              <a:t>指定</a:t>
            </a:r>
          </a:p>
          <a:p>
            <a:pPr marL="1905" indent="112395" algn="l">
              <a:buFont typeface="Wingdings" panose="05000000000000000000" pitchFamily="2" charset="2"/>
              <a:buChar char="l"/>
            </a:pPr>
            <a:r>
              <a:rPr lang="en-US" altLang="x-none" sz="2800" noProof="1">
                <a:latin typeface="Times New Roman" panose="02020603050405020304" pitchFamily="2" charset="0"/>
              </a:rPr>
              <a:t>ROL</a:t>
            </a:r>
            <a:r>
              <a:rPr lang="zh-CN" altLang="en-US" sz="2800" noProof="1">
                <a:latin typeface="Times New Roman" panose="02020603050405020304" pitchFamily="2" charset="0"/>
              </a:rPr>
              <a:t>和</a:t>
            </a:r>
            <a:r>
              <a:rPr lang="en-US" altLang="x-none" sz="2800" noProof="1">
                <a:latin typeface="Times New Roman" panose="02020603050405020304" pitchFamily="2" charset="0"/>
              </a:rPr>
              <a:t>ROR</a:t>
            </a:r>
            <a:r>
              <a:rPr lang="zh-CN" altLang="en-US" sz="2800" noProof="1">
                <a:latin typeface="Times New Roman" panose="02020603050405020304" pitchFamily="2" charset="0"/>
              </a:rPr>
              <a:t>为</a:t>
            </a:r>
            <a:r>
              <a:rPr lang="zh-CN" altLang="en-US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小循环移位</a:t>
            </a:r>
            <a:r>
              <a:rPr lang="zh-CN" altLang="en-US" sz="2800" noProof="1">
                <a:latin typeface="Times New Roman" panose="02020603050405020304" pitchFamily="2" charset="0"/>
              </a:rPr>
              <a:t>指令，没有把</a:t>
            </a:r>
            <a:r>
              <a:rPr lang="en-US" altLang="x-none" sz="2800" noProof="1">
                <a:latin typeface="Times New Roman" panose="02020603050405020304" pitchFamily="2" charset="0"/>
              </a:rPr>
              <a:t>CF</a:t>
            </a:r>
            <a:r>
              <a:rPr lang="zh-CN" altLang="en-US" sz="2800" noProof="1">
                <a:latin typeface="Times New Roman" panose="02020603050405020304" pitchFamily="2" charset="0"/>
              </a:rPr>
              <a:t>包含在循环中；</a:t>
            </a:r>
            <a:r>
              <a:rPr lang="en-US" altLang="x-none" sz="2800" noProof="1">
                <a:latin typeface="Times New Roman" panose="02020603050405020304" pitchFamily="2" charset="0"/>
              </a:rPr>
              <a:t>RCL</a:t>
            </a:r>
            <a:r>
              <a:rPr lang="zh-CN" altLang="en-US" sz="2800" noProof="1">
                <a:latin typeface="Times New Roman" panose="02020603050405020304" pitchFamily="2" charset="0"/>
              </a:rPr>
              <a:t>和</a:t>
            </a:r>
            <a:r>
              <a:rPr lang="en-US" altLang="x-none" sz="2800" noProof="1">
                <a:latin typeface="Times New Roman" panose="02020603050405020304" pitchFamily="2" charset="0"/>
              </a:rPr>
              <a:t>RCR</a:t>
            </a:r>
            <a:r>
              <a:rPr lang="zh-CN" altLang="en-US" sz="2800" noProof="1">
                <a:latin typeface="Times New Roman" panose="02020603050405020304" pitchFamily="2" charset="0"/>
              </a:rPr>
              <a:t>为</a:t>
            </a:r>
            <a:r>
              <a:rPr lang="zh-CN" altLang="en-US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大循环指令</a:t>
            </a:r>
            <a:r>
              <a:rPr lang="zh-CN" altLang="en-US" sz="2800" noProof="1">
                <a:latin typeface="Times New Roman" panose="02020603050405020304" pitchFamily="2" charset="0"/>
              </a:rPr>
              <a:t>，把</a:t>
            </a:r>
            <a:r>
              <a:rPr lang="en-US" altLang="x-none" sz="2800" noProof="1">
                <a:latin typeface="Times New Roman" panose="02020603050405020304" pitchFamily="2" charset="0"/>
              </a:rPr>
              <a:t> CF</a:t>
            </a:r>
            <a:r>
              <a:rPr lang="zh-CN" altLang="en-US" sz="2800" noProof="1">
                <a:latin typeface="Times New Roman" panose="02020603050405020304" pitchFamily="2" charset="0"/>
              </a:rPr>
              <a:t>作为整个循环的一部分参加循环移位</a:t>
            </a:r>
          </a:p>
          <a:p>
            <a:pPr marL="1905" indent="112395" algn="l">
              <a:buFont typeface="Wingdings" panose="05000000000000000000" pitchFamily="2" charset="2"/>
              <a:buChar char="l"/>
            </a:pPr>
            <a:r>
              <a:rPr lang="en-US" altLang="x-none" sz="2800" noProof="1">
                <a:latin typeface="Times New Roman" panose="02020603050405020304" pitchFamily="2" charset="0"/>
              </a:rPr>
              <a:t>CF</a:t>
            </a:r>
            <a:r>
              <a:rPr lang="zh-CN" altLang="en-US" sz="2800" noProof="1">
                <a:latin typeface="Times New Roman" panose="02020603050405020304" pitchFamily="2" charset="0"/>
              </a:rPr>
              <a:t>的值由最后一次被移出的值决定</a:t>
            </a:r>
          </a:p>
          <a:p>
            <a:pPr marL="1905" indent="-1905" algn="l">
              <a:spcBef>
                <a:spcPts val="1800"/>
              </a:spcBef>
            </a:pPr>
            <a:r>
              <a:rPr lang="zh-CN" altLang="en-US" sz="2800" b="1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例</a:t>
            </a:r>
            <a:r>
              <a:rPr lang="en-US" altLang="x-none" sz="2800" b="1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3.73</a:t>
            </a:r>
            <a:endParaRPr lang="zh-CN" altLang="en-US" sz="2800" b="1" noProof="1">
              <a:solidFill>
                <a:srgbClr val="0000FF"/>
              </a:solidFill>
              <a:latin typeface="Times New Roman" panose="02020603050405020304" pitchFamily="2" charset="0"/>
              <a:ea typeface="楷体_GB2312" pitchFamily="1" charset="-122"/>
            </a:endParaRPr>
          </a:p>
          <a:p>
            <a:pPr marL="1905" indent="-1905" algn="l">
              <a:spcBef>
                <a:spcPct val="0"/>
              </a:spcBef>
            </a:pP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ROL	 BX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，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CL			    </a:t>
            </a:r>
            <a:endParaRPr lang="zh-CN" altLang="en-US" sz="2800" noProof="1">
              <a:latin typeface="Times New Roman" panose="02020603050405020304" pitchFamily="2" charset="0"/>
              <a:ea typeface="楷体_GB2312" pitchFamily="1" charset="-122"/>
            </a:endParaRPr>
          </a:p>
          <a:p>
            <a:pPr marL="1905" indent="-1905" algn="l">
              <a:spcBef>
                <a:spcPct val="0"/>
              </a:spcBef>
            </a:pP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 	</a:t>
            </a:r>
            <a:r>
              <a:rPr lang="zh-CN" altLang="en-US" sz="2800" noProof="1">
                <a:solidFill>
                  <a:srgbClr val="CC3300"/>
                </a:solidFill>
                <a:latin typeface="Times New Roman" panose="02020603050405020304" pitchFamily="2" charset="0"/>
                <a:ea typeface="楷体_GB2312" pitchFamily="1" charset="-122"/>
              </a:rPr>
              <a:t>；将</a:t>
            </a:r>
            <a:r>
              <a:rPr lang="en-US" altLang="x-none" sz="2800" noProof="1">
                <a:solidFill>
                  <a:srgbClr val="CC3300"/>
                </a:solidFill>
                <a:latin typeface="Times New Roman" panose="02020603050405020304" pitchFamily="2" charset="0"/>
                <a:ea typeface="楷体_GB2312" pitchFamily="1" charset="-122"/>
              </a:rPr>
              <a:t>BX</a:t>
            </a:r>
            <a:r>
              <a:rPr lang="zh-CN" altLang="en-US" sz="2800" noProof="1">
                <a:solidFill>
                  <a:srgbClr val="CC3300"/>
                </a:solidFill>
                <a:latin typeface="Times New Roman" panose="02020603050405020304" pitchFamily="2" charset="0"/>
                <a:ea typeface="楷体_GB2312" pitchFamily="1" charset="-122"/>
              </a:rPr>
              <a:t>中的数，不带进位位左移规定次数</a:t>
            </a:r>
          </a:p>
          <a:p>
            <a:pPr marL="1905" indent="-1905" algn="l">
              <a:spcBef>
                <a:spcPct val="0"/>
              </a:spcBef>
            </a:pP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ROR   WORD  PTR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［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SI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］，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1     </a:t>
            </a:r>
            <a:endParaRPr lang="zh-CN" altLang="en-US" sz="2800" noProof="1">
              <a:latin typeface="Times New Roman" panose="02020603050405020304" pitchFamily="2" charset="0"/>
              <a:ea typeface="楷体_GB2312" pitchFamily="1" charset="-122"/>
            </a:endParaRPr>
          </a:p>
          <a:p>
            <a:pPr marL="1905" indent="-1905" algn="l">
              <a:spcBef>
                <a:spcPct val="0"/>
              </a:spcBef>
            </a:pP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		</a:t>
            </a:r>
            <a:r>
              <a:rPr lang="zh-CN" altLang="en-US" sz="2800" noProof="1">
                <a:solidFill>
                  <a:srgbClr val="CC3300"/>
                </a:solidFill>
                <a:latin typeface="Times New Roman" panose="02020603050405020304" pitchFamily="2" charset="0"/>
                <a:ea typeface="楷体_GB2312" pitchFamily="1" charset="-122"/>
              </a:rPr>
              <a:t>；将内存单元的字，不带进位右移</a:t>
            </a:r>
            <a:r>
              <a:rPr lang="en-US" altLang="x-none" sz="2800" noProof="1">
                <a:solidFill>
                  <a:srgbClr val="CC3300"/>
                </a:solidFill>
                <a:latin typeface="Times New Roman" panose="02020603050405020304" pitchFamily="2" charset="0"/>
                <a:ea typeface="楷体_GB2312" pitchFamily="1" charset="-122"/>
              </a:rPr>
              <a:t>1</a:t>
            </a:r>
            <a:r>
              <a:rPr lang="zh-CN" altLang="en-US" sz="2800" noProof="1">
                <a:solidFill>
                  <a:srgbClr val="CC3300"/>
                </a:solidFill>
                <a:latin typeface="Times New Roman" panose="02020603050405020304" pitchFamily="2" charset="0"/>
                <a:ea typeface="楷体_GB2312" pitchFamily="1" charset="-122"/>
              </a:rPr>
              <a:t>次</a:t>
            </a:r>
            <a:endParaRPr lang="zh-CN" altLang="en-US" sz="3200" noProof="1">
              <a:solidFill>
                <a:srgbClr val="CC3300"/>
              </a:solidFill>
            </a:endParaRPr>
          </a:p>
        </p:txBody>
      </p:sp>
      <p:sp>
        <p:nvSpPr>
          <p:cNvPr id="23555" name="日期占位符 1">
            <a:extLst>
              <a:ext uri="{FF2B5EF4-FFF2-40B4-BE49-F238E27FC236}">
                <a16:creationId xmlns:a16="http://schemas.microsoft.com/office/drawing/2014/main" id="{49547A63-02B2-4831-BC14-DD8E7121C6F0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7386F93E-71CC-4AC4-8C01-43350F2EAD74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spli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048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2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charRg st="197" end="2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20483">
                                            <p:txEl>
                                              <p:charRg st="197" end="2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标题 1">
            <a:extLst>
              <a:ext uri="{FF2B5EF4-FFF2-40B4-BE49-F238E27FC236}">
                <a16:creationId xmlns:a16="http://schemas.microsoft.com/office/drawing/2014/main" id="{800DB185-DE09-4DBD-8257-83B9B9DA1981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520700" y="368300"/>
            <a:ext cx="8229600" cy="674688"/>
          </a:xfrm>
        </p:spPr>
        <p:txBody>
          <a:bodyPr anchor="ctr"/>
          <a:lstStyle/>
          <a:p>
            <a:pPr algn="l"/>
            <a:r>
              <a:rPr lang="en-US" altLang="zh-CN" sz="4000" b="1">
                <a:solidFill>
                  <a:schemeClr val="accent2"/>
                </a:solidFill>
              </a:rPr>
              <a:t>3. </a:t>
            </a:r>
            <a:r>
              <a:rPr lang="zh-CN" altLang="en-US" sz="4000" b="1">
                <a:solidFill>
                  <a:schemeClr val="accent2"/>
                </a:solidFill>
              </a:rPr>
              <a:t>循环移位指令</a:t>
            </a:r>
            <a:r>
              <a:rPr lang="en-US" altLang="zh-CN" sz="4000" b="1">
                <a:solidFill>
                  <a:schemeClr val="accent2"/>
                </a:solidFill>
              </a:rPr>
              <a:t>举例 </a:t>
            </a:r>
            <a:endParaRPr lang="zh-CN" altLang="en-US" sz="4000" b="1">
              <a:solidFill>
                <a:schemeClr val="accent2"/>
              </a:solidFill>
            </a:endParaRPr>
          </a:p>
        </p:txBody>
      </p:sp>
      <p:sp>
        <p:nvSpPr>
          <p:cNvPr id="21507" name="内容占位符 2">
            <a:extLst>
              <a:ext uri="{FF2B5EF4-FFF2-40B4-BE49-F238E27FC236}">
                <a16:creationId xmlns:a16="http://schemas.microsoft.com/office/drawing/2014/main" id="{8605172A-D601-42F6-AF95-0AFF8BCD3F2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60400" y="1384300"/>
            <a:ext cx="8099425" cy="5240338"/>
          </a:xfrm>
        </p:spPr>
        <p:txBody>
          <a:bodyPr/>
          <a:lstStyle/>
          <a:p>
            <a:pPr algn="l"/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例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3.74</a:t>
            </a:r>
            <a:endParaRPr lang="zh-CN" altLang="en-US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设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 CF=1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1" charset="-122"/>
              </a:rPr>
              <a:t>AL=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1" charset="-12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1" charset="-122"/>
              </a:rPr>
              <a:t>011 0100B</a:t>
            </a:r>
            <a:endParaRPr lang="zh-CN" altLang="en-US" sz="2800" b="1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r>
              <a:rPr lang="zh-CN" altLang="en-US" sz="280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若执行指令</a:t>
            </a:r>
            <a:r>
              <a:rPr lang="en-US" altLang="zh-CN" sz="280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 ROL  AL</a:t>
            </a:r>
            <a:r>
              <a:rPr lang="zh-CN" altLang="en-US" sz="280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1</a:t>
            </a:r>
            <a:endParaRPr lang="zh-CN" altLang="en-US" sz="2800">
              <a:solidFill>
                <a:srgbClr val="CC3300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    则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1" charset="-122"/>
              </a:rPr>
              <a:t>AL=0110 100</a:t>
            </a:r>
            <a:r>
              <a:rPr lang="en-US" altLang="zh-CN" sz="2800" b="1">
                <a:solidFill>
                  <a:srgbClr val="00B0F0"/>
                </a:solidFill>
                <a:latin typeface="Times New Roman" panose="02020603050405020304" pitchFamily="18" charset="0"/>
                <a:ea typeface="楷体_GB2312" pitchFamily="1" charset="-12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1" charset="-122"/>
              </a:rPr>
              <a:t>B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CF=1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OF=1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；</a:t>
            </a:r>
          </a:p>
          <a:p>
            <a:pPr algn="l"/>
            <a:r>
              <a:rPr lang="zh-CN" altLang="en-US" sz="280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若执行指令</a:t>
            </a:r>
            <a:r>
              <a:rPr lang="en-US" altLang="zh-CN" sz="280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 ROR  AL</a:t>
            </a:r>
            <a:r>
              <a:rPr lang="zh-CN" altLang="en-US" sz="280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1</a:t>
            </a:r>
            <a:endParaRPr lang="zh-CN" altLang="en-US" sz="2800">
              <a:solidFill>
                <a:srgbClr val="CC3300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    则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1" charset="-122"/>
              </a:rPr>
              <a:t>AL=</a:t>
            </a:r>
            <a:r>
              <a:rPr lang="en-US" altLang="zh-CN" sz="2800" b="1">
                <a:solidFill>
                  <a:srgbClr val="00B0F0"/>
                </a:solidFill>
                <a:latin typeface="Times New Roman" panose="02020603050405020304" pitchFamily="18" charset="0"/>
                <a:ea typeface="楷体_GB2312" pitchFamily="1" charset="-122"/>
              </a:rPr>
              <a:t>0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1" charset="-122"/>
              </a:rPr>
              <a:t>101 1010B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CF=0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OF=1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；</a:t>
            </a:r>
          </a:p>
          <a:p>
            <a:pPr algn="l"/>
            <a:r>
              <a:rPr lang="zh-CN" altLang="en-US" sz="280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若执行指令</a:t>
            </a:r>
            <a:r>
              <a:rPr lang="en-US" altLang="zh-CN" sz="280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 RCR  AL</a:t>
            </a:r>
            <a:r>
              <a:rPr lang="zh-CN" altLang="en-US" sz="280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1</a:t>
            </a:r>
            <a:endParaRPr lang="zh-CN" altLang="en-US" sz="2800">
              <a:solidFill>
                <a:srgbClr val="CC3300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    则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1" charset="-122"/>
              </a:rPr>
              <a:t>AL=</a:t>
            </a:r>
            <a:r>
              <a:rPr lang="en-US" altLang="zh-CN" sz="2800" b="1">
                <a:solidFill>
                  <a:srgbClr val="00B0F0"/>
                </a:solidFill>
                <a:latin typeface="Times New Roman" panose="02020603050405020304" pitchFamily="18" charset="0"/>
                <a:ea typeface="楷体_GB2312" pitchFamily="1" charset="-122"/>
              </a:rPr>
              <a:t>1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1" charset="-122"/>
              </a:rPr>
              <a:t>101 1010B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CF=0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OF=0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；</a:t>
            </a:r>
          </a:p>
          <a:p>
            <a:pPr algn="l"/>
            <a:r>
              <a:rPr lang="zh-CN" altLang="en-US" sz="280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若执行指令</a:t>
            </a:r>
            <a:r>
              <a:rPr lang="en-US" altLang="zh-CN" sz="280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 MOV  CL</a:t>
            </a:r>
            <a:r>
              <a:rPr lang="zh-CN" altLang="en-US" sz="280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3 </a:t>
            </a:r>
            <a:r>
              <a:rPr lang="zh-CN" altLang="en-US" sz="280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和 </a:t>
            </a:r>
            <a:r>
              <a:rPr lang="en-US" altLang="zh-CN" sz="280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RCL  AL</a:t>
            </a:r>
            <a:r>
              <a:rPr lang="zh-CN" altLang="en-US" sz="280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CL</a:t>
            </a:r>
            <a:endParaRPr lang="zh-CN" altLang="en-US" sz="2800">
              <a:solidFill>
                <a:srgbClr val="CC3300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    则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 </a:t>
            </a:r>
            <a:r>
              <a:rPr lang="en-US" altLang="zh-CN" sz="2800" b="1">
                <a:latin typeface="Times New Roman" panose="02020603050405020304" pitchFamily="18" charset="0"/>
                <a:ea typeface="楷体_GB2312" pitchFamily="1" charset="-122"/>
              </a:rPr>
              <a:t>AL=1010 0110B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CF=1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OF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不确定</a:t>
            </a:r>
            <a:endParaRPr lang="zh-CN" altLang="en-US" sz="3200"/>
          </a:p>
        </p:txBody>
      </p:sp>
      <p:sp>
        <p:nvSpPr>
          <p:cNvPr id="24579" name="日期占位符 1">
            <a:extLst>
              <a:ext uri="{FF2B5EF4-FFF2-40B4-BE49-F238E27FC236}">
                <a16:creationId xmlns:a16="http://schemas.microsoft.com/office/drawing/2014/main" id="{E0F8377D-2377-46F6-933B-5628F7FC58B6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D7F1ACFF-3AAE-4729-A5C1-9EF4B6874A00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15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15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15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15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215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215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15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标题 1">
            <a:extLst>
              <a:ext uri="{FF2B5EF4-FFF2-40B4-BE49-F238E27FC236}">
                <a16:creationId xmlns:a16="http://schemas.microsoft.com/office/drawing/2014/main" id="{C3E2D4EC-0DBB-4176-A020-F298EB5B851C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0" y="628650"/>
            <a:ext cx="8534400" cy="1466850"/>
          </a:xfrm>
        </p:spPr>
        <p:txBody>
          <a:bodyPr anchor="ctr"/>
          <a:lstStyle/>
          <a:p>
            <a:r>
              <a:rPr lang="en-US" altLang="zh-CN" sz="4800">
                <a:solidFill>
                  <a:schemeClr val="accent2"/>
                </a:solidFill>
              </a:rPr>
              <a:t>§3.3  8086</a:t>
            </a:r>
            <a:r>
              <a:rPr lang="zh-CN" altLang="en-US" sz="4800">
                <a:solidFill>
                  <a:schemeClr val="accent2"/>
                </a:solidFill>
              </a:rPr>
              <a:t>的指令系统</a:t>
            </a:r>
            <a:endParaRPr lang="zh-CN" altLang="en-US" sz="4400">
              <a:solidFill>
                <a:schemeClr val="accent2"/>
              </a:solidFill>
            </a:endParaRPr>
          </a:p>
        </p:txBody>
      </p:sp>
      <p:sp>
        <p:nvSpPr>
          <p:cNvPr id="25602" name="矩形 4">
            <a:extLst>
              <a:ext uri="{FF2B5EF4-FFF2-40B4-BE49-F238E27FC236}">
                <a16:creationId xmlns:a16="http://schemas.microsoft.com/office/drawing/2014/main" id="{795F8DBD-D9A9-4B10-A610-93FC5C5E15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0575" y="2168525"/>
            <a:ext cx="7550150" cy="376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>
              <a:spcBef>
                <a:spcPts val="600"/>
              </a:spcBef>
            </a:pPr>
            <a:r>
              <a:rPr lang="en-US" altLang="zh-CN" sz="3600" b="1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3.3.1  </a:t>
            </a:r>
            <a:r>
              <a:rPr lang="zh-CN" altLang="en-US" sz="3600" b="1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数据传送指令</a:t>
            </a:r>
          </a:p>
          <a:p>
            <a:pPr algn="just" eaLnBrk="0" hangingPunct="0">
              <a:spcBef>
                <a:spcPts val="600"/>
              </a:spcBef>
            </a:pPr>
            <a:r>
              <a:rPr lang="en-US" altLang="zh-CN" sz="3600" b="1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3.3.2  </a:t>
            </a:r>
            <a:r>
              <a:rPr lang="zh-CN" altLang="en-US" sz="3600" b="1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算术运算指令</a:t>
            </a:r>
          </a:p>
          <a:p>
            <a:pPr algn="just" eaLnBrk="0" hangingPunct="0">
              <a:spcBef>
                <a:spcPts val="600"/>
              </a:spcBef>
            </a:pPr>
            <a:r>
              <a:rPr lang="en-US" altLang="zh-CN" sz="3600" b="1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3.3.3  </a:t>
            </a:r>
            <a:r>
              <a:rPr lang="zh-CN" altLang="en-US" sz="3600" b="1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逻辑运算和移位指令</a:t>
            </a:r>
          </a:p>
          <a:p>
            <a:pPr algn="just" eaLnBrk="0" hangingPunct="0">
              <a:spcBef>
                <a:spcPts val="600"/>
              </a:spcBef>
            </a:pPr>
            <a:r>
              <a:rPr lang="en-US" altLang="zh-CN" sz="3600" b="1">
                <a:solidFill>
                  <a:srgbClr val="CC3300"/>
                </a:solidFill>
                <a:ea typeface="楷体_GB2312" pitchFamily="1" charset="-122"/>
                <a:sym typeface="Times New Roman" panose="02020603050405020304" pitchFamily="18" charset="0"/>
              </a:rPr>
              <a:t>3.3.4  </a:t>
            </a:r>
            <a:r>
              <a:rPr lang="zh-CN" altLang="en-US" sz="3600" b="1">
                <a:solidFill>
                  <a:srgbClr val="CC3300"/>
                </a:solidFill>
                <a:ea typeface="楷体_GB2312" pitchFamily="1" charset="-122"/>
                <a:sym typeface="Times New Roman" panose="02020603050405020304" pitchFamily="18" charset="0"/>
              </a:rPr>
              <a:t>字符串处理指令 不需掌握</a:t>
            </a:r>
          </a:p>
          <a:p>
            <a:pPr algn="just" eaLnBrk="0" hangingPunct="0">
              <a:spcBef>
                <a:spcPts val="600"/>
              </a:spcBef>
            </a:pPr>
            <a:r>
              <a:rPr lang="en-US" altLang="zh-CN" sz="3600" b="1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3.3.5  </a:t>
            </a:r>
            <a:r>
              <a:rPr lang="zh-CN" altLang="en-US" sz="3600" b="1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控制转移指令</a:t>
            </a:r>
          </a:p>
          <a:p>
            <a:pPr algn="just" eaLnBrk="0" hangingPunct="0">
              <a:spcBef>
                <a:spcPts val="600"/>
              </a:spcBef>
            </a:pPr>
            <a:r>
              <a:rPr lang="en-US" altLang="zh-CN" sz="3600" b="1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3.3.6  </a:t>
            </a:r>
            <a:r>
              <a:rPr lang="zh-CN" altLang="en-US" sz="3600" b="1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处理器控制指令</a:t>
            </a:r>
            <a:endParaRPr lang="en-US" altLang="zh-CN" sz="2400">
              <a:solidFill>
                <a:srgbClr val="008000"/>
              </a:solidFill>
            </a:endParaRPr>
          </a:p>
        </p:txBody>
      </p:sp>
      <p:sp>
        <p:nvSpPr>
          <p:cNvPr id="25603" name="日期占位符 1">
            <a:extLst>
              <a:ext uri="{FF2B5EF4-FFF2-40B4-BE49-F238E27FC236}">
                <a16:creationId xmlns:a16="http://schemas.microsoft.com/office/drawing/2014/main" id="{52BEC0F0-73DE-4A34-ACBA-49D38F0814AE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02D9D55D-BB07-43DE-9514-A4BBB0E33ED9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edg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标题 1">
            <a:extLst>
              <a:ext uri="{FF2B5EF4-FFF2-40B4-BE49-F238E27FC236}">
                <a16:creationId xmlns:a16="http://schemas.microsoft.com/office/drawing/2014/main" id="{DCE9C3BB-75C8-4B74-8CAB-56BB07DA9250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0" y="628650"/>
            <a:ext cx="8534400" cy="1466850"/>
          </a:xfrm>
        </p:spPr>
        <p:txBody>
          <a:bodyPr anchor="ctr"/>
          <a:lstStyle/>
          <a:p>
            <a:r>
              <a:rPr lang="en-US" altLang="zh-CN" sz="4800">
                <a:solidFill>
                  <a:schemeClr val="accent2"/>
                </a:solidFill>
              </a:rPr>
              <a:t>§3.3  8086</a:t>
            </a:r>
            <a:r>
              <a:rPr lang="zh-CN" altLang="en-US" sz="4800">
                <a:solidFill>
                  <a:schemeClr val="accent2"/>
                </a:solidFill>
              </a:rPr>
              <a:t>的指令系统</a:t>
            </a:r>
            <a:endParaRPr lang="zh-CN" altLang="en-US" sz="4400">
              <a:solidFill>
                <a:schemeClr val="accent2"/>
              </a:solidFill>
            </a:endParaRPr>
          </a:p>
        </p:txBody>
      </p:sp>
      <p:sp>
        <p:nvSpPr>
          <p:cNvPr id="26626" name="矩形 4">
            <a:extLst>
              <a:ext uri="{FF2B5EF4-FFF2-40B4-BE49-F238E27FC236}">
                <a16:creationId xmlns:a16="http://schemas.microsoft.com/office/drawing/2014/main" id="{DA649BE7-EB5C-4A8D-99AD-345AD98C64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3850" y="2095500"/>
            <a:ext cx="6356350" cy="380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0" hangingPunct="0">
              <a:spcBef>
                <a:spcPts val="600"/>
              </a:spcBef>
            </a:pPr>
            <a:r>
              <a:rPr lang="en-US" altLang="zh-CN" sz="3600" b="1" dirty="0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3.3.1  </a:t>
            </a:r>
            <a:r>
              <a:rPr lang="zh-CN" altLang="en-US" sz="3600" b="1" dirty="0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数据传送指令</a:t>
            </a:r>
          </a:p>
          <a:p>
            <a:pPr algn="just" eaLnBrk="0" hangingPunct="0">
              <a:spcBef>
                <a:spcPts val="600"/>
              </a:spcBef>
            </a:pPr>
            <a:r>
              <a:rPr lang="en-US" altLang="zh-CN" sz="3600" b="1" dirty="0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3.3.2  </a:t>
            </a:r>
            <a:r>
              <a:rPr lang="zh-CN" altLang="en-US" sz="3600" b="1" dirty="0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算术运算指令</a:t>
            </a:r>
          </a:p>
          <a:p>
            <a:pPr algn="just" eaLnBrk="0" hangingPunct="0">
              <a:spcBef>
                <a:spcPts val="600"/>
              </a:spcBef>
            </a:pPr>
            <a:r>
              <a:rPr lang="en-US" altLang="zh-CN" sz="3600" b="1" dirty="0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3.3.3  </a:t>
            </a:r>
            <a:r>
              <a:rPr lang="zh-CN" altLang="en-US" sz="3600" b="1" dirty="0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逻辑运算和移位指令</a:t>
            </a:r>
          </a:p>
          <a:p>
            <a:pPr algn="just" eaLnBrk="0" hangingPunct="0">
              <a:spcBef>
                <a:spcPts val="600"/>
              </a:spcBef>
            </a:pPr>
            <a:r>
              <a:rPr lang="en-US" altLang="zh-CN" sz="3600" b="1" dirty="0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3.3.4  </a:t>
            </a:r>
            <a:r>
              <a:rPr lang="zh-CN" altLang="en-US" sz="3600" b="1" dirty="0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字符串处理指令</a:t>
            </a:r>
          </a:p>
          <a:p>
            <a:pPr algn="just" eaLnBrk="0" hangingPunct="0">
              <a:spcBef>
                <a:spcPts val="600"/>
              </a:spcBef>
            </a:pPr>
            <a:r>
              <a:rPr lang="en-US" altLang="zh-CN" sz="3600" b="1" dirty="0">
                <a:solidFill>
                  <a:srgbClr val="CC3300"/>
                </a:solidFill>
                <a:ea typeface="楷体_GB2312" pitchFamily="1" charset="-122"/>
                <a:sym typeface="Times New Roman" panose="02020603050405020304" pitchFamily="18" charset="0"/>
              </a:rPr>
              <a:t>3.3.5  </a:t>
            </a:r>
            <a:r>
              <a:rPr lang="zh-CN" altLang="en-US" sz="3600" b="1" dirty="0">
                <a:solidFill>
                  <a:srgbClr val="CC3300"/>
                </a:solidFill>
                <a:ea typeface="楷体_GB2312" pitchFamily="1" charset="-122"/>
                <a:sym typeface="Times New Roman" panose="02020603050405020304" pitchFamily="18" charset="0"/>
              </a:rPr>
              <a:t>控制转移指令</a:t>
            </a:r>
          </a:p>
          <a:p>
            <a:pPr algn="just" eaLnBrk="0" hangingPunct="0">
              <a:spcBef>
                <a:spcPts val="600"/>
              </a:spcBef>
            </a:pPr>
            <a:r>
              <a:rPr lang="en-US" altLang="zh-CN" sz="3600" b="1" dirty="0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3.3.6  </a:t>
            </a:r>
            <a:r>
              <a:rPr lang="zh-CN" altLang="en-US" sz="3600" b="1" dirty="0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处理器控制指令</a:t>
            </a:r>
            <a:endParaRPr lang="en-US" altLang="zh-CN" sz="2400" dirty="0">
              <a:solidFill>
                <a:srgbClr val="008000"/>
              </a:solidFill>
            </a:endParaRPr>
          </a:p>
        </p:txBody>
      </p:sp>
      <p:sp>
        <p:nvSpPr>
          <p:cNvPr id="26627" name="日期占位符 1">
            <a:extLst>
              <a:ext uri="{FF2B5EF4-FFF2-40B4-BE49-F238E27FC236}">
                <a16:creationId xmlns:a16="http://schemas.microsoft.com/office/drawing/2014/main" id="{EB553F8C-3A95-4ABB-A897-6B3EBF142EAA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D50766DD-657E-4A43-8560-F1081AB01612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edg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标题 1">
            <a:extLst>
              <a:ext uri="{FF2B5EF4-FFF2-40B4-BE49-F238E27FC236}">
                <a16:creationId xmlns:a16="http://schemas.microsoft.com/office/drawing/2014/main" id="{D1C9E4E6-96B4-4913-AB79-F092BB9AE520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en-US" altLang="zh-CN" sz="3600" b="1" dirty="0">
                <a:solidFill>
                  <a:srgbClr val="FF0066"/>
                </a:solidFill>
                <a:ea typeface="楷体_GB2312" pitchFamily="1" charset="-122"/>
              </a:rPr>
              <a:t>3.3.5  </a:t>
            </a:r>
            <a:r>
              <a:rPr lang="zh-CN" altLang="en-US" sz="3600" b="1" dirty="0">
                <a:solidFill>
                  <a:srgbClr val="FF0066"/>
                </a:solidFill>
                <a:ea typeface="楷体_GB2312" pitchFamily="1" charset="-122"/>
              </a:rPr>
              <a:t>控制转移指令</a:t>
            </a:r>
            <a:endParaRPr lang="zh-CN" altLang="en-US" sz="4400" b="1" dirty="0">
              <a:solidFill>
                <a:srgbClr val="FF0066"/>
              </a:solidFill>
            </a:endParaRPr>
          </a:p>
        </p:txBody>
      </p:sp>
      <p:sp>
        <p:nvSpPr>
          <p:cNvPr id="39939" name="内容占位符 2">
            <a:extLst>
              <a:ext uri="{FF2B5EF4-FFF2-40B4-BE49-F238E27FC236}">
                <a16:creationId xmlns:a16="http://schemas.microsoft.com/office/drawing/2014/main" id="{F45F22DA-867B-4DA5-A056-9C54F529472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1312863"/>
            <a:ext cx="8372475" cy="5372100"/>
          </a:xfrm>
        </p:spPr>
        <p:txBody>
          <a:bodyPr/>
          <a:lstStyle/>
          <a:p>
            <a:pPr marL="458788" indent="-457200" algn="l" eaLnBrk="1" hangingPunct="1">
              <a:buFont typeface="Arial" panose="020B0604020202020204" pitchFamily="34" charset="0"/>
              <a:buChar char="•"/>
              <a:defRPr/>
            </a:pPr>
            <a:r>
              <a:rPr lang="zh-CN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楷体_GB2312" pitchFamily="1" charset="-122"/>
              </a:rPr>
              <a:t>学习前先提几个问题，学完要能回答：</a:t>
            </a:r>
            <a:r>
              <a:rPr lang="en-US" altLang="zh-CN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   </a:t>
            </a:r>
          </a:p>
          <a:p>
            <a:pPr marL="1588" algn="l" eaLnBrk="1" hangingPunct="1">
              <a:defRPr/>
            </a:pPr>
            <a:r>
              <a:rPr lang="en-US" altLang="zh-CN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       1</a:t>
            </a:r>
            <a:r>
              <a:rPr lang="zh-CN" altLang="en-US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）程序实现跳转的本质是什么？</a:t>
            </a:r>
            <a:endParaRPr lang="en-US" altLang="zh-CN" sz="2600" dirty="0">
              <a:solidFill>
                <a:srgbClr val="0070C0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marL="1588" algn="l">
              <a:defRPr/>
            </a:pPr>
            <a:r>
              <a:rPr lang="en-US" altLang="zh-CN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       2</a:t>
            </a:r>
            <a:r>
              <a:rPr lang="zh-CN" altLang="en-US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）</a:t>
            </a:r>
            <a:r>
              <a:rPr lang="en-US" altLang="zh-CN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JMP</a:t>
            </a:r>
            <a:r>
              <a:rPr lang="zh-CN" altLang="en-US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和</a:t>
            </a:r>
            <a:r>
              <a:rPr lang="en-US" altLang="zh-CN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CALL</a:t>
            </a:r>
            <a:r>
              <a:rPr lang="zh-CN" altLang="en-US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、</a:t>
            </a:r>
            <a:r>
              <a:rPr lang="en-US" altLang="zh-CN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RET</a:t>
            </a:r>
            <a:r>
              <a:rPr lang="zh-CN" altLang="en-US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之间有什么共通之处？又有什么不同之处？堆栈在其中起到什么作用？</a:t>
            </a:r>
            <a:endParaRPr lang="en-US" altLang="zh-CN" sz="2600" dirty="0">
              <a:solidFill>
                <a:srgbClr val="0070C0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marL="1588" algn="l">
              <a:defRPr/>
            </a:pPr>
            <a:r>
              <a:rPr lang="en-US" altLang="zh-CN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       3</a:t>
            </a:r>
            <a:r>
              <a:rPr lang="zh-CN" altLang="en-US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）条件转移指令转移的依据是什么？为何要分有符号数和无符号数的转移指令？</a:t>
            </a:r>
            <a:endParaRPr lang="en-US" altLang="zh-CN" sz="2600" dirty="0">
              <a:solidFill>
                <a:srgbClr val="0070C0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marL="1588" algn="l">
              <a:defRPr/>
            </a:pPr>
            <a:r>
              <a:rPr lang="en-US" altLang="zh-CN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       4)	CMP</a:t>
            </a:r>
            <a:r>
              <a:rPr lang="zh-CN" altLang="en-US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指令和条件跳转指令有何关系？</a:t>
            </a:r>
            <a:endParaRPr lang="en-US" altLang="zh-CN" sz="2600" dirty="0">
              <a:solidFill>
                <a:srgbClr val="0070C0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marL="1588" algn="l">
              <a:defRPr/>
            </a:pPr>
            <a:r>
              <a:rPr lang="en-US" altLang="zh-CN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       5</a:t>
            </a:r>
            <a:r>
              <a:rPr lang="zh-CN" altLang="en-US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）段内跳转和段间跳转有何区别？</a:t>
            </a:r>
            <a:endParaRPr lang="en-US" altLang="zh-CN" sz="2600" dirty="0">
              <a:solidFill>
                <a:srgbClr val="0070C0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marL="1588" algn="l">
              <a:defRPr/>
            </a:pPr>
            <a:r>
              <a:rPr lang="en-US" altLang="zh-CN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       6</a:t>
            </a:r>
            <a:r>
              <a:rPr lang="zh-CN" altLang="en-US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）跳转有直接跳转和间接跳转，寻址方式有直接寻址和间接寻址，它们有相通之处吗？</a:t>
            </a:r>
            <a:endParaRPr lang="en-US" altLang="zh-CN" sz="2600" dirty="0">
              <a:solidFill>
                <a:srgbClr val="0070C0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marL="1588" algn="l">
              <a:defRPr/>
            </a:pPr>
            <a:r>
              <a:rPr lang="en-US" altLang="zh-CN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       7</a:t>
            </a:r>
            <a:r>
              <a:rPr lang="zh-CN" altLang="en-US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）子程序调用和返回（</a:t>
            </a:r>
            <a:r>
              <a:rPr lang="en-US" altLang="zh-CN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CALL</a:t>
            </a:r>
            <a:r>
              <a:rPr lang="zh-CN" altLang="en-US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RET</a:t>
            </a:r>
            <a:r>
              <a:rPr lang="zh-CN" altLang="en-US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）与中断响应和中断返回（</a:t>
            </a:r>
            <a:r>
              <a:rPr lang="en-US" altLang="zh-CN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INT</a:t>
            </a:r>
            <a:r>
              <a:rPr lang="zh-CN" altLang="en-US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IRET</a:t>
            </a:r>
            <a:r>
              <a:rPr lang="zh-CN" altLang="en-US" sz="2600" dirty="0">
                <a:solidFill>
                  <a:srgbClr val="0070C0"/>
                </a:solidFill>
                <a:latin typeface="Times New Roman" panose="02020603050405020304" pitchFamily="18" charset="0"/>
                <a:ea typeface="楷体_GB2312" pitchFamily="1" charset="-122"/>
              </a:rPr>
              <a:t>）的异同之处在哪里？</a:t>
            </a:r>
            <a:endParaRPr lang="en-US" altLang="zh-CN" sz="2600" dirty="0">
              <a:solidFill>
                <a:srgbClr val="0070C0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marL="1588" algn="l">
              <a:defRPr/>
            </a:pPr>
            <a:endParaRPr lang="en-US" altLang="zh-CN" sz="2600" dirty="0">
              <a:solidFill>
                <a:srgbClr val="0070C0"/>
              </a:solidFill>
              <a:latin typeface="Times New Roman" panose="02020603050405020304" pitchFamily="18" charset="0"/>
              <a:ea typeface="楷体_GB2312" pitchFamily="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566159"/>
      </p:ext>
    </p:extLst>
  </p:cSld>
  <p:clrMapOvr>
    <a:masterClrMapping/>
  </p:clrMapOvr>
  <p:transition spd="slow">
    <p:strips dir="l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标题 1">
            <a:extLst>
              <a:ext uri="{FF2B5EF4-FFF2-40B4-BE49-F238E27FC236}">
                <a16:creationId xmlns:a16="http://schemas.microsoft.com/office/drawing/2014/main" id="{881199B7-2738-4757-8E4F-AD5FC3187DB5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38150" y="495300"/>
            <a:ext cx="8229600" cy="674688"/>
          </a:xfrm>
        </p:spPr>
        <p:txBody>
          <a:bodyPr anchor="ctr"/>
          <a:lstStyle/>
          <a:p>
            <a:pPr algn="l">
              <a:spcBef>
                <a:spcPts val="600"/>
              </a:spcBef>
            </a:pPr>
            <a:r>
              <a:rPr lang="en-US" altLang="zh-CN" sz="3600" b="1" dirty="0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3.3.5  </a:t>
            </a:r>
            <a:r>
              <a:rPr lang="zh-CN" altLang="en-US" sz="3600" b="1" dirty="0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控制转移指令</a:t>
            </a:r>
            <a:endParaRPr lang="en-US" altLang="zh-CN" sz="4400" b="1" dirty="0">
              <a:solidFill>
                <a:schemeClr val="accent2"/>
              </a:solidFill>
            </a:endParaRPr>
          </a:p>
        </p:txBody>
      </p:sp>
      <p:sp>
        <p:nvSpPr>
          <p:cNvPr id="27650" name="内容占位符 2">
            <a:extLst>
              <a:ext uri="{FF2B5EF4-FFF2-40B4-BE49-F238E27FC236}">
                <a16:creationId xmlns:a16="http://schemas.microsoft.com/office/drawing/2014/main" id="{8D61A83C-2D05-40EB-9F1A-8856C192331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1314450"/>
            <a:ext cx="8372475" cy="5175250"/>
          </a:xfrm>
        </p:spPr>
        <p:txBody>
          <a:bodyPr/>
          <a:lstStyle/>
          <a:p>
            <a:pPr marL="1588" indent="112713" algn="l"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Times New Roman" panose="02020603050405020304" pitchFamily="18" charset="0"/>
              </a:rPr>
              <a:t>通常，冯诺依曼结构计算机程序的指令都是</a:t>
            </a:r>
            <a:r>
              <a:rPr lang="zh-CN" altLang="en-US" sz="2800" b="1" dirty="0">
                <a:solidFill>
                  <a:srgbClr val="CC3300"/>
                </a:solidFill>
                <a:latin typeface="Times New Roman" panose="02020603050405020304" pitchFamily="18" charset="0"/>
              </a:rPr>
              <a:t>顺序地逐条执行</a:t>
            </a:r>
            <a:r>
              <a:rPr lang="zh-CN" altLang="en-US" sz="2800" dirty="0">
                <a:latin typeface="Times New Roman" panose="02020603050405020304" pitchFamily="18" charset="0"/>
              </a:rPr>
              <a:t>的，执行顺序由</a:t>
            </a:r>
            <a:r>
              <a:rPr lang="en-US" altLang="zh-CN" sz="2800" dirty="0">
                <a:latin typeface="Times New Roman" panose="02020603050405020304" pitchFamily="18" charset="0"/>
              </a:rPr>
              <a:t>CS</a:t>
            </a:r>
            <a:r>
              <a:rPr lang="zh-CN" altLang="en-US" sz="2800" dirty="0">
                <a:latin typeface="Times New Roman" panose="02020603050405020304" pitchFamily="18" charset="0"/>
              </a:rPr>
              <a:t>和</a:t>
            </a:r>
            <a:r>
              <a:rPr lang="en-US" altLang="zh-CN" sz="2800" dirty="0">
                <a:latin typeface="Times New Roman" panose="02020603050405020304" pitchFamily="18" charset="0"/>
              </a:rPr>
              <a:t>IP</a:t>
            </a:r>
            <a:r>
              <a:rPr lang="zh-CN" altLang="en-US" sz="2800" dirty="0">
                <a:latin typeface="Times New Roman" panose="02020603050405020304" pitchFamily="18" charset="0"/>
              </a:rPr>
              <a:t>决定，每取出一条指令，指令指针</a:t>
            </a:r>
            <a:r>
              <a:rPr lang="en-US" altLang="zh-CN" sz="2800" dirty="0">
                <a:latin typeface="Times New Roman" panose="02020603050405020304" pitchFamily="18" charset="0"/>
              </a:rPr>
              <a:t>IP</a:t>
            </a:r>
            <a:r>
              <a:rPr lang="zh-CN" altLang="en-US" sz="2800" dirty="0">
                <a:latin typeface="Times New Roman" panose="02020603050405020304" pitchFamily="18" charset="0"/>
              </a:rPr>
              <a:t>自动进行调整，指向下一个存储单元</a:t>
            </a:r>
          </a:p>
          <a:p>
            <a:pPr marL="1588" indent="112713" algn="l">
              <a:buFont typeface="Wingdings" panose="05000000000000000000" pitchFamily="2" charset="2"/>
              <a:buChar char="l"/>
            </a:pPr>
            <a:endParaRPr lang="zh-CN" altLang="en-US" sz="2800" dirty="0">
              <a:latin typeface="Times New Roman" panose="02020603050405020304" pitchFamily="18" charset="0"/>
            </a:endParaRPr>
          </a:p>
          <a:p>
            <a:pPr marL="1588" indent="112713" algn="l"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Times New Roman" panose="02020603050405020304" pitchFamily="18" charset="0"/>
              </a:rPr>
              <a:t>利用</a:t>
            </a:r>
            <a:r>
              <a:rPr lang="zh-CN" altLang="en-US" sz="2800" b="1" dirty="0">
                <a:solidFill>
                  <a:srgbClr val="CC3300"/>
                </a:solidFill>
                <a:latin typeface="Times New Roman" panose="02020603050405020304" pitchFamily="18" charset="0"/>
              </a:rPr>
              <a:t>控制转移指令可以改变</a:t>
            </a:r>
            <a:r>
              <a:rPr lang="en-US" altLang="zh-CN" sz="2800" b="1" dirty="0">
                <a:solidFill>
                  <a:srgbClr val="CC3300"/>
                </a:solidFill>
                <a:latin typeface="Times New Roman" panose="02020603050405020304" pitchFamily="18" charset="0"/>
              </a:rPr>
              <a:t>CS</a:t>
            </a:r>
            <a:r>
              <a:rPr lang="zh-CN" altLang="en-US" sz="2800" b="1" dirty="0">
                <a:solidFill>
                  <a:srgbClr val="CC3300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sz="2800" b="1" dirty="0">
                <a:solidFill>
                  <a:srgbClr val="CC3300"/>
                </a:solidFill>
                <a:latin typeface="Times New Roman" panose="02020603050405020304" pitchFamily="18" charset="0"/>
              </a:rPr>
              <a:t>IP</a:t>
            </a:r>
            <a:r>
              <a:rPr lang="zh-CN" altLang="en-US" sz="2800" b="1" dirty="0">
                <a:solidFill>
                  <a:srgbClr val="CC3300"/>
                </a:solidFill>
                <a:latin typeface="Times New Roman" panose="02020603050405020304" pitchFamily="18" charset="0"/>
              </a:rPr>
              <a:t>的值</a:t>
            </a:r>
            <a:r>
              <a:rPr lang="zh-CN" altLang="en-US" sz="2800" dirty="0">
                <a:latin typeface="Times New Roman" panose="02020603050405020304" pitchFamily="18" charset="0"/>
              </a:rPr>
              <a:t>，从而改变指令的执行顺序。</a:t>
            </a:r>
            <a:r>
              <a:rPr lang="en-US" altLang="zh-CN" sz="2800" dirty="0">
                <a:latin typeface="Times New Roman" panose="02020603050405020304" pitchFamily="18" charset="0"/>
              </a:rPr>
              <a:t>8086</a:t>
            </a:r>
            <a:r>
              <a:rPr lang="zh-CN" altLang="en-US" sz="2800" dirty="0">
                <a:latin typeface="Times New Roman" panose="02020603050405020304" pitchFamily="18" charset="0"/>
              </a:rPr>
              <a:t>提供了</a:t>
            </a:r>
            <a:r>
              <a:rPr lang="en-US" altLang="zh-CN" sz="2800" dirty="0">
                <a:latin typeface="Times New Roman" panose="02020603050405020304" pitchFamily="18" charset="0"/>
              </a:rPr>
              <a:t>5</a:t>
            </a:r>
            <a:r>
              <a:rPr lang="zh-CN" altLang="en-US" sz="2800" dirty="0">
                <a:latin typeface="Times New Roman" panose="02020603050405020304" pitchFamily="18" charset="0"/>
              </a:rPr>
              <a:t>类转移指令，如下表</a:t>
            </a:r>
            <a:r>
              <a:rPr lang="en-US" altLang="zh-CN" sz="2800" dirty="0">
                <a:latin typeface="Times New Roman" panose="02020603050405020304" pitchFamily="18" charset="0"/>
              </a:rPr>
              <a:t>3.9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marL="1588" indent="112713" algn="l">
              <a:buFont typeface="Wingdings" panose="05000000000000000000" pitchFamily="2" charset="2"/>
              <a:buChar char="l"/>
            </a:pPr>
            <a:endParaRPr lang="zh-CN" altLang="en-US" sz="3200" dirty="0"/>
          </a:p>
        </p:txBody>
      </p:sp>
      <p:sp>
        <p:nvSpPr>
          <p:cNvPr id="27651" name="日期占位符 1">
            <a:extLst>
              <a:ext uri="{FF2B5EF4-FFF2-40B4-BE49-F238E27FC236}">
                <a16:creationId xmlns:a16="http://schemas.microsoft.com/office/drawing/2014/main" id="{D9715B41-ED71-4CB2-8856-D27E2FD49149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E4D71914-E278-4B9D-A51E-56AB0312C53A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cover dir="l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标题 1">
            <a:extLst>
              <a:ext uri="{FF2B5EF4-FFF2-40B4-BE49-F238E27FC236}">
                <a16:creationId xmlns:a16="http://schemas.microsoft.com/office/drawing/2014/main" id="{6713A682-FC38-48B8-8EB5-022E7282DCA7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zh-CN" altLang="en-US" sz="44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控制转移指令</a:t>
            </a:r>
          </a:p>
        </p:txBody>
      </p:sp>
      <p:pic>
        <p:nvPicPr>
          <p:cNvPr id="28674" name="Picture 2">
            <a:extLst>
              <a:ext uri="{FF2B5EF4-FFF2-40B4-BE49-F238E27FC236}">
                <a16:creationId xmlns:a16="http://schemas.microsoft.com/office/drawing/2014/main" id="{4F35BF9F-96A5-4AEE-9CC3-6CA3B5FBAD7F}"/>
              </a:ext>
            </a:extLst>
          </p:cNvPr>
          <p:cNvPicPr>
            <a:picLocks noGrp="1" noChangeAspect="1" noChangeArrowheads="1"/>
          </p:cNvPicPr>
          <p:nvPr>
            <p:ph type="subTitle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400175" y="1117600"/>
            <a:ext cx="6569075" cy="5556250"/>
          </a:xfrm>
          <a:ln w="38100" cap="sq">
            <a:solidFill>
              <a:srgbClr val="000000"/>
            </a:solidFill>
            <a:miter lim="800000"/>
            <a:headEnd/>
            <a:tailEnd/>
          </a:ln>
        </p:spPr>
      </p:pic>
      <p:sp>
        <p:nvSpPr>
          <p:cNvPr id="28675" name="日期占位符 1">
            <a:extLst>
              <a:ext uri="{FF2B5EF4-FFF2-40B4-BE49-F238E27FC236}">
                <a16:creationId xmlns:a16="http://schemas.microsoft.com/office/drawing/2014/main" id="{7B8537A1-B2D5-4091-A995-F42943674AD1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EA6F60AE-30A1-4C26-AA5B-E483C5E3BD5B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cover dir="r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标题 1">
            <a:extLst>
              <a:ext uri="{FF2B5EF4-FFF2-40B4-BE49-F238E27FC236}">
                <a16:creationId xmlns:a16="http://schemas.microsoft.com/office/drawing/2014/main" id="{527B10B1-C7B4-4E28-A334-BD2A6EA6411F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1104900"/>
          </a:xfrm>
        </p:spPr>
        <p:txBody>
          <a:bodyPr anchor="ctr"/>
          <a:lstStyle/>
          <a:p>
            <a:pPr algn="l"/>
            <a:r>
              <a:rPr lang="en-US" altLang="zh-CN" sz="4000" b="1">
                <a:solidFill>
                  <a:schemeClr val="accent2"/>
                </a:solidFill>
              </a:rPr>
              <a:t>1. </a:t>
            </a:r>
            <a:r>
              <a:rPr lang="zh-CN" altLang="en-US" sz="4000" b="1">
                <a:solidFill>
                  <a:schemeClr val="accent2"/>
                </a:solidFill>
              </a:rPr>
              <a:t>无条件转移和过程调用指令</a:t>
            </a:r>
            <a:br>
              <a:rPr lang="zh-CN" altLang="en-US" sz="4000" b="1">
                <a:solidFill>
                  <a:schemeClr val="accent2"/>
                </a:solidFill>
              </a:rPr>
            </a:br>
            <a:r>
              <a:rPr lang="en-US" altLang="zh-CN" sz="2400" b="1">
                <a:solidFill>
                  <a:schemeClr val="accent2"/>
                </a:solidFill>
              </a:rPr>
              <a:t>     (Unconditional Transfer and Call)</a:t>
            </a:r>
          </a:p>
        </p:txBody>
      </p:sp>
      <p:sp>
        <p:nvSpPr>
          <p:cNvPr id="26627" name="内容占位符 2">
            <a:extLst>
              <a:ext uri="{FF2B5EF4-FFF2-40B4-BE49-F238E27FC236}">
                <a16:creationId xmlns:a16="http://schemas.microsoft.com/office/drawing/2014/main" id="{A2A67D8B-FEA7-4AB1-8483-15F8977F7A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763" y="1473200"/>
            <a:ext cx="8372475" cy="5016500"/>
          </a:xfrm>
        </p:spPr>
        <p:txBody>
          <a:bodyPr/>
          <a:lstStyle/>
          <a:p>
            <a:pPr marL="1905" indent="-1905" algn="l"/>
            <a:r>
              <a:rPr lang="en-US" altLang="x-none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1) JMP </a:t>
            </a:r>
            <a:r>
              <a:rPr lang="zh-CN" altLang="en-US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无条件转移指令</a:t>
            </a:r>
            <a:r>
              <a:rPr lang="en-US" altLang="x-none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 (Jump)</a:t>
            </a:r>
          </a:p>
          <a:p>
            <a:pPr marL="1905" indent="-1905" algn="l"/>
            <a:r>
              <a:rPr lang="zh-CN" altLang="en-US" sz="2800" noProof="1">
                <a:latin typeface="Times New Roman" panose="02020603050405020304" pitchFamily="2" charset="0"/>
              </a:rPr>
              <a:t>指令格式：</a:t>
            </a:r>
            <a:r>
              <a:rPr lang="en-US" altLang="x-none" sz="2800" noProof="1">
                <a:latin typeface="Times New Roman" panose="02020603050405020304" pitchFamily="2" charset="0"/>
              </a:rPr>
              <a:t> JMP	   </a:t>
            </a:r>
            <a:r>
              <a:rPr lang="zh-CN" altLang="en-US" sz="2800" noProof="1">
                <a:latin typeface="Times New Roman" panose="02020603050405020304" pitchFamily="2" charset="0"/>
              </a:rPr>
              <a:t>目的</a:t>
            </a:r>
          </a:p>
          <a:p>
            <a:pPr marL="1905" indent="-1905" algn="l"/>
            <a:r>
              <a:rPr lang="zh-CN" altLang="en-US" sz="2800" noProof="1">
                <a:latin typeface="Times New Roman" panose="02020603050405020304" pitchFamily="2" charset="0"/>
              </a:rPr>
              <a:t>指令功能： 无条件地转移到目的地址去执行</a:t>
            </a:r>
          </a:p>
          <a:p>
            <a:pPr marL="1905" indent="-1905" algn="l"/>
            <a:r>
              <a:rPr lang="zh-CN" altLang="en-US" sz="2800" noProof="1">
                <a:latin typeface="Times New Roman" panose="02020603050405020304" pitchFamily="2" charset="0"/>
              </a:rPr>
              <a:t>这类指令又分成两种类型：</a:t>
            </a:r>
          </a:p>
          <a:p>
            <a:pPr marL="1905" indent="112395" algn="l">
              <a:buFont typeface="Wingdings" panose="05000000000000000000" pitchFamily="2" charset="2"/>
              <a:buChar char="l"/>
            </a:pPr>
            <a:r>
              <a:rPr lang="zh-CN" altLang="en-US" sz="28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段内转移</a:t>
            </a:r>
            <a:r>
              <a:rPr lang="zh-CN" altLang="en-US" sz="2800" noProof="1">
                <a:latin typeface="Times New Roman" panose="02020603050405020304" pitchFamily="2" charset="0"/>
              </a:rPr>
              <a:t>或</a:t>
            </a:r>
            <a:r>
              <a:rPr lang="zh-CN" altLang="en-US" sz="28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近</a:t>
            </a:r>
            <a:r>
              <a:rPr lang="en-US" altLang="x-none" sz="28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(NEAR)</a:t>
            </a:r>
            <a:r>
              <a:rPr lang="zh-CN" altLang="en-US" sz="28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转移</a:t>
            </a:r>
            <a:r>
              <a:rPr lang="zh-CN" altLang="en-US" sz="2800" noProof="1">
                <a:latin typeface="Times New Roman" panose="02020603050405020304" pitchFamily="2" charset="0"/>
              </a:rPr>
              <a:t>。转移指令的目的地址和</a:t>
            </a:r>
            <a:r>
              <a:rPr lang="en-US" altLang="x-none" sz="2800" noProof="1">
                <a:latin typeface="Times New Roman" panose="02020603050405020304" pitchFamily="2" charset="0"/>
              </a:rPr>
              <a:t>JMP</a:t>
            </a:r>
            <a:r>
              <a:rPr lang="zh-CN" altLang="en-US" sz="2800" noProof="1">
                <a:latin typeface="Times New Roman" panose="02020603050405020304" pitchFamily="2" charset="0"/>
              </a:rPr>
              <a:t>指令在同一代码段中，转移时仅改变</a:t>
            </a:r>
            <a:r>
              <a:rPr lang="en-US" altLang="x-none" sz="2800" noProof="1">
                <a:latin typeface="Times New Roman" panose="02020603050405020304" pitchFamily="2" charset="0"/>
              </a:rPr>
              <a:t>IP</a:t>
            </a:r>
            <a:r>
              <a:rPr lang="zh-CN" altLang="en-US" sz="2800" noProof="1">
                <a:latin typeface="Times New Roman" panose="02020603050405020304" pitchFamily="2" charset="0"/>
              </a:rPr>
              <a:t>的内容，段地址</a:t>
            </a:r>
            <a:r>
              <a:rPr lang="en-US" altLang="x-none" sz="28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CS</a:t>
            </a:r>
            <a:r>
              <a:rPr lang="zh-CN" altLang="en-US" sz="28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的值不变</a:t>
            </a:r>
          </a:p>
          <a:p>
            <a:pPr marL="1905" indent="112395" algn="l">
              <a:buFont typeface="Wingdings" panose="05000000000000000000" pitchFamily="2" charset="2"/>
              <a:buChar char="l"/>
            </a:pPr>
            <a:r>
              <a:rPr lang="zh-CN" altLang="en-US" sz="28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段间转移</a:t>
            </a:r>
            <a:r>
              <a:rPr lang="zh-CN" altLang="en-US" sz="2800" noProof="1">
                <a:latin typeface="Times New Roman" panose="02020603050405020304" pitchFamily="2" charset="0"/>
              </a:rPr>
              <a:t>，又称</a:t>
            </a:r>
            <a:r>
              <a:rPr lang="zh-CN" altLang="en-US" sz="28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远</a:t>
            </a:r>
            <a:r>
              <a:rPr lang="en-US" altLang="x-none" sz="28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(FAR)</a:t>
            </a:r>
            <a:r>
              <a:rPr lang="zh-CN" altLang="en-US" sz="28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转移</a:t>
            </a:r>
            <a:r>
              <a:rPr lang="zh-CN" altLang="en-US" sz="2800" noProof="1">
                <a:latin typeface="Times New Roman" panose="02020603050405020304" pitchFamily="2" charset="0"/>
              </a:rPr>
              <a:t>。转移指令的目的地址和</a:t>
            </a:r>
            <a:r>
              <a:rPr lang="en-US" altLang="x-none" sz="2800" noProof="1">
                <a:latin typeface="Times New Roman" panose="02020603050405020304" pitchFamily="2" charset="0"/>
              </a:rPr>
              <a:t>JMP</a:t>
            </a:r>
            <a:r>
              <a:rPr lang="zh-CN" altLang="en-US" sz="2800" noProof="1">
                <a:latin typeface="Times New Roman" panose="02020603050405020304" pitchFamily="2" charset="0"/>
              </a:rPr>
              <a:t>指令不在同一段中，转移时，</a:t>
            </a:r>
            <a:r>
              <a:rPr lang="en-US" altLang="x-none" sz="2800" noProof="1">
                <a:latin typeface="Times New Roman" panose="02020603050405020304" pitchFamily="2" charset="0"/>
              </a:rPr>
              <a:t>CS</a:t>
            </a:r>
            <a:r>
              <a:rPr lang="zh-CN" altLang="en-US" sz="2800" noProof="1">
                <a:latin typeface="Times New Roman" panose="02020603050405020304" pitchFamily="2" charset="0"/>
              </a:rPr>
              <a:t>和</a:t>
            </a:r>
            <a:r>
              <a:rPr lang="en-US" altLang="x-none" sz="2800" noProof="1">
                <a:latin typeface="Times New Roman" panose="02020603050405020304" pitchFamily="2" charset="0"/>
              </a:rPr>
              <a:t>IP</a:t>
            </a:r>
            <a:r>
              <a:rPr lang="zh-CN" altLang="en-US" sz="2800" noProof="1">
                <a:latin typeface="Times New Roman" panose="02020603050405020304" pitchFamily="2" charset="0"/>
              </a:rPr>
              <a:t>的值都要改变，程序要</a:t>
            </a:r>
            <a:r>
              <a:rPr lang="zh-CN" altLang="en-US" sz="28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转移到另一个代码段</a:t>
            </a:r>
            <a:r>
              <a:rPr lang="zh-CN" altLang="en-US" sz="2800" noProof="1">
                <a:latin typeface="Times New Roman" panose="02020603050405020304" pitchFamily="2" charset="0"/>
              </a:rPr>
              <a:t>去执行</a:t>
            </a:r>
          </a:p>
        </p:txBody>
      </p:sp>
      <p:sp>
        <p:nvSpPr>
          <p:cNvPr id="29699" name="日期占位符 1">
            <a:extLst>
              <a:ext uri="{FF2B5EF4-FFF2-40B4-BE49-F238E27FC236}">
                <a16:creationId xmlns:a16="http://schemas.microsoft.com/office/drawing/2014/main" id="{8A3FCB70-5619-459B-B718-1E5FE1AC16B5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EB2F88F3-ADA4-4CA6-9FA3-C27FEBDE817E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6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标题 1">
            <a:extLst>
              <a:ext uri="{FF2B5EF4-FFF2-40B4-BE49-F238E27FC236}">
                <a16:creationId xmlns:a16="http://schemas.microsoft.com/office/drawing/2014/main" id="{21C0755A-5C3C-4C09-AA19-E6BD0CF271A8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zh-CN" altLang="en-US" sz="4400" b="1">
                <a:solidFill>
                  <a:schemeClr val="accent2"/>
                </a:solidFill>
              </a:rPr>
              <a:t>无条件转移指令</a:t>
            </a:r>
          </a:p>
        </p:txBody>
      </p:sp>
      <p:sp>
        <p:nvSpPr>
          <p:cNvPr id="27651" name="内容占位符 2">
            <a:extLst>
              <a:ext uri="{FF2B5EF4-FFF2-40B4-BE49-F238E27FC236}">
                <a16:creationId xmlns:a16="http://schemas.microsoft.com/office/drawing/2014/main" id="{C353D728-5786-4024-89C2-F672DE88290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438150" y="1162050"/>
            <a:ext cx="8142288" cy="5175250"/>
          </a:xfrm>
        </p:spPr>
        <p:txBody>
          <a:bodyPr/>
          <a:lstStyle/>
          <a:p>
            <a:pPr algn="l">
              <a:buFont typeface="Wingdings" panose="05000000000000000000" pitchFamily="2" charset="2"/>
              <a:buChar char="l"/>
            </a:pPr>
            <a:r>
              <a:rPr lang="zh-CN" altLang="en-US" sz="2800">
                <a:latin typeface="Times New Roman" panose="02020603050405020304" pitchFamily="18" charset="0"/>
              </a:rPr>
              <a:t>就转移地址提供的方式而言，又可分为两种方式：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rgbClr val="CC3300"/>
                </a:solidFill>
                <a:latin typeface="Times New Roman" panose="02020603050405020304" pitchFamily="18" charset="0"/>
              </a:rPr>
              <a:t>直接转移</a:t>
            </a:r>
            <a:r>
              <a:rPr lang="zh-CN" altLang="en-US" sz="2800">
                <a:latin typeface="Times New Roman" panose="02020603050405020304" pitchFamily="18" charset="0"/>
              </a:rPr>
              <a:t>。在指令码中直接给出转移的目的地址，目的操作数用一个标号来表示。它又可分为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段内直接转移</a:t>
            </a:r>
            <a:r>
              <a:rPr lang="zh-CN" altLang="en-US" sz="2800">
                <a:latin typeface="Times New Roman" panose="02020603050405020304" pitchFamily="18" charset="0"/>
              </a:rPr>
              <a:t>和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段间直接转移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zh-CN" altLang="en-US" sz="2800" b="1">
                <a:solidFill>
                  <a:srgbClr val="CC3300"/>
                </a:solidFill>
                <a:latin typeface="Times New Roman" panose="02020603050405020304" pitchFamily="18" charset="0"/>
              </a:rPr>
              <a:t>间接转移</a:t>
            </a:r>
            <a:r>
              <a:rPr lang="zh-CN" altLang="en-US" sz="2800">
                <a:latin typeface="Times New Roman" panose="02020603050405020304" pitchFamily="18" charset="0"/>
              </a:rPr>
              <a:t>。目的地址包含在某个</a:t>
            </a:r>
            <a:r>
              <a:rPr lang="en-US" altLang="zh-CN" sz="2800">
                <a:latin typeface="Times New Roman" panose="02020603050405020304" pitchFamily="18" charset="0"/>
              </a:rPr>
              <a:t>16</a:t>
            </a:r>
            <a:r>
              <a:rPr lang="zh-CN" altLang="en-US" sz="2800">
                <a:latin typeface="Times New Roman" panose="02020603050405020304" pitchFamily="18" charset="0"/>
              </a:rPr>
              <a:t>位寄存器或存储单元中，</a:t>
            </a:r>
            <a:r>
              <a:rPr lang="en-US" altLang="zh-CN" sz="2800">
                <a:latin typeface="Times New Roman" panose="02020603050405020304" pitchFamily="18" charset="0"/>
              </a:rPr>
              <a:t>CPU</a:t>
            </a:r>
            <a:r>
              <a:rPr lang="zh-CN" altLang="en-US" sz="2800">
                <a:latin typeface="Times New Roman" panose="02020603050405020304" pitchFamily="18" charset="0"/>
              </a:rPr>
              <a:t>必须根据寄存器或存储器寻址方式，间接地求出转移地址。同样，这种转移类型又可分为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段内间接转移</a:t>
            </a:r>
            <a:r>
              <a:rPr lang="zh-CN" altLang="en-US" sz="2800">
                <a:latin typeface="Times New Roman" panose="02020603050405020304" pitchFamily="18" charset="0"/>
              </a:rPr>
              <a:t>和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段间间接转移</a:t>
            </a:r>
          </a:p>
          <a:p>
            <a:pPr algn="l">
              <a:buFont typeface="Wingdings" panose="05000000000000000000" pitchFamily="2" charset="2"/>
              <a:buChar char="l"/>
            </a:pPr>
            <a:r>
              <a:rPr lang="zh-CN" altLang="en-US" sz="2800">
                <a:latin typeface="Times New Roman" panose="02020603050405020304" pitchFamily="18" charset="0"/>
                <a:sym typeface="Arial" panose="020B0604020202020204" pitchFamily="34" charset="0"/>
              </a:rPr>
              <a:t>所以无条件转移指令可分成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段内直接转移</a:t>
            </a:r>
            <a:r>
              <a:rPr lang="zh-CN" altLang="en-US" sz="2800">
                <a:latin typeface="Times New Roman" panose="02020603050405020304" pitchFamily="18" charset="0"/>
                <a:sym typeface="Arial" panose="020B0604020202020204" pitchFamily="34" charset="0"/>
              </a:rPr>
              <a:t>、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段内间接转移</a:t>
            </a:r>
            <a:r>
              <a:rPr lang="zh-CN" altLang="en-US" sz="2800">
                <a:latin typeface="Times New Roman" panose="02020603050405020304" pitchFamily="18" charset="0"/>
                <a:sym typeface="Arial" panose="020B0604020202020204" pitchFamily="34" charset="0"/>
              </a:rPr>
              <a:t>、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段间直接转移</a:t>
            </a:r>
            <a:r>
              <a:rPr lang="zh-CN" altLang="en-US" sz="2800">
                <a:latin typeface="Times New Roman" panose="02020603050405020304" pitchFamily="18" charset="0"/>
                <a:sym typeface="Arial" panose="020B0604020202020204" pitchFamily="34" charset="0"/>
              </a:rPr>
              <a:t>和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sym typeface="Arial" panose="020B0604020202020204" pitchFamily="34" charset="0"/>
              </a:rPr>
              <a:t>段间间接转移</a:t>
            </a:r>
            <a:r>
              <a:rPr lang="zh-CN" altLang="en-US" sz="2800">
                <a:latin typeface="Times New Roman" panose="02020603050405020304" pitchFamily="18" charset="0"/>
                <a:sym typeface="Arial" panose="020B0604020202020204" pitchFamily="34" charset="0"/>
              </a:rPr>
              <a:t>四种不同类型和方式，如下表</a:t>
            </a:r>
            <a:r>
              <a:rPr lang="en-US" altLang="zh-CN" sz="2800">
                <a:latin typeface="Times New Roman" panose="02020603050405020304" pitchFamily="18" charset="0"/>
                <a:sym typeface="Arial" panose="020B0604020202020204" pitchFamily="34" charset="0"/>
              </a:rPr>
              <a:t>3.10</a:t>
            </a:r>
            <a:r>
              <a:rPr lang="zh-CN" altLang="en-US" sz="2800">
                <a:latin typeface="Times New Roman" panose="02020603050405020304" pitchFamily="18" charset="0"/>
                <a:sym typeface="Arial" panose="020B0604020202020204" pitchFamily="34" charset="0"/>
              </a:rPr>
              <a:t>所示</a:t>
            </a:r>
          </a:p>
        </p:txBody>
      </p:sp>
      <p:sp>
        <p:nvSpPr>
          <p:cNvPr id="30723" name="日期占位符 1">
            <a:extLst>
              <a:ext uri="{FF2B5EF4-FFF2-40B4-BE49-F238E27FC236}">
                <a16:creationId xmlns:a16="http://schemas.microsoft.com/office/drawing/2014/main" id="{46BCCD37-758C-4867-A86D-ECA8993D2DBE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4ABC2B3D-450D-4C1F-BA67-7786712C9256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cover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标题 1">
            <a:extLst>
              <a:ext uri="{FF2B5EF4-FFF2-40B4-BE49-F238E27FC236}">
                <a16:creationId xmlns:a16="http://schemas.microsoft.com/office/drawing/2014/main" id="{E09A2B93-DCE9-41A0-9035-C7BB48056B8C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527050" y="539750"/>
            <a:ext cx="8229600" cy="674688"/>
          </a:xfrm>
        </p:spPr>
        <p:txBody>
          <a:bodyPr anchor="ctr"/>
          <a:lstStyle/>
          <a:p>
            <a:pPr algn="l"/>
            <a:r>
              <a:rPr lang="zh-CN" altLang="en-US" sz="4400" b="1">
                <a:solidFill>
                  <a:schemeClr val="accent2"/>
                </a:solidFill>
              </a:rPr>
              <a:t>无条件转移指令</a:t>
            </a:r>
          </a:p>
        </p:txBody>
      </p:sp>
      <p:pic>
        <p:nvPicPr>
          <p:cNvPr id="31746" name="Picture 2">
            <a:extLst>
              <a:ext uri="{FF2B5EF4-FFF2-40B4-BE49-F238E27FC236}">
                <a16:creationId xmlns:a16="http://schemas.microsoft.com/office/drawing/2014/main" id="{9933912F-A7DA-4756-990A-0CD3E35392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0" y="1606550"/>
            <a:ext cx="8618538" cy="3654425"/>
          </a:xfrm>
          <a:prstGeom prst="rect">
            <a:avLst/>
          </a:prstGeom>
          <a:noFill/>
          <a:ln w="38100" cap="sq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1747" name="日期占位符 1">
            <a:extLst>
              <a:ext uri="{FF2B5EF4-FFF2-40B4-BE49-F238E27FC236}">
                <a16:creationId xmlns:a16="http://schemas.microsoft.com/office/drawing/2014/main" id="{C2D2A700-E776-4D15-9045-4D8115AB0A93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FB8D711F-CE14-4666-B2ED-B68B37F8A8BA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cover dir="l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标题 1">
            <a:extLst>
              <a:ext uri="{FF2B5EF4-FFF2-40B4-BE49-F238E27FC236}">
                <a16:creationId xmlns:a16="http://schemas.microsoft.com/office/drawing/2014/main" id="{B0D0C75B-8F6B-4003-B126-5BA070360568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zh-CN" altLang="en-US" sz="4400" b="1">
                <a:solidFill>
                  <a:schemeClr val="accent2"/>
                </a:solidFill>
              </a:rPr>
              <a:t>无条件转移指令</a:t>
            </a:r>
          </a:p>
        </p:txBody>
      </p:sp>
      <p:sp>
        <p:nvSpPr>
          <p:cNvPr id="29699" name="内容占位符 2">
            <a:extLst>
              <a:ext uri="{FF2B5EF4-FFF2-40B4-BE49-F238E27FC236}">
                <a16:creationId xmlns:a16="http://schemas.microsoft.com/office/drawing/2014/main" id="{BF4E7043-23A9-4D58-AE95-A343AC2275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600" y="1250950"/>
            <a:ext cx="8372475" cy="5149850"/>
          </a:xfrm>
        </p:spPr>
        <p:txBody>
          <a:bodyPr/>
          <a:lstStyle/>
          <a:p>
            <a:pPr marL="1905" indent="-1905" algn="l"/>
            <a:r>
              <a:rPr lang="zh-CN" altLang="en-US" sz="2600" b="1" noProof="1">
                <a:solidFill>
                  <a:srgbClr val="CC3300"/>
                </a:solidFill>
              </a:rPr>
              <a:t> </a:t>
            </a:r>
            <a:r>
              <a:rPr lang="en-US" altLang="x-none" sz="26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(1) </a:t>
            </a:r>
            <a:r>
              <a:rPr lang="zh-CN" altLang="en-US" sz="26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段内直接转移指令</a:t>
            </a:r>
          </a:p>
          <a:p>
            <a:pPr marL="1905" indent="-1905" algn="l">
              <a:spcBef>
                <a:spcPts val="1200"/>
              </a:spcBef>
            </a:pPr>
            <a:r>
              <a:rPr lang="zh-CN" altLang="en-US" sz="2600" noProof="1">
                <a:latin typeface="Times New Roman" panose="02020603050405020304" pitchFamily="2" charset="0"/>
              </a:rPr>
              <a:t>指令格式：</a:t>
            </a:r>
          </a:p>
          <a:p>
            <a:pPr marL="1905" indent="-1905" algn="l">
              <a:spcBef>
                <a:spcPts val="600"/>
              </a:spcBef>
            </a:pPr>
            <a:r>
              <a:rPr lang="en-US" altLang="x-none" sz="2600" noProof="1">
                <a:latin typeface="Times New Roman" panose="02020603050405020304" pitchFamily="2" charset="0"/>
              </a:rPr>
              <a:t>    JMP   SHORT   </a:t>
            </a:r>
            <a:r>
              <a:rPr lang="zh-CN" altLang="en-US" sz="2600" noProof="1">
                <a:latin typeface="Times New Roman" panose="02020603050405020304" pitchFamily="2" charset="0"/>
              </a:rPr>
              <a:t>标号</a:t>
            </a:r>
          </a:p>
          <a:p>
            <a:pPr marL="1905" indent="-1905" algn="l">
              <a:spcBef>
                <a:spcPts val="600"/>
              </a:spcBef>
            </a:pPr>
            <a:r>
              <a:rPr lang="en-US" altLang="x-none" sz="2600" noProof="1">
                <a:latin typeface="Times New Roman" panose="02020603050405020304" pitchFamily="2" charset="0"/>
              </a:rPr>
              <a:t>    JMP   NEAR  PTR  </a:t>
            </a:r>
            <a:r>
              <a:rPr lang="zh-CN" altLang="en-US" sz="2600" noProof="1">
                <a:latin typeface="Times New Roman" panose="02020603050405020304" pitchFamily="2" charset="0"/>
              </a:rPr>
              <a:t>标号</a:t>
            </a:r>
            <a:r>
              <a:rPr lang="en-US" altLang="x-none" sz="2600" noProof="1">
                <a:latin typeface="Times New Roman" panose="02020603050405020304" pitchFamily="2" charset="0"/>
              </a:rPr>
              <a:t>  (</a:t>
            </a:r>
            <a:r>
              <a:rPr lang="zh-CN" altLang="en-US" sz="2600" noProof="1">
                <a:latin typeface="Times New Roman" panose="02020603050405020304" pitchFamily="2" charset="0"/>
              </a:rPr>
              <a:t>或</a:t>
            </a:r>
            <a:r>
              <a:rPr lang="en-US" altLang="x-none" sz="26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JMP   </a:t>
            </a:r>
            <a:r>
              <a:rPr lang="zh-CN" altLang="en-US" sz="26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标号</a:t>
            </a:r>
            <a:r>
              <a:rPr lang="en-US" altLang="x-none" sz="2600" noProof="1">
                <a:latin typeface="Times New Roman" panose="02020603050405020304" pitchFamily="2" charset="0"/>
              </a:rPr>
              <a:t>)</a:t>
            </a:r>
            <a:endParaRPr lang="zh-CN" altLang="en-US" sz="2600" noProof="1">
              <a:latin typeface="Times New Roman" panose="02020603050405020304" pitchFamily="2" charset="0"/>
            </a:endParaRPr>
          </a:p>
          <a:p>
            <a:pPr marL="1905" indent="112395" algn="l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600" noProof="1">
                <a:latin typeface="Times New Roman" panose="02020603050405020304" pitchFamily="2" charset="0"/>
              </a:rPr>
              <a:t>段内相对转移指令，目的操作数均用标号表示</a:t>
            </a:r>
          </a:p>
          <a:p>
            <a:pPr marL="1905" indent="112395" algn="l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600" noProof="1">
                <a:latin typeface="Times New Roman" panose="02020603050405020304" pitchFamily="2" charset="0"/>
              </a:rPr>
              <a:t>转向的有效地址</a:t>
            </a:r>
            <a:r>
              <a:rPr lang="en-US" altLang="x-none" sz="2600" noProof="1">
                <a:latin typeface="Times New Roman" panose="02020603050405020304" pitchFamily="2" charset="0"/>
              </a:rPr>
              <a:t>=IP+8</a:t>
            </a:r>
            <a:r>
              <a:rPr lang="zh-CN" altLang="en-US" sz="2600" noProof="1">
                <a:latin typeface="Times New Roman" panose="02020603050405020304" pitchFamily="2" charset="0"/>
              </a:rPr>
              <a:t>位</a:t>
            </a:r>
            <a:r>
              <a:rPr lang="en-US" altLang="x-none" sz="2600" noProof="1">
                <a:latin typeface="Times New Roman" panose="02020603050405020304" pitchFamily="2" charset="0"/>
              </a:rPr>
              <a:t>/16</a:t>
            </a:r>
            <a:r>
              <a:rPr lang="zh-CN" altLang="en-US" sz="2600" noProof="1">
                <a:latin typeface="Times New Roman" panose="02020603050405020304" pitchFamily="2" charset="0"/>
              </a:rPr>
              <a:t>位位移量</a:t>
            </a:r>
            <a:r>
              <a:rPr lang="en-US" altLang="x-none" sz="2600" noProof="1">
                <a:latin typeface="Times New Roman" panose="02020603050405020304" pitchFamily="2" charset="0"/>
              </a:rPr>
              <a:t>(DISP)</a:t>
            </a:r>
            <a:endParaRPr lang="zh-CN" altLang="en-US" sz="2600" noProof="1">
              <a:latin typeface="Times New Roman" panose="02020603050405020304" pitchFamily="2" charset="0"/>
            </a:endParaRPr>
          </a:p>
          <a:p>
            <a:pPr marL="1905" indent="112395" algn="l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600" noProof="1">
                <a:latin typeface="Times New Roman" panose="02020603050405020304" pitchFamily="2" charset="0"/>
              </a:rPr>
              <a:t>若转移范围在</a:t>
            </a:r>
            <a:r>
              <a:rPr lang="en-US" altLang="x-none" sz="2600" noProof="1">
                <a:latin typeface="Times New Roman" panose="02020603050405020304" pitchFamily="2" charset="0"/>
              </a:rPr>
              <a:t>-128~+127</a:t>
            </a:r>
            <a:r>
              <a:rPr lang="zh-CN" altLang="en-US" sz="2600" noProof="1">
                <a:latin typeface="Times New Roman" panose="02020603050405020304" pitchFamily="2" charset="0"/>
              </a:rPr>
              <a:t>字节内，称为</a:t>
            </a:r>
            <a:r>
              <a:rPr lang="zh-CN" altLang="en-US" sz="26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短转移</a:t>
            </a:r>
            <a:r>
              <a:rPr lang="zh-CN" altLang="en-US" sz="2600" noProof="1">
                <a:latin typeface="Times New Roman" panose="02020603050405020304" pitchFamily="2" charset="0"/>
              </a:rPr>
              <a:t>，指令中只需要用</a:t>
            </a:r>
            <a:r>
              <a:rPr lang="en-US" altLang="x-none" sz="2600" noProof="1">
                <a:latin typeface="Times New Roman" panose="02020603050405020304" pitchFamily="2" charset="0"/>
              </a:rPr>
              <a:t>8</a:t>
            </a:r>
            <a:r>
              <a:rPr lang="zh-CN" altLang="en-US" sz="2600" noProof="1">
                <a:latin typeface="Times New Roman" panose="02020603050405020304" pitchFamily="2" charset="0"/>
              </a:rPr>
              <a:t>位位移量，在标号前加说明符</a:t>
            </a:r>
            <a:r>
              <a:rPr lang="en-US" altLang="x-none" sz="2600" noProof="1">
                <a:latin typeface="Times New Roman" panose="02020603050405020304" pitchFamily="2" charset="0"/>
              </a:rPr>
              <a:t>SHORT</a:t>
            </a:r>
            <a:endParaRPr lang="zh-CN" altLang="en-US" sz="2600" noProof="1">
              <a:latin typeface="Times New Roman" panose="02020603050405020304" pitchFamily="2" charset="0"/>
            </a:endParaRPr>
          </a:p>
          <a:p>
            <a:pPr marL="1905" indent="112395" algn="l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600" noProof="1">
                <a:latin typeface="Times New Roman" panose="02020603050405020304" pitchFamily="2" charset="0"/>
              </a:rPr>
              <a:t>若位移量是</a:t>
            </a:r>
            <a:r>
              <a:rPr lang="en-US" altLang="x-none" sz="2600" noProof="1">
                <a:latin typeface="Times New Roman" panose="02020603050405020304" pitchFamily="2" charset="0"/>
              </a:rPr>
              <a:t>16</a:t>
            </a:r>
            <a:r>
              <a:rPr lang="zh-CN" altLang="en-US" sz="2600" noProof="1">
                <a:latin typeface="Times New Roman" panose="02020603050405020304" pitchFamily="2" charset="0"/>
              </a:rPr>
              <a:t>位，称为</a:t>
            </a:r>
            <a:r>
              <a:rPr lang="zh-CN" altLang="en-US" sz="26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近转移</a:t>
            </a:r>
            <a:r>
              <a:rPr lang="zh-CN" altLang="en-US" sz="2600" noProof="1">
                <a:latin typeface="Times New Roman" panose="02020603050405020304" pitchFamily="2" charset="0"/>
              </a:rPr>
              <a:t>，目的地址与当前</a:t>
            </a:r>
            <a:r>
              <a:rPr lang="en-US" altLang="x-none" sz="2600" noProof="1">
                <a:latin typeface="Times New Roman" panose="02020603050405020304" pitchFamily="2" charset="0"/>
              </a:rPr>
              <a:t>IP</a:t>
            </a:r>
            <a:r>
              <a:rPr lang="zh-CN" altLang="en-US" sz="2600" noProof="1">
                <a:latin typeface="Times New Roman" panose="02020603050405020304" pitchFamily="2" charset="0"/>
              </a:rPr>
              <a:t>的距离在</a:t>
            </a:r>
            <a:r>
              <a:rPr lang="en-US" altLang="x-none" sz="2600" noProof="1">
                <a:latin typeface="Times New Roman" panose="02020603050405020304" pitchFamily="2" charset="0"/>
              </a:rPr>
              <a:t>-32768~+32767</a:t>
            </a:r>
            <a:r>
              <a:rPr lang="zh-CN" altLang="en-US" sz="2600" noProof="1">
                <a:latin typeface="Times New Roman" panose="02020603050405020304" pitchFamily="2" charset="0"/>
              </a:rPr>
              <a:t>字节之间。可加</a:t>
            </a:r>
            <a:r>
              <a:rPr lang="zh-CN" altLang="en-US" sz="26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说明符</a:t>
            </a:r>
            <a:r>
              <a:rPr lang="en-US" altLang="x-none" sz="26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NEAR  PTR</a:t>
            </a:r>
            <a:r>
              <a:rPr lang="zh-CN" altLang="en-US" sz="2600" noProof="1">
                <a:latin typeface="Times New Roman" panose="02020603050405020304" pitchFamily="2" charset="0"/>
              </a:rPr>
              <a:t>，</a:t>
            </a:r>
            <a:r>
              <a:rPr lang="zh-CN" altLang="en-US" sz="26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也可省略</a:t>
            </a:r>
            <a:r>
              <a:rPr lang="zh-CN" altLang="en-US" sz="2600" noProof="1">
                <a:latin typeface="Times New Roman" panose="02020603050405020304" pitchFamily="2" charset="0"/>
              </a:rPr>
              <a:t>。</a:t>
            </a:r>
            <a:r>
              <a:rPr lang="zh-CN" altLang="en-US" sz="26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这类指令用得最多</a:t>
            </a:r>
          </a:p>
        </p:txBody>
      </p:sp>
      <p:sp>
        <p:nvSpPr>
          <p:cNvPr id="32771" name="日期占位符 1">
            <a:extLst>
              <a:ext uri="{FF2B5EF4-FFF2-40B4-BE49-F238E27FC236}">
                <a16:creationId xmlns:a16="http://schemas.microsoft.com/office/drawing/2014/main" id="{511D856C-F332-438F-98A9-7B79540AD439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932ACD66-B787-47DB-85B0-CC8D7C08010C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cover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6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标题 1">
            <a:extLst>
              <a:ext uri="{FF2B5EF4-FFF2-40B4-BE49-F238E27FC236}">
                <a16:creationId xmlns:a16="http://schemas.microsoft.com/office/drawing/2014/main" id="{045C1009-A530-4D22-A582-8A36C0CC0DFF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zh-CN" altLang="en-US" sz="4400" b="1">
                <a:solidFill>
                  <a:schemeClr val="accent2"/>
                </a:solidFill>
              </a:rPr>
              <a:t>无条件转移指令举例</a:t>
            </a:r>
          </a:p>
        </p:txBody>
      </p:sp>
      <p:sp>
        <p:nvSpPr>
          <p:cNvPr id="30723" name="内容占位符 2">
            <a:extLst>
              <a:ext uri="{FF2B5EF4-FFF2-40B4-BE49-F238E27FC236}">
                <a16:creationId xmlns:a16="http://schemas.microsoft.com/office/drawing/2014/main" id="{79022142-F00C-4606-B0D0-9F4E73B47D0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1028700"/>
            <a:ext cx="8372475" cy="5461000"/>
          </a:xfrm>
        </p:spPr>
        <p:txBody>
          <a:bodyPr/>
          <a:lstStyle/>
          <a:p>
            <a:pPr algn="l"/>
            <a:r>
              <a:rPr lang="zh-CN" altLang="en-US" sz="26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例</a:t>
            </a:r>
            <a:r>
              <a:rPr lang="en-US" altLang="zh-CN" sz="26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3.79 </a:t>
            </a:r>
            <a:r>
              <a:rPr lang="en-US" altLang="zh-CN" sz="2600" dirty="0">
                <a:solidFill>
                  <a:srgbClr val="90FFFF"/>
                </a:solidFill>
                <a:latin typeface="Times New Roman" panose="02020603050405020304" pitchFamily="18" charset="0"/>
                <a:ea typeface="楷体_GB2312" pitchFamily="1" charset="-122"/>
              </a:rPr>
              <a:t>  </a:t>
            </a:r>
            <a:r>
              <a:rPr lang="zh-CN" altLang="en-US" sz="2600" dirty="0">
                <a:latin typeface="Times New Roman" panose="02020603050405020304" pitchFamily="18" charset="0"/>
                <a:ea typeface="楷体_GB2312" pitchFamily="1" charset="-122"/>
              </a:rPr>
              <a:t>给出一个含有一条无条件转移指令的简单程序的列表文件，它是由汇编语言源程序经汇编程序翻译后产生的。即</a:t>
            </a:r>
          </a:p>
          <a:p>
            <a:pPr algn="l"/>
            <a:endParaRPr lang="zh-CN" altLang="en-US" sz="2600" dirty="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endParaRPr lang="en-US" altLang="zh-CN" sz="2600" dirty="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endParaRPr lang="zh-CN" altLang="en-US" sz="2600" dirty="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endParaRPr lang="zh-CN" altLang="en-US" sz="2600" dirty="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endParaRPr lang="zh-CN" altLang="en-US" sz="2600" dirty="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 </a:t>
            </a:r>
            <a:endParaRPr lang="zh-CN" altLang="en-US" sz="2600" dirty="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   </a:t>
            </a:r>
            <a:endParaRPr lang="zh-CN" altLang="en-US" sz="2600" dirty="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endParaRPr lang="zh-CN" altLang="en-US" sz="2600" dirty="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         </a:t>
            </a:r>
            <a:r>
              <a:rPr lang="zh-CN" altLang="en-US" sz="2600" dirty="0">
                <a:latin typeface="Times New Roman" panose="02020603050405020304" pitchFamily="18" charset="0"/>
                <a:ea typeface="楷体_GB2312" pitchFamily="1" charset="-122"/>
              </a:rPr>
              <a:t>对程序的解释请参看教材。</a:t>
            </a:r>
          </a:p>
          <a:p>
            <a:pPr algn="l"/>
            <a:endParaRPr lang="zh-CN" altLang="en-US" sz="2600" dirty="0">
              <a:latin typeface="Times New Roman" panose="02020603050405020304" pitchFamily="18" charset="0"/>
              <a:ea typeface="楷体_GB2312" pitchFamily="1" charset="-122"/>
            </a:endParaRPr>
          </a:p>
        </p:txBody>
      </p:sp>
      <p:pic>
        <p:nvPicPr>
          <p:cNvPr id="30724" name="Picture 2">
            <a:extLst>
              <a:ext uri="{FF2B5EF4-FFF2-40B4-BE49-F238E27FC236}">
                <a16:creationId xmlns:a16="http://schemas.microsoft.com/office/drawing/2014/main" id="{6BE77BFA-F0FB-41ED-A6F1-9D8FC64256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600" y="2362200"/>
            <a:ext cx="8439150" cy="3608388"/>
          </a:xfrm>
          <a:prstGeom prst="rect">
            <a:avLst/>
          </a:prstGeom>
          <a:noFill/>
          <a:ln w="38100" cap="sq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796" name="日期占位符 1">
            <a:extLst>
              <a:ext uri="{FF2B5EF4-FFF2-40B4-BE49-F238E27FC236}">
                <a16:creationId xmlns:a16="http://schemas.microsoft.com/office/drawing/2014/main" id="{9E0F9E20-D719-4E5E-AD96-0C4D5F55127B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5A5B5775-5127-485E-93AE-4AEFA8C2E57C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cover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30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标题 1">
            <a:extLst>
              <a:ext uri="{FF2B5EF4-FFF2-40B4-BE49-F238E27FC236}">
                <a16:creationId xmlns:a16="http://schemas.microsoft.com/office/drawing/2014/main" id="{AB8747F6-C3E7-42E4-A4C5-1A7E3080B01A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zh-CN" altLang="en-US" sz="4400" b="1">
                <a:solidFill>
                  <a:schemeClr val="accent2"/>
                </a:solidFill>
              </a:rPr>
              <a:t>无条件转移指令（间接转移）</a:t>
            </a:r>
          </a:p>
        </p:txBody>
      </p:sp>
      <p:sp>
        <p:nvSpPr>
          <p:cNvPr id="31747" name="内容占位符 2">
            <a:extLst>
              <a:ext uri="{FF2B5EF4-FFF2-40B4-BE49-F238E27FC236}">
                <a16:creationId xmlns:a16="http://schemas.microsoft.com/office/drawing/2014/main" id="{C585DBAE-5B98-40FC-A865-F4C6AFB80A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763" y="1314450"/>
            <a:ext cx="8372475" cy="5175250"/>
          </a:xfrm>
        </p:spPr>
        <p:txBody>
          <a:bodyPr/>
          <a:lstStyle/>
          <a:p>
            <a:pPr marL="1905" indent="-1905" algn="l"/>
            <a:r>
              <a:rPr lang="zh-CN" altLang="en-US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（</a:t>
            </a:r>
            <a:r>
              <a:rPr lang="en-US" altLang="x-none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2</a:t>
            </a:r>
            <a:r>
              <a:rPr lang="zh-CN" altLang="en-US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）段内间接转移指令</a:t>
            </a:r>
          </a:p>
          <a:p>
            <a:pPr marL="1905" indent="112395" algn="l">
              <a:buFont typeface="Wingdings" panose="05000000000000000000" pitchFamily="2" charset="2"/>
              <a:buChar char="l"/>
            </a:pPr>
            <a:r>
              <a:rPr lang="zh-CN" altLang="en-US" sz="2800" noProof="1">
                <a:latin typeface="Times New Roman" panose="02020603050405020304" pitchFamily="2" charset="0"/>
              </a:rPr>
              <a:t>转向的</a:t>
            </a:r>
            <a:r>
              <a:rPr lang="en-US" altLang="x-none" sz="2800" noProof="1">
                <a:latin typeface="Times New Roman" panose="02020603050405020304" pitchFamily="2" charset="0"/>
              </a:rPr>
              <a:t>16</a:t>
            </a:r>
            <a:r>
              <a:rPr lang="zh-CN" altLang="en-US" sz="2800" noProof="1">
                <a:latin typeface="Times New Roman" panose="02020603050405020304" pitchFamily="2" charset="0"/>
              </a:rPr>
              <a:t>位地址存放在一个</a:t>
            </a:r>
            <a:r>
              <a:rPr lang="en-US" altLang="x-none" sz="28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16</a:t>
            </a:r>
            <a:r>
              <a:rPr lang="zh-CN" altLang="en-US" sz="28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位寄存器或字存储器单元</a:t>
            </a:r>
            <a:r>
              <a:rPr lang="zh-CN" altLang="en-US" sz="2800" noProof="1">
                <a:latin typeface="Times New Roman" panose="02020603050405020304" pitchFamily="2" charset="0"/>
              </a:rPr>
              <a:t>中</a:t>
            </a:r>
          </a:p>
          <a:p>
            <a:pPr marL="1905" indent="112395" algn="l">
              <a:buFont typeface="Wingdings" panose="05000000000000000000" pitchFamily="2" charset="2"/>
              <a:buChar char="l"/>
            </a:pPr>
            <a:r>
              <a:rPr lang="zh-CN" altLang="en-US" sz="2800" noProof="1">
                <a:latin typeface="Times New Roman" panose="02020603050405020304" pitchFamily="2" charset="0"/>
              </a:rPr>
              <a:t>用寄存器间接寻址的段内转移指令，转向的地址存放在寄存器中，执行操作：</a:t>
            </a:r>
            <a:r>
              <a:rPr lang="en-US" altLang="x-none" sz="2800" noProof="1">
                <a:latin typeface="Times New Roman" panose="02020603050405020304" pitchFamily="2" charset="0"/>
              </a:rPr>
              <a:t>IP←</a:t>
            </a:r>
            <a:r>
              <a:rPr lang="zh-CN" altLang="en-US" sz="2800" noProof="1">
                <a:latin typeface="Times New Roman" panose="02020603050405020304" pitchFamily="2" charset="0"/>
              </a:rPr>
              <a:t>寄存器内容</a:t>
            </a:r>
          </a:p>
          <a:p>
            <a:pPr marL="1905" indent="-1905" algn="l"/>
            <a:r>
              <a:rPr lang="zh-CN" altLang="en-US" sz="2800" b="1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例</a:t>
            </a:r>
            <a:r>
              <a:rPr lang="en-US" altLang="x-none" sz="2800" b="1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3.80</a:t>
            </a:r>
            <a:endParaRPr lang="zh-CN" altLang="en-US" sz="2800" b="1" noProof="1">
              <a:solidFill>
                <a:srgbClr val="0000FF"/>
              </a:solidFill>
              <a:latin typeface="Times New Roman" panose="02020603050405020304" pitchFamily="2" charset="0"/>
              <a:ea typeface="楷体_GB2312" pitchFamily="1" charset="-122"/>
            </a:endParaRPr>
          </a:p>
          <a:p>
            <a:pPr marL="1905" indent="-1905" algn="l"/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      JMP  BX</a:t>
            </a:r>
            <a:endParaRPr lang="zh-CN" altLang="en-US" sz="2800" noProof="1">
              <a:latin typeface="Times New Roman" panose="02020603050405020304" pitchFamily="2" charset="0"/>
              <a:ea typeface="楷体_GB2312" pitchFamily="1" charset="-122"/>
            </a:endParaRPr>
          </a:p>
          <a:p>
            <a:pPr marL="1905" indent="-1905" algn="l"/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     </a:t>
            </a:r>
            <a:r>
              <a:rPr lang="zh-CN" altLang="en-US" sz="28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 若指令执行前，</a:t>
            </a:r>
            <a:r>
              <a:rPr lang="en-US" altLang="x-none" sz="28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BX=4500H </a:t>
            </a:r>
            <a:r>
              <a:rPr lang="zh-CN" altLang="en-US" sz="28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；</a:t>
            </a:r>
          </a:p>
          <a:p>
            <a:pPr marL="1905" indent="-1905" algn="l"/>
            <a:r>
              <a:rPr lang="zh-CN" altLang="en-US" sz="28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      指令执行时，</a:t>
            </a:r>
            <a:r>
              <a:rPr lang="en-US" altLang="x-none" sz="28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IP←4500H</a:t>
            </a:r>
            <a:r>
              <a:rPr lang="zh-CN" altLang="en-US" sz="28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，程序转到代码段内偏移地址为</a:t>
            </a:r>
            <a:r>
              <a:rPr lang="en-US" altLang="x-none" sz="28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4500H</a:t>
            </a:r>
            <a:r>
              <a:rPr lang="zh-CN" altLang="en-US" sz="28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处执行</a:t>
            </a:r>
            <a:endParaRPr lang="zh-CN" altLang="en-US" sz="3200" noProof="1">
              <a:solidFill>
                <a:srgbClr val="008000"/>
              </a:solidFill>
            </a:endParaRPr>
          </a:p>
        </p:txBody>
      </p:sp>
      <p:sp>
        <p:nvSpPr>
          <p:cNvPr id="34819" name="日期占位符 1">
            <a:extLst>
              <a:ext uri="{FF2B5EF4-FFF2-40B4-BE49-F238E27FC236}">
                <a16:creationId xmlns:a16="http://schemas.microsoft.com/office/drawing/2014/main" id="{4C02B9AA-7A51-4B3B-9652-A9687802B315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72E3F686-7F40-46DB-B77C-D6267B9CB037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标题 1">
            <a:extLst>
              <a:ext uri="{FF2B5EF4-FFF2-40B4-BE49-F238E27FC236}">
                <a16:creationId xmlns:a16="http://schemas.microsoft.com/office/drawing/2014/main" id="{A6EB5CF7-1565-41B5-B996-D40E73A95370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zh-CN" altLang="en-US" sz="4400" b="1">
                <a:solidFill>
                  <a:schemeClr val="accent2"/>
                </a:solidFill>
              </a:rPr>
              <a:t>无条件转移指令（间接转移）</a:t>
            </a:r>
          </a:p>
        </p:txBody>
      </p:sp>
      <p:sp>
        <p:nvSpPr>
          <p:cNvPr id="32771" name="内容占位符 2">
            <a:extLst>
              <a:ext uri="{FF2B5EF4-FFF2-40B4-BE49-F238E27FC236}">
                <a16:creationId xmlns:a16="http://schemas.microsoft.com/office/drawing/2014/main" id="{06043681-2491-458E-B8EC-8164B7C80F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763" y="1117600"/>
            <a:ext cx="8372475" cy="5461000"/>
          </a:xfrm>
        </p:spPr>
        <p:txBody>
          <a:bodyPr/>
          <a:lstStyle/>
          <a:p>
            <a:pPr marL="1905" indent="112395" algn="l">
              <a:buFont typeface="Wingdings" panose="05000000000000000000" pitchFamily="2" charset="2"/>
              <a:buChar char="l"/>
            </a:pPr>
            <a:r>
              <a:rPr lang="zh-CN" altLang="en-US" sz="2800" noProof="1">
                <a:latin typeface="Times New Roman" panose="02020603050405020304" pitchFamily="2" charset="0"/>
              </a:rPr>
              <a:t>用存储器间接寻址的段内转移指令，先计算出存储单元的物理地址，再从中取一个字送到</a:t>
            </a:r>
            <a:r>
              <a:rPr lang="en-US" altLang="x-none" sz="2800" noProof="1">
                <a:latin typeface="Times New Roman" panose="02020603050405020304" pitchFamily="2" charset="0"/>
              </a:rPr>
              <a:t>IP</a:t>
            </a:r>
            <a:r>
              <a:rPr lang="zh-CN" altLang="en-US" sz="2800" noProof="1">
                <a:latin typeface="Times New Roman" panose="02020603050405020304" pitchFamily="2" charset="0"/>
              </a:rPr>
              <a:t>。即</a:t>
            </a:r>
            <a:r>
              <a:rPr lang="en-US" altLang="x-none" sz="2800" noProof="1">
                <a:latin typeface="Times New Roman" panose="02020603050405020304" pitchFamily="2" charset="0"/>
              </a:rPr>
              <a:t>IP←</a:t>
            </a:r>
            <a:r>
              <a:rPr lang="zh-CN" altLang="en-US" sz="2800" noProof="1">
                <a:latin typeface="Times New Roman" panose="02020603050405020304" pitchFamily="2" charset="0"/>
              </a:rPr>
              <a:t>字存储单元内容</a:t>
            </a:r>
          </a:p>
          <a:p>
            <a:pPr marL="1905" indent="-1905" algn="l"/>
            <a:r>
              <a:rPr lang="zh-CN" altLang="en-US" sz="2800" b="1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例</a:t>
            </a:r>
            <a:r>
              <a:rPr lang="en-US" altLang="x-none" sz="2800" b="1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3.81</a:t>
            </a:r>
            <a:endParaRPr lang="zh-CN" altLang="en-US" sz="2800" b="1" noProof="1">
              <a:solidFill>
                <a:srgbClr val="0000FF"/>
              </a:solidFill>
              <a:latin typeface="Times New Roman" panose="02020603050405020304" pitchFamily="2" charset="0"/>
              <a:ea typeface="楷体_GB2312" pitchFamily="1" charset="-122"/>
            </a:endParaRPr>
          </a:p>
          <a:p>
            <a:pPr marL="1905" indent="-1905" algn="l"/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    JMP  WORD  PTR 5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［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BX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］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	 </a:t>
            </a:r>
            <a:endParaRPr lang="zh-CN" altLang="en-US" sz="2800" noProof="1">
              <a:latin typeface="Times New Roman" panose="02020603050405020304" pitchFamily="2" charset="0"/>
              <a:ea typeface="楷体_GB2312" pitchFamily="1" charset="-122"/>
            </a:endParaRPr>
          </a:p>
          <a:p>
            <a:pPr marL="1905" indent="-1905" algn="l"/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				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；</a:t>
            </a:r>
            <a:r>
              <a:rPr lang="en-US" altLang="x-none" sz="2800" b="1" noProof="1">
                <a:solidFill>
                  <a:srgbClr val="CC3300"/>
                </a:solidFill>
                <a:latin typeface="Times New Roman" panose="02020603050405020304" pitchFamily="2" charset="0"/>
                <a:ea typeface="楷体_GB2312" pitchFamily="1" charset="-122"/>
              </a:rPr>
              <a:t>WORD  PTR</a:t>
            </a:r>
            <a:r>
              <a:rPr lang="zh-CN" altLang="en-US" sz="2800" b="1" noProof="1">
                <a:solidFill>
                  <a:srgbClr val="CC3300"/>
                </a:solidFill>
                <a:latin typeface="Times New Roman" panose="02020603050405020304" pitchFamily="2" charset="0"/>
                <a:ea typeface="楷体_GB2312" pitchFamily="1" charset="-122"/>
              </a:rPr>
              <a:t>说明是字操作</a:t>
            </a:r>
          </a:p>
          <a:p>
            <a:pPr marL="1905" indent="-1905" algn="l">
              <a:spcBef>
                <a:spcPct val="0"/>
              </a:spcBef>
            </a:pP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设指令执行前</a:t>
            </a:r>
          </a:p>
          <a:p>
            <a:pPr marL="1905" indent="-1905" algn="l">
              <a:spcBef>
                <a:spcPct val="0"/>
              </a:spcBef>
            </a:pP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   DS=2000H,  BX=100H,  (20105H)=4F0H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；</a:t>
            </a:r>
          </a:p>
          <a:p>
            <a:pPr marL="1905" indent="-1905" algn="l">
              <a:spcBef>
                <a:spcPts val="600"/>
              </a:spcBef>
            </a:pPr>
            <a:r>
              <a:rPr lang="zh-CN" altLang="en-US" sz="2800" b="1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则指令执行后</a:t>
            </a:r>
          </a:p>
          <a:p>
            <a:pPr marL="1905" indent="-1905" algn="l">
              <a:spcBef>
                <a:spcPct val="0"/>
              </a:spcBef>
            </a:pPr>
            <a:r>
              <a:rPr lang="en-US" altLang="x-none" sz="2800" b="1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   IP=(20000H+100H+5H) = (20105H)=4F0H</a:t>
            </a:r>
            <a:r>
              <a:rPr lang="zh-CN" altLang="en-US" sz="2800" b="1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，</a:t>
            </a:r>
          </a:p>
          <a:p>
            <a:pPr marL="1905" indent="-1905" algn="l">
              <a:spcBef>
                <a:spcPct val="0"/>
              </a:spcBef>
            </a:pPr>
            <a:r>
              <a:rPr lang="en-US" altLang="x-none" sz="2800" b="1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   </a:t>
            </a:r>
            <a:r>
              <a:rPr lang="zh-CN" altLang="en-US" sz="2800" b="1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转到段内</a:t>
            </a:r>
            <a:r>
              <a:rPr lang="en-US" altLang="x-none" sz="2800" b="1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IP=4F0H</a:t>
            </a:r>
            <a:r>
              <a:rPr lang="zh-CN" altLang="en-US" sz="2800" b="1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处执行</a:t>
            </a:r>
            <a:endParaRPr lang="zh-CN" altLang="en-US" sz="3200" b="1" noProof="1">
              <a:solidFill>
                <a:srgbClr val="008000"/>
              </a:solidFill>
            </a:endParaRPr>
          </a:p>
        </p:txBody>
      </p:sp>
      <p:sp>
        <p:nvSpPr>
          <p:cNvPr id="35843" name="日期占位符 1">
            <a:extLst>
              <a:ext uri="{FF2B5EF4-FFF2-40B4-BE49-F238E27FC236}">
                <a16:creationId xmlns:a16="http://schemas.microsoft.com/office/drawing/2014/main" id="{0D400662-9854-43E9-89AD-FDA45970657C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F2F8C1B5-BFAC-4FF5-9355-486A4D5C1F0E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2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327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标题 1">
            <a:extLst>
              <a:ext uri="{FF2B5EF4-FFF2-40B4-BE49-F238E27FC236}">
                <a16:creationId xmlns:a16="http://schemas.microsoft.com/office/drawing/2014/main" id="{2D59217C-F850-44AD-B2F4-24792140DFCD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zh-CN" altLang="en-US" sz="4400" b="1">
                <a:solidFill>
                  <a:schemeClr val="accent2"/>
                </a:solidFill>
              </a:rPr>
              <a:t>无条件转移指令（段间转移）</a:t>
            </a:r>
          </a:p>
        </p:txBody>
      </p:sp>
      <p:sp>
        <p:nvSpPr>
          <p:cNvPr id="33795" name="内容占位符 2">
            <a:extLst>
              <a:ext uri="{FF2B5EF4-FFF2-40B4-BE49-F238E27FC236}">
                <a16:creationId xmlns:a16="http://schemas.microsoft.com/office/drawing/2014/main" id="{2BFECF7B-8780-4E20-9353-8EB45118D4D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93700" y="1162050"/>
            <a:ext cx="8372475" cy="5511800"/>
          </a:xfrm>
        </p:spPr>
        <p:txBody>
          <a:bodyPr/>
          <a:lstStyle/>
          <a:p>
            <a:pPr algn="l"/>
            <a:r>
              <a:rPr lang="zh-CN" altLang="en-US" sz="2600" b="1">
                <a:solidFill>
                  <a:srgbClr val="CC33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600" b="1">
                <a:solidFill>
                  <a:srgbClr val="CC33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600" b="1">
                <a:solidFill>
                  <a:srgbClr val="CC3300"/>
                </a:solidFill>
                <a:latin typeface="Times New Roman" panose="02020603050405020304" pitchFamily="18" charset="0"/>
              </a:rPr>
              <a:t>）段间直接</a:t>
            </a:r>
            <a:r>
              <a:rPr lang="en-US" altLang="zh-CN" sz="2600" b="1">
                <a:solidFill>
                  <a:srgbClr val="CC3300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sz="2600" b="1">
                <a:solidFill>
                  <a:srgbClr val="CC3300"/>
                </a:solidFill>
                <a:latin typeface="Times New Roman" panose="02020603050405020304" pitchFamily="18" charset="0"/>
              </a:rPr>
              <a:t>远</a:t>
            </a:r>
            <a:r>
              <a:rPr lang="en-US" altLang="zh-CN" sz="2600" b="1">
                <a:solidFill>
                  <a:srgbClr val="CC3300"/>
                </a:solidFill>
                <a:latin typeface="Times New Roman" panose="02020603050405020304" pitchFamily="18" charset="0"/>
              </a:rPr>
              <a:t>)</a:t>
            </a:r>
            <a:r>
              <a:rPr lang="zh-CN" altLang="en-US" sz="2600" b="1">
                <a:solidFill>
                  <a:srgbClr val="CC3300"/>
                </a:solidFill>
                <a:latin typeface="Times New Roman" panose="02020603050405020304" pitchFamily="18" charset="0"/>
              </a:rPr>
              <a:t>转移指令</a:t>
            </a:r>
          </a:p>
          <a:p>
            <a:pPr algn="l"/>
            <a:r>
              <a:rPr lang="zh-CN" altLang="en-US" sz="2600">
                <a:latin typeface="Times New Roman" panose="02020603050405020304" pitchFamily="18" charset="0"/>
              </a:rPr>
              <a:t>指令中用</a:t>
            </a:r>
            <a:r>
              <a:rPr lang="zh-CN" altLang="en-US" sz="2600" b="1">
                <a:solidFill>
                  <a:srgbClr val="0000FF"/>
                </a:solidFill>
                <a:latin typeface="Times New Roman" panose="02020603050405020304" pitchFamily="18" charset="0"/>
              </a:rPr>
              <a:t>远标号</a:t>
            </a:r>
            <a:r>
              <a:rPr lang="zh-CN" altLang="en-US" sz="2600">
                <a:latin typeface="Times New Roman" panose="02020603050405020304" pitchFamily="18" charset="0"/>
              </a:rPr>
              <a:t>直接给出转向的</a:t>
            </a:r>
            <a:r>
              <a:rPr lang="en-US" altLang="zh-CN" sz="2600">
                <a:latin typeface="Times New Roman" panose="02020603050405020304" pitchFamily="18" charset="0"/>
              </a:rPr>
              <a:t>CS:IP</a:t>
            </a:r>
            <a:r>
              <a:rPr lang="zh-CN" altLang="en-US" sz="2600">
                <a:latin typeface="Times New Roman" panose="02020603050405020304" pitchFamily="18" charset="0"/>
              </a:rPr>
              <a:t>，程序从一个代码段转到另一个代码段</a:t>
            </a:r>
          </a:p>
          <a:p>
            <a:pPr algn="l"/>
            <a:endParaRPr lang="zh-CN" altLang="en-US" sz="2600" b="1">
              <a:solidFill>
                <a:srgbClr val="0000FF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r>
              <a:rPr lang="zh-CN" altLang="en-US" sz="26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例</a:t>
            </a:r>
            <a:r>
              <a:rPr lang="en-US" altLang="zh-CN" sz="26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3.82</a:t>
            </a:r>
          </a:p>
          <a:p>
            <a:pPr algn="l">
              <a:spcBef>
                <a:spcPct val="0"/>
              </a:spcBef>
            </a:pP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    JMP  FAR  PTR  PROG_F</a:t>
            </a:r>
          </a:p>
          <a:p>
            <a:pPr algn="l">
              <a:spcBef>
                <a:spcPct val="0"/>
              </a:spcBef>
            </a:pP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			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FAR  PTR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说明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PROG_F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为远标号</a:t>
            </a:r>
          </a:p>
          <a:p>
            <a:pPr algn="l">
              <a:spcBef>
                <a:spcPct val="0"/>
              </a:spcBef>
            </a:pP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指令执行的操作：</a:t>
            </a:r>
          </a:p>
          <a:p>
            <a:pPr algn="l">
              <a:spcBef>
                <a:spcPct val="0"/>
              </a:spcBef>
            </a:pPr>
            <a:r>
              <a:rPr lang="en-US" altLang="zh-CN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    IP← PROG_F</a:t>
            </a: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的段内偏移量</a:t>
            </a:r>
          </a:p>
          <a:p>
            <a:pPr algn="l">
              <a:spcBef>
                <a:spcPct val="0"/>
              </a:spcBef>
            </a:pPr>
            <a:r>
              <a:rPr lang="en-US" altLang="zh-CN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    CS←PROG_F</a:t>
            </a: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所在段的段地址</a:t>
            </a:r>
          </a:p>
          <a:p>
            <a:pPr algn="l">
              <a:spcBef>
                <a:spcPct val="0"/>
              </a:spcBef>
            </a:pP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设标号</a:t>
            </a:r>
            <a:r>
              <a:rPr lang="en-US" altLang="zh-CN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PROG_F</a:t>
            </a: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的逻辑地址</a:t>
            </a:r>
            <a:r>
              <a:rPr lang="en-US" altLang="zh-CN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=3500H</a:t>
            </a: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：</a:t>
            </a:r>
            <a:r>
              <a:rPr lang="en-US" altLang="zh-CN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080AH</a:t>
            </a: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，则：</a:t>
            </a:r>
          </a:p>
          <a:p>
            <a:pPr algn="l">
              <a:spcBef>
                <a:spcPct val="0"/>
              </a:spcBef>
            </a:pP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指令执行后，</a:t>
            </a:r>
            <a:r>
              <a:rPr lang="en-US" altLang="zh-CN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IP=080AH</a:t>
            </a: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CS=3500H</a:t>
            </a: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，程序转到</a:t>
            </a:r>
            <a:r>
              <a:rPr lang="en-US" altLang="zh-CN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3500</a:t>
            </a: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：</a:t>
            </a:r>
            <a:r>
              <a:rPr lang="en-US" altLang="zh-CN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080AH</a:t>
            </a:r>
            <a:r>
              <a:rPr lang="zh-CN" altLang="en-US" sz="26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处执行</a:t>
            </a:r>
          </a:p>
        </p:txBody>
      </p:sp>
      <p:sp>
        <p:nvSpPr>
          <p:cNvPr id="36867" name="日期占位符 1">
            <a:extLst>
              <a:ext uri="{FF2B5EF4-FFF2-40B4-BE49-F238E27FC236}">
                <a16:creationId xmlns:a16="http://schemas.microsoft.com/office/drawing/2014/main" id="{773D3B72-9A71-497D-B4A9-CC6146DE1188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8A3D0089-F06C-4E14-B9EA-D1031FDEB7E2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37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37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37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37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37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37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37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37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379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标题 1">
            <a:extLst>
              <a:ext uri="{FF2B5EF4-FFF2-40B4-BE49-F238E27FC236}">
                <a16:creationId xmlns:a16="http://schemas.microsoft.com/office/drawing/2014/main" id="{3411B49E-9E65-481A-AB90-26D29EB20EA1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zh-CN" altLang="en-US" sz="4400" b="1">
                <a:solidFill>
                  <a:schemeClr val="accent2"/>
                </a:solidFill>
              </a:rPr>
              <a:t>无条件转移指令（段间转移）</a:t>
            </a:r>
          </a:p>
        </p:txBody>
      </p:sp>
      <p:sp>
        <p:nvSpPr>
          <p:cNvPr id="34819" name="内容占位符 2">
            <a:extLst>
              <a:ext uri="{FF2B5EF4-FFF2-40B4-BE49-F238E27FC236}">
                <a16:creationId xmlns:a16="http://schemas.microsoft.com/office/drawing/2014/main" id="{439B72E9-E7D6-43DB-B53E-749C91C0AF6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1206500"/>
            <a:ext cx="8372475" cy="5505450"/>
          </a:xfrm>
        </p:spPr>
        <p:txBody>
          <a:bodyPr/>
          <a:lstStyle/>
          <a:p>
            <a:pPr algn="l"/>
            <a:r>
              <a:rPr lang="zh-CN" altLang="en-US" sz="2800" b="1" dirty="0">
                <a:solidFill>
                  <a:srgbClr val="CC33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800" b="1" dirty="0">
                <a:solidFill>
                  <a:srgbClr val="CC3300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sz="2800" b="1" dirty="0">
                <a:solidFill>
                  <a:srgbClr val="CC3300"/>
                </a:solidFill>
                <a:latin typeface="Times New Roman" panose="02020603050405020304" pitchFamily="18" charset="0"/>
              </a:rPr>
              <a:t>）段间间接转移指令</a:t>
            </a:r>
          </a:p>
          <a:p>
            <a:pPr algn="l"/>
            <a:r>
              <a:rPr lang="zh-CN" altLang="en-US" sz="2800" dirty="0">
                <a:latin typeface="Times New Roman" panose="02020603050405020304" pitchFamily="18" charset="0"/>
              </a:rPr>
              <a:t>操作数为存储器，要转移的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目的地址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CS:IP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存放在存储器</a:t>
            </a:r>
            <a:r>
              <a:rPr lang="zh-CN" altLang="en-US" sz="2800" dirty="0">
                <a:latin typeface="Times New Roman" panose="02020603050405020304" pitchFamily="18" charset="0"/>
              </a:rPr>
              <a:t>中。需加说明符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DWORD PTR</a:t>
            </a:r>
            <a:r>
              <a:rPr lang="zh-CN" altLang="en-US" sz="2800" dirty="0">
                <a:latin typeface="Times New Roman" panose="02020603050405020304" pitchFamily="18" charset="0"/>
              </a:rPr>
              <a:t>，表示转向地址需取双字</a:t>
            </a:r>
          </a:p>
          <a:p>
            <a:pPr algn="l"/>
            <a:endParaRPr lang="zh-CN" altLang="en-US" sz="2800" dirty="0">
              <a:latin typeface="Times New Roman" panose="02020603050405020304" pitchFamily="18" charset="0"/>
            </a:endParaRPr>
          </a:p>
          <a:p>
            <a:pPr algn="l"/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3.83 </a:t>
            </a:r>
            <a:r>
              <a:rPr lang="en-US" altLang="zh-CN" sz="2800" dirty="0">
                <a:solidFill>
                  <a:srgbClr val="23FFF8"/>
                </a:solidFill>
                <a:latin typeface="Times New Roman" panose="02020603050405020304" pitchFamily="18" charset="0"/>
                <a:ea typeface="楷体_GB2312" pitchFamily="1" charset="-122"/>
              </a:rPr>
              <a:t>  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JMP  DWORD  PTR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［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SI+0125H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］</a:t>
            </a:r>
          </a:p>
          <a:p>
            <a:pPr algn="l"/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设指令执行前，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CS=1200H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IP=05H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DS=2500H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SI=1300H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；内存单元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(26425H)=4500H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(26427H)=32F0H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。</a:t>
            </a:r>
          </a:p>
          <a:p>
            <a:pPr algn="l"/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指令的执行过程如下图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3.20</a:t>
            </a:r>
            <a:endParaRPr lang="zh-CN" altLang="en-US" sz="2800" dirty="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endParaRPr lang="zh-CN" altLang="en-US" sz="3200" dirty="0"/>
          </a:p>
        </p:txBody>
      </p:sp>
      <p:sp>
        <p:nvSpPr>
          <p:cNvPr id="37891" name="日期占位符 1">
            <a:extLst>
              <a:ext uri="{FF2B5EF4-FFF2-40B4-BE49-F238E27FC236}">
                <a16:creationId xmlns:a16="http://schemas.microsoft.com/office/drawing/2014/main" id="{6E2F80ED-AA7A-4914-9A64-7A4ADD9BA06F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3C9D542D-7924-43B6-9E14-BA5245548E8D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48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48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内容占位符 4">
            <a:extLst>
              <a:ext uri="{FF2B5EF4-FFF2-40B4-BE49-F238E27FC236}">
                <a16:creationId xmlns:a16="http://schemas.microsoft.com/office/drawing/2014/main" id="{C4E8B823-6B41-47C6-8D71-A70941730B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0350" y="361950"/>
            <a:ext cx="8372475" cy="711200"/>
          </a:xfrm>
        </p:spPr>
        <p:txBody>
          <a:bodyPr/>
          <a:lstStyle/>
          <a:p>
            <a:r>
              <a:rPr lang="zh-CN" altLang="en-US" sz="3200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无条件转移指令</a:t>
            </a:r>
          </a:p>
          <a:p>
            <a:r>
              <a:rPr lang="en-US" altLang="x-none" sz="2800" noProof="1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2" charset="0"/>
                <a:ea typeface="楷体_GB2312" pitchFamily="1" charset="-122"/>
                <a:sym typeface="+mn-ea"/>
              </a:rPr>
              <a:t>JMP  DWORD  PTR</a:t>
            </a:r>
            <a:r>
              <a:rPr lang="zh-CN" altLang="en-US" sz="2800" noProof="1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2" charset="0"/>
                <a:ea typeface="楷体_GB2312" pitchFamily="1" charset="-122"/>
                <a:sym typeface="+mn-ea"/>
              </a:rPr>
              <a:t>［</a:t>
            </a:r>
            <a:r>
              <a:rPr lang="en-US" altLang="x-none" sz="2800" noProof="1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2" charset="0"/>
                <a:ea typeface="楷体_GB2312" pitchFamily="1" charset="-122"/>
                <a:sym typeface="+mn-ea"/>
              </a:rPr>
              <a:t>SI+0125H</a:t>
            </a:r>
            <a:r>
              <a:rPr lang="zh-CN" altLang="en-US" sz="2800" noProof="1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2" charset="0"/>
                <a:ea typeface="楷体_GB2312" pitchFamily="1" charset="-122"/>
                <a:sym typeface="+mn-ea"/>
              </a:rPr>
              <a:t>］</a:t>
            </a:r>
            <a:r>
              <a:rPr lang="zh-CN" altLang="en-US" sz="28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2" charset="0"/>
                <a:ea typeface="楷体_GB2312" pitchFamily="1" charset="-122"/>
                <a:sym typeface="+mn-ea"/>
              </a:rPr>
              <a:t>执行过程</a:t>
            </a:r>
          </a:p>
        </p:txBody>
      </p:sp>
      <p:pic>
        <p:nvPicPr>
          <p:cNvPr id="38914" name="Picture 2">
            <a:extLst>
              <a:ext uri="{FF2B5EF4-FFF2-40B4-BE49-F238E27FC236}">
                <a16:creationId xmlns:a16="http://schemas.microsoft.com/office/drawing/2014/main" id="{5BD1DBA2-7FC8-4C3C-8CA6-CFD0B9554D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6691" y="1485900"/>
            <a:ext cx="6646863" cy="5110163"/>
          </a:xfrm>
          <a:prstGeom prst="rect">
            <a:avLst/>
          </a:prstGeom>
          <a:noFill/>
          <a:ln w="38100" cap="sq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8915" name="日期占位符 1">
            <a:extLst>
              <a:ext uri="{FF2B5EF4-FFF2-40B4-BE49-F238E27FC236}">
                <a16:creationId xmlns:a16="http://schemas.microsoft.com/office/drawing/2014/main" id="{F0208B04-D9CB-4150-AA6D-722EB271A87D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1FC3E60E-F048-4B27-9094-DBEAA8A70224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comb dir="vert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标题 1">
            <a:extLst>
              <a:ext uri="{FF2B5EF4-FFF2-40B4-BE49-F238E27FC236}">
                <a16:creationId xmlns:a16="http://schemas.microsoft.com/office/drawing/2014/main" id="{0FD834FE-238A-4791-824B-123597BA37A2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zh-CN" altLang="en-US" sz="4400" b="1">
                <a:solidFill>
                  <a:schemeClr val="accent2"/>
                </a:solidFill>
              </a:rPr>
              <a:t>过程调用指令</a:t>
            </a:r>
          </a:p>
        </p:txBody>
      </p:sp>
      <p:sp>
        <p:nvSpPr>
          <p:cNvPr id="36867" name="内容占位符 2">
            <a:extLst>
              <a:ext uri="{FF2B5EF4-FFF2-40B4-BE49-F238E27FC236}">
                <a16:creationId xmlns:a16="http://schemas.microsoft.com/office/drawing/2014/main" id="{EEEC25BA-F346-409A-BBAE-77303EB810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763" y="1117600"/>
            <a:ext cx="8372475" cy="5594350"/>
          </a:xfrm>
        </p:spPr>
        <p:txBody>
          <a:bodyPr/>
          <a:lstStyle/>
          <a:p>
            <a:pPr marL="1905" indent="-1905" algn="l"/>
            <a:r>
              <a:rPr lang="en-US" altLang="x-none" sz="24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2) </a:t>
            </a:r>
            <a:r>
              <a:rPr lang="zh-CN" altLang="en-US" sz="24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过程调用和返回指令</a:t>
            </a:r>
            <a:r>
              <a:rPr lang="en-US" altLang="x-none" sz="24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 (Call and Return)</a:t>
            </a:r>
            <a:endParaRPr lang="zh-CN" altLang="en-US" sz="2400" b="1" noProof="1">
              <a:solidFill>
                <a:srgbClr val="CC3300"/>
              </a:solidFill>
              <a:latin typeface="Times New Roman" panose="02020603050405020304" pitchFamily="2" charset="0"/>
            </a:endParaRPr>
          </a:p>
          <a:p>
            <a:pPr marL="1905" indent="-1905" algn="l">
              <a:spcBef>
                <a:spcPts val="400"/>
              </a:spcBef>
              <a:buFont typeface="Wingdings" panose="05000000000000000000" pitchFamily="2" charset="2"/>
              <a:buChar char="l"/>
            </a:pPr>
            <a:r>
              <a:rPr lang="zh-CN" altLang="en-US" sz="2400" noProof="1">
                <a:latin typeface="Times New Roman" panose="02020603050405020304" pitchFamily="2" charset="0"/>
              </a:rPr>
              <a:t>把某些能完成特定功能又常用的程序段，编写成独立模块，称为</a:t>
            </a:r>
            <a:r>
              <a:rPr lang="zh-CN" altLang="en-US" sz="24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过程</a:t>
            </a:r>
            <a:r>
              <a:rPr lang="en-US" altLang="x-none" sz="2400" noProof="1">
                <a:latin typeface="Times New Roman" panose="02020603050405020304" pitchFamily="2" charset="0"/>
              </a:rPr>
              <a:t>(Procedure)</a:t>
            </a:r>
            <a:r>
              <a:rPr lang="zh-CN" altLang="en-US" sz="2400" noProof="1">
                <a:latin typeface="Times New Roman" panose="02020603050405020304" pitchFamily="2" charset="0"/>
              </a:rPr>
              <a:t>或</a:t>
            </a:r>
            <a:r>
              <a:rPr lang="zh-CN" altLang="en-US" sz="24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子程序</a:t>
            </a:r>
            <a:r>
              <a:rPr lang="en-US" altLang="x-none" sz="2400" noProof="1">
                <a:latin typeface="Times New Roman" panose="02020603050405020304" pitchFamily="2" charset="0"/>
              </a:rPr>
              <a:t>(Subroutine)</a:t>
            </a:r>
            <a:endParaRPr lang="zh-CN" altLang="en-US" sz="2400" noProof="1">
              <a:latin typeface="Times New Roman" panose="02020603050405020304" pitchFamily="2" charset="0"/>
            </a:endParaRPr>
          </a:p>
          <a:p>
            <a:pPr marL="1905" indent="-1905" algn="l">
              <a:spcBef>
                <a:spcPts val="2200"/>
              </a:spcBef>
              <a:buFont typeface="Wingdings" panose="05000000000000000000" pitchFamily="2" charset="2"/>
              <a:buChar char="l"/>
            </a:pPr>
            <a:r>
              <a:rPr lang="zh-CN" altLang="en-US" sz="2400" noProof="1">
                <a:latin typeface="Times New Roman" panose="02020603050405020304" pitchFamily="2" charset="0"/>
              </a:rPr>
              <a:t>在主程序中用</a:t>
            </a:r>
            <a:r>
              <a:rPr lang="en-US" altLang="x-none" sz="2400" noProof="1">
                <a:latin typeface="Times New Roman" panose="02020603050405020304" pitchFamily="2" charset="0"/>
              </a:rPr>
              <a:t>CALL</a:t>
            </a:r>
            <a:r>
              <a:rPr lang="zh-CN" altLang="en-US" sz="2400" noProof="1">
                <a:latin typeface="Times New Roman" panose="02020603050405020304" pitchFamily="2" charset="0"/>
              </a:rPr>
              <a:t>语句调用这些过程，格式为：</a:t>
            </a:r>
          </a:p>
          <a:p>
            <a:pPr algn="l">
              <a:spcBef>
                <a:spcPts val="400"/>
              </a:spcBef>
            </a:pPr>
            <a:r>
              <a:rPr lang="en-US" altLang="x-none" sz="2400" noProof="1">
                <a:latin typeface="Times New Roman" panose="02020603050405020304" pitchFamily="2" charset="0"/>
              </a:rPr>
              <a:t>	       </a:t>
            </a:r>
            <a:r>
              <a:rPr lang="en-US" altLang="x-none" sz="2400" b="1" noProof="1">
                <a:solidFill>
                  <a:srgbClr val="008000"/>
                </a:solidFill>
                <a:latin typeface="Times New Roman" panose="02020603050405020304" pitchFamily="2" charset="0"/>
              </a:rPr>
              <a:t>  CALL  </a:t>
            </a:r>
            <a:r>
              <a:rPr lang="zh-CN" altLang="en-US" sz="2400" b="1" noProof="1">
                <a:solidFill>
                  <a:srgbClr val="008000"/>
                </a:solidFill>
                <a:latin typeface="Times New Roman" panose="02020603050405020304" pitchFamily="2" charset="0"/>
              </a:rPr>
              <a:t>过程名</a:t>
            </a:r>
          </a:p>
          <a:p>
            <a:pPr marL="1905" indent="-1905" algn="l">
              <a:spcBef>
                <a:spcPts val="2200"/>
              </a:spcBef>
              <a:buFont typeface="Wingdings" panose="05000000000000000000" pitchFamily="2" charset="2"/>
              <a:buChar char="l"/>
            </a:pPr>
            <a:r>
              <a:rPr lang="zh-CN" altLang="en-US" sz="2400" noProof="1">
                <a:latin typeface="Times New Roman" panose="02020603050405020304" pitchFamily="2" charset="0"/>
              </a:rPr>
              <a:t>过程以</a:t>
            </a:r>
            <a:r>
              <a:rPr lang="en-US" altLang="x-none" sz="2400" noProof="1">
                <a:latin typeface="Times New Roman" panose="02020603050405020304" pitchFamily="2" charset="0"/>
              </a:rPr>
              <a:t>PROC</a:t>
            </a:r>
            <a:r>
              <a:rPr lang="zh-CN" altLang="en-US" sz="2400" noProof="1">
                <a:latin typeface="Times New Roman" panose="02020603050405020304" pitchFamily="2" charset="0"/>
              </a:rPr>
              <a:t>开头</a:t>
            </a:r>
            <a:r>
              <a:rPr lang="en-US" altLang="x-none" sz="2400" noProof="1">
                <a:latin typeface="Times New Roman" panose="02020603050405020304" pitchFamily="2" charset="0"/>
              </a:rPr>
              <a:t>，ENDP</a:t>
            </a:r>
            <a:r>
              <a:rPr lang="zh-CN" altLang="en-US" sz="2400" noProof="1">
                <a:latin typeface="Times New Roman" panose="02020603050405020304" pitchFamily="2" charset="0"/>
              </a:rPr>
              <a:t>结束。过程中要安排一条返回指令</a:t>
            </a:r>
            <a:r>
              <a:rPr lang="en-US" altLang="x-none" sz="2400" noProof="1">
                <a:latin typeface="Times New Roman" panose="02020603050405020304" pitchFamily="2" charset="0"/>
              </a:rPr>
              <a:t>RET</a:t>
            </a:r>
            <a:r>
              <a:rPr lang="zh-CN" altLang="en-US" sz="2400" noProof="1">
                <a:latin typeface="Times New Roman" panose="02020603050405020304" pitchFamily="2" charset="0"/>
              </a:rPr>
              <a:t>，过程执行完后能正确返回主程序，如：</a:t>
            </a:r>
          </a:p>
          <a:p>
            <a:pPr algn="l">
              <a:spcBef>
                <a:spcPts val="400"/>
              </a:spcBef>
            </a:pPr>
            <a:r>
              <a:rPr lang="zh-CN" altLang="en-US" sz="2400" noProof="1">
                <a:latin typeface="Times New Roman" panose="02020603050405020304" pitchFamily="2" charset="0"/>
              </a:rPr>
              <a:t>         </a:t>
            </a:r>
            <a:r>
              <a:rPr lang="zh-CN" altLang="en-US" sz="2400" b="1" noProof="1">
                <a:solidFill>
                  <a:srgbClr val="008000"/>
                </a:solidFill>
                <a:latin typeface="Times New Roman" panose="02020603050405020304" pitchFamily="2" charset="0"/>
              </a:rPr>
              <a:t>MySub</a:t>
            </a:r>
            <a:r>
              <a:rPr lang="en-US" altLang="zh-CN" sz="2200" noProof="1">
                <a:solidFill>
                  <a:srgbClr val="C00000"/>
                </a:solidFill>
                <a:latin typeface="Times New Roman" panose="02020603050405020304" pitchFamily="2" charset="0"/>
              </a:rPr>
              <a:t> </a:t>
            </a:r>
            <a:r>
              <a:rPr lang="en-US" altLang="zh-CN" sz="2200" b="1" noProof="1">
                <a:solidFill>
                  <a:srgbClr val="C00000"/>
                </a:solidFill>
                <a:latin typeface="Times New Roman" panose="02020603050405020304" pitchFamily="2" charset="0"/>
              </a:rPr>
              <a:t>PROC</a:t>
            </a:r>
          </a:p>
          <a:p>
            <a:pPr algn="l">
              <a:spcBef>
                <a:spcPts val="400"/>
              </a:spcBef>
            </a:pPr>
            <a:r>
              <a:rPr lang="en-US" altLang="zh-CN" sz="2200" noProof="1">
                <a:latin typeface="Times New Roman" panose="02020603050405020304" pitchFamily="2" charset="0"/>
              </a:rPr>
              <a:t>               PUSH AX</a:t>
            </a:r>
          </a:p>
          <a:p>
            <a:pPr algn="l">
              <a:spcBef>
                <a:spcPts val="400"/>
              </a:spcBef>
            </a:pPr>
            <a:r>
              <a:rPr lang="en-US" altLang="zh-CN" sz="2200" noProof="1">
                <a:latin typeface="Times New Roman" panose="02020603050405020304" pitchFamily="2" charset="0"/>
              </a:rPr>
              <a:t>                  .....</a:t>
            </a:r>
          </a:p>
          <a:p>
            <a:pPr algn="l">
              <a:spcBef>
                <a:spcPts val="400"/>
              </a:spcBef>
            </a:pPr>
            <a:r>
              <a:rPr lang="en-US" altLang="zh-CN" sz="2200" noProof="1">
                <a:latin typeface="Times New Roman" panose="02020603050405020304" pitchFamily="2" charset="0"/>
              </a:rPr>
              <a:t>               POP AX</a:t>
            </a:r>
          </a:p>
          <a:p>
            <a:pPr algn="l">
              <a:spcBef>
                <a:spcPts val="400"/>
              </a:spcBef>
            </a:pPr>
            <a:r>
              <a:rPr lang="en-US" altLang="zh-CN" sz="2200" noProof="1">
                <a:latin typeface="Times New Roman" panose="02020603050405020304" pitchFamily="2" charset="0"/>
              </a:rPr>
              <a:t>	   </a:t>
            </a:r>
            <a:r>
              <a:rPr lang="en-US" altLang="zh-CN" sz="22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RET</a:t>
            </a:r>
          </a:p>
          <a:p>
            <a:pPr algn="l">
              <a:spcBef>
                <a:spcPts val="400"/>
              </a:spcBef>
            </a:pPr>
            <a:r>
              <a:rPr lang="en-US" altLang="zh-CN" sz="2200" noProof="1">
                <a:latin typeface="Times New Roman" panose="02020603050405020304" pitchFamily="2" charset="0"/>
              </a:rPr>
              <a:t>         </a:t>
            </a:r>
            <a:r>
              <a:rPr lang="zh-CN" altLang="en-US" sz="2400" b="1" noProof="1">
                <a:solidFill>
                  <a:srgbClr val="008000"/>
                </a:solidFill>
                <a:latin typeface="Times New Roman" panose="02020603050405020304" pitchFamily="2" charset="0"/>
              </a:rPr>
              <a:t> MySub </a:t>
            </a:r>
            <a:r>
              <a:rPr lang="en-US" altLang="zh-CN" sz="2200" b="1" noProof="1">
                <a:solidFill>
                  <a:srgbClr val="C00000"/>
                </a:solidFill>
                <a:latin typeface="Times New Roman" panose="02020603050405020304" pitchFamily="2" charset="0"/>
              </a:rPr>
              <a:t>ENDP</a:t>
            </a:r>
          </a:p>
          <a:p>
            <a:pPr marL="1905" indent="-1905" algn="l">
              <a:spcBef>
                <a:spcPts val="400"/>
              </a:spcBef>
              <a:buFont typeface="Wingdings" panose="05000000000000000000" pitchFamily="2" charset="2"/>
              <a:buChar char="l"/>
            </a:pPr>
            <a:endParaRPr lang="zh-CN" altLang="en-US" sz="2200" noProof="1"/>
          </a:p>
        </p:txBody>
      </p:sp>
      <p:sp>
        <p:nvSpPr>
          <p:cNvPr id="39939" name="日期占位符 1">
            <a:extLst>
              <a:ext uri="{FF2B5EF4-FFF2-40B4-BE49-F238E27FC236}">
                <a16:creationId xmlns:a16="http://schemas.microsoft.com/office/drawing/2014/main" id="{8F258171-195A-4B07-896F-25EDE9D10593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50EF7BF6-EE3F-4F15-90D7-900A4C705956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charRg st="133" end="1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6867">
                                            <p:txEl>
                                              <p:charRg st="133" end="18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6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68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368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368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368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标题 1">
            <a:extLst>
              <a:ext uri="{FF2B5EF4-FFF2-40B4-BE49-F238E27FC236}">
                <a16:creationId xmlns:a16="http://schemas.microsoft.com/office/drawing/2014/main" id="{4E5BE300-9D05-45CF-9D37-EDF7FB948264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zh-CN" altLang="en-US" sz="4400" b="1">
                <a:solidFill>
                  <a:schemeClr val="accent2"/>
                </a:solidFill>
              </a:rPr>
              <a:t>过程调用指令</a:t>
            </a:r>
          </a:p>
        </p:txBody>
      </p:sp>
      <p:sp>
        <p:nvSpPr>
          <p:cNvPr id="36867" name="内容占位符 2">
            <a:extLst>
              <a:ext uri="{FF2B5EF4-FFF2-40B4-BE49-F238E27FC236}">
                <a16:creationId xmlns:a16="http://schemas.microsoft.com/office/drawing/2014/main" id="{78DE2C20-3A31-40BE-8032-443F6232C1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755" y="1117600"/>
            <a:ext cx="8372475" cy="5594350"/>
          </a:xfrm>
        </p:spPr>
        <p:txBody>
          <a:bodyPr/>
          <a:lstStyle/>
          <a:p>
            <a:pPr marL="1905" indent="-1905" algn="l"/>
            <a:r>
              <a:rPr lang="en-US" altLang="x-none" sz="24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2) </a:t>
            </a:r>
            <a:r>
              <a:rPr lang="zh-CN" altLang="en-US" sz="24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过程调用和返回指令</a:t>
            </a:r>
            <a:r>
              <a:rPr lang="en-US" altLang="x-none" sz="24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 (Call and Return)</a:t>
            </a:r>
            <a:endParaRPr lang="zh-CN" altLang="en-US" sz="2400" b="1" noProof="1">
              <a:solidFill>
                <a:srgbClr val="CC3300"/>
              </a:solidFill>
              <a:latin typeface="Times New Roman" panose="02020603050405020304" pitchFamily="2" charset="0"/>
            </a:endParaRPr>
          </a:p>
          <a:p>
            <a:pPr marL="1905" indent="-1905" algn="l">
              <a:spcBef>
                <a:spcPts val="400"/>
              </a:spcBef>
              <a:buSzPct val="100000"/>
              <a:buFont typeface="Wingdings" panose="05000000000000000000" pitchFamily="2" charset="2"/>
              <a:buChar char="l"/>
            </a:pPr>
            <a:endParaRPr lang="zh-CN" altLang="en-US" sz="2400" noProof="1">
              <a:latin typeface="Times New Roman" panose="02020603050405020304" pitchFamily="2" charset="0"/>
            </a:endParaRPr>
          </a:p>
          <a:p>
            <a:pPr marL="1905" indent="-1905" algn="l">
              <a:spcBef>
                <a:spcPts val="400"/>
              </a:spcBef>
              <a:buSzPct val="100000"/>
              <a:buFont typeface="Wingdings" panose="05000000000000000000" pitchFamily="2" charset="2"/>
              <a:buChar char="l"/>
            </a:pPr>
            <a:r>
              <a:rPr lang="zh-CN" alt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2" charset="0"/>
                <a:sym typeface="+mn-ea"/>
              </a:rPr>
              <a:t>过程嵌套:</a:t>
            </a:r>
            <a:r>
              <a:rPr lang="zh-CN" altLang="en-US" sz="2400" noProof="1">
                <a:latin typeface="Times New Roman" panose="02020603050405020304" pitchFamily="2" charset="0"/>
              </a:rPr>
              <a:t>若在过程运行中又调用另一过程，称为</a:t>
            </a:r>
            <a:r>
              <a:rPr lang="zh-CN" altLang="en-US" sz="2400" b="1" noProof="1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2" charset="0"/>
              </a:rPr>
              <a:t>过程嵌套</a:t>
            </a:r>
          </a:p>
          <a:p>
            <a:pPr marL="1905" indent="-1905" algn="l">
              <a:spcBef>
                <a:spcPts val="400"/>
              </a:spcBef>
              <a:buSzPct val="100000"/>
              <a:buFont typeface="Wingdings" panose="05000000000000000000" pitchFamily="2" charset="2"/>
              <a:buChar char="l"/>
            </a:pPr>
            <a:endParaRPr lang="zh-CN" altLang="en-US" sz="2400" b="1" noProof="1">
              <a:solidFill>
                <a:srgbClr val="C0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2" charset="0"/>
            </a:endParaRPr>
          </a:p>
          <a:p>
            <a:pPr marL="1905" indent="-1905" algn="l">
              <a:spcBef>
                <a:spcPts val="400"/>
              </a:spcBef>
              <a:buSzPct val="100000"/>
              <a:buFont typeface="Wingdings" panose="05000000000000000000" pitchFamily="2" charset="2"/>
              <a:buChar char="l"/>
            </a:pPr>
            <a:r>
              <a:rPr lang="zh-CN" alt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2" charset="0"/>
              </a:rPr>
              <a:t>调用距离：</a:t>
            </a:r>
            <a:r>
              <a:rPr lang="zh-CN" altLang="en-US" sz="2400" noProof="1">
                <a:latin typeface="Times New Roman" panose="02020603050405020304" pitchFamily="2" charset="0"/>
              </a:rPr>
              <a:t>主程序和过程在同一代码段，称为</a:t>
            </a:r>
            <a:r>
              <a:rPr lang="zh-CN" altLang="en-US" sz="24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近调用</a:t>
            </a:r>
            <a:r>
              <a:rPr lang="zh-CN" altLang="en-US" sz="2400" noProof="1">
                <a:latin typeface="Times New Roman" panose="02020603050405020304" pitchFamily="2" charset="0"/>
              </a:rPr>
              <a:t>，不在同一段则称为</a:t>
            </a:r>
            <a:r>
              <a:rPr lang="zh-CN" altLang="en-US" sz="24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远调用</a:t>
            </a:r>
          </a:p>
          <a:p>
            <a:pPr marL="1905" indent="-1905" algn="l">
              <a:spcBef>
                <a:spcPts val="400"/>
              </a:spcBef>
              <a:buSzPct val="100000"/>
              <a:buFont typeface="Wingdings" panose="05000000000000000000" pitchFamily="2" charset="2"/>
              <a:buChar char="l"/>
            </a:pPr>
            <a:endParaRPr lang="zh-CN" altLang="en-US" sz="2400" b="1" noProof="1">
              <a:solidFill>
                <a:srgbClr val="0000FF"/>
              </a:solidFill>
              <a:latin typeface="Times New Roman" panose="02020603050405020304" pitchFamily="2" charset="0"/>
            </a:endParaRPr>
          </a:p>
          <a:p>
            <a:pPr marL="1905" indent="-1905" algn="l">
              <a:spcBef>
                <a:spcPts val="400"/>
              </a:spcBef>
              <a:buSzPct val="100000"/>
              <a:buFont typeface="Wingdings" panose="05000000000000000000" pitchFamily="2" charset="2"/>
              <a:buChar char="l"/>
            </a:pPr>
            <a:r>
              <a:rPr lang="zh-CN" alt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2" charset="0"/>
              </a:rPr>
              <a:t>过程调用和</a:t>
            </a:r>
            <a:r>
              <a:rPr lang="en-US" altLang="zh-CN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2" charset="0"/>
              </a:rPr>
              <a:t>JMP</a:t>
            </a:r>
            <a:r>
              <a:rPr lang="zh-CN" alt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2" charset="0"/>
              </a:rPr>
              <a:t>指令的比较</a:t>
            </a:r>
            <a:r>
              <a:rPr lang="zh-CN" altLang="en-US" sz="2400" noProof="1">
                <a:latin typeface="Times New Roman" panose="02020603050405020304" pitchFamily="2" charset="0"/>
              </a:rPr>
              <a:t>：过程调用的寻址方式与转移指令类似，但</a:t>
            </a:r>
            <a:r>
              <a:rPr lang="zh-CN" altLang="en-US" sz="2400" b="1" noProof="1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2" charset="0"/>
              </a:rPr>
              <a:t>没有段内短调用</a:t>
            </a:r>
            <a:r>
              <a:rPr lang="zh-CN" altLang="en-US" sz="2400" noProof="1">
                <a:latin typeface="Times New Roman" panose="02020603050405020304" pitchFamily="2" charset="0"/>
              </a:rPr>
              <a:t>。由于调用结束后需返回原程序继续运行，要执行</a:t>
            </a:r>
            <a:r>
              <a:rPr lang="zh-CN" altLang="en-US" sz="24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保护和恢复返址</a:t>
            </a:r>
            <a:r>
              <a:rPr lang="zh-CN" altLang="en-US" sz="2400" noProof="1">
                <a:latin typeface="Times New Roman" panose="02020603050405020304" pitchFamily="2" charset="0"/>
              </a:rPr>
              <a:t>操作（</a:t>
            </a:r>
            <a:r>
              <a:rPr lang="en-US" altLang="zh-CN" sz="2400" noProof="1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2" charset="0"/>
              </a:rPr>
              <a:t>RET</a:t>
            </a:r>
            <a:r>
              <a:rPr lang="zh-CN" altLang="en-US" sz="2400" noProof="1">
                <a:solidFill>
                  <a:srgbClr val="C0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2" charset="0"/>
              </a:rPr>
              <a:t>指令</a:t>
            </a:r>
            <a:r>
              <a:rPr lang="zh-CN" altLang="en-US" sz="2400" noProof="1">
                <a:latin typeface="Times New Roman" panose="02020603050405020304" pitchFamily="2" charset="0"/>
              </a:rPr>
              <a:t>），比转移复杂</a:t>
            </a:r>
            <a:r>
              <a:rPr lang="zh-CN" altLang="en-US" sz="2400" noProof="1"/>
              <a:t>                     </a:t>
            </a:r>
          </a:p>
        </p:txBody>
      </p:sp>
      <p:sp>
        <p:nvSpPr>
          <p:cNvPr id="40963" name="日期占位符 1">
            <a:extLst>
              <a:ext uri="{FF2B5EF4-FFF2-40B4-BE49-F238E27FC236}">
                <a16:creationId xmlns:a16="http://schemas.microsoft.com/office/drawing/2014/main" id="{8DA61D77-64B1-46CB-BE3D-14905B07C360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03A4D1DD-2BC0-494F-A282-999FF8005098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ll dir="d"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标题 1">
            <a:extLst>
              <a:ext uri="{FF2B5EF4-FFF2-40B4-BE49-F238E27FC236}">
                <a16:creationId xmlns:a16="http://schemas.microsoft.com/office/drawing/2014/main" id="{D8B1140A-C00B-4A92-BA78-2D1A695B0755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zh-CN" altLang="en-US" sz="4400" b="1">
                <a:solidFill>
                  <a:schemeClr val="accent2"/>
                </a:solidFill>
              </a:rPr>
              <a:t>过程调用指令</a:t>
            </a:r>
          </a:p>
        </p:txBody>
      </p:sp>
      <p:sp>
        <p:nvSpPr>
          <p:cNvPr id="37891" name="内容占位符 2">
            <a:extLst>
              <a:ext uri="{FF2B5EF4-FFF2-40B4-BE49-F238E27FC236}">
                <a16:creationId xmlns:a16="http://schemas.microsoft.com/office/drawing/2014/main" id="{562EAAFD-C974-4F8C-866A-AD152B197A6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571500" y="1250950"/>
            <a:ext cx="8188325" cy="4970463"/>
          </a:xfrm>
        </p:spPr>
        <p:txBody>
          <a:bodyPr/>
          <a:lstStyle/>
          <a:p>
            <a:pPr marL="1588" indent="-1588" algn="l">
              <a:spcBef>
                <a:spcPct val="0"/>
              </a:spcBef>
              <a:buFont typeface="Wingdings" panose="05000000000000000000" pitchFamily="2" charset="2"/>
              <a:buNone/>
            </a:pPr>
            <a:r>
              <a:rPr lang="en-US" altLang="zh-CN" sz="2400" b="1">
                <a:solidFill>
                  <a:srgbClr val="CC3300"/>
                </a:solidFill>
                <a:latin typeface="Times New Roman" panose="02020603050405020304" pitchFamily="18" charset="0"/>
              </a:rPr>
              <a:t>CALL</a:t>
            </a:r>
            <a:r>
              <a:rPr lang="zh-CN" altLang="en-US" sz="2400" b="1">
                <a:solidFill>
                  <a:srgbClr val="CC3300"/>
                </a:solidFill>
                <a:latin typeface="Times New Roman" panose="02020603050405020304" pitchFamily="18" charset="0"/>
              </a:rPr>
              <a:t>指令分两步执行</a:t>
            </a:r>
            <a:r>
              <a:rPr lang="zh-CN" altLang="en-US" sz="2400">
                <a:latin typeface="Times New Roman" panose="02020603050405020304" pitchFamily="18" charset="0"/>
              </a:rPr>
              <a:t>：</a:t>
            </a:r>
          </a:p>
          <a:p>
            <a:pPr marL="1588" indent="-1588" algn="l">
              <a:spcBef>
                <a:spcPct val="0"/>
              </a:spcBef>
            </a:pP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第一步：</a:t>
            </a:r>
            <a:r>
              <a:rPr lang="zh-CN" altLang="en-US" sz="2400">
                <a:latin typeface="Times New Roman" panose="02020603050405020304" pitchFamily="18" charset="0"/>
              </a:rPr>
              <a:t>返址入栈，将</a:t>
            </a:r>
            <a:r>
              <a:rPr lang="en-US" altLang="zh-CN" sz="2400">
                <a:latin typeface="Times New Roman" panose="02020603050405020304" pitchFamily="18" charset="0"/>
              </a:rPr>
              <a:t>CALL</a:t>
            </a:r>
            <a:r>
              <a:rPr lang="zh-CN" altLang="en-US" sz="2400">
                <a:latin typeface="Times New Roman" panose="02020603050405020304" pitchFamily="18" charset="0"/>
              </a:rPr>
              <a:t>下面指令的地址推入堆栈</a:t>
            </a:r>
          </a:p>
          <a:p>
            <a:pPr marL="1588" indent="-1588"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       </a:t>
            </a:r>
            <a:r>
              <a:rPr lang="zh-CN" altLang="en-US" sz="2400">
                <a:latin typeface="Times New Roman" panose="02020603050405020304" pitchFamily="18" charset="0"/>
              </a:rPr>
              <a:t>近调用执行的操作：</a:t>
            </a:r>
            <a:r>
              <a:rPr lang="en-US" altLang="zh-CN" sz="2400">
                <a:latin typeface="Times New Roman" panose="02020603050405020304" pitchFamily="18" charset="0"/>
              </a:rPr>
              <a:t>SP←SP-2</a:t>
            </a:r>
            <a:r>
              <a:rPr lang="zh-CN" altLang="en-US" sz="2400">
                <a:latin typeface="Times New Roman" panose="02020603050405020304" pitchFamily="18" charset="0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</a:rPr>
              <a:t>IP</a:t>
            </a:r>
            <a:r>
              <a:rPr lang="zh-CN" altLang="en-US" sz="2400">
                <a:latin typeface="Times New Roman" panose="02020603050405020304" pitchFamily="18" charset="0"/>
              </a:rPr>
              <a:t>入栈</a:t>
            </a:r>
          </a:p>
          <a:p>
            <a:pPr marL="1588" indent="-1588"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       </a:t>
            </a:r>
            <a:r>
              <a:rPr lang="zh-CN" altLang="en-US" sz="2400">
                <a:latin typeface="Times New Roman" panose="02020603050405020304" pitchFamily="18" charset="0"/>
              </a:rPr>
              <a:t>远调用执行的操作：</a:t>
            </a:r>
            <a:r>
              <a:rPr lang="en-US" altLang="zh-CN" sz="2400">
                <a:latin typeface="Times New Roman" panose="02020603050405020304" pitchFamily="18" charset="0"/>
              </a:rPr>
              <a:t>SP←SP-2</a:t>
            </a:r>
            <a:r>
              <a:rPr lang="zh-CN" altLang="en-US" sz="2400">
                <a:latin typeface="Times New Roman" panose="02020603050405020304" pitchFamily="18" charset="0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</a:rPr>
              <a:t>CS</a:t>
            </a:r>
            <a:r>
              <a:rPr lang="zh-CN" altLang="en-US" sz="2400">
                <a:latin typeface="Times New Roman" panose="02020603050405020304" pitchFamily="18" charset="0"/>
              </a:rPr>
              <a:t>入栈</a:t>
            </a:r>
          </a:p>
          <a:p>
            <a:pPr marL="1588" indent="-1588"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</a:rPr>
              <a:t>                    		       SP←SP-2</a:t>
            </a:r>
            <a:r>
              <a:rPr lang="zh-CN" altLang="en-US" sz="2400">
                <a:latin typeface="Times New Roman" panose="02020603050405020304" pitchFamily="18" charset="0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</a:rPr>
              <a:t>IP</a:t>
            </a:r>
            <a:r>
              <a:rPr lang="zh-CN" altLang="en-US" sz="2400">
                <a:latin typeface="Times New Roman" panose="02020603050405020304" pitchFamily="18" charset="0"/>
              </a:rPr>
              <a:t>入栈</a:t>
            </a:r>
          </a:p>
          <a:p>
            <a:pPr marL="1588" indent="-1588" algn="l">
              <a:spcBef>
                <a:spcPct val="0"/>
              </a:spcBef>
            </a:pPr>
            <a:endParaRPr lang="zh-CN" altLang="en-US" sz="2400" b="1">
              <a:solidFill>
                <a:srgbClr val="0000FF"/>
              </a:solidFill>
              <a:latin typeface="Times New Roman" panose="02020603050405020304" pitchFamily="18" charset="0"/>
            </a:endParaRPr>
          </a:p>
          <a:p>
            <a:pPr marL="1588" indent="-1588" algn="l">
              <a:spcBef>
                <a:spcPct val="0"/>
              </a:spcBef>
            </a:pP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第二步：</a:t>
            </a:r>
            <a:r>
              <a:rPr lang="zh-CN" altLang="en-US" sz="2400">
                <a:latin typeface="Times New Roman" panose="02020603050405020304" pitchFamily="18" charset="0"/>
              </a:rPr>
              <a:t>转到子程序入口执行相应的子程序。入口地址由</a:t>
            </a:r>
            <a:r>
              <a:rPr lang="en-US" altLang="zh-CN" sz="2400">
                <a:latin typeface="Times New Roman" panose="02020603050405020304" pitchFamily="18" charset="0"/>
              </a:rPr>
              <a:t>CALL</a:t>
            </a:r>
            <a:r>
              <a:rPr lang="zh-CN" altLang="en-US" sz="2400">
                <a:latin typeface="Times New Roman" panose="02020603050405020304" pitchFamily="18" charset="0"/>
              </a:rPr>
              <a:t>指令的目的操作数提供，寻址方法与</a:t>
            </a:r>
            <a:r>
              <a:rPr lang="en-US" altLang="zh-CN" sz="2400">
                <a:latin typeface="Times New Roman" panose="02020603050405020304" pitchFamily="18" charset="0"/>
              </a:rPr>
              <a:t>JMP</a:t>
            </a:r>
            <a:r>
              <a:rPr lang="zh-CN" altLang="en-US" sz="2400">
                <a:latin typeface="Times New Roman" panose="02020603050405020304" pitchFamily="18" charset="0"/>
              </a:rPr>
              <a:t>指令类似</a:t>
            </a:r>
          </a:p>
          <a:p>
            <a:pPr marL="1588" indent="-1588" algn="l"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sz="2400">
                <a:latin typeface="Times New Roman" panose="02020603050405020304" pitchFamily="18" charset="0"/>
              </a:rPr>
              <a:t>执行过程中的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</a:rPr>
              <a:t>RET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指令</a:t>
            </a:r>
            <a:r>
              <a:rPr lang="zh-CN" altLang="en-US" sz="2400">
                <a:latin typeface="Times New Roman" panose="02020603050405020304" pitchFamily="18" charset="0"/>
              </a:rPr>
              <a:t>时，从栈中弹出返址，使程序返回主程序继续执行。也有两种情况：</a:t>
            </a:r>
          </a:p>
          <a:p>
            <a:pPr marL="1588" indent="-1588" algn="l"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zh-CN" altLang="en-US" sz="2400">
                <a:latin typeface="Times New Roman" panose="02020603050405020304" pitchFamily="18" charset="0"/>
              </a:rPr>
              <a:t>从</a:t>
            </a:r>
            <a:r>
              <a:rPr lang="zh-CN" altLang="en-US" sz="2400" b="1">
                <a:latin typeface="Times New Roman" panose="02020603050405020304" pitchFamily="18" charset="0"/>
              </a:rPr>
              <a:t>近过程</a:t>
            </a:r>
            <a:r>
              <a:rPr lang="zh-CN" altLang="en-US" sz="2400">
                <a:latin typeface="Times New Roman" panose="02020603050405020304" pitchFamily="18" charset="0"/>
              </a:rPr>
              <a:t>返回，从栈中弹出</a:t>
            </a:r>
            <a:r>
              <a:rPr lang="en-US" altLang="zh-CN" sz="2400">
                <a:latin typeface="Times New Roman" panose="02020603050405020304" pitchFamily="18" charset="0"/>
              </a:rPr>
              <a:t>1</a:t>
            </a:r>
            <a:r>
              <a:rPr lang="zh-CN" altLang="en-US" sz="2400">
                <a:latin typeface="Times New Roman" panose="02020603050405020304" pitchFamily="18" charset="0"/>
              </a:rPr>
              <a:t>个字</a:t>
            </a:r>
            <a:r>
              <a:rPr lang="en-US" altLang="zh-CN" sz="2400">
                <a:latin typeface="Times New Roman" panose="02020603050405020304" pitchFamily="18" charset="0"/>
              </a:rPr>
              <a:t>→IP</a:t>
            </a:r>
            <a:r>
              <a:rPr lang="zh-CN" altLang="en-US" sz="2400">
                <a:latin typeface="Times New Roman" panose="02020603050405020304" pitchFamily="18" charset="0"/>
              </a:rPr>
              <a:t>，并且使</a:t>
            </a:r>
            <a:r>
              <a:rPr lang="en-US" altLang="zh-CN" sz="2400">
                <a:latin typeface="Times New Roman" panose="02020603050405020304" pitchFamily="18" charset="0"/>
              </a:rPr>
              <a:t>SP←SP+2</a:t>
            </a:r>
            <a:endParaRPr lang="zh-CN" altLang="en-US" sz="2400">
              <a:latin typeface="Times New Roman" panose="02020603050405020304" pitchFamily="18" charset="0"/>
            </a:endParaRPr>
          </a:p>
          <a:p>
            <a:pPr marL="1588" indent="-1588" algn="l">
              <a:spcBef>
                <a:spcPct val="0"/>
              </a:spcBef>
              <a:buFont typeface="Wingdings" panose="05000000000000000000" pitchFamily="2" charset="2"/>
              <a:buChar char="l"/>
            </a:pPr>
            <a:r>
              <a:rPr lang="zh-CN" altLang="en-US" sz="2400">
                <a:latin typeface="Times New Roman" panose="02020603050405020304" pitchFamily="18" charset="0"/>
              </a:rPr>
              <a:t>从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远过程</a:t>
            </a:r>
            <a:r>
              <a:rPr lang="zh-CN" altLang="en-US" sz="2400">
                <a:latin typeface="Times New Roman" panose="02020603050405020304" pitchFamily="18" charset="0"/>
              </a:rPr>
              <a:t>返回，先从栈中弹出</a:t>
            </a:r>
            <a:r>
              <a:rPr lang="en-US" altLang="zh-CN" sz="2400">
                <a:latin typeface="Times New Roman" panose="02020603050405020304" pitchFamily="18" charset="0"/>
              </a:rPr>
              <a:t>1</a:t>
            </a:r>
            <a:r>
              <a:rPr lang="zh-CN" altLang="en-US" sz="2400">
                <a:latin typeface="Times New Roman" panose="02020603050405020304" pitchFamily="18" charset="0"/>
              </a:rPr>
              <a:t>个字</a:t>
            </a:r>
            <a:r>
              <a:rPr lang="en-US" altLang="zh-CN" sz="2400">
                <a:latin typeface="Times New Roman" panose="02020603050405020304" pitchFamily="18" charset="0"/>
              </a:rPr>
              <a:t>→IP</a:t>
            </a:r>
            <a:r>
              <a:rPr lang="zh-CN" altLang="en-US" sz="2400">
                <a:latin typeface="Times New Roman" panose="02020603050405020304" pitchFamily="18" charset="0"/>
              </a:rPr>
              <a:t>，并且使</a:t>
            </a:r>
            <a:r>
              <a:rPr lang="en-US" altLang="zh-CN" sz="2400">
                <a:latin typeface="Times New Roman" panose="02020603050405020304" pitchFamily="18" charset="0"/>
              </a:rPr>
              <a:t>SP←SP+2</a:t>
            </a:r>
            <a:r>
              <a:rPr lang="zh-CN" altLang="en-US" sz="2400">
                <a:latin typeface="Times New Roman" panose="02020603050405020304" pitchFamily="18" charset="0"/>
              </a:rPr>
              <a:t>；再弹出</a:t>
            </a:r>
            <a:r>
              <a:rPr lang="en-US" altLang="zh-CN" sz="2400">
                <a:latin typeface="Times New Roman" panose="02020603050405020304" pitchFamily="18" charset="0"/>
              </a:rPr>
              <a:t>1</a:t>
            </a:r>
            <a:r>
              <a:rPr lang="zh-CN" altLang="en-US" sz="2400">
                <a:latin typeface="Times New Roman" panose="02020603050405020304" pitchFamily="18" charset="0"/>
              </a:rPr>
              <a:t>个字</a:t>
            </a:r>
            <a:r>
              <a:rPr lang="en-US" altLang="zh-CN" sz="2400">
                <a:latin typeface="Times New Roman" panose="02020603050405020304" pitchFamily="18" charset="0"/>
              </a:rPr>
              <a:t>→CS</a:t>
            </a:r>
            <a:r>
              <a:rPr lang="zh-CN" altLang="en-US" sz="2400">
                <a:latin typeface="Times New Roman" panose="02020603050405020304" pitchFamily="18" charset="0"/>
              </a:rPr>
              <a:t>，并使</a:t>
            </a:r>
            <a:r>
              <a:rPr lang="en-US" altLang="zh-CN" sz="2400">
                <a:latin typeface="Times New Roman" panose="02020603050405020304" pitchFamily="18" charset="0"/>
              </a:rPr>
              <a:t>SP←SP+2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41987" name="日期占位符 1">
            <a:extLst>
              <a:ext uri="{FF2B5EF4-FFF2-40B4-BE49-F238E27FC236}">
                <a16:creationId xmlns:a16="http://schemas.microsoft.com/office/drawing/2014/main" id="{73279092-86B6-4614-B520-73714D1EE9C5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5D3DF5EB-9910-46AB-85C1-B1C851FBD917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ll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7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78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charRg st="192" end="2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7891">
                                            <p:txEl>
                                              <p:charRg st="192" end="23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charRg st="234" end="2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7891">
                                            <p:txEl>
                                              <p:charRg st="234" end="26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>
                                            <p:txEl>
                                              <p:charRg st="264" end="3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7891">
                                            <p:txEl>
                                              <p:charRg st="264" end="3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标题 1">
            <a:extLst>
              <a:ext uri="{FF2B5EF4-FFF2-40B4-BE49-F238E27FC236}">
                <a16:creationId xmlns:a16="http://schemas.microsoft.com/office/drawing/2014/main" id="{42019651-BBCF-4194-B8B6-62D185C72617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749300" y="4851400"/>
            <a:ext cx="8045450" cy="1377950"/>
          </a:xfrm>
        </p:spPr>
        <p:txBody>
          <a:bodyPr anchor="ctr"/>
          <a:lstStyle/>
          <a:p>
            <a:pPr algn="just"/>
            <a:r>
              <a:rPr lang="zh-CN" altLang="en-US" sz="2600" dirty="0">
                <a:solidFill>
                  <a:schemeClr val="tx1"/>
                </a:solidFill>
                <a:ea typeface="楷体_GB2312" pitchFamily="1" charset="-122"/>
              </a:rPr>
              <a:t>设调用前：</a:t>
            </a:r>
            <a:r>
              <a:rPr lang="en-US" altLang="zh-CN" sz="2600" dirty="0">
                <a:solidFill>
                  <a:schemeClr val="tx1"/>
                </a:solidFill>
                <a:ea typeface="楷体_GB2312" pitchFamily="1" charset="-122"/>
              </a:rPr>
              <a:t>CS:IP=2000H:1050H</a:t>
            </a:r>
            <a:r>
              <a:rPr lang="zh-CN" altLang="en-US" sz="2600" dirty="0">
                <a:solidFill>
                  <a:schemeClr val="tx1"/>
                </a:solidFill>
                <a:ea typeface="楷体_GB2312" pitchFamily="1" charset="-122"/>
              </a:rPr>
              <a:t>，</a:t>
            </a:r>
            <a:br>
              <a:rPr lang="en-US" altLang="zh-CN" sz="2600" dirty="0">
                <a:solidFill>
                  <a:schemeClr val="tx1"/>
                </a:solidFill>
                <a:ea typeface="楷体_GB2312" pitchFamily="1" charset="-122"/>
              </a:rPr>
            </a:br>
            <a:r>
              <a:rPr lang="en-US" altLang="zh-CN" sz="2600" dirty="0">
                <a:solidFill>
                  <a:schemeClr val="tx1"/>
                </a:solidFill>
                <a:ea typeface="楷体_GB2312" pitchFamily="1" charset="-122"/>
              </a:rPr>
              <a:t>SS:SP=5000H:0100H</a:t>
            </a:r>
            <a:r>
              <a:rPr lang="zh-CN" altLang="en-US" sz="2600" dirty="0">
                <a:solidFill>
                  <a:schemeClr val="tx1"/>
                </a:solidFill>
                <a:ea typeface="楷体_GB2312" pitchFamily="1" charset="-122"/>
              </a:rPr>
              <a:t>，</a:t>
            </a:r>
            <a:r>
              <a:rPr lang="en-US" altLang="zh-CN" sz="2600" dirty="0">
                <a:solidFill>
                  <a:schemeClr val="tx1"/>
                </a:solidFill>
                <a:ea typeface="楷体_GB2312" pitchFamily="1" charset="-122"/>
              </a:rPr>
              <a:t>PROG-N</a:t>
            </a:r>
            <a:r>
              <a:rPr lang="zh-CN" altLang="en-US" sz="2600" dirty="0">
                <a:solidFill>
                  <a:schemeClr val="tx1"/>
                </a:solidFill>
                <a:ea typeface="楷体_GB2312" pitchFamily="1" charset="-122"/>
              </a:rPr>
              <a:t>与</a:t>
            </a:r>
            <a:r>
              <a:rPr lang="en-US" altLang="zh-CN" sz="2600" dirty="0">
                <a:solidFill>
                  <a:schemeClr val="tx1"/>
                </a:solidFill>
                <a:ea typeface="楷体_GB2312" pitchFamily="1" charset="-122"/>
              </a:rPr>
              <a:t>CALL</a:t>
            </a:r>
            <a:r>
              <a:rPr lang="zh-CN" altLang="en-US" sz="2600" dirty="0">
                <a:solidFill>
                  <a:schemeClr val="tx1"/>
                </a:solidFill>
                <a:ea typeface="楷体_GB2312" pitchFamily="1" charset="-122"/>
              </a:rPr>
              <a:t>指令之间的字节距离等于</a:t>
            </a:r>
            <a:r>
              <a:rPr lang="en-US" altLang="zh-CN" sz="2600" dirty="0">
                <a:solidFill>
                  <a:schemeClr val="tx1"/>
                </a:solidFill>
                <a:ea typeface="楷体_GB2312" pitchFamily="1" charset="-122"/>
              </a:rPr>
              <a:t>1234H (</a:t>
            </a:r>
            <a:r>
              <a:rPr lang="zh-CN" altLang="en-US" sz="2600" dirty="0">
                <a:solidFill>
                  <a:schemeClr val="tx1"/>
                </a:solidFill>
                <a:ea typeface="楷体_GB2312" pitchFamily="1" charset="-122"/>
              </a:rPr>
              <a:t>即</a:t>
            </a:r>
            <a:r>
              <a:rPr lang="en-US" altLang="zh-CN" sz="2600" dirty="0">
                <a:solidFill>
                  <a:schemeClr val="tx1"/>
                </a:solidFill>
                <a:ea typeface="楷体_GB2312" pitchFamily="1" charset="-122"/>
              </a:rPr>
              <a:t>DISP=1234H)</a:t>
            </a:r>
            <a:endParaRPr lang="zh-CN" altLang="en-US" sz="4400" dirty="0">
              <a:solidFill>
                <a:schemeClr val="tx1"/>
              </a:solidFill>
            </a:endParaRPr>
          </a:p>
        </p:txBody>
      </p:sp>
      <p:sp>
        <p:nvSpPr>
          <p:cNvPr id="38915" name="内容占位符 2">
            <a:extLst>
              <a:ext uri="{FF2B5EF4-FFF2-40B4-BE49-F238E27FC236}">
                <a16:creationId xmlns:a16="http://schemas.microsoft.com/office/drawing/2014/main" id="{3EE9873D-6924-4BA6-B2E8-F3564F054CE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527050" y="1073150"/>
            <a:ext cx="8231188" cy="2622550"/>
          </a:xfrm>
        </p:spPr>
        <p:txBody>
          <a:bodyPr/>
          <a:lstStyle/>
          <a:p>
            <a:pPr algn="l"/>
            <a:r>
              <a:rPr lang="zh-CN" altLang="en-US" sz="2800">
                <a:latin typeface="Times New Roman" panose="02020603050405020304" pitchFamily="18" charset="0"/>
              </a:rPr>
              <a:t>下面举例说明</a:t>
            </a:r>
            <a:r>
              <a:rPr lang="en-US" altLang="zh-CN" sz="2800">
                <a:latin typeface="Times New Roman" panose="02020603050405020304" pitchFamily="18" charset="0"/>
              </a:rPr>
              <a:t>CALL</a:t>
            </a:r>
            <a:r>
              <a:rPr lang="zh-CN" altLang="en-US" sz="2800">
                <a:latin typeface="Times New Roman" panose="02020603050405020304" pitchFamily="18" charset="0"/>
              </a:rPr>
              <a:t>和</a:t>
            </a:r>
            <a:r>
              <a:rPr lang="en-US" altLang="zh-CN" sz="2800">
                <a:latin typeface="Times New Roman" panose="02020603050405020304" pitchFamily="18" charset="0"/>
              </a:rPr>
              <a:t>RET</a:t>
            </a:r>
            <a:r>
              <a:rPr lang="zh-CN" altLang="en-US" sz="2800">
                <a:latin typeface="Times New Roman" panose="02020603050405020304" pitchFamily="18" charset="0"/>
              </a:rPr>
              <a:t>指令的</a:t>
            </a:r>
            <a:r>
              <a:rPr lang="en-US" altLang="zh-CN" sz="2800">
                <a:latin typeface="Times New Roman" panose="02020603050405020304" pitchFamily="18" charset="0"/>
              </a:rPr>
              <a:t>4</a:t>
            </a:r>
            <a:r>
              <a:rPr lang="zh-CN" altLang="en-US" sz="2800">
                <a:latin typeface="Times New Roman" panose="02020603050405020304" pitchFamily="18" charset="0"/>
              </a:rPr>
              <a:t>种寻址方式。</a:t>
            </a:r>
          </a:p>
          <a:p>
            <a:pPr algn="l"/>
            <a:r>
              <a:rPr lang="zh-CN" altLang="en-US" sz="2800" b="1">
                <a:solidFill>
                  <a:srgbClr val="CC3300"/>
                </a:solidFill>
                <a:latin typeface="Times New Roman" panose="02020603050405020304" pitchFamily="18" charset="0"/>
              </a:rPr>
              <a:t>（</a:t>
            </a:r>
            <a:r>
              <a:rPr lang="en-US" altLang="zh-CN" sz="2800" b="1">
                <a:solidFill>
                  <a:srgbClr val="CC33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800" b="1">
                <a:solidFill>
                  <a:srgbClr val="CC3300"/>
                </a:solidFill>
                <a:latin typeface="Times New Roman" panose="02020603050405020304" pitchFamily="18" charset="0"/>
              </a:rPr>
              <a:t>）段内直接调用和返回</a:t>
            </a:r>
          </a:p>
          <a:p>
            <a:pPr algn="l"/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例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3.84</a:t>
            </a:r>
            <a:endParaRPr lang="zh-CN" altLang="en-US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    CALL   PROG-N	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PROG-N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是一个近标号</a:t>
            </a:r>
          </a:p>
          <a:p>
            <a:pPr algn="l"/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    该指令含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3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个字节，编码格式为：</a:t>
            </a:r>
          </a:p>
          <a:p>
            <a:pPr algn="l"/>
            <a:endParaRPr lang="zh-CN" altLang="en-US" sz="2800"/>
          </a:p>
        </p:txBody>
      </p:sp>
      <p:pic>
        <p:nvPicPr>
          <p:cNvPr id="38916" name="Picture 2">
            <a:extLst>
              <a:ext uri="{FF2B5EF4-FFF2-40B4-BE49-F238E27FC236}">
                <a16:creationId xmlns:a16="http://schemas.microsoft.com/office/drawing/2014/main" id="{DC3307C0-B19D-4462-BB22-CE54A01E55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3829050"/>
            <a:ext cx="6753225" cy="854075"/>
          </a:xfrm>
          <a:prstGeom prst="rect">
            <a:avLst/>
          </a:prstGeom>
          <a:noFill/>
          <a:ln w="38100" cap="sq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3012" name="标题 1">
            <a:extLst>
              <a:ext uri="{FF2B5EF4-FFF2-40B4-BE49-F238E27FC236}">
                <a16:creationId xmlns:a16="http://schemas.microsoft.com/office/drawing/2014/main" id="{AA35464C-5103-422E-8AB5-5DB930AE0C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600" y="368300"/>
            <a:ext cx="8229600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0" hangingPunct="0"/>
            <a:r>
              <a:rPr lang="zh-CN" altLang="en-US" sz="3200" b="1">
                <a:solidFill>
                  <a:schemeClr val="accent2"/>
                </a:solidFill>
                <a:ea typeface="黑体" panose="02010609060101010101" pitchFamily="49" charset="-122"/>
                <a:sym typeface="Times New Roman" panose="02020603050405020304" pitchFamily="18" charset="0"/>
              </a:rPr>
              <a:t>过程调用指令</a:t>
            </a:r>
          </a:p>
        </p:txBody>
      </p:sp>
      <p:sp>
        <p:nvSpPr>
          <p:cNvPr id="43013" name="日期占位符 1">
            <a:extLst>
              <a:ext uri="{FF2B5EF4-FFF2-40B4-BE49-F238E27FC236}">
                <a16:creationId xmlns:a16="http://schemas.microsoft.com/office/drawing/2014/main" id="{42E4F1B4-42AF-4387-B493-6B5BD89D3017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E909EC40-E3BF-48BD-81D9-8DB4482352B1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8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14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标题 1">
            <a:extLst>
              <a:ext uri="{FF2B5EF4-FFF2-40B4-BE49-F238E27FC236}">
                <a16:creationId xmlns:a16="http://schemas.microsoft.com/office/drawing/2014/main" id="{F8D81728-87D1-4211-A54E-2FFF4640A9FD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17500"/>
            <a:ext cx="8229600" cy="674688"/>
          </a:xfrm>
        </p:spPr>
        <p:txBody>
          <a:bodyPr anchor="ctr"/>
          <a:lstStyle/>
          <a:p>
            <a:pPr algn="l"/>
            <a:r>
              <a:rPr lang="zh-CN" altLang="en-US" sz="2800" b="1">
                <a:solidFill>
                  <a:srgbClr val="0000FF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例</a:t>
            </a:r>
            <a:r>
              <a:rPr lang="en-US" altLang="zh-CN" sz="2800" b="1">
                <a:solidFill>
                  <a:srgbClr val="0000FF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3.84</a:t>
            </a:r>
            <a:endParaRPr lang="zh-CN" altLang="en-US" sz="4400" b="1">
              <a:solidFill>
                <a:srgbClr val="0000FF"/>
              </a:solidFill>
            </a:endParaRPr>
          </a:p>
        </p:txBody>
      </p:sp>
      <p:sp>
        <p:nvSpPr>
          <p:cNvPr id="39939" name="内容占位符 2">
            <a:extLst>
              <a:ext uri="{FF2B5EF4-FFF2-40B4-BE49-F238E27FC236}">
                <a16:creationId xmlns:a16="http://schemas.microsoft.com/office/drawing/2014/main" id="{2D236ABE-9D47-4E02-AD49-2FC9E7423F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600" y="939800"/>
            <a:ext cx="8275638" cy="5549900"/>
          </a:xfrm>
        </p:spPr>
        <p:txBody>
          <a:bodyPr/>
          <a:lstStyle/>
          <a:p>
            <a:pPr marL="1905" indent="-1905" algn="l">
              <a:lnSpc>
                <a:spcPct val="90000"/>
              </a:lnSpc>
            </a:pPr>
            <a:r>
              <a:rPr lang="zh-CN" altLang="en-US" sz="2800" noProof="1">
                <a:latin typeface="Times New Roman" panose="02020603050405020304" pitchFamily="2" charset="0"/>
              </a:rPr>
              <a:t>则执行</a:t>
            </a:r>
            <a:r>
              <a:rPr lang="en-US" altLang="x-none" sz="2800" noProof="1">
                <a:latin typeface="Times New Roman" panose="02020603050405020304" pitchFamily="2" charset="0"/>
              </a:rPr>
              <a:t>CALL</a:t>
            </a:r>
            <a:r>
              <a:rPr lang="zh-CN" altLang="en-US" sz="2800" noProof="1">
                <a:latin typeface="Times New Roman" panose="02020603050405020304" pitchFamily="2" charset="0"/>
              </a:rPr>
              <a:t>指令的过程：</a:t>
            </a:r>
            <a:endParaRPr lang="zh-CN" altLang="en-US" sz="2400" noProof="1">
              <a:latin typeface="Times New Roman" panose="02020603050405020304" pitchFamily="2" charset="0"/>
            </a:endParaRPr>
          </a:p>
          <a:p>
            <a:pPr marL="1905" indent="-1905" algn="l">
              <a:lnSpc>
                <a:spcPct val="90000"/>
              </a:lnSpc>
              <a:buFont typeface="Wingdings" panose="05000000000000000000" pitchFamily="2" charset="2"/>
              <a:buChar char="l"/>
            </a:pPr>
            <a:r>
              <a:rPr lang="zh-CN" altLang="en-US" sz="2400" noProof="1">
                <a:latin typeface="Times New Roman" panose="02020603050405020304" pitchFamily="2" charset="0"/>
                <a:sym typeface="+mn-ea"/>
              </a:rPr>
              <a:t>堆栈指针：</a:t>
            </a:r>
            <a:r>
              <a:rPr lang="zh-CN" altLang="en-US" sz="2400" noProof="1">
                <a:solidFill>
                  <a:srgbClr val="C00000"/>
                </a:solidFill>
                <a:latin typeface="Times New Roman" panose="02020603050405020304" pitchFamily="2" charset="0"/>
                <a:sym typeface="+mn-ea"/>
              </a:rPr>
              <a:t>SP←SP-2  </a:t>
            </a:r>
            <a:r>
              <a:rPr lang="zh-CN" altLang="en-US" sz="2400" noProof="1">
                <a:latin typeface="Times New Roman" panose="02020603050405020304" pitchFamily="2" charset="0"/>
                <a:sym typeface="+mn-ea"/>
              </a:rPr>
              <a:t>    ；即新的SP=0100H-2=00FEH</a:t>
            </a:r>
          </a:p>
          <a:p>
            <a:pPr marL="1905" indent="-1905" algn="l">
              <a:lnSpc>
                <a:spcPct val="90000"/>
              </a:lnSpc>
              <a:buFont typeface="Wingdings" panose="05000000000000000000" pitchFamily="2" charset="2"/>
              <a:buChar char="l"/>
            </a:pPr>
            <a:endParaRPr lang="zh-CN" altLang="en-US" sz="2400" noProof="1">
              <a:latin typeface="Times New Roman" panose="02020603050405020304" pitchFamily="2" charset="0"/>
            </a:endParaRPr>
          </a:p>
          <a:p>
            <a:pPr marL="1905" indent="-1905" algn="l">
              <a:lnSpc>
                <a:spcPct val="90000"/>
              </a:lnSpc>
              <a:buFont typeface="Wingdings" panose="05000000000000000000" pitchFamily="2" charset="2"/>
              <a:buChar char="l"/>
            </a:pPr>
            <a:r>
              <a:rPr lang="zh-CN" altLang="en-US" sz="2400" b="1" noProof="1">
                <a:solidFill>
                  <a:srgbClr val="C00000"/>
                </a:solidFill>
                <a:latin typeface="Times New Roman" panose="02020603050405020304" pitchFamily="2" charset="0"/>
                <a:sym typeface="+mn-ea"/>
              </a:rPr>
              <a:t>返回地址</a:t>
            </a:r>
            <a:r>
              <a:rPr lang="zh-CN" altLang="en-US" sz="2400" noProof="1">
                <a:latin typeface="Times New Roman" panose="02020603050405020304" pitchFamily="2" charset="0"/>
                <a:sym typeface="+mn-ea"/>
              </a:rPr>
              <a:t>的</a:t>
            </a:r>
            <a:r>
              <a:rPr lang="en-US" altLang="x-none" sz="2400" noProof="1">
                <a:latin typeface="Times New Roman" panose="02020603050405020304" pitchFamily="2" charset="0"/>
                <a:sym typeface="+mn-ea"/>
              </a:rPr>
              <a:t>IP</a:t>
            </a:r>
            <a:r>
              <a:rPr lang="zh-CN" altLang="en-US" sz="2400" noProof="1">
                <a:latin typeface="Times New Roman" panose="02020603050405020304" pitchFamily="2" charset="0"/>
                <a:sym typeface="+mn-ea"/>
              </a:rPr>
              <a:t>入栈（也称</a:t>
            </a:r>
            <a:r>
              <a:rPr lang="zh-CN" altLang="en-US" sz="2400" b="1" noProof="1">
                <a:solidFill>
                  <a:srgbClr val="C00000"/>
                </a:solidFill>
                <a:latin typeface="Times New Roman" panose="02020603050405020304" pitchFamily="2" charset="0"/>
                <a:sym typeface="+mn-ea"/>
              </a:rPr>
              <a:t>断点地址</a:t>
            </a:r>
            <a:r>
              <a:rPr lang="zh-CN" altLang="en-US" sz="2400" noProof="1">
                <a:latin typeface="Times New Roman" panose="02020603050405020304" pitchFamily="2" charset="0"/>
                <a:sym typeface="+mn-ea"/>
              </a:rPr>
              <a:t>）</a:t>
            </a:r>
            <a:endParaRPr lang="zh-CN" altLang="en-US" sz="2400" noProof="1">
              <a:latin typeface="Times New Roman" panose="02020603050405020304" pitchFamily="2" charset="0"/>
            </a:endParaRPr>
          </a:p>
          <a:p>
            <a:pPr marL="1905" indent="-344805" algn="l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	</a:t>
            </a:r>
            <a:r>
              <a:rPr lang="zh-CN" altLang="en-US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由于存放</a:t>
            </a:r>
            <a:r>
              <a:rPr lang="en-US" altLang="x-none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CALL</a:t>
            </a:r>
            <a:r>
              <a:rPr lang="zh-CN" altLang="en-US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指令的内存首地址为</a:t>
            </a:r>
            <a:r>
              <a:rPr lang="en-US" altLang="x-none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CS:IP=2000</a:t>
            </a:r>
            <a:r>
              <a:rPr lang="en-US" altLang="zh-CN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:</a:t>
            </a:r>
            <a:r>
              <a:rPr lang="en-US" altLang="x-none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1050H</a:t>
            </a:r>
            <a:r>
              <a:rPr lang="zh-CN" altLang="en-US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，该指令占</a:t>
            </a:r>
            <a:r>
              <a:rPr lang="en-US" altLang="x-none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3</a:t>
            </a:r>
            <a:r>
              <a:rPr lang="zh-CN" altLang="en-US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字节，所以返回地址为</a:t>
            </a:r>
            <a:r>
              <a:rPr lang="en-US" altLang="x-none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2000</a:t>
            </a:r>
            <a:r>
              <a:rPr lang="en-US" altLang="zh-CN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:</a:t>
            </a:r>
            <a:r>
              <a:rPr lang="en-US" altLang="x-none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1053H</a:t>
            </a:r>
            <a:r>
              <a:rPr lang="zh-CN" altLang="en-US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，即</a:t>
            </a:r>
            <a:r>
              <a:rPr lang="en-US" altLang="x-none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IP=1053H</a:t>
            </a:r>
            <a:r>
              <a:rPr lang="zh-CN" altLang="en-US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。于是</a:t>
            </a:r>
            <a:r>
              <a:rPr lang="en-US" altLang="x-none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1053H</a:t>
            </a:r>
            <a:r>
              <a:rPr lang="zh-CN" altLang="en-US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被推入堆栈。</a:t>
            </a:r>
          </a:p>
          <a:p>
            <a:pPr marL="1905" indent="-1905" algn="l">
              <a:lnSpc>
                <a:spcPct val="90000"/>
              </a:lnSpc>
              <a:buFont typeface="Wingdings" panose="05000000000000000000" pitchFamily="2" charset="2"/>
              <a:buChar char="l"/>
            </a:pPr>
            <a:endParaRPr lang="zh-CN" altLang="en-US" sz="2400" noProof="1">
              <a:latin typeface="Times New Roman" panose="02020603050405020304" pitchFamily="2" charset="0"/>
            </a:endParaRPr>
          </a:p>
          <a:p>
            <a:pPr marL="1905" indent="-1905" algn="l">
              <a:lnSpc>
                <a:spcPct val="90000"/>
              </a:lnSpc>
              <a:buFont typeface="Wingdings" panose="05000000000000000000" pitchFamily="2" charset="2"/>
              <a:buChar char="l"/>
            </a:pPr>
            <a:r>
              <a:rPr lang="zh-CN" altLang="en-US" sz="2400" noProof="1">
                <a:latin typeface="Times New Roman" panose="02020603050405020304" pitchFamily="2" charset="0"/>
              </a:rPr>
              <a:t>根据当前</a:t>
            </a:r>
            <a:r>
              <a:rPr lang="en-US" altLang="x-none" sz="2400" noProof="1">
                <a:latin typeface="Times New Roman" panose="02020603050405020304" pitchFamily="2" charset="0"/>
              </a:rPr>
              <a:t>IP</a:t>
            </a:r>
            <a:r>
              <a:rPr lang="zh-CN" altLang="en-US" sz="2400" noProof="1">
                <a:latin typeface="Times New Roman" panose="02020603050405020304" pitchFamily="2" charset="0"/>
              </a:rPr>
              <a:t>值和位移量</a:t>
            </a:r>
            <a:r>
              <a:rPr lang="en-US" altLang="x-none" sz="2400" noProof="1">
                <a:latin typeface="Times New Roman" panose="02020603050405020304" pitchFamily="2" charset="0"/>
              </a:rPr>
              <a:t>DISP</a:t>
            </a:r>
            <a:r>
              <a:rPr lang="zh-CN" altLang="en-US" sz="2400" noProof="1">
                <a:latin typeface="Times New Roman" panose="02020603050405020304" pitchFamily="2" charset="0"/>
              </a:rPr>
              <a:t>计算出新的</a:t>
            </a:r>
            <a:r>
              <a:rPr lang="en-US" altLang="x-none" sz="2400" noProof="1">
                <a:latin typeface="Times New Roman" panose="02020603050405020304" pitchFamily="2" charset="0"/>
              </a:rPr>
              <a:t>IP</a:t>
            </a:r>
            <a:r>
              <a:rPr lang="zh-CN" altLang="en-US" sz="2400" noProof="1">
                <a:latin typeface="Times New Roman" panose="02020603050405020304" pitchFamily="2" charset="0"/>
              </a:rPr>
              <a:t>值，作为子程序的</a:t>
            </a:r>
            <a:r>
              <a:rPr lang="zh-CN" altLang="en-US" sz="2400" b="1" noProof="1">
                <a:solidFill>
                  <a:srgbClr val="C00000"/>
                </a:solidFill>
                <a:latin typeface="Times New Roman" panose="02020603050405020304" pitchFamily="2" charset="0"/>
              </a:rPr>
              <a:t>入口地址</a:t>
            </a:r>
            <a:r>
              <a:rPr lang="zh-CN" altLang="en-US" sz="2400" noProof="1">
                <a:latin typeface="Times New Roman" panose="02020603050405020304" pitchFamily="2" charset="0"/>
              </a:rPr>
              <a:t>，</a:t>
            </a:r>
            <a:r>
              <a:rPr lang="zh-CN" altLang="en-US" sz="2800" noProof="1"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即</a:t>
            </a:r>
          </a:p>
          <a:p>
            <a:pPr marL="1905" indent="-344805" algn="l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800" noProof="1">
                <a:latin typeface="Times New Roman" panose="02020603050405020304" pitchFamily="2" charset="0"/>
              </a:rPr>
              <a:t>	</a:t>
            </a:r>
            <a:r>
              <a:rPr lang="en-US" altLang="x-none" sz="2600" noProof="1">
                <a:solidFill>
                  <a:srgbClr val="008000"/>
                </a:solidFill>
                <a:latin typeface="Times New Roman" panose="02020603050405020304" pitchFamily="2" charset="0"/>
              </a:rPr>
              <a:t>IP = IP+DISP = 1053H+1234H = 2287H</a:t>
            </a:r>
          </a:p>
          <a:p>
            <a:pPr marL="1905" indent="-344805" algn="l">
              <a:lnSpc>
                <a:spcPct val="90000"/>
              </a:lnSpc>
              <a:buFont typeface="Wingdings" panose="05000000000000000000" pitchFamily="2" charset="2"/>
              <a:buNone/>
            </a:pPr>
            <a:endParaRPr lang="en-US" altLang="x-none" sz="2600" noProof="1">
              <a:solidFill>
                <a:srgbClr val="008000"/>
              </a:solidFill>
              <a:latin typeface="Times New Roman" panose="02020603050405020304" pitchFamily="2" charset="0"/>
            </a:endParaRPr>
          </a:p>
          <a:p>
            <a:pPr marL="1905" indent="112395" algn="l">
              <a:lnSpc>
                <a:spcPct val="90000"/>
              </a:lnSpc>
              <a:buFont typeface="Wingdings" panose="05000000000000000000" pitchFamily="2" charset="2"/>
              <a:buChar char="l"/>
            </a:pPr>
            <a:r>
              <a:rPr lang="en-US" altLang="zh-CN" sz="2400" noProof="1">
                <a:latin typeface="Times New Roman" panose="02020603050405020304" pitchFamily="2" charset="0"/>
              </a:rPr>
              <a:t>CS:IP</a:t>
            </a:r>
            <a:r>
              <a:rPr lang="zh-CN" altLang="en-US" sz="2400" noProof="1">
                <a:latin typeface="Times New Roman" panose="02020603050405020304" pitchFamily="2" charset="0"/>
              </a:rPr>
              <a:t>变化：程序转到本代码段中偏移地址为</a:t>
            </a:r>
            <a:r>
              <a:rPr lang="en-US" altLang="x-none" sz="2400" noProof="1">
                <a:latin typeface="Times New Roman" panose="02020603050405020304" pitchFamily="2" charset="0"/>
              </a:rPr>
              <a:t>2287H</a:t>
            </a:r>
            <a:r>
              <a:rPr lang="zh-CN" altLang="en-US" sz="2400" noProof="1">
                <a:latin typeface="Times New Roman" panose="02020603050405020304" pitchFamily="2" charset="0"/>
              </a:rPr>
              <a:t>处执行</a:t>
            </a:r>
          </a:p>
          <a:p>
            <a:pPr marL="1905" indent="-1905" algn="l">
              <a:lnSpc>
                <a:spcPct val="90000"/>
              </a:lnSpc>
            </a:pPr>
            <a:endParaRPr lang="zh-CN" altLang="en-US" sz="2400" noProof="1">
              <a:latin typeface="Times New Roman" panose="02020603050405020304" pitchFamily="2" charset="0"/>
            </a:endParaRPr>
          </a:p>
        </p:txBody>
      </p:sp>
      <p:sp>
        <p:nvSpPr>
          <p:cNvPr id="44035" name="日期占位符 1">
            <a:extLst>
              <a:ext uri="{FF2B5EF4-FFF2-40B4-BE49-F238E27FC236}">
                <a16:creationId xmlns:a16="http://schemas.microsoft.com/office/drawing/2014/main" id="{CE60678C-646E-4439-BF5B-92D1BF261D9E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C950B5F8-BC69-4BB8-87F3-EB21AC15509B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ll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charRg st="59" end="1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9939">
                                            <p:txEl>
                                              <p:charRg st="59" end="14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charRg st="147" end="1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9939">
                                            <p:txEl>
                                              <p:charRg st="147" end="18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charRg st="184" end="2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9939">
                                            <p:txEl>
                                              <p:charRg st="184" end="2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charRg st="220" end="2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9939">
                                            <p:txEl>
                                              <p:charRg st="220" end="2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内容占位符 2">
            <a:extLst>
              <a:ext uri="{FF2B5EF4-FFF2-40B4-BE49-F238E27FC236}">
                <a16:creationId xmlns:a16="http://schemas.microsoft.com/office/drawing/2014/main" id="{1F1FBB3E-0F19-433A-97DD-8C75C909048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482600" y="1250950"/>
            <a:ext cx="8097838" cy="5238750"/>
          </a:xfrm>
        </p:spPr>
        <p:txBody>
          <a:bodyPr/>
          <a:lstStyle/>
          <a:p>
            <a:pPr algn="l"/>
            <a:r>
              <a:rPr lang="en-US" altLang="zh-CN" sz="2800">
                <a:latin typeface="Times New Roman" panose="02020603050405020304" pitchFamily="18" charset="0"/>
              </a:rPr>
              <a:t>RET</a:t>
            </a:r>
            <a:r>
              <a:rPr lang="zh-CN" altLang="en-US" sz="2800">
                <a:latin typeface="Times New Roman" panose="02020603050405020304" pitchFamily="18" charset="0"/>
              </a:rPr>
              <a:t>指令的寻址方式与</a:t>
            </a:r>
            <a:r>
              <a:rPr lang="en-US" altLang="zh-CN" sz="2800">
                <a:latin typeface="Times New Roman" panose="02020603050405020304" pitchFamily="18" charset="0"/>
              </a:rPr>
              <a:t>CALL</a:t>
            </a:r>
            <a:r>
              <a:rPr lang="zh-CN" altLang="en-US" sz="2800">
                <a:latin typeface="Times New Roman" panose="02020603050405020304" pitchFamily="18" charset="0"/>
              </a:rPr>
              <a:t>一样，在本例中也是段内直接调用。执行过程如下：</a:t>
            </a:r>
          </a:p>
          <a:p>
            <a:pPr algn="l"/>
            <a:endParaRPr lang="zh-CN" altLang="en-US" sz="2800">
              <a:latin typeface="Times New Roman" panose="02020603050405020304" pitchFamily="18" charset="0"/>
            </a:endParaRPr>
          </a:p>
          <a:p>
            <a:pPr algn="l"/>
            <a:r>
              <a:rPr lang="en-US" altLang="zh-CN" sz="2800">
                <a:latin typeface="Times New Roman" panose="02020603050405020304" pitchFamily="18" charset="0"/>
              </a:rPr>
              <a:t>IP←(SP</a:t>
            </a:r>
            <a:r>
              <a:rPr lang="zh-CN" altLang="en-US" sz="2800">
                <a:latin typeface="Times New Roman" panose="02020603050405020304" pitchFamily="18" charset="0"/>
              </a:rPr>
              <a:t>和</a:t>
            </a:r>
            <a:r>
              <a:rPr lang="en-US" altLang="zh-CN" sz="2800">
                <a:latin typeface="Times New Roman" panose="02020603050405020304" pitchFamily="18" charset="0"/>
              </a:rPr>
              <a:t>SP+1)</a:t>
            </a:r>
            <a:r>
              <a:rPr lang="zh-CN" altLang="en-US" sz="2800">
                <a:latin typeface="Times New Roman" panose="02020603050405020304" pitchFamily="18" charset="0"/>
              </a:rPr>
              <a:t>单元内容</a:t>
            </a:r>
          </a:p>
          <a:p>
            <a:pPr algn="l"/>
            <a:r>
              <a:rPr lang="zh-CN" altLang="en-US" sz="2800">
                <a:solidFill>
                  <a:srgbClr val="FFFF99"/>
                </a:solidFill>
                <a:latin typeface="Times New Roman" panose="02020603050405020304" pitchFamily="18" charset="0"/>
                <a:ea typeface="楷体_GB2312" pitchFamily="1" charset="-122"/>
              </a:rPr>
              <a:t>    </a:t>
            </a: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 即返址</a:t>
            </a:r>
            <a:r>
              <a:rPr lang="en-US" altLang="zh-CN"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IP=1053H</a:t>
            </a: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从栈中弹出</a:t>
            </a:r>
          </a:p>
          <a:p>
            <a:pPr algn="l">
              <a:buFont typeface="Wingdings 3" panose="05040102010807070707" pitchFamily="18" charset="2"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SP←SP+2</a:t>
            </a:r>
            <a:endParaRPr lang="zh-CN" altLang="en-US" sz="2800">
              <a:latin typeface="Times New Roman" panose="02020603050405020304" pitchFamily="18" charset="0"/>
            </a:endParaRPr>
          </a:p>
          <a:p>
            <a:pPr algn="l"/>
            <a:r>
              <a:rPr lang="en-US" altLang="zh-CN" sz="2800">
                <a:solidFill>
                  <a:srgbClr val="FFFF99"/>
                </a:solidFill>
                <a:latin typeface="Times New Roman" panose="02020603050405020304" pitchFamily="18" charset="0"/>
                <a:ea typeface="楷体_GB2312" pitchFamily="1" charset="-122"/>
              </a:rPr>
              <a:t>  </a:t>
            </a:r>
            <a:r>
              <a:rPr lang="en-US" altLang="zh-CN"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   SP=00FEH+2=0100H</a:t>
            </a:r>
            <a:r>
              <a:rPr lang="zh-CN" altLang="en-US"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，即恢复原</a:t>
            </a:r>
            <a:r>
              <a:rPr lang="en-US" altLang="zh-CN" sz="28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SP</a:t>
            </a:r>
            <a:endParaRPr lang="zh-CN" altLang="en-US" sz="2800">
              <a:solidFill>
                <a:srgbClr val="0000FF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endParaRPr lang="zh-CN" altLang="en-US" sz="2800">
              <a:latin typeface="Times New Roman" panose="02020603050405020304" pitchFamily="18" charset="0"/>
            </a:endParaRPr>
          </a:p>
          <a:p>
            <a:pPr algn="l"/>
            <a:r>
              <a:rPr lang="zh-CN" altLang="en-US" sz="2800">
                <a:latin typeface="Times New Roman" panose="02020603050405020304" pitchFamily="18" charset="0"/>
              </a:rPr>
              <a:t>结果，返回</a:t>
            </a:r>
            <a:r>
              <a:rPr lang="en-US" altLang="zh-CN" sz="2800">
                <a:latin typeface="Times New Roman" panose="02020603050405020304" pitchFamily="18" charset="0"/>
              </a:rPr>
              <a:t>CALL</a:t>
            </a:r>
            <a:r>
              <a:rPr lang="zh-CN" altLang="en-US" sz="2800">
                <a:latin typeface="Times New Roman" panose="02020603050405020304" pitchFamily="18" charset="0"/>
              </a:rPr>
              <a:t>下面的那条指令，即从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2000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1053</a:t>
            </a:r>
            <a:r>
              <a:rPr lang="zh-CN" altLang="en-US" sz="2800">
                <a:latin typeface="Times New Roman" panose="02020603050405020304" pitchFamily="18" charset="0"/>
              </a:rPr>
              <a:t>处继续执行程序，如图</a:t>
            </a:r>
            <a:r>
              <a:rPr lang="en-US" altLang="zh-CN" sz="2800">
                <a:latin typeface="Times New Roman" panose="02020603050405020304" pitchFamily="18" charset="0"/>
              </a:rPr>
              <a:t>3.21(b)</a:t>
            </a:r>
            <a:r>
              <a:rPr lang="zh-CN" altLang="en-US" sz="2800">
                <a:latin typeface="Times New Roman" panose="02020603050405020304" pitchFamily="18" charset="0"/>
              </a:rPr>
              <a:t>。</a:t>
            </a:r>
          </a:p>
          <a:p>
            <a:pPr algn="l"/>
            <a:endParaRPr lang="zh-CN" altLang="en-US" sz="3200"/>
          </a:p>
        </p:txBody>
      </p:sp>
      <p:sp>
        <p:nvSpPr>
          <p:cNvPr id="45058" name="标题 1">
            <a:extLst>
              <a:ext uri="{FF2B5EF4-FFF2-40B4-BE49-F238E27FC236}">
                <a16:creationId xmlns:a16="http://schemas.microsoft.com/office/drawing/2014/main" id="{55949917-EBEF-4A66-906D-95443C913D9C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zh-CN" altLang="en-US" sz="3600" b="1">
                <a:solidFill>
                  <a:schemeClr val="accent2"/>
                </a:solidFill>
              </a:rPr>
              <a:t>过程调用指令的返回（</a:t>
            </a:r>
            <a:r>
              <a:rPr lang="en-US" altLang="zh-CN" sz="3600" b="1">
                <a:solidFill>
                  <a:srgbClr val="C00000"/>
                </a:solidFill>
              </a:rPr>
              <a:t>RET</a:t>
            </a:r>
            <a:r>
              <a:rPr lang="zh-CN" altLang="en-US" sz="3600" b="1">
                <a:solidFill>
                  <a:schemeClr val="accent2"/>
                </a:solidFill>
              </a:rPr>
              <a:t>）</a:t>
            </a:r>
          </a:p>
        </p:txBody>
      </p:sp>
      <p:sp>
        <p:nvSpPr>
          <p:cNvPr id="45059" name="日期占位符 1">
            <a:extLst>
              <a:ext uri="{FF2B5EF4-FFF2-40B4-BE49-F238E27FC236}">
                <a16:creationId xmlns:a16="http://schemas.microsoft.com/office/drawing/2014/main" id="{919EA993-9E64-4FBC-A29B-43E751A902CE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1A6A7C2A-7196-454E-86C7-77C9F0365534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09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096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096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096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09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09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内容占位符 2">
            <a:extLst>
              <a:ext uri="{FF2B5EF4-FFF2-40B4-BE49-F238E27FC236}">
                <a16:creationId xmlns:a16="http://schemas.microsoft.com/office/drawing/2014/main" id="{BC5FAFA1-37B5-47E9-845B-1C4A1001112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93700" y="539750"/>
            <a:ext cx="8372475" cy="647700"/>
          </a:xfrm>
        </p:spPr>
        <p:txBody>
          <a:bodyPr/>
          <a:lstStyle/>
          <a:p>
            <a:r>
              <a:rPr lang="zh-CN" altLang="en-US"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1" charset="-122"/>
              </a:rPr>
              <a:t>指令</a:t>
            </a:r>
            <a:r>
              <a:rPr lang="en-US" altLang="zh-CN"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1" charset="-122"/>
              </a:rPr>
              <a:t>CALL   PROG_N</a:t>
            </a:r>
            <a:r>
              <a:rPr lang="zh-CN" altLang="en-US"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1" charset="-122"/>
              </a:rPr>
              <a:t>的执行过程如图</a:t>
            </a:r>
            <a:r>
              <a:rPr lang="en-US" altLang="zh-CN"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1" charset="-122"/>
              </a:rPr>
              <a:t>3.21(a) </a:t>
            </a:r>
            <a:r>
              <a:rPr lang="zh-CN" altLang="en-US" sz="3200" b="1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1" charset="-122"/>
              </a:rPr>
              <a:t></a:t>
            </a:r>
            <a:endParaRPr lang="zh-CN" altLang="en-US" sz="3200" b="1">
              <a:solidFill>
                <a:schemeClr val="accent2"/>
              </a:solidFill>
            </a:endParaRPr>
          </a:p>
        </p:txBody>
      </p:sp>
      <p:pic>
        <p:nvPicPr>
          <p:cNvPr id="46082" name="Picture 2">
            <a:extLst>
              <a:ext uri="{FF2B5EF4-FFF2-40B4-BE49-F238E27FC236}">
                <a16:creationId xmlns:a16="http://schemas.microsoft.com/office/drawing/2014/main" id="{95FC3239-3BB3-437A-BB57-6EDA2AB1F2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63" y="1117600"/>
            <a:ext cx="8694737" cy="5384800"/>
          </a:xfrm>
          <a:prstGeom prst="rect">
            <a:avLst/>
          </a:prstGeom>
          <a:noFill/>
          <a:ln w="38100" cap="sq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083" name="日期占位符 1">
            <a:extLst>
              <a:ext uri="{FF2B5EF4-FFF2-40B4-BE49-F238E27FC236}">
                <a16:creationId xmlns:a16="http://schemas.microsoft.com/office/drawing/2014/main" id="{D2F7D918-CC77-4E05-B715-93B74DBDF887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1C84F072-EEF9-4267-AC67-C777BE5F08FF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zoom dir="in"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内容占位符 2">
            <a:extLst>
              <a:ext uri="{FF2B5EF4-FFF2-40B4-BE49-F238E27FC236}">
                <a16:creationId xmlns:a16="http://schemas.microsoft.com/office/drawing/2014/main" id="{51BC460E-28AB-4B1F-9BEA-B3693E5748C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457200" y="1042988"/>
            <a:ext cx="8372475" cy="5461000"/>
          </a:xfrm>
        </p:spPr>
        <p:txBody>
          <a:bodyPr/>
          <a:lstStyle/>
          <a:p>
            <a:pPr algn="l"/>
            <a:r>
              <a:rPr lang="zh-CN" altLang="en-US" sz="2800" b="1" dirty="0">
                <a:solidFill>
                  <a:srgbClr val="CC3300"/>
                </a:solidFill>
              </a:rPr>
              <a:t>（</a:t>
            </a:r>
            <a:r>
              <a:rPr lang="en-US" altLang="zh-CN" sz="2800" b="1" dirty="0">
                <a:solidFill>
                  <a:srgbClr val="CC3300"/>
                </a:solidFill>
              </a:rPr>
              <a:t>2</a:t>
            </a:r>
            <a:r>
              <a:rPr lang="zh-CN" altLang="en-US" sz="2800" b="1" dirty="0">
                <a:solidFill>
                  <a:srgbClr val="CC3300"/>
                </a:solidFill>
              </a:rPr>
              <a:t>）段内间接调用和返回</a:t>
            </a:r>
          </a:p>
          <a:p>
            <a:pPr algn="l"/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例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3.85  </a:t>
            </a:r>
            <a:r>
              <a:rPr lang="zh-CN" altLang="en-US" sz="2800" dirty="0"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下面是两条段内间接调用指令的例子，返址在寄存器或内存中。</a:t>
            </a:r>
          </a:p>
          <a:p>
            <a:pPr algn="l"/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	CALL   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BX</a:t>
            </a:r>
          </a:p>
          <a:p>
            <a:pPr algn="l"/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	CALL    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WORD  PTR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［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BX+SI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］</a:t>
            </a:r>
          </a:p>
          <a:p>
            <a:pPr algn="l"/>
            <a:r>
              <a:rPr lang="zh-CN" altLang="en-US" sz="2800" dirty="0">
                <a:latin typeface="Times New Roman" panose="02020603050405020304" pitchFamily="18" charset="0"/>
              </a:rPr>
              <a:t>它们执行的操作分三步，前两步与直接调用相同，第三步不同，具体为：</a:t>
            </a:r>
          </a:p>
          <a:p>
            <a:pPr algn="l"/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    </a:t>
            </a:r>
            <a:r>
              <a:rPr lang="en-US" altLang="zh-CN" sz="28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SP←SP-2  </a:t>
            </a:r>
            <a:endParaRPr lang="zh-CN" altLang="en-US" sz="2800" dirty="0">
              <a:solidFill>
                <a:srgbClr val="008000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r>
              <a:rPr lang="en-US" altLang="zh-CN" sz="28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    IP</a:t>
            </a:r>
            <a:r>
              <a:rPr lang="zh-CN" altLang="en-US" sz="28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入栈</a:t>
            </a:r>
          </a:p>
          <a:p>
            <a:pPr algn="l"/>
            <a:r>
              <a:rPr lang="en-US" altLang="zh-CN" sz="28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    IP←EA</a:t>
            </a:r>
            <a:r>
              <a:rPr lang="zh-CN" altLang="en-US" sz="28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zh-CN" altLang="en-US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计算出目的地址的有效地址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EA</a:t>
            </a:r>
            <a:r>
              <a:rPr lang="zh-CN" altLang="en-US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，送入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IP</a:t>
            </a:r>
            <a:r>
              <a:rPr lang="zh-CN" altLang="en-US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，以此转移</a:t>
            </a:r>
          </a:p>
          <a:p>
            <a:pPr algn="l"/>
            <a:endParaRPr lang="zh-CN" altLang="en-US" sz="2800" dirty="0">
              <a:solidFill>
                <a:srgbClr val="008000"/>
              </a:solidFill>
              <a:latin typeface="Times New Roman" panose="02020603050405020304" pitchFamily="18" charset="0"/>
              <a:ea typeface="楷体_GB2312" pitchFamily="1" charset="-122"/>
            </a:endParaRPr>
          </a:p>
        </p:txBody>
      </p:sp>
      <p:sp>
        <p:nvSpPr>
          <p:cNvPr id="47106" name="标题 1">
            <a:extLst>
              <a:ext uri="{FF2B5EF4-FFF2-40B4-BE49-F238E27FC236}">
                <a16:creationId xmlns:a16="http://schemas.microsoft.com/office/drawing/2014/main" id="{D57DCDB9-8FD7-4A99-BD5D-36CB79C5189F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zh-CN" altLang="en-US" sz="4400" b="1">
                <a:solidFill>
                  <a:schemeClr val="accent2"/>
                </a:solidFill>
              </a:rPr>
              <a:t>过程调用指令</a:t>
            </a:r>
          </a:p>
        </p:txBody>
      </p:sp>
      <p:sp>
        <p:nvSpPr>
          <p:cNvPr id="47107" name="日期占位符 1">
            <a:extLst>
              <a:ext uri="{FF2B5EF4-FFF2-40B4-BE49-F238E27FC236}">
                <a16:creationId xmlns:a16="http://schemas.microsoft.com/office/drawing/2014/main" id="{B4031F1C-C687-4754-9FB5-6492B78A93D9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88AD36D7-227F-4257-8F76-ACC7BAD01F7B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30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30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430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30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430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430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30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内容占位符 2">
            <a:extLst>
              <a:ext uri="{FF2B5EF4-FFF2-40B4-BE49-F238E27FC236}">
                <a16:creationId xmlns:a16="http://schemas.microsoft.com/office/drawing/2014/main" id="{6460F784-6868-4D05-B13F-34E079FE5D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763" y="1117600"/>
            <a:ext cx="8372475" cy="5505450"/>
          </a:xfrm>
        </p:spPr>
        <p:txBody>
          <a:bodyPr/>
          <a:lstStyle/>
          <a:p>
            <a:pPr algn="l"/>
            <a:r>
              <a:rPr lang="zh-CN" altLang="en-US" sz="2600" noProof="1">
                <a:latin typeface="Times New Roman" panose="02020603050405020304" pitchFamily="2" charset="0"/>
                <a:ea typeface="楷体_GB2312" pitchFamily="1" charset="-122"/>
              </a:rPr>
              <a:t>设：</a:t>
            </a:r>
            <a:r>
              <a:rPr lang="en-US" altLang="x-none" sz="2600" noProof="1">
                <a:latin typeface="Times New Roman" panose="02020603050405020304" pitchFamily="2" charset="0"/>
                <a:ea typeface="楷体_GB2312" pitchFamily="1" charset="-122"/>
              </a:rPr>
              <a:t>DS=1000H,  </a:t>
            </a:r>
            <a:r>
              <a:rPr lang="en-US" altLang="x-none" sz="2600" b="1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BX=200H</a:t>
            </a:r>
            <a:r>
              <a:rPr lang="en-US" altLang="x-none" sz="2600" noProof="1">
                <a:latin typeface="Times New Roman" panose="02020603050405020304" pitchFamily="2" charset="0"/>
                <a:ea typeface="楷体_GB2312" pitchFamily="1" charset="-122"/>
              </a:rPr>
              <a:t>, SI=300H,  (10500H)=3210H</a:t>
            </a:r>
            <a:endParaRPr lang="zh-CN" altLang="en-US" sz="2600" noProof="1">
              <a:latin typeface="Times New Roman" panose="02020603050405020304" pitchFamily="2" charset="0"/>
              <a:ea typeface="楷体_GB2312" pitchFamily="1" charset="-122"/>
            </a:endParaRPr>
          </a:p>
          <a:p>
            <a:pPr algn="l"/>
            <a:r>
              <a:rPr lang="en-US" altLang="x-none" sz="2600" b="1" noProof="1">
                <a:solidFill>
                  <a:srgbClr val="C00000"/>
                </a:solidFill>
                <a:latin typeface="Times New Roman" panose="02020603050405020304" pitchFamily="2" charset="0"/>
              </a:rPr>
              <a:t>   CALL   </a:t>
            </a:r>
            <a:r>
              <a:rPr lang="en-US" altLang="x-none" sz="2600" b="1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2" charset="0"/>
              </a:rPr>
              <a:t>BX</a:t>
            </a:r>
          </a:p>
          <a:p>
            <a:pPr algn="l"/>
            <a:r>
              <a:rPr lang="zh-CN" altLang="en-US" sz="2600" noProof="1">
                <a:latin typeface="Times New Roman" panose="02020603050405020304" pitchFamily="2" charset="0"/>
                <a:ea typeface="楷体_GB2312" pitchFamily="1" charset="-122"/>
              </a:rPr>
              <a:t>      </a:t>
            </a:r>
            <a:r>
              <a:rPr lang="zh-CN" altLang="en-US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转移地址在</a:t>
            </a:r>
            <a:r>
              <a:rPr lang="en-US" altLang="x-none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BX</a:t>
            </a:r>
            <a:r>
              <a:rPr lang="zh-CN" altLang="en-US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中，此调用指令执行后，</a:t>
            </a:r>
            <a:r>
              <a:rPr lang="en-US" altLang="x-none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IP←0200H</a:t>
            </a:r>
            <a:r>
              <a:rPr lang="zh-CN" altLang="en-US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，转到段内偏移地址为</a:t>
            </a:r>
            <a:r>
              <a:rPr lang="en-US" altLang="x-none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0200H</a:t>
            </a:r>
            <a:r>
              <a:rPr lang="zh-CN" altLang="en-US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处执行。</a:t>
            </a:r>
          </a:p>
          <a:p>
            <a:pPr algn="l"/>
            <a:r>
              <a:rPr lang="en-US" altLang="x-none" sz="2600" noProof="1">
                <a:latin typeface="Times New Roman" panose="02020603050405020304" pitchFamily="2" charset="0"/>
              </a:rPr>
              <a:t>   </a:t>
            </a:r>
            <a:r>
              <a:rPr lang="en-US" altLang="x-none" sz="2600" b="1" noProof="1">
                <a:solidFill>
                  <a:srgbClr val="C00000"/>
                </a:solidFill>
                <a:latin typeface="Times New Roman" panose="02020603050405020304" pitchFamily="2" charset="0"/>
              </a:rPr>
              <a:t>CALL   </a:t>
            </a:r>
            <a:r>
              <a:rPr lang="en-US" altLang="x-none" sz="26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WORD  PTR</a:t>
            </a:r>
            <a:r>
              <a:rPr lang="zh-CN" altLang="en-US" sz="26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［</a:t>
            </a:r>
            <a:r>
              <a:rPr lang="en-US" altLang="x-none" sz="26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BX+SI</a:t>
            </a:r>
            <a:r>
              <a:rPr lang="zh-CN" altLang="en-US" sz="26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］</a:t>
            </a:r>
          </a:p>
          <a:p>
            <a:pPr algn="l"/>
            <a:r>
              <a:rPr lang="en-US" altLang="x-none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      </a:t>
            </a:r>
            <a:r>
              <a:rPr lang="zh-CN" altLang="en-US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子程序入口地址在内存字单元中，其值为 </a:t>
            </a:r>
            <a:r>
              <a:rPr lang="en-US" altLang="x-none" sz="2600" noProof="1">
                <a:solidFill>
                  <a:srgbClr val="008000"/>
                </a:solidFill>
                <a:latin typeface="Times New Roman" panose="02020603050405020304" pitchFamily="2" charset="0"/>
              </a:rPr>
              <a:t>(16×DS+BX+SI) = (10000H+0200H+0300H)</a:t>
            </a:r>
            <a:endParaRPr lang="zh-CN" altLang="en-US" sz="2600" noProof="1">
              <a:solidFill>
                <a:srgbClr val="008000"/>
              </a:solidFill>
              <a:latin typeface="Times New Roman" panose="02020603050405020304" pitchFamily="2" charset="0"/>
            </a:endParaRPr>
          </a:p>
          <a:p>
            <a:pPr algn="l"/>
            <a:r>
              <a:rPr lang="en-US" altLang="x-none" sz="2600" noProof="1">
                <a:solidFill>
                  <a:srgbClr val="008000"/>
                </a:solidFill>
                <a:latin typeface="Times New Roman" panose="02020603050405020304" pitchFamily="2" charset="0"/>
              </a:rPr>
              <a:t>          = (10500H) = 3210H</a:t>
            </a:r>
            <a:r>
              <a:rPr lang="zh-CN" altLang="en-US" sz="2600" noProof="1">
                <a:solidFill>
                  <a:srgbClr val="008000"/>
                </a:solidFill>
                <a:latin typeface="Times New Roman" panose="02020603050405020304" pitchFamily="2" charset="0"/>
              </a:rPr>
              <a:t>， </a:t>
            </a:r>
            <a:r>
              <a:rPr lang="zh-CN" altLang="en-US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即</a:t>
            </a:r>
            <a:r>
              <a:rPr lang="en-US" altLang="x-none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EA=3210H</a:t>
            </a:r>
            <a:endParaRPr lang="zh-CN" altLang="en-US" sz="2600" noProof="1">
              <a:solidFill>
                <a:srgbClr val="008000"/>
              </a:solidFill>
              <a:latin typeface="Times New Roman" panose="02020603050405020304" pitchFamily="2" charset="0"/>
              <a:ea typeface="楷体_GB2312" pitchFamily="1" charset="-122"/>
            </a:endParaRPr>
          </a:p>
          <a:p>
            <a:pPr algn="l"/>
            <a:r>
              <a:rPr lang="zh-CN" altLang="en-US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      此指令执行后，</a:t>
            </a:r>
            <a:r>
              <a:rPr lang="en-US" altLang="x-none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IP←3210H</a:t>
            </a:r>
            <a:r>
              <a:rPr lang="zh-CN" altLang="en-US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，转到段内偏移地址为</a:t>
            </a:r>
            <a:r>
              <a:rPr lang="en-US" altLang="x-none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3210H </a:t>
            </a:r>
            <a:r>
              <a:rPr lang="zh-CN" altLang="en-US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处执行</a:t>
            </a:r>
          </a:p>
          <a:p>
            <a:pPr algn="l"/>
            <a:r>
              <a:rPr lang="zh-CN" altLang="en-US" sz="2600" noProof="1">
                <a:latin typeface="Times New Roman" panose="02020603050405020304" pitchFamily="2" charset="0"/>
              </a:rPr>
              <a:t>对应的</a:t>
            </a:r>
            <a:r>
              <a:rPr lang="en-US" altLang="x-none" sz="2600" noProof="1">
                <a:latin typeface="Times New Roman" panose="02020603050405020304" pitchFamily="2" charset="0"/>
              </a:rPr>
              <a:t>RET</a:t>
            </a:r>
            <a:r>
              <a:rPr lang="zh-CN" altLang="en-US" sz="2600" noProof="1">
                <a:latin typeface="Times New Roman" panose="02020603050405020304" pitchFamily="2" charset="0"/>
              </a:rPr>
              <a:t>指令执行的操作与段内直接过程的返回指令类似</a:t>
            </a:r>
            <a:endParaRPr lang="zh-CN" altLang="en-US" sz="2600" noProof="1"/>
          </a:p>
        </p:txBody>
      </p:sp>
      <p:sp>
        <p:nvSpPr>
          <p:cNvPr id="49154" name="标题 1">
            <a:extLst>
              <a:ext uri="{FF2B5EF4-FFF2-40B4-BE49-F238E27FC236}">
                <a16:creationId xmlns:a16="http://schemas.microsoft.com/office/drawing/2014/main" id="{30513051-3DC0-4824-9E6D-28AEE9972EB5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zh-CN" altLang="en-US" sz="4400" b="1">
                <a:solidFill>
                  <a:schemeClr val="accent2"/>
                </a:solidFill>
              </a:rPr>
              <a:t>过程调用指令（间接调用）</a:t>
            </a:r>
          </a:p>
        </p:txBody>
      </p:sp>
      <p:sp>
        <p:nvSpPr>
          <p:cNvPr id="49155" name="日期占位符 1">
            <a:extLst>
              <a:ext uri="{FF2B5EF4-FFF2-40B4-BE49-F238E27FC236}">
                <a16:creationId xmlns:a16="http://schemas.microsoft.com/office/drawing/2014/main" id="{40E2DDC7-0BF0-40AB-ABD1-122470DFC7EC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B1F709F7-21AC-442B-B97D-457720F081F8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charRg st="47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5058">
                                            <p:txEl>
                                              <p:charRg st="47" end="5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charRg st="55" end="1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5058">
                                            <p:txEl>
                                              <p:charRg st="55" end="10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charRg st="107" end="1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5058">
                                            <p:txEl>
                                              <p:charRg st="107" end="1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charRg st="131" end="1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5058">
                                            <p:txEl>
                                              <p:charRg st="131" end="19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charRg st="193" end="2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5058">
                                            <p:txEl>
                                              <p:charRg st="193" end="2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charRg st="233" end="2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45058">
                                            <p:txEl>
                                              <p:charRg st="233" end="27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8">
                                            <p:txEl>
                                              <p:charRg st="274" end="3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5058">
                                            <p:txEl>
                                              <p:charRg st="274" end="30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标题 1">
            <a:extLst>
              <a:ext uri="{FF2B5EF4-FFF2-40B4-BE49-F238E27FC236}">
                <a16:creationId xmlns:a16="http://schemas.microsoft.com/office/drawing/2014/main" id="{862FCB8E-921D-40E5-BAEE-1A0B2F6B6891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38150" y="939800"/>
            <a:ext cx="8229600" cy="2000250"/>
          </a:xfrm>
        </p:spPr>
        <p:txBody>
          <a:bodyPr anchor="ctr"/>
          <a:lstStyle/>
          <a:p>
            <a:pPr algn="l">
              <a:lnSpc>
                <a:spcPct val="130000"/>
              </a:lnSpc>
              <a:spcBef>
                <a:spcPts val="1200"/>
              </a:spcBef>
            </a:pPr>
            <a:r>
              <a:rPr lang="zh-CN" altLang="en-US" sz="2400" b="1">
                <a:solidFill>
                  <a:srgbClr val="CC3300"/>
                </a:solidFill>
              </a:rPr>
              <a:t>（</a:t>
            </a:r>
            <a:r>
              <a:rPr lang="en-US" altLang="zh-CN" sz="2400" b="1">
                <a:solidFill>
                  <a:srgbClr val="CC3300"/>
                </a:solidFill>
              </a:rPr>
              <a:t>3</a:t>
            </a:r>
            <a:r>
              <a:rPr lang="zh-CN" altLang="en-US" sz="2400" b="1">
                <a:solidFill>
                  <a:srgbClr val="CC3300"/>
                </a:solidFill>
              </a:rPr>
              <a:t>） 段间直接调用</a:t>
            </a:r>
            <a:br>
              <a:rPr lang="zh-CN" altLang="en-US" sz="2000"/>
            </a:br>
            <a:r>
              <a:rPr lang="zh-CN" altLang="en-US" sz="2200" b="1">
                <a:solidFill>
                  <a:srgbClr val="0000FF"/>
                </a:solidFill>
              </a:rPr>
              <a:t>例</a:t>
            </a:r>
            <a:r>
              <a:rPr lang="en-US" altLang="zh-CN" sz="2200" b="1">
                <a:solidFill>
                  <a:srgbClr val="0000FF"/>
                </a:solidFill>
              </a:rPr>
              <a:t>3.86</a:t>
            </a:r>
            <a:br>
              <a:rPr lang="zh-CN" altLang="en-US" sz="2200"/>
            </a:br>
            <a:r>
              <a:rPr lang="en-US" altLang="zh-CN" sz="2200" b="1">
                <a:solidFill>
                  <a:srgbClr val="C00000"/>
                </a:solidFill>
              </a:rPr>
              <a:t>CALL</a:t>
            </a:r>
            <a:r>
              <a:rPr lang="en-US" altLang="zh-CN" sz="2200" b="1">
                <a:solidFill>
                  <a:srgbClr val="008000"/>
                </a:solidFill>
              </a:rPr>
              <a:t>   </a:t>
            </a:r>
            <a:r>
              <a:rPr lang="en-US" altLang="zh-CN" sz="2200" b="1">
                <a:solidFill>
                  <a:srgbClr val="0000FF"/>
                </a:solidFill>
              </a:rPr>
              <a:t>FAR  PTR  PROG_F</a:t>
            </a:r>
            <a:r>
              <a:rPr lang="en-US" altLang="zh-CN" sz="2200" b="1">
                <a:solidFill>
                  <a:srgbClr val="008000"/>
                </a:solidFill>
              </a:rPr>
              <a:t>   </a:t>
            </a:r>
            <a:r>
              <a:rPr lang="zh-CN" altLang="en-US" sz="2200" b="1">
                <a:solidFill>
                  <a:srgbClr val="008000"/>
                </a:solidFill>
              </a:rPr>
              <a:t>；</a:t>
            </a:r>
            <a:r>
              <a:rPr lang="en-US" altLang="zh-CN" sz="2200">
                <a:solidFill>
                  <a:schemeClr val="tx1"/>
                </a:solidFill>
              </a:rPr>
              <a:t>PROG_F</a:t>
            </a:r>
            <a:r>
              <a:rPr lang="zh-CN" altLang="en-US" sz="2200">
                <a:solidFill>
                  <a:schemeClr val="tx1"/>
                </a:solidFill>
              </a:rPr>
              <a:t>是一个远标号</a:t>
            </a:r>
            <a:br>
              <a:rPr lang="zh-CN" altLang="en-US" sz="2200">
                <a:solidFill>
                  <a:schemeClr val="tx1"/>
                </a:solidFill>
              </a:rPr>
            </a:br>
            <a:r>
              <a:rPr lang="zh-CN" altLang="en-US" sz="2200">
                <a:solidFill>
                  <a:schemeClr val="tx1"/>
                </a:solidFill>
              </a:rPr>
              <a:t>该指令含</a:t>
            </a:r>
            <a:r>
              <a:rPr lang="en-US" altLang="zh-CN" sz="2200">
                <a:solidFill>
                  <a:schemeClr val="tx1"/>
                </a:solidFill>
              </a:rPr>
              <a:t>5</a:t>
            </a:r>
            <a:r>
              <a:rPr lang="zh-CN" altLang="en-US" sz="2200">
                <a:solidFill>
                  <a:schemeClr val="tx1"/>
                </a:solidFill>
              </a:rPr>
              <a:t>个字节，编码格式为：</a:t>
            </a:r>
          </a:p>
        </p:txBody>
      </p:sp>
      <p:sp>
        <p:nvSpPr>
          <p:cNvPr id="46083" name="内容占位符 2">
            <a:extLst>
              <a:ext uri="{FF2B5EF4-FFF2-40B4-BE49-F238E27FC236}">
                <a16:creationId xmlns:a16="http://schemas.microsoft.com/office/drawing/2014/main" id="{6472F353-60C6-422C-B4F2-A7CCEEF8F6B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4051300"/>
            <a:ext cx="8374062" cy="2489200"/>
          </a:xfrm>
        </p:spPr>
        <p:txBody>
          <a:bodyPr/>
          <a:lstStyle/>
          <a:p>
            <a:pPr algn="l"/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设调用前：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CS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：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IP=1000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：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205AH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SS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：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SP=2500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：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0050H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，标号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PROG-F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所在单元的地址指针</a:t>
            </a:r>
          </a:p>
          <a:p>
            <a:pPr algn="l"/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       CS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：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IP=3000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：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0500H</a:t>
            </a:r>
          </a:p>
          <a:p>
            <a:pPr algn="l"/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存放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CALL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指令的内存首址为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1000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：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205AH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，由于该指令长度为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5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个字节，所以返回地址应为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1000</a:t>
            </a:r>
            <a:r>
              <a:rPr lang="zh-CN" altLang="en-US" sz="2600">
                <a:latin typeface="Times New Roman" panose="02020603050405020304" pitchFamily="18" charset="0"/>
                <a:ea typeface="楷体_GB2312" pitchFamily="1" charset="-122"/>
              </a:rPr>
              <a:t>：</a:t>
            </a:r>
            <a:r>
              <a:rPr lang="en-US" altLang="zh-CN" sz="2600">
                <a:latin typeface="Times New Roman" panose="02020603050405020304" pitchFamily="18" charset="0"/>
                <a:ea typeface="楷体_GB2312" pitchFamily="1" charset="-122"/>
              </a:rPr>
              <a:t>205FH</a:t>
            </a:r>
          </a:p>
        </p:txBody>
      </p:sp>
      <p:pic>
        <p:nvPicPr>
          <p:cNvPr id="46084" name="Picture 2">
            <a:extLst>
              <a:ext uri="{FF2B5EF4-FFF2-40B4-BE49-F238E27FC236}">
                <a16:creationId xmlns:a16="http://schemas.microsoft.com/office/drawing/2014/main" id="{90F1277A-C16E-4E95-B1C9-E16C74281A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0" y="3162300"/>
            <a:ext cx="8299450" cy="727075"/>
          </a:xfrm>
          <a:prstGeom prst="rect">
            <a:avLst/>
          </a:prstGeom>
          <a:noFill/>
          <a:ln w="38100" cap="sq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180" name="标题 1">
            <a:extLst>
              <a:ext uri="{FF2B5EF4-FFF2-40B4-BE49-F238E27FC236}">
                <a16:creationId xmlns:a16="http://schemas.microsoft.com/office/drawing/2014/main" id="{06E6AE5C-021A-4C00-8449-6A5E15A8B4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2600" y="368300"/>
            <a:ext cx="8229600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eaLnBrk="0" hangingPunct="0"/>
            <a:r>
              <a:rPr lang="zh-CN" altLang="en-US" sz="3200" b="1">
                <a:solidFill>
                  <a:schemeClr val="accent2"/>
                </a:solidFill>
                <a:ea typeface="黑体" panose="02010609060101010101" pitchFamily="49" charset="-122"/>
                <a:sym typeface="Times New Roman" panose="02020603050405020304" pitchFamily="18" charset="0"/>
              </a:rPr>
              <a:t>过程调用指令</a:t>
            </a:r>
          </a:p>
        </p:txBody>
      </p:sp>
      <p:sp>
        <p:nvSpPr>
          <p:cNvPr id="50181" name="日期占位符 1">
            <a:extLst>
              <a:ext uri="{FF2B5EF4-FFF2-40B4-BE49-F238E27FC236}">
                <a16:creationId xmlns:a16="http://schemas.microsoft.com/office/drawing/2014/main" id="{28701B20-80D4-45AF-8F50-5F7601AD4A2D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30A61A5A-23C4-4D11-B4D9-2CBA9406C884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6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6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60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60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2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内容占位符 2">
            <a:extLst>
              <a:ext uri="{FF2B5EF4-FFF2-40B4-BE49-F238E27FC236}">
                <a16:creationId xmlns:a16="http://schemas.microsoft.com/office/drawing/2014/main" id="{81C2557C-75B7-479B-86C6-74E3D00FF678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1314450"/>
            <a:ext cx="8372475" cy="5175250"/>
          </a:xfrm>
        </p:spPr>
        <p:txBody>
          <a:bodyPr/>
          <a:lstStyle/>
          <a:p>
            <a:pPr algn="l"/>
            <a:r>
              <a:rPr lang="zh-CN" altLang="en-US" sz="2800">
                <a:latin typeface="Times New Roman" panose="02020603050405020304" pitchFamily="18" charset="0"/>
              </a:rPr>
              <a:t>执行远调用</a:t>
            </a:r>
            <a:r>
              <a:rPr lang="en-US" altLang="zh-CN" sz="2800">
                <a:latin typeface="Times New Roman" panose="02020603050405020304" pitchFamily="18" charset="0"/>
              </a:rPr>
              <a:t>CALL</a:t>
            </a:r>
            <a:r>
              <a:rPr lang="zh-CN" altLang="en-US" sz="2800">
                <a:latin typeface="Times New Roman" panose="02020603050405020304" pitchFamily="18" charset="0"/>
              </a:rPr>
              <a:t>指令的过程如图</a:t>
            </a:r>
            <a:r>
              <a:rPr lang="en-US" altLang="zh-CN" sz="2800">
                <a:latin typeface="Times New Roman" panose="02020603050405020304" pitchFamily="18" charset="0"/>
              </a:rPr>
              <a:t>3.22</a:t>
            </a:r>
            <a:r>
              <a:rPr lang="zh-CN" altLang="en-US" sz="2800">
                <a:latin typeface="Times New Roman" panose="02020603050405020304" pitchFamily="18" charset="0"/>
              </a:rPr>
              <a:t>所示，具体为：</a:t>
            </a:r>
          </a:p>
          <a:p>
            <a:pPr algn="l"/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 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SP←SP-2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		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即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SP=0050H-2=004EH</a:t>
            </a:r>
            <a:endParaRPr lang="zh-CN" altLang="en-US" sz="28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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 CS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入栈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			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即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CS=1000H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入栈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  </a:t>
            </a:r>
            <a:endParaRPr lang="zh-CN" altLang="en-US" sz="28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 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SP←SP-2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		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即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SP←004CH</a:t>
            </a:r>
            <a:endParaRPr lang="zh-CN" altLang="en-US" sz="28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 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IP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入栈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			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即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IP=205FH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入栈</a:t>
            </a:r>
          </a:p>
          <a:p>
            <a:pPr algn="l"/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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转子程序入口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		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将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PROG-F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的段地址和</a:t>
            </a:r>
          </a:p>
          <a:p>
            <a:pPr algn="l"/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				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偏移地址送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CS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：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IP</a:t>
            </a:r>
            <a:endParaRPr lang="zh-CN" altLang="en-US" sz="28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				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即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CS←3000H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IP←0500H</a:t>
            </a:r>
            <a:endParaRPr lang="zh-CN" altLang="en-US" sz="28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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执行子程序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PROG-F</a:t>
            </a:r>
            <a:endParaRPr lang="zh-CN" altLang="en-US" sz="2800" b="1">
              <a:solidFill>
                <a:srgbClr val="0000FF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endParaRPr lang="zh-CN" altLang="en-US" sz="2800"/>
          </a:p>
        </p:txBody>
      </p:sp>
      <p:sp>
        <p:nvSpPr>
          <p:cNvPr id="51202" name="标题 1">
            <a:extLst>
              <a:ext uri="{FF2B5EF4-FFF2-40B4-BE49-F238E27FC236}">
                <a16:creationId xmlns:a16="http://schemas.microsoft.com/office/drawing/2014/main" id="{5DA7FEF3-BAE9-4D3C-B5C0-B4473465B81D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zh-CN" altLang="en-US" sz="4400" b="1">
                <a:solidFill>
                  <a:schemeClr val="accent2"/>
                </a:solidFill>
              </a:rPr>
              <a:t>过程调用指令</a:t>
            </a:r>
          </a:p>
        </p:txBody>
      </p:sp>
      <p:sp>
        <p:nvSpPr>
          <p:cNvPr id="51203" name="日期占位符 1">
            <a:extLst>
              <a:ext uri="{FF2B5EF4-FFF2-40B4-BE49-F238E27FC236}">
                <a16:creationId xmlns:a16="http://schemas.microsoft.com/office/drawing/2014/main" id="{F462B610-92E6-4F96-B59D-9256DAAAF36B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BC48F76F-60AD-48C8-B2DA-1F2970D54241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split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内容占位符 2">
            <a:extLst>
              <a:ext uri="{FF2B5EF4-FFF2-40B4-BE49-F238E27FC236}">
                <a16:creationId xmlns:a16="http://schemas.microsoft.com/office/drawing/2014/main" id="{FCE3BB72-1F59-40D5-807B-962F31410AD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1314450"/>
            <a:ext cx="8372475" cy="5175250"/>
          </a:xfrm>
        </p:spPr>
        <p:txBody>
          <a:bodyPr/>
          <a:lstStyle/>
          <a:p>
            <a:pPr algn="l"/>
            <a:r>
              <a:rPr lang="zh-CN" altLang="en-US" sz="2800">
                <a:latin typeface="Times New Roman" panose="02020603050405020304" pitchFamily="18" charset="0"/>
              </a:rPr>
              <a:t>过程</a:t>
            </a:r>
            <a:r>
              <a:rPr lang="en-US" altLang="zh-CN" sz="2800">
                <a:latin typeface="Times New Roman" panose="02020603050405020304" pitchFamily="18" charset="0"/>
              </a:rPr>
              <a:t>PROG-F</a:t>
            </a:r>
            <a:r>
              <a:rPr lang="zh-CN" altLang="en-US" sz="2800">
                <a:latin typeface="Times New Roman" panose="02020603050405020304" pitchFamily="18" charset="0"/>
              </a:rPr>
              <a:t>中的</a:t>
            </a:r>
            <a:r>
              <a:rPr lang="en-US" altLang="zh-CN" sz="2800">
                <a:latin typeface="Times New Roman" panose="02020603050405020304" pitchFamily="18" charset="0"/>
              </a:rPr>
              <a:t>RET</a:t>
            </a:r>
            <a:r>
              <a:rPr lang="zh-CN" altLang="en-US" sz="2800">
                <a:latin typeface="Times New Roman" panose="02020603050405020304" pitchFamily="18" charset="0"/>
              </a:rPr>
              <a:t>指令的寻址方式也是段间直接调用，返回时执行的操作为：</a:t>
            </a:r>
          </a:p>
          <a:p>
            <a:pPr algn="l"/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 </a:t>
            </a:r>
            <a:r>
              <a:rPr lang="en-US" altLang="zh-CN" sz="28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SP←SP+2		      SP←004C+2=004EH</a:t>
            </a:r>
            <a:endParaRPr lang="zh-CN" altLang="en-US" sz="2800">
              <a:solidFill>
                <a:srgbClr val="008000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r>
              <a:rPr lang="en-US" altLang="zh-CN" sz="2800">
                <a:solidFill>
                  <a:srgbClr val="008000"/>
                </a:solidFill>
                <a:sym typeface="Wingdings 3" panose="05040102010807070707" pitchFamily="18" charset="2"/>
              </a:rPr>
              <a:t> </a:t>
            </a:r>
            <a:r>
              <a:rPr lang="en-US" altLang="zh-CN" sz="28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IP←</a:t>
            </a:r>
            <a:r>
              <a:rPr lang="zh-CN" altLang="en-US" sz="28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栈中内容</a:t>
            </a:r>
            <a:r>
              <a:rPr lang="en-US" altLang="zh-CN" sz="28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		      IP←205FH</a:t>
            </a:r>
            <a:endParaRPr lang="zh-CN" altLang="en-US" sz="2800">
              <a:solidFill>
                <a:srgbClr val="008000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r>
              <a:rPr lang="en-US" altLang="zh-CN" sz="2800">
                <a:solidFill>
                  <a:srgbClr val="008000"/>
                </a:solidFill>
                <a:sym typeface="Wingdings 3" panose="05040102010807070707" pitchFamily="18" charset="2"/>
              </a:rPr>
              <a:t> </a:t>
            </a:r>
            <a:r>
              <a:rPr lang="en-US" altLang="zh-CN" sz="28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SP←SP+2		     SP←004EH+2=0050H</a:t>
            </a:r>
            <a:endParaRPr lang="zh-CN" altLang="en-US" sz="2800">
              <a:solidFill>
                <a:srgbClr val="008000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r>
              <a:rPr lang="en-US" altLang="zh-CN" sz="2800">
                <a:solidFill>
                  <a:srgbClr val="008000"/>
                </a:solidFill>
                <a:sym typeface="Wingdings 3" panose="05040102010807070707" pitchFamily="18" charset="2"/>
              </a:rPr>
              <a:t> </a:t>
            </a:r>
            <a:r>
              <a:rPr lang="en-US" altLang="zh-CN" sz="28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CS←</a:t>
            </a:r>
            <a:r>
              <a:rPr lang="zh-CN" altLang="en-US" sz="28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栈中内容</a:t>
            </a:r>
            <a:r>
              <a:rPr lang="en-US" altLang="zh-CN" sz="28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		     CS←1000H</a:t>
            </a:r>
            <a:endParaRPr lang="zh-CN" altLang="en-US" sz="2800">
              <a:solidFill>
                <a:srgbClr val="008000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r>
              <a:rPr lang="zh-CN" altLang="en-US" sz="2800">
                <a:latin typeface="Times New Roman" panose="02020603050405020304" pitchFamily="18" charset="0"/>
              </a:rPr>
              <a:t>所以程序转返回地址</a:t>
            </a:r>
            <a:r>
              <a:rPr lang="en-US" altLang="zh-CN" sz="2800">
                <a:latin typeface="Times New Roman" panose="02020603050405020304" pitchFamily="18" charset="0"/>
              </a:rPr>
              <a:t>CS</a:t>
            </a:r>
            <a:r>
              <a:rPr lang="zh-CN" altLang="en-US" sz="2800">
                <a:latin typeface="Times New Roman" panose="02020603050405020304" pitchFamily="18" charset="0"/>
              </a:rPr>
              <a:t>：</a:t>
            </a:r>
            <a:r>
              <a:rPr lang="en-US" altLang="zh-CN" sz="2800">
                <a:latin typeface="Times New Roman" panose="02020603050405020304" pitchFamily="18" charset="0"/>
              </a:rPr>
              <a:t>IP=1000</a:t>
            </a:r>
            <a:r>
              <a:rPr lang="zh-CN" altLang="en-US" sz="2800">
                <a:latin typeface="Times New Roman" panose="02020603050405020304" pitchFamily="18" charset="0"/>
              </a:rPr>
              <a:t>：</a:t>
            </a:r>
            <a:r>
              <a:rPr lang="en-US" altLang="zh-CN" sz="2800">
                <a:latin typeface="Times New Roman" panose="02020603050405020304" pitchFamily="18" charset="0"/>
              </a:rPr>
              <a:t>205FH</a:t>
            </a:r>
            <a:r>
              <a:rPr lang="zh-CN" altLang="en-US" sz="2800">
                <a:latin typeface="Times New Roman" panose="02020603050405020304" pitchFamily="18" charset="0"/>
              </a:rPr>
              <a:t>处执行</a:t>
            </a:r>
            <a:endParaRPr lang="zh-CN" altLang="en-US" sz="2800"/>
          </a:p>
        </p:txBody>
      </p:sp>
      <p:sp>
        <p:nvSpPr>
          <p:cNvPr id="52226" name="标题 1">
            <a:extLst>
              <a:ext uri="{FF2B5EF4-FFF2-40B4-BE49-F238E27FC236}">
                <a16:creationId xmlns:a16="http://schemas.microsoft.com/office/drawing/2014/main" id="{4A3C6436-9D90-4770-AED1-2F42B674A244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74663" y="368300"/>
            <a:ext cx="8229600" cy="674688"/>
          </a:xfrm>
        </p:spPr>
        <p:txBody>
          <a:bodyPr anchor="ctr"/>
          <a:lstStyle/>
          <a:p>
            <a:pPr algn="l"/>
            <a:r>
              <a:rPr lang="zh-CN" altLang="en-US" sz="3200" b="1">
                <a:solidFill>
                  <a:schemeClr val="accent2"/>
                </a:solidFill>
              </a:rPr>
              <a:t>过程调用指令（远过程调用的返回指令）</a:t>
            </a:r>
          </a:p>
        </p:txBody>
      </p:sp>
      <p:sp>
        <p:nvSpPr>
          <p:cNvPr id="52227" name="日期占位符 1">
            <a:extLst>
              <a:ext uri="{FF2B5EF4-FFF2-40B4-BE49-F238E27FC236}">
                <a16:creationId xmlns:a16="http://schemas.microsoft.com/office/drawing/2014/main" id="{061283A5-0B1D-4DF7-9BD7-B6B4BBB6135A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C5874732-DA07-4785-A0FE-055A82CB380A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split orient="vert"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8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8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81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8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81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49" name="Picture 2">
            <a:extLst>
              <a:ext uri="{FF2B5EF4-FFF2-40B4-BE49-F238E27FC236}">
                <a16:creationId xmlns:a16="http://schemas.microsoft.com/office/drawing/2014/main" id="{47AC2251-3B76-42C2-9D4D-9602EC78B4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650" y="1117600"/>
            <a:ext cx="7138988" cy="5584825"/>
          </a:xfrm>
          <a:prstGeom prst="rect">
            <a:avLst/>
          </a:prstGeom>
          <a:noFill/>
          <a:ln w="38100" cap="sq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250" name="标题 1">
            <a:extLst>
              <a:ext uri="{FF2B5EF4-FFF2-40B4-BE49-F238E27FC236}">
                <a16:creationId xmlns:a16="http://schemas.microsoft.com/office/drawing/2014/main" id="{36FFE522-EB5E-4759-83EC-229471CF2BAE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zh-CN" altLang="en-US" sz="4000" b="1">
                <a:solidFill>
                  <a:schemeClr val="accent2"/>
                </a:solidFill>
              </a:rPr>
              <a:t>过程调用指令</a:t>
            </a:r>
          </a:p>
        </p:txBody>
      </p:sp>
      <p:sp>
        <p:nvSpPr>
          <p:cNvPr id="53251" name="日期占位符 1">
            <a:extLst>
              <a:ext uri="{FF2B5EF4-FFF2-40B4-BE49-F238E27FC236}">
                <a16:creationId xmlns:a16="http://schemas.microsoft.com/office/drawing/2014/main" id="{53F39869-94ED-447A-BD19-F7C4837E0CF5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DCCB28C8-26E4-4F35-859D-7813E40222C4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split orient="vert"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内容占位符 2">
            <a:extLst>
              <a:ext uri="{FF2B5EF4-FFF2-40B4-BE49-F238E27FC236}">
                <a16:creationId xmlns:a16="http://schemas.microsoft.com/office/drawing/2014/main" id="{6559D9A6-330B-4FF4-8379-651B1C16E6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763" y="984250"/>
            <a:ext cx="8372475" cy="5505450"/>
          </a:xfrm>
        </p:spPr>
        <p:txBody>
          <a:bodyPr/>
          <a:lstStyle/>
          <a:p>
            <a:pPr marL="1905" indent="-1905" algn="l"/>
            <a:r>
              <a:rPr lang="zh-CN" altLang="en-US" sz="26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（</a:t>
            </a:r>
            <a:r>
              <a:rPr lang="en-US" altLang="x-none" sz="26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4</a:t>
            </a:r>
            <a:r>
              <a:rPr lang="zh-CN" altLang="en-US" sz="26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） 段间间接调用</a:t>
            </a:r>
          </a:p>
          <a:p>
            <a:pPr marL="1905" indent="112395" algn="l">
              <a:buFont typeface="Wingdings" panose="05000000000000000000" pitchFamily="2" charset="2"/>
              <a:buChar char="l"/>
            </a:pPr>
            <a:r>
              <a:rPr lang="zh-CN" altLang="en-US" sz="2600" noProof="1">
                <a:latin typeface="Times New Roman" panose="02020603050405020304" pitchFamily="2" charset="0"/>
              </a:rPr>
              <a:t>操作数必须是</a:t>
            </a:r>
            <a:r>
              <a:rPr lang="zh-CN" altLang="en-US" sz="26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存储单元</a:t>
            </a:r>
            <a:r>
              <a:rPr lang="zh-CN" altLang="en-US" sz="2600" noProof="1">
                <a:latin typeface="Times New Roman" panose="02020603050405020304" pitchFamily="2" charset="0"/>
              </a:rPr>
              <a:t>，从该单元开始存放的</a:t>
            </a:r>
            <a:r>
              <a:rPr lang="zh-CN" altLang="en-US" sz="26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双字</a:t>
            </a:r>
            <a:r>
              <a:rPr lang="zh-CN" altLang="en-US" sz="2600" noProof="1">
                <a:latin typeface="Times New Roman" panose="02020603050405020304" pitchFamily="2" charset="0"/>
              </a:rPr>
              <a:t>表示</a:t>
            </a:r>
            <a:r>
              <a:rPr lang="zh-CN" altLang="en-US" sz="2600" b="1" noProof="1">
                <a:solidFill>
                  <a:srgbClr val="FF0000"/>
                </a:solidFill>
                <a:latin typeface="Times New Roman" panose="02020603050405020304" pitchFamily="2" charset="0"/>
              </a:rPr>
              <a:t>过程的入口地址</a:t>
            </a:r>
            <a:r>
              <a:rPr lang="zh-CN" altLang="en-US" sz="2600" noProof="1">
                <a:latin typeface="Times New Roman" panose="02020603050405020304" pitchFamily="2" charset="0"/>
              </a:rPr>
              <a:t>，指令中用</a:t>
            </a:r>
            <a:r>
              <a:rPr lang="en-US" altLang="x-none" sz="2600" noProof="1">
                <a:latin typeface="Times New Roman" panose="02020603050405020304" pitchFamily="2" charset="0"/>
              </a:rPr>
              <a:t>DWORD  PTR</a:t>
            </a:r>
            <a:r>
              <a:rPr lang="zh-CN" altLang="en-US" sz="2600" noProof="1">
                <a:latin typeface="Times New Roman" panose="02020603050405020304" pitchFamily="2" charset="0"/>
              </a:rPr>
              <a:t>说明是对存储单元进行双字操作</a:t>
            </a:r>
          </a:p>
          <a:p>
            <a:pPr marL="1905" indent="-1905" algn="l">
              <a:spcBef>
                <a:spcPts val="600"/>
              </a:spcBef>
            </a:pPr>
            <a:r>
              <a:rPr lang="zh-CN" altLang="en-US" sz="2600" b="1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例</a:t>
            </a:r>
            <a:r>
              <a:rPr lang="en-US" altLang="x-none" sz="2600" b="1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3.87 </a:t>
            </a:r>
            <a:r>
              <a:rPr lang="en-US" altLang="x-none" sz="2600" noProof="1">
                <a:solidFill>
                  <a:srgbClr val="23FFF8"/>
                </a:solidFill>
                <a:latin typeface="Times New Roman" panose="02020603050405020304" pitchFamily="2" charset="0"/>
                <a:ea typeface="楷体_GB2312" pitchFamily="1" charset="-122"/>
              </a:rPr>
              <a:t>  </a:t>
            </a:r>
            <a:r>
              <a:rPr lang="en-US" altLang="x-none" sz="2600" noProof="1">
                <a:solidFill>
                  <a:srgbClr val="C00000"/>
                </a:solidFill>
                <a:latin typeface="Times New Roman" panose="02020603050405020304" pitchFamily="2" charset="0"/>
                <a:ea typeface="楷体_GB2312" pitchFamily="1" charset="-122"/>
              </a:rPr>
              <a:t>CALL   </a:t>
            </a:r>
            <a:r>
              <a:rPr lang="en-US" altLang="x-none" sz="2600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DWORD   PTR</a:t>
            </a:r>
            <a:r>
              <a:rPr lang="zh-CN" altLang="en-US" sz="2600" noProof="1">
                <a:latin typeface="Times New Roman" panose="02020603050405020304" pitchFamily="2" charset="0"/>
                <a:ea typeface="楷体_GB2312" pitchFamily="1" charset="-122"/>
              </a:rPr>
              <a:t>［</a:t>
            </a:r>
            <a:r>
              <a:rPr lang="en-US" altLang="x-none" sz="2600" noProof="1">
                <a:latin typeface="Times New Roman" panose="02020603050405020304" pitchFamily="2" charset="0"/>
                <a:ea typeface="楷体_GB2312" pitchFamily="1" charset="-122"/>
              </a:rPr>
              <a:t>BX</a:t>
            </a:r>
            <a:r>
              <a:rPr lang="zh-CN" altLang="en-US" sz="2600" noProof="1">
                <a:latin typeface="Times New Roman" panose="02020603050405020304" pitchFamily="2" charset="0"/>
                <a:ea typeface="楷体_GB2312" pitchFamily="1" charset="-122"/>
              </a:rPr>
              <a:t>］</a:t>
            </a:r>
          </a:p>
          <a:p>
            <a:pPr marL="1905" indent="-1905" algn="l">
              <a:spcBef>
                <a:spcPts val="600"/>
              </a:spcBef>
            </a:pPr>
            <a:r>
              <a:rPr lang="zh-CN" altLang="en-US" sz="2600" noProof="1">
                <a:latin typeface="Times New Roman" panose="02020603050405020304" pitchFamily="2" charset="0"/>
                <a:ea typeface="楷体_GB2312" pitchFamily="1" charset="-122"/>
              </a:rPr>
              <a:t>设调用前，</a:t>
            </a:r>
            <a:r>
              <a:rPr lang="en-US" altLang="x-none" sz="2600" noProof="1">
                <a:latin typeface="Times New Roman" panose="02020603050405020304" pitchFamily="2" charset="0"/>
                <a:ea typeface="楷体_GB2312" pitchFamily="1" charset="-122"/>
              </a:rPr>
              <a:t>DS=1000H</a:t>
            </a:r>
            <a:r>
              <a:rPr lang="zh-CN" altLang="en-US" sz="2600" noProof="1">
                <a:latin typeface="Times New Roman" panose="02020603050405020304" pitchFamily="2" charset="0"/>
                <a:ea typeface="楷体_GB2312" pitchFamily="1" charset="-122"/>
              </a:rPr>
              <a:t>，</a:t>
            </a:r>
            <a:r>
              <a:rPr lang="en-US" altLang="x-none" sz="2600" noProof="1">
                <a:latin typeface="Times New Roman" panose="02020603050405020304" pitchFamily="2" charset="0"/>
                <a:ea typeface="楷体_GB2312" pitchFamily="1" charset="-122"/>
              </a:rPr>
              <a:t>BX=200H</a:t>
            </a:r>
            <a:r>
              <a:rPr lang="zh-CN" altLang="en-US" sz="2600" noProof="1">
                <a:latin typeface="Times New Roman" panose="02020603050405020304" pitchFamily="2" charset="0"/>
                <a:ea typeface="楷体_GB2312" pitchFamily="1" charset="-122"/>
              </a:rPr>
              <a:t>，</a:t>
            </a:r>
            <a:r>
              <a:rPr lang="en-US" altLang="x-none" sz="2600" noProof="1">
                <a:latin typeface="Times New Roman" panose="02020603050405020304" pitchFamily="2" charset="0"/>
                <a:ea typeface="楷体_GB2312" pitchFamily="1" charset="-122"/>
              </a:rPr>
              <a:t>(10200H)=31F4H</a:t>
            </a:r>
            <a:r>
              <a:rPr lang="zh-CN" altLang="en-US" sz="2600" noProof="1">
                <a:latin typeface="Times New Roman" panose="02020603050405020304" pitchFamily="2" charset="0"/>
                <a:ea typeface="楷体_GB2312" pitchFamily="1" charset="-122"/>
              </a:rPr>
              <a:t>，</a:t>
            </a:r>
            <a:r>
              <a:rPr lang="en-US" altLang="x-none" sz="2600" noProof="1">
                <a:latin typeface="Times New Roman" panose="02020603050405020304" pitchFamily="2" charset="0"/>
                <a:ea typeface="楷体_GB2312" pitchFamily="1" charset="-122"/>
              </a:rPr>
              <a:t>(10202H)=5200H</a:t>
            </a:r>
            <a:r>
              <a:rPr lang="zh-CN" altLang="en-US" sz="2600" noProof="1">
                <a:latin typeface="Times New Roman" panose="02020603050405020304" pitchFamily="2" charset="0"/>
                <a:ea typeface="楷体_GB2312" pitchFamily="1" charset="-122"/>
              </a:rPr>
              <a:t>。</a:t>
            </a:r>
          </a:p>
          <a:p>
            <a:pPr marL="1905" indent="-1905" algn="l">
              <a:spcBef>
                <a:spcPts val="600"/>
              </a:spcBef>
            </a:pPr>
            <a:r>
              <a:rPr lang="zh-CN" altLang="en-US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执行时先将返址的</a:t>
            </a:r>
            <a:r>
              <a:rPr lang="en-US" altLang="x-none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CS</a:t>
            </a:r>
            <a:r>
              <a:rPr lang="zh-CN" altLang="en-US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：</a:t>
            </a:r>
            <a:r>
              <a:rPr lang="en-US" altLang="x-none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IP</a:t>
            </a:r>
            <a:r>
              <a:rPr lang="zh-CN" altLang="en-US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推入堆栈，再转向过程入口。</a:t>
            </a:r>
          </a:p>
          <a:p>
            <a:pPr marL="1905" indent="-1905" algn="l">
              <a:spcBef>
                <a:spcPts val="600"/>
              </a:spcBef>
            </a:pPr>
            <a:r>
              <a:rPr lang="zh-CN" altLang="en-US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指令中操作数地址</a:t>
            </a:r>
            <a:r>
              <a:rPr lang="en-US" altLang="x-none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=DS×16+BX=10000H+200H=10200H</a:t>
            </a:r>
            <a:r>
              <a:rPr lang="zh-CN" altLang="en-US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从中取得的双字就是过程入口地址，即：</a:t>
            </a:r>
          </a:p>
          <a:p>
            <a:pPr marL="1905" indent="-1905" algn="l">
              <a:spcBef>
                <a:spcPts val="600"/>
              </a:spcBef>
            </a:pPr>
            <a:r>
              <a:rPr lang="en-US" altLang="x-none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       IP←(10200H)		</a:t>
            </a:r>
            <a:r>
              <a:rPr lang="zh-CN" altLang="en-US" sz="2600" noProof="1">
                <a:solidFill>
                  <a:srgbClr val="CC3300"/>
                </a:solidFill>
                <a:latin typeface="Times New Roman" panose="02020603050405020304" pitchFamily="2" charset="0"/>
                <a:ea typeface="楷体_GB2312" pitchFamily="1" charset="-122"/>
              </a:rPr>
              <a:t>即</a:t>
            </a:r>
            <a:r>
              <a:rPr lang="en-US" altLang="x-none" sz="2600" noProof="1">
                <a:solidFill>
                  <a:srgbClr val="CC3300"/>
                </a:solidFill>
                <a:latin typeface="Times New Roman" panose="02020603050405020304" pitchFamily="2" charset="0"/>
                <a:ea typeface="楷体_GB2312" pitchFamily="1" charset="-122"/>
              </a:rPr>
              <a:t>IP=31F4H</a:t>
            </a:r>
            <a:endParaRPr lang="zh-CN" altLang="en-US" sz="2600" noProof="1">
              <a:solidFill>
                <a:srgbClr val="CC3300"/>
              </a:solidFill>
              <a:latin typeface="Times New Roman" panose="02020603050405020304" pitchFamily="2" charset="0"/>
              <a:ea typeface="楷体_GB2312" pitchFamily="1" charset="-122"/>
            </a:endParaRPr>
          </a:p>
          <a:p>
            <a:pPr marL="1905" indent="-1905" algn="l">
              <a:spcBef>
                <a:spcPts val="600"/>
              </a:spcBef>
            </a:pPr>
            <a:r>
              <a:rPr lang="en-US" altLang="x-none" sz="2600" noProof="1">
                <a:solidFill>
                  <a:srgbClr val="008000"/>
                </a:solidFill>
                <a:latin typeface="Times New Roman" panose="02020603050405020304" pitchFamily="2" charset="0"/>
                <a:ea typeface="楷体_GB2312" pitchFamily="1" charset="-122"/>
              </a:rPr>
              <a:t>       CS←(10202H)		</a:t>
            </a:r>
            <a:r>
              <a:rPr lang="zh-CN" altLang="en-US" sz="2600" noProof="1">
                <a:solidFill>
                  <a:srgbClr val="CC3300"/>
                </a:solidFill>
                <a:latin typeface="Times New Roman" panose="02020603050405020304" pitchFamily="2" charset="0"/>
                <a:ea typeface="楷体_GB2312" pitchFamily="1" charset="-122"/>
              </a:rPr>
              <a:t>即</a:t>
            </a:r>
            <a:r>
              <a:rPr lang="en-US" altLang="x-none" sz="2600" noProof="1">
                <a:solidFill>
                  <a:srgbClr val="CC3300"/>
                </a:solidFill>
                <a:latin typeface="Times New Roman" panose="02020603050405020304" pitchFamily="2" charset="0"/>
                <a:ea typeface="楷体_GB2312" pitchFamily="1" charset="-122"/>
              </a:rPr>
              <a:t>CS=5200H</a:t>
            </a:r>
            <a:endParaRPr lang="zh-CN" altLang="en-US" sz="2600" noProof="1">
              <a:solidFill>
                <a:srgbClr val="CC3300"/>
              </a:solidFill>
            </a:endParaRPr>
          </a:p>
        </p:txBody>
      </p:sp>
      <p:sp>
        <p:nvSpPr>
          <p:cNvPr id="54274" name="标题 1">
            <a:extLst>
              <a:ext uri="{FF2B5EF4-FFF2-40B4-BE49-F238E27FC236}">
                <a16:creationId xmlns:a16="http://schemas.microsoft.com/office/drawing/2014/main" id="{533D8B00-22A3-42C0-B771-B88C89371C8E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zh-CN" altLang="en-US" sz="4400" b="1">
                <a:solidFill>
                  <a:schemeClr val="accent2"/>
                </a:solidFill>
              </a:rPr>
              <a:t>过程调用指令</a:t>
            </a:r>
          </a:p>
        </p:txBody>
      </p:sp>
      <p:sp>
        <p:nvSpPr>
          <p:cNvPr id="54275" name="日期占位符 1">
            <a:extLst>
              <a:ext uri="{FF2B5EF4-FFF2-40B4-BE49-F238E27FC236}">
                <a16:creationId xmlns:a16="http://schemas.microsoft.com/office/drawing/2014/main" id="{0BB12486-3DC1-4865-9489-629C15C000AC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9EF3C9D6-8F60-4565-8FCE-A506EC882002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strips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01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01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01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501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5017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5017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017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内容占位符 2">
            <a:extLst>
              <a:ext uri="{FF2B5EF4-FFF2-40B4-BE49-F238E27FC236}">
                <a16:creationId xmlns:a16="http://schemas.microsoft.com/office/drawing/2014/main" id="{89C2D82A-246A-446B-81AE-1D4C0068DA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763" y="1314450"/>
            <a:ext cx="7875587" cy="5175250"/>
          </a:xfrm>
        </p:spPr>
        <p:txBody>
          <a:bodyPr/>
          <a:lstStyle/>
          <a:p>
            <a:pPr algn="l">
              <a:buFont typeface="Wingdings" panose="05000000000000000000" pitchFamily="2" charset="2"/>
              <a:buNone/>
            </a:pPr>
            <a:r>
              <a:rPr lang="en-US" altLang="x-none" sz="2800" noProof="1">
                <a:latin typeface="Times New Roman" panose="02020603050405020304" pitchFamily="2" charset="0"/>
              </a:rPr>
              <a:t>8086</a:t>
            </a:r>
            <a:r>
              <a:rPr lang="zh-CN" altLang="en-US" sz="2800" noProof="1">
                <a:latin typeface="Times New Roman" panose="02020603050405020304" pitchFamily="2" charset="0"/>
              </a:rPr>
              <a:t>还有另一种带参数的返回指令，形式为：</a:t>
            </a:r>
          </a:p>
          <a:p>
            <a:pPr algn="l"/>
            <a:r>
              <a:rPr lang="en-US" altLang="x-none" sz="2800" noProof="1">
                <a:latin typeface="Times New Roman" panose="02020603050405020304" pitchFamily="2" charset="0"/>
              </a:rPr>
              <a:t>            </a:t>
            </a:r>
            <a:r>
              <a:rPr lang="en-US" altLang="x-none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RET  n</a:t>
            </a:r>
          </a:p>
          <a:p>
            <a:pPr algn="l"/>
            <a:endParaRPr lang="en-US" altLang="x-none" sz="2800" noProof="1">
              <a:latin typeface="Times New Roman" panose="02020603050405020304" pitchFamily="2" charset="0"/>
            </a:endParaRPr>
          </a:p>
          <a:p>
            <a:pPr algn="l"/>
            <a:r>
              <a:rPr lang="en-US" altLang="x-none" sz="2800" noProof="1">
                <a:latin typeface="Times New Roman" panose="02020603050405020304" pitchFamily="2" charset="0"/>
              </a:rPr>
              <a:t>n</a:t>
            </a:r>
            <a:r>
              <a:rPr lang="zh-CN" altLang="en-US" sz="2800" noProof="1">
                <a:latin typeface="Times New Roman" panose="02020603050405020304" pitchFamily="2" charset="0"/>
              </a:rPr>
              <a:t>称为弹出值，它让</a:t>
            </a:r>
            <a:r>
              <a:rPr lang="en-US" altLang="x-none" sz="2800" noProof="1">
                <a:latin typeface="Times New Roman" panose="02020603050405020304" pitchFamily="2" charset="0"/>
              </a:rPr>
              <a:t>CPU</a:t>
            </a:r>
            <a:r>
              <a:rPr lang="zh-CN" altLang="en-US" sz="2800" noProof="1">
                <a:latin typeface="Times New Roman" panose="02020603050405020304" pitchFamily="2" charset="0"/>
              </a:rPr>
              <a:t>在弹出返回地址后，再从堆栈中弹出</a:t>
            </a:r>
            <a:r>
              <a:rPr lang="en-US" altLang="x-none" sz="2800" noProof="1">
                <a:latin typeface="Times New Roman" panose="02020603050405020304" pitchFamily="2" charset="0"/>
              </a:rPr>
              <a:t>n</a:t>
            </a:r>
            <a:r>
              <a:rPr lang="zh-CN" altLang="en-US" sz="2800" noProof="1">
                <a:latin typeface="Times New Roman" panose="02020603050405020304" pitchFamily="2" charset="0"/>
              </a:rPr>
              <a:t>个字节的数据，也就是让</a:t>
            </a:r>
            <a:r>
              <a:rPr lang="en-US" altLang="x-none" sz="2800" noProof="1">
                <a:latin typeface="Times New Roman" panose="02020603050405020304" pitchFamily="2" charset="0"/>
              </a:rPr>
              <a:t>SP</a:t>
            </a:r>
            <a:r>
              <a:rPr lang="zh-CN" altLang="en-US" sz="2800" noProof="1">
                <a:latin typeface="Times New Roman" panose="02020603050405020304" pitchFamily="2" charset="0"/>
              </a:rPr>
              <a:t>再加上</a:t>
            </a:r>
            <a:r>
              <a:rPr lang="en-US" altLang="x-none" sz="2800" noProof="1">
                <a:latin typeface="Times New Roman" panose="02020603050405020304" pitchFamily="2" charset="0"/>
              </a:rPr>
              <a:t>n</a:t>
            </a:r>
            <a:r>
              <a:rPr lang="zh-CN" altLang="en-US" sz="2800" noProof="1">
                <a:latin typeface="Times New Roman" panose="02020603050405020304" pitchFamily="2" charset="0"/>
              </a:rPr>
              <a:t>。</a:t>
            </a:r>
            <a:r>
              <a:rPr lang="en-US" altLang="x-none" sz="2800" noProof="1">
                <a:latin typeface="Times New Roman" panose="02020603050405020304" pitchFamily="2" charset="0"/>
              </a:rPr>
              <a:t>n</a:t>
            </a:r>
            <a:r>
              <a:rPr lang="zh-CN" altLang="en-US" sz="2800" noProof="1">
                <a:latin typeface="Times New Roman" panose="02020603050405020304" pitchFamily="2" charset="0"/>
              </a:rPr>
              <a:t>可以是</a:t>
            </a:r>
            <a:r>
              <a:rPr lang="en-US" altLang="x-none" sz="2800" noProof="1">
                <a:latin typeface="Times New Roman" panose="02020603050405020304" pitchFamily="2" charset="0"/>
              </a:rPr>
              <a:t>0000~FFFFH</a:t>
            </a:r>
            <a:r>
              <a:rPr lang="zh-CN" altLang="en-US" sz="2800" noProof="1">
                <a:latin typeface="Times New Roman" panose="02020603050405020304" pitchFamily="2" charset="0"/>
              </a:rPr>
              <a:t>范围内的任何一个偶数</a:t>
            </a:r>
          </a:p>
          <a:p>
            <a:pPr algn="l"/>
            <a:endParaRPr lang="zh-CN" altLang="en-US" sz="2800" noProof="1">
              <a:latin typeface="Times New Roman" panose="02020603050405020304" pitchFamily="2" charset="0"/>
            </a:endParaRPr>
          </a:p>
          <a:p>
            <a:pPr algn="l"/>
            <a:r>
              <a:rPr lang="zh-CN" altLang="en-US" sz="2800" b="1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例如，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指令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RET 8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，表示从堆栈中弹出地址后，再使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SP</a:t>
            </a:r>
            <a:r>
              <a:rPr lang="zh-CN" altLang="en-US" sz="2800" noProof="1">
                <a:latin typeface="Times New Roman" panose="02020603050405020304" pitchFamily="2" charset="0"/>
                <a:ea typeface="楷体_GB2312" pitchFamily="1" charset="-122"/>
              </a:rPr>
              <a:t>的值加上</a:t>
            </a:r>
            <a:r>
              <a:rPr lang="en-US" altLang="x-none" sz="2800" noProof="1">
                <a:latin typeface="Times New Roman" panose="02020603050405020304" pitchFamily="2" charset="0"/>
                <a:ea typeface="楷体_GB2312" pitchFamily="1" charset="-122"/>
              </a:rPr>
              <a:t>8</a:t>
            </a:r>
          </a:p>
          <a:p>
            <a:pPr algn="l"/>
            <a:r>
              <a:rPr lang="zh-CN" altLang="en-US" sz="3200" noProof="1"/>
              <a:t>        </a:t>
            </a:r>
            <a:r>
              <a:rPr lang="zh-CN" altLang="en-US" sz="3200" b="1" noProof="1">
                <a:solidFill>
                  <a:srgbClr val="0000FF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问题：这有什么用呢？</a:t>
            </a:r>
          </a:p>
        </p:txBody>
      </p:sp>
      <p:sp>
        <p:nvSpPr>
          <p:cNvPr id="55298" name="标题 1">
            <a:extLst>
              <a:ext uri="{FF2B5EF4-FFF2-40B4-BE49-F238E27FC236}">
                <a16:creationId xmlns:a16="http://schemas.microsoft.com/office/drawing/2014/main" id="{F59BD5C4-B394-425D-9E12-54CF3C08D34B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zh-CN" altLang="en-US" sz="4400" b="1">
                <a:solidFill>
                  <a:schemeClr val="accent2"/>
                </a:solidFill>
              </a:rPr>
              <a:t>过程调用指令</a:t>
            </a:r>
            <a:r>
              <a:rPr lang="en-US" altLang="zh-CN" sz="4400" b="1">
                <a:solidFill>
                  <a:schemeClr val="accent2"/>
                </a:solidFill>
              </a:rPr>
              <a:t>(</a:t>
            </a:r>
            <a:r>
              <a:rPr lang="en-US" altLang="zh-CN" sz="4400" b="1">
                <a:solidFill>
                  <a:srgbClr val="CC3300"/>
                </a:solidFill>
                <a:latin typeface="Times New Roman" panose="02020603050405020304" pitchFamily="18" charset="0"/>
              </a:rPr>
              <a:t>RET  n</a:t>
            </a:r>
            <a:r>
              <a:rPr lang="en-US" altLang="zh-CN" sz="4400" b="1">
                <a:solidFill>
                  <a:schemeClr val="accent2"/>
                </a:solidFill>
              </a:rPr>
              <a:t>)</a:t>
            </a:r>
          </a:p>
        </p:txBody>
      </p:sp>
      <p:sp>
        <p:nvSpPr>
          <p:cNvPr id="55299" name="日期占位符 1">
            <a:extLst>
              <a:ext uri="{FF2B5EF4-FFF2-40B4-BE49-F238E27FC236}">
                <a16:creationId xmlns:a16="http://schemas.microsoft.com/office/drawing/2014/main" id="{59836F2A-C1CA-491E-8C46-8B9B61993980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B28850F7-6DAF-4F7C-A678-618A8DF041A0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120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12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内容占位符 2">
            <a:extLst>
              <a:ext uri="{FF2B5EF4-FFF2-40B4-BE49-F238E27FC236}">
                <a16:creationId xmlns:a16="http://schemas.microsoft.com/office/drawing/2014/main" id="{8EB935EF-201E-4ABF-B725-07E6FCC398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763" y="1314450"/>
            <a:ext cx="7875587" cy="5175250"/>
          </a:xfrm>
        </p:spPr>
        <p:txBody>
          <a:bodyPr/>
          <a:lstStyle/>
          <a:p>
            <a:pPr marL="457200" indent="-457200" algn="l">
              <a:buFont typeface="Wingdings" panose="05000000000000000000" charset="0"/>
              <a:buChar char="l"/>
            </a:pPr>
            <a:r>
              <a:rPr lang="en-US" altLang="x-none" sz="2800" noProof="1">
                <a:latin typeface="Times New Roman" panose="02020603050405020304" pitchFamily="2" charset="0"/>
              </a:rPr>
              <a:t> </a:t>
            </a:r>
            <a:r>
              <a:rPr lang="en-US" altLang="x-none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RET  n  </a:t>
            </a:r>
            <a:r>
              <a:rPr lang="zh-CN" altLang="en-US" sz="28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引出的子程序参数传递问题</a:t>
            </a:r>
          </a:p>
          <a:p>
            <a:pPr algn="l"/>
            <a:r>
              <a:rPr lang="en-US" sz="2800" noProof="1">
                <a:latin typeface="Times New Roman" panose="02020603050405020304" pitchFamily="2" charset="0"/>
              </a:rPr>
              <a:t>1</a:t>
            </a:r>
            <a:r>
              <a:rPr lang="zh-CN" altLang="en-US" sz="2800" noProof="1">
                <a:latin typeface="Times New Roman" panose="02020603050405020304" pitchFamily="2" charset="0"/>
              </a:rPr>
              <a:t>）可以通过寄存器传递参数</a:t>
            </a:r>
          </a:p>
          <a:p>
            <a:pPr algn="l"/>
            <a:r>
              <a:rPr lang="en-US" altLang="zh-CN" sz="2800" noProof="1">
                <a:latin typeface="Times New Roman" panose="02020603050405020304" pitchFamily="2" charset="0"/>
              </a:rPr>
              <a:t>2</a:t>
            </a:r>
            <a:r>
              <a:rPr lang="zh-CN" altLang="en-US" sz="2800" noProof="1">
                <a:latin typeface="Times New Roman" panose="02020603050405020304" pitchFamily="2" charset="0"/>
              </a:rPr>
              <a:t>）可以通过存储器传递参数</a:t>
            </a:r>
          </a:p>
          <a:p>
            <a:pPr algn="l"/>
            <a:r>
              <a:rPr lang="zh-CN" altLang="en-US" sz="2800" noProof="1">
                <a:latin typeface="Times New Roman" panose="02020603050405020304" pitchFamily="2" charset="0"/>
              </a:rPr>
              <a:t>    存储器的寻址方式都可以用到；</a:t>
            </a:r>
          </a:p>
          <a:p>
            <a:pPr algn="l"/>
            <a:r>
              <a:rPr lang="zh-CN" altLang="en-US" sz="2800" noProof="1">
                <a:latin typeface="Times New Roman" panose="02020603050405020304" pitchFamily="2" charset="0"/>
              </a:rPr>
              <a:t>    通过堆栈传递是一种方便的方式，具体方法是：</a:t>
            </a:r>
          </a:p>
          <a:p>
            <a:pPr algn="l"/>
            <a:r>
              <a:rPr lang="zh-CN" altLang="en-US" sz="2800" noProof="1">
                <a:latin typeface="Times New Roman" panose="02020603050405020304" pitchFamily="2" charset="0"/>
              </a:rPr>
              <a:t>       </a:t>
            </a:r>
            <a:r>
              <a:rPr lang="zh-CN" altLang="en-US" sz="2400" noProof="1">
                <a:solidFill>
                  <a:srgbClr val="0000FF"/>
                </a:solidFill>
                <a:latin typeface="Times New Roman" panose="02020603050405020304" pitchFamily="2" charset="0"/>
              </a:rPr>
              <a:t> </a:t>
            </a:r>
            <a:r>
              <a:rPr lang="zh-CN" altLang="en-US" sz="2400" b="1" noProof="1">
                <a:solidFill>
                  <a:srgbClr val="0000FF"/>
                </a:solidFill>
                <a:sym typeface="+mn-ea"/>
              </a:rPr>
              <a:t>在执行一些调用子程序</a:t>
            </a:r>
            <a:r>
              <a:rPr lang="zh-CN" altLang="en-US" sz="2400" b="1" noProof="1">
                <a:solidFill>
                  <a:srgbClr val="C00000"/>
                </a:solidFill>
                <a:sym typeface="+mn-ea"/>
              </a:rPr>
              <a:t>将参数入栈</a:t>
            </a:r>
            <a:r>
              <a:rPr lang="zh-CN" altLang="en-US" sz="2400" b="1" noProof="1">
                <a:solidFill>
                  <a:srgbClr val="0000FF"/>
                </a:solidFill>
                <a:sym typeface="+mn-ea"/>
              </a:rPr>
              <a:t>供子程序使用，子程序用</a:t>
            </a:r>
            <a:r>
              <a:rPr lang="zh-CN" altLang="en-US" sz="2400" b="1" noProof="1">
                <a:solidFill>
                  <a:srgbClr val="C00000"/>
                </a:solidFill>
                <a:sym typeface="+mn-ea"/>
              </a:rPr>
              <a:t>堆栈指针（</a:t>
            </a:r>
            <a:r>
              <a:rPr lang="en-US" altLang="zh-CN" sz="2400" b="1" noProof="1">
                <a:solidFill>
                  <a:srgbClr val="C00000"/>
                </a:solidFill>
                <a:sym typeface="+mn-ea"/>
              </a:rPr>
              <a:t>SS:SP</a:t>
            </a:r>
            <a:r>
              <a:rPr lang="zh-CN" altLang="en-US" sz="2400" b="1" noProof="1">
                <a:solidFill>
                  <a:srgbClr val="C00000"/>
                </a:solidFill>
                <a:sym typeface="+mn-ea"/>
              </a:rPr>
              <a:t>）</a:t>
            </a:r>
            <a:r>
              <a:rPr lang="zh-CN" altLang="en-US" sz="2400" b="1" noProof="1">
                <a:solidFill>
                  <a:srgbClr val="0000FF"/>
                </a:solidFill>
                <a:sym typeface="+mn-ea"/>
              </a:rPr>
              <a:t>找到这些参数。当调用子程序返回时，参数已经不会使用，所以修改指针到参数入栈前的值，这时候需要用到</a:t>
            </a:r>
            <a:r>
              <a:rPr lang="zh-CN" altLang="en-US" sz="2400" b="1" noProof="1">
                <a:solidFill>
                  <a:srgbClr val="C00000"/>
                </a:solidFill>
                <a:sym typeface="+mn-ea"/>
              </a:rPr>
              <a:t> </a:t>
            </a:r>
            <a:r>
              <a:rPr lang="en-US" altLang="zh-CN" sz="2400" b="1" noProof="1">
                <a:solidFill>
                  <a:srgbClr val="C00000"/>
                </a:solidFill>
                <a:sym typeface="+mn-ea"/>
              </a:rPr>
              <a:t>RET n</a:t>
            </a:r>
            <a:r>
              <a:rPr lang="zh-CN" altLang="zh-CN" sz="2400" b="1" noProof="1">
                <a:solidFill>
                  <a:srgbClr val="0000FF"/>
                </a:solidFill>
                <a:sym typeface="+mn-ea"/>
              </a:rPr>
              <a:t>，因为如果不跳过这些数据，堆栈指针就乱序了。</a:t>
            </a:r>
          </a:p>
          <a:p>
            <a:pPr algn="l"/>
            <a:endParaRPr lang="zh-CN" altLang="en-US" sz="3200" b="1" noProof="1">
              <a:solidFill>
                <a:srgbClr val="0000FF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6322" name="标题 1">
            <a:extLst>
              <a:ext uri="{FF2B5EF4-FFF2-40B4-BE49-F238E27FC236}">
                <a16:creationId xmlns:a16="http://schemas.microsoft.com/office/drawing/2014/main" id="{5E158A71-EC7C-48A8-8F28-A6670E8BE0E2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zh-CN" altLang="en-US" sz="4400" b="1">
                <a:solidFill>
                  <a:schemeClr val="accent2"/>
                </a:solidFill>
              </a:rPr>
              <a:t>过程调用指令</a:t>
            </a:r>
            <a:r>
              <a:rPr lang="en-US" altLang="zh-CN" sz="4400" b="1">
                <a:solidFill>
                  <a:schemeClr val="accent2"/>
                </a:solidFill>
              </a:rPr>
              <a:t>(</a:t>
            </a:r>
            <a:r>
              <a:rPr lang="en-US" altLang="zh-CN" sz="4400" b="1">
                <a:solidFill>
                  <a:srgbClr val="CC3300"/>
                </a:solidFill>
                <a:latin typeface="Times New Roman" panose="02020603050405020304" pitchFamily="18" charset="0"/>
                <a:sym typeface="宋体" panose="02010600030101010101" pitchFamily="2" charset="-122"/>
              </a:rPr>
              <a:t>RET  n</a:t>
            </a:r>
            <a:r>
              <a:rPr lang="en-US" altLang="zh-CN" sz="4400" b="1">
                <a:solidFill>
                  <a:schemeClr val="accent2"/>
                </a:solidFill>
              </a:rPr>
              <a:t>)</a:t>
            </a:r>
          </a:p>
        </p:txBody>
      </p:sp>
      <p:sp>
        <p:nvSpPr>
          <p:cNvPr id="56323" name="日期占位符 1">
            <a:extLst>
              <a:ext uri="{FF2B5EF4-FFF2-40B4-BE49-F238E27FC236}">
                <a16:creationId xmlns:a16="http://schemas.microsoft.com/office/drawing/2014/main" id="{08498EC7-7B82-4425-88E6-FEE73ADA26C1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BD93FDF0-853A-47EA-A494-8CAFAB534461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120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标题 1">
            <a:extLst>
              <a:ext uri="{FF2B5EF4-FFF2-40B4-BE49-F238E27FC236}">
                <a16:creationId xmlns:a16="http://schemas.microsoft.com/office/drawing/2014/main" id="{AF74A301-428E-49A3-960D-B79035475E28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en-US" altLang="zh-CN" sz="3600" b="1">
                <a:solidFill>
                  <a:schemeClr val="accent2"/>
                </a:solidFill>
              </a:rPr>
              <a:t>2. </a:t>
            </a:r>
            <a:r>
              <a:rPr lang="zh-CN" altLang="en-US" sz="3600" b="1">
                <a:solidFill>
                  <a:schemeClr val="accent2"/>
                </a:solidFill>
              </a:rPr>
              <a:t>条件转移指令</a:t>
            </a:r>
            <a:r>
              <a:rPr lang="en-US" altLang="zh-CN" sz="3600" b="1">
                <a:solidFill>
                  <a:schemeClr val="accent2"/>
                </a:solidFill>
              </a:rPr>
              <a:t> (Conditional Transfer)</a:t>
            </a:r>
          </a:p>
        </p:txBody>
      </p:sp>
      <p:sp>
        <p:nvSpPr>
          <p:cNvPr id="52227" name="内容占位符 2">
            <a:extLst>
              <a:ext uri="{FF2B5EF4-FFF2-40B4-BE49-F238E27FC236}">
                <a16:creationId xmlns:a16="http://schemas.microsoft.com/office/drawing/2014/main" id="{021500EC-178E-4CE1-AEAE-E97BC1E55E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763" y="1206500"/>
            <a:ext cx="8142287" cy="5283200"/>
          </a:xfrm>
        </p:spPr>
        <p:txBody>
          <a:bodyPr/>
          <a:lstStyle/>
          <a:p>
            <a:pPr marL="1905" indent="112395" algn="l">
              <a:buFont typeface="Wingdings" panose="05000000000000000000" pitchFamily="2" charset="2"/>
              <a:buChar char="l"/>
            </a:pPr>
            <a:r>
              <a:rPr lang="zh-CN" altLang="en-US" sz="2800" noProof="1">
                <a:latin typeface="Times New Roman" panose="02020603050405020304" pitchFamily="2" charset="0"/>
              </a:rPr>
              <a:t>将</a:t>
            </a:r>
            <a:r>
              <a:rPr lang="zh-CN" altLang="en-US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上条指令执行后的状态标志</a:t>
            </a:r>
            <a:r>
              <a:rPr lang="zh-CN" altLang="en-US" sz="2800" noProof="1">
                <a:latin typeface="Times New Roman" panose="02020603050405020304" pitchFamily="2" charset="0"/>
              </a:rPr>
              <a:t>，作为测试条件，来决定是否转移。当条件成立，程序转向指令中给出的目的地址去执行；否则，仍</a:t>
            </a:r>
            <a:r>
              <a:rPr lang="zh-CN" altLang="en-US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顺序执行</a:t>
            </a:r>
            <a:r>
              <a:rPr lang="zh-CN" altLang="en-US" sz="2800" noProof="1">
                <a:latin typeface="Times New Roman" panose="02020603050405020304" pitchFamily="2" charset="0"/>
              </a:rPr>
              <a:t>，例如：</a:t>
            </a:r>
          </a:p>
          <a:p>
            <a:pPr marL="1905" algn="l"/>
            <a:r>
              <a:rPr lang="zh-CN" altLang="en-US" sz="2800" noProof="1">
                <a:latin typeface="Times New Roman" panose="02020603050405020304" pitchFamily="2" charset="0"/>
              </a:rPr>
              <a:t>           </a:t>
            </a:r>
            <a:r>
              <a:rPr lang="en-US" altLang="zh-CN" sz="2800" noProof="1">
                <a:solidFill>
                  <a:srgbClr val="C00000"/>
                </a:solidFill>
                <a:latin typeface="Times New Roman" panose="02020603050405020304" pitchFamily="2" charset="0"/>
              </a:rPr>
              <a:t>JC</a:t>
            </a:r>
            <a:r>
              <a:rPr lang="en-US" altLang="zh-CN" sz="2800" noProof="1">
                <a:latin typeface="Times New Roman" panose="02020603050405020304" pitchFamily="2" charset="0"/>
              </a:rPr>
              <a:t>    </a:t>
            </a:r>
            <a:r>
              <a:rPr lang="en-US" altLang="zh-CN" sz="2800" noProof="1">
                <a:solidFill>
                  <a:srgbClr val="0000FF"/>
                </a:solidFill>
                <a:latin typeface="Times New Roman" panose="02020603050405020304" pitchFamily="2" charset="0"/>
              </a:rPr>
              <a:t>AGAIN</a:t>
            </a:r>
            <a:r>
              <a:rPr lang="en-US" altLang="zh-CN" sz="2800" noProof="1">
                <a:latin typeface="Times New Roman" panose="02020603050405020304" pitchFamily="2" charset="0"/>
              </a:rPr>
              <a:t>   </a:t>
            </a:r>
            <a:r>
              <a:rPr lang="en-US" altLang="zh-CN" sz="2400" noProof="1">
                <a:solidFill>
                  <a:srgbClr val="008000"/>
                </a:solidFill>
                <a:latin typeface="Times New Roman" panose="02020603050405020304" pitchFamily="2" charset="0"/>
              </a:rPr>
              <a:t>; </a:t>
            </a:r>
            <a:r>
              <a:rPr lang="zh-CN" altLang="en-US" sz="2400" noProof="1">
                <a:solidFill>
                  <a:srgbClr val="008000"/>
                </a:solidFill>
                <a:latin typeface="Times New Roman" panose="02020603050405020304" pitchFamily="2" charset="0"/>
              </a:rPr>
              <a:t>如果</a:t>
            </a:r>
            <a:r>
              <a:rPr lang="en-US" altLang="zh-CN" sz="2400" noProof="1">
                <a:solidFill>
                  <a:srgbClr val="008000"/>
                </a:solidFill>
                <a:latin typeface="Times New Roman" panose="02020603050405020304" pitchFamily="2" charset="0"/>
              </a:rPr>
              <a:t>CF=1,</a:t>
            </a:r>
            <a:r>
              <a:rPr lang="zh-CN" altLang="en-US" sz="2400" noProof="1">
                <a:solidFill>
                  <a:srgbClr val="008000"/>
                </a:solidFill>
                <a:latin typeface="Times New Roman" panose="02020603050405020304" pitchFamily="2" charset="0"/>
              </a:rPr>
              <a:t>跳转到</a:t>
            </a:r>
            <a:r>
              <a:rPr lang="en-US" altLang="zh-CN" sz="2400" noProof="1">
                <a:solidFill>
                  <a:srgbClr val="008000"/>
                </a:solidFill>
                <a:latin typeface="Times New Roman" panose="02020603050405020304" pitchFamily="2" charset="0"/>
              </a:rPr>
              <a:t>AGAIN</a:t>
            </a:r>
            <a:r>
              <a:rPr lang="zh-CN" altLang="en-US" sz="2400" noProof="1">
                <a:solidFill>
                  <a:srgbClr val="008000"/>
                </a:solidFill>
                <a:latin typeface="Times New Roman" panose="02020603050405020304" pitchFamily="2" charset="0"/>
              </a:rPr>
              <a:t>执行</a:t>
            </a:r>
          </a:p>
          <a:p>
            <a:pPr marL="1905" algn="l"/>
            <a:endParaRPr lang="zh-CN" altLang="en-US" sz="2400" noProof="1">
              <a:solidFill>
                <a:srgbClr val="008000"/>
              </a:solidFill>
              <a:latin typeface="Times New Roman" panose="02020603050405020304" pitchFamily="2" charset="0"/>
            </a:endParaRPr>
          </a:p>
          <a:p>
            <a:pPr marL="1905" indent="112395" algn="l">
              <a:buFont typeface="Wingdings" panose="05000000000000000000" pitchFamily="2" charset="2"/>
              <a:buChar char="l"/>
            </a:pPr>
            <a:r>
              <a:rPr lang="zh-CN" altLang="en-US" sz="2800" b="1" noProof="1">
                <a:solidFill>
                  <a:srgbClr val="C00000"/>
                </a:solidFill>
                <a:latin typeface="Times New Roman" panose="02020603050405020304" pitchFamily="2" charset="0"/>
              </a:rPr>
              <a:t>条件转移均为</a:t>
            </a:r>
            <a:r>
              <a:rPr lang="zh-CN" altLang="en-US" sz="28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段内短转移</a:t>
            </a:r>
            <a:r>
              <a:rPr lang="zh-CN" altLang="en-US" sz="2800" b="1" noProof="1">
                <a:solidFill>
                  <a:srgbClr val="C00000"/>
                </a:solidFill>
                <a:latin typeface="Times New Roman" panose="02020603050405020304" pitchFamily="2" charset="0"/>
              </a:rPr>
              <a:t>（注意！）</a:t>
            </a:r>
            <a:r>
              <a:rPr lang="zh-CN" altLang="en-US" sz="2800" noProof="1">
                <a:latin typeface="Times New Roman" panose="02020603050405020304" pitchFamily="2" charset="0"/>
              </a:rPr>
              <a:t>，转移指令与目的地址必须在同一代码段中。转移距离范围为</a:t>
            </a:r>
            <a:r>
              <a:rPr lang="en-US" altLang="x-none" sz="2800" b="1" noProof="1">
                <a:solidFill>
                  <a:srgbClr val="C00000"/>
                </a:solidFill>
                <a:latin typeface="Times New Roman" panose="02020603050405020304" pitchFamily="2" charset="0"/>
              </a:rPr>
              <a:t>-128</a:t>
            </a:r>
            <a:r>
              <a:rPr lang="zh-CN" altLang="en-US" sz="2800" b="1" noProof="1">
                <a:solidFill>
                  <a:srgbClr val="C00000"/>
                </a:solidFill>
                <a:latin typeface="Times New Roman" panose="02020603050405020304" pitchFamily="2" charset="0"/>
              </a:rPr>
              <a:t>～</a:t>
            </a:r>
            <a:r>
              <a:rPr lang="en-US" altLang="x-none" sz="2800" b="1" noProof="1">
                <a:solidFill>
                  <a:srgbClr val="C00000"/>
                </a:solidFill>
                <a:latin typeface="Times New Roman" panose="02020603050405020304" pitchFamily="2" charset="0"/>
              </a:rPr>
              <a:t>+127</a:t>
            </a:r>
            <a:r>
              <a:rPr lang="zh-CN" altLang="en-US" sz="2800" b="1" noProof="1">
                <a:solidFill>
                  <a:srgbClr val="C00000"/>
                </a:solidFill>
                <a:latin typeface="Times New Roman" panose="02020603050405020304" pitchFamily="2" charset="0"/>
              </a:rPr>
              <a:t>字节</a:t>
            </a:r>
            <a:r>
              <a:rPr lang="zh-CN" altLang="en-US" sz="2800" noProof="1">
                <a:latin typeface="Times New Roman" panose="02020603050405020304" pitchFamily="2" charset="0"/>
              </a:rPr>
              <a:t>。</a:t>
            </a:r>
            <a:r>
              <a:rPr lang="en-US" altLang="x-none" sz="2800" noProof="1">
                <a:latin typeface="Times New Roman" panose="02020603050405020304" pitchFamily="2" charset="0"/>
              </a:rPr>
              <a:t>8</a:t>
            </a:r>
            <a:r>
              <a:rPr lang="zh-CN" altLang="en-US" sz="2800" noProof="1">
                <a:latin typeface="Times New Roman" panose="02020603050405020304" pitchFamily="2" charset="0"/>
              </a:rPr>
              <a:t>位偏移量需用符号扩展法扩展到</a:t>
            </a:r>
            <a:r>
              <a:rPr lang="en-US" altLang="x-none" sz="2800" noProof="1">
                <a:latin typeface="Times New Roman" panose="02020603050405020304" pitchFamily="2" charset="0"/>
              </a:rPr>
              <a:t>16</a:t>
            </a:r>
            <a:r>
              <a:rPr lang="zh-CN" altLang="en-US" sz="2800" noProof="1">
                <a:latin typeface="Times New Roman" panose="02020603050405020304" pitchFamily="2" charset="0"/>
              </a:rPr>
              <a:t>位后才能与</a:t>
            </a:r>
            <a:r>
              <a:rPr lang="en-US" altLang="x-none" sz="2800" noProof="1">
                <a:latin typeface="Times New Roman" panose="02020603050405020304" pitchFamily="2" charset="0"/>
              </a:rPr>
              <a:t>IP</a:t>
            </a:r>
            <a:r>
              <a:rPr lang="zh-CN" altLang="en-US" sz="2800" noProof="1">
                <a:latin typeface="Times New Roman" panose="02020603050405020304" pitchFamily="2" charset="0"/>
              </a:rPr>
              <a:t>相加</a:t>
            </a:r>
          </a:p>
          <a:p>
            <a:pPr marL="1905" indent="112395" algn="l">
              <a:buFont typeface="Wingdings" panose="05000000000000000000" pitchFamily="2" charset="2"/>
              <a:buChar char="l"/>
            </a:pPr>
            <a:endParaRPr lang="zh-CN" altLang="en-US" sz="2400" b="1" noProof="1">
              <a:solidFill>
                <a:srgbClr val="0000FF"/>
              </a:solidFill>
            </a:endParaRPr>
          </a:p>
          <a:p>
            <a:pPr marL="1905" indent="112395" algn="l">
              <a:buFont typeface="Wingdings" panose="05000000000000000000" pitchFamily="2" charset="2"/>
              <a:buChar char="l"/>
            </a:pPr>
            <a:r>
              <a:rPr lang="zh-CN" altLang="en-US" sz="2800" noProof="1"/>
              <a:t>条件转移指令共</a:t>
            </a:r>
            <a:r>
              <a:rPr lang="en-US" altLang="x-none" sz="2800" noProof="1"/>
              <a:t>18</a:t>
            </a:r>
            <a:r>
              <a:rPr lang="zh-CN" altLang="en-US" sz="2800" noProof="1"/>
              <a:t>条，归类成</a:t>
            </a:r>
            <a:r>
              <a:rPr lang="zh-CN" altLang="en-US" sz="2800" b="1" noProof="1">
                <a:solidFill>
                  <a:srgbClr val="CC3300"/>
                </a:solidFill>
              </a:rPr>
              <a:t>直接标志转移</a:t>
            </a:r>
            <a:r>
              <a:rPr lang="zh-CN" altLang="en-US" sz="2800" noProof="1"/>
              <a:t>和</a:t>
            </a:r>
            <a:r>
              <a:rPr lang="zh-CN" altLang="en-US" sz="2800" b="1" noProof="1">
                <a:solidFill>
                  <a:srgbClr val="CC3300"/>
                </a:solidFill>
              </a:rPr>
              <a:t>间接标志转移</a:t>
            </a:r>
            <a:r>
              <a:rPr lang="zh-CN" altLang="en-US" sz="2800" noProof="1"/>
              <a:t>两大类</a:t>
            </a:r>
          </a:p>
        </p:txBody>
      </p:sp>
      <p:sp>
        <p:nvSpPr>
          <p:cNvPr id="57347" name="日期占位符 1">
            <a:extLst>
              <a:ext uri="{FF2B5EF4-FFF2-40B4-BE49-F238E27FC236}">
                <a16:creationId xmlns:a16="http://schemas.microsoft.com/office/drawing/2014/main" id="{69724CE7-F67B-44C9-8E45-FEF01ED55F18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2041A926-C8EB-42B4-9873-5ACDFD869646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charRg st="63" end="1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2227">
                                            <p:txEl>
                                              <p:charRg st="63" end="1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charRg st="174" end="20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2227">
                                            <p:txEl>
                                              <p:charRg st="174" end="20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内容占位符 2">
            <a:extLst>
              <a:ext uri="{FF2B5EF4-FFF2-40B4-BE49-F238E27FC236}">
                <a16:creationId xmlns:a16="http://schemas.microsoft.com/office/drawing/2014/main" id="{7AE8402A-7EE4-4C40-A0A5-64FF688C9C7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93700" y="317500"/>
            <a:ext cx="8372475" cy="2133600"/>
          </a:xfrm>
        </p:spPr>
        <p:txBody>
          <a:bodyPr/>
          <a:lstStyle/>
          <a:p>
            <a:pPr algn="l"/>
            <a:r>
              <a:rPr lang="en-US" altLang="zh-CN" sz="2800" b="1">
                <a:solidFill>
                  <a:schemeClr val="accent2"/>
                </a:solidFill>
              </a:rPr>
              <a:t>1) </a:t>
            </a:r>
            <a:r>
              <a:rPr lang="zh-CN" altLang="en-US" sz="2800" b="1">
                <a:solidFill>
                  <a:schemeClr val="accent2"/>
                </a:solidFill>
              </a:rPr>
              <a:t>直接标志转移指令</a:t>
            </a:r>
          </a:p>
          <a:p>
            <a:pPr algn="l">
              <a:spcBef>
                <a:spcPct val="60000"/>
              </a:spcBef>
            </a:pPr>
            <a:r>
              <a:rPr lang="zh-CN" altLang="en-US" sz="2400">
                <a:latin typeface="Times New Roman" panose="02020603050405020304" pitchFamily="18" charset="0"/>
              </a:rPr>
              <a:t>助记符中</a:t>
            </a:r>
            <a:r>
              <a:rPr lang="zh-CN" altLang="en-US" sz="2400" b="1">
                <a:solidFill>
                  <a:srgbClr val="CC3300"/>
                </a:solidFill>
                <a:latin typeface="Times New Roman" panose="02020603050405020304" pitchFamily="18" charset="0"/>
              </a:rPr>
              <a:t>直接给出标志状态测试条件</a:t>
            </a:r>
            <a:r>
              <a:rPr lang="zh-CN" altLang="en-US" sz="2400">
                <a:latin typeface="Times New Roman" panose="02020603050405020304" pitchFamily="18" charset="0"/>
              </a:rPr>
              <a:t>，以</a:t>
            </a:r>
            <a:r>
              <a:rPr lang="en-US" altLang="zh-CN" sz="2400">
                <a:latin typeface="Times New Roman" panose="02020603050405020304" pitchFamily="18" charset="0"/>
              </a:rPr>
              <a:t>CF</a:t>
            </a:r>
            <a:r>
              <a:rPr lang="zh-CN" altLang="en-US" sz="2400">
                <a:latin typeface="Times New Roman" panose="02020603050405020304" pitchFamily="18" charset="0"/>
              </a:rPr>
              <a:t>、</a:t>
            </a:r>
            <a:r>
              <a:rPr lang="en-US" altLang="zh-CN" sz="2400">
                <a:latin typeface="Times New Roman" panose="02020603050405020304" pitchFamily="18" charset="0"/>
              </a:rPr>
              <a:t>ZF</a:t>
            </a:r>
            <a:r>
              <a:rPr lang="zh-CN" altLang="en-US" sz="2400">
                <a:latin typeface="Times New Roman" panose="02020603050405020304" pitchFamily="18" charset="0"/>
              </a:rPr>
              <a:t>、</a:t>
            </a:r>
            <a:r>
              <a:rPr lang="en-US" altLang="zh-CN" sz="2400">
                <a:latin typeface="Times New Roman" panose="02020603050405020304" pitchFamily="18" charset="0"/>
              </a:rPr>
              <a:t>SF</a:t>
            </a:r>
            <a:r>
              <a:rPr lang="zh-CN" altLang="en-US" sz="2400">
                <a:latin typeface="Times New Roman" panose="02020603050405020304" pitchFamily="18" charset="0"/>
              </a:rPr>
              <a:t>、</a:t>
            </a:r>
            <a:r>
              <a:rPr lang="en-US" altLang="zh-CN" sz="2400">
                <a:latin typeface="Times New Roman" panose="02020603050405020304" pitchFamily="18" charset="0"/>
              </a:rPr>
              <a:t>OF</a:t>
            </a:r>
            <a:r>
              <a:rPr lang="zh-CN" altLang="en-US" sz="2400">
                <a:latin typeface="Times New Roman" panose="02020603050405020304" pitchFamily="18" charset="0"/>
              </a:rPr>
              <a:t>和</a:t>
            </a:r>
            <a:r>
              <a:rPr lang="en-US" altLang="zh-CN" sz="2400">
                <a:latin typeface="Times New Roman" panose="02020603050405020304" pitchFamily="18" charset="0"/>
              </a:rPr>
              <a:t>PF</a:t>
            </a:r>
            <a:r>
              <a:rPr lang="zh-CN" altLang="en-US" sz="2400">
                <a:latin typeface="Times New Roman" panose="02020603050405020304" pitchFamily="18" charset="0"/>
              </a:rPr>
              <a:t>等</a:t>
            </a:r>
            <a:r>
              <a:rPr lang="en-US" altLang="zh-CN" sz="2400">
                <a:latin typeface="Times New Roman" panose="02020603050405020304" pitchFamily="18" charset="0"/>
              </a:rPr>
              <a:t>5</a:t>
            </a:r>
            <a:r>
              <a:rPr lang="zh-CN" altLang="en-US" sz="2400">
                <a:latin typeface="Times New Roman" panose="02020603050405020304" pitchFamily="18" charset="0"/>
              </a:rPr>
              <a:t>个标志的</a:t>
            </a:r>
            <a:r>
              <a:rPr lang="en-US" altLang="zh-CN" sz="2400">
                <a:latin typeface="Times New Roman" panose="02020603050405020304" pitchFamily="18" charset="0"/>
              </a:rPr>
              <a:t>10</a:t>
            </a:r>
            <a:r>
              <a:rPr lang="zh-CN" altLang="en-US" sz="2400">
                <a:latin typeface="Times New Roman" panose="02020603050405020304" pitchFamily="18" charset="0"/>
              </a:rPr>
              <a:t>种状态为判断条件，形成</a:t>
            </a:r>
            <a:r>
              <a:rPr lang="en-US" altLang="zh-CN" sz="2400">
                <a:latin typeface="Times New Roman" panose="02020603050405020304" pitchFamily="18" charset="0"/>
              </a:rPr>
              <a:t>10</a:t>
            </a:r>
            <a:r>
              <a:rPr lang="zh-CN" altLang="en-US" sz="2400">
                <a:latin typeface="Times New Roman" panose="02020603050405020304" pitchFamily="18" charset="0"/>
              </a:rPr>
              <a:t>条指令，如表</a:t>
            </a:r>
            <a:r>
              <a:rPr lang="en-US" altLang="zh-CN" sz="2400">
                <a:latin typeface="Times New Roman" panose="02020603050405020304" pitchFamily="18" charset="0"/>
              </a:rPr>
              <a:t>3.11</a:t>
            </a:r>
            <a:r>
              <a:rPr lang="zh-CN" altLang="en-US" sz="2400">
                <a:latin typeface="Times New Roman" panose="02020603050405020304" pitchFamily="18" charset="0"/>
              </a:rPr>
              <a:t>。有的指令有两种助记符，代表同样的指令，如</a:t>
            </a:r>
            <a:r>
              <a:rPr lang="en-US" altLang="zh-CN" sz="2400">
                <a:latin typeface="Times New Roman" panose="02020603050405020304" pitchFamily="18" charset="0"/>
              </a:rPr>
              <a:t>JZ/JE</a:t>
            </a:r>
            <a:r>
              <a:rPr lang="zh-CN" altLang="en-US" sz="2400">
                <a:latin typeface="Times New Roman" panose="02020603050405020304" pitchFamily="18" charset="0"/>
              </a:rPr>
              <a:t>。</a:t>
            </a:r>
          </a:p>
        </p:txBody>
      </p:sp>
      <p:pic>
        <p:nvPicPr>
          <p:cNvPr id="53251" name="Picture 2">
            <a:extLst>
              <a:ext uri="{FF2B5EF4-FFF2-40B4-BE49-F238E27FC236}">
                <a16:creationId xmlns:a16="http://schemas.microsoft.com/office/drawing/2014/main" id="{3D4FD469-1C2A-4CE7-A956-9821834F72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700" y="2346325"/>
            <a:ext cx="5911850" cy="4289425"/>
          </a:xfrm>
          <a:prstGeom prst="rect">
            <a:avLst/>
          </a:prstGeom>
          <a:noFill/>
          <a:ln w="38100" cap="sq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371" name="日期占位符 1">
            <a:extLst>
              <a:ext uri="{FF2B5EF4-FFF2-40B4-BE49-F238E27FC236}">
                <a16:creationId xmlns:a16="http://schemas.microsoft.com/office/drawing/2014/main" id="{218DB19D-3ECC-4A7F-BB09-922FCBAB114F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585597DF-DA0A-48A3-BF34-E83420F2A733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32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3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标题 1">
            <a:extLst>
              <a:ext uri="{FF2B5EF4-FFF2-40B4-BE49-F238E27FC236}">
                <a16:creationId xmlns:a16="http://schemas.microsoft.com/office/drawing/2014/main" id="{E352B470-EBE4-4519-9CF2-25C881A3CB81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en-US" altLang="zh-CN" sz="3200" b="1">
                <a:solidFill>
                  <a:schemeClr val="accent2"/>
                </a:solidFill>
              </a:rPr>
              <a:t>2. </a:t>
            </a:r>
            <a:r>
              <a:rPr lang="zh-CN" altLang="en-US" sz="3200" b="1">
                <a:solidFill>
                  <a:schemeClr val="accent2"/>
                </a:solidFill>
              </a:rPr>
              <a:t>条件转移指令</a:t>
            </a:r>
            <a:r>
              <a:rPr lang="en-US" altLang="zh-CN" sz="3200" b="1">
                <a:solidFill>
                  <a:schemeClr val="accent2"/>
                </a:solidFill>
              </a:rPr>
              <a:t>（</a:t>
            </a:r>
            <a:r>
              <a:rPr lang="zh-CN" altLang="en-US" sz="3200" b="1">
                <a:solidFill>
                  <a:schemeClr val="accent2"/>
                </a:solidFill>
              </a:rPr>
              <a:t>直接标志转移指令举例）</a:t>
            </a:r>
            <a:endParaRPr lang="en-US" altLang="zh-CN" sz="3200" b="1">
              <a:solidFill>
                <a:schemeClr val="accent2"/>
              </a:solidFill>
            </a:endParaRPr>
          </a:p>
        </p:txBody>
      </p:sp>
      <p:sp>
        <p:nvSpPr>
          <p:cNvPr id="54275" name="内容占位符 2">
            <a:extLst>
              <a:ext uri="{FF2B5EF4-FFF2-40B4-BE49-F238E27FC236}">
                <a16:creationId xmlns:a16="http://schemas.microsoft.com/office/drawing/2014/main" id="{73F24012-F6CD-4DAC-80DB-B81D67D8FA0C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7350" y="1719263"/>
            <a:ext cx="8372475" cy="4770437"/>
          </a:xfrm>
        </p:spPr>
        <p:txBody>
          <a:bodyPr/>
          <a:lstStyle/>
          <a:p>
            <a:pPr algn="l"/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例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3.88 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 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求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AL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BL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中的两数之和，若有进位，则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AH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置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1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，否则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AH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清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0</a:t>
            </a:r>
          </a:p>
          <a:p>
            <a:pPr algn="l"/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  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程序如下：</a:t>
            </a:r>
          </a:p>
          <a:p>
            <a:pPr algn="l"/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ADD	   AL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BL	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；两数相加</a:t>
            </a:r>
          </a:p>
          <a:p>
            <a:pPr algn="l"/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</a:t>
            </a:r>
            <a:r>
              <a:rPr lang="en-US" altLang="zh-CN" sz="2400" b="1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JC        </a:t>
            </a:r>
            <a:r>
              <a:rPr lang="zh-CN" altLang="en-US" sz="2400" b="1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   </a:t>
            </a:r>
            <a:r>
              <a:rPr lang="en-US" altLang="zh-CN" sz="2400" b="1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NEXT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；若有进位，转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NEXT</a:t>
            </a:r>
          </a:p>
          <a:p>
            <a:pPr algn="l"/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MOV	   AH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0	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；无进位，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AH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清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0</a:t>
            </a:r>
          </a:p>
          <a:p>
            <a:pPr algn="l"/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JMP	   EXIT		</a:t>
            </a:r>
            <a:r>
              <a:rPr lang="zh-CN" altLang="en-US" sz="2400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；往下执行</a:t>
            </a:r>
          </a:p>
          <a:p>
            <a:pPr algn="l"/>
            <a:r>
              <a:rPr lang="en-US" altLang="zh-CN" sz="2400" b="1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NEXT</a:t>
            </a:r>
            <a:r>
              <a:rPr lang="zh-CN" altLang="en-US" sz="2400" b="1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：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</a:t>
            </a:r>
          </a:p>
          <a:p>
            <a:pPr algn="l"/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MOV	AH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1	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；有进位，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AH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置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1</a:t>
            </a:r>
          </a:p>
          <a:p>
            <a:pPr algn="l"/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EXIT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：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    …		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；程序继续进行</a:t>
            </a:r>
          </a:p>
        </p:txBody>
      </p:sp>
      <p:sp>
        <p:nvSpPr>
          <p:cNvPr id="59395" name="日期占位符 1">
            <a:extLst>
              <a:ext uri="{FF2B5EF4-FFF2-40B4-BE49-F238E27FC236}">
                <a16:creationId xmlns:a16="http://schemas.microsoft.com/office/drawing/2014/main" id="{71BFB8F9-0F63-48C6-9018-D46403A9FB5A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A2BC5B75-36EC-42F8-A20A-0E1F16400FF9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circl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42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42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42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4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5427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标题 1">
            <a:extLst>
              <a:ext uri="{FF2B5EF4-FFF2-40B4-BE49-F238E27FC236}">
                <a16:creationId xmlns:a16="http://schemas.microsoft.com/office/drawing/2014/main" id="{B4415FC1-9BD6-4200-8009-EEC72D412E8D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en-US" altLang="zh-CN" sz="4400" b="1">
                <a:solidFill>
                  <a:schemeClr val="accent2"/>
                </a:solidFill>
              </a:rPr>
              <a:t>2. </a:t>
            </a:r>
            <a:r>
              <a:rPr lang="zh-CN" altLang="en-US" sz="4400" b="1">
                <a:solidFill>
                  <a:schemeClr val="accent2"/>
                </a:solidFill>
              </a:rPr>
              <a:t>条件转移指令</a:t>
            </a:r>
          </a:p>
        </p:txBody>
      </p:sp>
      <p:sp>
        <p:nvSpPr>
          <p:cNvPr id="55299" name="内容占位符 2">
            <a:extLst>
              <a:ext uri="{FF2B5EF4-FFF2-40B4-BE49-F238E27FC236}">
                <a16:creationId xmlns:a16="http://schemas.microsoft.com/office/drawing/2014/main" id="{50BD3630-865D-465E-BEC7-8EDCD18394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1500" y="1449388"/>
            <a:ext cx="7956550" cy="4691062"/>
          </a:xfrm>
        </p:spPr>
        <p:txBody>
          <a:bodyPr/>
          <a:lstStyle/>
          <a:p>
            <a:pPr marL="1905" indent="-1905" algn="l"/>
            <a:r>
              <a:rPr lang="en-US" altLang="x-none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2) </a:t>
            </a:r>
            <a:r>
              <a:rPr lang="zh-CN" altLang="en-US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间接标志转移</a:t>
            </a:r>
          </a:p>
          <a:p>
            <a:pPr marL="1905" indent="112395" algn="l">
              <a:buFont typeface="Wingdings" panose="05000000000000000000" pitchFamily="2" charset="2"/>
              <a:buChar char="l"/>
            </a:pPr>
            <a:r>
              <a:rPr lang="zh-CN" altLang="en-US" sz="2800" noProof="1">
                <a:latin typeface="Times New Roman" panose="02020603050405020304" pitchFamily="2" charset="0"/>
              </a:rPr>
              <a:t>不在指令助记符中直接给出标志状态位的测试条件，但仍以某一个或几个标志的</a:t>
            </a:r>
            <a:r>
              <a:rPr lang="zh-CN" altLang="en-US" sz="2800" b="1" noProof="1">
                <a:solidFill>
                  <a:srgbClr val="C00000"/>
                </a:solidFill>
                <a:latin typeface="Times New Roman" panose="02020603050405020304" pitchFamily="2" charset="0"/>
              </a:rPr>
              <a:t>状态组合</a:t>
            </a:r>
            <a:r>
              <a:rPr lang="zh-CN" altLang="en-US" sz="28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为测试条件</a:t>
            </a:r>
            <a:r>
              <a:rPr lang="zh-CN" altLang="en-US" sz="2800" noProof="1">
                <a:latin typeface="Times New Roman" panose="02020603050405020304" pitchFamily="2" charset="0"/>
              </a:rPr>
              <a:t>，若条件成立则转移，否则顺序往下执行</a:t>
            </a:r>
          </a:p>
          <a:p>
            <a:pPr marL="1905" indent="112395" algn="l">
              <a:buFont typeface="Wingdings" panose="05000000000000000000" pitchFamily="2" charset="2"/>
              <a:buChar char="l"/>
            </a:pPr>
            <a:r>
              <a:rPr lang="zh-CN" altLang="en-US" sz="2800" noProof="1">
                <a:latin typeface="Times New Roman" panose="02020603050405020304" pitchFamily="2" charset="0"/>
              </a:rPr>
              <a:t>间接标志转移指令共有</a:t>
            </a:r>
            <a:r>
              <a:rPr lang="en-US" altLang="x-none" sz="2800" noProof="1">
                <a:latin typeface="Times New Roman" panose="02020603050405020304" pitchFamily="2" charset="0"/>
              </a:rPr>
              <a:t>8</a:t>
            </a:r>
            <a:r>
              <a:rPr lang="zh-CN" altLang="en-US" sz="2800" noProof="1">
                <a:latin typeface="Times New Roman" panose="02020603050405020304" pitchFamily="2" charset="0"/>
              </a:rPr>
              <a:t>条，列于表</a:t>
            </a:r>
            <a:r>
              <a:rPr lang="en-US" altLang="x-none" sz="2800" noProof="1">
                <a:latin typeface="Times New Roman" panose="02020603050405020304" pitchFamily="2" charset="0"/>
              </a:rPr>
              <a:t>3.12</a:t>
            </a:r>
            <a:r>
              <a:rPr lang="zh-CN" altLang="en-US" sz="2800" noProof="1">
                <a:latin typeface="Times New Roman" panose="02020603050405020304" pitchFamily="2" charset="0"/>
              </a:rPr>
              <a:t>中。每条指令都有两种不同的助记符</a:t>
            </a:r>
          </a:p>
          <a:p>
            <a:pPr marL="1905" indent="112395" algn="l">
              <a:buFont typeface="Wingdings" panose="05000000000000000000" pitchFamily="2" charset="2"/>
              <a:buChar char="l"/>
            </a:pPr>
            <a:r>
              <a:rPr lang="zh-CN" altLang="en-US" sz="2800" noProof="1">
                <a:latin typeface="Times New Roman" panose="02020603050405020304" pitchFamily="2" charset="0"/>
              </a:rPr>
              <a:t>在</a:t>
            </a:r>
            <a:r>
              <a:rPr lang="zh-CN" altLang="en-US" sz="28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无符号</a:t>
            </a:r>
            <a:r>
              <a:rPr lang="zh-CN" altLang="en-US" sz="2800" noProof="1">
                <a:latin typeface="Times New Roman" panose="02020603050405020304" pitchFamily="2" charset="0"/>
              </a:rPr>
              <a:t>数比较测试指令中，指令助记符中的</a:t>
            </a:r>
            <a:r>
              <a:rPr lang="en-US" altLang="x-none" sz="2800" noProof="1">
                <a:latin typeface="Times New Roman" panose="02020603050405020304" pitchFamily="2" charset="0"/>
              </a:rPr>
              <a:t>“A”</a:t>
            </a:r>
            <a:r>
              <a:rPr lang="zh-CN" altLang="en-US" sz="2800" noProof="1">
                <a:latin typeface="Times New Roman" panose="02020603050405020304" pitchFamily="2" charset="0"/>
              </a:rPr>
              <a:t>是英文</a:t>
            </a:r>
            <a:r>
              <a:rPr lang="en-US" altLang="x-none" sz="28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Above</a:t>
            </a:r>
            <a:r>
              <a:rPr lang="zh-CN" altLang="en-US" sz="2800" noProof="1">
                <a:latin typeface="Times New Roman" panose="02020603050405020304" pitchFamily="2" charset="0"/>
              </a:rPr>
              <a:t>的缩写，表示</a:t>
            </a:r>
            <a:r>
              <a:rPr lang="en-US" altLang="x-none" sz="2800" noProof="1">
                <a:latin typeface="Times New Roman" panose="02020603050405020304" pitchFamily="2" charset="0"/>
              </a:rPr>
              <a:t>“</a:t>
            </a:r>
            <a:r>
              <a:rPr lang="zh-CN" altLang="en-US" sz="2800" noProof="1">
                <a:latin typeface="Times New Roman" panose="02020603050405020304" pitchFamily="2" charset="0"/>
              </a:rPr>
              <a:t>高于</a:t>
            </a:r>
            <a:r>
              <a:rPr lang="en-US" altLang="x-none" sz="2800" noProof="1">
                <a:latin typeface="Times New Roman" panose="02020603050405020304" pitchFamily="2" charset="0"/>
              </a:rPr>
              <a:t>”</a:t>
            </a:r>
            <a:r>
              <a:rPr lang="zh-CN" altLang="en-US" sz="2800" noProof="1">
                <a:latin typeface="Times New Roman" panose="02020603050405020304" pitchFamily="2" charset="0"/>
              </a:rPr>
              <a:t>之意，</a:t>
            </a:r>
            <a:r>
              <a:rPr lang="en-US" altLang="x-none" sz="2800" noProof="1">
                <a:latin typeface="Times New Roman" panose="02020603050405020304" pitchFamily="2" charset="0"/>
              </a:rPr>
              <a:t>“B”</a:t>
            </a:r>
            <a:r>
              <a:rPr lang="zh-CN" altLang="en-US" sz="2800" noProof="1">
                <a:latin typeface="Times New Roman" panose="02020603050405020304" pitchFamily="2" charset="0"/>
              </a:rPr>
              <a:t>是英文</a:t>
            </a:r>
            <a:r>
              <a:rPr lang="en-US" altLang="x-none" sz="28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Below</a:t>
            </a:r>
            <a:r>
              <a:rPr lang="zh-CN" altLang="en-US" sz="2800" noProof="1">
                <a:latin typeface="Times New Roman" panose="02020603050405020304" pitchFamily="2" charset="0"/>
              </a:rPr>
              <a:t>的缩写，表示</a:t>
            </a:r>
            <a:r>
              <a:rPr lang="en-US" altLang="x-none" sz="2800" noProof="1">
                <a:latin typeface="Times New Roman" panose="02020603050405020304" pitchFamily="2" charset="0"/>
              </a:rPr>
              <a:t>“</a:t>
            </a:r>
            <a:r>
              <a:rPr lang="zh-CN" altLang="en-US" sz="2800" noProof="1">
                <a:latin typeface="Times New Roman" panose="02020603050405020304" pitchFamily="2" charset="0"/>
              </a:rPr>
              <a:t>低于</a:t>
            </a:r>
            <a:r>
              <a:rPr lang="en-US" altLang="x-none" sz="2800" noProof="1">
                <a:latin typeface="Times New Roman" panose="02020603050405020304" pitchFamily="2" charset="0"/>
              </a:rPr>
              <a:t>”</a:t>
            </a:r>
            <a:r>
              <a:rPr lang="zh-CN" altLang="en-US" sz="2800" noProof="1">
                <a:latin typeface="Times New Roman" panose="02020603050405020304" pitchFamily="2" charset="0"/>
              </a:rPr>
              <a:t>之意</a:t>
            </a:r>
            <a:endParaRPr lang="zh-CN" altLang="en-US" sz="3200" noProof="1"/>
          </a:p>
        </p:txBody>
      </p:sp>
      <p:sp>
        <p:nvSpPr>
          <p:cNvPr id="60419" name="日期占位符 1">
            <a:extLst>
              <a:ext uri="{FF2B5EF4-FFF2-40B4-BE49-F238E27FC236}">
                <a16:creationId xmlns:a16="http://schemas.microsoft.com/office/drawing/2014/main" id="{DAF71D4C-A81A-442D-A435-3CC5D063290F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A1FFDBA0-F7A6-4B72-B3E5-C322129E4E35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diamond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52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52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52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标题 1">
            <a:extLst>
              <a:ext uri="{FF2B5EF4-FFF2-40B4-BE49-F238E27FC236}">
                <a16:creationId xmlns:a16="http://schemas.microsoft.com/office/drawing/2014/main" id="{5AE3C1CC-8BA6-4D18-909A-1302A1F067AD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en-US" altLang="zh-CN" sz="4400" b="1">
                <a:solidFill>
                  <a:schemeClr val="accent2"/>
                </a:solidFill>
              </a:rPr>
              <a:t>2. </a:t>
            </a:r>
            <a:r>
              <a:rPr lang="zh-CN" altLang="en-US" sz="4400" b="1">
                <a:solidFill>
                  <a:schemeClr val="accent2"/>
                </a:solidFill>
              </a:rPr>
              <a:t>条件转移指令</a:t>
            </a:r>
          </a:p>
        </p:txBody>
      </p:sp>
      <p:sp>
        <p:nvSpPr>
          <p:cNvPr id="61442" name="内容占位符 2">
            <a:extLst>
              <a:ext uri="{FF2B5EF4-FFF2-40B4-BE49-F238E27FC236}">
                <a16:creationId xmlns:a16="http://schemas.microsoft.com/office/drawing/2014/main" id="{83CD1128-8188-4156-BFA8-9AFBC08A83F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1314450"/>
            <a:ext cx="8372475" cy="558800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3200" b="1">
                <a:solidFill>
                  <a:srgbClr val="CC3300"/>
                </a:solidFill>
              </a:rPr>
              <a:t>间接标志条件转移指令</a:t>
            </a:r>
          </a:p>
        </p:txBody>
      </p:sp>
      <p:pic>
        <p:nvPicPr>
          <p:cNvPr id="61443" name="Picture 2">
            <a:extLst>
              <a:ext uri="{FF2B5EF4-FFF2-40B4-BE49-F238E27FC236}">
                <a16:creationId xmlns:a16="http://schemas.microsoft.com/office/drawing/2014/main" id="{61473450-3E90-4B77-B4C9-85BC02BB25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2095500"/>
            <a:ext cx="8559800" cy="3848100"/>
          </a:xfrm>
          <a:prstGeom prst="rect">
            <a:avLst/>
          </a:prstGeom>
          <a:noFill/>
          <a:ln w="38100" cap="sq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444" name="内容占位符 2">
            <a:extLst>
              <a:ext uri="{FF2B5EF4-FFF2-40B4-BE49-F238E27FC236}">
                <a16:creationId xmlns:a16="http://schemas.microsoft.com/office/drawing/2014/main" id="{026E4A65-4389-476D-8341-50A7052CD188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385763" y="6051550"/>
            <a:ext cx="8372475" cy="558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zh-CN" sz="2800" b="1">
                <a:solidFill>
                  <a:srgbClr val="0000FF"/>
                </a:solidFill>
                <a:latin typeface="Arial" panose="020B0604020202020204" pitchFamily="34" charset="0"/>
              </a:rPr>
              <a:t>有符号数：</a:t>
            </a:r>
            <a:r>
              <a:rPr lang="en-US" altLang="zh-CN" sz="2800" b="1">
                <a:solidFill>
                  <a:srgbClr val="FF0000"/>
                </a:solidFill>
                <a:latin typeface="Arial" panose="020B0604020202020204" pitchFamily="34" charset="0"/>
              </a:rPr>
              <a:t>A</a:t>
            </a:r>
            <a:r>
              <a:rPr lang="en-US" altLang="zh-CN" sz="2800" b="1">
                <a:solidFill>
                  <a:srgbClr val="0000FF"/>
                </a:solidFill>
                <a:latin typeface="Arial" panose="020B0604020202020204" pitchFamily="34" charset="0"/>
              </a:rPr>
              <a:t>bove </a:t>
            </a:r>
            <a:r>
              <a:rPr lang="en-US" altLang="zh-CN" sz="2800" b="1">
                <a:solidFill>
                  <a:srgbClr val="FF0000"/>
                </a:solidFill>
                <a:latin typeface="Arial" panose="020B0604020202020204" pitchFamily="34" charset="0"/>
              </a:rPr>
              <a:t>B</a:t>
            </a:r>
            <a:r>
              <a:rPr lang="en-US" altLang="zh-CN" sz="2800" b="1">
                <a:solidFill>
                  <a:srgbClr val="0000FF"/>
                </a:solidFill>
                <a:latin typeface="Arial" panose="020B0604020202020204" pitchFamily="34" charset="0"/>
              </a:rPr>
              <a:t>low  </a:t>
            </a:r>
            <a:r>
              <a:rPr lang="zh-CN" altLang="en-US" sz="2800" b="1">
                <a:solidFill>
                  <a:srgbClr val="0000FF"/>
                </a:solidFill>
                <a:latin typeface="Arial" panose="020B0604020202020204" pitchFamily="34" charset="0"/>
              </a:rPr>
              <a:t>有符号数：</a:t>
            </a:r>
            <a:r>
              <a:rPr lang="en-US" altLang="zh-CN" sz="2800" b="1">
                <a:solidFill>
                  <a:srgbClr val="FF0000"/>
                </a:solidFill>
                <a:latin typeface="Arial" panose="020B0604020202020204" pitchFamily="34" charset="0"/>
              </a:rPr>
              <a:t>G</a:t>
            </a:r>
            <a:r>
              <a:rPr lang="en-US" altLang="zh-CN" sz="2800" b="1">
                <a:solidFill>
                  <a:srgbClr val="0000FF"/>
                </a:solidFill>
                <a:latin typeface="Arial" panose="020B0604020202020204" pitchFamily="34" charset="0"/>
              </a:rPr>
              <a:t>reat </a:t>
            </a:r>
            <a:r>
              <a:rPr lang="en-US" altLang="zh-CN" sz="2800" b="1">
                <a:solidFill>
                  <a:srgbClr val="FF0000"/>
                </a:solidFill>
                <a:latin typeface="Arial" panose="020B0604020202020204" pitchFamily="34" charset="0"/>
              </a:rPr>
              <a:t>L</a:t>
            </a:r>
            <a:r>
              <a:rPr lang="en-US" altLang="zh-CN" sz="2800" b="1">
                <a:solidFill>
                  <a:srgbClr val="0000FF"/>
                </a:solidFill>
                <a:latin typeface="Arial" panose="020B0604020202020204" pitchFamily="34" charset="0"/>
              </a:rPr>
              <a:t>ess</a:t>
            </a:r>
          </a:p>
        </p:txBody>
      </p:sp>
      <p:sp>
        <p:nvSpPr>
          <p:cNvPr id="61445" name="日期占位符 1">
            <a:extLst>
              <a:ext uri="{FF2B5EF4-FFF2-40B4-BE49-F238E27FC236}">
                <a16:creationId xmlns:a16="http://schemas.microsoft.com/office/drawing/2014/main" id="{A218CCD7-C94C-40CB-82E9-F89CF6148518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00532C3E-2A1B-4F89-997D-34F9C6EC380F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lus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标题 1">
            <a:extLst>
              <a:ext uri="{FF2B5EF4-FFF2-40B4-BE49-F238E27FC236}">
                <a16:creationId xmlns:a16="http://schemas.microsoft.com/office/drawing/2014/main" id="{12A6C3CA-0051-4C16-8629-BCD529F49233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en-US" altLang="zh-CN" sz="3200" b="1">
                <a:solidFill>
                  <a:schemeClr val="accent2"/>
                </a:solidFill>
              </a:rPr>
              <a:t>2. </a:t>
            </a:r>
            <a:r>
              <a:rPr lang="zh-CN" altLang="en-US" sz="3200" b="1">
                <a:solidFill>
                  <a:schemeClr val="accent2"/>
                </a:solidFill>
              </a:rPr>
              <a:t>条件转移指令</a:t>
            </a:r>
            <a:r>
              <a:rPr lang="en-US" altLang="zh-CN" sz="3200" b="1">
                <a:solidFill>
                  <a:schemeClr val="accent2"/>
                </a:solidFill>
              </a:rPr>
              <a:t>（</a:t>
            </a:r>
            <a:r>
              <a:rPr lang="zh-CN" altLang="en-US" sz="3200" b="1">
                <a:solidFill>
                  <a:schemeClr val="accent2"/>
                </a:solidFill>
              </a:rPr>
              <a:t>间接标志转移指令举例）</a:t>
            </a:r>
            <a:endParaRPr lang="en-US" altLang="zh-CN" sz="3200" b="1">
              <a:solidFill>
                <a:schemeClr val="accent2"/>
              </a:solidFill>
            </a:endParaRPr>
          </a:p>
        </p:txBody>
      </p:sp>
      <p:sp>
        <p:nvSpPr>
          <p:cNvPr id="57347" name="内容占位符 2">
            <a:extLst>
              <a:ext uri="{FF2B5EF4-FFF2-40B4-BE49-F238E27FC236}">
                <a16:creationId xmlns:a16="http://schemas.microsoft.com/office/drawing/2014/main" id="{3BC22895-DF67-41DC-B97E-56D8628A32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7350" y="1449388"/>
            <a:ext cx="8372475" cy="5040312"/>
          </a:xfrm>
        </p:spPr>
        <p:txBody>
          <a:bodyPr/>
          <a:lstStyle/>
          <a:p>
            <a:pPr marL="1905" indent="-1905" algn="l"/>
            <a:r>
              <a:rPr lang="zh-CN" altLang="en-US" sz="2600" b="1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例</a:t>
            </a:r>
            <a:r>
              <a:rPr lang="en-US" altLang="x-none" sz="2600" b="1" noProof="1">
                <a:solidFill>
                  <a:srgbClr val="0000FF"/>
                </a:solidFill>
                <a:latin typeface="Times New Roman" panose="02020603050405020304" pitchFamily="2" charset="0"/>
                <a:ea typeface="楷体_GB2312" pitchFamily="1" charset="-122"/>
              </a:rPr>
              <a:t>3.89 </a:t>
            </a:r>
            <a:r>
              <a:rPr lang="en-US" altLang="x-none" sz="2600" noProof="1">
                <a:latin typeface="Times New Roman" panose="02020603050405020304" pitchFamily="2" charset="0"/>
                <a:ea typeface="楷体_GB2312" pitchFamily="1" charset="-122"/>
              </a:rPr>
              <a:t> </a:t>
            </a:r>
            <a:r>
              <a:rPr lang="zh-CN" altLang="en-US" sz="2600" noProof="1">
                <a:latin typeface="Times New Roman" panose="02020603050405020304" pitchFamily="2" charset="0"/>
                <a:ea typeface="楷体_GB2312" pitchFamily="1" charset="-122"/>
              </a:rPr>
              <a:t>设</a:t>
            </a:r>
            <a:r>
              <a:rPr lang="en-US" altLang="x-none" sz="2600" noProof="1">
                <a:latin typeface="Times New Roman" panose="02020603050405020304" pitchFamily="2" charset="0"/>
                <a:ea typeface="楷体_GB2312" pitchFamily="1" charset="-122"/>
              </a:rPr>
              <a:t> AL=F0H</a:t>
            </a:r>
            <a:r>
              <a:rPr lang="zh-CN" altLang="en-US" sz="2600" noProof="1">
                <a:latin typeface="Times New Roman" panose="02020603050405020304" pitchFamily="2" charset="0"/>
                <a:ea typeface="楷体_GB2312" pitchFamily="1" charset="-122"/>
              </a:rPr>
              <a:t>，</a:t>
            </a:r>
            <a:r>
              <a:rPr lang="en-US" altLang="x-none" sz="2600" noProof="1">
                <a:latin typeface="Times New Roman" panose="02020603050405020304" pitchFamily="2" charset="0"/>
                <a:ea typeface="楷体_GB2312" pitchFamily="1" charset="-122"/>
              </a:rPr>
              <a:t>BL=35H</a:t>
            </a:r>
            <a:r>
              <a:rPr lang="zh-CN" altLang="en-US" sz="2600" noProof="1">
                <a:latin typeface="Times New Roman" panose="02020603050405020304" pitchFamily="2" charset="0"/>
                <a:ea typeface="楷体_GB2312" pitchFamily="1" charset="-122"/>
              </a:rPr>
              <a:t>，执行指令</a:t>
            </a:r>
          </a:p>
          <a:p>
            <a:pPr marL="1905" indent="-1905" algn="l"/>
            <a:r>
              <a:rPr lang="en-US" altLang="x-none" sz="2600" noProof="1">
                <a:latin typeface="Times New Roman" panose="02020603050405020304" pitchFamily="2" charset="0"/>
                <a:ea typeface="楷体_GB2312" pitchFamily="1" charset="-122"/>
              </a:rPr>
              <a:t>   CMP  AL</a:t>
            </a:r>
            <a:r>
              <a:rPr lang="zh-CN" altLang="en-US" sz="2600" noProof="1">
                <a:latin typeface="Times New Roman" panose="02020603050405020304" pitchFamily="2" charset="0"/>
                <a:ea typeface="楷体_GB2312" pitchFamily="1" charset="-122"/>
              </a:rPr>
              <a:t>，</a:t>
            </a:r>
            <a:r>
              <a:rPr lang="en-US" altLang="x-none" sz="2600" noProof="1">
                <a:latin typeface="Times New Roman" panose="02020603050405020304" pitchFamily="2" charset="0"/>
                <a:ea typeface="楷体_GB2312" pitchFamily="1" charset="-122"/>
              </a:rPr>
              <a:t>BL	</a:t>
            </a:r>
            <a:r>
              <a:rPr lang="zh-CN" altLang="en-US" sz="2600" noProof="1">
                <a:latin typeface="Times New Roman" panose="02020603050405020304" pitchFamily="2" charset="0"/>
                <a:ea typeface="楷体_GB2312" pitchFamily="1" charset="-122"/>
              </a:rPr>
              <a:t>；</a:t>
            </a:r>
            <a:r>
              <a:rPr lang="en-US" altLang="x-none" sz="2600" noProof="1">
                <a:latin typeface="Times New Roman" panose="02020603050405020304" pitchFamily="2" charset="0"/>
                <a:ea typeface="楷体_GB2312" pitchFamily="1" charset="-122"/>
              </a:rPr>
              <a:t>AL-BL</a:t>
            </a:r>
            <a:r>
              <a:rPr lang="zh-CN" altLang="en-US" sz="2600" noProof="1">
                <a:latin typeface="Times New Roman" panose="02020603050405020304" pitchFamily="2" charset="0"/>
                <a:ea typeface="楷体_GB2312" pitchFamily="1" charset="-122"/>
              </a:rPr>
              <a:t>，但是不改变</a:t>
            </a:r>
            <a:r>
              <a:rPr lang="en-US" altLang="x-none" sz="2600" noProof="1">
                <a:latin typeface="Times New Roman" panose="02020603050405020304" pitchFamily="2" charset="0"/>
                <a:ea typeface="楷体_GB2312" pitchFamily="1" charset="-122"/>
              </a:rPr>
              <a:t>AL</a:t>
            </a:r>
            <a:r>
              <a:rPr lang="zh-CN" altLang="en-US" sz="2600" noProof="1">
                <a:latin typeface="Times New Roman" panose="02020603050405020304" pitchFamily="2" charset="0"/>
                <a:ea typeface="楷体_GB2312" pitchFamily="1" charset="-122"/>
              </a:rPr>
              <a:t>的值</a:t>
            </a:r>
          </a:p>
          <a:p>
            <a:pPr marL="1905" indent="-1905" algn="l"/>
            <a:r>
              <a:rPr lang="en-US" altLang="x-none" sz="2600" noProof="1">
                <a:latin typeface="Times New Roman" panose="02020603050405020304" pitchFamily="2" charset="0"/>
                <a:ea typeface="楷体_GB2312" pitchFamily="1" charset="-122"/>
              </a:rPr>
              <a:t>   JAE	   NEXT        </a:t>
            </a:r>
            <a:r>
              <a:rPr lang="zh-CN" altLang="en-US" sz="2600" noProof="1">
                <a:latin typeface="Times New Roman" panose="02020603050405020304" pitchFamily="2" charset="0"/>
                <a:ea typeface="楷体_GB2312" pitchFamily="1" charset="-122"/>
              </a:rPr>
              <a:t>；</a:t>
            </a:r>
            <a:r>
              <a:rPr lang="en-US" altLang="x-none" sz="2600" noProof="1">
                <a:latin typeface="Times New Roman" panose="02020603050405020304" pitchFamily="2" charset="0"/>
                <a:ea typeface="楷体_GB2312" pitchFamily="1" charset="-122"/>
              </a:rPr>
              <a:t>AL</a:t>
            </a:r>
            <a:r>
              <a:rPr lang="zh-CN" altLang="en-US" sz="2600" noProof="1">
                <a:latin typeface="Times New Roman" panose="02020603050405020304" pitchFamily="2" charset="0"/>
                <a:ea typeface="楷体_GB2312" pitchFamily="1" charset="-122"/>
              </a:rPr>
              <a:t>大于等于</a:t>
            </a:r>
            <a:r>
              <a:rPr lang="en-US" altLang="x-none" sz="2600" noProof="1">
                <a:latin typeface="Times New Roman" panose="02020603050405020304" pitchFamily="2" charset="0"/>
                <a:ea typeface="楷体_GB2312" pitchFamily="1" charset="-122"/>
              </a:rPr>
              <a:t>BL</a:t>
            </a:r>
            <a:r>
              <a:rPr lang="zh-CN" altLang="en-US" sz="2600" noProof="1">
                <a:latin typeface="Times New Roman" panose="02020603050405020304" pitchFamily="2" charset="0"/>
                <a:ea typeface="楷体_GB2312" pitchFamily="1" charset="-122"/>
              </a:rPr>
              <a:t>，则转到</a:t>
            </a:r>
            <a:r>
              <a:rPr lang="en-US" altLang="x-none" sz="2600" noProof="1">
                <a:latin typeface="Times New Roman" panose="02020603050405020304" pitchFamily="2" charset="0"/>
                <a:ea typeface="楷体_GB2312" pitchFamily="1" charset="-122"/>
              </a:rPr>
              <a:t>NEXT</a:t>
            </a:r>
          </a:p>
          <a:p>
            <a:pPr marL="1905" indent="112395" algn="l">
              <a:buFont typeface="Wingdings" panose="05000000000000000000" pitchFamily="2" charset="2"/>
              <a:buChar char="l"/>
            </a:pPr>
            <a:r>
              <a:rPr lang="en-US" altLang="x-none" sz="2600" b="1" noProof="1">
                <a:solidFill>
                  <a:srgbClr val="C00000"/>
                </a:solidFill>
                <a:latin typeface="Times New Roman" panose="02020603050405020304" pitchFamily="2" charset="0"/>
              </a:rPr>
              <a:t>JAE/JNB</a:t>
            </a:r>
            <a:r>
              <a:rPr lang="zh-CN" altLang="en-US" sz="2600" b="1" noProof="1">
                <a:solidFill>
                  <a:srgbClr val="008000"/>
                </a:solidFill>
                <a:latin typeface="Times New Roman" panose="02020603050405020304" pitchFamily="2" charset="0"/>
              </a:rPr>
              <a:t>根据</a:t>
            </a:r>
            <a:r>
              <a:rPr lang="en-US" altLang="x-none" sz="2600" b="1" noProof="1">
                <a:solidFill>
                  <a:srgbClr val="FF0000"/>
                </a:solidFill>
                <a:latin typeface="Times New Roman" panose="02020603050405020304" pitchFamily="2" charset="0"/>
              </a:rPr>
              <a:t>CF</a:t>
            </a:r>
            <a:r>
              <a:rPr lang="zh-CN" altLang="en-US" sz="2600" b="1" noProof="1">
                <a:solidFill>
                  <a:srgbClr val="FF0000"/>
                </a:solidFill>
                <a:latin typeface="Times New Roman" panose="02020603050405020304" pitchFamily="2" charset="0"/>
              </a:rPr>
              <a:t>标志</a:t>
            </a:r>
            <a:r>
              <a:rPr lang="zh-CN" altLang="en-US" sz="2600" b="1" noProof="1">
                <a:solidFill>
                  <a:srgbClr val="008000"/>
                </a:solidFill>
                <a:latin typeface="Times New Roman" panose="02020603050405020304" pitchFamily="2" charset="0"/>
              </a:rPr>
              <a:t>是否为</a:t>
            </a:r>
            <a:r>
              <a:rPr lang="en-US" altLang="x-none" sz="2600" b="1" noProof="1">
                <a:solidFill>
                  <a:srgbClr val="008000"/>
                </a:solidFill>
                <a:latin typeface="Times New Roman" panose="02020603050405020304" pitchFamily="2" charset="0"/>
              </a:rPr>
              <a:t>0</a:t>
            </a:r>
            <a:r>
              <a:rPr lang="zh-CN" altLang="en-US" sz="2600" b="1" noProof="1">
                <a:solidFill>
                  <a:srgbClr val="008000"/>
                </a:solidFill>
                <a:latin typeface="Times New Roman" panose="02020603050405020304" pitchFamily="2" charset="0"/>
              </a:rPr>
              <a:t>决定转移</a:t>
            </a:r>
            <a:r>
              <a:rPr lang="zh-CN" altLang="en-US" sz="2600" noProof="1">
                <a:latin typeface="Times New Roman" panose="02020603050405020304" pitchFamily="2" charset="0"/>
              </a:rPr>
              <a:t>。若</a:t>
            </a:r>
            <a:r>
              <a:rPr lang="en-US" altLang="x-none" sz="2600" noProof="1">
                <a:latin typeface="Times New Roman" panose="02020603050405020304" pitchFamily="2" charset="0"/>
              </a:rPr>
              <a:t>CF=0</a:t>
            </a:r>
            <a:r>
              <a:rPr lang="zh-CN" altLang="en-US" sz="2600" noProof="1">
                <a:latin typeface="Times New Roman" panose="02020603050405020304" pitchFamily="2" charset="0"/>
              </a:rPr>
              <a:t>，即无进位，则转移，这与直接标志转移指令中的</a:t>
            </a:r>
            <a:r>
              <a:rPr lang="en-US" altLang="x-none" sz="2600" noProof="1">
                <a:latin typeface="Times New Roman" panose="02020603050405020304" pitchFamily="2" charset="0"/>
              </a:rPr>
              <a:t>JNC</a:t>
            </a:r>
            <a:r>
              <a:rPr lang="zh-CN" altLang="en-US" sz="2600" noProof="1">
                <a:latin typeface="Times New Roman" panose="02020603050405020304" pitchFamily="2" charset="0"/>
              </a:rPr>
              <a:t>功能完全一样</a:t>
            </a:r>
          </a:p>
          <a:p>
            <a:pPr marL="1905" indent="112395" algn="l">
              <a:buFont typeface="Wingdings" panose="05000000000000000000" pitchFamily="2" charset="2"/>
              <a:buChar char="l"/>
            </a:pPr>
            <a:r>
              <a:rPr lang="zh-CN" altLang="en-US" sz="2600" noProof="1">
                <a:latin typeface="Times New Roman" panose="02020603050405020304" pitchFamily="2" charset="0"/>
              </a:rPr>
              <a:t>同样，</a:t>
            </a:r>
            <a:r>
              <a:rPr lang="en-US" altLang="x-none" sz="2600" noProof="1">
                <a:latin typeface="Times New Roman" panose="02020603050405020304" pitchFamily="2" charset="0"/>
              </a:rPr>
              <a:t>JB/JNAE</a:t>
            </a:r>
            <a:r>
              <a:rPr lang="zh-CN" altLang="en-US" sz="2600" noProof="1">
                <a:latin typeface="Times New Roman" panose="02020603050405020304" pitchFamily="2" charset="0"/>
              </a:rPr>
              <a:t>与</a:t>
            </a:r>
            <a:r>
              <a:rPr lang="en-US" altLang="x-none" sz="2600" noProof="1">
                <a:latin typeface="Times New Roman" panose="02020603050405020304" pitchFamily="2" charset="0"/>
              </a:rPr>
              <a:t>JC</a:t>
            </a:r>
            <a:r>
              <a:rPr lang="zh-CN" altLang="en-US" sz="2600" noProof="1">
                <a:latin typeface="Times New Roman" panose="02020603050405020304" pitchFamily="2" charset="0"/>
              </a:rPr>
              <a:t>指令的功能相同</a:t>
            </a:r>
          </a:p>
          <a:p>
            <a:pPr marL="1905" indent="112395" algn="l">
              <a:buFont typeface="Wingdings" panose="05000000000000000000" pitchFamily="2" charset="2"/>
              <a:buChar char="l"/>
            </a:pPr>
            <a:r>
              <a:rPr lang="zh-CN" altLang="en-US" sz="2600" b="1" noProof="1">
                <a:solidFill>
                  <a:srgbClr val="008000"/>
                </a:solidFill>
                <a:latin typeface="Times New Roman" panose="02020603050405020304" pitchFamily="2" charset="0"/>
              </a:rPr>
              <a:t>带符号数</a:t>
            </a:r>
            <a:r>
              <a:rPr lang="zh-CN" altLang="en-US" sz="2600" noProof="1">
                <a:latin typeface="Times New Roman" panose="02020603050405020304" pitchFamily="2" charset="0"/>
              </a:rPr>
              <a:t>进行比较时，不能仅根据</a:t>
            </a:r>
            <a:r>
              <a:rPr lang="en-US" altLang="x-none" sz="2600" noProof="1">
                <a:latin typeface="Times New Roman" panose="02020603050405020304" pitchFamily="2" charset="0"/>
              </a:rPr>
              <a:t>SF</a:t>
            </a:r>
            <a:r>
              <a:rPr lang="zh-CN" altLang="en-US" sz="2600" noProof="1">
                <a:latin typeface="Times New Roman" panose="02020603050405020304" pitchFamily="2" charset="0"/>
              </a:rPr>
              <a:t>或</a:t>
            </a:r>
            <a:r>
              <a:rPr lang="en-US" altLang="x-none" sz="2600" noProof="1">
                <a:latin typeface="Times New Roman" panose="02020603050405020304" pitchFamily="2" charset="0"/>
              </a:rPr>
              <a:t>OF</a:t>
            </a:r>
            <a:r>
              <a:rPr lang="zh-CN" altLang="en-US" sz="2600" noProof="1">
                <a:latin typeface="Times New Roman" panose="02020603050405020304" pitchFamily="2" charset="0"/>
              </a:rPr>
              <a:t>标志来判定，而要将它们组合起来考虑。指令助记符中，</a:t>
            </a:r>
            <a:r>
              <a:rPr lang="en-US" altLang="x-none" sz="2600" b="1" noProof="1">
                <a:solidFill>
                  <a:srgbClr val="C00000"/>
                </a:solidFill>
                <a:latin typeface="Times New Roman" panose="02020603050405020304" pitchFamily="2" charset="0"/>
              </a:rPr>
              <a:t>“G”(Great than)</a:t>
            </a:r>
            <a:r>
              <a:rPr lang="zh-CN" altLang="en-US" sz="2600" noProof="1">
                <a:latin typeface="Times New Roman" panose="02020603050405020304" pitchFamily="2" charset="0"/>
              </a:rPr>
              <a:t>表示</a:t>
            </a:r>
            <a:r>
              <a:rPr lang="en-US" altLang="x-none" sz="2600" noProof="1">
                <a:latin typeface="Times New Roman" panose="02020603050405020304" pitchFamily="2" charset="0"/>
              </a:rPr>
              <a:t>“</a:t>
            </a:r>
            <a:r>
              <a:rPr lang="zh-CN" altLang="en-US" sz="2600" noProof="1">
                <a:latin typeface="Times New Roman" panose="02020603050405020304" pitchFamily="2" charset="0"/>
              </a:rPr>
              <a:t>大于</a:t>
            </a:r>
            <a:r>
              <a:rPr lang="en-US" altLang="x-none" sz="2600" noProof="1">
                <a:latin typeface="Times New Roman" panose="02020603050405020304" pitchFamily="2" charset="0"/>
              </a:rPr>
              <a:t>”</a:t>
            </a:r>
            <a:r>
              <a:rPr lang="zh-CN" altLang="en-US" sz="2600" noProof="1">
                <a:latin typeface="Times New Roman" panose="02020603050405020304" pitchFamily="2" charset="0"/>
              </a:rPr>
              <a:t>，</a:t>
            </a:r>
            <a:r>
              <a:rPr lang="en-US" altLang="x-none" sz="2600" b="1" noProof="1">
                <a:solidFill>
                  <a:srgbClr val="C00000"/>
                </a:solidFill>
                <a:latin typeface="Times New Roman" panose="02020603050405020304" pitchFamily="2" charset="0"/>
              </a:rPr>
              <a:t>“L”(Less than)</a:t>
            </a:r>
            <a:r>
              <a:rPr lang="zh-CN" altLang="en-US" sz="2600" noProof="1">
                <a:latin typeface="Times New Roman" panose="02020603050405020304" pitchFamily="2" charset="0"/>
              </a:rPr>
              <a:t>表示</a:t>
            </a:r>
            <a:r>
              <a:rPr lang="en-US" altLang="x-none" sz="2600" noProof="1">
                <a:latin typeface="Times New Roman" panose="02020603050405020304" pitchFamily="2" charset="0"/>
              </a:rPr>
              <a:t>“</a:t>
            </a:r>
            <a:r>
              <a:rPr lang="zh-CN" altLang="en-US" sz="2600" noProof="1">
                <a:latin typeface="Times New Roman" panose="02020603050405020304" pitchFamily="2" charset="0"/>
              </a:rPr>
              <a:t>小于</a:t>
            </a:r>
            <a:r>
              <a:rPr lang="en-US" altLang="x-none" sz="2600" noProof="1">
                <a:latin typeface="Times New Roman" panose="02020603050405020304" pitchFamily="2" charset="0"/>
              </a:rPr>
              <a:t>”</a:t>
            </a:r>
          </a:p>
        </p:txBody>
      </p:sp>
      <p:sp>
        <p:nvSpPr>
          <p:cNvPr id="62467" name="日期占位符 1">
            <a:extLst>
              <a:ext uri="{FF2B5EF4-FFF2-40B4-BE49-F238E27FC236}">
                <a16:creationId xmlns:a16="http://schemas.microsoft.com/office/drawing/2014/main" id="{BDAB6525-00C0-4B30-B18D-439A11CD833B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6DD493CB-3AFF-47E0-B34B-D1B7C9263019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7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7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标题 1">
            <a:extLst>
              <a:ext uri="{FF2B5EF4-FFF2-40B4-BE49-F238E27FC236}">
                <a16:creationId xmlns:a16="http://schemas.microsoft.com/office/drawing/2014/main" id="{F045D1FB-11E3-4C59-BE44-31BB42BAB7CB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en-US" altLang="zh-CN" sz="3200" b="1" dirty="0">
                <a:solidFill>
                  <a:schemeClr val="accent2"/>
                </a:solidFill>
              </a:rPr>
              <a:t>2. </a:t>
            </a:r>
            <a:r>
              <a:rPr lang="zh-CN" altLang="en-US" sz="3200" b="1" dirty="0">
                <a:solidFill>
                  <a:schemeClr val="accent2"/>
                </a:solidFill>
              </a:rPr>
              <a:t>条件转移指令 </a:t>
            </a:r>
            <a:r>
              <a:rPr lang="en-US" altLang="zh-CN" sz="3200" b="1" dirty="0">
                <a:solidFill>
                  <a:schemeClr val="accent2"/>
                </a:solidFill>
              </a:rPr>
              <a:t>（</a:t>
            </a:r>
            <a:r>
              <a:rPr lang="zh-CN" altLang="en-US" sz="3200" b="1" dirty="0">
                <a:solidFill>
                  <a:schemeClr val="accent2"/>
                </a:solidFill>
              </a:rPr>
              <a:t>间接标志转移指令举例）</a:t>
            </a:r>
          </a:p>
        </p:txBody>
      </p:sp>
      <p:sp>
        <p:nvSpPr>
          <p:cNvPr id="58371" name="内容占位符 2">
            <a:extLst>
              <a:ext uri="{FF2B5EF4-FFF2-40B4-BE49-F238E27FC236}">
                <a16:creationId xmlns:a16="http://schemas.microsoft.com/office/drawing/2014/main" id="{5F33D884-8AE5-4914-9A81-8E5EDDC64C3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1162050"/>
            <a:ext cx="8372475" cy="5461000"/>
          </a:xfrm>
        </p:spPr>
        <p:txBody>
          <a:bodyPr/>
          <a:lstStyle/>
          <a:p>
            <a:pPr algn="l"/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例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3.90 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设某学生的英语成绩已存放在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AL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中，如低于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60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分打印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F(FAIL)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；高于或等于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85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分，打印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G(GOOD)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；在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60 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  <a:sym typeface="Symbol" panose="05050102010706020507" pitchFamily="18" charset="2"/>
              </a:rPr>
              <a:t> 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84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分之间，打印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P (PASS)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。程序为</a:t>
            </a:r>
          </a:p>
          <a:p>
            <a:pPr algn="l"/>
            <a:endParaRPr lang="zh-CN" altLang="en-US" sz="24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     CMP   AL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60	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；与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60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分比较</a:t>
            </a: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     JB	     </a:t>
            </a:r>
            <a:r>
              <a:rPr lang="en-US" altLang="zh-CN" sz="2400" b="1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 FAIL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&lt;60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，转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FAIL</a:t>
            </a:r>
            <a:endParaRPr lang="en-US" altLang="zh-CN" sz="20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     CMP   AL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85	 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≥60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，与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85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分比较</a:t>
            </a: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     JAE    </a:t>
            </a:r>
            <a:r>
              <a:rPr lang="en-US" altLang="zh-CN" sz="2400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GOOD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≥85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，转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GOOD</a:t>
            </a:r>
            <a:endParaRPr lang="en-US" altLang="zh-CN" sz="20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     MOV  AL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‘P’	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；其它，将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AL←‘P’</a:t>
            </a:r>
            <a:endParaRPr lang="en-US" altLang="zh-CN" sz="20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     JMP    PRINT	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；转打印程序</a:t>
            </a:r>
          </a:p>
          <a:p>
            <a:pPr algn="l">
              <a:spcBef>
                <a:spcPct val="0"/>
              </a:spcBef>
            </a:pPr>
            <a:r>
              <a:rPr lang="en-US" altLang="zh-CN" sz="2400" b="1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FAIL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：   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MOV  AL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‘F’	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AL←‘F’</a:t>
            </a:r>
            <a:endParaRPr lang="en-US" altLang="zh-CN" sz="20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    JMP    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PRINT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；转打印程序</a:t>
            </a:r>
          </a:p>
          <a:p>
            <a:pPr algn="l">
              <a:spcBef>
                <a:spcPct val="0"/>
              </a:spcBef>
            </a:pPr>
            <a:r>
              <a:rPr lang="en-US" altLang="zh-CN" sz="2400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GOOD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：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MOV  AL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‘G’	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AL←‘G’</a:t>
            </a:r>
            <a:endParaRPr lang="en-US" altLang="zh-CN" sz="20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>
              <a:spcBef>
                <a:spcPct val="0"/>
              </a:spcBef>
            </a:pP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PRINT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：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 … 		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	；打印存在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AL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中的字符</a:t>
            </a:r>
          </a:p>
        </p:txBody>
      </p:sp>
      <p:sp>
        <p:nvSpPr>
          <p:cNvPr id="63491" name="日期占位符 1">
            <a:extLst>
              <a:ext uri="{FF2B5EF4-FFF2-40B4-BE49-F238E27FC236}">
                <a16:creationId xmlns:a16="http://schemas.microsoft.com/office/drawing/2014/main" id="{8B9C8A78-C62A-477F-AB5B-A42514A2D6A2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7EC8C59A-9DAC-4B17-B0E5-64C5F96CBC52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strips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58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58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58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58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583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583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5837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5837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5837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标题 1">
            <a:extLst>
              <a:ext uri="{FF2B5EF4-FFF2-40B4-BE49-F238E27FC236}">
                <a16:creationId xmlns:a16="http://schemas.microsoft.com/office/drawing/2014/main" id="{E5463C1B-E677-4236-A3FC-F08713E78334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en-US" altLang="zh-CN" sz="4400" b="1">
                <a:solidFill>
                  <a:schemeClr val="accent2"/>
                </a:solidFill>
              </a:rPr>
              <a:t>2. </a:t>
            </a:r>
            <a:r>
              <a:rPr lang="zh-CN" altLang="en-US" sz="4400" b="1">
                <a:solidFill>
                  <a:schemeClr val="accent2"/>
                </a:solidFill>
              </a:rPr>
              <a:t>条件转移指令</a:t>
            </a:r>
            <a:r>
              <a:rPr lang="en-US" altLang="zh-CN" sz="4400" b="1">
                <a:solidFill>
                  <a:schemeClr val="accent2"/>
                </a:solidFill>
              </a:rPr>
              <a:t>（</a:t>
            </a:r>
            <a:r>
              <a:rPr lang="zh-CN" altLang="en-US" sz="4400" b="1">
                <a:solidFill>
                  <a:schemeClr val="accent2"/>
                </a:solidFill>
              </a:rPr>
              <a:t>编程举例）</a:t>
            </a:r>
            <a:endParaRPr lang="en-US" altLang="zh-CN" sz="4400" b="1">
              <a:solidFill>
                <a:schemeClr val="accent2"/>
              </a:solidFill>
            </a:endParaRPr>
          </a:p>
        </p:txBody>
      </p:sp>
      <p:sp>
        <p:nvSpPr>
          <p:cNvPr id="64514" name="内容占位符 2">
            <a:extLst>
              <a:ext uri="{FF2B5EF4-FFF2-40B4-BE49-F238E27FC236}">
                <a16:creationId xmlns:a16="http://schemas.microsoft.com/office/drawing/2014/main" id="{48D648ED-30BE-441E-846B-BC716DD004E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1314450"/>
            <a:ext cx="8372475" cy="5175250"/>
          </a:xfrm>
        </p:spPr>
        <p:txBody>
          <a:bodyPr/>
          <a:lstStyle/>
          <a:p>
            <a:pPr algn="l"/>
            <a:r>
              <a:rPr lang="zh-CN" altLang="en-US" sz="2800" b="1">
                <a:solidFill>
                  <a:srgbClr val="0000FF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例</a:t>
            </a:r>
            <a:r>
              <a:rPr lang="en-US" altLang="zh-CN" sz="2800" b="1">
                <a:solidFill>
                  <a:srgbClr val="0000FF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3.91 </a:t>
            </a:r>
            <a:endParaRPr lang="zh-CN" altLang="en-US" sz="2800" b="1">
              <a:solidFill>
                <a:srgbClr val="0000FF"/>
              </a:solidFill>
              <a:latin typeface="楷体_GB2312" pitchFamily="1" charset="-122"/>
              <a:ea typeface="楷体_GB2312" pitchFamily="1" charset="-122"/>
              <a:sym typeface="楷体_GB2312" pitchFamily="1" charset="-122"/>
            </a:endParaRPr>
          </a:p>
          <a:p>
            <a:pPr algn="l"/>
            <a:r>
              <a:rPr lang="en-US" altLang="zh-CN" sz="2800">
                <a:solidFill>
                  <a:srgbClr val="23FFF8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  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设某温度控制系统中，从温度传感器输入一个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8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位二进制摄氏温度值。当温度低于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100℃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时，打开加热器；温度升到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100℃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或以上时，关闭加热器。</a:t>
            </a:r>
          </a:p>
          <a:p>
            <a:pPr algn="l"/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     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温度传感器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端口号</a:t>
            </a:r>
            <a:r>
              <a:rPr lang="zh-CN" altLang="en-US" sz="2800" b="1">
                <a:latin typeface="Times New Roman" panose="02020603050405020304" pitchFamily="18" charset="0"/>
                <a:ea typeface="楷体_GB2312" pitchFamily="1" charset="-122"/>
              </a:rPr>
              <a:t>为</a:t>
            </a:r>
            <a:r>
              <a:rPr lang="en-US" altLang="zh-CN" sz="2800" b="1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1" charset="-122"/>
              </a:rPr>
              <a:t>320H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，控制加热器的输出信号连到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端口</a:t>
            </a:r>
            <a:r>
              <a:rPr lang="en-US" altLang="zh-CN" sz="2800" b="1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1" charset="-122"/>
              </a:rPr>
              <a:t>321H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的最低有效位</a:t>
            </a:r>
            <a:r>
              <a:rPr lang="en-US" altLang="zh-CN" sz="2800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1" charset="-122"/>
              </a:rPr>
              <a:t>D0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，当它置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1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加热器打开，清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0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则关闭。</a:t>
            </a:r>
          </a:p>
          <a:p>
            <a:pPr algn="l"/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</a:rPr>
              <a:t>     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</a:rPr>
              <a:t>实现上述温度控制的程序：</a:t>
            </a:r>
          </a:p>
          <a:p>
            <a:pPr algn="l"/>
            <a:endParaRPr lang="zh-CN" altLang="en-US" sz="2800"/>
          </a:p>
        </p:txBody>
      </p:sp>
      <p:sp>
        <p:nvSpPr>
          <p:cNvPr id="64515" name="日期占位符 1">
            <a:extLst>
              <a:ext uri="{FF2B5EF4-FFF2-40B4-BE49-F238E27FC236}">
                <a16:creationId xmlns:a16="http://schemas.microsoft.com/office/drawing/2014/main" id="{EB74173B-C026-4DC5-9FBF-01E1A7E825A7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A49AB49D-C411-42B2-8A22-231B1788CE5D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strips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内容占位符 2">
            <a:extLst>
              <a:ext uri="{FF2B5EF4-FFF2-40B4-BE49-F238E27FC236}">
                <a16:creationId xmlns:a16="http://schemas.microsoft.com/office/drawing/2014/main" id="{A6157E1C-BE0F-4919-9E96-1541972EDF2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749300" y="539750"/>
            <a:ext cx="7645400" cy="6045200"/>
          </a:xfrm>
        </p:spPr>
        <p:txBody>
          <a:bodyPr/>
          <a:lstStyle/>
          <a:p>
            <a:pPr algn="l">
              <a:spcBef>
                <a:spcPct val="0"/>
              </a:spcBef>
            </a:pPr>
            <a:r>
              <a:rPr lang="en-US" altLang="zh-CN" sz="2400" b="1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GET-TEMP</a:t>
            </a:r>
            <a:r>
              <a:rPr lang="zh-CN" altLang="en-US" sz="2400" b="1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：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</a:t>
            </a:r>
            <a:endParaRPr lang="zh-CN" altLang="en-US" sz="24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MOV	DX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320H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DX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指向温度输入端口</a:t>
            </a: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IN       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  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AL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DX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；读取温度值</a:t>
            </a: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CMP     AL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100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；与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100 ℃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比较</a:t>
            </a: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JB	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HEAT_ON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&lt;100 ℃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，加热</a:t>
            </a: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JMP	</a:t>
            </a:r>
            <a:r>
              <a:rPr lang="en-US" altLang="zh-CN" sz="2400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HEAT_OFF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≥100 ℃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，停止加热</a:t>
            </a:r>
          </a:p>
          <a:p>
            <a:pPr algn="l">
              <a:spcBef>
                <a:spcPct val="0"/>
              </a:spcBef>
            </a:pP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HEAT-ON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：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</a:t>
            </a:r>
            <a:endParaRPr lang="zh-CN" altLang="en-US" sz="24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MOV	AL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01H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D0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位置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1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，加热</a:t>
            </a: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MOV	DX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321H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；加热器口地址</a:t>
            </a: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OUT     DX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AL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；打开加热器</a:t>
            </a: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JMP	</a:t>
            </a:r>
            <a:r>
              <a:rPr lang="en-US" altLang="zh-CN" sz="2400" b="1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GET_TEMP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；继续检测温度</a:t>
            </a:r>
          </a:p>
          <a:p>
            <a:pPr algn="l">
              <a:spcBef>
                <a:spcPct val="0"/>
              </a:spcBef>
            </a:pPr>
            <a:r>
              <a:rPr lang="en-US" altLang="zh-CN" sz="2400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HEAT-OFF</a:t>
            </a:r>
            <a:r>
              <a:rPr lang="zh-CN" altLang="en-US" sz="2400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：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</a:t>
            </a:r>
            <a:endParaRPr lang="zh-CN" altLang="en-US" sz="24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MOV	AL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00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D0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位置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0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，停止加热</a:t>
            </a: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MOV	DX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321H</a:t>
            </a:r>
            <a:endParaRPr lang="zh-CN" altLang="en-US" sz="24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OUT	DX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AL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；关闭加热器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</a:t>
            </a:r>
            <a:endParaRPr lang="zh-CN" altLang="en-US" sz="24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         …	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；进行其它处理</a:t>
            </a:r>
          </a:p>
        </p:txBody>
      </p:sp>
      <p:sp>
        <p:nvSpPr>
          <p:cNvPr id="65538" name="日期占位符 1">
            <a:extLst>
              <a:ext uri="{FF2B5EF4-FFF2-40B4-BE49-F238E27FC236}">
                <a16:creationId xmlns:a16="http://schemas.microsoft.com/office/drawing/2014/main" id="{D3017FA8-F0C4-4C0E-BE76-755FC0D75618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E4FA1F58-D22D-47B6-8F2D-6FA754446AD9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strips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041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041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041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6041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041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6041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041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6041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60418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6041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60418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60418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1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0418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标题 1">
            <a:extLst>
              <a:ext uri="{FF2B5EF4-FFF2-40B4-BE49-F238E27FC236}">
                <a16:creationId xmlns:a16="http://schemas.microsoft.com/office/drawing/2014/main" id="{E6449BA1-C4FF-4CC2-B71F-5A8021DBEEB8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en-US" altLang="zh-CN" sz="4000" b="1">
                <a:solidFill>
                  <a:schemeClr val="accent2"/>
                </a:solidFill>
              </a:rPr>
              <a:t>2. </a:t>
            </a:r>
            <a:r>
              <a:rPr lang="zh-CN" altLang="en-US" sz="4000" b="1">
                <a:solidFill>
                  <a:schemeClr val="accent2"/>
                </a:solidFill>
              </a:rPr>
              <a:t>条件转移指令</a:t>
            </a:r>
            <a:r>
              <a:rPr lang="en-US" altLang="zh-CN" sz="4000" b="1">
                <a:solidFill>
                  <a:schemeClr val="accent2"/>
                </a:solidFill>
              </a:rPr>
              <a:t>（</a:t>
            </a:r>
            <a:r>
              <a:rPr lang="zh-CN" altLang="en-US" sz="4000" b="1">
                <a:solidFill>
                  <a:schemeClr val="accent2"/>
                </a:solidFill>
              </a:rPr>
              <a:t>编程举例）</a:t>
            </a:r>
            <a:endParaRPr lang="en-US" altLang="zh-CN" sz="4000" b="1">
              <a:solidFill>
                <a:schemeClr val="accent2"/>
              </a:solidFill>
            </a:endParaRPr>
          </a:p>
        </p:txBody>
      </p:sp>
      <p:sp>
        <p:nvSpPr>
          <p:cNvPr id="61443" name="内容占位符 2">
            <a:extLst>
              <a:ext uri="{FF2B5EF4-FFF2-40B4-BE49-F238E27FC236}">
                <a16:creationId xmlns:a16="http://schemas.microsoft.com/office/drawing/2014/main" id="{48267352-54F4-435E-8692-FF110CA533D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1206500"/>
            <a:ext cx="8372475" cy="5327650"/>
          </a:xfrm>
        </p:spPr>
        <p:txBody>
          <a:bodyPr/>
          <a:lstStyle/>
          <a:p>
            <a:pPr algn="l"/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例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3.92  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在首地址为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TABLE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的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10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个内存字节单元中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, 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存放了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10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个</a:t>
            </a: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1" charset="-122"/>
              </a:rPr>
              <a:t>带符号数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，统计其中正数、负数和零的个数，结果存入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PLUS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、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NEGT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ZERO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单元</a:t>
            </a:r>
          </a:p>
          <a:p>
            <a:pPr algn="l"/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TABLE   </a:t>
            </a: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DB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    01H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80H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0F5H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32H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86H</a:t>
            </a:r>
            <a:endParaRPr lang="zh-CN" altLang="en-US" sz="24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    </a:t>
            </a: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DB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   74H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49H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0AFH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25H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40H</a:t>
            </a:r>
            <a:endParaRPr lang="zh-CN" altLang="en-US" sz="24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/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PLUS	    </a:t>
            </a: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DB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   0		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；存正数个数</a:t>
            </a:r>
          </a:p>
          <a:p>
            <a:pPr algn="l"/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NEGT     </a:t>
            </a: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DB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   0		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；存负数个数</a:t>
            </a:r>
          </a:p>
          <a:p>
            <a:pPr algn="l"/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ZERO    </a:t>
            </a: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 DB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   0		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；存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0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的个数</a:t>
            </a:r>
          </a:p>
          <a:p>
            <a:pPr algn="l"/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	…							</a:t>
            </a:r>
            <a:endParaRPr lang="zh-CN" altLang="en-US" sz="24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    MOV    CX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10		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；循环变量，设为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10</a:t>
            </a: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    MOV    BX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400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OFFSET 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TABLE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；地址指针</a:t>
            </a:r>
            <a:endParaRPr lang="zh-CN" altLang="en-US" sz="2400"/>
          </a:p>
        </p:txBody>
      </p:sp>
      <p:sp>
        <p:nvSpPr>
          <p:cNvPr id="66563" name="日期占位符 1">
            <a:extLst>
              <a:ext uri="{FF2B5EF4-FFF2-40B4-BE49-F238E27FC236}">
                <a16:creationId xmlns:a16="http://schemas.microsoft.com/office/drawing/2014/main" id="{BAA3FD25-A83A-439A-891B-9ED6828AE5FD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F62F83AE-B44E-4B79-82D2-1A34D2F00F91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strips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charRg st="235" end="2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1443">
                                            <p:txEl>
                                              <p:charRg st="235" end="2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charRg st="260" end="2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1443">
                                            <p:txEl>
                                              <p:charRg st="260" end="28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标题 1">
            <a:extLst>
              <a:ext uri="{FF2B5EF4-FFF2-40B4-BE49-F238E27FC236}">
                <a16:creationId xmlns:a16="http://schemas.microsoft.com/office/drawing/2014/main" id="{5375DE2E-D474-4808-BE1F-D9DC0425111E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en-US" altLang="zh-CN" sz="4000" b="1">
                <a:solidFill>
                  <a:schemeClr val="accent2"/>
                </a:solidFill>
              </a:rPr>
              <a:t>2. </a:t>
            </a:r>
            <a:r>
              <a:rPr lang="zh-CN" altLang="en-US" sz="4000" b="1">
                <a:solidFill>
                  <a:schemeClr val="accent2"/>
                </a:solidFill>
              </a:rPr>
              <a:t>条件转移指令</a:t>
            </a:r>
            <a:r>
              <a:rPr lang="en-US" altLang="zh-CN" sz="4000" b="1">
                <a:solidFill>
                  <a:schemeClr val="accent2"/>
                </a:solidFill>
              </a:rPr>
              <a:t>（</a:t>
            </a:r>
            <a:r>
              <a:rPr lang="zh-CN" altLang="en-US" sz="4000" b="1">
                <a:solidFill>
                  <a:schemeClr val="accent2"/>
                </a:solidFill>
              </a:rPr>
              <a:t>编程举例）</a:t>
            </a:r>
            <a:endParaRPr lang="en-US" altLang="zh-CN" sz="4000" b="1">
              <a:solidFill>
                <a:schemeClr val="accent2"/>
              </a:solidFill>
            </a:endParaRPr>
          </a:p>
        </p:txBody>
      </p:sp>
      <p:sp>
        <p:nvSpPr>
          <p:cNvPr id="62467" name="内容占位符 2">
            <a:extLst>
              <a:ext uri="{FF2B5EF4-FFF2-40B4-BE49-F238E27FC236}">
                <a16:creationId xmlns:a16="http://schemas.microsoft.com/office/drawing/2014/main" id="{5BF9CCE6-F804-43E3-89DD-363128CEBB3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615950" y="1028700"/>
            <a:ext cx="8194675" cy="5600700"/>
          </a:xfrm>
        </p:spPr>
        <p:txBody>
          <a:bodyPr/>
          <a:lstStyle/>
          <a:p>
            <a:pPr algn="l">
              <a:spcBef>
                <a:spcPct val="0"/>
              </a:spcBef>
            </a:pPr>
            <a:r>
              <a:rPr lang="en-US" altLang="zh-CN" sz="2400" b="1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AGAIN</a:t>
            </a:r>
            <a:r>
              <a:rPr lang="zh-CN" altLang="en-US" sz="2400" b="1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：</a:t>
            </a: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CMP   [BX]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0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；取一个数与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0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比</a:t>
            </a: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JGE    </a:t>
            </a:r>
            <a:r>
              <a:rPr lang="en-US" altLang="zh-CN" sz="2400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GRET_EQ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≥0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，转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GRET_EQ</a:t>
            </a:r>
            <a:endParaRPr lang="zh-CN" altLang="en-US" sz="24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INC	NEGT	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&lt;0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，负数个数加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1</a:t>
            </a:r>
            <a:endParaRPr lang="zh-CN" altLang="en-US" sz="24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JMP    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	NEXT	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；往下执行</a:t>
            </a:r>
          </a:p>
          <a:p>
            <a:pPr algn="l">
              <a:spcBef>
                <a:spcPct val="0"/>
              </a:spcBef>
            </a:pPr>
            <a:r>
              <a:rPr lang="en-US" altLang="zh-CN" sz="2400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GRET-EQ</a:t>
            </a:r>
            <a:r>
              <a:rPr lang="zh-CN" altLang="en-US" sz="2400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</a:rPr>
              <a:t>：</a:t>
            </a: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JG	</a:t>
            </a:r>
            <a:r>
              <a:rPr lang="en-US" altLang="zh-CN" sz="24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1" charset="-122"/>
              </a:rPr>
              <a:t>P-INC</a:t>
            </a:r>
            <a:r>
              <a:rPr lang="en-US" altLang="zh-CN" sz="2400">
                <a:solidFill>
                  <a:srgbClr val="996633"/>
                </a:solidFill>
                <a:latin typeface="Times New Roman" panose="02020603050405020304" pitchFamily="18" charset="0"/>
                <a:ea typeface="楷体_GB2312" pitchFamily="1" charset="-122"/>
              </a:rPr>
              <a:t>	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&gt;0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，转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P-INC</a:t>
            </a:r>
            <a:endParaRPr lang="zh-CN" altLang="en-US" sz="24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INC	</a:t>
            </a:r>
            <a:r>
              <a:rPr lang="en-US" altLang="zh-CN" sz="2400" b="1">
                <a:solidFill>
                  <a:srgbClr val="FF0066"/>
                </a:solidFill>
                <a:latin typeface="Times New Roman" panose="02020603050405020304" pitchFamily="18" charset="0"/>
                <a:ea typeface="楷体_GB2312" pitchFamily="1" charset="-122"/>
              </a:rPr>
              <a:t>ZERO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=0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，零个数加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1</a:t>
            </a:r>
            <a:endParaRPr lang="zh-CN" altLang="en-US" sz="24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JMP	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NEXT</a:t>
            </a:r>
            <a:r>
              <a:rPr lang="en-US" altLang="zh-CN" sz="2400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	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；往下执行</a:t>
            </a:r>
          </a:p>
          <a:p>
            <a:pPr algn="l">
              <a:spcBef>
                <a:spcPct val="0"/>
              </a:spcBef>
            </a:pPr>
            <a:r>
              <a:rPr lang="en-US" altLang="zh-CN" sz="2400" b="1">
                <a:solidFill>
                  <a:srgbClr val="996633"/>
                </a:solidFill>
                <a:latin typeface="Times New Roman" panose="02020603050405020304" pitchFamily="18" charset="0"/>
                <a:ea typeface="楷体_GB2312" pitchFamily="1" charset="-122"/>
              </a:rPr>
              <a:t>P-INC</a:t>
            </a:r>
            <a:r>
              <a:rPr lang="zh-CN" altLang="en-US" sz="2400" b="1">
                <a:solidFill>
                  <a:srgbClr val="996633"/>
                </a:solidFill>
                <a:latin typeface="Times New Roman" panose="02020603050405020304" pitchFamily="18" charset="0"/>
                <a:ea typeface="楷体_GB2312" pitchFamily="1" charset="-122"/>
              </a:rPr>
              <a:t>：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</a:t>
            </a:r>
            <a:endParaRPr lang="zh-CN" altLang="en-US" sz="24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INC	PLUS	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；正数个数加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1</a:t>
            </a:r>
            <a:endParaRPr lang="zh-CN" altLang="en-US" sz="24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>
              <a:spcBef>
                <a:spcPct val="0"/>
              </a:spcBef>
            </a:pP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NEXT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：</a:t>
            </a: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INC     	BX	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；数据地址指针加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1</a:t>
            </a:r>
            <a:endParaRPr lang="zh-CN" altLang="en-US" sz="24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DEC    CX	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；数据计数器减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1</a:t>
            </a:r>
            <a:endParaRPr lang="zh-CN" altLang="en-US" sz="24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JNZ	</a:t>
            </a:r>
            <a:r>
              <a:rPr lang="en-US" altLang="zh-CN" sz="2400" b="1">
                <a:solidFill>
                  <a:srgbClr val="CC3300"/>
                </a:solidFill>
                <a:latin typeface="Times New Roman" panose="02020603050405020304" pitchFamily="18" charset="0"/>
                <a:ea typeface="楷体_GB2312" pitchFamily="1" charset="-122"/>
              </a:rPr>
              <a:t>AGAIN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；未完，继续统计</a:t>
            </a:r>
          </a:p>
        </p:txBody>
      </p:sp>
      <p:sp>
        <p:nvSpPr>
          <p:cNvPr id="67587" name="日期占位符 1">
            <a:extLst>
              <a:ext uri="{FF2B5EF4-FFF2-40B4-BE49-F238E27FC236}">
                <a16:creationId xmlns:a16="http://schemas.microsoft.com/office/drawing/2014/main" id="{E34AA971-DF55-499B-A664-727CBE863CA2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1E1FF2CE-527C-4ACD-824B-67C101EF8B4D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ll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charRg st="107" end="1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2467">
                                            <p:txEl>
                                              <p:charRg st="107" end="1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charRg st="116" end="1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2467">
                                            <p:txEl>
                                              <p:charRg st="116" end="1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charRg st="138" end="15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2467">
                                            <p:txEl>
                                              <p:charRg st="138" end="15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charRg st="159" end="1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2467">
                                            <p:txEl>
                                              <p:charRg st="159" end="17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charRg st="176" end="1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2467">
                                            <p:txEl>
                                              <p:charRg st="176" end="18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charRg st="184" end="2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62467">
                                            <p:txEl>
                                              <p:charRg st="184" end="20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charRg st="203" end="2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62467">
                                            <p:txEl>
                                              <p:charRg st="203" end="20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charRg st="209" end="2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62467">
                                            <p:txEl>
                                              <p:charRg st="209" end="23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charRg st="233" end="25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62467">
                                            <p:txEl>
                                              <p:charRg st="233" end="25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7">
                                            <p:txEl>
                                              <p:charRg st="254" end="2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62467">
                                            <p:txEl>
                                              <p:charRg st="254" end="26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内容占位符 2">
            <a:extLst>
              <a:ext uri="{FF2B5EF4-FFF2-40B4-BE49-F238E27FC236}">
                <a16:creationId xmlns:a16="http://schemas.microsoft.com/office/drawing/2014/main" id="{CFA17F0E-D690-44AA-93C4-DC8D82454B0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1893888"/>
            <a:ext cx="8372475" cy="4695825"/>
          </a:xfrm>
        </p:spPr>
        <p:txBody>
          <a:bodyPr/>
          <a:lstStyle/>
          <a:p>
            <a:pPr algn="l">
              <a:lnSpc>
                <a:spcPct val="80000"/>
              </a:lnSpc>
            </a:pPr>
            <a:r>
              <a:rPr lang="zh-CN" altLang="en-US" sz="2400">
                <a:solidFill>
                  <a:srgbClr val="0000FF"/>
                </a:solidFill>
              </a:rPr>
              <a:t>例</a:t>
            </a:r>
            <a:r>
              <a:rPr lang="en-US" altLang="zh-CN" sz="2400">
                <a:solidFill>
                  <a:srgbClr val="0000FF"/>
                </a:solidFill>
              </a:rPr>
              <a:t>3.94</a:t>
            </a:r>
            <a:r>
              <a:rPr lang="zh-CN" altLang="en-US" sz="2400">
                <a:solidFill>
                  <a:srgbClr val="0000FF"/>
                </a:solidFill>
              </a:rPr>
              <a:t>（</a:t>
            </a:r>
            <a:r>
              <a:rPr lang="zh-CN" altLang="en-US" sz="2400" b="1">
                <a:solidFill>
                  <a:srgbClr val="FF0000"/>
                </a:solidFill>
              </a:rPr>
              <a:t>改</a:t>
            </a:r>
            <a:r>
              <a:rPr lang="zh-CN" altLang="en-US" sz="2400">
                <a:solidFill>
                  <a:srgbClr val="0000FF"/>
                </a:solidFill>
              </a:rPr>
              <a:t>）</a:t>
            </a:r>
            <a:r>
              <a:rPr lang="zh-CN" altLang="en-US" sz="2400"/>
              <a:t>扬声器发声程序</a:t>
            </a:r>
            <a:r>
              <a:rPr lang="en-US" altLang="zh-CN" sz="2400"/>
              <a:t>（</a:t>
            </a:r>
            <a:r>
              <a:rPr lang="zh-CN" altLang="en-US" sz="2400"/>
              <a:t>设</a:t>
            </a:r>
            <a:r>
              <a:rPr lang="en-US" altLang="zh-CN" sz="2400">
                <a:solidFill>
                  <a:srgbClr val="C00000"/>
                </a:solidFill>
              </a:rPr>
              <a:t>61H</a:t>
            </a:r>
            <a:r>
              <a:rPr lang="zh-CN" altLang="en-US" sz="2400"/>
              <a:t>端口</a:t>
            </a:r>
            <a:r>
              <a:rPr lang="en-US" altLang="zh-CN" sz="2400">
                <a:solidFill>
                  <a:srgbClr val="C00000"/>
                </a:solidFill>
              </a:rPr>
              <a:t>D1</a:t>
            </a:r>
            <a:r>
              <a:rPr lang="zh-CN" altLang="en-US" sz="2400"/>
              <a:t>位接扬声器）</a:t>
            </a:r>
            <a:endParaRPr lang="en-US" altLang="zh-CN" sz="2400"/>
          </a:p>
          <a:p>
            <a:pPr algn="l">
              <a:spcBef>
                <a:spcPct val="0"/>
              </a:spcBef>
            </a:pPr>
            <a:r>
              <a:rPr lang="en-US" altLang="zh-CN" sz="2400"/>
              <a:t>	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IN	AL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61H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AL←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从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61H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口读取数据</a:t>
            </a: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AND   AL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0FCH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；保护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D7~D2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位，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D0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位清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0</a:t>
            </a:r>
            <a:endParaRPr lang="zh-CN" altLang="en-US" sz="24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MORE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：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</a:t>
            </a:r>
            <a:endParaRPr lang="zh-CN" altLang="en-US" sz="24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XOR    AL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02           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触发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D1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位使之在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0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和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1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间变化</a:t>
            </a: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OUT    61H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AL	 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控制扬声器开关通断</a:t>
            </a: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</a:t>
            </a:r>
            <a:r>
              <a:rPr lang="en-US" altLang="zh-CN" sz="2400" b="1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1" charset="-122"/>
              </a:rPr>
              <a:t>MOV   CX</a:t>
            </a: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400" b="1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1" charset="-122"/>
              </a:rPr>
              <a:t>260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CX=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循环次数</a:t>
            </a:r>
          </a:p>
          <a:p>
            <a:pPr algn="l">
              <a:spcBef>
                <a:spcPct val="0"/>
              </a:spcBef>
            </a:pP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DELAY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：  </a:t>
            </a:r>
          </a:p>
          <a:p>
            <a:pPr algn="l">
              <a:spcBef>
                <a:spcPct val="0"/>
              </a:spcBef>
            </a:pP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	</a:t>
            </a:r>
            <a:r>
              <a:rPr lang="en-US" altLang="zh-CN" sz="2400" b="1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1" charset="-122"/>
              </a:rPr>
              <a:t>DEC </a:t>
            </a:r>
            <a:r>
              <a:rPr lang="zh-CN" altLang="en-US" sz="2400" b="1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1" charset="-122"/>
              </a:rPr>
              <a:t>   </a:t>
            </a:r>
            <a:r>
              <a:rPr lang="en-US" altLang="zh-CN" sz="2400" b="1">
                <a:solidFill>
                  <a:srgbClr val="C00000"/>
                </a:solidFill>
                <a:latin typeface="Times New Roman" panose="02020603050405020304" pitchFamily="18" charset="0"/>
                <a:ea typeface="楷体_GB2312" pitchFamily="1" charset="-122"/>
              </a:rPr>
              <a:t>CX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		；循环延时</a:t>
            </a:r>
            <a:endParaRPr lang="en-US" altLang="zh-CN" sz="240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</a:t>
            </a:r>
            <a:r>
              <a:rPr lang="en-US" altLang="zh-CN" sz="2400" b="1">
                <a:solidFill>
                  <a:srgbClr val="0000FF"/>
                </a:solidFill>
                <a:latin typeface="Times New Roman" panose="02020603050405020304" pitchFamily="18" charset="0"/>
                <a:ea typeface="楷体_GB2312" pitchFamily="1" charset="-122"/>
              </a:rPr>
              <a:t>JNZ     DELAY</a:t>
            </a:r>
            <a:endParaRPr lang="zh-CN" altLang="en-US" sz="2400" b="1">
              <a:solidFill>
                <a:srgbClr val="0000FF"/>
              </a:solidFill>
              <a:latin typeface="Times New Roman" panose="02020603050405020304" pitchFamily="18" charset="0"/>
              <a:ea typeface="楷体_GB2312" pitchFamily="1" charset="-122"/>
            </a:endParaRPr>
          </a:p>
          <a:p>
            <a:pPr algn="l">
              <a:spcBef>
                <a:spcPct val="0"/>
              </a:spcBef>
            </a:pPr>
            <a:r>
              <a:rPr lang="en-US" altLang="zh-CN" sz="2400">
                <a:latin typeface="Times New Roman" panose="02020603050405020304" pitchFamily="18" charset="0"/>
                <a:ea typeface="楷体_GB2312" pitchFamily="1" charset="-122"/>
              </a:rPr>
              <a:t>	JMP     MORE		</a:t>
            </a:r>
            <a:r>
              <a:rPr lang="zh-CN" altLang="en-US" sz="2400">
                <a:latin typeface="Times New Roman" panose="02020603050405020304" pitchFamily="18" charset="0"/>
                <a:ea typeface="楷体_GB2312" pitchFamily="1" charset="-122"/>
              </a:rPr>
              <a:t>；再次触发</a:t>
            </a:r>
          </a:p>
          <a:p>
            <a:pPr algn="l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8000"/>
                </a:solidFill>
                <a:latin typeface="Times New Roman" panose="02020603050405020304" pitchFamily="18" charset="0"/>
              </a:rPr>
              <a:t>本例中，</a:t>
            </a:r>
            <a:r>
              <a:rPr lang="en-US" altLang="zh-CN" sz="2400">
                <a:solidFill>
                  <a:srgbClr val="008000"/>
                </a:solidFill>
                <a:latin typeface="Times New Roman" panose="02020603050405020304" pitchFamily="18" charset="0"/>
              </a:rPr>
              <a:t>DELAY</a:t>
            </a:r>
            <a:r>
              <a:rPr lang="zh-CN" altLang="en-US" sz="2400">
                <a:solidFill>
                  <a:srgbClr val="008000"/>
                </a:solidFill>
                <a:latin typeface="Times New Roman" panose="02020603050405020304" pitchFamily="18" charset="0"/>
              </a:rPr>
              <a:t>循环</a:t>
            </a:r>
            <a:r>
              <a:rPr lang="en-US" altLang="zh-CN" sz="2400">
                <a:solidFill>
                  <a:srgbClr val="008000"/>
                </a:solidFill>
                <a:latin typeface="Times New Roman" panose="02020603050405020304" pitchFamily="18" charset="0"/>
              </a:rPr>
              <a:t>起延时作用，使开关通断维持一定时间。否则开关动作太快，发出的声音频率太高，人耳听不出来</a:t>
            </a:r>
            <a:endParaRPr lang="zh-CN" altLang="en-US" sz="2400">
              <a:solidFill>
                <a:srgbClr val="008000"/>
              </a:solidFill>
              <a:latin typeface="Times New Roman" panose="02020603050405020304" pitchFamily="18" charset="0"/>
              <a:ea typeface="楷体_GB2312" pitchFamily="1" charset="-122"/>
            </a:endParaRPr>
          </a:p>
        </p:txBody>
      </p:sp>
      <p:sp>
        <p:nvSpPr>
          <p:cNvPr id="68610" name="标题 1">
            <a:extLst>
              <a:ext uri="{FF2B5EF4-FFF2-40B4-BE49-F238E27FC236}">
                <a16:creationId xmlns:a16="http://schemas.microsoft.com/office/drawing/2014/main" id="{76F7D2F2-C1C9-4069-8FC1-A1CE2D76B180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385763" y="188913"/>
            <a:ext cx="8229600" cy="674687"/>
          </a:xfrm>
        </p:spPr>
        <p:txBody>
          <a:bodyPr anchor="ctr"/>
          <a:lstStyle/>
          <a:p>
            <a:pPr algn="l"/>
            <a:r>
              <a:rPr lang="en-US" altLang="zh-CN" sz="4000" b="1">
                <a:solidFill>
                  <a:schemeClr val="accent2"/>
                </a:solidFill>
              </a:rPr>
              <a:t>3. </a:t>
            </a:r>
            <a:r>
              <a:rPr lang="zh-CN" altLang="en-US" sz="4000" b="1">
                <a:solidFill>
                  <a:schemeClr val="accent2"/>
                </a:solidFill>
              </a:rPr>
              <a:t>循环控制指令（</a:t>
            </a:r>
            <a:r>
              <a:rPr lang="en-US" altLang="zh-CN" sz="4000" b="1">
                <a:solidFill>
                  <a:schemeClr val="accent2"/>
                </a:solidFill>
              </a:rPr>
              <a:t>Iteration control</a:t>
            </a:r>
            <a:r>
              <a:rPr lang="zh-CN" altLang="en-US" sz="4000" b="1">
                <a:solidFill>
                  <a:schemeClr val="accent2"/>
                </a:solidFill>
              </a:rPr>
              <a:t>）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4844F0D-B95C-479E-8C8C-929F5DAB1DC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9474" y="863600"/>
            <a:ext cx="817082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400" b="1" dirty="0">
                <a:solidFill>
                  <a:srgbClr val="C00000"/>
                </a:solidFill>
              </a:rPr>
              <a:t>注：只需要掌握</a:t>
            </a:r>
            <a:r>
              <a:rPr lang="en-US" altLang="zh-CN" sz="2400" b="1" dirty="0">
                <a:solidFill>
                  <a:srgbClr val="C00000"/>
                </a:solidFill>
              </a:rPr>
              <a:t>LOOP</a:t>
            </a:r>
            <a:r>
              <a:rPr lang="zh-CN" altLang="en-US" sz="2400" b="1" dirty="0">
                <a:solidFill>
                  <a:srgbClr val="C00000"/>
                </a:solidFill>
              </a:rPr>
              <a:t>指令，条件循环控制指令不要求掌握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130F155-EEB1-4A91-B527-AB8214B5A4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338" y="1374775"/>
            <a:ext cx="73326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zh-CN" altLang="en-US" sz="2800" b="1">
                <a:solidFill>
                  <a:srgbClr val="0000FF"/>
                </a:solidFill>
                <a:sym typeface="宋体" panose="02010600030101010101" pitchFamily="2" charset="-122"/>
              </a:rPr>
              <a:t>下面举例介绍循环程序结构，并简介循环指令</a:t>
            </a:r>
          </a:p>
        </p:txBody>
      </p:sp>
      <p:sp>
        <p:nvSpPr>
          <p:cNvPr id="68613" name="日期占位符 3">
            <a:extLst>
              <a:ext uri="{FF2B5EF4-FFF2-40B4-BE49-F238E27FC236}">
                <a16:creationId xmlns:a16="http://schemas.microsoft.com/office/drawing/2014/main" id="{8EB82C58-92A3-4156-AF4C-12F0FD0EFC95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B9B70077-01F7-4E37-B125-24F9CCE06E3B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ll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3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3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34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34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34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34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34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34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34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34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34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34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34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34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34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34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34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34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34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34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34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34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634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34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文本占位符 64514">
            <a:extLst>
              <a:ext uri="{FF2B5EF4-FFF2-40B4-BE49-F238E27FC236}">
                <a16:creationId xmlns:a16="http://schemas.microsoft.com/office/drawing/2014/main" id="{8FE5909A-CA33-48C3-B0A0-E1D2CB20ED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5225"/>
            <a:ext cx="8229600" cy="4525963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zh-CN" altLang="en-US" sz="2800" noProof="1">
                <a:solidFill>
                  <a:srgbClr val="0000FF"/>
                </a:solidFill>
              </a:rPr>
              <a:t>改为循环控制指令</a:t>
            </a:r>
            <a:r>
              <a:rPr lang="en-US" altLang="zh-CN" sz="2800" noProof="1">
                <a:solidFill>
                  <a:srgbClr val="FF0000"/>
                </a:solidFill>
              </a:rPr>
              <a:t>LOOP</a:t>
            </a:r>
            <a:r>
              <a:rPr lang="zh-CN" altLang="en-US" sz="2800" noProof="1">
                <a:solidFill>
                  <a:srgbClr val="0000FF"/>
                </a:solidFill>
              </a:rPr>
              <a:t>实现，程序变为</a:t>
            </a:r>
          </a:p>
          <a:p>
            <a:endParaRPr lang="zh-CN" altLang="en-US" noProof="1"/>
          </a:p>
          <a:p>
            <a:endParaRPr lang="en-US" altLang="zh-CN" noProof="1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577F7D9-8137-4A8F-81D9-4411B6F0D9E9}"/>
              </a:ext>
            </a:extLst>
          </p:cNvPr>
          <p:cNvSpPr>
            <a:spLocks noGrp="1" noRot="1" noChangeArrowheads="1"/>
          </p:cNvSpPr>
          <p:nvPr/>
        </p:nvSpPr>
        <p:spPr bwMode="auto">
          <a:xfrm>
            <a:off x="385763" y="188913"/>
            <a:ext cx="8229600" cy="67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altLang="zh-CN" sz="4000" b="1">
                <a:solidFill>
                  <a:schemeClr val="accent2"/>
                </a:solidFill>
                <a:latin typeface="Arial" panose="020B0604020202020204" pitchFamily="34" charset="0"/>
              </a:rPr>
              <a:t>3. </a:t>
            </a:r>
            <a:r>
              <a:rPr lang="zh-CN" altLang="en-US" sz="4000" b="1">
                <a:solidFill>
                  <a:schemeClr val="accent2"/>
                </a:solidFill>
                <a:latin typeface="Arial" panose="020B0604020202020204" pitchFamily="34" charset="0"/>
              </a:rPr>
              <a:t>循环控制指令（</a:t>
            </a:r>
            <a:r>
              <a:rPr lang="en-US" altLang="zh-CN" sz="4000" b="1">
                <a:solidFill>
                  <a:schemeClr val="accent2"/>
                </a:solidFill>
                <a:latin typeface="Arial" panose="020B0604020202020204" pitchFamily="34" charset="0"/>
              </a:rPr>
              <a:t>Iteration control</a:t>
            </a:r>
            <a:r>
              <a:rPr lang="zh-CN" altLang="en-US" sz="4000" b="1">
                <a:solidFill>
                  <a:schemeClr val="accent2"/>
                </a:solidFill>
                <a:latin typeface="Arial" panose="020B0604020202020204" pitchFamily="34" charset="0"/>
              </a:rPr>
              <a:t>）</a:t>
            </a:r>
          </a:p>
        </p:txBody>
      </p:sp>
      <p:sp>
        <p:nvSpPr>
          <p:cNvPr id="63490" name="内容占位符 2">
            <a:extLst>
              <a:ext uri="{FF2B5EF4-FFF2-40B4-BE49-F238E27FC236}">
                <a16:creationId xmlns:a16="http://schemas.microsoft.com/office/drawing/2014/main" id="{0E42BD97-54F1-42A3-8685-66D1F1C8EE11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385763" y="1893888"/>
            <a:ext cx="8372475" cy="4557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lnSpc>
                <a:spcPct val="80000"/>
              </a:lnSpc>
              <a:spcBef>
                <a:spcPct val="20000"/>
              </a:spcBef>
            </a:pPr>
            <a:r>
              <a:rPr lang="zh-CN" altLang="en-US" sz="2400">
                <a:solidFill>
                  <a:srgbClr val="0000FF"/>
                </a:solidFill>
                <a:latin typeface="Arial" panose="020B0604020202020204" pitchFamily="34" charset="0"/>
              </a:rPr>
              <a:t>例</a:t>
            </a:r>
            <a:r>
              <a:rPr lang="en-US" altLang="zh-CN" sz="2400">
                <a:solidFill>
                  <a:srgbClr val="0000FF"/>
                </a:solidFill>
                <a:latin typeface="Arial" panose="020B0604020202020204" pitchFamily="34" charset="0"/>
              </a:rPr>
              <a:t>3.94</a:t>
            </a:r>
            <a:r>
              <a:rPr lang="zh-CN" altLang="en-US" sz="2400">
                <a:solidFill>
                  <a:srgbClr val="0000FF"/>
                </a:solidFill>
                <a:latin typeface="Arial" panose="020B0604020202020204" pitchFamily="34" charset="0"/>
              </a:rPr>
              <a:t>（</a:t>
            </a:r>
            <a:r>
              <a:rPr lang="zh-CN" altLang="en-US" sz="2400" b="1">
                <a:solidFill>
                  <a:srgbClr val="FF0000"/>
                </a:solidFill>
                <a:latin typeface="Arial" panose="020B0604020202020204" pitchFamily="34" charset="0"/>
              </a:rPr>
              <a:t>改</a:t>
            </a:r>
            <a:r>
              <a:rPr lang="zh-CN" altLang="en-US" sz="2400">
                <a:solidFill>
                  <a:srgbClr val="0000FF"/>
                </a:solidFill>
                <a:latin typeface="Arial" panose="020B0604020202020204" pitchFamily="34" charset="0"/>
              </a:rPr>
              <a:t>）</a:t>
            </a:r>
            <a:r>
              <a:rPr lang="zh-CN" altLang="en-US" sz="2400">
                <a:latin typeface="Arial" panose="020B0604020202020204" pitchFamily="34" charset="0"/>
              </a:rPr>
              <a:t>扬声器发声程序</a:t>
            </a:r>
            <a:r>
              <a:rPr lang="en-US" altLang="zh-CN" sz="2400">
                <a:latin typeface="Arial" panose="020B0604020202020204" pitchFamily="34" charset="0"/>
              </a:rPr>
              <a:t>（</a:t>
            </a:r>
            <a:r>
              <a:rPr lang="zh-CN" altLang="en-US" sz="2400">
                <a:latin typeface="Arial" panose="020B0604020202020204" pitchFamily="34" charset="0"/>
              </a:rPr>
              <a:t>设</a:t>
            </a:r>
            <a:r>
              <a:rPr lang="en-US" altLang="zh-CN" sz="2400">
                <a:solidFill>
                  <a:srgbClr val="C00000"/>
                </a:solidFill>
                <a:latin typeface="Arial" panose="020B0604020202020204" pitchFamily="34" charset="0"/>
              </a:rPr>
              <a:t>61H</a:t>
            </a:r>
            <a:r>
              <a:rPr lang="zh-CN" altLang="en-US" sz="2400">
                <a:latin typeface="Arial" panose="020B0604020202020204" pitchFamily="34" charset="0"/>
              </a:rPr>
              <a:t>端口</a:t>
            </a:r>
            <a:r>
              <a:rPr lang="en-US" altLang="zh-CN" sz="2400">
                <a:solidFill>
                  <a:srgbClr val="C00000"/>
                </a:solidFill>
                <a:latin typeface="Arial" panose="020B0604020202020204" pitchFamily="34" charset="0"/>
              </a:rPr>
              <a:t>D1</a:t>
            </a:r>
            <a:r>
              <a:rPr lang="zh-CN" altLang="en-US" sz="2400">
                <a:latin typeface="Arial" panose="020B0604020202020204" pitchFamily="34" charset="0"/>
              </a:rPr>
              <a:t>位接扬声器）</a:t>
            </a:r>
            <a:endParaRPr lang="en-US" altLang="zh-CN" sz="2400">
              <a:latin typeface="Arial" panose="020B0604020202020204" pitchFamily="34" charset="0"/>
            </a:endParaRPr>
          </a:p>
          <a:p>
            <a:r>
              <a:rPr lang="en-US" altLang="zh-CN" sz="2400">
                <a:latin typeface="Arial" panose="020B0604020202020204" pitchFamily="34" charset="0"/>
              </a:rPr>
              <a:t>	</a:t>
            </a:r>
            <a:r>
              <a:rPr lang="en-US" altLang="zh-CN" sz="2400">
                <a:ea typeface="楷体_GB2312" pitchFamily="1" charset="-122"/>
              </a:rPr>
              <a:t>IN	AL</a:t>
            </a:r>
            <a:r>
              <a:rPr lang="zh-CN" altLang="en-US" sz="2400">
                <a:ea typeface="楷体_GB2312" pitchFamily="1" charset="-122"/>
              </a:rPr>
              <a:t>，</a:t>
            </a:r>
            <a:r>
              <a:rPr lang="en-US" altLang="zh-CN" sz="2400">
                <a:ea typeface="楷体_GB2312" pitchFamily="1" charset="-122"/>
              </a:rPr>
              <a:t>61H	</a:t>
            </a:r>
            <a:r>
              <a:rPr lang="zh-CN" altLang="en-US" sz="2400">
                <a:ea typeface="楷体_GB2312" pitchFamily="1" charset="-122"/>
              </a:rPr>
              <a:t>；</a:t>
            </a:r>
            <a:r>
              <a:rPr lang="en-US" altLang="zh-CN" sz="2400">
                <a:ea typeface="楷体_GB2312" pitchFamily="1" charset="-122"/>
              </a:rPr>
              <a:t>AL←</a:t>
            </a:r>
            <a:r>
              <a:rPr lang="zh-CN" altLang="en-US" sz="2400">
                <a:ea typeface="楷体_GB2312" pitchFamily="1" charset="-122"/>
              </a:rPr>
              <a:t>从</a:t>
            </a:r>
            <a:r>
              <a:rPr lang="en-US" altLang="zh-CN" sz="2400">
                <a:ea typeface="楷体_GB2312" pitchFamily="1" charset="-122"/>
              </a:rPr>
              <a:t>61H</a:t>
            </a:r>
            <a:r>
              <a:rPr lang="zh-CN" altLang="en-US" sz="2400">
                <a:ea typeface="楷体_GB2312" pitchFamily="1" charset="-122"/>
              </a:rPr>
              <a:t>口读取数据</a:t>
            </a:r>
          </a:p>
          <a:p>
            <a:r>
              <a:rPr lang="en-US" altLang="zh-CN" sz="2400">
                <a:ea typeface="楷体_GB2312" pitchFamily="1" charset="-122"/>
              </a:rPr>
              <a:t>	AND   AL</a:t>
            </a:r>
            <a:r>
              <a:rPr lang="zh-CN" altLang="en-US" sz="2400">
                <a:ea typeface="楷体_GB2312" pitchFamily="1" charset="-122"/>
              </a:rPr>
              <a:t>，</a:t>
            </a:r>
            <a:r>
              <a:rPr lang="en-US" altLang="zh-CN" sz="2400">
                <a:ea typeface="楷体_GB2312" pitchFamily="1" charset="-122"/>
              </a:rPr>
              <a:t>0FCH	</a:t>
            </a:r>
            <a:r>
              <a:rPr lang="zh-CN" altLang="en-US" sz="2400">
                <a:ea typeface="楷体_GB2312" pitchFamily="1" charset="-122"/>
              </a:rPr>
              <a:t>；保护</a:t>
            </a:r>
            <a:r>
              <a:rPr lang="en-US" altLang="zh-CN" sz="2400">
                <a:ea typeface="楷体_GB2312" pitchFamily="1" charset="-122"/>
              </a:rPr>
              <a:t>D7~D2</a:t>
            </a:r>
            <a:r>
              <a:rPr lang="zh-CN" altLang="en-US" sz="2400">
                <a:ea typeface="楷体_GB2312" pitchFamily="1" charset="-122"/>
              </a:rPr>
              <a:t>位，</a:t>
            </a:r>
            <a:r>
              <a:rPr lang="en-US" altLang="zh-CN" sz="2400">
                <a:ea typeface="楷体_GB2312" pitchFamily="1" charset="-122"/>
              </a:rPr>
              <a:t>D0</a:t>
            </a:r>
            <a:r>
              <a:rPr lang="zh-CN" altLang="en-US" sz="2400">
                <a:ea typeface="楷体_GB2312" pitchFamily="1" charset="-122"/>
              </a:rPr>
              <a:t>位清</a:t>
            </a:r>
            <a:r>
              <a:rPr lang="en-US" altLang="zh-CN" sz="2400">
                <a:ea typeface="楷体_GB2312" pitchFamily="1" charset="-122"/>
              </a:rPr>
              <a:t>0</a:t>
            </a:r>
            <a:endParaRPr lang="zh-CN" altLang="en-US" sz="2400">
              <a:ea typeface="楷体_GB2312" pitchFamily="1" charset="-122"/>
            </a:endParaRPr>
          </a:p>
          <a:p>
            <a:r>
              <a:rPr lang="en-US" altLang="zh-CN" sz="2400">
                <a:ea typeface="楷体_GB2312" pitchFamily="1" charset="-122"/>
              </a:rPr>
              <a:t>MORE</a:t>
            </a:r>
            <a:r>
              <a:rPr lang="zh-CN" altLang="en-US" sz="2400">
                <a:ea typeface="楷体_GB2312" pitchFamily="1" charset="-122"/>
              </a:rPr>
              <a:t>：</a:t>
            </a:r>
            <a:r>
              <a:rPr lang="en-US" altLang="zh-CN" sz="2400">
                <a:ea typeface="楷体_GB2312" pitchFamily="1" charset="-122"/>
              </a:rPr>
              <a:t>	</a:t>
            </a:r>
            <a:endParaRPr lang="zh-CN" altLang="en-US" sz="2400">
              <a:ea typeface="楷体_GB2312" pitchFamily="1" charset="-122"/>
            </a:endParaRPr>
          </a:p>
          <a:p>
            <a:r>
              <a:rPr lang="en-US" altLang="zh-CN" sz="2400">
                <a:ea typeface="楷体_GB2312" pitchFamily="1" charset="-122"/>
              </a:rPr>
              <a:t>	XOR    AL</a:t>
            </a:r>
            <a:r>
              <a:rPr lang="zh-CN" altLang="en-US" sz="2400">
                <a:ea typeface="楷体_GB2312" pitchFamily="1" charset="-122"/>
              </a:rPr>
              <a:t>，</a:t>
            </a:r>
            <a:r>
              <a:rPr lang="en-US" altLang="zh-CN" sz="2400">
                <a:ea typeface="楷体_GB2312" pitchFamily="1" charset="-122"/>
              </a:rPr>
              <a:t>02           </a:t>
            </a:r>
            <a:r>
              <a:rPr lang="zh-CN" altLang="en-US" sz="2400">
                <a:ea typeface="楷体_GB2312" pitchFamily="1" charset="-122"/>
              </a:rPr>
              <a:t>；</a:t>
            </a:r>
            <a:r>
              <a:rPr lang="zh-CN" altLang="en-US" sz="2400" b="1">
                <a:solidFill>
                  <a:srgbClr val="0000FF"/>
                </a:solidFill>
                <a:ea typeface="楷体_GB2312" pitchFamily="1" charset="-122"/>
              </a:rPr>
              <a:t>触发</a:t>
            </a:r>
            <a:r>
              <a:rPr lang="en-US" altLang="zh-CN" sz="2400" b="1">
                <a:solidFill>
                  <a:srgbClr val="0000FF"/>
                </a:solidFill>
                <a:ea typeface="楷体_GB2312" pitchFamily="1" charset="-122"/>
              </a:rPr>
              <a:t>D1</a:t>
            </a:r>
            <a:r>
              <a:rPr lang="zh-CN" altLang="en-US" sz="2400" b="1">
                <a:solidFill>
                  <a:srgbClr val="0000FF"/>
                </a:solidFill>
                <a:ea typeface="楷体_GB2312" pitchFamily="1" charset="-122"/>
              </a:rPr>
              <a:t>位使之在</a:t>
            </a:r>
            <a:r>
              <a:rPr lang="en-US" altLang="zh-CN" sz="2400" b="1">
                <a:solidFill>
                  <a:srgbClr val="0000FF"/>
                </a:solidFill>
                <a:ea typeface="楷体_GB2312" pitchFamily="1" charset="-122"/>
              </a:rPr>
              <a:t>0</a:t>
            </a:r>
            <a:r>
              <a:rPr lang="zh-CN" altLang="en-US" sz="2400" b="1">
                <a:solidFill>
                  <a:srgbClr val="0000FF"/>
                </a:solidFill>
                <a:ea typeface="楷体_GB2312" pitchFamily="1" charset="-122"/>
              </a:rPr>
              <a:t>和</a:t>
            </a:r>
            <a:r>
              <a:rPr lang="en-US" altLang="zh-CN" sz="2400" b="1">
                <a:solidFill>
                  <a:srgbClr val="0000FF"/>
                </a:solidFill>
                <a:ea typeface="楷体_GB2312" pitchFamily="1" charset="-122"/>
              </a:rPr>
              <a:t>1</a:t>
            </a:r>
            <a:r>
              <a:rPr lang="zh-CN" altLang="en-US" sz="2400" b="1">
                <a:solidFill>
                  <a:srgbClr val="0000FF"/>
                </a:solidFill>
                <a:ea typeface="楷体_GB2312" pitchFamily="1" charset="-122"/>
              </a:rPr>
              <a:t>间变化</a:t>
            </a:r>
          </a:p>
          <a:p>
            <a:r>
              <a:rPr lang="en-US" altLang="zh-CN" sz="2400">
                <a:ea typeface="楷体_GB2312" pitchFamily="1" charset="-122"/>
              </a:rPr>
              <a:t>	OUT    61H</a:t>
            </a:r>
            <a:r>
              <a:rPr lang="zh-CN" altLang="en-US" sz="2400">
                <a:ea typeface="楷体_GB2312" pitchFamily="1" charset="-122"/>
              </a:rPr>
              <a:t>，</a:t>
            </a:r>
            <a:r>
              <a:rPr lang="en-US" altLang="zh-CN" sz="2400">
                <a:ea typeface="楷体_GB2312" pitchFamily="1" charset="-122"/>
              </a:rPr>
              <a:t>AL	 </a:t>
            </a:r>
            <a:r>
              <a:rPr lang="zh-CN" altLang="en-US" sz="2400">
                <a:ea typeface="楷体_GB2312" pitchFamily="1" charset="-122"/>
              </a:rPr>
              <a:t>；</a:t>
            </a:r>
            <a:r>
              <a:rPr lang="zh-CN" altLang="en-US" sz="2400" b="1">
                <a:solidFill>
                  <a:srgbClr val="0000FF"/>
                </a:solidFill>
                <a:ea typeface="楷体_GB2312" pitchFamily="1" charset="-122"/>
              </a:rPr>
              <a:t>控制扬声器开关通断</a:t>
            </a:r>
          </a:p>
          <a:p>
            <a:r>
              <a:rPr lang="en-US" altLang="zh-CN" sz="2400">
                <a:ea typeface="楷体_GB2312" pitchFamily="1" charset="-122"/>
              </a:rPr>
              <a:t>	</a:t>
            </a:r>
            <a:r>
              <a:rPr lang="en-US" altLang="zh-CN" sz="2400" b="1">
                <a:solidFill>
                  <a:srgbClr val="C00000"/>
                </a:solidFill>
                <a:ea typeface="楷体_GB2312" pitchFamily="1" charset="-122"/>
              </a:rPr>
              <a:t>MOV   CX</a:t>
            </a:r>
            <a:r>
              <a:rPr lang="zh-CN" altLang="en-US" sz="2400" b="1">
                <a:solidFill>
                  <a:srgbClr val="C00000"/>
                </a:solidFill>
                <a:ea typeface="楷体_GB2312" pitchFamily="1" charset="-122"/>
              </a:rPr>
              <a:t>，</a:t>
            </a:r>
            <a:r>
              <a:rPr lang="en-US" altLang="zh-CN" sz="2400" b="1">
                <a:solidFill>
                  <a:srgbClr val="C00000"/>
                </a:solidFill>
                <a:ea typeface="楷体_GB2312" pitchFamily="1" charset="-122"/>
              </a:rPr>
              <a:t>260</a:t>
            </a:r>
            <a:r>
              <a:rPr lang="en-US" altLang="zh-CN" sz="2400">
                <a:ea typeface="楷体_GB2312" pitchFamily="1" charset="-122"/>
              </a:rPr>
              <a:t>	</a:t>
            </a:r>
            <a:r>
              <a:rPr lang="zh-CN" altLang="en-US" sz="2400">
                <a:ea typeface="楷体_GB2312" pitchFamily="1" charset="-122"/>
              </a:rPr>
              <a:t>；</a:t>
            </a:r>
            <a:r>
              <a:rPr lang="en-US" altLang="zh-CN" sz="2400">
                <a:ea typeface="楷体_GB2312" pitchFamily="1" charset="-122"/>
              </a:rPr>
              <a:t>CX=</a:t>
            </a:r>
            <a:r>
              <a:rPr lang="zh-CN" altLang="en-US" sz="2400">
                <a:ea typeface="楷体_GB2312" pitchFamily="1" charset="-122"/>
              </a:rPr>
              <a:t>循环次数</a:t>
            </a:r>
          </a:p>
          <a:p>
            <a:r>
              <a:rPr lang="en-US" altLang="zh-CN" sz="2400" b="1">
                <a:solidFill>
                  <a:srgbClr val="0000FF"/>
                </a:solidFill>
                <a:ea typeface="楷体_GB2312" pitchFamily="1" charset="-122"/>
              </a:rPr>
              <a:t>DELAY</a:t>
            </a:r>
            <a:r>
              <a:rPr lang="zh-CN" altLang="en-US" sz="2400">
                <a:ea typeface="楷体_GB2312" pitchFamily="1" charset="-122"/>
              </a:rPr>
              <a:t>：  </a:t>
            </a:r>
          </a:p>
          <a:p>
            <a:r>
              <a:rPr lang="zh-CN" altLang="en-US" sz="2400">
                <a:ea typeface="楷体_GB2312" pitchFamily="1" charset="-122"/>
              </a:rPr>
              <a:t>	</a:t>
            </a:r>
            <a:r>
              <a:rPr lang="en-US" altLang="zh-CN" sz="2400">
                <a:ea typeface="楷体_GB2312" pitchFamily="1" charset="-122"/>
              </a:rPr>
              <a:t>LOOP </a:t>
            </a:r>
            <a:r>
              <a:rPr lang="zh-CN" altLang="en-US" sz="2400">
                <a:ea typeface="楷体_GB2312" pitchFamily="1" charset="-122"/>
              </a:rPr>
              <a:t>	</a:t>
            </a:r>
            <a:r>
              <a:rPr lang="en-US" altLang="zh-CN" sz="2400" b="1">
                <a:solidFill>
                  <a:srgbClr val="0000FF"/>
                </a:solidFill>
                <a:ea typeface="楷体_GB2312" pitchFamily="1" charset="-122"/>
              </a:rPr>
              <a:t>DELAY</a:t>
            </a:r>
            <a:r>
              <a:rPr lang="zh-CN" altLang="en-US" sz="2400">
                <a:ea typeface="楷体_GB2312" pitchFamily="1" charset="-122"/>
              </a:rPr>
              <a:t>	；循环延时</a:t>
            </a:r>
            <a:r>
              <a:rPr lang="en-US" altLang="zh-CN" sz="2400">
                <a:ea typeface="楷体_GB2312" pitchFamily="1" charset="-122"/>
              </a:rPr>
              <a:t>	</a:t>
            </a:r>
            <a:endParaRPr lang="zh-CN" altLang="en-US" sz="2400" b="1">
              <a:solidFill>
                <a:srgbClr val="0000FF"/>
              </a:solidFill>
              <a:ea typeface="楷体_GB2312" pitchFamily="1" charset="-122"/>
            </a:endParaRPr>
          </a:p>
          <a:p>
            <a:r>
              <a:rPr lang="en-US" altLang="zh-CN" sz="2400">
                <a:ea typeface="楷体_GB2312" pitchFamily="1" charset="-122"/>
              </a:rPr>
              <a:t>	JMP     MORE		</a:t>
            </a:r>
            <a:r>
              <a:rPr lang="zh-CN" altLang="en-US" sz="2400">
                <a:ea typeface="楷体_GB2312" pitchFamily="1" charset="-122"/>
              </a:rPr>
              <a:t>；再次触发</a:t>
            </a:r>
          </a:p>
          <a:p>
            <a:pPr>
              <a:lnSpc>
                <a:spcPct val="8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8000"/>
                </a:solidFill>
                <a:ea typeface="楷体_GB2312" pitchFamily="1" charset="-122"/>
              </a:rPr>
              <a:t>也就是说，</a:t>
            </a:r>
            <a:r>
              <a:rPr lang="en-US" altLang="zh-CN" sz="2400">
                <a:solidFill>
                  <a:srgbClr val="0000FF"/>
                </a:solidFill>
                <a:ea typeface="楷体_GB2312" pitchFamily="1" charset="-122"/>
              </a:rPr>
              <a:t>LOOP DELAY</a:t>
            </a:r>
            <a:r>
              <a:rPr lang="zh-CN" altLang="en-US" sz="2400">
                <a:solidFill>
                  <a:srgbClr val="008000"/>
                </a:solidFill>
                <a:ea typeface="楷体_GB2312" pitchFamily="1" charset="-122"/>
              </a:rPr>
              <a:t>，相当于做了两个指令的工作</a:t>
            </a:r>
          </a:p>
          <a:p>
            <a:pPr>
              <a:lnSpc>
                <a:spcPct val="8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zh-CN" altLang="en-US" sz="2400">
                <a:solidFill>
                  <a:srgbClr val="008000"/>
                </a:solidFill>
                <a:ea typeface="楷体_GB2312" pitchFamily="1" charset="-122"/>
              </a:rPr>
              <a:t>           </a:t>
            </a:r>
            <a:r>
              <a:rPr lang="en-US" altLang="zh-CN" sz="2400">
                <a:solidFill>
                  <a:srgbClr val="CC3300"/>
                </a:solidFill>
                <a:ea typeface="楷体_GB2312" pitchFamily="1" charset="-122"/>
              </a:rPr>
              <a:t>DEC CX</a:t>
            </a:r>
            <a:r>
              <a:rPr lang="zh-CN" altLang="en-US" sz="2400">
                <a:solidFill>
                  <a:srgbClr val="008000"/>
                </a:solidFill>
                <a:ea typeface="楷体_GB2312" pitchFamily="1" charset="-122"/>
              </a:rPr>
              <a:t>和</a:t>
            </a:r>
            <a:r>
              <a:rPr lang="en-US" altLang="zh-CN" sz="2400">
                <a:solidFill>
                  <a:srgbClr val="CC3300"/>
                </a:solidFill>
                <a:ea typeface="楷体_GB2312" pitchFamily="1" charset="-122"/>
              </a:rPr>
              <a:t>JNE DELAY</a:t>
            </a:r>
            <a:endParaRPr lang="zh-CN" altLang="en-US" sz="2400">
              <a:solidFill>
                <a:srgbClr val="008000"/>
              </a:solidFill>
              <a:ea typeface="楷体_GB2312" pitchFamily="1" charset="-122"/>
            </a:endParaRPr>
          </a:p>
        </p:txBody>
      </p:sp>
      <p:sp>
        <p:nvSpPr>
          <p:cNvPr id="69636" name="日期占位符 2">
            <a:extLst>
              <a:ext uri="{FF2B5EF4-FFF2-40B4-BE49-F238E27FC236}">
                <a16:creationId xmlns:a16="http://schemas.microsoft.com/office/drawing/2014/main" id="{51DD0FAA-CC79-4D72-9733-3EEAC2E5C816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C50F275B-D4F3-4488-A8B5-0322A846565C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3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3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34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34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34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34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34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34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34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34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34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349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34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349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34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349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34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349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34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349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34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349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34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349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文本占位符 64514">
            <a:extLst>
              <a:ext uri="{FF2B5EF4-FFF2-40B4-BE49-F238E27FC236}">
                <a16:creationId xmlns:a16="http://schemas.microsoft.com/office/drawing/2014/main" id="{8AC4CF25-F6AA-48E6-912D-EDCDBF356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5225"/>
            <a:ext cx="8229600" cy="4525963"/>
          </a:xfrm>
        </p:spPr>
        <p:txBody>
          <a:bodyPr/>
          <a:lstStyle/>
          <a:p>
            <a:pPr marL="0" indent="0">
              <a:buFontTx/>
              <a:buNone/>
            </a:pPr>
            <a:r>
              <a:rPr lang="zh-CN" altLang="en-US" sz="2800" noProof="1"/>
              <a:t>除了</a:t>
            </a:r>
            <a:r>
              <a:rPr lang="en-US" altLang="zh-CN" sz="2800" noProof="1">
                <a:solidFill>
                  <a:srgbClr val="CC3300"/>
                </a:solidFill>
              </a:rPr>
              <a:t>LOOP</a:t>
            </a:r>
            <a:r>
              <a:rPr lang="zh-CN" altLang="en-US" sz="2800" noProof="1"/>
              <a:t>，循环控制指令还有：</a:t>
            </a:r>
          </a:p>
          <a:p>
            <a:pPr marL="0" indent="0">
              <a:buFontTx/>
              <a:buNone/>
            </a:pPr>
            <a:r>
              <a:rPr lang="zh-CN" altLang="en-US" sz="2800" noProof="1">
                <a:solidFill>
                  <a:srgbClr val="0000FF"/>
                </a:solidFill>
              </a:rPr>
              <a:t>      </a:t>
            </a:r>
            <a:r>
              <a:rPr lang="en-US" altLang="zh-CN" sz="2800" noProof="1">
                <a:solidFill>
                  <a:srgbClr val="CC3300"/>
                </a:solidFill>
              </a:rPr>
              <a:t>LOOPE</a:t>
            </a:r>
            <a:r>
              <a:rPr lang="en-US" altLang="zh-CN" sz="2800" noProof="1">
                <a:solidFill>
                  <a:srgbClr val="0000FF"/>
                </a:solidFill>
              </a:rPr>
              <a:t>/</a:t>
            </a:r>
            <a:r>
              <a:rPr lang="en-US" altLang="zh-CN" sz="2800" noProof="1">
                <a:solidFill>
                  <a:srgbClr val="CC3300"/>
                </a:solidFill>
              </a:rPr>
              <a:t>LOOPZ</a:t>
            </a:r>
          </a:p>
          <a:p>
            <a:pPr marL="0" indent="0">
              <a:buFontTx/>
              <a:buNone/>
            </a:pPr>
            <a:r>
              <a:rPr lang="en-US" altLang="zh-CN" sz="2800" noProof="1">
                <a:solidFill>
                  <a:srgbClr val="0000FF"/>
                </a:solidFill>
              </a:rPr>
              <a:t>      </a:t>
            </a:r>
            <a:r>
              <a:rPr lang="en-US" altLang="zh-CN" sz="2800" noProof="1">
                <a:solidFill>
                  <a:srgbClr val="CC3300"/>
                </a:solidFill>
              </a:rPr>
              <a:t>LOOPNE</a:t>
            </a:r>
            <a:r>
              <a:rPr lang="en-US" altLang="zh-CN" sz="2800" noProof="1">
                <a:solidFill>
                  <a:srgbClr val="0000FF"/>
                </a:solidFill>
              </a:rPr>
              <a:t>/</a:t>
            </a:r>
            <a:r>
              <a:rPr lang="en-US" altLang="zh-CN" sz="2800" noProof="1">
                <a:solidFill>
                  <a:srgbClr val="CC3300"/>
                </a:solidFill>
              </a:rPr>
              <a:t>LOOPNZ</a:t>
            </a:r>
          </a:p>
          <a:p>
            <a:pPr marL="0" indent="0">
              <a:buFontTx/>
              <a:buNone/>
            </a:pPr>
            <a:r>
              <a:rPr lang="zh-CN" altLang="en-US" sz="2800" noProof="1"/>
              <a:t>增加了对</a:t>
            </a:r>
            <a:r>
              <a:rPr lang="en-US" altLang="zh-CN" sz="2800" noProof="1"/>
              <a:t>ZF</a:t>
            </a:r>
            <a:r>
              <a:rPr lang="zh-CN" altLang="en-US" sz="2800" noProof="1"/>
              <a:t>标志的判断，用于</a:t>
            </a:r>
            <a:r>
              <a:rPr lang="zh-CN" altLang="en-US" sz="2800" b="1" noProof="1">
                <a:solidFill>
                  <a:srgbClr val="0000FF"/>
                </a:solidFill>
              </a:rPr>
              <a:t>不固定循环次数</a:t>
            </a:r>
            <a:r>
              <a:rPr lang="zh-CN" altLang="en-US" sz="2800" noProof="1"/>
              <a:t>的循环程序。</a:t>
            </a:r>
          </a:p>
          <a:p>
            <a:pPr marL="0" indent="0">
              <a:buFontTx/>
              <a:buNone/>
            </a:pPr>
            <a:r>
              <a:rPr lang="zh-CN" altLang="en-US" sz="2800" noProof="1">
                <a:solidFill>
                  <a:srgbClr val="0000FF"/>
                </a:solidFill>
              </a:rPr>
              <a:t>    如：</a:t>
            </a:r>
          </a:p>
          <a:p>
            <a:pPr marL="0" indent="0">
              <a:buFontTx/>
              <a:buNone/>
            </a:pPr>
            <a:r>
              <a:rPr lang="zh-CN" altLang="en-US" sz="2800" noProof="1">
                <a:solidFill>
                  <a:srgbClr val="0000FF"/>
                </a:solidFill>
              </a:rPr>
              <a:t>          </a:t>
            </a:r>
            <a:r>
              <a:rPr lang="en-US" altLang="zh-CN" sz="2800" noProof="1"/>
              <a:t>CMP   [BX]</a:t>
            </a:r>
            <a:r>
              <a:rPr lang="zh-CN" altLang="en-US" sz="2800" noProof="1"/>
              <a:t>，</a:t>
            </a:r>
            <a:r>
              <a:rPr lang="en-US" altLang="zh-CN" sz="2800" noProof="1"/>
              <a:t>20H</a:t>
            </a:r>
          </a:p>
          <a:p>
            <a:pPr marL="0" indent="0">
              <a:buFontTx/>
              <a:buNone/>
            </a:pPr>
            <a:r>
              <a:rPr lang="en-US" altLang="zh-CN" sz="2800" noProof="1"/>
              <a:t>          </a:t>
            </a:r>
            <a:r>
              <a:rPr lang="en-US" altLang="zh-CN" sz="2800" noProof="1">
                <a:solidFill>
                  <a:srgbClr val="CC3300"/>
                </a:solidFill>
              </a:rPr>
              <a:t>LOOPNE  </a:t>
            </a:r>
            <a:r>
              <a:rPr lang="en-US" altLang="zh-CN" sz="2800" noProof="1"/>
              <a:t>NEXT</a:t>
            </a:r>
          </a:p>
          <a:p>
            <a:endParaRPr lang="zh-CN" altLang="en-US" noProof="1"/>
          </a:p>
          <a:p>
            <a:endParaRPr lang="en-US" altLang="zh-CN" noProof="1"/>
          </a:p>
        </p:txBody>
      </p:sp>
      <p:sp>
        <p:nvSpPr>
          <p:cNvPr id="70658" name="标题 1">
            <a:extLst>
              <a:ext uri="{FF2B5EF4-FFF2-40B4-BE49-F238E27FC236}">
                <a16:creationId xmlns:a16="http://schemas.microsoft.com/office/drawing/2014/main" id="{70D0DE4E-A5B6-4FC3-AAE6-628F3FB46291}"/>
              </a:ext>
            </a:extLst>
          </p:cNvPr>
          <p:cNvSpPr>
            <a:spLocks noGrp="1" noRot="1" noChangeArrowheads="1"/>
          </p:cNvSpPr>
          <p:nvPr/>
        </p:nvSpPr>
        <p:spPr bwMode="auto">
          <a:xfrm>
            <a:off x="385763" y="188913"/>
            <a:ext cx="8229600" cy="67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altLang="zh-CN" sz="4000" b="1">
                <a:solidFill>
                  <a:schemeClr val="accent2"/>
                </a:solidFill>
                <a:latin typeface="Arial" panose="020B0604020202020204" pitchFamily="34" charset="0"/>
              </a:rPr>
              <a:t>3. </a:t>
            </a:r>
            <a:r>
              <a:rPr lang="zh-CN" altLang="en-US" sz="4000" b="1">
                <a:solidFill>
                  <a:schemeClr val="accent2"/>
                </a:solidFill>
                <a:latin typeface="Arial" panose="020B0604020202020204" pitchFamily="34" charset="0"/>
              </a:rPr>
              <a:t>循环控制指令（</a:t>
            </a:r>
            <a:r>
              <a:rPr lang="en-US" altLang="zh-CN" sz="4000" b="1">
                <a:solidFill>
                  <a:schemeClr val="accent2"/>
                </a:solidFill>
                <a:latin typeface="Arial" panose="020B0604020202020204" pitchFamily="34" charset="0"/>
              </a:rPr>
              <a:t>Iteration control</a:t>
            </a:r>
            <a:r>
              <a:rPr lang="zh-CN" altLang="en-US" sz="4000" b="1">
                <a:solidFill>
                  <a:schemeClr val="accent2"/>
                </a:solidFill>
                <a:latin typeface="Arial" panose="020B0604020202020204" pitchFamily="34" charset="0"/>
              </a:rPr>
              <a:t>）</a:t>
            </a:r>
          </a:p>
        </p:txBody>
      </p:sp>
      <p:sp>
        <p:nvSpPr>
          <p:cNvPr id="70659" name="日期占位符 1">
            <a:extLst>
              <a:ext uri="{FF2B5EF4-FFF2-40B4-BE49-F238E27FC236}">
                <a16:creationId xmlns:a16="http://schemas.microsoft.com/office/drawing/2014/main" id="{8EBF810B-1649-486F-B6B5-EC1888E16289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A8B03CA7-9787-4776-B245-6D86AD2EB2E4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标题 1">
            <a:extLst>
              <a:ext uri="{FF2B5EF4-FFF2-40B4-BE49-F238E27FC236}">
                <a16:creationId xmlns:a16="http://schemas.microsoft.com/office/drawing/2014/main" id="{85E546E8-F8FE-4BD4-B208-07382DAB2392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en-US" altLang="zh-CN" sz="3600" b="1">
                <a:solidFill>
                  <a:schemeClr val="accent2"/>
                </a:solidFill>
              </a:rPr>
              <a:t>4. </a:t>
            </a:r>
            <a:r>
              <a:rPr lang="zh-CN" altLang="en-US" sz="3600" b="1">
                <a:solidFill>
                  <a:schemeClr val="accent2"/>
                </a:solidFill>
              </a:rPr>
              <a:t>中断指令</a:t>
            </a:r>
            <a:r>
              <a:rPr lang="en-US" altLang="zh-CN" sz="3600" b="1">
                <a:solidFill>
                  <a:schemeClr val="accent2"/>
                </a:solidFill>
              </a:rPr>
              <a:t> (Interrupt)</a:t>
            </a:r>
          </a:p>
        </p:txBody>
      </p:sp>
      <p:sp>
        <p:nvSpPr>
          <p:cNvPr id="65539" name="内容占位符 2">
            <a:extLst>
              <a:ext uri="{FF2B5EF4-FFF2-40B4-BE49-F238E27FC236}">
                <a16:creationId xmlns:a16="http://schemas.microsoft.com/office/drawing/2014/main" id="{BC7BF37A-4A0C-4EAE-A4A6-E120501A047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1028700"/>
            <a:ext cx="8372475" cy="5461000"/>
          </a:xfrm>
        </p:spPr>
        <p:txBody>
          <a:bodyPr/>
          <a:lstStyle/>
          <a:p>
            <a:pPr marL="1588" indent="-1588" algn="l"/>
            <a:r>
              <a:rPr lang="en-US" altLang="zh-CN" sz="2400" b="1">
                <a:solidFill>
                  <a:srgbClr val="CC3300"/>
                </a:solidFill>
                <a:latin typeface="Times New Roman" panose="02020603050405020304" pitchFamily="18" charset="0"/>
              </a:rPr>
              <a:t>1) </a:t>
            </a:r>
            <a:r>
              <a:rPr lang="zh-CN" altLang="en-US" sz="2400" b="1">
                <a:solidFill>
                  <a:srgbClr val="CC3300"/>
                </a:solidFill>
                <a:latin typeface="Times New Roman" panose="02020603050405020304" pitchFamily="18" charset="0"/>
              </a:rPr>
              <a:t>中断概念</a:t>
            </a:r>
          </a:p>
          <a:p>
            <a:pPr marL="1588" indent="-1588" algn="l">
              <a:buFont typeface="Wingdings" panose="05000000000000000000" pitchFamily="2" charset="2"/>
              <a:buChar char="l"/>
            </a:pPr>
            <a:r>
              <a:rPr lang="zh-CN" altLang="en-US" sz="2400">
                <a:latin typeface="Times New Roman" panose="02020603050405020304" pitchFamily="18" charset="0"/>
              </a:rPr>
              <a:t>计算机在执行正常程序过程中，由于某些事件发生，需要暂时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中止当前程序的运行</a:t>
            </a:r>
            <a:r>
              <a:rPr lang="zh-CN" altLang="en-US" sz="2400">
                <a:latin typeface="Times New Roman" panose="02020603050405020304" pitchFamily="18" charset="0"/>
              </a:rPr>
              <a:t>，转到中断服务程序去为临时发生的事件服务。中断服务程序执行完，又返</a:t>
            </a:r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回正常程序</a:t>
            </a:r>
            <a:r>
              <a:rPr lang="zh-CN" altLang="en-US" sz="2400">
                <a:latin typeface="Times New Roman" panose="02020603050405020304" pitchFamily="18" charset="0"/>
              </a:rPr>
              <a:t>继续运行。此过程称为中断</a:t>
            </a:r>
          </a:p>
          <a:p>
            <a:pPr marL="1588" indent="-1588" algn="l"/>
            <a:r>
              <a:rPr lang="en-US" altLang="zh-CN" sz="2400">
                <a:latin typeface="Times New Roman" panose="02020603050405020304" pitchFamily="18" charset="0"/>
              </a:rPr>
              <a:t>8086</a:t>
            </a:r>
            <a:r>
              <a:rPr lang="zh-CN" altLang="en-US" sz="2400">
                <a:latin typeface="Times New Roman" panose="02020603050405020304" pitchFamily="18" charset="0"/>
              </a:rPr>
              <a:t>的中断有两种：</a:t>
            </a:r>
          </a:p>
          <a:p>
            <a:pPr marL="1588" indent="-1588" algn="l"/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第一种，外部中断或硬件中断，</a:t>
            </a:r>
            <a:r>
              <a:rPr lang="zh-CN" altLang="en-US" sz="2400">
                <a:latin typeface="Times New Roman" panose="02020603050405020304" pitchFamily="18" charset="0"/>
              </a:rPr>
              <a:t>它们从</a:t>
            </a:r>
            <a:r>
              <a:rPr lang="en-US" altLang="zh-CN" sz="2400">
                <a:latin typeface="Times New Roman" panose="02020603050405020304" pitchFamily="18" charset="0"/>
              </a:rPr>
              <a:t>8086</a:t>
            </a:r>
            <a:r>
              <a:rPr lang="zh-CN" altLang="en-US" sz="2400">
                <a:latin typeface="Times New Roman" panose="02020603050405020304" pitchFamily="18" charset="0"/>
              </a:rPr>
              <a:t>的不可屏蔽中断引脚</a:t>
            </a:r>
            <a:r>
              <a:rPr lang="en-US" altLang="zh-CN" sz="2400">
                <a:latin typeface="Times New Roman" panose="02020603050405020304" pitchFamily="18" charset="0"/>
              </a:rPr>
              <a:t>NMI </a:t>
            </a:r>
            <a:r>
              <a:rPr lang="zh-CN" altLang="en-US" sz="2400">
                <a:latin typeface="Times New Roman" panose="02020603050405020304" pitchFamily="18" charset="0"/>
              </a:rPr>
              <a:t>或可屏蔽中断引脚</a:t>
            </a:r>
            <a:r>
              <a:rPr lang="en-US" altLang="zh-CN" sz="2400">
                <a:latin typeface="Times New Roman" panose="02020603050405020304" pitchFamily="18" charset="0"/>
              </a:rPr>
              <a:t>INTR</a:t>
            </a:r>
            <a:r>
              <a:rPr lang="zh-CN" altLang="en-US" sz="2400">
                <a:latin typeface="Times New Roman" panose="02020603050405020304" pitchFamily="18" charset="0"/>
              </a:rPr>
              <a:t>引入</a:t>
            </a:r>
          </a:p>
          <a:p>
            <a:pPr marL="1588" indent="-1588" algn="l"/>
            <a:r>
              <a:rPr lang="zh-CN" altLang="en-US" sz="2400" b="1">
                <a:solidFill>
                  <a:srgbClr val="0000FF"/>
                </a:solidFill>
                <a:latin typeface="Times New Roman" panose="02020603050405020304" pitchFamily="18" charset="0"/>
              </a:rPr>
              <a:t>第二种，内部中断或软中断</a:t>
            </a:r>
            <a:r>
              <a:rPr lang="zh-CN" altLang="en-US" sz="2400">
                <a:latin typeface="Times New Roman" panose="02020603050405020304" pitchFamily="18" charset="0"/>
              </a:rPr>
              <a:t>，是为解决</a:t>
            </a:r>
            <a:r>
              <a:rPr lang="en-US" altLang="zh-CN" sz="2400">
                <a:latin typeface="Times New Roman" panose="02020603050405020304" pitchFamily="18" charset="0"/>
              </a:rPr>
              <a:t>CPU</a:t>
            </a:r>
            <a:r>
              <a:rPr lang="zh-CN" altLang="en-US" sz="2400">
                <a:latin typeface="Times New Roman" panose="02020603050405020304" pitchFamily="18" charset="0"/>
              </a:rPr>
              <a:t>在运行中发生意的外情况或是为便于对程序调试而设置的</a:t>
            </a:r>
          </a:p>
          <a:p>
            <a:pPr marL="1588" indent="-1588" algn="l">
              <a:buFont typeface="Wingdings" panose="05000000000000000000" pitchFamily="2" charset="2"/>
              <a:buChar char="l"/>
            </a:pPr>
            <a:r>
              <a:rPr lang="zh-CN" altLang="en-US" sz="2400">
                <a:latin typeface="Times New Roman" panose="02020603050405020304" pitchFamily="18" charset="0"/>
              </a:rPr>
              <a:t>此外，也可在程序中安排一条中断指令</a:t>
            </a:r>
            <a:r>
              <a:rPr lang="en-US" altLang="zh-CN" sz="2400" b="1">
                <a:solidFill>
                  <a:srgbClr val="CC3300"/>
                </a:solidFill>
                <a:latin typeface="Times New Roman" panose="02020603050405020304" pitchFamily="18" charset="0"/>
              </a:rPr>
              <a:t>INT n</a:t>
            </a:r>
            <a:r>
              <a:rPr lang="zh-CN" altLang="en-US" sz="2400">
                <a:latin typeface="Times New Roman" panose="02020603050405020304" pitchFamily="18" charset="0"/>
              </a:rPr>
              <a:t>，利用它直接产生</a:t>
            </a:r>
            <a:r>
              <a:rPr lang="en-US" altLang="zh-CN" sz="2400">
                <a:latin typeface="Times New Roman" panose="02020603050405020304" pitchFamily="18" charset="0"/>
              </a:rPr>
              <a:t>8086</a:t>
            </a:r>
            <a:r>
              <a:rPr lang="zh-CN" altLang="en-US" sz="2400">
                <a:latin typeface="Times New Roman" panose="02020603050405020304" pitchFamily="18" charset="0"/>
              </a:rPr>
              <a:t>的内部中断</a:t>
            </a:r>
            <a:endParaRPr lang="zh-CN" altLang="en-US" sz="2400"/>
          </a:p>
        </p:txBody>
      </p:sp>
      <p:sp>
        <p:nvSpPr>
          <p:cNvPr id="71683" name="日期占位符 1">
            <a:extLst>
              <a:ext uri="{FF2B5EF4-FFF2-40B4-BE49-F238E27FC236}">
                <a16:creationId xmlns:a16="http://schemas.microsoft.com/office/drawing/2014/main" id="{4C5A2477-53F5-47C8-8B99-2D3B2CBC56B0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1E8E0481-BC00-4DAA-9E33-241730CD7ED8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cover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55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55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55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55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655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标题 1">
            <a:extLst>
              <a:ext uri="{FF2B5EF4-FFF2-40B4-BE49-F238E27FC236}">
                <a16:creationId xmlns:a16="http://schemas.microsoft.com/office/drawing/2014/main" id="{495FAD5D-18BE-4715-BFBB-5E6F21D629E4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en-US" altLang="zh-CN" sz="4400" b="1">
                <a:solidFill>
                  <a:schemeClr val="accent2"/>
                </a:solidFill>
              </a:rPr>
              <a:t>4. </a:t>
            </a:r>
            <a:r>
              <a:rPr lang="zh-CN" altLang="en-US" sz="4400" b="1">
                <a:solidFill>
                  <a:schemeClr val="accent2"/>
                </a:solidFill>
              </a:rPr>
              <a:t>中断指令</a:t>
            </a:r>
          </a:p>
        </p:txBody>
      </p:sp>
      <p:sp>
        <p:nvSpPr>
          <p:cNvPr id="66563" name="内容占位符 2">
            <a:extLst>
              <a:ext uri="{FF2B5EF4-FFF2-40B4-BE49-F238E27FC236}">
                <a16:creationId xmlns:a16="http://schemas.microsoft.com/office/drawing/2014/main" id="{A9F5BCF9-051C-4FA9-A616-2F34B39701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8150" y="1073150"/>
            <a:ext cx="8372475" cy="5334000"/>
          </a:xfrm>
        </p:spPr>
        <p:txBody>
          <a:bodyPr/>
          <a:lstStyle/>
          <a:p>
            <a:pPr marL="1905" indent="-1905" algn="l"/>
            <a:r>
              <a:rPr lang="en-US" altLang="x-none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2) </a:t>
            </a:r>
            <a:r>
              <a:rPr lang="zh-CN" altLang="en-US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中断指令</a:t>
            </a:r>
          </a:p>
          <a:p>
            <a:pPr marL="1905" indent="-1905" algn="l"/>
            <a:r>
              <a:rPr lang="en-US" altLang="x-none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(1) INT n </a:t>
            </a:r>
            <a:r>
              <a:rPr lang="zh-CN" altLang="en-US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软件中断指令 </a:t>
            </a:r>
            <a:r>
              <a:rPr lang="en-US" altLang="x-none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 (Interrupt)</a:t>
            </a:r>
            <a:endParaRPr lang="zh-CN" altLang="en-US" sz="2800" b="1" noProof="1">
              <a:solidFill>
                <a:srgbClr val="CC3300"/>
              </a:solidFill>
              <a:latin typeface="Times New Roman" panose="02020603050405020304" pitchFamily="2" charset="0"/>
            </a:endParaRPr>
          </a:p>
          <a:p>
            <a:pPr marL="1905" indent="112395" algn="l">
              <a:buFont typeface="Wingdings" panose="05000000000000000000" pitchFamily="2" charset="2"/>
              <a:buChar char="l"/>
            </a:pPr>
            <a:r>
              <a:rPr lang="zh-CN" altLang="en-US" sz="2800" noProof="1">
                <a:latin typeface="Times New Roman" panose="02020603050405020304" pitchFamily="2" charset="0"/>
              </a:rPr>
              <a:t>软件中断指令，</a:t>
            </a:r>
            <a:r>
              <a:rPr lang="en-US" altLang="x-none" sz="2800" noProof="1">
                <a:latin typeface="Times New Roman" panose="02020603050405020304" pitchFamily="2" charset="0"/>
              </a:rPr>
              <a:t>n</a:t>
            </a:r>
            <a:r>
              <a:rPr lang="zh-CN" altLang="en-US" sz="2800" noProof="1">
                <a:latin typeface="Times New Roman" panose="02020603050405020304" pitchFamily="2" charset="0"/>
              </a:rPr>
              <a:t>为中断类型号，范围</a:t>
            </a:r>
            <a:r>
              <a:rPr lang="en-US" altLang="x-none" sz="2800" noProof="1">
                <a:latin typeface="Times New Roman" panose="02020603050405020304" pitchFamily="2" charset="0"/>
              </a:rPr>
              <a:t>0~255</a:t>
            </a:r>
            <a:r>
              <a:rPr lang="zh-CN" altLang="en-US" sz="2800" noProof="1">
                <a:latin typeface="Times New Roman" panose="02020603050405020304" pitchFamily="2" charset="0"/>
              </a:rPr>
              <a:t>。可安排在程序的任何位置上。</a:t>
            </a:r>
          </a:p>
          <a:p>
            <a:pPr marL="1905" indent="-1905" algn="l"/>
            <a:r>
              <a:rPr lang="en-US" altLang="x-none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(2) INTO </a:t>
            </a:r>
            <a:r>
              <a:rPr lang="zh-CN" altLang="en-US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溢出中断指令</a:t>
            </a:r>
            <a:r>
              <a:rPr lang="en-US" altLang="x-none" sz="28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 (Interrupt on Overflow)</a:t>
            </a:r>
            <a:endParaRPr lang="zh-CN" altLang="en-US" sz="2800" b="1" noProof="1">
              <a:solidFill>
                <a:srgbClr val="CC3300"/>
              </a:solidFill>
              <a:latin typeface="Times New Roman" panose="02020603050405020304" pitchFamily="2" charset="0"/>
            </a:endParaRPr>
          </a:p>
          <a:p>
            <a:pPr marL="1905" indent="112395" algn="l">
              <a:buFont typeface="Wingdings" panose="05000000000000000000" pitchFamily="2" charset="2"/>
              <a:buChar char="l"/>
            </a:pPr>
            <a:r>
              <a:rPr lang="zh-CN" altLang="en-US" sz="2800" noProof="1">
                <a:latin typeface="Times New Roman" panose="02020603050405020304" pitchFamily="2" charset="0"/>
              </a:rPr>
              <a:t>当带符号数进行算术运算后，若</a:t>
            </a:r>
            <a:r>
              <a:rPr lang="en-US" altLang="x-none" sz="2800" noProof="1">
                <a:latin typeface="Times New Roman" panose="02020603050405020304" pitchFamily="2" charset="0"/>
              </a:rPr>
              <a:t>OF=1</a:t>
            </a:r>
            <a:r>
              <a:rPr lang="zh-CN" altLang="en-US" sz="2800" noProof="1">
                <a:latin typeface="Times New Roman" panose="02020603050405020304" pitchFamily="2" charset="0"/>
              </a:rPr>
              <a:t>，则可由</a:t>
            </a:r>
            <a:r>
              <a:rPr lang="en-US" altLang="x-none" sz="2800" noProof="1">
                <a:latin typeface="Times New Roman" panose="02020603050405020304" pitchFamily="2" charset="0"/>
              </a:rPr>
              <a:t>INTO</a:t>
            </a:r>
            <a:r>
              <a:rPr lang="zh-CN" altLang="en-US" sz="2800" noProof="1">
                <a:latin typeface="Times New Roman" panose="02020603050405020304" pitchFamily="2" charset="0"/>
              </a:rPr>
              <a:t>指令产生类型为</a:t>
            </a:r>
            <a:r>
              <a:rPr lang="en-US" altLang="x-none" sz="2800" noProof="1">
                <a:latin typeface="Times New Roman" panose="02020603050405020304" pitchFamily="2" charset="0"/>
              </a:rPr>
              <a:t>4</a:t>
            </a:r>
            <a:r>
              <a:rPr lang="zh-CN" altLang="en-US" sz="2800" noProof="1">
                <a:latin typeface="Times New Roman" panose="02020603050405020304" pitchFamily="2" charset="0"/>
              </a:rPr>
              <a:t>的中断</a:t>
            </a:r>
            <a:r>
              <a:rPr lang="en-US" altLang="x-none" sz="2800" noProof="1">
                <a:latin typeface="Times New Roman" panose="02020603050405020304" pitchFamily="2" charset="0"/>
              </a:rPr>
              <a:t>; </a:t>
            </a:r>
            <a:r>
              <a:rPr lang="zh-CN" altLang="en-US" sz="2800" noProof="1">
                <a:latin typeface="Times New Roman" panose="02020603050405020304" pitchFamily="2" charset="0"/>
              </a:rPr>
              <a:t>若</a:t>
            </a:r>
            <a:r>
              <a:rPr lang="en-US" altLang="x-none" sz="2800" noProof="1">
                <a:latin typeface="Times New Roman" panose="02020603050405020304" pitchFamily="2" charset="0"/>
              </a:rPr>
              <a:t>OF=0</a:t>
            </a:r>
            <a:r>
              <a:rPr lang="zh-CN" altLang="en-US" sz="2800" noProof="1">
                <a:latin typeface="Times New Roman" panose="02020603050405020304" pitchFamily="2" charset="0"/>
              </a:rPr>
              <a:t>，则</a:t>
            </a:r>
            <a:r>
              <a:rPr lang="en-US" altLang="x-none" sz="2800" noProof="1">
                <a:latin typeface="Times New Roman" panose="02020603050405020304" pitchFamily="2" charset="0"/>
              </a:rPr>
              <a:t>INTO</a:t>
            </a:r>
            <a:r>
              <a:rPr lang="zh-CN" altLang="en-US" sz="2800" noProof="1">
                <a:latin typeface="Times New Roman" panose="02020603050405020304" pitchFamily="2" charset="0"/>
              </a:rPr>
              <a:t>指令不产生中断</a:t>
            </a:r>
          </a:p>
          <a:p>
            <a:pPr marL="1905" indent="112395" algn="l">
              <a:buFont typeface="Wingdings" panose="05000000000000000000" pitchFamily="2" charset="2"/>
              <a:buChar char="l"/>
            </a:pPr>
            <a:r>
              <a:rPr lang="zh-CN" altLang="en-US" sz="2800" noProof="1">
                <a:latin typeface="Times New Roman" panose="02020603050405020304" pitchFamily="2" charset="0"/>
              </a:rPr>
              <a:t>为此，在</a:t>
            </a:r>
            <a:r>
              <a:rPr lang="zh-CN" altLang="en-US" sz="28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带符号数</a:t>
            </a:r>
            <a:r>
              <a:rPr lang="zh-CN" altLang="en-US" sz="2800" noProof="1">
                <a:latin typeface="Times New Roman" panose="02020603050405020304" pitchFamily="2" charset="0"/>
              </a:rPr>
              <a:t>进行加减法运算之后，</a:t>
            </a:r>
            <a:r>
              <a:rPr lang="zh-CN" altLang="en-US" sz="28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安排一条</a:t>
            </a:r>
            <a:r>
              <a:rPr lang="en-US" altLang="x-none" sz="28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INTO</a:t>
            </a:r>
            <a:r>
              <a:rPr lang="zh-CN" altLang="en-US" sz="28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指令</a:t>
            </a:r>
            <a:r>
              <a:rPr lang="zh-CN" altLang="en-US" sz="2800" noProof="1">
                <a:latin typeface="Times New Roman" panose="02020603050405020304" pitchFamily="2" charset="0"/>
              </a:rPr>
              <a:t>，一旦溢出就能及时向</a:t>
            </a:r>
            <a:r>
              <a:rPr lang="en-US" altLang="x-none" sz="2800" noProof="1">
                <a:latin typeface="Times New Roman" panose="02020603050405020304" pitchFamily="2" charset="0"/>
              </a:rPr>
              <a:t>CPU</a:t>
            </a:r>
            <a:r>
              <a:rPr lang="zh-CN" altLang="en-US" sz="2800" noProof="1">
                <a:latin typeface="Times New Roman" panose="02020603050405020304" pitchFamily="2" charset="0"/>
              </a:rPr>
              <a:t>提出中断请求，</a:t>
            </a:r>
            <a:r>
              <a:rPr lang="en-US" altLang="x-none" sz="2800" noProof="1">
                <a:latin typeface="Times New Roman" panose="02020603050405020304" pitchFamily="2" charset="0"/>
              </a:rPr>
              <a:t>CPU</a:t>
            </a:r>
            <a:r>
              <a:rPr lang="zh-CN" altLang="en-US" sz="2800" noProof="1">
                <a:latin typeface="Times New Roman" panose="02020603050405020304" pitchFamily="2" charset="0"/>
              </a:rPr>
              <a:t>可做出相应的处理</a:t>
            </a:r>
            <a:endParaRPr lang="zh-CN" altLang="en-US" sz="3200" noProof="1"/>
          </a:p>
        </p:txBody>
      </p:sp>
      <p:sp>
        <p:nvSpPr>
          <p:cNvPr id="72707" name="日期占位符 1">
            <a:extLst>
              <a:ext uri="{FF2B5EF4-FFF2-40B4-BE49-F238E27FC236}">
                <a16:creationId xmlns:a16="http://schemas.microsoft.com/office/drawing/2014/main" id="{31C2859A-DDBB-46D4-8751-C5938E27E0F7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48DCC855-C3EC-4AEF-8873-0D2D7E580708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cover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65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65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656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标题 1">
            <a:extLst>
              <a:ext uri="{FF2B5EF4-FFF2-40B4-BE49-F238E27FC236}">
                <a16:creationId xmlns:a16="http://schemas.microsoft.com/office/drawing/2014/main" id="{00B57AE0-AA58-4FF4-AB49-EDBD30CCFBFD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en-US" altLang="zh-CN" sz="4400" b="1">
                <a:solidFill>
                  <a:schemeClr val="accent2"/>
                </a:solidFill>
              </a:rPr>
              <a:t>4. </a:t>
            </a:r>
            <a:r>
              <a:rPr lang="zh-CN" altLang="en-US" sz="4400" b="1">
                <a:solidFill>
                  <a:schemeClr val="accent2"/>
                </a:solidFill>
              </a:rPr>
              <a:t>中断指令</a:t>
            </a:r>
          </a:p>
        </p:txBody>
      </p:sp>
      <p:sp>
        <p:nvSpPr>
          <p:cNvPr id="73730" name="内容占位符 2">
            <a:extLst>
              <a:ext uri="{FF2B5EF4-FFF2-40B4-BE49-F238E27FC236}">
                <a16:creationId xmlns:a16="http://schemas.microsoft.com/office/drawing/2014/main" id="{8E03C532-96B9-49CD-A47D-601849EA55A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527050" y="1162050"/>
            <a:ext cx="7831138" cy="5175250"/>
          </a:xfrm>
        </p:spPr>
        <p:txBody>
          <a:bodyPr/>
          <a:lstStyle/>
          <a:p>
            <a:pPr algn="l"/>
            <a:r>
              <a:rPr lang="en-US" altLang="zh-CN" sz="2800" b="1" dirty="0">
                <a:solidFill>
                  <a:srgbClr val="CC3300"/>
                </a:solidFill>
                <a:latin typeface="Times New Roman" panose="02020603050405020304" pitchFamily="18" charset="0"/>
              </a:rPr>
              <a:t>(3) IRET  (Interrupt Return)</a:t>
            </a:r>
          </a:p>
          <a:p>
            <a:pPr algn="l"/>
            <a:r>
              <a:rPr lang="zh-CN" altLang="en-US" sz="2800" dirty="0">
                <a:latin typeface="Times New Roman" panose="02020603050405020304" pitchFamily="18" charset="0"/>
              </a:rPr>
              <a:t>      中断返回指令</a:t>
            </a:r>
            <a:r>
              <a:rPr lang="en-US" altLang="zh-CN" sz="2800" dirty="0">
                <a:latin typeface="Times New Roman" panose="02020603050405020304" pitchFamily="18" charset="0"/>
              </a:rPr>
              <a:t>IRET</a:t>
            </a:r>
            <a:r>
              <a:rPr lang="zh-CN" altLang="en-US" sz="2800" dirty="0">
                <a:latin typeface="Times New Roman" panose="02020603050405020304" pitchFamily="18" charset="0"/>
              </a:rPr>
              <a:t>。被安排在中断服务程序的出口处，指令执行后，从堆栈中依次弹出程序断点和</a:t>
            </a:r>
            <a:r>
              <a:rPr lang="en-US" altLang="zh-CN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FLAGS</a:t>
            </a:r>
            <a:r>
              <a:rPr lang="zh-CN" altLang="en-US" sz="28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的内容</a:t>
            </a:r>
            <a:r>
              <a:rPr lang="zh-CN" altLang="en-US" sz="2800" dirty="0">
                <a:latin typeface="Times New Roman" panose="02020603050405020304" pitchFamily="18" charset="0"/>
              </a:rPr>
              <a:t>，使</a:t>
            </a:r>
            <a:r>
              <a:rPr lang="en-US" altLang="zh-CN" sz="2800" dirty="0">
                <a:latin typeface="Times New Roman" panose="02020603050405020304" pitchFamily="18" charset="0"/>
              </a:rPr>
              <a:t>CPU</a:t>
            </a:r>
            <a:r>
              <a:rPr lang="zh-CN" altLang="en-US" sz="2800" dirty="0">
                <a:latin typeface="Times New Roman" panose="02020603050405020304" pitchFamily="18" charset="0"/>
              </a:rPr>
              <a:t>继续执行原来被打断的程序。</a:t>
            </a:r>
          </a:p>
          <a:p>
            <a:pPr algn="l"/>
            <a:endParaRPr lang="zh-CN" altLang="en-US" sz="3200" dirty="0"/>
          </a:p>
        </p:txBody>
      </p:sp>
      <p:sp>
        <p:nvSpPr>
          <p:cNvPr id="73731" name="日期占位符 1">
            <a:extLst>
              <a:ext uri="{FF2B5EF4-FFF2-40B4-BE49-F238E27FC236}">
                <a16:creationId xmlns:a16="http://schemas.microsoft.com/office/drawing/2014/main" id="{8555E2CD-6EBD-4ECD-BE8B-114CA0C774B4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2CC7E472-C41C-43BA-9E73-85018330D12D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cover dir="lu"/>
  </p:transition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标题 1">
            <a:extLst>
              <a:ext uri="{FF2B5EF4-FFF2-40B4-BE49-F238E27FC236}">
                <a16:creationId xmlns:a16="http://schemas.microsoft.com/office/drawing/2014/main" id="{876E8AF6-807C-4AAB-8BD7-FF4B32F8854B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0" y="628650"/>
            <a:ext cx="8534400" cy="1466850"/>
          </a:xfrm>
        </p:spPr>
        <p:txBody>
          <a:bodyPr anchor="ctr"/>
          <a:lstStyle/>
          <a:p>
            <a:r>
              <a:rPr lang="en-US" altLang="zh-CN" sz="4800" b="1">
                <a:solidFill>
                  <a:schemeClr val="accent2"/>
                </a:solidFill>
              </a:rPr>
              <a:t>§3.3  8086</a:t>
            </a:r>
            <a:r>
              <a:rPr lang="zh-CN" altLang="en-US" sz="4800" b="1">
                <a:solidFill>
                  <a:schemeClr val="accent2"/>
                </a:solidFill>
              </a:rPr>
              <a:t>的指令系统</a:t>
            </a:r>
            <a:endParaRPr lang="zh-CN" altLang="en-US" sz="4400" b="1">
              <a:solidFill>
                <a:schemeClr val="accent2"/>
              </a:solidFill>
            </a:endParaRPr>
          </a:p>
        </p:txBody>
      </p:sp>
      <p:sp>
        <p:nvSpPr>
          <p:cNvPr id="74754" name="矩形 4">
            <a:extLst>
              <a:ext uri="{FF2B5EF4-FFF2-40B4-BE49-F238E27FC236}">
                <a16:creationId xmlns:a16="http://schemas.microsoft.com/office/drawing/2014/main" id="{EA0DBD3D-6BAD-44B6-A692-362174CB1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3850" y="2095500"/>
            <a:ext cx="6356350" cy="3800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ts val="600"/>
              </a:spcBef>
            </a:pPr>
            <a:r>
              <a:rPr lang="en-US" altLang="zh-CN" sz="3600" b="1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3.3.1  </a:t>
            </a:r>
            <a:r>
              <a:rPr lang="zh-CN" altLang="en-US" sz="3600" b="1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数据传送指令</a:t>
            </a:r>
          </a:p>
          <a:p>
            <a:pPr eaLnBrk="0" hangingPunct="0">
              <a:spcBef>
                <a:spcPts val="600"/>
              </a:spcBef>
            </a:pPr>
            <a:r>
              <a:rPr lang="en-US" altLang="zh-CN" sz="3600" b="1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3.3.2  </a:t>
            </a:r>
            <a:r>
              <a:rPr lang="zh-CN" altLang="en-US" sz="3600" b="1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算术运算指令</a:t>
            </a:r>
          </a:p>
          <a:p>
            <a:pPr eaLnBrk="0" hangingPunct="0">
              <a:spcBef>
                <a:spcPts val="600"/>
              </a:spcBef>
            </a:pPr>
            <a:r>
              <a:rPr lang="en-US" altLang="zh-CN" sz="3600" b="1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3.3.3  </a:t>
            </a:r>
            <a:r>
              <a:rPr lang="zh-CN" altLang="en-US" sz="3600" b="1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逻辑运算和移位指令</a:t>
            </a:r>
          </a:p>
          <a:p>
            <a:pPr eaLnBrk="0" hangingPunct="0">
              <a:spcBef>
                <a:spcPts val="600"/>
              </a:spcBef>
            </a:pPr>
            <a:r>
              <a:rPr lang="en-US" altLang="zh-CN" sz="3600" b="1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3.3.4  </a:t>
            </a:r>
            <a:r>
              <a:rPr lang="zh-CN" altLang="en-US" sz="3600" b="1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字符串处理指令</a:t>
            </a:r>
          </a:p>
          <a:p>
            <a:pPr eaLnBrk="0" hangingPunct="0">
              <a:spcBef>
                <a:spcPts val="600"/>
              </a:spcBef>
            </a:pPr>
            <a:r>
              <a:rPr lang="en-US" altLang="zh-CN" sz="3600" b="1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3.3.5  </a:t>
            </a:r>
            <a:r>
              <a:rPr lang="zh-CN" altLang="en-US" sz="3600" b="1">
                <a:solidFill>
                  <a:srgbClr val="008000"/>
                </a:solidFill>
                <a:ea typeface="楷体_GB2312" pitchFamily="1" charset="-122"/>
                <a:sym typeface="Times New Roman" panose="02020603050405020304" pitchFamily="18" charset="0"/>
              </a:rPr>
              <a:t>控制转移指令</a:t>
            </a:r>
          </a:p>
          <a:p>
            <a:pPr eaLnBrk="0" hangingPunct="0">
              <a:spcBef>
                <a:spcPts val="600"/>
              </a:spcBef>
            </a:pPr>
            <a:r>
              <a:rPr lang="en-US" altLang="zh-CN" sz="3600" b="1">
                <a:solidFill>
                  <a:srgbClr val="CC3300"/>
                </a:solidFill>
                <a:ea typeface="楷体_GB2312" pitchFamily="1" charset="-122"/>
                <a:sym typeface="Times New Roman" panose="02020603050405020304" pitchFamily="18" charset="0"/>
              </a:rPr>
              <a:t>3.3.6  </a:t>
            </a:r>
            <a:r>
              <a:rPr lang="zh-CN" altLang="en-US" sz="3600" b="1">
                <a:solidFill>
                  <a:srgbClr val="CC3300"/>
                </a:solidFill>
                <a:ea typeface="楷体_GB2312" pitchFamily="1" charset="-122"/>
                <a:sym typeface="Times New Roman" panose="02020603050405020304" pitchFamily="18" charset="0"/>
              </a:rPr>
              <a:t>处理器控制指令</a:t>
            </a:r>
            <a:endParaRPr lang="en-US" altLang="zh-CN" sz="2400">
              <a:solidFill>
                <a:srgbClr val="CC3300"/>
              </a:solidFill>
            </a:endParaRPr>
          </a:p>
        </p:txBody>
      </p:sp>
      <p:sp>
        <p:nvSpPr>
          <p:cNvPr id="74755" name="日期占位符 1">
            <a:extLst>
              <a:ext uri="{FF2B5EF4-FFF2-40B4-BE49-F238E27FC236}">
                <a16:creationId xmlns:a16="http://schemas.microsoft.com/office/drawing/2014/main" id="{FE732E31-87D4-491E-882A-9F378139B258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7BCB69E9-2C9D-425C-9AD7-3B53BE990D8D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edge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标题 1">
            <a:extLst>
              <a:ext uri="{FF2B5EF4-FFF2-40B4-BE49-F238E27FC236}">
                <a16:creationId xmlns:a16="http://schemas.microsoft.com/office/drawing/2014/main" id="{E7AAB1F4-A47F-4A9E-A39A-37B26D075433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r>
              <a:rPr lang="en-US" altLang="zh-CN" sz="36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3.3.6  </a:t>
            </a:r>
            <a:r>
              <a:rPr lang="zh-CN" altLang="en-US" sz="36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处理器控制指令</a:t>
            </a:r>
            <a:endParaRPr lang="zh-CN" altLang="en-US" sz="4400" b="1">
              <a:solidFill>
                <a:schemeClr val="accent2"/>
              </a:solidFill>
            </a:endParaRPr>
          </a:p>
        </p:txBody>
      </p:sp>
      <p:sp>
        <p:nvSpPr>
          <p:cNvPr id="75778" name="内容占位符 2">
            <a:extLst>
              <a:ext uri="{FF2B5EF4-FFF2-40B4-BE49-F238E27FC236}">
                <a16:creationId xmlns:a16="http://schemas.microsoft.com/office/drawing/2014/main" id="{C65F2331-F06C-4373-BF97-BCFA5B5AF5E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49250" y="1162050"/>
            <a:ext cx="8372475" cy="1847850"/>
          </a:xfrm>
        </p:spPr>
        <p:txBody>
          <a:bodyPr/>
          <a:lstStyle/>
          <a:p>
            <a:pPr algn="l"/>
            <a:r>
              <a:rPr lang="en-US" altLang="zh-CN" sz="2800" b="1">
                <a:solidFill>
                  <a:srgbClr val="CC3300"/>
                </a:solidFill>
              </a:rPr>
              <a:t>1.</a:t>
            </a:r>
            <a:r>
              <a:rPr lang="zh-CN" altLang="en-US" sz="2800" b="1">
                <a:solidFill>
                  <a:srgbClr val="CC3300"/>
                </a:solidFill>
              </a:rPr>
              <a:t>标志操作指令</a:t>
            </a:r>
          </a:p>
          <a:p>
            <a:pPr algn="l">
              <a:buFont typeface="Wingdings" panose="05000000000000000000" pitchFamily="2" charset="2"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8086</a:t>
            </a:r>
            <a:r>
              <a:rPr lang="zh-CN" altLang="en-US" sz="2800">
                <a:latin typeface="Times New Roman" panose="02020603050405020304" pitchFamily="18" charset="0"/>
              </a:rPr>
              <a:t>提供一组标志操作指令，可直接对</a:t>
            </a:r>
            <a:r>
              <a:rPr lang="en-US" altLang="zh-CN" sz="2800">
                <a:solidFill>
                  <a:srgbClr val="C000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800">
                <a:solidFill>
                  <a:srgbClr val="C00000"/>
                </a:solidFill>
                <a:latin typeface="Times New Roman" panose="02020603050405020304" pitchFamily="18" charset="0"/>
              </a:rPr>
              <a:t>个</a:t>
            </a:r>
            <a:r>
              <a:rPr lang="zh-CN" altLang="en-US" sz="2800" b="1">
                <a:solidFill>
                  <a:srgbClr val="C00000"/>
                </a:solidFill>
                <a:latin typeface="Times New Roman" panose="02020603050405020304" pitchFamily="18" charset="0"/>
              </a:rPr>
              <a:t>标志位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CF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DF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IF</a:t>
            </a:r>
            <a:r>
              <a:rPr lang="zh-CN" altLang="en-US" sz="2800">
                <a:latin typeface="Times New Roman" panose="02020603050405020304" pitchFamily="18" charset="0"/>
              </a:rPr>
              <a:t>标志位进行设置或清除等操作，但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</a:rPr>
              <a:t>不包含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</a:rPr>
              <a:t>TF</a:t>
            </a:r>
            <a:r>
              <a:rPr lang="zh-CN" altLang="en-US" sz="2800">
                <a:latin typeface="Times New Roman" panose="02020603050405020304" pitchFamily="18" charset="0"/>
              </a:rPr>
              <a:t>标志，如表</a:t>
            </a:r>
            <a:r>
              <a:rPr lang="en-US" altLang="zh-CN" sz="2800">
                <a:latin typeface="Times New Roman" panose="02020603050405020304" pitchFamily="18" charset="0"/>
              </a:rPr>
              <a:t>3.13</a:t>
            </a:r>
          </a:p>
          <a:p>
            <a:pPr algn="l"/>
            <a:endParaRPr lang="zh-CN" altLang="en-US" sz="3200"/>
          </a:p>
        </p:txBody>
      </p:sp>
      <p:pic>
        <p:nvPicPr>
          <p:cNvPr id="69636" name="Picture 2">
            <a:extLst>
              <a:ext uri="{FF2B5EF4-FFF2-40B4-BE49-F238E27FC236}">
                <a16:creationId xmlns:a16="http://schemas.microsoft.com/office/drawing/2014/main" id="{D9E2BAF7-C214-4C23-B7BC-924EBF1783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300" y="3251200"/>
            <a:ext cx="7885113" cy="3325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5780" name="日期占位符 1">
            <a:extLst>
              <a:ext uri="{FF2B5EF4-FFF2-40B4-BE49-F238E27FC236}">
                <a16:creationId xmlns:a16="http://schemas.microsoft.com/office/drawing/2014/main" id="{4441DB73-5769-4D7E-8281-27461A728D3D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9ABADACD-EA0E-4841-A242-FB3276026F0E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cover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9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标题 1">
            <a:extLst>
              <a:ext uri="{FF2B5EF4-FFF2-40B4-BE49-F238E27FC236}">
                <a16:creationId xmlns:a16="http://schemas.microsoft.com/office/drawing/2014/main" id="{F1A0F49F-3A76-41A3-B6CD-C05127B0DED1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en-US" altLang="zh-CN" sz="4000" b="1">
                <a:solidFill>
                  <a:schemeClr val="accent2"/>
                </a:solidFill>
              </a:rPr>
              <a:t>1. </a:t>
            </a:r>
            <a:r>
              <a:rPr lang="zh-CN" altLang="en-US" sz="4000" b="1">
                <a:solidFill>
                  <a:schemeClr val="accent2"/>
                </a:solidFill>
              </a:rPr>
              <a:t>标志操作指令</a:t>
            </a:r>
          </a:p>
        </p:txBody>
      </p:sp>
      <p:sp>
        <p:nvSpPr>
          <p:cNvPr id="70659" name="内容占位符 2">
            <a:extLst>
              <a:ext uri="{FF2B5EF4-FFF2-40B4-BE49-F238E27FC236}">
                <a16:creationId xmlns:a16="http://schemas.microsoft.com/office/drawing/2014/main" id="{14FECC0F-4E6C-41B9-A303-D1C5EF5B201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527050" y="1073150"/>
            <a:ext cx="8372475" cy="5511800"/>
          </a:xfrm>
        </p:spPr>
        <p:txBody>
          <a:bodyPr/>
          <a:lstStyle/>
          <a:p>
            <a:pPr marL="1588" indent="-1588" algn="l">
              <a:spcBef>
                <a:spcPts val="600"/>
              </a:spcBef>
            </a:pPr>
            <a:r>
              <a:rPr lang="en-US" altLang="zh-CN" sz="2400" b="1">
                <a:solidFill>
                  <a:srgbClr val="CC3300"/>
                </a:solidFill>
                <a:latin typeface="Times New Roman" panose="02020603050405020304" pitchFamily="18" charset="0"/>
              </a:rPr>
              <a:t>1) CLC</a:t>
            </a:r>
            <a:r>
              <a:rPr lang="zh-CN" altLang="en-US" sz="2400" b="1">
                <a:solidFill>
                  <a:srgbClr val="CC3300"/>
                </a:solidFill>
                <a:latin typeface="Times New Roman" panose="02020603050405020304" pitchFamily="18" charset="0"/>
              </a:rPr>
              <a:t>，</a:t>
            </a:r>
            <a:r>
              <a:rPr lang="en-US" altLang="zh-CN" sz="2400" b="1">
                <a:solidFill>
                  <a:srgbClr val="CC3300"/>
                </a:solidFill>
                <a:latin typeface="Times New Roman" panose="02020603050405020304" pitchFamily="18" charset="0"/>
              </a:rPr>
              <a:t>CMC</a:t>
            </a:r>
            <a:r>
              <a:rPr lang="zh-CN" altLang="en-US" sz="2400" b="1">
                <a:solidFill>
                  <a:srgbClr val="CC3300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sz="2400" b="1">
                <a:solidFill>
                  <a:srgbClr val="CC3300"/>
                </a:solidFill>
                <a:latin typeface="Times New Roman" panose="02020603050405020304" pitchFamily="18" charset="0"/>
              </a:rPr>
              <a:t>STC</a:t>
            </a:r>
            <a:endParaRPr lang="en-US" altLang="zh-CN" sz="2000" b="1">
              <a:solidFill>
                <a:srgbClr val="CC3300"/>
              </a:solidFill>
              <a:latin typeface="Times New Roman" panose="02020603050405020304" pitchFamily="18" charset="0"/>
            </a:endParaRPr>
          </a:p>
          <a:p>
            <a:pPr marL="1588" indent="-1588" algn="l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800">
                <a:latin typeface="Times New Roman" panose="02020603050405020304" pitchFamily="18" charset="0"/>
              </a:rPr>
              <a:t>利用</a:t>
            </a:r>
            <a:r>
              <a:rPr lang="en-US" altLang="zh-CN" sz="2800">
                <a:latin typeface="Times New Roman" panose="02020603050405020304" pitchFamily="18" charset="0"/>
              </a:rPr>
              <a:t>CLC</a:t>
            </a:r>
            <a:r>
              <a:rPr lang="zh-CN" altLang="en-US" sz="2800">
                <a:latin typeface="Times New Roman" panose="02020603050405020304" pitchFamily="18" charset="0"/>
              </a:rPr>
              <a:t>指令，使进位标志</a:t>
            </a:r>
            <a:r>
              <a:rPr lang="en-US" altLang="zh-CN" sz="2800">
                <a:latin typeface="Times New Roman" panose="02020603050405020304" pitchFamily="18" charset="0"/>
              </a:rPr>
              <a:t>CF</a:t>
            </a:r>
            <a:r>
              <a:rPr lang="zh-CN" altLang="en-US" sz="2800">
                <a:latin typeface="Times New Roman" panose="02020603050405020304" pitchFamily="18" charset="0"/>
              </a:rPr>
              <a:t>清</a:t>
            </a:r>
            <a:r>
              <a:rPr lang="en-US" altLang="zh-CN" sz="2800">
                <a:latin typeface="Times New Roman" panose="02020603050405020304" pitchFamily="18" charset="0"/>
              </a:rPr>
              <a:t>0</a:t>
            </a:r>
            <a:r>
              <a:rPr lang="zh-CN" altLang="en-US" sz="2800">
                <a:latin typeface="Times New Roman" panose="02020603050405020304" pitchFamily="18" charset="0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</a:rPr>
              <a:t>CMC</a:t>
            </a:r>
            <a:r>
              <a:rPr lang="zh-CN" altLang="en-US" sz="2800">
                <a:latin typeface="Times New Roman" panose="02020603050405020304" pitchFamily="18" charset="0"/>
              </a:rPr>
              <a:t>指令使</a:t>
            </a:r>
            <a:r>
              <a:rPr lang="en-US" altLang="zh-CN" sz="2800">
                <a:latin typeface="Times New Roman" panose="02020603050405020304" pitchFamily="18" charset="0"/>
              </a:rPr>
              <a:t>CF</a:t>
            </a:r>
            <a:r>
              <a:rPr lang="zh-CN" altLang="en-US" sz="2800">
                <a:latin typeface="Times New Roman" panose="02020603050405020304" pitchFamily="18" charset="0"/>
              </a:rPr>
              <a:t>取反，</a:t>
            </a:r>
            <a:r>
              <a:rPr lang="en-US" altLang="zh-CN" sz="2800">
                <a:latin typeface="Times New Roman" panose="02020603050405020304" pitchFamily="18" charset="0"/>
              </a:rPr>
              <a:t>STC</a:t>
            </a:r>
            <a:r>
              <a:rPr lang="zh-CN" altLang="en-US" sz="2800">
                <a:latin typeface="Times New Roman" panose="02020603050405020304" pitchFamily="18" charset="0"/>
              </a:rPr>
              <a:t>指令则使</a:t>
            </a:r>
            <a:r>
              <a:rPr lang="en-US" altLang="zh-CN" sz="2800">
                <a:latin typeface="Times New Roman" panose="02020603050405020304" pitchFamily="18" charset="0"/>
              </a:rPr>
              <a:t>CF</a:t>
            </a:r>
            <a:r>
              <a:rPr lang="zh-CN" altLang="en-US" sz="2800">
                <a:latin typeface="Times New Roman" panose="02020603050405020304" pitchFamily="18" charset="0"/>
              </a:rPr>
              <a:t>置</a:t>
            </a:r>
            <a:r>
              <a:rPr lang="en-US" altLang="zh-CN" sz="2800">
                <a:latin typeface="Times New Roman" panose="02020603050405020304" pitchFamily="18" charset="0"/>
              </a:rPr>
              <a:t>1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 marL="1588" indent="-1588" algn="l">
              <a:spcBef>
                <a:spcPts val="2400"/>
              </a:spcBef>
            </a:pPr>
            <a:r>
              <a:rPr lang="en-US" altLang="zh-CN" sz="2400" b="1">
                <a:solidFill>
                  <a:srgbClr val="CC3300"/>
                </a:solidFill>
                <a:latin typeface="Times New Roman" panose="02020603050405020304" pitchFamily="18" charset="0"/>
              </a:rPr>
              <a:t>2) CLD</a:t>
            </a:r>
            <a:r>
              <a:rPr lang="zh-CN" altLang="en-US" sz="2400" b="1">
                <a:solidFill>
                  <a:srgbClr val="CC3300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sz="2400" b="1">
                <a:solidFill>
                  <a:srgbClr val="CC3300"/>
                </a:solidFill>
                <a:latin typeface="Times New Roman" panose="02020603050405020304" pitchFamily="18" charset="0"/>
              </a:rPr>
              <a:t>STD</a:t>
            </a:r>
            <a:endParaRPr lang="en-US" altLang="zh-CN" sz="2000" b="1">
              <a:solidFill>
                <a:srgbClr val="CC3300"/>
              </a:solidFill>
              <a:latin typeface="Times New Roman" panose="02020603050405020304" pitchFamily="18" charset="0"/>
            </a:endParaRPr>
          </a:p>
          <a:p>
            <a:pPr marL="1588" indent="-1588" algn="l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800">
                <a:latin typeface="Times New Roman" panose="02020603050405020304" pitchFamily="18" charset="0"/>
              </a:rPr>
              <a:t>方向标志</a:t>
            </a:r>
            <a:r>
              <a:rPr lang="en-US" altLang="zh-CN" sz="2800">
                <a:latin typeface="Times New Roman" panose="02020603050405020304" pitchFamily="18" charset="0"/>
              </a:rPr>
              <a:t>DF</a:t>
            </a:r>
            <a:r>
              <a:rPr lang="zh-CN" altLang="en-US" sz="2800">
                <a:latin typeface="Times New Roman" panose="02020603050405020304" pitchFamily="18" charset="0"/>
              </a:rPr>
              <a:t>在执行字符串操作指令时用来决定地址的修改方向，</a:t>
            </a:r>
            <a:r>
              <a:rPr lang="en-US" altLang="zh-CN" sz="2800">
                <a:latin typeface="Times New Roman" panose="02020603050405020304" pitchFamily="18" charset="0"/>
              </a:rPr>
              <a:t>CLD</a:t>
            </a:r>
            <a:r>
              <a:rPr lang="zh-CN" altLang="en-US" sz="2800">
                <a:latin typeface="Times New Roman" panose="02020603050405020304" pitchFamily="18" charset="0"/>
              </a:rPr>
              <a:t>指令使</a:t>
            </a:r>
            <a:r>
              <a:rPr lang="en-US" altLang="zh-CN" sz="2800">
                <a:latin typeface="Times New Roman" panose="02020603050405020304" pitchFamily="18" charset="0"/>
              </a:rPr>
              <a:t>DF</a:t>
            </a:r>
            <a:r>
              <a:rPr lang="zh-CN" altLang="en-US" sz="2800">
                <a:latin typeface="Times New Roman" panose="02020603050405020304" pitchFamily="18" charset="0"/>
              </a:rPr>
              <a:t>清</a:t>
            </a:r>
            <a:r>
              <a:rPr lang="en-US" altLang="zh-CN" sz="2800">
                <a:latin typeface="Times New Roman" panose="02020603050405020304" pitchFamily="18" charset="0"/>
              </a:rPr>
              <a:t>0</a:t>
            </a:r>
            <a:r>
              <a:rPr lang="zh-CN" altLang="en-US" sz="2800">
                <a:latin typeface="Times New Roman" panose="02020603050405020304" pitchFamily="18" charset="0"/>
              </a:rPr>
              <a:t>，而</a:t>
            </a:r>
            <a:r>
              <a:rPr lang="en-US" altLang="zh-CN" sz="2800">
                <a:latin typeface="Times New Roman" panose="02020603050405020304" pitchFamily="18" charset="0"/>
              </a:rPr>
              <a:t>STD</a:t>
            </a:r>
            <a:r>
              <a:rPr lang="zh-CN" altLang="en-US" sz="2800">
                <a:latin typeface="Times New Roman" panose="02020603050405020304" pitchFamily="18" charset="0"/>
              </a:rPr>
              <a:t>指令则使</a:t>
            </a:r>
            <a:r>
              <a:rPr lang="en-US" altLang="zh-CN" sz="2800">
                <a:latin typeface="Times New Roman" panose="02020603050405020304" pitchFamily="18" charset="0"/>
              </a:rPr>
              <a:t>DF</a:t>
            </a:r>
            <a:r>
              <a:rPr lang="zh-CN" altLang="en-US" sz="2800">
                <a:latin typeface="Times New Roman" panose="02020603050405020304" pitchFamily="18" charset="0"/>
              </a:rPr>
              <a:t>置</a:t>
            </a:r>
            <a:r>
              <a:rPr lang="en-US" altLang="zh-CN" sz="2800">
                <a:latin typeface="Times New Roman" panose="02020603050405020304" pitchFamily="18" charset="0"/>
              </a:rPr>
              <a:t>1</a:t>
            </a:r>
            <a:endParaRPr lang="en-US" altLang="zh-CN" sz="2400">
              <a:latin typeface="Times New Roman" panose="02020603050405020304" pitchFamily="18" charset="0"/>
            </a:endParaRPr>
          </a:p>
          <a:p>
            <a:pPr marL="1588" indent="-1588" algn="l">
              <a:spcBef>
                <a:spcPts val="2400"/>
              </a:spcBef>
            </a:pPr>
            <a:r>
              <a:rPr lang="en-US" altLang="zh-CN" sz="2400" b="1">
                <a:solidFill>
                  <a:srgbClr val="CC3300"/>
                </a:solidFill>
                <a:latin typeface="Times New Roman" panose="02020603050405020304" pitchFamily="18" charset="0"/>
              </a:rPr>
              <a:t>3) CLI</a:t>
            </a:r>
            <a:r>
              <a:rPr lang="zh-CN" altLang="en-US" sz="2400" b="1">
                <a:solidFill>
                  <a:srgbClr val="CC3300"/>
                </a:solidFill>
                <a:latin typeface="Times New Roman" panose="02020603050405020304" pitchFamily="18" charset="0"/>
              </a:rPr>
              <a:t>和</a:t>
            </a:r>
            <a:r>
              <a:rPr lang="en-US" altLang="zh-CN" sz="2400" b="1">
                <a:solidFill>
                  <a:srgbClr val="CC3300"/>
                </a:solidFill>
                <a:latin typeface="Times New Roman" panose="02020603050405020304" pitchFamily="18" charset="0"/>
              </a:rPr>
              <a:t>STI</a:t>
            </a:r>
            <a:endParaRPr lang="en-US" altLang="zh-CN" sz="2000" b="1">
              <a:solidFill>
                <a:srgbClr val="CC3300"/>
              </a:solidFill>
              <a:latin typeface="Times New Roman" panose="02020603050405020304" pitchFamily="18" charset="0"/>
            </a:endParaRPr>
          </a:p>
          <a:p>
            <a:pPr marL="1588" indent="-1588" algn="l">
              <a:spcBef>
                <a:spcPts val="600"/>
              </a:spcBef>
              <a:buFont typeface="Wingdings" panose="05000000000000000000" pitchFamily="2" charset="2"/>
              <a:buChar char="l"/>
            </a:pPr>
            <a:r>
              <a:rPr lang="zh-CN" altLang="en-US" sz="2800">
                <a:latin typeface="Times New Roman" panose="02020603050405020304" pitchFamily="18" charset="0"/>
              </a:rPr>
              <a:t>中断允许标志</a:t>
            </a:r>
            <a:r>
              <a:rPr lang="en-US" altLang="zh-CN" sz="2800">
                <a:latin typeface="Times New Roman" panose="02020603050405020304" pitchFamily="18" charset="0"/>
              </a:rPr>
              <a:t>IF</a:t>
            </a:r>
            <a:r>
              <a:rPr lang="zh-CN" altLang="en-US" sz="2800">
                <a:latin typeface="Times New Roman" panose="02020603050405020304" pitchFamily="18" charset="0"/>
              </a:rPr>
              <a:t>决定</a:t>
            </a:r>
            <a:r>
              <a:rPr lang="en-US" altLang="zh-CN" sz="2800">
                <a:latin typeface="Times New Roman" panose="02020603050405020304" pitchFamily="18" charset="0"/>
              </a:rPr>
              <a:t>CPU</a:t>
            </a:r>
            <a:r>
              <a:rPr lang="zh-CN" altLang="en-US" sz="2800">
                <a:latin typeface="Times New Roman" panose="02020603050405020304" pitchFamily="18" charset="0"/>
              </a:rPr>
              <a:t>能否响应可屏蔽中断请求，指令</a:t>
            </a:r>
            <a:r>
              <a:rPr lang="en-US" altLang="zh-CN" sz="2800">
                <a:latin typeface="Times New Roman" panose="02020603050405020304" pitchFamily="18" charset="0"/>
              </a:rPr>
              <a:t>CLI</a:t>
            </a:r>
            <a:r>
              <a:rPr lang="zh-CN" altLang="en-US" sz="2800">
                <a:latin typeface="Times New Roman" panose="02020603050405020304" pitchFamily="18" charset="0"/>
              </a:rPr>
              <a:t>使</a:t>
            </a:r>
            <a:r>
              <a:rPr lang="en-US" altLang="zh-CN" sz="2800">
                <a:latin typeface="Times New Roman" panose="02020603050405020304" pitchFamily="18" charset="0"/>
              </a:rPr>
              <a:t>IF</a:t>
            </a:r>
            <a:r>
              <a:rPr lang="zh-CN" altLang="en-US" sz="2800">
                <a:latin typeface="Times New Roman" panose="02020603050405020304" pitchFamily="18" charset="0"/>
              </a:rPr>
              <a:t>清</a:t>
            </a:r>
            <a:r>
              <a:rPr lang="en-US" altLang="zh-CN" sz="2800">
                <a:latin typeface="Times New Roman" panose="02020603050405020304" pitchFamily="18" charset="0"/>
              </a:rPr>
              <a:t>0</a:t>
            </a:r>
            <a:r>
              <a:rPr lang="zh-CN" altLang="en-US" sz="2800">
                <a:latin typeface="Times New Roman" panose="02020603050405020304" pitchFamily="18" charset="0"/>
              </a:rPr>
              <a:t>，禁止</a:t>
            </a:r>
            <a:r>
              <a:rPr lang="en-US" altLang="zh-CN" sz="2800">
                <a:latin typeface="Times New Roman" panose="02020603050405020304" pitchFamily="18" charset="0"/>
              </a:rPr>
              <a:t>CPU</a:t>
            </a:r>
            <a:r>
              <a:rPr lang="zh-CN" altLang="en-US" sz="2800">
                <a:latin typeface="Times New Roman" panose="02020603050405020304" pitchFamily="18" charset="0"/>
              </a:rPr>
              <a:t>响应这类中断。</a:t>
            </a:r>
            <a:r>
              <a:rPr lang="en-US" altLang="zh-CN" sz="2800">
                <a:latin typeface="Times New Roman" panose="02020603050405020304" pitchFamily="18" charset="0"/>
              </a:rPr>
              <a:t>STI</a:t>
            </a:r>
            <a:r>
              <a:rPr lang="zh-CN" altLang="en-US" sz="2800">
                <a:latin typeface="Times New Roman" panose="02020603050405020304" pitchFamily="18" charset="0"/>
              </a:rPr>
              <a:t>使</a:t>
            </a:r>
            <a:r>
              <a:rPr lang="en-US" altLang="zh-CN" sz="2800">
                <a:latin typeface="Times New Roman" panose="02020603050405020304" pitchFamily="18" charset="0"/>
              </a:rPr>
              <a:t>IF</a:t>
            </a:r>
            <a:r>
              <a:rPr lang="zh-CN" altLang="en-US" sz="2800">
                <a:latin typeface="Times New Roman" panose="02020603050405020304" pitchFamily="18" charset="0"/>
              </a:rPr>
              <a:t>置</a:t>
            </a:r>
            <a:r>
              <a:rPr lang="en-US" altLang="zh-CN" sz="2800">
                <a:latin typeface="Times New Roman" panose="02020603050405020304" pitchFamily="18" charset="0"/>
              </a:rPr>
              <a:t>1</a:t>
            </a:r>
            <a:r>
              <a:rPr lang="zh-CN" altLang="en-US" sz="2800">
                <a:latin typeface="Times New Roman" panose="02020603050405020304" pitchFamily="18" charset="0"/>
              </a:rPr>
              <a:t>，允许</a:t>
            </a:r>
            <a:r>
              <a:rPr lang="en-US" altLang="zh-CN" sz="2800">
                <a:latin typeface="Times New Roman" panose="02020603050405020304" pitchFamily="18" charset="0"/>
              </a:rPr>
              <a:t>CPU</a:t>
            </a:r>
            <a:r>
              <a:rPr lang="zh-CN" altLang="en-US" sz="2800">
                <a:latin typeface="Times New Roman" panose="02020603050405020304" pitchFamily="18" charset="0"/>
              </a:rPr>
              <a:t>响应</a:t>
            </a:r>
          </a:p>
        </p:txBody>
      </p:sp>
      <p:sp>
        <p:nvSpPr>
          <p:cNvPr id="76803" name="日期占位符 1">
            <a:extLst>
              <a:ext uri="{FF2B5EF4-FFF2-40B4-BE49-F238E27FC236}">
                <a16:creationId xmlns:a16="http://schemas.microsoft.com/office/drawing/2014/main" id="{6FA1DBED-5A86-4869-9A09-43C6FB25CEB5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3C72A5E3-A2A9-4E26-91F6-CDA95461894E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cover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06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06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06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标题 1">
            <a:extLst>
              <a:ext uri="{FF2B5EF4-FFF2-40B4-BE49-F238E27FC236}">
                <a16:creationId xmlns:a16="http://schemas.microsoft.com/office/drawing/2014/main" id="{2642F348-7FB8-419F-9D95-67EDBB845668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en-US" altLang="zh-CN" sz="4400" b="1">
                <a:solidFill>
                  <a:schemeClr val="accent2"/>
                </a:solidFill>
              </a:rPr>
              <a:t>2. </a:t>
            </a:r>
            <a:r>
              <a:rPr lang="zh-CN" altLang="en-US" sz="4400" b="1">
                <a:solidFill>
                  <a:schemeClr val="accent2"/>
                </a:solidFill>
              </a:rPr>
              <a:t>外部同步指令</a:t>
            </a:r>
          </a:p>
        </p:txBody>
      </p:sp>
      <p:sp>
        <p:nvSpPr>
          <p:cNvPr id="77826" name="内容占位符 2">
            <a:extLst>
              <a:ext uri="{FF2B5EF4-FFF2-40B4-BE49-F238E27FC236}">
                <a16:creationId xmlns:a16="http://schemas.microsoft.com/office/drawing/2014/main" id="{9B8DBABC-5943-475B-938A-CEADFB40793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571500" y="1809750"/>
            <a:ext cx="8283575" cy="4686300"/>
          </a:xfrm>
        </p:spPr>
        <p:txBody>
          <a:bodyPr/>
          <a:lstStyle/>
          <a:p>
            <a:pPr algn="just">
              <a:spcBef>
                <a:spcPct val="0"/>
              </a:spcBef>
            </a:pPr>
            <a:r>
              <a:rPr lang="zh-CN" altLang="en-US" sz="2800" b="1">
                <a:solidFill>
                  <a:srgbClr val="CC3300"/>
                </a:solidFill>
                <a:latin typeface="Times New Roman" panose="02020603050405020304" pitchFamily="18" charset="0"/>
              </a:rPr>
              <a:t>不要求掌握</a:t>
            </a:r>
          </a:p>
        </p:txBody>
      </p:sp>
      <p:sp>
        <p:nvSpPr>
          <p:cNvPr id="77827" name="日期占位符 1">
            <a:extLst>
              <a:ext uri="{FF2B5EF4-FFF2-40B4-BE49-F238E27FC236}">
                <a16:creationId xmlns:a16="http://schemas.microsoft.com/office/drawing/2014/main" id="{0DE6AF7A-FC31-4E14-BC7A-8FAF44EC34B0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AB56698D-85B9-49E1-B914-DE4ACAF1C39F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circle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标题 1">
            <a:extLst>
              <a:ext uri="{FF2B5EF4-FFF2-40B4-BE49-F238E27FC236}">
                <a16:creationId xmlns:a16="http://schemas.microsoft.com/office/drawing/2014/main" id="{0410D270-AC25-4227-A1A0-5FB76359EA33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/>
            <a:r>
              <a:rPr lang="en-US" altLang="zh-CN" sz="4000" b="1">
                <a:solidFill>
                  <a:schemeClr val="accent2"/>
                </a:solidFill>
              </a:rPr>
              <a:t>3. </a:t>
            </a:r>
            <a:r>
              <a:rPr lang="zh-CN" altLang="en-US" sz="4000" b="1">
                <a:solidFill>
                  <a:schemeClr val="accent2"/>
                </a:solidFill>
              </a:rPr>
              <a:t>停机指令和空操作指令</a:t>
            </a:r>
          </a:p>
        </p:txBody>
      </p:sp>
      <p:sp>
        <p:nvSpPr>
          <p:cNvPr id="72707" name="内容占位符 2">
            <a:extLst>
              <a:ext uri="{FF2B5EF4-FFF2-40B4-BE49-F238E27FC236}">
                <a16:creationId xmlns:a16="http://schemas.microsoft.com/office/drawing/2014/main" id="{58A6AC89-3FFD-48E8-8091-4D8B4C247A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1525" y="1073150"/>
            <a:ext cx="7934325" cy="5378450"/>
          </a:xfrm>
        </p:spPr>
        <p:txBody>
          <a:bodyPr/>
          <a:lstStyle/>
          <a:p>
            <a:pPr marL="1905" indent="-1905" algn="l"/>
            <a:r>
              <a:rPr lang="en-US" altLang="x-none" sz="24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1) HLT  </a:t>
            </a:r>
            <a:r>
              <a:rPr lang="zh-CN" altLang="en-US" sz="24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停机指令</a:t>
            </a:r>
            <a:r>
              <a:rPr lang="en-US" altLang="x-none" sz="24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  (Halt)</a:t>
            </a:r>
            <a:endParaRPr lang="en-US" altLang="x-none" sz="2000" b="1" noProof="1">
              <a:solidFill>
                <a:srgbClr val="CC3300"/>
              </a:solidFill>
              <a:latin typeface="Times New Roman" panose="02020603050405020304" pitchFamily="2" charset="0"/>
            </a:endParaRPr>
          </a:p>
          <a:p>
            <a:pPr marL="1905" indent="-1905" algn="l">
              <a:buFont typeface="Wingdings" panose="05000000000000000000" pitchFamily="2" charset="2"/>
              <a:buChar char="l"/>
            </a:pPr>
            <a:r>
              <a:rPr lang="zh-CN" altLang="en-US" sz="2800" noProof="1">
                <a:latin typeface="Times New Roman" panose="02020603050405020304" pitchFamily="2" charset="0"/>
              </a:rPr>
              <a:t>使</a:t>
            </a:r>
            <a:r>
              <a:rPr lang="en-US" altLang="x-none" sz="2800" noProof="1">
                <a:latin typeface="Times New Roman" panose="02020603050405020304" pitchFamily="2" charset="0"/>
              </a:rPr>
              <a:t>CPU</a:t>
            </a:r>
            <a:r>
              <a:rPr lang="zh-CN" altLang="en-US" sz="2800" noProof="1">
                <a:latin typeface="Times New Roman" panose="02020603050405020304" pitchFamily="2" charset="0"/>
              </a:rPr>
              <a:t>进入暂停状态，当下列情况之一发生时，则脱离暂停状态：</a:t>
            </a:r>
          </a:p>
          <a:p>
            <a:pPr marL="1905" indent="-1905" algn="l"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zh-CN" altLang="en-US" sz="2800" noProof="1">
                <a:latin typeface="Times New Roman" panose="02020603050405020304" pitchFamily="2" charset="0"/>
              </a:rPr>
              <a:t>在</a:t>
            </a:r>
            <a:r>
              <a:rPr lang="en-US" altLang="x-none" sz="2800" noProof="1">
                <a:latin typeface="Times New Roman" panose="02020603050405020304" pitchFamily="2" charset="0"/>
              </a:rPr>
              <a:t>RESET</a:t>
            </a:r>
            <a:r>
              <a:rPr lang="zh-CN" altLang="en-US" sz="2800" noProof="1">
                <a:latin typeface="Times New Roman" panose="02020603050405020304" pitchFamily="2" charset="0"/>
              </a:rPr>
              <a:t>线上加复位信号；</a:t>
            </a:r>
          </a:p>
          <a:p>
            <a:pPr marL="1905" indent="-1905" algn="l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800" noProof="1">
                <a:latin typeface="Times New Roman" panose="02020603050405020304" pitchFamily="2" charset="0"/>
              </a:rPr>
              <a:t>在</a:t>
            </a:r>
            <a:r>
              <a:rPr lang="en-US" altLang="x-none" sz="2800" noProof="1">
                <a:latin typeface="Times New Roman" panose="02020603050405020304" pitchFamily="2" charset="0"/>
              </a:rPr>
              <a:t>NMI</a:t>
            </a:r>
            <a:r>
              <a:rPr lang="zh-CN" altLang="en-US" sz="2800" noProof="1">
                <a:latin typeface="Times New Roman" panose="02020603050405020304" pitchFamily="2" charset="0"/>
              </a:rPr>
              <a:t>引脚上出现中断请求信号；</a:t>
            </a:r>
          </a:p>
          <a:p>
            <a:pPr marL="1905" indent="-1905" algn="l"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zh-CN" altLang="en-US" sz="2800" noProof="1">
                <a:latin typeface="Times New Roman" panose="02020603050405020304" pitchFamily="2" charset="0"/>
              </a:rPr>
              <a:t>在允许中断的情况下，在</a:t>
            </a:r>
            <a:r>
              <a:rPr lang="en-US" altLang="x-none" sz="2800" noProof="1">
                <a:latin typeface="Times New Roman" panose="02020603050405020304" pitchFamily="2" charset="0"/>
              </a:rPr>
              <a:t>INTR</a:t>
            </a:r>
            <a:r>
              <a:rPr lang="zh-CN" altLang="en-US" sz="2800" noProof="1">
                <a:latin typeface="Times New Roman" panose="02020603050405020304" pitchFamily="2" charset="0"/>
              </a:rPr>
              <a:t>引脚上出现中断请求信号</a:t>
            </a:r>
          </a:p>
          <a:p>
            <a:pPr marL="1905" indent="112395" algn="l">
              <a:buFont typeface="Wingdings" panose="05000000000000000000" pitchFamily="2" charset="2"/>
              <a:buChar char="l"/>
            </a:pPr>
            <a:r>
              <a:rPr lang="zh-CN" altLang="en-US" sz="2800" noProof="1">
                <a:latin typeface="Times New Roman" panose="02020603050405020304" pitchFamily="2" charset="0"/>
              </a:rPr>
              <a:t>程序中常用</a:t>
            </a:r>
            <a:r>
              <a:rPr lang="en-US" altLang="x-none" sz="2800" noProof="1">
                <a:latin typeface="Times New Roman" panose="02020603050405020304" pitchFamily="2" charset="0"/>
              </a:rPr>
              <a:t>HLT</a:t>
            </a:r>
            <a:r>
              <a:rPr lang="zh-CN" altLang="en-US" sz="2800" noProof="1">
                <a:latin typeface="Times New Roman" panose="02020603050405020304" pitchFamily="2" charset="0"/>
              </a:rPr>
              <a:t>指令来等待中断的出现</a:t>
            </a:r>
          </a:p>
          <a:p>
            <a:pPr marL="1905" indent="-1905" algn="l"/>
            <a:r>
              <a:rPr lang="en-US" altLang="x-none" sz="24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 2) NOP  </a:t>
            </a:r>
            <a:r>
              <a:rPr lang="zh-CN" altLang="en-US" sz="24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空操作或无操作指令</a:t>
            </a:r>
            <a:r>
              <a:rPr lang="en-US" altLang="x-none" sz="2400" b="1" noProof="1">
                <a:solidFill>
                  <a:srgbClr val="CC3300"/>
                </a:solidFill>
                <a:latin typeface="Times New Roman" panose="02020603050405020304" pitchFamily="2" charset="0"/>
              </a:rPr>
              <a:t>  (No Operation)</a:t>
            </a:r>
            <a:endParaRPr lang="en-US" altLang="x-none" sz="2000" b="1" noProof="1">
              <a:solidFill>
                <a:srgbClr val="CC3300"/>
              </a:solidFill>
              <a:latin typeface="Times New Roman" panose="02020603050405020304" pitchFamily="2" charset="0"/>
            </a:endParaRPr>
          </a:p>
          <a:p>
            <a:pPr marL="1905" indent="112395" algn="l">
              <a:buFont typeface="Wingdings" panose="05000000000000000000" pitchFamily="2" charset="2"/>
              <a:buChar char="l"/>
            </a:pPr>
            <a:r>
              <a:rPr lang="zh-CN" altLang="en-US" sz="28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单字节</a:t>
            </a:r>
            <a:r>
              <a:rPr lang="zh-CN" altLang="en-US" sz="2800" noProof="1">
                <a:latin typeface="Times New Roman" panose="02020603050405020304" pitchFamily="2" charset="0"/>
              </a:rPr>
              <a:t>指令，执行时耗费</a:t>
            </a:r>
            <a:r>
              <a:rPr lang="en-US" altLang="x-none" sz="28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3</a:t>
            </a:r>
            <a:r>
              <a:rPr lang="zh-CN" altLang="en-US" sz="28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个时钟周期</a:t>
            </a:r>
            <a:r>
              <a:rPr lang="zh-CN" altLang="en-US" sz="2800" noProof="1">
                <a:latin typeface="Times New Roman" panose="02020603050405020304" pitchFamily="2" charset="0"/>
              </a:rPr>
              <a:t>的时间，但不完成任何操作，可以用作</a:t>
            </a:r>
            <a:r>
              <a:rPr lang="zh-CN" altLang="en-US" sz="2800" b="1" noProof="1">
                <a:solidFill>
                  <a:srgbClr val="0000FF"/>
                </a:solidFill>
                <a:latin typeface="Times New Roman" panose="02020603050405020304" pitchFamily="2" charset="0"/>
              </a:rPr>
              <a:t>软件延时</a:t>
            </a:r>
          </a:p>
        </p:txBody>
      </p:sp>
      <p:sp>
        <p:nvSpPr>
          <p:cNvPr id="78851" name="日期占位符 1">
            <a:extLst>
              <a:ext uri="{FF2B5EF4-FFF2-40B4-BE49-F238E27FC236}">
                <a16:creationId xmlns:a16="http://schemas.microsoft.com/office/drawing/2014/main" id="{4FAE251B-E980-4CB6-9EA7-7736252CDE34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just"/>
            <a:fld id="{2C2A91E9-0FF7-4A3C-98E9-F6625AA76CFD}" type="datetime10">
              <a:rPr lang="zh-CN" altLang="en-US" smtClean="0">
                <a:latin typeface="Times New Roman" panose="02020603050405020304" pitchFamily="18" charset="0"/>
              </a:rPr>
              <a:pPr algn="just"/>
              <a:t>22:51</a:t>
            </a:fld>
            <a:endParaRPr lang="zh-CN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7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2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727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07">
                                            <p:txEl>
                                              <p:charRg st="165" end="1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72707">
                                            <p:txEl>
                                              <p:charRg st="165" end="1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微机模板">
  <a:themeElements>
    <a:clrScheme name="">
      <a:dk1>
        <a:srgbClr val="FFFFFF"/>
      </a:dk1>
      <a:lt1>
        <a:srgbClr val="004646"/>
      </a:lt1>
      <a:dk2>
        <a:srgbClr val="E1F0FF"/>
      </a:dk2>
      <a:lt2>
        <a:srgbClr val="000000"/>
      </a:lt2>
      <a:accent1>
        <a:srgbClr val="50742F"/>
      </a:accent1>
      <a:accent2>
        <a:srgbClr val="268868"/>
      </a:accent2>
      <a:accent3>
        <a:srgbClr val="AAB1B1"/>
      </a:accent3>
      <a:accent4>
        <a:srgbClr val="DCDCDC"/>
      </a:accent4>
      <a:accent5>
        <a:srgbClr val="B3BDAD"/>
      </a:accent5>
      <a:accent6>
        <a:srgbClr val="21795D"/>
      </a:accent6>
      <a:hlink>
        <a:srgbClr val="D9BE02"/>
      </a:hlink>
      <a:folHlink>
        <a:srgbClr val="F900F9"/>
      </a:folHlink>
    </a:clrScheme>
    <a:fontScheme name="">
      <a:majorFont>
        <a:latin typeface="Times New Roman"/>
        <a:ea typeface="黑体"/>
        <a:cs typeface=""/>
      </a:majorFont>
      <a:minorFont>
        <a:latin typeface="黑体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A7C6E5"/>
      </a:accent1>
      <a:accent2>
        <a:srgbClr val="333399"/>
      </a:accent2>
      <a:accent3>
        <a:srgbClr val="FFFFFF"/>
      </a:accent3>
      <a:accent4>
        <a:srgbClr val="000000"/>
      </a:accent4>
      <a:accent5>
        <a:srgbClr val="D0DFEF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A7C6E5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0DFF0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">
      <a:dk1>
        <a:srgbClr val="FFFFFF"/>
      </a:dk1>
      <a:lt1>
        <a:srgbClr val="004646"/>
      </a:lt1>
      <a:dk2>
        <a:srgbClr val="E1F0FF"/>
      </a:dk2>
      <a:lt2>
        <a:srgbClr val="000000"/>
      </a:lt2>
      <a:accent1>
        <a:srgbClr val="50742F"/>
      </a:accent1>
      <a:accent2>
        <a:srgbClr val="268868"/>
      </a:accent2>
      <a:accent3>
        <a:srgbClr val="AAB1B1"/>
      </a:accent3>
      <a:accent4>
        <a:srgbClr val="DCDCDC"/>
      </a:accent4>
      <a:accent5>
        <a:srgbClr val="B3BDAD"/>
      </a:accent5>
      <a:accent6>
        <a:srgbClr val="21795D"/>
      </a:accent6>
      <a:hlink>
        <a:srgbClr val="D9BE02"/>
      </a:hlink>
      <a:folHlink>
        <a:srgbClr val="F900F9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4646"/>
    </a:dk2>
    <a:lt2>
      <a:srgbClr val="E1F0FF"/>
    </a:lt2>
    <a:accent1>
      <a:srgbClr val="50742F"/>
    </a:accent1>
    <a:accent2>
      <a:srgbClr val="268868"/>
    </a:accent2>
    <a:accent3>
      <a:srgbClr val="AAB0B0"/>
    </a:accent3>
    <a:accent4>
      <a:srgbClr val="DADADA"/>
    </a:accent4>
    <a:accent5>
      <a:srgbClr val="B3BCAD"/>
    </a:accent5>
    <a:accent6>
      <a:srgbClr val="217B5E"/>
    </a:accent6>
    <a:hlink>
      <a:srgbClr val="D9BE02"/>
    </a:hlink>
    <a:folHlink>
      <a:srgbClr val="F900F9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</TotalTime>
  <Pages>0</Pages>
  <Words>7167</Words>
  <Characters>0</Characters>
  <Application>Microsoft Office PowerPoint</Application>
  <DocSecurity>0</DocSecurity>
  <PresentationFormat>全屏显示(4:3)</PresentationFormat>
  <Lines>0</Lines>
  <Paragraphs>648</Paragraphs>
  <Slides>74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74</vt:i4>
      </vt:variant>
    </vt:vector>
  </HeadingPairs>
  <TitlesOfParts>
    <vt:vector size="84" baseType="lpstr">
      <vt:lpstr>方正姚体</vt:lpstr>
      <vt:lpstr>黑体</vt:lpstr>
      <vt:lpstr>楷体_GB2312</vt:lpstr>
      <vt:lpstr>Arial</vt:lpstr>
      <vt:lpstr>Garamond</vt:lpstr>
      <vt:lpstr>Times New Roman</vt:lpstr>
      <vt:lpstr>Wingdings</vt:lpstr>
      <vt:lpstr>Wingdings 3</vt:lpstr>
      <vt:lpstr>微机模板</vt:lpstr>
      <vt:lpstr>default</vt:lpstr>
      <vt:lpstr>PowerPoint 演示文稿</vt:lpstr>
      <vt:lpstr>§3.3  8086的指令系统</vt:lpstr>
      <vt:lpstr>3.3.3  逻辑运算和移位指令</vt:lpstr>
      <vt:lpstr>3.3.3  逻辑运算和移位指令</vt:lpstr>
      <vt:lpstr>1. 逻辑运算指令  (Logical Operations)</vt:lpstr>
      <vt:lpstr>PowerPoint 演示文稿</vt:lpstr>
      <vt:lpstr>PowerPoint 演示文稿</vt:lpstr>
      <vt:lpstr>1. 逻辑运算指令</vt:lpstr>
      <vt:lpstr>1. 逻辑运算指令</vt:lpstr>
      <vt:lpstr>1. 逻辑运算指令</vt:lpstr>
      <vt:lpstr>1. 逻辑运算指令（test举例）</vt:lpstr>
      <vt:lpstr>1. 逻辑运算指令  小结*</vt:lpstr>
      <vt:lpstr>2. 算术逻辑移位指令     (Shift Arithmetic and Shift Logical)</vt:lpstr>
      <vt:lpstr>PowerPoint 演示文稿</vt:lpstr>
      <vt:lpstr>2. 算术逻辑移位指令（SAL SHL举例）</vt:lpstr>
      <vt:lpstr>2. 算术逻辑移位指令</vt:lpstr>
      <vt:lpstr>2. 算术逻辑移位指令</vt:lpstr>
      <vt:lpstr>3. 循环移位指令 (Rotate)</vt:lpstr>
      <vt:lpstr>3. 循环移位指令 (Rotate)</vt:lpstr>
      <vt:lpstr>3. 循环移位指令 特点</vt:lpstr>
      <vt:lpstr>3. 循环移位指令举例 </vt:lpstr>
      <vt:lpstr>§3.3  8086的指令系统</vt:lpstr>
      <vt:lpstr>§3.3  8086的指令系统</vt:lpstr>
      <vt:lpstr>3.3.5  控制转移指令</vt:lpstr>
      <vt:lpstr>3.3.5  控制转移指令</vt:lpstr>
      <vt:lpstr>控制转移指令</vt:lpstr>
      <vt:lpstr>1. 无条件转移和过程调用指令      (Unconditional Transfer and Call)</vt:lpstr>
      <vt:lpstr>无条件转移指令</vt:lpstr>
      <vt:lpstr>无条件转移指令</vt:lpstr>
      <vt:lpstr>无条件转移指令</vt:lpstr>
      <vt:lpstr>无条件转移指令举例</vt:lpstr>
      <vt:lpstr>无条件转移指令（间接转移）</vt:lpstr>
      <vt:lpstr>无条件转移指令（间接转移）</vt:lpstr>
      <vt:lpstr>无条件转移指令（段间转移）</vt:lpstr>
      <vt:lpstr>无条件转移指令（段间转移）</vt:lpstr>
      <vt:lpstr>PowerPoint 演示文稿</vt:lpstr>
      <vt:lpstr>过程调用指令</vt:lpstr>
      <vt:lpstr>过程调用指令</vt:lpstr>
      <vt:lpstr>过程调用指令</vt:lpstr>
      <vt:lpstr>设调用前：CS:IP=2000H:1050H， SS:SP=5000H:0100H，PROG-N与CALL指令之间的字节距离等于1234H (即DISP=1234H)</vt:lpstr>
      <vt:lpstr>例3.84</vt:lpstr>
      <vt:lpstr>过程调用指令的返回（RET）</vt:lpstr>
      <vt:lpstr>PowerPoint 演示文稿</vt:lpstr>
      <vt:lpstr>过程调用指令</vt:lpstr>
      <vt:lpstr>过程调用指令（间接调用）</vt:lpstr>
      <vt:lpstr>（3） 段间直接调用 例3.86 CALL   FAR  PTR  PROG_F   ；PROG_F是一个远标号 该指令含5个字节，编码格式为：</vt:lpstr>
      <vt:lpstr>过程调用指令</vt:lpstr>
      <vt:lpstr>过程调用指令（远过程调用的返回指令）</vt:lpstr>
      <vt:lpstr>过程调用指令</vt:lpstr>
      <vt:lpstr>过程调用指令</vt:lpstr>
      <vt:lpstr>过程调用指令(RET  n)</vt:lpstr>
      <vt:lpstr>过程调用指令(RET  n)</vt:lpstr>
      <vt:lpstr>2. 条件转移指令 (Conditional Transfer)</vt:lpstr>
      <vt:lpstr>PowerPoint 演示文稿</vt:lpstr>
      <vt:lpstr>2. 条件转移指令（直接标志转移指令举例）</vt:lpstr>
      <vt:lpstr>2. 条件转移指令</vt:lpstr>
      <vt:lpstr>2. 条件转移指令</vt:lpstr>
      <vt:lpstr>2. 条件转移指令（间接标志转移指令举例）</vt:lpstr>
      <vt:lpstr>2. 条件转移指令 （间接标志转移指令举例）</vt:lpstr>
      <vt:lpstr>2. 条件转移指令（编程举例）</vt:lpstr>
      <vt:lpstr>PowerPoint 演示文稿</vt:lpstr>
      <vt:lpstr>2. 条件转移指令（编程举例）</vt:lpstr>
      <vt:lpstr>2. 条件转移指令（编程举例）</vt:lpstr>
      <vt:lpstr>3. 循环控制指令（Iteration control）</vt:lpstr>
      <vt:lpstr>PowerPoint 演示文稿</vt:lpstr>
      <vt:lpstr>PowerPoint 演示文稿</vt:lpstr>
      <vt:lpstr>4. 中断指令 (Interrupt)</vt:lpstr>
      <vt:lpstr>4. 中断指令</vt:lpstr>
      <vt:lpstr>4. 中断指令</vt:lpstr>
      <vt:lpstr>§3.3  8086的指令系统</vt:lpstr>
      <vt:lpstr>3.3.6  处理器控制指令</vt:lpstr>
      <vt:lpstr>1. 标志操作指令</vt:lpstr>
      <vt:lpstr>2. 外部同步指令</vt:lpstr>
      <vt:lpstr>3. 停机指令和空操作指令</vt:lpstr>
    </vt:vector>
  </TitlesOfParts>
  <Manager/>
  <Company>UESTC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7.2 8253的应用</dc:title>
  <dc:subject/>
  <dc:creator>冯周</dc:creator>
  <cp:keywords/>
  <dc:description/>
  <cp:lastModifiedBy>Lenovo</cp:lastModifiedBy>
  <cp:revision>556</cp:revision>
  <dcterms:created xsi:type="dcterms:W3CDTF">2003-06-02T01:23:00Z</dcterms:created>
  <dcterms:modified xsi:type="dcterms:W3CDTF">2025-09-23T15:01:37Z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2052-11.1.0.9440</vt:lpwstr>
  </property>
</Properties>
</file>