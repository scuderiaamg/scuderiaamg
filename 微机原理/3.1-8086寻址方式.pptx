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72" r:id="rId3"/>
    <p:sldMasterId id="2147483684" r:id="rId4"/>
    <p:sldMasterId id="2147483696" r:id="rId5"/>
    <p:sldMasterId id="2147483708" r:id="rId6"/>
  </p:sldMasterIdLst>
  <p:notesMasterIdLst>
    <p:notesMasterId r:id="rId48"/>
  </p:notesMasterIdLst>
  <p:sldIdLst>
    <p:sldId id="574" r:id="rId7"/>
    <p:sldId id="700" r:id="rId8"/>
    <p:sldId id="667" r:id="rId9"/>
    <p:sldId id="668" r:id="rId10"/>
    <p:sldId id="598" r:id="rId11"/>
    <p:sldId id="703" r:id="rId12"/>
    <p:sldId id="661" r:id="rId13"/>
    <p:sldId id="663" r:id="rId14"/>
    <p:sldId id="670" r:id="rId15"/>
    <p:sldId id="665" r:id="rId16"/>
    <p:sldId id="666" r:id="rId17"/>
    <p:sldId id="680" r:id="rId18"/>
    <p:sldId id="664" r:id="rId19"/>
    <p:sldId id="679" r:id="rId20"/>
    <p:sldId id="678" r:id="rId21"/>
    <p:sldId id="676" r:id="rId22"/>
    <p:sldId id="675" r:id="rId23"/>
    <p:sldId id="701" r:id="rId24"/>
    <p:sldId id="691" r:id="rId25"/>
    <p:sldId id="673" r:id="rId26"/>
    <p:sldId id="690" r:id="rId27"/>
    <p:sldId id="689" r:id="rId28"/>
    <p:sldId id="692" r:id="rId29"/>
    <p:sldId id="688" r:id="rId30"/>
    <p:sldId id="687" r:id="rId31"/>
    <p:sldId id="693" r:id="rId32"/>
    <p:sldId id="686" r:id="rId33"/>
    <p:sldId id="685" r:id="rId34"/>
    <p:sldId id="694" r:id="rId35"/>
    <p:sldId id="684" r:id="rId36"/>
    <p:sldId id="683" r:id="rId37"/>
    <p:sldId id="682" r:id="rId38"/>
    <p:sldId id="672" r:id="rId39"/>
    <p:sldId id="697" r:id="rId40"/>
    <p:sldId id="695" r:id="rId41"/>
    <p:sldId id="696" r:id="rId42"/>
    <p:sldId id="704" r:id="rId43"/>
    <p:sldId id="699" r:id="rId44"/>
    <p:sldId id="702" r:id="rId45"/>
    <p:sldId id="437" r:id="rId46"/>
    <p:sldId id="439" r:id="rId47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6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0033CC"/>
    <a:srgbClr val="CC0000"/>
    <a:srgbClr val="FF00FF"/>
    <a:srgbClr val="008000"/>
    <a:srgbClr val="FF0066"/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60" autoAdjust="0"/>
  </p:normalViewPr>
  <p:slideViewPr>
    <p:cSldViewPr>
      <p:cViewPr varScale="1">
        <p:scale>
          <a:sx n="62" d="100"/>
          <a:sy n="62" d="100"/>
        </p:scale>
        <p:origin x="844" y="52"/>
      </p:cViewPr>
      <p:guideLst>
        <p:guide orient="horz" pos="2166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21" cy="45021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openxmlformats.org/officeDocument/2006/relationships/slide" Target="slides/slide33.xml"/><Relationship Id="rId21" Type="http://schemas.openxmlformats.org/officeDocument/2006/relationships/slide" Target="slides/slide15.xml"/><Relationship Id="rId34" Type="http://schemas.openxmlformats.org/officeDocument/2006/relationships/slide" Target="slides/slide28.xml"/><Relationship Id="rId42" Type="http://schemas.openxmlformats.org/officeDocument/2006/relationships/slide" Target="slides/slide36.xml"/><Relationship Id="rId47" Type="http://schemas.openxmlformats.org/officeDocument/2006/relationships/slide" Target="slides/slide41.xml"/><Relationship Id="rId50" Type="http://schemas.openxmlformats.org/officeDocument/2006/relationships/viewProps" Target="viewProps.xml"/><Relationship Id="rId7" Type="http://schemas.openxmlformats.org/officeDocument/2006/relationships/slide" Target="slides/slid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9" Type="http://schemas.openxmlformats.org/officeDocument/2006/relationships/slide" Target="slides/slide2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slide" Target="slides/slide26.xml"/><Relationship Id="rId37" Type="http://schemas.openxmlformats.org/officeDocument/2006/relationships/slide" Target="slides/slide31.xml"/><Relationship Id="rId40" Type="http://schemas.openxmlformats.org/officeDocument/2006/relationships/slide" Target="slides/slide34.xml"/><Relationship Id="rId45" Type="http://schemas.openxmlformats.org/officeDocument/2006/relationships/slide" Target="slides/slide39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slide" Target="slides/slide30.xml"/><Relationship Id="rId49" Type="http://schemas.openxmlformats.org/officeDocument/2006/relationships/presProps" Target="presProps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4" Type="http://schemas.openxmlformats.org/officeDocument/2006/relationships/slide" Target="slides/slide38.xml"/><Relationship Id="rId52" Type="http://schemas.openxmlformats.org/officeDocument/2006/relationships/tableStyles" Target="tableStyle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slide" Target="slides/slide29.xml"/><Relationship Id="rId43" Type="http://schemas.openxmlformats.org/officeDocument/2006/relationships/slide" Target="slides/slide37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51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slide" Target="slides/slide27.xml"/><Relationship Id="rId38" Type="http://schemas.openxmlformats.org/officeDocument/2006/relationships/slide" Target="slides/slide32.xml"/><Relationship Id="rId46" Type="http://schemas.openxmlformats.org/officeDocument/2006/relationships/slide" Target="slides/slide40.xml"/><Relationship Id="rId20" Type="http://schemas.openxmlformats.org/officeDocument/2006/relationships/slide" Target="slides/slide14.xml"/><Relationship Id="rId41" Type="http://schemas.openxmlformats.org/officeDocument/2006/relationships/slide" Target="slides/slide35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0E4988D-2AE9-4CDF-B57A-F6839C6E1CE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/>
          <a:lstStyle>
            <a:lvl1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8E867D30-55AC-43DB-9383-7FA36A6C051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t"/>
          <a:lstStyle>
            <a:lvl1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2228" name="Rectangle 4">
            <a:extLst>
              <a:ext uri="{FF2B5EF4-FFF2-40B4-BE49-F238E27FC236}">
                <a16:creationId xmlns:a16="http://schemas.microsoft.com/office/drawing/2014/main" id="{38295FA0-4D0D-4BEE-97D4-C69F91E3B4C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sp>
      <p:sp>
        <p:nvSpPr>
          <p:cNvPr id="8197" name="Rectangle 5">
            <a:extLst>
              <a:ext uri="{FF2B5EF4-FFF2-40B4-BE49-F238E27FC236}">
                <a16:creationId xmlns:a16="http://schemas.microsoft.com/office/drawing/2014/main" id="{292F6311-117A-4E31-94E1-F239152DA004}"/>
              </a:ext>
            </a:extLst>
          </p:cNvPr>
          <p:cNvSpPr>
            <a:spLocks noGrp="1" noRot="1" noChangeAspect="1" noChangeArrowheads="1" noTextEdit="1"/>
          </p:cNvSpPr>
          <p:nvPr/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algn="just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algn="just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algn="just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algn="just" eaLnBrk="0" hangingPunct="0"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algn="just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/>
              <a:t>            </a:t>
            </a:r>
          </a:p>
          <a:p>
            <a:pPr lvl="1" algn="l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/>
              <a:t>   </a:t>
            </a:r>
          </a:p>
          <a:p>
            <a:pPr lvl="2" algn="l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/>
              <a:t>   </a:t>
            </a:r>
          </a:p>
          <a:p>
            <a:pPr lvl="3" algn="l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/>
              <a:t>   </a:t>
            </a:r>
          </a:p>
          <a:p>
            <a:pPr lvl="4" algn="l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/>
              <a:t>   </a:t>
            </a:r>
          </a:p>
        </p:txBody>
      </p:sp>
      <p:sp>
        <p:nvSpPr>
          <p:cNvPr id="8198" name="Rectangle 6">
            <a:extLst>
              <a:ext uri="{FF2B5EF4-FFF2-40B4-BE49-F238E27FC236}">
                <a16:creationId xmlns:a16="http://schemas.microsoft.com/office/drawing/2014/main" id="{71C3806B-17E7-466A-A47C-900518405E0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b"/>
          <a:lstStyle>
            <a:lvl1pPr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8199" name="Rectangle 7">
            <a:extLst>
              <a:ext uri="{FF2B5EF4-FFF2-40B4-BE49-F238E27FC236}">
                <a16:creationId xmlns:a16="http://schemas.microsoft.com/office/drawing/2014/main" id="{9A5A9B09-61BD-448D-A313-515EF02EC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vert="horz" wrap="square" anchor="b"/>
          <a:lstStyle>
            <a:lvl1pPr eaLnBrk="1" hangingPunct="1">
              <a:buClr>
                <a:srgbClr val="B4B9BE"/>
              </a:buClr>
              <a:buFont typeface="Arial" panose="020B0604020202020204" pitchFamily="34" charset="0"/>
              <a:buNone/>
              <a:defRPr noProof="1">
                <a:latin typeface="Times New Roman" panose="02020603050405020304" pitchFamily="18" charset="0"/>
                <a:cs typeface="+mn-ea"/>
              </a:defRPr>
            </a:lvl1pPr>
          </a:lstStyle>
          <a:p>
            <a:pPr>
              <a:defRPr/>
            </a:pPr>
            <a:fld id="{4773DA3C-E255-4F0F-8FCF-A1482C7762D2}" type="slidenum">
              <a:rPr lang="en-US" altLang="x-none"/>
              <a:pPr>
                <a:defRPr/>
              </a:pPr>
              <a:t>‹#›</a:t>
            </a:fld>
            <a:endParaRPr lang="en-US" altLang="x-none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1pPr>
    <a:lvl2pPr lvl="1"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2pPr>
    <a:lvl3pPr lvl="2"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3pPr>
    <a:lvl4pPr lvl="3"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4pPr>
    <a:lvl5pPr lvl="4" algn="l" defTabSz="0" rtl="0" eaLnBrk="0" fontAlgn="base" hangingPunct="0">
      <a:spcBef>
        <a:spcPct val="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</a:defRPr>
    </a:lvl5pPr>
    <a:lvl6pPr marL="2286000" lvl="5" indent="0" defTabSz="0" fontAlgn="base">
      <a:defRPr sz="1200" kern="1200"/>
    </a:lvl6pPr>
    <a:lvl7pPr marL="2743200" lvl="6" indent="0" defTabSz="0" fontAlgn="base">
      <a:defRPr sz="1200" kern="1200"/>
    </a:lvl7pPr>
    <a:lvl8pPr marL="3200400" lvl="7" indent="0" defTabSz="0" fontAlgn="base">
      <a:defRPr sz="1200" kern="1200"/>
    </a:lvl8pPr>
    <a:lvl9pPr marL="3657600" lvl="8" indent="0" defTabSz="0" fontAlgn="base">
      <a:defRPr sz="1200" kern="1200"/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913564876"/>
      </p:ext>
    </p:extLst>
  </p:cSld>
  <p:clrMapOvr>
    <a:masterClrMapping/>
  </p:clrMapOvr>
  <p:transition spd="slow">
    <p:plus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10066192"/>
      </p:ext>
    </p:extLst>
  </p:cSld>
  <p:clrMapOvr>
    <a:masterClrMapping/>
  </p:clrMapOvr>
  <p:transition spd="slow">
    <p:plus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28442116"/>
      </p:ext>
    </p:extLst>
  </p:cSld>
  <p:clrMapOvr>
    <a:masterClrMapping/>
  </p:clrMapOvr>
  <p:transition spd="slow">
    <p:plus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5763" y="1314450"/>
            <a:ext cx="4102513" cy="51752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5725" y="1314450"/>
            <a:ext cx="4102513" cy="5175250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36051683"/>
      </p:ext>
    </p:extLst>
  </p:cSld>
  <p:clrMapOvr>
    <a:masterClrMapping/>
  </p:clrMapOvr>
  <p:transition spd="slow">
    <p:plus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371502165"/>
      </p:ext>
    </p:extLst>
  </p:cSld>
  <p:clrMapOvr>
    <a:masterClrMapping/>
  </p:clrMapOvr>
  <p:transition spd="slow">
    <p:plus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044069834"/>
      </p:ext>
    </p:extLst>
  </p:cSld>
  <p:clrMapOvr>
    <a:masterClrMapping/>
  </p:clrMapOvr>
  <p:transition spd="slow">
    <p:plus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1606565"/>
      </p:ext>
    </p:extLst>
  </p:cSld>
  <p:clrMapOvr>
    <a:masterClrMapping/>
  </p:clrMapOvr>
  <p:transition spd="slow">
    <p:plus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83144281"/>
      </p:ext>
    </p:extLst>
  </p:cSld>
  <p:clrMapOvr>
    <a:masterClrMapping/>
  </p:clrMapOvr>
  <p:transition spd="slow">
    <p:plus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86252750"/>
      </p:ext>
    </p:extLst>
  </p:cSld>
  <p:clrMapOvr>
    <a:masterClrMapping/>
  </p:clrMapOvr>
  <p:transition spd="slow">
    <p:plus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414737193"/>
      </p:ext>
    </p:extLst>
  </p:cSld>
  <p:clrMapOvr>
    <a:masterClrMapping/>
  </p:clrMapOvr>
  <p:transition spd="slow">
    <p:plus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65119" y="368300"/>
            <a:ext cx="2093119" cy="61214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5763" y="368300"/>
            <a:ext cx="6158016" cy="61214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479980754"/>
      </p:ext>
    </p:extLst>
  </p:cSld>
  <p:clrMapOvr>
    <a:masterClrMapping/>
  </p:clrMapOvr>
  <p:transition spd="slow">
    <p:plus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917166064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696555752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13032274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6367866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248175769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825955999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6136926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4009112435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Times New Roman" panose="02020603050405020304" pitchFamily="18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961989817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78029841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500063"/>
            <a:ext cx="2057400" cy="562610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500063"/>
            <a:ext cx="6052930" cy="562610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288856405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94D3AE-9769-4E4B-8CD0-E1DB75E18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2BE74A-24BC-473B-954F-844615B2D182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9804AC7-D2AF-4D0C-8264-A7ED1871C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8E4FD0-CBBE-4B67-9989-AECBFF980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0EDDF9-FC2F-4599-89C0-4D5E0A9ED1D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27435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B3E9A8-22DC-4AE0-90EE-8F5A37BE2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C505286-B6B1-47A9-B9A5-22A909C5CC94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1B59D94-E78B-4356-8635-9D4DF71B0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88869EA-EB66-495E-B42E-35B1A7BFF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AB0798B-D0B2-4425-94A0-B13EC443A5B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41557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C02C26-A96D-4D57-9E9C-71A598748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42A87-7890-4682-9DAC-654D81EC982A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277650-0516-42BD-9DD9-D9D1E5431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A804D8-856D-4E31-BE8E-184C91381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9381E7-90DE-46FF-B2A9-B211B3D66BD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27909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63B18042-E8C8-4B1F-B67C-5720A0B9D9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179854-7A44-4824-BD40-795198B35206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7AEA13F5-7E65-4DF4-817D-918D7F2F1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A0C8E69-0A97-43AB-A567-C3DC95BC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677B58-6013-4082-8560-A9FD432035D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43020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486F79B9-44FF-4104-8EC8-7187FF07E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DB18D01-FFFE-4893-93CB-0508FA2C90BA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B1886461-0B69-4C2D-8624-CF21CE01D2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E5D934C7-6AA1-468A-9ACD-4CE1AE667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1C81EF-B671-472E-95CD-F035433474D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466831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2786B6BA-9B12-4940-8966-76C4F6EBF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6F1C5F-B51C-42DE-8DFD-A22D48B3C2E3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D387F8A8-A204-473E-A3A1-A48409844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C1FB6FFD-0C68-4739-A120-C4F5E18C4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B82FFC-765E-4CC3-A41B-03CD24C0E76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15613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E404E4CB-D4E9-437F-83D4-2B6D46C4A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1A0C0D-D26E-453E-9E98-EC2A4602C9C5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ACDB3EDE-B539-428C-8A1F-D7CC5F769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77D12254-666F-4100-8C35-069A6361D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119786-59D9-41FD-8DFF-B0603C2FCD55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75903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6F828025-46C5-4A5B-A262-3384778DAF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8B456E-2219-4859-BF4E-180E950F9F4B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458B6C9C-3B5C-4132-885B-2C70B96506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14B91565-936E-40B6-A3A5-4ABC053F0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5F48AC-FE97-48E9-B010-E7894B912C9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06198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0D0FC869-ED8B-467A-B5F8-83DB0570F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8800EB-FCD3-45CE-B2A6-1ED6A384A0F6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F6118897-20D5-4DC2-A8A3-EBA290987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F098B304-6DD3-4446-90DD-3B00E8BC3D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B73FC0-C177-46F6-B392-0F45F45CA1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671397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C4193BC-28D9-4541-9F7F-D957CCFD25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E45520-4FF3-413C-B063-2F1E74415EA8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AF606A3-A7B9-489F-B635-F7DC44E32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9EED18-0A8F-48B1-898A-5AA32AAB7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DFECEE-AC15-4557-9C92-08967C41ECB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9478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C377E4-2623-4F11-9DC6-E14717AE8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23AD45-BBDE-40B1-8E0F-060380325184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6C57FF-D60A-4812-9D2F-8F0ACBD36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A96E6F7-1A22-4BCF-A9C3-5600F865C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1E94A6-313E-4761-8B17-61780F6F379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065323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EC0D9A9-973E-430E-BAA5-EF86252D5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992F1C-15F8-41A5-B036-F4B3AA164496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06FEAB6-96E3-4FBA-A989-6BC44C2EAB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C9E6FFC-179D-4AD3-9062-ADBDCED42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E2FAEA3-D56D-4D7E-9D15-87E11BE987C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21601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D4121E-F150-4022-85D4-8E88B7FEA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3940D5-8436-4D2B-B685-F52247498FAD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3D59FE9-D82D-459B-9C2B-1DB61D347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1E1F9B-E941-4B7A-B40C-28FF039F12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FA11B9-3665-4059-ABB0-40B416E666F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471274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F96786F-497D-4AF4-814E-99B6275B3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F5FC97-A496-4CD9-A219-7C07622E798C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7647F13-CA04-4D76-B799-3341C6B88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4998C77-6DC2-4746-906A-70243E278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74EA63-ACCE-46D3-9197-8DC32948962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392180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D2971C79-69C0-4C35-84E9-91934CCFB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6194D0-4C0A-4D20-885D-7CD47EAEAFC8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CCDEE3C8-F961-4F22-862F-0F29DBFA05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C5F10933-7632-41D9-ADC0-D56E71CB8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3BA854-2B5F-4C48-9CBE-C7774BCC4FB4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801872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日期占位符 3">
            <a:extLst>
              <a:ext uri="{FF2B5EF4-FFF2-40B4-BE49-F238E27FC236}">
                <a16:creationId xmlns:a16="http://schemas.microsoft.com/office/drawing/2014/main" id="{4D9850DB-25B4-4D5D-B7B3-7BBD83D81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0DE7C5-0361-4BF7-BD61-3B2208DF5AFE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8" name="页脚占位符 4">
            <a:extLst>
              <a:ext uri="{FF2B5EF4-FFF2-40B4-BE49-F238E27FC236}">
                <a16:creationId xmlns:a16="http://schemas.microsoft.com/office/drawing/2014/main" id="{4D967053-DAA1-4877-8412-6BACDB233F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9" name="灯片编号占位符 5">
            <a:extLst>
              <a:ext uri="{FF2B5EF4-FFF2-40B4-BE49-F238E27FC236}">
                <a16:creationId xmlns:a16="http://schemas.microsoft.com/office/drawing/2014/main" id="{3DF075BB-613A-46BA-BC10-C154DFDE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7073FE-857F-4FC8-A12F-FD5CFE4A5990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70766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日期占位符 3">
            <a:extLst>
              <a:ext uri="{FF2B5EF4-FFF2-40B4-BE49-F238E27FC236}">
                <a16:creationId xmlns:a16="http://schemas.microsoft.com/office/drawing/2014/main" id="{13B88DD2-C7DF-4764-B4CC-7D99EC5B1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47BA02-2AF1-42CC-A94A-446778E05E35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4" name="页脚占位符 4">
            <a:extLst>
              <a:ext uri="{FF2B5EF4-FFF2-40B4-BE49-F238E27FC236}">
                <a16:creationId xmlns:a16="http://schemas.microsoft.com/office/drawing/2014/main" id="{F6A6AD23-C8C2-4B45-B1A4-FA10B97FF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5" name="灯片编号占位符 5">
            <a:extLst>
              <a:ext uri="{FF2B5EF4-FFF2-40B4-BE49-F238E27FC236}">
                <a16:creationId xmlns:a16="http://schemas.microsoft.com/office/drawing/2014/main" id="{BEB37374-4E0B-4E9F-B85D-C6C1FAD30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5F2C6B-9658-4187-8A3E-5342A4F4894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151207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>
            <a:extLst>
              <a:ext uri="{FF2B5EF4-FFF2-40B4-BE49-F238E27FC236}">
                <a16:creationId xmlns:a16="http://schemas.microsoft.com/office/drawing/2014/main" id="{C58AAF76-CAB2-41E5-B4FB-A0B301DAB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352A23-F3CA-4224-81D6-69A8EF299855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3" name="页脚占位符 4">
            <a:extLst>
              <a:ext uri="{FF2B5EF4-FFF2-40B4-BE49-F238E27FC236}">
                <a16:creationId xmlns:a16="http://schemas.microsoft.com/office/drawing/2014/main" id="{D56240F1-AC93-4F67-A0AB-0E6DB049F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4" name="灯片编号占位符 5">
            <a:extLst>
              <a:ext uri="{FF2B5EF4-FFF2-40B4-BE49-F238E27FC236}">
                <a16:creationId xmlns:a16="http://schemas.microsoft.com/office/drawing/2014/main" id="{1EF15D37-DF60-48FC-B5D0-C367E71D2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F397D3-7102-4D20-A223-B10D4E2375A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909530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944C9689-F3C5-414C-AF1A-E53A7E6F2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92D767-5563-43A0-97D6-BFF25536D3CE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53A3A85F-62CD-4F67-9A22-13DCB3587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6DACB2AB-A800-40A1-A700-39ED23140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57EE5F-2503-441F-8481-EF91988DB0F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853700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>
              <a:sym typeface="Calibri" panose="020F0502020204030204" pitchFamily="34" charset="0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日期占位符 3">
            <a:extLst>
              <a:ext uri="{FF2B5EF4-FFF2-40B4-BE49-F238E27FC236}">
                <a16:creationId xmlns:a16="http://schemas.microsoft.com/office/drawing/2014/main" id="{CF4C749D-E056-487D-AF12-2CA9E5387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A11B28-2ACD-4645-B1E5-BCACE77736D5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60340268-7D3C-4EAC-AA5F-3BC59CC850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7" name="灯片编号占位符 5">
            <a:extLst>
              <a:ext uri="{FF2B5EF4-FFF2-40B4-BE49-F238E27FC236}">
                <a16:creationId xmlns:a16="http://schemas.microsoft.com/office/drawing/2014/main" id="{863C79E5-C3E6-461D-BCB7-4D2A53E3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971026-DA95-4224-BD51-7CF8587FACA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678150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ED86C7-70D2-42BA-A808-7CAC36560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F0EE6A2-F3F4-4340-AAB1-BE0CA8EED111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B4D2409-98A5-4785-A38A-0F6D6399B4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63242D-23F5-41E0-B855-759533C60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DFCD85-1A10-48BA-A094-51B1980C039B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30697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2A3168B-14BA-4173-B84E-A5C655E5F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C78799-0675-4F2A-9F27-2C507C560E6D}" type="datetime1">
              <a:rPr lang="zh-CN" altLang="en-US"/>
              <a:pPr>
                <a:defRPr/>
              </a:pPr>
              <a:t>2025/9/14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B6A6ECD-7841-4C10-BB35-03AF4A921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366FDED-C732-4C01-9127-FB4C1E9AF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F6B383-80AA-451A-BB65-5B5F201839B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294903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标题 6145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lvl="0">
              <a:defRPr kern="1200"/>
            </a:lvl1pPr>
          </a:lstStyle>
          <a:p>
            <a:pPr lvl="0"/>
            <a:r>
              <a:rPr lang="zh-CN" altLang="en-US" noProof="1"/>
              <a:t>单击此处编辑母版标题样式</a:t>
            </a:r>
          </a:p>
        </p:txBody>
      </p:sp>
      <p:sp>
        <p:nvSpPr>
          <p:cNvPr id="6147" name="副标题 6146"/>
          <p:cNvSpPr>
            <a:spLocks noGrp="1"/>
          </p:cNvSpPr>
          <p:nvPr>
            <p:ph type="subTitle" idx="1"/>
          </p:nvPr>
        </p:nvSpPr>
        <p:spPr>
          <a:xfrm>
            <a:off x="1403350" y="3717925"/>
            <a:ext cx="6400800" cy="695325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>
              <a:buNone/>
              <a:defRPr kern="1200"/>
            </a:lvl1pPr>
            <a:lvl2pPr marL="457200" lvl="1" indent="-457200" algn="ctr">
              <a:buNone/>
              <a:defRPr kern="1200"/>
            </a:lvl2pPr>
            <a:lvl3pPr marL="914400" lvl="2" indent="-914400" algn="ctr">
              <a:buNone/>
              <a:defRPr kern="1200"/>
            </a:lvl3pPr>
            <a:lvl4pPr marL="1371600" lvl="3" indent="-1371600" algn="ctr">
              <a:buNone/>
              <a:defRPr kern="1200"/>
            </a:lvl4pPr>
            <a:lvl5pPr marL="1828800" lvl="4" indent="-1828800" algn="ctr">
              <a:buNone/>
              <a:defRPr kern="1200"/>
            </a:lvl5pPr>
          </a:lstStyle>
          <a:p>
            <a:pPr lvl="0"/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日期占位符 6147">
            <a:extLst>
              <a:ext uri="{FF2B5EF4-FFF2-40B4-BE49-F238E27FC236}">
                <a16:creationId xmlns:a16="http://schemas.microsoft.com/office/drawing/2014/main" id="{2D262220-7494-402F-95FE-916112BC7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anchor="t"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6148">
            <a:extLst>
              <a:ext uri="{FF2B5EF4-FFF2-40B4-BE49-F238E27FC236}">
                <a16:creationId xmlns:a16="http://schemas.microsoft.com/office/drawing/2014/main" id="{2C5F22A0-7D4B-43C0-B7C8-DBDDC6DB3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6149">
            <a:extLst>
              <a:ext uri="{FF2B5EF4-FFF2-40B4-BE49-F238E27FC236}">
                <a16:creationId xmlns:a16="http://schemas.microsoft.com/office/drawing/2014/main" id="{0D17D749-FE99-416A-BB89-6C689D06A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79C117FB-A4E2-442F-9D09-24DF5C910AD3}" type="slidenum">
              <a:rPr altLang="zh-CN"/>
              <a:pPr>
                <a:defRPr/>
              </a:pPr>
              <a:t>‹#›</a:t>
            </a:fld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599710114"/>
      </p:ext>
    </p:extLst>
  </p:cSld>
  <p:clrMapOvr>
    <a:masterClrMapping/>
  </p:clrMapOvr>
  <p:transition>
    <p:fade/>
  </p:transition>
  <p:hf sldNum="0" hdr="0" ft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FB12F23-161F-42AF-ACA4-D8BB9C86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8D4A2230-2A1C-4D40-9E93-4D5025770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E389291-44BA-489C-8282-76CDA7235E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ECEB8144-D506-4D2C-BC03-C34AFEE4AAAC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2470852"/>
      </p:ext>
    </p:extLst>
  </p:cSld>
  <p:clrMapOvr>
    <a:masterClrMapping/>
  </p:clrMapOvr>
  <p:transition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9609725-C761-4069-93BB-B39D82567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A4146C-6D0F-4FFC-9342-296AE284EE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38C7388-AAC9-438F-AFC8-5AAAEC0EE1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ED78C686-39FB-4C12-B313-218EA7FB0431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2928973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66725" y="1773238"/>
            <a:ext cx="4032504" cy="4319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63821" y="1773238"/>
            <a:ext cx="4032504" cy="4319587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CBB25B-9518-4623-9E0E-F21B1C7342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D04F443-F374-46A5-BCE6-1419C5219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A04470-A4C5-4D6D-BC5A-B2F1F11E0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52825288-5693-401B-A131-9C3E8D249558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5170836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37FF5E72-CCD2-49FB-8073-151656519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80683883-FC39-4276-AD1D-093467ED8F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F69E532E-1ACC-4C12-A649-EC67A587D8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3B7D703C-18E9-4E64-A22B-7E2D16C9E5D8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1911982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1CA385E0-558F-4685-8606-2283DF118C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8DF3E6AB-554D-4E77-B219-F6C2FD91E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7DD8FF8-9AF3-4BC5-8C6F-E270540CE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A71280FB-22C7-47C3-9C1B-339A29ABB51F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162745"/>
      </p:ext>
    </p:extLst>
  </p:cSld>
  <p:clrMapOvr>
    <a:masterClrMapping/>
  </p:clrMapOvr>
  <p:transition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9C0DFB29-9C77-480A-9490-7AF1F7F43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AB8532AF-1DA8-4A7B-B152-8C0305A7E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5CE8C5D6-EB50-408C-ABBB-708D7903D9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F2104F21-1F3A-44C5-9C1C-AAA6DBD24B8E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03164823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6B60D05-4878-4806-B157-63A3ABE53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F9ADF0-A72A-4784-8690-D065446753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C7CE937-A98E-4D44-B1B8-9530C23CF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0812B135-9074-4891-9540-22601B9774CD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6453053"/>
      </p:ext>
    </p:extLst>
  </p:cSld>
  <p:clrMapOvr>
    <a:masterClrMapping/>
  </p:clrMapOvr>
  <p:transition>
    <p:fade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797FF7D-86CA-44CE-B848-ADDED8EDFD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7CF06F-22CF-485E-A4A2-AFD66C215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1C00EF-102D-44B0-AE61-D92E15159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795D0865-F515-4286-A7C7-D3421586EF42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0916696"/>
      </p:ext>
    </p:extLst>
  </p:cSld>
  <p:clrMapOvr>
    <a:masterClrMapping/>
  </p:clrMapOvr>
  <p:transition>
    <p:fade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A51ED39-4F29-4D72-9214-11F297DDB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41B635C-DD1C-4D52-A8CA-29F03880D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8482BB-6D41-48AD-9A4B-D5F8AA178B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EC6AED5A-4B30-4F4C-9BA0-056CC83AF7F8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9542914"/>
      </p:ext>
    </p:extLst>
  </p:cSld>
  <p:clrMapOvr>
    <a:masterClrMapping/>
  </p:clrMapOvr>
  <p:transition>
    <p:fade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0116" y="765175"/>
            <a:ext cx="2057797" cy="53276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6725" y="765175"/>
            <a:ext cx="6054098" cy="53276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DBA0B7C-EF64-457E-ADA5-E657DBCD2D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8161839-B4C7-41D9-BD56-940D59186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83318833-E6C9-4BDC-8CB0-7A2778E47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vert="horz" wrap="square" lIns="91440" tIns="45720" rIns="91440" bIns="45720" numCol="1" anchor="t" anchorCtr="0" compatLnSpc="1"/>
          <a:lstStyle>
            <a:lvl1pPr>
              <a:defRPr>
                <a:latin typeface="Times New Roman" panose="02020603050405020304" pitchFamily="18" charset="0"/>
                <a:ea typeface="黑体" panose="02010609060101010101" pitchFamily="49" charset="-122"/>
              </a:defRPr>
            </a:lvl1pPr>
          </a:lstStyle>
          <a:p>
            <a:pPr>
              <a:defRPr/>
            </a:pPr>
            <a:fld id="{E6B868FE-4EF1-4D20-A3DB-E059433C0C03}" type="slidenum">
              <a:rPr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2353690"/>
      </p:ext>
    </p:extLst>
  </p:cSld>
  <p:clrMapOvr>
    <a:masterClrMapping/>
  </p:clrMapOvr>
  <p:transition>
    <p:fade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D6868BD-62CC-4A5D-92C5-79F05CC2C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B851180-FAF4-406B-96BD-312343377F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DFFFA40-9E08-4E6B-89C5-0627998B2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ECD411-1DAA-4377-8995-BA1EA62DEA9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88258"/>
      </p:ext>
    </p:extLst>
  </p:cSld>
  <p:clrMapOvr>
    <a:masterClrMapping/>
  </p:clrMapOvr>
  <p:transition>
    <p:fade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67DF246-7E9C-4799-B676-3910FBEB5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F9865E9-0B8C-496C-BBAF-DC0FBC55E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AF0F55-93FC-4D4F-9C91-89B2513E0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9CF0FA-FF6F-4BA6-96B2-22669565664F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64489957"/>
      </p:ext>
    </p:extLst>
  </p:cSld>
  <p:clrMapOvr>
    <a:masterClrMapping/>
  </p:clrMapOvr>
  <p:transition>
    <p:fade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0F6893E-3C1E-4A54-9465-DF98F659E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1F043C3-0D37-47E0-8A37-41C68D605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629F0E2-34DD-421D-8BD4-4580BACC4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8C6EE0-8591-4296-8748-05093547065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7065886"/>
      </p:ext>
    </p:extLst>
  </p:cSld>
  <p:clrMapOvr>
    <a:masterClrMapping/>
  </p:clrMapOvr>
  <p:transition>
    <p:fade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2CA03E-5725-452B-BA35-0C09BED0A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CF61B9-E561-4D0E-9FF6-90EE47400E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58560F6-563C-424C-8310-A36B64D04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364BAB-D8E2-42B8-8405-1AC8B1D66B9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3808257"/>
      </p:ext>
    </p:extLst>
  </p:cSld>
  <p:clrMapOvr>
    <a:masterClrMapping/>
  </p:clrMapOvr>
  <p:transition>
    <p:fade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F0807B9-0684-44D7-B226-C5ED95AF93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981F8B46-10BE-4E22-A620-E08061CEE6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94BFECD0-84C3-4C09-BA93-5D726EDCDB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8B95DC-5270-4E8C-AD0E-95C626C642B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38952841"/>
      </p:ext>
    </p:extLst>
  </p:cSld>
  <p:clrMapOvr>
    <a:masterClrMapping/>
  </p:clrMapOvr>
  <p:transition>
    <p:fade/>
  </p:transition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96486F9-082E-4991-8D52-5A8DFC8A00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E133508A-F208-4C87-8C6E-1ACE8688A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E876A0A-25E0-4549-9348-E0047B5506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B23181-D4BF-4C62-AEBC-659EFF04BFA8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6636857"/>
      </p:ext>
    </p:extLst>
  </p:cSld>
  <p:clrMapOvr>
    <a:masterClrMapping/>
  </p:clrMapOvr>
  <p:transition>
    <p:fade/>
  </p:transition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EB8C1A6-0172-4C77-874D-41D4661718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6F369028-428F-4C54-B7C0-34CC446488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30DF4B6-22CA-448E-BE6A-51DFE40F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8D2959-04B9-4CA7-8E78-4C17A0220A47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8544996"/>
      </p:ext>
    </p:extLst>
  </p:cSld>
  <p:clrMapOvr>
    <a:masterClrMapping/>
  </p:clrMapOvr>
  <p:transition>
    <p:fade/>
  </p:transition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FCF8660-EE98-4880-B20A-0A59005445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47F81D1-B148-4DF3-9AF1-D36EB45233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8D8218-DADA-42D9-B992-C15CFF6554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347EE-B4E6-401B-8995-85D9CDA6581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7491540"/>
      </p:ext>
    </p:extLst>
  </p:cSld>
  <p:clrMapOvr>
    <a:masterClrMapping/>
  </p:clrMapOvr>
  <p:transition>
    <p:fade/>
  </p:transition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02DED96-476B-4A3F-92A1-0A3E7FEB8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957EF6E-B2EF-415E-861F-5F1EC0F6D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5A90166-EA6D-47E7-BD15-48B3751EB5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1314768-5CFB-455D-A7FF-34F0732E6E8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3826935"/>
      </p:ext>
    </p:extLst>
  </p:cSld>
  <p:clrMapOvr>
    <a:masterClrMapping/>
  </p:clrMapOvr>
  <p:transition>
    <p:fade/>
  </p:transition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F124613-2088-4A20-800B-526E1B9370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A613532-7FB4-4210-92F0-111A7DB1F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75C721-BB57-4DD7-B6F8-5EAFD2FE3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6F436A-BF51-4F86-94FB-9C5363CA1C7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9307490"/>
      </p:ext>
    </p:extLst>
  </p:cSld>
  <p:clrMapOvr>
    <a:masterClrMapping/>
  </p:clrMapOvr>
  <p:transition>
    <p:fade/>
  </p:transition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2AE64E3-CAF1-4DD5-AC9D-68126A8EA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7BA22C2D-DEE9-449D-B1EE-12CDF043C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F2488B41-E2D8-4E08-9812-BAFCB7654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271F31-0EC7-40A5-8D4A-5E647AB50F4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93644435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Relationship Id="rId14" Type="http://schemas.openxmlformats.org/officeDocument/2006/relationships/image" Target="../media/image2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3.jpe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3.xml"/><Relationship Id="rId3" Type="http://schemas.openxmlformats.org/officeDocument/2006/relationships/slideLayout" Target="../slideLayouts/slideLayout58.xml"/><Relationship Id="rId7" Type="http://schemas.openxmlformats.org/officeDocument/2006/relationships/slideLayout" Target="../slideLayouts/slideLayout62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57.xml"/><Relationship Id="rId1" Type="http://schemas.openxmlformats.org/officeDocument/2006/relationships/slideLayout" Target="../slideLayouts/slideLayout56.xml"/><Relationship Id="rId6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6.xml"/><Relationship Id="rId5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5.xml"/><Relationship Id="rId4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组合 1025">
            <a:extLst>
              <a:ext uri="{FF2B5EF4-FFF2-40B4-BE49-F238E27FC236}">
                <a16:creationId xmlns:a16="http://schemas.microsoft.com/office/drawing/2014/main" id="{07BEB7BA-7160-4A95-85A6-B3F0D5BA5B3D}"/>
              </a:ext>
            </a:extLst>
          </p:cNvPr>
          <p:cNvGrpSpPr>
            <a:grpSpLocks/>
          </p:cNvGrpSpPr>
          <p:nvPr/>
        </p:nvGrpSpPr>
        <p:grpSpPr bwMode="auto">
          <a:xfrm>
            <a:off x="0" y="7938"/>
            <a:ext cx="9140825" cy="6850062"/>
            <a:chOff x="0" y="0"/>
            <a:chExt cx="5758" cy="4315"/>
          </a:xfrm>
        </p:grpSpPr>
        <p:grpSp>
          <p:nvGrpSpPr>
            <p:cNvPr id="1031" name="组合 1026">
              <a:extLst>
                <a:ext uri="{FF2B5EF4-FFF2-40B4-BE49-F238E27FC236}">
                  <a16:creationId xmlns:a16="http://schemas.microsoft.com/office/drawing/2014/main" id="{7653A37E-CA2E-4297-A05B-E99E8FEF8D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230"/>
              <a:ext cx="4027" cy="2085"/>
              <a:chOff x="0" y="0"/>
              <a:chExt cx="4027" cy="2085"/>
            </a:xfrm>
          </p:grpSpPr>
          <p:sp>
            <p:nvSpPr>
              <p:cNvPr id="1034" name="Freeform 4">
                <a:extLst>
                  <a:ext uri="{FF2B5EF4-FFF2-40B4-BE49-F238E27FC236}">
                    <a16:creationId xmlns:a16="http://schemas.microsoft.com/office/drawing/2014/main" id="{414A71E6-7B76-430B-82F5-681CAFD28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0" y="414"/>
                <a:ext cx="2882" cy="1671"/>
              </a:xfrm>
              <a:custGeom>
                <a:avLst/>
                <a:gdLst>
                  <a:gd name="T0" fmla="*/ 2740 w 2882"/>
                  <a:gd name="T1" fmla="*/ 528 h 1671"/>
                  <a:gd name="T2" fmla="*/ 2632 w 2882"/>
                  <a:gd name="T3" fmla="*/ 484 h 1671"/>
                  <a:gd name="T4" fmla="*/ 2480 w 2882"/>
                  <a:gd name="T5" fmla="*/ 424 h 1671"/>
                  <a:gd name="T6" fmla="*/ 2203 w 2882"/>
                  <a:gd name="T7" fmla="*/ 343 h 1671"/>
                  <a:gd name="T8" fmla="*/ 1970 w 2882"/>
                  <a:gd name="T9" fmla="*/ 277 h 1671"/>
                  <a:gd name="T10" fmla="*/ 1807 w 2882"/>
                  <a:gd name="T11" fmla="*/ 212 h 1671"/>
                  <a:gd name="T12" fmla="*/ 1693 w 2882"/>
                  <a:gd name="T13" fmla="*/ 152 h 1671"/>
                  <a:gd name="T14" fmla="*/ 1628 w 2882"/>
                  <a:gd name="T15" fmla="*/ 103 h 1671"/>
                  <a:gd name="T16" fmla="*/ 1590 w 2882"/>
                  <a:gd name="T17" fmla="*/ 60 h 1671"/>
                  <a:gd name="T18" fmla="*/ 1579 w 2882"/>
                  <a:gd name="T19" fmla="*/ 27 h 1671"/>
                  <a:gd name="T20" fmla="*/ 1585 w 2882"/>
                  <a:gd name="T21" fmla="*/ 0 h 1671"/>
                  <a:gd name="T22" fmla="*/ 1557 w 2882"/>
                  <a:gd name="T23" fmla="*/ 49 h 1671"/>
                  <a:gd name="T24" fmla="*/ 1568 w 2882"/>
                  <a:gd name="T25" fmla="*/ 98 h 1671"/>
                  <a:gd name="T26" fmla="*/ 1617 w 2882"/>
                  <a:gd name="T27" fmla="*/ 141 h 1671"/>
                  <a:gd name="T28" fmla="*/ 1688 w 2882"/>
                  <a:gd name="T29" fmla="*/ 185 h 1671"/>
                  <a:gd name="T30" fmla="*/ 1791 w 2882"/>
                  <a:gd name="T31" fmla="*/ 228 h 1671"/>
                  <a:gd name="T32" fmla="*/ 2040 w 2882"/>
                  <a:gd name="T33" fmla="*/ 310 h 1671"/>
                  <a:gd name="T34" fmla="*/ 2285 w 2882"/>
                  <a:gd name="T35" fmla="*/ 381 h 1671"/>
                  <a:gd name="T36" fmla="*/ 2464 w 2882"/>
                  <a:gd name="T37" fmla="*/ 435 h 1671"/>
                  <a:gd name="T38" fmla="*/ 2605 w 2882"/>
                  <a:gd name="T39" fmla="*/ 484 h 1671"/>
                  <a:gd name="T40" fmla="*/ 2708 w 2882"/>
                  <a:gd name="T41" fmla="*/ 528 h 1671"/>
                  <a:gd name="T42" fmla="*/ 2768 w 2882"/>
                  <a:gd name="T43" fmla="*/ 560 h 1671"/>
                  <a:gd name="T44" fmla="*/ 2795 w 2882"/>
                  <a:gd name="T45" fmla="*/ 593 h 1671"/>
                  <a:gd name="T46" fmla="*/ 2795 w 2882"/>
                  <a:gd name="T47" fmla="*/ 642 h 1671"/>
                  <a:gd name="T48" fmla="*/ 2762 w 2882"/>
                  <a:gd name="T49" fmla="*/ 691 h 1671"/>
                  <a:gd name="T50" fmla="*/ 2692 w 2882"/>
                  <a:gd name="T51" fmla="*/ 735 h 1671"/>
                  <a:gd name="T52" fmla="*/ 2589 w 2882"/>
                  <a:gd name="T53" fmla="*/ 778 h 1671"/>
                  <a:gd name="T54" fmla="*/ 2458 w 2882"/>
                  <a:gd name="T55" fmla="*/ 822 h 1671"/>
                  <a:gd name="T56" fmla="*/ 2301 w 2882"/>
                  <a:gd name="T57" fmla="*/ 865 h 1671"/>
                  <a:gd name="T58" fmla="*/ 2030 w 2882"/>
                  <a:gd name="T59" fmla="*/ 930 h 1671"/>
                  <a:gd name="T60" fmla="*/ 1606 w 2882"/>
                  <a:gd name="T61" fmla="*/ 1034 h 1671"/>
                  <a:gd name="T62" fmla="*/ 1145 w 2882"/>
                  <a:gd name="T63" fmla="*/ 1164 h 1671"/>
                  <a:gd name="T64" fmla="*/ 673 w 2882"/>
                  <a:gd name="T65" fmla="*/ 1328 h 1671"/>
                  <a:gd name="T66" fmla="*/ 217 w 2882"/>
                  <a:gd name="T67" fmla="*/ 1545 h 1671"/>
                  <a:gd name="T68" fmla="*/ 353 w 2882"/>
                  <a:gd name="T69" fmla="*/ 1671 h 1671"/>
                  <a:gd name="T70" fmla="*/ 754 w 2882"/>
                  <a:gd name="T71" fmla="*/ 1469 h 1671"/>
                  <a:gd name="T72" fmla="*/ 1145 w 2882"/>
                  <a:gd name="T73" fmla="*/ 1311 h 1671"/>
                  <a:gd name="T74" fmla="*/ 1519 w 2882"/>
                  <a:gd name="T75" fmla="*/ 1186 h 1671"/>
                  <a:gd name="T76" fmla="*/ 1861 w 2882"/>
                  <a:gd name="T77" fmla="*/ 1083 h 1671"/>
                  <a:gd name="T78" fmla="*/ 2165 w 2882"/>
                  <a:gd name="T79" fmla="*/ 1007 h 1671"/>
                  <a:gd name="T80" fmla="*/ 2426 w 2882"/>
                  <a:gd name="T81" fmla="*/ 947 h 1671"/>
                  <a:gd name="T82" fmla="*/ 2626 w 2882"/>
                  <a:gd name="T83" fmla="*/ 892 h 1671"/>
                  <a:gd name="T84" fmla="*/ 2762 w 2882"/>
                  <a:gd name="T85" fmla="*/ 838 h 1671"/>
                  <a:gd name="T86" fmla="*/ 2827 w 2882"/>
                  <a:gd name="T87" fmla="*/ 794 h 1671"/>
                  <a:gd name="T88" fmla="*/ 2865 w 2882"/>
                  <a:gd name="T89" fmla="*/ 745 h 1671"/>
                  <a:gd name="T90" fmla="*/ 2882 w 2882"/>
                  <a:gd name="T91" fmla="*/ 702 h 1671"/>
                  <a:gd name="T92" fmla="*/ 2854 w 2882"/>
                  <a:gd name="T93" fmla="*/ 620 h 1671"/>
                  <a:gd name="T94" fmla="*/ 2800 w 2882"/>
                  <a:gd name="T95" fmla="*/ 560 h 1671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2882" h="1671">
                    <a:moveTo>
                      <a:pt x="2773" y="544"/>
                    </a:moveTo>
                    <a:lnTo>
                      <a:pt x="2740" y="528"/>
                    </a:lnTo>
                    <a:lnTo>
                      <a:pt x="2692" y="506"/>
                    </a:lnTo>
                    <a:lnTo>
                      <a:pt x="2632" y="484"/>
                    </a:lnTo>
                    <a:lnTo>
                      <a:pt x="2561" y="457"/>
                    </a:lnTo>
                    <a:lnTo>
                      <a:pt x="2480" y="424"/>
                    </a:lnTo>
                    <a:lnTo>
                      <a:pt x="2388" y="397"/>
                    </a:lnTo>
                    <a:lnTo>
                      <a:pt x="2203" y="343"/>
                    </a:lnTo>
                    <a:lnTo>
                      <a:pt x="2078" y="310"/>
                    </a:lnTo>
                    <a:lnTo>
                      <a:pt x="1970" y="277"/>
                    </a:lnTo>
                    <a:lnTo>
                      <a:pt x="1878" y="245"/>
                    </a:lnTo>
                    <a:lnTo>
                      <a:pt x="1807" y="212"/>
                    </a:lnTo>
                    <a:lnTo>
                      <a:pt x="1742" y="179"/>
                    </a:lnTo>
                    <a:lnTo>
                      <a:pt x="1693" y="152"/>
                    </a:lnTo>
                    <a:lnTo>
                      <a:pt x="1655" y="125"/>
                    </a:lnTo>
                    <a:lnTo>
                      <a:pt x="1628" y="103"/>
                    </a:lnTo>
                    <a:lnTo>
                      <a:pt x="1606" y="81"/>
                    </a:lnTo>
                    <a:lnTo>
                      <a:pt x="1590" y="60"/>
                    </a:lnTo>
                    <a:lnTo>
                      <a:pt x="1585" y="43"/>
                    </a:lnTo>
                    <a:lnTo>
                      <a:pt x="1579" y="27"/>
                    </a:lnTo>
                    <a:lnTo>
                      <a:pt x="1585" y="5"/>
                    </a:lnTo>
                    <a:lnTo>
                      <a:pt x="1585" y="0"/>
                    </a:lnTo>
                    <a:lnTo>
                      <a:pt x="1568" y="27"/>
                    </a:lnTo>
                    <a:lnTo>
                      <a:pt x="1557" y="49"/>
                    </a:lnTo>
                    <a:lnTo>
                      <a:pt x="1557" y="76"/>
                    </a:lnTo>
                    <a:lnTo>
                      <a:pt x="1568" y="98"/>
                    </a:lnTo>
                    <a:lnTo>
                      <a:pt x="1590" y="120"/>
                    </a:lnTo>
                    <a:lnTo>
                      <a:pt x="1617" y="141"/>
                    </a:lnTo>
                    <a:lnTo>
                      <a:pt x="1650" y="163"/>
                    </a:lnTo>
                    <a:lnTo>
                      <a:pt x="1688" y="185"/>
                    </a:lnTo>
                    <a:lnTo>
                      <a:pt x="1737" y="207"/>
                    </a:lnTo>
                    <a:lnTo>
                      <a:pt x="1791" y="228"/>
                    </a:lnTo>
                    <a:lnTo>
                      <a:pt x="1905" y="267"/>
                    </a:lnTo>
                    <a:lnTo>
                      <a:pt x="2040" y="310"/>
                    </a:lnTo>
                    <a:lnTo>
                      <a:pt x="2182" y="348"/>
                    </a:lnTo>
                    <a:lnTo>
                      <a:pt x="2285" y="381"/>
                    </a:lnTo>
                    <a:lnTo>
                      <a:pt x="2382" y="408"/>
                    </a:lnTo>
                    <a:lnTo>
                      <a:pt x="2464" y="435"/>
                    </a:lnTo>
                    <a:lnTo>
                      <a:pt x="2540" y="462"/>
                    </a:lnTo>
                    <a:lnTo>
                      <a:pt x="2605" y="484"/>
                    </a:lnTo>
                    <a:lnTo>
                      <a:pt x="2659" y="506"/>
                    </a:lnTo>
                    <a:lnTo>
                      <a:pt x="2708" y="528"/>
                    </a:lnTo>
                    <a:lnTo>
                      <a:pt x="2740" y="544"/>
                    </a:lnTo>
                    <a:lnTo>
                      <a:pt x="2768" y="560"/>
                    </a:lnTo>
                    <a:lnTo>
                      <a:pt x="2784" y="577"/>
                    </a:lnTo>
                    <a:lnTo>
                      <a:pt x="2795" y="593"/>
                    </a:lnTo>
                    <a:lnTo>
                      <a:pt x="2800" y="615"/>
                    </a:lnTo>
                    <a:lnTo>
                      <a:pt x="2795" y="642"/>
                    </a:lnTo>
                    <a:lnTo>
                      <a:pt x="2784" y="664"/>
                    </a:lnTo>
                    <a:lnTo>
                      <a:pt x="2762" y="691"/>
                    </a:lnTo>
                    <a:lnTo>
                      <a:pt x="2730" y="713"/>
                    </a:lnTo>
                    <a:lnTo>
                      <a:pt x="2692" y="735"/>
                    </a:lnTo>
                    <a:lnTo>
                      <a:pt x="2643" y="756"/>
                    </a:lnTo>
                    <a:lnTo>
                      <a:pt x="2589" y="778"/>
                    </a:lnTo>
                    <a:lnTo>
                      <a:pt x="2529" y="800"/>
                    </a:lnTo>
                    <a:lnTo>
                      <a:pt x="2458" y="822"/>
                    </a:lnTo>
                    <a:lnTo>
                      <a:pt x="2382" y="843"/>
                    </a:lnTo>
                    <a:lnTo>
                      <a:pt x="2301" y="865"/>
                    </a:lnTo>
                    <a:lnTo>
                      <a:pt x="2214" y="887"/>
                    </a:lnTo>
                    <a:lnTo>
                      <a:pt x="2030" y="930"/>
                    </a:lnTo>
                    <a:lnTo>
                      <a:pt x="1823" y="979"/>
                    </a:lnTo>
                    <a:lnTo>
                      <a:pt x="1606" y="1034"/>
                    </a:lnTo>
                    <a:lnTo>
                      <a:pt x="1378" y="1094"/>
                    </a:lnTo>
                    <a:lnTo>
                      <a:pt x="1145" y="1164"/>
                    </a:lnTo>
                    <a:lnTo>
                      <a:pt x="912" y="1241"/>
                    </a:lnTo>
                    <a:lnTo>
                      <a:pt x="673" y="1328"/>
                    </a:lnTo>
                    <a:lnTo>
                      <a:pt x="440" y="1431"/>
                    </a:lnTo>
                    <a:lnTo>
                      <a:pt x="217" y="1545"/>
                    </a:lnTo>
                    <a:lnTo>
                      <a:pt x="0" y="1671"/>
                    </a:lnTo>
                    <a:lnTo>
                      <a:pt x="353" y="1671"/>
                    </a:lnTo>
                    <a:lnTo>
                      <a:pt x="554" y="1567"/>
                    </a:lnTo>
                    <a:lnTo>
                      <a:pt x="754" y="1469"/>
                    </a:lnTo>
                    <a:lnTo>
                      <a:pt x="955" y="1388"/>
                    </a:lnTo>
                    <a:lnTo>
                      <a:pt x="1145" y="1311"/>
                    </a:lnTo>
                    <a:lnTo>
                      <a:pt x="1335" y="1241"/>
                    </a:lnTo>
                    <a:lnTo>
                      <a:pt x="1519" y="1186"/>
                    </a:lnTo>
                    <a:lnTo>
                      <a:pt x="1693" y="1132"/>
                    </a:lnTo>
                    <a:lnTo>
                      <a:pt x="1861" y="1083"/>
                    </a:lnTo>
                    <a:lnTo>
                      <a:pt x="2019" y="1045"/>
                    </a:lnTo>
                    <a:lnTo>
                      <a:pt x="2165" y="1007"/>
                    </a:lnTo>
                    <a:lnTo>
                      <a:pt x="2301" y="974"/>
                    </a:lnTo>
                    <a:lnTo>
                      <a:pt x="2426" y="947"/>
                    </a:lnTo>
                    <a:lnTo>
                      <a:pt x="2534" y="914"/>
                    </a:lnTo>
                    <a:lnTo>
                      <a:pt x="2626" y="892"/>
                    </a:lnTo>
                    <a:lnTo>
                      <a:pt x="2702" y="865"/>
                    </a:lnTo>
                    <a:lnTo>
                      <a:pt x="2762" y="838"/>
                    </a:lnTo>
                    <a:lnTo>
                      <a:pt x="2800" y="816"/>
                    </a:lnTo>
                    <a:lnTo>
                      <a:pt x="2827" y="794"/>
                    </a:lnTo>
                    <a:lnTo>
                      <a:pt x="2849" y="767"/>
                    </a:lnTo>
                    <a:lnTo>
                      <a:pt x="2865" y="745"/>
                    </a:lnTo>
                    <a:lnTo>
                      <a:pt x="2876" y="724"/>
                    </a:lnTo>
                    <a:lnTo>
                      <a:pt x="2882" y="702"/>
                    </a:lnTo>
                    <a:lnTo>
                      <a:pt x="2876" y="658"/>
                    </a:lnTo>
                    <a:lnTo>
                      <a:pt x="2854" y="620"/>
                    </a:lnTo>
                    <a:lnTo>
                      <a:pt x="2833" y="588"/>
                    </a:lnTo>
                    <a:lnTo>
                      <a:pt x="2800" y="560"/>
                    </a:lnTo>
                    <a:lnTo>
                      <a:pt x="2773" y="544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4646"/>
                  </a:gs>
                  <a:gs pos="100000">
                    <a:srgbClr val="003F3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5" name="Freeform 5">
                <a:extLst>
                  <a:ext uri="{FF2B5EF4-FFF2-40B4-BE49-F238E27FC236}">
                    <a16:creationId xmlns:a16="http://schemas.microsoft.com/office/drawing/2014/main" id="{1B300EC8-9EA4-492A-BADB-BDC701B6AD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2" y="441"/>
                <a:ext cx="1259" cy="811"/>
              </a:xfrm>
              <a:custGeom>
                <a:avLst/>
                <a:gdLst>
                  <a:gd name="T0" fmla="*/ 1259 w 1259"/>
                  <a:gd name="T1" fmla="*/ 615 h 811"/>
                  <a:gd name="T2" fmla="*/ 1248 w 1259"/>
                  <a:gd name="T3" fmla="*/ 588 h 811"/>
                  <a:gd name="T4" fmla="*/ 1237 w 1259"/>
                  <a:gd name="T5" fmla="*/ 566 h 811"/>
                  <a:gd name="T6" fmla="*/ 1216 w 1259"/>
                  <a:gd name="T7" fmla="*/ 539 h 811"/>
                  <a:gd name="T8" fmla="*/ 1188 w 1259"/>
                  <a:gd name="T9" fmla="*/ 517 h 811"/>
                  <a:gd name="T10" fmla="*/ 1123 w 1259"/>
                  <a:gd name="T11" fmla="*/ 479 h 811"/>
                  <a:gd name="T12" fmla="*/ 1042 w 1259"/>
                  <a:gd name="T13" fmla="*/ 441 h 811"/>
                  <a:gd name="T14" fmla="*/ 944 w 1259"/>
                  <a:gd name="T15" fmla="*/ 408 h 811"/>
                  <a:gd name="T16" fmla="*/ 841 w 1259"/>
                  <a:gd name="T17" fmla="*/ 381 h 811"/>
                  <a:gd name="T18" fmla="*/ 727 w 1259"/>
                  <a:gd name="T19" fmla="*/ 348 h 811"/>
                  <a:gd name="T20" fmla="*/ 613 w 1259"/>
                  <a:gd name="T21" fmla="*/ 321 h 811"/>
                  <a:gd name="T22" fmla="*/ 499 w 1259"/>
                  <a:gd name="T23" fmla="*/ 294 h 811"/>
                  <a:gd name="T24" fmla="*/ 391 w 1259"/>
                  <a:gd name="T25" fmla="*/ 261 h 811"/>
                  <a:gd name="T26" fmla="*/ 288 w 1259"/>
                  <a:gd name="T27" fmla="*/ 229 h 811"/>
                  <a:gd name="T28" fmla="*/ 195 w 1259"/>
                  <a:gd name="T29" fmla="*/ 196 h 811"/>
                  <a:gd name="T30" fmla="*/ 119 w 1259"/>
                  <a:gd name="T31" fmla="*/ 152 h 811"/>
                  <a:gd name="T32" fmla="*/ 54 w 1259"/>
                  <a:gd name="T33" fmla="*/ 109 h 811"/>
                  <a:gd name="T34" fmla="*/ 33 w 1259"/>
                  <a:gd name="T35" fmla="*/ 87 h 811"/>
                  <a:gd name="T36" fmla="*/ 16 w 1259"/>
                  <a:gd name="T37" fmla="*/ 60 h 811"/>
                  <a:gd name="T38" fmla="*/ 5 w 1259"/>
                  <a:gd name="T39" fmla="*/ 33 h 811"/>
                  <a:gd name="T40" fmla="*/ 0 w 1259"/>
                  <a:gd name="T41" fmla="*/ 0 h 811"/>
                  <a:gd name="T42" fmla="*/ 0 w 1259"/>
                  <a:gd name="T43" fmla="*/ 6 h 811"/>
                  <a:gd name="T44" fmla="*/ 0 w 1259"/>
                  <a:gd name="T45" fmla="*/ 11 h 811"/>
                  <a:gd name="T46" fmla="*/ 0 w 1259"/>
                  <a:gd name="T47" fmla="*/ 38 h 811"/>
                  <a:gd name="T48" fmla="*/ 5 w 1259"/>
                  <a:gd name="T49" fmla="*/ 60 h 811"/>
                  <a:gd name="T50" fmla="*/ 16 w 1259"/>
                  <a:gd name="T51" fmla="*/ 87 h 811"/>
                  <a:gd name="T52" fmla="*/ 33 w 1259"/>
                  <a:gd name="T53" fmla="*/ 114 h 811"/>
                  <a:gd name="T54" fmla="*/ 54 w 1259"/>
                  <a:gd name="T55" fmla="*/ 142 h 811"/>
                  <a:gd name="T56" fmla="*/ 87 w 1259"/>
                  <a:gd name="T57" fmla="*/ 174 h 811"/>
                  <a:gd name="T58" fmla="*/ 125 w 1259"/>
                  <a:gd name="T59" fmla="*/ 207 h 811"/>
                  <a:gd name="T60" fmla="*/ 179 w 1259"/>
                  <a:gd name="T61" fmla="*/ 240 h 811"/>
                  <a:gd name="T62" fmla="*/ 244 w 1259"/>
                  <a:gd name="T63" fmla="*/ 278 h 811"/>
                  <a:gd name="T64" fmla="*/ 326 w 1259"/>
                  <a:gd name="T65" fmla="*/ 310 h 811"/>
                  <a:gd name="T66" fmla="*/ 418 w 1259"/>
                  <a:gd name="T67" fmla="*/ 348 h 811"/>
                  <a:gd name="T68" fmla="*/ 526 w 1259"/>
                  <a:gd name="T69" fmla="*/ 381 h 811"/>
                  <a:gd name="T70" fmla="*/ 657 w 1259"/>
                  <a:gd name="T71" fmla="*/ 414 h 811"/>
                  <a:gd name="T72" fmla="*/ 749 w 1259"/>
                  <a:gd name="T73" fmla="*/ 435 h 811"/>
                  <a:gd name="T74" fmla="*/ 830 w 1259"/>
                  <a:gd name="T75" fmla="*/ 463 h 811"/>
                  <a:gd name="T76" fmla="*/ 901 w 1259"/>
                  <a:gd name="T77" fmla="*/ 490 h 811"/>
                  <a:gd name="T78" fmla="*/ 966 w 1259"/>
                  <a:gd name="T79" fmla="*/ 512 h 811"/>
                  <a:gd name="T80" fmla="*/ 1015 w 1259"/>
                  <a:gd name="T81" fmla="*/ 539 h 811"/>
                  <a:gd name="T82" fmla="*/ 1053 w 1259"/>
                  <a:gd name="T83" fmla="*/ 566 h 811"/>
                  <a:gd name="T84" fmla="*/ 1080 w 1259"/>
                  <a:gd name="T85" fmla="*/ 593 h 811"/>
                  <a:gd name="T86" fmla="*/ 1102 w 1259"/>
                  <a:gd name="T87" fmla="*/ 620 h 811"/>
                  <a:gd name="T88" fmla="*/ 1112 w 1259"/>
                  <a:gd name="T89" fmla="*/ 648 h 811"/>
                  <a:gd name="T90" fmla="*/ 1118 w 1259"/>
                  <a:gd name="T91" fmla="*/ 675 h 811"/>
                  <a:gd name="T92" fmla="*/ 1112 w 1259"/>
                  <a:gd name="T93" fmla="*/ 697 h 811"/>
                  <a:gd name="T94" fmla="*/ 1096 w 1259"/>
                  <a:gd name="T95" fmla="*/ 724 h 811"/>
                  <a:gd name="T96" fmla="*/ 1080 w 1259"/>
                  <a:gd name="T97" fmla="*/ 746 h 811"/>
                  <a:gd name="T98" fmla="*/ 1053 w 1259"/>
                  <a:gd name="T99" fmla="*/ 767 h 811"/>
                  <a:gd name="T100" fmla="*/ 1015 w 1259"/>
                  <a:gd name="T101" fmla="*/ 789 h 811"/>
                  <a:gd name="T102" fmla="*/ 977 w 1259"/>
                  <a:gd name="T103" fmla="*/ 811 h 811"/>
                  <a:gd name="T104" fmla="*/ 1047 w 1259"/>
                  <a:gd name="T105" fmla="*/ 789 h 811"/>
                  <a:gd name="T106" fmla="*/ 1107 w 1259"/>
                  <a:gd name="T107" fmla="*/ 767 h 811"/>
                  <a:gd name="T108" fmla="*/ 1156 w 1259"/>
                  <a:gd name="T109" fmla="*/ 746 h 811"/>
                  <a:gd name="T110" fmla="*/ 1199 w 1259"/>
                  <a:gd name="T111" fmla="*/ 724 h 811"/>
                  <a:gd name="T112" fmla="*/ 1226 w 1259"/>
                  <a:gd name="T113" fmla="*/ 702 h 811"/>
                  <a:gd name="T114" fmla="*/ 1248 w 1259"/>
                  <a:gd name="T115" fmla="*/ 675 h 811"/>
                  <a:gd name="T116" fmla="*/ 1259 w 1259"/>
                  <a:gd name="T117" fmla="*/ 648 h 811"/>
                  <a:gd name="T118" fmla="*/ 1259 w 1259"/>
                  <a:gd name="T119" fmla="*/ 615 h 811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</a:gdLst>
                <a:ahLst/>
                <a:cxnLst>
                  <a:cxn ang="T120">
                    <a:pos x="T0" y="T1"/>
                  </a:cxn>
                  <a:cxn ang="T121">
                    <a:pos x="T2" y="T3"/>
                  </a:cxn>
                  <a:cxn ang="T122">
                    <a:pos x="T4" y="T5"/>
                  </a:cxn>
                  <a:cxn ang="T123">
                    <a:pos x="T6" y="T7"/>
                  </a:cxn>
                  <a:cxn ang="T124">
                    <a:pos x="T8" y="T9"/>
                  </a:cxn>
                  <a:cxn ang="T125">
                    <a:pos x="T10" y="T11"/>
                  </a:cxn>
                  <a:cxn ang="T126">
                    <a:pos x="T12" y="T13"/>
                  </a:cxn>
                  <a:cxn ang="T127">
                    <a:pos x="T14" y="T15"/>
                  </a:cxn>
                  <a:cxn ang="T128">
                    <a:pos x="T16" y="T17"/>
                  </a:cxn>
                  <a:cxn ang="T129">
                    <a:pos x="T18" y="T19"/>
                  </a:cxn>
                  <a:cxn ang="T130">
                    <a:pos x="T20" y="T21"/>
                  </a:cxn>
                  <a:cxn ang="T131">
                    <a:pos x="T22" y="T23"/>
                  </a:cxn>
                  <a:cxn ang="T132">
                    <a:pos x="T24" y="T25"/>
                  </a:cxn>
                  <a:cxn ang="T133">
                    <a:pos x="T26" y="T27"/>
                  </a:cxn>
                  <a:cxn ang="T134">
                    <a:pos x="T28" y="T29"/>
                  </a:cxn>
                  <a:cxn ang="T135">
                    <a:pos x="T30" y="T31"/>
                  </a:cxn>
                  <a:cxn ang="T136">
                    <a:pos x="T32" y="T33"/>
                  </a:cxn>
                  <a:cxn ang="T137">
                    <a:pos x="T34" y="T35"/>
                  </a:cxn>
                  <a:cxn ang="T138">
                    <a:pos x="T36" y="T37"/>
                  </a:cxn>
                  <a:cxn ang="T139">
                    <a:pos x="T38" y="T39"/>
                  </a:cxn>
                  <a:cxn ang="T140">
                    <a:pos x="T40" y="T41"/>
                  </a:cxn>
                  <a:cxn ang="T141">
                    <a:pos x="T42" y="T43"/>
                  </a:cxn>
                  <a:cxn ang="T142">
                    <a:pos x="T44" y="T45"/>
                  </a:cxn>
                  <a:cxn ang="T143">
                    <a:pos x="T46" y="T47"/>
                  </a:cxn>
                  <a:cxn ang="T144">
                    <a:pos x="T48" y="T49"/>
                  </a:cxn>
                  <a:cxn ang="T145">
                    <a:pos x="T50" y="T51"/>
                  </a:cxn>
                  <a:cxn ang="T146">
                    <a:pos x="T52" y="T53"/>
                  </a:cxn>
                  <a:cxn ang="T147">
                    <a:pos x="T54" y="T55"/>
                  </a:cxn>
                  <a:cxn ang="T148">
                    <a:pos x="T56" y="T57"/>
                  </a:cxn>
                  <a:cxn ang="T149">
                    <a:pos x="T58" y="T59"/>
                  </a:cxn>
                  <a:cxn ang="T150">
                    <a:pos x="T60" y="T61"/>
                  </a:cxn>
                  <a:cxn ang="T151">
                    <a:pos x="T62" y="T63"/>
                  </a:cxn>
                  <a:cxn ang="T152">
                    <a:pos x="T64" y="T65"/>
                  </a:cxn>
                  <a:cxn ang="T153">
                    <a:pos x="T66" y="T67"/>
                  </a:cxn>
                  <a:cxn ang="T154">
                    <a:pos x="T68" y="T69"/>
                  </a:cxn>
                  <a:cxn ang="T155">
                    <a:pos x="T70" y="T71"/>
                  </a:cxn>
                  <a:cxn ang="T156">
                    <a:pos x="T72" y="T73"/>
                  </a:cxn>
                  <a:cxn ang="T157">
                    <a:pos x="T74" y="T75"/>
                  </a:cxn>
                  <a:cxn ang="T158">
                    <a:pos x="T76" y="T77"/>
                  </a:cxn>
                  <a:cxn ang="T159">
                    <a:pos x="T78" y="T79"/>
                  </a:cxn>
                  <a:cxn ang="T160">
                    <a:pos x="T80" y="T81"/>
                  </a:cxn>
                  <a:cxn ang="T161">
                    <a:pos x="T82" y="T83"/>
                  </a:cxn>
                  <a:cxn ang="T162">
                    <a:pos x="T84" y="T85"/>
                  </a:cxn>
                  <a:cxn ang="T163">
                    <a:pos x="T86" y="T87"/>
                  </a:cxn>
                  <a:cxn ang="T164">
                    <a:pos x="T88" y="T89"/>
                  </a:cxn>
                  <a:cxn ang="T165">
                    <a:pos x="T90" y="T91"/>
                  </a:cxn>
                  <a:cxn ang="T166">
                    <a:pos x="T92" y="T93"/>
                  </a:cxn>
                  <a:cxn ang="T167">
                    <a:pos x="T94" y="T95"/>
                  </a:cxn>
                  <a:cxn ang="T168">
                    <a:pos x="T96" y="T97"/>
                  </a:cxn>
                  <a:cxn ang="T169">
                    <a:pos x="T98" y="T99"/>
                  </a:cxn>
                  <a:cxn ang="T170">
                    <a:pos x="T100" y="T101"/>
                  </a:cxn>
                  <a:cxn ang="T171">
                    <a:pos x="T102" y="T103"/>
                  </a:cxn>
                  <a:cxn ang="T172">
                    <a:pos x="T104" y="T105"/>
                  </a:cxn>
                  <a:cxn ang="T173">
                    <a:pos x="T106" y="T107"/>
                  </a:cxn>
                  <a:cxn ang="T174">
                    <a:pos x="T108" y="T109"/>
                  </a:cxn>
                  <a:cxn ang="T175">
                    <a:pos x="T110" y="T111"/>
                  </a:cxn>
                  <a:cxn ang="T176">
                    <a:pos x="T112" y="T113"/>
                  </a:cxn>
                  <a:cxn ang="T177">
                    <a:pos x="T114" y="T115"/>
                  </a:cxn>
                  <a:cxn ang="T178">
                    <a:pos x="T116" y="T117"/>
                  </a:cxn>
                  <a:cxn ang="T179">
                    <a:pos x="T118" y="T119"/>
                  </a:cxn>
                </a:cxnLst>
                <a:rect l="0" t="0" r="r" b="b"/>
                <a:pathLst>
                  <a:path w="1259" h="811">
                    <a:moveTo>
                      <a:pt x="1259" y="615"/>
                    </a:moveTo>
                    <a:lnTo>
                      <a:pt x="1248" y="588"/>
                    </a:lnTo>
                    <a:lnTo>
                      <a:pt x="1237" y="566"/>
                    </a:lnTo>
                    <a:lnTo>
                      <a:pt x="1216" y="539"/>
                    </a:lnTo>
                    <a:lnTo>
                      <a:pt x="1188" y="517"/>
                    </a:lnTo>
                    <a:lnTo>
                      <a:pt x="1123" y="479"/>
                    </a:lnTo>
                    <a:lnTo>
                      <a:pt x="1042" y="441"/>
                    </a:lnTo>
                    <a:lnTo>
                      <a:pt x="944" y="408"/>
                    </a:lnTo>
                    <a:lnTo>
                      <a:pt x="841" y="381"/>
                    </a:lnTo>
                    <a:lnTo>
                      <a:pt x="727" y="348"/>
                    </a:lnTo>
                    <a:lnTo>
                      <a:pt x="613" y="321"/>
                    </a:lnTo>
                    <a:lnTo>
                      <a:pt x="499" y="294"/>
                    </a:lnTo>
                    <a:lnTo>
                      <a:pt x="391" y="261"/>
                    </a:lnTo>
                    <a:lnTo>
                      <a:pt x="288" y="229"/>
                    </a:lnTo>
                    <a:lnTo>
                      <a:pt x="195" y="196"/>
                    </a:lnTo>
                    <a:lnTo>
                      <a:pt x="119" y="152"/>
                    </a:lnTo>
                    <a:lnTo>
                      <a:pt x="54" y="109"/>
                    </a:lnTo>
                    <a:lnTo>
                      <a:pt x="33" y="87"/>
                    </a:lnTo>
                    <a:lnTo>
                      <a:pt x="16" y="60"/>
                    </a:lnTo>
                    <a:lnTo>
                      <a:pt x="5" y="33"/>
                    </a:lnTo>
                    <a:lnTo>
                      <a:pt x="0" y="0"/>
                    </a:lnTo>
                    <a:lnTo>
                      <a:pt x="0" y="6"/>
                    </a:lnTo>
                    <a:lnTo>
                      <a:pt x="0" y="11"/>
                    </a:lnTo>
                    <a:lnTo>
                      <a:pt x="0" y="38"/>
                    </a:lnTo>
                    <a:lnTo>
                      <a:pt x="5" y="60"/>
                    </a:lnTo>
                    <a:lnTo>
                      <a:pt x="16" y="87"/>
                    </a:lnTo>
                    <a:lnTo>
                      <a:pt x="33" y="114"/>
                    </a:lnTo>
                    <a:lnTo>
                      <a:pt x="54" y="142"/>
                    </a:lnTo>
                    <a:lnTo>
                      <a:pt x="87" y="174"/>
                    </a:lnTo>
                    <a:lnTo>
                      <a:pt x="125" y="207"/>
                    </a:lnTo>
                    <a:lnTo>
                      <a:pt x="179" y="240"/>
                    </a:lnTo>
                    <a:lnTo>
                      <a:pt x="244" y="278"/>
                    </a:lnTo>
                    <a:lnTo>
                      <a:pt x="326" y="310"/>
                    </a:lnTo>
                    <a:lnTo>
                      <a:pt x="418" y="348"/>
                    </a:lnTo>
                    <a:lnTo>
                      <a:pt x="526" y="381"/>
                    </a:lnTo>
                    <a:lnTo>
                      <a:pt x="657" y="414"/>
                    </a:lnTo>
                    <a:lnTo>
                      <a:pt x="749" y="435"/>
                    </a:lnTo>
                    <a:lnTo>
                      <a:pt x="830" y="463"/>
                    </a:lnTo>
                    <a:lnTo>
                      <a:pt x="901" y="490"/>
                    </a:lnTo>
                    <a:lnTo>
                      <a:pt x="966" y="512"/>
                    </a:lnTo>
                    <a:lnTo>
                      <a:pt x="1015" y="539"/>
                    </a:lnTo>
                    <a:lnTo>
                      <a:pt x="1053" y="566"/>
                    </a:lnTo>
                    <a:lnTo>
                      <a:pt x="1080" y="593"/>
                    </a:lnTo>
                    <a:lnTo>
                      <a:pt x="1102" y="620"/>
                    </a:lnTo>
                    <a:lnTo>
                      <a:pt x="1112" y="648"/>
                    </a:lnTo>
                    <a:lnTo>
                      <a:pt x="1118" y="675"/>
                    </a:lnTo>
                    <a:lnTo>
                      <a:pt x="1112" y="697"/>
                    </a:lnTo>
                    <a:lnTo>
                      <a:pt x="1096" y="724"/>
                    </a:lnTo>
                    <a:lnTo>
                      <a:pt x="1080" y="746"/>
                    </a:lnTo>
                    <a:lnTo>
                      <a:pt x="1053" y="767"/>
                    </a:lnTo>
                    <a:lnTo>
                      <a:pt x="1015" y="789"/>
                    </a:lnTo>
                    <a:lnTo>
                      <a:pt x="977" y="811"/>
                    </a:lnTo>
                    <a:lnTo>
                      <a:pt x="1047" y="789"/>
                    </a:lnTo>
                    <a:lnTo>
                      <a:pt x="1107" y="767"/>
                    </a:lnTo>
                    <a:lnTo>
                      <a:pt x="1156" y="746"/>
                    </a:lnTo>
                    <a:lnTo>
                      <a:pt x="1199" y="724"/>
                    </a:lnTo>
                    <a:lnTo>
                      <a:pt x="1226" y="702"/>
                    </a:lnTo>
                    <a:lnTo>
                      <a:pt x="1248" y="675"/>
                    </a:lnTo>
                    <a:lnTo>
                      <a:pt x="1259" y="648"/>
                    </a:lnTo>
                    <a:lnTo>
                      <a:pt x="1259" y="615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4646"/>
                  </a:gs>
                  <a:gs pos="100000">
                    <a:srgbClr val="003F3F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6" name="Freeform 6">
                <a:extLst>
                  <a:ext uri="{FF2B5EF4-FFF2-40B4-BE49-F238E27FC236}">
                    <a16:creationId xmlns:a16="http://schemas.microsoft.com/office/drawing/2014/main" id="{A62E989A-FA66-49B8-8449-1BDB52F3A2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" y="1116"/>
                <a:ext cx="2849" cy="969"/>
              </a:xfrm>
              <a:custGeom>
                <a:avLst/>
                <a:gdLst>
                  <a:gd name="T0" fmla="*/ 92 w 2849"/>
                  <a:gd name="T1" fmla="*/ 958 h 969"/>
                  <a:gd name="T2" fmla="*/ 0 w 2849"/>
                  <a:gd name="T3" fmla="*/ 969 h 969"/>
                  <a:gd name="T4" fmla="*/ 391 w 2849"/>
                  <a:gd name="T5" fmla="*/ 969 h 969"/>
                  <a:gd name="T6" fmla="*/ 434 w 2849"/>
                  <a:gd name="T7" fmla="*/ 947 h 969"/>
                  <a:gd name="T8" fmla="*/ 483 w 2849"/>
                  <a:gd name="T9" fmla="*/ 914 h 969"/>
                  <a:gd name="T10" fmla="*/ 554 w 2849"/>
                  <a:gd name="T11" fmla="*/ 876 h 969"/>
                  <a:gd name="T12" fmla="*/ 635 w 2849"/>
                  <a:gd name="T13" fmla="*/ 838 h 969"/>
                  <a:gd name="T14" fmla="*/ 727 w 2849"/>
                  <a:gd name="T15" fmla="*/ 794 h 969"/>
                  <a:gd name="T16" fmla="*/ 836 w 2849"/>
                  <a:gd name="T17" fmla="*/ 745 h 969"/>
                  <a:gd name="T18" fmla="*/ 961 w 2849"/>
                  <a:gd name="T19" fmla="*/ 696 h 969"/>
                  <a:gd name="T20" fmla="*/ 1102 w 2849"/>
                  <a:gd name="T21" fmla="*/ 642 h 969"/>
                  <a:gd name="T22" fmla="*/ 1259 w 2849"/>
                  <a:gd name="T23" fmla="*/ 582 h 969"/>
                  <a:gd name="T24" fmla="*/ 1433 w 2849"/>
                  <a:gd name="T25" fmla="*/ 522 h 969"/>
                  <a:gd name="T26" fmla="*/ 1623 w 2849"/>
                  <a:gd name="T27" fmla="*/ 462 h 969"/>
                  <a:gd name="T28" fmla="*/ 1829 w 2849"/>
                  <a:gd name="T29" fmla="*/ 403 h 969"/>
                  <a:gd name="T30" fmla="*/ 2057 w 2849"/>
                  <a:gd name="T31" fmla="*/ 343 h 969"/>
                  <a:gd name="T32" fmla="*/ 2301 w 2849"/>
                  <a:gd name="T33" fmla="*/ 283 h 969"/>
                  <a:gd name="T34" fmla="*/ 2567 w 2849"/>
                  <a:gd name="T35" fmla="*/ 223 h 969"/>
                  <a:gd name="T36" fmla="*/ 2849 w 2849"/>
                  <a:gd name="T37" fmla="*/ 163 h 969"/>
                  <a:gd name="T38" fmla="*/ 2849 w 2849"/>
                  <a:gd name="T39" fmla="*/ 0 h 969"/>
                  <a:gd name="T40" fmla="*/ 2817 w 2849"/>
                  <a:gd name="T41" fmla="*/ 16 h 969"/>
                  <a:gd name="T42" fmla="*/ 2773 w 2849"/>
                  <a:gd name="T43" fmla="*/ 33 h 969"/>
                  <a:gd name="T44" fmla="*/ 2719 w 2849"/>
                  <a:gd name="T45" fmla="*/ 54 h 969"/>
                  <a:gd name="T46" fmla="*/ 2648 w 2849"/>
                  <a:gd name="T47" fmla="*/ 76 h 969"/>
                  <a:gd name="T48" fmla="*/ 2572 w 2849"/>
                  <a:gd name="T49" fmla="*/ 98 h 969"/>
                  <a:gd name="T50" fmla="*/ 2491 w 2849"/>
                  <a:gd name="T51" fmla="*/ 120 h 969"/>
                  <a:gd name="T52" fmla="*/ 2399 w 2849"/>
                  <a:gd name="T53" fmla="*/ 147 h 969"/>
                  <a:gd name="T54" fmla="*/ 2301 w 2849"/>
                  <a:gd name="T55" fmla="*/ 169 h 969"/>
                  <a:gd name="T56" fmla="*/ 2095 w 2849"/>
                  <a:gd name="T57" fmla="*/ 223 h 969"/>
                  <a:gd name="T58" fmla="*/ 1889 w 2849"/>
                  <a:gd name="T59" fmla="*/ 277 h 969"/>
                  <a:gd name="T60" fmla="*/ 1688 w 2849"/>
                  <a:gd name="T61" fmla="*/ 326 h 969"/>
                  <a:gd name="T62" fmla="*/ 1590 w 2849"/>
                  <a:gd name="T63" fmla="*/ 354 h 969"/>
                  <a:gd name="T64" fmla="*/ 1503 w 2849"/>
                  <a:gd name="T65" fmla="*/ 381 h 969"/>
                  <a:gd name="T66" fmla="*/ 1107 w 2849"/>
                  <a:gd name="T67" fmla="*/ 506 h 969"/>
                  <a:gd name="T68" fmla="*/ 912 w 2849"/>
                  <a:gd name="T69" fmla="*/ 577 h 969"/>
                  <a:gd name="T70" fmla="*/ 727 w 2849"/>
                  <a:gd name="T71" fmla="*/ 647 h 969"/>
                  <a:gd name="T72" fmla="*/ 548 w 2849"/>
                  <a:gd name="T73" fmla="*/ 718 h 969"/>
                  <a:gd name="T74" fmla="*/ 380 w 2849"/>
                  <a:gd name="T75" fmla="*/ 794 h 969"/>
                  <a:gd name="T76" fmla="*/ 228 w 2849"/>
                  <a:gd name="T77" fmla="*/ 876 h 969"/>
                  <a:gd name="T78" fmla="*/ 92 w 2849"/>
                  <a:gd name="T79" fmla="*/ 958 h 969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2849" h="969">
                    <a:moveTo>
                      <a:pt x="92" y="958"/>
                    </a:moveTo>
                    <a:lnTo>
                      <a:pt x="0" y="969"/>
                    </a:lnTo>
                    <a:lnTo>
                      <a:pt x="391" y="969"/>
                    </a:lnTo>
                    <a:lnTo>
                      <a:pt x="434" y="947"/>
                    </a:lnTo>
                    <a:lnTo>
                      <a:pt x="483" y="914"/>
                    </a:lnTo>
                    <a:lnTo>
                      <a:pt x="554" y="876"/>
                    </a:lnTo>
                    <a:lnTo>
                      <a:pt x="635" y="838"/>
                    </a:lnTo>
                    <a:lnTo>
                      <a:pt x="727" y="794"/>
                    </a:lnTo>
                    <a:lnTo>
                      <a:pt x="836" y="745"/>
                    </a:lnTo>
                    <a:lnTo>
                      <a:pt x="961" y="696"/>
                    </a:lnTo>
                    <a:lnTo>
                      <a:pt x="1102" y="642"/>
                    </a:lnTo>
                    <a:lnTo>
                      <a:pt x="1259" y="582"/>
                    </a:lnTo>
                    <a:lnTo>
                      <a:pt x="1433" y="522"/>
                    </a:lnTo>
                    <a:lnTo>
                      <a:pt x="1623" y="462"/>
                    </a:lnTo>
                    <a:lnTo>
                      <a:pt x="1829" y="403"/>
                    </a:lnTo>
                    <a:lnTo>
                      <a:pt x="2057" y="343"/>
                    </a:lnTo>
                    <a:lnTo>
                      <a:pt x="2301" y="283"/>
                    </a:lnTo>
                    <a:lnTo>
                      <a:pt x="2567" y="223"/>
                    </a:lnTo>
                    <a:lnTo>
                      <a:pt x="2849" y="163"/>
                    </a:lnTo>
                    <a:lnTo>
                      <a:pt x="2849" y="0"/>
                    </a:lnTo>
                    <a:lnTo>
                      <a:pt x="2817" y="16"/>
                    </a:lnTo>
                    <a:lnTo>
                      <a:pt x="2773" y="33"/>
                    </a:lnTo>
                    <a:lnTo>
                      <a:pt x="2719" y="54"/>
                    </a:lnTo>
                    <a:lnTo>
                      <a:pt x="2648" y="76"/>
                    </a:lnTo>
                    <a:lnTo>
                      <a:pt x="2572" y="98"/>
                    </a:lnTo>
                    <a:lnTo>
                      <a:pt x="2491" y="120"/>
                    </a:lnTo>
                    <a:lnTo>
                      <a:pt x="2399" y="147"/>
                    </a:lnTo>
                    <a:lnTo>
                      <a:pt x="2301" y="169"/>
                    </a:lnTo>
                    <a:lnTo>
                      <a:pt x="2095" y="223"/>
                    </a:lnTo>
                    <a:lnTo>
                      <a:pt x="1889" y="277"/>
                    </a:lnTo>
                    <a:lnTo>
                      <a:pt x="1688" y="326"/>
                    </a:lnTo>
                    <a:lnTo>
                      <a:pt x="1590" y="354"/>
                    </a:lnTo>
                    <a:lnTo>
                      <a:pt x="1503" y="381"/>
                    </a:lnTo>
                    <a:lnTo>
                      <a:pt x="1107" y="506"/>
                    </a:lnTo>
                    <a:lnTo>
                      <a:pt x="912" y="577"/>
                    </a:lnTo>
                    <a:lnTo>
                      <a:pt x="727" y="647"/>
                    </a:lnTo>
                    <a:lnTo>
                      <a:pt x="548" y="718"/>
                    </a:lnTo>
                    <a:lnTo>
                      <a:pt x="380" y="794"/>
                    </a:lnTo>
                    <a:lnTo>
                      <a:pt x="228" y="876"/>
                    </a:lnTo>
                    <a:lnTo>
                      <a:pt x="92" y="958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939"/>
                  </a:gs>
                  <a:gs pos="100000">
                    <a:srgbClr val="004646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7" name="Freeform 7">
                <a:extLst>
                  <a:ext uri="{FF2B5EF4-FFF2-40B4-BE49-F238E27FC236}">
                    <a16:creationId xmlns:a16="http://schemas.microsoft.com/office/drawing/2014/main" id="{605506DA-1DEB-42FA-96CD-119B99D432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20" y="0"/>
                <a:ext cx="3007" cy="2085"/>
              </a:xfrm>
              <a:custGeom>
                <a:avLst/>
                <a:gdLst>
                  <a:gd name="T0" fmla="*/ 1433 w 3007"/>
                  <a:gd name="T1" fmla="*/ 474 h 2085"/>
                  <a:gd name="T2" fmla="*/ 1460 w 3007"/>
                  <a:gd name="T3" fmla="*/ 528 h 2085"/>
                  <a:gd name="T4" fmla="*/ 1541 w 3007"/>
                  <a:gd name="T5" fmla="*/ 593 h 2085"/>
                  <a:gd name="T6" fmla="*/ 1715 w 3007"/>
                  <a:gd name="T7" fmla="*/ 670 h 2085"/>
                  <a:gd name="T8" fmla="*/ 1927 w 3007"/>
                  <a:gd name="T9" fmla="*/ 735 h 2085"/>
                  <a:gd name="T10" fmla="*/ 2155 w 3007"/>
                  <a:gd name="T11" fmla="*/ 789 h 2085"/>
                  <a:gd name="T12" fmla="*/ 2372 w 3007"/>
                  <a:gd name="T13" fmla="*/ 849 h 2085"/>
                  <a:gd name="T14" fmla="*/ 2551 w 3007"/>
                  <a:gd name="T15" fmla="*/ 920 h 2085"/>
                  <a:gd name="T16" fmla="*/ 2638 w 3007"/>
                  <a:gd name="T17" fmla="*/ 980 h 2085"/>
                  <a:gd name="T18" fmla="*/ 2676 w 3007"/>
                  <a:gd name="T19" fmla="*/ 1029 h 2085"/>
                  <a:gd name="T20" fmla="*/ 2681 w 3007"/>
                  <a:gd name="T21" fmla="*/ 1083 h 2085"/>
                  <a:gd name="T22" fmla="*/ 2665 w 3007"/>
                  <a:gd name="T23" fmla="*/ 1127 h 2085"/>
                  <a:gd name="T24" fmla="*/ 2616 w 3007"/>
                  <a:gd name="T25" fmla="*/ 1170 h 2085"/>
                  <a:gd name="T26" fmla="*/ 2545 w 3007"/>
                  <a:gd name="T27" fmla="*/ 1208 h 2085"/>
                  <a:gd name="T28" fmla="*/ 2448 w 3007"/>
                  <a:gd name="T29" fmla="*/ 1241 h 2085"/>
                  <a:gd name="T30" fmla="*/ 2328 w 3007"/>
                  <a:gd name="T31" fmla="*/ 1274 h 2085"/>
                  <a:gd name="T32" fmla="*/ 2106 w 3007"/>
                  <a:gd name="T33" fmla="*/ 1328 h 2085"/>
                  <a:gd name="T34" fmla="*/ 1742 w 3007"/>
                  <a:gd name="T35" fmla="*/ 1421 h 2085"/>
                  <a:gd name="T36" fmla="*/ 1308 w 3007"/>
                  <a:gd name="T37" fmla="*/ 1540 h 2085"/>
                  <a:gd name="T38" fmla="*/ 820 w 3007"/>
                  <a:gd name="T39" fmla="*/ 1709 h 2085"/>
                  <a:gd name="T40" fmla="*/ 282 w 3007"/>
                  <a:gd name="T41" fmla="*/ 1943 h 2085"/>
                  <a:gd name="T42" fmla="*/ 152 w 3007"/>
                  <a:gd name="T43" fmla="*/ 2085 h 2085"/>
                  <a:gd name="T44" fmla="*/ 386 w 3007"/>
                  <a:gd name="T45" fmla="*/ 1992 h 2085"/>
                  <a:gd name="T46" fmla="*/ 700 w 3007"/>
                  <a:gd name="T47" fmla="*/ 1834 h 2085"/>
                  <a:gd name="T48" fmla="*/ 1064 w 3007"/>
                  <a:gd name="T49" fmla="*/ 1693 h 2085"/>
                  <a:gd name="T50" fmla="*/ 1661 w 3007"/>
                  <a:gd name="T51" fmla="*/ 1497 h 2085"/>
                  <a:gd name="T52" fmla="*/ 1845 w 3007"/>
                  <a:gd name="T53" fmla="*/ 1442 h 2085"/>
                  <a:gd name="T54" fmla="*/ 2252 w 3007"/>
                  <a:gd name="T55" fmla="*/ 1339 h 2085"/>
                  <a:gd name="T56" fmla="*/ 2551 w 3007"/>
                  <a:gd name="T57" fmla="*/ 1263 h 2085"/>
                  <a:gd name="T58" fmla="*/ 2730 w 3007"/>
                  <a:gd name="T59" fmla="*/ 1214 h 2085"/>
                  <a:gd name="T60" fmla="*/ 2876 w 3007"/>
                  <a:gd name="T61" fmla="*/ 1170 h 2085"/>
                  <a:gd name="T62" fmla="*/ 2974 w 3007"/>
                  <a:gd name="T63" fmla="*/ 1132 h 2085"/>
                  <a:gd name="T64" fmla="*/ 3007 w 3007"/>
                  <a:gd name="T65" fmla="*/ 871 h 2085"/>
                  <a:gd name="T66" fmla="*/ 2860 w 3007"/>
                  <a:gd name="T67" fmla="*/ 844 h 2085"/>
                  <a:gd name="T68" fmla="*/ 2670 w 3007"/>
                  <a:gd name="T69" fmla="*/ 806 h 2085"/>
                  <a:gd name="T70" fmla="*/ 2458 w 3007"/>
                  <a:gd name="T71" fmla="*/ 757 h 2085"/>
                  <a:gd name="T72" fmla="*/ 2138 w 3007"/>
                  <a:gd name="T73" fmla="*/ 670 h 2085"/>
                  <a:gd name="T74" fmla="*/ 1959 w 3007"/>
                  <a:gd name="T75" fmla="*/ 604 h 2085"/>
                  <a:gd name="T76" fmla="*/ 1824 w 3007"/>
                  <a:gd name="T77" fmla="*/ 534 h 2085"/>
                  <a:gd name="T78" fmla="*/ 1769 w 3007"/>
                  <a:gd name="T79" fmla="*/ 474 h 2085"/>
                  <a:gd name="T80" fmla="*/ 1753 w 3007"/>
                  <a:gd name="T81" fmla="*/ 436 h 2085"/>
                  <a:gd name="T82" fmla="*/ 1780 w 3007"/>
                  <a:gd name="T83" fmla="*/ 381 h 2085"/>
                  <a:gd name="T84" fmla="*/ 1862 w 3007"/>
                  <a:gd name="T85" fmla="*/ 316 h 2085"/>
                  <a:gd name="T86" fmla="*/ 1986 w 3007"/>
                  <a:gd name="T87" fmla="*/ 267 h 2085"/>
                  <a:gd name="T88" fmla="*/ 2149 w 3007"/>
                  <a:gd name="T89" fmla="*/ 229 h 2085"/>
                  <a:gd name="T90" fmla="*/ 2431 w 3007"/>
                  <a:gd name="T91" fmla="*/ 180 h 2085"/>
                  <a:gd name="T92" fmla="*/ 2827 w 3007"/>
                  <a:gd name="T93" fmla="*/ 125 h 2085"/>
                  <a:gd name="T94" fmla="*/ 3007 w 3007"/>
                  <a:gd name="T95" fmla="*/ 87 h 2085"/>
                  <a:gd name="T96" fmla="*/ 2909 w 3007"/>
                  <a:gd name="T97" fmla="*/ 22 h 2085"/>
                  <a:gd name="T98" fmla="*/ 2676 w 3007"/>
                  <a:gd name="T99" fmla="*/ 66 h 2085"/>
                  <a:gd name="T100" fmla="*/ 2285 w 3007"/>
                  <a:gd name="T101" fmla="*/ 120 h 2085"/>
                  <a:gd name="T102" fmla="*/ 2030 w 3007"/>
                  <a:gd name="T103" fmla="*/ 158 h 2085"/>
                  <a:gd name="T104" fmla="*/ 1791 w 3007"/>
                  <a:gd name="T105" fmla="*/ 202 h 2085"/>
                  <a:gd name="T106" fmla="*/ 1601 w 3007"/>
                  <a:gd name="T107" fmla="*/ 261 h 2085"/>
                  <a:gd name="T108" fmla="*/ 1471 w 3007"/>
                  <a:gd name="T109" fmla="*/ 338 h 2085"/>
                  <a:gd name="T110" fmla="*/ 1438 w 3007"/>
                  <a:gd name="T111" fmla="*/ 387 h 2085"/>
                  <a:gd name="T112" fmla="*/ 1427 w 3007"/>
                  <a:gd name="T113" fmla="*/ 441 h 2085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</a:gdLst>
                <a:ahLst/>
                <a:cxnLst>
                  <a:cxn ang="T114">
                    <a:pos x="T0" y="T1"/>
                  </a:cxn>
                  <a:cxn ang="T115">
                    <a:pos x="T2" y="T3"/>
                  </a:cxn>
                  <a:cxn ang="T116">
                    <a:pos x="T4" y="T5"/>
                  </a:cxn>
                  <a:cxn ang="T117">
                    <a:pos x="T6" y="T7"/>
                  </a:cxn>
                  <a:cxn ang="T118">
                    <a:pos x="T8" y="T9"/>
                  </a:cxn>
                  <a:cxn ang="T119">
                    <a:pos x="T10" y="T11"/>
                  </a:cxn>
                  <a:cxn ang="T120">
                    <a:pos x="T12" y="T13"/>
                  </a:cxn>
                  <a:cxn ang="T121">
                    <a:pos x="T14" y="T15"/>
                  </a:cxn>
                  <a:cxn ang="T122">
                    <a:pos x="T16" y="T17"/>
                  </a:cxn>
                  <a:cxn ang="T123">
                    <a:pos x="T18" y="T19"/>
                  </a:cxn>
                  <a:cxn ang="T124">
                    <a:pos x="T20" y="T21"/>
                  </a:cxn>
                  <a:cxn ang="T125">
                    <a:pos x="T22" y="T23"/>
                  </a:cxn>
                  <a:cxn ang="T126">
                    <a:pos x="T24" y="T25"/>
                  </a:cxn>
                  <a:cxn ang="T127">
                    <a:pos x="T26" y="T27"/>
                  </a:cxn>
                  <a:cxn ang="T128">
                    <a:pos x="T28" y="T29"/>
                  </a:cxn>
                  <a:cxn ang="T129">
                    <a:pos x="T30" y="T31"/>
                  </a:cxn>
                  <a:cxn ang="T130">
                    <a:pos x="T32" y="T33"/>
                  </a:cxn>
                  <a:cxn ang="T131">
                    <a:pos x="T34" y="T35"/>
                  </a:cxn>
                  <a:cxn ang="T132">
                    <a:pos x="T36" y="T37"/>
                  </a:cxn>
                  <a:cxn ang="T133">
                    <a:pos x="T38" y="T39"/>
                  </a:cxn>
                  <a:cxn ang="T134">
                    <a:pos x="T40" y="T41"/>
                  </a:cxn>
                  <a:cxn ang="T135">
                    <a:pos x="T42" y="T43"/>
                  </a:cxn>
                  <a:cxn ang="T136">
                    <a:pos x="T44" y="T45"/>
                  </a:cxn>
                  <a:cxn ang="T137">
                    <a:pos x="T46" y="T47"/>
                  </a:cxn>
                  <a:cxn ang="T138">
                    <a:pos x="T48" y="T49"/>
                  </a:cxn>
                  <a:cxn ang="T139">
                    <a:pos x="T50" y="T51"/>
                  </a:cxn>
                  <a:cxn ang="T140">
                    <a:pos x="T52" y="T53"/>
                  </a:cxn>
                  <a:cxn ang="T141">
                    <a:pos x="T54" y="T55"/>
                  </a:cxn>
                  <a:cxn ang="T142">
                    <a:pos x="T56" y="T57"/>
                  </a:cxn>
                  <a:cxn ang="T143">
                    <a:pos x="T58" y="T59"/>
                  </a:cxn>
                  <a:cxn ang="T144">
                    <a:pos x="T60" y="T61"/>
                  </a:cxn>
                  <a:cxn ang="T145">
                    <a:pos x="T62" y="T63"/>
                  </a:cxn>
                  <a:cxn ang="T146">
                    <a:pos x="T64" y="T65"/>
                  </a:cxn>
                  <a:cxn ang="T147">
                    <a:pos x="T66" y="T67"/>
                  </a:cxn>
                  <a:cxn ang="T148">
                    <a:pos x="T68" y="T69"/>
                  </a:cxn>
                  <a:cxn ang="T149">
                    <a:pos x="T70" y="T71"/>
                  </a:cxn>
                  <a:cxn ang="T150">
                    <a:pos x="T72" y="T73"/>
                  </a:cxn>
                  <a:cxn ang="T151">
                    <a:pos x="T74" y="T75"/>
                  </a:cxn>
                  <a:cxn ang="T152">
                    <a:pos x="T76" y="T77"/>
                  </a:cxn>
                  <a:cxn ang="T153">
                    <a:pos x="T78" y="T79"/>
                  </a:cxn>
                  <a:cxn ang="T154">
                    <a:pos x="T80" y="T81"/>
                  </a:cxn>
                  <a:cxn ang="T155">
                    <a:pos x="T82" y="T83"/>
                  </a:cxn>
                  <a:cxn ang="T156">
                    <a:pos x="T84" y="T85"/>
                  </a:cxn>
                  <a:cxn ang="T157">
                    <a:pos x="T86" y="T87"/>
                  </a:cxn>
                  <a:cxn ang="T158">
                    <a:pos x="T88" y="T89"/>
                  </a:cxn>
                  <a:cxn ang="T159">
                    <a:pos x="T90" y="T91"/>
                  </a:cxn>
                  <a:cxn ang="T160">
                    <a:pos x="T92" y="T93"/>
                  </a:cxn>
                  <a:cxn ang="T161">
                    <a:pos x="T94" y="T95"/>
                  </a:cxn>
                  <a:cxn ang="T162">
                    <a:pos x="T96" y="T97"/>
                  </a:cxn>
                  <a:cxn ang="T163">
                    <a:pos x="T98" y="T99"/>
                  </a:cxn>
                  <a:cxn ang="T164">
                    <a:pos x="T100" y="T101"/>
                  </a:cxn>
                  <a:cxn ang="T165">
                    <a:pos x="T102" y="T103"/>
                  </a:cxn>
                  <a:cxn ang="T166">
                    <a:pos x="T104" y="T105"/>
                  </a:cxn>
                  <a:cxn ang="T167">
                    <a:pos x="T106" y="T107"/>
                  </a:cxn>
                  <a:cxn ang="T168">
                    <a:pos x="T108" y="T109"/>
                  </a:cxn>
                  <a:cxn ang="T169">
                    <a:pos x="T110" y="T111"/>
                  </a:cxn>
                  <a:cxn ang="T170">
                    <a:pos x="T112" y="T113"/>
                  </a:cxn>
                </a:cxnLst>
                <a:rect l="0" t="0" r="r" b="b"/>
                <a:pathLst>
                  <a:path w="3007" h="2085">
                    <a:moveTo>
                      <a:pt x="1427" y="441"/>
                    </a:moveTo>
                    <a:lnTo>
                      <a:pt x="1433" y="474"/>
                    </a:lnTo>
                    <a:lnTo>
                      <a:pt x="1444" y="501"/>
                    </a:lnTo>
                    <a:lnTo>
                      <a:pt x="1460" y="528"/>
                    </a:lnTo>
                    <a:lnTo>
                      <a:pt x="1482" y="550"/>
                    </a:lnTo>
                    <a:lnTo>
                      <a:pt x="1541" y="593"/>
                    </a:lnTo>
                    <a:lnTo>
                      <a:pt x="1623" y="637"/>
                    </a:lnTo>
                    <a:lnTo>
                      <a:pt x="1715" y="670"/>
                    </a:lnTo>
                    <a:lnTo>
                      <a:pt x="1818" y="702"/>
                    </a:lnTo>
                    <a:lnTo>
                      <a:pt x="1927" y="735"/>
                    </a:lnTo>
                    <a:lnTo>
                      <a:pt x="2041" y="762"/>
                    </a:lnTo>
                    <a:lnTo>
                      <a:pt x="2155" y="789"/>
                    </a:lnTo>
                    <a:lnTo>
                      <a:pt x="2269" y="822"/>
                    </a:lnTo>
                    <a:lnTo>
                      <a:pt x="2372" y="849"/>
                    </a:lnTo>
                    <a:lnTo>
                      <a:pt x="2464" y="882"/>
                    </a:lnTo>
                    <a:lnTo>
                      <a:pt x="2551" y="920"/>
                    </a:lnTo>
                    <a:lnTo>
                      <a:pt x="2616" y="958"/>
                    </a:lnTo>
                    <a:lnTo>
                      <a:pt x="2638" y="980"/>
                    </a:lnTo>
                    <a:lnTo>
                      <a:pt x="2659" y="1007"/>
                    </a:lnTo>
                    <a:lnTo>
                      <a:pt x="2676" y="1029"/>
                    </a:lnTo>
                    <a:lnTo>
                      <a:pt x="2681" y="1056"/>
                    </a:lnTo>
                    <a:lnTo>
                      <a:pt x="2681" y="1083"/>
                    </a:lnTo>
                    <a:lnTo>
                      <a:pt x="2676" y="1105"/>
                    </a:lnTo>
                    <a:lnTo>
                      <a:pt x="2665" y="1127"/>
                    </a:lnTo>
                    <a:lnTo>
                      <a:pt x="2643" y="1149"/>
                    </a:lnTo>
                    <a:lnTo>
                      <a:pt x="2616" y="1170"/>
                    </a:lnTo>
                    <a:lnTo>
                      <a:pt x="2583" y="1187"/>
                    </a:lnTo>
                    <a:lnTo>
                      <a:pt x="2545" y="1208"/>
                    </a:lnTo>
                    <a:lnTo>
                      <a:pt x="2502" y="1225"/>
                    </a:lnTo>
                    <a:lnTo>
                      <a:pt x="2448" y="1241"/>
                    </a:lnTo>
                    <a:lnTo>
                      <a:pt x="2388" y="1257"/>
                    </a:lnTo>
                    <a:lnTo>
                      <a:pt x="2328" y="1274"/>
                    </a:lnTo>
                    <a:lnTo>
                      <a:pt x="2258" y="1290"/>
                    </a:lnTo>
                    <a:lnTo>
                      <a:pt x="2106" y="1328"/>
                    </a:lnTo>
                    <a:lnTo>
                      <a:pt x="1932" y="1372"/>
                    </a:lnTo>
                    <a:lnTo>
                      <a:pt x="1742" y="1421"/>
                    </a:lnTo>
                    <a:lnTo>
                      <a:pt x="1531" y="1475"/>
                    </a:lnTo>
                    <a:lnTo>
                      <a:pt x="1308" y="1540"/>
                    </a:lnTo>
                    <a:lnTo>
                      <a:pt x="1069" y="1617"/>
                    </a:lnTo>
                    <a:lnTo>
                      <a:pt x="820" y="1709"/>
                    </a:lnTo>
                    <a:lnTo>
                      <a:pt x="554" y="1818"/>
                    </a:lnTo>
                    <a:lnTo>
                      <a:pt x="282" y="1943"/>
                    </a:lnTo>
                    <a:lnTo>
                      <a:pt x="0" y="2085"/>
                    </a:lnTo>
                    <a:lnTo>
                      <a:pt x="152" y="2085"/>
                    </a:lnTo>
                    <a:lnTo>
                      <a:pt x="244" y="2074"/>
                    </a:lnTo>
                    <a:lnTo>
                      <a:pt x="386" y="1992"/>
                    </a:lnTo>
                    <a:lnTo>
                      <a:pt x="537" y="1910"/>
                    </a:lnTo>
                    <a:lnTo>
                      <a:pt x="700" y="1834"/>
                    </a:lnTo>
                    <a:lnTo>
                      <a:pt x="879" y="1763"/>
                    </a:lnTo>
                    <a:lnTo>
                      <a:pt x="1064" y="1693"/>
                    </a:lnTo>
                    <a:lnTo>
                      <a:pt x="1259" y="1622"/>
                    </a:lnTo>
                    <a:lnTo>
                      <a:pt x="1661" y="1497"/>
                    </a:lnTo>
                    <a:lnTo>
                      <a:pt x="1748" y="1470"/>
                    </a:lnTo>
                    <a:lnTo>
                      <a:pt x="1845" y="1442"/>
                    </a:lnTo>
                    <a:lnTo>
                      <a:pt x="2046" y="1393"/>
                    </a:lnTo>
                    <a:lnTo>
                      <a:pt x="2252" y="1339"/>
                    </a:lnTo>
                    <a:lnTo>
                      <a:pt x="2458" y="1285"/>
                    </a:lnTo>
                    <a:lnTo>
                      <a:pt x="2551" y="1263"/>
                    </a:lnTo>
                    <a:lnTo>
                      <a:pt x="2643" y="1236"/>
                    </a:lnTo>
                    <a:lnTo>
                      <a:pt x="2730" y="1214"/>
                    </a:lnTo>
                    <a:lnTo>
                      <a:pt x="2806" y="1192"/>
                    </a:lnTo>
                    <a:lnTo>
                      <a:pt x="2876" y="1170"/>
                    </a:lnTo>
                    <a:lnTo>
                      <a:pt x="2931" y="1149"/>
                    </a:lnTo>
                    <a:lnTo>
                      <a:pt x="2974" y="1132"/>
                    </a:lnTo>
                    <a:lnTo>
                      <a:pt x="3007" y="1116"/>
                    </a:lnTo>
                    <a:lnTo>
                      <a:pt x="3007" y="871"/>
                    </a:lnTo>
                    <a:lnTo>
                      <a:pt x="2941" y="860"/>
                    </a:lnTo>
                    <a:lnTo>
                      <a:pt x="2860" y="844"/>
                    </a:lnTo>
                    <a:lnTo>
                      <a:pt x="2773" y="827"/>
                    </a:lnTo>
                    <a:lnTo>
                      <a:pt x="2670" y="806"/>
                    </a:lnTo>
                    <a:lnTo>
                      <a:pt x="2567" y="784"/>
                    </a:lnTo>
                    <a:lnTo>
                      <a:pt x="2458" y="757"/>
                    </a:lnTo>
                    <a:lnTo>
                      <a:pt x="2241" y="702"/>
                    </a:lnTo>
                    <a:lnTo>
                      <a:pt x="2138" y="670"/>
                    </a:lnTo>
                    <a:lnTo>
                      <a:pt x="2046" y="637"/>
                    </a:lnTo>
                    <a:lnTo>
                      <a:pt x="1959" y="604"/>
                    </a:lnTo>
                    <a:lnTo>
                      <a:pt x="1883" y="566"/>
                    </a:lnTo>
                    <a:lnTo>
                      <a:pt x="1824" y="534"/>
                    </a:lnTo>
                    <a:lnTo>
                      <a:pt x="1780" y="495"/>
                    </a:lnTo>
                    <a:lnTo>
                      <a:pt x="1769" y="474"/>
                    </a:lnTo>
                    <a:lnTo>
                      <a:pt x="1758" y="457"/>
                    </a:lnTo>
                    <a:lnTo>
                      <a:pt x="1753" y="436"/>
                    </a:lnTo>
                    <a:lnTo>
                      <a:pt x="1758" y="419"/>
                    </a:lnTo>
                    <a:lnTo>
                      <a:pt x="1780" y="381"/>
                    </a:lnTo>
                    <a:lnTo>
                      <a:pt x="1813" y="343"/>
                    </a:lnTo>
                    <a:lnTo>
                      <a:pt x="1862" y="316"/>
                    </a:lnTo>
                    <a:lnTo>
                      <a:pt x="1921" y="289"/>
                    </a:lnTo>
                    <a:lnTo>
                      <a:pt x="1986" y="267"/>
                    </a:lnTo>
                    <a:lnTo>
                      <a:pt x="2062" y="245"/>
                    </a:lnTo>
                    <a:lnTo>
                      <a:pt x="2149" y="229"/>
                    </a:lnTo>
                    <a:lnTo>
                      <a:pt x="2236" y="213"/>
                    </a:lnTo>
                    <a:lnTo>
                      <a:pt x="2431" y="180"/>
                    </a:lnTo>
                    <a:lnTo>
                      <a:pt x="2627" y="158"/>
                    </a:lnTo>
                    <a:lnTo>
                      <a:pt x="2827" y="125"/>
                    </a:lnTo>
                    <a:lnTo>
                      <a:pt x="2920" y="109"/>
                    </a:lnTo>
                    <a:lnTo>
                      <a:pt x="3007" y="87"/>
                    </a:lnTo>
                    <a:lnTo>
                      <a:pt x="3007" y="0"/>
                    </a:lnTo>
                    <a:lnTo>
                      <a:pt x="2909" y="22"/>
                    </a:lnTo>
                    <a:lnTo>
                      <a:pt x="2795" y="44"/>
                    </a:lnTo>
                    <a:lnTo>
                      <a:pt x="2676" y="66"/>
                    </a:lnTo>
                    <a:lnTo>
                      <a:pt x="2551" y="82"/>
                    </a:lnTo>
                    <a:lnTo>
                      <a:pt x="2285" y="120"/>
                    </a:lnTo>
                    <a:lnTo>
                      <a:pt x="2155" y="136"/>
                    </a:lnTo>
                    <a:lnTo>
                      <a:pt x="2030" y="158"/>
                    </a:lnTo>
                    <a:lnTo>
                      <a:pt x="1905" y="174"/>
                    </a:lnTo>
                    <a:lnTo>
                      <a:pt x="1791" y="202"/>
                    </a:lnTo>
                    <a:lnTo>
                      <a:pt x="1688" y="229"/>
                    </a:lnTo>
                    <a:lnTo>
                      <a:pt x="1601" y="261"/>
                    </a:lnTo>
                    <a:lnTo>
                      <a:pt x="1525" y="300"/>
                    </a:lnTo>
                    <a:lnTo>
                      <a:pt x="1471" y="338"/>
                    </a:lnTo>
                    <a:lnTo>
                      <a:pt x="1455" y="359"/>
                    </a:lnTo>
                    <a:lnTo>
                      <a:pt x="1438" y="387"/>
                    </a:lnTo>
                    <a:lnTo>
                      <a:pt x="1427" y="414"/>
                    </a:lnTo>
                    <a:lnTo>
                      <a:pt x="1427" y="44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38" name="Freeform 8">
                <a:extLst>
                  <a:ext uri="{FF2B5EF4-FFF2-40B4-BE49-F238E27FC236}">
                    <a16:creationId xmlns:a16="http://schemas.microsoft.com/office/drawing/2014/main" id="{3F0B84BB-FDB3-49C1-BFDE-6EB4D7EE1A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73" y="87"/>
                <a:ext cx="1248" cy="539"/>
              </a:xfrm>
              <a:custGeom>
                <a:avLst/>
                <a:gdLst>
                  <a:gd name="T0" fmla="*/ 0 w 1248"/>
                  <a:gd name="T1" fmla="*/ 332 h 539"/>
                  <a:gd name="T2" fmla="*/ 0 w 1248"/>
                  <a:gd name="T3" fmla="*/ 360 h 539"/>
                  <a:gd name="T4" fmla="*/ 5 w 1248"/>
                  <a:gd name="T5" fmla="*/ 387 h 539"/>
                  <a:gd name="T6" fmla="*/ 27 w 1248"/>
                  <a:gd name="T7" fmla="*/ 414 h 539"/>
                  <a:gd name="T8" fmla="*/ 54 w 1248"/>
                  <a:gd name="T9" fmla="*/ 436 h 539"/>
                  <a:gd name="T10" fmla="*/ 92 w 1248"/>
                  <a:gd name="T11" fmla="*/ 463 h 539"/>
                  <a:gd name="T12" fmla="*/ 141 w 1248"/>
                  <a:gd name="T13" fmla="*/ 490 h 539"/>
                  <a:gd name="T14" fmla="*/ 195 w 1248"/>
                  <a:gd name="T15" fmla="*/ 512 h 539"/>
                  <a:gd name="T16" fmla="*/ 255 w 1248"/>
                  <a:gd name="T17" fmla="*/ 539 h 539"/>
                  <a:gd name="T18" fmla="*/ 212 w 1248"/>
                  <a:gd name="T19" fmla="*/ 517 h 539"/>
                  <a:gd name="T20" fmla="*/ 179 w 1248"/>
                  <a:gd name="T21" fmla="*/ 490 h 539"/>
                  <a:gd name="T22" fmla="*/ 157 w 1248"/>
                  <a:gd name="T23" fmla="*/ 468 h 539"/>
                  <a:gd name="T24" fmla="*/ 141 w 1248"/>
                  <a:gd name="T25" fmla="*/ 447 h 539"/>
                  <a:gd name="T26" fmla="*/ 136 w 1248"/>
                  <a:gd name="T27" fmla="*/ 425 h 539"/>
                  <a:gd name="T28" fmla="*/ 136 w 1248"/>
                  <a:gd name="T29" fmla="*/ 403 h 539"/>
                  <a:gd name="T30" fmla="*/ 141 w 1248"/>
                  <a:gd name="T31" fmla="*/ 381 h 539"/>
                  <a:gd name="T32" fmla="*/ 157 w 1248"/>
                  <a:gd name="T33" fmla="*/ 365 h 539"/>
                  <a:gd name="T34" fmla="*/ 179 w 1248"/>
                  <a:gd name="T35" fmla="*/ 343 h 539"/>
                  <a:gd name="T36" fmla="*/ 201 w 1248"/>
                  <a:gd name="T37" fmla="*/ 327 h 539"/>
                  <a:gd name="T38" fmla="*/ 266 w 1248"/>
                  <a:gd name="T39" fmla="*/ 294 h 539"/>
                  <a:gd name="T40" fmla="*/ 353 w 1248"/>
                  <a:gd name="T41" fmla="*/ 262 h 539"/>
                  <a:gd name="T42" fmla="*/ 445 w 1248"/>
                  <a:gd name="T43" fmla="*/ 234 h 539"/>
                  <a:gd name="T44" fmla="*/ 554 w 1248"/>
                  <a:gd name="T45" fmla="*/ 213 h 539"/>
                  <a:gd name="T46" fmla="*/ 662 w 1248"/>
                  <a:gd name="T47" fmla="*/ 191 h 539"/>
                  <a:gd name="T48" fmla="*/ 890 w 1248"/>
                  <a:gd name="T49" fmla="*/ 153 h 539"/>
                  <a:gd name="T50" fmla="*/ 993 w 1248"/>
                  <a:gd name="T51" fmla="*/ 136 h 539"/>
                  <a:gd name="T52" fmla="*/ 1091 w 1248"/>
                  <a:gd name="T53" fmla="*/ 120 h 539"/>
                  <a:gd name="T54" fmla="*/ 1178 w 1248"/>
                  <a:gd name="T55" fmla="*/ 115 h 539"/>
                  <a:gd name="T56" fmla="*/ 1248 w 1248"/>
                  <a:gd name="T57" fmla="*/ 104 h 539"/>
                  <a:gd name="T58" fmla="*/ 1248 w 1248"/>
                  <a:gd name="T59" fmla="*/ 0 h 539"/>
                  <a:gd name="T60" fmla="*/ 1161 w 1248"/>
                  <a:gd name="T61" fmla="*/ 22 h 539"/>
                  <a:gd name="T62" fmla="*/ 1069 w 1248"/>
                  <a:gd name="T63" fmla="*/ 38 h 539"/>
                  <a:gd name="T64" fmla="*/ 874 w 1248"/>
                  <a:gd name="T65" fmla="*/ 71 h 539"/>
                  <a:gd name="T66" fmla="*/ 673 w 1248"/>
                  <a:gd name="T67" fmla="*/ 93 h 539"/>
                  <a:gd name="T68" fmla="*/ 483 w 1248"/>
                  <a:gd name="T69" fmla="*/ 126 h 539"/>
                  <a:gd name="T70" fmla="*/ 391 w 1248"/>
                  <a:gd name="T71" fmla="*/ 142 h 539"/>
                  <a:gd name="T72" fmla="*/ 309 w 1248"/>
                  <a:gd name="T73" fmla="*/ 158 h 539"/>
                  <a:gd name="T74" fmla="*/ 228 w 1248"/>
                  <a:gd name="T75" fmla="*/ 180 h 539"/>
                  <a:gd name="T76" fmla="*/ 163 w 1248"/>
                  <a:gd name="T77" fmla="*/ 202 h 539"/>
                  <a:gd name="T78" fmla="*/ 103 w 1248"/>
                  <a:gd name="T79" fmla="*/ 229 h 539"/>
                  <a:gd name="T80" fmla="*/ 54 w 1248"/>
                  <a:gd name="T81" fmla="*/ 256 h 539"/>
                  <a:gd name="T82" fmla="*/ 22 w 1248"/>
                  <a:gd name="T83" fmla="*/ 294 h 539"/>
                  <a:gd name="T84" fmla="*/ 0 w 1248"/>
                  <a:gd name="T85" fmla="*/ 332 h 539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1248" h="539">
                    <a:moveTo>
                      <a:pt x="0" y="332"/>
                    </a:moveTo>
                    <a:lnTo>
                      <a:pt x="0" y="360"/>
                    </a:lnTo>
                    <a:lnTo>
                      <a:pt x="5" y="387"/>
                    </a:lnTo>
                    <a:lnTo>
                      <a:pt x="27" y="414"/>
                    </a:lnTo>
                    <a:lnTo>
                      <a:pt x="54" y="436"/>
                    </a:lnTo>
                    <a:lnTo>
                      <a:pt x="92" y="463"/>
                    </a:lnTo>
                    <a:lnTo>
                      <a:pt x="141" y="490"/>
                    </a:lnTo>
                    <a:lnTo>
                      <a:pt x="195" y="512"/>
                    </a:lnTo>
                    <a:lnTo>
                      <a:pt x="255" y="539"/>
                    </a:lnTo>
                    <a:lnTo>
                      <a:pt x="212" y="517"/>
                    </a:lnTo>
                    <a:lnTo>
                      <a:pt x="179" y="490"/>
                    </a:lnTo>
                    <a:lnTo>
                      <a:pt x="157" y="468"/>
                    </a:lnTo>
                    <a:lnTo>
                      <a:pt x="141" y="447"/>
                    </a:lnTo>
                    <a:lnTo>
                      <a:pt x="136" y="425"/>
                    </a:lnTo>
                    <a:lnTo>
                      <a:pt x="136" y="403"/>
                    </a:lnTo>
                    <a:lnTo>
                      <a:pt x="141" y="381"/>
                    </a:lnTo>
                    <a:lnTo>
                      <a:pt x="157" y="365"/>
                    </a:lnTo>
                    <a:lnTo>
                      <a:pt x="179" y="343"/>
                    </a:lnTo>
                    <a:lnTo>
                      <a:pt x="201" y="327"/>
                    </a:lnTo>
                    <a:lnTo>
                      <a:pt x="266" y="294"/>
                    </a:lnTo>
                    <a:lnTo>
                      <a:pt x="353" y="262"/>
                    </a:lnTo>
                    <a:lnTo>
                      <a:pt x="445" y="234"/>
                    </a:lnTo>
                    <a:lnTo>
                      <a:pt x="554" y="213"/>
                    </a:lnTo>
                    <a:lnTo>
                      <a:pt x="662" y="191"/>
                    </a:lnTo>
                    <a:lnTo>
                      <a:pt x="890" y="153"/>
                    </a:lnTo>
                    <a:lnTo>
                      <a:pt x="993" y="136"/>
                    </a:lnTo>
                    <a:lnTo>
                      <a:pt x="1091" y="120"/>
                    </a:lnTo>
                    <a:lnTo>
                      <a:pt x="1178" y="115"/>
                    </a:lnTo>
                    <a:lnTo>
                      <a:pt x="1248" y="104"/>
                    </a:lnTo>
                    <a:lnTo>
                      <a:pt x="1248" y="0"/>
                    </a:lnTo>
                    <a:lnTo>
                      <a:pt x="1161" y="22"/>
                    </a:lnTo>
                    <a:lnTo>
                      <a:pt x="1069" y="38"/>
                    </a:lnTo>
                    <a:lnTo>
                      <a:pt x="874" y="71"/>
                    </a:lnTo>
                    <a:lnTo>
                      <a:pt x="673" y="93"/>
                    </a:lnTo>
                    <a:lnTo>
                      <a:pt x="483" y="126"/>
                    </a:lnTo>
                    <a:lnTo>
                      <a:pt x="391" y="142"/>
                    </a:lnTo>
                    <a:lnTo>
                      <a:pt x="309" y="158"/>
                    </a:lnTo>
                    <a:lnTo>
                      <a:pt x="228" y="180"/>
                    </a:lnTo>
                    <a:lnTo>
                      <a:pt x="163" y="202"/>
                    </a:lnTo>
                    <a:lnTo>
                      <a:pt x="103" y="229"/>
                    </a:lnTo>
                    <a:lnTo>
                      <a:pt x="54" y="256"/>
                    </a:lnTo>
                    <a:lnTo>
                      <a:pt x="22" y="294"/>
                    </a:lnTo>
                    <a:lnTo>
                      <a:pt x="0" y="332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003D3D"/>
                  </a:gs>
                  <a:gs pos="100000">
                    <a:srgbClr val="004646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032" name="Freeform 9">
              <a:extLst>
                <a:ext uri="{FF2B5EF4-FFF2-40B4-BE49-F238E27FC236}">
                  <a16:creationId xmlns:a16="http://schemas.microsoft.com/office/drawing/2014/main" id="{DCA1BEF5-F6F7-4D05-A82D-8F44AF8B2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22" y="1341"/>
              <a:ext cx="1825" cy="1537"/>
            </a:xfrm>
            <a:custGeom>
              <a:avLst/>
              <a:gdLst>
                <a:gd name="T0" fmla="*/ 393 w 2296"/>
                <a:gd name="T1" fmla="*/ 1271 h 1469"/>
                <a:gd name="T2" fmla="*/ 542 w 2296"/>
                <a:gd name="T3" fmla="*/ 1213 h 1469"/>
                <a:gd name="T4" fmla="*/ 665 w 2296"/>
                <a:gd name="T5" fmla="*/ 1146 h 1469"/>
                <a:gd name="T6" fmla="*/ 765 w 2296"/>
                <a:gd name="T7" fmla="*/ 1075 h 1469"/>
                <a:gd name="T8" fmla="*/ 839 w 2296"/>
                <a:gd name="T9" fmla="*/ 997 h 1469"/>
                <a:gd name="T10" fmla="*/ 886 w 2296"/>
                <a:gd name="T11" fmla="*/ 906 h 1469"/>
                <a:gd name="T12" fmla="*/ 912 w 2296"/>
                <a:gd name="T13" fmla="*/ 801 h 1469"/>
                <a:gd name="T14" fmla="*/ 914 w 2296"/>
                <a:gd name="T15" fmla="*/ 671 h 1469"/>
                <a:gd name="T16" fmla="*/ 895 w 2296"/>
                <a:gd name="T17" fmla="*/ 547 h 1469"/>
                <a:gd name="T18" fmla="*/ 855 w 2296"/>
                <a:gd name="T19" fmla="*/ 436 h 1469"/>
                <a:gd name="T20" fmla="*/ 802 w 2296"/>
                <a:gd name="T21" fmla="*/ 332 h 1469"/>
                <a:gd name="T22" fmla="*/ 707 w 2296"/>
                <a:gd name="T23" fmla="*/ 188 h 1469"/>
                <a:gd name="T24" fmla="*/ 643 w 2296"/>
                <a:gd name="T25" fmla="*/ 110 h 1469"/>
                <a:gd name="T26" fmla="*/ 589 w 2296"/>
                <a:gd name="T27" fmla="*/ 51 h 1469"/>
                <a:gd name="T28" fmla="*/ 552 w 2296"/>
                <a:gd name="T29" fmla="*/ 10 h 1469"/>
                <a:gd name="T30" fmla="*/ 537 w 2296"/>
                <a:gd name="T31" fmla="*/ 0 h 1469"/>
                <a:gd name="T32" fmla="*/ 661 w 2296"/>
                <a:gd name="T33" fmla="*/ 143 h 1469"/>
                <a:gd name="T34" fmla="*/ 777 w 2296"/>
                <a:gd name="T35" fmla="*/ 306 h 1469"/>
                <a:gd name="T36" fmla="*/ 826 w 2296"/>
                <a:gd name="T37" fmla="*/ 391 h 1469"/>
                <a:gd name="T38" fmla="*/ 867 w 2296"/>
                <a:gd name="T39" fmla="*/ 481 h 1469"/>
                <a:gd name="T40" fmla="*/ 892 w 2296"/>
                <a:gd name="T41" fmla="*/ 572 h 1469"/>
                <a:gd name="T42" fmla="*/ 904 w 2296"/>
                <a:gd name="T43" fmla="*/ 671 h 1469"/>
                <a:gd name="T44" fmla="*/ 895 w 2296"/>
                <a:gd name="T45" fmla="*/ 762 h 1469"/>
                <a:gd name="T46" fmla="*/ 867 w 2296"/>
                <a:gd name="T47" fmla="*/ 841 h 1469"/>
                <a:gd name="T48" fmla="*/ 823 w 2296"/>
                <a:gd name="T49" fmla="*/ 906 h 1469"/>
                <a:gd name="T50" fmla="*/ 767 w 2296"/>
                <a:gd name="T51" fmla="*/ 959 h 1469"/>
                <a:gd name="T52" fmla="*/ 698 w 2296"/>
                <a:gd name="T53" fmla="*/ 1011 h 1469"/>
                <a:gd name="T54" fmla="*/ 540 w 2296"/>
                <a:gd name="T55" fmla="*/ 1088 h 1469"/>
                <a:gd name="T56" fmla="*/ 368 w 2296"/>
                <a:gd name="T57" fmla="*/ 1160 h 1469"/>
                <a:gd name="T58" fmla="*/ 208 w 2296"/>
                <a:gd name="T59" fmla="*/ 1233 h 1469"/>
                <a:gd name="T60" fmla="*/ 141 w 2296"/>
                <a:gd name="T61" fmla="*/ 1278 h 1469"/>
                <a:gd name="T62" fmla="*/ 82 w 2296"/>
                <a:gd name="T63" fmla="*/ 1323 h 1469"/>
                <a:gd name="T64" fmla="*/ 37 w 2296"/>
                <a:gd name="T65" fmla="*/ 1376 h 1469"/>
                <a:gd name="T66" fmla="*/ 9 w 2296"/>
                <a:gd name="T67" fmla="*/ 1441 h 1469"/>
                <a:gd name="T68" fmla="*/ 0 w 2296"/>
                <a:gd name="T69" fmla="*/ 1512 h 1469"/>
                <a:gd name="T70" fmla="*/ 11 w 2296"/>
                <a:gd name="T71" fmla="*/ 1589 h 1469"/>
                <a:gd name="T72" fmla="*/ 39 w 2296"/>
                <a:gd name="T73" fmla="*/ 1656 h 1469"/>
                <a:gd name="T74" fmla="*/ 79 w 2296"/>
                <a:gd name="T75" fmla="*/ 1708 h 1469"/>
                <a:gd name="T76" fmla="*/ 130 w 2296"/>
                <a:gd name="T77" fmla="*/ 1760 h 1469"/>
                <a:gd name="T78" fmla="*/ 87 w 2296"/>
                <a:gd name="T79" fmla="*/ 1694 h 1469"/>
                <a:gd name="T80" fmla="*/ 59 w 2296"/>
                <a:gd name="T81" fmla="*/ 1630 h 1469"/>
                <a:gd name="T82" fmla="*/ 48 w 2296"/>
                <a:gd name="T83" fmla="*/ 1564 h 1469"/>
                <a:gd name="T84" fmla="*/ 56 w 2296"/>
                <a:gd name="T85" fmla="*/ 1507 h 1469"/>
                <a:gd name="T86" fmla="*/ 85 w 2296"/>
                <a:gd name="T87" fmla="*/ 1448 h 1469"/>
                <a:gd name="T88" fmla="*/ 137 w 2296"/>
                <a:gd name="T89" fmla="*/ 1395 h 1469"/>
                <a:gd name="T90" fmla="*/ 211 w 2296"/>
                <a:gd name="T91" fmla="*/ 1343 h 1469"/>
                <a:gd name="T92" fmla="*/ 308 w 2296"/>
                <a:gd name="T93" fmla="*/ 1304 h 1469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2296" h="1469">
                  <a:moveTo>
                    <a:pt x="771" y="1088"/>
                  </a:moveTo>
                  <a:lnTo>
                    <a:pt x="982" y="1061"/>
                  </a:lnTo>
                  <a:lnTo>
                    <a:pt x="1178" y="1034"/>
                  </a:lnTo>
                  <a:lnTo>
                    <a:pt x="1357" y="1012"/>
                  </a:lnTo>
                  <a:lnTo>
                    <a:pt x="1520" y="985"/>
                  </a:lnTo>
                  <a:lnTo>
                    <a:pt x="1666" y="957"/>
                  </a:lnTo>
                  <a:lnTo>
                    <a:pt x="1796" y="930"/>
                  </a:lnTo>
                  <a:lnTo>
                    <a:pt x="1916" y="897"/>
                  </a:lnTo>
                  <a:lnTo>
                    <a:pt x="2013" y="870"/>
                  </a:lnTo>
                  <a:lnTo>
                    <a:pt x="2100" y="832"/>
                  </a:lnTo>
                  <a:lnTo>
                    <a:pt x="2171" y="800"/>
                  </a:lnTo>
                  <a:lnTo>
                    <a:pt x="2220" y="756"/>
                  </a:lnTo>
                  <a:lnTo>
                    <a:pt x="2263" y="712"/>
                  </a:lnTo>
                  <a:lnTo>
                    <a:pt x="2285" y="669"/>
                  </a:lnTo>
                  <a:lnTo>
                    <a:pt x="2296" y="614"/>
                  </a:lnTo>
                  <a:lnTo>
                    <a:pt x="2290" y="560"/>
                  </a:lnTo>
                  <a:lnTo>
                    <a:pt x="2269" y="500"/>
                  </a:lnTo>
                  <a:lnTo>
                    <a:pt x="2241" y="457"/>
                  </a:lnTo>
                  <a:lnTo>
                    <a:pt x="2198" y="408"/>
                  </a:lnTo>
                  <a:lnTo>
                    <a:pt x="2144" y="364"/>
                  </a:lnTo>
                  <a:lnTo>
                    <a:pt x="2079" y="321"/>
                  </a:lnTo>
                  <a:lnTo>
                    <a:pt x="2008" y="277"/>
                  </a:lnTo>
                  <a:lnTo>
                    <a:pt x="1927" y="234"/>
                  </a:lnTo>
                  <a:lnTo>
                    <a:pt x="1769" y="157"/>
                  </a:lnTo>
                  <a:lnTo>
                    <a:pt x="1688" y="125"/>
                  </a:lnTo>
                  <a:lnTo>
                    <a:pt x="1612" y="92"/>
                  </a:lnTo>
                  <a:lnTo>
                    <a:pt x="1536" y="65"/>
                  </a:lnTo>
                  <a:lnTo>
                    <a:pt x="1476" y="43"/>
                  </a:lnTo>
                  <a:lnTo>
                    <a:pt x="1422" y="27"/>
                  </a:lnTo>
                  <a:lnTo>
                    <a:pt x="1384" y="10"/>
                  </a:lnTo>
                  <a:lnTo>
                    <a:pt x="1357" y="5"/>
                  </a:lnTo>
                  <a:lnTo>
                    <a:pt x="1346" y="0"/>
                  </a:lnTo>
                  <a:lnTo>
                    <a:pt x="1498" y="54"/>
                  </a:lnTo>
                  <a:lnTo>
                    <a:pt x="1655" y="119"/>
                  </a:lnTo>
                  <a:lnTo>
                    <a:pt x="1807" y="185"/>
                  </a:lnTo>
                  <a:lnTo>
                    <a:pt x="1948" y="255"/>
                  </a:lnTo>
                  <a:lnTo>
                    <a:pt x="2013" y="288"/>
                  </a:lnTo>
                  <a:lnTo>
                    <a:pt x="2068" y="326"/>
                  </a:lnTo>
                  <a:lnTo>
                    <a:pt x="2122" y="364"/>
                  </a:lnTo>
                  <a:lnTo>
                    <a:pt x="2171" y="402"/>
                  </a:lnTo>
                  <a:lnTo>
                    <a:pt x="2209" y="440"/>
                  </a:lnTo>
                  <a:lnTo>
                    <a:pt x="2236" y="478"/>
                  </a:lnTo>
                  <a:lnTo>
                    <a:pt x="2252" y="522"/>
                  </a:lnTo>
                  <a:lnTo>
                    <a:pt x="2263" y="560"/>
                  </a:lnTo>
                  <a:lnTo>
                    <a:pt x="2258" y="598"/>
                  </a:lnTo>
                  <a:lnTo>
                    <a:pt x="2241" y="636"/>
                  </a:lnTo>
                  <a:lnTo>
                    <a:pt x="2214" y="669"/>
                  </a:lnTo>
                  <a:lnTo>
                    <a:pt x="2171" y="702"/>
                  </a:lnTo>
                  <a:lnTo>
                    <a:pt x="2122" y="729"/>
                  </a:lnTo>
                  <a:lnTo>
                    <a:pt x="2062" y="756"/>
                  </a:lnTo>
                  <a:lnTo>
                    <a:pt x="1997" y="778"/>
                  </a:lnTo>
                  <a:lnTo>
                    <a:pt x="1921" y="800"/>
                  </a:lnTo>
                  <a:lnTo>
                    <a:pt x="1834" y="821"/>
                  </a:lnTo>
                  <a:lnTo>
                    <a:pt x="1748" y="843"/>
                  </a:lnTo>
                  <a:lnTo>
                    <a:pt x="1552" y="876"/>
                  </a:lnTo>
                  <a:lnTo>
                    <a:pt x="1351" y="908"/>
                  </a:lnTo>
                  <a:lnTo>
                    <a:pt x="1134" y="941"/>
                  </a:lnTo>
                  <a:lnTo>
                    <a:pt x="923" y="968"/>
                  </a:lnTo>
                  <a:lnTo>
                    <a:pt x="716" y="995"/>
                  </a:lnTo>
                  <a:lnTo>
                    <a:pt x="521" y="1028"/>
                  </a:lnTo>
                  <a:lnTo>
                    <a:pt x="434" y="1044"/>
                  </a:lnTo>
                  <a:lnTo>
                    <a:pt x="353" y="1066"/>
                  </a:lnTo>
                  <a:lnTo>
                    <a:pt x="277" y="1082"/>
                  </a:lnTo>
                  <a:lnTo>
                    <a:pt x="206" y="1104"/>
                  </a:lnTo>
                  <a:lnTo>
                    <a:pt x="147" y="1126"/>
                  </a:lnTo>
                  <a:lnTo>
                    <a:pt x="92" y="1148"/>
                  </a:lnTo>
                  <a:lnTo>
                    <a:pt x="54" y="1175"/>
                  </a:lnTo>
                  <a:lnTo>
                    <a:pt x="22" y="1202"/>
                  </a:lnTo>
                  <a:lnTo>
                    <a:pt x="6" y="1229"/>
                  </a:lnTo>
                  <a:lnTo>
                    <a:pt x="0" y="1262"/>
                  </a:lnTo>
                  <a:lnTo>
                    <a:pt x="11" y="1295"/>
                  </a:lnTo>
                  <a:lnTo>
                    <a:pt x="27" y="1327"/>
                  </a:lnTo>
                  <a:lnTo>
                    <a:pt x="54" y="1355"/>
                  </a:lnTo>
                  <a:lnTo>
                    <a:pt x="98" y="1382"/>
                  </a:lnTo>
                  <a:lnTo>
                    <a:pt x="141" y="1404"/>
                  </a:lnTo>
                  <a:lnTo>
                    <a:pt x="196" y="1425"/>
                  </a:lnTo>
                  <a:lnTo>
                    <a:pt x="261" y="1447"/>
                  </a:lnTo>
                  <a:lnTo>
                    <a:pt x="326" y="1469"/>
                  </a:lnTo>
                  <a:lnTo>
                    <a:pt x="266" y="1442"/>
                  </a:lnTo>
                  <a:lnTo>
                    <a:pt x="217" y="1414"/>
                  </a:lnTo>
                  <a:lnTo>
                    <a:pt x="174" y="1387"/>
                  </a:lnTo>
                  <a:lnTo>
                    <a:pt x="147" y="1360"/>
                  </a:lnTo>
                  <a:lnTo>
                    <a:pt x="125" y="1333"/>
                  </a:lnTo>
                  <a:lnTo>
                    <a:pt x="120" y="1306"/>
                  </a:lnTo>
                  <a:lnTo>
                    <a:pt x="125" y="1278"/>
                  </a:lnTo>
                  <a:lnTo>
                    <a:pt x="141" y="1257"/>
                  </a:lnTo>
                  <a:lnTo>
                    <a:pt x="174" y="1229"/>
                  </a:lnTo>
                  <a:lnTo>
                    <a:pt x="212" y="1208"/>
                  </a:lnTo>
                  <a:lnTo>
                    <a:pt x="272" y="1186"/>
                  </a:lnTo>
                  <a:lnTo>
                    <a:pt x="342" y="1164"/>
                  </a:lnTo>
                  <a:lnTo>
                    <a:pt x="423" y="1142"/>
                  </a:lnTo>
                  <a:lnTo>
                    <a:pt x="527" y="1121"/>
                  </a:lnTo>
                  <a:lnTo>
                    <a:pt x="641" y="1104"/>
                  </a:lnTo>
                  <a:lnTo>
                    <a:pt x="771" y="1088"/>
                  </a:lnTo>
                  <a:close/>
                </a:path>
              </a:pathLst>
            </a:custGeom>
            <a:gradFill rotWithShape="0">
              <a:gsLst>
                <a:gs pos="0">
                  <a:srgbClr val="003B3B"/>
                </a:gs>
                <a:gs pos="100000">
                  <a:srgbClr val="004646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33" name="Freeform 10">
              <a:extLst>
                <a:ext uri="{FF2B5EF4-FFF2-40B4-BE49-F238E27FC236}">
                  <a16:creationId xmlns:a16="http://schemas.microsoft.com/office/drawing/2014/main" id="{31F4FBC7-BFEE-4C6E-BB08-871358A5F3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5758" cy="1776"/>
            </a:xfrm>
            <a:custGeom>
              <a:avLst/>
              <a:gdLst>
                <a:gd name="T0" fmla="*/ 0 w 5740"/>
                <a:gd name="T1" fmla="*/ 0 h 1906"/>
                <a:gd name="T2" fmla="*/ 0 w 5740"/>
                <a:gd name="T3" fmla="*/ 1437 h 1906"/>
                <a:gd name="T4" fmla="*/ 5812 w 5740"/>
                <a:gd name="T5" fmla="*/ 1437 h 1906"/>
                <a:gd name="T6" fmla="*/ 5812 w 5740"/>
                <a:gd name="T7" fmla="*/ 0 h 1906"/>
                <a:gd name="T8" fmla="*/ 0 w 5740"/>
                <a:gd name="T9" fmla="*/ 0 h 19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40" h="1906">
                  <a:moveTo>
                    <a:pt x="0" y="0"/>
                  </a:moveTo>
                  <a:lnTo>
                    <a:pt x="0" y="1906"/>
                  </a:lnTo>
                  <a:lnTo>
                    <a:pt x="5740" y="1906"/>
                  </a:lnTo>
                  <a:lnTo>
                    <a:pt x="5740" y="0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000000"/>
                </a:gs>
                <a:gs pos="100000">
                  <a:srgbClr val="00464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027" name="Rectangle 11">
            <a:extLst>
              <a:ext uri="{FF2B5EF4-FFF2-40B4-BE49-F238E27FC236}">
                <a16:creationId xmlns:a16="http://schemas.microsoft.com/office/drawing/2014/main" id="{B666616F-BFCB-4672-AE84-FCE613191AB9}"/>
              </a:ext>
            </a:extLst>
          </p:cNvPr>
          <p:cNvSpPr>
            <a:spLocks noGrp="1" noRot="1" noChangeArrowheads="1"/>
          </p:cNvSpPr>
          <p:nvPr>
            <p:ph type="title" idx="4294967295"/>
          </p:nvPr>
        </p:nvSpPr>
        <p:spPr bwMode="auto">
          <a:xfrm>
            <a:off x="482600" y="368300"/>
            <a:ext cx="82296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Times New Roman" panose="02020603050405020304" pitchFamily="18" charset="0"/>
              </a:rPr>
              <a:t>单击此处编辑母版标题样式</a:t>
            </a:r>
          </a:p>
        </p:txBody>
      </p:sp>
      <p:sp>
        <p:nvSpPr>
          <p:cNvPr id="1028" name="Rectangle 12">
            <a:extLst>
              <a:ext uri="{FF2B5EF4-FFF2-40B4-BE49-F238E27FC236}">
                <a16:creationId xmlns:a16="http://schemas.microsoft.com/office/drawing/2014/main" id="{C7E11EEF-181F-4229-A214-EAAC65D7C3A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85763" y="1314450"/>
            <a:ext cx="8372475" cy="5175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Times New Roman" panose="02020603050405020304" pitchFamily="18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Times New Roman" panose="02020603050405020304" pitchFamily="18" charset="0"/>
              </a:rPr>
              <a:t> 第二级</a:t>
            </a:r>
          </a:p>
          <a:p>
            <a:pPr lvl="2"/>
            <a:r>
              <a:rPr lang="zh-CN" altLang="en-US">
                <a:sym typeface="Times New Roman" panose="02020603050405020304" pitchFamily="18" charset="0"/>
              </a:rPr>
              <a:t> 第三级</a:t>
            </a:r>
          </a:p>
        </p:txBody>
      </p:sp>
      <p:sp>
        <p:nvSpPr>
          <p:cNvPr id="1029" name="Text Box 13">
            <a:extLst>
              <a:ext uri="{FF2B5EF4-FFF2-40B4-BE49-F238E27FC236}">
                <a16:creationId xmlns:a16="http://schemas.microsoft.com/office/drawing/2014/main" id="{C1A008AA-085D-4875-B1F9-70FF6D662F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0"/>
            <a:ext cx="25558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zh-CN" altLang="en-US" b="1">
                <a:solidFill>
                  <a:srgbClr val="FFFFFF"/>
                </a:solidFill>
                <a:sym typeface="Times New Roman" panose="02020603050405020304" pitchFamily="18" charset="0"/>
              </a:rPr>
              <a:t>第</a:t>
            </a:r>
            <a:r>
              <a:rPr lang="en-US" altLang="zh-CN" b="1">
                <a:solidFill>
                  <a:srgbClr val="FFFFFF"/>
                </a:solidFill>
                <a:sym typeface="Times New Roman" panose="02020603050405020304" pitchFamily="18" charset="0"/>
              </a:rPr>
              <a:t>3</a:t>
            </a:r>
            <a:r>
              <a:rPr lang="zh-CN" altLang="en-US" b="1">
                <a:solidFill>
                  <a:srgbClr val="FFFFFF"/>
                </a:solidFill>
                <a:sym typeface="Times New Roman" panose="02020603050405020304" pitchFamily="18" charset="0"/>
              </a:rPr>
              <a:t>章 </a:t>
            </a:r>
            <a:r>
              <a:rPr lang="en-US" altLang="zh-CN" b="1">
                <a:solidFill>
                  <a:srgbClr val="FFFFFF"/>
                </a:solidFill>
                <a:sym typeface="Times New Roman" panose="02020603050405020304" pitchFamily="18" charset="0"/>
              </a:rPr>
              <a:t>8086 </a:t>
            </a:r>
            <a:r>
              <a:rPr lang="zh-CN" altLang="en-US" b="1">
                <a:solidFill>
                  <a:srgbClr val="FFFFFF"/>
                </a:solidFill>
                <a:sym typeface="Times New Roman" panose="02020603050405020304" pitchFamily="18" charset="0"/>
              </a:rPr>
              <a:t>指令系统</a:t>
            </a:r>
            <a:endParaRPr lang="zh-CN" altLang="en-US" sz="2400"/>
          </a:p>
        </p:txBody>
      </p:sp>
      <p:sp>
        <p:nvSpPr>
          <p:cNvPr id="1030" name="TextBox 14">
            <a:extLst>
              <a:ext uri="{FF2B5EF4-FFF2-40B4-BE49-F238E27FC236}">
                <a16:creationId xmlns:a16="http://schemas.microsoft.com/office/drawing/2014/main" id="{481219BF-8853-4C6D-BC66-AD405476B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1615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Clr>
                <a:srgbClr val="B4B9BE"/>
              </a:buClr>
              <a:buFont typeface="Arial" panose="020B0604020202020204" pitchFamily="34" charset="0"/>
              <a:defRPr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>
              <a:defRPr/>
            </a:pPr>
            <a:r>
              <a:rPr lang="en-US" altLang="zh-CN" b="1">
                <a:solidFill>
                  <a:srgbClr val="FFC000"/>
                </a:solidFill>
                <a:ea typeface="黑体" panose="02010609060101010101" pitchFamily="49" charset="-122"/>
                <a:sym typeface="Times New Roman" panose="02020603050405020304" pitchFamily="18" charset="0"/>
              </a:rPr>
              <a:t>3.1  8086</a:t>
            </a:r>
            <a:r>
              <a:rPr lang="zh-CN" altLang="en-US" b="1">
                <a:solidFill>
                  <a:srgbClr val="FFC000"/>
                </a:solidFill>
                <a:ea typeface="黑体" panose="02010609060101010101" pitchFamily="49" charset="-122"/>
                <a:sym typeface="Times New Roman" panose="02020603050405020304" pitchFamily="18" charset="0"/>
              </a:rPr>
              <a:t>寻址方式</a:t>
            </a:r>
            <a:endParaRPr lang="zh-CN" altLang="en-US" sz="2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15" r:id="rId1"/>
    <p:sldLayoutId id="2147484216" r:id="rId2"/>
    <p:sldLayoutId id="2147484217" r:id="rId3"/>
    <p:sldLayoutId id="2147484218" r:id="rId4"/>
    <p:sldLayoutId id="2147484219" r:id="rId5"/>
    <p:sldLayoutId id="2147484220" r:id="rId6"/>
    <p:sldLayoutId id="2147484221" r:id="rId7"/>
    <p:sldLayoutId id="2147484222" r:id="rId8"/>
    <p:sldLayoutId id="2147484223" r:id="rId9"/>
    <p:sldLayoutId id="2147484224" r:id="rId10"/>
    <p:sldLayoutId id="2147484225" r:id="rId11"/>
  </p:sldLayoutIdLst>
  <p:transition spd="slow">
    <p:plus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rgbClr val="FFFF99"/>
          </a:solidFill>
          <a:latin typeface="+mj-lt"/>
          <a:ea typeface="+mj-ea"/>
          <a:cs typeface="+mj-cs"/>
          <a:sym typeface="Times New Roman" panose="02020603050405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FFFF99"/>
          </a:solidFill>
          <a:latin typeface="Times New Roman" panose="02020603050405020304" pitchFamily="18" charset="0"/>
          <a:ea typeface="黑体" panose="02010609060101010101" pitchFamily="49" charset="-122"/>
          <a:sym typeface="Times New Roman" panose="02020603050405020304" pitchFamily="18" charset="0"/>
        </a:defRPr>
      </a:lvl9pPr>
    </p:titleStyle>
    <p:bodyStyle>
      <a:lvl1pPr marL="533400" indent="-5334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u"/>
        <a:defRPr sz="26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914400" lvl="1" indent="-4572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Ø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1371600" lvl="2" indent="-4572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buChar char="ü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1752600" lvl="3" indent="-381000" algn="l" defTabSz="0" rtl="0" eaLnBrk="0" fontAlgn="base" hangingPunct="0">
        <a:spcBef>
          <a:spcPct val="30000"/>
        </a:spcBef>
        <a:spcAft>
          <a:spcPct val="0"/>
        </a:spcAft>
        <a:buClr>
          <a:srgbClr val="FFFF00"/>
        </a:buClr>
        <a:buFont typeface="Wingdings" panose="05000000000000000000" pitchFamily="2" charset="2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4pPr>
      <a:lvl5pPr marL="2209800" lvl="4" indent="-381000" algn="l" defTabSz="0" rtl="0" eaLnBrk="0" fontAlgn="base" hangingPunct="0"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5pPr>
      <a:lvl6pPr marL="2514600" lvl="5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6pPr>
      <a:lvl7pPr marL="2971800" lvl="6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7pPr>
      <a:lvl8pPr marL="3429000" lvl="7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8pPr>
      <a:lvl9pPr marL="3886200" lvl="8" indent="-228600" algn="l" defTabSz="0" eaLnBrk="0" fontAlgn="base" latinLnBrk="0" hangingPunct="0">
        <a:lnSpc>
          <a:spcPct val="100000"/>
        </a:lnSpc>
        <a:spcBef>
          <a:spcPct val="30000"/>
        </a:spcBef>
        <a:spcAft>
          <a:spcPct val="0"/>
        </a:spcAft>
        <a:buClr>
          <a:srgbClr val="B4B9BE"/>
        </a:buClr>
        <a:buFont typeface="Wingdings" panose="05000000000000000000" pitchFamily="2" charset="2"/>
        <a:buChar char="l"/>
        <a:defRPr sz="24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9pPr>
    </p:bodyStyle>
    <p:otherStyle>
      <a:lvl1pPr marL="0" lvl="0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>
            <a:extLst>
              <a:ext uri="{FF2B5EF4-FFF2-40B4-BE49-F238E27FC236}">
                <a16:creationId xmlns:a16="http://schemas.microsoft.com/office/drawing/2014/main" id="{1E73446B-EC20-4DF6-8CEA-17648829496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642938" y="500063"/>
            <a:ext cx="7775575" cy="917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Footlight MT Light" panose="0204060206030A020304" pitchFamily="18" charset="0"/>
              </a:rPr>
              <a:t>单击此处编辑母版标题样式</a:t>
            </a:r>
          </a:p>
        </p:txBody>
      </p:sp>
      <p:sp>
        <p:nvSpPr>
          <p:cNvPr id="2051" name="文本占位符 2">
            <a:extLst>
              <a:ext uri="{FF2B5EF4-FFF2-40B4-BE49-F238E27FC236}">
                <a16:creationId xmlns:a16="http://schemas.microsoft.com/office/drawing/2014/main" id="{9B18ADD2-5FF9-4BE1-A8B4-6FE153ABDA8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Times New Roman" panose="02020603050405020304" pitchFamily="18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Times New Roman" panose="02020603050405020304" pitchFamily="18" charset="0"/>
              </a:rPr>
              <a:t>第二级</a:t>
            </a:r>
          </a:p>
          <a:p>
            <a:pPr lvl="2"/>
            <a:r>
              <a:rPr lang="zh-CN" altLang="en-US">
                <a:sym typeface="Times New Roman" panose="02020603050405020304" pitchFamily="18" charset="0"/>
              </a:rPr>
              <a:t>第三级</a:t>
            </a:r>
          </a:p>
        </p:txBody>
      </p:sp>
      <p:pic>
        <p:nvPicPr>
          <p:cNvPr id="2052" name="图片 8">
            <a:extLst>
              <a:ext uri="{FF2B5EF4-FFF2-40B4-BE49-F238E27FC236}">
                <a16:creationId xmlns:a16="http://schemas.microsoft.com/office/drawing/2014/main" id="{F70BEBDD-F5CE-499A-848D-9B3A0F004E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938" y="428625"/>
            <a:ext cx="1008062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图片 10">
            <a:extLst>
              <a:ext uri="{FF2B5EF4-FFF2-40B4-BE49-F238E27FC236}">
                <a16:creationId xmlns:a16="http://schemas.microsoft.com/office/drawing/2014/main" id="{79F5597C-829C-49D9-BC7E-1598EF98E54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-10000" contrast="-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14938"/>
            <a:ext cx="1471613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26" r:id="rId1"/>
    <p:sldLayoutId id="2147484227" r:id="rId2"/>
    <p:sldLayoutId id="2147484228" r:id="rId3"/>
    <p:sldLayoutId id="2147484229" r:id="rId4"/>
    <p:sldLayoutId id="2147484230" r:id="rId5"/>
    <p:sldLayoutId id="2147484231" r:id="rId6"/>
    <p:sldLayoutId id="2147484232" r:id="rId7"/>
    <p:sldLayoutId id="2147484233" r:id="rId8"/>
    <p:sldLayoutId id="2147484234" r:id="rId9"/>
    <p:sldLayoutId id="2147484235" r:id="rId10"/>
    <p:sldLayoutId id="2147484236" r:id="rId11"/>
  </p:sldLayoutIdLst>
  <p:transition spd="slow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+mj-ea"/>
          <a:cs typeface="+mj-cs"/>
          <a:sym typeface="Footlight MT Light" panose="0204060206030A020304" pitchFamily="18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楷体_GB2312" pitchFamily="1" charset="-122"/>
          <a:ea typeface="楷体_GB2312" pitchFamily="1" charset="-122"/>
          <a:sym typeface="Footlight MT Light" panose="0204060206030A020304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楷体_GB2312" pitchFamily="1" charset="-122"/>
          <a:ea typeface="楷体_GB2312" pitchFamily="1" charset="-122"/>
          <a:sym typeface="Footlight MT Light" panose="0204060206030A020304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楷体_GB2312" pitchFamily="1" charset="-122"/>
          <a:ea typeface="楷体_GB2312" pitchFamily="1" charset="-122"/>
          <a:sym typeface="Footlight MT Light" panose="0204060206030A020304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楷体_GB2312" pitchFamily="1" charset="-122"/>
          <a:ea typeface="楷体_GB2312" pitchFamily="1" charset="-122"/>
          <a:sym typeface="Footlight MT Light" panose="0204060206030A020304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楷体_GB2312" pitchFamily="1" charset="-122"/>
          <a:ea typeface="楷体_GB2312" pitchFamily="1" charset="-122"/>
          <a:sym typeface="Footlight MT Light" panose="0204060206030A020304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楷体_GB2312" pitchFamily="1" charset="-122"/>
          <a:ea typeface="楷体_GB2312" pitchFamily="1" charset="-122"/>
          <a:sym typeface="Footlight MT Light" panose="0204060206030A020304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楷体_GB2312" pitchFamily="1" charset="-122"/>
          <a:ea typeface="楷体_GB2312" pitchFamily="1" charset="-122"/>
          <a:sym typeface="Footlight MT Light" panose="0204060206030A020304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楷体_GB2312" pitchFamily="1" charset="-122"/>
          <a:ea typeface="楷体_GB2312" pitchFamily="1" charset="-122"/>
          <a:sym typeface="Footlight MT Light" panose="0204060206030A020304" pitchFamily="18" charset="0"/>
        </a:defRPr>
      </a:lvl9pPr>
    </p:titleStyle>
    <p:bodyStyle>
      <a:lvl1pPr marL="342900" indent="-342900" algn="l" defTabSz="0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anose="05020102010507070707" pitchFamily="18" charset="2"/>
        <a:buChar char=""/>
        <a:defRPr sz="28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1pPr>
      <a:lvl2pPr marL="742950" lvl="1" indent="-285750" algn="l" defTabSz="0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anose="05020102010507070707" pitchFamily="18" charset="2"/>
        <a:buChar char=""/>
        <a:defRPr sz="2600" b="1" kern="1200">
          <a:solidFill>
            <a:srgbClr val="FFFF00"/>
          </a:solidFill>
          <a:latin typeface="+mn-lt"/>
          <a:ea typeface="+mn-ea"/>
          <a:cs typeface="+mn-cs"/>
          <a:sym typeface="Times New Roman" panose="02020603050405020304" pitchFamily="18" charset="0"/>
        </a:defRPr>
      </a:lvl2pPr>
      <a:lvl3pPr marL="1143000" lvl="2" indent="-228600" algn="l" defTabSz="0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anose="05020102010507070707" pitchFamily="18" charset="2"/>
        <a:buChar char=""/>
        <a:defRPr sz="2400" b="1" kern="1200">
          <a:solidFill>
            <a:schemeClr val="tx1"/>
          </a:solidFill>
          <a:latin typeface="+mn-lt"/>
          <a:ea typeface="+mn-ea"/>
          <a:cs typeface="+mn-cs"/>
          <a:sym typeface="Times New Roman" panose="02020603050405020304" pitchFamily="18" charset="0"/>
        </a:defRPr>
      </a:lvl3pPr>
      <a:lvl4pPr marL="1600200" lvl="3" indent="-228600" algn="l" defTabSz="0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anose="05020102010507070707" pitchFamily="18" charset="2"/>
        <a:buChar char=""/>
        <a:defRPr sz="2000" b="1" kern="1200">
          <a:solidFill>
            <a:schemeClr val="tx1"/>
          </a:solidFill>
          <a:latin typeface="+mn-lt"/>
          <a:ea typeface="+mn-ea"/>
          <a:cs typeface="+mn-cs"/>
          <a:sym typeface="Goudy Old Style" panose="02020502050305020303" pitchFamily="18" charset="0"/>
        </a:defRPr>
      </a:lvl4pPr>
      <a:lvl5pPr marL="2057400" lvl="4" indent="-228600" algn="l" defTabSz="0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60000"/>
        <a:buFont typeface="Wingdings 2" panose="05020102010507070707" pitchFamily="18" charset="2"/>
        <a:buChar char=""/>
        <a:defRPr sz="2000" b="1" kern="1200">
          <a:solidFill>
            <a:schemeClr val="tx1"/>
          </a:solidFill>
          <a:latin typeface="+mn-lt"/>
          <a:ea typeface="+mn-ea"/>
          <a:cs typeface="+mn-cs"/>
          <a:sym typeface="Goudy Old Style" panose="02020502050305020303" pitchFamily="18" charset="0"/>
        </a:defRPr>
      </a:lvl5pPr>
      <a:lvl6pPr marL="2514600" lvl="5" indent="-228600" algn="l" defTabSz="0" eaLnBrk="1" fontAlgn="base" latinLnBrk="0" hangingPunct="1">
        <a:lnSpc>
          <a:spcPct val="100000"/>
        </a:lnSpc>
        <a:spcBef>
          <a:spcPct val="20000"/>
        </a:spcBef>
        <a:buClr>
          <a:schemeClr val="tx2"/>
        </a:buClr>
        <a:buSzPct val="60000"/>
        <a:buFont typeface="Wingdings 2" panose="05020102010507070707" pitchFamily="18" charset="2"/>
        <a:buChar char=""/>
        <a:defRPr sz="2000" b="1" kern="1200">
          <a:solidFill>
            <a:schemeClr val="tx1"/>
          </a:solidFill>
          <a:latin typeface="+mn-lt"/>
          <a:ea typeface="+mn-ea"/>
          <a:cs typeface="+mn-cs"/>
          <a:sym typeface="Goudy Old Style" panose="02020502050305020303" pitchFamily="18" charset="0"/>
        </a:defRPr>
      </a:lvl6pPr>
      <a:lvl7pPr marL="2971800" lvl="6" indent="-228600" algn="l" defTabSz="0" eaLnBrk="1" fontAlgn="base" latinLnBrk="0" hangingPunct="1">
        <a:lnSpc>
          <a:spcPct val="100000"/>
        </a:lnSpc>
        <a:spcBef>
          <a:spcPct val="20000"/>
        </a:spcBef>
        <a:buClr>
          <a:schemeClr val="tx2"/>
        </a:buClr>
        <a:buSzPct val="60000"/>
        <a:buFont typeface="Wingdings 2" panose="05020102010507070707" pitchFamily="18" charset="2"/>
        <a:buChar char=""/>
        <a:defRPr sz="2000" b="1" kern="1200">
          <a:solidFill>
            <a:schemeClr val="tx1"/>
          </a:solidFill>
          <a:latin typeface="+mn-lt"/>
          <a:ea typeface="+mn-ea"/>
          <a:cs typeface="+mn-cs"/>
          <a:sym typeface="Goudy Old Style" panose="02020502050305020303" pitchFamily="18" charset="0"/>
        </a:defRPr>
      </a:lvl7pPr>
      <a:lvl8pPr marL="3429000" lvl="7" indent="-228600" algn="l" defTabSz="0" eaLnBrk="1" fontAlgn="base" latinLnBrk="0" hangingPunct="1">
        <a:lnSpc>
          <a:spcPct val="100000"/>
        </a:lnSpc>
        <a:spcBef>
          <a:spcPct val="20000"/>
        </a:spcBef>
        <a:buClr>
          <a:schemeClr val="tx2"/>
        </a:buClr>
        <a:buSzPct val="60000"/>
        <a:buFont typeface="Wingdings 2" panose="05020102010507070707" pitchFamily="18" charset="2"/>
        <a:buChar char=""/>
        <a:defRPr sz="2000" b="1" kern="1200">
          <a:solidFill>
            <a:schemeClr val="tx1"/>
          </a:solidFill>
          <a:latin typeface="+mn-lt"/>
          <a:ea typeface="+mn-ea"/>
          <a:cs typeface="+mn-cs"/>
          <a:sym typeface="Goudy Old Style" panose="02020502050305020303" pitchFamily="18" charset="0"/>
        </a:defRPr>
      </a:lvl8pPr>
      <a:lvl9pPr marL="3886200" lvl="8" indent="-228600" algn="l" defTabSz="0" eaLnBrk="1" fontAlgn="base" latinLnBrk="0" hangingPunct="1">
        <a:lnSpc>
          <a:spcPct val="100000"/>
        </a:lnSpc>
        <a:spcBef>
          <a:spcPct val="20000"/>
        </a:spcBef>
        <a:buClr>
          <a:schemeClr val="tx2"/>
        </a:buClr>
        <a:buSzPct val="60000"/>
        <a:buFont typeface="Wingdings 2" panose="05020102010507070707" pitchFamily="18" charset="2"/>
        <a:buChar char=""/>
        <a:defRPr sz="2000" b="1" kern="1200">
          <a:solidFill>
            <a:schemeClr val="tx1"/>
          </a:solidFill>
          <a:latin typeface="+mn-lt"/>
          <a:ea typeface="+mn-ea"/>
          <a:cs typeface="+mn-cs"/>
          <a:sym typeface="Goudy Old Style" panose="02020502050305020303" pitchFamily="18" charset="0"/>
        </a:defRPr>
      </a:lvl9pPr>
    </p:bodyStyle>
    <p:otherStyle>
      <a:lvl1pPr marL="0" lvl="0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占位符 1">
            <a:extLst>
              <a:ext uri="{FF2B5EF4-FFF2-40B4-BE49-F238E27FC236}">
                <a16:creationId xmlns:a16="http://schemas.microsoft.com/office/drawing/2014/main" id="{632931F1-C97F-4D9C-8278-37BD318D2873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3075" name="文本占位符 2">
            <a:extLst>
              <a:ext uri="{FF2B5EF4-FFF2-40B4-BE49-F238E27FC236}">
                <a16:creationId xmlns:a16="http://schemas.microsoft.com/office/drawing/2014/main" id="{23B2B57C-EB72-4CC3-BBD5-90CFC5C65190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en-US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en-US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en-US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3076" name="日期占位符 3">
            <a:extLst>
              <a:ext uri="{FF2B5EF4-FFF2-40B4-BE49-F238E27FC236}">
                <a16:creationId xmlns:a16="http://schemas.microsoft.com/office/drawing/2014/main" id="{414F1581-3D28-4AAF-B6A8-74D6A3146F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l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200" noProof="1">
                <a:solidFill>
                  <a:srgbClr val="898989"/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>
              <a:defRPr/>
            </a:pPr>
            <a:fld id="{B4623FD9-C1FF-4E68-935F-F24CCD5426E7}" type="datetime1">
              <a:rPr lang="zh-CN" altLang="en-US"/>
              <a:pPr>
                <a:defRPr/>
              </a:pPr>
              <a:t>2025/9/14</a:t>
            </a:fld>
            <a:endParaRPr lang="zh-CN" altLang="en-US">
              <a:cs typeface="+mn-cs"/>
            </a:endParaRPr>
          </a:p>
        </p:txBody>
      </p:sp>
      <p:sp>
        <p:nvSpPr>
          <p:cNvPr id="3077" name="页脚占位符 4">
            <a:extLst>
              <a:ext uri="{FF2B5EF4-FFF2-40B4-BE49-F238E27FC236}">
                <a16:creationId xmlns:a16="http://schemas.microsoft.com/office/drawing/2014/main" id="{D9D0EB11-B4A5-4EAB-9A40-3EBFC6BDC9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ctr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3078" name="灯片编号占位符 5">
            <a:extLst>
              <a:ext uri="{FF2B5EF4-FFF2-40B4-BE49-F238E27FC236}">
                <a16:creationId xmlns:a16="http://schemas.microsoft.com/office/drawing/2014/main" id="{CEE20C7F-3A39-4934-B2B4-DF6238467C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r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200" noProof="1">
                <a:solidFill>
                  <a:srgbClr val="898989"/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>
              <a:defRPr/>
            </a:pPr>
            <a:fld id="{CF952820-66E6-41A7-9CCE-89729686CC1F}" type="slidenum">
              <a:rPr lang="zh-CN" altLang="en-US"/>
              <a:pPr>
                <a:defRPr/>
              </a:pPr>
              <a:t>‹#›</a:t>
            </a:fld>
            <a:endParaRPr lang="zh-CN" altLang="en-US">
              <a:cs typeface="+mn-cs"/>
            </a:endParaRPr>
          </a:p>
        </p:txBody>
      </p:sp>
      <p:pic>
        <p:nvPicPr>
          <p:cNvPr id="3079" name="图片 6">
            <a:extLst>
              <a:ext uri="{FF2B5EF4-FFF2-40B4-BE49-F238E27FC236}">
                <a16:creationId xmlns:a16="http://schemas.microsoft.com/office/drawing/2014/main" id="{70B6BCBE-2E50-407D-BE3A-5A937C6D86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938" y="428625"/>
            <a:ext cx="1008062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0" name="图片 7">
            <a:extLst>
              <a:ext uri="{FF2B5EF4-FFF2-40B4-BE49-F238E27FC236}">
                <a16:creationId xmlns:a16="http://schemas.microsoft.com/office/drawing/2014/main" id="{9969E621-44E1-4FB7-BFB6-6553BB652E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-10000" contrast="-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14938"/>
            <a:ext cx="1471613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7" r:id="rId1"/>
    <p:sldLayoutId id="2147484238" r:id="rId2"/>
    <p:sldLayoutId id="2147484239" r:id="rId3"/>
    <p:sldLayoutId id="2147484240" r:id="rId4"/>
    <p:sldLayoutId id="2147484241" r:id="rId5"/>
    <p:sldLayoutId id="2147484242" r:id="rId6"/>
    <p:sldLayoutId id="2147484243" r:id="rId7"/>
    <p:sldLayoutId id="2147484244" r:id="rId8"/>
    <p:sldLayoutId id="2147484245" r:id="rId9"/>
    <p:sldLayoutId id="2147484246" r:id="rId10"/>
    <p:sldLayoutId id="2147484247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rgbClr val="0070C0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rgbClr val="0070C0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9pPr>
    </p:bodyStyle>
    <p:otherStyle>
      <a:lvl1pPr marL="0" lvl="0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占位符 1">
            <a:extLst>
              <a:ext uri="{FF2B5EF4-FFF2-40B4-BE49-F238E27FC236}">
                <a16:creationId xmlns:a16="http://schemas.microsoft.com/office/drawing/2014/main" id="{63C60541-BE3D-4A6A-8A65-11979648F161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Calibri" panose="020F0502020204030204" pitchFamily="34" charset="0"/>
              </a:rPr>
              <a:t>单击此处编辑母版标题样式</a:t>
            </a:r>
          </a:p>
        </p:txBody>
      </p:sp>
      <p:sp>
        <p:nvSpPr>
          <p:cNvPr id="4099" name="文本占位符 2">
            <a:extLst>
              <a:ext uri="{FF2B5EF4-FFF2-40B4-BE49-F238E27FC236}">
                <a16:creationId xmlns:a16="http://schemas.microsoft.com/office/drawing/2014/main" id="{CF36D090-C66D-432B-A4EE-BAF42304601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>
                <a:sym typeface="Calibri" panose="020F0502020204030204" pitchFamily="34" charset="0"/>
              </a:rPr>
              <a:t>单击此处编辑母版文本样式</a:t>
            </a:r>
          </a:p>
          <a:p>
            <a:pPr lvl="1"/>
            <a:r>
              <a:rPr lang="zh-CN" altLang="en-US">
                <a:sym typeface="Calibri" panose="020F0502020204030204" pitchFamily="34" charset="0"/>
              </a:rPr>
              <a:t>第二级</a:t>
            </a:r>
          </a:p>
          <a:p>
            <a:pPr lvl="2"/>
            <a:r>
              <a:rPr lang="zh-CN" altLang="en-US">
                <a:sym typeface="Calibri" panose="020F0502020204030204" pitchFamily="34" charset="0"/>
              </a:rPr>
              <a:t>第三级</a:t>
            </a:r>
          </a:p>
          <a:p>
            <a:pPr lvl="3"/>
            <a:r>
              <a:rPr lang="zh-CN" altLang="en-US">
                <a:sym typeface="Calibri" panose="020F0502020204030204" pitchFamily="34" charset="0"/>
              </a:rPr>
              <a:t>第四级</a:t>
            </a:r>
          </a:p>
          <a:p>
            <a:pPr lvl="4"/>
            <a:r>
              <a:rPr lang="zh-CN" altLang="en-US">
                <a:sym typeface="Calibri" panose="020F0502020204030204" pitchFamily="34" charset="0"/>
              </a:rPr>
              <a:t>第五级</a:t>
            </a:r>
          </a:p>
        </p:txBody>
      </p:sp>
      <p:sp>
        <p:nvSpPr>
          <p:cNvPr id="4100" name="日期占位符 3">
            <a:extLst>
              <a:ext uri="{FF2B5EF4-FFF2-40B4-BE49-F238E27FC236}">
                <a16:creationId xmlns:a16="http://schemas.microsoft.com/office/drawing/2014/main" id="{87FC33CF-811C-4D0A-A9BB-185B0B19B2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l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200" noProof="1">
                <a:solidFill>
                  <a:srgbClr val="898989"/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>
              <a:defRPr/>
            </a:pPr>
            <a:fld id="{64B006A1-CA9A-4232-82F8-70019F04FE18}" type="datetime1">
              <a:rPr lang="zh-CN" altLang="en-US"/>
              <a:pPr>
                <a:defRPr/>
              </a:pPr>
              <a:t>2025/9/14</a:t>
            </a:fld>
            <a:endParaRPr lang="zh-CN" altLang="en-US">
              <a:cs typeface="+mn-cs"/>
            </a:endParaRPr>
          </a:p>
        </p:txBody>
      </p:sp>
      <p:sp>
        <p:nvSpPr>
          <p:cNvPr id="4101" name="页脚占位符 4">
            <a:extLst>
              <a:ext uri="{FF2B5EF4-FFF2-40B4-BE49-F238E27FC236}">
                <a16:creationId xmlns:a16="http://schemas.microsoft.com/office/drawing/2014/main" id="{070880A7-2F28-435B-9500-2E2B4183CE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ctr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4102" name="灯片编号占位符 5">
            <a:extLst>
              <a:ext uri="{FF2B5EF4-FFF2-40B4-BE49-F238E27FC236}">
                <a16:creationId xmlns:a16="http://schemas.microsoft.com/office/drawing/2014/main" id="{45088C2E-249B-443E-9C68-6795FE7FBB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 w="9525">
            <a:noFill/>
          </a:ln>
        </p:spPr>
        <p:txBody>
          <a:bodyPr vert="horz" anchor="ctr"/>
          <a:lstStyle>
            <a:lvl1pPr algn="r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200" noProof="1">
                <a:solidFill>
                  <a:srgbClr val="898989"/>
                </a:solidFill>
                <a:latin typeface="Times New Roman" panose="02020603050405020304" pitchFamily="18" charset="0"/>
                <a:cs typeface="+mn-ea"/>
              </a:defRPr>
            </a:lvl1pPr>
          </a:lstStyle>
          <a:p>
            <a:pPr>
              <a:defRPr/>
            </a:pPr>
            <a:fld id="{B08F4A30-3B82-46ED-89C7-DD7099EF59EC}" type="slidenum">
              <a:rPr lang="zh-CN" altLang="en-US"/>
              <a:pPr>
                <a:defRPr/>
              </a:pPr>
              <a:t>‹#›</a:t>
            </a:fld>
            <a:endParaRPr lang="zh-CN" altLang="en-US">
              <a:cs typeface="+mn-cs"/>
            </a:endParaRPr>
          </a:p>
        </p:txBody>
      </p:sp>
      <p:pic>
        <p:nvPicPr>
          <p:cNvPr id="4103" name="图片 6">
            <a:extLst>
              <a:ext uri="{FF2B5EF4-FFF2-40B4-BE49-F238E27FC236}">
                <a16:creationId xmlns:a16="http://schemas.microsoft.com/office/drawing/2014/main" id="{FD977C2D-AD26-4812-B01A-D9256F3C4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35938" y="428625"/>
            <a:ext cx="1008062" cy="1428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04" name="图片 7">
            <a:extLst>
              <a:ext uri="{FF2B5EF4-FFF2-40B4-BE49-F238E27FC236}">
                <a16:creationId xmlns:a16="http://schemas.microsoft.com/office/drawing/2014/main" id="{BE03BB6D-00EF-41ED-9D6C-684B985D4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lum bright="-10000" contrast="-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214938"/>
            <a:ext cx="1471613" cy="1643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48" r:id="rId1"/>
    <p:sldLayoutId id="2147484249" r:id="rId2"/>
    <p:sldLayoutId id="2147484250" r:id="rId3"/>
    <p:sldLayoutId id="2147484251" r:id="rId4"/>
    <p:sldLayoutId id="2147484252" r:id="rId5"/>
    <p:sldLayoutId id="2147484253" r:id="rId6"/>
    <p:sldLayoutId id="2147484254" r:id="rId7"/>
    <p:sldLayoutId id="2147484255" r:id="rId8"/>
    <p:sldLayoutId id="2147484256" r:id="rId9"/>
    <p:sldLayoutId id="2147484257" r:id="rId10"/>
    <p:sldLayoutId id="2147484258" r:id="rId11"/>
  </p:sldLayoutIdLst>
  <p:txStyles>
    <p:titleStyle>
      <a:lvl1pPr marL="914400" indent="-914400"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  <a:sym typeface="Calibri" panose="020F0502020204030204" pitchFamily="34" charset="0"/>
        </a:defRPr>
      </a:lvl1pPr>
      <a:lvl2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2pPr>
      <a:lvl3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3pPr>
      <a:lvl4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4pPr>
      <a:lvl5pPr marL="914400" indent="-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5pPr>
      <a:lvl6pPr marL="13716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6pPr>
      <a:lvl7pPr marL="18288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7pPr>
      <a:lvl8pPr marL="22860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8pPr>
      <a:lvl9pPr marL="2743200" indent="-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  <a:sym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  <a:sym typeface="Calibri" panose="020F0502020204030204" pitchFamily="34" charset="0"/>
        </a:defRPr>
      </a:lvl9pPr>
    </p:bodyStyle>
    <p:otherStyle>
      <a:lvl1pPr marL="0" lvl="0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C1A994A-F932-46F8-B4EE-C16A318351EE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68313" y="765175"/>
            <a:ext cx="8229600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9D84B382-09B3-46E6-882C-42FE62902EF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66725" y="1773238"/>
            <a:ext cx="8229600" cy="4319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411B4E28-FA40-43E6-9100-1BA001DACD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Clr>
                <a:srgbClr val="B4B9BE"/>
              </a:buClr>
              <a:buFont typeface="Arial" panose="020B0604020202020204" pitchFamily="34" charset="0"/>
              <a:buNone/>
              <a:defRPr sz="14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3218F1CC-DBA4-49FD-9254-9B12BA9C45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4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9FBCAA1D-536D-4730-8CDC-4A7268F56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400" noProof="1">
                <a:latin typeface="Times New Roman" panose="02020603050405020304" pitchFamily="18" charset="0"/>
                <a:cs typeface="+mn-ea"/>
              </a:defRPr>
            </a:lvl1pPr>
          </a:lstStyle>
          <a:p>
            <a:pPr>
              <a:defRPr/>
            </a:pPr>
            <a:fld id="{630BFC06-FA0E-48E5-BB28-5512837D7687}" type="slidenum">
              <a:rPr lang="zh-CN" altLang="en-US"/>
              <a:pPr>
                <a:defRPr/>
              </a:pPr>
              <a:t>‹#›</a:t>
            </a:fld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9" r:id="rId1"/>
    <p:sldLayoutId id="2147484260" r:id="rId2"/>
    <p:sldLayoutId id="2147484261" r:id="rId3"/>
    <p:sldLayoutId id="2147484262" r:id="rId4"/>
    <p:sldLayoutId id="2147484263" r:id="rId5"/>
    <p:sldLayoutId id="2147484264" r:id="rId6"/>
    <p:sldLayoutId id="2147484265" r:id="rId7"/>
    <p:sldLayoutId id="2147484266" r:id="rId8"/>
    <p:sldLayoutId id="2147484267" r:id="rId9"/>
    <p:sldLayoutId id="2147484268" r:id="rId10"/>
    <p:sldLayoutId id="2147484269" r:id="rId11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>
          <a:solidFill>
            <a:schemeClr val="tx2"/>
          </a:solidFill>
          <a:latin typeface="Arial" panose="020B0604020202020204" pitchFamily="34" charset="0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1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EBC6C3C5-F440-4E88-B6A0-4CC577C89FA4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9AF87671-3EE6-44BD-B313-8D3B3F4F32E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9B0AFCA1-A8F6-4F9D-94C9-714551C4FC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eaLnBrk="1" hangingPunct="1">
              <a:buClr>
                <a:srgbClr val="B4B9BE"/>
              </a:buClr>
              <a:buFont typeface="Arial" panose="020B0604020202020204" pitchFamily="34" charset="0"/>
              <a:buNone/>
              <a:defRPr sz="14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3" name="Rectangle 5">
            <a:extLst>
              <a:ext uri="{FF2B5EF4-FFF2-40B4-BE49-F238E27FC236}">
                <a16:creationId xmlns:a16="http://schemas.microsoft.com/office/drawing/2014/main" id="{EBA1283C-CFDA-47F4-9CDB-57E2EC721E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400" noProof="1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174" name="Rectangle 6">
            <a:extLst>
              <a:ext uri="{FF2B5EF4-FFF2-40B4-BE49-F238E27FC236}">
                <a16:creationId xmlns:a16="http://schemas.microsoft.com/office/drawing/2014/main" id="{C5A10622-8400-407D-A3A4-8A42941ABC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 eaLnBrk="1" hangingPunct="1">
              <a:buClr>
                <a:srgbClr val="B4B9BE"/>
              </a:buClr>
              <a:buFont typeface="Arial" panose="020B0604020202020204" pitchFamily="34" charset="0"/>
              <a:buNone/>
              <a:defRPr sz="1400" noProof="1">
                <a:latin typeface="Times New Roman" panose="02020603050405020304" pitchFamily="18" charset="0"/>
                <a:cs typeface="+mn-ea"/>
              </a:defRPr>
            </a:lvl1pPr>
          </a:lstStyle>
          <a:p>
            <a:pPr>
              <a:defRPr/>
            </a:pPr>
            <a:fld id="{93853D9F-66FC-4583-AB52-BA85E173823F}" type="slidenum">
              <a:rPr lang="zh-CN" altLang="en-US"/>
              <a:pPr>
                <a:defRPr/>
              </a:pPr>
              <a:t>‹#›</a:t>
            </a:fld>
            <a:endParaRPr lang="zh-CN" altLang="en-US"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70" r:id="rId1"/>
    <p:sldLayoutId id="2147484271" r:id="rId2"/>
    <p:sldLayoutId id="2147484272" r:id="rId3"/>
    <p:sldLayoutId id="2147484273" r:id="rId4"/>
    <p:sldLayoutId id="2147484274" r:id="rId5"/>
    <p:sldLayoutId id="2147484275" r:id="rId6"/>
    <p:sldLayoutId id="2147484276" r:id="rId7"/>
    <p:sldLayoutId id="2147484277" r:id="rId8"/>
    <p:sldLayoutId id="2147484278" r:id="rId9"/>
    <p:sldLayoutId id="2147484279" r:id="rId10"/>
    <p:sldLayoutId id="2147484280" r:id="rId11"/>
  </p:sldLayoutIdLst>
  <p:transition>
    <p:fade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0" fontAlgn="base" latinLnBrk="0" hangingPunct="0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just" defTabSz="914400" eaLnBrk="0" fontAlgn="base" latinLnBrk="0" hangingPunct="0">
        <a:lnSpc>
          <a:spcPct val="100000"/>
        </a:lnSpc>
        <a:spcBef>
          <a:spcPct val="0"/>
        </a:spcBef>
        <a:spcAft>
          <a:spcPct val="0"/>
        </a:spcAft>
        <a:buClr>
          <a:srgbClr val="B4B9BE"/>
        </a:buClr>
        <a:buFont typeface="Arial" panose="020B0604020202020204" pitchFamily="34" charset="0"/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" Target="slide23.xml"/><Relationship Id="rId1" Type="http://schemas.openxmlformats.org/officeDocument/2006/relationships/slideLayout" Target="../slideLayouts/slideLayout5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8">
            <a:extLst>
              <a:ext uri="{FF2B5EF4-FFF2-40B4-BE49-F238E27FC236}">
                <a16:creationId xmlns:a16="http://schemas.microsoft.com/office/drawing/2014/main" id="{00CE1323-5A51-46FA-9766-DDC9AFBC8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28600"/>
            <a:ext cx="3095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Clr>
                <a:srgbClr val="B4B9BE"/>
              </a:buClr>
              <a:buFontTx/>
              <a:buNone/>
            </a:pPr>
            <a:endParaRPr lang="zh-CN" altLang="en-US" sz="2400">
              <a:solidFill>
                <a:srgbClr val="FFFFFF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</p:txBody>
      </p:sp>
      <p:sp>
        <p:nvSpPr>
          <p:cNvPr id="53251" name="Rectangle 9">
            <a:extLst>
              <a:ext uri="{FF2B5EF4-FFF2-40B4-BE49-F238E27FC236}">
                <a16:creationId xmlns:a16="http://schemas.microsoft.com/office/drawing/2014/main" id="{68E39D81-A227-4010-B1EB-FF5018DE9D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20650"/>
            <a:ext cx="330200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en-US" altLang="zh-CN" sz="1000">
                <a:solidFill>
                  <a:srgbClr val="0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M/</a:t>
            </a:r>
            <a:endParaRPr lang="en-US" altLang="zh-CN" sz="2400">
              <a:latin typeface="Times New Roman" panose="02020603050405020304" pitchFamily="18" charset="0"/>
            </a:endParaRPr>
          </a:p>
        </p:txBody>
      </p:sp>
      <p:sp>
        <p:nvSpPr>
          <p:cNvPr id="53252" name="Rectangle 10">
            <a:extLst>
              <a:ext uri="{FF2B5EF4-FFF2-40B4-BE49-F238E27FC236}">
                <a16:creationId xmlns:a16="http://schemas.microsoft.com/office/drawing/2014/main" id="{96E0DFED-3FBC-4125-808C-E1C8A07FFC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325"/>
            <a:ext cx="220663" cy="260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zh-CN" altLang="en-US" sz="1100">
                <a:sym typeface="Arial" panose="020B0604020202020204" pitchFamily="34" charset="0"/>
              </a:rPr>
              <a:t> </a:t>
            </a:r>
            <a:endParaRPr lang="zh-CN" altLang="en-US" sz="2400">
              <a:latin typeface="Times New Roman" panose="02020603050405020304" pitchFamily="18" charset="0"/>
            </a:endParaRPr>
          </a:p>
        </p:txBody>
      </p:sp>
      <p:sp>
        <p:nvSpPr>
          <p:cNvPr id="9221" name="标题 1">
            <a:extLst>
              <a:ext uri="{FF2B5EF4-FFF2-40B4-BE49-F238E27FC236}">
                <a16:creationId xmlns:a16="http://schemas.microsoft.com/office/drawing/2014/main" id="{D08DEEC5-710C-44CE-824A-3E09DB96698E}"/>
              </a:ext>
            </a:extLst>
          </p:cNvPr>
          <p:cNvSpPr>
            <a:spLocks noGrp="1"/>
          </p:cNvSpPr>
          <p:nvPr/>
        </p:nvSpPr>
        <p:spPr>
          <a:xfrm>
            <a:off x="393700" y="806450"/>
            <a:ext cx="8534400" cy="48895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 sz="4800" b="1" noProof="1">
                <a:solidFill>
                  <a:schemeClr val="accent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  <a:cs typeface="+mn-ea"/>
                <a:sym typeface="方正姚体" panose="02010601030101010101" pitchFamily="2" charset="-122"/>
              </a:rPr>
              <a:t>第  </a:t>
            </a:r>
            <a:r>
              <a:rPr lang="en-US" altLang="x-none" sz="4800" b="1" noProof="1">
                <a:solidFill>
                  <a:schemeClr val="accent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  <a:cs typeface="+mn-ea"/>
                <a:sym typeface="方正姚体" panose="02010601030101010101" pitchFamily="2" charset="-122"/>
              </a:rPr>
              <a:t>3 </a:t>
            </a:r>
            <a:r>
              <a:rPr lang="zh-CN" altLang="en-US" sz="4800" b="1" noProof="1">
                <a:solidFill>
                  <a:schemeClr val="accent1"/>
                </a:solidFill>
                <a:effectLst>
                  <a:glow rad="228600">
                    <a:schemeClr val="accent4">
                      <a:satMod val="175000"/>
                      <a:alpha val="40000"/>
                    </a:schemeClr>
                  </a:glow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方正姚体" panose="02010601030101010101" pitchFamily="2" charset="-122"/>
                <a:ea typeface="方正姚体" panose="02010601030101010101" pitchFamily="2" charset="-122"/>
                <a:cs typeface="+mn-ea"/>
                <a:sym typeface="方正姚体" panose="02010601030101010101" pitchFamily="2" charset="-122"/>
              </a:rPr>
              <a:t>章</a:t>
            </a:r>
            <a:endParaRPr lang="zh-CN" altLang="en-US" sz="4800" b="1" noProof="1">
              <a:solidFill>
                <a:schemeClr val="accent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方正姚体" panose="02010601030101010101" pitchFamily="2" charset="-122"/>
              <a:ea typeface="方正姚体" panose="02010601030101010101" pitchFamily="2" charset="-122"/>
              <a:sym typeface="方正姚体" panose="02010601030101010101" pitchFamily="2" charset="-122"/>
            </a:endParaRPr>
          </a:p>
          <a:p>
            <a:pPr algn="ctr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endParaRPr lang="zh-CN" altLang="en-US" sz="4800" b="1" noProof="1">
              <a:solidFill>
                <a:schemeClr val="accent1"/>
              </a:solidFill>
              <a:effectLst>
                <a:glow rad="228600">
                  <a:schemeClr val="accent4">
                    <a:satMod val="175000"/>
                    <a:alpha val="40000"/>
                  </a:schemeClr>
                </a:glow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方正姚体" panose="02010601030101010101" pitchFamily="2" charset="-122"/>
              <a:ea typeface="方正姚体" panose="02010601030101010101" pitchFamily="2" charset="-122"/>
              <a:sym typeface="方正姚体" panose="02010601030101010101" pitchFamily="2" charset="-122"/>
            </a:endParaRPr>
          </a:p>
          <a:p>
            <a:pPr algn="ctr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en-US" altLang="x-none" sz="4800" b="1" noProof="1">
                <a:solidFill>
                  <a:srgbClr val="0033C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华文中宋" panose="02010600040101010101" pitchFamily="2" charset="-122"/>
                <a:cs typeface="+mn-ea"/>
                <a:sym typeface="Times New Roman" panose="02020603050405020304" pitchFamily="18" charset="0"/>
              </a:rPr>
              <a:t>8086</a:t>
            </a:r>
            <a:r>
              <a:rPr lang="zh-CN" altLang="en-US" sz="4800" b="1" noProof="1">
                <a:solidFill>
                  <a:srgbClr val="0033C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华文中宋" panose="02010600040101010101" pitchFamily="2" charset="-122"/>
                <a:cs typeface="+mn-ea"/>
                <a:sym typeface="Times New Roman" panose="02020603050405020304" pitchFamily="18" charset="0"/>
              </a:rPr>
              <a:t>的寻址方式和指令系统</a:t>
            </a:r>
          </a:p>
          <a:p>
            <a:pPr algn="ctr" eaLnBrk="1" hangingPunct="1">
              <a:spcBef>
                <a:spcPts val="3000"/>
              </a:spcBef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en-US" altLang="zh-CN" sz="3600" b="1" noProof="1">
                <a:solidFill>
                  <a:srgbClr val="0033C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华文中宋" panose="02010600040101010101" pitchFamily="2" charset="-122"/>
                <a:cs typeface="+mn-ea"/>
                <a:sym typeface="Times New Roman" panose="02020603050405020304" pitchFamily="18" charset="0"/>
              </a:rPr>
              <a:t>PART1</a:t>
            </a:r>
            <a:r>
              <a:rPr lang="en-US" altLang="zh-CN" sz="3600" b="1" noProof="1">
                <a:solidFill>
                  <a:srgbClr val="CC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华文中宋" panose="02010600040101010101" pitchFamily="2" charset="-122"/>
                <a:cs typeface="+mn-ea"/>
                <a:sym typeface="Times New Roman" panose="02020603050405020304" pitchFamily="18" charset="0"/>
              </a:rPr>
              <a:t> </a:t>
            </a:r>
            <a:r>
              <a:rPr lang="zh-CN" altLang="en-US" sz="3600" b="1" noProof="1">
                <a:solidFill>
                  <a:srgbClr val="CC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ea typeface="华文中宋" panose="02010600040101010101" pitchFamily="2" charset="-122"/>
                <a:cs typeface="+mn-ea"/>
                <a:sym typeface="Times New Roman" panose="02020603050405020304" pitchFamily="18" charset="0"/>
              </a:rPr>
              <a:t>寻址方式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标题 1">
            <a:extLst>
              <a:ext uri="{FF2B5EF4-FFF2-40B4-BE49-F238E27FC236}">
                <a16:creationId xmlns:a16="http://schemas.microsoft.com/office/drawing/2014/main" id="{FBAE8F5B-7A26-48DE-A42F-E4D197077915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1016000" y="1295400"/>
            <a:ext cx="7489825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lnSpc>
                <a:spcPct val="130000"/>
              </a:lnSpc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zh-CN" altLang="en-US" sz="4000">
                <a:solidFill>
                  <a:schemeClr val="accent2"/>
                </a:solidFill>
                <a:latin typeface="黑体" panose="02010609060101010101" pitchFamily="49" charset="-122"/>
                <a:ea typeface="黑体" panose="02010609060101010101" pitchFamily="49" charset="-122"/>
                <a:sym typeface="Times New Roman" panose="02020603050405020304" pitchFamily="18" charset="0"/>
              </a:rPr>
              <a:t>本章主要内容：</a:t>
            </a:r>
            <a:br>
              <a:rPr lang="zh-CN" altLang="en-US" sz="4000">
                <a:solidFill>
                  <a:srgbClr val="FFC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en-US" altLang="zh-CN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§3.1 8086</a:t>
            </a:r>
            <a:r>
              <a:rPr lang="zh-CN" altLang="en-US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的寻址方式</a:t>
            </a:r>
            <a:br>
              <a:rPr lang="zh-CN" altLang="en-US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en-US" altLang="zh-CN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§3.2  </a:t>
            </a:r>
            <a:r>
              <a:rPr lang="zh-CN" altLang="en-US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指令的机器码表示方法 </a:t>
            </a:r>
            <a:r>
              <a:rPr lang="en-US" altLang="zh-CN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*</a:t>
            </a:r>
            <a:br>
              <a:rPr lang="zh-CN" altLang="en-US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en-US" altLang="zh-CN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§3.3</a:t>
            </a:r>
            <a:r>
              <a:rPr lang="zh-CN" altLang="en-US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zh-CN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8086</a:t>
            </a:r>
            <a:r>
              <a:rPr lang="zh-CN" altLang="en-US" sz="4000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的指令系统</a:t>
            </a:r>
            <a:br>
              <a:rPr lang="zh-CN" altLang="en-US" sz="4000">
                <a:solidFill>
                  <a:srgbClr val="FFC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</a:br>
            <a:r>
              <a:rPr lang="en-US" altLang="zh-CN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	*</a:t>
            </a:r>
            <a:r>
              <a:rPr lang="zh-CN" altLang="en-US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注：</a:t>
            </a:r>
            <a:r>
              <a:rPr lang="en-US" altLang="zh-CN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3.2</a:t>
            </a:r>
            <a:r>
              <a:rPr lang="zh-CN" altLang="en-US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节不做考核要求</a:t>
            </a:r>
            <a:endParaRPr lang="en-US" altLang="zh-CN">
              <a:solidFill>
                <a:srgbClr val="FFC000"/>
              </a:solidFill>
              <a:latin typeface="华文楷体" panose="02010600040101010101" pitchFamily="2" charset="-122"/>
              <a:ea typeface="华文楷体" panose="02010600040101010101" pitchFamily="2" charset="-122"/>
              <a:sym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en-US" altLang="zh-CN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          </a:t>
            </a:r>
            <a:r>
              <a:rPr lang="zh-CN" altLang="en-US" sz="240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参见教材</a:t>
            </a:r>
            <a:r>
              <a:rPr lang="en-US" altLang="zh-CN" sz="240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page 62~66</a:t>
            </a:r>
            <a:r>
              <a:rPr lang="zh-CN" altLang="en-US" sz="2400">
                <a:solidFill>
                  <a:srgbClr val="FFC000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Times New Roman" panose="02020603050405020304" pitchFamily="18" charset="0"/>
              </a:rPr>
              <a:t>，学完寻址方式后可以看懂</a:t>
            </a:r>
          </a:p>
        </p:txBody>
      </p:sp>
    </p:spTree>
  </p:cSld>
  <p:clrMapOvr>
    <a:masterClrMapping/>
  </p:clrMapOvr>
  <p:transition spd="slow">
    <p:pull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标题 1">
            <a:extLst>
              <a:ext uri="{FF2B5EF4-FFF2-40B4-BE49-F238E27FC236}">
                <a16:creationId xmlns:a16="http://schemas.microsoft.com/office/drawing/2014/main" id="{70A089D6-2FD8-44DE-9A7F-E5DF69211E49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38150" y="495300"/>
            <a:ext cx="8229600" cy="1149350"/>
          </a:xfrm>
        </p:spPr>
        <p:txBody>
          <a:bodyPr anchor="ctr"/>
          <a:lstStyle/>
          <a:p>
            <a:pPr marL="457200" indent="-457200" algn="l" eaLnBrk="1" hangingPunct="1">
              <a:buFont typeface="Wingdings" panose="05000000000000000000" pitchFamily="2" charset="2"/>
              <a:buChar char="l"/>
            </a:pPr>
            <a:r>
              <a:rPr lang="zh-CN" altLang="en-US" sz="2800" b="1">
                <a:solidFill>
                  <a:schemeClr val="accent2"/>
                </a:solidFill>
              </a:rPr>
              <a:t>指令</a:t>
            </a:r>
            <a:r>
              <a:rPr lang="zh-CN" altLang="en-US" sz="2800" b="1">
                <a:solidFill>
                  <a:srgbClr val="00B050"/>
                </a:solidFill>
              </a:rPr>
              <a:t> Instruction </a:t>
            </a:r>
            <a:r>
              <a:rPr lang="zh-CN" altLang="en-US" sz="2800"/>
              <a:t>和</a:t>
            </a:r>
            <a:r>
              <a:rPr lang="zh-CN" altLang="en-US" sz="2800" b="1">
                <a:solidFill>
                  <a:schemeClr val="accent2"/>
                </a:solidFill>
              </a:rPr>
              <a:t>寻址</a:t>
            </a:r>
            <a:r>
              <a:rPr lang="zh-CN" altLang="en-US" sz="2800" b="1">
                <a:solidFill>
                  <a:srgbClr val="00B050"/>
                </a:solidFill>
              </a:rPr>
              <a:t> addressing modes</a:t>
            </a:r>
          </a:p>
        </p:txBody>
      </p:sp>
      <p:sp>
        <p:nvSpPr>
          <p:cNvPr id="11267" name="内容占位符 2">
            <a:extLst>
              <a:ext uri="{FF2B5EF4-FFF2-40B4-BE49-F238E27FC236}">
                <a16:creationId xmlns:a16="http://schemas.microsoft.com/office/drawing/2014/main" id="{E1FD8CCC-0838-4EF8-93B4-F6AA307493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5963" y="1731963"/>
            <a:ext cx="8302625" cy="4235450"/>
          </a:xfrm>
        </p:spPr>
        <p:txBody>
          <a:bodyPr/>
          <a:lstStyle/>
          <a:p>
            <a:pPr marL="457200" indent="-457200" algn="l" eaLnBrk="1" hangingPunct="1">
              <a:lnSpc>
                <a:spcPct val="80000"/>
              </a:lnSpc>
              <a:spcBef>
                <a:spcPts val="1800"/>
              </a:spcBef>
              <a:buFont typeface="Wingdings" panose="05000000000000000000" charset="0"/>
              <a:buChar char="u"/>
              <a:defRPr/>
            </a:pPr>
            <a:r>
              <a:rPr lang="zh-CN" altLang="en-US" sz="2800" b="1" noProof="1">
                <a:solidFill>
                  <a:srgbClr val="C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指令</a:t>
            </a:r>
            <a:endParaRPr lang="zh-CN" altLang="en-US" sz="2800" noProof="1">
              <a:solidFill>
                <a:schemeClr val="accent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l" eaLnBrk="1" hangingPunct="1">
              <a:lnSpc>
                <a:spcPct val="80000"/>
              </a:lnSpc>
              <a:spcBef>
                <a:spcPts val="1800"/>
              </a:spcBef>
              <a:defRPr/>
            </a:pPr>
            <a:r>
              <a:rPr lang="en-US" altLang="zh-CN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	</a:t>
            </a:r>
            <a:r>
              <a:rPr lang="zh-CN" altLang="en-US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包含</a:t>
            </a:r>
            <a:r>
              <a:rPr lang="zh-CN" altLang="en-US" sz="2800" b="1" noProof="1">
                <a:solidFill>
                  <a:srgbClr val="0033C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操作码</a:t>
            </a:r>
            <a:r>
              <a:rPr lang="zh-CN" altLang="en-US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（</a:t>
            </a:r>
            <a:r>
              <a:rPr lang="en-US" altLang="zh-CN" sz="2800" noProof="1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Opcode</a:t>
            </a:r>
            <a:r>
              <a:rPr lang="zh-CN" altLang="en-US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）和</a:t>
            </a:r>
            <a:r>
              <a:rPr lang="zh-CN" altLang="en-US" sz="2800" b="1" noProof="1">
                <a:solidFill>
                  <a:srgbClr val="0033C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操作数</a:t>
            </a:r>
            <a:r>
              <a:rPr lang="zh-CN" altLang="en-US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（</a:t>
            </a:r>
            <a:r>
              <a:rPr lang="en-US" altLang="zh-CN" sz="2800" noProof="1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Operand</a:t>
            </a:r>
            <a:r>
              <a:rPr lang="zh-CN" altLang="en-US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）</a:t>
            </a:r>
          </a:p>
          <a:p>
            <a:pPr marL="1828800" lvl="3" indent="-457200" algn="l">
              <a:lnSpc>
                <a:spcPct val="80000"/>
              </a:lnSpc>
              <a:spcBef>
                <a:spcPts val="1800"/>
              </a:spcBef>
              <a:buFont typeface="Wingdings" panose="05000000000000000000" charset="0"/>
              <a:buChar char="Ø"/>
              <a:defRPr/>
            </a:pPr>
            <a:r>
              <a:rPr lang="zh-CN" altLang="en-US" sz="24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操作码</a:t>
            </a:r>
            <a:r>
              <a:rPr lang="en-US" altLang="zh-CN" sz="24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—</a:t>
            </a:r>
            <a:r>
              <a:rPr lang="zh-CN" altLang="en-US" sz="24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做什么操作（</a:t>
            </a:r>
            <a:r>
              <a:rPr lang="zh-CN" altLang="en-US" sz="2400" b="1" noProof="1">
                <a:solidFill>
                  <a:srgbClr val="00B05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功能</a:t>
            </a:r>
            <a:r>
              <a:rPr lang="zh-CN" altLang="en-US" sz="24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）</a:t>
            </a:r>
          </a:p>
          <a:p>
            <a:pPr marL="1828800" lvl="3" indent="-457200" algn="l">
              <a:lnSpc>
                <a:spcPct val="80000"/>
              </a:lnSpc>
              <a:spcBef>
                <a:spcPts val="1800"/>
              </a:spcBef>
              <a:buFont typeface="Wingdings" panose="05000000000000000000" charset="0"/>
              <a:buChar char="Ø"/>
              <a:defRPr/>
            </a:pPr>
            <a:r>
              <a:rPr lang="zh-CN" altLang="en-US" sz="24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操作数</a:t>
            </a:r>
            <a:r>
              <a:rPr lang="en-US" altLang="zh-CN" sz="24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—</a:t>
            </a:r>
            <a:r>
              <a:rPr lang="zh-CN" altLang="en-US" sz="24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操作什么（</a:t>
            </a:r>
            <a:r>
              <a:rPr lang="zh-CN" altLang="en-US" sz="2400" b="1" noProof="1">
                <a:solidFill>
                  <a:srgbClr val="00B05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对象</a:t>
            </a:r>
            <a:r>
              <a:rPr lang="zh-CN" altLang="en-US" sz="24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）</a:t>
            </a:r>
          </a:p>
          <a:p>
            <a:pPr marL="457200" indent="-457200" algn="l" eaLnBrk="1" hangingPunct="1">
              <a:lnSpc>
                <a:spcPct val="80000"/>
              </a:lnSpc>
              <a:spcBef>
                <a:spcPts val="1800"/>
              </a:spcBef>
              <a:buFont typeface="Wingdings" panose="05000000000000000000" charset="0"/>
              <a:buChar char="u"/>
              <a:defRPr/>
            </a:pPr>
            <a:r>
              <a:rPr lang="zh-CN" altLang="en-US" sz="2800" b="1" noProof="1">
                <a:solidFill>
                  <a:srgbClr val="C0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寻址方式</a:t>
            </a:r>
            <a:r>
              <a:rPr lang="zh-CN" altLang="en-US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（</a:t>
            </a:r>
            <a:r>
              <a:rPr lang="zh-CN" altLang="en-US" sz="2800" b="1" noProof="1">
                <a:solidFill>
                  <a:srgbClr val="0033C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寻找地址的方法</a:t>
            </a:r>
            <a:r>
              <a:rPr lang="zh-CN" altLang="en-US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）</a:t>
            </a:r>
          </a:p>
          <a:p>
            <a:pPr algn="l" eaLnBrk="1" hangingPunct="1">
              <a:lnSpc>
                <a:spcPct val="80000"/>
              </a:lnSpc>
              <a:spcBef>
                <a:spcPts val="1800"/>
              </a:spcBef>
              <a:defRPr/>
            </a:pPr>
            <a:r>
              <a:rPr lang="en-US" altLang="zh-CN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	</a:t>
            </a:r>
            <a:r>
              <a:rPr lang="zh-CN" altLang="en-US" sz="2800" noProof="1">
                <a:solidFill>
                  <a:schemeClr val="accent4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说明操作数所在地址的方法：哪里来，到哪去</a:t>
            </a:r>
          </a:p>
          <a:p>
            <a:pPr marL="457200" indent="-457200" algn="l" eaLnBrk="1" hangingPunct="1">
              <a:lnSpc>
                <a:spcPct val="80000"/>
              </a:lnSpc>
              <a:spcBef>
                <a:spcPts val="1800"/>
              </a:spcBef>
              <a:buFont typeface="Wingdings" panose="05000000000000000000" charset="0"/>
              <a:buChar char="u"/>
              <a:defRPr/>
            </a:pPr>
            <a:r>
              <a:rPr lang="zh-CN" altLang="en-US" sz="2800" noProof="1">
                <a:solidFill>
                  <a:schemeClr val="accent4"/>
                </a:solidFill>
              </a:rPr>
              <a:t>操作数可能位于哪些地方呢？</a:t>
            </a:r>
          </a:p>
          <a:p>
            <a:pPr algn="l" eaLnBrk="1" hangingPunct="1">
              <a:lnSpc>
                <a:spcPct val="80000"/>
              </a:lnSpc>
              <a:spcBef>
                <a:spcPts val="1800"/>
              </a:spcBef>
              <a:defRPr/>
            </a:pPr>
            <a:r>
              <a:rPr lang="en-US" altLang="zh-CN" sz="2800" noProof="1">
                <a:solidFill>
                  <a:schemeClr val="accent4"/>
                </a:solidFill>
              </a:rPr>
              <a:t>	</a:t>
            </a:r>
            <a:r>
              <a:rPr lang="zh-CN" altLang="en-US" sz="2800" noProof="1">
                <a:solidFill>
                  <a:srgbClr val="0033CC"/>
                </a:solidFill>
              </a:rPr>
              <a:t>寄存器</a:t>
            </a:r>
            <a:r>
              <a:rPr lang="zh-CN" altLang="en-US" sz="2800" noProof="1">
                <a:solidFill>
                  <a:schemeClr val="accent4"/>
                </a:solidFill>
              </a:rPr>
              <a:t>；</a:t>
            </a:r>
            <a:r>
              <a:rPr lang="zh-CN" altLang="en-US" sz="2800" noProof="1">
                <a:solidFill>
                  <a:srgbClr val="0033CC"/>
                </a:solidFill>
              </a:rPr>
              <a:t>存储器</a:t>
            </a:r>
            <a:r>
              <a:rPr lang="zh-CN" altLang="en-US" sz="2800" noProof="1">
                <a:solidFill>
                  <a:schemeClr val="accent4"/>
                </a:solidFill>
              </a:rPr>
              <a:t>（数据区</a:t>
            </a:r>
            <a:r>
              <a:rPr lang="en-US" altLang="zh-CN" sz="2800" noProof="1">
                <a:solidFill>
                  <a:schemeClr val="accent4"/>
                </a:solidFill>
              </a:rPr>
              <a:t>or</a:t>
            </a:r>
            <a:r>
              <a:rPr lang="zh-CN" altLang="en-US" sz="2800" noProof="1">
                <a:solidFill>
                  <a:schemeClr val="accent4"/>
                </a:solidFill>
              </a:rPr>
              <a:t>代码区）；</a:t>
            </a:r>
            <a:r>
              <a:rPr lang="en-US" altLang="zh-CN" sz="2800" noProof="1">
                <a:solidFill>
                  <a:srgbClr val="0033CC"/>
                </a:solidFill>
              </a:rPr>
              <a:t>I/O</a:t>
            </a:r>
            <a:r>
              <a:rPr lang="zh-CN" altLang="en-US" sz="2800" noProof="1">
                <a:solidFill>
                  <a:srgbClr val="0033CC"/>
                </a:solidFill>
              </a:rPr>
              <a:t>设备</a:t>
            </a:r>
            <a:r>
              <a:rPr lang="en-US" altLang="zh-CN" sz="3200" noProof="1">
                <a:solidFill>
                  <a:schemeClr val="accent4"/>
                </a:solidFill>
              </a:rPr>
              <a:t>	</a:t>
            </a:r>
            <a:r>
              <a:rPr lang="zh-CN" altLang="en-US" sz="2800" noProof="1">
                <a:solidFill>
                  <a:schemeClr val="accent4"/>
                </a:solidFill>
                <a:latin typeface="Times New Roman" panose="02020603050405020304" pitchFamily="18" charset="0"/>
              </a:rPr>
              <a:t>	</a:t>
            </a:r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2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2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2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12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12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12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2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126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标题 1">
            <a:extLst>
              <a:ext uri="{FF2B5EF4-FFF2-40B4-BE49-F238E27FC236}">
                <a16:creationId xmlns:a16="http://schemas.microsoft.com/office/drawing/2014/main" id="{64B393BB-CBC9-4545-8DF3-005993ACB47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2800" b="1">
                <a:solidFill>
                  <a:schemeClr val="accent2"/>
                </a:solidFill>
              </a:rPr>
              <a:t>寻址方式</a:t>
            </a:r>
          </a:p>
        </p:txBody>
      </p:sp>
      <p:sp>
        <p:nvSpPr>
          <p:cNvPr id="12291" name="内容占位符 2">
            <a:extLst>
              <a:ext uri="{FF2B5EF4-FFF2-40B4-BE49-F238E27FC236}">
                <a16:creationId xmlns:a16="http://schemas.microsoft.com/office/drawing/2014/main" id="{DA558D2A-8228-46E0-9E4C-2E43EE9A1C0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71500" y="1073150"/>
            <a:ext cx="7964488" cy="5467350"/>
          </a:xfrm>
        </p:spPr>
        <p:txBody>
          <a:bodyPr/>
          <a:lstStyle/>
          <a:p>
            <a:pPr marL="342900" indent="-342900" algn="l" eaLnBrk="1" hangingPunct="1">
              <a:spcBef>
                <a:spcPts val="1800"/>
              </a:spcBef>
            </a:pP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8086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的寻</a:t>
            </a:r>
            <a:r>
              <a:rPr lang="zh-CN" altLang="en-US" sz="2400" b="1" dirty="0">
                <a:solidFill>
                  <a:srgbClr val="0033CC"/>
                </a:solidFill>
              </a:rPr>
              <a:t>址方式有以下几种：</a:t>
            </a:r>
          </a:p>
          <a:p>
            <a:pPr marL="342900" indent="-342900" algn="l" eaLnBrk="1" hangingPunct="1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33CC"/>
                </a:solidFill>
              </a:rPr>
              <a:t>立即数寻址</a:t>
            </a:r>
            <a:r>
              <a:rPr lang="zh-CN" altLang="en-US" sz="2400" dirty="0"/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可直接从</a:t>
            </a:r>
            <a:r>
              <a:rPr lang="zh-CN" altLang="en-US" sz="2400" dirty="0">
                <a:solidFill>
                  <a:srgbClr val="C00000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指令队列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中取数，指令执行速度快；（本来就保存在</a:t>
            </a:r>
            <a:r>
              <a:rPr lang="zh-CN" altLang="en-US" sz="2400" b="1" dirty="0">
                <a:solidFill>
                  <a:srgbClr val="C00000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代码区，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由</a:t>
            </a:r>
            <a:r>
              <a:rPr lang="en-US" altLang="zh-CN" sz="2400" b="1" dirty="0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BIU</a:t>
            </a:r>
            <a:r>
              <a:rPr lang="zh-CN" altLang="en-US" sz="2400" b="1" dirty="0">
                <a:solidFill>
                  <a:srgbClr val="0000FF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读到指令队列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）</a:t>
            </a:r>
          </a:p>
          <a:p>
            <a:pPr marL="342900" indent="-342900" algn="l" eaLnBrk="1" hangingPunct="1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33CC"/>
                </a:solidFill>
              </a:rPr>
              <a:t>寄存器寻址</a:t>
            </a:r>
            <a:r>
              <a:rPr lang="zh-CN" altLang="en-US" sz="2400" dirty="0"/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操作数在寄存器中，执行速度最快（</a:t>
            </a:r>
            <a:r>
              <a:rPr lang="zh-CN" altLang="en-US" sz="2400" b="1" dirty="0">
                <a:solidFill>
                  <a:srgbClr val="C00000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内总线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） </a:t>
            </a:r>
          </a:p>
          <a:p>
            <a:pPr marL="342900" indent="-342900" algn="l" eaLnBrk="1" hangingPunct="1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33CC"/>
                </a:solidFill>
              </a:rPr>
              <a:t>存储器寻址</a:t>
            </a:r>
            <a:r>
              <a:rPr lang="zh-CN" altLang="en-US" sz="2400" dirty="0"/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操作数在存储器中，执行速度较慢（</a:t>
            </a:r>
            <a:r>
              <a:rPr lang="zh-CN" altLang="en-US" sz="2400" b="1" dirty="0">
                <a:solidFill>
                  <a:srgbClr val="C00000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外总线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）</a:t>
            </a:r>
          </a:p>
          <a:p>
            <a:pPr marL="342900" indent="-342900" algn="l" eaLnBrk="1" hangingPunct="1">
              <a:spcBef>
                <a:spcPts val="1200"/>
              </a:spcBef>
              <a:buFont typeface="Wingdings" panose="05000000000000000000" pitchFamily="2" charset="2"/>
              <a:buChar char="l"/>
            </a:pPr>
            <a:r>
              <a:rPr lang="zh-CN" altLang="en-US" sz="2400" b="1" dirty="0">
                <a:solidFill>
                  <a:srgbClr val="0033CC"/>
                </a:solidFill>
              </a:rPr>
              <a:t>其它寻址</a:t>
            </a:r>
            <a:r>
              <a:rPr lang="zh-CN" altLang="en-US" sz="2400" dirty="0">
                <a:solidFill>
                  <a:srgbClr val="00B0F0"/>
                </a:solidFill>
              </a:rPr>
              <a:t> 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如隐含寻址、</a:t>
            </a:r>
            <a:r>
              <a:rPr lang="en-US" altLang="zh-CN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I/O</a:t>
            </a:r>
            <a:r>
              <a:rPr lang="zh-CN" altLang="en-US" sz="2400" dirty="0"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端口寻址（速度与存储器相似）、转移类指令寻址</a:t>
            </a:r>
          </a:p>
          <a:p>
            <a:pPr marL="342900" indent="-342900" algn="l" eaLnBrk="1" hangingPunct="1">
              <a:spcBef>
                <a:spcPts val="1800"/>
              </a:spcBef>
              <a:buFont typeface="Wingdings 3" panose="05040102010807070707" pitchFamily="18" charset="2"/>
              <a:buChar char="ä"/>
            </a:pPr>
            <a:r>
              <a:rPr lang="zh-CN" altLang="en-US" sz="2400" dirty="0">
                <a:solidFill>
                  <a:srgbClr val="FF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Times New Roman" panose="02020603050405020304" pitchFamily="18" charset="0"/>
              </a:rPr>
              <a:t>下面主要以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Times New Roman" panose="02020603050405020304" pitchFamily="18" charset="0"/>
              </a:rPr>
              <a:t>MOV</a:t>
            </a:r>
            <a:r>
              <a:rPr lang="zh-CN" altLang="en-US" sz="2400" dirty="0">
                <a:solidFill>
                  <a:srgbClr val="FF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Times New Roman" panose="02020603050405020304" pitchFamily="18" charset="0"/>
              </a:rPr>
              <a:t>指令（源操作数）为例来说明</a:t>
            </a:r>
            <a:r>
              <a:rPr lang="en-US" altLang="zh-CN" sz="2400" dirty="0">
                <a:solidFill>
                  <a:srgbClr val="FF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Times New Roman" panose="02020603050405020304" pitchFamily="18" charset="0"/>
              </a:rPr>
              <a:t>8086</a:t>
            </a:r>
            <a:r>
              <a:rPr lang="zh-CN" altLang="en-US" sz="2400" dirty="0">
                <a:solidFill>
                  <a:srgbClr val="FF66FF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Times New Roman" panose="02020603050405020304" pitchFamily="18" charset="0"/>
              </a:rPr>
              <a:t>的寻址方式。 </a:t>
            </a:r>
            <a:endParaRPr lang="zh-CN" altLang="en-US" sz="2400" dirty="0"/>
          </a:p>
        </p:txBody>
      </p:sp>
    </p:spTree>
  </p:cSld>
  <p:clrMapOvr>
    <a:masterClrMapping/>
  </p:clrMapOvr>
  <p:transition spd="slow">
    <p:wipe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2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2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229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29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29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标题 1">
            <a:extLst>
              <a:ext uri="{FF2B5EF4-FFF2-40B4-BE49-F238E27FC236}">
                <a16:creationId xmlns:a16="http://schemas.microsoft.com/office/drawing/2014/main" id="{6F348CDF-1E85-4485-8443-6B6FD0250199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49530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5400">
                <a:solidFill>
                  <a:schemeClr val="accent2"/>
                </a:solidFill>
                <a:sym typeface="Times New Roman" panose="02020603050405020304" pitchFamily="18" charset="0"/>
              </a:rPr>
              <a:t>§3</a:t>
            </a:r>
            <a:r>
              <a:rPr lang="en-US" altLang="zh-CN" sz="5400">
                <a:solidFill>
                  <a:schemeClr val="accent2"/>
                </a:solidFill>
              </a:rPr>
              <a:t>.1 8086</a:t>
            </a:r>
            <a:r>
              <a:rPr lang="zh-CN" altLang="en-US" sz="5400">
                <a:solidFill>
                  <a:schemeClr val="accent2"/>
                </a:solidFill>
              </a:rPr>
              <a:t>的寻址方式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57347" name="矩形 4">
            <a:extLst>
              <a:ext uri="{FF2B5EF4-FFF2-40B4-BE49-F238E27FC236}">
                <a16:creationId xmlns:a16="http://schemas.microsoft.com/office/drawing/2014/main" id="{5EAA56AA-D0F5-48F0-B661-2AA35FA5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1919288"/>
            <a:ext cx="59118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3.1.1 </a:t>
            </a:r>
            <a:r>
              <a:rPr lang="zh-CN" altLang="en-US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立即寻址方式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3.1.2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3.1.3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3.1.4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3.1.5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寄存器相对寻址方式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3.1.6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3.1.7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相对基址变址寻址方式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3.1.8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其它寻址方式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标题 1">
            <a:extLst>
              <a:ext uri="{FF2B5EF4-FFF2-40B4-BE49-F238E27FC236}">
                <a16:creationId xmlns:a16="http://schemas.microsoft.com/office/drawing/2014/main" id="{0216D64B-3150-4EC1-A1BD-0627471D6822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304800" y="142875"/>
            <a:ext cx="8534400" cy="925513"/>
          </a:xfrm>
        </p:spPr>
        <p:txBody>
          <a:bodyPr anchor="ctr"/>
          <a:lstStyle/>
          <a:p>
            <a:pPr algn="l" eaLnBrk="1" hangingPunct="1"/>
            <a:r>
              <a:rPr lang="en-US" altLang="zh-CN" sz="4000">
                <a:solidFill>
                  <a:schemeClr val="accent2"/>
                </a:solidFill>
                <a:sym typeface="Times New Roman" panose="02020603050405020304" pitchFamily="18" charset="0"/>
              </a:rPr>
              <a:t>§3</a:t>
            </a:r>
            <a:r>
              <a:rPr lang="en-US" altLang="zh-CN" sz="4000">
                <a:solidFill>
                  <a:schemeClr val="accent2"/>
                </a:solidFill>
              </a:rPr>
              <a:t>.1 8086</a:t>
            </a:r>
            <a:r>
              <a:rPr lang="zh-CN" altLang="en-US" sz="4000">
                <a:solidFill>
                  <a:schemeClr val="accent2"/>
                </a:solidFill>
              </a:rPr>
              <a:t>的寻址方式</a:t>
            </a:r>
          </a:p>
        </p:txBody>
      </p:sp>
      <p:sp>
        <p:nvSpPr>
          <p:cNvPr id="4" name="Text Box 4">
            <a:hlinkClick r:id="rId2" action="ppaction://hlinksldjump" highlightClick="1"/>
            <a:extLst>
              <a:ext uri="{FF2B5EF4-FFF2-40B4-BE49-F238E27FC236}">
                <a16:creationId xmlns:a16="http://schemas.microsoft.com/office/drawing/2014/main" id="{782908E7-975D-46D4-885F-78EF11B668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1063" y="2303463"/>
            <a:ext cx="7931150" cy="426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5E9E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tIns="0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dist">
              <a:buFontTx/>
              <a:buNone/>
            </a:pPr>
            <a:r>
              <a:rPr lang="en-US" altLang="zh-CN" sz="2800" b="1"/>
              <a:t>MOV    AL,</a:t>
            </a:r>
            <a:r>
              <a:rPr lang="en-US" altLang="zh-CN" sz="2800" b="1">
                <a:solidFill>
                  <a:srgbClr val="0000FF"/>
                </a:solidFill>
              </a:rPr>
              <a:t>80H</a:t>
            </a:r>
            <a:r>
              <a:rPr lang="en-US" altLang="zh-CN" sz="2800" b="1"/>
              <a:t>  		;</a:t>
            </a:r>
            <a:r>
              <a:rPr lang="zh-CN" altLang="en-US" sz="2800" b="1"/>
              <a:t>立即寻址	 	</a:t>
            </a:r>
          </a:p>
          <a:p>
            <a:pPr algn="dist">
              <a:buFontTx/>
              <a:buNone/>
            </a:pPr>
            <a:r>
              <a:rPr lang="en-US" altLang="zh-CN" sz="2800" b="1"/>
              <a:t>MOV    AX,</a:t>
            </a:r>
            <a:r>
              <a:rPr lang="en-US" altLang="zh-CN" sz="2800" b="1">
                <a:solidFill>
                  <a:srgbClr val="0000FF"/>
                </a:solidFill>
              </a:rPr>
              <a:t>BX</a:t>
            </a:r>
            <a:r>
              <a:rPr lang="en-US" altLang="zh-CN" sz="2800" b="1"/>
              <a:t>  		;</a:t>
            </a:r>
            <a:r>
              <a:rPr lang="zh-CN" altLang="en-US" sz="2800" b="1"/>
              <a:t>寄存器寻址	 	</a:t>
            </a:r>
          </a:p>
          <a:p>
            <a:pPr algn="dist">
              <a:buFontTx/>
              <a:buNone/>
            </a:pPr>
            <a:r>
              <a:rPr lang="en-US" altLang="zh-CN" sz="2800" b="1"/>
              <a:t>MOV    AX，</a:t>
            </a:r>
            <a:r>
              <a:rPr lang="en-US" altLang="zh-CN" sz="2800" b="1">
                <a:solidFill>
                  <a:srgbClr val="0000FF"/>
                </a:solidFill>
              </a:rPr>
              <a:t>[2000H]</a:t>
            </a:r>
            <a:r>
              <a:rPr lang="en-US" altLang="zh-CN" sz="2800" b="1"/>
              <a:t>	;</a:t>
            </a:r>
            <a:r>
              <a:rPr lang="zh-CN" altLang="en-US" sz="2800" b="1"/>
              <a:t>直接寻址	 	</a:t>
            </a:r>
          </a:p>
          <a:p>
            <a:pPr algn="dist">
              <a:buFontTx/>
              <a:buNone/>
            </a:pPr>
            <a:r>
              <a:rPr lang="en-US" altLang="zh-CN" sz="2800" b="1"/>
              <a:t>MOV    AX，</a:t>
            </a:r>
            <a:r>
              <a:rPr lang="en-US" altLang="zh-CN" sz="2800" b="1">
                <a:solidFill>
                  <a:srgbClr val="0000FF"/>
                </a:solidFill>
              </a:rPr>
              <a:t>[BX]</a:t>
            </a:r>
            <a:r>
              <a:rPr lang="en-US" altLang="zh-CN" sz="2800" b="1"/>
              <a:t>	;</a:t>
            </a:r>
            <a:r>
              <a:rPr lang="zh-CN" altLang="en-US" sz="2800" b="1"/>
              <a:t>寄存器间接寻址 	</a:t>
            </a:r>
          </a:p>
          <a:p>
            <a:pPr algn="dist">
              <a:buFontTx/>
              <a:buNone/>
            </a:pPr>
            <a:r>
              <a:rPr lang="en-US" altLang="zh-CN" sz="2800" b="1"/>
              <a:t>MOV    AX，</a:t>
            </a:r>
            <a:r>
              <a:rPr lang="en-US" altLang="zh-CN" sz="2800" b="1">
                <a:solidFill>
                  <a:srgbClr val="0000FF"/>
                </a:solidFill>
              </a:rPr>
              <a:t>20H [BX]</a:t>
            </a:r>
            <a:r>
              <a:rPr lang="en-US" altLang="zh-CN" sz="2800" b="1"/>
              <a:t> </a:t>
            </a:r>
            <a:r>
              <a:rPr lang="zh-CN" altLang="en-US" sz="2800" b="1"/>
              <a:t>	</a:t>
            </a:r>
            <a:r>
              <a:rPr lang="en-US" altLang="zh-CN" sz="2800" b="1"/>
              <a:t>;</a:t>
            </a:r>
            <a:r>
              <a:rPr lang="zh-CN" altLang="en-US" sz="2800" b="1"/>
              <a:t>寄存器相对寻址 	</a:t>
            </a:r>
          </a:p>
          <a:p>
            <a:pPr algn="dist">
              <a:buFontTx/>
              <a:buNone/>
            </a:pPr>
            <a:r>
              <a:rPr lang="en-US" altLang="zh-CN" sz="2800" b="1"/>
              <a:t>MOV    AX，</a:t>
            </a:r>
            <a:r>
              <a:rPr lang="en-US" altLang="zh-CN" sz="2800" b="1">
                <a:solidFill>
                  <a:srgbClr val="0000FF"/>
                </a:solidFill>
              </a:rPr>
              <a:t> [BX] [SI]</a:t>
            </a:r>
            <a:r>
              <a:rPr lang="en-US" altLang="zh-CN" sz="2800" b="1"/>
              <a:t> ;</a:t>
            </a:r>
            <a:r>
              <a:rPr lang="zh-CN" altLang="en-US" sz="2800" b="1"/>
              <a:t>基址变址寻址	</a:t>
            </a:r>
          </a:p>
          <a:p>
            <a:pPr algn="dist">
              <a:buFontTx/>
              <a:buNone/>
            </a:pPr>
            <a:r>
              <a:rPr lang="en-US" altLang="zh-CN" sz="2800" b="1"/>
              <a:t>MOV    AX，</a:t>
            </a:r>
            <a:r>
              <a:rPr lang="en-US" altLang="zh-CN" sz="2800" b="1">
                <a:solidFill>
                  <a:srgbClr val="0000FF"/>
                </a:solidFill>
              </a:rPr>
              <a:t>20H [BX] [DI]</a:t>
            </a:r>
            <a:r>
              <a:rPr lang="en-US" altLang="zh-CN" sz="2800" b="1"/>
              <a:t> ;</a:t>
            </a:r>
            <a:r>
              <a:rPr lang="zh-CN" altLang="en-US" sz="2800" b="1"/>
              <a:t>相对基址变址寻址 </a:t>
            </a:r>
          </a:p>
          <a:p>
            <a:pPr algn="dist">
              <a:buFontTx/>
              <a:buNone/>
            </a:pPr>
            <a:r>
              <a:rPr lang="en-US" altLang="zh-CN" sz="2800" b="1"/>
              <a:t>IN    AL，</a:t>
            </a:r>
            <a:r>
              <a:rPr lang="en-US" altLang="zh-CN" sz="2800" b="1">
                <a:solidFill>
                  <a:srgbClr val="0000FF"/>
                </a:solidFill>
              </a:rPr>
              <a:t>80H</a:t>
            </a:r>
            <a:r>
              <a:rPr lang="en-US" altLang="zh-CN" sz="2800" b="1"/>
              <a:t>		;</a:t>
            </a:r>
            <a:r>
              <a:rPr lang="zh-CN" altLang="en-US" sz="2800" b="1"/>
              <a:t>输入输出端口寻址	</a:t>
            </a:r>
          </a:p>
        </p:txBody>
      </p:sp>
      <p:sp>
        <p:nvSpPr>
          <p:cNvPr id="58372" name="矩形 1">
            <a:extLst>
              <a:ext uri="{FF2B5EF4-FFF2-40B4-BE49-F238E27FC236}">
                <a16:creationId xmlns:a16="http://schemas.microsoft.com/office/drawing/2014/main" id="{DD56A1B9-BE0F-4BF2-8651-317BCD0300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3" y="1312863"/>
            <a:ext cx="5954712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</a:rPr>
              <a:t>总览：</a:t>
            </a:r>
            <a:r>
              <a:rPr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分析以下指令</a:t>
            </a:r>
            <a:r>
              <a:rPr lang="zh-CN" altLang="en-US" sz="2800" b="1">
                <a:solidFill>
                  <a:srgbClr val="C00000"/>
                </a:solidFill>
                <a:latin typeface="Times New Roman" panose="02020603050405020304" pitchFamily="18" charset="0"/>
              </a:rPr>
              <a:t>源操作数</a:t>
            </a:r>
            <a:r>
              <a:rPr lang="zh-CN" altLang="en-US" sz="2800" b="1">
                <a:solidFill>
                  <a:srgbClr val="0033CC"/>
                </a:solidFill>
                <a:latin typeface="Times New Roman" panose="02020603050405020304" pitchFamily="18" charset="0"/>
              </a:rPr>
              <a:t>的寻址</a:t>
            </a:r>
            <a:endParaRPr lang="zh-CN" altLang="en-US" sz="2800">
              <a:solidFill>
                <a:srgbClr val="0033CC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标题 1">
            <a:extLst>
              <a:ext uri="{FF2B5EF4-FFF2-40B4-BE49-F238E27FC236}">
                <a16:creationId xmlns:a16="http://schemas.microsoft.com/office/drawing/2014/main" id="{949B45E3-5D6C-49D3-BEF0-536282653D7D}"/>
              </a:ext>
            </a:extLst>
          </p:cNvPr>
          <p:cNvSpPr>
            <a:spLocks noGrp="1" noRot="1"/>
          </p:cNvSpPr>
          <p:nvPr>
            <p:ph type="ctrTitle"/>
          </p:nvPr>
        </p:nvSpPr>
        <p:spPr>
          <a:xfrm>
            <a:off x="457200" y="569913"/>
            <a:ext cx="8229600" cy="1149350"/>
          </a:xfrm>
        </p:spPr>
        <p:txBody>
          <a:bodyPr anchor="ctr"/>
          <a:lstStyle/>
          <a:p>
            <a:pPr algn="l" eaLnBrk="1" hangingPunct="1">
              <a:defRPr/>
            </a:pPr>
            <a:r>
              <a:rPr lang="en-US" altLang="x-none" sz="3200" b="1" noProof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3.1.1 </a:t>
            </a:r>
            <a:r>
              <a:rPr lang="zh-CN" altLang="en-US" sz="3200" b="1" noProof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立即寻址方式</a:t>
            </a:r>
            <a:r>
              <a:rPr lang="en-US" altLang="x-none" sz="2400" noProof="1">
                <a:sym typeface="+mn-ea"/>
              </a:rPr>
              <a:t>(</a:t>
            </a:r>
            <a:r>
              <a:rPr lang="en-US" altLang="x-none" sz="2400" noProof="1">
                <a:solidFill>
                  <a:srgbClr val="00B05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sym typeface="+mn-ea"/>
              </a:rPr>
              <a:t>Immediate Addressing</a:t>
            </a:r>
            <a:r>
              <a:rPr lang="en-US" altLang="x-none" sz="2400" noProof="1">
                <a:sym typeface="+mn-ea"/>
              </a:rPr>
              <a:t>)</a:t>
            </a:r>
            <a:br>
              <a:rPr lang="zh-CN" altLang="en-US" sz="3200" dirty="0">
                <a:solidFill>
                  <a:srgbClr val="00FF00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</a:br>
            <a:endParaRPr lang="zh-CN" altLang="en-US" sz="3200" noProof="1">
              <a:solidFill>
                <a:srgbClr val="00FF00"/>
              </a:solidFill>
              <a:latin typeface="楷体_GB2312" pitchFamily="1" charset="-122"/>
              <a:ea typeface="楷体_GB2312" pitchFamily="1" charset="-122"/>
              <a:sym typeface="楷体_GB2312" pitchFamily="1" charset="-122"/>
            </a:endParaRPr>
          </a:p>
        </p:txBody>
      </p:sp>
      <p:sp>
        <p:nvSpPr>
          <p:cNvPr id="14339" name="内容占位符 2">
            <a:extLst>
              <a:ext uri="{FF2B5EF4-FFF2-40B4-BE49-F238E27FC236}">
                <a16:creationId xmlns:a16="http://schemas.microsoft.com/office/drawing/2014/main" id="{BB4791EC-48D4-4A7F-9300-5FD2297B6F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63" y="1416050"/>
            <a:ext cx="8372475" cy="4445000"/>
          </a:xfrm>
        </p:spPr>
        <p:txBody>
          <a:bodyPr/>
          <a:lstStyle/>
          <a:p>
            <a:pPr marL="358775" indent="-358775" algn="l" eaLnBrk="1" hangingPunct="1">
              <a:lnSpc>
                <a:spcPct val="80000"/>
              </a:lnSpc>
              <a:defRPr/>
            </a:pPr>
            <a:r>
              <a:rPr lang="en-US" altLang="zh-CN" sz="32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         </a:t>
            </a:r>
            <a:r>
              <a:rPr lang="zh-CN" altLang="en-US" sz="32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操作数直接包含在指令中，它是一个</a:t>
            </a:r>
            <a:r>
              <a:rPr lang="en-US" altLang="x-none" sz="32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8</a:t>
            </a:r>
            <a:r>
              <a:rPr lang="zh-CN" altLang="en-US" sz="32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位或</a:t>
            </a:r>
            <a:r>
              <a:rPr lang="en-US" altLang="x-none" sz="32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16</a:t>
            </a:r>
            <a:r>
              <a:rPr lang="zh-CN" altLang="en-US" sz="32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位的</a:t>
            </a:r>
            <a:r>
              <a:rPr lang="zh-CN" altLang="en-US" sz="3200" noProof="1">
                <a:solidFill>
                  <a:srgbClr val="0033CC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常数</a:t>
            </a:r>
            <a:r>
              <a:rPr lang="zh-CN" altLang="en-US" sz="32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，也叫</a:t>
            </a:r>
            <a:r>
              <a:rPr lang="zh-CN" altLang="en-US" sz="32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立即数</a:t>
            </a:r>
            <a:r>
              <a:rPr lang="zh-CN" altLang="en-US" sz="32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58775" indent="-358775" algn="l" eaLnBrk="1" hangingPunct="1">
              <a:lnSpc>
                <a:spcPct val="80000"/>
              </a:lnSpc>
              <a:spcBef>
                <a:spcPts val="1800"/>
              </a:spcBef>
              <a:defRPr/>
            </a:pPr>
            <a:r>
              <a:rPr lang="zh-CN" altLang="en-US" sz="2800" b="1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x-none" sz="2800" b="1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</a:t>
            </a:r>
            <a:r>
              <a:rPr lang="en-US" altLang="x-none" sz="2800" b="1" noProof="1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x-none" sz="2800" noProof="1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 AL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26H</a:t>
            </a:r>
            <a:endParaRPr lang="zh-CN" altLang="en-US" sz="2800" noProof="1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58775" indent="-358775" algn="l" eaLnBrk="1" hangingPunct="1">
              <a:lnSpc>
                <a:spcPct val="8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将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8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位立即数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26H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送到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AL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寄存器中。</a:t>
            </a:r>
          </a:p>
          <a:p>
            <a:pPr marL="358775" indent="-358775" algn="l" eaLnBrk="1" hangingPunct="1">
              <a:lnSpc>
                <a:spcPct val="80000"/>
              </a:lnSpc>
              <a:spcBef>
                <a:spcPts val="2400"/>
              </a:spcBef>
              <a:defRPr/>
            </a:pPr>
            <a:r>
              <a:rPr lang="zh-CN" altLang="en-US" sz="2800" b="1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x-none" sz="2800" b="1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3.2</a:t>
            </a:r>
            <a:r>
              <a:rPr lang="en-US" altLang="x-none" sz="2800" noProof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x-none" sz="2800" noProof="1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	 CX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2A50H</a:t>
            </a:r>
            <a:endParaRPr lang="zh-CN" altLang="en-US" sz="2800" noProof="1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58775" indent="-358775" algn="l" eaLnBrk="1" hangingPunct="1">
              <a:lnSpc>
                <a:spcPct val="8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将立即数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2A50H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送到</a:t>
            </a:r>
          </a:p>
          <a:p>
            <a:pPr marL="358775" indent="-358775" algn="l" eaLnBrk="1" hangingPunct="1">
              <a:lnSpc>
                <a:spcPct val="80000"/>
              </a:lnSpc>
              <a:defRPr/>
            </a:pP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CX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中</a:t>
            </a:r>
          </a:p>
          <a:p>
            <a:pPr marL="358775" indent="-358775" algn="l" eaLnBrk="1" hangingPunct="1">
              <a:lnSpc>
                <a:spcPct val="80000"/>
              </a:lnSpc>
              <a:defRPr/>
            </a:pPr>
            <a:endParaRPr lang="zh-CN" altLang="en-US" sz="2800" noProof="1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58775" indent="-358775" algn="l" eaLnBrk="1" hangingPunct="1">
              <a:lnSpc>
                <a:spcPct val="80000"/>
              </a:lnSpc>
              <a:defRPr/>
            </a:pP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指令的机器码存放</a:t>
            </a:r>
          </a:p>
          <a:p>
            <a:pPr marL="358775" indent="-358775" algn="l" eaLnBrk="1" hangingPunct="1">
              <a:lnSpc>
                <a:spcPct val="80000"/>
              </a:lnSpc>
              <a:defRPr/>
            </a:pP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及执行过程如图</a:t>
            </a:r>
            <a:r>
              <a:rPr lang="en-US" altLang="zh-CN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:</a:t>
            </a:r>
          </a:p>
          <a:p>
            <a:pPr marL="358775" indent="-358775" algn="l" eaLnBrk="1" hangingPunct="1">
              <a:lnSpc>
                <a:spcPct val="80000"/>
              </a:lnSpc>
              <a:defRPr/>
            </a:pPr>
            <a:endParaRPr lang="zh-CN" altLang="en-US" sz="2400" noProof="1">
              <a:latin typeface="楷体_GB2312" pitchFamily="1" charset="-122"/>
              <a:ea typeface="楷体_GB2312" pitchFamily="1" charset="-122"/>
              <a:sym typeface="楷体_GB2312" pitchFamily="1" charset="-122"/>
            </a:endParaRPr>
          </a:p>
        </p:txBody>
      </p:sp>
      <p:pic>
        <p:nvPicPr>
          <p:cNvPr id="14340" name="图片 4" descr="LF3-1.png">
            <a:extLst>
              <a:ext uri="{FF2B5EF4-FFF2-40B4-BE49-F238E27FC236}">
                <a16:creationId xmlns:a16="http://schemas.microsoft.com/office/drawing/2014/main" id="{C139C8BC-AF70-4F6F-AC95-E1E992FD83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450" y="3984625"/>
            <a:ext cx="4902200" cy="27940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split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3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33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33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33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433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433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433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433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标题 1">
            <a:extLst>
              <a:ext uri="{FF2B5EF4-FFF2-40B4-BE49-F238E27FC236}">
                <a16:creationId xmlns:a16="http://schemas.microsoft.com/office/drawing/2014/main" id="{02BB7E0F-7B05-44ED-B8E0-E0AEA8306AF0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3200" b="1">
                <a:solidFill>
                  <a:srgbClr val="0033CC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立即寻址规则</a:t>
            </a:r>
          </a:p>
        </p:txBody>
      </p:sp>
      <p:sp>
        <p:nvSpPr>
          <p:cNvPr id="15363" name="内容占位符 2">
            <a:extLst>
              <a:ext uri="{FF2B5EF4-FFF2-40B4-BE49-F238E27FC236}">
                <a16:creationId xmlns:a16="http://schemas.microsoft.com/office/drawing/2014/main" id="{26ADDE15-2C00-4D9C-9899-D12D651485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1339849"/>
            <a:ext cx="8186737" cy="5175250"/>
          </a:xfrm>
        </p:spPr>
        <p:txBody>
          <a:bodyPr/>
          <a:lstStyle/>
          <a:p>
            <a:pPr marL="342900" indent="-342900" algn="l" eaLnBrk="1" hangingPunct="1">
              <a:spcBef>
                <a:spcPts val="1800"/>
              </a:spcBef>
              <a:defRPr/>
            </a:pP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立即数可以送到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寄存器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中，还可送到一个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存储单元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lang="en-US" altLang="x-none" sz="2800" noProof="1">
                <a:solidFill>
                  <a:srgbClr val="FF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8</a:t>
            </a:r>
            <a:r>
              <a:rPr lang="zh-CN" altLang="en-US" sz="2800" noProof="1">
                <a:solidFill>
                  <a:srgbClr val="FF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位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)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中或两个连续的存储单元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lang="en-US" altLang="x-none" sz="2800" noProof="1">
                <a:solidFill>
                  <a:srgbClr val="FF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16</a:t>
            </a:r>
            <a:r>
              <a:rPr lang="zh-CN" altLang="en-US" sz="2800" noProof="1">
                <a:solidFill>
                  <a:srgbClr val="FF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位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)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中去。</a:t>
            </a:r>
          </a:p>
          <a:p>
            <a:pPr marL="342900" indent="-342900" algn="l" eaLnBrk="1" hangingPunct="1">
              <a:spcBef>
                <a:spcPts val="1800"/>
              </a:spcBef>
              <a:defRPr/>
            </a:pP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立即数只能作源操作数，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不能作目的操作数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spcBef>
                <a:spcPts val="0"/>
              </a:spcBef>
              <a:spcAft>
                <a:spcPts val="1800"/>
              </a:spcAft>
              <a:defRPr/>
            </a:pPr>
            <a:r>
              <a:rPr lang="en-US" altLang="zh-CN" sz="2800" noProof="1">
                <a:ln>
                  <a:solidFill>
                    <a:srgbClr val="FFC000"/>
                  </a:solidFill>
                </a:ln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			</a:t>
            </a:r>
            <a:r>
              <a:rPr lang="zh-CN" altLang="en-US" sz="2800" noProof="1">
                <a:ln>
                  <a:solidFill>
                    <a:srgbClr val="FFC000"/>
                  </a:solidFill>
                </a:ln>
                <a:solidFill>
                  <a:srgbClr val="FFC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（想一想：为啥不能？）</a:t>
            </a:r>
          </a:p>
          <a:p>
            <a:pPr marL="342900" indent="-342900" algn="l" eaLnBrk="1" hangingPunct="1">
              <a:spcBef>
                <a:spcPts val="1800"/>
              </a:spcBef>
              <a:defRPr/>
            </a:pPr>
            <a:r>
              <a:rPr lang="zh-CN" altLang="en-US" sz="2800" noProof="1">
                <a:solidFill>
                  <a:srgbClr val="FF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☼记住！！！：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以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A~F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打头的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16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进制数字出现在指令中时，前面一定要加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一个数字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0</a:t>
            </a:r>
            <a:r>
              <a:rPr lang="zh-CN" altLang="en-US" sz="2800" noProof="1">
                <a:solidFill>
                  <a:srgbClr val="00B0F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spcBef>
                <a:spcPts val="1800"/>
              </a:spcBef>
              <a:defRPr/>
            </a:pPr>
            <a:r>
              <a:rPr lang="zh-CN" altLang="en-US" sz="2800" b="1" noProof="1">
                <a:solidFill>
                  <a:srgbClr val="0033CC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例如</a:t>
            </a:r>
            <a:r>
              <a:rPr lang="zh-CN" altLang="en-US" sz="2800" noProof="1">
                <a:solidFill>
                  <a:srgbClr val="0033CC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，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将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FF00H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送到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AX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的指令必须写成：</a:t>
            </a:r>
          </a:p>
          <a:p>
            <a:pPr marL="342900" indent="-342900" algn="l" eaLnBrk="1" hangingPunct="1">
              <a:defRPr/>
            </a:pP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MOV  AX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0FF00H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标题 1">
            <a:extLst>
              <a:ext uri="{FF2B5EF4-FFF2-40B4-BE49-F238E27FC236}">
                <a16:creationId xmlns:a16="http://schemas.microsoft.com/office/drawing/2014/main" id="{28A068B2-CACB-47C7-9C05-75B1E7189F0B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49530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5400">
                <a:solidFill>
                  <a:schemeClr val="accent2"/>
                </a:solidFill>
                <a:sym typeface="Times New Roman" panose="02020603050405020304" pitchFamily="18" charset="0"/>
              </a:rPr>
              <a:t>§3</a:t>
            </a:r>
            <a:r>
              <a:rPr lang="en-US" altLang="zh-CN" sz="5400">
                <a:solidFill>
                  <a:schemeClr val="accent2"/>
                </a:solidFill>
              </a:rPr>
              <a:t>.1 8086</a:t>
            </a:r>
            <a:r>
              <a:rPr lang="zh-CN" altLang="en-US" sz="5400">
                <a:solidFill>
                  <a:schemeClr val="accent2"/>
                </a:solidFill>
              </a:rPr>
              <a:t>的寻址方式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61443" name="矩形 4">
            <a:extLst>
              <a:ext uri="{FF2B5EF4-FFF2-40B4-BE49-F238E27FC236}">
                <a16:creationId xmlns:a16="http://schemas.microsoft.com/office/drawing/2014/main" id="{97A1C31E-7D73-43A9-86EA-1C4249AF2B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1919288"/>
            <a:ext cx="59118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3.1.1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立即寻址方式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3.1.2  </a:t>
            </a:r>
            <a:r>
              <a:rPr lang="zh-CN" altLang="en-US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3.1.3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3.1.4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3.1.5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寄存器相对寻址方式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3.1.6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3.1.7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相对基址变址寻址方式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3.1.8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其它寻址方式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标题 1">
            <a:extLst>
              <a:ext uri="{FF2B5EF4-FFF2-40B4-BE49-F238E27FC236}">
                <a16:creationId xmlns:a16="http://schemas.microsoft.com/office/drawing/2014/main" id="{794B5294-C86C-45CA-91E0-C15F72534CC5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527050" y="361950"/>
            <a:ext cx="8229600" cy="1074738"/>
          </a:xfrm>
        </p:spPr>
        <p:txBody>
          <a:bodyPr anchor="ctr"/>
          <a:lstStyle/>
          <a:p>
            <a:pPr algn="l" eaLnBrk="1" hangingPunct="1"/>
            <a:r>
              <a:rPr lang="en-US" altLang="zh-CN" sz="32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3.1.2 </a:t>
            </a:r>
            <a:r>
              <a:rPr lang="zh-CN" altLang="en-US" sz="32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寄存器寻址方式</a:t>
            </a:r>
            <a:br>
              <a:rPr lang="zh-CN" altLang="en-US" sz="3200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</a:br>
            <a:r>
              <a:rPr lang="en-US" altLang="zh-CN" sz="2400"/>
              <a:t>(Register Addressing)</a:t>
            </a:r>
            <a:endParaRPr lang="zh-CN" altLang="en-US" sz="3200">
              <a:solidFill>
                <a:srgbClr val="23FFF8"/>
              </a:solidFill>
              <a:latin typeface="楷体_GB2312" pitchFamily="1" charset="-122"/>
              <a:ea typeface="楷体_GB2312" pitchFamily="1" charset="-122"/>
              <a:sym typeface="楷体_GB2312" pitchFamily="1" charset="-122"/>
            </a:endParaRPr>
          </a:p>
        </p:txBody>
      </p:sp>
      <p:sp>
        <p:nvSpPr>
          <p:cNvPr id="17411" name="内容占位符 2">
            <a:extLst>
              <a:ext uri="{FF2B5EF4-FFF2-40B4-BE49-F238E27FC236}">
                <a16:creationId xmlns:a16="http://schemas.microsoft.com/office/drawing/2014/main" id="{C9AF3173-47C1-4C9D-B51F-B3AE3A026E5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606550"/>
            <a:ext cx="8372475" cy="4978400"/>
          </a:xfrm>
        </p:spPr>
        <p:txBody>
          <a:bodyPr/>
          <a:lstStyle/>
          <a:p>
            <a:pPr marL="342900" indent="-342900" algn="l" eaLnBrk="1" hangingPunct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操作数包含在寄存器中，由指令指定寄存器的名称。</a:t>
            </a:r>
          </a:p>
          <a:p>
            <a:pPr marL="342900" indent="-342900" algn="l" eaLnBrk="1" hangingPunct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16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位寄存器可以是 ：</a:t>
            </a:r>
          </a:p>
          <a:p>
            <a:pPr marL="342900" indent="-342900" algn="l" eaLnBrk="1" hangingPunct="1">
              <a:lnSpc>
                <a:spcPct val="80000"/>
              </a:lnSpc>
            </a:pP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        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AX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BX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CX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DX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SI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DI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SP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BP</a:t>
            </a:r>
            <a:endParaRPr lang="zh-CN" altLang="en-US" sz="2800">
              <a:solidFill>
                <a:srgbClr val="CC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80000"/>
              </a:lnSpc>
              <a:buFont typeface="Wingdings" panose="05000000000000000000" pitchFamily="2" charset="2"/>
              <a:buChar char="l"/>
            </a:pP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8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位寄存器为：</a:t>
            </a:r>
          </a:p>
          <a:p>
            <a:pPr marL="342900" indent="-342900" algn="l" eaLnBrk="1" hangingPunct="1">
              <a:lnSpc>
                <a:spcPct val="80000"/>
              </a:lnSpc>
            </a:pP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         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AH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AL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BH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BL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CH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CL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DH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DL</a:t>
            </a:r>
            <a:endParaRPr lang="zh-CN" altLang="en-US" sz="2800">
              <a:solidFill>
                <a:srgbClr val="CC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80000"/>
              </a:lnSpc>
              <a:spcBef>
                <a:spcPts val="1800"/>
              </a:spcBef>
            </a:pPr>
            <a:r>
              <a:rPr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3.3</a:t>
            </a:r>
            <a:r>
              <a:rPr lang="en-US" altLang="zh-CN" sz="280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DX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AX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80000"/>
              </a:lnSpc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设指令执行前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AX=3A68H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DX=18C7H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80000"/>
              </a:lnSpc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则指令执行后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DX=3A68H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AX=3A68H (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保持不变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)</a:t>
            </a:r>
            <a:endParaRPr lang="zh-CN" altLang="en-US" sz="2800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80000"/>
              </a:lnSpc>
            </a:pPr>
            <a:endParaRPr lang="zh-CN" altLang="en-US" sz="2800"/>
          </a:p>
        </p:txBody>
      </p:sp>
    </p:spTree>
  </p:cSld>
  <p:clrMapOvr>
    <a:masterClrMapping/>
  </p:clrMapOvr>
  <p:transition spd="slow">
    <p:strips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4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4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74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74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74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charRg st="110" end="1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17411">
                                            <p:txEl>
                                              <p:charRg st="110" end="13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charRg st="130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17411">
                                            <p:txEl>
                                              <p:charRg st="130" end="16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1">
                                            <p:txEl>
                                              <p:charRg st="160" end="1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7411">
                                            <p:txEl>
                                              <p:charRg st="160" end="19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标题 1">
            <a:extLst>
              <a:ext uri="{FF2B5EF4-FFF2-40B4-BE49-F238E27FC236}">
                <a16:creationId xmlns:a16="http://schemas.microsoft.com/office/drawing/2014/main" id="{0D165220-388D-4EA9-BDC9-84214D38C32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28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寄存器寻址规则</a:t>
            </a:r>
          </a:p>
        </p:txBody>
      </p:sp>
      <p:sp>
        <p:nvSpPr>
          <p:cNvPr id="18435" name="内容占位符 2">
            <a:extLst>
              <a:ext uri="{FF2B5EF4-FFF2-40B4-BE49-F238E27FC236}">
                <a16:creationId xmlns:a16="http://schemas.microsoft.com/office/drawing/2014/main" id="{BC2B55CB-D500-421F-ABD0-40FE8D9E85C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marL="342900" indent="-342900" algn="l"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3.4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 CL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AH </a:t>
            </a:r>
            <a:endParaRPr lang="en-US" altLang="zh-CN" sz="2400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将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中的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8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位数据传送到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CL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寄存器。</a:t>
            </a:r>
          </a:p>
          <a:p>
            <a:pPr marL="342900" indent="-342900" algn="l"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 </a:t>
            </a:r>
            <a:endParaRPr lang="en-US" altLang="zh-CN" sz="2400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FF0000"/>
                </a:solidFill>
              </a:rPr>
              <a:t>注意</a:t>
            </a:r>
            <a:r>
              <a:rPr lang="zh-CN" altLang="en-US" sz="2800">
                <a:solidFill>
                  <a:srgbClr val="FF0000"/>
                </a:solidFill>
              </a:rPr>
              <a:t>：</a:t>
            </a:r>
            <a:r>
              <a:rPr lang="zh-CN" altLang="en-US" sz="2800"/>
              <a:t>源操作数的</a:t>
            </a:r>
            <a:r>
              <a:rPr lang="zh-CN" altLang="en-US" sz="2800">
                <a:solidFill>
                  <a:srgbClr val="FF0000"/>
                </a:solidFill>
              </a:rPr>
              <a:t>长度</a:t>
            </a:r>
            <a:r>
              <a:rPr lang="zh-CN" altLang="en-US" sz="2800"/>
              <a:t>必须与目的操作数</a:t>
            </a:r>
            <a:r>
              <a:rPr lang="zh-CN" altLang="en-US" sz="2800">
                <a:solidFill>
                  <a:srgbClr val="FF0000"/>
                </a:solidFill>
              </a:rPr>
              <a:t>一致</a:t>
            </a:r>
            <a:r>
              <a:rPr lang="zh-CN" altLang="en-US" sz="2800"/>
              <a:t>，否则会出错。</a:t>
            </a:r>
          </a:p>
          <a:p>
            <a:pPr marL="342900" indent="-342900" algn="l"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0033CC"/>
                </a:solidFill>
              </a:rPr>
              <a:t>例如</a:t>
            </a:r>
            <a:r>
              <a:rPr lang="zh-CN" altLang="en-US" sz="2800">
                <a:solidFill>
                  <a:srgbClr val="0033CC"/>
                </a:solidFill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MOV  CX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AH  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是错误的。</a:t>
            </a:r>
          </a:p>
          <a:p>
            <a:pPr marL="342900" indent="-342900" algn="l"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       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虽然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CX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放得下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AH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中的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8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位数据，但汇编程序不知道应该将它放入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CH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还是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CL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lnSpc>
                <a:spcPct val="90000"/>
              </a:lnSpc>
            </a:pPr>
            <a:r>
              <a:rPr lang="en-US" altLang="zh-CN" sz="2800"/>
              <a:t> </a:t>
            </a:r>
            <a:endParaRPr lang="en-US" altLang="zh-CN" sz="2400"/>
          </a:p>
          <a:p>
            <a:pPr marL="342900" indent="-342900" algn="just" eaLnBrk="1" hangingPunct="1">
              <a:lnSpc>
                <a:spcPct val="90000"/>
              </a:lnSpc>
              <a:spcBef>
                <a:spcPct val="0"/>
              </a:spcBef>
              <a:buClr>
                <a:srgbClr val="23FFF8"/>
              </a:buClr>
              <a:buFont typeface="Wingdings 3" panose="05040102010807070707" pitchFamily="18" charset="2"/>
              <a:buChar char="ä"/>
            </a:pPr>
            <a:r>
              <a:rPr lang="zh-CN" altLang="en-US" sz="2800">
                <a:solidFill>
                  <a:srgbClr val="FF66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华文中宋" panose="02010600040101010101" pitchFamily="2" charset="-122"/>
              </a:rPr>
              <a:t>以下几种寻址方式，操作数都放在</a:t>
            </a:r>
            <a:r>
              <a:rPr lang="zh-CN" altLang="en-US" sz="2800" b="1">
                <a:solidFill>
                  <a:srgbClr val="0033CC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华文中宋" panose="02010600040101010101" pitchFamily="2" charset="-122"/>
              </a:rPr>
              <a:t>存储器</a:t>
            </a:r>
            <a:r>
              <a:rPr lang="zh-CN" altLang="en-US" sz="2800">
                <a:solidFill>
                  <a:srgbClr val="FF66FF"/>
                </a:solidFill>
                <a:latin typeface="华文中宋" panose="02010600040101010101" pitchFamily="2" charset="-122"/>
                <a:ea typeface="华文中宋" panose="02010600040101010101" pitchFamily="2" charset="-122"/>
                <a:sym typeface="华文中宋" panose="02010600040101010101" pitchFamily="2" charset="-122"/>
              </a:rPr>
              <a:t>中，需用不同的方法求出操作数的物理地址，来获得操作数</a:t>
            </a:r>
          </a:p>
        </p:txBody>
      </p:sp>
    </p:spTree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184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标题 1">
            <a:extLst>
              <a:ext uri="{FF2B5EF4-FFF2-40B4-BE49-F238E27FC236}">
                <a16:creationId xmlns:a16="http://schemas.microsoft.com/office/drawing/2014/main" id="{16F44C39-54FE-4DA5-885E-4825B9F91EB3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49530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5400">
                <a:solidFill>
                  <a:schemeClr val="accent2"/>
                </a:solidFill>
                <a:sym typeface="Times New Roman" panose="02020603050405020304" pitchFamily="18" charset="0"/>
              </a:rPr>
              <a:t>§3</a:t>
            </a:r>
            <a:r>
              <a:rPr lang="en-US" altLang="zh-CN" sz="5400">
                <a:solidFill>
                  <a:schemeClr val="accent2"/>
                </a:solidFill>
              </a:rPr>
              <a:t>.1 8086</a:t>
            </a:r>
            <a:r>
              <a:rPr lang="zh-CN" altLang="en-US" sz="5400">
                <a:solidFill>
                  <a:schemeClr val="accent2"/>
                </a:solidFill>
              </a:rPr>
              <a:t>的寻址方式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64515" name="矩形 4">
            <a:extLst>
              <a:ext uri="{FF2B5EF4-FFF2-40B4-BE49-F238E27FC236}">
                <a16:creationId xmlns:a16="http://schemas.microsoft.com/office/drawing/2014/main" id="{EEC417F8-9FC9-43D0-9092-97D10A904C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3850" y="1919288"/>
            <a:ext cx="59118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3.1.1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立即寻址方式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3.1.2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3.1.3  </a:t>
            </a:r>
            <a:r>
              <a:rPr lang="zh-CN" altLang="en-US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3.1.4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3.1.5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寄存器相对寻址方式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3.1.6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3.1.7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相对基址变址寻址方式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3.1.8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其它寻址方式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标题 1">
            <a:extLst>
              <a:ext uri="{FF2B5EF4-FFF2-40B4-BE49-F238E27FC236}">
                <a16:creationId xmlns:a16="http://schemas.microsoft.com/office/drawing/2014/main" id="{9681B5DE-4A87-4FC1-941A-6DAF9BCA4E0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1149350"/>
          </a:xfrm>
        </p:spPr>
        <p:txBody>
          <a:bodyPr anchor="ctr"/>
          <a:lstStyle/>
          <a:p>
            <a:pPr algn="l" eaLnBrk="1" hangingPunct="1"/>
            <a:r>
              <a:rPr lang="en-US" altLang="zh-CN" sz="32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3.1.3 </a:t>
            </a:r>
            <a:r>
              <a:rPr lang="zh-CN" altLang="en-US" sz="32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直接寻址方式</a:t>
            </a:r>
            <a:br>
              <a:rPr lang="zh-CN" altLang="en-US" sz="3200">
                <a:solidFill>
                  <a:srgbClr val="23FFF8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</a:br>
            <a:r>
              <a:rPr lang="en-US" altLang="zh-CN" sz="3200"/>
              <a:t>Direct Addressing</a:t>
            </a:r>
            <a:endParaRPr lang="zh-CN" altLang="en-US" sz="3200">
              <a:solidFill>
                <a:srgbClr val="23FFF8"/>
              </a:solidFill>
              <a:latin typeface="楷体_GB2312" pitchFamily="1" charset="-122"/>
              <a:ea typeface="楷体_GB2312" pitchFamily="1" charset="-122"/>
              <a:sym typeface="楷体_GB2312" pitchFamily="1" charset="-122"/>
            </a:endParaRPr>
          </a:p>
        </p:txBody>
      </p:sp>
      <p:sp>
        <p:nvSpPr>
          <p:cNvPr id="20483" name="内容占位符 2">
            <a:extLst>
              <a:ext uri="{FF2B5EF4-FFF2-40B4-BE49-F238E27FC236}">
                <a16:creationId xmlns:a16="http://schemas.microsoft.com/office/drawing/2014/main" id="{9A655F3D-64A1-4ED6-B308-13559850B5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59" y="1784350"/>
            <a:ext cx="8320091" cy="4705350"/>
          </a:xfrm>
        </p:spPr>
        <p:txBody>
          <a:bodyPr/>
          <a:lstStyle/>
          <a:p>
            <a:pPr marL="342900" indent="-342900" algn="l" eaLnBrk="1" hangingPunct="1">
              <a:defRPr/>
            </a:pPr>
            <a:r>
              <a:rPr lang="en-US" altLang="x-none" sz="3200" b="1" noProof="1">
                <a:solidFill>
                  <a:srgbClr val="CC0000"/>
                </a:solidFill>
              </a:rPr>
              <a:t>1. </a:t>
            </a:r>
            <a:r>
              <a:rPr lang="zh-CN" altLang="en-US" sz="3200" b="1" noProof="1">
                <a:solidFill>
                  <a:srgbClr val="CC0000"/>
                </a:solidFill>
              </a:rPr>
              <a:t>直接寻址方式</a:t>
            </a:r>
          </a:p>
          <a:p>
            <a:pPr marL="342900" indent="-342900" algn="l" eaLnBrk="1" hangingPunct="1">
              <a:spcBef>
                <a:spcPts val="2400"/>
              </a:spcBef>
              <a:defRPr/>
            </a:pP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操作数的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偏移地址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也称为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有效地址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EA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（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Effective Address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）。</a:t>
            </a:r>
          </a:p>
          <a:p>
            <a:pPr marL="342900" indent="-342900" algn="l" eaLnBrk="1" hangingPunct="1">
              <a:spcBef>
                <a:spcPts val="2400"/>
              </a:spcBef>
              <a:defRPr/>
            </a:pP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在直接寻址方式下，存储单元的有效地址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直接由指令给出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</a:t>
            </a:r>
            <a:r>
              <a:rPr lang="zh-CN" altLang="en-US" sz="2800" b="1" noProof="1">
                <a:solidFill>
                  <a:srgbClr val="00B0F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默认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使用的段寄存器为</a:t>
            </a:r>
            <a:r>
              <a:rPr lang="zh-CN" altLang="en-US" sz="2800" b="1" noProof="1">
                <a:solidFill>
                  <a:srgbClr val="00B0F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数据段寄存器</a:t>
            </a:r>
            <a:r>
              <a:rPr lang="en-US" altLang="x-none" sz="2800" b="1" noProof="1">
                <a:solidFill>
                  <a:srgbClr val="00B0F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DS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spcBef>
                <a:spcPts val="2400"/>
              </a:spcBef>
              <a:defRPr/>
            </a:pP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操作数的物理地址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 = 16×DS+EA</a:t>
            </a:r>
            <a:endParaRPr lang="zh-CN" altLang="en-US" sz="2800" noProof="1"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defRPr/>
            </a:pPr>
            <a:endParaRPr lang="zh-CN" altLang="en-US" sz="3200" noProof="1"/>
          </a:p>
        </p:txBody>
      </p:sp>
    </p:spTree>
  </p:cSld>
  <p:clrMapOvr>
    <a:masterClrMapping/>
  </p:clrMapOvr>
  <p:transition spd="slow">
    <p:push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4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48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48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48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内容占位符 2">
            <a:extLst>
              <a:ext uri="{FF2B5EF4-FFF2-40B4-BE49-F238E27FC236}">
                <a16:creationId xmlns:a16="http://schemas.microsoft.com/office/drawing/2014/main" id="{CD93F32E-75F5-44EF-B710-AC7FA96CBC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7350" y="1673225"/>
            <a:ext cx="8372475" cy="4816475"/>
          </a:xfrm>
        </p:spPr>
        <p:txBody>
          <a:bodyPr/>
          <a:lstStyle/>
          <a:p>
            <a:pPr algn="l" eaLnBrk="1" hangingPunct="1"/>
            <a:r>
              <a:rPr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3.5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	   AX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，［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2000H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</a:t>
            </a:r>
          </a:p>
          <a:p>
            <a:pPr algn="l"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指令中直接给出有效地址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EA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，这里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EA=2000H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，</a:t>
            </a: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必须加</a:t>
            </a:r>
            <a:r>
              <a: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[  ]</a:t>
            </a: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，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表示不是立即数。</a:t>
            </a:r>
          </a:p>
          <a:p>
            <a:pPr algn="l"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设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DS=3000H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，则源操作数的物理地址</a:t>
            </a:r>
          </a:p>
          <a:p>
            <a:pPr algn="l" eaLnBrk="1" hangingPunct="1"/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               =16×3000H+2000H=32000H</a:t>
            </a:r>
            <a:endParaRPr lang="en-US" altLang="zh-CN" sz="2400"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l"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因目的操作数是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16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位寄存器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AX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，所以将存储单元中的</a:t>
            </a:r>
            <a:r>
              <a:rPr lang="zh-CN" altLang="en-US" sz="2800" b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一个字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送进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AX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algn="l"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若（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32000H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）＝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34H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，（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32001H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）＝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12H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，则执行指令后，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AX=1234H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。指令执行过程如图</a:t>
            </a:r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3.2 </a:t>
            </a:r>
          </a:p>
        </p:txBody>
      </p:sp>
      <p:sp>
        <p:nvSpPr>
          <p:cNvPr id="66563" name="标题 1">
            <a:extLst>
              <a:ext uri="{FF2B5EF4-FFF2-40B4-BE49-F238E27FC236}">
                <a16:creationId xmlns:a16="http://schemas.microsoft.com/office/drawing/2014/main" id="{90511FAE-0E53-4A6C-976A-A30546FFDB12}"/>
              </a:ext>
            </a:extLst>
          </p:cNvPr>
          <p:cNvSpPr>
            <a:spLocks noGrp="1" noRot="1" noChangeArrowheads="1"/>
          </p:cNvSpPr>
          <p:nvPr/>
        </p:nvSpPr>
        <p:spPr bwMode="auto">
          <a:xfrm>
            <a:off x="482600" y="368300"/>
            <a:ext cx="8229600" cy="674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直接寻址举例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5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0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2150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2150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150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内容占位符 2">
            <a:extLst>
              <a:ext uri="{FF2B5EF4-FFF2-40B4-BE49-F238E27FC236}">
                <a16:creationId xmlns:a16="http://schemas.microsoft.com/office/drawing/2014/main" id="{E4330B62-D7BB-4300-BE25-C7E2FFDBC7C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476250" y="457200"/>
            <a:ext cx="8372475" cy="647700"/>
          </a:xfrm>
        </p:spPr>
        <p:txBody>
          <a:bodyPr/>
          <a:lstStyle/>
          <a:p>
            <a:pPr marL="342900" indent="-342900" algn="l" eaLnBrk="1" hangingPunct="1"/>
            <a:r>
              <a:rPr lang="zh-CN" altLang="en-US" sz="2400">
                <a:latin typeface="Times New Roman" panose="02020603050405020304" pitchFamily="18" charset="0"/>
                <a:sym typeface="Times New Roman" panose="02020603050405020304" pitchFamily="18" charset="0"/>
              </a:rPr>
              <a:t>图</a:t>
            </a:r>
            <a:r>
              <a:rPr lang="en-US" altLang="zh-CN" sz="2400">
                <a:latin typeface="Times New Roman" panose="02020603050405020304" pitchFamily="18" charset="0"/>
                <a:sym typeface="Times New Roman" panose="02020603050405020304" pitchFamily="18" charset="0"/>
              </a:rPr>
              <a:t>3.2   </a:t>
            </a:r>
            <a:r>
              <a:rPr lang="zh-CN" altLang="en-US" sz="2400">
                <a:latin typeface="Times New Roman" panose="02020603050405020304" pitchFamily="18" charset="0"/>
                <a:sym typeface="Times New Roman" panose="02020603050405020304" pitchFamily="18" charset="0"/>
              </a:rPr>
              <a:t>指令</a:t>
            </a:r>
            <a:r>
              <a:rPr lang="en-US" altLang="zh-CN" sz="2400">
                <a:latin typeface="Times New Roman" panose="02020603050405020304" pitchFamily="18" charset="0"/>
                <a:sym typeface="Times New Roman" panose="02020603050405020304" pitchFamily="18" charset="0"/>
              </a:rPr>
              <a:t>MOV  AX</a:t>
            </a:r>
            <a:r>
              <a:rPr lang="zh-CN" altLang="en-US" sz="2400">
                <a:latin typeface="Times New Roman" panose="02020603050405020304" pitchFamily="18" charset="0"/>
                <a:sym typeface="Times New Roman" panose="02020603050405020304" pitchFamily="18" charset="0"/>
              </a:rPr>
              <a:t>，［</a:t>
            </a:r>
            <a:r>
              <a:rPr lang="en-US" altLang="zh-CN" sz="2400">
                <a:latin typeface="Times New Roman" panose="02020603050405020304" pitchFamily="18" charset="0"/>
                <a:sym typeface="Times New Roman" panose="02020603050405020304" pitchFamily="18" charset="0"/>
              </a:rPr>
              <a:t>2000H</a:t>
            </a:r>
            <a:r>
              <a:rPr lang="zh-CN" altLang="en-US" sz="2400">
                <a:latin typeface="Times New Roman" panose="02020603050405020304" pitchFamily="18" charset="0"/>
                <a:sym typeface="Times New Roman" panose="02020603050405020304" pitchFamily="18" charset="0"/>
              </a:rPr>
              <a:t>］的执行过程示意图</a:t>
            </a:r>
            <a:endParaRPr lang="zh-CN" altLang="en-US" sz="2400"/>
          </a:p>
        </p:txBody>
      </p:sp>
      <p:pic>
        <p:nvPicPr>
          <p:cNvPr id="67587" name="图片 4" descr="LF3-2.png">
            <a:extLst>
              <a:ext uri="{FF2B5EF4-FFF2-40B4-BE49-F238E27FC236}">
                <a16:creationId xmlns:a16="http://schemas.microsoft.com/office/drawing/2014/main" id="{4394ADAD-054C-4B05-87B1-58FCE60D69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089025"/>
            <a:ext cx="8229600" cy="46228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标题 1">
            <a:extLst>
              <a:ext uri="{FF2B5EF4-FFF2-40B4-BE49-F238E27FC236}">
                <a16:creationId xmlns:a16="http://schemas.microsoft.com/office/drawing/2014/main" id="{8779BEF8-0E37-4777-ADBF-DA811F171F4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直接寻址中的段选择</a:t>
            </a:r>
          </a:p>
        </p:txBody>
      </p:sp>
      <p:sp>
        <p:nvSpPr>
          <p:cNvPr id="23555" name="内容占位符 2">
            <a:extLst>
              <a:ext uri="{FF2B5EF4-FFF2-40B4-BE49-F238E27FC236}">
                <a16:creationId xmlns:a16="http://schemas.microsoft.com/office/drawing/2014/main" id="{DBA7786A-D316-42F0-95B5-8BAEF4E98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59" y="1314450"/>
            <a:ext cx="8372475" cy="5175250"/>
          </a:xfrm>
        </p:spPr>
        <p:txBody>
          <a:bodyPr/>
          <a:lstStyle/>
          <a:p>
            <a:pPr marL="342900" indent="-342900" algn="l" eaLnBrk="1" hangingPunct="1">
              <a:defRPr/>
            </a:pPr>
            <a:r>
              <a:rPr lang="en-US" altLang="x-none" sz="2800" b="1" noProof="1">
                <a:solidFill>
                  <a:srgbClr val="CC0000"/>
                </a:solidFill>
              </a:rPr>
              <a:t>2. </a:t>
            </a:r>
            <a:r>
              <a:rPr lang="zh-CN" altLang="en-US" sz="2800" b="1" noProof="1">
                <a:solidFill>
                  <a:srgbClr val="CC0000"/>
                </a:solidFill>
              </a:rPr>
              <a:t>段超越前缀</a:t>
            </a:r>
          </a:p>
          <a:p>
            <a:pPr marL="342900" indent="-342900" algn="l" eaLnBrk="1" hangingPunct="1">
              <a:defRPr/>
            </a:pPr>
            <a:endParaRPr lang="zh-CN" altLang="en-US" sz="2800" noProof="1">
              <a:solidFill>
                <a:schemeClr val="accent2"/>
              </a:solidFill>
            </a:endParaRPr>
          </a:p>
          <a:p>
            <a:pPr marL="342900" indent="-342900" algn="l" eaLnBrk="1" hangingPunct="1">
              <a:defRPr/>
            </a:pP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直接寻址的缺省段为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数据段</a:t>
            </a:r>
            <a:r>
              <a:rPr lang="en-US" altLang="zh-CN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lang="en-US" altLang="zh-CN" sz="2800" noProof="1">
                <a:solidFill>
                  <a:srgbClr val="C0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DS</a:t>
            </a:r>
            <a:r>
              <a:rPr lang="en-US" altLang="zh-CN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)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，如果要对代码段、堆栈段或附加段寄存器所指出的存储区进行直接寻址，应在指令中指定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段超越前缀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defRPr/>
            </a:pPr>
            <a:r>
              <a:rPr lang="zh-CN" altLang="en-US" sz="2800" b="1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例如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，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数据若放在附加段中，则应在有效地址前加说明符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“</a:t>
            </a:r>
            <a:r>
              <a:rPr lang="en-US" altLang="x-none" sz="2800" noProof="1">
                <a:solidFill>
                  <a:srgbClr val="0033C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ES</a:t>
            </a:r>
            <a:r>
              <a:rPr lang="zh-CN" altLang="en-US" sz="2800" noProof="1">
                <a:solidFill>
                  <a:srgbClr val="0033C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：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”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，计算物理地址时要用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ES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作基地址，而不是默认值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DS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defRPr/>
            </a:pPr>
            <a:r>
              <a:rPr lang="zh-CN" altLang="en-US" sz="2800" b="1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x-none" sz="2800" b="1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3.7 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r>
              <a:rPr lang="en-US" altLang="x-none" sz="2800" noProof="1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  AX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x-none" sz="2800" noProof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ES</a:t>
            </a:r>
            <a:r>
              <a:rPr lang="zh-CN" altLang="en-US" sz="2800" noProof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：［</a:t>
            </a:r>
            <a:r>
              <a:rPr lang="en-US" altLang="x-none" sz="2800" noProof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500H</a:t>
            </a:r>
            <a:r>
              <a:rPr lang="zh-CN" altLang="en-US" sz="2800" noProof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</a:t>
            </a:r>
          </a:p>
          <a:p>
            <a:pPr marL="342900" indent="-342900" algn="l" eaLnBrk="1" hangingPunct="1">
              <a:defRPr/>
            </a:pP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该指令的源操作数的物理地址</a:t>
            </a:r>
            <a:r>
              <a:rPr lang="en-US" altLang="x-none" sz="2800" noProof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=16×ES+500H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defRPr/>
            </a:pPr>
            <a:endParaRPr lang="zh-CN" altLang="en-US" sz="2800" noProof="1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r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标题 1">
            <a:extLst>
              <a:ext uri="{FF2B5EF4-FFF2-40B4-BE49-F238E27FC236}">
                <a16:creationId xmlns:a16="http://schemas.microsoft.com/office/drawing/2014/main" id="{D8528A83-C67B-4391-8C3A-270B958FE556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直接寻址</a:t>
            </a:r>
          </a:p>
        </p:txBody>
      </p:sp>
      <p:sp>
        <p:nvSpPr>
          <p:cNvPr id="69635" name="内容占位符 2">
            <a:extLst>
              <a:ext uri="{FF2B5EF4-FFF2-40B4-BE49-F238E27FC236}">
                <a16:creationId xmlns:a16="http://schemas.microsoft.com/office/drawing/2014/main" id="{329265A7-3E79-4DF0-B339-589A6809C32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2863"/>
            <a:ext cx="8372475" cy="4187825"/>
          </a:xfrm>
        </p:spPr>
        <p:txBody>
          <a:bodyPr/>
          <a:lstStyle/>
          <a:p>
            <a:pPr algn="l" eaLnBrk="1" hangingPunct="1"/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3.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符号地址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（特别注意这种情况）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</a:pPr>
            <a:endParaRPr lang="en-US" altLang="zh-CN" sz="2400" dirty="0"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允许用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符号地址</a:t>
            </a:r>
            <a:r>
              <a:rPr lang="zh-CN" altLang="en-US" sz="24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代替</a:t>
            </a:r>
            <a:r>
              <a:rPr lang="zh-CN" altLang="en-US" sz="24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数值地址</a:t>
            </a:r>
            <a:r>
              <a:rPr lang="zh-CN" altLang="en-US" sz="24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，也就是给存储单元起一个名字，如</a:t>
            </a:r>
            <a:r>
              <a:rPr lang="en-US" altLang="zh-CN" sz="24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AREA1</a:t>
            </a:r>
            <a:r>
              <a:rPr lang="zh-CN" altLang="en-US" sz="24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，寻址时只要使用其名字，不必记住具体数值。</a:t>
            </a:r>
          </a:p>
          <a:p>
            <a:pPr algn="l" eaLnBrk="1" hangingPunct="1">
              <a:spcBef>
                <a:spcPct val="0"/>
              </a:spcBef>
            </a:pPr>
            <a:endParaRPr lang="zh-CN" altLang="en-US" sz="2400" b="1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3.10 </a:t>
            </a:r>
            <a:r>
              <a:rPr lang="en-US" altLang="zh-CN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AREA1	DW	   0867H</a:t>
            </a:r>
          </a:p>
          <a:p>
            <a:pPr algn="l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		              …</a:t>
            </a:r>
          </a:p>
          <a:p>
            <a:pPr algn="l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                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	   AX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AREA1</a:t>
            </a:r>
          </a:p>
          <a:p>
            <a:pPr algn="l" eaLnBrk="1" hangingPunct="1">
              <a:spcBef>
                <a:spcPct val="0"/>
              </a:spcBef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（或者写为）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    AX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[AREA1]</a:t>
            </a:r>
          </a:p>
          <a:p>
            <a:pPr algn="l" eaLnBrk="1" hangingPunct="1"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这里的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DW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伪指令语句用来定义变量。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指令执行后将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AREA1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单元中内容送到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AX</a:t>
            </a:r>
            <a:r>
              <a:rPr lang="zh-CN" altLang="en-US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，结果</a:t>
            </a: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AX=0867H   </a:t>
            </a:r>
          </a:p>
          <a:p>
            <a:pPr algn="l" eaLnBrk="1" hangingPunct="1"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</a:t>
            </a:r>
          </a:p>
          <a:p>
            <a:pPr algn="l" eaLnBrk="1" hangingPunct="1">
              <a:spcBef>
                <a:spcPct val="0"/>
              </a:spcBef>
            </a:pP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      </a:t>
            </a: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*</a:t>
            </a:r>
            <a:r>
              <a:rPr lang="zh-CN" altLang="en-US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变量定义伪指令</a:t>
            </a:r>
            <a:r>
              <a:rPr lang="en-US" altLang="zh-CN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DW</a:t>
            </a:r>
            <a:r>
              <a:rPr lang="zh-CN" altLang="en-US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定义字型变量</a:t>
            </a:r>
            <a:endParaRPr lang="en-US" altLang="zh-CN" sz="2400" dirty="0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                                           </a:t>
            </a:r>
          </a:p>
        </p:txBody>
      </p:sp>
    </p:spTree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标题 1">
            <a:extLst>
              <a:ext uri="{FF2B5EF4-FFF2-40B4-BE49-F238E27FC236}">
                <a16:creationId xmlns:a16="http://schemas.microsoft.com/office/drawing/2014/main" id="{C1F6BE32-F881-41BE-A8FB-C24606BA007D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直接寻址</a:t>
            </a:r>
          </a:p>
        </p:txBody>
      </p:sp>
      <p:sp>
        <p:nvSpPr>
          <p:cNvPr id="24579" name="内容占位符 2">
            <a:extLst>
              <a:ext uri="{FF2B5EF4-FFF2-40B4-BE49-F238E27FC236}">
                <a16:creationId xmlns:a16="http://schemas.microsoft.com/office/drawing/2014/main" id="{E6DB7CD2-A9A5-4DD9-B89A-B106EA034279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028700"/>
            <a:ext cx="8372475" cy="5461000"/>
          </a:xfrm>
        </p:spPr>
        <p:txBody>
          <a:bodyPr/>
          <a:lstStyle/>
          <a:p>
            <a:pPr algn="l" eaLnBrk="1" hangingPunct="1">
              <a:defRPr/>
            </a:pP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3. 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符号地址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（续）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l" eaLnBrk="1" hangingPunct="1">
              <a:defRPr/>
            </a:pPr>
            <a:endParaRPr lang="zh-CN" altLang="en-US" sz="2400" b="1" dirty="0">
              <a:solidFill>
                <a:srgbClr val="CC0000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3.9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AREA1	</a:t>
            </a:r>
            <a:r>
              <a:rPr lang="en-US" altLang="zh-CN" sz="2400" dirty="0">
                <a:solidFill>
                  <a:srgbClr val="008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EQU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   0867H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		              …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                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	   AX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AREA1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</a:t>
            </a:r>
            <a:r>
              <a:rPr lang="zh-CN" altLang="en-US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*等值伪指令</a:t>
            </a:r>
            <a:r>
              <a:rPr lang="en-US" altLang="zh-CN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EQU</a:t>
            </a:r>
            <a:r>
              <a:rPr lang="zh-CN" altLang="en-US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定义“常量”</a:t>
            </a:r>
            <a:endParaRPr lang="en-US" altLang="zh-CN" sz="2400" dirty="0">
              <a:solidFill>
                <a:srgbClr val="00B0F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与例</a:t>
            </a:r>
            <a:r>
              <a:rPr lang="en-US" altLang="zh-CN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3.10</a:t>
            </a:r>
            <a:r>
              <a:rPr lang="en-US" altLang="zh-CN" sz="2400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zh-CN" altLang="en-US" sz="2400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做个比较：</a:t>
            </a:r>
            <a:endParaRPr lang="en-US" altLang="zh-CN" sz="2400" dirty="0">
              <a:solidFill>
                <a:srgbClr val="0033CC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AREA1	           </a:t>
            </a:r>
            <a:r>
              <a:rPr lang="en-US" altLang="zh-CN" sz="2400" dirty="0">
                <a:solidFill>
                  <a:srgbClr val="008000"/>
                </a:solidFill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DW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   0867H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		              …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                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	   AX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AREA1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（或者写为）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    AX</a:t>
            </a:r>
            <a:r>
              <a:rPr lang="zh-CN" altLang="en-US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 </a:t>
            </a:r>
            <a:r>
              <a:rPr lang="en-US" altLang="zh-CN" sz="2400" dirty="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[AREA1]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zh-CN" altLang="en-US" sz="24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*</a:t>
            </a:r>
            <a:r>
              <a:rPr lang="zh-CN" altLang="en-US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变量定义伪指令</a:t>
            </a:r>
            <a:r>
              <a:rPr lang="en-US" altLang="zh-CN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DW</a:t>
            </a:r>
            <a:r>
              <a:rPr lang="zh-CN" altLang="en-US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定义字型变量</a:t>
            </a:r>
            <a:endParaRPr lang="en-US" altLang="zh-CN" sz="2400" dirty="0">
              <a:solidFill>
                <a:srgbClr val="00B0F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n-US" altLang="zh-CN" sz="2400" dirty="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</a:t>
            </a:r>
            <a:r>
              <a:rPr lang="zh-CN" altLang="en-US" sz="2400" dirty="0">
                <a:solidFill>
                  <a:srgbClr val="00B0F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*注：这在考试的时候最具有迷惑性</a:t>
            </a:r>
            <a:endParaRPr lang="en-US" altLang="zh-CN" sz="2400" dirty="0">
              <a:solidFill>
                <a:srgbClr val="00B0F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4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4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4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45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457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>
            <a:extLst>
              <a:ext uri="{FF2B5EF4-FFF2-40B4-BE49-F238E27FC236}">
                <a16:creationId xmlns:a16="http://schemas.microsoft.com/office/drawing/2014/main" id="{88796094-E43F-4228-992B-9835B551F47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49530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5400">
                <a:solidFill>
                  <a:schemeClr val="accent2"/>
                </a:solidFill>
                <a:sym typeface="Times New Roman" panose="02020603050405020304" pitchFamily="18" charset="0"/>
              </a:rPr>
              <a:t>§3</a:t>
            </a:r>
            <a:r>
              <a:rPr lang="en-US" altLang="zh-CN" sz="5400">
                <a:solidFill>
                  <a:schemeClr val="accent2"/>
                </a:solidFill>
              </a:rPr>
              <a:t>.1 8086</a:t>
            </a:r>
            <a:r>
              <a:rPr lang="zh-CN" altLang="en-US" sz="5400">
                <a:solidFill>
                  <a:schemeClr val="accent2"/>
                </a:solidFill>
              </a:rPr>
              <a:t>的寻址方式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71683" name="矩形 4">
            <a:extLst>
              <a:ext uri="{FF2B5EF4-FFF2-40B4-BE49-F238E27FC236}">
                <a16:creationId xmlns:a16="http://schemas.microsoft.com/office/drawing/2014/main" id="{288E08F6-7885-4915-AE4B-7746A6AFEE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1919288"/>
            <a:ext cx="59118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3.1.1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立即寻址方式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3.1.2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3.1.3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3.1.4  </a:t>
            </a:r>
            <a:r>
              <a:rPr lang="zh-CN" altLang="en-US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3.1.5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寄存器相对寻址方式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3.1.6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3.1.7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相对基址变址寻址方式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3.1.8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其它寻址方式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标题 1">
            <a:extLst>
              <a:ext uri="{FF2B5EF4-FFF2-40B4-BE49-F238E27FC236}">
                <a16:creationId xmlns:a16="http://schemas.microsoft.com/office/drawing/2014/main" id="{E810CDF5-F221-4E75-8217-A6BA4F93EB0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1460500"/>
          </a:xfrm>
        </p:spPr>
        <p:txBody>
          <a:bodyPr anchor="ctr"/>
          <a:lstStyle/>
          <a:p>
            <a:pPr algn="l" eaLnBrk="1" hangingPunct="1"/>
            <a:r>
              <a:rPr lang="en-US" altLang="zh-CN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3.1.4 </a:t>
            </a:r>
            <a:r>
              <a:rPr lang="zh-CN" altLang="en-US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寄存器间接寻址方式</a:t>
            </a:r>
            <a:br>
              <a:rPr lang="zh-CN" altLang="en-US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</a:br>
            <a:r>
              <a:rPr lang="en-US" altLang="zh-CN" sz="3600" b="1">
                <a:solidFill>
                  <a:schemeClr val="accent2"/>
                </a:solidFill>
              </a:rPr>
              <a:t>Register Indirect Addressing</a:t>
            </a:r>
            <a:endParaRPr lang="en-US" altLang="zh-CN" sz="3600" b="1">
              <a:solidFill>
                <a:schemeClr val="accent2"/>
              </a:solidFill>
              <a:latin typeface="楷体_GB2312" pitchFamily="1" charset="-122"/>
              <a:ea typeface="楷体_GB2312" pitchFamily="1" charset="-122"/>
              <a:sym typeface="楷体_GB2312" pitchFamily="1" charset="-122"/>
            </a:endParaRPr>
          </a:p>
        </p:txBody>
      </p:sp>
      <p:sp>
        <p:nvSpPr>
          <p:cNvPr id="26627" name="内容占位符 2">
            <a:extLst>
              <a:ext uri="{FF2B5EF4-FFF2-40B4-BE49-F238E27FC236}">
                <a16:creationId xmlns:a16="http://schemas.microsoft.com/office/drawing/2014/main" id="{81AB2CEF-E90C-42E1-A93F-9A41002F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" y="1695450"/>
            <a:ext cx="8008938" cy="4889500"/>
          </a:xfrm>
        </p:spPr>
        <p:txBody>
          <a:bodyPr/>
          <a:lstStyle/>
          <a:p>
            <a:pPr marL="342900" indent="-342900" algn="l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寄存器中的值为操作数的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有效地址</a:t>
            </a:r>
            <a:r>
              <a:rPr lang="en-US" altLang="zh-CN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EA</a:t>
            </a: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寄存器名称外必须加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方括号</a:t>
            </a: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，可用的寄存器有：</a:t>
            </a:r>
            <a:r>
              <a:rPr lang="en-US" altLang="zh-CN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BX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BP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SI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DI</a:t>
            </a:r>
          </a:p>
          <a:p>
            <a:pPr algn="l" eaLnBrk="1" hangingPunct="1">
              <a:defRPr/>
            </a:pPr>
            <a:r>
              <a:rPr lang="en-US" altLang="zh-CN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	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注意：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只能是这四个寄存器！！</a:t>
            </a: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buFont typeface="Wingdings" panose="05000000000000000000" pitchFamily="2" charset="2"/>
              <a:buChar char="l"/>
              <a:defRPr/>
            </a:pPr>
            <a:r>
              <a:rPr lang="zh-CN" altLang="en-US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约定</a:t>
            </a:r>
            <a:r>
              <a:rPr lang="en-US" altLang="zh-CN" sz="2800" b="1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1</a:t>
            </a:r>
            <a:r>
              <a:rPr lang="zh-CN" altLang="en-US" sz="2800" dirty="0">
                <a:solidFill>
                  <a:srgbClr val="FF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：</a:t>
            </a:r>
            <a:endParaRPr lang="zh-CN" altLang="en-US" sz="2800" dirty="0"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defRPr/>
            </a:pP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    如果指令中指定的寄存器是</a:t>
            </a:r>
            <a:r>
              <a:rPr lang="en-US" altLang="zh-CN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BX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zh-CN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SI</a:t>
            </a:r>
            <a:r>
              <a:rPr lang="zh-CN" altLang="en-US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或</a:t>
            </a:r>
            <a:r>
              <a:rPr lang="en-US" altLang="zh-CN" sz="2800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DI</a:t>
            </a: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，则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默认操作数</a:t>
            </a: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存放在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数据段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lang="en-US" altLang="zh-CN" sz="2800" b="1" dirty="0">
                <a:solidFill>
                  <a:srgbClr val="00B05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DS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)</a:t>
            </a:r>
            <a:r>
              <a:rPr lang="zh-CN" altLang="en-US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中：</a:t>
            </a:r>
          </a:p>
          <a:p>
            <a:pPr marL="342900" indent="-342900" algn="l" eaLnBrk="1" hangingPunct="1">
              <a:defRPr/>
            </a:pPr>
            <a:r>
              <a:rPr lang="en-US" altLang="zh-CN" sz="2800" dirty="0">
                <a:latin typeface="Times New Roman" panose="02020603050405020304" pitchFamily="18" charset="0"/>
                <a:sym typeface="Times New Roman" panose="02020603050405020304" pitchFamily="18" charset="0"/>
              </a:rPr>
              <a:t>	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物理地址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=16×DS+BX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defRPr/>
            </a:pP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 		        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或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=16×DS+SI</a:t>
            </a:r>
            <a:endParaRPr lang="en-US" altLang="zh-CN" sz="2400" b="1" dirty="0">
              <a:solidFill>
                <a:srgbClr val="0033CC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defRPr/>
            </a:pP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                  </a:t>
            </a: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或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=16×DS+DI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34C4C4F3-C562-4A7F-A215-40C9EC81617A}"/>
              </a:ext>
            </a:extLst>
          </p:cNvPr>
          <p:cNvSpPr/>
          <p:nvPr/>
        </p:nvSpPr>
        <p:spPr>
          <a:xfrm>
            <a:off x="5376544" y="5364480"/>
            <a:ext cx="2999741" cy="95313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 eaLnBrk="1" hangingPunct="1">
              <a:buClr>
                <a:srgbClr val="B4B9BE"/>
              </a:buClr>
              <a:buFont typeface="Arial" panose="020B0604020202020204" pitchFamily="34" charset="0"/>
              <a:buNone/>
              <a:defRPr/>
            </a:pPr>
            <a:r>
              <a:rPr lang="zh-CN" altLang="en-US" sz="2800" b="1" noProof="1">
                <a:gradFill>
                  <a:gsLst>
                    <a:gs pos="0">
                      <a:srgbClr val="FECF40"/>
                    </a:gs>
                    <a:gs pos="100000">
                      <a:srgbClr val="846C21"/>
                    </a:gs>
                  </a:gsLst>
                  <a:lin scaled="0"/>
                </a:gradFill>
              </a:rPr>
              <a:t>一定记住这两个约定！</a:t>
            </a:r>
          </a:p>
        </p:txBody>
      </p:sp>
    </p:spTree>
  </p:cSld>
  <p:clrMapOvr>
    <a:masterClrMapping/>
  </p:clrMapOvr>
  <p:transition spd="slow">
    <p:strips dir="ld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内容占位符 2">
            <a:extLst>
              <a:ext uri="{FF2B5EF4-FFF2-40B4-BE49-F238E27FC236}">
                <a16:creationId xmlns:a16="http://schemas.microsoft.com/office/drawing/2014/main" id="{C30D811E-F755-455A-8AF9-8F739BB3C8AB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361950"/>
            <a:ext cx="8372475" cy="2089150"/>
          </a:xfrm>
        </p:spPr>
        <p:txBody>
          <a:bodyPr/>
          <a:lstStyle/>
          <a:p>
            <a:pPr marL="342900" indent="-342900" algn="l" eaLnBrk="1" hangingPunct="1"/>
            <a:r>
              <a:rPr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3.11 </a:t>
            </a:r>
            <a:r>
              <a:rPr lang="en-US" altLang="zh-CN" sz="280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 BX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，［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SI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</a:t>
            </a:r>
          </a:p>
          <a:p>
            <a:pPr marL="342900" indent="-342900" algn="l" eaLnBrk="1" hangingPunct="1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设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DS=1000H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SI=2000H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(12000H)=318BH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，则：</a:t>
            </a:r>
          </a:p>
          <a:p>
            <a:pPr marL="342900" indent="-342900" algn="l" eaLnBrk="1" hangingPunct="1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物理地址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 16×DS+SI = 10000H+2000H = 12000H</a:t>
            </a:r>
            <a:endParaRPr lang="en-US" altLang="zh-CN" sz="2400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/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指令执行后，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BX = 318BH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，指令执行过程如图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3.3 </a:t>
            </a:r>
          </a:p>
        </p:txBody>
      </p:sp>
      <p:pic>
        <p:nvPicPr>
          <p:cNvPr id="27651" name="图片 3" descr="LF3-3.png">
            <a:extLst>
              <a:ext uri="{FF2B5EF4-FFF2-40B4-BE49-F238E27FC236}">
                <a16:creationId xmlns:a16="http://schemas.microsoft.com/office/drawing/2014/main" id="{9B5A7422-C04C-4CC1-B05B-2B113DE0F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" y="2540000"/>
            <a:ext cx="7245350" cy="407035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2" name="直接箭头连接符 1">
            <a:extLst>
              <a:ext uri="{FF2B5EF4-FFF2-40B4-BE49-F238E27FC236}">
                <a16:creationId xmlns:a16="http://schemas.microsoft.com/office/drawing/2014/main" id="{97B46443-346D-43AB-8A96-CC39F322EE96}"/>
              </a:ext>
            </a:extLst>
          </p:cNvPr>
          <p:cNvCxnSpPr/>
          <p:nvPr/>
        </p:nvCxnSpPr>
        <p:spPr>
          <a:xfrm flipV="1">
            <a:off x="6564313" y="3487738"/>
            <a:ext cx="693737" cy="347662"/>
          </a:xfrm>
          <a:prstGeom prst="straightConnector1">
            <a:avLst/>
          </a:prstGeom>
          <a:ln>
            <a:tailEnd type="arrow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文本框 2">
            <a:extLst>
              <a:ext uri="{FF2B5EF4-FFF2-40B4-BE49-F238E27FC236}">
                <a16:creationId xmlns:a16="http://schemas.microsoft.com/office/drawing/2014/main" id="{C9FAE177-0D99-4CC2-9A0E-6D3E204E04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05688" y="3286125"/>
            <a:ext cx="13541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>
                <a:srgbClr val="B4B9BE"/>
              </a:buClr>
              <a:buFontTx/>
              <a:buNone/>
            </a:pPr>
            <a:r>
              <a:rPr lang="zh-CN" altLang="en-US" sz="1800">
                <a:latin typeface="Times New Roman" panose="02020603050405020304" pitchFamily="18" charset="0"/>
              </a:rPr>
              <a:t>教材小</a:t>
            </a:r>
            <a:r>
              <a:rPr lang="en-US" altLang="zh-CN" sz="1800">
                <a:latin typeface="Times New Roman" panose="02020603050405020304" pitchFamily="18" charset="0"/>
              </a:rPr>
              <a:t>bug</a:t>
            </a:r>
          </a:p>
        </p:txBody>
      </p:sp>
    </p:spTree>
  </p:cSld>
  <p:clrMapOvr>
    <a:masterClrMapping/>
  </p:clrMapOvr>
  <p:transition spd="slow"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76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276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765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76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>
            <a:extLst>
              <a:ext uri="{FF2B5EF4-FFF2-40B4-BE49-F238E27FC236}">
                <a16:creationId xmlns:a16="http://schemas.microsoft.com/office/drawing/2014/main" id="{89DD3986-A2F4-4F27-B574-37EC8512135C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527050" y="4064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寄存器间接寻址</a:t>
            </a:r>
          </a:p>
        </p:txBody>
      </p:sp>
      <p:sp>
        <p:nvSpPr>
          <p:cNvPr id="28675" name="内容占位符 2">
            <a:extLst>
              <a:ext uri="{FF2B5EF4-FFF2-40B4-BE49-F238E27FC236}">
                <a16:creationId xmlns:a16="http://schemas.microsoft.com/office/drawing/2014/main" id="{5D6906AB-E524-4529-9456-88F9B5A5E8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0700" y="1196975"/>
            <a:ext cx="8186737" cy="5429250"/>
          </a:xfrm>
        </p:spPr>
        <p:txBody>
          <a:bodyPr/>
          <a:lstStyle/>
          <a:p>
            <a:pPr marL="342900" indent="-342900" algn="l" eaLnBrk="1" hangingPunct="1">
              <a:defRPr/>
            </a:pPr>
            <a:r>
              <a:rPr lang="zh-CN" altLang="en-US" sz="2800" b="1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约定</a:t>
            </a:r>
            <a:r>
              <a:rPr lang="en-US" altLang="x-none" sz="2800" b="1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2</a:t>
            </a:r>
            <a:r>
              <a:rPr lang="zh-CN" altLang="en-US" sz="2800" b="1" noProof="1">
                <a:solidFill>
                  <a:srgbClr val="FF0066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：</a:t>
            </a:r>
            <a:r>
              <a:rPr lang="zh-CN" altLang="en-US" sz="24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如果指令中用</a:t>
            </a:r>
            <a:r>
              <a:rPr lang="en-US" altLang="zh-CN" sz="2400" b="1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BP</a:t>
            </a:r>
            <a:r>
              <a:rPr lang="zh-CN" altLang="en-US" sz="24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进行间接寻址，则默认操作数在</a:t>
            </a:r>
            <a:r>
              <a:rPr lang="zh-CN" altLang="en-US" sz="24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堆栈段</a:t>
            </a:r>
            <a:r>
              <a:rPr lang="en-US" altLang="zh-CN" sz="2400" b="1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(SS)</a:t>
            </a:r>
            <a:r>
              <a:rPr lang="zh-CN" altLang="en-US" sz="24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中</a:t>
            </a:r>
          </a:p>
          <a:p>
            <a:pPr marL="342900" indent="-342900" algn="l" eaLnBrk="1" hangingPunct="1">
              <a:defRPr/>
            </a:pPr>
            <a:r>
              <a:rPr lang="zh-CN" altLang="en-US" sz="2400" b="1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例如：</a:t>
            </a:r>
          </a:p>
          <a:p>
            <a:pPr marL="342900" indent="-342900" algn="l" eaLnBrk="1" hangingPunct="1">
              <a:defRPr/>
            </a:pPr>
            <a:r>
              <a:rPr lang="en-US" altLang="x-none" sz="2400" noProof="1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AX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，［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BP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		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；操作数的物理地址</a:t>
            </a:r>
          </a:p>
          <a:p>
            <a:pPr marL="342900" indent="-342900" algn="l" eaLnBrk="1" hangingPunct="1">
              <a:defRPr/>
            </a:pP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					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；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=16×SS+BP</a:t>
            </a:r>
            <a:endParaRPr lang="zh-CN" altLang="en-US" sz="2400" noProof="1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spcBef>
                <a:spcPts val="2400"/>
              </a:spcBef>
              <a:defRPr/>
            </a:pPr>
            <a:r>
              <a:rPr lang="zh-CN" altLang="en-US" sz="2400" noProof="1"/>
              <a:t> </a:t>
            </a:r>
            <a:r>
              <a:rPr lang="zh-CN" altLang="en-US" sz="2400" b="1" noProof="1">
                <a:solidFill>
                  <a:srgbClr val="CC0000"/>
                </a:solidFill>
              </a:rPr>
              <a:t>指令中也可以指定段超越前缀，改变默认段约定</a:t>
            </a:r>
          </a:p>
          <a:p>
            <a:pPr marL="342900" indent="-342900" algn="l" eaLnBrk="1" hangingPunct="1">
              <a:spcBef>
                <a:spcPts val="2400"/>
              </a:spcBef>
              <a:defRPr/>
            </a:pPr>
            <a:r>
              <a:rPr lang="zh-CN" altLang="en-US" sz="2400" b="1" noProof="1">
                <a:solidFill>
                  <a:srgbClr val="0033CC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例如：</a:t>
            </a:r>
          </a:p>
          <a:p>
            <a:pPr marL="342900" indent="-342900" algn="l" eaLnBrk="1" hangingPunct="1">
              <a:defRPr/>
            </a:pP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MOV   BX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DS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：［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BP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 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；源操作数物理地址</a:t>
            </a:r>
          </a:p>
          <a:p>
            <a:pPr marL="342900" indent="-342900" algn="l" eaLnBrk="1" hangingPunct="1">
              <a:defRPr/>
            </a:pP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					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；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=16×DS+BP</a:t>
            </a:r>
            <a:endParaRPr lang="zh-CN" altLang="en-US" sz="2400" noProof="1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defRPr/>
            </a:pP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MOV   AX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ES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：［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SI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	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；源操作数物理地址</a:t>
            </a:r>
          </a:p>
          <a:p>
            <a:pPr marL="342900" indent="-342900" algn="l" eaLnBrk="1" hangingPunct="1">
              <a:defRPr/>
            </a:pP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					</a:t>
            </a:r>
            <a:r>
              <a:rPr lang="zh-CN" altLang="en-US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；</a:t>
            </a:r>
            <a:r>
              <a:rPr lang="en-US" altLang="x-none" sz="2400" noProof="1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=16×ES+SI</a:t>
            </a:r>
            <a:endParaRPr lang="zh-CN" altLang="en-US" sz="2400" noProof="1"/>
          </a:p>
        </p:txBody>
      </p:sp>
    </p:spTree>
  </p:cSld>
  <p:clrMapOvr>
    <a:masterClrMapping/>
  </p:clrMapOvr>
  <p:transition spd="slow">
    <p:split orient="vert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标题 1">
            <a:extLst>
              <a:ext uri="{FF2B5EF4-FFF2-40B4-BE49-F238E27FC236}">
                <a16:creationId xmlns:a16="http://schemas.microsoft.com/office/drawing/2014/main" id="{92D3A5F3-4753-4811-8BB2-06F0EF55A9B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49530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5400">
                <a:solidFill>
                  <a:schemeClr val="accent2"/>
                </a:solidFill>
                <a:sym typeface="Times New Roman" panose="02020603050405020304" pitchFamily="18" charset="0"/>
              </a:rPr>
              <a:t>§3</a:t>
            </a:r>
            <a:r>
              <a:rPr lang="en-US" altLang="zh-CN" sz="5400">
                <a:solidFill>
                  <a:schemeClr val="accent2"/>
                </a:solidFill>
              </a:rPr>
              <a:t>.1 8086</a:t>
            </a:r>
            <a:r>
              <a:rPr lang="zh-CN" altLang="en-US" sz="5400">
                <a:solidFill>
                  <a:schemeClr val="accent2"/>
                </a:solidFill>
              </a:rPr>
              <a:t>的寻址方式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75779" name="矩形 4">
            <a:extLst>
              <a:ext uri="{FF2B5EF4-FFF2-40B4-BE49-F238E27FC236}">
                <a16:creationId xmlns:a16="http://schemas.microsoft.com/office/drawing/2014/main" id="{1446898F-DB26-4170-9F8D-4CD1738483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1919288"/>
            <a:ext cx="59118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3.1.1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立即寻址方式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3.1.2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3.1.3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3.1.4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3.1.5  </a:t>
            </a:r>
            <a:r>
              <a:rPr lang="zh-CN" altLang="en-US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寄存器相对寻址方式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3.1.6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3.1.7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相对基址变址寻址方式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3.1.8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其它寻址方式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>
            <a:extLst>
              <a:ext uri="{FF2B5EF4-FFF2-40B4-BE49-F238E27FC236}">
                <a16:creationId xmlns:a16="http://schemas.microsoft.com/office/drawing/2014/main" id="{D456E04D-2393-4F37-B8D4-0F3FA4773AA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495300"/>
            <a:ext cx="8229600" cy="1111250"/>
          </a:xfrm>
        </p:spPr>
        <p:txBody>
          <a:bodyPr anchor="ctr"/>
          <a:lstStyle/>
          <a:p>
            <a:pPr algn="l" eaLnBrk="1" hangingPunct="1"/>
            <a:r>
              <a:rPr lang="en-US" altLang="zh-CN" sz="32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3.1.5 </a:t>
            </a:r>
            <a:r>
              <a:rPr lang="zh-CN" altLang="en-US" sz="32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寄存器相对寻址方式</a:t>
            </a:r>
            <a:br>
              <a:rPr lang="zh-CN" altLang="en-US" sz="32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</a:br>
            <a:r>
              <a:rPr lang="en-US" altLang="zh-CN" sz="3200" b="1">
                <a:solidFill>
                  <a:schemeClr val="accent2"/>
                </a:solidFill>
              </a:rPr>
              <a:t>Register Relative Addressing</a:t>
            </a:r>
            <a:endParaRPr lang="zh-CN" altLang="en-US" sz="3200" b="1">
              <a:solidFill>
                <a:schemeClr val="accent2"/>
              </a:solidFill>
              <a:latin typeface="楷体_GB2312" pitchFamily="1" charset="-122"/>
              <a:ea typeface="楷体_GB2312" pitchFamily="1" charset="-122"/>
              <a:sym typeface="楷体_GB2312" pitchFamily="1" charset="-122"/>
            </a:endParaRPr>
          </a:p>
        </p:txBody>
      </p:sp>
      <p:sp>
        <p:nvSpPr>
          <p:cNvPr id="30723" name="内容占位符 2">
            <a:extLst>
              <a:ext uri="{FF2B5EF4-FFF2-40B4-BE49-F238E27FC236}">
                <a16:creationId xmlns:a16="http://schemas.microsoft.com/office/drawing/2014/main" id="{D27048AA-AA87-4CC3-8595-B879517EBC6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784350"/>
            <a:ext cx="8372475" cy="4705350"/>
          </a:xfrm>
        </p:spPr>
        <p:txBody>
          <a:bodyPr/>
          <a:lstStyle/>
          <a:p>
            <a:pPr marL="1588" indent="-1588" algn="l" eaLnBrk="1" hangingPunct="1">
              <a:lnSpc>
                <a:spcPct val="90000"/>
              </a:lnSpc>
              <a:buFont typeface="Wingdings" panose="05000000000000000000" pitchFamily="2" charset="2"/>
              <a:buChar char="l"/>
            </a:pPr>
            <a:r>
              <a:rPr lang="zh-CN" altLang="en-US" sz="2400">
                <a:latin typeface="Times New Roman" panose="02020603050405020304" pitchFamily="18" charset="0"/>
                <a:sym typeface="Times New Roman" panose="02020603050405020304" pitchFamily="18" charset="0"/>
              </a:rPr>
              <a:t>它与寄存器间接寻址十分相似，但在有效地址上还要加一个</a:t>
            </a:r>
            <a:r>
              <a:rPr lang="en-US" altLang="zh-CN" sz="2400">
                <a:latin typeface="Times New Roman" panose="02020603050405020304" pitchFamily="18" charset="0"/>
                <a:sym typeface="Times New Roman" panose="02020603050405020304" pitchFamily="18" charset="0"/>
              </a:rPr>
              <a:t>8/16</a:t>
            </a:r>
            <a:r>
              <a:rPr lang="zh-CN" altLang="en-US" sz="2400">
                <a:latin typeface="Times New Roman" panose="02020603050405020304" pitchFamily="18" charset="0"/>
                <a:sym typeface="Times New Roman" panose="02020603050405020304" pitchFamily="18" charset="0"/>
              </a:rPr>
              <a:t>位的</a:t>
            </a:r>
            <a:r>
              <a:rPr lang="zh-CN" altLang="en-US" sz="2400" b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位移量</a:t>
            </a:r>
          </a:p>
          <a:p>
            <a:pPr marL="1588" indent="-1588" algn="l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zh-CN" altLang="en-US" sz="2400"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1588" indent="-1588" algn="l" eaLnBrk="1" hangingPunct="1">
              <a:lnSpc>
                <a:spcPct val="90000"/>
              </a:lnSpc>
            </a:pPr>
            <a:r>
              <a:rPr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3.12 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zh-CN" sz="280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  BX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COUNT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［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SI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</a:t>
            </a:r>
          </a:p>
          <a:p>
            <a:pPr marL="1588" indent="-1588" algn="l"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设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DS=3000H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SI=2000H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，位移量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COUNT=4000H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(36000H)=5678H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，则：</a:t>
            </a:r>
          </a:p>
          <a:p>
            <a:pPr marL="1588" indent="-1588" algn="l"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</a:t>
            </a:r>
            <a:r>
              <a:rPr lang="zh-CN" altLang="en-US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物理地址</a:t>
            </a: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=16×DS+SI+COUNT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1588" indent="-1588" algn="l" eaLnBrk="1" hangingPunct="1">
              <a:lnSpc>
                <a:spcPct val="90000"/>
              </a:lnSpc>
            </a:pP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		=30000H+2000H+4000H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1588" indent="-1588" algn="l" eaLnBrk="1" hangingPunct="1">
              <a:lnSpc>
                <a:spcPct val="90000"/>
              </a:lnSpc>
            </a:pPr>
            <a:r>
              <a:rPr lang="en-US" altLang="zh-CN" sz="2800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		=36000H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1588" indent="-1588" algn="l" eaLnBrk="1" hangingPunct="1">
              <a:lnSpc>
                <a:spcPct val="90000"/>
              </a:lnSpc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执行结果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BX=5678H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，执行过程如图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3.4</a:t>
            </a:r>
          </a:p>
        </p:txBody>
      </p:sp>
    </p:spTree>
  </p:cSld>
  <p:clrMapOvr>
    <a:masterClrMapping/>
  </p:clrMapOvr>
  <p:transition spd="slow">
    <p:cover dir="r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072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07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3072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3072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07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标题 1">
            <a:extLst>
              <a:ext uri="{FF2B5EF4-FFF2-40B4-BE49-F238E27FC236}">
                <a16:creationId xmlns:a16="http://schemas.microsoft.com/office/drawing/2014/main" id="{4FA04C57-C895-42C1-91CB-C12D522F1429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615950" y="2286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寄存器相对寻址</a:t>
            </a:r>
          </a:p>
        </p:txBody>
      </p:sp>
      <p:sp>
        <p:nvSpPr>
          <p:cNvPr id="31747" name="内容占位符 2">
            <a:extLst>
              <a:ext uri="{FF2B5EF4-FFF2-40B4-BE49-F238E27FC236}">
                <a16:creationId xmlns:a16="http://schemas.microsoft.com/office/drawing/2014/main" id="{EE59DA86-81CD-44B4-BAD2-92FF4B357DB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5635625"/>
            <a:ext cx="8372475" cy="1016000"/>
          </a:xfrm>
        </p:spPr>
        <p:txBody>
          <a:bodyPr/>
          <a:lstStyle/>
          <a:p>
            <a:pPr marL="342900" indent="-342900" algn="just" eaLnBrk="1" hangingPunct="1"/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上述指令也可用</a:t>
            </a:r>
            <a:r>
              <a:rPr lang="en-US" altLang="zh-CN" sz="2800" b="1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MOV    BX</a:t>
            </a:r>
            <a:r>
              <a:rPr lang="zh-CN" altLang="en-US" sz="2800" b="1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，［</a:t>
            </a:r>
            <a:r>
              <a:rPr lang="en-US" altLang="zh-CN" sz="2800" b="1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COUNT+SI</a:t>
            </a:r>
            <a:r>
              <a:rPr lang="zh-CN" altLang="en-US" sz="2800" b="1">
                <a:solidFill>
                  <a:srgbClr val="008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］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这种形式来表示。</a:t>
            </a:r>
          </a:p>
        </p:txBody>
      </p:sp>
      <p:pic>
        <p:nvPicPr>
          <p:cNvPr id="77828" name="图片 4" descr="LF3-4.png">
            <a:extLst>
              <a:ext uri="{FF2B5EF4-FFF2-40B4-BE49-F238E27FC236}">
                <a16:creationId xmlns:a16="http://schemas.microsoft.com/office/drawing/2014/main" id="{A4A729FA-7DD7-492E-876F-BB5BA0598B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850" y="1254125"/>
            <a:ext cx="7851775" cy="424656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r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7" grpId="0" bldLvl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标题 1">
            <a:extLst>
              <a:ext uri="{FF2B5EF4-FFF2-40B4-BE49-F238E27FC236}">
                <a16:creationId xmlns:a16="http://schemas.microsoft.com/office/drawing/2014/main" id="{B8554F6A-93A9-4AB9-B40D-A1E02DCAEB0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49530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5400">
                <a:solidFill>
                  <a:schemeClr val="accent2"/>
                </a:solidFill>
                <a:sym typeface="Times New Roman" panose="02020603050405020304" pitchFamily="18" charset="0"/>
              </a:rPr>
              <a:t>§3</a:t>
            </a:r>
            <a:r>
              <a:rPr lang="en-US" altLang="zh-CN" sz="5400">
                <a:solidFill>
                  <a:schemeClr val="accent2"/>
                </a:solidFill>
              </a:rPr>
              <a:t>.1 8086</a:t>
            </a:r>
            <a:r>
              <a:rPr lang="zh-CN" altLang="en-US" sz="5400">
                <a:solidFill>
                  <a:schemeClr val="accent2"/>
                </a:solidFill>
              </a:rPr>
              <a:t>的寻址方式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78851" name="矩形 4">
            <a:extLst>
              <a:ext uri="{FF2B5EF4-FFF2-40B4-BE49-F238E27FC236}">
                <a16:creationId xmlns:a16="http://schemas.microsoft.com/office/drawing/2014/main" id="{D50F918A-99C7-436F-AC51-0C2155E3EB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5750" y="1898650"/>
            <a:ext cx="591185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3.1.1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立即寻址方式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3.1.2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3.1.3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3.1.4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3.1.5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寄存器相对寻址方式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3.1.6  </a:t>
            </a:r>
            <a:r>
              <a:rPr lang="zh-CN" altLang="en-US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3.1.7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相对基址变址寻址方式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3.1.8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其它寻址方式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标题 1">
            <a:extLst>
              <a:ext uri="{FF2B5EF4-FFF2-40B4-BE49-F238E27FC236}">
                <a16:creationId xmlns:a16="http://schemas.microsoft.com/office/drawing/2014/main" id="{8FBBFD22-AA27-4F69-832B-D39681C005F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74663" y="368300"/>
            <a:ext cx="8229600" cy="1193800"/>
          </a:xfrm>
        </p:spPr>
        <p:txBody>
          <a:bodyPr anchor="ctr"/>
          <a:lstStyle/>
          <a:p>
            <a:pPr algn="l" eaLnBrk="1" hangingPunct="1"/>
            <a:r>
              <a:rPr lang="en-US" altLang="zh-CN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3.1.6 </a:t>
            </a:r>
            <a:r>
              <a:rPr lang="zh-CN" altLang="en-US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基址变址寻址方式</a:t>
            </a:r>
            <a:br>
              <a:rPr lang="zh-CN" altLang="en-US" sz="4400" b="1">
                <a:solidFill>
                  <a:schemeClr val="accent2"/>
                </a:solidFill>
              </a:rPr>
            </a:br>
            <a:r>
              <a:rPr lang="en-US" altLang="zh-CN" sz="3600" b="1">
                <a:solidFill>
                  <a:schemeClr val="accent2"/>
                </a:solidFill>
              </a:rPr>
              <a:t>Based Indexed Addressing</a:t>
            </a:r>
          </a:p>
        </p:txBody>
      </p:sp>
      <p:sp>
        <p:nvSpPr>
          <p:cNvPr id="33795" name="内容占位符 2">
            <a:extLst>
              <a:ext uri="{FF2B5EF4-FFF2-40B4-BE49-F238E27FC236}">
                <a16:creationId xmlns:a16="http://schemas.microsoft.com/office/drawing/2014/main" id="{E91B143D-22B8-490A-AE69-CFECB58D9F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1739900"/>
            <a:ext cx="8231188" cy="4705350"/>
          </a:xfrm>
        </p:spPr>
        <p:txBody>
          <a:bodyPr/>
          <a:lstStyle/>
          <a:p>
            <a:pPr marL="342900" indent="-342900" algn="just" eaLnBrk="1" hangingPunct="1">
              <a:lnSpc>
                <a:spcPct val="90000"/>
              </a:lnSpc>
              <a:defRPr/>
            </a:pPr>
            <a:r>
              <a:rPr lang="zh-CN" altLang="en-US" sz="24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有效地址是一个</a:t>
            </a:r>
            <a:r>
              <a:rPr lang="zh-CN" altLang="en-US" sz="2400" b="1" noProof="1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Times New Roman" panose="02020603050405020304" pitchFamily="18" charset="0"/>
              </a:rPr>
              <a:t>基址寄存器</a:t>
            </a:r>
            <a:r>
              <a:rPr lang="en-US" altLang="x-none" sz="2400" b="1" noProof="1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Times New Roman" panose="02020603050405020304" pitchFamily="18" charset="0"/>
              </a:rPr>
              <a:t>(BX</a:t>
            </a:r>
            <a:r>
              <a:rPr lang="zh-CN" altLang="en-US" sz="2400" b="1" noProof="1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Times New Roman" panose="02020603050405020304" pitchFamily="18" charset="0"/>
              </a:rPr>
              <a:t>或</a:t>
            </a:r>
            <a:r>
              <a:rPr lang="en-US" altLang="x-none" sz="2400" b="1" noProof="1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Times New Roman" panose="02020603050405020304" pitchFamily="18" charset="0"/>
              </a:rPr>
              <a:t>BP)</a:t>
            </a:r>
            <a:r>
              <a:rPr lang="zh-CN" altLang="en-US" sz="24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和一个</a:t>
            </a:r>
            <a:r>
              <a:rPr lang="zh-CN" altLang="en-US" sz="2400" b="1" noProof="1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Times New Roman" panose="02020603050405020304" pitchFamily="18" charset="0"/>
              </a:rPr>
              <a:t>变址寄存器</a:t>
            </a:r>
            <a:r>
              <a:rPr lang="en-US" altLang="x-none" sz="2400" b="1" noProof="1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Times New Roman" panose="02020603050405020304" pitchFamily="18" charset="0"/>
              </a:rPr>
              <a:t>(SI</a:t>
            </a:r>
            <a:r>
              <a:rPr lang="zh-CN" altLang="en-US" sz="2400" b="1" noProof="1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Times New Roman" panose="02020603050405020304" pitchFamily="18" charset="0"/>
              </a:rPr>
              <a:t>或</a:t>
            </a:r>
            <a:r>
              <a:rPr lang="en-US" altLang="x-none" sz="2400" b="1" noProof="1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  <a:sym typeface="Times New Roman" panose="02020603050405020304" pitchFamily="18" charset="0"/>
              </a:rPr>
              <a:t>DI)</a:t>
            </a:r>
            <a:r>
              <a:rPr lang="zh-CN" altLang="en-US" sz="24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的内容之和，两个寄存器均由指令指定。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ts val="1800"/>
              </a:spcBef>
              <a:defRPr/>
            </a:pP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若基址寄存器为</a:t>
            </a:r>
            <a:r>
              <a:rPr lang="en-US" altLang="x-none" sz="28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BX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时，段址</a:t>
            </a:r>
            <a:r>
              <a:rPr lang="zh-CN" altLang="en-US" sz="2800" noProof="1">
                <a:solidFill>
                  <a:srgbClr val="FF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寄存器用</a:t>
            </a:r>
            <a:r>
              <a:rPr lang="en-US" altLang="x-none" sz="28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DS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，则：</a:t>
            </a:r>
          </a:p>
          <a:p>
            <a:pPr marL="342900" indent="-342900" algn="l" eaLnBrk="1" hangingPunct="1">
              <a:lnSpc>
                <a:spcPct val="90000"/>
              </a:lnSpc>
              <a:defRPr/>
            </a:pP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	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物理地址 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 16×DS+BX+SI</a:t>
            </a:r>
            <a:endParaRPr lang="en-US" altLang="x-none" sz="2400" noProof="1">
              <a:solidFill>
                <a:srgbClr val="0033CC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  <a:defRPr/>
            </a:pP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		        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或 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 16×DS+BX+DI</a:t>
            </a:r>
            <a:endParaRPr lang="en-US" altLang="x-none" sz="2400" noProof="1">
              <a:solidFill>
                <a:srgbClr val="0033CC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ts val="1800"/>
              </a:spcBef>
              <a:defRPr/>
            </a:pP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 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若基址寄存器为</a:t>
            </a:r>
            <a:r>
              <a:rPr lang="en-US" altLang="x-none" sz="28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BP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时，段址</a:t>
            </a:r>
            <a:r>
              <a:rPr lang="zh-CN" altLang="en-US" sz="2800" noProof="1">
                <a:solidFill>
                  <a:srgbClr val="FF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寄存器应使用</a:t>
            </a:r>
            <a:r>
              <a:rPr lang="en-US" altLang="x-none" sz="2800" noProof="1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sym typeface="Times New Roman" panose="02020603050405020304" pitchFamily="18" charset="0"/>
              </a:rPr>
              <a:t>SS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，则：</a:t>
            </a:r>
          </a:p>
          <a:p>
            <a:pPr marL="342900" indent="-342900" algn="l" eaLnBrk="1" hangingPunct="1">
              <a:lnSpc>
                <a:spcPct val="90000"/>
              </a:lnSpc>
              <a:defRPr/>
            </a:pP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	 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物理地址 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 16×SS+BP+SI</a:t>
            </a:r>
            <a:endParaRPr lang="en-US" altLang="x-none" sz="2400" noProof="1">
              <a:solidFill>
                <a:srgbClr val="0033CC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  <a:defRPr/>
            </a:pP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		         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或 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= 16×SS+BP+DI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6849DCE-12E6-4E40-B29C-77A926864D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0194" y="5815113"/>
            <a:ext cx="7037504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eaLnBrk="1" hangingPunct="1">
              <a:buClr>
                <a:srgbClr val="B4B9BE"/>
              </a:buClr>
              <a:defRPr/>
            </a:pPr>
            <a:r>
              <a:rPr lang="zh-CN" altLang="en-US" sz="2800" b="1" dirty="0">
                <a:solidFill>
                  <a:srgbClr val="CC0000"/>
                </a:solidFill>
                <a:highlight>
                  <a:srgbClr val="FFFF00"/>
                </a:highlight>
                <a:sym typeface="Times New Roman" panose="02020603050405020304" pitchFamily="18" charset="0"/>
              </a:rPr>
              <a:t>特别注意：只能是基址之一匹配变址之一，</a:t>
            </a:r>
            <a:endParaRPr lang="en-US" altLang="zh-CN" sz="2800" b="1" dirty="0">
              <a:solidFill>
                <a:srgbClr val="CC0000"/>
              </a:solidFill>
              <a:highlight>
                <a:srgbClr val="FFFF00"/>
              </a:highlight>
              <a:sym typeface="Times New Roman" panose="02020603050405020304" pitchFamily="18" charset="0"/>
            </a:endParaRPr>
          </a:p>
          <a:p>
            <a:pPr eaLnBrk="1" hangingPunct="1">
              <a:buClr>
                <a:srgbClr val="B4B9BE"/>
              </a:buClr>
              <a:defRPr/>
            </a:pPr>
            <a:r>
              <a:rPr lang="en-US" altLang="zh-CN" sz="2800" b="1" dirty="0">
                <a:solidFill>
                  <a:srgbClr val="CC0000"/>
                </a:solidFill>
                <a:highlight>
                  <a:srgbClr val="FFFF00"/>
                </a:highlight>
                <a:sym typeface="Times New Roman" panose="02020603050405020304" pitchFamily="18" charset="0"/>
              </a:rPr>
              <a:t>                    </a:t>
            </a:r>
            <a:r>
              <a:rPr lang="zh-CN" altLang="en-US" sz="2800" b="1" dirty="0">
                <a:solidFill>
                  <a:srgbClr val="CC0000"/>
                </a:solidFill>
                <a:highlight>
                  <a:srgbClr val="FFFF00"/>
                </a:highlight>
                <a:sym typeface="Times New Roman" panose="02020603050405020304" pitchFamily="18" charset="0"/>
              </a:rPr>
              <a:t>绝不是</a:t>
            </a:r>
            <a:r>
              <a:rPr lang="en-US" altLang="zh-CN" sz="2800" b="1" dirty="0">
                <a:solidFill>
                  <a:srgbClr val="CC0000"/>
                </a:solidFill>
                <a:highlight>
                  <a:srgbClr val="FFFF00"/>
                </a:highlight>
                <a:sym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CC0000"/>
                </a:solidFill>
                <a:highlight>
                  <a:srgbClr val="FFFF00"/>
                </a:highlight>
                <a:sym typeface="Times New Roman" panose="02020603050405020304" pitchFamily="18" charset="0"/>
              </a:rPr>
              <a:t>个寄存器随便搭配！</a:t>
            </a:r>
          </a:p>
        </p:txBody>
      </p:sp>
    </p:spTree>
  </p:cSld>
  <p:clrMapOvr>
    <a:masterClrMapping/>
  </p:clrMapOvr>
  <p:transition spd="slow">
    <p:cover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内容占位符 2">
            <a:extLst>
              <a:ext uri="{FF2B5EF4-FFF2-40B4-BE49-F238E27FC236}">
                <a16:creationId xmlns:a16="http://schemas.microsoft.com/office/drawing/2014/main" id="{EEA612BD-07C5-43EF-B7A6-413B73DBEF7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406400"/>
            <a:ext cx="8372475" cy="2489200"/>
          </a:xfrm>
        </p:spPr>
        <p:txBody>
          <a:bodyPr/>
          <a:lstStyle/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3.13 </a:t>
            </a:r>
            <a:r>
              <a:rPr lang="en-US" altLang="zh-CN" sz="2800" dirty="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r>
              <a:rPr lang="en-US" altLang="zh-CN" sz="2800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  AX</a:t>
            </a:r>
            <a:r>
              <a:rPr lang="zh-CN" altLang="en-US" sz="2800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 dirty="0">
                <a:highlight>
                  <a:srgbClr val="FFFF00"/>
                </a:highlight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[BX][SI]</a:t>
            </a:r>
            <a:endParaRPr lang="zh-CN" altLang="en-US" sz="2800" dirty="0">
              <a:highlight>
                <a:srgbClr val="FFFF00"/>
              </a:highlight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设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DS=3000H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BX=1200H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SI=0500H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 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   (31700H)=ABCDH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，则：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</a:t>
            </a:r>
            <a:r>
              <a:rPr lang="zh-CN" altLang="en-US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物理地址 </a:t>
            </a:r>
            <a:r>
              <a:rPr lang="en-US" altLang="zh-CN" sz="28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 16×DS+BX+SI</a:t>
            </a:r>
            <a:endParaRPr lang="en-US" altLang="zh-CN" sz="2400" dirty="0">
              <a:solidFill>
                <a:srgbClr val="CC000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		          = 30000H+1200H+0500H = 31700H</a:t>
            </a:r>
            <a:endParaRPr lang="en-US" altLang="zh-CN" sz="2400" dirty="0"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执行结果：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AX=ABCDH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，指令执行过程如图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3.5</a:t>
            </a:r>
          </a:p>
        </p:txBody>
      </p:sp>
      <p:pic>
        <p:nvPicPr>
          <p:cNvPr id="34819" name="图片 3" descr="LF3-5.png">
            <a:extLst>
              <a:ext uri="{FF2B5EF4-FFF2-40B4-BE49-F238E27FC236}">
                <a16:creationId xmlns:a16="http://schemas.microsoft.com/office/drawing/2014/main" id="{E7D23249-9E59-444F-AD7D-A4642F4044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3750" y="2895600"/>
            <a:ext cx="6645275" cy="37338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48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标题 1">
            <a:extLst>
              <a:ext uri="{FF2B5EF4-FFF2-40B4-BE49-F238E27FC236}">
                <a16:creationId xmlns:a16="http://schemas.microsoft.com/office/drawing/2014/main" id="{370B5F4C-BB84-4E52-B6C5-D7471DDD7A3C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49530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5400">
                <a:solidFill>
                  <a:schemeClr val="accent2"/>
                </a:solidFill>
                <a:sym typeface="Times New Roman" panose="02020603050405020304" pitchFamily="18" charset="0"/>
              </a:rPr>
              <a:t>§3</a:t>
            </a:r>
            <a:r>
              <a:rPr lang="en-US" altLang="zh-CN" sz="5400">
                <a:solidFill>
                  <a:schemeClr val="accent2"/>
                </a:solidFill>
              </a:rPr>
              <a:t>.1 8086</a:t>
            </a:r>
            <a:r>
              <a:rPr lang="zh-CN" altLang="en-US" sz="5400">
                <a:solidFill>
                  <a:schemeClr val="accent2"/>
                </a:solidFill>
              </a:rPr>
              <a:t>的寻址方式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81923" name="矩形 4">
            <a:extLst>
              <a:ext uri="{FF2B5EF4-FFF2-40B4-BE49-F238E27FC236}">
                <a16:creationId xmlns:a16="http://schemas.microsoft.com/office/drawing/2014/main" id="{4A40E081-0563-4F5D-989D-EA8DD4B018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1919288"/>
            <a:ext cx="59118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3.1.1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立即寻址方式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3.1.2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3.1.3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3.1.4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3.1.5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寄存器相对寻址方式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3.1.6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3.1.7  </a:t>
            </a:r>
            <a:r>
              <a:rPr lang="zh-CN" altLang="en-US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相对基址变址寻址方式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3.1.8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其它寻址方式</a:t>
            </a:r>
            <a:endParaRPr lang="en-US" altLang="zh-CN" sz="2400">
              <a:solidFill>
                <a:srgbClr val="008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标题 1">
            <a:extLst>
              <a:ext uri="{FF2B5EF4-FFF2-40B4-BE49-F238E27FC236}">
                <a16:creationId xmlns:a16="http://schemas.microsoft.com/office/drawing/2014/main" id="{19EB341D-8BB9-4EC5-AD03-3E76999C188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1149350"/>
          </a:xfrm>
        </p:spPr>
        <p:txBody>
          <a:bodyPr anchor="ctr"/>
          <a:lstStyle/>
          <a:p>
            <a:pPr algn="l" eaLnBrk="1" hangingPunct="1"/>
            <a:r>
              <a:rPr lang="en-US" altLang="zh-CN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3.1.7 </a:t>
            </a:r>
            <a:r>
              <a:rPr lang="zh-CN" altLang="en-US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相对基址变址寻址方式</a:t>
            </a:r>
            <a:br>
              <a:rPr lang="zh-CN" altLang="en-US" sz="4400" b="1">
                <a:solidFill>
                  <a:schemeClr val="accent2"/>
                </a:solidFill>
              </a:rPr>
            </a:br>
            <a:r>
              <a:rPr lang="en-US" altLang="zh-CN" sz="2800" b="1">
                <a:solidFill>
                  <a:schemeClr val="accent2"/>
                </a:solidFill>
              </a:rPr>
              <a:t>Relative Based Indexed Addressing</a:t>
            </a:r>
            <a:endParaRPr lang="zh-CN" altLang="en-US" sz="4400" b="1">
              <a:solidFill>
                <a:schemeClr val="accent2"/>
              </a:solidFill>
            </a:endParaRPr>
          </a:p>
        </p:txBody>
      </p:sp>
      <p:sp>
        <p:nvSpPr>
          <p:cNvPr id="36867" name="内容占位符 2">
            <a:extLst>
              <a:ext uri="{FF2B5EF4-FFF2-40B4-BE49-F238E27FC236}">
                <a16:creationId xmlns:a16="http://schemas.microsoft.com/office/drawing/2014/main" id="{5E90BC04-EFB4-46E1-996B-241D8089931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527050" y="1739900"/>
            <a:ext cx="8186738" cy="4445000"/>
          </a:xfrm>
        </p:spPr>
        <p:txBody>
          <a:bodyPr/>
          <a:lstStyle/>
          <a:p>
            <a:pPr marL="342900" indent="-342900" algn="l" eaLnBrk="1" hangingPunct="1"/>
            <a:r>
              <a:rPr lang="zh-CN" altLang="en-US" sz="2400">
                <a:latin typeface="Times New Roman" panose="02020603050405020304" pitchFamily="18" charset="0"/>
                <a:sym typeface="Times New Roman" panose="02020603050405020304" pitchFamily="18" charset="0"/>
              </a:rPr>
              <a:t>有效地址是基址和变址寄存器的内容，再加上</a:t>
            </a:r>
            <a:r>
              <a:rPr lang="en-US" altLang="zh-CN" sz="2400">
                <a:latin typeface="Times New Roman" panose="02020603050405020304" pitchFamily="18" charset="0"/>
                <a:sym typeface="Times New Roman" panose="02020603050405020304" pitchFamily="18" charset="0"/>
              </a:rPr>
              <a:t>8/16</a:t>
            </a:r>
            <a:r>
              <a:rPr lang="zh-CN" altLang="en-US" sz="2400">
                <a:latin typeface="Times New Roman" panose="02020603050405020304" pitchFamily="18" charset="0"/>
                <a:sym typeface="Times New Roman" panose="02020603050405020304" pitchFamily="18" charset="0"/>
              </a:rPr>
              <a:t>位位移量之和。</a:t>
            </a:r>
          </a:p>
          <a:p>
            <a:pPr marL="342900" indent="-342900" algn="l" eaLnBrk="1" hangingPunct="1">
              <a:spcBef>
                <a:spcPts val="1800"/>
              </a:spcBef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当基址寄存器为</a:t>
            </a:r>
            <a:r>
              <a: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BX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时，用</a:t>
            </a:r>
            <a:r>
              <a: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DS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作段寄存器，则：</a:t>
            </a:r>
          </a:p>
          <a:p>
            <a:pPr marL="342900" indent="-342900" algn="l" eaLnBrk="1" hangingPunct="1"/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	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物理地址 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 16×DS+BX+SI+8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位或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16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位位移量</a:t>
            </a:r>
          </a:p>
          <a:p>
            <a:pPr marL="342900" indent="-342900" algn="l" eaLnBrk="1" hangingPunct="1"/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    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或 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 16×DS+BX+DI+8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位或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16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位位移量</a:t>
            </a:r>
          </a:p>
          <a:p>
            <a:pPr marL="342900" indent="-342900" algn="l" eaLnBrk="1" hangingPunct="1">
              <a:buFont typeface="Wingdings" panose="05000000000000000000" pitchFamily="2" charset="2"/>
              <a:buChar char="l"/>
            </a:pP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当基址寄存器为</a:t>
            </a:r>
            <a:r>
              <a: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BP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时，应使用</a:t>
            </a:r>
            <a:r>
              <a:rPr lang="en-US" altLang="zh-CN" sz="2800" b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SS</a:t>
            </a:r>
            <a:r>
              <a:rPr lang="zh-CN" altLang="en-US" sz="2800">
                <a:latin typeface="Times New Roman" panose="02020603050405020304" pitchFamily="18" charset="0"/>
                <a:sym typeface="Times New Roman" panose="02020603050405020304" pitchFamily="18" charset="0"/>
              </a:rPr>
              <a:t>作段寄存器，则：</a:t>
            </a:r>
          </a:p>
          <a:p>
            <a:pPr marL="342900" indent="-342900" algn="l" eaLnBrk="1" hangingPunct="1"/>
            <a:r>
              <a:rPr lang="en-US" altLang="zh-CN" sz="2800">
                <a:latin typeface="Times New Roman" panose="02020603050405020304" pitchFamily="18" charset="0"/>
                <a:sym typeface="Times New Roman" panose="02020603050405020304" pitchFamily="18" charset="0"/>
              </a:rPr>
              <a:t>	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物理地址 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 16×SS+BP+SI+8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位或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16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位位移量</a:t>
            </a:r>
          </a:p>
          <a:p>
            <a:pPr marL="342900" indent="-342900" algn="l" eaLnBrk="1" hangingPunct="1"/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         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或 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 16×SS+BP+DI+8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位或</a:t>
            </a:r>
            <a:r>
              <a:rPr lang="en-US" altLang="zh-CN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16</a:t>
            </a:r>
            <a:r>
              <a:rPr lang="zh-CN" altLang="en-US" sz="280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位位移量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68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68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368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3686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3686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3686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内容占位符 2">
            <a:extLst>
              <a:ext uri="{FF2B5EF4-FFF2-40B4-BE49-F238E27FC236}">
                <a16:creationId xmlns:a16="http://schemas.microsoft.com/office/drawing/2014/main" id="{AE6B729F-62F9-4C76-9BE4-336C02A75EC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260350" y="361950"/>
            <a:ext cx="8372475" cy="2489200"/>
          </a:xfrm>
        </p:spPr>
        <p:txBody>
          <a:bodyPr/>
          <a:lstStyle/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例</a:t>
            </a:r>
            <a:r>
              <a:rPr lang="en-US" altLang="zh-CN" sz="2800" b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3.14 </a:t>
            </a:r>
            <a:r>
              <a:rPr lang="en-US" altLang="zh-CN" sz="280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MOV  AX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MASK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［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BX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］［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SI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］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设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DS=2000H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BX=1500H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SI=0300H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MASK=0200H,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(21A00H)=26BFH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，则：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</a:t>
            </a:r>
            <a:r>
              <a:rPr lang="zh-CN" altLang="en-US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物理地址</a:t>
            </a: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=16×DS+BX+SI+MASK</a:t>
            </a:r>
            <a:endParaRPr lang="en-US" altLang="zh-CN" sz="2400">
              <a:solidFill>
                <a:srgbClr val="CC000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zh-CN" sz="280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        =20000H+1500H+0300H+0200H=21A00H</a:t>
            </a:r>
            <a:endParaRPr lang="en-US" altLang="zh-CN" sz="2400">
              <a:solidFill>
                <a:srgbClr val="CC0000"/>
              </a:solidFill>
              <a:latin typeface="Times New Roman" panose="02020603050405020304" pitchFamily="18" charset="0"/>
              <a:ea typeface="楷体_GB2312" pitchFamily="1" charset="-122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</a:pP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  执行结果：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AX=26BFH</a:t>
            </a:r>
            <a:r>
              <a:rPr lang="zh-CN" altLang="en-US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，指令执行过程如图</a:t>
            </a:r>
            <a:r>
              <a:rPr lang="en-US" altLang="zh-CN" sz="2800"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3.6 </a:t>
            </a:r>
          </a:p>
          <a:p>
            <a:pPr marL="342900" indent="-342900" algn="l" eaLnBrk="1" hangingPunct="1">
              <a:lnSpc>
                <a:spcPct val="90000"/>
              </a:lnSpc>
            </a:pPr>
            <a:endParaRPr lang="zh-CN" altLang="en-US" sz="3200"/>
          </a:p>
        </p:txBody>
      </p:sp>
      <p:pic>
        <p:nvPicPr>
          <p:cNvPr id="37891" name="图片 3" descr="LF3-6.png">
            <a:extLst>
              <a:ext uri="{FF2B5EF4-FFF2-40B4-BE49-F238E27FC236}">
                <a16:creationId xmlns:a16="http://schemas.microsoft.com/office/drawing/2014/main" id="{D2622D82-D3CF-4EBC-BFC6-88E6AB56D3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2650" y="2938463"/>
            <a:ext cx="6723063" cy="38227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cover dir="l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789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3789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3789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37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标题 1">
            <a:extLst>
              <a:ext uri="{FF2B5EF4-FFF2-40B4-BE49-F238E27FC236}">
                <a16:creationId xmlns:a16="http://schemas.microsoft.com/office/drawing/2014/main" id="{0255E7E7-B2F7-4C32-9D99-5301E7FDD538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273050"/>
            <a:ext cx="8229600" cy="674688"/>
          </a:xfrm>
        </p:spPr>
        <p:txBody>
          <a:bodyPr anchor="ctr"/>
          <a:lstStyle/>
          <a:p>
            <a:pPr marL="571500" indent="-571500" algn="l" eaLnBrk="1" hangingPunct="1">
              <a:buFont typeface="Wingdings" panose="05000000000000000000" pitchFamily="2" charset="2"/>
              <a:buChar char="u"/>
            </a:pPr>
            <a:r>
              <a:rPr lang="zh-CN" altLang="zh-CN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关于</a:t>
            </a:r>
            <a:r>
              <a:rPr lang="en-US" altLang="zh-CN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[]</a:t>
            </a:r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号的小结</a:t>
            </a:r>
          </a:p>
        </p:txBody>
      </p:sp>
      <p:sp>
        <p:nvSpPr>
          <p:cNvPr id="38915" name="内容占位符 2">
            <a:extLst>
              <a:ext uri="{FF2B5EF4-FFF2-40B4-BE49-F238E27FC236}">
                <a16:creationId xmlns:a16="http://schemas.microsoft.com/office/drawing/2014/main" id="{C77EF4E2-F499-4A44-8632-C6F132604A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5758" y="1042984"/>
            <a:ext cx="8372479" cy="5600700"/>
          </a:xfrm>
        </p:spPr>
        <p:txBody>
          <a:bodyPr/>
          <a:lstStyle/>
          <a:p>
            <a:pPr marL="342900" indent="-342900" algn="l" eaLnBrk="1" hangingPunct="1">
              <a:lnSpc>
                <a:spcPct val="90000"/>
              </a:lnSpc>
              <a:spcBef>
                <a:spcPct val="0"/>
              </a:spcBef>
              <a:defRPr/>
            </a:pP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涉及操作数的地址时，常使用方括号，</a:t>
            </a:r>
            <a:r>
              <a:rPr lang="zh-CN" altLang="en-US" sz="2800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带[</a:t>
            </a:r>
            <a:r>
              <a:rPr lang="en-US" altLang="x-none" sz="2800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]</a:t>
            </a:r>
            <a:r>
              <a:rPr lang="zh-CN" altLang="en-US" sz="2800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的地址必须遵循下列规则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：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(1) 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数值和符号地址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可以出现在方括号内，表示直接地址，例如［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2000H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］，</a:t>
            </a:r>
            <a:r>
              <a:rPr lang="en-US" altLang="zh-CN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[AREA1]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。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(2) 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寄存器中，只有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BX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BP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SI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、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DI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可以出现在［］内，既可单独出现，也可</a:t>
            </a:r>
            <a:r>
              <a:rPr lang="en-US" altLang="zh-CN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2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个寄存器组合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只能相加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)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，或寄存器与常数相加，但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BX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和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BP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不允许出现在同个［］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内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SI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和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DI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也不能同时出现。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(3) 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方括号有相加的含义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，故下面几种写法是等价的：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      </a:t>
            </a:r>
            <a:r>
              <a:rPr lang="en-US" altLang="x-none" sz="2800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6</a:t>
            </a:r>
            <a:r>
              <a:rPr lang="en-US" altLang="zh-CN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[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X][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I]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=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[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X+6][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I]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 </a:t>
            </a:r>
            <a:r>
              <a:rPr 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= 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[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X+SI+6]</a:t>
            </a:r>
            <a:endParaRPr lang="zh-CN" altLang="en-US" sz="2800" noProof="1">
              <a:solidFill>
                <a:srgbClr val="0033CC"/>
              </a:solidFill>
              <a:latin typeface="Times New Roman" panose="02020603050405020304" pitchFamily="18" charset="0"/>
              <a:sym typeface="Times New Roman" panose="02020603050405020304" pitchFamily="18" charset="0"/>
            </a:endParaRPr>
          </a:p>
          <a:p>
            <a:pPr marL="342900" indent="-342900" algn="l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(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4) 若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[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 ]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内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包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含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B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P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，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则隐含使用</a:t>
            </a:r>
            <a:r>
              <a:rPr lang="zh-CN" altLang="en-US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</a:t>
            </a:r>
            <a:r>
              <a:rPr lang="en-US" altLang="x-none" sz="2800" b="1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S</a:t>
            </a:r>
            <a:r>
              <a:rPr lang="en-US" altLang="x-none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提</a:t>
            </a:r>
            <a:r>
              <a:rPr lang="zh-CN" altLang="en-US" sz="2800" noProof="1">
                <a:latin typeface="Times New Roman" panose="02020603050405020304" pitchFamily="18" charset="0"/>
                <a:sym typeface="Times New Roman" panose="02020603050405020304" pitchFamily="18" charset="0"/>
              </a:rPr>
              <a:t>供基地址，它们的</a:t>
            </a:r>
            <a:r>
              <a:rPr lang="zh-CN" altLang="en-US" sz="2800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物理地址=</a:t>
            </a:r>
            <a:r>
              <a:rPr lang="en-US" altLang="x-none" sz="2800" noProof="1">
                <a:solidFill>
                  <a:srgbClr val="CC0000"/>
                </a:solidFill>
                <a:latin typeface="Times New Roman" panose="02020603050405020304" pitchFamily="18" charset="0"/>
                <a:sym typeface="Times New Roman" panose="02020603050405020304" pitchFamily="18" charset="0"/>
              </a:rPr>
              <a:t>16×SS+EA</a:t>
            </a:r>
          </a:p>
          <a:p>
            <a:pPr marL="342900" indent="-342900" algn="l" eaLnBrk="1" hangingPunct="1">
              <a:lnSpc>
                <a:spcPct val="90000"/>
              </a:lnSpc>
              <a:spcBef>
                <a:spcPts val="600"/>
              </a:spcBef>
              <a:defRPr/>
            </a:pPr>
            <a:r>
              <a:rPr lang="zh-CN" altLang="en-US" sz="2800" noProof="1">
                <a:solidFill>
                  <a:srgbClr val="CC0000"/>
                </a:solidFill>
              </a:rPr>
              <a:t>    </a:t>
            </a:r>
            <a:r>
              <a:rPr lang="zh-CN" altLang="en-US" sz="2800" noProof="1">
                <a:solidFill>
                  <a:srgbClr val="0033C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其他情况下，默认段都是</a:t>
            </a:r>
            <a:r>
              <a:rPr lang="en-US" altLang="zh-CN" sz="2800" noProof="1">
                <a:solidFill>
                  <a:srgbClr val="0033CC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DS</a:t>
            </a:r>
          </a:p>
        </p:txBody>
      </p:sp>
    </p:spTree>
  </p:cSld>
  <p:clrMapOvr>
    <a:masterClrMapping/>
  </p:clrMapOvr>
  <p:transition spd="slow">
    <p:cover dir="lu"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标题 1">
            <a:extLst>
              <a:ext uri="{FF2B5EF4-FFF2-40B4-BE49-F238E27FC236}">
                <a16:creationId xmlns:a16="http://schemas.microsoft.com/office/drawing/2014/main" id="{A7F3AEF0-408F-4AFC-959F-11ADF5DF0F3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marL="571500" indent="-571500" algn="l" eaLnBrk="1" hangingPunct="1">
              <a:buFont typeface="Wingdings" panose="05000000000000000000" pitchFamily="2" charset="2"/>
              <a:buChar char="u"/>
            </a:pPr>
            <a:r>
              <a:rPr lang="zh-CN" altLang="zh-CN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关于</a:t>
            </a:r>
            <a:r>
              <a:rPr lang="en-US" altLang="zh-CN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[]</a:t>
            </a:r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号的小结</a:t>
            </a:r>
          </a:p>
        </p:txBody>
      </p:sp>
      <p:sp>
        <p:nvSpPr>
          <p:cNvPr id="39939" name="内容占位符 2">
            <a:extLst>
              <a:ext uri="{FF2B5EF4-FFF2-40B4-BE49-F238E27FC236}">
                <a16:creationId xmlns:a16="http://schemas.microsoft.com/office/drawing/2014/main" id="{B5469E09-CC9C-4236-AF57-46F34A0C39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5950" y="1117600"/>
            <a:ext cx="8223250" cy="5553074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  <a:defRPr/>
            </a:pPr>
            <a:r>
              <a:rPr lang="zh-CN" altLang="en-US" sz="2800" noProof="1">
                <a:latin typeface="Times New Roman" panose="02020603050405020304" pitchFamily="18" charset="0"/>
              </a:rPr>
              <a:t>包含</a:t>
            </a:r>
            <a:r>
              <a:rPr lang="en-US" altLang="x-none" sz="2800" noProof="1">
                <a:latin typeface="Times New Roman" panose="02020603050405020304" pitchFamily="18" charset="0"/>
              </a:rPr>
              <a:t>BP</a:t>
            </a:r>
            <a:r>
              <a:rPr lang="zh-CN" altLang="en-US" sz="2800" noProof="1">
                <a:latin typeface="Times New Roman" panose="02020603050405020304" pitchFamily="18" charset="0"/>
              </a:rPr>
              <a:t>的操作数有</a:t>
            </a:r>
            <a:r>
              <a:rPr lang="en-US" altLang="x-none" sz="2800" noProof="1">
                <a:latin typeface="Times New Roman" panose="02020603050405020304" pitchFamily="18" charset="0"/>
              </a:rPr>
              <a:t>3</a:t>
            </a:r>
            <a:r>
              <a:rPr lang="zh-CN" altLang="en-US" sz="2800" noProof="1">
                <a:latin typeface="Times New Roman" panose="02020603050405020304" pitchFamily="18" charset="0"/>
              </a:rPr>
              <a:t>种形式：</a:t>
            </a:r>
          </a:p>
          <a:p>
            <a:pPr algn="l" eaLnBrk="1" hangingPunct="1">
              <a:lnSpc>
                <a:spcPct val="90000"/>
              </a:lnSpc>
              <a:buFont typeface="Times New Roman" panose="02020603050405020304" pitchFamily="18" charset="0"/>
              <a:buNone/>
              <a:defRPr/>
            </a:pP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</a:rPr>
              <a:t>	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DISP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BP+SI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］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	 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EA=BP+SI+DISP</a:t>
            </a:r>
          </a:p>
          <a:p>
            <a:pPr algn="l" eaLnBrk="1" hangingPunct="1">
              <a:lnSpc>
                <a:spcPct val="90000"/>
              </a:lnSpc>
              <a:buFont typeface="Times New Roman" panose="02020603050405020304" pitchFamily="18" charset="0"/>
              <a:buNone/>
              <a:defRPr/>
            </a:pP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	DISP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BP+DI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］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	 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EA=BP+DI+DISP</a:t>
            </a:r>
          </a:p>
          <a:p>
            <a:pPr algn="l" eaLnBrk="1" hangingPunct="1">
              <a:lnSpc>
                <a:spcPct val="90000"/>
              </a:lnSpc>
              <a:buFont typeface="Times New Roman" panose="02020603050405020304" pitchFamily="18" charset="0"/>
              <a:buNone/>
              <a:defRPr/>
            </a:pP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  	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DISP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BP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］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	 </a:t>
            </a:r>
            <a:r>
              <a:rPr lang="zh-CN" altLang="en-US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x-none" sz="2800" noProof="1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EA=BP+DISP</a:t>
            </a:r>
          </a:p>
          <a:p>
            <a:pPr algn="l" eaLnBrk="1" hangingPunct="1">
              <a:lnSpc>
                <a:spcPct val="90000"/>
              </a:lnSpc>
              <a:defRPr/>
            </a:pP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</a:rPr>
              <a:t>其中，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</a:rPr>
              <a:t>DISP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</a:rPr>
              <a:t>表示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</a:rPr>
              <a:t>8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</a:rPr>
              <a:t>位或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</a:rPr>
              <a:t>16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</a:rPr>
              <a:t>位位移量，也可以为</a:t>
            </a:r>
            <a:r>
              <a:rPr lang="en-US" altLang="x-none" sz="2800" noProof="1">
                <a:latin typeface="Times New Roman" panose="02020603050405020304" pitchFamily="18" charset="0"/>
                <a:ea typeface="楷体_GB2312" pitchFamily="1" charset="-122"/>
              </a:rPr>
              <a:t>0</a:t>
            </a:r>
            <a:r>
              <a:rPr lang="zh-CN" altLang="en-US" sz="2800" noProof="1">
                <a:latin typeface="Times New Roman" panose="02020603050405020304" pitchFamily="18" charset="0"/>
                <a:ea typeface="楷体_GB2312" pitchFamily="1" charset="-122"/>
              </a:rPr>
              <a:t>。</a:t>
            </a:r>
          </a:p>
          <a:p>
            <a:pPr algn="l" eaLnBrk="1" hangingPunct="1">
              <a:lnSpc>
                <a:spcPct val="90000"/>
              </a:lnSpc>
              <a:spcBef>
                <a:spcPts val="2400"/>
              </a:spcBef>
              <a:defRPr/>
            </a:pPr>
            <a:r>
              <a:rPr lang="zh-CN" altLang="en-US" sz="2800" noProof="1">
                <a:latin typeface="Times New Roman" panose="02020603050405020304" pitchFamily="18" charset="0"/>
              </a:rPr>
              <a:t>这种情况下，也允许用</a:t>
            </a:r>
            <a:r>
              <a:rPr lang="zh-CN" altLang="en-US" sz="2800" noProof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</a:rPr>
              <a:t>段超越前缀</a:t>
            </a:r>
            <a:r>
              <a:rPr lang="zh-CN" altLang="en-US" sz="2800" noProof="1">
                <a:latin typeface="Times New Roman" panose="02020603050405020304" pitchFamily="18" charset="0"/>
              </a:rPr>
              <a:t>将</a:t>
            </a:r>
            <a:r>
              <a:rPr lang="en-US" altLang="x-none" sz="2800" noProof="1">
                <a:latin typeface="Times New Roman" panose="02020603050405020304" pitchFamily="18" charset="0"/>
              </a:rPr>
              <a:t>SS</a:t>
            </a:r>
            <a:r>
              <a:rPr lang="zh-CN" altLang="en-US" sz="2800" noProof="1">
                <a:latin typeface="Times New Roman" panose="02020603050405020304" pitchFamily="18" charset="0"/>
              </a:rPr>
              <a:t>修改为</a:t>
            </a:r>
            <a:r>
              <a:rPr lang="en-US" altLang="x-none" sz="2800" noProof="1">
                <a:latin typeface="Times New Roman" panose="02020603050405020304" pitchFamily="18" charset="0"/>
              </a:rPr>
              <a:t>CS</a:t>
            </a:r>
            <a:r>
              <a:rPr lang="zh-CN" altLang="en-US" sz="2800" noProof="1">
                <a:latin typeface="Times New Roman" panose="02020603050405020304" pitchFamily="18" charset="0"/>
              </a:rPr>
              <a:t>、</a:t>
            </a:r>
            <a:r>
              <a:rPr lang="en-US" altLang="x-none" sz="2800" noProof="1">
                <a:latin typeface="Times New Roman" panose="02020603050405020304" pitchFamily="18" charset="0"/>
              </a:rPr>
              <a:t>DS</a:t>
            </a:r>
            <a:r>
              <a:rPr lang="zh-CN" altLang="en-US" sz="2800" noProof="1">
                <a:latin typeface="Times New Roman" panose="02020603050405020304" pitchFamily="18" charset="0"/>
              </a:rPr>
              <a:t>或</a:t>
            </a:r>
            <a:r>
              <a:rPr lang="en-US" altLang="x-none" sz="2800" noProof="1">
                <a:latin typeface="Times New Roman" panose="02020603050405020304" pitchFamily="18" charset="0"/>
              </a:rPr>
              <a:t>ES</a:t>
            </a:r>
            <a:r>
              <a:rPr lang="zh-CN" altLang="en-US" sz="2800" noProof="1">
                <a:latin typeface="Times New Roman" panose="02020603050405020304" pitchFamily="18" charset="0"/>
              </a:rPr>
              <a:t>中的一个。</a:t>
            </a:r>
          </a:p>
          <a:p>
            <a:pPr algn="l" eaLnBrk="1" hangingPunct="1">
              <a:lnSpc>
                <a:spcPct val="90000"/>
              </a:lnSpc>
              <a:defRPr/>
            </a:pPr>
            <a:endParaRPr lang="en-US" altLang="x-none" sz="2800" noProof="1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cover dir="rd"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标题 1">
            <a:extLst>
              <a:ext uri="{FF2B5EF4-FFF2-40B4-BE49-F238E27FC236}">
                <a16:creationId xmlns:a16="http://schemas.microsoft.com/office/drawing/2014/main" id="{FA8BB562-CBCA-4FF4-8BF5-47DA32C6BAFA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0" y="495300"/>
            <a:ext cx="8534400" cy="1466850"/>
          </a:xfrm>
        </p:spPr>
        <p:txBody>
          <a:bodyPr anchor="ctr"/>
          <a:lstStyle/>
          <a:p>
            <a:pPr eaLnBrk="1" hangingPunct="1"/>
            <a:r>
              <a:rPr lang="en-US" altLang="zh-CN" sz="5400">
                <a:solidFill>
                  <a:schemeClr val="accent2"/>
                </a:solidFill>
                <a:sym typeface="Times New Roman" panose="02020603050405020304" pitchFamily="18" charset="0"/>
              </a:rPr>
              <a:t>§3</a:t>
            </a:r>
            <a:r>
              <a:rPr lang="en-US" altLang="zh-CN" sz="5400">
                <a:solidFill>
                  <a:schemeClr val="accent2"/>
                </a:solidFill>
              </a:rPr>
              <a:t>.1 8086</a:t>
            </a:r>
            <a:r>
              <a:rPr lang="zh-CN" altLang="en-US" sz="5400">
                <a:solidFill>
                  <a:schemeClr val="accent2"/>
                </a:solidFill>
              </a:rPr>
              <a:t>的寻址方式</a:t>
            </a:r>
            <a:endParaRPr lang="zh-CN" altLang="en-US" sz="4400">
              <a:solidFill>
                <a:schemeClr val="accent2"/>
              </a:solidFill>
            </a:endParaRPr>
          </a:p>
        </p:txBody>
      </p:sp>
      <p:sp>
        <p:nvSpPr>
          <p:cNvPr id="87043" name="矩形 4">
            <a:extLst>
              <a:ext uri="{FF2B5EF4-FFF2-40B4-BE49-F238E27FC236}">
                <a16:creationId xmlns:a16="http://schemas.microsoft.com/office/drawing/2014/main" id="{264F20E3-8D4E-4393-A353-A320693603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1919288"/>
            <a:ext cx="591185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3.1.1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立即寻址方式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3.1.2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3.1.3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3.1.4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寄存器间接寻址方式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3.1.5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寄存器相对寻址方式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3.1.6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3.1.7  </a:t>
            </a:r>
            <a:r>
              <a:rPr lang="zh-CN" altLang="en-US" b="1">
                <a:solidFill>
                  <a:srgbClr val="008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相对基址变址寻址方式</a:t>
            </a:r>
          </a:p>
          <a:p>
            <a:pPr algn="just">
              <a:spcBef>
                <a:spcPts val="600"/>
              </a:spcBef>
              <a:buClr>
                <a:srgbClr val="B4B9BE"/>
              </a:buClr>
              <a:buFontTx/>
              <a:buNone/>
            </a:pPr>
            <a:r>
              <a:rPr lang="en-US" altLang="zh-CN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3.1.8  </a:t>
            </a:r>
            <a:r>
              <a:rPr lang="zh-CN" altLang="en-US" b="1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  <a:sym typeface="Times New Roman" panose="02020603050405020304" pitchFamily="18" charset="0"/>
              </a:rPr>
              <a:t>其它寻址方式</a:t>
            </a:r>
            <a:endParaRPr lang="en-US" altLang="zh-CN" sz="2400">
              <a:solidFill>
                <a:srgbClr val="CC0000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wedg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标题 1">
            <a:extLst>
              <a:ext uri="{FF2B5EF4-FFF2-40B4-BE49-F238E27FC236}">
                <a16:creationId xmlns:a16="http://schemas.microsoft.com/office/drawing/2014/main" id="{B4C2DEC2-7BB5-47A6-9142-5DFC349DEFB6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en-US" altLang="zh-CN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3.1.8 </a:t>
            </a:r>
            <a:r>
              <a:rPr lang="zh-CN" altLang="en-US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其它寻址方式</a:t>
            </a:r>
            <a:endParaRPr lang="zh-CN" altLang="en-US" sz="4400" b="1">
              <a:solidFill>
                <a:schemeClr val="accent2"/>
              </a:solidFill>
            </a:endParaRPr>
          </a:p>
        </p:txBody>
      </p:sp>
      <p:sp>
        <p:nvSpPr>
          <p:cNvPr id="88067" name="内容占位符 2">
            <a:extLst>
              <a:ext uri="{FF2B5EF4-FFF2-40B4-BE49-F238E27FC236}">
                <a16:creationId xmlns:a16="http://schemas.microsoft.com/office/drawing/2014/main" id="{1E5077BA-4F1A-46B4-981F-8E250431DC53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314450"/>
            <a:ext cx="8372475" cy="5175250"/>
          </a:xfrm>
        </p:spPr>
        <p:txBody>
          <a:bodyPr/>
          <a:lstStyle/>
          <a:p>
            <a:pPr algn="l" eaLnBrk="1" hangingPunct="1"/>
            <a:r>
              <a:rPr lang="en-US" altLang="zh-CN" sz="3200" b="1" dirty="0">
                <a:solidFill>
                  <a:srgbClr val="CC0000"/>
                </a:solidFill>
              </a:rPr>
              <a:t>1</a:t>
            </a:r>
            <a:r>
              <a:rPr lang="zh-CN" altLang="en-US" sz="3200" b="1" dirty="0">
                <a:solidFill>
                  <a:srgbClr val="CC0000"/>
                </a:solidFill>
              </a:rPr>
              <a:t>．隐含寻址</a:t>
            </a:r>
          </a:p>
          <a:p>
            <a:pPr algn="l" eaLnBrk="1" hangingPunct="1"/>
            <a:r>
              <a:rPr lang="zh-CN" altLang="en-US" sz="2800" dirty="0"/>
              <a:t>指令中不指明操作数，但具有隐含规定的寻址方式。</a:t>
            </a:r>
          </a:p>
          <a:p>
            <a:pPr algn="l" eaLnBrk="1" hangingPunct="1"/>
            <a:r>
              <a:rPr lang="zh-CN" altLang="en-US" sz="32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例如，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1" charset="-122"/>
              </a:rPr>
              <a:t>MUL  DL  	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3200" dirty="0">
                <a:latin typeface="Times New Roman" panose="02020603050405020304" pitchFamily="18" charset="0"/>
                <a:ea typeface="楷体_GB2312" pitchFamily="1" charset="-122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楷体_GB2312" pitchFamily="1" charset="-122"/>
              </a:rPr>
              <a:t>表示 </a:t>
            </a:r>
            <a:r>
              <a:rPr lang="en-US" altLang="zh-CN" sz="3200" dirty="0"/>
              <a:t>AX ← AL × DL</a:t>
            </a:r>
            <a:endParaRPr lang="zh-CN" altLang="en-US" sz="32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/>
            <a:endParaRPr lang="zh-CN" altLang="en-US" sz="3200" dirty="0"/>
          </a:p>
          <a:p>
            <a:pPr algn="l" eaLnBrk="1" hangingPunct="1"/>
            <a:r>
              <a:rPr lang="zh-CN" altLang="en-US" sz="3200" dirty="0"/>
              <a:t>这样的指令还有很多，需要大家记住这些隐含关系。</a:t>
            </a:r>
          </a:p>
        </p:txBody>
      </p:sp>
    </p:spTree>
  </p:cSld>
  <p:clrMapOvr>
    <a:masterClrMapping/>
  </p:clrMapOvr>
  <p:transition spd="slow">
    <p:pull dir="ld"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1">
            <a:extLst>
              <a:ext uri="{FF2B5EF4-FFF2-40B4-BE49-F238E27FC236}">
                <a16:creationId xmlns:a16="http://schemas.microsoft.com/office/drawing/2014/main" id="{7828F124-CFDE-410B-AFA1-5C7C01C8950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其它寻址</a:t>
            </a:r>
          </a:p>
        </p:txBody>
      </p:sp>
      <p:sp>
        <p:nvSpPr>
          <p:cNvPr id="44035" name="内容占位符 2">
            <a:extLst>
              <a:ext uri="{FF2B5EF4-FFF2-40B4-BE49-F238E27FC236}">
                <a16:creationId xmlns:a16="http://schemas.microsoft.com/office/drawing/2014/main" id="{CAEB05FF-370E-452A-83B6-FF5E9B5346A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7350" y="1206500"/>
            <a:ext cx="8597900" cy="5103813"/>
          </a:xfrm>
        </p:spPr>
        <p:txBody>
          <a:bodyPr/>
          <a:lstStyle/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．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I/O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端口寻址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2800" b="1" dirty="0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很简单，但重要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】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endParaRPr lang="en-US" altLang="zh-CN" sz="260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600" dirty="0">
                <a:latin typeface="Times New Roman" panose="02020603050405020304" pitchFamily="18" charset="0"/>
              </a:rPr>
              <a:t>8086</a:t>
            </a:r>
            <a:r>
              <a:rPr lang="zh-CN" altLang="en-US" sz="2600" dirty="0">
                <a:latin typeface="Times New Roman" panose="02020603050405020304" pitchFamily="18" charset="0"/>
              </a:rPr>
              <a:t>有直接端口和间接端口两种寻址方式：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1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）直接端口寻址方式</a:t>
            </a:r>
          </a:p>
          <a:p>
            <a:pPr algn="l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端口地址由指令直接提供，它是一个</a:t>
            </a:r>
            <a:r>
              <a:rPr lang="en-US" altLang="zh-CN" sz="26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</a:rPr>
              <a:t>8</a:t>
            </a:r>
            <a:r>
              <a:rPr lang="zh-CN" altLang="en-US" sz="2600" b="1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</a:rPr>
              <a:t>位立即数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n= 00 ~ FFH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zh-CN" altLang="en-US" sz="26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3.15 </a:t>
            </a:r>
            <a:r>
              <a:rPr lang="en-US" altLang="zh-CN" sz="2600" dirty="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IN     AL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63H	; AL←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端口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63H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中的内容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	</a:t>
            </a:r>
          </a:p>
          <a:p>
            <a:pPr algn="l" eaLnBrk="1" hangingPunct="1">
              <a:spcBef>
                <a:spcPct val="0"/>
              </a:spcBef>
              <a:defRPr/>
            </a:pPr>
            <a:endParaRPr lang="en-US" altLang="zh-CN" sz="2600" b="1" dirty="0">
              <a:solidFill>
                <a:srgbClr val="008000"/>
              </a:solidFill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600" b="1" dirty="0">
                <a:solidFill>
                  <a:srgbClr val="C00000"/>
                </a:solidFill>
                <a:latin typeface="Times New Roman" panose="02020603050405020304" pitchFamily="18" charset="0"/>
              </a:rPr>
              <a:t>）间接端口寻址方式</a:t>
            </a:r>
          </a:p>
          <a:p>
            <a:pPr algn="l" eaLnBrk="1" hangingPunct="1">
              <a:spcBef>
                <a:spcPct val="0"/>
              </a:spcBef>
              <a:buFont typeface="Wingdings" panose="05000000000000000000" pitchFamily="2" charset="2"/>
              <a:buNone/>
              <a:defRPr/>
            </a:pP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被寻址的端口号由</a:t>
            </a:r>
            <a:r>
              <a: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</a:rPr>
              <a:t>寄存器</a:t>
            </a:r>
            <a:r>
              <a: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</a:rPr>
              <a:t>DX</a:t>
            </a:r>
            <a:r>
              <a:rPr lang="zh-CN" altLang="en-US" sz="26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</a:rPr>
              <a:t>提供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，端口号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=</a:t>
            </a:r>
            <a:r>
              <a:rPr lang="en-US" altLang="zh-CN" sz="2600" dirty="0">
                <a:solidFill>
                  <a:srgbClr val="CC0000"/>
                </a:solidFill>
                <a:latin typeface="Times New Roman" panose="02020603050405020304" pitchFamily="18" charset="0"/>
                <a:ea typeface="楷体_GB2312" pitchFamily="1" charset="-122"/>
              </a:rPr>
              <a:t>0000~ FFFFH</a:t>
            </a:r>
            <a:endParaRPr lang="zh-CN" altLang="en-US" sz="26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zh-CN" altLang="en-US" sz="26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6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3.16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　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MOV  DX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213H	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；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DX=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口地址号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213H</a:t>
            </a:r>
          </a:p>
          <a:p>
            <a:pPr algn="l" eaLnBrk="1" hangingPunct="1">
              <a:spcBef>
                <a:spcPct val="0"/>
              </a:spcBef>
              <a:defRPr/>
            </a:pP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	     I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N	      AL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DX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		；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AL←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端口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213H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中的内容</a:t>
            </a:r>
          </a:p>
        </p:txBody>
      </p:sp>
    </p:spTree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3" dur="500"/>
                                        <p:tgtEl>
                                          <p:spTgt spid="4403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6" dur="500"/>
                                        <p:tgtEl>
                                          <p:spTgt spid="4403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标题 1">
            <a:extLst>
              <a:ext uri="{FF2B5EF4-FFF2-40B4-BE49-F238E27FC236}">
                <a16:creationId xmlns:a16="http://schemas.microsoft.com/office/drawing/2014/main" id="{7828F124-CFDE-410B-AFA1-5C7C01C89507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其它寻址</a:t>
            </a:r>
          </a:p>
        </p:txBody>
      </p:sp>
      <p:sp>
        <p:nvSpPr>
          <p:cNvPr id="44035" name="内容占位符 2">
            <a:extLst>
              <a:ext uri="{FF2B5EF4-FFF2-40B4-BE49-F238E27FC236}">
                <a16:creationId xmlns:a16="http://schemas.microsoft.com/office/drawing/2014/main" id="{CAEB05FF-370E-452A-83B6-FF5E9B5346A4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7350" y="1132929"/>
            <a:ext cx="8597900" cy="5103813"/>
          </a:xfrm>
        </p:spPr>
        <p:txBody>
          <a:bodyPr/>
          <a:lstStyle/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．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I/O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端口寻址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【</a:t>
            </a:r>
            <a:r>
              <a:rPr lang="zh-CN" altLang="en-US" sz="2800" b="1" dirty="0">
                <a:solidFill>
                  <a:srgbClr val="CC0000"/>
                </a:solidFill>
                <a:highlight>
                  <a:srgbClr val="FFFF00"/>
                </a:highlight>
                <a:latin typeface="Times New Roman" panose="02020603050405020304" pitchFamily="18" charset="0"/>
              </a:rPr>
              <a:t>很简单，但重要</a:t>
            </a: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】</a:t>
            </a:r>
            <a:endParaRPr lang="zh-CN" altLang="en-US" sz="2800" b="1" dirty="0">
              <a:solidFill>
                <a:srgbClr val="CC0000"/>
              </a:solidFill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IN     AL</a:t>
            </a:r>
            <a:r>
              <a:rPr lang="zh-CN" altLang="en-US" sz="2600" dirty="0">
                <a:latin typeface="Times New Roman" panose="02020603050405020304" pitchFamily="18" charset="0"/>
                <a:ea typeface="楷体_GB2312" pitchFamily="1" charset="-122"/>
              </a:rPr>
              <a:t>，</a:t>
            </a:r>
            <a:r>
              <a:rPr lang="en-US" altLang="zh-CN" sz="2600" dirty="0">
                <a:latin typeface="Times New Roman" panose="02020603050405020304" pitchFamily="18" charset="0"/>
                <a:ea typeface="楷体_GB2312" pitchFamily="1" charset="-122"/>
              </a:rPr>
              <a:t>63H	;            OUT  DX, AL</a:t>
            </a:r>
            <a:endParaRPr lang="en-US" altLang="zh-CN" sz="2600" dirty="0">
              <a:latin typeface="Times New Roman" panose="02020603050405020304" pitchFamily="18" charset="0"/>
            </a:endParaRPr>
          </a:p>
          <a:p>
            <a:pPr algn="l" eaLnBrk="1" hangingPunct="1">
              <a:spcBef>
                <a:spcPct val="0"/>
              </a:spcBef>
              <a:defRPr/>
            </a:pPr>
            <a:r>
              <a:rPr lang="zh-CN" altLang="en-US" sz="2600" dirty="0">
                <a:latin typeface="Times New Roman" panose="02020603050405020304" pitchFamily="18" charset="0"/>
              </a:rPr>
              <a:t>问：</a:t>
            </a:r>
            <a:r>
              <a:rPr lang="en-US" altLang="zh-CN" sz="2600" dirty="0">
                <a:latin typeface="Times New Roman" panose="02020603050405020304" pitchFamily="18" charset="0"/>
              </a:rPr>
              <a:t>I/O</a:t>
            </a:r>
            <a:r>
              <a:rPr lang="zh-CN" altLang="en-US" sz="2600" dirty="0">
                <a:latin typeface="Times New Roman" panose="02020603050405020304" pitchFamily="18" charset="0"/>
              </a:rPr>
              <a:t>端口地址范围？</a:t>
            </a:r>
            <a:endParaRPr lang="en-US" altLang="zh-CN" sz="2600" dirty="0">
              <a:latin typeface="Times New Roman" panose="02020603050405020304" pitchFamily="18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6155A08-78A8-417F-8671-113EFC65C034}"/>
              </a:ext>
            </a:extLst>
          </p:cNvPr>
          <p:cNvSpPr txBox="1"/>
          <p:nvPr/>
        </p:nvSpPr>
        <p:spPr>
          <a:xfrm>
            <a:off x="4184650" y="2107335"/>
            <a:ext cx="3546387" cy="424732"/>
          </a:xfrm>
          <a:prstGeom prst="rect">
            <a:avLst/>
          </a:prstGeom>
          <a:noFill/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wrap="square">
            <a:spAutoFit/>
          </a:bodyPr>
          <a:lstStyle/>
          <a:p>
            <a:pPr algn="l" eaLnBrk="1" hangingPunct="1">
              <a:lnSpc>
                <a:spcPct val="90000"/>
              </a:lnSpc>
            </a:pPr>
            <a:r>
              <a:rPr lang="en-US" altLang="zh-CN" sz="2400" b="1" dirty="0">
                <a:solidFill>
                  <a:srgbClr val="0000FF"/>
                </a:solidFill>
                <a:ea typeface="楷体_GB2312" pitchFamily="1" charset="-122"/>
              </a:rPr>
              <a:t>0~FFFFH</a:t>
            </a:r>
            <a:r>
              <a:rPr lang="zh-CN" altLang="en-US" sz="2400" b="1" dirty="0">
                <a:solidFill>
                  <a:srgbClr val="0000FF"/>
                </a:solidFill>
                <a:ea typeface="楷体_GB2312" pitchFamily="1" charset="-122"/>
              </a:rPr>
              <a:t>，共</a:t>
            </a:r>
            <a:r>
              <a:rPr lang="en-US" altLang="zh-CN" sz="2400" b="1" dirty="0">
                <a:solidFill>
                  <a:srgbClr val="0000FF"/>
                </a:solidFill>
                <a:ea typeface="楷体_GB2312" pitchFamily="1" charset="-122"/>
              </a:rPr>
              <a:t>64K</a:t>
            </a:r>
            <a:r>
              <a:rPr lang="zh-CN" altLang="en-US" sz="2400" b="1" dirty="0">
                <a:solidFill>
                  <a:srgbClr val="0000FF"/>
                </a:solidFill>
                <a:ea typeface="楷体_GB2312" pitchFamily="1" charset="-122"/>
              </a:rPr>
              <a:t>空间</a:t>
            </a:r>
            <a:endParaRPr lang="en-US" altLang="zh-CN" sz="2400" b="1" dirty="0">
              <a:solidFill>
                <a:srgbClr val="0000FF"/>
              </a:solidFill>
              <a:latin typeface="Times New Roman" panose="02020603050405020304" pitchFamily="18" charset="0"/>
              <a:ea typeface="楷体_GB2312" pitchFamily="1" charset="-122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9F7D410A-B984-4825-BECC-AD16065F4F6C}"/>
              </a:ext>
            </a:extLst>
          </p:cNvPr>
          <p:cNvGrpSpPr/>
          <p:nvPr/>
        </p:nvGrpSpPr>
        <p:grpSpPr>
          <a:xfrm>
            <a:off x="1060362" y="2882737"/>
            <a:ext cx="6670675" cy="3787775"/>
            <a:chOff x="1060362" y="2798706"/>
            <a:chExt cx="6670675" cy="3787775"/>
          </a:xfrm>
        </p:grpSpPr>
        <p:pic>
          <p:nvPicPr>
            <p:cNvPr id="4" name="Picture 1">
              <a:extLst>
                <a:ext uri="{FF2B5EF4-FFF2-40B4-BE49-F238E27FC236}">
                  <a16:creationId xmlns:a16="http://schemas.microsoft.com/office/drawing/2014/main" id="{84DF3146-F5AF-46A2-8098-AD36DCAA3D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0362" y="2798706"/>
              <a:ext cx="6670675" cy="37877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39CC0EF5-A7BB-44CC-9406-9090CFD0166D}"/>
                </a:ext>
              </a:extLst>
            </p:cNvPr>
            <p:cNvSpPr/>
            <p:nvPr/>
          </p:nvSpPr>
          <p:spPr>
            <a:xfrm>
              <a:off x="3086307" y="3622217"/>
              <a:ext cx="540252" cy="272378"/>
            </a:xfrm>
            <a:prstGeom prst="ellipse">
              <a:avLst/>
            </a:prstGeom>
            <a:noFill/>
            <a:ln w="25400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2682616"/>
      </p:ext>
    </p:extLst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标题 1">
            <a:extLst>
              <a:ext uri="{FF2B5EF4-FFF2-40B4-BE49-F238E27FC236}">
                <a16:creationId xmlns:a16="http://schemas.microsoft.com/office/drawing/2014/main" id="{9C965CAF-458E-4264-A666-9D3A03180934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44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其它寻址</a:t>
            </a:r>
          </a:p>
        </p:txBody>
      </p:sp>
      <p:sp>
        <p:nvSpPr>
          <p:cNvPr id="45059" name="内容占位符 2">
            <a:extLst>
              <a:ext uri="{FF2B5EF4-FFF2-40B4-BE49-F238E27FC236}">
                <a16:creationId xmlns:a16="http://schemas.microsoft.com/office/drawing/2014/main" id="{7D837FF2-844D-4DC6-A01D-DE23CB14AD0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162050"/>
            <a:ext cx="8372475" cy="5327650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3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．</a:t>
            </a:r>
            <a:r>
              <a:rPr lang="zh-CN" altLang="en-US" sz="2800" b="1" dirty="0">
                <a:solidFill>
                  <a:srgbClr val="CC0000"/>
                </a:solidFill>
              </a:rPr>
              <a:t>一条指令有几种寻址方式</a:t>
            </a:r>
          </a:p>
          <a:p>
            <a:pPr algn="l" eaLnBrk="1" hangingPunct="1">
              <a:lnSpc>
                <a:spcPct val="90000"/>
              </a:lnSpc>
            </a:pPr>
            <a:r>
              <a:rPr lang="zh-CN" altLang="en-US" sz="2800" dirty="0"/>
              <a:t>上述寻址方式都针对源操作数</a:t>
            </a:r>
          </a:p>
          <a:p>
            <a:pPr algn="l" eaLnBrk="1" hangingPunct="1">
              <a:lnSpc>
                <a:spcPct val="90000"/>
              </a:lnSpc>
            </a:pPr>
            <a:r>
              <a:rPr lang="zh-CN" altLang="en-US" sz="2800" dirty="0"/>
              <a:t>目的操作数也可用除了</a:t>
            </a:r>
            <a:r>
              <a:rPr lang="zh-CN" altLang="en-US" sz="2800" b="1" dirty="0">
                <a:solidFill>
                  <a:srgbClr val="0033CC"/>
                </a:solidFill>
              </a:rPr>
              <a:t>立即寻址</a:t>
            </a:r>
            <a:r>
              <a:rPr lang="zh-CN" altLang="en-US" sz="2800" dirty="0"/>
              <a:t>方式之外的所有寻址方式指定，所以一条指令可以有几种寻址方式</a:t>
            </a:r>
          </a:p>
          <a:p>
            <a:pPr algn="l" eaLnBrk="1" hangingPunct="1">
              <a:lnSpc>
                <a:spcPct val="90000"/>
              </a:lnSpc>
            </a:pPr>
            <a:endParaRPr lang="zh-CN" altLang="en-US" sz="2800" dirty="0"/>
          </a:p>
          <a:p>
            <a:pPr algn="l" eaLnBrk="1" hangingPunct="1">
              <a:lnSpc>
                <a:spcPct val="90000"/>
              </a:lnSpc>
            </a:pPr>
            <a:r>
              <a:rPr lang="zh-CN" altLang="en-US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例</a:t>
            </a:r>
            <a:r>
              <a:rPr lang="en-US" altLang="zh-CN" sz="2800" b="1" dirty="0">
                <a:solidFill>
                  <a:srgbClr val="0033CC"/>
                </a:solidFill>
                <a:latin typeface="Times New Roman" panose="02020603050405020304" pitchFamily="18" charset="0"/>
                <a:ea typeface="楷体_GB2312" pitchFamily="1" charset="-122"/>
              </a:rPr>
              <a:t>3.17  </a:t>
            </a:r>
            <a:r>
              <a:rPr lang="en-US" altLang="zh-CN" sz="2800" dirty="0">
                <a:solidFill>
                  <a:srgbClr val="23FFF8"/>
                </a:solidFill>
                <a:latin typeface="Times New Roman" panose="02020603050405020304" pitchFamily="18" charset="0"/>
                <a:ea typeface="楷体_GB2312" pitchFamily="1" charset="-122"/>
              </a:rPr>
              <a:t>  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MOV 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［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BX</a:t>
            </a: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］，</a:t>
            </a:r>
            <a:r>
              <a:rPr lang="en-US" altLang="zh-CN" sz="2800" dirty="0">
                <a:latin typeface="Times New Roman" panose="02020603050405020304" pitchFamily="18" charset="0"/>
                <a:ea typeface="楷体_GB2312" pitchFamily="1" charset="-122"/>
              </a:rPr>
              <a:t>AL</a:t>
            </a:r>
          </a:p>
          <a:p>
            <a:pPr algn="l" eaLnBrk="1" hangingPunct="1">
              <a:lnSpc>
                <a:spcPct val="90000"/>
              </a:lnSpc>
            </a:pPr>
            <a:r>
              <a:rPr lang="zh-CN" altLang="en-US" sz="2800" dirty="0">
                <a:latin typeface="Times New Roman" panose="02020603050405020304" pitchFamily="18" charset="0"/>
                <a:ea typeface="楷体_GB2312" pitchFamily="1" charset="-122"/>
              </a:rPr>
              <a:t>这里，源操作数为寄存器，目的操作数为寄存器相对寻址方式</a:t>
            </a:r>
          </a:p>
          <a:p>
            <a:pPr algn="l" eaLnBrk="1" hangingPunct="1">
              <a:lnSpc>
                <a:spcPct val="90000"/>
              </a:lnSpc>
            </a:pPr>
            <a:endParaRPr lang="zh-CN" altLang="en-US" sz="2800" dirty="0">
              <a:latin typeface="Times New Roman" panose="02020603050405020304" pitchFamily="18" charset="0"/>
              <a:ea typeface="楷体_GB2312" pitchFamily="1" charset="-122"/>
            </a:endParaRPr>
          </a:p>
          <a:p>
            <a:pPr algn="l" eaLnBrk="1" hangingPunct="1">
              <a:lnSpc>
                <a:spcPct val="90000"/>
              </a:lnSpc>
            </a:pPr>
            <a:r>
              <a:rPr lang="en-US" altLang="zh-CN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800" b="1" dirty="0">
                <a:solidFill>
                  <a:srgbClr val="CC0000"/>
                </a:solidFill>
                <a:latin typeface="Times New Roman" panose="02020603050405020304" pitchFamily="18" charset="0"/>
              </a:rPr>
              <a:t>．转移类指令寻址</a:t>
            </a:r>
          </a:p>
          <a:p>
            <a:pPr algn="l" eaLnBrk="1" hangingPunct="1">
              <a:lnSpc>
                <a:spcPct val="90000"/>
              </a:lnSpc>
            </a:pPr>
            <a:r>
              <a:rPr lang="zh-CN" altLang="en-US" sz="2800" dirty="0"/>
              <a:t>将在本章后面讨论控制转移指令时介绍</a:t>
            </a: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505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4505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4505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4505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505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505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标题 1">
            <a:extLst>
              <a:ext uri="{FF2B5EF4-FFF2-40B4-BE49-F238E27FC236}">
                <a16:creationId xmlns:a16="http://schemas.microsoft.com/office/drawing/2014/main" id="{3316F720-5C3D-4C48-8A7A-E051F344A5F3}"/>
              </a:ext>
            </a:extLst>
          </p:cNvPr>
          <p:cNvSpPr>
            <a:spLocks noGrp="1" noRot="1" noChangeArrowheads="1"/>
          </p:cNvSpPr>
          <p:nvPr>
            <p:ph type="ctrTitle"/>
          </p:nvPr>
        </p:nvSpPr>
        <p:spPr>
          <a:xfrm>
            <a:off x="482600" y="368300"/>
            <a:ext cx="8229600" cy="674688"/>
          </a:xfrm>
        </p:spPr>
        <p:txBody>
          <a:bodyPr anchor="ctr"/>
          <a:lstStyle/>
          <a:p>
            <a:pPr algn="l" eaLnBrk="1" hangingPunct="1"/>
            <a:r>
              <a:rPr lang="zh-CN" altLang="en-US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*</a:t>
            </a:r>
            <a:r>
              <a:rPr lang="en-US" altLang="zh-CN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3.2 </a:t>
            </a:r>
            <a:r>
              <a:rPr lang="zh-CN" altLang="en-US" sz="3600" b="1">
                <a:solidFill>
                  <a:schemeClr val="accent2"/>
                </a:solidFill>
                <a:latin typeface="楷体_GB2312" pitchFamily="1" charset="-122"/>
                <a:ea typeface="楷体_GB2312" pitchFamily="1" charset="-122"/>
                <a:sym typeface="楷体_GB2312" pitchFamily="1" charset="-122"/>
              </a:rPr>
              <a:t>指令的机器码表示方法（不考）</a:t>
            </a:r>
          </a:p>
        </p:txBody>
      </p:sp>
      <p:sp>
        <p:nvSpPr>
          <p:cNvPr id="91139" name="内容占位符 2">
            <a:extLst>
              <a:ext uri="{FF2B5EF4-FFF2-40B4-BE49-F238E27FC236}">
                <a16:creationId xmlns:a16="http://schemas.microsoft.com/office/drawing/2014/main" id="{D3B5CC11-E778-4F83-B5C8-936AE94A462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85763" y="1162050"/>
            <a:ext cx="8372475" cy="5327650"/>
          </a:xfrm>
        </p:spPr>
        <p:txBody>
          <a:bodyPr/>
          <a:lstStyle/>
          <a:p>
            <a:pPr algn="l" eaLnBrk="1" hangingPunct="1">
              <a:lnSpc>
                <a:spcPct val="90000"/>
              </a:lnSpc>
            </a:pPr>
            <a:r>
              <a:rPr lang="zh-CN" altLang="en-US" sz="2800"/>
              <a:t>              </a:t>
            </a:r>
            <a:r>
              <a:rPr lang="en-US" altLang="zh-CN" sz="2800"/>
              <a:t>    </a:t>
            </a:r>
            <a:r>
              <a:rPr lang="zh-CN" altLang="en-US" sz="2800"/>
              <a:t>教材 </a:t>
            </a:r>
            <a:r>
              <a:rPr lang="en-US" altLang="zh-CN" sz="2800"/>
              <a:t>page 62-64</a:t>
            </a:r>
          </a:p>
          <a:p>
            <a:pPr algn="l" eaLnBrk="1" hangingPunct="1">
              <a:lnSpc>
                <a:spcPct val="90000"/>
              </a:lnSpc>
            </a:pPr>
            <a:endParaRPr lang="en-US" altLang="zh-CN" sz="2800"/>
          </a:p>
          <a:p>
            <a:pPr algn="l" eaLnBrk="1" hangingPunct="1">
              <a:lnSpc>
                <a:spcPct val="90000"/>
              </a:lnSpc>
            </a:pPr>
            <a:endParaRPr lang="en-US" altLang="zh-CN" sz="2800"/>
          </a:p>
          <a:p>
            <a:pPr algn="l" eaLnBrk="1" hangingPunct="1">
              <a:lnSpc>
                <a:spcPct val="90000"/>
              </a:lnSpc>
            </a:pPr>
            <a:endParaRPr lang="en-US" altLang="zh-CN" sz="2800"/>
          </a:p>
          <a:p>
            <a:pPr algn="l" eaLnBrk="1" hangingPunct="1">
              <a:lnSpc>
                <a:spcPct val="90000"/>
              </a:lnSpc>
            </a:pPr>
            <a:endParaRPr lang="en-US" altLang="zh-CN" sz="2800"/>
          </a:p>
          <a:p>
            <a:pPr algn="l" eaLnBrk="1" hangingPunct="1">
              <a:lnSpc>
                <a:spcPct val="90000"/>
              </a:lnSpc>
            </a:pPr>
            <a:endParaRPr lang="en-US" altLang="zh-CN" sz="2800"/>
          </a:p>
          <a:p>
            <a:pPr algn="l" eaLnBrk="1" hangingPunct="1">
              <a:lnSpc>
                <a:spcPct val="90000"/>
              </a:lnSpc>
            </a:pPr>
            <a:r>
              <a:rPr lang="en-US" altLang="zh-CN" sz="2800"/>
              <a:t>                 </a:t>
            </a:r>
            <a:r>
              <a:rPr lang="zh-CN" altLang="en-US" sz="2800"/>
              <a:t>典型的</a:t>
            </a:r>
            <a:r>
              <a:rPr lang="en-US" altLang="zh-CN" sz="2800"/>
              <a:t>MOV</a:t>
            </a:r>
            <a:r>
              <a:rPr lang="zh-CN" altLang="en-US" sz="2800"/>
              <a:t>指令的编码格式</a:t>
            </a:r>
            <a:endParaRPr lang="en-US" altLang="zh-CN" sz="2800"/>
          </a:p>
          <a:p>
            <a:pPr algn="l" eaLnBrk="1" hangingPunct="1">
              <a:lnSpc>
                <a:spcPct val="90000"/>
              </a:lnSpc>
            </a:pPr>
            <a:r>
              <a:rPr lang="en-US" altLang="zh-CN" sz="2800"/>
              <a:t>       D</a:t>
            </a:r>
            <a:r>
              <a:rPr lang="zh-CN" altLang="en-US" sz="2800"/>
              <a:t>：数据传输方向</a:t>
            </a:r>
            <a:endParaRPr lang="en-US" altLang="zh-CN" sz="2800"/>
          </a:p>
          <a:p>
            <a:pPr algn="l" eaLnBrk="1" hangingPunct="1">
              <a:lnSpc>
                <a:spcPct val="90000"/>
              </a:lnSpc>
            </a:pPr>
            <a:r>
              <a:rPr lang="en-US" altLang="zh-CN" sz="2800"/>
              <a:t>       W</a:t>
            </a:r>
            <a:r>
              <a:rPr lang="zh-CN" altLang="en-US" sz="2800"/>
              <a:t>：</a:t>
            </a:r>
            <a:r>
              <a:rPr lang="en-US" altLang="zh-CN" sz="2800"/>
              <a:t>WORD OR BYTE</a:t>
            </a:r>
            <a:r>
              <a:rPr lang="zh-CN" altLang="en-US" sz="2800"/>
              <a:t>传输</a:t>
            </a:r>
            <a:endParaRPr lang="en-US" altLang="zh-CN" sz="2800"/>
          </a:p>
          <a:p>
            <a:pPr algn="l" eaLnBrk="1" hangingPunct="1">
              <a:lnSpc>
                <a:spcPct val="90000"/>
              </a:lnSpc>
            </a:pPr>
            <a:r>
              <a:rPr lang="en-US" altLang="zh-CN" sz="2800"/>
              <a:t>       REG</a:t>
            </a:r>
            <a:r>
              <a:rPr lang="zh-CN" altLang="en-US" sz="2800"/>
              <a:t>：操作的寄存器编号</a:t>
            </a:r>
            <a:endParaRPr lang="en-US" altLang="zh-CN" sz="2800"/>
          </a:p>
          <a:p>
            <a:pPr algn="l" eaLnBrk="1" hangingPunct="1">
              <a:lnSpc>
                <a:spcPct val="90000"/>
              </a:lnSpc>
            </a:pPr>
            <a:r>
              <a:rPr lang="en-US" altLang="zh-CN" sz="2800"/>
              <a:t>       MOD &amp; R/M</a:t>
            </a:r>
            <a:r>
              <a:rPr lang="zh-CN" altLang="en-US" sz="2800"/>
              <a:t>：指定另一个操作数</a:t>
            </a:r>
          </a:p>
        </p:txBody>
      </p:sp>
      <p:pic>
        <p:nvPicPr>
          <p:cNvPr id="91140" name="图片 1">
            <a:extLst>
              <a:ext uri="{FF2B5EF4-FFF2-40B4-BE49-F238E27FC236}">
                <a16:creationId xmlns:a16="http://schemas.microsoft.com/office/drawing/2014/main" id="{9C9503E9-AA0E-4D80-99B2-A14874BFD6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200" y="1943100"/>
            <a:ext cx="6959600" cy="1674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newsflash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Line 2">
            <a:extLst>
              <a:ext uri="{FF2B5EF4-FFF2-40B4-BE49-F238E27FC236}">
                <a16:creationId xmlns:a16="http://schemas.microsoft.com/office/drawing/2014/main" id="{2510AD88-A7D2-472B-A485-643E492D96F2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6050" y="984250"/>
            <a:ext cx="0" cy="5757863"/>
          </a:xfrm>
          <a:prstGeom prst="line">
            <a:avLst/>
          </a:prstGeom>
          <a:noFill/>
          <a:ln w="38100">
            <a:solidFill>
              <a:schemeClr val="hlink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11" name="Text Box 3">
            <a:extLst>
              <a:ext uri="{FF2B5EF4-FFF2-40B4-BE49-F238E27FC236}">
                <a16:creationId xmlns:a16="http://schemas.microsoft.com/office/drawing/2014/main" id="{E0D54AD3-7C18-4898-BC77-91D4B7DBB4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6" y="256282"/>
            <a:ext cx="3813173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C00000"/>
                </a:solidFill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回顾：取指过程</a:t>
            </a:r>
            <a:endParaRPr lang="en-US" altLang="zh-CN" sz="3200" dirty="0">
              <a:solidFill>
                <a:srgbClr val="C00000"/>
              </a:solidFill>
              <a:highlight>
                <a:srgbClr val="FFFF00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  <a:p>
            <a:pPr>
              <a:spcBef>
                <a:spcPct val="0"/>
              </a:spcBef>
              <a:buClrTx/>
              <a:buFont typeface="Arial" panose="020B0604020202020204" pitchFamily="34" charset="0"/>
              <a:buNone/>
              <a:defRPr/>
            </a:pPr>
            <a:r>
              <a:rPr lang="zh-CN" altLang="en-US" sz="32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的操作</a:t>
            </a:r>
            <a:r>
              <a:rPr lang="en-US" altLang="zh-CN" sz="32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--</a:t>
            </a:r>
            <a:r>
              <a:rPr lang="zh-CN" altLang="en-US" sz="3200" dirty="0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读指令 </a:t>
            </a:r>
          </a:p>
        </p:txBody>
      </p:sp>
      <p:sp>
        <p:nvSpPr>
          <p:cNvPr id="92164" name="AutoShape 4">
            <a:extLst>
              <a:ext uri="{FF2B5EF4-FFF2-40B4-BE49-F238E27FC236}">
                <a16:creationId xmlns:a16="http://schemas.microsoft.com/office/drawing/2014/main" id="{EE88AE37-6E67-4ABC-B777-5257990EA8A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83125" y="4667250"/>
            <a:ext cx="95250" cy="1084263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2165" name="Text Box 5">
            <a:extLst>
              <a:ext uri="{FF2B5EF4-FFF2-40B4-BE49-F238E27FC236}">
                <a16:creationId xmlns:a16="http://schemas.microsoft.com/office/drawing/2014/main" id="{689F9D1A-1235-4369-9C5D-4326A420830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91475" y="1327150"/>
            <a:ext cx="388938" cy="508158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9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92166" name="组合 20485">
            <a:extLst>
              <a:ext uri="{FF2B5EF4-FFF2-40B4-BE49-F238E27FC236}">
                <a16:creationId xmlns:a16="http://schemas.microsoft.com/office/drawing/2014/main" id="{8BA24843-0CE6-4B65-95DC-7C8391D51FB8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6225" y="1898650"/>
            <a:ext cx="1336675" cy="441325"/>
            <a:chOff x="0" y="0"/>
            <a:chExt cx="842" cy="278"/>
          </a:xfrm>
        </p:grpSpPr>
        <p:sp>
          <p:nvSpPr>
            <p:cNvPr id="92269" name="Line 7">
              <a:extLst>
                <a:ext uri="{FF2B5EF4-FFF2-40B4-BE49-F238E27FC236}">
                  <a16:creationId xmlns:a16="http://schemas.microsoft.com/office/drawing/2014/main" id="{CD273443-94C2-4291-A18A-E2013F1F78F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0" name="Line 8">
              <a:extLst>
                <a:ext uri="{FF2B5EF4-FFF2-40B4-BE49-F238E27FC236}">
                  <a16:creationId xmlns:a16="http://schemas.microsoft.com/office/drawing/2014/main" id="{646B3F5B-0464-47B2-BEE1-6BAFEC33F06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1" name="Line 9">
              <a:extLst>
                <a:ext uri="{FF2B5EF4-FFF2-40B4-BE49-F238E27FC236}">
                  <a16:creationId xmlns:a16="http://schemas.microsoft.com/office/drawing/2014/main" id="{575AD198-A28B-49AF-BAD1-931818376EE9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2" name="Line 10">
              <a:extLst>
                <a:ext uri="{FF2B5EF4-FFF2-40B4-BE49-F238E27FC236}">
                  <a16:creationId xmlns:a16="http://schemas.microsoft.com/office/drawing/2014/main" id="{F77DD4BA-C14C-4017-8539-03A96E52356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3" name="Line 11">
              <a:extLst>
                <a:ext uri="{FF2B5EF4-FFF2-40B4-BE49-F238E27FC236}">
                  <a16:creationId xmlns:a16="http://schemas.microsoft.com/office/drawing/2014/main" id="{24AF247D-178E-40DE-ABC3-DD198C32F5C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4" name="Line 12">
              <a:extLst>
                <a:ext uri="{FF2B5EF4-FFF2-40B4-BE49-F238E27FC236}">
                  <a16:creationId xmlns:a16="http://schemas.microsoft.com/office/drawing/2014/main" id="{1E145478-D6E8-4856-8A61-AB9F083F4CC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5" name="Line 13">
              <a:extLst>
                <a:ext uri="{FF2B5EF4-FFF2-40B4-BE49-F238E27FC236}">
                  <a16:creationId xmlns:a16="http://schemas.microsoft.com/office/drawing/2014/main" id="{821DE6FE-A32F-4991-8449-4B8785E71BC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6" name="Line 14">
              <a:extLst>
                <a:ext uri="{FF2B5EF4-FFF2-40B4-BE49-F238E27FC236}">
                  <a16:creationId xmlns:a16="http://schemas.microsoft.com/office/drawing/2014/main" id="{13612181-B4A5-420E-8412-4D3A1A3FEFB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77" name="Text Box 15">
              <a:extLst>
                <a:ext uri="{FF2B5EF4-FFF2-40B4-BE49-F238E27FC236}">
                  <a16:creationId xmlns:a16="http://schemas.microsoft.com/office/drawing/2014/main" id="{B4F45ACD-E5FB-4DAC-B898-52112C4CD01B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sp>
        <p:nvSpPr>
          <p:cNvPr id="92167" name="Text Box 16">
            <a:extLst>
              <a:ext uri="{FF2B5EF4-FFF2-40B4-BE49-F238E27FC236}">
                <a16:creationId xmlns:a16="http://schemas.microsoft.com/office/drawing/2014/main" id="{97038D0A-A726-4050-A643-E97EC1A62C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13450" y="838200"/>
            <a:ext cx="158432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</a:rPr>
              <a:t>20</a:t>
            </a:r>
            <a:r>
              <a:rPr lang="zh-CN" altLang="en-US" sz="2000" b="1">
                <a:solidFill>
                  <a:srgbClr val="FF6600"/>
                </a:solidFill>
                <a:latin typeface="Times New Roman" panose="02020603050405020304" pitchFamily="18" charset="0"/>
              </a:rPr>
              <a:t>位地址总线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b="1">
                <a:solidFill>
                  <a:srgbClr val="FF6600"/>
                </a:solidFill>
                <a:latin typeface="Times New Roman" panose="02020603050405020304" pitchFamily="18" charset="0"/>
              </a:rPr>
              <a:t>物理地址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92168" name="AutoShape 17">
            <a:extLst>
              <a:ext uri="{FF2B5EF4-FFF2-40B4-BE49-F238E27FC236}">
                <a16:creationId xmlns:a16="http://schemas.microsoft.com/office/drawing/2014/main" id="{1F1D27D8-E5C7-473C-B05D-689BDDBDCB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27800" y="2292350"/>
            <a:ext cx="1474788" cy="234950"/>
          </a:xfrm>
          <a:prstGeom prst="leftRightArrow">
            <a:avLst>
              <a:gd name="adj1" fmla="val 50000"/>
              <a:gd name="adj2" fmla="val 125017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2169" name="Text Box 18">
            <a:extLst>
              <a:ext uri="{FF2B5EF4-FFF2-40B4-BE49-F238E27FC236}">
                <a16:creationId xmlns:a16="http://schemas.microsoft.com/office/drawing/2014/main" id="{3AAF5ECB-178B-45AF-9016-FDB52AC7D45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292975" y="2474913"/>
            <a:ext cx="4699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16</a:t>
            </a:r>
            <a:r>
              <a:rPr lang="zh-CN" altLang="en-US" sz="2000" b="1">
                <a:latin typeface="Times New Roman" panose="02020603050405020304" pitchFamily="18" charset="0"/>
              </a:rPr>
              <a:t>位数据总线</a:t>
            </a:r>
          </a:p>
        </p:txBody>
      </p:sp>
      <p:sp>
        <p:nvSpPr>
          <p:cNvPr id="92170" name="AutoShape 19">
            <a:extLst>
              <a:ext uri="{FF2B5EF4-FFF2-40B4-BE49-F238E27FC236}">
                <a16:creationId xmlns:a16="http://schemas.microsoft.com/office/drawing/2014/main" id="{2BFC36A6-13EC-469E-B875-60ADEC59EF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25" y="5672138"/>
            <a:ext cx="1270000" cy="198437"/>
          </a:xfrm>
          <a:prstGeom prst="leftArrow">
            <a:avLst>
              <a:gd name="adj1" fmla="val 50000"/>
              <a:gd name="adj2" fmla="val 159467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grpSp>
        <p:nvGrpSpPr>
          <p:cNvPr id="92171" name="组合 20499">
            <a:extLst>
              <a:ext uri="{FF2B5EF4-FFF2-40B4-BE49-F238E27FC236}">
                <a16:creationId xmlns:a16="http://schemas.microsoft.com/office/drawing/2014/main" id="{99267D68-7CCA-46D7-8DEB-DB12D1B201B5}"/>
              </a:ext>
            </a:extLst>
          </p:cNvPr>
          <p:cNvGrpSpPr>
            <a:grpSpLocks/>
          </p:cNvGrpSpPr>
          <p:nvPr/>
        </p:nvGrpSpPr>
        <p:grpSpPr bwMode="auto">
          <a:xfrm>
            <a:off x="5480050" y="2295525"/>
            <a:ext cx="1111250" cy="230188"/>
            <a:chOff x="0" y="0"/>
            <a:chExt cx="700" cy="145"/>
          </a:xfrm>
        </p:grpSpPr>
        <p:sp>
          <p:nvSpPr>
            <p:cNvPr id="92267" name="AutoShape 21">
              <a:extLst>
                <a:ext uri="{FF2B5EF4-FFF2-40B4-BE49-F238E27FC236}">
                  <a16:creationId xmlns:a16="http://schemas.microsoft.com/office/drawing/2014/main" id="{94264A5D-48B1-4C50-83EE-70C074F97BC8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2268" name="AutoShape 22">
              <a:extLst>
                <a:ext uri="{FF2B5EF4-FFF2-40B4-BE49-F238E27FC236}">
                  <a16:creationId xmlns:a16="http://schemas.microsoft.com/office/drawing/2014/main" id="{BE43F3C6-28F0-41EC-B683-724D8A6AE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sp>
        <p:nvSpPr>
          <p:cNvPr id="92172" name="Text Box 23">
            <a:extLst>
              <a:ext uri="{FF2B5EF4-FFF2-40B4-BE49-F238E27FC236}">
                <a16:creationId xmlns:a16="http://schemas.microsoft.com/office/drawing/2014/main" id="{E35DAB2D-E8AD-4007-A033-B89EBEC13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22800" y="1604963"/>
            <a:ext cx="471488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rgbClr val="FF6600"/>
                </a:solidFill>
                <a:latin typeface="Times New Roman" panose="02020603050405020304" pitchFamily="18" charset="0"/>
              </a:rPr>
              <a:t>总线接口部件</a:t>
            </a:r>
            <a:r>
              <a:rPr lang="en-US" altLang="zh-CN" sz="2000" b="1">
                <a:solidFill>
                  <a:srgbClr val="FF6600"/>
                </a:solidFill>
                <a:latin typeface="Times New Roman" panose="02020603050405020304" pitchFamily="18" charset="0"/>
              </a:rPr>
              <a:t>BIU</a:t>
            </a:r>
          </a:p>
        </p:txBody>
      </p:sp>
      <p:grpSp>
        <p:nvGrpSpPr>
          <p:cNvPr id="92173" name="组合 20503">
            <a:extLst>
              <a:ext uri="{FF2B5EF4-FFF2-40B4-BE49-F238E27FC236}">
                <a16:creationId xmlns:a16="http://schemas.microsoft.com/office/drawing/2014/main" id="{6E864F2B-6C53-492E-8841-8E2E5FB208DB}"/>
              </a:ext>
            </a:extLst>
          </p:cNvPr>
          <p:cNvGrpSpPr>
            <a:grpSpLocks/>
          </p:cNvGrpSpPr>
          <p:nvPr/>
        </p:nvGrpSpPr>
        <p:grpSpPr bwMode="auto">
          <a:xfrm>
            <a:off x="5145088" y="5229225"/>
            <a:ext cx="1554162" cy="733425"/>
            <a:chOff x="0" y="0"/>
            <a:chExt cx="979" cy="462"/>
          </a:xfrm>
        </p:grpSpPr>
        <p:sp>
          <p:nvSpPr>
            <p:cNvPr id="92260" name="Text Box 25">
              <a:extLst>
                <a:ext uri="{FF2B5EF4-FFF2-40B4-BE49-F238E27FC236}">
                  <a16:creationId xmlns:a16="http://schemas.microsoft.com/office/drawing/2014/main" id="{CA894811-E753-49C1-9056-202AA1F1111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237"/>
              <a:ext cx="979" cy="22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1 2 3 4 5 6</a:t>
              </a:r>
            </a:p>
          </p:txBody>
        </p:sp>
        <p:sp>
          <p:nvSpPr>
            <p:cNvPr id="92261" name="Text Box 26">
              <a:extLst>
                <a:ext uri="{FF2B5EF4-FFF2-40B4-BE49-F238E27FC236}">
                  <a16:creationId xmlns:a16="http://schemas.microsoft.com/office/drawing/2014/main" id="{ED4CC9D4-2DB6-4DBC-87AB-6B7237DD7D1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" y="0"/>
              <a:ext cx="889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指令队列</a:t>
              </a:r>
            </a:p>
          </p:txBody>
        </p:sp>
        <p:sp>
          <p:nvSpPr>
            <p:cNvPr id="92262" name="Line 27">
              <a:extLst>
                <a:ext uri="{FF2B5EF4-FFF2-40B4-BE49-F238E27FC236}">
                  <a16:creationId xmlns:a16="http://schemas.microsoft.com/office/drawing/2014/main" id="{3BB9A18E-D08F-45B2-8EC0-533BA2C26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3" name="Line 28">
              <a:extLst>
                <a:ext uri="{FF2B5EF4-FFF2-40B4-BE49-F238E27FC236}">
                  <a16:creationId xmlns:a16="http://schemas.microsoft.com/office/drawing/2014/main" id="{6B474C29-34A0-44E3-91AB-8A2E016E81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4" name="Line 29">
              <a:extLst>
                <a:ext uri="{FF2B5EF4-FFF2-40B4-BE49-F238E27FC236}">
                  <a16:creationId xmlns:a16="http://schemas.microsoft.com/office/drawing/2014/main" id="{D4FC5959-05C5-40BB-8BC1-F9D073838C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5" name="Line 30">
              <a:extLst>
                <a:ext uri="{FF2B5EF4-FFF2-40B4-BE49-F238E27FC236}">
                  <a16:creationId xmlns:a16="http://schemas.microsoft.com/office/drawing/2014/main" id="{ADCE1873-B643-444C-B8FB-ADA5722D4E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66" name="Line 31">
              <a:extLst>
                <a:ext uri="{FF2B5EF4-FFF2-40B4-BE49-F238E27FC236}">
                  <a16:creationId xmlns:a16="http://schemas.microsoft.com/office/drawing/2014/main" id="{66B206B0-43AB-45FD-94C7-98173A6DD4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174" name="组合 20511">
            <a:extLst>
              <a:ext uri="{FF2B5EF4-FFF2-40B4-BE49-F238E27FC236}">
                <a16:creationId xmlns:a16="http://schemas.microsoft.com/office/drawing/2014/main" id="{E443CBC1-3AD4-4297-83C2-209A2BC750C3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2543175"/>
            <a:ext cx="895350" cy="1074738"/>
            <a:chOff x="0" y="0"/>
            <a:chExt cx="564" cy="677"/>
          </a:xfrm>
        </p:grpSpPr>
        <p:sp>
          <p:nvSpPr>
            <p:cNvPr id="92256" name="Text Box 33">
              <a:extLst>
                <a:ext uri="{FF2B5EF4-FFF2-40B4-BE49-F238E27FC236}">
                  <a16:creationId xmlns:a16="http://schemas.microsoft.com/office/drawing/2014/main" id="{D26BA551-18C7-4A9C-ABA8-1FDD525F7D3F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677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CS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DS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SS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92257" name="Line 34">
              <a:extLst>
                <a:ext uri="{FF2B5EF4-FFF2-40B4-BE49-F238E27FC236}">
                  <a16:creationId xmlns:a16="http://schemas.microsoft.com/office/drawing/2014/main" id="{D6591D2D-11CB-4856-B3BE-FC1F554CB2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2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8" name="Line 35">
              <a:extLst>
                <a:ext uri="{FF2B5EF4-FFF2-40B4-BE49-F238E27FC236}">
                  <a16:creationId xmlns:a16="http://schemas.microsoft.com/office/drawing/2014/main" id="{EA0B3DDD-E924-45E7-846F-27DABEED67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355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9" name="Line 36">
              <a:extLst>
                <a:ext uri="{FF2B5EF4-FFF2-40B4-BE49-F238E27FC236}">
                  <a16:creationId xmlns:a16="http://schemas.microsoft.com/office/drawing/2014/main" id="{8AD4113E-72BD-478C-B48B-362276FD9F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51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175" name="组合 20516">
            <a:extLst>
              <a:ext uri="{FF2B5EF4-FFF2-40B4-BE49-F238E27FC236}">
                <a16:creationId xmlns:a16="http://schemas.microsoft.com/office/drawing/2014/main" id="{EB6527B7-93A0-4CAD-8F07-CE4622BF6A97}"/>
              </a:ext>
            </a:extLst>
          </p:cNvPr>
          <p:cNvGrpSpPr>
            <a:grpSpLocks/>
          </p:cNvGrpSpPr>
          <p:nvPr/>
        </p:nvGrpSpPr>
        <p:grpSpPr bwMode="auto">
          <a:xfrm>
            <a:off x="6002338" y="1293813"/>
            <a:ext cx="2009775" cy="579437"/>
            <a:chOff x="0" y="0"/>
            <a:chExt cx="1266" cy="365"/>
          </a:xfrm>
        </p:grpSpPr>
        <p:sp>
          <p:nvSpPr>
            <p:cNvPr id="92254" name="AutoShape 38">
              <a:extLst>
                <a:ext uri="{FF2B5EF4-FFF2-40B4-BE49-F238E27FC236}">
                  <a16:creationId xmlns:a16="http://schemas.microsoft.com/office/drawing/2014/main" id="{AE48D4D7-8A04-420A-B6E4-2D886FAAA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rgbClr val="FFFF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2255" name="Rectangle 39">
              <a:extLst>
                <a:ext uri="{FF2B5EF4-FFF2-40B4-BE49-F238E27FC236}">
                  <a16:creationId xmlns:a16="http://schemas.microsoft.com/office/drawing/2014/main" id="{4120B747-7D5F-460A-A911-8D720654B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rgbClr val="FFFF00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grpSp>
        <p:nvGrpSpPr>
          <p:cNvPr id="92176" name="组合 20519">
            <a:extLst>
              <a:ext uri="{FF2B5EF4-FFF2-40B4-BE49-F238E27FC236}">
                <a16:creationId xmlns:a16="http://schemas.microsoft.com/office/drawing/2014/main" id="{9FA83F8C-6D37-4603-938A-90434238D3B4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5980113"/>
            <a:ext cx="990600" cy="685800"/>
            <a:chOff x="0" y="0"/>
            <a:chExt cx="624" cy="432"/>
          </a:xfrm>
        </p:grpSpPr>
        <p:sp>
          <p:nvSpPr>
            <p:cNvPr id="20521" name="Text Box 41">
              <a:extLst>
                <a:ext uri="{FF2B5EF4-FFF2-40B4-BE49-F238E27FC236}">
                  <a16:creationId xmlns:a16="http://schemas.microsoft.com/office/drawing/2014/main" id="{5F3368D3-71E3-4271-92B9-99F29553E87E}"/>
                </a:ext>
              </a:extLst>
            </p:cNvPr>
            <p:cNvSpPr txBox="1"/>
            <p:nvPr/>
          </p:nvSpPr>
          <p:spPr>
            <a:xfrm>
              <a:off x="144" y="96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zh-CN" sz="2000" noProof="1">
                  <a:effectLst>
                    <a:outerShdw blurRad="38100" dist="38100" dir="2700000" algn="tl">
                      <a:srgbClr val="C0C0C0"/>
                    </a:outerShdw>
                  </a:effectLst>
                  <a:ea typeface="楷体_GB2312" pitchFamily="1" charset="-122"/>
                  <a:cs typeface="宋体" panose="02010600030101010101" pitchFamily="2" charset="-122"/>
                </a:rPr>
                <a:t>8088</a:t>
              </a:r>
            </a:p>
          </p:txBody>
        </p:sp>
        <p:sp>
          <p:nvSpPr>
            <p:cNvPr id="92252" name="Line 42">
              <a:extLst>
                <a:ext uri="{FF2B5EF4-FFF2-40B4-BE49-F238E27FC236}">
                  <a16:creationId xmlns:a16="http://schemas.microsoft.com/office/drawing/2014/main" id="{84EE962C-27E2-4F1E-8858-2B4E333A6A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53" name="Line 43">
              <a:extLst>
                <a:ext uri="{FF2B5EF4-FFF2-40B4-BE49-F238E27FC236}">
                  <a16:creationId xmlns:a16="http://schemas.microsoft.com/office/drawing/2014/main" id="{CB562F07-5FCE-4307-895C-E0FE25FFA4E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177" name="组合 20523">
            <a:extLst>
              <a:ext uri="{FF2B5EF4-FFF2-40B4-BE49-F238E27FC236}">
                <a16:creationId xmlns:a16="http://schemas.microsoft.com/office/drawing/2014/main" id="{CEF10F7B-B267-4144-B031-F8A9567DCA94}"/>
              </a:ext>
            </a:extLst>
          </p:cNvPr>
          <p:cNvGrpSpPr>
            <a:grpSpLocks/>
          </p:cNvGrpSpPr>
          <p:nvPr/>
        </p:nvGrpSpPr>
        <p:grpSpPr bwMode="auto">
          <a:xfrm>
            <a:off x="5768975" y="5980113"/>
            <a:ext cx="914400" cy="731837"/>
            <a:chOff x="0" y="0"/>
            <a:chExt cx="576" cy="461"/>
          </a:xfrm>
        </p:grpSpPr>
        <p:sp>
          <p:nvSpPr>
            <p:cNvPr id="20525" name="Text Box 45">
              <a:extLst>
                <a:ext uri="{FF2B5EF4-FFF2-40B4-BE49-F238E27FC236}">
                  <a16:creationId xmlns:a16="http://schemas.microsoft.com/office/drawing/2014/main" id="{BA1C8711-16D8-4918-B84F-DD5FA9723A2D}"/>
                </a:ext>
              </a:extLst>
            </p:cNvPr>
            <p:cNvSpPr txBox="1"/>
            <p:nvPr/>
          </p:nvSpPr>
          <p:spPr>
            <a:xfrm>
              <a:off x="0" y="288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zh-CN" sz="2000" noProof="1">
                  <a:effectLst>
                    <a:outerShdw blurRad="38100" dist="38100" dir="2700000" algn="tl">
                      <a:srgbClr val="C0C0C0"/>
                    </a:outerShdw>
                  </a:effectLst>
                  <a:ea typeface="楷体_GB2312" pitchFamily="1" charset="-122"/>
                  <a:cs typeface="宋体" panose="02010600030101010101" pitchFamily="2" charset="-122"/>
                </a:rPr>
                <a:t>8086</a:t>
              </a:r>
            </a:p>
          </p:txBody>
        </p:sp>
        <p:sp>
          <p:nvSpPr>
            <p:cNvPr id="92250" name="Line 46">
              <a:extLst>
                <a:ext uri="{FF2B5EF4-FFF2-40B4-BE49-F238E27FC236}">
                  <a16:creationId xmlns:a16="http://schemas.microsoft.com/office/drawing/2014/main" id="{7A3FD070-FADC-4C1A-A48B-E07C00734A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178" name="组合 20526">
            <a:extLst>
              <a:ext uri="{FF2B5EF4-FFF2-40B4-BE49-F238E27FC236}">
                <a16:creationId xmlns:a16="http://schemas.microsoft.com/office/drawing/2014/main" id="{BD04E237-BE81-458E-A841-E1EBD7AD410D}"/>
              </a:ext>
            </a:extLst>
          </p:cNvPr>
          <p:cNvGrpSpPr>
            <a:grpSpLocks/>
          </p:cNvGrpSpPr>
          <p:nvPr/>
        </p:nvGrpSpPr>
        <p:grpSpPr bwMode="auto">
          <a:xfrm>
            <a:off x="6226175" y="2551113"/>
            <a:ext cx="895350" cy="609600"/>
            <a:chOff x="0" y="0"/>
            <a:chExt cx="564" cy="384"/>
          </a:xfrm>
        </p:grpSpPr>
        <p:sp>
          <p:nvSpPr>
            <p:cNvPr id="92247" name="Text Box 48">
              <a:extLst>
                <a:ext uri="{FF2B5EF4-FFF2-40B4-BE49-F238E27FC236}">
                  <a16:creationId xmlns:a16="http://schemas.microsoft.com/office/drawing/2014/main" id="{D82FA0D0-D46C-4770-9686-845DC5912CB6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38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IP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latin typeface="Times New Roman" panose="02020603050405020304" pitchFamily="18" charset="0"/>
                </a:rPr>
                <a:t>暂存器</a:t>
              </a:r>
            </a:p>
          </p:txBody>
        </p:sp>
        <p:sp>
          <p:nvSpPr>
            <p:cNvPr id="92248" name="Line 49">
              <a:extLst>
                <a:ext uri="{FF2B5EF4-FFF2-40B4-BE49-F238E27FC236}">
                  <a16:creationId xmlns:a16="http://schemas.microsoft.com/office/drawing/2014/main" id="{6792B2FD-07B4-405A-8352-0A1CEF4DD5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2179" name="组合 20529">
            <a:extLst>
              <a:ext uri="{FF2B5EF4-FFF2-40B4-BE49-F238E27FC236}">
                <a16:creationId xmlns:a16="http://schemas.microsoft.com/office/drawing/2014/main" id="{2242EF16-2147-486F-9379-BE8AC7CF143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92775" y="3160713"/>
            <a:ext cx="1066800" cy="1395412"/>
            <a:chOff x="0" y="0"/>
            <a:chExt cx="672" cy="879"/>
          </a:xfrm>
        </p:grpSpPr>
        <p:sp>
          <p:nvSpPr>
            <p:cNvPr id="92245" name="AutoShape 51">
              <a:extLst>
                <a:ext uri="{FF2B5EF4-FFF2-40B4-BE49-F238E27FC236}">
                  <a16:creationId xmlns:a16="http://schemas.microsoft.com/office/drawing/2014/main" id="{B91EDD48-ACA1-4AC9-ACB9-E88CB056282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336"/>
              <a:ext cx="144" cy="543"/>
            </a:xfrm>
            <a:prstGeom prst="upDownArrow">
              <a:avLst>
                <a:gd name="adj1" fmla="val 50000"/>
                <a:gd name="adj2" fmla="val 75102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2246" name="AutoShape 52">
              <a:extLst>
                <a:ext uri="{FF2B5EF4-FFF2-40B4-BE49-F238E27FC236}">
                  <a16:creationId xmlns:a16="http://schemas.microsoft.com/office/drawing/2014/main" id="{65D32143-DA71-4711-ADD0-B24483B0766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" y="0"/>
              <a:ext cx="144" cy="879"/>
            </a:xfrm>
            <a:prstGeom prst="upDownArrow">
              <a:avLst>
                <a:gd name="adj1" fmla="val 50000"/>
                <a:gd name="adj2" fmla="val 121575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grpSp>
        <p:nvGrpSpPr>
          <p:cNvPr id="92180" name="组合 20532">
            <a:extLst>
              <a:ext uri="{FF2B5EF4-FFF2-40B4-BE49-F238E27FC236}">
                <a16:creationId xmlns:a16="http://schemas.microsoft.com/office/drawing/2014/main" id="{6595ED9E-45D4-43FA-BDD7-1ADC432526D8}"/>
              </a:ext>
            </a:extLst>
          </p:cNvPr>
          <p:cNvGrpSpPr>
            <a:grpSpLocks/>
          </p:cNvGrpSpPr>
          <p:nvPr/>
        </p:nvGrpSpPr>
        <p:grpSpPr bwMode="auto">
          <a:xfrm>
            <a:off x="8382000" y="2159000"/>
            <a:ext cx="609600" cy="1992313"/>
            <a:chOff x="0" y="0"/>
            <a:chExt cx="384" cy="1008"/>
          </a:xfrm>
        </p:grpSpPr>
        <p:sp>
          <p:nvSpPr>
            <p:cNvPr id="92243" name="AutoShape 54">
              <a:extLst>
                <a:ext uri="{FF2B5EF4-FFF2-40B4-BE49-F238E27FC236}">
                  <a16:creationId xmlns:a16="http://schemas.microsoft.com/office/drawing/2014/main" id="{35180CE6-5055-47A8-88E3-CB6E168A69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384" cy="240"/>
            </a:xfrm>
            <a:prstGeom prst="leftRightArrow">
              <a:avLst>
                <a:gd name="adj1" fmla="val 50000"/>
                <a:gd name="adj2" fmla="val 32000"/>
              </a:avLst>
            </a:prstGeom>
            <a:noFill/>
            <a:ln w="25400">
              <a:solidFill>
                <a:schemeClr val="tx2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20535" name="Text Box 55">
              <a:extLst>
                <a:ext uri="{FF2B5EF4-FFF2-40B4-BE49-F238E27FC236}">
                  <a16:creationId xmlns:a16="http://schemas.microsoft.com/office/drawing/2014/main" id="{589F90F5-47F0-415F-BDA6-034FA64CC758}"/>
                </a:ext>
              </a:extLst>
            </p:cNvPr>
            <p:cNvSpPr txBox="1"/>
            <p:nvPr/>
          </p:nvSpPr>
          <p:spPr>
            <a:xfrm>
              <a:off x="96" y="0"/>
              <a:ext cx="207" cy="76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总线</a:t>
              </a:r>
              <a:endPara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92181" name="AutoShape 56">
            <a:extLst>
              <a:ext uri="{FF2B5EF4-FFF2-40B4-BE49-F238E27FC236}">
                <a16:creationId xmlns:a16="http://schemas.microsoft.com/office/drawing/2014/main" id="{26AA8A13-F521-4065-9D9E-F1900E9C7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4663" y="4508500"/>
            <a:ext cx="3670300" cy="215900"/>
          </a:xfrm>
          <a:prstGeom prst="leftRightArrow">
            <a:avLst>
              <a:gd name="adj1" fmla="val 57435"/>
              <a:gd name="adj2" fmla="val 116481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2182" name="AutoShape 57">
            <a:extLst>
              <a:ext uri="{FF2B5EF4-FFF2-40B4-BE49-F238E27FC236}">
                <a16:creationId xmlns:a16="http://schemas.microsoft.com/office/drawing/2014/main" id="{76CCCF65-455B-4531-A36D-FD2212CB51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238" y="5734050"/>
            <a:ext cx="1079500" cy="90488"/>
          </a:xfrm>
          <a:prstGeom prst="leftArrow">
            <a:avLst>
              <a:gd name="adj1" fmla="val 50000"/>
              <a:gd name="adj2" fmla="val 297250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2183" name="Line 58">
            <a:extLst>
              <a:ext uri="{FF2B5EF4-FFF2-40B4-BE49-F238E27FC236}">
                <a16:creationId xmlns:a16="http://schemas.microsoft.com/office/drawing/2014/main" id="{501008AA-D437-49EB-A32D-DC36FC74F1AE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4638" y="1851025"/>
            <a:ext cx="0" cy="4318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184" name="Rectangle 60">
            <a:extLst>
              <a:ext uri="{FF2B5EF4-FFF2-40B4-BE49-F238E27FC236}">
                <a16:creationId xmlns:a16="http://schemas.microsoft.com/office/drawing/2014/main" id="{B220D048-AEB0-4617-B25B-86C08A99B0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4294188"/>
            <a:ext cx="295275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    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0100</a:t>
            </a:r>
            <a:r>
              <a:rPr lang="en-US" altLang="zh-CN" sz="2000" b="1">
                <a:latin typeface="Times New Roman" panose="02020603050405020304" pitchFamily="18" charset="0"/>
              </a:rPr>
              <a:t>0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H(20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+    0000H(16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         ----------------------          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01000H (20</a:t>
            </a:r>
            <a:r>
              <a:rPr lang="zh-CN" altLang="en-US" sz="2000" b="1">
                <a:latin typeface="Times New Roman" panose="02020603050405020304" pitchFamily="18" charset="0"/>
              </a:rPr>
              <a:t>位</a:t>
            </a:r>
            <a:r>
              <a:rPr lang="en-US" altLang="zh-CN" sz="2000" b="1">
                <a:latin typeface="Times New Roman" panose="02020603050405020304" pitchFamily="18" charset="0"/>
              </a:rPr>
              <a:t>)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物理地址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(20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位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92185" name="Text Box 75">
            <a:extLst>
              <a:ext uri="{FF2B5EF4-FFF2-40B4-BE49-F238E27FC236}">
                <a16:creationId xmlns:a16="http://schemas.microsoft.com/office/drawing/2014/main" id="{F869263B-6CF1-483B-AD24-08C979D3DF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908050"/>
            <a:ext cx="2447925" cy="338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</a:rPr>
              <a:t>CPU</a:t>
            </a:r>
            <a:r>
              <a:rPr lang="zh-CN" altLang="en-US" sz="2400" b="1">
                <a:latin typeface="Times New Roman" panose="02020603050405020304" pitchFamily="18" charset="0"/>
              </a:rPr>
              <a:t>的取指</a:t>
            </a:r>
            <a:r>
              <a:rPr lang="en-US" altLang="zh-CN" sz="2400" b="1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当指令队列有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个或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个以上的字节空余时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,BIU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自动读指令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,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存入指令队列。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b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Garamond" panose="02020404030301010803" pitchFamily="18" charset="0"/>
              </a:rPr>
              <a:t>指令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Garamond" panose="02020404030301010803" pitchFamily="18" charset="0"/>
              </a:rPr>
              <a:t>MOV  AL , 5CH</a:t>
            </a:r>
            <a:endParaRPr lang="zh-CN" altLang="en-US" sz="1800" b="1">
              <a:latin typeface="Garamond" panose="02020404030301010803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Garamond" panose="02020404030301010803" pitchFamily="18" charset="0"/>
              </a:rPr>
              <a:t>ADD AL , [100H]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/>
              <a:t>…</a:t>
            </a:r>
            <a:endParaRPr lang="en-US" altLang="zh-CN" sz="2000" b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2186" name="Rectangle 89">
            <a:extLst>
              <a:ext uri="{FF2B5EF4-FFF2-40B4-BE49-F238E27FC236}">
                <a16:creationId xmlns:a16="http://schemas.microsoft.com/office/drawing/2014/main" id="{533ABF60-3DD2-43FB-A6EA-B15528B7F5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149725"/>
            <a:ext cx="13684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CS=0100H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IP=0000H </a:t>
            </a:r>
          </a:p>
        </p:txBody>
      </p:sp>
      <p:sp>
        <p:nvSpPr>
          <p:cNvPr id="20542" name="Text Box 91">
            <a:extLst>
              <a:ext uri="{FF2B5EF4-FFF2-40B4-BE49-F238E27FC236}">
                <a16:creationId xmlns:a16="http://schemas.microsoft.com/office/drawing/2014/main" id="{D1AC6C2D-67C9-4FD2-8D2A-D41CDBB4C9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2530475"/>
            <a:ext cx="895350" cy="301625"/>
          </a:xfrm>
          <a:prstGeom prst="rect">
            <a:avLst/>
          </a:prstGeom>
          <a:solidFill>
            <a:srgbClr val="FF00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Times New Roman" panose="02020603050405020304" pitchFamily="18" charset="0"/>
              </a:rPr>
              <a:t>CS</a:t>
            </a:r>
            <a:endParaRPr lang="zh-CN" altLang="en-US" sz="1800" b="1">
              <a:latin typeface="Times New Roman" panose="02020603050405020304" pitchFamily="18" charset="0"/>
            </a:endParaRPr>
          </a:p>
        </p:txBody>
      </p:sp>
      <p:sp>
        <p:nvSpPr>
          <p:cNvPr id="20543" name="Text Box 93">
            <a:extLst>
              <a:ext uri="{FF2B5EF4-FFF2-40B4-BE49-F238E27FC236}">
                <a16:creationId xmlns:a16="http://schemas.microsoft.com/office/drawing/2014/main" id="{FE753D09-C18C-4997-9B6D-0391DFB8F8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2546350"/>
            <a:ext cx="895350" cy="301625"/>
          </a:xfrm>
          <a:prstGeom prst="rect">
            <a:avLst/>
          </a:prstGeom>
          <a:solidFill>
            <a:srgbClr val="FF00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Times New Roman" panose="02020603050405020304" pitchFamily="18" charset="0"/>
              </a:rPr>
              <a:t>IP</a:t>
            </a:r>
            <a:endParaRPr lang="zh-CN" altLang="en-US" sz="1800" b="1">
              <a:latin typeface="Times New Roman" panose="02020603050405020304" pitchFamily="18" charset="0"/>
            </a:endParaRPr>
          </a:p>
        </p:txBody>
      </p:sp>
      <p:grpSp>
        <p:nvGrpSpPr>
          <p:cNvPr id="20544" name="组合 20543">
            <a:extLst>
              <a:ext uri="{FF2B5EF4-FFF2-40B4-BE49-F238E27FC236}">
                <a16:creationId xmlns:a16="http://schemas.microsoft.com/office/drawing/2014/main" id="{1E61231D-63DF-4439-B552-9A792CD41DBF}"/>
              </a:ext>
            </a:extLst>
          </p:cNvPr>
          <p:cNvGrpSpPr>
            <a:grpSpLocks/>
          </p:cNvGrpSpPr>
          <p:nvPr/>
        </p:nvGrpSpPr>
        <p:grpSpPr bwMode="auto">
          <a:xfrm>
            <a:off x="5473700" y="2295525"/>
            <a:ext cx="1111250" cy="230188"/>
            <a:chOff x="0" y="0"/>
            <a:chExt cx="700" cy="145"/>
          </a:xfrm>
        </p:grpSpPr>
        <p:sp>
          <p:nvSpPr>
            <p:cNvPr id="92241" name="AutoShape 95">
              <a:extLst>
                <a:ext uri="{FF2B5EF4-FFF2-40B4-BE49-F238E27FC236}">
                  <a16:creationId xmlns:a16="http://schemas.microsoft.com/office/drawing/2014/main" id="{1FF60329-BA26-4C8F-9F46-F109980158D2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2242" name="AutoShape 96">
              <a:extLst>
                <a:ext uri="{FF2B5EF4-FFF2-40B4-BE49-F238E27FC236}">
                  <a16:creationId xmlns:a16="http://schemas.microsoft.com/office/drawing/2014/main" id="{33011FF6-98FC-4DB8-9414-6F2099BE38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grpSp>
        <p:nvGrpSpPr>
          <p:cNvPr id="20547" name="组合 20546">
            <a:extLst>
              <a:ext uri="{FF2B5EF4-FFF2-40B4-BE49-F238E27FC236}">
                <a16:creationId xmlns:a16="http://schemas.microsoft.com/office/drawing/2014/main" id="{A33C0DE4-9A81-4331-A50D-2AEB9F160857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4638" y="1892300"/>
            <a:ext cx="1336675" cy="441325"/>
            <a:chOff x="0" y="0"/>
            <a:chExt cx="842" cy="278"/>
          </a:xfrm>
        </p:grpSpPr>
        <p:sp>
          <p:nvSpPr>
            <p:cNvPr id="92232" name="Line 98">
              <a:extLst>
                <a:ext uri="{FF2B5EF4-FFF2-40B4-BE49-F238E27FC236}">
                  <a16:creationId xmlns:a16="http://schemas.microsoft.com/office/drawing/2014/main" id="{B32FEE32-44B1-4E6B-85B5-96706BEB9A6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3" name="Line 99">
              <a:extLst>
                <a:ext uri="{FF2B5EF4-FFF2-40B4-BE49-F238E27FC236}">
                  <a16:creationId xmlns:a16="http://schemas.microsoft.com/office/drawing/2014/main" id="{504B8693-D07F-4F40-81F5-0B9BD95AFA8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4" name="Line 100">
              <a:extLst>
                <a:ext uri="{FF2B5EF4-FFF2-40B4-BE49-F238E27FC236}">
                  <a16:creationId xmlns:a16="http://schemas.microsoft.com/office/drawing/2014/main" id="{034F19CB-029B-473A-A973-F6676FE4FE7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5" name="Line 101">
              <a:extLst>
                <a:ext uri="{FF2B5EF4-FFF2-40B4-BE49-F238E27FC236}">
                  <a16:creationId xmlns:a16="http://schemas.microsoft.com/office/drawing/2014/main" id="{3A8BF0FE-D216-445E-BACD-443FBB72028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6" name="Line 102">
              <a:extLst>
                <a:ext uri="{FF2B5EF4-FFF2-40B4-BE49-F238E27FC236}">
                  <a16:creationId xmlns:a16="http://schemas.microsoft.com/office/drawing/2014/main" id="{35EF0CAF-3C8C-4373-9E46-81AC8990605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7" name="Line 103">
              <a:extLst>
                <a:ext uri="{FF2B5EF4-FFF2-40B4-BE49-F238E27FC236}">
                  <a16:creationId xmlns:a16="http://schemas.microsoft.com/office/drawing/2014/main" id="{0091B9B2-9316-48ED-96A0-5140E1C2F5D6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8" name="Line 104">
              <a:extLst>
                <a:ext uri="{FF2B5EF4-FFF2-40B4-BE49-F238E27FC236}">
                  <a16:creationId xmlns:a16="http://schemas.microsoft.com/office/drawing/2014/main" id="{3C81DD7B-8FCF-4E5B-9502-3F45476B105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39" name="Line 105">
              <a:extLst>
                <a:ext uri="{FF2B5EF4-FFF2-40B4-BE49-F238E27FC236}">
                  <a16:creationId xmlns:a16="http://schemas.microsoft.com/office/drawing/2014/main" id="{5A6CFA4A-C385-4CF7-830B-87E842711FC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240" name="Text Box 106">
              <a:extLst>
                <a:ext uri="{FF2B5EF4-FFF2-40B4-BE49-F238E27FC236}">
                  <a16:creationId xmlns:a16="http://schemas.microsoft.com/office/drawing/2014/main" id="{9CF144C8-811D-49B5-8B5F-F317F064B08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grpSp>
        <p:nvGrpSpPr>
          <p:cNvPr id="20557" name="组合 20556">
            <a:extLst>
              <a:ext uri="{FF2B5EF4-FFF2-40B4-BE49-F238E27FC236}">
                <a16:creationId xmlns:a16="http://schemas.microsoft.com/office/drawing/2014/main" id="{26F841EA-1A56-4C15-AA08-6C759E4DF235}"/>
              </a:ext>
            </a:extLst>
          </p:cNvPr>
          <p:cNvGrpSpPr>
            <a:grpSpLocks/>
          </p:cNvGrpSpPr>
          <p:nvPr/>
        </p:nvGrpSpPr>
        <p:grpSpPr bwMode="auto">
          <a:xfrm>
            <a:off x="6002338" y="1287463"/>
            <a:ext cx="2009775" cy="579437"/>
            <a:chOff x="0" y="0"/>
            <a:chExt cx="1266" cy="365"/>
          </a:xfrm>
        </p:grpSpPr>
        <p:sp>
          <p:nvSpPr>
            <p:cNvPr id="92230" name="AutoShape 109">
              <a:extLst>
                <a:ext uri="{FF2B5EF4-FFF2-40B4-BE49-F238E27FC236}">
                  <a16:creationId xmlns:a16="http://schemas.microsoft.com/office/drawing/2014/main" id="{9A969D2D-CB8A-47AA-BFB2-8D501EB3A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2231" name="Rectangle 110">
              <a:extLst>
                <a:ext uri="{FF2B5EF4-FFF2-40B4-BE49-F238E27FC236}">
                  <a16:creationId xmlns:a16="http://schemas.microsoft.com/office/drawing/2014/main" id="{775A692C-BA0F-4ABA-BA50-046B1BF265A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sp>
        <p:nvSpPr>
          <p:cNvPr id="20560" name="Text Box 111">
            <a:extLst>
              <a:ext uri="{FF2B5EF4-FFF2-40B4-BE49-F238E27FC236}">
                <a16:creationId xmlns:a16="http://schemas.microsoft.com/office/drawing/2014/main" id="{CAEA1FA8-383A-4FAE-AB55-CE8F76FAEF5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80363" y="1333500"/>
            <a:ext cx="388937" cy="5081588"/>
          </a:xfrm>
          <a:prstGeom prst="rect">
            <a:avLst/>
          </a:prstGeom>
          <a:solidFill>
            <a:srgbClr val="FF00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9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20561" name="组合 20560">
            <a:extLst>
              <a:ext uri="{FF2B5EF4-FFF2-40B4-BE49-F238E27FC236}">
                <a16:creationId xmlns:a16="http://schemas.microsoft.com/office/drawing/2014/main" id="{EED1ABA9-A9A1-422D-BBD9-D27F9B680574}"/>
              </a:ext>
            </a:extLst>
          </p:cNvPr>
          <p:cNvGrpSpPr>
            <a:grpSpLocks/>
          </p:cNvGrpSpPr>
          <p:nvPr/>
        </p:nvGrpSpPr>
        <p:grpSpPr bwMode="auto">
          <a:xfrm>
            <a:off x="8388350" y="3644900"/>
            <a:ext cx="609600" cy="2143125"/>
            <a:chOff x="0" y="0"/>
            <a:chExt cx="384" cy="1104"/>
          </a:xfrm>
        </p:grpSpPr>
        <p:sp>
          <p:nvSpPr>
            <p:cNvPr id="92228" name="AutoShape 113">
              <a:extLst>
                <a:ext uri="{FF2B5EF4-FFF2-40B4-BE49-F238E27FC236}">
                  <a16:creationId xmlns:a16="http://schemas.microsoft.com/office/drawing/2014/main" id="{FEA0CEAE-3663-4614-8EA6-2FEDBF8604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299"/>
            </a:xfrm>
            <a:prstGeom prst="leftRightArrow">
              <a:avLst>
                <a:gd name="adj1" fmla="val 50000"/>
                <a:gd name="adj2" fmla="val 25579"/>
              </a:avLst>
            </a:prstGeom>
            <a:solidFill>
              <a:srgbClr val="FF0000"/>
            </a:solidFill>
            <a:ln w="25400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20563" name="Text Box 114">
              <a:extLst>
                <a:ext uri="{FF2B5EF4-FFF2-40B4-BE49-F238E27FC236}">
                  <a16:creationId xmlns:a16="http://schemas.microsoft.com/office/drawing/2014/main" id="{BE9BB631-28CB-4721-B428-A4E3E78C0D2A}"/>
                </a:ext>
              </a:extLst>
            </p:cNvPr>
            <p:cNvSpPr txBox="1"/>
            <p:nvPr/>
          </p:nvSpPr>
          <p:spPr>
            <a:xfrm>
              <a:off x="91" y="148"/>
              <a:ext cx="20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noProof="1">
                  <a:solidFill>
                    <a:srgbClr val="FF33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地址总线</a:t>
              </a:r>
              <a:endParaRPr lang="zh-CN" altLang="en-US" sz="2400" noProof="1">
                <a:solidFill>
                  <a:srgbClr val="FF33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pSp>
        <p:nvGrpSpPr>
          <p:cNvPr id="20564" name="组合 20563">
            <a:extLst>
              <a:ext uri="{FF2B5EF4-FFF2-40B4-BE49-F238E27FC236}">
                <a16:creationId xmlns:a16="http://schemas.microsoft.com/office/drawing/2014/main" id="{558F607D-B6BF-414A-98D2-214619AADDF3}"/>
              </a:ext>
            </a:extLst>
          </p:cNvPr>
          <p:cNvGrpSpPr>
            <a:grpSpLocks/>
          </p:cNvGrpSpPr>
          <p:nvPr/>
        </p:nvGrpSpPr>
        <p:grpSpPr bwMode="auto">
          <a:xfrm>
            <a:off x="8388350" y="3644900"/>
            <a:ext cx="609600" cy="2160588"/>
            <a:chOff x="0" y="0"/>
            <a:chExt cx="384" cy="1104"/>
          </a:xfrm>
        </p:grpSpPr>
        <p:sp>
          <p:nvSpPr>
            <p:cNvPr id="92226" name="AutoShape 117">
              <a:extLst>
                <a:ext uri="{FF2B5EF4-FFF2-40B4-BE49-F238E27FC236}">
                  <a16:creationId xmlns:a16="http://schemas.microsoft.com/office/drawing/2014/main" id="{96C1140E-BCB3-4310-AC42-0FFBEF0F5F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299"/>
            </a:xfrm>
            <a:prstGeom prst="leftRightArrow">
              <a:avLst>
                <a:gd name="adj1" fmla="val 50000"/>
                <a:gd name="adj2" fmla="val 25579"/>
              </a:avLst>
            </a:prstGeom>
            <a:solidFill>
              <a:srgbClr val="FF9900"/>
            </a:solidFill>
            <a:ln w="25400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20566" name="Text Box 118">
              <a:extLst>
                <a:ext uri="{FF2B5EF4-FFF2-40B4-BE49-F238E27FC236}">
                  <a16:creationId xmlns:a16="http://schemas.microsoft.com/office/drawing/2014/main" id="{7F8DDDC8-6D3F-49D9-B021-E5D1A7192D5D}"/>
                </a:ext>
              </a:extLst>
            </p:cNvPr>
            <p:cNvSpPr txBox="1"/>
            <p:nvPr/>
          </p:nvSpPr>
          <p:spPr>
            <a:xfrm>
              <a:off x="91" y="148"/>
              <a:ext cx="20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noProof="1">
                  <a:solidFill>
                    <a:schemeClr val="tx2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数据总线</a:t>
              </a:r>
              <a:endParaRPr lang="zh-CN" altLang="en-US" sz="2400" noProof="1">
                <a:solidFill>
                  <a:schemeClr val="tx2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20567" name="AutoShape 120">
            <a:extLst>
              <a:ext uri="{FF2B5EF4-FFF2-40B4-BE49-F238E27FC236}">
                <a16:creationId xmlns:a16="http://schemas.microsoft.com/office/drawing/2014/main" id="{DF32B2A2-F986-41DE-B3C8-7309A1AA06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8138" y="5670550"/>
            <a:ext cx="1270000" cy="198438"/>
          </a:xfrm>
          <a:prstGeom prst="leftArrow">
            <a:avLst>
              <a:gd name="adj1" fmla="val 50000"/>
              <a:gd name="adj2" fmla="val 159466"/>
            </a:avLst>
          </a:prstGeom>
          <a:solidFill>
            <a:schemeClr val="hlink"/>
          </a:solidFill>
          <a:ln w="9525">
            <a:solidFill>
              <a:srgbClr val="FFFF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20568" name="Text Box 121">
            <a:extLst>
              <a:ext uri="{FF2B5EF4-FFF2-40B4-BE49-F238E27FC236}">
                <a16:creationId xmlns:a16="http://schemas.microsoft.com/office/drawing/2014/main" id="{A94DE9CE-4AAD-4828-BF7F-2D867035258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85125" y="1331913"/>
            <a:ext cx="388938" cy="5081587"/>
          </a:xfrm>
          <a:prstGeom prst="rect">
            <a:avLst/>
          </a:prstGeom>
          <a:solidFill>
            <a:schemeClr val="hlink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9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辑</a:t>
            </a:r>
          </a:p>
        </p:txBody>
      </p:sp>
      <p:sp>
        <p:nvSpPr>
          <p:cNvPr id="92197" name="Text Box 130">
            <a:extLst>
              <a:ext uri="{FF2B5EF4-FFF2-40B4-BE49-F238E27FC236}">
                <a16:creationId xmlns:a16="http://schemas.microsoft.com/office/drawing/2014/main" id="{3DF789DB-3C64-4D16-B716-F882A51796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5589588"/>
            <a:ext cx="287338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zh-CN" sz="1800">
                <a:latin typeface="Garamond" panose="02020404030301010803" pitchFamily="18" charset="0"/>
              </a:rPr>
              <a:t>1</a:t>
            </a:r>
          </a:p>
        </p:txBody>
      </p:sp>
      <p:sp>
        <p:nvSpPr>
          <p:cNvPr id="20570" name="Text Box 132">
            <a:extLst>
              <a:ext uri="{FF2B5EF4-FFF2-40B4-BE49-F238E27FC236}">
                <a16:creationId xmlns:a16="http://schemas.microsoft.com/office/drawing/2014/main" id="{541D85B4-5021-4F77-9E64-A5CF0F26DD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1</a:t>
            </a:r>
          </a:p>
        </p:txBody>
      </p:sp>
      <p:sp>
        <p:nvSpPr>
          <p:cNvPr id="20571" name="Text Box 139">
            <a:extLst>
              <a:ext uri="{FF2B5EF4-FFF2-40B4-BE49-F238E27FC236}">
                <a16:creationId xmlns:a16="http://schemas.microsoft.com/office/drawing/2014/main" id="{76BF51FB-C278-4D9B-B9FF-604E5498D0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496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2</a:t>
            </a:r>
          </a:p>
        </p:txBody>
      </p:sp>
      <p:sp>
        <p:nvSpPr>
          <p:cNvPr id="20572" name="Text Box 140">
            <a:extLst>
              <a:ext uri="{FF2B5EF4-FFF2-40B4-BE49-F238E27FC236}">
                <a16:creationId xmlns:a16="http://schemas.microsoft.com/office/drawing/2014/main" id="{1419C6D7-2117-4C49-865F-0385FC58B0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896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3</a:t>
            </a:r>
          </a:p>
        </p:txBody>
      </p:sp>
      <p:sp>
        <p:nvSpPr>
          <p:cNvPr id="20573" name="Text Box 141">
            <a:extLst>
              <a:ext uri="{FF2B5EF4-FFF2-40B4-BE49-F238E27FC236}">
                <a16:creationId xmlns:a16="http://schemas.microsoft.com/office/drawing/2014/main" id="{6C129FBD-3D4B-4EB5-944D-062933AC00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0" y="5589588"/>
            <a:ext cx="233363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4</a:t>
            </a:r>
          </a:p>
        </p:txBody>
      </p:sp>
      <p:sp>
        <p:nvSpPr>
          <p:cNvPr id="20574" name="Text Box 142">
            <a:extLst>
              <a:ext uri="{FF2B5EF4-FFF2-40B4-BE49-F238E27FC236}">
                <a16:creationId xmlns:a16="http://schemas.microsoft.com/office/drawing/2014/main" id="{74DF5D11-96B8-4135-93A2-A0BC5D92B8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9601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5</a:t>
            </a:r>
          </a:p>
        </p:txBody>
      </p:sp>
      <p:sp>
        <p:nvSpPr>
          <p:cNvPr id="20575" name="Text Box 143">
            <a:extLst>
              <a:ext uri="{FF2B5EF4-FFF2-40B4-BE49-F238E27FC236}">
                <a16:creationId xmlns:a16="http://schemas.microsoft.com/office/drawing/2014/main" id="{FF96F2F4-EA6C-4053-9AFC-9BCBC99D71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69063" y="5589588"/>
            <a:ext cx="233362" cy="357187"/>
          </a:xfrm>
          <a:prstGeom prst="rect">
            <a:avLst/>
          </a:prstGeom>
          <a:solidFill>
            <a:schemeClr val="hlink"/>
          </a:solidFill>
          <a:ln w="28575">
            <a:solidFill>
              <a:srgbClr val="33CCCC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spcBef>
                <a:spcPct val="0"/>
              </a:spcBef>
              <a:buFontTx/>
              <a:buNone/>
            </a:pPr>
            <a:r>
              <a:rPr lang="en-US" altLang="zh-CN" sz="2800">
                <a:latin typeface="Times New Roman" panose="02020603050405020304" pitchFamily="18" charset="0"/>
              </a:rPr>
              <a:t>6</a:t>
            </a:r>
          </a:p>
        </p:txBody>
      </p:sp>
      <p:sp>
        <p:nvSpPr>
          <p:cNvPr id="20576" name="Text Box 144">
            <a:extLst>
              <a:ext uri="{FF2B5EF4-FFF2-40B4-BE49-F238E27FC236}">
                <a16:creationId xmlns:a16="http://schemas.microsoft.com/office/drawing/2014/main" id="{992E9F98-C64E-43AC-820E-477ACB5550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5949950"/>
            <a:ext cx="14398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Times New Roman" panose="02020603050405020304" pitchFamily="18" charset="0"/>
              </a:rPr>
              <a:t>指令代码</a:t>
            </a:r>
          </a:p>
        </p:txBody>
      </p:sp>
      <p:sp>
        <p:nvSpPr>
          <p:cNvPr id="20577" name="AutoShape 145">
            <a:extLst>
              <a:ext uri="{FF2B5EF4-FFF2-40B4-BE49-F238E27FC236}">
                <a16:creationId xmlns:a16="http://schemas.microsoft.com/office/drawing/2014/main" id="{383859A0-2C3A-4330-B8DA-109F1B4DB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67175" y="5734050"/>
            <a:ext cx="1079500" cy="90488"/>
          </a:xfrm>
          <a:prstGeom prst="leftArrow">
            <a:avLst>
              <a:gd name="adj1" fmla="val 50000"/>
              <a:gd name="adj2" fmla="val 297250"/>
            </a:avLst>
          </a:prstGeom>
          <a:solidFill>
            <a:schemeClr val="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20578" name="AutoShape 146">
            <a:extLst>
              <a:ext uri="{FF2B5EF4-FFF2-40B4-BE49-F238E27FC236}">
                <a16:creationId xmlns:a16="http://schemas.microsoft.com/office/drawing/2014/main" id="{2269E15D-3947-4995-AAAF-73A54254608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92650" y="4652963"/>
            <a:ext cx="95250" cy="1084262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grpSp>
        <p:nvGrpSpPr>
          <p:cNvPr id="92207" name="组合 20578">
            <a:extLst>
              <a:ext uri="{FF2B5EF4-FFF2-40B4-BE49-F238E27FC236}">
                <a16:creationId xmlns:a16="http://schemas.microsoft.com/office/drawing/2014/main" id="{5E280409-779E-4D83-B2C1-E2AB9B0A6186}"/>
              </a:ext>
            </a:extLst>
          </p:cNvPr>
          <p:cNvGrpSpPr>
            <a:grpSpLocks/>
          </p:cNvGrpSpPr>
          <p:nvPr/>
        </p:nvGrpSpPr>
        <p:grpSpPr bwMode="auto">
          <a:xfrm>
            <a:off x="2089150" y="2492375"/>
            <a:ext cx="1438275" cy="2736850"/>
            <a:chOff x="0" y="0"/>
            <a:chExt cx="906" cy="1724"/>
          </a:xfrm>
        </p:grpSpPr>
        <p:sp>
          <p:nvSpPr>
            <p:cNvPr id="92210" name="Text Box 148">
              <a:extLst>
                <a:ext uri="{FF2B5EF4-FFF2-40B4-BE49-F238E27FC236}">
                  <a16:creationId xmlns:a16="http://schemas.microsoft.com/office/drawing/2014/main" id="{78CD3223-A5D4-473B-983A-41DFFE6338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" y="0"/>
              <a:ext cx="83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</a:rPr>
                <a:t>内存储器</a:t>
              </a:r>
            </a:p>
            <a:p>
              <a:pPr algn="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</a:rPr>
                <a:t>（程序段）</a:t>
              </a:r>
            </a:p>
          </p:txBody>
        </p:sp>
        <p:sp>
          <p:nvSpPr>
            <p:cNvPr id="92211" name="AutoShape 149">
              <a:extLst>
                <a:ext uri="{FF2B5EF4-FFF2-40B4-BE49-F238E27FC236}">
                  <a16:creationId xmlns:a16="http://schemas.microsoft.com/office/drawing/2014/main" id="{1A9B2675-C2AA-4EFC-AE64-2CF11D4CF1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5" y="474"/>
              <a:ext cx="399" cy="1250"/>
            </a:xfrm>
            <a:prstGeom prst="flowChartDocumen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2212" name="Text Box 150">
              <a:extLst>
                <a:ext uri="{FF2B5EF4-FFF2-40B4-BE49-F238E27FC236}">
                  <a16:creationId xmlns:a16="http://schemas.microsoft.com/office/drawing/2014/main" id="{D82D5557-4C38-4425-B103-B696C19AA9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473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B0H</a:t>
              </a:r>
            </a:p>
          </p:txBody>
        </p:sp>
        <p:sp>
          <p:nvSpPr>
            <p:cNvPr id="92213" name="Text Box 151">
              <a:extLst>
                <a:ext uri="{FF2B5EF4-FFF2-40B4-BE49-F238E27FC236}">
                  <a16:creationId xmlns:a16="http://schemas.microsoft.com/office/drawing/2014/main" id="{6A76911C-9FCB-48C7-9BB9-6F88651EC0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637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FF66CC"/>
                  </a:solidFill>
                  <a:latin typeface="Times New Roman" panose="02020603050405020304" pitchFamily="18" charset="0"/>
                </a:rPr>
                <a:t>5CH</a:t>
              </a:r>
            </a:p>
          </p:txBody>
        </p:sp>
        <p:sp>
          <p:nvSpPr>
            <p:cNvPr id="92214" name="Text Box 152">
              <a:extLst>
                <a:ext uri="{FF2B5EF4-FFF2-40B4-BE49-F238E27FC236}">
                  <a16:creationId xmlns:a16="http://schemas.microsoft.com/office/drawing/2014/main" id="{BAD97126-09F2-4104-A7BB-037FEEA158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9" y="309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</a:rPr>
                <a:t>地址</a:t>
              </a:r>
            </a:p>
          </p:txBody>
        </p:sp>
        <p:sp>
          <p:nvSpPr>
            <p:cNvPr id="92215" name="Text Box 153">
              <a:extLst>
                <a:ext uri="{FF2B5EF4-FFF2-40B4-BE49-F238E27FC236}">
                  <a16:creationId xmlns:a16="http://schemas.microsoft.com/office/drawing/2014/main" id="{D3AC85CF-7617-4CBF-A4F8-E27DA03D3C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642"/>
              <a:ext cx="444" cy="1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01001H</a:t>
              </a:r>
            </a:p>
          </p:txBody>
        </p:sp>
        <p:sp>
          <p:nvSpPr>
            <p:cNvPr id="92216" name="Text Box 154">
              <a:extLst>
                <a:ext uri="{FF2B5EF4-FFF2-40B4-BE49-F238E27FC236}">
                  <a16:creationId xmlns:a16="http://schemas.microsoft.com/office/drawing/2014/main" id="{F1A52D2F-EB2F-4FE8-9B90-0D4CA7D1F2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780"/>
              <a:ext cx="444" cy="1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01002H</a:t>
              </a:r>
            </a:p>
          </p:txBody>
        </p:sp>
        <p:sp>
          <p:nvSpPr>
            <p:cNvPr id="92217" name="Text Box 155">
              <a:extLst>
                <a:ext uri="{FF2B5EF4-FFF2-40B4-BE49-F238E27FC236}">
                  <a16:creationId xmlns:a16="http://schemas.microsoft.com/office/drawing/2014/main" id="{33EA9E2A-CA21-43E5-8034-73BAEF56A8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1004"/>
              <a:ext cx="490" cy="1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01003H</a:t>
              </a:r>
            </a:p>
          </p:txBody>
        </p:sp>
        <p:sp>
          <p:nvSpPr>
            <p:cNvPr id="92218" name="Text Box 156">
              <a:extLst>
                <a:ext uri="{FF2B5EF4-FFF2-40B4-BE49-F238E27FC236}">
                  <a16:creationId xmlns:a16="http://schemas.microsoft.com/office/drawing/2014/main" id="{95DD6335-4D06-40DA-8C96-B50443CA75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9" y="298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</a:rPr>
                <a:t>内容</a:t>
              </a:r>
            </a:p>
          </p:txBody>
        </p:sp>
        <p:sp>
          <p:nvSpPr>
            <p:cNvPr id="92219" name="Text Box 157">
              <a:extLst>
                <a:ext uri="{FF2B5EF4-FFF2-40B4-BE49-F238E27FC236}">
                  <a16:creationId xmlns:a16="http://schemas.microsoft.com/office/drawing/2014/main" id="{3D0213DA-0813-4A18-BAFC-7E4FE7845BE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473"/>
              <a:ext cx="444" cy="1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01000H</a:t>
              </a:r>
            </a:p>
          </p:txBody>
        </p:sp>
        <p:sp>
          <p:nvSpPr>
            <p:cNvPr id="92220" name="Text Box 158">
              <a:extLst>
                <a:ext uri="{FF2B5EF4-FFF2-40B4-BE49-F238E27FC236}">
                  <a16:creationId xmlns:a16="http://schemas.microsoft.com/office/drawing/2014/main" id="{650F9ADE-5553-433B-B625-053EE78790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799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02H</a:t>
              </a:r>
            </a:p>
          </p:txBody>
        </p:sp>
        <p:sp>
          <p:nvSpPr>
            <p:cNvPr id="92221" name="Text Box 159">
              <a:extLst>
                <a:ext uri="{FF2B5EF4-FFF2-40B4-BE49-F238E27FC236}">
                  <a16:creationId xmlns:a16="http://schemas.microsoft.com/office/drawing/2014/main" id="{A92D7CA4-7E36-4280-A0DE-482B38B348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967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rgbClr val="FF3300"/>
                  </a:solidFill>
                  <a:latin typeface="Times New Roman" panose="02020603050405020304" pitchFamily="18" charset="0"/>
                </a:rPr>
                <a:t>06H</a:t>
              </a:r>
            </a:p>
          </p:txBody>
        </p:sp>
        <p:sp>
          <p:nvSpPr>
            <p:cNvPr id="92222" name="Text Box 160">
              <a:extLst>
                <a:ext uri="{FF2B5EF4-FFF2-40B4-BE49-F238E27FC236}">
                  <a16:creationId xmlns:a16="http://schemas.microsoft.com/office/drawing/2014/main" id="{C5CCCFE3-8C6F-4F01-8893-D40CD814A8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1132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00H</a:t>
              </a:r>
            </a:p>
          </p:txBody>
        </p:sp>
        <p:sp>
          <p:nvSpPr>
            <p:cNvPr id="92223" name="Text Box 161">
              <a:extLst>
                <a:ext uri="{FF2B5EF4-FFF2-40B4-BE49-F238E27FC236}">
                  <a16:creationId xmlns:a16="http://schemas.microsoft.com/office/drawing/2014/main" id="{5D9956C6-C047-494C-8656-507D1B7BE2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" y="1295"/>
              <a:ext cx="399" cy="16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01H</a:t>
              </a:r>
            </a:p>
          </p:txBody>
        </p:sp>
        <p:sp>
          <p:nvSpPr>
            <p:cNvPr id="92224" name="Text Box 162">
              <a:extLst>
                <a:ext uri="{FF2B5EF4-FFF2-40B4-BE49-F238E27FC236}">
                  <a16:creationId xmlns:a16="http://schemas.microsoft.com/office/drawing/2014/main" id="{E4830895-F519-4A42-9942-95FE4E28A28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1165"/>
              <a:ext cx="442" cy="1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01004H</a:t>
              </a:r>
            </a:p>
          </p:txBody>
        </p:sp>
        <p:sp>
          <p:nvSpPr>
            <p:cNvPr id="92225" name="Text Box 163">
              <a:extLst>
                <a:ext uri="{FF2B5EF4-FFF2-40B4-BE49-F238E27FC236}">
                  <a16:creationId xmlns:a16="http://schemas.microsoft.com/office/drawing/2014/main" id="{05C8F24F-A867-4F76-83C4-C619105261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" y="1298"/>
              <a:ext cx="440" cy="1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01005H</a:t>
              </a:r>
            </a:p>
          </p:txBody>
        </p:sp>
      </p:grpSp>
      <p:sp>
        <p:nvSpPr>
          <p:cNvPr id="92208" name="未知">
            <a:extLst>
              <a:ext uri="{FF2B5EF4-FFF2-40B4-BE49-F238E27FC236}">
                <a16:creationId xmlns:a16="http://schemas.microsoft.com/office/drawing/2014/main" id="{5C5861DE-2958-4D18-A67F-CA16B10E4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84438" y="3154363"/>
            <a:ext cx="1571625" cy="3167062"/>
          </a:xfrm>
          <a:custGeom>
            <a:avLst/>
            <a:gdLst>
              <a:gd name="T0" fmla="*/ 0 w 1081"/>
              <a:gd name="T1" fmla="*/ 2147483646 h 1995"/>
              <a:gd name="T2" fmla="*/ 2147483646 w 1081"/>
              <a:gd name="T3" fmla="*/ 2147483646 h 1995"/>
              <a:gd name="T4" fmla="*/ 2147483646 w 1081"/>
              <a:gd name="T5" fmla="*/ 2147483646 h 1995"/>
              <a:gd name="T6" fmla="*/ 2147483646 w 1081"/>
              <a:gd name="T7" fmla="*/ 2147483646 h 1995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081" h="1995">
                <a:moveTo>
                  <a:pt x="0" y="1942"/>
                </a:moveTo>
                <a:cubicBezTo>
                  <a:pt x="366" y="1968"/>
                  <a:pt x="733" y="1995"/>
                  <a:pt x="907" y="1715"/>
                </a:cubicBezTo>
                <a:cubicBezTo>
                  <a:pt x="1081" y="1435"/>
                  <a:pt x="1073" y="528"/>
                  <a:pt x="1043" y="264"/>
                </a:cubicBezTo>
                <a:cubicBezTo>
                  <a:pt x="1013" y="0"/>
                  <a:pt x="779" y="151"/>
                  <a:pt x="726" y="128"/>
                </a:cubicBezTo>
              </a:path>
            </a:pathLst>
          </a:custGeom>
          <a:noFill/>
          <a:ln w="22225">
            <a:solidFill>
              <a:schemeClr val="tx1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1185" name="灯片编号占位符 1">
            <a:extLst>
              <a:ext uri="{FF2B5EF4-FFF2-40B4-BE49-F238E27FC236}">
                <a16:creationId xmlns:a16="http://schemas.microsoft.com/office/drawing/2014/main" id="{8C4C00E5-F3FF-498D-A0F0-03652605F7F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7200" y="6245225"/>
            <a:ext cx="2133600" cy="476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  <a:defRPr/>
            </a:pPr>
            <a:fld id="{D4FF6E69-1287-40A3-BEDD-6CE40B3763EF}" type="slidenum">
              <a:rPr altLang="en-US" sz="1400" smtClean="0">
                <a:latin typeface="Garamond" panose="02020404030301010803" pitchFamily="18" charset="0"/>
              </a:rPr>
              <a:pPr algn="l">
                <a:spcBef>
                  <a:spcPct val="0"/>
                </a:spcBef>
                <a:buFontTx/>
                <a:buNone/>
                <a:defRPr/>
              </a:pPr>
              <a:t>40</a:t>
            </a:fld>
            <a:endParaRPr lang="zh-CN" altLang="en-US" sz="1400">
              <a:latin typeface="Garamond" panose="02020404030301010803" pitchFamily="18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0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054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054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055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056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056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056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056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0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2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5" dur="500"/>
                                        <p:tgtEl>
                                          <p:spTgt spid="20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7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9" dur="500"/>
                                        <p:tgtEl>
                                          <p:spTgt spid="20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1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20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0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1" dur="500"/>
                                        <p:tgtEl>
                                          <p:spTgt spid="20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86" dur="500"/>
                                        <p:tgtEl>
                                          <p:spTgt spid="20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1" dur="500"/>
                                        <p:tgtEl>
                                          <p:spTgt spid="20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42" grpId="0" animBg="1"/>
      <p:bldP spid="20543" grpId="0" animBg="1"/>
      <p:bldP spid="20560" grpId="0" animBg="1"/>
      <p:bldP spid="20567" grpId="0" animBg="1"/>
      <p:bldP spid="20568" grpId="0" animBg="1"/>
      <p:bldP spid="20570" grpId="0" animBg="1"/>
      <p:bldP spid="20571" grpId="0" animBg="1"/>
      <p:bldP spid="20572" grpId="0" animBg="1"/>
      <p:bldP spid="20573" grpId="0" animBg="1"/>
      <p:bldP spid="20574" grpId="0" animBg="1"/>
      <p:bldP spid="20575" grpId="0" animBg="1"/>
      <p:bldP spid="20576" grpId="0"/>
      <p:bldP spid="20577" grpId="0" animBg="1"/>
      <p:bldP spid="2057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186" name="组合 21505">
            <a:extLst>
              <a:ext uri="{FF2B5EF4-FFF2-40B4-BE49-F238E27FC236}">
                <a16:creationId xmlns:a16="http://schemas.microsoft.com/office/drawing/2014/main" id="{AC3FD86A-223F-4EC4-95FB-FFBBB50BA22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92775" y="3160713"/>
            <a:ext cx="1066800" cy="1395412"/>
            <a:chOff x="0" y="0"/>
            <a:chExt cx="672" cy="879"/>
          </a:xfrm>
        </p:grpSpPr>
        <p:sp>
          <p:nvSpPr>
            <p:cNvPr id="93297" name="AutoShape 51">
              <a:extLst>
                <a:ext uri="{FF2B5EF4-FFF2-40B4-BE49-F238E27FC236}">
                  <a16:creationId xmlns:a16="http://schemas.microsoft.com/office/drawing/2014/main" id="{978A79E9-83EB-48DB-8490-928920E5C74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336"/>
              <a:ext cx="144" cy="543"/>
            </a:xfrm>
            <a:prstGeom prst="upDownArrow">
              <a:avLst>
                <a:gd name="adj1" fmla="val 50000"/>
                <a:gd name="adj2" fmla="val 75102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3298" name="AutoShape 52">
              <a:extLst>
                <a:ext uri="{FF2B5EF4-FFF2-40B4-BE49-F238E27FC236}">
                  <a16:creationId xmlns:a16="http://schemas.microsoft.com/office/drawing/2014/main" id="{4F036B0A-95E4-4A10-B928-31E919B6112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" y="0"/>
              <a:ext cx="144" cy="879"/>
            </a:xfrm>
            <a:prstGeom prst="upDownArrow">
              <a:avLst>
                <a:gd name="adj1" fmla="val 50000"/>
                <a:gd name="adj2" fmla="val 121575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grpSp>
        <p:nvGrpSpPr>
          <p:cNvPr id="21509" name="组合 21508">
            <a:extLst>
              <a:ext uri="{FF2B5EF4-FFF2-40B4-BE49-F238E27FC236}">
                <a16:creationId xmlns:a16="http://schemas.microsoft.com/office/drawing/2014/main" id="{6C5BECC1-A325-4089-961D-23C42DAC0716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699125" y="3160713"/>
            <a:ext cx="1066800" cy="1395412"/>
            <a:chOff x="0" y="0"/>
            <a:chExt cx="672" cy="879"/>
          </a:xfrm>
        </p:grpSpPr>
        <p:sp>
          <p:nvSpPr>
            <p:cNvPr id="93295" name="AutoShape 136">
              <a:extLst>
                <a:ext uri="{FF2B5EF4-FFF2-40B4-BE49-F238E27FC236}">
                  <a16:creationId xmlns:a16="http://schemas.microsoft.com/office/drawing/2014/main" id="{8E215DB9-817F-43EB-B308-46A7D92B03F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0" y="336"/>
              <a:ext cx="144" cy="543"/>
            </a:xfrm>
            <a:prstGeom prst="upDownArrow">
              <a:avLst>
                <a:gd name="adj1" fmla="val 50000"/>
                <a:gd name="adj2" fmla="val 75102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3296" name="AutoShape 137">
              <a:extLst>
                <a:ext uri="{FF2B5EF4-FFF2-40B4-BE49-F238E27FC236}">
                  <a16:creationId xmlns:a16="http://schemas.microsoft.com/office/drawing/2014/main" id="{F5A78103-6A88-4FE0-A14A-4BC01CCB65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28" y="0"/>
              <a:ext cx="144" cy="879"/>
            </a:xfrm>
            <a:prstGeom prst="upDownArrow">
              <a:avLst>
                <a:gd name="adj1" fmla="val 50000"/>
                <a:gd name="adj2" fmla="val 121575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sp>
        <p:nvSpPr>
          <p:cNvPr id="93188" name="AutoShape 130">
            <a:extLst>
              <a:ext uri="{FF2B5EF4-FFF2-40B4-BE49-F238E27FC236}">
                <a16:creationId xmlns:a16="http://schemas.microsoft.com/office/drawing/2014/main" id="{EC66B2D1-3D31-41D0-B08E-915DE5E08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276475"/>
            <a:ext cx="1474787" cy="234950"/>
          </a:xfrm>
          <a:prstGeom prst="leftRightArrow">
            <a:avLst>
              <a:gd name="adj1" fmla="val 50000"/>
              <a:gd name="adj2" fmla="val 125017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solidFill>
                <a:srgbClr val="FF3300"/>
              </a:solidFill>
              <a:latin typeface="Garamond" panose="02020404030301010803" pitchFamily="18" charset="0"/>
            </a:endParaRPr>
          </a:p>
        </p:txBody>
      </p:sp>
      <p:sp>
        <p:nvSpPr>
          <p:cNvPr id="21513" name="AutoShape 111">
            <a:extLst>
              <a:ext uri="{FF2B5EF4-FFF2-40B4-BE49-F238E27FC236}">
                <a16:creationId xmlns:a16="http://schemas.microsoft.com/office/drawing/2014/main" id="{FE6D3A45-8698-435E-86BD-C5C3B9C5F28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81538" y="4662488"/>
            <a:ext cx="95250" cy="1084262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66FF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3190" name="Line 2">
            <a:extLst>
              <a:ext uri="{FF2B5EF4-FFF2-40B4-BE49-F238E27FC236}">
                <a16:creationId xmlns:a16="http://schemas.microsoft.com/office/drawing/2014/main" id="{88BD89AD-46AD-4682-B592-6A0019CC7D4B}"/>
              </a:ext>
            </a:extLst>
          </p:cNvPr>
          <p:cNvSpPr>
            <a:spLocks noChangeShapeType="1"/>
          </p:cNvSpPr>
          <p:nvPr/>
        </p:nvSpPr>
        <p:spPr bwMode="auto">
          <a:xfrm>
            <a:off x="9036050" y="984250"/>
            <a:ext cx="0" cy="5757863"/>
          </a:xfrm>
          <a:prstGeom prst="line">
            <a:avLst/>
          </a:prstGeom>
          <a:noFill/>
          <a:ln w="38100">
            <a:solidFill>
              <a:srgbClr val="FF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191" name="Text Box 3">
            <a:extLst>
              <a:ext uri="{FF2B5EF4-FFF2-40B4-BE49-F238E27FC236}">
                <a16:creationId xmlns:a16="http://schemas.microsoft.com/office/drawing/2014/main" id="{B34F8224-4672-4C7C-ADA0-8E03993783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6875" y="260350"/>
            <a:ext cx="62785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b="1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(2)</a:t>
            </a:r>
            <a:r>
              <a:rPr lang="zh-CN" altLang="en-US" b="1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总线接口部件的操作</a:t>
            </a:r>
            <a:r>
              <a:rPr lang="en-US" altLang="zh-CN" b="1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--</a:t>
            </a:r>
            <a:r>
              <a:rPr lang="zh-CN" altLang="en-US" b="1">
                <a:solidFill>
                  <a:schemeClr val="bg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读数据 </a:t>
            </a:r>
          </a:p>
        </p:txBody>
      </p:sp>
      <p:sp>
        <p:nvSpPr>
          <p:cNvPr id="93192" name="AutoShape 4">
            <a:extLst>
              <a:ext uri="{FF2B5EF4-FFF2-40B4-BE49-F238E27FC236}">
                <a16:creationId xmlns:a16="http://schemas.microsoft.com/office/drawing/2014/main" id="{04358B9B-A977-422A-91E6-E06DE9569F2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683125" y="4667250"/>
            <a:ext cx="95250" cy="1084263"/>
          </a:xfrm>
          <a:prstGeom prst="upArrow">
            <a:avLst>
              <a:gd name="adj1" fmla="val 50000"/>
              <a:gd name="adj2" fmla="val 283635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eaVert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3193" name="Text Box 5">
            <a:extLst>
              <a:ext uri="{FF2B5EF4-FFF2-40B4-BE49-F238E27FC236}">
                <a16:creationId xmlns:a16="http://schemas.microsoft.com/office/drawing/2014/main" id="{520B527E-0B5A-4ABF-A58F-87B7DDE5954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91475" y="1327150"/>
            <a:ext cx="388938" cy="5081588"/>
          </a:xfrm>
          <a:prstGeom prst="rect">
            <a:avLst/>
          </a:prstGeom>
          <a:noFill/>
          <a:ln w="2857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9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93194" name="组合 21517">
            <a:extLst>
              <a:ext uri="{FF2B5EF4-FFF2-40B4-BE49-F238E27FC236}">
                <a16:creationId xmlns:a16="http://schemas.microsoft.com/office/drawing/2014/main" id="{1BEDE80D-AEBE-4017-B9A1-39911A39539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6225" y="1898650"/>
            <a:ext cx="1336675" cy="441325"/>
            <a:chOff x="0" y="0"/>
            <a:chExt cx="842" cy="278"/>
          </a:xfrm>
        </p:grpSpPr>
        <p:sp>
          <p:nvSpPr>
            <p:cNvPr id="93286" name="Line 7">
              <a:extLst>
                <a:ext uri="{FF2B5EF4-FFF2-40B4-BE49-F238E27FC236}">
                  <a16:creationId xmlns:a16="http://schemas.microsoft.com/office/drawing/2014/main" id="{72EA424C-F4CE-44C3-80DF-77E61FE22A2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87" name="Line 8">
              <a:extLst>
                <a:ext uri="{FF2B5EF4-FFF2-40B4-BE49-F238E27FC236}">
                  <a16:creationId xmlns:a16="http://schemas.microsoft.com/office/drawing/2014/main" id="{4B721123-48EF-45EA-8FF4-A884F337C39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88" name="Line 9">
              <a:extLst>
                <a:ext uri="{FF2B5EF4-FFF2-40B4-BE49-F238E27FC236}">
                  <a16:creationId xmlns:a16="http://schemas.microsoft.com/office/drawing/2014/main" id="{61A2301D-63B3-4A1B-9B74-BA5B28A8655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89" name="Line 10">
              <a:extLst>
                <a:ext uri="{FF2B5EF4-FFF2-40B4-BE49-F238E27FC236}">
                  <a16:creationId xmlns:a16="http://schemas.microsoft.com/office/drawing/2014/main" id="{B7436E1A-8DAF-482E-A229-EFD379A733A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90" name="Line 11">
              <a:extLst>
                <a:ext uri="{FF2B5EF4-FFF2-40B4-BE49-F238E27FC236}">
                  <a16:creationId xmlns:a16="http://schemas.microsoft.com/office/drawing/2014/main" id="{4FA3C54E-4C4A-4F29-B3AD-45CA0508480C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91" name="Line 12">
              <a:extLst>
                <a:ext uri="{FF2B5EF4-FFF2-40B4-BE49-F238E27FC236}">
                  <a16:creationId xmlns:a16="http://schemas.microsoft.com/office/drawing/2014/main" id="{0B688EA6-88C4-438F-A5B8-527DFE0BFA2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92" name="Line 13">
              <a:extLst>
                <a:ext uri="{FF2B5EF4-FFF2-40B4-BE49-F238E27FC236}">
                  <a16:creationId xmlns:a16="http://schemas.microsoft.com/office/drawing/2014/main" id="{C1661FDD-3017-4864-849C-5B940F271F9E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93" name="Line 14">
              <a:extLst>
                <a:ext uri="{FF2B5EF4-FFF2-40B4-BE49-F238E27FC236}">
                  <a16:creationId xmlns:a16="http://schemas.microsoft.com/office/drawing/2014/main" id="{B6E309AA-B552-4FBF-8FAF-150B43F3270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94" name="Text Box 15">
              <a:extLst>
                <a:ext uri="{FF2B5EF4-FFF2-40B4-BE49-F238E27FC236}">
                  <a16:creationId xmlns:a16="http://schemas.microsoft.com/office/drawing/2014/main" id="{6DB38C58-F977-4C51-B3CA-E23A4943BBC3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400" b="1"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sp>
        <p:nvSpPr>
          <p:cNvPr id="93195" name="Text Box 16">
            <a:extLst>
              <a:ext uri="{FF2B5EF4-FFF2-40B4-BE49-F238E27FC236}">
                <a16:creationId xmlns:a16="http://schemas.microsoft.com/office/drawing/2014/main" id="{DE096D81-C5AF-41D8-BDAE-6FF7ADA182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84888" y="838200"/>
            <a:ext cx="1584325" cy="62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20</a:t>
            </a:r>
            <a:r>
              <a:rPr lang="zh-CN" altLang="en-US" sz="2000" b="1">
                <a:solidFill>
                  <a:srgbClr val="FF3300"/>
                </a:solidFill>
                <a:latin typeface="Times New Roman" panose="02020603050405020304" pitchFamily="18" charset="0"/>
              </a:rPr>
              <a:t>位地址总线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(</a:t>
            </a:r>
            <a:r>
              <a:rPr lang="zh-CN" altLang="en-US" sz="2000" b="1">
                <a:solidFill>
                  <a:srgbClr val="FF3300"/>
                </a:solidFill>
                <a:latin typeface="Times New Roman" panose="02020603050405020304" pitchFamily="18" charset="0"/>
              </a:rPr>
              <a:t>物理地址</a:t>
            </a:r>
            <a:r>
              <a:rPr lang="en-US" altLang="zh-CN" sz="2000" b="1">
                <a:solidFill>
                  <a:srgbClr val="FF3300"/>
                </a:solidFill>
                <a:latin typeface="Times New Roman" panose="02020603050405020304" pitchFamily="18" charset="0"/>
              </a:rPr>
              <a:t>)</a:t>
            </a:r>
          </a:p>
        </p:txBody>
      </p:sp>
      <p:sp>
        <p:nvSpPr>
          <p:cNvPr id="21529" name="AutoShape 17">
            <a:extLst>
              <a:ext uri="{FF2B5EF4-FFF2-40B4-BE49-F238E27FC236}">
                <a16:creationId xmlns:a16="http://schemas.microsoft.com/office/drawing/2014/main" id="{D3A164B3-1329-4D33-A387-CFA89BADA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2276475"/>
            <a:ext cx="1474787" cy="234950"/>
          </a:xfrm>
          <a:prstGeom prst="leftRightArrow">
            <a:avLst>
              <a:gd name="adj1" fmla="val 50000"/>
              <a:gd name="adj2" fmla="val 125017"/>
            </a:avLst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3197" name="Text Box 18">
            <a:extLst>
              <a:ext uri="{FF2B5EF4-FFF2-40B4-BE49-F238E27FC236}">
                <a16:creationId xmlns:a16="http://schemas.microsoft.com/office/drawing/2014/main" id="{97273D95-ABF3-4489-B50B-8FB2B8EBBFA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164388" y="2636838"/>
            <a:ext cx="469900" cy="172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16</a:t>
            </a:r>
            <a:r>
              <a:rPr lang="zh-CN" altLang="en-US" sz="2000" b="1">
                <a:latin typeface="Times New Roman" panose="02020603050405020304" pitchFamily="18" charset="0"/>
              </a:rPr>
              <a:t>位数据总线</a:t>
            </a:r>
          </a:p>
        </p:txBody>
      </p:sp>
      <p:sp>
        <p:nvSpPr>
          <p:cNvPr id="93198" name="AutoShape 19">
            <a:extLst>
              <a:ext uri="{FF2B5EF4-FFF2-40B4-BE49-F238E27FC236}">
                <a16:creationId xmlns:a16="http://schemas.microsoft.com/office/drawing/2014/main" id="{EC88F6BD-FBEF-43E2-87AF-D34A37332B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89725" y="5672138"/>
            <a:ext cx="1270000" cy="198437"/>
          </a:xfrm>
          <a:prstGeom prst="leftArrow">
            <a:avLst>
              <a:gd name="adj1" fmla="val 50000"/>
              <a:gd name="adj2" fmla="val 159467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grpSp>
        <p:nvGrpSpPr>
          <p:cNvPr id="93199" name="组合 21531">
            <a:extLst>
              <a:ext uri="{FF2B5EF4-FFF2-40B4-BE49-F238E27FC236}">
                <a16:creationId xmlns:a16="http://schemas.microsoft.com/office/drawing/2014/main" id="{56FEB1D6-6E65-4E25-B515-F38E2861E399}"/>
              </a:ext>
            </a:extLst>
          </p:cNvPr>
          <p:cNvGrpSpPr>
            <a:grpSpLocks/>
          </p:cNvGrpSpPr>
          <p:nvPr/>
        </p:nvGrpSpPr>
        <p:grpSpPr bwMode="auto">
          <a:xfrm>
            <a:off x="5480050" y="2295525"/>
            <a:ext cx="1111250" cy="230188"/>
            <a:chOff x="0" y="0"/>
            <a:chExt cx="700" cy="145"/>
          </a:xfrm>
        </p:grpSpPr>
        <p:sp>
          <p:nvSpPr>
            <p:cNvPr id="93284" name="AutoShape 21">
              <a:extLst>
                <a:ext uri="{FF2B5EF4-FFF2-40B4-BE49-F238E27FC236}">
                  <a16:creationId xmlns:a16="http://schemas.microsoft.com/office/drawing/2014/main" id="{9DB78780-AD44-48A0-93F4-B9653489FCD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3285" name="AutoShape 22">
              <a:extLst>
                <a:ext uri="{FF2B5EF4-FFF2-40B4-BE49-F238E27FC236}">
                  <a16:creationId xmlns:a16="http://schemas.microsoft.com/office/drawing/2014/main" id="{C7450E25-9D34-4F7D-91E1-7251E0E06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sp>
        <p:nvSpPr>
          <p:cNvPr id="93200" name="Text Box 23">
            <a:extLst>
              <a:ext uri="{FF2B5EF4-FFF2-40B4-BE49-F238E27FC236}">
                <a16:creationId xmlns:a16="http://schemas.microsoft.com/office/drawing/2014/main" id="{FEAEA028-F5F5-497B-B413-2D2B1F11F93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4622800" y="1604963"/>
            <a:ext cx="471488" cy="1992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tx2"/>
                </a:solidFill>
                <a:latin typeface="Times New Roman" panose="02020603050405020304" pitchFamily="18" charset="0"/>
              </a:rPr>
              <a:t>总线接口部件</a:t>
            </a:r>
            <a:r>
              <a:rPr lang="en-US" altLang="zh-CN" sz="2000" b="1">
                <a:solidFill>
                  <a:schemeClr val="tx2"/>
                </a:solidFill>
                <a:latin typeface="Times New Roman" panose="02020603050405020304" pitchFamily="18" charset="0"/>
              </a:rPr>
              <a:t>BIU</a:t>
            </a:r>
          </a:p>
        </p:txBody>
      </p:sp>
      <p:grpSp>
        <p:nvGrpSpPr>
          <p:cNvPr id="93201" name="组合 21535">
            <a:extLst>
              <a:ext uri="{FF2B5EF4-FFF2-40B4-BE49-F238E27FC236}">
                <a16:creationId xmlns:a16="http://schemas.microsoft.com/office/drawing/2014/main" id="{D2EB252C-0D83-44F6-9863-8396D8DC50E9}"/>
              </a:ext>
            </a:extLst>
          </p:cNvPr>
          <p:cNvGrpSpPr>
            <a:grpSpLocks/>
          </p:cNvGrpSpPr>
          <p:nvPr/>
        </p:nvGrpSpPr>
        <p:grpSpPr bwMode="auto">
          <a:xfrm>
            <a:off x="5145088" y="5229225"/>
            <a:ext cx="1554162" cy="733425"/>
            <a:chOff x="0" y="0"/>
            <a:chExt cx="979" cy="462"/>
          </a:xfrm>
        </p:grpSpPr>
        <p:sp>
          <p:nvSpPr>
            <p:cNvPr id="93277" name="Text Box 25">
              <a:extLst>
                <a:ext uri="{FF2B5EF4-FFF2-40B4-BE49-F238E27FC236}">
                  <a16:creationId xmlns:a16="http://schemas.microsoft.com/office/drawing/2014/main" id="{E21ADBE7-C620-4D9D-923C-8A969C9C8E6A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237"/>
              <a:ext cx="979" cy="225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en-US" altLang="zh-CN" sz="2800">
                  <a:latin typeface="Times New Roman" panose="02020603050405020304" pitchFamily="18" charset="0"/>
                </a:rPr>
                <a:t>1 2 3 4 5 6</a:t>
              </a:r>
            </a:p>
          </p:txBody>
        </p:sp>
        <p:sp>
          <p:nvSpPr>
            <p:cNvPr id="93278" name="Text Box 26">
              <a:extLst>
                <a:ext uri="{FF2B5EF4-FFF2-40B4-BE49-F238E27FC236}">
                  <a16:creationId xmlns:a16="http://schemas.microsoft.com/office/drawing/2014/main" id="{F50866DE-65D1-4BC8-AC47-1FD020005FDC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70" y="0"/>
              <a:ext cx="889" cy="2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2400" b="1">
                  <a:latin typeface="Times New Roman" panose="02020603050405020304" pitchFamily="18" charset="0"/>
                </a:rPr>
                <a:t>指令队列</a:t>
              </a:r>
            </a:p>
          </p:txBody>
        </p:sp>
        <p:sp>
          <p:nvSpPr>
            <p:cNvPr id="93279" name="Line 27">
              <a:extLst>
                <a:ext uri="{FF2B5EF4-FFF2-40B4-BE49-F238E27FC236}">
                  <a16:creationId xmlns:a16="http://schemas.microsoft.com/office/drawing/2014/main" id="{F5D7F5F9-B949-4DEB-9E17-86C83CCE56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8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80" name="Line 28">
              <a:extLst>
                <a:ext uri="{FF2B5EF4-FFF2-40B4-BE49-F238E27FC236}">
                  <a16:creationId xmlns:a16="http://schemas.microsoft.com/office/drawing/2014/main" id="{62A95E05-45E2-46E5-9FE5-82EAD2A99B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3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81" name="Line 29">
              <a:extLst>
                <a:ext uri="{FF2B5EF4-FFF2-40B4-BE49-F238E27FC236}">
                  <a16:creationId xmlns:a16="http://schemas.microsoft.com/office/drawing/2014/main" id="{DC2EE573-B809-410A-AF70-E610DE5DE0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82" name="Line 30">
              <a:extLst>
                <a:ext uri="{FF2B5EF4-FFF2-40B4-BE49-F238E27FC236}">
                  <a16:creationId xmlns:a16="http://schemas.microsoft.com/office/drawing/2014/main" id="{0B999DC9-2FFC-47E5-85B2-20CC4F2732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1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83" name="Line 31">
              <a:extLst>
                <a:ext uri="{FF2B5EF4-FFF2-40B4-BE49-F238E27FC236}">
                  <a16:creationId xmlns:a16="http://schemas.microsoft.com/office/drawing/2014/main" id="{5EDA69AF-A4E4-4222-8293-100C94C512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05" y="236"/>
              <a:ext cx="0" cy="2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3202" name="组合 21543">
            <a:extLst>
              <a:ext uri="{FF2B5EF4-FFF2-40B4-BE49-F238E27FC236}">
                <a16:creationId xmlns:a16="http://schemas.microsoft.com/office/drawing/2014/main" id="{97BEF33A-5B44-4CDA-BEF4-390C004137AF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2543175"/>
            <a:ext cx="895350" cy="1074738"/>
            <a:chOff x="0" y="0"/>
            <a:chExt cx="564" cy="677"/>
          </a:xfrm>
        </p:grpSpPr>
        <p:sp>
          <p:nvSpPr>
            <p:cNvPr id="93273" name="Text Box 33">
              <a:extLst>
                <a:ext uri="{FF2B5EF4-FFF2-40B4-BE49-F238E27FC236}">
                  <a16:creationId xmlns:a16="http://schemas.microsoft.com/office/drawing/2014/main" id="{BBD75530-B9EE-42BA-A57F-FEED0E15999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677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CS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DS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SS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ES</a:t>
              </a:r>
            </a:p>
          </p:txBody>
        </p:sp>
        <p:sp>
          <p:nvSpPr>
            <p:cNvPr id="93274" name="Line 34">
              <a:extLst>
                <a:ext uri="{FF2B5EF4-FFF2-40B4-BE49-F238E27FC236}">
                  <a16:creationId xmlns:a16="http://schemas.microsoft.com/office/drawing/2014/main" id="{92EF2FAE-7326-499C-B083-FCED32529F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2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75" name="Line 35">
              <a:extLst>
                <a:ext uri="{FF2B5EF4-FFF2-40B4-BE49-F238E27FC236}">
                  <a16:creationId xmlns:a16="http://schemas.microsoft.com/office/drawing/2014/main" id="{2A325F6E-FB6B-424B-BC12-FE2E4EBFA7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355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76" name="Line 36">
              <a:extLst>
                <a:ext uri="{FF2B5EF4-FFF2-40B4-BE49-F238E27FC236}">
                  <a16:creationId xmlns:a16="http://schemas.microsoft.com/office/drawing/2014/main" id="{08B95369-5E1B-4CA1-B15E-EFE9F7C7687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51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3203" name="组合 21548">
            <a:extLst>
              <a:ext uri="{FF2B5EF4-FFF2-40B4-BE49-F238E27FC236}">
                <a16:creationId xmlns:a16="http://schemas.microsoft.com/office/drawing/2014/main" id="{FBF8A350-18EB-46A5-8F86-666DF4036858}"/>
              </a:ext>
            </a:extLst>
          </p:cNvPr>
          <p:cNvGrpSpPr>
            <a:grpSpLocks/>
          </p:cNvGrpSpPr>
          <p:nvPr/>
        </p:nvGrpSpPr>
        <p:grpSpPr bwMode="auto">
          <a:xfrm>
            <a:off x="6002338" y="1293813"/>
            <a:ext cx="2009775" cy="579437"/>
            <a:chOff x="0" y="0"/>
            <a:chExt cx="1266" cy="365"/>
          </a:xfrm>
        </p:grpSpPr>
        <p:sp>
          <p:nvSpPr>
            <p:cNvPr id="93271" name="AutoShape 38">
              <a:extLst>
                <a:ext uri="{FF2B5EF4-FFF2-40B4-BE49-F238E27FC236}">
                  <a16:creationId xmlns:a16="http://schemas.microsoft.com/office/drawing/2014/main" id="{D09CFE41-874A-4737-85DA-0FC2A3CAF7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3272" name="Rectangle 39">
              <a:extLst>
                <a:ext uri="{FF2B5EF4-FFF2-40B4-BE49-F238E27FC236}">
                  <a16:creationId xmlns:a16="http://schemas.microsoft.com/office/drawing/2014/main" id="{258A6BDE-8C13-43D8-87EC-53E3965971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grpSp>
        <p:nvGrpSpPr>
          <p:cNvPr id="93204" name="组合 21551">
            <a:extLst>
              <a:ext uri="{FF2B5EF4-FFF2-40B4-BE49-F238E27FC236}">
                <a16:creationId xmlns:a16="http://schemas.microsoft.com/office/drawing/2014/main" id="{1B30838B-B939-46B1-B4E5-8A415D3F8BCE}"/>
              </a:ext>
            </a:extLst>
          </p:cNvPr>
          <p:cNvGrpSpPr>
            <a:grpSpLocks/>
          </p:cNvGrpSpPr>
          <p:nvPr/>
        </p:nvGrpSpPr>
        <p:grpSpPr bwMode="auto">
          <a:xfrm>
            <a:off x="5159375" y="5980113"/>
            <a:ext cx="990600" cy="685800"/>
            <a:chOff x="0" y="0"/>
            <a:chExt cx="624" cy="432"/>
          </a:xfrm>
        </p:grpSpPr>
        <p:sp>
          <p:nvSpPr>
            <p:cNvPr id="21553" name="Text Box 41">
              <a:extLst>
                <a:ext uri="{FF2B5EF4-FFF2-40B4-BE49-F238E27FC236}">
                  <a16:creationId xmlns:a16="http://schemas.microsoft.com/office/drawing/2014/main" id="{07ACEA48-50CF-487D-B16B-E1892006829D}"/>
                </a:ext>
              </a:extLst>
            </p:cNvPr>
            <p:cNvSpPr txBox="1"/>
            <p:nvPr/>
          </p:nvSpPr>
          <p:spPr>
            <a:xfrm>
              <a:off x="144" y="96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zh-CN" sz="2000" noProof="1">
                  <a:effectLst>
                    <a:outerShdw blurRad="38100" dist="38100" dir="2700000" algn="tl">
                      <a:srgbClr val="C0C0C0"/>
                    </a:outerShdw>
                  </a:effectLst>
                  <a:ea typeface="楷体_GB2312" pitchFamily="1" charset="-122"/>
                  <a:cs typeface="宋体" panose="02010600030101010101" pitchFamily="2" charset="-122"/>
                </a:rPr>
                <a:t>8088</a:t>
              </a:r>
            </a:p>
          </p:txBody>
        </p:sp>
        <p:sp>
          <p:nvSpPr>
            <p:cNvPr id="93269" name="Line 42">
              <a:extLst>
                <a:ext uri="{FF2B5EF4-FFF2-40B4-BE49-F238E27FC236}">
                  <a16:creationId xmlns:a16="http://schemas.microsoft.com/office/drawing/2014/main" id="{1CE53DDF-1545-4412-BA92-74BEDD1656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0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70" name="Line 43">
              <a:extLst>
                <a:ext uri="{FF2B5EF4-FFF2-40B4-BE49-F238E27FC236}">
                  <a16:creationId xmlns:a16="http://schemas.microsoft.com/office/drawing/2014/main" id="{ADF56C2F-71D3-4371-9907-037A044B70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0"/>
              <a:ext cx="0" cy="288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3205" name="组合 21555">
            <a:extLst>
              <a:ext uri="{FF2B5EF4-FFF2-40B4-BE49-F238E27FC236}">
                <a16:creationId xmlns:a16="http://schemas.microsoft.com/office/drawing/2014/main" id="{14C1E0AC-ED5F-44A2-AC3B-5D0BAAE7EA3F}"/>
              </a:ext>
            </a:extLst>
          </p:cNvPr>
          <p:cNvGrpSpPr>
            <a:grpSpLocks/>
          </p:cNvGrpSpPr>
          <p:nvPr/>
        </p:nvGrpSpPr>
        <p:grpSpPr bwMode="auto">
          <a:xfrm>
            <a:off x="5768975" y="5980113"/>
            <a:ext cx="914400" cy="731837"/>
            <a:chOff x="0" y="0"/>
            <a:chExt cx="576" cy="461"/>
          </a:xfrm>
        </p:grpSpPr>
        <p:sp>
          <p:nvSpPr>
            <p:cNvPr id="21557" name="Text Box 45">
              <a:extLst>
                <a:ext uri="{FF2B5EF4-FFF2-40B4-BE49-F238E27FC236}">
                  <a16:creationId xmlns:a16="http://schemas.microsoft.com/office/drawing/2014/main" id="{EDE4C07D-F3E5-4F6D-ACEF-16E40C83E3BF}"/>
                </a:ext>
              </a:extLst>
            </p:cNvPr>
            <p:cNvSpPr txBox="1"/>
            <p:nvPr/>
          </p:nvSpPr>
          <p:spPr>
            <a:xfrm>
              <a:off x="0" y="288"/>
              <a:ext cx="336" cy="173"/>
            </a:xfrm>
            <a:prstGeom prst="rect">
              <a:avLst/>
            </a:prstGeom>
            <a:noFill/>
            <a:ln w="9525">
              <a:noFill/>
            </a:ln>
          </p:spPr>
          <p:txBody>
            <a:bodyPr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zh-CN" sz="2000" noProof="1">
                  <a:effectLst>
                    <a:outerShdw blurRad="38100" dist="38100" dir="2700000" algn="tl">
                      <a:srgbClr val="C0C0C0"/>
                    </a:outerShdw>
                  </a:effectLst>
                  <a:ea typeface="楷体_GB2312" pitchFamily="1" charset="-122"/>
                  <a:cs typeface="宋体" panose="02010600030101010101" pitchFamily="2" charset="-122"/>
                </a:rPr>
                <a:t>8086</a:t>
              </a:r>
            </a:p>
          </p:txBody>
        </p:sp>
        <p:sp>
          <p:nvSpPr>
            <p:cNvPr id="93267" name="Line 46">
              <a:extLst>
                <a:ext uri="{FF2B5EF4-FFF2-40B4-BE49-F238E27FC236}">
                  <a16:creationId xmlns:a16="http://schemas.microsoft.com/office/drawing/2014/main" id="{10AA617E-1EF3-4AAD-8FBD-741F324F66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0"/>
              <a:ext cx="0" cy="43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3206" name="组合 21558">
            <a:extLst>
              <a:ext uri="{FF2B5EF4-FFF2-40B4-BE49-F238E27FC236}">
                <a16:creationId xmlns:a16="http://schemas.microsoft.com/office/drawing/2014/main" id="{30A7EDC1-AEC7-42A3-B50D-F25067C287BC}"/>
              </a:ext>
            </a:extLst>
          </p:cNvPr>
          <p:cNvGrpSpPr>
            <a:grpSpLocks/>
          </p:cNvGrpSpPr>
          <p:nvPr/>
        </p:nvGrpSpPr>
        <p:grpSpPr bwMode="auto">
          <a:xfrm>
            <a:off x="6226175" y="2551113"/>
            <a:ext cx="895350" cy="609600"/>
            <a:chOff x="0" y="0"/>
            <a:chExt cx="564" cy="384"/>
          </a:xfrm>
        </p:grpSpPr>
        <p:sp>
          <p:nvSpPr>
            <p:cNvPr id="93264" name="Text Box 48">
              <a:extLst>
                <a:ext uri="{FF2B5EF4-FFF2-40B4-BE49-F238E27FC236}">
                  <a16:creationId xmlns:a16="http://schemas.microsoft.com/office/drawing/2014/main" id="{40C5D465-CEB9-4915-8981-93A5218003D8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0" y="0"/>
              <a:ext cx="563" cy="38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800" b="1">
                  <a:latin typeface="Times New Roman" panose="02020603050405020304" pitchFamily="18" charset="0"/>
                </a:rPr>
                <a:t>IP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1800" b="1">
                  <a:latin typeface="Times New Roman" panose="02020603050405020304" pitchFamily="18" charset="0"/>
                </a:rPr>
                <a:t>暂存器</a:t>
              </a:r>
            </a:p>
          </p:txBody>
        </p:sp>
        <p:sp>
          <p:nvSpPr>
            <p:cNvPr id="93265" name="Line 49">
              <a:extLst>
                <a:ext uri="{FF2B5EF4-FFF2-40B4-BE49-F238E27FC236}">
                  <a16:creationId xmlns:a16="http://schemas.microsoft.com/office/drawing/2014/main" id="{F0A80EEF-5355-4EEE-9C8F-93C34C6D75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" y="171"/>
              <a:ext cx="557" cy="0"/>
            </a:xfrm>
            <a:prstGeom prst="line">
              <a:avLst/>
            </a:prstGeom>
            <a:noFill/>
            <a:ln w="2857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93207" name="组合 21561">
            <a:extLst>
              <a:ext uri="{FF2B5EF4-FFF2-40B4-BE49-F238E27FC236}">
                <a16:creationId xmlns:a16="http://schemas.microsoft.com/office/drawing/2014/main" id="{B73470F1-B808-4216-9B9F-4492089358C7}"/>
              </a:ext>
            </a:extLst>
          </p:cNvPr>
          <p:cNvGrpSpPr>
            <a:grpSpLocks/>
          </p:cNvGrpSpPr>
          <p:nvPr/>
        </p:nvGrpSpPr>
        <p:grpSpPr bwMode="auto">
          <a:xfrm>
            <a:off x="8382000" y="2159000"/>
            <a:ext cx="609600" cy="1992313"/>
            <a:chOff x="0" y="0"/>
            <a:chExt cx="384" cy="1008"/>
          </a:xfrm>
        </p:grpSpPr>
        <p:sp>
          <p:nvSpPr>
            <p:cNvPr id="93262" name="AutoShape 54">
              <a:extLst>
                <a:ext uri="{FF2B5EF4-FFF2-40B4-BE49-F238E27FC236}">
                  <a16:creationId xmlns:a16="http://schemas.microsoft.com/office/drawing/2014/main" id="{1C8ACCB1-59EB-4BB3-B0F1-7276DE2694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8"/>
              <a:ext cx="384" cy="240"/>
            </a:xfrm>
            <a:prstGeom prst="leftRightArrow">
              <a:avLst>
                <a:gd name="adj1" fmla="val 50000"/>
                <a:gd name="adj2" fmla="val 32000"/>
              </a:avLst>
            </a:prstGeom>
            <a:noFill/>
            <a:ln w="25400">
              <a:solidFill>
                <a:srgbClr val="FFFF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21564" name="Text Box 55">
              <a:extLst>
                <a:ext uri="{FF2B5EF4-FFF2-40B4-BE49-F238E27FC236}">
                  <a16:creationId xmlns:a16="http://schemas.microsoft.com/office/drawing/2014/main" id="{EB839791-1EF2-4424-A73F-183C8810860B}"/>
                </a:ext>
              </a:extLst>
            </p:cNvPr>
            <p:cNvSpPr txBox="1"/>
            <p:nvPr/>
          </p:nvSpPr>
          <p:spPr>
            <a:xfrm>
              <a:off x="96" y="0"/>
              <a:ext cx="207" cy="768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en-US" altLang="x-none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8086</a:t>
              </a:r>
              <a:r>
                <a:rPr lang="zh-CN" altLang="en-US" sz="2400" noProof="1"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总线</a:t>
              </a:r>
              <a:endParaRPr lang="zh-CN" altLang="en-US" sz="2400" noProof="1"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93208" name="AutoShape 56">
            <a:extLst>
              <a:ext uri="{FF2B5EF4-FFF2-40B4-BE49-F238E27FC236}">
                <a16:creationId xmlns:a16="http://schemas.microsoft.com/office/drawing/2014/main" id="{5C716215-736D-4F52-B1BB-28B705665E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508500"/>
            <a:ext cx="3816350" cy="177800"/>
          </a:xfrm>
          <a:prstGeom prst="leftRightArrow">
            <a:avLst>
              <a:gd name="adj1" fmla="val 57435"/>
              <a:gd name="adj2" fmla="val 147070"/>
            </a:avLst>
          </a:prstGeom>
          <a:solidFill>
            <a:schemeClr val="tx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3209" name="AutoShape 57">
            <a:extLst>
              <a:ext uri="{FF2B5EF4-FFF2-40B4-BE49-F238E27FC236}">
                <a16:creationId xmlns:a16="http://schemas.microsoft.com/office/drawing/2014/main" id="{059617E9-6514-4037-9EC7-66B8526A13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9238" y="5734050"/>
            <a:ext cx="1079500" cy="90488"/>
          </a:xfrm>
          <a:prstGeom prst="leftArrow">
            <a:avLst>
              <a:gd name="adj1" fmla="val 50000"/>
              <a:gd name="adj2" fmla="val 297250"/>
            </a:avLst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3210" name="Line 58">
            <a:extLst>
              <a:ext uri="{FF2B5EF4-FFF2-40B4-BE49-F238E27FC236}">
                <a16:creationId xmlns:a16="http://schemas.microsoft.com/office/drawing/2014/main" id="{914C9049-B5CD-4BB4-BEC6-4CC96033556C}"/>
              </a:ext>
            </a:extLst>
          </p:cNvPr>
          <p:cNvSpPr>
            <a:spLocks noChangeShapeType="1"/>
          </p:cNvSpPr>
          <p:nvPr/>
        </p:nvSpPr>
        <p:spPr bwMode="auto">
          <a:xfrm>
            <a:off x="4084638" y="1851025"/>
            <a:ext cx="0" cy="4318000"/>
          </a:xfrm>
          <a:prstGeom prst="line">
            <a:avLst/>
          </a:prstGeom>
          <a:noFill/>
          <a:ln w="19050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3211" name="Rectangle 59">
            <a:extLst>
              <a:ext uri="{FF2B5EF4-FFF2-40B4-BE49-F238E27FC236}">
                <a16:creationId xmlns:a16="http://schemas.microsoft.com/office/drawing/2014/main" id="{7A71B0D1-AFF5-4562-A1C8-A178C5E338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6363" y="4510088"/>
            <a:ext cx="2952750" cy="2663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latin typeface="Garamond" panose="02020404030301010803" pitchFamily="18" charset="0"/>
              </a:rPr>
              <a:t>     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0200</a:t>
            </a:r>
            <a:r>
              <a:rPr lang="en-US" altLang="zh-CN" sz="2000" b="1">
                <a:latin typeface="Garamond" panose="02020404030301010803" pitchFamily="18" charset="0"/>
              </a:rPr>
              <a:t>0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H(20</a:t>
            </a:r>
            <a:r>
              <a:rPr lang="zh-CN" altLang="en-US" sz="2000" b="1">
                <a:solidFill>
                  <a:schemeClr val="hlink"/>
                </a:solidFill>
                <a:latin typeface="Garamond" panose="02020404030301010803" pitchFamily="18" charset="0"/>
              </a:rPr>
              <a:t>位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)  DS     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+ 0100H(16</a:t>
            </a:r>
            <a:r>
              <a:rPr lang="zh-CN" altLang="en-US" sz="2000" b="1">
                <a:solidFill>
                  <a:schemeClr val="hlink"/>
                </a:solidFill>
                <a:latin typeface="Garamond" panose="02020404030301010803" pitchFamily="18" charset="0"/>
              </a:rPr>
              <a:t>位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)   </a:t>
            </a:r>
            <a:r>
              <a:rPr lang="zh-CN" altLang="en-US" sz="2000" b="1">
                <a:solidFill>
                  <a:schemeClr val="hlink"/>
                </a:solidFill>
                <a:latin typeface="Garamond" panose="02020404030301010803" pitchFamily="18" charset="0"/>
              </a:rPr>
              <a:t>偏移量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latin typeface="Garamond" panose="02020404030301010803" pitchFamily="18" charset="0"/>
              </a:rPr>
              <a:t>                    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--------------              </a:t>
            </a: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Garamond" panose="02020404030301010803" pitchFamily="18" charset="0"/>
              </a:rPr>
              <a:t>02100H(20</a:t>
            </a:r>
            <a:r>
              <a:rPr lang="zh-CN" altLang="en-US" sz="2000" b="1">
                <a:latin typeface="Garamond" panose="02020404030301010803" pitchFamily="18" charset="0"/>
              </a:rPr>
              <a:t>位</a:t>
            </a:r>
            <a:r>
              <a:rPr lang="en-US" altLang="zh-CN" sz="2000" b="1">
                <a:latin typeface="Garamond" panose="02020404030301010803" pitchFamily="18" charset="0"/>
              </a:rPr>
              <a:t>)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          </a:t>
            </a:r>
            <a:endParaRPr lang="zh-CN" altLang="en-US" sz="2000" b="1">
              <a:solidFill>
                <a:schemeClr val="hlink"/>
              </a:solidFill>
              <a:latin typeface="Garamond" panose="02020404030301010803" pitchFamily="18" charset="0"/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latin typeface="Garamond" panose="02020404030301010803" pitchFamily="18" charset="0"/>
              </a:rPr>
              <a:t>物理地址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(20</a:t>
            </a:r>
            <a:r>
              <a:rPr lang="zh-CN" altLang="en-US" sz="2000" b="1">
                <a:solidFill>
                  <a:schemeClr val="hlink"/>
                </a:solidFill>
                <a:latin typeface="Garamond" panose="02020404030301010803" pitchFamily="18" charset="0"/>
              </a:rPr>
              <a:t>位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)       </a:t>
            </a:r>
          </a:p>
        </p:txBody>
      </p:sp>
      <p:sp>
        <p:nvSpPr>
          <p:cNvPr id="93212" name="Text Box 60">
            <a:extLst>
              <a:ext uri="{FF2B5EF4-FFF2-40B4-BE49-F238E27FC236}">
                <a16:creationId xmlns:a16="http://schemas.microsoft.com/office/drawing/2014/main" id="{ABBE1436-895F-44F5-A74A-00EA2B8B54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050" y="857250"/>
            <a:ext cx="3311525" cy="3049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zh-CN" sz="2000" b="1">
                <a:latin typeface="Times New Roman" panose="02020603050405020304" pitchFamily="18" charset="0"/>
              </a:rPr>
              <a:t>CPU</a:t>
            </a:r>
            <a:r>
              <a:rPr lang="zh-CN" altLang="en-US" sz="2000" b="1">
                <a:latin typeface="Times New Roman" panose="02020603050405020304" pitchFamily="18" charset="0"/>
              </a:rPr>
              <a:t>读取数据过程</a:t>
            </a:r>
            <a:r>
              <a:rPr lang="en-US" altLang="zh-CN" sz="2000" b="1">
                <a:latin typeface="Times New Roman" panose="02020603050405020304" pitchFamily="18" charset="0"/>
              </a:rPr>
              <a:t>: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偏移地址与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DS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寄存器中的段基值形成</a:t>
            </a:r>
            <a:r>
              <a:rPr lang="en-US" altLang="zh-CN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20</a:t>
            </a:r>
            <a:r>
              <a:rPr lang="zh-CN" altLang="en-US" sz="2000" b="1">
                <a:solidFill>
                  <a:schemeClr val="hlink"/>
                </a:solidFill>
                <a:latin typeface="Times New Roman" panose="02020603050405020304" pitchFamily="18" charset="0"/>
              </a:rPr>
              <a:t>位物理地址，由总线控制逻辑产生总线时序，从存储器中读入数据。</a:t>
            </a: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b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Garamond" panose="02020404030301010803" pitchFamily="18" charset="0"/>
              </a:rPr>
              <a:t>指令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Garamond" panose="02020404030301010803" pitchFamily="18" charset="0"/>
              </a:rPr>
              <a:t>ADD AL,[100H]</a:t>
            </a:r>
          </a:p>
          <a:p>
            <a:pPr>
              <a:spcBef>
                <a:spcPct val="0"/>
              </a:spcBef>
              <a:buFontTx/>
              <a:buNone/>
            </a:pPr>
            <a:r>
              <a:rPr lang="en-US" altLang="zh-CN" sz="1800" b="1"/>
              <a:t>…</a:t>
            </a:r>
            <a:endParaRPr lang="en-US" altLang="zh-CN" sz="2000" b="1">
              <a:solidFill>
                <a:schemeClr val="hlink"/>
              </a:solidFill>
              <a:latin typeface="Times New Roman" panose="02020603050405020304" pitchFamily="18" charset="0"/>
            </a:endParaRPr>
          </a:p>
          <a:p>
            <a:pPr>
              <a:spcBef>
                <a:spcPct val="0"/>
              </a:spcBef>
              <a:buFontTx/>
              <a:buNone/>
            </a:pPr>
            <a:endParaRPr lang="zh-CN" altLang="en-US" sz="2000" b="1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93213" name="Rectangle 74">
            <a:extLst>
              <a:ext uri="{FF2B5EF4-FFF2-40B4-BE49-F238E27FC236}">
                <a16:creationId xmlns:a16="http://schemas.microsoft.com/office/drawing/2014/main" id="{5F30477D-1BDB-4C76-9B27-981EE89B02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4437063"/>
            <a:ext cx="20129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latin typeface="Garamond" panose="02020404030301010803" pitchFamily="18" charset="0"/>
              </a:rPr>
              <a:t>         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DS=0200H 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zh-CN" altLang="en-US" sz="2000" b="1">
                <a:solidFill>
                  <a:schemeClr val="hlink"/>
                </a:solidFill>
                <a:latin typeface="Garamond" panose="02020404030301010803" pitchFamily="18" charset="0"/>
              </a:rPr>
              <a:t>偏移地址</a:t>
            </a:r>
            <a:r>
              <a:rPr lang="en-US" altLang="zh-CN" sz="2000" b="1">
                <a:solidFill>
                  <a:schemeClr val="hlink"/>
                </a:solidFill>
                <a:latin typeface="Garamond" panose="02020404030301010803" pitchFamily="18" charset="0"/>
              </a:rPr>
              <a:t>=100H </a:t>
            </a:r>
          </a:p>
        </p:txBody>
      </p:sp>
      <p:sp>
        <p:nvSpPr>
          <p:cNvPr id="21571" name="Text Box 75">
            <a:extLst>
              <a:ext uri="{FF2B5EF4-FFF2-40B4-BE49-F238E27FC236}">
                <a16:creationId xmlns:a16="http://schemas.microsoft.com/office/drawing/2014/main" id="{0D788B25-8D72-40EE-9032-074BEDCD7C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7788" y="2781300"/>
            <a:ext cx="895350" cy="301625"/>
          </a:xfrm>
          <a:prstGeom prst="rect">
            <a:avLst/>
          </a:prstGeom>
          <a:solidFill>
            <a:srgbClr val="00FF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zh-CN" sz="1800" b="1">
                <a:latin typeface="Times New Roman" panose="02020603050405020304" pitchFamily="18" charset="0"/>
              </a:rPr>
              <a:t>DS</a:t>
            </a:r>
            <a:endParaRPr lang="zh-CN" altLang="en-US" sz="1800" b="1">
              <a:latin typeface="Times New Roman" panose="02020603050405020304" pitchFamily="18" charset="0"/>
            </a:endParaRPr>
          </a:p>
        </p:txBody>
      </p:sp>
      <p:sp>
        <p:nvSpPr>
          <p:cNvPr id="21572" name="Text Box 76">
            <a:extLst>
              <a:ext uri="{FF2B5EF4-FFF2-40B4-BE49-F238E27FC236}">
                <a16:creationId xmlns:a16="http://schemas.microsoft.com/office/drawing/2014/main" id="{6E9D5C62-CE4B-4041-8306-67980351D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27763" y="2838450"/>
            <a:ext cx="895350" cy="301625"/>
          </a:xfrm>
          <a:prstGeom prst="rect">
            <a:avLst/>
          </a:prstGeom>
          <a:solidFill>
            <a:srgbClr val="00FF00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1800" b="1">
                <a:latin typeface="Times New Roman" panose="02020603050405020304" pitchFamily="18" charset="0"/>
              </a:rPr>
              <a:t>暂存器</a:t>
            </a:r>
          </a:p>
        </p:txBody>
      </p:sp>
      <p:grpSp>
        <p:nvGrpSpPr>
          <p:cNvPr id="21573" name="组合 21572">
            <a:extLst>
              <a:ext uri="{FF2B5EF4-FFF2-40B4-BE49-F238E27FC236}">
                <a16:creationId xmlns:a16="http://schemas.microsoft.com/office/drawing/2014/main" id="{8AD64F53-3750-43D7-9AE3-7B1240F26111}"/>
              </a:ext>
            </a:extLst>
          </p:cNvPr>
          <p:cNvGrpSpPr>
            <a:grpSpLocks/>
          </p:cNvGrpSpPr>
          <p:nvPr/>
        </p:nvGrpSpPr>
        <p:grpSpPr bwMode="auto">
          <a:xfrm>
            <a:off x="5476875" y="2289175"/>
            <a:ext cx="1111250" cy="230188"/>
            <a:chOff x="0" y="0"/>
            <a:chExt cx="700" cy="145"/>
          </a:xfrm>
        </p:grpSpPr>
        <p:sp>
          <p:nvSpPr>
            <p:cNvPr id="93260" name="AutoShape 78">
              <a:extLst>
                <a:ext uri="{FF2B5EF4-FFF2-40B4-BE49-F238E27FC236}">
                  <a16:creationId xmlns:a16="http://schemas.microsoft.com/office/drawing/2014/main" id="{D764D4FC-95D6-436C-A9FB-AD41671C085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0" y="25"/>
              <a:ext cx="143" cy="120"/>
            </a:xfrm>
            <a:prstGeom prst="downArrow">
              <a:avLst>
                <a:gd name="adj1" fmla="val 50000"/>
                <a:gd name="adj2" fmla="val 25000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3261" name="AutoShape 79">
              <a:extLst>
                <a:ext uri="{FF2B5EF4-FFF2-40B4-BE49-F238E27FC236}">
                  <a16:creationId xmlns:a16="http://schemas.microsoft.com/office/drawing/2014/main" id="{8A018413-50BB-4024-9174-5E95BF5395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8" y="0"/>
              <a:ext cx="142" cy="141"/>
            </a:xfrm>
            <a:prstGeom prst="upDownArrow">
              <a:avLst>
                <a:gd name="adj1" fmla="val 50000"/>
                <a:gd name="adj2" fmla="val 20000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eaVert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grpSp>
        <p:nvGrpSpPr>
          <p:cNvPr id="21576" name="组合 21575">
            <a:extLst>
              <a:ext uri="{FF2B5EF4-FFF2-40B4-BE49-F238E27FC236}">
                <a16:creationId xmlns:a16="http://schemas.microsoft.com/office/drawing/2014/main" id="{A80C313E-D614-43DD-A28F-7889461077EB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359400" y="1887538"/>
            <a:ext cx="1336675" cy="441325"/>
            <a:chOff x="0" y="0"/>
            <a:chExt cx="842" cy="278"/>
          </a:xfrm>
        </p:grpSpPr>
        <p:sp>
          <p:nvSpPr>
            <p:cNvPr id="93251" name="Line 81">
              <a:extLst>
                <a:ext uri="{FF2B5EF4-FFF2-40B4-BE49-F238E27FC236}">
                  <a16:creationId xmlns:a16="http://schemas.microsoft.com/office/drawing/2014/main" id="{F82AC1E8-E6A7-4596-8A24-DB54E1EC930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253" y="0"/>
              <a:ext cx="418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2" name="Line 82">
              <a:extLst>
                <a:ext uri="{FF2B5EF4-FFF2-40B4-BE49-F238E27FC236}">
                  <a16:creationId xmlns:a16="http://schemas.microsoft.com/office/drawing/2014/main" id="{AD9C153F-36AA-4EFF-8F88-F3814342C27A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0" y="5"/>
              <a:ext cx="247" cy="263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3" name="Line 83">
              <a:extLst>
                <a:ext uri="{FF2B5EF4-FFF2-40B4-BE49-F238E27FC236}">
                  <a16:creationId xmlns:a16="http://schemas.microsoft.com/office/drawing/2014/main" id="{47118DB2-B9EB-4056-B8BB-F2B34743FC4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" y="278"/>
              <a:ext cx="212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4" name="Line 84">
              <a:extLst>
                <a:ext uri="{FF2B5EF4-FFF2-40B4-BE49-F238E27FC236}">
                  <a16:creationId xmlns:a16="http://schemas.microsoft.com/office/drawing/2014/main" id="{6E0E6177-F3F7-49C9-A400-A81F469396A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228" y="174"/>
              <a:ext cx="115" cy="102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5" name="Line 85">
              <a:extLst>
                <a:ext uri="{FF2B5EF4-FFF2-40B4-BE49-F238E27FC236}">
                  <a16:creationId xmlns:a16="http://schemas.microsoft.com/office/drawing/2014/main" id="{886E380F-5CDC-413A-B8A1-A39D87B80D1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46" y="164"/>
              <a:ext cx="174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6" name="Line 86">
              <a:extLst>
                <a:ext uri="{FF2B5EF4-FFF2-40B4-BE49-F238E27FC236}">
                  <a16:creationId xmlns:a16="http://schemas.microsoft.com/office/drawing/2014/main" id="{0D53FB0E-C431-4DAE-86D2-62FD539CC5A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16" y="166"/>
              <a:ext cx="133" cy="10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7" name="Line 87">
              <a:extLst>
                <a:ext uri="{FF2B5EF4-FFF2-40B4-BE49-F238E27FC236}">
                  <a16:creationId xmlns:a16="http://schemas.microsoft.com/office/drawing/2014/main" id="{6B7A7350-B9D9-4D38-A3B4-4E37F32C13E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640" y="262"/>
              <a:ext cx="193" cy="0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8" name="Line 88">
              <a:extLst>
                <a:ext uri="{FF2B5EF4-FFF2-40B4-BE49-F238E27FC236}">
                  <a16:creationId xmlns:a16="http://schemas.microsoft.com/office/drawing/2014/main" id="{C7B18C21-02A9-4458-8700-24AB81DD6CB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 flipV="1">
              <a:off x="663" y="15"/>
              <a:ext cx="179" cy="251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3259" name="Text Box 89">
              <a:extLst>
                <a:ext uri="{FF2B5EF4-FFF2-40B4-BE49-F238E27FC236}">
                  <a16:creationId xmlns:a16="http://schemas.microsoft.com/office/drawing/2014/main" id="{A5C7250F-7E01-4066-A59B-259ED1DF3CD7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176" y="38"/>
              <a:ext cx="589" cy="18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just">
                <a:spcBef>
                  <a:spcPct val="0"/>
                </a:spcBef>
                <a:buFontTx/>
                <a:buNone/>
              </a:pPr>
              <a:r>
                <a:rPr lang="zh-CN" altLang="en-US" sz="1400">
                  <a:latin typeface="Times New Roman" panose="02020603050405020304" pitchFamily="18" charset="0"/>
                </a:rPr>
                <a:t>地址加法器</a:t>
              </a:r>
            </a:p>
          </p:txBody>
        </p:sp>
      </p:grpSp>
      <p:grpSp>
        <p:nvGrpSpPr>
          <p:cNvPr id="21586" name="组合 21585">
            <a:extLst>
              <a:ext uri="{FF2B5EF4-FFF2-40B4-BE49-F238E27FC236}">
                <a16:creationId xmlns:a16="http://schemas.microsoft.com/office/drawing/2014/main" id="{60F69C4E-0E7A-4E69-9199-BBAA8CF2936A}"/>
              </a:ext>
            </a:extLst>
          </p:cNvPr>
          <p:cNvGrpSpPr>
            <a:grpSpLocks/>
          </p:cNvGrpSpPr>
          <p:nvPr/>
        </p:nvGrpSpPr>
        <p:grpSpPr bwMode="auto">
          <a:xfrm>
            <a:off x="6005513" y="1290638"/>
            <a:ext cx="2009775" cy="579437"/>
            <a:chOff x="0" y="0"/>
            <a:chExt cx="1266" cy="365"/>
          </a:xfrm>
        </p:grpSpPr>
        <p:sp>
          <p:nvSpPr>
            <p:cNvPr id="93249" name="AutoShape 91">
              <a:extLst>
                <a:ext uri="{FF2B5EF4-FFF2-40B4-BE49-F238E27FC236}">
                  <a16:creationId xmlns:a16="http://schemas.microsoft.com/office/drawing/2014/main" id="{6674D1F8-4220-4D13-A3D3-72BCD8E221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" y="0"/>
              <a:ext cx="1146" cy="249"/>
            </a:xfrm>
            <a:prstGeom prst="rightArrow">
              <a:avLst>
                <a:gd name="adj1" fmla="val 50000"/>
                <a:gd name="adj2" fmla="val 114677"/>
              </a:avLst>
            </a:prstGeom>
            <a:solidFill>
              <a:srgbClr val="66FF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3250" name="Rectangle 92">
              <a:extLst>
                <a:ext uri="{FF2B5EF4-FFF2-40B4-BE49-F238E27FC236}">
                  <a16:creationId xmlns:a16="http://schemas.microsoft.com/office/drawing/2014/main" id="{2E810251-E0A8-4342-BE52-AFC5CE1BD1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63"/>
              <a:ext cx="128" cy="302"/>
            </a:xfrm>
            <a:prstGeom prst="rect">
              <a:avLst/>
            </a:prstGeom>
            <a:solidFill>
              <a:srgbClr val="66FF33"/>
            </a:solidFill>
            <a:ln w="9525">
              <a:solidFill>
                <a:schemeClr val="accent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</p:grpSp>
      <p:sp>
        <p:nvSpPr>
          <p:cNvPr id="21589" name="Text Box 93">
            <a:extLst>
              <a:ext uri="{FF2B5EF4-FFF2-40B4-BE49-F238E27FC236}">
                <a16:creationId xmlns:a16="http://schemas.microsoft.com/office/drawing/2014/main" id="{243FCAE1-3054-461C-85D9-1F34EA9ABA3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80363" y="1333500"/>
            <a:ext cx="388937" cy="5081588"/>
          </a:xfrm>
          <a:prstGeom prst="rect">
            <a:avLst/>
          </a:prstGeom>
          <a:solidFill>
            <a:srgbClr val="66FF33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9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latin typeface="Times New Roman" panose="02020603050405020304" pitchFamily="18" charset="0"/>
              </a:rPr>
              <a:t>辑</a:t>
            </a:r>
          </a:p>
        </p:txBody>
      </p:sp>
      <p:grpSp>
        <p:nvGrpSpPr>
          <p:cNvPr id="21590" name="组合 21589">
            <a:extLst>
              <a:ext uri="{FF2B5EF4-FFF2-40B4-BE49-F238E27FC236}">
                <a16:creationId xmlns:a16="http://schemas.microsoft.com/office/drawing/2014/main" id="{F686F293-1ADB-42AD-B320-DBFC134E6364}"/>
              </a:ext>
            </a:extLst>
          </p:cNvPr>
          <p:cNvGrpSpPr>
            <a:grpSpLocks/>
          </p:cNvGrpSpPr>
          <p:nvPr/>
        </p:nvGrpSpPr>
        <p:grpSpPr bwMode="auto">
          <a:xfrm>
            <a:off x="8388350" y="3659188"/>
            <a:ext cx="609600" cy="1752600"/>
            <a:chOff x="0" y="0"/>
            <a:chExt cx="384" cy="1104"/>
          </a:xfrm>
        </p:grpSpPr>
        <p:sp>
          <p:nvSpPr>
            <p:cNvPr id="93247" name="AutoShape 95">
              <a:extLst>
                <a:ext uri="{FF2B5EF4-FFF2-40B4-BE49-F238E27FC236}">
                  <a16:creationId xmlns:a16="http://schemas.microsoft.com/office/drawing/2014/main" id="{76FD5210-BC57-47FB-83BF-9980420406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299"/>
            </a:xfrm>
            <a:prstGeom prst="leftRightArrow">
              <a:avLst>
                <a:gd name="adj1" fmla="val 50000"/>
                <a:gd name="adj2" fmla="val 25579"/>
              </a:avLst>
            </a:prstGeom>
            <a:solidFill>
              <a:srgbClr val="66FF33"/>
            </a:solidFill>
            <a:ln w="254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21592" name="Text Box 96">
              <a:extLst>
                <a:ext uri="{FF2B5EF4-FFF2-40B4-BE49-F238E27FC236}">
                  <a16:creationId xmlns:a16="http://schemas.microsoft.com/office/drawing/2014/main" id="{AE0A5261-E7C1-4BD2-B382-115F2000CF39}"/>
                </a:ext>
              </a:extLst>
            </p:cNvPr>
            <p:cNvSpPr txBox="1"/>
            <p:nvPr/>
          </p:nvSpPr>
          <p:spPr>
            <a:xfrm>
              <a:off x="91" y="148"/>
              <a:ext cx="20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noProof="1">
                  <a:solidFill>
                    <a:srgbClr val="66FF33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地址总线</a:t>
              </a:r>
              <a:endParaRPr lang="zh-CN" altLang="en-US" sz="2400" noProof="1">
                <a:solidFill>
                  <a:srgbClr val="66FF33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grpSp>
        <p:nvGrpSpPr>
          <p:cNvPr id="21593" name="组合 21592">
            <a:extLst>
              <a:ext uri="{FF2B5EF4-FFF2-40B4-BE49-F238E27FC236}">
                <a16:creationId xmlns:a16="http://schemas.microsoft.com/office/drawing/2014/main" id="{17424B83-5146-4B54-9BB5-02BB9CC82F05}"/>
              </a:ext>
            </a:extLst>
          </p:cNvPr>
          <p:cNvGrpSpPr>
            <a:grpSpLocks/>
          </p:cNvGrpSpPr>
          <p:nvPr/>
        </p:nvGrpSpPr>
        <p:grpSpPr bwMode="auto">
          <a:xfrm>
            <a:off x="8388350" y="3668713"/>
            <a:ext cx="609600" cy="1752600"/>
            <a:chOff x="0" y="0"/>
            <a:chExt cx="384" cy="1104"/>
          </a:xfrm>
        </p:grpSpPr>
        <p:sp>
          <p:nvSpPr>
            <p:cNvPr id="93245" name="AutoShape 98">
              <a:extLst>
                <a:ext uri="{FF2B5EF4-FFF2-40B4-BE49-F238E27FC236}">
                  <a16:creationId xmlns:a16="http://schemas.microsoft.com/office/drawing/2014/main" id="{AB250E8B-D331-46DF-84E9-68945FFA7B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0"/>
              <a:ext cx="384" cy="299"/>
            </a:xfrm>
            <a:prstGeom prst="leftRightArrow">
              <a:avLst>
                <a:gd name="adj1" fmla="val 50000"/>
                <a:gd name="adj2" fmla="val 25579"/>
              </a:avLst>
            </a:prstGeom>
            <a:solidFill>
              <a:srgbClr val="FF9900"/>
            </a:solidFill>
            <a:ln w="25400">
              <a:solidFill>
                <a:srgbClr val="FFFF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21595" name="Text Box 99">
              <a:extLst>
                <a:ext uri="{FF2B5EF4-FFF2-40B4-BE49-F238E27FC236}">
                  <a16:creationId xmlns:a16="http://schemas.microsoft.com/office/drawing/2014/main" id="{4E99CB13-D7CD-4B67-8FC6-0AC975F934D9}"/>
                </a:ext>
              </a:extLst>
            </p:cNvPr>
            <p:cNvSpPr txBox="1"/>
            <p:nvPr/>
          </p:nvSpPr>
          <p:spPr>
            <a:xfrm>
              <a:off x="91" y="148"/>
              <a:ext cx="207" cy="956"/>
            </a:xfrm>
            <a:prstGeom prst="rect">
              <a:avLst/>
            </a:prstGeom>
            <a:noFill/>
            <a:ln w="9525">
              <a:noFill/>
            </a:ln>
          </p:spPr>
          <p:txBody>
            <a:bodyPr vert="eaVert" lIns="0" tIns="0" rIns="0" bIns="0">
              <a:spAutoFit/>
            </a:bodyPr>
            <a:lstStyle/>
            <a:p>
              <a:pPr algn="ctr" eaLnBrk="1" hangingPunct="1">
                <a:lnSpc>
                  <a:spcPct val="90000"/>
                </a:lnSpc>
                <a:spcBef>
                  <a:spcPct val="50000"/>
                </a:spcBef>
                <a:buClr>
                  <a:srgbClr val="B4B9BE"/>
                </a:buClr>
                <a:buFont typeface="Wingdings" panose="05000000000000000000" pitchFamily="2" charset="2"/>
                <a:buNone/>
                <a:defRPr/>
              </a:pPr>
              <a:r>
                <a:rPr lang="zh-CN" altLang="en-US" sz="2400" noProof="1">
                  <a:solidFill>
                    <a:srgbClr val="FF9900"/>
                  </a:solidFill>
                  <a:effectLst>
                    <a:outerShdw blurRad="38100" dist="38100" dir="2700000">
                      <a:srgbClr val="C0C0C0"/>
                    </a:outerShdw>
                  </a:effectLst>
                  <a:latin typeface="Times New Roman" panose="02020603050405020304" pitchFamily="2" charset="0"/>
                  <a:ea typeface="楷体_GB2312" pitchFamily="1" charset="-122"/>
                  <a:cs typeface="+mn-ea"/>
                </a:rPr>
                <a:t>数据总线</a:t>
              </a:r>
              <a:endParaRPr lang="zh-CN" altLang="en-US" sz="2400" noProof="1">
                <a:solidFill>
                  <a:srgbClr val="FF9900"/>
                </a:solidFill>
                <a:effectLst>
                  <a:outerShdw blurRad="38100" dist="38100" dir="2700000">
                    <a:srgbClr val="C0C0C0"/>
                  </a:outerShdw>
                </a:effectLst>
                <a:latin typeface="Times New Roman" panose="02020603050405020304" pitchFamily="2" charset="0"/>
                <a:ea typeface="楷体_GB2312" pitchFamily="1" charset="-122"/>
              </a:endParaRPr>
            </a:p>
          </p:txBody>
        </p:sp>
      </p:grpSp>
      <p:sp>
        <p:nvSpPr>
          <p:cNvPr id="21596" name="Text Box 101">
            <a:extLst>
              <a:ext uri="{FF2B5EF4-FFF2-40B4-BE49-F238E27FC236}">
                <a16:creationId xmlns:a16="http://schemas.microsoft.com/office/drawing/2014/main" id="{182F2E5D-859F-4364-A058-5AA896E6D77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7985125" y="1331913"/>
            <a:ext cx="388938" cy="5081587"/>
          </a:xfrm>
          <a:prstGeom prst="rect">
            <a:avLst/>
          </a:prstGeom>
          <a:solidFill>
            <a:schemeClr val="hlink"/>
          </a:solidFill>
          <a:ln w="28575">
            <a:solidFill>
              <a:schemeClr val="accent1"/>
            </a:solidFill>
            <a:miter lim="800000"/>
            <a:headEnd/>
            <a:tailEnd/>
          </a:ln>
        </p:spPr>
        <p:txBody>
          <a:bodyPr lIns="0" tIns="0" rIns="0" bIns="0" anchor="ctr" anchorCtr="1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zh-CN" altLang="en-US" sz="900"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FFFF"/>
                </a:solidFill>
                <a:latin typeface="Times New Roman" panose="02020603050405020304" pitchFamily="18" charset="0"/>
              </a:rPr>
              <a:t>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FFFF"/>
                </a:solidFill>
                <a:latin typeface="Times New Roman" panose="02020603050405020304" pitchFamily="18" charset="0"/>
              </a:rPr>
              <a:t>线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FFFF"/>
                </a:solidFill>
                <a:latin typeface="Times New Roman" panose="02020603050405020304" pitchFamily="18" charset="0"/>
              </a:rPr>
              <a:t>控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FFFF"/>
                </a:solidFill>
                <a:latin typeface="Times New Roman" panose="02020603050405020304" pitchFamily="18" charset="0"/>
              </a:rPr>
              <a:t>制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FFFF"/>
                </a:solidFill>
                <a:latin typeface="Times New Roman" panose="02020603050405020304" pitchFamily="18" charset="0"/>
              </a:rPr>
              <a:t>逻</a:t>
            </a:r>
          </a:p>
          <a:p>
            <a:pPr algn="ctr">
              <a:spcBef>
                <a:spcPct val="0"/>
              </a:spcBef>
              <a:buFontTx/>
              <a:buNone/>
            </a:pPr>
            <a:endParaRPr lang="zh-CN" altLang="en-US" sz="2400" b="1">
              <a:solidFill>
                <a:srgbClr val="00FFFF"/>
              </a:solidFill>
              <a:latin typeface="Times New Roman" panose="02020603050405020304" pitchFamily="18" charset="0"/>
            </a:endParaRPr>
          </a:p>
          <a:p>
            <a:pPr algn="ctr">
              <a:spcBef>
                <a:spcPct val="0"/>
              </a:spcBef>
              <a:buFontTx/>
              <a:buNone/>
            </a:pPr>
            <a:r>
              <a:rPr lang="zh-CN" altLang="en-US" sz="2400" b="1">
                <a:solidFill>
                  <a:srgbClr val="00FFFF"/>
                </a:solidFill>
                <a:latin typeface="Times New Roman" panose="02020603050405020304" pitchFamily="18" charset="0"/>
              </a:rPr>
              <a:t>辑</a:t>
            </a:r>
          </a:p>
        </p:txBody>
      </p:sp>
      <p:sp>
        <p:nvSpPr>
          <p:cNvPr id="93223" name="Text Box 109">
            <a:extLst>
              <a:ext uri="{FF2B5EF4-FFF2-40B4-BE49-F238E27FC236}">
                <a16:creationId xmlns:a16="http://schemas.microsoft.com/office/drawing/2014/main" id="{7345D32B-105A-49D2-BDDE-9A48CC6D54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04025" y="5949950"/>
            <a:ext cx="12065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zh-CN" altLang="en-US" sz="2000" b="1">
                <a:latin typeface="Times New Roman" panose="02020603050405020304" pitchFamily="18" charset="0"/>
              </a:rPr>
              <a:t>指令代码</a:t>
            </a:r>
          </a:p>
        </p:txBody>
      </p:sp>
      <p:grpSp>
        <p:nvGrpSpPr>
          <p:cNvPr id="93224" name="组合 21597">
            <a:extLst>
              <a:ext uri="{FF2B5EF4-FFF2-40B4-BE49-F238E27FC236}">
                <a16:creationId xmlns:a16="http://schemas.microsoft.com/office/drawing/2014/main" id="{886D1543-C641-4AD2-98DD-86F7E764387A}"/>
              </a:ext>
            </a:extLst>
          </p:cNvPr>
          <p:cNvGrpSpPr>
            <a:grpSpLocks/>
          </p:cNvGrpSpPr>
          <p:nvPr/>
        </p:nvGrpSpPr>
        <p:grpSpPr bwMode="auto">
          <a:xfrm>
            <a:off x="2268538" y="2636838"/>
            <a:ext cx="1331912" cy="2519362"/>
            <a:chOff x="0" y="0"/>
            <a:chExt cx="839" cy="1587"/>
          </a:xfrm>
        </p:grpSpPr>
        <p:sp>
          <p:nvSpPr>
            <p:cNvPr id="93231" name="Text Box 113">
              <a:extLst>
                <a:ext uri="{FF2B5EF4-FFF2-40B4-BE49-F238E27FC236}">
                  <a16:creationId xmlns:a16="http://schemas.microsoft.com/office/drawing/2014/main" id="{134E8766-FD87-41BF-9E6E-A34569F158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0"/>
              <a:ext cx="839" cy="2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</a:rPr>
                <a:t>内存储器</a:t>
              </a:r>
            </a:p>
            <a:p>
              <a:pPr algn="ct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</a:rPr>
                <a:t>（数据段）</a:t>
              </a:r>
            </a:p>
          </p:txBody>
        </p:sp>
        <p:sp>
          <p:nvSpPr>
            <p:cNvPr id="93232" name="AutoShape 114">
              <a:extLst>
                <a:ext uri="{FF2B5EF4-FFF2-40B4-BE49-F238E27FC236}">
                  <a16:creationId xmlns:a16="http://schemas.microsoft.com/office/drawing/2014/main" id="{821EC371-2A04-40FF-8438-7277EAF76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" y="491"/>
              <a:ext cx="399" cy="1096"/>
            </a:xfrm>
            <a:prstGeom prst="flowChartDocument">
              <a:avLst/>
            </a:prstGeom>
            <a:noFill/>
            <a:ln w="952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zh-CN" altLang="en-US" sz="1800" b="1">
                <a:latin typeface="Garamond" panose="02020404030301010803" pitchFamily="18" charset="0"/>
              </a:endParaRPr>
            </a:p>
          </p:txBody>
        </p:sp>
        <p:sp>
          <p:nvSpPr>
            <p:cNvPr id="93233" name="Text Box 115">
              <a:extLst>
                <a:ext uri="{FF2B5EF4-FFF2-40B4-BE49-F238E27FC236}">
                  <a16:creationId xmlns:a16="http://schemas.microsoft.com/office/drawing/2014/main" id="{089F609D-C9AD-456F-9F5C-062ED462D0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490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B0H</a:t>
              </a:r>
            </a:p>
          </p:txBody>
        </p:sp>
        <p:sp>
          <p:nvSpPr>
            <p:cNvPr id="93234" name="Text Box 116">
              <a:extLst>
                <a:ext uri="{FF2B5EF4-FFF2-40B4-BE49-F238E27FC236}">
                  <a16:creationId xmlns:a16="http://schemas.microsoft.com/office/drawing/2014/main" id="{8F7B89A6-3660-44DE-A162-FA7EEA2601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654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93235" name="Text Box 117">
              <a:extLst>
                <a:ext uri="{FF2B5EF4-FFF2-40B4-BE49-F238E27FC236}">
                  <a16:creationId xmlns:a16="http://schemas.microsoft.com/office/drawing/2014/main" id="{8B08110C-BDC0-4F13-BF8C-243973E535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0" y="326"/>
              <a:ext cx="454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</a:rPr>
                <a:t>地址</a:t>
              </a:r>
            </a:p>
          </p:txBody>
        </p:sp>
        <p:sp>
          <p:nvSpPr>
            <p:cNvPr id="93236" name="Text Box 118">
              <a:extLst>
                <a:ext uri="{FF2B5EF4-FFF2-40B4-BE49-F238E27FC236}">
                  <a16:creationId xmlns:a16="http://schemas.microsoft.com/office/drawing/2014/main" id="{A1D68B55-A5AF-4857-885C-38671071A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643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93237" name="Text Box 119">
              <a:extLst>
                <a:ext uri="{FF2B5EF4-FFF2-40B4-BE49-F238E27FC236}">
                  <a16:creationId xmlns:a16="http://schemas.microsoft.com/office/drawing/2014/main" id="{233599C8-4426-4325-91C4-48D64864BE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818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2100H</a:t>
              </a:r>
            </a:p>
          </p:txBody>
        </p:sp>
        <p:sp>
          <p:nvSpPr>
            <p:cNvPr id="93238" name="Text Box 120">
              <a:extLst>
                <a:ext uri="{FF2B5EF4-FFF2-40B4-BE49-F238E27FC236}">
                  <a16:creationId xmlns:a16="http://schemas.microsoft.com/office/drawing/2014/main" id="{005E1D86-03FC-482B-9CB2-31C616F98D3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992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2101H</a:t>
              </a:r>
            </a:p>
          </p:txBody>
        </p:sp>
        <p:sp>
          <p:nvSpPr>
            <p:cNvPr id="93239" name="Text Box 121">
              <a:extLst>
                <a:ext uri="{FF2B5EF4-FFF2-40B4-BE49-F238E27FC236}">
                  <a16:creationId xmlns:a16="http://schemas.microsoft.com/office/drawing/2014/main" id="{DFF33F17-D604-4D5D-B1BC-D89C7FDBF3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2" y="315"/>
              <a:ext cx="357" cy="1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zh-CN" altLang="en-US" sz="2000" b="1">
                  <a:latin typeface="Times New Roman" panose="02020603050405020304" pitchFamily="18" charset="0"/>
                </a:rPr>
                <a:t>内容</a:t>
              </a:r>
            </a:p>
          </p:txBody>
        </p:sp>
        <p:sp>
          <p:nvSpPr>
            <p:cNvPr id="93240" name="Text Box 122">
              <a:extLst>
                <a:ext uri="{FF2B5EF4-FFF2-40B4-BE49-F238E27FC236}">
                  <a16:creationId xmlns:a16="http://schemas.microsoft.com/office/drawing/2014/main" id="{1C86DD93-91A2-4450-97C5-DF1D1B4EC8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" y="490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2000H</a:t>
              </a:r>
            </a:p>
          </p:txBody>
        </p:sp>
        <p:sp>
          <p:nvSpPr>
            <p:cNvPr id="93241" name="Text Box 123">
              <a:extLst>
                <a:ext uri="{FF2B5EF4-FFF2-40B4-BE49-F238E27FC236}">
                  <a16:creationId xmlns:a16="http://schemas.microsoft.com/office/drawing/2014/main" id="{DC7B0826-059D-4211-8345-0B82F47405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816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10H</a:t>
              </a:r>
            </a:p>
          </p:txBody>
        </p:sp>
        <p:sp>
          <p:nvSpPr>
            <p:cNvPr id="93242" name="Text Box 124">
              <a:extLst>
                <a:ext uri="{FF2B5EF4-FFF2-40B4-BE49-F238E27FC236}">
                  <a16:creationId xmlns:a16="http://schemas.microsoft.com/office/drawing/2014/main" id="{C17A2BAA-68AD-49A5-AFCD-37517B926E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984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11H</a:t>
              </a:r>
            </a:p>
          </p:txBody>
        </p:sp>
        <p:sp>
          <p:nvSpPr>
            <p:cNvPr id="93243" name="Text Box 125">
              <a:extLst>
                <a:ext uri="{FF2B5EF4-FFF2-40B4-BE49-F238E27FC236}">
                  <a16:creationId xmlns:a16="http://schemas.microsoft.com/office/drawing/2014/main" id="{017AFAD6-86F6-400C-AAF4-06BDCD805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8" y="1149"/>
              <a:ext cx="399" cy="164"/>
            </a:xfrm>
            <a:prstGeom prst="rect">
              <a:avLst/>
            </a:prstGeom>
            <a:noFill/>
            <a:ln w="28575">
              <a:solidFill>
                <a:schemeClr val="accent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…</a:t>
              </a:r>
            </a:p>
          </p:txBody>
        </p:sp>
        <p:sp>
          <p:nvSpPr>
            <p:cNvPr id="93244" name="Text Box 126">
              <a:extLst>
                <a:ext uri="{FF2B5EF4-FFF2-40B4-BE49-F238E27FC236}">
                  <a16:creationId xmlns:a16="http://schemas.microsoft.com/office/drawing/2014/main" id="{A13B0F67-EA11-4BDE-95A9-7A3ADA7E0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" y="1152"/>
              <a:ext cx="357" cy="16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 anchor="ctr" anchorCtr="1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r">
                <a:spcBef>
                  <a:spcPct val="0"/>
                </a:spcBef>
                <a:buFontTx/>
                <a:buNone/>
              </a:pPr>
              <a:r>
                <a:rPr lang="en-US" altLang="zh-CN" sz="1600" b="1">
                  <a:latin typeface="Times New Roman" panose="02020603050405020304" pitchFamily="18" charset="0"/>
                </a:rPr>
                <a:t>…</a:t>
              </a:r>
            </a:p>
          </p:txBody>
        </p:sp>
      </p:grpSp>
      <p:sp>
        <p:nvSpPr>
          <p:cNvPr id="21613" name="AutoShape 129">
            <a:extLst>
              <a:ext uri="{FF2B5EF4-FFF2-40B4-BE49-F238E27FC236}">
                <a16:creationId xmlns:a16="http://schemas.microsoft.com/office/drawing/2014/main" id="{6D17A404-4E91-4F49-B14D-1104BFE2E9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508500"/>
            <a:ext cx="3816350" cy="179388"/>
          </a:xfrm>
          <a:prstGeom prst="leftRightArrow">
            <a:avLst>
              <a:gd name="adj1" fmla="val 57435"/>
              <a:gd name="adj2" fmla="val 145768"/>
            </a:avLst>
          </a:prstGeom>
          <a:solidFill>
            <a:srgbClr val="00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21614" name="AutoShape 133">
            <a:extLst>
              <a:ext uri="{FF2B5EF4-FFF2-40B4-BE49-F238E27FC236}">
                <a16:creationId xmlns:a16="http://schemas.microsoft.com/office/drawing/2014/main" id="{509F26A1-4767-4703-A919-F5D1A7F5F1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529388" y="3154363"/>
            <a:ext cx="228600" cy="1395412"/>
          </a:xfrm>
          <a:prstGeom prst="upDownArrow">
            <a:avLst>
              <a:gd name="adj1" fmla="val 50000"/>
              <a:gd name="adj2" fmla="val 121575"/>
            </a:avLst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21615" name="AutoShape 134">
            <a:extLst>
              <a:ext uri="{FF2B5EF4-FFF2-40B4-BE49-F238E27FC236}">
                <a16:creationId xmlns:a16="http://schemas.microsoft.com/office/drawing/2014/main" id="{53269CB7-AD67-43A9-BF11-6F2A376045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4508500"/>
            <a:ext cx="3816350" cy="179388"/>
          </a:xfrm>
          <a:prstGeom prst="leftRightArrow">
            <a:avLst>
              <a:gd name="adj1" fmla="val 57435"/>
              <a:gd name="adj2" fmla="val 145768"/>
            </a:avLst>
          </a:prstGeom>
          <a:solidFill>
            <a:srgbClr val="FFCC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zh-CN" altLang="en-US" sz="1800" b="1">
              <a:latin typeface="Garamond" panose="02020404030301010803" pitchFamily="18" charset="0"/>
            </a:endParaRPr>
          </a:p>
        </p:txBody>
      </p:sp>
      <p:sp>
        <p:nvSpPr>
          <p:cNvPr id="93228" name="未知">
            <a:extLst>
              <a:ext uri="{FF2B5EF4-FFF2-40B4-BE49-F238E27FC236}">
                <a16:creationId xmlns:a16="http://schemas.microsoft.com/office/drawing/2014/main" id="{482808A2-A2E9-4DA1-AE6D-6FDE5EBDDD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1050" y="4076700"/>
            <a:ext cx="1944688" cy="2089150"/>
          </a:xfrm>
          <a:custGeom>
            <a:avLst/>
            <a:gdLst>
              <a:gd name="T0" fmla="*/ 0 w 1225"/>
              <a:gd name="T1" fmla="*/ 2147483646 h 1316"/>
              <a:gd name="T2" fmla="*/ 2147483646 w 1225"/>
              <a:gd name="T3" fmla="*/ 2147483646 h 1316"/>
              <a:gd name="T4" fmla="*/ 2147483646 w 1225"/>
              <a:gd name="T5" fmla="*/ 2147483646 h 1316"/>
              <a:gd name="T6" fmla="*/ 2147483646 w 1225"/>
              <a:gd name="T7" fmla="*/ 0 h 1316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1225" h="1316">
                <a:moveTo>
                  <a:pt x="0" y="1316"/>
                </a:moveTo>
                <a:cubicBezTo>
                  <a:pt x="397" y="1308"/>
                  <a:pt x="794" y="1300"/>
                  <a:pt x="998" y="1134"/>
                </a:cubicBezTo>
                <a:cubicBezTo>
                  <a:pt x="1202" y="968"/>
                  <a:pt x="1225" y="507"/>
                  <a:pt x="1225" y="318"/>
                </a:cubicBezTo>
                <a:cubicBezTo>
                  <a:pt x="1225" y="129"/>
                  <a:pt x="1111" y="64"/>
                  <a:pt x="998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05" name="灯片编号占位符 1">
            <a:extLst>
              <a:ext uri="{FF2B5EF4-FFF2-40B4-BE49-F238E27FC236}">
                <a16:creationId xmlns:a16="http://schemas.microsoft.com/office/drawing/2014/main" id="{8797B34C-D1DB-45EF-A47A-6ED00005AFF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457200" y="6245225"/>
            <a:ext cx="2133600" cy="476250"/>
          </a:xfr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spcBef>
                <a:spcPct val="0"/>
              </a:spcBef>
              <a:buFontTx/>
              <a:buNone/>
              <a:defRPr/>
            </a:pPr>
            <a:fld id="{0568F551-7FF1-457C-9E99-931162885364}" type="slidenum">
              <a:rPr altLang="en-US" sz="1400" smtClean="0">
                <a:latin typeface="Garamond" panose="02020404030301010803" pitchFamily="18" charset="0"/>
              </a:rPr>
              <a:pPr algn="l">
                <a:spcBef>
                  <a:spcPct val="0"/>
                </a:spcBef>
                <a:buFontTx/>
                <a:buNone/>
                <a:defRPr/>
              </a:pPr>
              <a:t>41</a:t>
            </a:fld>
            <a:endParaRPr lang="zh-CN" altLang="en-US" sz="1400">
              <a:latin typeface="Garamond" panose="02020404030301010803" pitchFamily="18" charset="0"/>
            </a:endParaRPr>
          </a:p>
        </p:txBody>
      </p:sp>
      <p:sp>
        <p:nvSpPr>
          <p:cNvPr id="114" name="Text Box 3">
            <a:extLst>
              <a:ext uri="{FF2B5EF4-FFF2-40B4-BE49-F238E27FC236}">
                <a16:creationId xmlns:a16="http://schemas.microsoft.com/office/drawing/2014/main" id="{11B3DC74-2B03-453F-BCA9-F86560026D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6" y="165101"/>
            <a:ext cx="495934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Font typeface="Wingdings" panose="05000000000000000000" pitchFamily="2" charset="2"/>
              <a:buChar char="•"/>
              <a:defRPr sz="22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Font typeface="Wingdings" panose="05000000000000000000" pitchFamily="2" charset="2"/>
              <a:buChar char="–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»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 typeface="Wingdings" panose="05000000000000000000" pitchFamily="2" charset="2"/>
              <a:buNone/>
              <a:defRPr/>
            </a:pPr>
            <a:r>
              <a:rPr lang="zh-CN" altLang="en-US" sz="3200" dirty="0">
                <a:solidFill>
                  <a:srgbClr val="C00000"/>
                </a:solidFill>
                <a:highlight>
                  <a:srgbClr val="FFFF00"/>
                </a:highlight>
                <a:latin typeface="仿宋" panose="02010609060101010101" pitchFamily="49" charset="-122"/>
                <a:ea typeface="仿宋" panose="02010609060101010101" pitchFamily="49" charset="-122"/>
              </a:rPr>
              <a:t>回顾：读数据过程</a:t>
            </a:r>
            <a:endParaRPr lang="en-US" altLang="zh-CN" sz="3200" dirty="0">
              <a:solidFill>
                <a:srgbClr val="C00000"/>
              </a:solidFill>
              <a:highlight>
                <a:srgbClr val="FFFF00"/>
              </a:highlight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1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1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21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157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2157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2158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7" dur="500"/>
                                        <p:tgtEl>
                                          <p:spTgt spid="2158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159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7" dur="500"/>
                                        <p:tgtEl>
                                          <p:spTgt spid="2159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2" dur="500"/>
                                        <p:tgtEl>
                                          <p:spTgt spid="2159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2" dur="500"/>
                                        <p:tgtEl>
                                          <p:spTgt spid="21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7" dur="500"/>
                                        <p:tgtEl>
                                          <p:spTgt spid="2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3" grpId="0" animBg="1"/>
      <p:bldP spid="21529" grpId="0" animBg="1"/>
      <p:bldP spid="21571" grpId="0" animBg="1"/>
      <p:bldP spid="21572" grpId="0" animBg="1"/>
      <p:bldP spid="21589" grpId="0" animBg="1"/>
      <p:bldP spid="21596" grpId="0" animBg="1"/>
      <p:bldP spid="21613" grpId="0" animBg="1"/>
      <p:bldP spid="21614" grpId="0" animBg="1"/>
      <p:bldP spid="21615" grpId="0" animBg="1"/>
    </p:bldLst>
  </p:timing>
</p:sld>
</file>

<file path=ppt/theme/theme1.xml><?xml version="1.0" encoding="utf-8"?>
<a:theme xmlns:a="http://schemas.openxmlformats.org/drawingml/2006/main" name="微机模板">
  <a:themeElements>
    <a:clrScheme name="">
      <a:dk1>
        <a:srgbClr val="FFFFFF"/>
      </a:dk1>
      <a:lt1>
        <a:srgbClr val="004646"/>
      </a:lt1>
      <a:dk2>
        <a:srgbClr val="E1F0FF"/>
      </a:dk2>
      <a:lt2>
        <a:srgbClr val="000000"/>
      </a:lt2>
      <a:accent1>
        <a:srgbClr val="50742F"/>
      </a:accent1>
      <a:accent2>
        <a:srgbClr val="268868"/>
      </a:accent2>
      <a:accent3>
        <a:srgbClr val="AAB1B1"/>
      </a:accent3>
      <a:accent4>
        <a:srgbClr val="DCDCDC"/>
      </a:accent4>
      <a:accent5>
        <a:srgbClr val="B3BDAD"/>
      </a:accent5>
      <a:accent6>
        <a:srgbClr val="21795D"/>
      </a:accent6>
      <a:hlink>
        <a:srgbClr val="D9BE02"/>
      </a:hlink>
      <a:folHlink>
        <a:srgbClr val="F900F9"/>
      </a:folHlink>
    </a:clrScheme>
    <a:fontScheme name="">
      <a:majorFont>
        <a:latin typeface="Times New Roman"/>
        <a:ea typeface="黑体"/>
        <a:cs typeface=""/>
      </a:majorFont>
      <a:minorFont>
        <a:latin typeface="黑体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我的PPT-1.1">
  <a:themeElements>
    <a:clrScheme name="">
      <a:dk1>
        <a:srgbClr val="FFFFFF"/>
      </a:dk1>
      <a:lt1>
        <a:srgbClr val="000000"/>
      </a:lt1>
      <a:dk2>
        <a:srgbClr val="FBEEC9"/>
      </a:dk2>
      <a:lt2>
        <a:srgbClr val="4E3B30"/>
      </a:lt2>
      <a:accent1>
        <a:srgbClr val="F0A22E"/>
      </a:accent1>
      <a:accent2>
        <a:srgbClr val="A5644E"/>
      </a:accent2>
      <a:accent3>
        <a:srgbClr val="AAAAAA"/>
      </a:accent3>
      <a:accent4>
        <a:srgbClr val="DCDCDC"/>
      </a:accent4>
      <a:accent5>
        <a:srgbClr val="F6CEAC"/>
      </a:accent5>
      <a:accent6>
        <a:srgbClr val="945945"/>
      </a:accent6>
      <a:hlink>
        <a:srgbClr val="AD1F1F"/>
      </a:hlink>
      <a:folHlink>
        <a:srgbClr val="FFC42F"/>
      </a:folHlink>
    </a:clrScheme>
    <a:fontScheme name="">
      <a:majorFont>
        <a:latin typeface="楷体_GB2312"/>
        <a:ea typeface="楷体_GB2312"/>
        <a:cs typeface=""/>
      </a:majorFont>
      <a:minorFont>
        <a:latin typeface="Times New Roman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Office 主题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simple gree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simple gre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mple gre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mple gre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mple gre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mple gre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imple gre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mple gre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mple gre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mple gre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mple gre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mple gre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imple gre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default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A7C6E5"/>
      </a:accent1>
      <a:accent2>
        <a:srgbClr val="333399"/>
      </a:accent2>
      <a:accent3>
        <a:srgbClr val="FFFFFF"/>
      </a:accent3>
      <a:accent4>
        <a:srgbClr val="000000"/>
      </a:accent4>
      <a:accent5>
        <a:srgbClr val="D0DFEF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efaul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A7C6E5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0DFF0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7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9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">
  <a:themeElements>
    <a:clrScheme name="">
      <a:dk1>
        <a:srgbClr val="FFFFFF"/>
      </a:dk1>
      <a:lt1>
        <a:srgbClr val="004646"/>
      </a:lt1>
      <a:dk2>
        <a:srgbClr val="E1F0FF"/>
      </a:dk2>
      <a:lt2>
        <a:srgbClr val="000000"/>
      </a:lt2>
      <a:accent1>
        <a:srgbClr val="50742F"/>
      </a:accent1>
      <a:accent2>
        <a:srgbClr val="268868"/>
      </a:accent2>
      <a:accent3>
        <a:srgbClr val="AAB1B1"/>
      </a:accent3>
      <a:accent4>
        <a:srgbClr val="DCDCDC"/>
      </a:accent4>
      <a:accent5>
        <a:srgbClr val="B3BDAD"/>
      </a:accent5>
      <a:accent6>
        <a:srgbClr val="21795D"/>
      </a:accent6>
      <a:hlink>
        <a:srgbClr val="D9BE02"/>
      </a:hlink>
      <a:folHlink>
        <a:srgbClr val="F900F9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221</TotalTime>
  <Pages>0</Pages>
  <Words>3272</Words>
  <Characters>0</Characters>
  <Application>Microsoft Office PowerPoint</Application>
  <DocSecurity>0</DocSecurity>
  <PresentationFormat>全屏显示(4:3)</PresentationFormat>
  <Lines>0</Lines>
  <Paragraphs>500</Paragraphs>
  <Slides>41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6</vt:i4>
      </vt:variant>
      <vt:variant>
        <vt:lpstr>幻灯片标题</vt:lpstr>
      </vt:variant>
      <vt:variant>
        <vt:i4>41</vt:i4>
      </vt:variant>
    </vt:vector>
  </HeadingPairs>
  <TitlesOfParts>
    <vt:vector size="60" baseType="lpstr">
      <vt:lpstr>方正姚体</vt:lpstr>
      <vt:lpstr>仿宋</vt:lpstr>
      <vt:lpstr>黑体</vt:lpstr>
      <vt:lpstr>华文楷体</vt:lpstr>
      <vt:lpstr>华文中宋</vt:lpstr>
      <vt:lpstr>楷体_GB2312</vt:lpstr>
      <vt:lpstr>Arial</vt:lpstr>
      <vt:lpstr>Calibri</vt:lpstr>
      <vt:lpstr>Garamond</vt:lpstr>
      <vt:lpstr>Times New Roman</vt:lpstr>
      <vt:lpstr>Wingdings</vt:lpstr>
      <vt:lpstr>Wingdings 2</vt:lpstr>
      <vt:lpstr>Wingdings 3</vt:lpstr>
      <vt:lpstr>微机模板</vt:lpstr>
      <vt:lpstr>我的PPT-1.1</vt:lpstr>
      <vt:lpstr>Office 主题</vt:lpstr>
      <vt:lpstr>1_Office 主题</vt:lpstr>
      <vt:lpstr>simple green</vt:lpstr>
      <vt:lpstr>default</vt:lpstr>
      <vt:lpstr>PowerPoint 演示文稿</vt:lpstr>
      <vt:lpstr>PowerPoint 演示文稿</vt:lpstr>
      <vt:lpstr>指令 Instruction 和寻址 addressing modes</vt:lpstr>
      <vt:lpstr>寻址方式</vt:lpstr>
      <vt:lpstr>§3.1 8086的寻址方式</vt:lpstr>
      <vt:lpstr>§3.1 8086的寻址方式</vt:lpstr>
      <vt:lpstr>3.1.1 立即寻址方式(Immediate Addressing) </vt:lpstr>
      <vt:lpstr>立即寻址规则</vt:lpstr>
      <vt:lpstr>§3.1 8086的寻址方式</vt:lpstr>
      <vt:lpstr>3.1.2 寄存器寻址方式 (Register Addressing)</vt:lpstr>
      <vt:lpstr>寄存器寻址规则</vt:lpstr>
      <vt:lpstr>§3.1 8086的寻址方式</vt:lpstr>
      <vt:lpstr>3.1.3 直接寻址方式 Direct Addressing</vt:lpstr>
      <vt:lpstr>PowerPoint 演示文稿</vt:lpstr>
      <vt:lpstr>PowerPoint 演示文稿</vt:lpstr>
      <vt:lpstr>直接寻址中的段选择</vt:lpstr>
      <vt:lpstr>直接寻址</vt:lpstr>
      <vt:lpstr>直接寻址</vt:lpstr>
      <vt:lpstr>§3.1 8086的寻址方式</vt:lpstr>
      <vt:lpstr>3.1.4 寄存器间接寻址方式 Register Indirect Addressing</vt:lpstr>
      <vt:lpstr>PowerPoint 演示文稿</vt:lpstr>
      <vt:lpstr>寄存器间接寻址</vt:lpstr>
      <vt:lpstr>§3.1 8086的寻址方式</vt:lpstr>
      <vt:lpstr>3.1.5 寄存器相对寻址方式 Register Relative Addressing</vt:lpstr>
      <vt:lpstr>寄存器相对寻址</vt:lpstr>
      <vt:lpstr>§3.1 8086的寻址方式</vt:lpstr>
      <vt:lpstr>3.1.6 基址变址寻址方式 Based Indexed Addressing</vt:lpstr>
      <vt:lpstr>PowerPoint 演示文稿</vt:lpstr>
      <vt:lpstr>§3.1 8086的寻址方式</vt:lpstr>
      <vt:lpstr>3.1.7 相对基址变址寻址方式 Relative Based Indexed Addressing</vt:lpstr>
      <vt:lpstr>PowerPoint 演示文稿</vt:lpstr>
      <vt:lpstr>关于[]号的小结</vt:lpstr>
      <vt:lpstr>关于[]号的小结</vt:lpstr>
      <vt:lpstr>§3.1 8086的寻址方式</vt:lpstr>
      <vt:lpstr>3.1.8 其它寻址方式</vt:lpstr>
      <vt:lpstr>其它寻址</vt:lpstr>
      <vt:lpstr>其它寻址</vt:lpstr>
      <vt:lpstr>其它寻址</vt:lpstr>
      <vt:lpstr>*3.2 指令的机器码表示方法（不考）</vt:lpstr>
      <vt:lpstr>PowerPoint 演示文稿</vt:lpstr>
      <vt:lpstr>PowerPoint 演示文稿</vt:lpstr>
    </vt:vector>
  </TitlesOfParts>
  <Manager/>
  <Company>UESTC</Company>
  <LinksUpToDate>false</LinksUpToDate>
  <CharactersWithSpaces>0</CharactersWithSpaces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7.2 8253的应用</dc:title>
  <dc:subject/>
  <dc:creator>冯周</dc:creator>
  <cp:keywords/>
  <dc:description/>
  <cp:lastModifiedBy>Lenovo</cp:lastModifiedBy>
  <cp:revision>437</cp:revision>
  <dcterms:created xsi:type="dcterms:W3CDTF">2003-06-02T01:23:00Z</dcterms:created>
  <dcterms:modified xsi:type="dcterms:W3CDTF">2025-09-14T15:25:18Z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2052-11.1.0.9662</vt:lpwstr>
  </property>
</Properties>
</file>