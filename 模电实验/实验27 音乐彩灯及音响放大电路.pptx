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437" r:id="rId3"/>
    <p:sldId id="817" r:id="rId5"/>
    <p:sldId id="683" r:id="rId6"/>
    <p:sldId id="273" r:id="rId7"/>
    <p:sldId id="483" r:id="rId8"/>
    <p:sldId id="355" r:id="rId9"/>
    <p:sldId id="343" r:id="rId10"/>
    <p:sldId id="818" r:id="rId11"/>
    <p:sldId id="549" r:id="rId12"/>
    <p:sldId id="550" r:id="rId13"/>
    <p:sldId id="359" r:id="rId14"/>
    <p:sldId id="823" r:id="rId15"/>
    <p:sldId id="812" r:id="rId16"/>
    <p:sldId id="824" r:id="rId17"/>
    <p:sldId id="826" r:id="rId18"/>
    <p:sldId id="827" r:id="rId19"/>
    <p:sldId id="830" r:id="rId20"/>
    <p:sldId id="831" r:id="rId21"/>
    <p:sldId id="832" r:id="rId22"/>
    <p:sldId id="828" r:id="rId23"/>
  </p:sldIdLst>
  <p:sldSz cx="12192000" cy="6858000"/>
  <p:notesSz cx="6669405" cy="9928225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uattro" initials="q" lastIdx="0" clrIdx="0"/>
  <p:cmAuthor id="2" name="hp" initials="h" lastIdx="0" clrIdx="1"/>
  <p:cmAuthor id="3" name="麦芽糖" initials="麦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  <a:srgbClr val="CC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85"/>
        <p:guide pos="369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1059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3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673897" y="0"/>
            <a:ext cx="281059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3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81059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3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673897" y="10238852"/>
            <a:ext cx="281059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3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5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fontAlgn="base" hangingPunct="1"/>
            <a:endParaRPr lang="en-US" altLang="x-none" sz="1200" strike="noStrike" noProof="1" dirty="0"/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5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fontAlgn="base" hangingPunct="1"/>
            <a:endParaRPr lang="en-US" altLang="x-none" sz="1200" strike="noStrike" noProof="1" dirty="0"/>
          </a:p>
        </p:txBody>
      </p:sp>
      <p:sp>
        <p:nvSpPr>
          <p:cNvPr id="5124" name="Rectangle 4"/>
          <p:cNvSpPr>
            <a:spLocks noGrp="1"/>
          </p:cNvSpPr>
          <p:nvPr>
            <p:ph type="sldImg"/>
          </p:nvPr>
        </p:nvSpPr>
        <p:spPr>
          <a:xfrm>
            <a:off x="23283" y="742950"/>
            <a:ext cx="6620933" cy="3724275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125" name="Rectangle 5"/>
          <p:cNvSpPr>
            <a:spLocks noGrp="1"/>
          </p:cNvSpPr>
          <p:nvPr>
            <p:ph type="body" sz="quarter"/>
          </p:nvPr>
        </p:nvSpPr>
        <p:spPr>
          <a:xfrm>
            <a:off x="666750" y="4714875"/>
            <a:ext cx="5335588" cy="44688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 indent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fontAlgn="base" hangingPunct="1"/>
            <a:endParaRPr lang="en-US" altLang="x-none" sz="1200" strike="noStrike" noProof="1" dirty="0"/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en-US" altLang="zh-CN"/>
              <a:t>3k</a:t>
            </a:r>
            <a:r>
              <a:rPr lang="zh-CN" altLang="en-US"/>
              <a:t>到</a:t>
            </a:r>
            <a:r>
              <a:rPr lang="en-US" altLang="zh-CN"/>
              <a:t>6k</a:t>
            </a:r>
            <a:r>
              <a:rPr lang="zh-CN" altLang="en-US"/>
              <a:t>可以简化为高通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话筒的输出信号一般只有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5mV</a:t>
            </a:r>
            <a:r>
              <a:rPr lang="zh-CN" altLang="en-US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左右，而输出阻抗达到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20kΩ(</a:t>
            </a:r>
            <a:r>
              <a:rPr lang="zh-CN" altLang="en-US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亦有低输出阻抗的话筒如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20Ω</a:t>
            </a:r>
            <a:r>
              <a:rPr lang="zh-CN" altLang="en-US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200Ω</a:t>
            </a:r>
            <a:r>
              <a:rPr lang="zh-CN" altLang="en-US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等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)</a:t>
            </a:r>
            <a:endParaRPr lang="en-US" altLang="zh-CN" dirty="0">
              <a:solidFill>
                <a:srgbClr val="FF0000"/>
              </a:solidFill>
              <a:latin typeface="Verdana" panose="020B0604030504040204" pitchFamily="2" charset="0"/>
              <a:ea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29698" name="文本占位符 2"/>
          <p:cNvSpPr>
            <a:spLocks noGrp="1"/>
          </p:cNvSpPr>
          <p:nvPr>
            <p:ph type="body"/>
          </p:nvPr>
        </p:nvSpPr>
        <p:spPr/>
        <p:txBody>
          <a:bodyPr anchor="ctr" anchorCtr="0"/>
          <a:p>
            <a:pPr lvl="0" indent="0"/>
            <a:r>
              <a:rPr lang="en-US" altLang="zh-CN" b="1">
                <a:ea typeface="黑体" panose="02010609060101010101" charset="-122"/>
                <a:sym typeface="宋体" panose="02010600030101010101" pitchFamily="2" charset="-122"/>
              </a:rPr>
              <a:t>    LM386</a:t>
            </a:r>
            <a:r>
              <a:rPr lang="zh-CN" altLang="en-US" b="1">
                <a:ea typeface="黑体" panose="02010609060101010101" charset="-122"/>
                <a:sym typeface="宋体" panose="02010600030101010101" pitchFamily="2" charset="-122"/>
              </a:rPr>
              <a:t>是广泛用于收录音机、对讲机、电视伴音等系统中的低电压通用型低频集成功放。</a:t>
            </a:r>
            <a:endParaRPr lang="zh-CN" altLang="en-US"/>
          </a:p>
          <a:p>
            <a:pPr lvl="0" indent="0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29698" name="文本占位符 2"/>
          <p:cNvSpPr>
            <a:spLocks noGrp="1"/>
          </p:cNvSpPr>
          <p:nvPr>
            <p:ph type="body"/>
          </p:nvPr>
        </p:nvSpPr>
        <p:spPr/>
        <p:txBody>
          <a:bodyPr anchor="ctr" anchorCtr="0"/>
          <a:p>
            <a:pPr lvl="0" indent="0"/>
            <a:r>
              <a:rPr lang="en-US" altLang="zh-CN" b="1">
                <a:ea typeface="黑体" panose="02010609060101010101" charset="-122"/>
                <a:sym typeface="宋体" panose="02010600030101010101" pitchFamily="2" charset="-122"/>
              </a:rPr>
              <a:t>    LM386</a:t>
            </a:r>
            <a:r>
              <a:rPr lang="zh-CN" altLang="en-US" b="1">
                <a:ea typeface="黑体" panose="02010609060101010101" charset="-122"/>
                <a:sym typeface="宋体" panose="02010600030101010101" pitchFamily="2" charset="-122"/>
              </a:rPr>
              <a:t>是广泛用于收录音机、对讲机、电视伴音等系统中的低电压通用型低频集成功放。</a:t>
            </a:r>
            <a:endParaRPr lang="zh-CN" altLang="en-US"/>
          </a:p>
          <a:p>
            <a:pPr lvl="0" indent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前面的运放使用</a:t>
            </a:r>
            <a:r>
              <a:rPr lang="en-US" altLang="zh-CN"/>
              <a:t>9V</a:t>
            </a:r>
            <a:r>
              <a:rPr lang="zh-CN" altLang="en-US"/>
              <a:t>电源也没有问题。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29698" name="文本占位符 2"/>
          <p:cNvSpPr>
            <a:spLocks noGrp="1"/>
          </p:cNvSpPr>
          <p:nvPr>
            <p:ph type="body"/>
          </p:nvPr>
        </p:nvSpPr>
        <p:spPr/>
        <p:txBody>
          <a:bodyPr anchor="ctr" anchorCtr="0"/>
          <a:p>
            <a:pPr lvl="0" indent="0"/>
            <a:r>
              <a:rPr lang="en-US" altLang="zh-CN" b="1">
                <a:ea typeface="黑体" panose="02010609060101010101" charset="-122"/>
                <a:sym typeface="宋体" panose="02010600030101010101" pitchFamily="2" charset="-122"/>
              </a:rPr>
              <a:t>    LM386</a:t>
            </a:r>
            <a:r>
              <a:rPr lang="zh-CN" altLang="en-US" b="1">
                <a:ea typeface="黑体" panose="02010609060101010101" charset="-122"/>
                <a:sym typeface="宋体" panose="02010600030101010101" pitchFamily="2" charset="-122"/>
              </a:rPr>
              <a:t>是广泛用于收录音机、对讲机、电视伴音等系统中的低电压通用型低频集成功放。</a:t>
            </a:r>
            <a:endParaRPr lang="zh-CN" altLang="en-US"/>
          </a:p>
          <a:p>
            <a:pPr lvl="0" indent="0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126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：有三个独立电源，两个可调的，每个都有正负极，负极就是参考地。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调整好正负电源后，断掉电源，然后再将电源接入到系统中。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：需要测试芯片的管脚对原理图中的地的电压。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CC3C9A-7CD7-47E1-90F6-B4DC57AC20AB}" type="slidenum">
              <a:rPr lang="en-US" altLang="zh-CN" b="0" smtClean="0">
                <a:latin typeface="Times New Roman" panose="02020603050405020304" pitchFamily="2" charset="0"/>
              </a:rPr>
            </a:fld>
            <a:endParaRPr lang="en-US" altLang="zh-CN" b="0">
              <a:latin typeface="Times New Roman" panose="02020603050405020304" pitchFamily="2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862D17-FC2D-4A4C-8F02-1A99C5F3057B}" type="slidenum">
              <a:rPr lang="en-US" altLang="zh-CN" b="0" smtClean="0">
                <a:latin typeface="Times New Roman" panose="02020603050405020304" pitchFamily="2" charset="0"/>
              </a:rPr>
            </a:fld>
            <a:endParaRPr lang="en-US" altLang="zh-CN" b="0">
              <a:latin typeface="Times New Roman" panose="02020603050405020304" pitchFamily="2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8A675-226A-4D56-8347-4B3610317F64}" type="datetimeFigureOut">
              <a:rPr lang="zh-CN" altLang="en-US"/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B9EB3-355C-4A20-A640-36264C256C8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238760" y="466445"/>
            <a:ext cx="10610851" cy="18000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E0CDB-65F3-4F3F-A923-2D789CDDBB14}" type="datetimeFigureOut">
              <a:rPr lang="zh-CN" altLang="en-US"/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A28CB-9B6B-4634-9BB3-401065AED8E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DF57E-A3F1-401C-94EA-13F8E6928BD5}" type="datetimeFigureOut">
              <a:rPr lang="zh-CN" altLang="en-US"/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C3FE5-0A19-4BBE-A774-D32EBFB2936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7" name="AutoShape 4"/>
          <p:cNvSpPr>
            <a:spLocks noChangeArrowheads="1"/>
          </p:cNvSpPr>
          <p:nvPr userDrawn="1"/>
        </p:nvSpPr>
        <p:spPr bwMode="auto">
          <a:xfrm>
            <a:off x="211855" y="529945"/>
            <a:ext cx="18368000" cy="0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1" u="none" kern="1200" baseline="0">
          <a:solidFill>
            <a:srgbClr val="FF33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sz="28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sz="2800" b="1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sz="2800" b="1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9.e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Relationship Id="rId3" Type="http://schemas.openxmlformats.org/officeDocument/2006/relationships/image" Target="../media/image12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4.emf"/><Relationship Id="rId1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4.bin"/><Relationship Id="rId3" Type="http://schemas.openxmlformats.org/officeDocument/2006/relationships/image" Target="../media/image15.emf"/><Relationship Id="rId2" Type="http://schemas.openxmlformats.org/officeDocument/2006/relationships/oleObject" Target="../embeddings/oleObject13.bin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vmlDrawing" Target="../drawings/vmlDrawing10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7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145" name="标题 3073"/>
          <p:cNvSpPr>
            <a:spLocks noGrp="1"/>
          </p:cNvSpPr>
          <p:nvPr>
            <p:ph type="ctrTitle" idx="4294967295"/>
          </p:nvPr>
        </p:nvSpPr>
        <p:spPr>
          <a:xfrm>
            <a:off x="1554480" y="2130425"/>
            <a:ext cx="9413875" cy="1470025"/>
          </a:xfrm>
          <a:prstGeom prst="rect">
            <a:avLst/>
          </a:prstGeom>
        </p:spPr>
        <p:txBody>
          <a:bodyPr anchor="ctr" anchorCtr="0"/>
          <a:p>
            <a:pPr algn="l" defTabSz="914400">
              <a:buClrTx/>
              <a:buSzTx/>
              <a:buFontTx/>
              <a:buNone/>
            </a:pPr>
            <a:r>
              <a:rPr lang="zh-CN" sz="3200" kern="120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实验</a:t>
            </a:r>
            <a:r>
              <a:rPr lang="en-US" altLang="zh-CN" sz="3200" kern="120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27 </a:t>
            </a:r>
            <a:r>
              <a:rPr sz="3200" kern="1200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音乐彩灯</a:t>
            </a:r>
            <a:r>
              <a:rPr sz="3200" kern="120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控制电路及</a:t>
            </a:r>
            <a:r>
              <a:rPr sz="3200" kern="1200" baseline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音响放大器</a:t>
            </a:r>
            <a:r>
              <a:rPr sz="3200" kern="1200" baseline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设计与调试</a:t>
            </a:r>
            <a:endParaRPr sz="3200" kern="1200" baseline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19830" y="3284855"/>
            <a:ext cx="45497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>
              <a:buClrTx/>
              <a:buSzTx/>
              <a:buFontTx/>
              <a:buNone/>
            </a:pPr>
            <a:r>
              <a:rPr lang="zh-CN" sz="2400" dirty="0"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参考</a:t>
            </a:r>
            <a:r>
              <a:rPr sz="2400" dirty="0"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教材实验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12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13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27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28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93065" y="774065"/>
            <a:ext cx="75438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话筒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171" name="Text Box 10"/>
          <p:cNvSpPr txBox="1"/>
          <p:nvPr/>
        </p:nvSpPr>
        <p:spPr>
          <a:xfrm>
            <a:off x="1604963" y="42545"/>
            <a:ext cx="6062662" cy="5378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anchor="t" anchorCtr="0">
            <a:spAutoFit/>
          </a:bodyPr>
          <a:p>
            <a:pPr eaLnBrk="0" hangingPunct="0"/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设计任务和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72" name="文本框 5"/>
          <p:cNvSpPr txBox="1"/>
          <p:nvPr/>
        </p:nvSpPr>
        <p:spPr>
          <a:xfrm>
            <a:off x="7677150" y="499745"/>
            <a:ext cx="4095750" cy="1360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音量对彩灯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</a:t>
            </a:r>
            <a:endParaRPr lang="en-US" altLang="zh-CN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信号强弱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音量越强，灯亮的个数越多</a:t>
            </a:r>
            <a:endParaRPr lang="zh-CN" altLang="en-US" sz="2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2790" y="1985010"/>
            <a:ext cx="934085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绿灯</a:t>
            </a:r>
            <a:endParaRPr lang="zh-CN" altLang="en-US" sz="2200" b="1" dirty="0">
              <a:latin typeface="+mn-ea"/>
              <a:ea typeface="+mn-ea"/>
            </a:endParaRPr>
          </a:p>
          <a:p>
            <a:pPr algn="ctr"/>
            <a:r>
              <a:rPr lang="en-US" altLang="zh-CN" sz="2200" b="1" dirty="0">
                <a:latin typeface="+mn-ea"/>
                <a:ea typeface="+mn-ea"/>
              </a:rPr>
              <a:t>(LED)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62545" y="1903095"/>
            <a:ext cx="2976880" cy="9372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任务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频率对彩灯控制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高、低通有源滤波电路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184515" y="-243205"/>
            <a:ext cx="7632065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176135" y="-14605"/>
            <a:ext cx="7776845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0" name="文本框 8"/>
          <p:cNvSpPr txBox="1"/>
          <p:nvPr/>
        </p:nvSpPr>
        <p:spPr>
          <a:xfrm>
            <a:off x="7608570" y="4218940"/>
            <a:ext cx="4098290" cy="9372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任务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cs typeface="+mn-ea"/>
              </a:rPr>
              <a:t>3 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提供输出功率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rPr>
              <a:t>给</a:t>
            </a:r>
            <a:r>
              <a:rPr lang="zh-CN" altLang="en-US" sz="2200" b="1" dirty="0">
                <a:latin typeface="+mn-ea"/>
                <a:ea typeface="+mn-ea"/>
                <a:cs typeface="+mn-ea"/>
                <a:sym typeface="+mn-ea"/>
              </a:rPr>
              <a:t>扬声器</a:t>
            </a:r>
            <a:r>
              <a:rPr lang="en-US" altLang="zh-CN" sz="2200" b="1" i="1" dirty="0">
                <a:latin typeface="+mn-lt"/>
                <a:ea typeface="+mn-ea"/>
                <a:cs typeface="+mn-lt"/>
                <a:sym typeface="+mn-ea"/>
              </a:rPr>
              <a:t>R</a:t>
            </a:r>
            <a:r>
              <a:rPr lang="en-US" altLang="zh-CN" sz="2200" b="1" baseline="-30000" dirty="0">
                <a:solidFill>
                  <a:schemeClr val="tx1"/>
                </a:solidFill>
                <a:latin typeface="+mn-lt"/>
                <a:ea typeface="+mn-ea"/>
                <a:cs typeface="+mn-lt"/>
                <a:sym typeface="+mn-ea"/>
              </a:rPr>
              <a:t>L</a:t>
            </a:r>
            <a:endParaRPr lang="en-US" altLang="zh-CN" sz="2200" dirty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播放音乐</a:t>
            </a:r>
            <a:endParaRPr lang="zh-CN" altLang="en-US" sz="2200" b="1" dirty="0">
              <a:solidFill>
                <a:schemeClr val="tx1"/>
              </a:solidFill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66545" y="766445"/>
            <a:ext cx="1091565" cy="42989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放大器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69920" y="766445"/>
            <a:ext cx="1379855" cy="42989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整流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滤波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20945" y="766445"/>
            <a:ext cx="1036955" cy="42989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驱动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器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50235" y="1989455"/>
            <a:ext cx="1983740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低通滤波电路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f</a:t>
            </a:r>
            <a:r>
              <a:rPr lang="en-US" altLang="zh-CN" sz="2200" b="1" baseline="-2500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H</a:t>
            </a:r>
            <a:r>
              <a:rPr lang="en-US" altLang="zh-CN" sz="2200" b="1">
                <a:solidFill>
                  <a:srgbClr val="FF0000"/>
                </a:solidFill>
                <a:ea typeface="微软雅黑" panose="020B0503020204020204" charset="-122"/>
                <a:cs typeface="Arial" panose="020B0604020202020204" pitchFamily="34" charset="0"/>
              </a:rPr>
              <a:t>≈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500Hz</a:t>
            </a: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128645" y="2902585"/>
            <a:ext cx="2019935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高通滤波电路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200" b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f</a:t>
            </a:r>
            <a:r>
              <a:rPr lang="en-US" altLang="zh-CN" sz="2200" b="1" baseline="-2500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L</a:t>
            </a:r>
            <a:r>
              <a:rPr lang="en-US" altLang="zh-CN" sz="2200" b="1">
                <a:solidFill>
                  <a:srgbClr val="FF0000"/>
                </a:solidFill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≈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500</a:t>
            </a:r>
            <a:r>
              <a:rPr lang="en-US" altLang="zh-CN" sz="2200" b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Hz</a:t>
            </a: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851525" y="3028315"/>
            <a:ext cx="934085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红灯</a:t>
            </a:r>
            <a:endParaRPr lang="zh-CN" altLang="en-US" sz="2200" b="1" dirty="0">
              <a:latin typeface="+mn-ea"/>
              <a:ea typeface="+mn-ea"/>
            </a:endParaRPr>
          </a:p>
          <a:p>
            <a:pPr algn="ctr"/>
            <a:r>
              <a:rPr lang="en-US" altLang="zh-CN" sz="2200" b="1" dirty="0">
                <a:latin typeface="+mn-ea"/>
                <a:ea typeface="+mn-ea"/>
                <a:sym typeface="+mn-ea"/>
              </a:rPr>
              <a:t>(LED)</a:t>
            </a:r>
            <a:endParaRPr lang="zh-CN" altLang="en-US" sz="2200" b="1" dirty="0">
              <a:latin typeface="+mn-ea"/>
              <a:ea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095625" y="4232910"/>
            <a:ext cx="2000885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功率放大电路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&gt;0.3W</a:t>
            </a: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33415" y="4321175"/>
            <a:ext cx="114427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扬声器</a:t>
            </a:r>
            <a:endParaRPr lang="zh-CN" altLang="en-US" sz="2200" b="1">
              <a:latin typeface="+mn-ea"/>
              <a:ea typeface="+mn-ea"/>
              <a:cs typeface="+mn-ea"/>
              <a:sym typeface="+mn-ea"/>
            </a:endParaRPr>
          </a:p>
          <a:p>
            <a:pPr algn="l"/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（</a:t>
            </a:r>
            <a:r>
              <a:rPr lang="en-US" altLang="zh-CN" sz="2200"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8Ω</a:t>
            </a:r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）</a:t>
            </a:r>
            <a:endParaRPr lang="en-US" altLang="zh-CN" sz="2200" b="1">
              <a:latin typeface="+mn-ea"/>
              <a:ea typeface="+mn-ea"/>
              <a:cs typeface="+mn-ea"/>
              <a:sym typeface="+mn-ea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1011555" y="981075"/>
            <a:ext cx="540000" cy="635"/>
          </a:xfrm>
          <a:prstGeom prst="straightConnector1">
            <a:avLst/>
          </a:prstGeom>
          <a:ln w="19050">
            <a:solidFill>
              <a:srgbClr val="FF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2688590" y="933450"/>
            <a:ext cx="468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4554220" y="933450"/>
            <a:ext cx="432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2932430" y="941070"/>
            <a:ext cx="0" cy="3744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2959100" y="2352040"/>
            <a:ext cx="180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2942590" y="3268345"/>
            <a:ext cx="180000" cy="635"/>
          </a:xfrm>
          <a:prstGeom prst="straightConnector1">
            <a:avLst/>
          </a:prstGeom>
          <a:ln w="19050">
            <a:solidFill>
              <a:srgbClr val="FF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2917190" y="4697095"/>
            <a:ext cx="216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273175" y="5273040"/>
            <a:ext cx="592074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1)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信号源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信号单独调试各个功能，并整体调试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2) 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通过播放手机音乐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整体验收</a:t>
            </a:r>
            <a:endParaRPr lang="zh-CN" altLang="en-US"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5183505" y="2280285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5166995" y="3340100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5078730" y="4543425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6066155" y="977900"/>
            <a:ext cx="396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370320" y="676910"/>
            <a:ext cx="1300480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三个彩灯</a:t>
            </a:r>
            <a:endParaRPr lang="zh-CN" altLang="en-US" sz="2200" b="1" dirty="0">
              <a:latin typeface="+mn-ea"/>
              <a:ea typeface="+mn-ea"/>
            </a:endParaRPr>
          </a:p>
          <a:p>
            <a:pPr algn="ctr"/>
            <a:r>
              <a:rPr lang="en-US" altLang="zh-CN" sz="2200" b="1" dirty="0">
                <a:latin typeface="+mn-ea"/>
                <a:ea typeface="+mn-ea"/>
                <a:sym typeface="+mn-ea"/>
              </a:rPr>
              <a:t>(LED)</a:t>
            </a:r>
            <a:endParaRPr lang="zh-CN" altLang="en-US" sz="22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  <p:bldP spid="5" grpId="0"/>
      <p:bldP spid="7180" grpId="0"/>
      <p:bldP spid="15" grpId="0" bldLvl="0" animBg="1"/>
      <p:bldP spid="16" grpId="0" bldLvl="0" animBg="1"/>
      <p:bldP spid="17" grpId="0" bldLvl="0" animBg="1"/>
      <p:bldP spid="4" grpId="0"/>
      <p:bldP spid="18" grpId="0" bldLvl="0" animBg="1"/>
      <p:bldP spid="19" grpId="0" bldLvl="0" animBg="1"/>
      <p:bldP spid="22" grpId="0"/>
      <p:bldP spid="23" grpId="0" bldLvl="0" animBg="1"/>
      <p:bldP spid="25" grpId="0"/>
      <p:bldP spid="9" grpId="0"/>
      <p:bldP spid="34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7030"/>
            <a:ext cx="8229600" cy="633095"/>
          </a:xfrm>
        </p:spPr>
        <p:txBody>
          <a:bodyPr anchor="b"/>
          <a:lstStyle/>
          <a:p>
            <a:pPr eaLnBrk="1" hangingPunct="1"/>
            <a:r>
              <a:rPr lang="zh-CN" altLang="en-US" sz="4000" b="1" smtClean="0">
                <a:solidFill>
                  <a:schemeClr val="accent2"/>
                </a:solidFill>
              </a:rPr>
              <a:t>实验原理提示</a:t>
            </a:r>
            <a:r>
              <a:rPr lang="en-US" altLang="zh-CN" sz="4000" b="1" smtClean="0">
                <a:solidFill>
                  <a:schemeClr val="accent2"/>
                </a:solidFill>
              </a:rPr>
              <a:t>4-</a:t>
            </a:r>
            <a:r>
              <a:rPr lang="zh-CN" altLang="en-US" sz="4000" b="1" smtClean="0">
                <a:solidFill>
                  <a:schemeClr val="accent2"/>
                </a:solidFill>
              </a:rPr>
              <a:t>发光二极管驱动</a:t>
            </a:r>
            <a:r>
              <a:rPr lang="zh-CN" altLang="en-US" sz="5400" b="1" smtClean="0">
                <a:solidFill>
                  <a:schemeClr val="accent2"/>
                </a:solidFill>
              </a:rPr>
              <a:t> </a:t>
            </a:r>
            <a:endParaRPr lang="zh-CN" altLang="en-US" sz="5400" b="1" smtClean="0">
              <a:solidFill>
                <a:schemeClr val="accent2"/>
              </a:solidFill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71880"/>
            <a:ext cx="8640445" cy="17811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b="1" smtClean="0"/>
              <a:t>发光二极管和普通二极管一样都具有单向导电性，</a:t>
            </a:r>
            <a:r>
              <a:rPr lang="zh-CN" altLang="en-US" sz="2800" b="1" smtClean="0">
                <a:solidFill>
                  <a:srgbClr val="0000FF"/>
                </a:solidFill>
              </a:rPr>
              <a:t>正向导通时才发光，</a:t>
            </a:r>
            <a:r>
              <a:rPr lang="zh-CN" altLang="en-US" sz="2800" b="1" smtClean="0"/>
              <a:t>光亮度随导通电流增大而增强。 </a:t>
            </a:r>
            <a:endParaRPr lang="zh-CN" altLang="en-US" sz="2800" b="1" smtClean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b="1" smtClean="0"/>
              <a:t>各种</a:t>
            </a:r>
            <a:r>
              <a:rPr lang="zh-CN" altLang="en-US" sz="2800" b="1" smtClean="0">
                <a:solidFill>
                  <a:srgbClr val="FF0000"/>
                </a:solidFill>
              </a:rPr>
              <a:t>颜色</a:t>
            </a:r>
            <a:r>
              <a:rPr lang="zh-CN" altLang="en-US" sz="2800" b="1" smtClean="0"/>
              <a:t>发光二极管所需</a:t>
            </a:r>
            <a:r>
              <a:rPr lang="zh-CN" altLang="en-US" sz="2800" b="1" smtClean="0">
                <a:solidFill>
                  <a:srgbClr val="FF0000"/>
                </a:solidFill>
              </a:rPr>
              <a:t>正向导通电压</a:t>
            </a:r>
            <a:r>
              <a:rPr lang="en-US" altLang="zh-CN" sz="2800" b="1" i="1" smtClean="0">
                <a:solidFill>
                  <a:srgbClr val="FF0000"/>
                </a:solidFill>
              </a:rPr>
              <a:t>V</a:t>
            </a:r>
            <a:r>
              <a:rPr lang="en-US" altLang="zh-CN" sz="1600" b="1" smtClean="0">
                <a:solidFill>
                  <a:srgbClr val="FF0000"/>
                </a:solidFill>
              </a:rPr>
              <a:t>F</a:t>
            </a:r>
            <a:r>
              <a:rPr lang="zh-CN" altLang="en-US" sz="2800" b="1" smtClean="0"/>
              <a:t>如下表示。</a:t>
            </a:r>
            <a:endParaRPr lang="zh-CN" altLang="en-US" sz="2800" b="1" smtClean="0"/>
          </a:p>
        </p:txBody>
      </p:sp>
      <p:pic>
        <p:nvPicPr>
          <p:cNvPr id="1029" name="Picture 4" descr="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650" y="2789238"/>
            <a:ext cx="8031163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Text Box 5"/>
          <p:cNvSpPr txBox="1">
            <a:spLocks noChangeArrowheads="1"/>
          </p:cNvSpPr>
          <p:nvPr/>
        </p:nvSpPr>
        <p:spPr bwMode="auto">
          <a:xfrm>
            <a:off x="1703958" y="4797152"/>
            <a:ext cx="8712522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Verdana" panose="020B0604030504040204" pitchFamily="2" charset="0"/>
              </a:rPr>
              <a:t>   发光二极管的</a:t>
            </a:r>
            <a:r>
              <a:rPr lang="zh-CN" altLang="en-US" sz="2800" b="1">
                <a:solidFill>
                  <a:srgbClr val="0000FF"/>
                </a:solidFill>
                <a:latin typeface="Verdana" panose="020B0604030504040204" pitchFamily="2" charset="0"/>
              </a:rPr>
              <a:t>导通电流不能太大</a:t>
            </a:r>
            <a:r>
              <a:rPr lang="zh-CN" altLang="en-US" sz="2800" b="1">
                <a:latin typeface="Verdana" panose="020B0604030504040204" pitchFamily="2" charset="0"/>
              </a:rPr>
              <a:t>（小于</a:t>
            </a:r>
            <a:r>
              <a:rPr lang="en-US" altLang="zh-CN" sz="2800" b="1">
                <a:latin typeface="Verdana" panose="020B0604030504040204" pitchFamily="2" charset="0"/>
              </a:rPr>
              <a:t>20mA</a:t>
            </a:r>
            <a:r>
              <a:rPr lang="zh-CN" altLang="en-US" sz="2800" b="1">
                <a:latin typeface="Verdana" panose="020B0604030504040204" pitchFamily="2" charset="0"/>
              </a:rPr>
              <a:t>），否则会损坏</a:t>
            </a:r>
            <a:r>
              <a:rPr lang="zh-CN" altLang="en-US" sz="2800" b="1" smtClean="0">
                <a:latin typeface="Verdana" panose="020B0604030504040204" pitchFamily="2" charset="0"/>
              </a:rPr>
              <a:t>。     使用</a:t>
            </a:r>
            <a:r>
              <a:rPr lang="en-US" altLang="zh-CN" sz="2800" b="1" smtClean="0">
                <a:latin typeface="Verdana" panose="020B0604030504040204" pitchFamily="2" charset="0"/>
              </a:rPr>
              <a:t>LED</a:t>
            </a:r>
            <a:r>
              <a:rPr lang="zh-CN" altLang="en-US" sz="2800" b="1" smtClean="0">
                <a:latin typeface="Verdana" panose="020B0604030504040204" pitchFamily="2" charset="0"/>
              </a:rPr>
              <a:t>时必须</a:t>
            </a:r>
            <a:endParaRPr lang="en-US" altLang="zh-CN" sz="2800" b="1" smtClean="0">
              <a:latin typeface="Verdana" panose="020B0604030504040204" pitchFamily="2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smtClean="0">
                <a:solidFill>
                  <a:srgbClr val="FF0000"/>
                </a:solidFill>
                <a:latin typeface="Verdana" panose="020B0604030504040204" pitchFamily="2" charset="0"/>
              </a:rPr>
              <a:t>串</a:t>
            </a:r>
            <a:r>
              <a:rPr lang="zh-CN" altLang="en-US" sz="2800" b="1">
                <a:solidFill>
                  <a:srgbClr val="FF0000"/>
                </a:solidFill>
                <a:latin typeface="Verdana" panose="020B0604030504040204" pitchFamily="2" charset="0"/>
              </a:rPr>
              <a:t>接限流电阻</a:t>
            </a:r>
            <a:r>
              <a:rPr lang="en-US" altLang="zh-CN" sz="2800" b="1">
                <a:solidFill>
                  <a:srgbClr val="FF0000"/>
                </a:solidFill>
                <a:latin typeface="Verdana" panose="020B0604030504040204" pitchFamily="2" charset="0"/>
              </a:rPr>
              <a:t>R</a:t>
            </a:r>
            <a:r>
              <a:rPr lang="zh-CN" altLang="en-US" sz="2800" b="1">
                <a:solidFill>
                  <a:srgbClr val="FF0000"/>
                </a:solidFill>
                <a:latin typeface="Verdana" panose="020B0604030504040204" pitchFamily="2" charset="0"/>
              </a:rPr>
              <a:t>！</a:t>
            </a:r>
            <a:r>
              <a:rPr lang="zh-CN" altLang="en-US" sz="2800" b="1">
                <a:latin typeface="Verdana" panose="020B0604030504040204" pitchFamily="2" charset="0"/>
              </a:rPr>
              <a:t>其阻值</a:t>
            </a:r>
            <a:r>
              <a:rPr lang="zh-CN" altLang="en-US" sz="2800" b="1" smtClean="0">
                <a:latin typeface="Verdana" panose="020B0604030504040204" pitchFamily="2" charset="0"/>
              </a:rPr>
              <a:t>由计算得：</a:t>
            </a:r>
            <a:endParaRPr lang="zh-CN" altLang="en-US" sz="2800" b="1">
              <a:latin typeface="Verdana" panose="020B0604030504040204" pitchFamily="2" charset="0"/>
            </a:endParaRPr>
          </a:p>
        </p:txBody>
      </p:sp>
      <p:sp>
        <p:nvSpPr>
          <p:cNvPr id="1032" name="Line 4"/>
          <p:cNvSpPr>
            <a:spLocks noChangeShapeType="1"/>
          </p:cNvSpPr>
          <p:nvPr/>
        </p:nvSpPr>
        <p:spPr bwMode="auto">
          <a:xfrm>
            <a:off x="2135188" y="1000125"/>
            <a:ext cx="7696200" cy="0"/>
          </a:xfrm>
          <a:prstGeom prst="line">
            <a:avLst/>
          </a:prstGeom>
          <a:noFill/>
          <a:ln w="88900" cap="sq" cmpd="tri">
            <a:solidFill>
              <a:srgbClr val="99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824192" y="5566176"/>
          <a:ext cx="1872208" cy="1036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公式" r:id="rId2" imgW="18897600" imgH="10363200" progId="">
                  <p:embed/>
                </p:oleObj>
              </mc:Choice>
              <mc:Fallback>
                <p:oleObj name="公式" r:id="rId2" imgW="18897600" imgH="10363200" progId="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24192" y="5566176"/>
                        <a:ext cx="1872208" cy="1036052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00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/>
      <p:sp>
        <p:nvSpPr>
          <p:cNvPr id="6145" name="Rectangle 14"/>
          <p:cNvSpPr/>
          <p:nvPr/>
        </p:nvSpPr>
        <p:spPr>
          <a:xfrm>
            <a:off x="1633855" y="190500"/>
            <a:ext cx="8752205" cy="21621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 fontAlgn="base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800" b="1" strike="noStrike" noProof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音乐彩灯控制电路部分：</a:t>
            </a:r>
            <a:endParaRPr lang="zh-CN" altLang="en-US" sz="2800" strike="noStrike" noProof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</a:pPr>
            <a:r>
              <a:rPr lang="en-US" altLang="zh-CN" sz="1800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1</a:t>
            </a:r>
            <a:r>
              <a:rPr lang="zh-CN" altLang="en-US" sz="1800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：声音信号强弱：则应将声音信号变为电信号，经过放大、整流滤波，以信号平均值驱动彩灯发亮。信号越强，则灯的亮度越大</a:t>
            </a:r>
            <a:endParaRPr lang="zh-CN" altLang="en-US" sz="1800" strike="noStrike" noProof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fontAlgn="base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</a:pPr>
            <a:r>
              <a:rPr lang="zh-CN" altLang="en-US" sz="1800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 strike="noStrike" noProof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：高、中、低音（不同频率信号）：采用高、带、低通有源滤波电路。低通滤波器限制高音频信号通过，而高通滤波器限制低音频信号通过，分频段输出信号，然后经过放大器驱动电路使相应的发光二极管点亮</a:t>
            </a:r>
            <a:endParaRPr lang="zh-CN" altLang="en-US" sz="1800" strike="noStrike" noProof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218" name="内容占位符 2"/>
          <p:cNvSpPr>
            <a:spLocks noGrp="1"/>
          </p:cNvSpPr>
          <p:nvPr/>
        </p:nvSpPr>
        <p:spPr>
          <a:xfrm>
            <a:off x="1647825" y="2936240"/>
            <a:ext cx="8707755" cy="1787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pPr eaLnBrk="0" hangingPunct="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音频功率放大部分：</a:t>
            </a:r>
            <a:endParaRPr lang="en-US" altLang="zh-CN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：功率放大器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简称功放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的作用是给音响放大器的负载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1800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扬声器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提供一定的输出功率。当负载一定时，希望输出的功率尽可能大，输出信号的非线性失真尽可能地小，效率尽可能高。</a:t>
            </a:r>
            <a:endParaRPr lang="zh-CN" altLang="en-US" sz="28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4337" name="文本框 1"/>
          <p:cNvSpPr txBox="1"/>
          <p:nvPr/>
        </p:nvSpPr>
        <p:spPr>
          <a:xfrm>
            <a:off x="3648075" y="3068955"/>
            <a:ext cx="390398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4800" b="1" dirty="0">
                <a:solidFill>
                  <a:schemeClr val="tx1"/>
                </a:solidFill>
                <a:latin typeface="+mn-ea"/>
                <a:ea typeface="+mn-ea"/>
              </a:rPr>
              <a:t>二</a:t>
            </a:r>
            <a:r>
              <a:rPr lang="en-US" altLang="zh-CN" sz="48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4800" b="1" dirty="0">
                <a:solidFill>
                  <a:schemeClr val="tx1"/>
                </a:solidFill>
                <a:latin typeface="+mn-ea"/>
                <a:ea typeface="+mn-ea"/>
              </a:rPr>
              <a:t>实验电路</a:t>
            </a:r>
            <a:endParaRPr lang="zh-CN" altLang="en-US" sz="48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3"/>
          <p:cNvSpPr>
            <a:spLocks noGrp="1"/>
          </p:cNvSpPr>
          <p:nvPr>
            <p:ph type="body" idx="4294967295"/>
          </p:nvPr>
        </p:nvSpPr>
        <p:spPr>
          <a:xfrm>
            <a:off x="1127125" y="-27305"/>
            <a:ext cx="8536940" cy="659765"/>
          </a:xfrm>
        </p:spPr>
        <p:txBody>
          <a:bodyPr vert="horz" wrap="square" anchor="t" anchorCtr="0"/>
          <a:p>
            <a:pPr marL="0" indent="0" eaLnBrk="1" hangingPunct="1">
              <a:buNone/>
            </a:pPr>
            <a:r>
              <a:rPr lang="zh-CN" altLang="en-US" sz="2400" dirty="0">
                <a:latin typeface="+mn-ea"/>
                <a:sym typeface="+mn-ea"/>
              </a:rPr>
              <a:t>二</a:t>
            </a:r>
            <a:r>
              <a:rPr lang="en-US" altLang="zh-CN" sz="2400" dirty="0">
                <a:latin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sym typeface="+mn-ea"/>
              </a:rPr>
              <a:t>实验电路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&lt;&lt;</a:t>
            </a:r>
            <a:r>
              <a:rPr lang="zh-CN" altLang="en-US" sz="3200">
                <a:solidFill>
                  <a:schemeClr val="tx1"/>
                </a:solidFill>
                <a:latin typeface="+mn-ea"/>
                <a:cs typeface="+mn-ea"/>
              </a:rPr>
              <a:t>放大器</a:t>
            </a:r>
            <a:endParaRPr lang="zh-CN" altLang="en-US" sz="3200">
              <a:latin typeface="+mn-ea"/>
              <a:cs typeface="+mn-ea"/>
            </a:endParaRPr>
          </a:p>
        </p:txBody>
      </p:sp>
      <p:sp>
        <p:nvSpPr>
          <p:cNvPr id="16386" name="Rectangle 5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387" name="Object 4"/>
          <p:cNvGraphicFramePr>
            <a:graphicFrameLocks noChangeAspect="1"/>
          </p:cNvGraphicFramePr>
          <p:nvPr/>
        </p:nvGraphicFramePr>
        <p:xfrm>
          <a:off x="2140228" y="3860128"/>
          <a:ext cx="4834342" cy="223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981325" imgH="1381125" progId="WPS.Doc.6">
                  <p:embed/>
                </p:oleObj>
              </mc:Choice>
              <mc:Fallback>
                <p:oleObj name="" r:id="rId1" imgW="2981325" imgH="1381125" progId="WPS.Doc.6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0228" y="3860128"/>
                        <a:ext cx="4834342" cy="223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对象 14339"/>
          <p:cNvGraphicFramePr>
            <a:graphicFrameLocks noChangeAspect="1"/>
          </p:cNvGraphicFramePr>
          <p:nvPr/>
        </p:nvGraphicFramePr>
        <p:xfrm>
          <a:off x="7251700" y="4364514"/>
          <a:ext cx="2923195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1473200" imgH="431800" progId="Equation.3">
                  <p:embed/>
                </p:oleObj>
              </mc:Choice>
              <mc:Fallback>
                <p:oleObj name="" r:id="rId3" imgW="1473200" imgH="4318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51700" y="4364514"/>
                        <a:ext cx="2923195" cy="82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"/>
          <p:cNvSpPr>
            <a:spLocks noGrp="1"/>
          </p:cNvSpPr>
          <p:nvPr/>
        </p:nvSpPr>
        <p:spPr>
          <a:xfrm>
            <a:off x="1661160" y="2275205"/>
            <a:ext cx="4091940" cy="488950"/>
          </a:xfrm>
        </p:spPr>
        <p:txBody>
          <a:bodyPr vert="horz" wrap="square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200" dirty="0">
                <a:latin typeface="+mn-ea"/>
                <a:cs typeface="+mn-ea"/>
              </a:rPr>
              <a:t>电压增益需达到</a:t>
            </a:r>
            <a:r>
              <a:rPr lang="en-US" altLang="zh-CN" sz="2200" dirty="0">
                <a:latin typeface="+mn-ea"/>
                <a:cs typeface="+mn-ea"/>
              </a:rPr>
              <a:t>100</a:t>
            </a:r>
            <a:r>
              <a:rPr lang="zh-CN" altLang="en-US" sz="2200" dirty="0">
                <a:latin typeface="+mn-ea"/>
                <a:cs typeface="+mn-ea"/>
              </a:rPr>
              <a:t>倍左右</a:t>
            </a:r>
            <a:endParaRPr lang="zh-CN" altLang="en-US" sz="2200">
              <a:latin typeface="+mn-ea"/>
              <a:cs typeface="+mn-ea"/>
            </a:endParaRPr>
          </a:p>
        </p:txBody>
      </p:sp>
      <p:sp>
        <p:nvSpPr>
          <p:cNvPr id="7173" name="文本框 1"/>
          <p:cNvSpPr txBox="1"/>
          <p:nvPr/>
        </p:nvSpPr>
        <p:spPr>
          <a:xfrm>
            <a:off x="2689225" y="1114425"/>
            <a:ext cx="897255" cy="42989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200" b="1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≈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+mn-lt"/>
              </a:rPr>
              <a:t>10</a:t>
            </a:r>
            <a:r>
              <a:rPr lang="en-US" altLang="zh-CN" sz="2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mV</a:t>
            </a:r>
            <a:endParaRPr lang="en-US" altLang="zh-CN" sz="2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80255" y="694690"/>
            <a:ext cx="1091565" cy="42989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放大器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直接箭头连接符 25"/>
          <p:cNvCxnSpPr>
            <a:endCxn id="15" idx="1"/>
          </p:cNvCxnSpPr>
          <p:nvPr/>
        </p:nvCxnSpPr>
        <p:spPr>
          <a:xfrm>
            <a:off x="3594735" y="909320"/>
            <a:ext cx="985520" cy="635"/>
          </a:xfrm>
          <a:prstGeom prst="straightConnector1">
            <a:avLst/>
          </a:prstGeom>
          <a:ln w="19050">
            <a:solidFill>
              <a:srgbClr val="FF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486910" y="1232535"/>
            <a:ext cx="267906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/>
            <a:r>
              <a:rPr lang="zh-CN" altLang="en-US" sz="22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高输入阻抗</a:t>
            </a:r>
            <a:endParaRPr lang="zh-CN" altLang="en-US" sz="2200" b="1" dirty="0">
              <a:latin typeface="+mj-ea"/>
              <a:ea typeface="+mj-ea"/>
              <a:cs typeface="宋体" panose="02010600030101010101" pitchFamily="2" charset="-122"/>
              <a:sym typeface="+mn-ea"/>
            </a:endParaRPr>
          </a:p>
          <a:p>
            <a:pPr lvl="0" indent="0"/>
            <a:r>
              <a:rPr lang="zh-CN" altLang="en-US" sz="2200" b="1" dirty="0">
                <a:latin typeface="+mj-ea"/>
                <a:ea typeface="+mj-ea"/>
                <a:cs typeface="宋体" panose="02010600030101010101" pitchFamily="2" charset="-122"/>
                <a:sym typeface="+mn-ea"/>
              </a:rPr>
              <a:t>高共模抑制比</a:t>
            </a:r>
            <a:endParaRPr lang="zh-CN" altLang="en-US" sz="2200" b="1"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36395" y="1840230"/>
            <a:ext cx="1964055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200" b="1" dirty="0">
                <a:solidFill>
                  <a:srgbClr val="FF0000"/>
                </a:solidFill>
                <a:latin typeface="Verdana" panose="020B0604030504040204" pitchFamily="2" charset="0"/>
                <a:sym typeface="+mn-ea"/>
              </a:rPr>
              <a:t>输出阻抗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20kΩ</a:t>
            </a:r>
            <a:endParaRPr lang="en-US" altLang="zh-CN" sz="2200" b="1" dirty="0">
              <a:solidFill>
                <a:schemeClr val="tx1"/>
              </a:solidFill>
              <a:latin typeface="Times New Roman" panose="02020603050405020304" pitchFamily="2" charset="0"/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11960" y="1450975"/>
            <a:ext cx="1859915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20Hz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cs typeface="Times New Roman" panose="02020603050405020304" pitchFamily="2" charset="0"/>
                <a:sym typeface="+mn-ea"/>
              </a:rPr>
              <a:t>～</a:t>
            </a:r>
            <a:r>
              <a:rPr lang="en-US" altLang="zh-CN" sz="2200" b="1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20kHz</a:t>
            </a:r>
            <a:endParaRPr lang="en-US" altLang="zh-CN" sz="2200" b="1" dirty="0">
              <a:solidFill>
                <a:srgbClr val="FF0000"/>
              </a:solidFill>
              <a:latin typeface="Times New Roman" panose="02020603050405020304" pitchFamily="2" charset="0"/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04490" y="702310"/>
            <a:ext cx="75438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话筒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31950" y="2699385"/>
            <a:ext cx="607631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同相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放大：提高放大电路输入电阻</a:t>
            </a:r>
            <a:endParaRPr lang="zh-CN" altLang="en-US" sz="2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15440" y="3113405"/>
            <a:ext cx="6431915" cy="937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5000"/>
              </a:lnSpc>
              <a:buFont typeface="Wingdings" panose="05000000000000000000" charset="0"/>
              <a:buChar char="u"/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多级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放大：提高放大器带宽</a:t>
            </a:r>
            <a:endParaRPr lang="zh-CN" altLang="en-US" sz="2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5000"/>
              </a:lnSpc>
              <a:buFont typeface="Wingdings" panose="05000000000000000000" charset="0"/>
            </a:pPr>
            <a:r>
              <a:rPr lang="en-US" altLang="zh-CN" sz="2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</a:t>
            </a:r>
            <a:r>
              <a:rPr lang="zh-CN" altLang="en-US" sz="2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单个运放增益带宽积是常数</a:t>
            </a:r>
            <a:endParaRPr lang="zh-CN" altLang="en-US" sz="2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2191703" y="6030913"/>
            <a:ext cx="6055360" cy="42989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200" b="1" i="1" dirty="0"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R</a:t>
            </a:r>
            <a:r>
              <a:rPr lang="en-US" altLang="zh-CN" sz="2200" b="1" baseline="-25000" dirty="0"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p</a:t>
            </a:r>
            <a:r>
              <a:rPr lang="zh-CN" altLang="en-US" sz="2200" dirty="0">
                <a:latin typeface="+mn-ea"/>
                <a:ea typeface="+mn-ea"/>
                <a:cs typeface="+mn-ea"/>
              </a:rPr>
              <a:t>与</a:t>
            </a:r>
            <a:r>
              <a:rPr lang="en-US" altLang="zh-CN" sz="2200" b="1" i="1" dirty="0"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R</a:t>
            </a:r>
            <a:r>
              <a:rPr lang="en-US" altLang="zh-CN" sz="2200" b="1" baseline="-25000" dirty="0">
                <a:latin typeface="Times New Roman" panose="02020603050405020304" pitchFamily="2" charset="0"/>
                <a:ea typeface="+mn-ea"/>
                <a:cs typeface="Times New Roman" panose="02020603050405020304" pitchFamily="2" charset="0"/>
              </a:rPr>
              <a:t>2</a:t>
            </a:r>
            <a:r>
              <a:rPr lang="zh-CN" altLang="en-US" sz="2200" b="1" dirty="0">
                <a:latin typeface="+mn-ea"/>
                <a:ea typeface="+mn-ea"/>
                <a:cs typeface="+mn-ea"/>
              </a:rPr>
              <a:t>：平衡电阻，消除运放输入偏置电流影响</a:t>
            </a:r>
            <a:endParaRPr lang="zh-CN" altLang="en-US" sz="2200" b="1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8" grpId="0"/>
      <p:bldP spid="3" grpId="0"/>
      <p:bldP spid="4" grpId="0"/>
      <p:bldP spid="4" grpId="1"/>
      <p:bldP spid="2" grpId="0"/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5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483" name="Object 4"/>
          <p:cNvGraphicFramePr>
            <a:graphicFrameLocks noChangeAspect="1"/>
          </p:cNvGraphicFramePr>
          <p:nvPr/>
        </p:nvGraphicFramePr>
        <p:xfrm>
          <a:off x="1982311" y="2121377"/>
          <a:ext cx="7214829" cy="33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667125" imgH="1695450" progId="WPS.Doc.6">
                  <p:embed/>
                </p:oleObj>
              </mc:Choice>
              <mc:Fallback>
                <p:oleObj name="" r:id="rId1" imgW="3667125" imgH="1695450" progId="WPS.Doc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2311" y="2121377"/>
                        <a:ext cx="7214829" cy="334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4" name="Group 106"/>
          <p:cNvGrpSpPr/>
          <p:nvPr/>
        </p:nvGrpSpPr>
        <p:grpSpPr>
          <a:xfrm>
            <a:off x="1271270" y="2202180"/>
            <a:ext cx="1993900" cy="1357630"/>
            <a:chOff x="113" y="1752"/>
            <a:chExt cx="490" cy="589"/>
          </a:xfrm>
        </p:grpSpPr>
        <p:grpSp>
          <p:nvGrpSpPr>
            <p:cNvPr id="20485" name="Group 95"/>
            <p:cNvGrpSpPr/>
            <p:nvPr/>
          </p:nvGrpSpPr>
          <p:grpSpPr>
            <a:xfrm>
              <a:off x="113" y="1979"/>
              <a:ext cx="348" cy="272"/>
              <a:chOff x="763" y="2296"/>
              <a:chExt cx="1813" cy="454"/>
            </a:xfrm>
          </p:grpSpPr>
          <p:sp>
            <p:nvSpPr>
              <p:cNvPr id="20486" name="Freeform 88"/>
              <p:cNvSpPr/>
              <p:nvPr/>
            </p:nvSpPr>
            <p:spPr>
              <a:xfrm>
                <a:off x="763" y="2296"/>
                <a:ext cx="453" cy="227"/>
              </a:xfrm>
              <a:custGeom>
                <a:avLst/>
                <a:gdLst/>
                <a:ahLst/>
                <a:cxnLst>
                  <a:cxn ang="0">
                    <a:pos x="0" y="14"/>
                  </a:cxn>
                  <a:cxn ang="0">
                    <a:pos x="226" y="0"/>
                  </a:cxn>
                  <a:cxn ang="0">
                    <a:pos x="453" y="14"/>
                  </a:cxn>
                </a:cxnLst>
                <a:pathLst>
                  <a:path w="453" h="454">
                    <a:moveTo>
                      <a:pt x="0" y="454"/>
                    </a:moveTo>
                    <a:cubicBezTo>
                      <a:pt x="75" y="227"/>
                      <a:pt x="151" y="0"/>
                      <a:pt x="226" y="0"/>
                    </a:cubicBezTo>
                    <a:cubicBezTo>
                      <a:pt x="301" y="0"/>
                      <a:pt x="377" y="227"/>
                      <a:pt x="453" y="454"/>
                    </a:cubicBezTo>
                  </a:path>
                </a:pathLst>
              </a:cu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487" name="Freeform 89"/>
              <p:cNvSpPr/>
              <p:nvPr/>
            </p:nvSpPr>
            <p:spPr>
              <a:xfrm flipV="1">
                <a:off x="1216" y="2523"/>
                <a:ext cx="453" cy="227"/>
              </a:xfrm>
              <a:custGeom>
                <a:avLst/>
                <a:gdLst/>
                <a:ahLst/>
                <a:cxnLst>
                  <a:cxn ang="0">
                    <a:pos x="0" y="14"/>
                  </a:cxn>
                  <a:cxn ang="0">
                    <a:pos x="226" y="0"/>
                  </a:cxn>
                  <a:cxn ang="0">
                    <a:pos x="453" y="14"/>
                  </a:cxn>
                </a:cxnLst>
                <a:pathLst>
                  <a:path w="453" h="454">
                    <a:moveTo>
                      <a:pt x="0" y="454"/>
                    </a:moveTo>
                    <a:cubicBezTo>
                      <a:pt x="75" y="227"/>
                      <a:pt x="151" y="0"/>
                      <a:pt x="226" y="0"/>
                    </a:cubicBezTo>
                    <a:cubicBezTo>
                      <a:pt x="301" y="0"/>
                      <a:pt x="377" y="227"/>
                      <a:pt x="453" y="454"/>
                    </a:cubicBezTo>
                  </a:path>
                </a:pathLst>
              </a:cu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488" name="Freeform 90"/>
              <p:cNvSpPr/>
              <p:nvPr/>
            </p:nvSpPr>
            <p:spPr>
              <a:xfrm>
                <a:off x="1670" y="2296"/>
                <a:ext cx="453" cy="227"/>
              </a:xfrm>
              <a:custGeom>
                <a:avLst/>
                <a:gdLst/>
                <a:ahLst/>
                <a:cxnLst>
                  <a:cxn ang="0">
                    <a:pos x="0" y="14"/>
                  </a:cxn>
                  <a:cxn ang="0">
                    <a:pos x="226" y="0"/>
                  </a:cxn>
                  <a:cxn ang="0">
                    <a:pos x="453" y="14"/>
                  </a:cxn>
                </a:cxnLst>
                <a:pathLst>
                  <a:path w="453" h="454">
                    <a:moveTo>
                      <a:pt x="0" y="454"/>
                    </a:moveTo>
                    <a:cubicBezTo>
                      <a:pt x="75" y="227"/>
                      <a:pt x="151" y="0"/>
                      <a:pt x="226" y="0"/>
                    </a:cubicBezTo>
                    <a:cubicBezTo>
                      <a:pt x="301" y="0"/>
                      <a:pt x="377" y="227"/>
                      <a:pt x="453" y="454"/>
                    </a:cubicBezTo>
                  </a:path>
                </a:pathLst>
              </a:cu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489" name="Freeform 91"/>
              <p:cNvSpPr/>
              <p:nvPr/>
            </p:nvSpPr>
            <p:spPr>
              <a:xfrm flipV="1">
                <a:off x="2123" y="2523"/>
                <a:ext cx="453" cy="227"/>
              </a:xfrm>
              <a:custGeom>
                <a:avLst/>
                <a:gdLst/>
                <a:ahLst/>
                <a:cxnLst>
                  <a:cxn ang="0">
                    <a:pos x="0" y="14"/>
                  </a:cxn>
                  <a:cxn ang="0">
                    <a:pos x="226" y="0"/>
                  </a:cxn>
                  <a:cxn ang="0">
                    <a:pos x="453" y="14"/>
                  </a:cxn>
                </a:cxnLst>
                <a:pathLst>
                  <a:path w="453" h="454">
                    <a:moveTo>
                      <a:pt x="0" y="454"/>
                    </a:moveTo>
                    <a:cubicBezTo>
                      <a:pt x="75" y="227"/>
                      <a:pt x="151" y="0"/>
                      <a:pt x="226" y="0"/>
                    </a:cubicBezTo>
                    <a:cubicBezTo>
                      <a:pt x="301" y="0"/>
                      <a:pt x="377" y="227"/>
                      <a:pt x="453" y="454"/>
                    </a:cubicBezTo>
                  </a:path>
                </a:pathLst>
              </a:custGeom>
              <a:noFill/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0490" name="Line 104"/>
            <p:cNvSpPr/>
            <p:nvPr/>
          </p:nvSpPr>
          <p:spPr>
            <a:xfrm>
              <a:off x="127" y="2115"/>
              <a:ext cx="476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1" name="Line 105"/>
            <p:cNvSpPr/>
            <p:nvPr/>
          </p:nvSpPr>
          <p:spPr>
            <a:xfrm flipV="1">
              <a:off x="113" y="1752"/>
              <a:ext cx="0" cy="589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492" name="Group 25"/>
          <p:cNvGrpSpPr/>
          <p:nvPr/>
        </p:nvGrpSpPr>
        <p:grpSpPr>
          <a:xfrm>
            <a:off x="8763635" y="2705100"/>
            <a:ext cx="1669415" cy="1087755"/>
            <a:chOff x="5085" y="2205"/>
            <a:chExt cx="544" cy="454"/>
          </a:xfrm>
        </p:grpSpPr>
        <p:sp>
          <p:nvSpPr>
            <p:cNvPr id="20493" name="Freeform 97"/>
            <p:cNvSpPr/>
            <p:nvPr/>
          </p:nvSpPr>
          <p:spPr>
            <a:xfrm>
              <a:off x="5131" y="2387"/>
              <a:ext cx="87" cy="13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</a:cxnLst>
              <a:pathLst>
                <a:path w="453" h="454">
                  <a:moveTo>
                    <a:pt x="0" y="454"/>
                  </a:moveTo>
                  <a:cubicBezTo>
                    <a:pt x="75" y="227"/>
                    <a:pt x="151" y="0"/>
                    <a:pt x="226" y="0"/>
                  </a:cubicBezTo>
                  <a:cubicBezTo>
                    <a:pt x="301" y="0"/>
                    <a:pt x="377" y="227"/>
                    <a:pt x="453" y="454"/>
                  </a:cubicBez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4" name="Freeform 99"/>
            <p:cNvSpPr/>
            <p:nvPr/>
          </p:nvSpPr>
          <p:spPr>
            <a:xfrm>
              <a:off x="5305" y="2387"/>
              <a:ext cx="87" cy="13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</a:cxnLst>
              <a:pathLst>
                <a:path w="453" h="454">
                  <a:moveTo>
                    <a:pt x="0" y="454"/>
                  </a:moveTo>
                  <a:cubicBezTo>
                    <a:pt x="75" y="227"/>
                    <a:pt x="151" y="0"/>
                    <a:pt x="226" y="0"/>
                  </a:cubicBezTo>
                  <a:cubicBezTo>
                    <a:pt x="301" y="0"/>
                    <a:pt x="377" y="227"/>
                    <a:pt x="453" y="454"/>
                  </a:cubicBez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95" name="Line 107"/>
            <p:cNvSpPr/>
            <p:nvPr/>
          </p:nvSpPr>
          <p:spPr>
            <a:xfrm>
              <a:off x="5085" y="2523"/>
              <a:ext cx="544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6" name="Line 108"/>
            <p:cNvSpPr/>
            <p:nvPr/>
          </p:nvSpPr>
          <p:spPr>
            <a:xfrm flipV="1">
              <a:off x="5131" y="2205"/>
              <a:ext cx="0" cy="45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圆角矩形标注 9"/>
          <p:cNvSpPr/>
          <p:nvPr/>
        </p:nvSpPr>
        <p:spPr>
          <a:xfrm>
            <a:off x="7465060" y="5137785"/>
            <a:ext cx="3761740" cy="1176020"/>
          </a:xfrm>
          <a:prstGeom prst="wedgeRoundRectCallout">
            <a:avLst>
              <a:gd name="adj1" fmla="val -8401"/>
              <a:gd name="adj2" fmla="val -11322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zh-CN" altLang="en-US" sz="2200" b="1" dirty="0" smtClean="0">
                <a:solidFill>
                  <a:schemeClr val="tx1"/>
                </a:solidFill>
              </a:rPr>
              <a:t>滤纹波后，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输出要当直流看！</a:t>
            </a:r>
            <a:r>
              <a:rPr lang="zh-CN" altLang="en-US" sz="2200" b="1" dirty="0" smtClean="0">
                <a:solidFill>
                  <a:schemeClr val="tx1"/>
                </a:solidFill>
              </a:rPr>
              <a:t>不关心峰峰值，看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平均值</a:t>
            </a:r>
            <a:r>
              <a:rPr lang="zh-CN" altLang="en-US" sz="2200" b="1" dirty="0" smtClean="0">
                <a:solidFill>
                  <a:schemeClr val="tx1"/>
                </a:solidFill>
              </a:rPr>
              <a:t>。</a:t>
            </a:r>
            <a:endParaRPr lang="zh-CN" altLang="en-US" sz="2200" b="1" dirty="0">
              <a:solidFill>
                <a:schemeClr val="tx1"/>
              </a:solidFill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2538730" y="5840095"/>
            <a:ext cx="3149600" cy="714375"/>
          </a:xfrm>
          <a:prstGeom prst="wedgeRoundRectCallout">
            <a:avLst>
              <a:gd name="adj1" fmla="val 62095"/>
              <a:gd name="adj2" fmla="val -145201"/>
              <a:gd name="adj3" fmla="val 16667"/>
            </a:avLst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200" b="1" dirty="0" smtClean="0"/>
              <a:t>减小整流后的纹波，</a:t>
            </a:r>
            <a:endParaRPr lang="zh-CN" altLang="en-US" sz="2200" b="1" dirty="0" smtClean="0"/>
          </a:p>
          <a:p>
            <a:pPr algn="ctr"/>
            <a:r>
              <a:rPr lang="zh-CN" altLang="en-US" sz="2200" b="1" dirty="0" smtClean="0"/>
              <a:t>也可以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接到</a:t>
            </a:r>
            <a:r>
              <a:rPr lang="en-US" altLang="zh-CN" sz="2200" b="1" i="1" dirty="0" smtClean="0">
                <a:solidFill>
                  <a:srgbClr val="FF0000"/>
                </a:solidFill>
                <a:latin typeface="Book Antiqua" panose="02040602050305030304" charset="0"/>
                <a:cs typeface="Book Antiqua" panose="02040602050305030304" charset="0"/>
              </a:rPr>
              <a:t>v</a:t>
            </a:r>
            <a:r>
              <a:rPr lang="en-US" altLang="zh-CN" sz="2200" b="1" baseline="-25000" dirty="0" smtClean="0">
                <a:solidFill>
                  <a:srgbClr val="FF0000"/>
                </a:solidFill>
              </a:rPr>
              <a:t>o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到地之间</a:t>
            </a:r>
            <a:r>
              <a:rPr lang="zh-CN" altLang="en-US" sz="2200" b="1" dirty="0" smtClean="0"/>
              <a:t>。</a:t>
            </a:r>
            <a:endParaRPr lang="zh-CN" altLang="en-US" sz="2200" b="1" dirty="0"/>
          </a:p>
        </p:txBody>
      </p:sp>
      <p:sp>
        <p:nvSpPr>
          <p:cNvPr id="16385" name="Rectangle 3"/>
          <p:cNvSpPr>
            <a:spLocks noGrp="1"/>
          </p:cNvSpPr>
          <p:nvPr/>
        </p:nvSpPr>
        <p:spPr>
          <a:xfrm>
            <a:off x="1127125" y="-18415"/>
            <a:ext cx="6250940" cy="730885"/>
          </a:xfrm>
        </p:spPr>
        <p:txBody>
          <a:bodyPr vert="horz" wrap="square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dirty="0">
                <a:latin typeface="+mn-ea"/>
                <a:sym typeface="+mn-ea"/>
              </a:rPr>
              <a:t>二</a:t>
            </a:r>
            <a:r>
              <a:rPr lang="en-US" altLang="zh-CN" sz="2400" dirty="0">
                <a:latin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sym typeface="+mn-ea"/>
              </a:rPr>
              <a:t>实验电路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&lt;&lt;</a:t>
            </a:r>
            <a:r>
              <a:rPr lang="zh-CN" altLang="en-US" sz="32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任务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1 音量对彩灯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控制</a:t>
            </a:r>
            <a:endParaRPr lang="zh-CN" altLang="en-US" sz="3200">
              <a:latin typeface="+mn-ea"/>
              <a:cs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26410" y="766445"/>
            <a:ext cx="1379855" cy="42989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整流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滤波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77435" y="766445"/>
            <a:ext cx="1036955" cy="42989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驱动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器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410710" y="933450"/>
            <a:ext cx="432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5922645" y="977900"/>
            <a:ext cx="396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155055" y="748665"/>
            <a:ext cx="2319020" cy="4298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三个彩灯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(LED)</a:t>
            </a:r>
            <a:endParaRPr lang="zh-CN" altLang="en-US" sz="2200" b="1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4110" y="1624965"/>
            <a:ext cx="43097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1)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整流滤波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半波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整流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28895" y="4848860"/>
            <a:ext cx="10610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10μF</a:t>
            </a:r>
            <a:endParaRPr lang="en-US" altLang="zh-CN" sz="2400" b="1" dirty="0">
              <a:latin typeface="Times New Roman" panose="02020603050405020304" pitchFamily="2" charset="0"/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99250" y="2485390"/>
            <a:ext cx="191325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反相</a:t>
            </a:r>
            <a:r>
              <a:rPr lang="zh-CN" altLang="en-US" sz="2200" b="1">
                <a:latin typeface="+mn-ea"/>
                <a:ea typeface="+mn-ea"/>
              </a:rPr>
              <a:t>比例放大</a:t>
            </a:r>
            <a:endParaRPr lang="zh-CN" altLang="en-US" sz="2200" b="1">
              <a:latin typeface="+mn-ea"/>
              <a:ea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607945" y="952500"/>
            <a:ext cx="432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 bldLvl="0" animBg="1"/>
      <p:bldP spid="9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5"/>
          <p:cNvSpPr/>
          <p:nvPr/>
        </p:nvSpPr>
        <p:spPr>
          <a:xfrm>
            <a:off x="1524000" y="-184150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26410" y="766445"/>
            <a:ext cx="1379855" cy="42989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整流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</a:rPr>
              <a:t>滤波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77435" y="766445"/>
            <a:ext cx="1036955" cy="42989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驱动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器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410710" y="933450"/>
            <a:ext cx="432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5922645" y="977900"/>
            <a:ext cx="396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155055" y="748665"/>
            <a:ext cx="2319020" cy="4298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三个彩灯</a:t>
            </a:r>
            <a:r>
              <a:rPr lang="en-US" altLang="zh-CN" sz="2200" b="1" dirty="0">
                <a:latin typeface="+mn-ea"/>
                <a:ea typeface="+mn-ea"/>
                <a:sym typeface="+mn-ea"/>
              </a:rPr>
              <a:t>(LED)</a:t>
            </a:r>
            <a:endParaRPr lang="zh-CN" altLang="en-US" sz="2200" b="1" dirty="0"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4110" y="1624965"/>
            <a:ext cx="2225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2) 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驱动器</a:t>
            </a:r>
            <a:endParaRPr lang="zh-CN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366578" y="2055178"/>
          <a:ext cx="4368688" cy="44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BMP 图像" r:id="rId1" imgW="6162675" imgH="6553200" progId="Paint.Picture">
                  <p:embed/>
                </p:oleObj>
              </mc:Choice>
              <mc:Fallback>
                <p:oleObj name="BMP 图像" r:id="rId1" imgW="6162675" imgH="655320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66578" y="2055178"/>
                        <a:ext cx="4368688" cy="442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493260" y="3438525"/>
            <a:ext cx="501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FF0000"/>
                </a:solidFill>
                <a:latin typeface="Book Antiqua" panose="02040602050305030304" charset="0"/>
                <a:cs typeface="Book Antiqua" panose="02040602050305030304" charset="0"/>
              </a:rPr>
              <a:t>v</a:t>
            </a:r>
            <a:r>
              <a:rPr lang="en-US" altLang="zh-CN" sz="2400" b="1" baseline="-25000">
                <a:solidFill>
                  <a:srgbClr val="FF0000"/>
                </a:solidFill>
                <a:latin typeface="Book Antiqua" panose="02040602050305030304" charset="0"/>
                <a:cs typeface="Book Antiqua" panose="02040602050305030304" charset="0"/>
              </a:rPr>
              <a:t>i</a:t>
            </a:r>
            <a:endParaRPr lang="en-US" altLang="zh-CN" sz="2400" b="1" baseline="-25000">
              <a:solidFill>
                <a:srgbClr val="FF0000"/>
              </a:solidFill>
              <a:latin typeface="Book Antiqua" panose="02040602050305030304" charset="0"/>
              <a:cs typeface="Book Antiqua" panose="0204060205030503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90460" y="2273935"/>
            <a:ext cx="602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FF0000"/>
                </a:solidFill>
                <a:latin typeface="Book Antiqua" panose="02040602050305030304" charset="0"/>
                <a:cs typeface="Book Antiqua" panose="02040602050305030304" charset="0"/>
              </a:rPr>
              <a:t>v</a:t>
            </a:r>
            <a:r>
              <a:rPr lang="en-US" altLang="zh-CN" sz="2400" b="1" baseline="-25000">
                <a:solidFill>
                  <a:srgbClr val="FF0000"/>
                </a:solidFill>
                <a:latin typeface="Book Antiqua" panose="02040602050305030304" charset="0"/>
                <a:cs typeface="Book Antiqua" panose="02040602050305030304" charset="0"/>
              </a:rPr>
              <a:t>o1</a:t>
            </a:r>
            <a:endParaRPr lang="en-US" altLang="zh-CN" sz="2400" b="1" baseline="-25000">
              <a:solidFill>
                <a:srgbClr val="FF0000"/>
              </a:solidFill>
              <a:latin typeface="Book Antiqua" panose="02040602050305030304" charset="0"/>
              <a:cs typeface="Book Antiqua" panose="0204060205030503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73950" y="3620770"/>
            <a:ext cx="602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FF3300"/>
                </a:solidFill>
                <a:latin typeface="Book Antiqua" panose="02040602050305030304" charset="0"/>
                <a:cs typeface="Book Antiqua" panose="02040602050305030304" charset="0"/>
              </a:rPr>
              <a:t>v</a:t>
            </a:r>
            <a:r>
              <a:rPr lang="en-US" altLang="zh-CN" sz="2400" b="1" baseline="-25000">
                <a:solidFill>
                  <a:srgbClr val="FF3300"/>
                </a:solidFill>
                <a:latin typeface="Book Antiqua" panose="02040602050305030304" charset="0"/>
                <a:cs typeface="Book Antiqua" panose="02040602050305030304" charset="0"/>
              </a:rPr>
              <a:t>o2</a:t>
            </a:r>
            <a:endParaRPr lang="en-US" altLang="zh-CN" sz="2400" b="1" baseline="-25000">
              <a:solidFill>
                <a:srgbClr val="FF3300"/>
              </a:solidFill>
              <a:latin typeface="Book Antiqua" panose="02040602050305030304" charset="0"/>
              <a:cs typeface="Book Antiqua" panose="0204060205030503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7440" y="4967605"/>
            <a:ext cx="602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FF3300"/>
                </a:solidFill>
                <a:latin typeface="Book Antiqua" panose="02040602050305030304" charset="0"/>
                <a:cs typeface="Book Antiqua" panose="02040602050305030304" charset="0"/>
              </a:rPr>
              <a:t>v</a:t>
            </a:r>
            <a:r>
              <a:rPr lang="en-US" altLang="zh-CN" sz="2400" b="1" baseline="-25000">
                <a:solidFill>
                  <a:srgbClr val="FF3300"/>
                </a:solidFill>
                <a:latin typeface="Book Antiqua" panose="02040602050305030304" charset="0"/>
                <a:cs typeface="Book Antiqua" panose="02040602050305030304" charset="0"/>
              </a:rPr>
              <a:t>o3</a:t>
            </a:r>
            <a:endParaRPr lang="en-US" altLang="zh-CN" sz="2400" b="1" baseline="-25000">
              <a:solidFill>
                <a:srgbClr val="FF3300"/>
              </a:solidFill>
              <a:latin typeface="Book Antiqua" panose="02040602050305030304" charset="0"/>
              <a:cs typeface="Book Antiqua" panose="02040602050305030304" charset="0"/>
            </a:endParaRPr>
          </a:p>
        </p:txBody>
      </p:sp>
      <p:sp>
        <p:nvSpPr>
          <p:cNvPr id="13" name="内容占位符 3"/>
          <p:cNvSpPr>
            <a:spLocks noGrp="1"/>
          </p:cNvSpPr>
          <p:nvPr/>
        </p:nvSpPr>
        <p:spPr>
          <a:xfrm>
            <a:off x="1283335" y="2226945"/>
            <a:ext cx="3154680" cy="1058545"/>
          </a:xfrm>
        </p:spPr>
        <p:txBody>
          <a:bodyPr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200" b="1" dirty="0">
                <a:solidFill>
                  <a:schemeClr val="tx1"/>
                </a:solidFill>
                <a:sym typeface="+mn-ea"/>
              </a:rPr>
              <a:t>音量大小彩灯采用多个</a:t>
            </a:r>
            <a:r>
              <a:rPr lang="zh-CN" altLang="en-US" sz="2200" b="1" dirty="0">
                <a:solidFill>
                  <a:srgbClr val="FF0000"/>
                </a:solidFill>
                <a:sym typeface="+mn-ea"/>
              </a:rPr>
              <a:t>单门限</a:t>
            </a:r>
            <a:r>
              <a:rPr lang="zh-CN" altLang="en-US" sz="2200" b="1" dirty="0">
                <a:solidFill>
                  <a:schemeClr val="tx1"/>
                </a:solidFill>
              </a:rPr>
              <a:t>电压比较器</a:t>
            </a:r>
            <a:endParaRPr lang="zh-CN" altLang="en-US" sz="2200" b="1" dirty="0">
              <a:sym typeface="+mn-ea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6096000" y="2058670"/>
            <a:ext cx="20955" cy="3923665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5770880" y="1351915"/>
            <a:ext cx="477774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latin typeface="+mn-ea"/>
                <a:ea typeface="+mn-ea"/>
              </a:rPr>
              <a:t>串联分压：</a:t>
            </a:r>
            <a:r>
              <a:rPr lang="zh-CN" altLang="en-US" sz="2200" b="1">
                <a:latin typeface="+mn-ea"/>
                <a:ea typeface="+mn-ea"/>
              </a:rPr>
              <a:t>设置电压比较器</a:t>
            </a:r>
            <a:r>
              <a:rPr lang="zh-CN" altLang="en-US" sz="2200" b="1">
                <a:latin typeface="+mn-ea"/>
                <a:ea typeface="+mn-ea"/>
                <a:sym typeface="+mn-ea"/>
              </a:rPr>
              <a:t>不同</a:t>
            </a:r>
            <a:r>
              <a:rPr lang="zh-CN" altLang="en-US" sz="2200" b="1">
                <a:latin typeface="+mn-ea"/>
                <a:ea typeface="+mn-ea"/>
              </a:rPr>
              <a:t>门限</a:t>
            </a:r>
            <a:endParaRPr lang="zh-CN" altLang="en-US" sz="2200" b="1">
              <a:latin typeface="+mn-ea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561070" y="2872105"/>
            <a:ext cx="13563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latin typeface="+mn-ea"/>
                <a:ea typeface="+mn-ea"/>
              </a:rPr>
              <a:t>限流电阻</a:t>
            </a:r>
            <a:endParaRPr lang="zh-CN" altLang="en-US" sz="2200" b="1">
              <a:latin typeface="+mn-ea"/>
              <a:ea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465" y="1888490"/>
            <a:ext cx="2331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 i="1">
                <a:solidFill>
                  <a:srgbClr val="FF0000"/>
                </a:solidFill>
                <a:latin typeface="Book Antiqua" panose="02040602050305030304" charset="0"/>
                <a:cs typeface="Book Antiqua" panose="02040602050305030304" charset="0"/>
                <a:sym typeface="+mn-ea"/>
              </a:rPr>
              <a:t>v</a:t>
            </a:r>
            <a:r>
              <a:rPr lang="en-US" altLang="zh-CN" sz="2400" b="1" baseline="-25000">
                <a:solidFill>
                  <a:srgbClr val="FF0000"/>
                </a:solidFill>
                <a:latin typeface="Book Antiqua" panose="02040602050305030304" charset="0"/>
                <a:cs typeface="Book Antiqua" panose="02040602050305030304" charset="0"/>
                <a:sym typeface="+mn-ea"/>
              </a:rPr>
              <a:t>o1</a:t>
            </a:r>
            <a:r>
              <a:rPr lang="en-US" altLang="zh-CN" sz="2400" b="1">
                <a:solidFill>
                  <a:srgbClr val="FF0000"/>
                </a:solidFill>
                <a:latin typeface="Book Antiqua" panose="02040602050305030304" charset="0"/>
                <a:cs typeface="Book Antiqua" panose="02040602050305030304" charset="0"/>
                <a:sym typeface="+mn-ea"/>
              </a:rPr>
              <a:t>:</a:t>
            </a:r>
            <a:r>
              <a:rPr lang="zh-CN" altLang="en-US" sz="2400" b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±</a:t>
            </a:r>
            <a:r>
              <a:rPr lang="en-US" altLang="zh-CN" sz="2400" b="1" i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CC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方波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535670" y="2334260"/>
            <a:ext cx="347662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正向导通电压</a:t>
            </a:r>
            <a:r>
              <a:rPr lang="en-US" altLang="zh-CN" sz="2200" b="1" dirty="0">
                <a:solidFill>
                  <a:schemeClr val="tx1"/>
                </a:solidFill>
                <a:cs typeface="Arial" panose="020B0604020202020204" pitchFamily="34" charset="0"/>
                <a:sym typeface="+mn-ea"/>
              </a:rPr>
              <a:t>≈</a:t>
            </a: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1.6V~2.1V</a:t>
            </a:r>
            <a:endParaRPr lang="en-US" altLang="zh-CN" sz="22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1127125" y="-18415"/>
            <a:ext cx="6250940" cy="730885"/>
          </a:xfrm>
        </p:spPr>
        <p:txBody>
          <a:bodyPr vert="horz" wrap="square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dirty="0">
                <a:latin typeface="+mn-ea"/>
                <a:sym typeface="+mn-ea"/>
              </a:rPr>
              <a:t>二</a:t>
            </a:r>
            <a:r>
              <a:rPr lang="en-US" altLang="zh-CN" sz="2400" dirty="0">
                <a:latin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sym typeface="+mn-ea"/>
              </a:rPr>
              <a:t>实验电路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&lt;&lt;</a:t>
            </a:r>
            <a:r>
              <a:rPr lang="zh-CN" altLang="en-US" sz="32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任务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1 音量对彩灯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控制</a:t>
            </a:r>
            <a:endParaRPr lang="zh-CN" altLang="en-US" sz="3200">
              <a:latin typeface="+mn-ea"/>
              <a:cs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295775" y="2132965"/>
            <a:ext cx="647700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7" grpId="0"/>
      <p:bldP spid="11" grpId="0"/>
      <p:bldP spid="12" grpId="0"/>
      <p:bldP spid="5" grpId="0"/>
      <p:bldP spid="19" grpId="0"/>
      <p:bldP spid="20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3553" name="标题 5121"/>
          <p:cNvSpPr>
            <a:spLocks noGrp="1"/>
          </p:cNvSpPr>
          <p:nvPr>
            <p:ph type="title" idx="4294967295"/>
          </p:nvPr>
        </p:nvSpPr>
        <p:spPr>
          <a:xfrm>
            <a:off x="717550" y="2487930"/>
            <a:ext cx="5734050" cy="502920"/>
          </a:xfrm>
          <a:prstGeom prst="rect">
            <a:avLst/>
          </a:prstGeom>
        </p:spPr>
        <p:txBody>
          <a:bodyPr anchor="ctr" anchorCtr="0"/>
          <a:p>
            <a:pPr algn="l"/>
            <a:r>
              <a:rPr lang="en-US" altLang="zh-CN" sz="2400">
                <a:latin typeface="+mn-ea"/>
                <a:ea typeface="+mn-ea"/>
                <a:cs typeface="+mn-ea"/>
              </a:rPr>
              <a:t>1)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低通滤波电路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2400">
                <a:latin typeface="+mn-ea"/>
                <a:ea typeface="+mn-ea"/>
                <a:cs typeface="+mn-ea"/>
              </a:rPr>
              <a:t>二阶</a:t>
            </a:r>
            <a:r>
              <a:rPr lang="zh-CN" altLang="en-US" sz="2400">
                <a:solidFill>
                  <a:schemeClr val="tx1"/>
                </a:solidFill>
                <a:latin typeface="+mn-ea"/>
                <a:ea typeface="+mn-ea"/>
                <a:cs typeface="+mn-ea"/>
              </a:rPr>
              <a:t>低通</a:t>
            </a: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滤波器</a:t>
            </a:r>
            <a:endParaRPr lang="zh-CN" altLang="en-US" sz="2400">
              <a:solidFill>
                <a:srgbClr val="FF0000"/>
              </a:solidFill>
              <a:latin typeface="+mn-ea"/>
              <a:ea typeface="+mn-ea"/>
              <a:cs typeface="+mn-ea"/>
            </a:endParaRPr>
          </a:p>
        </p:txBody>
      </p:sp>
      <p:graphicFrame>
        <p:nvGraphicFramePr>
          <p:cNvPr id="23554" name="对象 5122"/>
          <p:cNvGraphicFramePr>
            <a:graphicFrameLocks noChangeAspect="1"/>
          </p:cNvGraphicFramePr>
          <p:nvPr/>
        </p:nvGraphicFramePr>
        <p:xfrm>
          <a:off x="3317649" y="3037198"/>
          <a:ext cx="5950585" cy="3166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962275" imgH="1581150" progId="Word.Picture.8">
                  <p:embed/>
                </p:oleObj>
              </mc:Choice>
              <mc:Fallback>
                <p:oleObj name="" r:id="rId1" imgW="2962275" imgH="1581150" progId="Word.Picture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17649" y="3037198"/>
                        <a:ext cx="5950585" cy="316674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矩形 5126"/>
          <p:cNvSpPr/>
          <p:nvPr/>
        </p:nvSpPr>
        <p:spPr>
          <a:xfrm>
            <a:off x="1090930" y="3429000"/>
            <a:ext cx="2219325" cy="4298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上限截止频率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3558" name="内容占位符 5128"/>
          <p:cNvGraphicFramePr>
            <a:graphicFrameLocks noGrp="1" noChangeAspect="1"/>
          </p:cNvGraphicFramePr>
          <p:nvPr>
            <p:ph idx="4294967295"/>
          </p:nvPr>
        </p:nvGraphicFramePr>
        <p:xfrm>
          <a:off x="839470" y="3940810"/>
          <a:ext cx="30480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1346200" imgH="393700" progId="Equation.3">
                  <p:embed/>
                </p:oleObj>
              </mc:Choice>
              <mc:Fallback>
                <p:oleObj name="" r:id="rId3" imgW="1346200" imgH="3937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9470" y="3940810"/>
                        <a:ext cx="3048000" cy="8921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" name="Rectangle 3"/>
          <p:cNvSpPr>
            <a:spLocks noGrp="1"/>
          </p:cNvSpPr>
          <p:nvPr/>
        </p:nvSpPr>
        <p:spPr>
          <a:xfrm>
            <a:off x="1127125" y="-27305"/>
            <a:ext cx="6250940" cy="730885"/>
          </a:xfrm>
        </p:spPr>
        <p:txBody>
          <a:bodyPr vert="horz" wrap="square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dirty="0">
                <a:latin typeface="+mn-ea"/>
                <a:sym typeface="+mn-ea"/>
              </a:rPr>
              <a:t>二</a:t>
            </a:r>
            <a:r>
              <a:rPr lang="en-US" altLang="zh-CN" sz="2400" dirty="0">
                <a:latin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sym typeface="+mn-ea"/>
              </a:rPr>
              <a:t>实验电路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&lt;&lt;</a:t>
            </a:r>
            <a:r>
              <a:rPr lang="zh-CN" altLang="en-US" sz="32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任务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2 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频率对彩灯控制</a:t>
            </a:r>
            <a:endParaRPr lang="zh-CN" altLang="en-US" sz="3200">
              <a:latin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86830" y="765175"/>
            <a:ext cx="934085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绿灯</a:t>
            </a:r>
            <a:endParaRPr lang="zh-CN" altLang="en-US" sz="2200" b="1" dirty="0">
              <a:latin typeface="+mn-ea"/>
              <a:ea typeface="+mn-ea"/>
            </a:endParaRPr>
          </a:p>
          <a:p>
            <a:pPr algn="ctr"/>
            <a:r>
              <a:rPr lang="en-US" altLang="zh-CN" sz="2200" b="1" dirty="0">
                <a:latin typeface="+mn-ea"/>
                <a:ea typeface="+mn-ea"/>
              </a:rPr>
              <a:t>(LED)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24275" y="769620"/>
            <a:ext cx="1983740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低通滤波电路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f</a:t>
            </a:r>
            <a:r>
              <a:rPr lang="en-US" altLang="zh-CN" sz="2200" b="1" baseline="-2500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H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=500Hz</a:t>
            </a: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02685" y="1682750"/>
            <a:ext cx="2019935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高通滤波电路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200" b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f</a:t>
            </a:r>
            <a:r>
              <a:rPr lang="en-US" altLang="zh-CN" sz="2200" b="1" baseline="-2500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L</a:t>
            </a:r>
            <a:r>
              <a:rPr lang="en-US" altLang="zh-CN" sz="2200" b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=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500</a:t>
            </a:r>
            <a:r>
              <a:rPr lang="en-US" altLang="zh-CN" sz="2200" b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Hz</a:t>
            </a: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425565" y="1808480"/>
            <a:ext cx="934085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红灯</a:t>
            </a:r>
            <a:endParaRPr lang="zh-CN" altLang="en-US" sz="2200" b="1" dirty="0">
              <a:latin typeface="+mn-ea"/>
              <a:ea typeface="+mn-ea"/>
            </a:endParaRPr>
          </a:p>
          <a:p>
            <a:pPr algn="ctr"/>
            <a:r>
              <a:rPr lang="en-US" altLang="zh-CN" sz="2200" b="1" dirty="0">
                <a:latin typeface="+mn-ea"/>
                <a:ea typeface="+mn-ea"/>
                <a:sym typeface="+mn-ea"/>
              </a:rPr>
              <a:t>(LED)</a:t>
            </a:r>
            <a:endParaRPr lang="zh-CN" altLang="en-US" sz="2200" b="1" dirty="0">
              <a:latin typeface="+mn-ea"/>
              <a:ea typeface="+mn-ea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2783840" y="1124585"/>
            <a:ext cx="936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2783205" y="2049145"/>
            <a:ext cx="913130" cy="0"/>
          </a:xfrm>
          <a:prstGeom prst="straightConnector1">
            <a:avLst/>
          </a:prstGeom>
          <a:ln w="19050">
            <a:solidFill>
              <a:srgbClr val="FF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5757545" y="1060450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5741035" y="2120265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384030" y="3618865"/>
            <a:ext cx="934085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绿灯</a:t>
            </a:r>
            <a:endParaRPr lang="zh-CN" altLang="en-US" sz="2200" b="1" dirty="0">
              <a:latin typeface="+mn-ea"/>
              <a:ea typeface="+mn-ea"/>
            </a:endParaRPr>
          </a:p>
          <a:p>
            <a:pPr algn="ctr"/>
            <a:r>
              <a:rPr lang="en-US" altLang="zh-CN" sz="2200" b="1" dirty="0">
                <a:latin typeface="+mn-ea"/>
                <a:ea typeface="+mn-ea"/>
              </a:rPr>
              <a:t>(LED)</a:t>
            </a:r>
            <a:endParaRPr lang="en-US" altLang="zh-CN" sz="2200" b="1" dirty="0">
              <a:latin typeface="+mn-ea"/>
              <a:ea typeface="+mn-ea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8773795" y="4010025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55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4578" name="对象 6146"/>
          <p:cNvGraphicFramePr>
            <a:graphicFrameLocks noChangeAspect="1"/>
          </p:cNvGraphicFramePr>
          <p:nvPr/>
        </p:nvGraphicFramePr>
        <p:xfrm>
          <a:off x="3249962" y="3018126"/>
          <a:ext cx="5926455" cy="354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2962275" imgH="1581150" progId="Word.Picture.8">
                  <p:embed/>
                </p:oleObj>
              </mc:Choice>
              <mc:Fallback>
                <p:oleObj name="" r:id="rId1" imgW="2962275" imgH="1581150" progId="Word.Picture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49962" y="3018126"/>
                        <a:ext cx="5926455" cy="3546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矩形 6148"/>
          <p:cNvSpPr/>
          <p:nvPr/>
        </p:nvSpPr>
        <p:spPr>
          <a:xfrm>
            <a:off x="810895" y="3429000"/>
            <a:ext cx="27057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下限截止频率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4581" name="内容占位符 6150"/>
          <p:cNvGraphicFramePr>
            <a:graphicFrameLocks noGrp="1" noChangeAspect="1"/>
          </p:cNvGraphicFramePr>
          <p:nvPr>
            <p:ph idx="4294967295"/>
          </p:nvPr>
        </p:nvGraphicFramePr>
        <p:xfrm>
          <a:off x="839470" y="4077018"/>
          <a:ext cx="2009140" cy="895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774065" imgH="393700" progId="Equation.3">
                  <p:embed/>
                </p:oleObj>
              </mc:Choice>
              <mc:Fallback>
                <p:oleObj name="" r:id="rId3" imgW="774065" imgH="3937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9470" y="4077018"/>
                        <a:ext cx="2009140" cy="89598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" name="Rectangle 3"/>
          <p:cNvSpPr>
            <a:spLocks noGrp="1"/>
          </p:cNvSpPr>
          <p:nvPr/>
        </p:nvSpPr>
        <p:spPr>
          <a:xfrm>
            <a:off x="1127125" y="-27305"/>
            <a:ext cx="6250940" cy="730885"/>
          </a:xfrm>
        </p:spPr>
        <p:txBody>
          <a:bodyPr vert="horz" wrap="square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dirty="0">
                <a:latin typeface="+mn-ea"/>
                <a:sym typeface="+mn-ea"/>
              </a:rPr>
              <a:t>二</a:t>
            </a:r>
            <a:r>
              <a:rPr lang="en-US" altLang="zh-CN" sz="2400" dirty="0">
                <a:latin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sym typeface="+mn-ea"/>
              </a:rPr>
              <a:t>实验电路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&lt;&lt;</a:t>
            </a:r>
            <a:r>
              <a:rPr lang="zh-CN" altLang="en-US" sz="32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任务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2 </a:t>
            </a:r>
            <a:r>
              <a:rPr lang="zh-CN" altLang="en-US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频率对彩灯控制</a:t>
            </a:r>
            <a:endParaRPr lang="zh-CN" altLang="en-US" sz="3200">
              <a:latin typeface="+mn-ea"/>
              <a:cs typeface="+mn-ea"/>
            </a:endParaRPr>
          </a:p>
        </p:txBody>
      </p:sp>
      <p:sp>
        <p:nvSpPr>
          <p:cNvPr id="23553" name="标题 5121"/>
          <p:cNvSpPr>
            <a:spLocks noGrp="1"/>
          </p:cNvSpPr>
          <p:nvPr/>
        </p:nvSpPr>
        <p:spPr>
          <a:xfrm>
            <a:off x="717550" y="2487930"/>
            <a:ext cx="5287010" cy="502920"/>
          </a:xfrm>
          <a:prstGeom prst="rect">
            <a:avLst/>
          </a:prstGeom>
        </p:spPr>
        <p:txBody>
          <a:bodyPr anchor="ctr" anchorCtr="0"/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u="none" kern="1200" baseline="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latin typeface="+mn-ea"/>
                <a:ea typeface="+mn-ea"/>
                <a:cs typeface="+mn-ea"/>
              </a:rPr>
              <a:t>2)</a:t>
            </a:r>
            <a:r>
              <a:rPr lang="en-US" altLang="zh-CN" sz="2400">
                <a:solidFill>
                  <a:schemeClr val="tx1"/>
                </a:solidFill>
                <a:latin typeface="+mn-ea"/>
                <a:ea typeface="+mn-ea"/>
                <a:cs typeface="+mn-ea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高通滤波电路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2400">
                <a:latin typeface="+mn-ea"/>
                <a:ea typeface="+mn-ea"/>
                <a:cs typeface="+mn-ea"/>
              </a:rPr>
              <a:t>二阶</a:t>
            </a:r>
            <a:r>
              <a:rPr lang="zh-CN" altLang="en-US" sz="2400">
                <a:solidFill>
                  <a:schemeClr val="tx1"/>
                </a:solidFill>
                <a:latin typeface="+mn-ea"/>
                <a:ea typeface="+mn-ea"/>
                <a:cs typeface="+mn-ea"/>
              </a:rPr>
              <a:t>高通</a:t>
            </a: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滤波器</a:t>
            </a:r>
            <a:endParaRPr lang="zh-CN" altLang="en-US" sz="2400">
              <a:solidFill>
                <a:srgbClr val="FF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422765" y="3801110"/>
            <a:ext cx="934085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红灯</a:t>
            </a:r>
            <a:endParaRPr lang="zh-CN" altLang="en-US" sz="2200" b="1" dirty="0">
              <a:latin typeface="+mn-ea"/>
              <a:ea typeface="+mn-ea"/>
            </a:endParaRPr>
          </a:p>
          <a:p>
            <a:pPr algn="ctr"/>
            <a:r>
              <a:rPr lang="en-US" altLang="zh-CN" sz="2200" b="1" dirty="0">
                <a:latin typeface="+mn-ea"/>
                <a:ea typeface="+mn-ea"/>
                <a:sym typeface="+mn-ea"/>
              </a:rPr>
              <a:t>(LED)</a:t>
            </a:r>
            <a:endParaRPr lang="zh-CN" altLang="en-US" sz="2200" b="1" dirty="0">
              <a:latin typeface="+mn-ea"/>
              <a:ea typeface="+mn-ea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>
            <a:off x="8738235" y="4112895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386830" y="765175"/>
            <a:ext cx="934085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绿灯</a:t>
            </a:r>
            <a:endParaRPr lang="zh-CN" altLang="en-US" sz="2200" b="1" dirty="0">
              <a:latin typeface="+mn-ea"/>
              <a:ea typeface="+mn-ea"/>
            </a:endParaRPr>
          </a:p>
          <a:p>
            <a:pPr algn="ctr"/>
            <a:r>
              <a:rPr lang="en-US" altLang="zh-CN" sz="2200" b="1" dirty="0">
                <a:latin typeface="+mn-ea"/>
                <a:ea typeface="+mn-ea"/>
              </a:rPr>
              <a:t>(LED)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24275" y="769620"/>
            <a:ext cx="1983740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低通滤波电路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f</a:t>
            </a:r>
            <a:r>
              <a:rPr lang="en-US" altLang="zh-CN" sz="2200" b="1" baseline="-2500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H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=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500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Hz</a:t>
            </a: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02685" y="1682750"/>
            <a:ext cx="2019935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高通滤波电路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2200" b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f</a:t>
            </a:r>
            <a:r>
              <a:rPr lang="en-US" altLang="zh-CN" sz="2200" b="1" baseline="-2500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L</a:t>
            </a:r>
            <a:r>
              <a:rPr lang="en-US" altLang="zh-CN" sz="2200" b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=</a:t>
            </a: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500</a:t>
            </a:r>
            <a:r>
              <a:rPr lang="en-US" altLang="zh-CN" sz="2200" b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Hz</a:t>
            </a:r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25565" y="1808480"/>
            <a:ext cx="934085" cy="768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200" b="1" dirty="0">
                <a:latin typeface="+mn-ea"/>
                <a:ea typeface="+mn-ea"/>
              </a:rPr>
              <a:t>红灯</a:t>
            </a:r>
            <a:endParaRPr lang="zh-CN" altLang="en-US" sz="2200" b="1" dirty="0">
              <a:latin typeface="+mn-ea"/>
              <a:ea typeface="+mn-ea"/>
            </a:endParaRPr>
          </a:p>
          <a:p>
            <a:pPr algn="ctr"/>
            <a:r>
              <a:rPr lang="en-US" altLang="zh-CN" sz="2200" b="1" dirty="0">
                <a:latin typeface="+mn-ea"/>
                <a:ea typeface="+mn-ea"/>
                <a:sym typeface="+mn-ea"/>
              </a:rPr>
              <a:t>(LED)</a:t>
            </a:r>
            <a:endParaRPr lang="zh-CN" altLang="en-US" sz="2200" b="1" dirty="0">
              <a:latin typeface="+mn-ea"/>
              <a:ea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783840" y="1124585"/>
            <a:ext cx="9360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2783205" y="2049145"/>
            <a:ext cx="913130" cy="0"/>
          </a:xfrm>
          <a:prstGeom prst="straightConnector1">
            <a:avLst/>
          </a:prstGeom>
          <a:ln w="19050">
            <a:solidFill>
              <a:srgbClr val="FF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5757545" y="1060450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5741035" y="2120265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58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47625" y="2594928"/>
            <a:ext cx="5581650" cy="3648075"/>
          </a:xfrm>
          <a:prstGeom prst="rect">
            <a:avLst/>
          </a:prstGeom>
        </p:spPr>
      </p:pic>
      <p:sp>
        <p:nvSpPr>
          <p:cNvPr id="27651" name="文本框 2"/>
          <p:cNvSpPr txBox="1"/>
          <p:nvPr/>
        </p:nvSpPr>
        <p:spPr>
          <a:xfrm>
            <a:off x="6204585" y="5580698"/>
            <a:ext cx="5186045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Font typeface="Wingdings" panose="05000000000000000000" charset="0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2)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电压增益可调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20-200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ct val="50000"/>
              </a:spcBef>
              <a:buFont typeface="Wingdings" panose="05000000000000000000" charset="0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根据输出信号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out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和输入信号确定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zh-CN" altLang="en-US" sz="2400" b="1"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58535" y="1813560"/>
            <a:ext cx="4144963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5000"/>
              </a:lnSpc>
              <a:buFont typeface="Wingdings" panose="05000000000000000000" charset="0"/>
            </a:pPr>
            <a:r>
              <a:rPr lang="en-US" altLang="zh-CN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1) </a:t>
            </a:r>
            <a:r>
              <a:rPr lang="zh-CN" altLang="en-US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工作电压范围宽</a:t>
            </a:r>
            <a:endParaRPr lang="zh-CN" altLang="en-US" sz="2400" b="1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5000"/>
              </a:lnSpc>
              <a:buFont typeface="Arial" panose="020B0604020202020204" pitchFamily="34" charset="0"/>
            </a:pPr>
            <a:r>
              <a:rPr lang="en-US" altLang="zh-CN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zh-CN" altLang="en-US" sz="2400" b="1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单电源</a:t>
            </a:r>
            <a:r>
              <a:rPr lang="en-US" altLang="zh-CN" sz="2400" b="1">
                <a:solidFill>
                  <a:srgbClr val="FF0000"/>
                </a:solidFill>
                <a:latin typeface="+mn-lt"/>
                <a:ea typeface="+mn-ea"/>
                <a:cs typeface="+mn-lt"/>
                <a:sym typeface="+mn-ea"/>
              </a:rPr>
              <a:t>V</a:t>
            </a:r>
            <a:r>
              <a:rPr lang="en-US" altLang="zh-CN" sz="2400" b="1" baseline="-25000">
                <a:solidFill>
                  <a:srgbClr val="FF0000"/>
                </a:solidFill>
                <a:latin typeface="+mn-lt"/>
                <a:ea typeface="+mn-ea"/>
                <a:cs typeface="+mn-lt"/>
                <a:sym typeface="+mn-ea"/>
              </a:rPr>
              <a:t>S</a:t>
            </a:r>
            <a:r>
              <a:rPr lang="en-US" altLang="zh-CN" sz="2400" b="1">
                <a:solidFill>
                  <a:schemeClr val="tx1"/>
                </a:solidFill>
                <a:latin typeface="+mn-lt"/>
                <a:ea typeface="+mn-ea"/>
                <a:cs typeface="+mn-lt"/>
                <a:sym typeface="+mn-ea"/>
              </a:rPr>
              <a:t>: </a:t>
            </a:r>
            <a:r>
              <a:rPr lang="en-US" altLang="zh-CN" sz="2400" b="1" noProof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5-18V</a:t>
            </a:r>
            <a:r>
              <a:rPr lang="zh-CN" altLang="en-US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4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7653" name="对象 32774"/>
          <p:cNvGraphicFramePr>
            <a:graphicFrameLocks noChangeAspect="1"/>
          </p:cNvGraphicFramePr>
          <p:nvPr/>
        </p:nvGraphicFramePr>
        <p:xfrm>
          <a:off x="6602413" y="3437255"/>
          <a:ext cx="166447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2" imgW="2317750" imgH="793750" progId="Equation.3">
                  <p:embed/>
                </p:oleObj>
              </mc:Choice>
              <mc:Fallback>
                <p:oleObj name="" r:id="rId2" imgW="2317750" imgH="79375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02413" y="3437255"/>
                        <a:ext cx="1664470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对象 32772"/>
          <p:cNvGraphicFramePr>
            <a:graphicFrameLocks noChangeAspect="1"/>
          </p:cNvGraphicFramePr>
          <p:nvPr/>
        </p:nvGraphicFramePr>
        <p:xfrm>
          <a:off x="6602413" y="2778760"/>
          <a:ext cx="1798411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4" imgW="711200" imgH="228600" progId="Equation.3">
                  <p:embed/>
                </p:oleObj>
              </mc:Choice>
              <mc:Fallback>
                <p:oleObj name="" r:id="rId4" imgW="711200" imgH="2286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02413" y="2778760"/>
                        <a:ext cx="1798411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" name="Rectangle 3"/>
          <p:cNvSpPr>
            <a:spLocks noGrp="1"/>
          </p:cNvSpPr>
          <p:nvPr/>
        </p:nvSpPr>
        <p:spPr>
          <a:xfrm>
            <a:off x="1127125" y="-27305"/>
            <a:ext cx="6250940" cy="730885"/>
          </a:xfrm>
        </p:spPr>
        <p:txBody>
          <a:bodyPr vert="horz" wrap="square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dirty="0">
                <a:latin typeface="+mn-ea"/>
                <a:sym typeface="+mn-ea"/>
              </a:rPr>
              <a:t>二</a:t>
            </a:r>
            <a:r>
              <a:rPr lang="en-US" altLang="zh-CN" sz="2400" dirty="0">
                <a:latin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sym typeface="+mn-ea"/>
              </a:rPr>
              <a:t>实验电路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&lt;&lt;</a:t>
            </a:r>
            <a:r>
              <a:rPr lang="zh-CN" altLang="en-US" sz="32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任务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3 音响放大器</a:t>
            </a:r>
            <a:endParaRPr lang="zh-CN" altLang="en-US" sz="3200">
              <a:latin typeface="+mn-ea"/>
              <a:cs typeface="+mn-ea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6394450" y="4096385"/>
            <a:ext cx="4479925" cy="143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i="1">
                <a:latin typeface="Times New Roman" panose="02020603050405020304" pitchFamily="2" charset="0"/>
                <a:ea typeface="黑体" panose="02010609060101010101" charset="-122"/>
                <a:cs typeface="Times New Roman" panose="02020603050405020304" pitchFamily="2" charset="0"/>
              </a:rPr>
              <a:t>R</a:t>
            </a:r>
            <a:r>
              <a:rPr kumimoji="1" lang="en-US" altLang="zh-CN" sz="2400" baseline="-30000">
                <a:latin typeface="Times New Roman" panose="02020603050405020304" pitchFamily="2" charset="0"/>
                <a:ea typeface="黑体" panose="02010609060101010101" charset="-122"/>
                <a:cs typeface="Times New Roman" panose="02020603050405020304" pitchFamily="2" charset="0"/>
              </a:rPr>
              <a:t>L</a:t>
            </a:r>
            <a:r>
              <a:rPr kumimoji="1" lang="en-US" altLang="zh-CN" sz="2400">
                <a:latin typeface="Times New Roman" panose="02020603050405020304" pitchFamily="2" charset="0"/>
                <a:ea typeface="黑体" panose="02010609060101010101" charset="-122"/>
                <a:cs typeface="Times New Roman" panose="02020603050405020304" pitchFamily="2" charset="0"/>
              </a:rPr>
              <a:t>: </a:t>
            </a:r>
            <a:r>
              <a:rPr kumimoji="1" lang="zh-CN" altLang="en-US" sz="2400" b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额定负载阻抗</a:t>
            </a:r>
            <a:endParaRPr kumimoji="1" lang="zh-CN" altLang="en-US" sz="2400" b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i="1">
                <a:latin typeface="Times New Roman" panose="02020603050405020304" pitchFamily="2" charset="0"/>
                <a:ea typeface="黑体" panose="02010609060101010101" charset="-122"/>
                <a:cs typeface="Times New Roman" panose="02020603050405020304" pitchFamily="2" charset="0"/>
              </a:rPr>
              <a:t>V</a:t>
            </a:r>
            <a:r>
              <a:rPr kumimoji="1" lang="en-US" altLang="zh-CN" sz="2400" baseline="-30000">
                <a:latin typeface="Times New Roman" panose="02020603050405020304" pitchFamily="2" charset="0"/>
                <a:ea typeface="黑体" panose="02010609060101010101" charset="-122"/>
                <a:cs typeface="Times New Roman" panose="02020603050405020304" pitchFamily="2" charset="0"/>
              </a:rPr>
              <a:t>o</a:t>
            </a:r>
            <a:r>
              <a:rPr kumimoji="1" lang="en-US" altLang="zh-CN" sz="2400">
                <a:latin typeface="Times New Roman" panose="02020603050405020304" pitchFamily="2" charset="0"/>
                <a:ea typeface="黑体" panose="02010609060101010101" charset="-122"/>
                <a:cs typeface="Times New Roman" panose="02020603050405020304" pitchFamily="2" charset="0"/>
              </a:rPr>
              <a:t>: </a:t>
            </a:r>
            <a:r>
              <a:rPr kumimoji="1" lang="en-US" altLang="zh-CN" sz="2400" i="1">
                <a:latin typeface="Times New Roman" panose="02020603050405020304" pitchFamily="2" charset="0"/>
                <a:ea typeface="黑体" panose="02010609060101010101" charset="-122"/>
                <a:cs typeface="Times New Roman" panose="02020603050405020304" pitchFamily="2" charset="0"/>
                <a:sym typeface="+mn-ea"/>
              </a:rPr>
              <a:t>R</a:t>
            </a:r>
            <a:r>
              <a:rPr kumimoji="1" lang="en-US" altLang="zh-CN" sz="2400" baseline="-30000">
                <a:latin typeface="Times New Roman" panose="02020603050405020304" pitchFamily="2" charset="0"/>
                <a:ea typeface="黑体" panose="02010609060101010101" charset="-122"/>
                <a:cs typeface="Times New Roman" panose="02020603050405020304" pitchFamily="2" charset="0"/>
                <a:sym typeface="+mn-ea"/>
              </a:rPr>
              <a:t>L</a:t>
            </a:r>
            <a:r>
              <a:rPr kumimoji="1" lang="zh-CN" altLang="en-US" sz="2400" b="0">
                <a:latin typeface="黑体" panose="02010609060101010101" charset="-122"/>
                <a:ea typeface="黑体" panose="02010609060101010101" charset="-122"/>
              </a:rPr>
              <a:t>两端</a:t>
            </a:r>
            <a:r>
              <a:rPr kumimoji="1" lang="zh-CN" altLang="en-US" sz="2400" b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最大</a:t>
            </a:r>
            <a:r>
              <a:rPr kumimoji="1" lang="zh-CN" altLang="en-US" sz="2400" b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不失真</a:t>
            </a:r>
            <a:r>
              <a:rPr kumimoji="1" lang="zh-CN" altLang="en-US" sz="2400" b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电压</a:t>
            </a:r>
            <a:r>
              <a:rPr kumimoji="1" lang="zh-CN" altLang="en-US" sz="2400" b="0">
                <a:latin typeface="黑体" panose="02010609060101010101" charset="-122"/>
                <a:ea typeface="黑体" panose="02010609060101010101" charset="-122"/>
                <a:sym typeface="+mn-ea"/>
              </a:rPr>
              <a:t>有效值</a:t>
            </a:r>
            <a:endParaRPr kumimoji="1" lang="zh-CN" altLang="en-US" sz="2400" b="0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sz="2400" b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kumimoji="1" lang="en-US" altLang="zh-CN" sz="2400" b="0">
                <a:latin typeface="黑体" panose="02010609060101010101" charset="-122"/>
                <a:ea typeface="黑体" panose="02010609060101010101" charset="-122"/>
              </a:rPr>
              <a:t>  </a:t>
            </a:r>
            <a:r>
              <a:rPr kumimoji="1" lang="zh-CN" altLang="en-US" sz="2400" b="0">
                <a:latin typeface="黑体" panose="02010609060101010101" charset="-122"/>
                <a:ea typeface="黑体" panose="02010609060101010101" charset="-122"/>
              </a:rPr>
              <a:t>用来选定电源电压</a:t>
            </a:r>
            <a:r>
              <a:rPr lang="en-US" altLang="zh-CN" sz="2400">
                <a:solidFill>
                  <a:srgbClr val="FF0000"/>
                </a:solidFill>
                <a:latin typeface="+mn-lt"/>
                <a:ea typeface="+mn-ea"/>
                <a:cs typeface="+mn-lt"/>
                <a:sym typeface="+mn-ea"/>
              </a:rPr>
              <a:t>V</a:t>
            </a:r>
            <a:r>
              <a:rPr lang="en-US" altLang="zh-CN" sz="2400" baseline="-25000">
                <a:solidFill>
                  <a:srgbClr val="FF0000"/>
                </a:solidFill>
                <a:latin typeface="+mn-lt"/>
                <a:ea typeface="+mn-ea"/>
                <a:cs typeface="+mn-lt"/>
                <a:sym typeface="+mn-ea"/>
              </a:rPr>
              <a:t>S</a:t>
            </a:r>
            <a:r>
              <a:rPr kumimoji="1" lang="en-US" altLang="zh-CN" sz="2400" b="0">
                <a:latin typeface="Times New Roman" panose="02020603050405020304" pitchFamily="2" charset="0"/>
              </a:rPr>
              <a:t> </a:t>
            </a:r>
            <a:endParaRPr kumimoji="1" lang="en-US" altLang="zh-CN" sz="2400" b="0">
              <a:latin typeface="Times New Roman" panose="02020603050405020304" pitchFamily="2" charset="0"/>
            </a:endParaRPr>
          </a:p>
        </p:txBody>
      </p:sp>
      <p:sp>
        <p:nvSpPr>
          <p:cNvPr id="27649" name="矩形 19458"/>
          <p:cNvSpPr/>
          <p:nvPr/>
        </p:nvSpPr>
        <p:spPr>
          <a:xfrm>
            <a:off x="6005830" y="645160"/>
            <a:ext cx="5266690" cy="96012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lnSpc>
                <a:spcPct val="125000"/>
              </a:lnSpc>
              <a:spcBef>
                <a:spcPts val="0"/>
              </a:spcBef>
              <a:buClr>
                <a:srgbClr val="FF3300"/>
              </a:buClr>
              <a:buFont typeface="Wingdings" panose="05000000000000000000" pitchFamily="2" charset="2"/>
            </a:pPr>
            <a:r>
              <a:rPr lang="zh-CN" altLang="en-US" sz="2400">
                <a:latin typeface="+mn-ea"/>
                <a:ea typeface="+mn-ea"/>
                <a:cs typeface="+mn-ea"/>
                <a:sym typeface="+mn-ea"/>
              </a:rPr>
              <a:t>扬声器</a:t>
            </a:r>
            <a:r>
              <a:rPr lang="en-US" altLang="zh-CN" sz="2400" b="1" i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R</a:t>
            </a:r>
            <a:r>
              <a:rPr lang="en-US" altLang="zh-CN" sz="2400" b="1" baseline="-3000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L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提供输出功率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zh-CN" altLang="en-US" sz="2400" dirty="0">
                <a:latin typeface="+mn-ea"/>
                <a:ea typeface="+mn-ea"/>
                <a:sym typeface="+mn-ea"/>
              </a:rPr>
              <a:t>播放音乐；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效率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尽可能高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标题 20482"/>
          <p:cNvSpPr>
            <a:spLocks noGrp="1"/>
          </p:cNvSpPr>
          <p:nvPr/>
        </p:nvSpPr>
        <p:spPr>
          <a:xfrm>
            <a:off x="44450" y="1839595"/>
            <a:ext cx="5749925" cy="7556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LM386集成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音频功率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放大器 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6590" y="5832475"/>
            <a:ext cx="59880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地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3360" y="4937125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同相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输入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3360" y="4059555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反相输入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3360" y="325374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增益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设定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12845" y="323723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增益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设定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96335" y="408178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旁路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电容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51580" y="4926330"/>
            <a:ext cx="22142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>
                <a:solidFill>
                  <a:srgbClr val="FF0000"/>
                </a:solidFill>
                <a:latin typeface="+mn-lt"/>
                <a:ea typeface="+mn-ea"/>
                <a:cs typeface="+mn-lt"/>
              </a:rPr>
              <a:t>V</a:t>
            </a:r>
            <a:r>
              <a:rPr lang="en-US" altLang="zh-CN" sz="2200" b="1" baseline="-25000">
                <a:solidFill>
                  <a:srgbClr val="FF0000"/>
                </a:solidFill>
                <a:latin typeface="+mn-lt"/>
                <a:ea typeface="+mn-ea"/>
                <a:cs typeface="+mn-lt"/>
              </a:rPr>
              <a:t>S</a:t>
            </a:r>
            <a:r>
              <a:rPr lang="zh-CN" altLang="en-US" sz="2200" b="1">
                <a:solidFill>
                  <a:srgbClr val="FF0000"/>
                </a:solidFill>
                <a:latin typeface="+mn-lt"/>
                <a:ea typeface="+mn-ea"/>
                <a:cs typeface="+mn-lt"/>
              </a:rPr>
              <a:t>正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电源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电压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66845" y="5859145"/>
            <a:ext cx="1581150" cy="4298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输出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301750" y="788670"/>
            <a:ext cx="2000885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功率放大电路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(&gt;0.3W)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39540" y="876935"/>
            <a:ext cx="132842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扬声器</a:t>
            </a:r>
            <a:r>
              <a:rPr lang="en-US" altLang="zh-CN" sz="2200" b="1" i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R</a:t>
            </a:r>
            <a:r>
              <a:rPr lang="en-US" altLang="zh-CN" sz="2200" b="1" baseline="-3000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L</a:t>
            </a:r>
            <a:endParaRPr lang="zh-CN" altLang="en-US" sz="2200" b="1">
              <a:latin typeface="+mn-ea"/>
              <a:ea typeface="+mn-ea"/>
              <a:cs typeface="+mn-ea"/>
              <a:sym typeface="+mn-ea"/>
            </a:endParaRPr>
          </a:p>
          <a:p>
            <a:pPr algn="l"/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（</a:t>
            </a:r>
            <a:r>
              <a:rPr lang="en-US" altLang="zh-CN" sz="2200"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8Ω</a:t>
            </a:r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）</a:t>
            </a:r>
            <a:endParaRPr lang="en-US" altLang="zh-CN" sz="2200" b="1">
              <a:latin typeface="+mn-ea"/>
              <a:ea typeface="+mn-ea"/>
              <a:cs typeface="+mn-ea"/>
              <a:sym typeface="+mn-ea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692785" y="1109345"/>
            <a:ext cx="540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3284855" y="1099185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636000" y="2310765"/>
            <a:ext cx="4000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>
                <a:solidFill>
                  <a:srgbClr val="FF3300"/>
                </a:solidFill>
              </a:rPr>
              <a:t>?</a:t>
            </a:r>
            <a:endParaRPr lang="en-US" altLang="zh-CN" sz="2800" b="1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16" grpId="0"/>
      <p:bldP spid="17" grpId="0"/>
      <p:bldP spid="18" grpId="0"/>
      <p:bldP spid="24" grpId="0" animBg="1"/>
      <p:bldP spid="19" grpId="0"/>
      <p:bldP spid="20" grpId="0"/>
      <p:bldP spid="27651" grpId="0"/>
      <p:bldP spid="21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1" name="文本框 2"/>
          <p:cNvSpPr txBox="1"/>
          <p:nvPr/>
        </p:nvSpPr>
        <p:spPr>
          <a:xfrm>
            <a:off x="5739765" y="552133"/>
            <a:ext cx="3391535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电压增益可调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20-200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vf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=2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7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/(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5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6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//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)</a:t>
            </a:r>
            <a:endParaRPr lang="zh-CN" altLang="en-US" sz="2400" b="1"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</a:endParaRPr>
          </a:p>
        </p:txBody>
      </p:sp>
      <p:sp>
        <p:nvSpPr>
          <p:cNvPr id="16385" name="Rectangle 3"/>
          <p:cNvSpPr>
            <a:spLocks noGrp="1"/>
          </p:cNvSpPr>
          <p:nvPr/>
        </p:nvSpPr>
        <p:spPr>
          <a:xfrm>
            <a:off x="1127125" y="-27305"/>
            <a:ext cx="6250940" cy="730885"/>
          </a:xfrm>
        </p:spPr>
        <p:txBody>
          <a:bodyPr vert="horz" wrap="square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dirty="0">
                <a:latin typeface="+mn-ea"/>
                <a:sym typeface="+mn-ea"/>
              </a:rPr>
              <a:t>二</a:t>
            </a:r>
            <a:r>
              <a:rPr lang="en-US" altLang="zh-CN" sz="2400" dirty="0">
                <a:latin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sym typeface="+mn-ea"/>
              </a:rPr>
              <a:t>实验电路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&lt;&lt;</a:t>
            </a:r>
            <a:r>
              <a:rPr lang="zh-CN" altLang="en-US" sz="32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任务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3 音响放大器</a:t>
            </a:r>
            <a:endParaRPr lang="zh-CN" altLang="en-US" sz="3200">
              <a:latin typeface="+mn-ea"/>
              <a:cs typeface="+mn-ea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455920" y="2348230"/>
          <a:ext cx="6001385" cy="392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490" name="Picture" r:id="rId1" imgW="3771900" imgH="2543175" progId="Word.Picture.8">
                  <p:embed/>
                </p:oleObj>
              </mc:Choice>
              <mc:Fallback>
                <p:oleObj name="Picture" r:id="rId1" imgW="3771900" imgH="2543175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5920" y="2348230"/>
                        <a:ext cx="6001385" cy="3924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8833485" y="3429000"/>
            <a:ext cx="647700" cy="64833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513955" y="4040505"/>
            <a:ext cx="723900" cy="59436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60790" y="5243830"/>
            <a:ext cx="650875" cy="47117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989955" y="1548130"/>
            <a:ext cx="46139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: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管脚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间增益设定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电阻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  <a:sym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47625" y="2594928"/>
            <a:ext cx="5581650" cy="36480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6590" y="5832475"/>
            <a:ext cx="59880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地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3360" y="4937125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同相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输入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3360" y="4059555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反相输入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3360" y="325374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增益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设定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12845" y="323723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增益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设定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96335" y="408178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旁路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电容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51580" y="4926330"/>
            <a:ext cx="22142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>
                <a:solidFill>
                  <a:srgbClr val="FF0000"/>
                </a:solidFill>
                <a:latin typeface="+mn-lt"/>
                <a:ea typeface="+mn-ea"/>
                <a:cs typeface="+mn-lt"/>
              </a:rPr>
              <a:t>V</a:t>
            </a:r>
            <a:r>
              <a:rPr lang="en-US" altLang="zh-CN" sz="2200" b="1" baseline="-25000">
                <a:solidFill>
                  <a:srgbClr val="FF0000"/>
                </a:solidFill>
                <a:latin typeface="+mn-lt"/>
                <a:ea typeface="+mn-ea"/>
                <a:cs typeface="+mn-lt"/>
              </a:rPr>
              <a:t>S</a:t>
            </a:r>
            <a:r>
              <a:rPr lang="zh-CN" altLang="en-US" sz="2200" b="1">
                <a:solidFill>
                  <a:srgbClr val="FF0000"/>
                </a:solidFill>
                <a:latin typeface="+mn-lt"/>
                <a:ea typeface="+mn-ea"/>
                <a:cs typeface="+mn-lt"/>
              </a:rPr>
              <a:t>正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电源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电压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66845" y="5859145"/>
            <a:ext cx="1581150" cy="4298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输出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01750" y="788670"/>
            <a:ext cx="2000885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功率放大电路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(&gt;0.3W)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39540" y="876935"/>
            <a:ext cx="132842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扬声器</a:t>
            </a:r>
            <a:r>
              <a:rPr lang="en-US" altLang="zh-CN" sz="2200" b="1" i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R</a:t>
            </a:r>
            <a:r>
              <a:rPr lang="en-US" altLang="zh-CN" sz="2200" b="1" baseline="-3000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L</a:t>
            </a:r>
            <a:endParaRPr lang="zh-CN" altLang="en-US" sz="2200" b="1">
              <a:latin typeface="+mn-ea"/>
              <a:ea typeface="+mn-ea"/>
              <a:cs typeface="+mn-ea"/>
              <a:sym typeface="+mn-ea"/>
            </a:endParaRPr>
          </a:p>
          <a:p>
            <a:pPr algn="l"/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（</a:t>
            </a:r>
            <a:r>
              <a:rPr lang="en-US" altLang="zh-CN" sz="2200"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8Ω</a:t>
            </a:r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）</a:t>
            </a:r>
            <a:endParaRPr lang="en-US" altLang="zh-CN" sz="2200" b="1">
              <a:latin typeface="+mn-ea"/>
              <a:ea typeface="+mn-ea"/>
              <a:cs typeface="+mn-ea"/>
              <a:sym typeface="+mn-ea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692785" y="1109345"/>
            <a:ext cx="540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3284855" y="1099185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标题 20482"/>
          <p:cNvSpPr>
            <a:spLocks noGrp="1"/>
          </p:cNvSpPr>
          <p:nvPr/>
        </p:nvSpPr>
        <p:spPr>
          <a:xfrm>
            <a:off x="44450" y="1839595"/>
            <a:ext cx="5749925" cy="7556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LM386集成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音频功率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放大器 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 idx="4294967295"/>
          </p:nvPr>
        </p:nvSpPr>
        <p:spPr>
          <a:xfrm>
            <a:off x="5424805" y="1951355"/>
            <a:ext cx="2120900" cy="626110"/>
          </a:xfrm>
        </p:spPr>
        <p:txBody>
          <a:bodyPr anchor="b"/>
          <a:lstStyle/>
          <a:p>
            <a:r>
              <a:rPr lang="zh-CN" altLang="en-US" sz="2400" b="1">
                <a:latin typeface="+mn-ea"/>
                <a:ea typeface="+mn-ea"/>
              </a:rPr>
              <a:t>加滤杂波措施</a:t>
            </a: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723255" y="2631440"/>
            <a:ext cx="1083310" cy="4349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689215" y="2274570"/>
            <a:ext cx="2163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+mn-ea"/>
                <a:ea typeface="+mn-ea"/>
              </a:rPr>
              <a:t>接</a:t>
            </a:r>
            <a:r>
              <a:rPr lang="zh-CN" altLang="en-US" sz="2400" b="1">
                <a:solidFill>
                  <a:srgbClr val="FF0000"/>
                </a:solidFill>
                <a:latin typeface="+mn-ea"/>
                <a:ea typeface="+mn-ea"/>
              </a:rPr>
              <a:t>直流稳压源</a:t>
            </a:r>
            <a:endParaRPr lang="zh-CN" altLang="en-US" sz="24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4820" name="AutoShape 6"/>
          <p:cNvSpPr/>
          <p:nvPr/>
        </p:nvSpPr>
        <p:spPr>
          <a:xfrm>
            <a:off x="9885045" y="2338070"/>
            <a:ext cx="2012315" cy="875030"/>
          </a:xfrm>
          <a:prstGeom prst="wedgeRoundRectCallout">
            <a:avLst>
              <a:gd name="adj1" fmla="val -78905"/>
              <a:gd name="adj2" fmla="val 115529"/>
              <a:gd name="adj3" fmla="val 16667"/>
            </a:avLst>
          </a:prstGeom>
          <a:noFill/>
          <a:ln w="2857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换为电位器</a:t>
            </a:r>
            <a:endParaRPr lang="zh-CN" altLang="en-US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调节电压增益</a:t>
            </a:r>
            <a:endParaRPr lang="zh-CN" altLang="en-US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85" name="Rectangle 3"/>
          <p:cNvSpPr>
            <a:spLocks noGrp="1"/>
          </p:cNvSpPr>
          <p:nvPr/>
        </p:nvSpPr>
        <p:spPr>
          <a:xfrm>
            <a:off x="1127125" y="-27305"/>
            <a:ext cx="6250940" cy="730885"/>
          </a:xfrm>
        </p:spPr>
        <p:txBody>
          <a:bodyPr vert="horz" wrap="square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dirty="0">
                <a:latin typeface="+mn-ea"/>
                <a:sym typeface="+mn-ea"/>
              </a:rPr>
              <a:t>二</a:t>
            </a:r>
            <a:r>
              <a:rPr lang="en-US" altLang="zh-CN" sz="2400" dirty="0">
                <a:latin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sym typeface="+mn-ea"/>
              </a:rPr>
              <a:t>实验电路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&lt;&lt;</a:t>
            </a:r>
            <a:r>
              <a:rPr lang="zh-CN" altLang="en-US" sz="32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任务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3 音响放大器</a:t>
            </a:r>
            <a:endParaRPr lang="zh-CN" altLang="en-US" sz="3200">
              <a:latin typeface="+mn-ea"/>
              <a:cs typeface="+mn-ea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47625" y="2594928"/>
            <a:ext cx="5581650" cy="364807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56590" y="5832475"/>
            <a:ext cx="59880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地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13360" y="4937125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同相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输入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13360" y="4059555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反相输入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13360" y="325374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增益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设定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12845" y="323723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增益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设定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696335" y="408178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旁路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电容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751580" y="4926330"/>
            <a:ext cx="22142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>
                <a:solidFill>
                  <a:srgbClr val="FF0000"/>
                </a:solidFill>
                <a:latin typeface="+mn-lt"/>
                <a:ea typeface="+mn-ea"/>
                <a:cs typeface="+mn-lt"/>
              </a:rPr>
              <a:t>V</a:t>
            </a:r>
            <a:r>
              <a:rPr lang="en-US" altLang="zh-CN" sz="2200" b="1" baseline="-25000">
                <a:solidFill>
                  <a:srgbClr val="FF0000"/>
                </a:solidFill>
                <a:latin typeface="+mn-lt"/>
                <a:ea typeface="+mn-ea"/>
                <a:cs typeface="+mn-lt"/>
              </a:rPr>
              <a:t>S</a:t>
            </a:r>
            <a:r>
              <a:rPr lang="zh-CN" altLang="en-US" sz="2200" b="1">
                <a:solidFill>
                  <a:srgbClr val="FF0000"/>
                </a:solidFill>
                <a:latin typeface="+mn-lt"/>
                <a:ea typeface="+mn-ea"/>
                <a:cs typeface="+mn-lt"/>
              </a:rPr>
              <a:t>正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电源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电压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966845" y="5859145"/>
            <a:ext cx="1581150" cy="4298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输出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301750" y="788670"/>
            <a:ext cx="2000885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功率放大电路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(&gt;0.3W)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939540" y="876935"/>
            <a:ext cx="132842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扬声器</a:t>
            </a:r>
            <a:r>
              <a:rPr lang="en-US" altLang="zh-CN" sz="2200" b="1" i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R</a:t>
            </a:r>
            <a:r>
              <a:rPr lang="en-US" altLang="zh-CN" sz="2200" b="1" baseline="-3000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L</a:t>
            </a:r>
            <a:endParaRPr lang="zh-CN" altLang="en-US" sz="2200" b="1">
              <a:latin typeface="+mn-ea"/>
              <a:ea typeface="+mn-ea"/>
              <a:cs typeface="+mn-ea"/>
              <a:sym typeface="+mn-ea"/>
            </a:endParaRPr>
          </a:p>
          <a:p>
            <a:pPr algn="l"/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（</a:t>
            </a:r>
            <a:r>
              <a:rPr lang="en-US" altLang="zh-CN" sz="2200"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8Ω</a:t>
            </a:r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）</a:t>
            </a:r>
            <a:endParaRPr lang="en-US" altLang="zh-CN" sz="2200" b="1">
              <a:latin typeface="+mn-ea"/>
              <a:ea typeface="+mn-ea"/>
              <a:cs typeface="+mn-ea"/>
              <a:sym typeface="+mn-ea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692785" y="1109345"/>
            <a:ext cx="540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3284855" y="1099185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2"/>
          <p:cNvSpPr txBox="1"/>
          <p:nvPr/>
        </p:nvSpPr>
        <p:spPr>
          <a:xfrm>
            <a:off x="5739765" y="552133"/>
            <a:ext cx="3391535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电压增益可调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20-200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vf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=2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7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/(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5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6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//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)</a:t>
            </a:r>
            <a:endParaRPr lang="zh-CN" altLang="en-US" sz="2400" b="1"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989955" y="1548130"/>
            <a:ext cx="46139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: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管脚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间增益设定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电阻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561195" y="1172845"/>
            <a:ext cx="25133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R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短路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: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增益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200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  <a:sym typeface="+mn-ea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开路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: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增益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20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5231691" y="5877029"/>
            <a:ext cx="1872208" cy="792088"/>
          </a:xfrm>
          <a:prstGeom prst="wedgeRoundRectCallout">
            <a:avLst>
              <a:gd name="adj1" fmla="val 33745"/>
              <a:gd name="adj2" fmla="val -165454"/>
              <a:gd name="adj3" fmla="val 16667"/>
            </a:avLst>
          </a:prstGeom>
          <a:noFill/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smtClean="0">
                <a:solidFill>
                  <a:schemeClr val="tx1"/>
                </a:solidFill>
              </a:rPr>
              <a:t>  可手工调节前级增益效果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298563" y="2631131"/>
          <a:ext cx="6676390" cy="418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0" name="Picture" r:id="rId2" imgW="2924175" imgH="1828800" progId="Word.Picture.8">
                  <p:embed/>
                </p:oleObj>
              </mc:Choice>
              <mc:Fallback>
                <p:oleObj name="Picture" r:id="rId2" imgW="2924175" imgH="1828800" progId="Word.Picture.8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8563" y="2631131"/>
                        <a:ext cx="6676390" cy="418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28676"/>
          <p:cNvGraphicFramePr>
            <a:graphicFrameLocks noChangeAspect="1"/>
          </p:cNvGraphicFramePr>
          <p:nvPr/>
        </p:nvGraphicFramePr>
        <p:xfrm>
          <a:off x="9984740" y="4059238"/>
          <a:ext cx="2065313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4" imgW="1498600" imgH="431800" progId="Equation.3">
                  <p:embed/>
                </p:oleObj>
              </mc:Choice>
              <mc:Fallback>
                <p:oleObj name="" r:id="rId4" imgW="1498600" imgH="4318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84740" y="4059238"/>
                        <a:ext cx="2065313" cy="72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标题 20482"/>
          <p:cNvSpPr>
            <a:spLocks noGrp="1"/>
          </p:cNvSpPr>
          <p:nvPr/>
        </p:nvSpPr>
        <p:spPr>
          <a:xfrm>
            <a:off x="44450" y="1839595"/>
            <a:ext cx="5749925" cy="7556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LM386集成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音频功率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放大器 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nimBg="1"/>
      <p:bldP spid="3" grpId="0" bldLvl="0" animBg="1"/>
      <p:bldP spid="6" grpId="0"/>
      <p:bldP spid="10" grpId="0" animBg="1"/>
      <p:bldP spid="5" grpId="0"/>
      <p:bldP spid="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4818" name="对象 28675"/>
          <p:cNvGraphicFramePr>
            <a:graphicFrameLocks noChangeAspect="1"/>
          </p:cNvGraphicFramePr>
          <p:nvPr/>
        </p:nvGraphicFramePr>
        <p:xfrm>
          <a:off x="5758952" y="2277047"/>
          <a:ext cx="4592955" cy="4068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2190750" imgH="1809750" progId="WPS.Doc.6">
                  <p:embed/>
                </p:oleObj>
              </mc:Choice>
              <mc:Fallback>
                <p:oleObj name="" r:id="rId1" imgW="2190750" imgH="1809750" progId="WPS.Doc.6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58952" y="2277047"/>
                        <a:ext cx="4592955" cy="4068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AutoShape 6"/>
          <p:cNvSpPr/>
          <p:nvPr/>
        </p:nvSpPr>
        <p:spPr>
          <a:xfrm>
            <a:off x="9167495" y="2625090"/>
            <a:ext cx="2018665" cy="875030"/>
          </a:xfrm>
          <a:prstGeom prst="wedgeRoundRectCallout">
            <a:avLst>
              <a:gd name="adj1" fmla="val -102815"/>
              <a:gd name="adj2" fmla="val 57329"/>
              <a:gd name="adj3" fmla="val 16667"/>
            </a:avLst>
          </a:prstGeom>
          <a:noFill/>
          <a:ln w="2857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可用电位器</a:t>
            </a:r>
            <a:endParaRPr lang="zh-CN" altLang="en-US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调节电压增益</a:t>
            </a:r>
            <a:endParaRPr lang="zh-CN" altLang="en-US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4819" name="对象 28676"/>
          <p:cNvGraphicFramePr>
            <a:graphicFrameLocks noChangeAspect="1"/>
          </p:cNvGraphicFramePr>
          <p:nvPr/>
        </p:nvGraphicFramePr>
        <p:xfrm>
          <a:off x="9156065" y="3549333"/>
          <a:ext cx="2375110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1498600" imgH="431800" progId="Equation.3">
                  <p:embed/>
                </p:oleObj>
              </mc:Choice>
              <mc:Fallback>
                <p:oleObj name="" r:id="rId3" imgW="1498600" imgH="4318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56065" y="3549333"/>
                        <a:ext cx="2375110" cy="82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/>
          <p:nvPr/>
        </p:nvPicPr>
        <p:blipFill>
          <a:blip r:embed="rId5"/>
          <a:stretch>
            <a:fillRect/>
          </a:stretch>
        </p:blipFill>
        <p:spPr>
          <a:xfrm>
            <a:off x="47625" y="2594928"/>
            <a:ext cx="5581650" cy="36480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6590" y="5832475"/>
            <a:ext cx="59880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地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3360" y="4937125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同相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输入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3360" y="4059555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反相输入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3360" y="325374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增益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设定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12845" y="323723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增益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设定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96335" y="4081780"/>
            <a:ext cx="154432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旁路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电容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51580" y="4926330"/>
            <a:ext cx="22142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>
                <a:solidFill>
                  <a:srgbClr val="FF0000"/>
                </a:solidFill>
                <a:latin typeface="+mn-lt"/>
                <a:ea typeface="+mn-ea"/>
                <a:cs typeface="+mn-lt"/>
              </a:rPr>
              <a:t>V</a:t>
            </a:r>
            <a:r>
              <a:rPr lang="en-US" altLang="zh-CN" sz="2200" b="1" baseline="-25000">
                <a:solidFill>
                  <a:srgbClr val="FF0000"/>
                </a:solidFill>
                <a:latin typeface="+mn-lt"/>
                <a:ea typeface="+mn-ea"/>
                <a:cs typeface="+mn-lt"/>
              </a:rPr>
              <a:t>S</a:t>
            </a:r>
            <a:r>
              <a:rPr lang="zh-CN" altLang="en-US" sz="2200" b="1">
                <a:solidFill>
                  <a:srgbClr val="FF0000"/>
                </a:solidFill>
                <a:latin typeface="+mn-lt"/>
                <a:ea typeface="+mn-ea"/>
                <a:cs typeface="+mn-lt"/>
              </a:rPr>
              <a:t>正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电源</a:t>
            </a:r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电压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66845" y="5859145"/>
            <a:ext cx="1581150" cy="4298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 sz="2200" b="1">
                <a:solidFill>
                  <a:srgbClr val="FF0000"/>
                </a:solidFill>
                <a:latin typeface="+mn-ea"/>
                <a:ea typeface="+mn-ea"/>
              </a:rPr>
              <a:t>输出</a:t>
            </a:r>
            <a:endParaRPr lang="zh-CN" altLang="en-US" sz="2200" b="1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01750" y="788670"/>
            <a:ext cx="2000885" cy="76835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功率放大电路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(&gt;0.3W)</a:t>
            </a:r>
            <a:endParaRPr lang="en-US" altLang="zh-CN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39540" y="876935"/>
            <a:ext cx="132842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扬声器</a:t>
            </a:r>
            <a:r>
              <a:rPr lang="en-US" altLang="zh-CN" sz="2200" b="1" i="1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R</a:t>
            </a:r>
            <a:r>
              <a:rPr lang="en-US" altLang="zh-CN" sz="2200" b="1" baseline="-3000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L</a:t>
            </a:r>
            <a:endParaRPr lang="zh-CN" altLang="en-US" sz="2200" b="1">
              <a:latin typeface="+mn-ea"/>
              <a:ea typeface="+mn-ea"/>
              <a:cs typeface="+mn-ea"/>
              <a:sym typeface="+mn-ea"/>
            </a:endParaRPr>
          </a:p>
          <a:p>
            <a:pPr algn="l"/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（</a:t>
            </a:r>
            <a:r>
              <a:rPr lang="en-US" altLang="zh-CN" sz="2200" b="1">
                <a:solidFill>
                  <a:srgbClr val="FF0000"/>
                </a:solidFill>
                <a:latin typeface="+mn-ea"/>
                <a:ea typeface="+mn-ea"/>
                <a:cs typeface="+mn-ea"/>
                <a:sym typeface="+mn-ea"/>
              </a:rPr>
              <a:t>8Ω</a:t>
            </a:r>
            <a:r>
              <a:rPr lang="zh-CN" altLang="en-US" sz="2200" b="1">
                <a:latin typeface="+mn-ea"/>
                <a:ea typeface="+mn-ea"/>
                <a:cs typeface="+mn-ea"/>
                <a:sym typeface="+mn-ea"/>
              </a:rPr>
              <a:t>）</a:t>
            </a:r>
            <a:endParaRPr lang="en-US" altLang="zh-CN" sz="2200" b="1">
              <a:latin typeface="+mn-ea"/>
              <a:ea typeface="+mn-ea"/>
              <a:cs typeface="+mn-ea"/>
              <a:sym typeface="+mn-ea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692785" y="1109345"/>
            <a:ext cx="540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3284855" y="1099185"/>
            <a:ext cx="684000" cy="6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2"/>
          <p:cNvSpPr txBox="1"/>
          <p:nvPr/>
        </p:nvSpPr>
        <p:spPr>
          <a:xfrm>
            <a:off x="5739765" y="552133"/>
            <a:ext cx="3391535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电压增益可调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20-200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vf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=2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7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/(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5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+</a:t>
            </a:r>
            <a:r>
              <a:rPr lang="en-US" altLang="zh-CN" sz="2400" b="1" i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6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//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lang="en-US" altLang="zh-CN" sz="2400" b="1" dirty="0"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)</a:t>
            </a:r>
            <a:endParaRPr lang="zh-CN" altLang="en-US" sz="2400" b="1"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989955" y="1548130"/>
            <a:ext cx="46139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: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管脚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间增益设定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电阻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561195" y="1172845"/>
            <a:ext cx="25133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R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短路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: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增益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200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  <a:sym typeface="+mn-ea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开路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: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增益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20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15" name="标题 20482"/>
          <p:cNvSpPr>
            <a:spLocks noGrp="1"/>
          </p:cNvSpPr>
          <p:nvPr/>
        </p:nvSpPr>
        <p:spPr>
          <a:xfrm>
            <a:off x="44450" y="1839595"/>
            <a:ext cx="5749925" cy="7556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LM386集成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音频功率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放大器 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3"/>
          <p:cNvSpPr>
            <a:spLocks noGrp="1"/>
          </p:cNvSpPr>
          <p:nvPr/>
        </p:nvSpPr>
        <p:spPr>
          <a:xfrm>
            <a:off x="1127125" y="-27305"/>
            <a:ext cx="6250940" cy="730885"/>
          </a:xfrm>
        </p:spPr>
        <p:txBody>
          <a:bodyPr vert="horz" wrap="square" anchor="t" anchorCtr="0"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8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sz="2000" b="1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dirty="0">
                <a:latin typeface="+mn-ea"/>
                <a:sym typeface="+mn-ea"/>
              </a:rPr>
              <a:t>二</a:t>
            </a:r>
            <a:r>
              <a:rPr lang="en-US" altLang="zh-CN" sz="2400" dirty="0">
                <a:latin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sym typeface="+mn-ea"/>
              </a:rPr>
              <a:t>实验电路</a:t>
            </a:r>
            <a:r>
              <a:rPr lang="en-US" altLang="zh-CN" sz="24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&lt;&lt;</a:t>
            </a:r>
            <a:r>
              <a:rPr lang="zh-CN" altLang="en-US" sz="3200" dirty="0"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任务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3 音响放大器</a:t>
            </a:r>
            <a:endParaRPr lang="zh-CN" altLang="en-US" sz="3200">
              <a:latin typeface="+mn-ea"/>
              <a:cs typeface="+mn-ea"/>
            </a:endParaRPr>
          </a:p>
        </p:txBody>
      </p:sp>
      <p:sp>
        <p:nvSpPr>
          <p:cNvPr id="2" name="AutoShape 6"/>
          <p:cNvSpPr/>
          <p:nvPr/>
        </p:nvSpPr>
        <p:spPr>
          <a:xfrm>
            <a:off x="10051415" y="5373370"/>
            <a:ext cx="2068830" cy="875030"/>
          </a:xfrm>
          <a:prstGeom prst="wedgeRoundRectCallout">
            <a:avLst>
              <a:gd name="adj1" fmla="val -68815"/>
              <a:gd name="adj2" fmla="val -5950"/>
              <a:gd name="adj3" fmla="val 16667"/>
            </a:avLst>
          </a:prstGeom>
          <a:noFill/>
          <a:ln w="2857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可用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电阻</a:t>
            </a:r>
            <a:endParaRPr lang="zh-CN" altLang="en-US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验收用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扬声器</a:t>
            </a:r>
            <a:endParaRPr lang="zh-CN" altLang="en-US" sz="2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34820" grpId="0" bldLvl="0" animBg="1"/>
      <p:bldP spid="2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8385" y="838835"/>
            <a:ext cx="10568305" cy="4968240"/>
          </a:xfrm>
        </p:spPr>
        <p:txBody>
          <a:bodyPr/>
          <a:lstStyle/>
          <a:p>
            <a:pPr marL="0" indent="0" eaLnBrk="1" hangingPunct="1">
              <a:buFont typeface="Wingdings" panose="05000000000000000000" charset="0"/>
              <a:buNone/>
            </a:pPr>
            <a:r>
              <a:rPr lang="en-US" altLang="zh-CN" sz="2800" b="0" dirty="0"/>
              <a:t>1) </a:t>
            </a:r>
            <a:r>
              <a:rPr lang="zh-CN" altLang="en-US" b="0" dirty="0">
                <a:solidFill>
                  <a:srgbClr val="FF0000"/>
                </a:solidFill>
                <a:sym typeface="+mn-ea"/>
              </a:rPr>
              <a:t>分级</a:t>
            </a:r>
            <a:r>
              <a:rPr lang="zh-CN" altLang="en-US" b="0" dirty="0">
                <a:sym typeface="+mn-ea"/>
              </a:rPr>
              <a:t>调试</a:t>
            </a:r>
            <a:r>
              <a:rPr lang="zh-CN" altLang="en-US" b="0" dirty="0">
                <a:solidFill>
                  <a:srgbClr val="FF0000"/>
                </a:solidFill>
                <a:sym typeface="+mn-ea"/>
              </a:rPr>
              <a:t>再联调</a:t>
            </a:r>
            <a:r>
              <a:rPr lang="en-US" altLang="zh-CN" b="0" dirty="0">
                <a:solidFill>
                  <a:srgbClr val="FF0000"/>
                </a:solidFill>
                <a:sym typeface="+mn-ea"/>
              </a:rPr>
              <a:t>: 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放大器</a:t>
            </a:r>
            <a:r>
              <a:rPr lang="en-US" altLang="zh-CN" sz="2800" b="0" dirty="0"/>
              <a:t>+</a:t>
            </a:r>
            <a:r>
              <a:rPr lang="zh-CN" altLang="en-US" sz="2800" b="0" dirty="0"/>
              <a:t>滤波</a:t>
            </a:r>
            <a:r>
              <a:rPr lang="en-US" altLang="zh-CN" sz="2800" b="0" dirty="0"/>
              <a:t>+</a:t>
            </a:r>
            <a:r>
              <a:rPr lang="zh-CN" altLang="en-US" sz="2800" b="0" dirty="0"/>
              <a:t>比较器、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放大器</a:t>
            </a:r>
            <a:r>
              <a:rPr lang="en-US" altLang="zh-CN" b="0" dirty="0">
                <a:sym typeface="+mn-ea"/>
              </a:rPr>
              <a:t>+</a:t>
            </a:r>
            <a:r>
              <a:rPr lang="zh-CN" altLang="en-US" b="0" dirty="0">
                <a:sym typeface="+mn-ea"/>
              </a:rPr>
              <a:t>滤波电路</a:t>
            </a:r>
            <a:endParaRPr lang="zh-CN" altLang="en-US" b="0" dirty="0">
              <a:sym typeface="+mn-ea"/>
            </a:endParaRPr>
          </a:p>
          <a:p>
            <a:pPr marL="0" indent="0" eaLnBrk="1" hangingPunct="1">
              <a:buFont typeface="Wingdings" panose="05000000000000000000" charset="0"/>
              <a:buNone/>
            </a:pPr>
            <a:r>
              <a:rPr lang="zh-CN" altLang="en-US" b="0" dirty="0">
                <a:sym typeface="+mn-ea"/>
              </a:rPr>
              <a:t> </a:t>
            </a:r>
            <a:r>
              <a:rPr lang="en-US" altLang="zh-CN" b="0" dirty="0">
                <a:sym typeface="+mn-ea"/>
              </a:rPr>
              <a:t>   </a:t>
            </a:r>
            <a:r>
              <a:rPr lang="zh-CN" altLang="en-US" b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放大器</a:t>
            </a:r>
            <a:r>
              <a:rPr lang="en-US" altLang="zh-CN" sz="2800" b="0" dirty="0"/>
              <a:t>+</a:t>
            </a:r>
            <a:r>
              <a:rPr lang="zh-CN" altLang="en-US" sz="2800" b="0" dirty="0">
                <a:solidFill>
                  <a:schemeClr val="tx1"/>
                </a:solidFill>
              </a:rPr>
              <a:t>功放</a:t>
            </a:r>
            <a:endParaRPr lang="en-US" altLang="zh-CN" sz="2800" b="0" dirty="0">
              <a:solidFill>
                <a:srgbClr val="0000FF"/>
              </a:solidFill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2800" b="0" dirty="0"/>
              <a:t>2) </a:t>
            </a:r>
            <a:r>
              <a:rPr lang="zh-CN" altLang="en-US" sz="2800" b="0" dirty="0"/>
              <a:t>测量及验收：</a:t>
            </a:r>
            <a:r>
              <a:rPr lang="zh-CN" altLang="en-US" sz="2800" b="0" dirty="0">
                <a:solidFill>
                  <a:srgbClr val="FF0000"/>
                </a:solidFill>
              </a:rPr>
              <a:t>整体</a:t>
            </a:r>
            <a:r>
              <a:rPr lang="zh-CN" altLang="en-US" sz="2800" b="0" dirty="0"/>
              <a:t>验收</a:t>
            </a:r>
            <a:endParaRPr lang="en-US" altLang="zh-CN" sz="2800" b="0" dirty="0"/>
          </a:p>
          <a:p>
            <a:pPr eaLnBrk="1" hangingPunct="1">
              <a:buFont typeface="Wingdings" panose="05000000000000000000" charset="0"/>
              <a:buChar char="u"/>
            </a:pPr>
            <a:r>
              <a:rPr lang="zh-CN" altLang="en-US" sz="2800" b="0" dirty="0"/>
              <a:t>信号发生器</a:t>
            </a:r>
            <a:r>
              <a:rPr lang="en-US" altLang="zh-CN" sz="2800" b="0" dirty="0" err="1">
                <a:solidFill>
                  <a:srgbClr val="FF0000"/>
                </a:solidFill>
              </a:rPr>
              <a:t>Vipp</a:t>
            </a:r>
            <a:r>
              <a:rPr lang="en-US" altLang="zh-CN" sz="2800" b="0" dirty="0">
                <a:solidFill>
                  <a:srgbClr val="FF0000"/>
                </a:solidFill>
              </a:rPr>
              <a:t>= 30~100mv</a:t>
            </a:r>
            <a:r>
              <a:rPr lang="zh-CN" altLang="en-US" sz="2800" b="0" dirty="0">
                <a:solidFill>
                  <a:srgbClr val="FF0000"/>
                </a:solidFill>
              </a:rPr>
              <a:t>、</a:t>
            </a:r>
            <a:r>
              <a:rPr lang="en-US" altLang="zh-CN" sz="2800" b="0" dirty="0">
                <a:solidFill>
                  <a:srgbClr val="FF0000"/>
                </a:solidFill>
              </a:rPr>
              <a:t> f=500hz</a:t>
            </a:r>
            <a:r>
              <a:rPr lang="zh-CN" altLang="en-US" sz="2800" b="0" dirty="0"/>
              <a:t>调试测量音量彩灯</a:t>
            </a:r>
            <a:endParaRPr lang="zh-CN" altLang="en-US" sz="2800" b="0" dirty="0"/>
          </a:p>
          <a:p>
            <a:pPr eaLnBrk="1" hangingPunct="1">
              <a:buFont typeface="Wingdings" panose="05000000000000000000" charset="0"/>
              <a:buChar char="u"/>
            </a:pPr>
            <a:r>
              <a:rPr lang="zh-CN" altLang="en-US" b="0" dirty="0">
                <a:sym typeface="+mn-ea"/>
              </a:rPr>
              <a:t>信号发生器</a:t>
            </a:r>
            <a:r>
              <a:rPr lang="en-US" altLang="zh-CN" sz="2800" b="0" dirty="0" err="1">
                <a:solidFill>
                  <a:srgbClr val="FF0000"/>
                </a:solidFill>
              </a:rPr>
              <a:t>Vipp</a:t>
            </a:r>
            <a:r>
              <a:rPr lang="en-US" altLang="zh-CN" sz="2800" b="0" dirty="0">
                <a:solidFill>
                  <a:srgbClr val="FF0000"/>
                </a:solidFill>
              </a:rPr>
              <a:t>= 50mv</a:t>
            </a:r>
            <a:r>
              <a:rPr lang="zh-CN" altLang="en-US" sz="2800" b="0" dirty="0">
                <a:solidFill>
                  <a:srgbClr val="FF0000"/>
                </a:solidFill>
              </a:rPr>
              <a:t>、</a:t>
            </a:r>
            <a:r>
              <a:rPr lang="en-US" altLang="zh-CN" sz="2800" b="0" dirty="0">
                <a:solidFill>
                  <a:srgbClr val="FF0000"/>
                </a:solidFill>
              </a:rPr>
              <a:t> f= 50Hz~15KHz</a:t>
            </a:r>
            <a:r>
              <a:rPr lang="zh-CN" altLang="en-US" sz="2800" b="0" dirty="0"/>
              <a:t>信号做调试测量不同音频彩灯</a:t>
            </a:r>
            <a:endParaRPr lang="en-US" altLang="zh-CN" sz="2800" b="0" dirty="0"/>
          </a:p>
          <a:p>
            <a:pPr eaLnBrk="1" hangingPunct="1">
              <a:buFont typeface="Wingdings" panose="05000000000000000000" charset="0"/>
              <a:buChar char="u"/>
            </a:pPr>
            <a:r>
              <a:rPr lang="zh-CN" altLang="en-US" b="0" dirty="0">
                <a:sym typeface="+mn-ea"/>
              </a:rPr>
              <a:t>信号发生器</a:t>
            </a:r>
            <a:r>
              <a:rPr lang="en-US" altLang="zh-CN" sz="2800" b="0" dirty="0" err="1"/>
              <a:t>Vipp</a:t>
            </a:r>
            <a:r>
              <a:rPr lang="en-US" altLang="zh-CN" sz="2800" b="0" dirty="0"/>
              <a:t>=30mv</a:t>
            </a:r>
            <a:r>
              <a:rPr lang="zh-CN" altLang="en-US" sz="2800" b="0" dirty="0"/>
              <a:t>、</a:t>
            </a:r>
            <a:r>
              <a:rPr lang="en-US" altLang="zh-CN" sz="2800" b="0" dirty="0"/>
              <a:t>f=1khz,</a:t>
            </a:r>
            <a:r>
              <a:rPr lang="zh-CN" altLang="en-US" sz="2800" b="0" dirty="0"/>
              <a:t>用</a:t>
            </a:r>
            <a:r>
              <a:rPr lang="en-US" altLang="zh-CN" sz="2800" b="0" dirty="0"/>
              <a:t>10Ω/2W</a:t>
            </a:r>
            <a:r>
              <a:rPr lang="zh-CN" altLang="en-US" sz="2800" b="0" dirty="0"/>
              <a:t>电阻做功放负载，测量各级电路输出参数</a:t>
            </a:r>
            <a:endParaRPr lang="en-US" altLang="zh-CN" sz="2800" b="0" dirty="0"/>
          </a:p>
          <a:p>
            <a:pPr eaLnBrk="1" hangingPunct="1">
              <a:buFont typeface="Wingdings" panose="05000000000000000000" charset="0"/>
              <a:buChar char="u"/>
            </a:pPr>
            <a:r>
              <a:rPr lang="zh-CN" altLang="en-US" sz="2800" b="0" dirty="0"/>
              <a:t>音频连接线接播放器耳机孔，接扬声器做负载</a:t>
            </a:r>
            <a:r>
              <a:rPr lang="zh-CN" altLang="en-US" sz="2800" b="0" dirty="0">
                <a:solidFill>
                  <a:srgbClr val="FF0000"/>
                </a:solidFill>
              </a:rPr>
              <a:t>播放音乐</a:t>
            </a:r>
            <a:r>
              <a:rPr lang="en-US" altLang="zh-CN" sz="2800" b="0" dirty="0"/>
              <a:t>(</a:t>
            </a:r>
            <a:r>
              <a:rPr lang="zh-CN" altLang="en-US" sz="2800" b="0" dirty="0"/>
              <a:t>此时去掉</a:t>
            </a:r>
            <a:r>
              <a:rPr lang="en-US" altLang="zh-CN" sz="2800" b="0" dirty="0"/>
              <a:t>10Ω</a:t>
            </a:r>
            <a:r>
              <a:rPr lang="zh-CN" altLang="en-US" sz="2800" b="0" dirty="0"/>
              <a:t>电阻负载</a:t>
            </a:r>
            <a:r>
              <a:rPr lang="en-US" altLang="zh-CN" sz="2800" b="0" dirty="0"/>
              <a:t>)</a:t>
            </a:r>
            <a:endParaRPr lang="en-US" altLang="zh-CN" sz="2800" b="0" dirty="0"/>
          </a:p>
        </p:txBody>
      </p:sp>
      <p:sp>
        <p:nvSpPr>
          <p:cNvPr id="6" name="标题 1"/>
          <p:cNvSpPr txBox="1"/>
          <p:nvPr/>
        </p:nvSpPr>
        <p:spPr bwMode="auto">
          <a:xfrm>
            <a:off x="983615" y="-99020"/>
            <a:ext cx="8229600" cy="868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kern="0" dirty="0">
                <a:solidFill>
                  <a:schemeClr val="tx1"/>
                </a:solidFill>
                <a:sym typeface="Wingdings" panose="05000000000000000000" pitchFamily="2" charset="2"/>
              </a:rPr>
              <a:t>三</a:t>
            </a:r>
            <a:r>
              <a:rPr lang="en-US" altLang="zh-CN" sz="3200" b="1" kern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zh-CN" altLang="en-US" sz="3200" b="1" kern="0" dirty="0">
                <a:solidFill>
                  <a:schemeClr val="tx1"/>
                </a:solidFill>
                <a:sym typeface="Wingdings" panose="05000000000000000000" pitchFamily="2" charset="2"/>
              </a:rPr>
              <a:t>电路数据测量及验收要求</a:t>
            </a:r>
            <a:endParaRPr lang="zh-CN" altLang="en-US" sz="3200" b="1" kern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09750" y="188640"/>
            <a:ext cx="8229600" cy="857250"/>
          </a:xfrm>
        </p:spPr>
        <p:txBody>
          <a:bodyPr anchor="b"/>
          <a:lstStyle/>
          <a:p>
            <a:pPr eaLnBrk="1" hangingPunct="1"/>
            <a:r>
              <a:rPr lang="zh-CN" altLang="en-US" b="1">
                <a:solidFill>
                  <a:schemeClr val="accent2"/>
                </a:solidFill>
              </a:rPr>
              <a:t> </a:t>
            </a:r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88440" y="783590"/>
            <a:ext cx="8893175" cy="523875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1) </a:t>
            </a: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原理电路的设计，包括：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实际设计方案框图，实际单元电路图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每一级电压增益的分配数和分配理由。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每个单元主要参数的计算过程及器件的选择。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Char char="u"/>
            </a:pPr>
            <a:r>
              <a:rPr lang="zh-CN" altLang="en-US" b="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每个单元有仿真电路和仿真结果</a:t>
            </a:r>
            <a:r>
              <a:rPr lang="en-US" altLang="zh-CN" b="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</a:t>
            </a:r>
            <a:r>
              <a:rPr lang="en-US" altLang="zh-CN" b="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b="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b="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2) </a:t>
            </a: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整理各项实验数据，画出各级输入、输出电压的波形（标出幅值、相位关系），测量</a:t>
            </a:r>
            <a:r>
              <a:rPr lang="en-US" altLang="zh-CN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</a:t>
            </a:r>
            <a:r>
              <a:rPr lang="zh-CN" altLang="en-US" sz="2800" b="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800" b="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</a:t>
            </a: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，分析实验结果，得出结论。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3) </a:t>
            </a: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收获体会</a:t>
            </a:r>
            <a:r>
              <a:rPr lang="en-US" altLang="zh-CN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整个调试过程中所遇到的问题及解决。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983615" y="-99020"/>
            <a:ext cx="8229600" cy="868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kern="0" dirty="0">
                <a:solidFill>
                  <a:schemeClr val="tx1"/>
                </a:solidFill>
                <a:sym typeface="Wingdings" panose="05000000000000000000" pitchFamily="2" charset="2"/>
              </a:rPr>
              <a:t>四</a:t>
            </a:r>
            <a:r>
              <a:rPr lang="en-US" altLang="zh-CN" sz="3200" b="1" kern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sym typeface="+mn-ea"/>
              </a:rPr>
              <a:t>实验报告要求</a:t>
            </a:r>
            <a:endParaRPr lang="zh-CN" altLang="en-US" sz="3200" b="1" kern="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object 7"/>
          <p:cNvSpPr/>
          <p:nvPr/>
        </p:nvSpPr>
        <p:spPr>
          <a:xfrm>
            <a:off x="2035810" y="1270635"/>
            <a:ext cx="4753610" cy="16224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p/>
        </p:txBody>
      </p:sp>
      <p:sp>
        <p:nvSpPr>
          <p:cNvPr id="10243" name="标题 118787"/>
          <p:cNvSpPr>
            <a:spLocks noGrp="1"/>
          </p:cNvSpPr>
          <p:nvPr>
            <p:ph type="title" idx="4294967295"/>
          </p:nvPr>
        </p:nvSpPr>
        <p:spPr>
          <a:xfrm>
            <a:off x="2932430" y="116205"/>
            <a:ext cx="2378710" cy="518795"/>
          </a:xfrm>
        </p:spPr>
        <p:txBody>
          <a:bodyPr anchor="b" anchorCtr="0"/>
          <a:p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注意事项</a:t>
            </a:r>
            <a:endParaRPr lang="zh-CN" altLang="en-US" sz="3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51" name="文本框 118795"/>
          <p:cNvSpPr txBox="1"/>
          <p:nvPr/>
        </p:nvSpPr>
        <p:spPr>
          <a:xfrm>
            <a:off x="6297930" y="2435860"/>
            <a:ext cx="113919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+9V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18807" name="文本框 118806"/>
          <p:cNvSpPr txBox="1"/>
          <p:nvPr/>
        </p:nvSpPr>
        <p:spPr>
          <a:xfrm>
            <a:off x="1234440" y="2502218"/>
            <a:ext cx="1524000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2" charset="0"/>
                <a:ea typeface="黑体" panose="02010609060101010101" charset="-122"/>
                <a:cs typeface="Times New Roman" panose="02020603050405020304" pitchFamily="2" charset="0"/>
              </a:rPr>
              <a:t>-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9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V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</p:txBody>
      </p:sp>
      <p:sp>
        <p:nvSpPr>
          <p:cNvPr id="118817" name="文本框 118816"/>
          <p:cNvSpPr txBox="1"/>
          <p:nvPr/>
        </p:nvSpPr>
        <p:spPr>
          <a:xfrm>
            <a:off x="407035" y="600075"/>
            <a:ext cx="3604260" cy="4914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双电源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连接</a:t>
            </a:r>
            <a:r>
              <a:rPr lang="en-US" altLang="zh-CN" sz="2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: </a:t>
            </a:r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串联</a:t>
            </a:r>
            <a:r>
              <a:rPr lang="zh-CN" altLang="en-US" sz="2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模式</a:t>
            </a:r>
            <a:endParaRPr lang="en-US" altLang="zh-CN" sz="2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083810" y="2064385"/>
            <a:ext cx="455930" cy="1110615"/>
            <a:chOff x="10117" y="3839"/>
            <a:chExt cx="519" cy="5318"/>
          </a:xfrm>
        </p:grpSpPr>
        <p:sp>
          <p:nvSpPr>
            <p:cNvPr id="10277" name="直接连接符 118827"/>
            <p:cNvSpPr/>
            <p:nvPr/>
          </p:nvSpPr>
          <p:spPr>
            <a:xfrm>
              <a:off x="10117" y="9142"/>
              <a:ext cx="519" cy="0"/>
            </a:xfrm>
            <a:prstGeom prst="line">
              <a:avLst/>
            </a:prstGeom>
            <a:ln w="920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80" name="直接连接符 118824"/>
            <p:cNvSpPr/>
            <p:nvPr/>
          </p:nvSpPr>
          <p:spPr>
            <a:xfrm>
              <a:off x="10376" y="3839"/>
              <a:ext cx="0" cy="5318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406" y="3789070"/>
            <a:ext cx="8820472" cy="28803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1487170" y="3789045"/>
            <a:ext cx="1249045" cy="869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790" name="直接连接符 118789"/>
          <p:cNvSpPr/>
          <p:nvPr/>
        </p:nvSpPr>
        <p:spPr>
          <a:xfrm flipH="1">
            <a:off x="2555240" y="2064385"/>
            <a:ext cx="3636010" cy="265557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sp>
      <p:sp>
        <p:nvSpPr>
          <p:cNvPr id="9" name="矩形 8"/>
          <p:cNvSpPr/>
          <p:nvPr/>
        </p:nvSpPr>
        <p:spPr>
          <a:xfrm>
            <a:off x="8876665" y="4077335"/>
            <a:ext cx="675640" cy="485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48" name="直接连接符 118792"/>
          <p:cNvSpPr/>
          <p:nvPr/>
        </p:nvSpPr>
        <p:spPr>
          <a:xfrm>
            <a:off x="2540635" y="2800985"/>
            <a:ext cx="6748780" cy="1857375"/>
          </a:xfrm>
          <a:prstGeom prst="line">
            <a:avLst/>
          </a:prstGeom>
          <a:ln w="57150" cap="flat" cmpd="sng">
            <a:solidFill>
              <a:srgbClr val="0000FF"/>
            </a:solidFill>
            <a:prstDash val="solid"/>
            <a:miter/>
            <a:headEnd type="none" w="med" len="med"/>
            <a:tailEnd type="arrow" w="med" len="med"/>
          </a:ln>
        </p:spPr>
      </p:sp>
      <p:sp>
        <p:nvSpPr>
          <p:cNvPr id="12" name="文本框 11"/>
          <p:cNvSpPr txBox="1"/>
          <p:nvPr/>
        </p:nvSpPr>
        <p:spPr>
          <a:xfrm>
            <a:off x="1111250" y="4954905"/>
            <a:ext cx="1790700" cy="82423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noAutofit/>
          </a:bodyPr>
          <a:p>
            <a:r>
              <a:rPr lang="en-US" altLang="zh-CN" sz="2400" b="1">
                <a:latin typeface="Times New Roman" panose="02020603050405020304" pitchFamily="2" charset="0"/>
                <a:cs typeface="Times New Roman" panose="02020603050405020304" pitchFamily="2" charset="0"/>
              </a:rPr>
              <a:t>LM386   Vs</a:t>
            </a:r>
            <a:endParaRPr lang="en-US" altLang="zh-CN" sz="24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30390" y="1326515"/>
            <a:ext cx="4491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开电压源时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</a:rPr>
              <a:t>: 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远离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面包板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1580" y="5539740"/>
            <a:ext cx="1425575" cy="5835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p>
            <a:r>
              <a:rPr lang="en-US" altLang="zh-CN" sz="3200">
                <a:solidFill>
                  <a:schemeClr val="tx1"/>
                </a:solidFill>
              </a:rPr>
              <a:t>LM324</a:t>
            </a:r>
            <a:endParaRPr lang="en-US" altLang="zh-CN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4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1991544" y="1709762"/>
            <a:ext cx="8352928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0">
                <a:latin typeface="黑体" panose="02010609060101010101" charset="-122"/>
                <a:ea typeface="黑体" panose="02010609060101010101" charset="-122"/>
              </a:rPr>
              <a:t>	    </a:t>
            </a:r>
            <a:r>
              <a:rPr lang="zh-CN" altLang="en-US" sz="2800" b="0">
                <a:latin typeface="黑体" panose="02010609060101010101" charset="-122"/>
                <a:ea typeface="黑体" panose="02010609060101010101" charset="-122"/>
              </a:rPr>
              <a:t>单级电路调试时的技术指标较容易达到，但进行级联时，由于级间相互影响，可能使单级的技术指标发生很大变化，甚至两级不能进行级联。产生的主要原因：  </a:t>
            </a:r>
            <a:endParaRPr lang="zh-CN" altLang="en-US" sz="2800" b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 idx="4294967295"/>
          </p:nvPr>
        </p:nvSpPr>
        <p:spPr>
          <a:xfrm>
            <a:off x="1219835" y="-371157"/>
            <a:ext cx="8229600" cy="1011237"/>
          </a:xfrm>
        </p:spPr>
        <p:txBody>
          <a:bodyPr anchor="b"/>
          <a:lstStyle/>
          <a:p>
            <a:pPr eaLnBrk="1" hangingPunct="1"/>
            <a:r>
              <a:rPr lang="zh-CN" altLang="en-US" sz="3200" b="1">
                <a:solidFill>
                  <a:schemeClr val="accent2"/>
                </a:solidFill>
              </a:rPr>
              <a:t>硬件实现提示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35188" y="3545486"/>
            <a:ext cx="7696200" cy="3011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lnSpc>
                <a:spcPct val="110000"/>
              </a:lnSpc>
              <a:spcBef>
                <a:spcPts val="6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一是</a:t>
            </a:r>
            <a:r>
              <a:rPr lang="zh-CN" altLang="en-US" sz="2800" kern="0">
                <a:solidFill>
                  <a:srgbClr val="FF0000"/>
                </a:solidFill>
                <a:latin typeface="Arial" panose="020B0604020202020204"/>
                <a:ea typeface="黑体" panose="02010609060101010101" charset="-122"/>
              </a:rPr>
              <a:t>布线</a:t>
            </a:r>
            <a:r>
              <a:rPr lang="zh-CN" altLang="en-US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不太合理，形成级间交叉耦合，应考虑重新布线；</a:t>
            </a:r>
            <a:endParaRPr lang="en-US" altLang="zh-CN" sz="2800" kern="0">
              <a:solidFill>
                <a:srgbClr val="000000"/>
              </a:solidFill>
              <a:latin typeface="Arial" panose="020B0604020202020204"/>
              <a:ea typeface="黑体" panose="02010609060101010101" charset="-122"/>
            </a:endParaRPr>
          </a:p>
          <a:p>
            <a:pPr marL="342900" lvl="0" indent="-342900" eaLnBrk="0" hangingPunct="0">
              <a:lnSpc>
                <a:spcPct val="110000"/>
              </a:lnSpc>
              <a:spcBef>
                <a:spcPts val="6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二是级联后各级电流都要流经电源内阻，内阻压降对某一级可能形成正反馈，应接</a:t>
            </a:r>
            <a:r>
              <a:rPr lang="en-US" altLang="zh-CN" sz="2800" kern="0">
                <a:solidFill>
                  <a:srgbClr val="FF0000"/>
                </a:solidFill>
                <a:latin typeface="Arial" panose="020B0604020202020204"/>
                <a:ea typeface="黑体" panose="02010609060101010101" charset="-122"/>
              </a:rPr>
              <a:t>RC</a:t>
            </a:r>
            <a:r>
              <a:rPr lang="zh-CN" altLang="en-US" sz="2800" kern="0">
                <a:solidFill>
                  <a:srgbClr val="FF0000"/>
                </a:solidFill>
                <a:latin typeface="Arial" panose="020B0604020202020204"/>
                <a:ea typeface="黑体" panose="02010609060101010101" charset="-122"/>
              </a:rPr>
              <a:t>去耦滤波电路</a:t>
            </a:r>
            <a:r>
              <a:rPr lang="zh-CN" altLang="en-US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。</a:t>
            </a:r>
            <a:r>
              <a:rPr lang="en-US" altLang="zh-CN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R</a:t>
            </a:r>
            <a:r>
              <a:rPr lang="zh-CN" altLang="en-US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一般取几十欧姆，</a:t>
            </a:r>
            <a:r>
              <a:rPr lang="en-US" altLang="zh-CN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C</a:t>
            </a:r>
            <a:r>
              <a:rPr lang="zh-CN" altLang="en-US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一般用</a:t>
            </a:r>
            <a:r>
              <a:rPr lang="zh-CN" altLang="en-US" sz="2800" kern="0">
                <a:solidFill>
                  <a:srgbClr val="0000FF"/>
                </a:solidFill>
                <a:latin typeface="Arial" panose="020B0604020202020204"/>
                <a:ea typeface="黑体" panose="02010609060101010101" charset="-122"/>
              </a:rPr>
              <a:t>几百</a:t>
            </a:r>
            <a:r>
              <a:rPr lang="en-US" altLang="zh-CN" sz="2800" kern="0">
                <a:solidFill>
                  <a:srgbClr val="0000FF"/>
                </a:solidFill>
                <a:latin typeface="Arial" panose="020B0604020202020204"/>
                <a:ea typeface="黑体" panose="02010609060101010101" charset="-122"/>
                <a:sym typeface="Symbol" panose="05050102010706020507" pitchFamily="18" charset="2"/>
              </a:rPr>
              <a:t></a:t>
            </a:r>
            <a:r>
              <a:rPr lang="en-US" altLang="zh-CN" sz="2800" kern="0">
                <a:solidFill>
                  <a:srgbClr val="0000FF"/>
                </a:solidFill>
                <a:latin typeface="Arial" panose="020B0604020202020204"/>
                <a:ea typeface="黑体" panose="02010609060101010101" charset="-122"/>
              </a:rPr>
              <a:t>F</a:t>
            </a:r>
            <a:r>
              <a:rPr lang="zh-CN" altLang="en-US" sz="2800" kern="0">
                <a:solidFill>
                  <a:srgbClr val="0000FF"/>
                </a:solidFill>
                <a:latin typeface="Arial" panose="020B0604020202020204"/>
                <a:ea typeface="黑体" panose="02010609060101010101" charset="-122"/>
              </a:rPr>
              <a:t>电解电容</a:t>
            </a:r>
            <a:r>
              <a:rPr lang="zh-CN" altLang="en-US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与</a:t>
            </a:r>
            <a:r>
              <a:rPr lang="en-US" altLang="zh-CN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0.1</a:t>
            </a:r>
            <a:r>
              <a:rPr lang="en-US" altLang="zh-CN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  <a:sym typeface="Symbol" panose="05050102010706020507" pitchFamily="18" charset="2"/>
              </a:rPr>
              <a:t></a:t>
            </a:r>
            <a:r>
              <a:rPr lang="en-US" altLang="zh-CN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F</a:t>
            </a:r>
            <a:r>
              <a:rPr lang="zh-CN" altLang="en-US" sz="28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</a:rPr>
              <a:t>瓷片电容相并联。</a:t>
            </a:r>
            <a:endParaRPr lang="zh-CN" altLang="en-US" sz="2800" kern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721" y="-171425"/>
            <a:ext cx="8820472" cy="28803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6"/>
          <p:cNvSpPr>
            <a:spLocks noChangeArrowheads="1"/>
          </p:cNvSpPr>
          <p:nvPr/>
        </p:nvSpPr>
        <p:spPr bwMode="auto">
          <a:xfrm>
            <a:off x="1487805" y="870327"/>
            <a:ext cx="8534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0">
                <a:latin typeface="黑体" panose="02010609060101010101" charset="-122"/>
                <a:ea typeface="黑体" panose="02010609060101010101" charset="-122"/>
              </a:rPr>
              <a:t>	</a:t>
            </a:r>
            <a:r>
              <a:rPr lang="zh-CN" altLang="en-US" sz="2800" b="0">
                <a:latin typeface="黑体" panose="02010609060101010101" charset="-122"/>
                <a:ea typeface="黑体" panose="02010609060101010101" charset="-122"/>
              </a:rPr>
              <a:t>由于功放级输出信号较大，对前级容易产生影响，引起自激。集成块内部电路多极点引起的正反馈易产生高频自激，常见高频自激现象如图所示。</a:t>
            </a:r>
            <a:r>
              <a:rPr lang="zh-CN" altLang="en-US" sz="2800" b="0"/>
              <a:t> </a:t>
            </a:r>
            <a:endParaRPr lang="zh-CN" altLang="en-US" sz="2800" b="0"/>
          </a:p>
        </p:txBody>
      </p:sp>
      <p:graphicFrame>
        <p:nvGraphicFramePr>
          <p:cNvPr id="38917" name="Object 7"/>
          <p:cNvGraphicFramePr>
            <a:graphicFrameLocks noChangeAspect="1"/>
          </p:cNvGraphicFramePr>
          <p:nvPr/>
        </p:nvGraphicFramePr>
        <p:xfrm>
          <a:off x="1921193" y="2356153"/>
          <a:ext cx="7620000" cy="136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5" name="" r:id="rId1" imgW="3352800" imgH="600710" progId="">
                  <p:embed/>
                </p:oleObj>
              </mc:Choice>
              <mc:Fallback>
                <p:oleObj name="" r:id="rId1" imgW="3352800" imgH="60071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193" y="2356153"/>
                        <a:ext cx="7620000" cy="1363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8C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Text Box 8"/>
          <p:cNvSpPr txBox="1">
            <a:spLocks noChangeArrowheads="1"/>
          </p:cNvSpPr>
          <p:nvPr/>
        </p:nvSpPr>
        <p:spPr bwMode="auto">
          <a:xfrm>
            <a:off x="2137093" y="3827814"/>
            <a:ext cx="7239000" cy="1337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Verdana" panose="020B0604030504040204" pitchFamily="2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0" dirty="0">
                <a:latin typeface="黑体" panose="02010609060101010101" charset="-122"/>
                <a:ea typeface="黑体" panose="02010609060101010101" charset="-122"/>
              </a:rPr>
              <a:t>可以加强外部电路的负反馈予以抵消，如</a:t>
            </a:r>
            <a:r>
              <a:rPr kumimoji="1" lang="zh-CN" altLang="en-US" sz="2800" b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功放</a:t>
            </a:r>
            <a:r>
              <a:rPr kumimoji="1" lang="en-US" altLang="zh-CN" sz="2800" b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5</a:t>
            </a:r>
            <a:r>
              <a:rPr kumimoji="1" lang="zh-CN" altLang="en-US" sz="2800" b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脚与</a:t>
            </a:r>
            <a:r>
              <a:rPr kumimoji="1" lang="en-US" altLang="zh-CN" sz="2800" b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1</a:t>
            </a:r>
            <a:r>
              <a:rPr kumimoji="1" lang="zh-CN" altLang="en-US" sz="2800" b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脚</a:t>
            </a:r>
            <a:r>
              <a:rPr kumimoji="1" lang="zh-CN" altLang="en-US" sz="2800" b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接入几百</a:t>
            </a:r>
            <a:r>
              <a:rPr kumimoji="1" lang="en-US" altLang="zh-CN" sz="2800" b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pF</a:t>
            </a:r>
            <a:r>
              <a:rPr kumimoji="1" lang="zh-CN" altLang="en-US" sz="2800" b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电容</a:t>
            </a:r>
            <a:r>
              <a:rPr kumimoji="1" lang="zh-CN" altLang="en-US" sz="2800" b="0" dirty="0">
                <a:latin typeface="黑体" panose="02010609060101010101" charset="-122"/>
                <a:ea typeface="黑体" panose="02010609060101010101" charset="-122"/>
              </a:rPr>
              <a:t>，可消除叠加的高频毛刺。功放</a:t>
            </a:r>
            <a:r>
              <a:rPr kumimoji="1" lang="en-US" altLang="zh-CN" sz="2800" b="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7</a:t>
            </a:r>
            <a:r>
              <a:rPr kumimoji="1" lang="zh-CN" altLang="en-US" sz="2800" b="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</a:rPr>
              <a:t>脚还可以加上旁路电容</a:t>
            </a:r>
            <a:r>
              <a:rPr kumimoji="1" lang="zh-CN" altLang="en-US" sz="2800" b="0" dirty="0">
                <a:latin typeface="黑体" panose="02010609060101010101" charset="-122"/>
                <a:ea typeface="黑体" panose="02010609060101010101" charset="-122"/>
              </a:rPr>
              <a:t>。</a:t>
            </a:r>
            <a:r>
              <a:rPr kumimoji="1" lang="zh-CN" altLang="en-US" sz="2800" b="0" dirty="0">
                <a:solidFill>
                  <a:srgbClr val="3333CC"/>
                </a:solidFill>
                <a:latin typeface="黑体" panose="02010609060101010101" charset="-122"/>
                <a:ea typeface="黑体" panose="02010609060101010101" charset="-122"/>
              </a:rPr>
              <a:t> </a:t>
            </a:r>
            <a:endParaRPr kumimoji="1" lang="zh-CN" altLang="en-US" sz="2800" b="0" dirty="0">
              <a:solidFill>
                <a:srgbClr val="3333C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/>
        </p:nvGraphicFramePr>
        <p:xfrm>
          <a:off x="3293745" y="1092200"/>
          <a:ext cx="8192135" cy="556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" r:id="rId1" imgW="7000875" imgH="4476750" progId="Paint.Picture">
                  <p:embed/>
                </p:oleObj>
              </mc:Choice>
              <mc:Fallback>
                <p:oleObj name="" r:id="rId1" imgW="7000875" imgH="44767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93745" y="1092200"/>
                        <a:ext cx="8192135" cy="556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圆角矩形标注 3"/>
          <p:cNvSpPr/>
          <p:nvPr/>
        </p:nvSpPr>
        <p:spPr>
          <a:xfrm>
            <a:off x="10467975" y="3573145"/>
            <a:ext cx="1511935" cy="935990"/>
          </a:xfrm>
          <a:prstGeom prst="wedgeRoundRectCallout">
            <a:avLst>
              <a:gd name="adj1" fmla="val -102036"/>
              <a:gd name="adj2" fmla="val 5502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/>
              <a:t>LM386</a:t>
            </a:r>
            <a:endParaRPr lang="en-US" altLang="zh-CN" sz="2000" b="1"/>
          </a:p>
          <a:p>
            <a:pPr algn="ctr"/>
            <a:r>
              <a:rPr lang="zh-CN" altLang="en-US" sz="2000" b="1"/>
              <a:t>功放电路</a:t>
            </a:r>
            <a:endParaRPr lang="zh-CN" altLang="en-US" sz="2000" b="1"/>
          </a:p>
        </p:txBody>
      </p:sp>
      <p:sp>
        <p:nvSpPr>
          <p:cNvPr id="5" name="圆角矩形标注 4"/>
          <p:cNvSpPr/>
          <p:nvPr/>
        </p:nvSpPr>
        <p:spPr>
          <a:xfrm>
            <a:off x="9240520" y="1092200"/>
            <a:ext cx="1511935" cy="935990"/>
          </a:xfrm>
          <a:prstGeom prst="wedgeRoundRectCallout">
            <a:avLst>
              <a:gd name="adj1" fmla="val -124464"/>
              <a:gd name="adj2" fmla="val 8215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音量彩灯电路</a:t>
            </a:r>
            <a:endParaRPr lang="zh-CN" altLang="en-US" sz="2000" b="1"/>
          </a:p>
        </p:txBody>
      </p:sp>
      <p:sp>
        <p:nvSpPr>
          <p:cNvPr id="6" name="圆角矩形标注 5"/>
          <p:cNvSpPr/>
          <p:nvPr/>
        </p:nvSpPr>
        <p:spPr>
          <a:xfrm>
            <a:off x="3082290" y="1600200"/>
            <a:ext cx="1314450" cy="935990"/>
          </a:xfrm>
          <a:prstGeom prst="wedgeRoundRectCallout">
            <a:avLst>
              <a:gd name="adj1" fmla="val 86135"/>
              <a:gd name="adj2" fmla="val 2639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音频彩灯电路</a:t>
            </a:r>
            <a:endParaRPr lang="zh-CN" altLang="en-US" sz="2000" b="1"/>
          </a:p>
        </p:txBody>
      </p:sp>
      <p:sp>
        <p:nvSpPr>
          <p:cNvPr id="7" name="圆角矩形标注 6"/>
          <p:cNvSpPr/>
          <p:nvPr/>
        </p:nvSpPr>
        <p:spPr>
          <a:xfrm>
            <a:off x="4216400" y="5721985"/>
            <a:ext cx="1511935" cy="935990"/>
          </a:xfrm>
          <a:prstGeom prst="wedgeRoundRectCallout">
            <a:avLst>
              <a:gd name="adj1" fmla="val -5900"/>
              <a:gd name="adj2" fmla="val -16058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放大器</a:t>
            </a:r>
            <a:endParaRPr lang="zh-CN" altLang="en-US" sz="2000" b="1"/>
          </a:p>
        </p:txBody>
      </p:sp>
      <p:sp>
        <p:nvSpPr>
          <p:cNvPr id="8" name="圆角矩形标注 7"/>
          <p:cNvSpPr/>
          <p:nvPr/>
        </p:nvSpPr>
        <p:spPr>
          <a:xfrm>
            <a:off x="7293610" y="5721985"/>
            <a:ext cx="1511935" cy="935990"/>
          </a:xfrm>
          <a:prstGeom prst="wedgeRoundRectCallout">
            <a:avLst>
              <a:gd name="adj1" fmla="val -4976"/>
              <a:gd name="adj2" fmla="val -17109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/>
              <a:t>音调控制电路</a:t>
            </a:r>
            <a:r>
              <a:rPr lang="en-US" altLang="zh-CN" sz="2000" b="1"/>
              <a:t>(</a:t>
            </a:r>
            <a:r>
              <a:rPr lang="zh-CN" altLang="en-US" sz="2000" b="1">
                <a:solidFill>
                  <a:srgbClr val="FF0000"/>
                </a:solidFill>
              </a:rPr>
              <a:t>可选</a:t>
            </a:r>
            <a:r>
              <a:rPr lang="en-US" altLang="zh-CN" sz="2000" b="1"/>
              <a:t>)</a:t>
            </a:r>
            <a:endParaRPr lang="en-US" altLang="zh-CN" sz="2000" b="1"/>
          </a:p>
        </p:txBody>
      </p:sp>
      <p:sp>
        <p:nvSpPr>
          <p:cNvPr id="9" name="圆角矩形标注 8"/>
          <p:cNvSpPr/>
          <p:nvPr/>
        </p:nvSpPr>
        <p:spPr>
          <a:xfrm>
            <a:off x="3963670" y="424815"/>
            <a:ext cx="6350635" cy="654685"/>
          </a:xfrm>
          <a:prstGeom prst="wedgeRoundRectCallout">
            <a:avLst>
              <a:gd name="adj1" fmla="val -16070"/>
              <a:gd name="adj2" fmla="val 7917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低频功放彩灯控制电路实物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339090" y="980440"/>
            <a:ext cx="2823845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eaLnBrk="0" hangingPunct="0">
              <a:lnSpc>
                <a:spcPct val="110000"/>
              </a:lnSpc>
              <a:spcBef>
                <a:spcPts val="600"/>
              </a:spcBef>
              <a:buClr>
                <a:srgbClr val="00007D"/>
              </a:buClr>
              <a:buSzPct val="75000"/>
              <a:buFont typeface="Wingdings" panose="05000000000000000000" pitchFamily="2" charset="2"/>
            </a:pPr>
            <a:r>
              <a:rPr lang="zh-CN" altLang="en-US" sz="2400" b="1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合理</a:t>
            </a:r>
            <a:r>
              <a:rPr lang="zh-CN" altLang="en-US" sz="2400" b="1" ker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布线，否则</a:t>
            </a:r>
            <a:r>
              <a:rPr lang="zh-CN" altLang="en-US" sz="2400" kern="0">
                <a:solidFill>
                  <a:srgbClr val="000000"/>
                </a:solidFill>
                <a:latin typeface="Arial" panose="020B0604020202020204"/>
                <a:ea typeface="黑体" panose="02010609060101010101" charset="-122"/>
                <a:sym typeface="+mn-ea"/>
              </a:rPr>
              <a:t>形成级间交叉耦合</a:t>
            </a:r>
            <a:endParaRPr lang="zh-CN" altLang="en-US" sz="2400" b="1" kern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自定义 1">
      <a:majorFont>
        <a:latin typeface="Book Antiqua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Book Antiqua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2773</Words>
  <Application>WPS 演示</Application>
  <PresentationFormat/>
  <Paragraphs>394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16</vt:i4>
      </vt:variant>
      <vt:variant>
        <vt:lpstr>幻灯片标题</vt:lpstr>
      </vt:variant>
      <vt:variant>
        <vt:i4>20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Times New Roman</vt:lpstr>
      <vt:lpstr>Verdana</vt:lpstr>
      <vt:lpstr>Wingdings</vt:lpstr>
      <vt:lpstr>Book Antiqua</vt:lpstr>
      <vt:lpstr>Arial Unicode MS</vt:lpstr>
      <vt:lpstr>黑体</vt:lpstr>
      <vt:lpstr>Arial</vt:lpstr>
      <vt:lpstr>Symbol</vt:lpstr>
      <vt:lpstr>Tahoma</vt:lpstr>
      <vt:lpstr>默认设计模板</vt:lpstr>
      <vt:lpstr>Equation.3</vt:lpstr>
      <vt:lpstr>Equation.3</vt:lpstr>
      <vt:lpstr>Word.Picture.8</vt:lpstr>
      <vt:lpstr>Word.Picture.8</vt:lpstr>
      <vt:lpstr>Equation.3</vt:lpstr>
      <vt:lpstr>WPS.Doc.6</vt:lpstr>
      <vt:lpstr>Equation.3</vt:lpstr>
      <vt:lpstr>Paint.Picture</vt:lpstr>
      <vt:lpstr>WPS.Doc.6</vt:lpstr>
      <vt:lpstr>Equation.3</vt:lpstr>
      <vt:lpstr>WPS.Doc.6</vt:lpstr>
      <vt:lpstr>Paint.Picture</vt:lpstr>
      <vt:lpstr>Word.Picture.8</vt:lpstr>
      <vt:lpstr>Equation.3</vt:lpstr>
      <vt:lpstr>Word.Picture.8</vt:lpstr>
      <vt:lpstr>Equation.3</vt:lpstr>
      <vt:lpstr>实验27 音乐彩灯控制电路及音响放大器设计与调试</vt:lpstr>
      <vt:lpstr>PowerPoint 演示文稿</vt:lpstr>
      <vt:lpstr>实验原理提示4-发光二极管驱动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1) 低通滤波电路——二阶低通滤波器</vt:lpstr>
      <vt:lpstr>PowerPoint 演示文稿</vt:lpstr>
      <vt:lpstr>PowerPoint 演示文稿</vt:lpstr>
      <vt:lpstr>PowerPoint 演示文稿</vt:lpstr>
      <vt:lpstr>加滤杂波措施</vt:lpstr>
      <vt:lpstr>PowerPoint 演示文稿</vt:lpstr>
      <vt:lpstr>PowerPoint 演示文稿</vt:lpstr>
      <vt:lpstr> </vt:lpstr>
      <vt:lpstr>注意事项</vt:lpstr>
      <vt:lpstr>硬件实现提示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绪    论</dc:title>
  <dc:creator>yh</dc:creator>
  <cp:lastModifiedBy>Administrator</cp:lastModifiedBy>
  <cp:revision>430</cp:revision>
  <dcterms:created xsi:type="dcterms:W3CDTF">2005-06-04T01:30:00Z</dcterms:created>
  <dcterms:modified xsi:type="dcterms:W3CDTF">2025-12-03T10:56:16Z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2052-11.8.2.11718</vt:lpwstr>
  </property>
  <property fmtid="{D5CDD505-2E9C-101B-9397-08002B2CF9AE}" pid="3" name="ICV">
    <vt:lpwstr>4971077E09F2411A979FC5BD83477D8E</vt:lpwstr>
  </property>
</Properties>
</file>