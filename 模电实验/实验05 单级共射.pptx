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wav" ContentType="audio/x-wav"/>
  <Default Extension="png" ContentType="image/png"/>
  <Default Extension="wmf" ContentType="image/x-wmf"/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6" r:id="rId3"/>
  </p:sldMasterIdLst>
  <p:notesMasterIdLst>
    <p:notesMasterId r:id="rId7"/>
  </p:notesMasterIdLst>
  <p:handoutMasterIdLst>
    <p:handoutMasterId r:id="rId21"/>
  </p:handoutMasterIdLst>
  <p:sldIdLst>
    <p:sldId id="313" r:id="rId4"/>
    <p:sldId id="308" r:id="rId5"/>
    <p:sldId id="292" r:id="rId6"/>
    <p:sldId id="469" r:id="rId8"/>
    <p:sldId id="558" r:id="rId9"/>
    <p:sldId id="527" r:id="rId10"/>
    <p:sldId id="321" r:id="rId11"/>
    <p:sldId id="322" r:id="rId12"/>
    <p:sldId id="317" r:id="rId13"/>
    <p:sldId id="362" r:id="rId14"/>
    <p:sldId id="363" r:id="rId15"/>
    <p:sldId id="448" r:id="rId16"/>
    <p:sldId id="663" r:id="rId17"/>
    <p:sldId id="664" r:id="rId18"/>
    <p:sldId id="315" r:id="rId19"/>
    <p:sldId id="386" r:id="rId20"/>
  </p:sldIdLst>
  <p:sldSz cx="12192000" cy="6858000"/>
  <p:notesSz cx="6858000" cy="9144000"/>
  <p:custDataLst>
    <p:tags r:id="rId26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quattro" initials="q" lastIdx="3" clrIdx="0"/>
  <p:cmAuthor id="2" name="hp" initials="h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FF"/>
    <a:srgbClr val="0000FF"/>
    <a:srgbClr val="82CC28"/>
    <a:srgbClr val="FF9900"/>
    <a:srgbClr val="CCECFF"/>
    <a:srgbClr val="78B479"/>
    <a:srgbClr val="FFFF99"/>
    <a:srgbClr val="7777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167"/>
        <p:guide pos="3831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tags" Target="tags/tag1.xml"/><Relationship Id="rId25" Type="http://schemas.openxmlformats.org/officeDocument/2006/relationships/commentAuthors" Target="commentAuthors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7.vml.rels><?xml version="1.0" encoding="UTF-8" standalone="yes"?>
<Relationships xmlns="http://schemas.openxmlformats.org/package/2006/relationships"><Relationship Id="rId4" Type="http://schemas.openxmlformats.org/officeDocument/2006/relationships/image" Target="../media/image16.wmf"/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8.vml.rels><?xml version="1.0" encoding="UTF-8" standalone="yes"?>
<Relationships xmlns="http://schemas.openxmlformats.org/package/2006/relationships"><Relationship Id="rId4" Type="http://schemas.openxmlformats.org/officeDocument/2006/relationships/image" Target="../media/image16.wmf"/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png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fontAlgn="base" hangingPunct="1"/>
            <a:endParaRPr lang="en-US" altLang="x-none" sz="1200" strike="noStrike" noProof="1" dirty="0"/>
          </a:p>
        </p:txBody>
      </p:sp>
      <p:sp>
        <p:nvSpPr>
          <p:cNvPr id="4099" name="Rectangle 3"/>
          <p:cNvSpPr>
            <a:spLocks noGrp="1"/>
          </p:cNvSpPr>
          <p:nvPr>
            <p:ph type="dt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fontAlgn="base" hangingPunct="1"/>
            <a:endParaRPr lang="en-US" altLang="x-none" sz="1200" strike="noStrike" noProof="1" dirty="0"/>
          </a:p>
        </p:txBody>
      </p:sp>
      <p:sp>
        <p:nvSpPr>
          <p:cNvPr id="8196" name="Rectangle 4"/>
          <p:cNvSpPr>
            <a:spLocks noGrp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8197" name="Rectangle 5"/>
          <p:cNvSpPr>
            <a:spLocks noGrp="1"/>
          </p:cNvSpPr>
          <p:nvPr>
            <p:ph type="body" sz="quarter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0"/>
            <a:r>
              <a:rPr lang="zh-CN" altLang="en-US" dirty="0"/>
              <a:t>第二级</a:t>
            </a:r>
            <a:endParaRPr lang="zh-CN" altLang="en-US" dirty="0"/>
          </a:p>
          <a:p>
            <a:pPr lvl="2" indent="0"/>
            <a:r>
              <a:rPr lang="zh-CN" altLang="en-US" dirty="0"/>
              <a:t>第三级</a:t>
            </a:r>
            <a:endParaRPr lang="zh-CN" altLang="en-US" dirty="0"/>
          </a:p>
          <a:p>
            <a:pPr lvl="3" indent="0"/>
            <a:r>
              <a:rPr lang="zh-CN" altLang="en-US" dirty="0"/>
              <a:t>第四级</a:t>
            </a:r>
            <a:endParaRPr lang="zh-CN" altLang="en-US" dirty="0"/>
          </a:p>
          <a:p>
            <a:pPr lvl="4" indent="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102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eaLnBrk="1" fontAlgn="base" hangingPunct="1"/>
            <a:endParaRPr lang="en-US" altLang="x-none" sz="1200" strike="noStrike" noProof="1" dirty="0"/>
          </a:p>
        </p:txBody>
      </p:sp>
      <p:sp>
        <p:nvSpPr>
          <p:cNvPr id="4103" name="Rectangle 7"/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fontAlgn="base" hangingPunct="1"/>
            <a:fld id="{9A0DB2DC-4C9A-4742-B13C-FB6460FD3503}" type="slidenum">
              <a:rPr lang="en-US" altLang="x-none" sz="1200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</a:fld>
            <a:endParaRPr lang="en-US" altLang="x-none" sz="12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1pPr>
    <a:lvl2pPr marL="457200" lvl="1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2pPr>
    <a:lvl3pPr marL="914400" lvl="2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3pPr>
    <a:lvl4pPr marL="1371600" lvl="3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4pPr>
    <a:lvl5pPr marL="1828800" lvl="4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5pPr>
    <a:lvl6pPr marL="2286000" lvl="5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6pPr>
    <a:lvl7pPr marL="2743200" lvl="6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7pPr>
    <a:lvl8pPr marL="3200400" lvl="7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8pPr>
    <a:lvl9pPr marL="3657600" lvl="8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290" name="Rectangle 7"/>
          <p:cNvSpPr txBox="1">
            <a:spLocks noGrp="1"/>
          </p:cNvSpPr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12291" name="Rectangle 2"/>
          <p:cNvSpPr>
            <a:spLocks noGrp="1" noTextEdit="1"/>
          </p:cNvSpPr>
          <p:nvPr>
            <p:ph type="sldImg"/>
          </p:nvPr>
        </p:nvSpPr>
        <p:spPr/>
      </p:sp>
      <p:sp>
        <p:nvSpPr>
          <p:cNvPr id="12292" name="Rectangle 3"/>
          <p:cNvSpPr>
            <a:spLocks noGrp="1"/>
          </p:cNvSpPr>
          <p:nvPr>
            <p:ph type="body"/>
          </p:nvPr>
        </p:nvSpPr>
        <p:spPr/>
        <p:txBody>
          <a:bodyPr wrap="square" anchor="t" anchorCtr="0"/>
          <a:p>
            <a:pPr lvl="0" eaLnBrk="1" hangingPunct="1"/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338" name="Rectangle 7"/>
          <p:cNvSpPr txBox="1">
            <a:spLocks noGrp="1"/>
          </p:cNvSpPr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en-US" altLang="zh-CN" sz="1200" dirty="0">
                <a:latin typeface="Times New Roman" panose="02020603050405020304" pitchFamily="2" charset="0"/>
              </a:rPr>
            </a:fld>
            <a:endParaRPr lang="en-US" altLang="zh-CN" sz="1200" dirty="0">
              <a:latin typeface="Times New Roman" panose="02020603050405020304" pitchFamily="2" charset="0"/>
            </a:endParaRPr>
          </a:p>
        </p:txBody>
      </p:sp>
      <p:sp>
        <p:nvSpPr>
          <p:cNvPr id="14339" name="Rectangle 2"/>
          <p:cNvSpPr>
            <a:spLocks noGrp="1" noTextEdit="1"/>
          </p:cNvSpPr>
          <p:nvPr>
            <p:ph type="sldImg"/>
          </p:nvPr>
        </p:nvSpPr>
        <p:spPr/>
      </p:sp>
      <p:sp>
        <p:nvSpPr>
          <p:cNvPr id="14340" name="Rectangle 3"/>
          <p:cNvSpPr>
            <a:spLocks noGrp="1"/>
          </p:cNvSpPr>
          <p:nvPr>
            <p:ph type="body"/>
          </p:nvPr>
        </p:nvSpPr>
        <p:spPr/>
        <p:txBody>
          <a:bodyPr wrap="square" anchor="t" anchorCtr="0"/>
          <a:p>
            <a:pPr lvl="0" eaLnBrk="1" hangingPunct="1"/>
            <a:endParaRPr lang="zh-CN" altLang="en-US" dirty="0"/>
          </a:p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19458" name="文本占位符 2"/>
          <p:cNvSpPr>
            <a:spLocks noGrp="1"/>
          </p:cNvSpPr>
          <p:nvPr>
            <p:ph type="body"/>
          </p:nvPr>
        </p:nvSpPr>
        <p:spPr/>
        <p:txBody>
          <a:bodyPr anchor="ctr" anchorCtr="0"/>
          <a:p>
            <a:pPr lvl="0"/>
            <a:r>
              <a:rPr lang="en-US" altLang="zh-CN"/>
              <a:t>1:</a:t>
            </a:r>
            <a:r>
              <a:rPr lang="zh-CN" altLang="en-US"/>
              <a:t>测试结果一定要计算出来。大概</a:t>
            </a:r>
            <a:r>
              <a:rPr lang="en-US" altLang="zh-CN"/>
              <a:t>3K</a:t>
            </a:r>
            <a:r>
              <a:rPr lang="zh-CN" altLang="en-US"/>
              <a:t>左右。</a:t>
            </a:r>
            <a:endParaRPr lang="zh-CN" altLang="en-US"/>
          </a:p>
          <a:p>
            <a:pPr lvl="0"/>
            <a:r>
              <a:rPr lang="zh-CN" altLang="en-US" b="1" dirty="0">
                <a:solidFill>
                  <a:schemeClr val="bg2"/>
                </a:solidFill>
                <a:latin typeface="楷体_GB2312" pitchFamily="1" charset="-122"/>
              </a:rPr>
              <a:t>在输出波形不失真时，用晶体管毫伏表或示波器，分别测量</a:t>
            </a:r>
            <a:r>
              <a:rPr lang="en-US" altLang="zh-CN" b="1" dirty="0">
                <a:solidFill>
                  <a:schemeClr val="bg2"/>
                </a:solidFill>
                <a:latin typeface="Tahoma" panose="020B0604030504040204" pitchFamily="2" charset="0"/>
              </a:rPr>
              <a:t>R</a:t>
            </a:r>
            <a:r>
              <a:rPr lang="zh-CN" altLang="en-US" b="1" dirty="0">
                <a:solidFill>
                  <a:schemeClr val="bg2"/>
                </a:solidFill>
                <a:latin typeface="楷体_GB2312" pitchFamily="1" charset="-122"/>
              </a:rPr>
              <a:t>两端的电压</a:t>
            </a:r>
            <a:r>
              <a:rPr lang="en-US" altLang="zh-CN" b="1" dirty="0">
                <a:solidFill>
                  <a:schemeClr val="bg2"/>
                </a:solidFill>
                <a:latin typeface="Tahoma" panose="020B0604030504040204" pitchFamily="2" charset="0"/>
              </a:rPr>
              <a:t>Vi</a:t>
            </a:r>
            <a:r>
              <a:rPr lang="zh-CN" altLang="en-US" b="1" dirty="0">
                <a:solidFill>
                  <a:schemeClr val="bg2"/>
                </a:solidFill>
                <a:latin typeface="楷体_GB2312" pitchFamily="1" charset="-122"/>
              </a:rPr>
              <a:t>与</a:t>
            </a:r>
            <a:r>
              <a:rPr lang="en-US" altLang="zh-CN" b="1" dirty="0">
                <a:solidFill>
                  <a:schemeClr val="bg2"/>
                </a:solidFill>
                <a:latin typeface="Tahoma" panose="020B0604030504040204" pitchFamily="2" charset="0"/>
              </a:rPr>
              <a:t>Vs</a:t>
            </a:r>
            <a:r>
              <a:rPr lang="zh-CN" altLang="en-US" b="1" dirty="0">
                <a:solidFill>
                  <a:schemeClr val="bg2"/>
                </a:solidFill>
              </a:rPr>
              <a:t>）</a:t>
            </a:r>
            <a:r>
              <a:rPr lang="zh-CN" altLang="en-US" b="1" dirty="0">
                <a:solidFill>
                  <a:schemeClr val="bg2"/>
                </a:solidFill>
                <a:latin typeface="楷体_GB2312" pitchFamily="1" charset="-122"/>
              </a:rPr>
              <a:t>，即可计算</a:t>
            </a:r>
            <a:r>
              <a:rPr lang="en-US" altLang="zh-CN" b="1" dirty="0">
                <a:solidFill>
                  <a:schemeClr val="bg2"/>
                </a:solidFill>
                <a:latin typeface="Tahoma" panose="020B0604030504040204" pitchFamily="2" charset="0"/>
              </a:rPr>
              <a:t>Ri</a:t>
            </a:r>
            <a:r>
              <a:rPr lang="zh-CN" altLang="en-US" b="1" dirty="0">
                <a:solidFill>
                  <a:schemeClr val="bg2"/>
                </a:solidFill>
                <a:latin typeface="楷体_GB2312" pitchFamily="1" charset="-122"/>
              </a:rPr>
              <a:t>。</a:t>
            </a:r>
            <a:endParaRPr lang="zh-CN" altLang="en-US" b="1" dirty="0">
              <a:solidFill>
                <a:schemeClr val="bg2"/>
              </a:solidFill>
              <a:latin typeface="楷体_GB2312" pitchFamily="1" charset="-122"/>
            </a:endParaRPr>
          </a:p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22530" name="文本占位符 2"/>
          <p:cNvSpPr>
            <a:spLocks noGrp="1"/>
          </p:cNvSpPr>
          <p:nvPr>
            <p:ph type="body"/>
          </p:nvPr>
        </p:nvSpPr>
        <p:spPr/>
        <p:txBody>
          <a:bodyPr anchor="ctr" anchorCtr="0"/>
          <a:p>
            <a:pPr lvl="0"/>
            <a:r>
              <a:rPr lang="en-US" altLang="zh-CN"/>
              <a:t>1</a:t>
            </a:r>
            <a:r>
              <a:rPr lang="zh-CN" altLang="en-US"/>
              <a:t>：计算输出电阻。大概</a:t>
            </a:r>
            <a:r>
              <a:rPr lang="en-US" altLang="zh-CN"/>
              <a:t>5K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26626" name="文本占位符 2"/>
          <p:cNvSpPr>
            <a:spLocks noGrp="1"/>
          </p:cNvSpPr>
          <p:nvPr>
            <p:ph type="body"/>
          </p:nvPr>
        </p:nvSpPr>
        <p:spPr/>
        <p:txBody>
          <a:bodyPr anchor="ctr" anchorCtr="0"/>
          <a:p>
            <a:pPr lvl="0"/>
            <a:r>
              <a:rPr lang="zh-CN" altLang="en-US" b="1" dirty="0">
                <a:solidFill>
                  <a:srgbClr val="7030A0"/>
                </a:solidFill>
              </a:rPr>
              <a:t>另外注意一下增益带宽积的问题</a:t>
            </a:r>
            <a:endParaRPr lang="zh-CN" altLang="en-US" b="1" dirty="0">
              <a:solidFill>
                <a:srgbClr val="7030A0"/>
              </a:solidFill>
            </a:endParaRPr>
          </a:p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22" name="幻灯片图像占位符 18433"/>
          <p:cNvSpPr>
            <a:spLocks noGrp="1"/>
          </p:cNvSpPr>
          <p:nvPr>
            <p:ph type="sldImg"/>
          </p:nvPr>
        </p:nvSpPr>
        <p:spPr>
          <a:ln w="1"/>
        </p:spPr>
      </p:sp>
      <p:sp>
        <p:nvSpPr>
          <p:cNvPr id="30723" name="文本占位符 18434"/>
          <p:cNvSpPr>
            <a:spLocks noGrp="1"/>
          </p:cNvSpPr>
          <p:nvPr>
            <p:ph type="body"/>
          </p:nvPr>
        </p:nvSpPr>
        <p:spPr>
          <a:ln w="1"/>
        </p:spPr>
        <p:txBody>
          <a:bodyPr anchor="ctr" anchorCtr="0"/>
          <a:p>
            <a:pPr lvl="0"/>
            <a:r>
              <a:rPr lang="zh-CN" altLang="en-US" dirty="0"/>
              <a:t>1：这个表是一个参考，每个人的可能不一样，记录数据，根据记录的数据求出fh，fl</a:t>
            </a:r>
            <a:endParaRPr lang="zh-CN" altLang="en-US" dirty="0"/>
          </a:p>
          <a:p>
            <a:pPr lvl="0"/>
            <a:r>
              <a:rPr lang="zh-CN" altLang="en-US" dirty="0"/>
              <a:t>2：放大倍数是0.7被，DB减少3DB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770" name="幻灯片图像占位符 20481"/>
          <p:cNvSpPr>
            <a:spLocks noGrp="1"/>
          </p:cNvSpPr>
          <p:nvPr>
            <p:ph type="sldImg"/>
          </p:nvPr>
        </p:nvSpPr>
        <p:spPr>
          <a:xfrm>
            <a:off x="407282" y="752475"/>
            <a:ext cx="5856112" cy="3294063"/>
          </a:xfrm>
          <a:ln w="1"/>
        </p:spPr>
      </p:sp>
      <p:sp>
        <p:nvSpPr>
          <p:cNvPr id="32771" name="文本占位符 20482"/>
          <p:cNvSpPr>
            <a:spLocks noGrp="1"/>
          </p:cNvSpPr>
          <p:nvPr>
            <p:ph type="body"/>
          </p:nvPr>
        </p:nvSpPr>
        <p:spPr>
          <a:xfrm>
            <a:off x="536575" y="4386263"/>
            <a:ext cx="5780088" cy="3952875"/>
          </a:xfrm>
          <a:ln w="1"/>
        </p:spPr>
        <p:txBody>
          <a:bodyPr anchor="ctr" anchorCtr="0"/>
          <a:p>
            <a:pPr lvl="0"/>
            <a:r>
              <a:rPr lang="zh-CN" altLang="en-US" dirty="0"/>
              <a:t>测输入输出阻抗的时候要用示波器测试电压，不是用万用表。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x-none" strike="noStrike" noProof="1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4"/>
          <p:cNvSpPr>
            <a:spLocks noChangeArrowheads="1"/>
          </p:cNvSpPr>
          <p:nvPr userDrawn="1"/>
        </p:nvSpPr>
        <p:spPr bwMode="auto">
          <a:xfrm>
            <a:off x="158891" y="529945"/>
            <a:ext cx="13776000" cy="18000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x-none" strike="noStrike" noProof="1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4"/>
          <p:cNvSpPr>
            <a:spLocks noChangeArrowheads="1"/>
          </p:cNvSpPr>
          <p:nvPr userDrawn="1"/>
        </p:nvSpPr>
        <p:spPr bwMode="auto">
          <a:xfrm>
            <a:off x="158891" y="529945"/>
            <a:ext cx="13776000" cy="18000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heme" Target="../theme/theme2.xml"/><Relationship Id="rId8" Type="http://schemas.openxmlformats.org/officeDocument/2006/relationships/image" Target="../media/image1.png"/><Relationship Id="rId7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30"/>
          <p:cNvSpPr>
            <a:spLocks noGrp="1"/>
          </p:cNvSpPr>
          <p:nvPr>
            <p:ph type="title"/>
          </p:nvPr>
        </p:nvSpPr>
        <p:spPr>
          <a:xfrm>
            <a:off x="914400" y="800100"/>
            <a:ext cx="10363200" cy="762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1"/>
          <p:cNvSpPr>
            <a:spLocks noGrp="1"/>
          </p:cNvSpPr>
          <p:nvPr>
            <p:ph type="body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32"/>
          <p:cNvSpPr>
            <a:spLocks noGrp="1"/>
          </p:cNvSpPr>
          <p:nvPr>
            <p:ph type="dt" sz="half" idx="2"/>
          </p:nvPr>
        </p:nvSpPr>
        <p:spPr>
          <a:xfrm>
            <a:off x="950384" y="6313488"/>
            <a:ext cx="2540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defRPr sz="1400">
                <a:latin typeface="Arial" panose="020B0604020202020204" pitchFamily="34" charset="0"/>
              </a:defRPr>
            </a:lvl1pPr>
          </a:lstStyle>
          <a:p>
            <a:pPr lvl="0" eaLnBrk="1" fontAlgn="base" hangingPunct="1"/>
            <a:endParaRPr lang="en-US" altLang="x-none" strike="noStrike" noProof="1" dirty="0"/>
          </a:p>
        </p:txBody>
      </p:sp>
      <p:sp>
        <p:nvSpPr>
          <p:cNvPr id="1029" name="Rectangle 33"/>
          <p:cNvSpPr>
            <a:spLocks noGrp="1"/>
          </p:cNvSpPr>
          <p:nvPr>
            <p:ph type="ftr" sz="quarter" idx="3"/>
          </p:nvPr>
        </p:nvSpPr>
        <p:spPr>
          <a:xfrm>
            <a:off x="4201584" y="6313488"/>
            <a:ext cx="3860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ctr">
              <a:defRPr sz="1400">
                <a:latin typeface="Arial" panose="020B0604020202020204" pitchFamily="34" charset="0"/>
              </a:defRPr>
            </a:lvl1pPr>
          </a:lstStyle>
          <a:p>
            <a:pPr lvl="0" eaLnBrk="1" fontAlgn="base" hangingPunct="1"/>
            <a:endParaRPr lang="en-US" altLang="x-none" strike="noStrike" noProof="1" dirty="0"/>
          </a:p>
        </p:txBody>
      </p:sp>
      <p:sp>
        <p:nvSpPr>
          <p:cNvPr id="1030" name="Rectangle 34"/>
          <p:cNvSpPr>
            <a:spLocks noGrp="1"/>
          </p:cNvSpPr>
          <p:nvPr>
            <p:ph type="sldNum" sz="quarter" idx="4"/>
          </p:nvPr>
        </p:nvSpPr>
        <p:spPr>
          <a:xfrm>
            <a:off x="8773584" y="6313488"/>
            <a:ext cx="2540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x-none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marL="0" lvl="0" indent="0" algn="ctr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85000"/>
        <a:buBlip>
          <a:blip r:embed="rId8"/>
        </a:buBlip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anose="05000000000000000000" pitchFamily="2" charset="2"/>
        <a:buChar char="l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l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l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l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l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l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30"/>
          <p:cNvSpPr>
            <a:spLocks noGrp="1"/>
          </p:cNvSpPr>
          <p:nvPr>
            <p:ph type="title"/>
          </p:nvPr>
        </p:nvSpPr>
        <p:spPr>
          <a:xfrm>
            <a:off x="914400" y="800100"/>
            <a:ext cx="10363200" cy="762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1"/>
          <p:cNvSpPr>
            <a:spLocks noGrp="1"/>
          </p:cNvSpPr>
          <p:nvPr>
            <p:ph type="body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32"/>
          <p:cNvSpPr>
            <a:spLocks noGrp="1"/>
          </p:cNvSpPr>
          <p:nvPr>
            <p:ph type="dt" sz="half" idx="2"/>
          </p:nvPr>
        </p:nvSpPr>
        <p:spPr>
          <a:xfrm>
            <a:off x="950384" y="6313488"/>
            <a:ext cx="2540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defRPr sz="1400">
                <a:latin typeface="Arial" panose="020B0604020202020204" pitchFamily="34" charset="0"/>
              </a:defRPr>
            </a:lvl1pPr>
          </a:lstStyle>
          <a:p>
            <a:pPr lvl="0" eaLnBrk="1" fontAlgn="base" hangingPunct="1"/>
            <a:endParaRPr lang="en-US" altLang="x-none" strike="noStrike" noProof="1" dirty="0"/>
          </a:p>
        </p:txBody>
      </p:sp>
      <p:sp>
        <p:nvSpPr>
          <p:cNvPr id="1029" name="Rectangle 33"/>
          <p:cNvSpPr>
            <a:spLocks noGrp="1"/>
          </p:cNvSpPr>
          <p:nvPr>
            <p:ph type="ftr" sz="quarter" idx="3"/>
          </p:nvPr>
        </p:nvSpPr>
        <p:spPr>
          <a:xfrm>
            <a:off x="4201584" y="6313488"/>
            <a:ext cx="3860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ctr">
              <a:defRPr sz="1400">
                <a:latin typeface="Arial" panose="020B0604020202020204" pitchFamily="34" charset="0"/>
              </a:defRPr>
            </a:lvl1pPr>
          </a:lstStyle>
          <a:p>
            <a:pPr lvl="0" eaLnBrk="1" fontAlgn="base" hangingPunct="1"/>
            <a:endParaRPr lang="en-US" altLang="x-none" strike="noStrike" noProof="1" dirty="0"/>
          </a:p>
        </p:txBody>
      </p:sp>
      <p:sp>
        <p:nvSpPr>
          <p:cNvPr id="1030" name="Rectangle 34"/>
          <p:cNvSpPr>
            <a:spLocks noGrp="1"/>
          </p:cNvSpPr>
          <p:nvPr>
            <p:ph type="sldNum" sz="quarter" idx="4"/>
          </p:nvPr>
        </p:nvSpPr>
        <p:spPr>
          <a:xfrm>
            <a:off x="8773584" y="6313488"/>
            <a:ext cx="2540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lvl="0" eaLnBrk="1" fontAlgn="base" hangingPunct="1"/>
            <a:fld id="{9A0DB2DC-4C9A-4742-B13C-FB6460FD3503}" type="slidenum">
              <a:rPr lang="en-US" altLang="x-none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x-none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</p:sldLayoutIdLst>
  <p:hf sldNum="0" hdr="0" ftr="0" dt="0"/>
  <p:txStyles>
    <p:titleStyle>
      <a:lvl1pPr marL="0" lvl="0" indent="0" algn="ctr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SzPct val="85000"/>
        <a:buBlip>
          <a:blip r:embed="rId8"/>
        </a:buBlip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anose="05000000000000000000" pitchFamily="2" charset="2"/>
        <a:buChar char="l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l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l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l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l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l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e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vmlDrawing" Target="../drawings/vmlDrawing2.vml"/><Relationship Id="rId6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4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3.emf"/><Relationship Id="rId1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wmf"/><Relationship Id="rId1" Type="http://schemas.openxmlformats.org/officeDocument/2006/relationships/oleObject" Target="../embeddings/oleObject4.bin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wmf"/><Relationship Id="rId1" Type="http://schemas.openxmlformats.org/officeDocument/2006/relationships/oleObject" Target="../embeddings/oleObject5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wmf"/><Relationship Id="rId3" Type="http://schemas.openxmlformats.org/officeDocument/2006/relationships/oleObject" Target="../embeddings/oleObject7.bin"/><Relationship Id="rId2" Type="http://schemas.openxmlformats.org/officeDocument/2006/relationships/image" Target="../media/image8.wmf"/><Relationship Id="rId1" Type="http://schemas.openxmlformats.org/officeDocument/2006/relationships/oleObject" Target="../embeddings/oleObject6.bin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vmlDrawing" Target="../drawings/vmlDrawing6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.wmf"/><Relationship Id="rId3" Type="http://schemas.openxmlformats.org/officeDocument/2006/relationships/oleObject" Target="../embeddings/oleObject9.bin"/><Relationship Id="rId2" Type="http://schemas.openxmlformats.org/officeDocument/2006/relationships/image" Target="../media/image10.wmf"/><Relationship Id="rId1" Type="http://schemas.openxmlformats.org/officeDocument/2006/relationships/oleObject" Target="../embeddings/oleObject8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wmf"/><Relationship Id="rId8" Type="http://schemas.openxmlformats.org/officeDocument/2006/relationships/oleObject" Target="../embeddings/oleObject13.bin"/><Relationship Id="rId7" Type="http://schemas.openxmlformats.org/officeDocument/2006/relationships/image" Target="../media/image15.wmf"/><Relationship Id="rId6" Type="http://schemas.openxmlformats.org/officeDocument/2006/relationships/oleObject" Target="../embeddings/oleObject12.bin"/><Relationship Id="rId5" Type="http://schemas.openxmlformats.org/officeDocument/2006/relationships/image" Target="../media/image14.wmf"/><Relationship Id="rId4" Type="http://schemas.openxmlformats.org/officeDocument/2006/relationships/oleObject" Target="../embeddings/oleObject11.bin"/><Relationship Id="rId3" Type="http://schemas.openxmlformats.org/officeDocument/2006/relationships/image" Target="../media/image13.wmf"/><Relationship Id="rId2" Type="http://schemas.openxmlformats.org/officeDocument/2006/relationships/oleObject" Target="../embeddings/oleObject10.bin"/><Relationship Id="rId13" Type="http://schemas.openxmlformats.org/officeDocument/2006/relationships/notesSlide" Target="../notesSlides/notesSlide5.xml"/><Relationship Id="rId12" Type="http://schemas.openxmlformats.org/officeDocument/2006/relationships/vmlDrawing" Target="../drawings/vmlDrawing7.vml"/><Relationship Id="rId11" Type="http://schemas.openxmlformats.org/officeDocument/2006/relationships/slideLayout" Target="../slideLayouts/slideLayout2.xml"/><Relationship Id="rId10" Type="http://schemas.openxmlformats.org/officeDocument/2006/relationships/audio" Target="../media/audio2.wav"/><Relationship Id="rId1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wmf"/><Relationship Id="rId8" Type="http://schemas.openxmlformats.org/officeDocument/2006/relationships/oleObject" Target="../embeddings/oleObject17.bin"/><Relationship Id="rId7" Type="http://schemas.openxmlformats.org/officeDocument/2006/relationships/image" Target="../media/image15.wmf"/><Relationship Id="rId6" Type="http://schemas.openxmlformats.org/officeDocument/2006/relationships/oleObject" Target="../embeddings/oleObject16.bin"/><Relationship Id="rId5" Type="http://schemas.openxmlformats.org/officeDocument/2006/relationships/image" Target="../media/image14.wmf"/><Relationship Id="rId4" Type="http://schemas.openxmlformats.org/officeDocument/2006/relationships/oleObject" Target="../embeddings/oleObject15.bin"/><Relationship Id="rId3" Type="http://schemas.openxmlformats.org/officeDocument/2006/relationships/image" Target="../media/image13.wmf"/><Relationship Id="rId2" Type="http://schemas.openxmlformats.org/officeDocument/2006/relationships/oleObject" Target="../embeddings/oleObject14.bin"/><Relationship Id="rId13" Type="http://schemas.openxmlformats.org/officeDocument/2006/relationships/notesSlide" Target="../notesSlides/notesSlide6.xml"/><Relationship Id="rId12" Type="http://schemas.openxmlformats.org/officeDocument/2006/relationships/vmlDrawing" Target="../drawings/vmlDrawing8.vml"/><Relationship Id="rId11" Type="http://schemas.openxmlformats.org/officeDocument/2006/relationships/slideLayout" Target="../slideLayouts/slideLayout2.xml"/><Relationship Id="rId10" Type="http://schemas.openxmlformats.org/officeDocument/2006/relationships/audio" Target="../media/audio2.wav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oleObject" Target="../embeddings/oleObject18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0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oleObject" Target="../embeddings/oleObject19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5123" name="Rectangle 4"/>
          <p:cNvSpPr/>
          <p:nvPr/>
        </p:nvSpPr>
        <p:spPr>
          <a:xfrm>
            <a:off x="2279650" y="1333183"/>
            <a:ext cx="7777163" cy="175323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p>
            <a:pPr algn="ctr" fontAlgn="base"/>
            <a:r>
              <a:rPr lang="zh-CN" altLang="en-US" sz="5400" b="1" strike="noStrike" noProof="1" dirty="0">
                <a:solidFill>
                  <a:schemeClr val="accent4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实验</a:t>
            </a:r>
            <a:br>
              <a:rPr lang="en-US" altLang="x-none" sz="5400" b="1" dirty="0">
                <a:solidFill>
                  <a:schemeClr val="accent4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5400" b="1" strike="noStrike" noProof="1" dirty="0">
                <a:solidFill>
                  <a:schemeClr val="accent4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三极管单级共射放大电路</a:t>
            </a:r>
            <a:endParaRPr lang="zh-CN" altLang="en-US" sz="5400" b="1" strike="noStrike" noProof="1" dirty="0">
              <a:solidFill>
                <a:schemeClr val="accent4">
                  <a:lumMod val="1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Rectangle 6"/>
          <p:cNvSpPr>
            <a:spLocks noGrp="1"/>
          </p:cNvSpPr>
          <p:nvPr>
            <p:ph type="title"/>
          </p:nvPr>
        </p:nvSpPr>
        <p:spPr>
          <a:xfrm>
            <a:off x="1416368" y="5716"/>
            <a:ext cx="8540750" cy="583565"/>
          </a:xfrm>
        </p:spPr>
        <p:txBody>
          <a:bodyPr wrap="square" anchor="ctr" anchorCtr="0">
            <a:spAutoFit/>
          </a:bodyPr>
          <a:p>
            <a:pPr eaLnBrk="1" hangingPunct="1"/>
            <a:r>
              <a:rPr lang="zh-CN" altLang="en-US" sz="3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一</a:t>
            </a:r>
            <a:r>
              <a:rPr lang="en-US" altLang="zh-CN" sz="3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3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实验目的</a:t>
            </a:r>
            <a:endParaRPr lang="zh-CN" altLang="en-US" sz="3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48" name="Text Box 7"/>
          <p:cNvSpPr txBox="1"/>
          <p:nvPr/>
        </p:nvSpPr>
        <p:spPr>
          <a:xfrm>
            <a:off x="2335530" y="912495"/>
            <a:ext cx="7875270" cy="203009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marL="457200" indent="-457200">
              <a:lnSpc>
                <a:spcPct val="150000"/>
              </a:lnSpc>
              <a:spcBef>
                <a:spcPts val="0"/>
              </a:spcBef>
              <a:buAutoNum type="arabicPeriod"/>
            </a:pPr>
            <a:r>
              <a:rPr lang="zh-CN" altLang="en-US" sz="2800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单级共射</a:t>
            </a:r>
            <a:r>
              <a:rPr lang="zh-CN" altLang="en-US" sz="2800" noProof="1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放大电路</a:t>
            </a:r>
            <a:r>
              <a:rPr lang="zh-CN" altLang="en-US" sz="2800" noProof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静态工作点</a:t>
            </a:r>
            <a:r>
              <a:rPr lang="zh-CN" altLang="en-US" sz="2800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的测量和调整</a:t>
            </a:r>
            <a:endParaRPr lang="zh-CN" altLang="en-US" sz="2800" noProof="1" dirty="0">
              <a:solidFill>
                <a:schemeClr val="accent4">
                  <a:lumMod val="10000"/>
                </a:schemeClr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AutoNum type="arabicPeriod"/>
            </a:pPr>
            <a:r>
              <a:rPr lang="zh-CN" altLang="en-US" sz="2800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电路参数变化对</a:t>
            </a:r>
            <a:r>
              <a:rPr lang="zh-CN" altLang="en-US" sz="2800" noProof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静态</a:t>
            </a:r>
            <a:r>
              <a:rPr lang="zh-CN" altLang="en-US" sz="2800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工作点的影响</a:t>
            </a:r>
            <a:endParaRPr lang="zh-CN" altLang="en-US" sz="2800" noProof="1" dirty="0">
              <a:solidFill>
                <a:schemeClr val="accent4">
                  <a:lumMod val="10000"/>
                </a:schemeClr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AutoNum type="arabicPeriod"/>
            </a:pPr>
            <a:r>
              <a:rPr lang="zh-CN" altLang="en-US" sz="2800" noProof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动态</a:t>
            </a:r>
            <a:r>
              <a:rPr lang="zh-CN" altLang="en-US" sz="2800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指标</a:t>
            </a:r>
            <a:r>
              <a:rPr lang="en-US" altLang="zh-CN" sz="2800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  <a:sym typeface="+mn-ea"/>
              </a:rPr>
              <a:t>R</a:t>
            </a:r>
            <a:r>
              <a:rPr lang="en-US" altLang="zh-CN" sz="2800" baseline="-25000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  <a:sym typeface="+mn-ea"/>
              </a:rPr>
              <a:t>i</a:t>
            </a:r>
            <a:r>
              <a:rPr lang="zh-CN" altLang="en-US" sz="2800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  <a:sym typeface="+mn-ea"/>
              </a:rPr>
              <a:t>、</a:t>
            </a:r>
            <a:r>
              <a:rPr lang="en-US" altLang="zh-CN" sz="2800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  <a:sym typeface="+mn-ea"/>
              </a:rPr>
              <a:t>R</a:t>
            </a:r>
            <a:r>
              <a:rPr lang="en-US" altLang="zh-CN" sz="2800" baseline="-25000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  <a:sym typeface="+mn-ea"/>
              </a:rPr>
              <a:t>o</a:t>
            </a:r>
            <a:r>
              <a:rPr lang="zh-CN" altLang="en-US" sz="2800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  <a:sym typeface="+mn-ea"/>
              </a:rPr>
              <a:t>、</a:t>
            </a:r>
            <a:r>
              <a:rPr lang="en-US" altLang="x-none" sz="2800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  <a:sym typeface="+mn-ea"/>
              </a:rPr>
              <a:t>A</a:t>
            </a:r>
            <a:r>
              <a:rPr lang="en-US" altLang="x-none" sz="2800" i="1" baseline="-25000" noProof="1" dirty="0">
                <a:solidFill>
                  <a:schemeClr val="accent4">
                    <a:lumMod val="10000"/>
                  </a:schemeClr>
                </a:solidFill>
                <a:latin typeface="Book Antiqua" panose="02040602050305030304" pitchFamily="18" charset="0"/>
                <a:ea typeface="宋体" panose="02010600030101010101" pitchFamily="2" charset="-122"/>
                <a:cs typeface="Book Antiqua" panose="02040602050305030304" pitchFamily="18" charset="0"/>
                <a:sym typeface="+mn-ea"/>
              </a:rPr>
              <a:t>v</a:t>
            </a:r>
            <a:r>
              <a:rPr lang="zh-CN" altLang="en-US" sz="2800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、 </a:t>
            </a:r>
            <a:r>
              <a:rPr lang="en-US" altLang="x-none" sz="2800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BW</a:t>
            </a:r>
            <a:r>
              <a:rPr lang="zh-CN" altLang="en-US" sz="2800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测量、非线性</a:t>
            </a:r>
            <a:r>
              <a:rPr lang="zh-CN" altLang="en-US" sz="2800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失真</a:t>
            </a:r>
            <a:endParaRPr lang="zh-CN" altLang="en-US" sz="2800" noProof="1" dirty="0">
              <a:solidFill>
                <a:schemeClr val="accent4">
                  <a:lumMod val="10000"/>
                </a:schemeClr>
              </a:solidFill>
              <a:latin typeface="Times New Roman" panose="02020603050405020304" pitchFamily="2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897076" name="Object 52"/>
          <p:cNvGraphicFramePr>
            <a:graphicFrameLocks noChangeAspect="1"/>
          </p:cNvGraphicFramePr>
          <p:nvPr/>
        </p:nvGraphicFramePr>
        <p:xfrm>
          <a:off x="2783840" y="3265488"/>
          <a:ext cx="6732590" cy="262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1" imgW="2609850" imgH="1017905" progId="Word.Picture.8">
                  <p:embed/>
                </p:oleObj>
              </mc:Choice>
              <mc:Fallback>
                <p:oleObj name="" r:id="rId1" imgW="2609850" imgH="1017905" progId="Word.Picture.8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83840" y="3265488"/>
                        <a:ext cx="6732590" cy="262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8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8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charRg st="25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8">
                                            <p:txEl>
                                              <p:charRg st="25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8">
                                            <p:txEl>
                                              <p:charRg st="25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charRg st="44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8">
                                            <p:txEl>
                                              <p:charRg st="44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8">
                                            <p:txEl>
                                              <p:charRg st="44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897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Rectangle 2"/>
          <p:cNvSpPr>
            <a:spLocks noGrp="1"/>
          </p:cNvSpPr>
          <p:nvPr>
            <p:ph type="title"/>
          </p:nvPr>
        </p:nvSpPr>
        <p:spPr>
          <a:xfrm>
            <a:off x="1905000" y="16828"/>
            <a:ext cx="8850313" cy="583565"/>
          </a:xfrm>
        </p:spPr>
        <p:txBody>
          <a:bodyPr wrap="square" anchor="ctr" anchorCtr="0">
            <a:spAutoFit/>
          </a:bodyPr>
          <a:p>
            <a:pPr algn="l" eaLnBrk="1" hangingPunct="1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二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实验内容：单级共射放大电路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1266" name="Object 3"/>
          <p:cNvGraphicFramePr>
            <a:graphicFrameLocks noChangeAspect="1"/>
          </p:cNvGraphicFramePr>
          <p:nvPr/>
        </p:nvGraphicFramePr>
        <p:xfrm>
          <a:off x="2276475" y="1252538"/>
          <a:ext cx="4459288" cy="471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4038600" imgH="4351020" progId="WPS.Doc.6">
                  <p:embed/>
                </p:oleObj>
              </mc:Choice>
              <mc:Fallback>
                <p:oleObj name="" r:id="rId1" imgW="4038600" imgH="4351020" progId="WPS.Doc.6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76475" y="1252538"/>
                        <a:ext cx="4459288" cy="4719637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" name="Object 6"/>
          <p:cNvGraphicFramePr>
            <a:graphicFrameLocks noChangeAspect="1"/>
          </p:cNvGraphicFramePr>
          <p:nvPr/>
        </p:nvGraphicFramePr>
        <p:xfrm>
          <a:off x="6816090" y="1183958"/>
          <a:ext cx="4179888" cy="478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3" imgW="2095500" imgH="2400300" progId="WPS.Doc.6">
                  <p:embed/>
                </p:oleObj>
              </mc:Choice>
              <mc:Fallback>
                <p:oleObj name="" r:id="rId3" imgW="2095500" imgH="2400300" progId="WPS.Doc.6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16090" y="1183958"/>
                        <a:ext cx="4179888" cy="47879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4" name="Rectangle 10"/>
          <p:cNvSpPr/>
          <p:nvPr/>
        </p:nvSpPr>
        <p:spPr>
          <a:xfrm>
            <a:off x="984885" y="3860165"/>
            <a:ext cx="1543050" cy="955675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Vip-p=100mV</a:t>
            </a:r>
            <a:endParaRPr lang="en-US" altLang="zh-CN" sz="1800" b="1" dirty="0">
              <a:solidFill>
                <a:srgbClr val="FF0000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1800" b="1" i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f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=1KHz</a:t>
            </a:r>
            <a:endParaRPr lang="en-US" altLang="zh-CN" sz="1800" b="1" dirty="0">
              <a:solidFill>
                <a:srgbClr val="FF0000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7175" name="Oval 12"/>
          <p:cNvSpPr/>
          <p:nvPr/>
        </p:nvSpPr>
        <p:spPr>
          <a:xfrm>
            <a:off x="3578225" y="2420938"/>
            <a:ext cx="576263" cy="504825"/>
          </a:xfrm>
          <a:prstGeom prst="ellipse">
            <a:avLst/>
          </a:prstGeom>
          <a:noFill/>
          <a:ln w="222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p>
            <a:pPr fontAlgn="base"/>
            <a:endParaRPr lang="zh-CN" altLang="en-US" strike="noStrike" noProof="1" dirty="0">
              <a:solidFill>
                <a:schemeClr val="accent4">
                  <a:lumMod val="10000"/>
                </a:schemeClr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4" grpId="0" bldLvl="0" animBg="1"/>
      <p:bldP spid="7175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3313" name="Object 3"/>
          <p:cNvGraphicFramePr>
            <a:graphicFrameLocks noChangeAspect="1"/>
          </p:cNvGraphicFramePr>
          <p:nvPr/>
        </p:nvGraphicFramePr>
        <p:xfrm>
          <a:off x="6299200" y="2130743"/>
          <a:ext cx="4451350" cy="471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4030980" imgH="4347210" progId="WPS.Doc.6">
                  <p:embed/>
                </p:oleObj>
              </mc:Choice>
              <mc:Fallback>
                <p:oleObj name="" r:id="rId1" imgW="4030980" imgH="4347210" progId="WPS.Doc.6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299200" y="2130743"/>
                        <a:ext cx="4451350" cy="4714875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3" name="AutoShape 8"/>
          <p:cNvSpPr/>
          <p:nvPr/>
        </p:nvSpPr>
        <p:spPr>
          <a:xfrm>
            <a:off x="7183755" y="1173480"/>
            <a:ext cx="2630805" cy="957580"/>
          </a:xfrm>
          <a:prstGeom prst="wedgeRoundRectCallout">
            <a:avLst>
              <a:gd name="adj1" fmla="val -32171"/>
              <a:gd name="adj2" fmla="val 52083"/>
              <a:gd name="adj3" fmla="val 16667"/>
            </a:avLst>
          </a:prstGeom>
          <a:noFill/>
          <a:ln w="127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r>
              <a:rPr lang="zh-CN" altLang="en-US" dirty="0">
                <a:solidFill>
                  <a:srgbClr val="000033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调节</a:t>
            </a:r>
            <a:r>
              <a:rPr lang="en-US" altLang="zh-CN" dirty="0">
                <a:solidFill>
                  <a:srgbClr val="000033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Rp</a:t>
            </a:r>
            <a:r>
              <a:rPr lang="zh-CN" altLang="en-US" dirty="0">
                <a:solidFill>
                  <a:srgbClr val="000033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可改变</a:t>
            </a:r>
            <a:endParaRPr lang="zh-CN" altLang="en-US" dirty="0">
              <a:solidFill>
                <a:srgbClr val="000033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zh-CN" altLang="en-US" dirty="0">
                <a:solidFill>
                  <a:srgbClr val="000033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静态工作点</a:t>
            </a:r>
            <a:r>
              <a:rPr lang="en-US" altLang="zh-CN" dirty="0">
                <a:solidFill>
                  <a:srgbClr val="000033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V</a:t>
            </a:r>
            <a:r>
              <a:rPr lang="en-US" altLang="zh-CN" baseline="-25000" dirty="0">
                <a:solidFill>
                  <a:srgbClr val="000033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BQ</a:t>
            </a:r>
            <a:endParaRPr lang="en-US" altLang="zh-CN" baseline="-25000" dirty="0">
              <a:solidFill>
                <a:srgbClr val="000033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9223" name="文本框 1"/>
          <p:cNvSpPr txBox="1"/>
          <p:nvPr/>
        </p:nvSpPr>
        <p:spPr>
          <a:xfrm>
            <a:off x="838518" y="1100138"/>
            <a:ext cx="6180455" cy="101473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25000"/>
              </a:lnSpc>
            </a:pPr>
            <a:r>
              <a:rPr lang="zh-CN" altLang="en-US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静态工作点</a:t>
            </a:r>
            <a:r>
              <a:rPr lang="en-US" altLang="zh-CN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输入交流信号为零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基极电流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I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BQ</a:t>
            </a:r>
            <a:r>
              <a:rPr lang="en-US" altLang="zh-CN" b="1" baseline="-25000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</a:t>
            </a:r>
            <a:r>
              <a:rPr lang="zh-CN" altLang="en-US" baseline="-25000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、</a:t>
            </a:r>
            <a:endParaRPr lang="zh-CN" altLang="en-US" baseline="-25000" dirty="0">
              <a:solidFill>
                <a:srgbClr val="000000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集电极电流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2" charset="0"/>
              </a:rPr>
              <a:t>I</a:t>
            </a:r>
            <a:r>
              <a:rPr lang="en-US" altLang="zh-CN" b="1" baseline="-250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2" charset="0"/>
              </a:rPr>
              <a:t>CQ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2" charset="0"/>
              </a:rPr>
              <a:t>(=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2" charset="0"/>
              </a:rPr>
              <a:t>β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2" charset="0"/>
                <a:sym typeface="宋体" panose="02010600030101010101" pitchFamily="2" charset="-122"/>
              </a:rPr>
              <a:t>I</a:t>
            </a:r>
            <a:r>
              <a:rPr lang="en-US" altLang="zh-CN" b="1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2" charset="0"/>
                <a:sym typeface="宋体" panose="02010600030101010101" pitchFamily="2" charset="-122"/>
              </a:rPr>
              <a:t>BQ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2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管压降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V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CEQ</a:t>
            </a:r>
            <a:endParaRPr lang="en-US" altLang="zh-CN" b="1" baseline="-25000" dirty="0">
              <a:solidFill>
                <a:srgbClr val="FF0000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02335" y="2157730"/>
            <a:ext cx="4949825" cy="3322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lnSpc>
                <a:spcPct val="125000"/>
              </a:lnSpc>
              <a:buFont typeface="Wingdings" panose="05000000000000000000" charset="0"/>
              <a:buChar char="n"/>
            </a:pPr>
            <a:r>
              <a:rPr lang="en-US" altLang="x-none" noProof="1" dirty="0">
                <a:solidFill>
                  <a:schemeClr val="accent4">
                    <a:lumMod val="10000"/>
                  </a:schemeClr>
                </a:solidFill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V</a:t>
            </a:r>
            <a:r>
              <a:rPr lang="en-US" altLang="x-none" baseline="-25000" noProof="1" dirty="0">
                <a:solidFill>
                  <a:schemeClr val="accent4">
                    <a:lumMod val="10000"/>
                  </a:schemeClr>
                </a:solidFill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BQ</a:t>
            </a:r>
            <a:r>
              <a:rPr lang="zh-CN" altLang="en-US" noProof="1" dirty="0">
                <a:solidFill>
                  <a:schemeClr val="accent4">
                    <a:lumMod val="10000"/>
                  </a:schemeClr>
                </a:solidFill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＝</a:t>
            </a:r>
            <a:r>
              <a:rPr lang="en-US" altLang="x-none" noProof="1" dirty="0">
                <a:solidFill>
                  <a:schemeClr val="accent4">
                    <a:lumMod val="10000"/>
                  </a:schemeClr>
                </a:solidFill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Rb11</a:t>
            </a:r>
            <a:r>
              <a:rPr lang="zh-CN" altLang="en-US" noProof="1" dirty="0">
                <a:solidFill>
                  <a:schemeClr val="accent4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与</a:t>
            </a:r>
            <a:r>
              <a:rPr lang="en-US" altLang="x-none" noProof="1" dirty="0">
                <a:solidFill>
                  <a:schemeClr val="accent4">
                    <a:lumMod val="10000"/>
                  </a:schemeClr>
                </a:solidFill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Rb12</a:t>
            </a:r>
            <a:r>
              <a:rPr lang="zh-CN" altLang="en-US" noProof="1" dirty="0">
                <a:solidFill>
                  <a:schemeClr val="accent4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分压比，</a:t>
            </a:r>
            <a:r>
              <a:rPr lang="en-US" altLang="x-none" noProof="1" dirty="0">
                <a:solidFill>
                  <a:schemeClr val="accent4">
                    <a:lumMod val="10000"/>
                  </a:schemeClr>
                </a:solidFill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Rb11</a:t>
            </a:r>
            <a:r>
              <a:rPr lang="zh-CN" altLang="en-US" noProof="1" dirty="0">
                <a:solidFill>
                  <a:schemeClr val="accent4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可调，正常工作约为</a:t>
            </a:r>
            <a:r>
              <a:rPr lang="en-US" altLang="x-none" noProof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2V</a:t>
            </a:r>
            <a:r>
              <a:rPr lang="zh-CN" altLang="en-US" noProof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左右</a:t>
            </a:r>
            <a:endParaRPr lang="zh-CN" altLang="en-US" noProof="1" dirty="0">
              <a:solidFill>
                <a:schemeClr val="accent4">
                  <a:lumMod val="10000"/>
                </a:schemeClr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charset="0"/>
              <a:buChar char="n"/>
            </a:pPr>
            <a:r>
              <a:rPr lang="en-US" altLang="x-none" noProof="1" dirty="0">
                <a:solidFill>
                  <a:schemeClr val="accent4">
                    <a:lumMod val="10000"/>
                  </a:schemeClr>
                </a:solidFill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V</a:t>
            </a:r>
            <a:r>
              <a:rPr lang="en-US" altLang="x-none" baseline="-25000" noProof="1" dirty="0">
                <a:solidFill>
                  <a:schemeClr val="accent4">
                    <a:lumMod val="10000"/>
                  </a:schemeClr>
                </a:solidFill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EQ</a:t>
            </a:r>
            <a:r>
              <a:rPr lang="zh-CN" altLang="en-US" noProof="1" dirty="0">
                <a:solidFill>
                  <a:schemeClr val="accent4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x-none" noProof="1" dirty="0">
                <a:solidFill>
                  <a:schemeClr val="accent4">
                    <a:lumMod val="10000"/>
                  </a:schemeClr>
                </a:solidFill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V</a:t>
            </a:r>
            <a:r>
              <a:rPr lang="en-US" altLang="x-none" baseline="-25000" noProof="1" dirty="0">
                <a:solidFill>
                  <a:schemeClr val="accent4">
                    <a:lumMod val="10000"/>
                  </a:schemeClr>
                </a:solidFill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BQ</a:t>
            </a:r>
            <a:r>
              <a:rPr lang="zh-CN" altLang="en-US" noProof="1" dirty="0">
                <a:solidFill>
                  <a:schemeClr val="accent4">
                    <a:lumMod val="10000"/>
                  </a:schemeClr>
                </a:solidFill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－</a:t>
            </a:r>
            <a:r>
              <a:rPr lang="en-US" altLang="x-none" noProof="1" dirty="0">
                <a:solidFill>
                  <a:schemeClr val="accent4">
                    <a:lumMod val="10000"/>
                  </a:schemeClr>
                </a:solidFill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0.7</a:t>
            </a:r>
            <a:r>
              <a:rPr lang="zh-CN" altLang="en-US" noProof="1" dirty="0">
                <a:solidFill>
                  <a:schemeClr val="accent4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x-none" dirty="0">
                <a:solidFill>
                  <a:schemeClr val="accent4">
                    <a:lumMod val="10000"/>
                  </a:schemeClr>
                </a:solidFill>
                <a:cs typeface="Times New Roman" panose="02020603050405020304" pitchFamily="2" charset="0"/>
                <a:sym typeface="+mn-ea"/>
              </a:rPr>
              <a:t>V</a:t>
            </a:r>
            <a:r>
              <a:rPr lang="en-US" altLang="x-none" baseline="-25000" dirty="0">
                <a:solidFill>
                  <a:schemeClr val="accent4">
                    <a:lumMod val="10000"/>
                  </a:schemeClr>
                </a:solidFill>
                <a:cs typeface="Times New Roman" panose="02020603050405020304" pitchFamily="2" charset="0"/>
                <a:sym typeface="+mn-ea"/>
              </a:rPr>
              <a:t>BEQ</a:t>
            </a:r>
            <a:r>
              <a:rPr lang="en-US" altLang="x-none" dirty="0">
                <a:solidFill>
                  <a:schemeClr val="accent4">
                    <a:lumMod val="10000"/>
                  </a:schemeClr>
                </a:solidFill>
                <a:cs typeface="Times New Roman" panose="02020603050405020304" pitchFamily="2" charset="0"/>
                <a:sym typeface="+mn-ea"/>
              </a:rPr>
              <a:t>=</a:t>
            </a:r>
            <a:r>
              <a:rPr lang="en-US" altLang="x-none" noProof="1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0.7</a:t>
            </a:r>
            <a:r>
              <a:rPr lang="zh-CN" altLang="en-US" noProof="1" dirty="0">
                <a:solidFill>
                  <a:schemeClr val="accent4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即管压降，由晶体管决定，基本不变</a:t>
            </a:r>
            <a:endParaRPr lang="zh-CN" altLang="en-US" noProof="1" dirty="0">
              <a:solidFill>
                <a:schemeClr val="accent4">
                  <a:lumMod val="10000"/>
                </a:schemeClr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charset="0"/>
              <a:buChar char="n"/>
            </a:pPr>
            <a:r>
              <a:rPr lang="en-US" altLang="x-none" noProof="1" dirty="0">
                <a:solidFill>
                  <a:schemeClr val="accent4">
                    <a:lumMod val="10000"/>
                  </a:schemeClr>
                </a:solidFill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I</a:t>
            </a:r>
            <a:r>
              <a:rPr lang="en-US" altLang="x-none" baseline="-25000" noProof="1" dirty="0">
                <a:solidFill>
                  <a:schemeClr val="accent4">
                    <a:lumMod val="10000"/>
                  </a:schemeClr>
                </a:solidFill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CQ </a:t>
            </a:r>
            <a:r>
              <a:rPr lang="en-US" altLang="x-none" noProof="1" dirty="0">
                <a:solidFill>
                  <a:schemeClr val="accent4">
                    <a:lumMod val="10000"/>
                  </a:schemeClr>
                </a:solidFill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≈I</a:t>
            </a:r>
            <a:r>
              <a:rPr lang="en-US" altLang="x-none" baseline="-25000" noProof="1" dirty="0">
                <a:solidFill>
                  <a:schemeClr val="accent4">
                    <a:lumMod val="10000"/>
                  </a:schemeClr>
                </a:solidFill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EQ</a:t>
            </a:r>
            <a:r>
              <a:rPr lang="zh-CN" altLang="en-US" noProof="1" dirty="0">
                <a:solidFill>
                  <a:schemeClr val="accent4">
                    <a:lumMod val="10000"/>
                  </a:schemeClr>
                </a:solidFill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＝</a:t>
            </a:r>
            <a:r>
              <a:rPr lang="en-US" altLang="x-none" noProof="1" dirty="0">
                <a:solidFill>
                  <a:schemeClr val="accent4">
                    <a:lumMod val="10000"/>
                  </a:schemeClr>
                </a:solidFill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V</a:t>
            </a:r>
            <a:r>
              <a:rPr lang="en-US" altLang="x-none" baseline="-25000" noProof="1" dirty="0">
                <a:solidFill>
                  <a:schemeClr val="accent4">
                    <a:lumMod val="10000"/>
                  </a:schemeClr>
                </a:solidFill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EQ</a:t>
            </a:r>
            <a:r>
              <a:rPr lang="en-US" altLang="x-none" noProof="1" dirty="0">
                <a:solidFill>
                  <a:schemeClr val="accent4">
                    <a:lumMod val="10000"/>
                  </a:schemeClr>
                </a:solidFill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/Re12</a:t>
            </a:r>
            <a:r>
              <a:rPr lang="zh-CN" noProof="1" dirty="0">
                <a:solidFill>
                  <a:schemeClr val="accent4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zh-CN" altLang="en-US" noProof="1" dirty="0">
                <a:solidFill>
                  <a:schemeClr val="accent4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忽略相比很小的</a:t>
            </a:r>
            <a:r>
              <a:rPr lang="en-US" altLang="x-none" noProof="1" dirty="0">
                <a:solidFill>
                  <a:schemeClr val="accent4">
                    <a:lumMod val="1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Re11</a:t>
            </a:r>
            <a:endParaRPr lang="zh-CN" altLang="en-US" noProof="1" dirty="0">
              <a:solidFill>
                <a:schemeClr val="accent4">
                  <a:lumMod val="10000"/>
                </a:schemeClr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charset="0"/>
              <a:buChar char="n"/>
            </a:pPr>
            <a:r>
              <a:rPr lang="en-US" altLang="x-none" noProof="1" dirty="0">
                <a:solidFill>
                  <a:schemeClr val="accent4">
                    <a:lumMod val="10000"/>
                  </a:schemeClr>
                </a:solidFill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V</a:t>
            </a:r>
            <a:r>
              <a:rPr lang="en-US" altLang="x-none" baseline="-25000" noProof="1" dirty="0">
                <a:solidFill>
                  <a:schemeClr val="accent4">
                    <a:lumMod val="10000"/>
                  </a:schemeClr>
                </a:solidFill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CEQ</a:t>
            </a:r>
            <a:r>
              <a:rPr lang="zh-CN" altLang="en-US" noProof="1" dirty="0">
                <a:solidFill>
                  <a:schemeClr val="accent4">
                    <a:lumMod val="10000"/>
                  </a:schemeClr>
                </a:solidFill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＝</a:t>
            </a:r>
            <a:r>
              <a:rPr lang="en-US" altLang="x-none" noProof="1" dirty="0">
                <a:solidFill>
                  <a:schemeClr val="accent4">
                    <a:lumMod val="10000"/>
                  </a:schemeClr>
                </a:solidFill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12V</a:t>
            </a:r>
            <a:r>
              <a:rPr lang="zh-CN" altLang="en-US" noProof="1" dirty="0">
                <a:solidFill>
                  <a:schemeClr val="accent4">
                    <a:lumMod val="10000"/>
                  </a:schemeClr>
                </a:solidFill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－</a:t>
            </a:r>
            <a:r>
              <a:rPr lang="en-US" altLang="x-none" noProof="1" dirty="0">
                <a:solidFill>
                  <a:schemeClr val="accent4">
                    <a:lumMod val="10000"/>
                  </a:schemeClr>
                </a:solidFill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I</a:t>
            </a:r>
            <a:r>
              <a:rPr lang="en-US" altLang="x-none" baseline="-25000" noProof="1" dirty="0">
                <a:solidFill>
                  <a:schemeClr val="accent4">
                    <a:lumMod val="10000"/>
                  </a:schemeClr>
                </a:solidFill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CQ</a:t>
            </a:r>
            <a:r>
              <a:rPr lang="en-US" altLang="zh-CN" noProof="1" dirty="0">
                <a:solidFill>
                  <a:schemeClr val="accent4">
                    <a:lumMod val="10000"/>
                  </a:schemeClr>
                </a:solidFill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(</a:t>
            </a:r>
            <a:r>
              <a:rPr lang="en-US" altLang="x-none" noProof="1" dirty="0">
                <a:solidFill>
                  <a:schemeClr val="accent4">
                    <a:lumMod val="10000"/>
                  </a:schemeClr>
                </a:solidFill>
                <a:ea typeface="宋体" panose="02010600030101010101" pitchFamily="2" charset="-122"/>
                <a:cs typeface="Times New Roman" panose="02020603050405020304" pitchFamily="2" charset="0"/>
                <a:sym typeface="+mn-ea"/>
              </a:rPr>
              <a:t>Re+Rc)</a:t>
            </a:r>
            <a:endParaRPr lang="zh-CN" altLang="en-US" noProof="1">
              <a:cs typeface="Times New Roman" panose="02020603050405020304" pitchFamily="2" charset="0"/>
            </a:endParaRPr>
          </a:p>
        </p:txBody>
      </p:sp>
      <p:sp>
        <p:nvSpPr>
          <p:cNvPr id="13317" name="文本框 2"/>
          <p:cNvSpPr txBox="1"/>
          <p:nvPr/>
        </p:nvSpPr>
        <p:spPr>
          <a:xfrm>
            <a:off x="767398" y="615633"/>
            <a:ext cx="7118985" cy="49149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600" b="1" dirty="0">
                <a:solidFill>
                  <a:srgbClr val="FF0000"/>
                </a:solidFill>
                <a:latin typeface="隶书" panose="02010509060101010101" pitchFamily="1" charset="-122"/>
                <a:ea typeface="隶书" panose="02010509060101010101" pitchFamily="1" charset="-122"/>
              </a:rPr>
              <a:t>β</a:t>
            </a:r>
            <a:r>
              <a:rPr lang="zh-CN" altLang="en-US" sz="2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zh-CN" altLang="en-US" sz="2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静态电压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用</a:t>
            </a:r>
            <a:r>
              <a:rPr lang="zh-CN" altLang="en-US" sz="2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万用表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，电流计算，其他示波器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65" name="Rectangle 2"/>
          <p:cNvSpPr>
            <a:spLocks noGrp="1"/>
          </p:cNvSpPr>
          <p:nvPr/>
        </p:nvSpPr>
        <p:spPr>
          <a:xfrm>
            <a:off x="1905000" y="16828"/>
            <a:ext cx="8850313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>
            <a:lvl1pPr marL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eaLnBrk="1" hangingPunct="1"/>
            <a:r>
              <a:rPr lang="zh-CN" altLang="en-US" sz="32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二</a:t>
            </a:r>
            <a:r>
              <a:rPr lang="en-US" altLang="zh-CN" sz="32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32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实验内容：单级共射放大电路</a:t>
            </a:r>
            <a:endParaRPr lang="zh-CN" altLang="en-US" sz="32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0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charRg st="0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charRg st="0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38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charRg st="38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charRg st="38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81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charRg st="81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charRg st="81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115" end="1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charRg st="115" end="13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charRg st="115" end="13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  <p:bldP spid="9223" grpId="0"/>
      <p:bldP spid="9223" grpId="1"/>
      <p:bldP spid="7173" grpId="0" bldLvl="0" animBg="1"/>
      <p:bldP spid="7173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/>
      <p:sp>
        <p:nvSpPr>
          <p:cNvPr id="2051" name="Rectangle 2"/>
          <p:cNvSpPr>
            <a:spLocks noGrp="1" noRot="1"/>
          </p:cNvSpPr>
          <p:nvPr>
            <p:ph type="title"/>
          </p:nvPr>
        </p:nvSpPr>
        <p:spPr>
          <a:xfrm>
            <a:off x="2362200" y="0"/>
            <a:ext cx="8001000" cy="579438"/>
          </a:xfrm>
        </p:spPr>
        <p:txBody>
          <a:bodyPr vert="horz" wrap="square" lIns="91440" tIns="45720" rIns="91440" bIns="45720" anchor="ctr"/>
          <a:p>
            <a:pPr algn="l" eaLnBrk="1" hangingPunct="1"/>
            <a:r>
              <a:rPr lang="zh-CN" altLang="en-US" sz="4000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实验原理图  单级共射放大电路</a:t>
            </a:r>
            <a:endParaRPr lang="zh-CN" altLang="en-US" sz="3200" dirty="0">
              <a:solidFill>
                <a:srgbClr val="111119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graphicFrame>
        <p:nvGraphicFramePr>
          <p:cNvPr id="2050" name="Object 3"/>
          <p:cNvGraphicFramePr>
            <a:graphicFrameLocks noChangeAspect="1"/>
          </p:cNvGraphicFramePr>
          <p:nvPr/>
        </p:nvGraphicFramePr>
        <p:xfrm>
          <a:off x="4116388" y="1466850"/>
          <a:ext cx="6043612" cy="539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3352800" imgH="3267075" progId="Word.Picture.8">
                  <p:embed/>
                </p:oleObj>
              </mc:Choice>
              <mc:Fallback>
                <p:oleObj name="" r:id="rId1" imgW="3352800" imgH="3267075" progId="Word.Picture.8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116388" y="1466850"/>
                        <a:ext cx="6043612" cy="539432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2" name="AutoShape 5"/>
          <p:cNvSpPr/>
          <p:nvPr/>
        </p:nvSpPr>
        <p:spPr>
          <a:xfrm>
            <a:off x="1703388" y="836613"/>
            <a:ext cx="2406650" cy="1368425"/>
          </a:xfrm>
          <a:prstGeom prst="wedgeRoundRectCallout">
            <a:avLst>
              <a:gd name="adj1" fmla="val 83273"/>
              <a:gd name="adj2" fmla="val 34454"/>
              <a:gd name="adj3" fmla="val 16667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2" charset="0"/>
              </a:rPr>
              <a:t>调节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2" charset="0"/>
              </a:rPr>
              <a:t>R p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2" charset="0"/>
              </a:rPr>
              <a:t>可改变静态工作点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2" charset="0"/>
              </a:rPr>
              <a:t>VB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2" charset="0"/>
              </a:rPr>
              <a:t>的值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2" charset="0"/>
            </a:endParaRPr>
          </a:p>
        </p:txBody>
      </p:sp>
      <p:sp>
        <p:nvSpPr>
          <p:cNvPr id="2053" name="Rectangle 7"/>
          <p:cNvSpPr/>
          <p:nvPr/>
        </p:nvSpPr>
        <p:spPr>
          <a:xfrm>
            <a:off x="1631950" y="3860800"/>
            <a:ext cx="2259013" cy="223837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r>
              <a:rPr lang="en-US" altLang="zh-CN" sz="2800" b="1" dirty="0">
                <a:solidFill>
                  <a:srgbClr val="111119"/>
                </a:solidFill>
                <a:latin typeface="Times New Roman" panose="02020603050405020304" pitchFamily="2" charset="0"/>
              </a:rPr>
              <a:t>Vipp=100mV</a:t>
            </a:r>
            <a:endParaRPr lang="en-US" altLang="zh-CN" sz="2800" b="1" dirty="0">
              <a:solidFill>
                <a:srgbClr val="111119"/>
              </a:solidFill>
              <a:latin typeface="Times New Roman" panose="02020603050405020304" pitchFamily="2" charset="0"/>
            </a:endParaRPr>
          </a:p>
          <a:p>
            <a:r>
              <a:rPr lang="en-US" altLang="zh-CN" sz="2800" b="1" dirty="0">
                <a:solidFill>
                  <a:srgbClr val="111119"/>
                </a:solidFill>
                <a:latin typeface="Times New Roman" panose="02020603050405020304" pitchFamily="2" charset="0"/>
              </a:rPr>
              <a:t>Fi=1KHz</a:t>
            </a:r>
            <a:endParaRPr lang="en-US" altLang="zh-CN" sz="2800" b="1" dirty="0">
              <a:solidFill>
                <a:srgbClr val="111119"/>
              </a:solidFill>
              <a:latin typeface="Times New Roman" panose="02020603050405020304" pitchFamily="2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999163" y="4979988"/>
            <a:ext cx="80962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b="1" dirty="0">
                <a:solidFill>
                  <a:srgbClr val="111119"/>
                </a:solidFill>
                <a:latin typeface="Times New Roman" panose="02020603050405020304" pitchFamily="2" charset="0"/>
              </a:rPr>
              <a:t>200p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0" name="AutoShape 5"/>
          <p:cNvSpPr/>
          <p:nvPr/>
        </p:nvSpPr>
        <p:spPr>
          <a:xfrm>
            <a:off x="5448300" y="801688"/>
            <a:ext cx="2478088" cy="563562"/>
          </a:xfrm>
          <a:prstGeom prst="wedgeRoundRectCallout">
            <a:avLst>
              <a:gd name="adj1" fmla="val -917"/>
              <a:gd name="adj2" fmla="val 256741"/>
              <a:gd name="adj3" fmla="val 16667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2" charset="0"/>
              </a:rPr>
              <a:t>消除高频自激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2" charset="0"/>
            </a:endParaRPr>
          </a:p>
        </p:txBody>
      </p:sp>
      <p:grpSp>
        <p:nvGrpSpPr>
          <p:cNvPr id="2" name="组合 14"/>
          <p:cNvGrpSpPr/>
          <p:nvPr/>
        </p:nvGrpSpPr>
        <p:grpSpPr>
          <a:xfrm>
            <a:off x="3216275" y="3644900"/>
            <a:ext cx="2863850" cy="2922588"/>
            <a:chOff x="1691680" y="3645024"/>
            <a:chExt cx="2863798" cy="2921999"/>
          </a:xfrm>
        </p:grpSpPr>
        <p:grpSp>
          <p:nvGrpSpPr>
            <p:cNvPr id="2058" name="组合 11"/>
            <p:cNvGrpSpPr/>
            <p:nvPr/>
          </p:nvGrpSpPr>
          <p:grpSpPr>
            <a:xfrm>
              <a:off x="4336494" y="3645024"/>
              <a:ext cx="218984" cy="2921999"/>
              <a:chOff x="4336494" y="3645024"/>
              <a:chExt cx="218984" cy="2921999"/>
            </a:xfrm>
          </p:grpSpPr>
          <p:cxnSp>
            <p:nvCxnSpPr>
              <p:cNvPr id="2060" name="直接连接符 2"/>
              <p:cNvCxnSpPr/>
              <p:nvPr/>
            </p:nvCxnSpPr>
            <p:spPr>
              <a:xfrm>
                <a:off x="4427984" y="3645024"/>
                <a:ext cx="16522" cy="144016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grpSp>
            <p:nvGrpSpPr>
              <p:cNvPr id="2061" name="组合 8"/>
              <p:cNvGrpSpPr/>
              <p:nvPr/>
            </p:nvGrpSpPr>
            <p:grpSpPr>
              <a:xfrm>
                <a:off x="4336494" y="5085184"/>
                <a:ext cx="218984" cy="72008"/>
                <a:chOff x="4572000" y="908720"/>
                <a:chExt cx="218984" cy="72008"/>
              </a:xfrm>
            </p:grpSpPr>
            <p:cxnSp>
              <p:nvCxnSpPr>
                <p:cNvPr id="2063" name="直接连接符 7"/>
                <p:cNvCxnSpPr/>
                <p:nvPr/>
              </p:nvCxnSpPr>
              <p:spPr>
                <a:xfrm>
                  <a:off x="4572000" y="908720"/>
                  <a:ext cx="21602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2064" name="直接连接符 12"/>
                <p:cNvCxnSpPr/>
                <p:nvPr/>
              </p:nvCxnSpPr>
              <p:spPr>
                <a:xfrm>
                  <a:off x="4574960" y="980728"/>
                  <a:ext cx="21602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2062" name="直接连接符 15"/>
              <p:cNvCxnSpPr/>
              <p:nvPr/>
            </p:nvCxnSpPr>
            <p:spPr>
              <a:xfrm>
                <a:off x="4447466" y="5157192"/>
                <a:ext cx="16522" cy="140983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</p:grpSp>
        <p:sp>
          <p:nvSpPr>
            <p:cNvPr id="2059" name="AutoShape 5"/>
            <p:cNvSpPr/>
            <p:nvPr/>
          </p:nvSpPr>
          <p:spPr>
            <a:xfrm>
              <a:off x="1691680" y="5661248"/>
              <a:ext cx="2478088" cy="563129"/>
            </a:xfrm>
            <a:prstGeom prst="wedgeRoundRectCallout">
              <a:avLst>
                <a:gd name="adj1" fmla="val 59986"/>
                <a:gd name="adj2" fmla="val -132653"/>
                <a:gd name="adj3" fmla="val 16667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r>
                <a:rPr lang="zh-CN" altLang="en-US" sz="2800" b="1" dirty="0">
                  <a:solidFill>
                    <a:srgbClr val="FF0000"/>
                  </a:solidFill>
                  <a:latin typeface="Times New Roman" panose="02020603050405020304" pitchFamily="2" charset="0"/>
                </a:rPr>
                <a:t>消除高频自激</a:t>
              </a:r>
              <a:endParaRPr lang="zh-CN" altLang="en-US" sz="2800" b="1" dirty="0">
                <a:solidFill>
                  <a:srgbClr val="FF0000"/>
                </a:solidFill>
                <a:latin typeface="Times New Roman" panose="02020603050405020304" pitchFamily="2" charset="0"/>
              </a:endParaRPr>
            </a:p>
          </p:txBody>
        </p:sp>
      </p:grpSp>
      <p:sp>
        <p:nvSpPr>
          <p:cNvPr id="16" name="AutoShape 5"/>
          <p:cNvSpPr/>
          <p:nvPr/>
        </p:nvSpPr>
        <p:spPr>
          <a:xfrm>
            <a:off x="-1705610" y="2500313"/>
            <a:ext cx="2478088" cy="1143000"/>
          </a:xfrm>
          <a:prstGeom prst="wedgeRoundRectCallout">
            <a:avLst>
              <a:gd name="adj1" fmla="val 70352"/>
              <a:gd name="adj2" fmla="val -8731"/>
              <a:gd name="adj3" fmla="val 16667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r>
              <a:rPr lang="zh-CN" altLang="en-US" sz="2000" b="1" dirty="0">
                <a:solidFill>
                  <a:srgbClr val="111119"/>
                </a:solidFill>
                <a:latin typeface="Times New Roman" panose="02020603050405020304" pitchFamily="2" charset="0"/>
              </a:rPr>
              <a:t>消除高频自激</a:t>
            </a:r>
            <a:endParaRPr lang="en-US" altLang="zh-CN" sz="2000" b="1" dirty="0">
              <a:solidFill>
                <a:srgbClr val="111119"/>
              </a:solidFill>
              <a:latin typeface="Times New Roman" panose="02020603050405020304" pitchFamily="2" charset="0"/>
            </a:endParaRPr>
          </a:p>
          <a:p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1" charset="-122"/>
                <a:ea typeface="黑体" panose="02010609060101010101" pitchFamily="1" charset="-122"/>
              </a:rPr>
              <a:t>示波器的黑色接地夹子直接一个</a:t>
            </a:r>
            <a:endParaRPr lang="zh-CN" altLang="en-US" sz="2000" b="1" dirty="0">
              <a:solidFill>
                <a:srgbClr val="FF0000"/>
              </a:solidFill>
              <a:latin typeface="黑体" panose="02010609060101010101" pitchFamily="1" charset="-122"/>
              <a:ea typeface="黑体" panose="02010609060101010101" pitchFamily="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0" grpId="0" bldLvl="0" animBg="1"/>
      <p:bldP spid="16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7409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1950" y="268288"/>
            <a:ext cx="8966200" cy="64531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0" name="矩形标注 1"/>
          <p:cNvSpPr/>
          <p:nvPr/>
        </p:nvSpPr>
        <p:spPr>
          <a:xfrm>
            <a:off x="5006975" y="692150"/>
            <a:ext cx="1368425" cy="395288"/>
          </a:xfrm>
          <a:prstGeom prst="wedgeRectCallout">
            <a:avLst>
              <a:gd name="adj1" fmla="val 84931"/>
              <a:gd name="adj2" fmla="val 37745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t" anchorCtr="0"/>
          <a:p>
            <a:r>
              <a:rPr lang="en-US" altLang="zh-CN" b="1" dirty="0">
                <a:solidFill>
                  <a:srgbClr val="00206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Rp=100k</a:t>
            </a:r>
            <a:endParaRPr lang="zh-CN" altLang="en-US" dirty="0">
              <a:solidFill>
                <a:srgbClr val="00206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411" name="矩形标注 6"/>
          <p:cNvSpPr/>
          <p:nvPr/>
        </p:nvSpPr>
        <p:spPr>
          <a:xfrm>
            <a:off x="8616950" y="2203450"/>
            <a:ext cx="1368425" cy="395288"/>
          </a:xfrm>
          <a:prstGeom prst="wedgeRectCallout">
            <a:avLst>
              <a:gd name="adj1" fmla="val -88764"/>
              <a:gd name="adj2" fmla="val 145861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t" anchorCtr="0"/>
          <a:p>
            <a:r>
              <a:rPr lang="en-US" altLang="zh-CN" b="1" dirty="0">
                <a:solidFill>
                  <a:srgbClr val="00206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Rc=5.1k</a:t>
            </a:r>
            <a:endParaRPr lang="zh-CN" altLang="en-US" dirty="0">
              <a:solidFill>
                <a:srgbClr val="00206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412" name="矩形标注 7"/>
          <p:cNvSpPr/>
          <p:nvPr/>
        </p:nvSpPr>
        <p:spPr>
          <a:xfrm>
            <a:off x="5951538" y="1754188"/>
            <a:ext cx="835025" cy="395287"/>
          </a:xfrm>
          <a:prstGeom prst="wedgeRectCallout">
            <a:avLst>
              <a:gd name="adj1" fmla="val 93236"/>
              <a:gd name="adj2" fmla="val 182116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t" anchorCtr="0"/>
          <a:p>
            <a:r>
              <a:rPr lang="en-US" altLang="zh-CN" b="1" dirty="0">
                <a:solidFill>
                  <a:srgbClr val="00206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20k</a:t>
            </a:r>
            <a:endParaRPr lang="zh-CN" altLang="en-US" dirty="0">
              <a:solidFill>
                <a:srgbClr val="00206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413" name="矩形标注 8"/>
          <p:cNvSpPr/>
          <p:nvPr/>
        </p:nvSpPr>
        <p:spPr>
          <a:xfrm>
            <a:off x="5133975" y="3343275"/>
            <a:ext cx="1368425" cy="396875"/>
          </a:xfrm>
          <a:prstGeom prst="wedgeRectCallout">
            <a:avLst>
              <a:gd name="adj1" fmla="val 6454"/>
              <a:gd name="adj2" fmla="val 265894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t" anchorCtr="0"/>
          <a:p>
            <a:r>
              <a:rPr lang="en-US" altLang="zh-CN" b="1" dirty="0">
                <a:solidFill>
                  <a:srgbClr val="00206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Re11=51</a:t>
            </a:r>
            <a:endParaRPr lang="zh-CN" altLang="en-US" dirty="0">
              <a:solidFill>
                <a:srgbClr val="00206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414" name="矩形标注 9"/>
          <p:cNvSpPr/>
          <p:nvPr/>
        </p:nvSpPr>
        <p:spPr>
          <a:xfrm>
            <a:off x="3792538" y="6305550"/>
            <a:ext cx="1511300" cy="395288"/>
          </a:xfrm>
          <a:prstGeom prst="wedgeRectCallout">
            <a:avLst>
              <a:gd name="adj1" fmla="val 44514"/>
              <a:gd name="adj2" fmla="val -165458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t" anchorCtr="0"/>
          <a:p>
            <a:r>
              <a:rPr lang="en-US" altLang="zh-CN" b="1" dirty="0">
                <a:solidFill>
                  <a:srgbClr val="00206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Re12=1K</a:t>
            </a:r>
            <a:endParaRPr lang="zh-CN" altLang="en-US" dirty="0">
              <a:solidFill>
                <a:srgbClr val="00206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415" name="矩形标注 10"/>
          <p:cNvSpPr/>
          <p:nvPr/>
        </p:nvSpPr>
        <p:spPr>
          <a:xfrm>
            <a:off x="1968500" y="5478463"/>
            <a:ext cx="1366838" cy="395287"/>
          </a:xfrm>
          <a:prstGeom prst="wedgeRectCallout">
            <a:avLst>
              <a:gd name="adj1" fmla="val 71796"/>
              <a:gd name="adj2" fmla="val 77176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t" anchorCtr="0"/>
          <a:p>
            <a:r>
              <a:rPr lang="en-US" altLang="zh-CN" b="1" dirty="0">
                <a:solidFill>
                  <a:srgbClr val="00206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Ce=47uf</a:t>
            </a:r>
            <a:endParaRPr lang="zh-CN" altLang="en-US" dirty="0">
              <a:solidFill>
                <a:srgbClr val="00206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416" name="矩形标注 11"/>
          <p:cNvSpPr/>
          <p:nvPr/>
        </p:nvSpPr>
        <p:spPr>
          <a:xfrm>
            <a:off x="5710238" y="5318125"/>
            <a:ext cx="1584325" cy="396875"/>
          </a:xfrm>
          <a:prstGeom prst="wedgeRectCallout">
            <a:avLst>
              <a:gd name="adj1" fmla="val 55940"/>
              <a:gd name="adj2" fmla="val 76616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t" anchorCtr="0"/>
          <a:p>
            <a:r>
              <a:rPr lang="en-US" altLang="zh-CN" b="1" dirty="0">
                <a:solidFill>
                  <a:srgbClr val="00206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Rb12=10k</a:t>
            </a:r>
            <a:endParaRPr lang="zh-CN" altLang="en-US" dirty="0">
              <a:solidFill>
                <a:srgbClr val="00206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417" name="矩形标注 12"/>
          <p:cNvSpPr/>
          <p:nvPr/>
        </p:nvSpPr>
        <p:spPr>
          <a:xfrm>
            <a:off x="7680325" y="5284788"/>
            <a:ext cx="1368425" cy="396875"/>
          </a:xfrm>
          <a:prstGeom prst="wedgeRectCallout">
            <a:avLst>
              <a:gd name="adj1" fmla="val 53685"/>
              <a:gd name="adj2" fmla="val -68389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t" anchorCtr="0"/>
          <a:p>
            <a:r>
              <a:rPr lang="en-US" altLang="zh-CN" b="1" dirty="0">
                <a:solidFill>
                  <a:srgbClr val="00206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Rl=5.1k</a:t>
            </a:r>
            <a:endParaRPr lang="zh-CN" altLang="en-US" dirty="0">
              <a:solidFill>
                <a:srgbClr val="00206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418" name="矩形标注 9"/>
          <p:cNvSpPr/>
          <p:nvPr/>
        </p:nvSpPr>
        <p:spPr>
          <a:xfrm>
            <a:off x="3522663" y="3344863"/>
            <a:ext cx="1511300" cy="395287"/>
          </a:xfrm>
          <a:prstGeom prst="wedgeRectCallout">
            <a:avLst>
              <a:gd name="adj1" fmla="val -47292"/>
              <a:gd name="adj2" fmla="val 262093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t" anchorCtr="0"/>
          <a:p>
            <a:r>
              <a:rPr lang="en-US" altLang="zh-CN" b="1" dirty="0">
                <a:solidFill>
                  <a:srgbClr val="00206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C1=10UF</a:t>
            </a:r>
            <a:endParaRPr lang="zh-CN" altLang="en-US" dirty="0">
              <a:solidFill>
                <a:srgbClr val="00206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419" name="矩形标注 9"/>
          <p:cNvSpPr/>
          <p:nvPr/>
        </p:nvSpPr>
        <p:spPr>
          <a:xfrm>
            <a:off x="8545513" y="3014663"/>
            <a:ext cx="1511300" cy="395287"/>
          </a:xfrm>
          <a:prstGeom prst="wedgeRectCallout">
            <a:avLst>
              <a:gd name="adj1" fmla="val -34463"/>
              <a:gd name="adj2" fmla="val 209514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t" anchorCtr="0"/>
          <a:p>
            <a:r>
              <a:rPr lang="en-US" altLang="zh-CN" b="1" dirty="0">
                <a:solidFill>
                  <a:srgbClr val="00206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C2=10UF</a:t>
            </a:r>
            <a:endParaRPr lang="zh-CN" altLang="en-US" dirty="0">
              <a:solidFill>
                <a:srgbClr val="00206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420" name="矩形标注 9"/>
          <p:cNvSpPr/>
          <p:nvPr/>
        </p:nvSpPr>
        <p:spPr>
          <a:xfrm>
            <a:off x="1824038" y="3344863"/>
            <a:ext cx="1511300" cy="395287"/>
          </a:xfrm>
          <a:prstGeom prst="wedgeRectCallout">
            <a:avLst>
              <a:gd name="adj1" fmla="val 7023"/>
              <a:gd name="adj2" fmla="val 196375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t" anchorCtr="0"/>
          <a:p>
            <a:r>
              <a:rPr lang="zh-CN" altLang="en-US" b="1" dirty="0">
                <a:solidFill>
                  <a:srgbClr val="000000"/>
                </a:solidFill>
                <a:latin typeface="黑体" panose="02010609060101010101" pitchFamily="1" charset="-122"/>
                <a:ea typeface="黑体" panose="02010609060101010101" pitchFamily="1" charset="-122"/>
              </a:rPr>
              <a:t>信号输入</a:t>
            </a:r>
            <a:endParaRPr lang="zh-CN" altLang="en-US" b="1" dirty="0">
              <a:solidFill>
                <a:srgbClr val="000000"/>
              </a:solidFill>
              <a:latin typeface="黑体" panose="02010609060101010101" pitchFamily="1" charset="-122"/>
              <a:ea typeface="黑体" panose="02010609060101010101" pitchFamily="1" charset="-122"/>
            </a:endParaRPr>
          </a:p>
        </p:txBody>
      </p:sp>
      <p:sp>
        <p:nvSpPr>
          <p:cNvPr id="17421" name="矩形标注 9"/>
          <p:cNvSpPr/>
          <p:nvPr/>
        </p:nvSpPr>
        <p:spPr>
          <a:xfrm>
            <a:off x="9048750" y="3740150"/>
            <a:ext cx="1511300" cy="395288"/>
          </a:xfrm>
          <a:prstGeom prst="wedgeRectCallout">
            <a:avLst>
              <a:gd name="adj1" fmla="val -19102"/>
              <a:gd name="adj2" fmla="val 222662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t" anchorCtr="0"/>
          <a:p>
            <a:r>
              <a:rPr lang="zh-CN" altLang="en-US" b="1" dirty="0">
                <a:solidFill>
                  <a:srgbClr val="000000"/>
                </a:solidFill>
                <a:latin typeface="黑体" panose="02010609060101010101" pitchFamily="1" charset="-122"/>
                <a:ea typeface="黑体" panose="02010609060101010101" pitchFamily="1" charset="-122"/>
              </a:rPr>
              <a:t>信号输出</a:t>
            </a:r>
            <a:endParaRPr lang="zh-CN" altLang="en-US" b="1" dirty="0">
              <a:solidFill>
                <a:srgbClr val="000000"/>
              </a:solidFill>
              <a:latin typeface="黑体" panose="02010609060101010101" pitchFamily="1" charset="-122"/>
              <a:ea typeface="黑体" panose="02010609060101010101" pitchFamily="1" charset="-122"/>
            </a:endParaRPr>
          </a:p>
        </p:txBody>
      </p:sp>
      <p:sp>
        <p:nvSpPr>
          <p:cNvPr id="17422" name="矩形标注 9"/>
          <p:cNvSpPr/>
          <p:nvPr/>
        </p:nvSpPr>
        <p:spPr>
          <a:xfrm>
            <a:off x="9048750" y="188913"/>
            <a:ext cx="1511300" cy="395287"/>
          </a:xfrm>
          <a:prstGeom prst="wedgeRectCallout">
            <a:avLst>
              <a:gd name="adj1" fmla="val -7412"/>
              <a:gd name="adj2" fmla="val 143801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t" anchorCtr="0"/>
          <a:p>
            <a:r>
              <a:rPr lang="zh-CN" altLang="en-US" b="1" dirty="0">
                <a:solidFill>
                  <a:srgbClr val="000000"/>
                </a:solidFill>
                <a:latin typeface="黑体" panose="02010609060101010101" pitchFamily="1" charset="-122"/>
                <a:ea typeface="黑体" panose="02010609060101010101" pitchFamily="1" charset="-122"/>
              </a:rPr>
              <a:t>电源</a:t>
            </a:r>
            <a:r>
              <a:rPr lang="en-US" altLang="zh-CN" b="1" dirty="0">
                <a:solidFill>
                  <a:srgbClr val="000000"/>
                </a:solidFill>
                <a:latin typeface="黑体" panose="02010609060101010101" pitchFamily="1" charset="-122"/>
                <a:ea typeface="黑体" panose="02010609060101010101" pitchFamily="1" charset="-122"/>
              </a:rPr>
              <a:t>+12V</a:t>
            </a:r>
            <a:endParaRPr lang="zh-CN" altLang="en-US" b="1" dirty="0">
              <a:solidFill>
                <a:srgbClr val="000000"/>
              </a:solidFill>
              <a:latin typeface="黑体" panose="02010609060101010101" pitchFamily="1" charset="-122"/>
              <a:ea typeface="黑体" panose="02010609060101010101" pitchFamily="1" charset="-122"/>
            </a:endParaRPr>
          </a:p>
        </p:txBody>
      </p:sp>
      <p:sp>
        <p:nvSpPr>
          <p:cNvPr id="17423" name="矩形标注 9"/>
          <p:cNvSpPr/>
          <p:nvPr/>
        </p:nvSpPr>
        <p:spPr>
          <a:xfrm>
            <a:off x="7013575" y="6165850"/>
            <a:ext cx="1511300" cy="395288"/>
          </a:xfrm>
          <a:prstGeom prst="wedgeRectCallout">
            <a:avLst>
              <a:gd name="adj1" fmla="val -90606"/>
              <a:gd name="adj2" fmla="val -32324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t" anchorCtr="0"/>
          <a:p>
            <a:r>
              <a:rPr lang="zh-CN" altLang="en-US" b="1" dirty="0">
                <a:solidFill>
                  <a:srgbClr val="000000"/>
                </a:solidFill>
                <a:latin typeface="黑体" panose="02010609060101010101" pitchFamily="1" charset="-122"/>
                <a:ea typeface="黑体" panose="02010609060101010101" pitchFamily="1" charset="-122"/>
              </a:rPr>
              <a:t>电源地</a:t>
            </a:r>
            <a:r>
              <a:rPr lang="en-US" altLang="zh-CN" b="1" dirty="0">
                <a:solidFill>
                  <a:srgbClr val="000000"/>
                </a:solidFill>
                <a:latin typeface="黑体" panose="02010609060101010101" pitchFamily="1" charset="-122"/>
                <a:ea typeface="黑体" panose="02010609060101010101" pitchFamily="1" charset="-122"/>
              </a:rPr>
              <a:t>0V</a:t>
            </a:r>
            <a:endParaRPr lang="zh-CN" altLang="en-US" b="1" dirty="0">
              <a:solidFill>
                <a:srgbClr val="000000"/>
              </a:solidFill>
              <a:latin typeface="黑体" panose="02010609060101010101" pitchFamily="1" charset="-122"/>
              <a:ea typeface="黑体" panose="02010609060101010101" pitchFamily="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Rectangle 2"/>
          <p:cNvSpPr>
            <a:spLocks noGrp="1"/>
          </p:cNvSpPr>
          <p:nvPr>
            <p:ph type="subTitle" idx="4294967295"/>
          </p:nvPr>
        </p:nvSpPr>
        <p:spPr>
          <a:xfrm>
            <a:off x="358775" y="838200"/>
            <a:ext cx="6807835" cy="1478280"/>
          </a:xfrm>
        </p:spPr>
        <p:txBody>
          <a:bodyPr wrap="square" anchor="ctr" anchorCtr="0"/>
          <a:lstStyle>
            <a:lvl1pPr marL="0" lvl="0" indent="0" algn="ctr">
              <a:buClrTx/>
              <a:buSzPct val="85000"/>
              <a:buFontTx/>
              <a:defRPr/>
            </a:lvl1pPr>
            <a:lvl2pPr marL="457200" lvl="1" indent="0" algn="ctr">
              <a:buClr>
                <a:schemeClr val="tx2"/>
              </a:buClr>
              <a:buSzPct val="70000"/>
              <a:buFont typeface="Wingdings" panose="05000000000000000000" pitchFamily="2" charset="2"/>
              <a:defRPr/>
            </a:lvl2pPr>
            <a:lvl3pPr marL="914400" lvl="2" indent="0" algn="ctr">
              <a:buClr>
                <a:schemeClr val="hlink"/>
              </a:buClr>
              <a:buSzPct val="65000"/>
              <a:buFont typeface="Wingdings" panose="05000000000000000000" pitchFamily="2" charset="2"/>
              <a:defRPr/>
            </a:lvl3pPr>
            <a:lvl4pPr marL="1371600" lvl="3" indent="0" algn="ctr">
              <a:buClr>
                <a:schemeClr val="accent1"/>
              </a:buClr>
              <a:buSzPct val="60000"/>
              <a:buFont typeface="Wingdings" panose="05000000000000000000" pitchFamily="2" charset="2"/>
              <a:defRPr/>
            </a:lvl4pPr>
            <a:lvl5pPr marL="1828800" lvl="4" indent="0" algn="ctr">
              <a:buClr>
                <a:schemeClr val="accent2"/>
              </a:buClr>
              <a:buSzPct val="60000"/>
              <a:buFont typeface="Wingdings" panose="05000000000000000000" pitchFamily="2" charset="2"/>
              <a:defRPr/>
            </a:lvl5pPr>
          </a:lstStyle>
          <a:p>
            <a:pPr marL="0" lvl="0" indent="0" algn="l" eaLnBrk="1" hangingPunct="1">
              <a:buClr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楷体_GB2312" pitchFamily="1" charset="-122"/>
              </a:rPr>
              <a:t>   </a:t>
            </a:r>
            <a:r>
              <a:rPr lang="zh-CN" altLang="en-US" sz="2800" b="1" dirty="0">
                <a:solidFill>
                  <a:schemeClr val="bg2"/>
                </a:solidFill>
                <a:latin typeface="楷体_GB2312" pitchFamily="1" charset="-122"/>
              </a:rPr>
              <a:t>在信号源输出与放大器输入端之间，</a:t>
            </a:r>
            <a:endParaRPr lang="zh-CN" altLang="en-US" sz="2800" b="1" dirty="0">
              <a:solidFill>
                <a:schemeClr val="bg2"/>
              </a:solidFill>
              <a:latin typeface="楷体_GB2312" pitchFamily="1" charset="-122"/>
            </a:endParaRPr>
          </a:p>
          <a:p>
            <a:pPr marL="0" lvl="0" indent="0" algn="l" eaLnBrk="1" hangingPunct="1">
              <a:buClrTx/>
              <a:buFontTx/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楷体_GB2312" pitchFamily="1" charset="-122"/>
              </a:rPr>
              <a:t>串联一个</a:t>
            </a:r>
            <a:r>
              <a:rPr lang="zh-CN" altLang="en-US" sz="2800" b="1" dirty="0">
                <a:solidFill>
                  <a:srgbClr val="FF0000"/>
                </a:solidFill>
                <a:latin typeface="楷体_GB2312" pitchFamily="1" charset="-122"/>
              </a:rPr>
              <a:t>已知电阻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R</a:t>
            </a:r>
            <a:r>
              <a:rPr lang="en-US" altLang="zh-CN" sz="2800" b="1" dirty="0">
                <a:solidFill>
                  <a:schemeClr val="bg2"/>
                </a:solidFill>
                <a:latin typeface="楷体_GB2312" pitchFamily="1" charset="-122"/>
              </a:rPr>
              <a:t>(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R</a:t>
            </a:r>
            <a:r>
              <a:rPr lang="zh-CN" altLang="en-US" sz="2800" b="1" dirty="0">
                <a:solidFill>
                  <a:schemeClr val="bg2"/>
                </a:solidFill>
                <a:latin typeface="楷体_GB2312" pitchFamily="1" charset="-122"/>
              </a:rPr>
              <a:t>值接近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2" charset="0"/>
                <a:cs typeface="Times New Roman" panose="02020603050405020304" pitchFamily="2" charset="0"/>
              </a:rPr>
              <a:t>Ri</a:t>
            </a:r>
            <a:r>
              <a:rPr lang="zh-CN" altLang="en-US" sz="2800" b="1" dirty="0">
                <a:solidFill>
                  <a:schemeClr val="bg2"/>
                </a:solidFill>
                <a:latin typeface="楷体_GB2312" pitchFamily="1" charset="-122"/>
              </a:rPr>
              <a:t>值</a:t>
            </a:r>
            <a:r>
              <a:rPr lang="en-US" altLang="zh-CN" sz="2800" b="1" dirty="0">
                <a:solidFill>
                  <a:schemeClr val="bg2"/>
                </a:solidFill>
                <a:latin typeface="楷体_GB2312" pitchFamily="1" charset="-122"/>
              </a:rPr>
              <a:t>)</a:t>
            </a:r>
            <a:endParaRPr lang="zh-CN" altLang="en-US" sz="2800" b="1" dirty="0">
              <a:solidFill>
                <a:schemeClr val="bg2"/>
              </a:solidFill>
              <a:latin typeface="楷体_GB2312" pitchFamily="1" charset="-122"/>
            </a:endParaRPr>
          </a:p>
        </p:txBody>
      </p:sp>
      <p:graphicFrame>
        <p:nvGraphicFramePr>
          <p:cNvPr id="18434" name="Object 3"/>
          <p:cNvGraphicFramePr>
            <a:graphicFrameLocks noChangeAspect="1"/>
          </p:cNvGraphicFramePr>
          <p:nvPr/>
        </p:nvGraphicFramePr>
        <p:xfrm>
          <a:off x="6599873" y="1124268"/>
          <a:ext cx="4524823" cy="244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1743710" imgH="943610" progId="WPS.Doc.6">
                  <p:embed/>
                </p:oleObj>
              </mc:Choice>
              <mc:Fallback>
                <p:oleObj name="" r:id="rId1" imgW="1743710" imgH="943610" progId="WPS.Doc.6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599873" y="1124268"/>
                        <a:ext cx="4524823" cy="244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9" name="对象 11267"/>
          <p:cNvGraphicFramePr>
            <a:graphicFrameLocks noChangeAspect="1"/>
          </p:cNvGraphicFramePr>
          <p:nvPr/>
        </p:nvGraphicFramePr>
        <p:xfrm>
          <a:off x="1631315" y="3141028"/>
          <a:ext cx="2746375" cy="1363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3" imgW="865505" imgH="432435" progId="Equation.3">
                  <p:embed/>
                </p:oleObj>
              </mc:Choice>
              <mc:Fallback>
                <p:oleObj name="" r:id="rId3" imgW="865505" imgH="432435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31315" y="3141028"/>
                        <a:ext cx="2746375" cy="1363662"/>
                      </a:xfrm>
                      <a:prstGeom prst="rect">
                        <a:avLst/>
                      </a:prstGeom>
                      <a:noFill/>
                      <a:ln w="12700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0" name="Text Box 6"/>
          <p:cNvSpPr txBox="1"/>
          <p:nvPr/>
        </p:nvSpPr>
        <p:spPr>
          <a:xfrm>
            <a:off x="1271270" y="2371725"/>
            <a:ext cx="478472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zh-CN" altLang="en-US" sz="2800" b="1" dirty="0">
                <a:solidFill>
                  <a:schemeClr val="bg2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本实验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中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R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取  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～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5K</a:t>
            </a:r>
            <a:r>
              <a:rPr lang="en-US" altLang="zh-CN" sz="2800" b="1" dirty="0">
                <a:solidFill>
                  <a:srgbClr val="FF0000"/>
                </a:solidFill>
                <a:latin typeface="Symbol" panose="05050102010706020507" pitchFamily="2" charset="2"/>
                <a:ea typeface="宋体" panose="02010600030101010101" pitchFamily="2" charset="-122"/>
              </a:rPr>
              <a:t>W</a:t>
            </a:r>
            <a:endParaRPr lang="en-US" altLang="zh-CN" sz="2800" b="1" dirty="0">
              <a:solidFill>
                <a:srgbClr val="FF0000"/>
              </a:solidFill>
              <a:latin typeface="Symbol" panose="05050102010706020507" pitchFamily="2" charset="2"/>
              <a:ea typeface="宋体" panose="02010600030101010101" pitchFamily="2" charset="-122"/>
            </a:endParaRPr>
          </a:p>
        </p:txBody>
      </p:sp>
      <p:sp>
        <p:nvSpPr>
          <p:cNvPr id="18438" name="Rectangle 2"/>
          <p:cNvSpPr>
            <a:spLocks noGrp="1"/>
          </p:cNvSpPr>
          <p:nvPr/>
        </p:nvSpPr>
        <p:spPr>
          <a:xfrm>
            <a:off x="1492250" y="-25400"/>
            <a:ext cx="7772400" cy="647700"/>
          </a:xfrm>
          <a:prstGeom prst="rect">
            <a:avLst/>
          </a:prstGeom>
          <a:noFill/>
          <a:ln w="9525">
            <a:noFill/>
          </a:ln>
        </p:spPr>
        <p:txBody>
          <a:bodyPr wrap="square" anchor="b" anchorCtr="0"/>
          <a:p>
            <a:pPr>
              <a:buSzTx/>
              <a:buFontTx/>
            </a:pPr>
            <a:r>
              <a:rPr lang="en-US" altLang="zh-CN" sz="3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3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：输入电阻</a:t>
            </a:r>
            <a:r>
              <a:rPr lang="en-US" altLang="zh-CN" sz="3200">
                <a:solidFill>
                  <a:schemeClr val="bg1"/>
                </a:solidFill>
                <a:ea typeface="微软雅黑" panose="020B0503020204020204" charset="-122"/>
                <a:cs typeface="Times New Roman" panose="02020603050405020304" pitchFamily="2" charset="0"/>
              </a:rPr>
              <a:t>Ri</a:t>
            </a:r>
            <a:r>
              <a:rPr lang="zh-CN" altLang="en-US" sz="3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测量 </a:t>
            </a:r>
            <a:endParaRPr lang="zh-CN" altLang="en-US" sz="3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3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43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Rectangle 2"/>
          <p:cNvSpPr>
            <a:spLocks noGrp="1"/>
          </p:cNvSpPr>
          <p:nvPr>
            <p:ph type="subTitle" idx="4294967295"/>
          </p:nvPr>
        </p:nvSpPr>
        <p:spPr>
          <a:xfrm>
            <a:off x="910590" y="1844675"/>
            <a:ext cx="4674235" cy="1585595"/>
          </a:xfrm>
        </p:spPr>
        <p:txBody>
          <a:bodyPr wrap="square" anchor="ctr" anchorCtr="0"/>
          <a:lstStyle>
            <a:lvl1pPr marL="0" lvl="0" indent="0" algn="ctr">
              <a:buClrTx/>
              <a:buSzPct val="85000"/>
              <a:buFontTx/>
              <a:defRPr/>
            </a:lvl1pPr>
            <a:lvl2pPr marL="457200" lvl="1" indent="0" algn="ctr">
              <a:buClr>
                <a:schemeClr val="tx2"/>
              </a:buClr>
              <a:buSzPct val="70000"/>
              <a:buFont typeface="Wingdings" panose="05000000000000000000" pitchFamily="2" charset="2"/>
              <a:defRPr/>
            </a:lvl2pPr>
            <a:lvl3pPr marL="914400" lvl="2" indent="0" algn="ctr">
              <a:buClr>
                <a:schemeClr val="hlink"/>
              </a:buClr>
              <a:buSzPct val="65000"/>
              <a:buFont typeface="Wingdings" panose="05000000000000000000" pitchFamily="2" charset="2"/>
              <a:defRPr/>
            </a:lvl3pPr>
            <a:lvl4pPr marL="1371600" lvl="3" indent="0" algn="ctr">
              <a:buClr>
                <a:schemeClr val="accent1"/>
              </a:buClr>
              <a:buSzPct val="60000"/>
              <a:buFont typeface="Wingdings" panose="05000000000000000000" pitchFamily="2" charset="2"/>
              <a:defRPr/>
            </a:lvl4pPr>
            <a:lvl5pPr marL="1828800" lvl="4" indent="0" algn="ctr">
              <a:buClr>
                <a:schemeClr val="accent2"/>
              </a:buClr>
              <a:buSzPct val="60000"/>
              <a:buFont typeface="Wingdings" panose="05000000000000000000" pitchFamily="2" charset="2"/>
              <a:defRPr/>
            </a:lvl5pPr>
          </a:lstStyle>
          <a:p>
            <a:pPr marL="342900" lvl="0" indent="-342900" algn="l" eaLnBrk="1" hangingPunct="1">
              <a:lnSpc>
                <a:spcPct val="90000"/>
              </a:lnSpc>
              <a:spcBef>
                <a:spcPct val="50000"/>
              </a:spcBef>
              <a:buClr>
                <a:srgbClr val="FF0000"/>
              </a:buClr>
              <a:buSzPct val="100000"/>
              <a:buFont typeface="Wingdings" panose="05000000000000000000" charset="0"/>
              <a:buChar char="u"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2" charset="0"/>
              </a:rPr>
              <a:t>输出波形不失真的情况下，</a:t>
            </a:r>
            <a:endParaRPr lang="zh-CN" altLang="en-US" sz="2800" b="1" dirty="0">
              <a:solidFill>
                <a:schemeClr val="bg2"/>
              </a:solidFill>
              <a:latin typeface="Times New Roman" panose="02020603050405020304" pitchFamily="2" charset="0"/>
            </a:endParaRPr>
          </a:p>
          <a:p>
            <a:pPr marL="0" lvl="0" indent="0" algn="l" eaLnBrk="1" hangingPunct="1">
              <a:lnSpc>
                <a:spcPct val="90000"/>
              </a:lnSpc>
              <a:spcBef>
                <a:spcPct val="50000"/>
              </a:spcBef>
              <a:buClr>
                <a:srgbClr val="FF0000"/>
              </a:buClr>
              <a:buSzPct val="100000"/>
              <a:buFont typeface="Monotype Sorts" pitchFamily="2" charset="2"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2" charset="0"/>
              </a:rPr>
              <a:t>  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2" charset="0"/>
              </a:rPr>
              <a:t>测量放大器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2" charset="0"/>
              </a:rPr>
              <a:t>负载开路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2" charset="0"/>
              </a:rPr>
              <a:t>时</a:t>
            </a:r>
            <a:endParaRPr lang="zh-CN" altLang="en-US" sz="2800" b="1" dirty="0">
              <a:solidFill>
                <a:schemeClr val="bg2"/>
              </a:solidFill>
              <a:latin typeface="Times New Roman" panose="02020603050405020304" pitchFamily="2" charset="0"/>
            </a:endParaRPr>
          </a:p>
          <a:p>
            <a:pPr marL="0" lvl="0" indent="0" algn="l" eaLnBrk="1" hangingPunct="1">
              <a:lnSpc>
                <a:spcPct val="90000"/>
              </a:lnSpc>
              <a:spcBef>
                <a:spcPct val="50000"/>
              </a:spcBef>
              <a:buClr>
                <a:srgbClr val="FF0000"/>
              </a:buClr>
              <a:buSzPct val="100000"/>
              <a:buFont typeface="Monotype Sorts" pitchFamily="2" charset="2"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2" charset="0"/>
              </a:rPr>
              <a:t>   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2" charset="0"/>
              </a:rPr>
              <a:t>输出电压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2" charset="0"/>
              </a:rPr>
              <a:t>Vo</a:t>
            </a:r>
            <a:endParaRPr lang="zh-CN" altLang="en-US" sz="2800" dirty="0">
              <a:solidFill>
                <a:schemeClr val="bg2"/>
              </a:solidFill>
              <a:latin typeface="Times New Roman" panose="02020603050405020304" pitchFamily="2" charset="0"/>
            </a:endParaRPr>
          </a:p>
        </p:txBody>
      </p:sp>
      <p:graphicFrame>
        <p:nvGraphicFramePr>
          <p:cNvPr id="18434" name="对象 13314"/>
          <p:cNvGraphicFramePr>
            <a:graphicFrameLocks noChangeAspect="1"/>
          </p:cNvGraphicFramePr>
          <p:nvPr/>
        </p:nvGraphicFramePr>
        <p:xfrm>
          <a:off x="1199833" y="3644900"/>
          <a:ext cx="3384550" cy="134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" imgW="979805" imgH="394335" progId="Equation.3">
                  <p:embed/>
                </p:oleObj>
              </mc:Choice>
              <mc:Fallback>
                <p:oleObj name="" r:id="rId1" imgW="979805" imgH="394335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99833" y="3644900"/>
                        <a:ext cx="3384550" cy="1346200"/>
                      </a:xfrm>
                      <a:prstGeom prst="rect">
                        <a:avLst/>
                      </a:prstGeom>
                      <a:noFill/>
                      <a:ln w="12700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7" name="Object 4"/>
          <p:cNvGraphicFramePr>
            <a:graphicFrameLocks noChangeAspect="1"/>
          </p:cNvGraphicFramePr>
          <p:nvPr/>
        </p:nvGraphicFramePr>
        <p:xfrm>
          <a:off x="5276215" y="1051878"/>
          <a:ext cx="6048140" cy="22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3" imgW="2218690" imgH="791210" progId="WPS.Doc.6">
                  <p:embed/>
                </p:oleObj>
              </mc:Choice>
              <mc:Fallback>
                <p:oleObj name="" r:id="rId3" imgW="2218690" imgH="791210" progId="WPS.Doc.6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276215" y="1051878"/>
                        <a:ext cx="6048140" cy="2232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5231765" y="4106228"/>
            <a:ext cx="4338320" cy="47815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90000"/>
              </a:lnSpc>
              <a:spcBef>
                <a:spcPct val="50000"/>
              </a:spcBef>
              <a:buClr>
                <a:srgbClr val="FF0000"/>
              </a:buClr>
              <a:buFont typeface="Monotype Sorts" pitchFamily="2" charset="2"/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2" charset="0"/>
                <a:ea typeface="楷体_GB2312" pitchFamily="1" charset="-122"/>
              </a:rPr>
              <a:t>单管共射电路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，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Ro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≈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Rc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。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12178" y="1196658"/>
            <a:ext cx="302514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marL="342900" indent="-342900">
              <a:buFont typeface="Wingdings" panose="05000000000000000000" charset="0"/>
              <a:buChar char="u"/>
            </a:pP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测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带载</a:t>
            </a:r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电压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V</a:t>
            </a:r>
            <a:r>
              <a:rPr lang="en-US" altLang="zh-CN" sz="2800" b="1" baseline="-25000" dirty="0">
                <a:solidFill>
                  <a:schemeClr val="bg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oL</a:t>
            </a: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</a:t>
            </a:r>
            <a:endParaRPr lang="en-US" altLang="zh-CN" sz="2800" b="1" dirty="0">
              <a:solidFill>
                <a:schemeClr val="bg2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1511" name="Rectangle 5"/>
          <p:cNvSpPr/>
          <p:nvPr/>
        </p:nvSpPr>
        <p:spPr>
          <a:xfrm>
            <a:off x="918210" y="-25400"/>
            <a:ext cx="5622925" cy="6477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r>
              <a:rPr lang="en-US" altLang="zh-CN" sz="32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32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：输出电阻</a:t>
            </a:r>
            <a:r>
              <a:rPr lang="en-US" altLang="zh-CN" sz="3200" b="1" dirty="0">
                <a:solidFill>
                  <a:srgbClr val="000000"/>
                </a:solidFill>
                <a:ea typeface="微软雅黑" panose="020B0503020204020204" charset="-122"/>
                <a:cs typeface="Times New Roman" panose="02020603050405020304" pitchFamily="2" charset="0"/>
              </a:rPr>
              <a:t>Ro</a:t>
            </a:r>
            <a:r>
              <a:rPr lang="zh-CN" altLang="en-US" sz="32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的测量 </a:t>
            </a:r>
            <a:endParaRPr lang="zh-CN" altLang="en-US" sz="32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84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84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84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843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grpSp>
        <p:nvGrpSpPr>
          <p:cNvPr id="25602" name="Group 7"/>
          <p:cNvGrpSpPr/>
          <p:nvPr/>
        </p:nvGrpSpPr>
        <p:grpSpPr>
          <a:xfrm>
            <a:off x="6091238" y="1130300"/>
            <a:ext cx="5472112" cy="3814763"/>
            <a:chOff x="0" y="0"/>
            <a:chExt cx="2863" cy="2100"/>
          </a:xfrm>
        </p:grpSpPr>
        <p:sp>
          <p:nvSpPr>
            <p:cNvPr id="25603" name="AutoShape 8" descr="羊皮纸"/>
            <p:cNvSpPr/>
            <p:nvPr/>
          </p:nvSpPr>
          <p:spPr>
            <a:xfrm>
              <a:off x="0" y="0"/>
              <a:ext cx="2863" cy="2100"/>
            </a:xfrm>
            <a:prstGeom prst="roundRect">
              <a:avLst>
                <a:gd name="adj" fmla="val 16667"/>
              </a:avLst>
            </a:prstGeom>
            <a:blipFill rotWithShape="0">
              <a:blip r:embed="rId1"/>
            </a:blip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2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5604" name="Object 9"/>
            <p:cNvGraphicFramePr>
              <a:graphicFrameLocks noChangeAspect="1"/>
            </p:cNvGraphicFramePr>
            <p:nvPr/>
          </p:nvGraphicFramePr>
          <p:xfrm>
            <a:off x="152" y="149"/>
            <a:ext cx="2557" cy="18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" name="" r:id="rId2" imgW="2700655" imgH="2002155" progId="WPS.Doc.6">
                    <p:embed/>
                  </p:oleObj>
                </mc:Choice>
                <mc:Fallback>
                  <p:oleObj name="" r:id="rId2" imgW="2700655" imgH="2002155" progId="WPS.Doc.6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152" y="149"/>
                          <a:ext cx="2557" cy="189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343" name="AutoShape 10"/>
          <p:cNvSpPr/>
          <p:nvPr/>
        </p:nvSpPr>
        <p:spPr>
          <a:xfrm>
            <a:off x="10307638" y="1655819"/>
            <a:ext cx="1111250" cy="1681050"/>
          </a:xfrm>
          <a:prstGeom prst="wedgeEllipseCallout">
            <a:avLst>
              <a:gd name="adj1" fmla="val -53958"/>
              <a:gd name="adj2" fmla="val 82292"/>
            </a:avLst>
          </a:prstGeom>
          <a:solidFill>
            <a:schemeClr val="accent1"/>
          </a:solidFill>
          <a:ln w="9525">
            <a:noFill/>
          </a:ln>
        </p:spPr>
        <p:txBody>
          <a:bodyPr wrap="square" anchor="ctr" anchorCtr="0">
            <a:spAutoFit/>
          </a:bodyPr>
          <a:p>
            <a:pPr algn="ctr"/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高频区</a:t>
            </a:r>
            <a:endParaRPr lang="zh-CN" altLang="en-US" b="1" baseline="-25000" dirty="0">
              <a:solidFill>
                <a:schemeClr val="bg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14344" name="AutoShape 11"/>
          <p:cNvSpPr/>
          <p:nvPr/>
        </p:nvSpPr>
        <p:spPr>
          <a:xfrm>
            <a:off x="8105775" y="2689878"/>
            <a:ext cx="1603375" cy="638457"/>
          </a:xfrm>
          <a:prstGeom prst="wedgeEllipseCallout">
            <a:avLst>
              <a:gd name="adj1" fmla="val -21088"/>
              <a:gd name="adj2" fmla="val -94157"/>
            </a:avLst>
          </a:prstGeom>
          <a:solidFill>
            <a:schemeClr val="accent1"/>
          </a:solidFill>
          <a:ln w="9525">
            <a:noFill/>
          </a:ln>
        </p:spPr>
        <p:txBody>
          <a:bodyPr anchor="ctr" anchorCtr="0">
            <a:spAutoFit/>
          </a:bodyPr>
          <a:p>
            <a:pPr algn="ctr"/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中频区</a:t>
            </a:r>
            <a:endParaRPr lang="zh-CN" altLang="en-US" b="1" baseline="-25000" dirty="0">
              <a:solidFill>
                <a:schemeClr val="bg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14345" name="AutoShape 12"/>
          <p:cNvSpPr/>
          <p:nvPr/>
        </p:nvSpPr>
        <p:spPr>
          <a:xfrm>
            <a:off x="6002338" y="1980310"/>
            <a:ext cx="865187" cy="1675006"/>
          </a:xfrm>
          <a:prstGeom prst="wedgeEllipseCallout">
            <a:avLst>
              <a:gd name="adj1" fmla="val 97486"/>
              <a:gd name="adj2" fmla="val 63310"/>
            </a:avLst>
          </a:prstGeom>
          <a:solidFill>
            <a:schemeClr val="accent1"/>
          </a:solidFill>
          <a:ln w="9525">
            <a:noFill/>
          </a:ln>
        </p:spPr>
        <p:txBody>
          <a:bodyPr wrap="square" anchor="ctr" anchorCtr="0">
            <a:spAutoFit/>
          </a:bodyPr>
          <a:p>
            <a:pPr algn="ctr"/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低频区</a:t>
            </a:r>
            <a:endParaRPr lang="zh-CN" altLang="en-US" b="1" baseline="-25000" dirty="0">
              <a:solidFill>
                <a:schemeClr val="bg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grpSp>
        <p:nvGrpSpPr>
          <p:cNvPr id="14346" name="Group 13"/>
          <p:cNvGrpSpPr/>
          <p:nvPr/>
        </p:nvGrpSpPr>
        <p:grpSpPr>
          <a:xfrm>
            <a:off x="7281863" y="619126"/>
            <a:ext cx="2689225" cy="900113"/>
            <a:chOff x="-111" y="-94"/>
            <a:chExt cx="1694" cy="567"/>
          </a:xfrm>
        </p:grpSpPr>
        <p:sp>
          <p:nvSpPr>
            <p:cNvPr id="25609" name="AutoShape 14"/>
            <p:cNvSpPr/>
            <p:nvPr/>
          </p:nvSpPr>
          <p:spPr>
            <a:xfrm>
              <a:off x="-111" y="-94"/>
              <a:ext cx="1444" cy="567"/>
            </a:xfrm>
            <a:prstGeom prst="wedgeEllipseCallout">
              <a:avLst>
                <a:gd name="adj1" fmla="val -39333"/>
                <a:gd name="adj2" fmla="val 173356"/>
              </a:avLst>
            </a:prstGeom>
            <a:solidFill>
              <a:schemeClr val="accent1"/>
            </a:solidFill>
            <a:ln w="9525">
              <a:noFill/>
            </a:ln>
          </p:spPr>
          <p:txBody>
            <a:bodyPr anchor="ctr" anchorCtr="0">
              <a:spAutoFit/>
            </a:bodyPr>
            <a:p>
              <a:pPr algn="ctr"/>
              <a:r>
                <a:rPr lang="en-US" altLang="zh-CN" sz="1800" b="1" dirty="0">
                  <a:latin typeface="Times New Roman" panose="02020603050405020304" pitchFamily="2" charset="0"/>
                  <a:ea typeface="宋体" panose="02010600030101010101" pitchFamily="2" charset="-122"/>
                </a:rPr>
                <a:t>3dB </a:t>
              </a:r>
              <a:r>
                <a:rPr lang="zh-CN" altLang="en-US" sz="1800" b="1" dirty="0">
                  <a:latin typeface="Times New Roman" panose="02020603050405020304" pitchFamily="2" charset="0"/>
                  <a:ea typeface="宋体" panose="02010600030101010101" pitchFamily="2" charset="-122"/>
                </a:rPr>
                <a:t>频率点（半功率点）</a:t>
              </a:r>
              <a:endParaRPr lang="zh-CN" altLang="en-US" sz="1800" b="1" baseline="-25000" dirty="0">
                <a:latin typeface="Times New Roman" panose="02020603050405020304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25610" name="AutoShape 15"/>
            <p:cNvSpPr/>
            <p:nvPr/>
          </p:nvSpPr>
          <p:spPr>
            <a:xfrm>
              <a:off x="139" y="-94"/>
              <a:ext cx="1444" cy="567"/>
            </a:xfrm>
            <a:prstGeom prst="wedgeEllipseCallout">
              <a:avLst>
                <a:gd name="adj1" fmla="val 49167"/>
                <a:gd name="adj2" fmla="val 171352"/>
              </a:avLst>
            </a:prstGeom>
            <a:solidFill>
              <a:schemeClr val="accent1"/>
            </a:solidFill>
            <a:ln w="9525">
              <a:noFill/>
            </a:ln>
          </p:spPr>
          <p:txBody>
            <a:bodyPr anchor="ctr" anchorCtr="0">
              <a:spAutoFit/>
            </a:bodyPr>
            <a:p>
              <a:pPr algn="ctr"/>
              <a:r>
                <a:rPr lang="en-US" altLang="zh-CN" sz="1800" b="1" dirty="0">
                  <a:solidFill>
                    <a:schemeClr val="bg1"/>
                  </a:solidFill>
                  <a:latin typeface="Times New Roman" panose="02020603050405020304" pitchFamily="2" charset="0"/>
                  <a:ea typeface="宋体" panose="02010600030101010101" pitchFamily="2" charset="-122"/>
                </a:rPr>
                <a:t>3dB </a:t>
              </a:r>
              <a:r>
                <a:rPr lang="zh-CN" altLang="en-US" sz="1800" b="1" dirty="0">
                  <a:solidFill>
                    <a:schemeClr val="bg1"/>
                  </a:solidFill>
                  <a:latin typeface="Times New Roman" panose="02020603050405020304" pitchFamily="2" charset="0"/>
                  <a:ea typeface="宋体" panose="02010600030101010101" pitchFamily="2" charset="-122"/>
                </a:rPr>
                <a:t>频率点（半功率点）</a:t>
              </a:r>
              <a:endParaRPr lang="zh-CN" altLang="en-US" sz="1800" b="1" baseline="-25000" dirty="0">
                <a:solidFill>
                  <a:schemeClr val="bg1"/>
                </a:solidFill>
                <a:latin typeface="Times New Roman" panose="02020603050405020304" pitchFamily="2" charset="0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20492" name="对象 14348"/>
          <p:cNvGraphicFramePr>
            <a:graphicFrameLocks noChangeAspect="1"/>
          </p:cNvGraphicFramePr>
          <p:nvPr/>
        </p:nvGraphicFramePr>
        <p:xfrm>
          <a:off x="990283" y="1196658"/>
          <a:ext cx="2035175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4" imgW="1118870" imgH="203200" progId="">
                  <p:embed/>
                </p:oleObj>
              </mc:Choice>
              <mc:Fallback>
                <p:oleObj name="" r:id="rId4" imgW="1118870" imgH="203200" progId="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90283" y="1196658"/>
                        <a:ext cx="2035175" cy="365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3" name="对象 14349"/>
          <p:cNvGraphicFramePr>
            <a:graphicFrameLocks noChangeAspect="1"/>
          </p:cNvGraphicFramePr>
          <p:nvPr/>
        </p:nvGraphicFramePr>
        <p:xfrm>
          <a:off x="1080135" y="3115945"/>
          <a:ext cx="1711325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6" imgW="941070" imgH="228600" progId="">
                  <p:embed/>
                </p:oleObj>
              </mc:Choice>
              <mc:Fallback>
                <p:oleObj name="" r:id="rId6" imgW="941070" imgH="228600" progId="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80135" y="3115945"/>
                        <a:ext cx="1711325" cy="411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5" name="对象 14351"/>
          <p:cNvGraphicFramePr>
            <a:graphicFrameLocks noChangeAspect="1"/>
          </p:cNvGraphicFramePr>
          <p:nvPr/>
        </p:nvGraphicFramePr>
        <p:xfrm>
          <a:off x="1044258" y="2204720"/>
          <a:ext cx="2035175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8" imgW="1118870" imgH="203200" progId="Equation.3">
                  <p:embed/>
                </p:oleObj>
              </mc:Choice>
              <mc:Fallback>
                <p:oleObj name="" r:id="rId8" imgW="1118870" imgH="2032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044258" y="2204720"/>
                        <a:ext cx="2035175" cy="365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4" name="Rectangle 21"/>
          <p:cNvSpPr>
            <a:spLocks noGrp="1"/>
          </p:cNvSpPr>
          <p:nvPr>
            <p:ph type="title"/>
          </p:nvPr>
        </p:nvSpPr>
        <p:spPr>
          <a:xfrm>
            <a:off x="2359025" y="19051"/>
            <a:ext cx="7705725" cy="583565"/>
          </a:xfrm>
        </p:spPr>
        <p:txBody>
          <a:bodyPr wrap="square" anchor="ctr" anchorCtr="0">
            <a:spAutoFit/>
          </a:bodyPr>
          <a:p>
            <a:pPr algn="l" eaLnBrk="1" hangingPunct="1"/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：电路幅频特性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&amp;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通频带</a:t>
            </a:r>
            <a:r>
              <a:rPr lang="en-US" altLang="zh-CN" sz="3200" b="1" i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BW</a:t>
            </a:r>
            <a:endParaRPr lang="en-US" altLang="zh-CN" sz="3200" b="1" i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355" name="Rectangle 24"/>
          <p:cNvSpPr/>
          <p:nvPr/>
        </p:nvSpPr>
        <p:spPr>
          <a:xfrm>
            <a:off x="6847205" y="4998085"/>
            <a:ext cx="4032250" cy="60769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>
              <a:lnSpc>
                <a:spcPct val="120000"/>
              </a:lnSpc>
              <a:spcBef>
                <a:spcPct val="20000"/>
              </a:spcBef>
              <a:buClr>
                <a:srgbClr val="0000FF"/>
              </a:buClr>
              <a:buSzPct val="85000"/>
              <a:buFont typeface="Monotype Sorts" pitchFamily="2" charset="2"/>
            </a:pP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注：</a:t>
            </a:r>
            <a:r>
              <a: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3dB</a:t>
            </a: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折算绝对倍数即</a:t>
            </a:r>
            <a:r>
              <a: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0.707</a:t>
            </a:r>
            <a:r>
              <a:rPr lang="zh-CN" altLang="en-US" sz="2800" b="1" dirty="0">
                <a:solidFill>
                  <a:schemeClr val="fol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倍</a:t>
            </a:r>
            <a:endParaRPr lang="zh-CN" altLang="en-US" sz="2800" b="1" dirty="0">
              <a:solidFill>
                <a:schemeClr val="fol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357" name="Oval 26"/>
          <p:cNvSpPr/>
          <p:nvPr/>
        </p:nvSpPr>
        <p:spPr>
          <a:xfrm>
            <a:off x="7673975" y="1992313"/>
            <a:ext cx="720725" cy="1008062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63295" y="3862388"/>
            <a:ext cx="137795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1" charset="-122"/>
                <a:ea typeface="黑体" panose="02010609060101010101" pitchFamily="1" charset="-122"/>
              </a:rPr>
              <a:t>Avo(f</a:t>
            </a:r>
            <a:r>
              <a:rPr lang="en-US" altLang="zh-CN" sz="2800" b="1" baseline="-25000" dirty="0">
                <a:solidFill>
                  <a:srgbClr val="FF0000"/>
                </a:solidFill>
                <a:latin typeface="黑体" panose="02010609060101010101" pitchFamily="1" charset="-122"/>
                <a:ea typeface="黑体" panose="02010609060101010101" pitchFamily="1" charset="-122"/>
              </a:rPr>
              <a:t>L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1" charset="-122"/>
                <a:ea typeface="黑体" panose="02010609060101010101" pitchFamily="1" charset="-122"/>
              </a:rPr>
              <a:t>)</a:t>
            </a:r>
            <a:endParaRPr lang="zh-CN" altLang="en-US" sz="280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47103" y="4419600"/>
            <a:ext cx="289433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x-none" b="1" noProof="1" dirty="0">
                <a:solidFill>
                  <a:srgbClr val="FF0000"/>
                </a:solidFill>
                <a:latin typeface="黑体" panose="02010609060101010101" pitchFamily="1" charset="-122"/>
                <a:ea typeface="黑体" panose="02010609060101010101" pitchFamily="1" charset="-122"/>
                <a:cs typeface="+mn-cs"/>
                <a:sym typeface="+mn-ea"/>
              </a:rPr>
              <a:t>Avo(f</a:t>
            </a:r>
            <a:r>
              <a:rPr lang="en-US" altLang="x-none" b="1" baseline="-25000" noProof="1" dirty="0">
                <a:solidFill>
                  <a:srgbClr val="FF0000"/>
                </a:solidFill>
                <a:latin typeface="黑体" panose="02010609060101010101" pitchFamily="1" charset="-122"/>
                <a:ea typeface="黑体" panose="02010609060101010101" pitchFamily="1" charset="-122"/>
                <a:cs typeface="+mn-cs"/>
                <a:sym typeface="+mn-ea"/>
              </a:rPr>
              <a:t>H</a:t>
            </a:r>
            <a:r>
              <a:rPr lang="en-US" altLang="x-none" b="1" noProof="1" dirty="0">
                <a:solidFill>
                  <a:srgbClr val="FF0000"/>
                </a:solidFill>
                <a:latin typeface="黑体" panose="02010609060101010101" pitchFamily="1" charset="-122"/>
                <a:ea typeface="黑体" panose="02010609060101010101" pitchFamily="1" charset="-122"/>
                <a:cs typeface="+mn-cs"/>
                <a:sym typeface="+mn-ea"/>
              </a:rPr>
              <a:t>)</a:t>
            </a:r>
            <a:r>
              <a:rPr lang="zh-CN" altLang="en-US" b="1" noProof="1" dirty="0">
                <a:solidFill>
                  <a:schemeClr val="accent4">
                    <a:lumMod val="10000"/>
                  </a:schemeClr>
                </a:solidFill>
                <a:latin typeface="黑体" panose="02010609060101010101" pitchFamily="1" charset="-122"/>
                <a:ea typeface="黑体" panose="02010609060101010101" pitchFamily="1" charset="-122"/>
                <a:cs typeface="+mn-cs"/>
                <a:sym typeface="+mn-ea"/>
              </a:rPr>
              <a:t>＝</a:t>
            </a:r>
            <a:r>
              <a:rPr lang="en-US" altLang="x-none" b="1" noProof="1" dirty="0">
                <a:solidFill>
                  <a:schemeClr val="accent4">
                    <a:lumMod val="10000"/>
                  </a:schemeClr>
                </a:solidFill>
                <a:latin typeface="黑体" panose="02010609060101010101" pitchFamily="1" charset="-122"/>
                <a:ea typeface="黑体" panose="02010609060101010101" pitchFamily="1" charset="-122"/>
                <a:cs typeface="+mn-cs"/>
                <a:sym typeface="+mn-ea"/>
              </a:rPr>
              <a:t>0.707*Avo</a:t>
            </a:r>
            <a:endParaRPr lang="zh-CN" altLang="en-US" noProof="1"/>
          </a:p>
        </p:txBody>
      </p:sp>
      <p:sp>
        <p:nvSpPr>
          <p:cNvPr id="6" name="文本框 5"/>
          <p:cNvSpPr txBox="1"/>
          <p:nvPr/>
        </p:nvSpPr>
        <p:spPr>
          <a:xfrm>
            <a:off x="2217420" y="3916363"/>
            <a:ext cx="18719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b="1" noProof="1" dirty="0">
                <a:solidFill>
                  <a:schemeClr val="accent4">
                    <a:lumMod val="10000"/>
                  </a:schemeClr>
                </a:solidFill>
                <a:latin typeface="黑体" panose="02010609060101010101" pitchFamily="1" charset="-122"/>
                <a:ea typeface="黑体" panose="02010609060101010101" pitchFamily="1" charset="-122"/>
                <a:cs typeface="+mn-cs"/>
                <a:sym typeface="+mn-ea"/>
              </a:rPr>
              <a:t>＝</a:t>
            </a:r>
            <a:r>
              <a:rPr lang="en-US" altLang="x-none" b="1" noProof="1" dirty="0">
                <a:solidFill>
                  <a:schemeClr val="accent4">
                    <a:lumMod val="10000"/>
                  </a:schemeClr>
                </a:solidFill>
                <a:latin typeface="黑体" panose="02010609060101010101" pitchFamily="1" charset="-122"/>
                <a:ea typeface="黑体" panose="02010609060101010101" pitchFamily="1" charset="-122"/>
                <a:cs typeface="+mn-cs"/>
                <a:sym typeface="+mn-ea"/>
              </a:rPr>
              <a:t>0.707*Avo</a:t>
            </a:r>
            <a:endParaRPr lang="zh-CN" altLang="en-US" noProof="1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3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0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0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04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0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0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55" grpId="0"/>
      <p:bldP spid="14357" grpId="0" bldLvl="0" animBg="1"/>
      <p:bldP spid="2" grpId="0"/>
      <p:bldP spid="5" grpId="0"/>
      <p:bldP spid="6" grpId="0"/>
      <p:bldP spid="14343" grpId="0" bldLvl="0" animBg="1"/>
      <p:bldP spid="14345" grpId="0" bldLvl="0" animBg="1"/>
      <p:bldP spid="14344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Rectangle 2"/>
          <p:cNvSpPr>
            <a:spLocks noGrp="1"/>
          </p:cNvSpPr>
          <p:nvPr>
            <p:ph type="ctrTitle" idx="4294967295"/>
          </p:nvPr>
        </p:nvSpPr>
        <p:spPr>
          <a:xfrm>
            <a:off x="645795" y="2760980"/>
            <a:ext cx="3576955" cy="521970"/>
          </a:xfrm>
        </p:spPr>
        <p:txBody>
          <a:bodyPr vert="horz" wrap="square" anchor="ctr" anchorCtr="0">
            <a:spAutoFit/>
          </a:bodyPr>
          <a:lstStyle>
            <a:lvl1pPr lvl="0">
              <a:buClrTx/>
              <a:buSzTx/>
              <a:buFontTx/>
              <a:defRPr/>
            </a:lvl1pPr>
          </a:lstStyle>
          <a:p>
            <a:pPr lvl="0" algn="l" eaLnBrk="1" hangingPunct="1">
              <a:buClrTx/>
              <a:buSzTx/>
              <a:buFontTx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通频带的测试方法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Rectangle 3"/>
          <p:cNvSpPr>
            <a:spLocks noGrp="1"/>
          </p:cNvSpPr>
          <p:nvPr>
            <p:ph type="subTitle" idx="4294967295"/>
          </p:nvPr>
        </p:nvSpPr>
        <p:spPr>
          <a:xfrm>
            <a:off x="287020" y="3256915"/>
            <a:ext cx="6781165" cy="685800"/>
          </a:xfrm>
        </p:spPr>
        <p:txBody>
          <a:bodyPr wrap="square" anchor="t"/>
          <a:lstStyle>
            <a:lvl1pPr marL="0" lvl="0" indent="0" algn="ctr">
              <a:defRPr/>
            </a:lvl1pPr>
            <a:lvl2pPr marL="457200" lvl="1" indent="0" algn="ctr">
              <a:defRPr/>
            </a:lvl2pPr>
            <a:lvl3pPr marL="914400" lvl="2" indent="0" algn="ctr">
              <a:defRPr/>
            </a:lvl3pPr>
            <a:lvl4pPr marL="1371600" lvl="3" indent="0" algn="ctr">
              <a:defRPr/>
            </a:lvl4pPr>
            <a:lvl5pPr marL="1828800" lvl="4" indent="0" algn="ctr">
              <a:defRPr/>
            </a:lvl5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5000"/>
              <a:buFontTx/>
              <a:buNone/>
            </a:pPr>
            <a:r>
              <a:rPr kumimoji="0" lang="en-US" altLang="x-none" sz="2400" b="0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黑体" panose="02010609060101010101" pitchFamily="1" charset="-122"/>
                <a:ea typeface="+mn-ea"/>
                <a:cs typeface="+mn-cs"/>
              </a:rPr>
              <a:t> 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黑体" panose="02010609060101010101" pitchFamily="1" charset="-122"/>
                <a:ea typeface="+mn-ea"/>
                <a:cs typeface="+mn-cs"/>
              </a:rPr>
              <a:t>采用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+mn-ea"/>
                <a:cs typeface="+mn-cs"/>
              </a:rPr>
              <a:t>“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黑体" panose="02010609060101010101" pitchFamily="1" charset="-122"/>
                <a:ea typeface="+mn-ea"/>
                <a:cs typeface="+mn-cs"/>
              </a:rPr>
              <a:t>逐点法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+mn-ea"/>
                <a:cs typeface="+mn-cs"/>
              </a:rPr>
              <a:t>”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黑体" panose="02010609060101010101" pitchFamily="1" charset="-122"/>
                <a:ea typeface="+mn-ea"/>
                <a:cs typeface="+mn-cs"/>
              </a:rPr>
              <a:t>测量放大器的幅频特性曲线</a:t>
            </a:r>
            <a:r>
              <a:rPr kumimoji="0" lang="zh-CN" altLang="en-US" sz="3200" b="0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黑体" panose="02010609060101010101" pitchFamily="1" charset="-122"/>
                <a:ea typeface="+mn-ea"/>
                <a:cs typeface="+mn-cs"/>
              </a:rPr>
              <a:t> </a:t>
            </a:r>
            <a:endParaRPr kumimoji="0" lang="zh-CN" altLang="en-US" sz="3200" b="0" i="0" u="none" strike="noStrike" kern="1200" cap="none" spc="0" normalizeH="0" baseline="0" noProof="1" dirty="0">
              <a:solidFill>
                <a:schemeClr val="accent4">
                  <a:lumMod val="10000"/>
                </a:schemeClr>
              </a:solidFill>
              <a:latin typeface="黑体" panose="02010609060101010101" pitchFamily="1" charset="-122"/>
              <a:ea typeface="+mn-ea"/>
              <a:cs typeface="+mn-cs"/>
            </a:endParaRPr>
          </a:p>
        </p:txBody>
      </p:sp>
      <p:graphicFrame>
        <p:nvGraphicFramePr>
          <p:cNvPr id="17412" name="表格 17411"/>
          <p:cNvGraphicFramePr/>
          <p:nvPr/>
        </p:nvGraphicFramePr>
        <p:xfrm>
          <a:off x="483235" y="4427220"/>
          <a:ext cx="7924800" cy="1463675"/>
        </p:xfrm>
        <a:graphic>
          <a:graphicData uri="http://schemas.openxmlformats.org/drawingml/2006/table">
            <a:tbl>
              <a:tblPr/>
              <a:tblGrid>
                <a:gridCol w="1981200"/>
                <a:gridCol w="609600"/>
                <a:gridCol w="609600"/>
                <a:gridCol w="838200"/>
                <a:gridCol w="762000"/>
                <a:gridCol w="762000"/>
                <a:gridCol w="838200"/>
                <a:gridCol w="762000"/>
                <a:gridCol w="762000"/>
              </a:tblGrid>
              <a:tr h="533400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Blip>
                          <a:blip r:embed="rId1"/>
                        </a:buBlip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2400" dirty="0">
                          <a:solidFill>
                            <a:schemeClr val="accent4">
                              <a:lumMod val="10000"/>
                            </a:schemeClr>
                          </a:solidFill>
                          <a:ea typeface="黑体" panose="02010609060101010101" pitchFamily="1" charset="-122"/>
                        </a:rPr>
                        <a:t>f(Hz)</a:t>
                      </a:r>
                      <a:endParaRPr lang="en-US" altLang="x-none" sz="2400" dirty="0">
                        <a:solidFill>
                          <a:schemeClr val="accent4">
                            <a:lumMod val="10000"/>
                          </a:schemeClr>
                        </a:solidFill>
                        <a:ea typeface="黑体" panose="02010609060101010101" pitchFamily="1" charset="-122"/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Blip>
                          <a:blip r:embed="rId1"/>
                        </a:buBlip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solidFill>
                            <a:srgbClr val="FF0000"/>
                          </a:solidFill>
                          <a:ea typeface="黑体" panose="02010609060101010101" pitchFamily="1" charset="-122"/>
                        </a:rPr>
                        <a:t>40</a:t>
                      </a:r>
                      <a:endParaRPr lang="en-US" altLang="x-none" sz="1800" dirty="0">
                        <a:solidFill>
                          <a:srgbClr val="FF0000"/>
                        </a:solidFill>
                        <a:ea typeface="黑体" panose="02010609060101010101" pitchFamily="1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Blip>
                          <a:blip r:embed="rId1"/>
                        </a:buBlip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solidFill>
                            <a:schemeClr val="accent4">
                              <a:lumMod val="10000"/>
                            </a:schemeClr>
                          </a:solidFill>
                          <a:ea typeface="黑体" panose="02010609060101010101" pitchFamily="1" charset="-122"/>
                        </a:rPr>
                        <a:t>100</a:t>
                      </a:r>
                      <a:endParaRPr lang="en-US" altLang="x-none" sz="1800" dirty="0">
                        <a:solidFill>
                          <a:schemeClr val="accent4">
                            <a:lumMod val="10000"/>
                          </a:schemeClr>
                        </a:solidFill>
                        <a:ea typeface="黑体" panose="02010609060101010101" pitchFamily="1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Blip>
                          <a:blip r:embed="rId1"/>
                        </a:buBlip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solidFill>
                            <a:schemeClr val="accent4">
                              <a:lumMod val="10000"/>
                            </a:schemeClr>
                          </a:solidFill>
                          <a:ea typeface="黑体" panose="02010609060101010101" pitchFamily="1" charset="-122"/>
                        </a:rPr>
                        <a:t>500</a:t>
                      </a:r>
                      <a:endParaRPr lang="en-US" altLang="x-none" sz="1800" dirty="0">
                        <a:solidFill>
                          <a:schemeClr val="accent4">
                            <a:lumMod val="10000"/>
                          </a:schemeClr>
                        </a:solidFill>
                        <a:ea typeface="黑体" panose="02010609060101010101" pitchFamily="1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Blip>
                          <a:blip r:embed="rId1"/>
                        </a:buBlip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solidFill>
                            <a:srgbClr val="000000"/>
                          </a:solidFill>
                          <a:ea typeface="黑体" panose="02010609060101010101" pitchFamily="1" charset="-122"/>
                        </a:rPr>
                        <a:t>1K</a:t>
                      </a:r>
                      <a:endParaRPr lang="en-US" altLang="x-none" sz="1800" dirty="0">
                        <a:solidFill>
                          <a:srgbClr val="000000"/>
                        </a:solidFill>
                        <a:ea typeface="黑体" panose="02010609060101010101" pitchFamily="1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Blip>
                          <a:blip r:embed="rId1"/>
                        </a:buBlip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solidFill>
                            <a:srgbClr val="000000"/>
                          </a:solidFill>
                          <a:ea typeface="黑体" panose="02010609060101010101" pitchFamily="1" charset="-122"/>
                        </a:rPr>
                        <a:t>10K</a:t>
                      </a:r>
                      <a:endParaRPr lang="en-US" altLang="x-none" sz="1800" dirty="0">
                        <a:solidFill>
                          <a:srgbClr val="000000"/>
                        </a:solidFill>
                        <a:ea typeface="黑体" panose="02010609060101010101" pitchFamily="1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Blip>
                          <a:blip r:embed="rId1"/>
                        </a:buBlip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solidFill>
                            <a:srgbClr val="000000"/>
                          </a:solidFill>
                          <a:ea typeface="黑体" panose="02010609060101010101" pitchFamily="1" charset="-122"/>
                        </a:rPr>
                        <a:t>100K</a:t>
                      </a:r>
                      <a:endParaRPr lang="en-US" altLang="x-none" sz="1800" dirty="0">
                        <a:solidFill>
                          <a:srgbClr val="000000"/>
                        </a:solidFill>
                        <a:ea typeface="黑体" panose="02010609060101010101" pitchFamily="1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Blip>
                          <a:blip r:embed="rId1"/>
                        </a:buBlip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solidFill>
                            <a:schemeClr val="accent4">
                              <a:lumMod val="10000"/>
                            </a:schemeClr>
                          </a:solidFill>
                          <a:ea typeface="黑体" panose="02010609060101010101" pitchFamily="1" charset="-122"/>
                        </a:rPr>
                        <a:t>300K</a:t>
                      </a:r>
                      <a:endParaRPr lang="en-US" altLang="x-none" sz="1800" dirty="0">
                        <a:solidFill>
                          <a:schemeClr val="accent4">
                            <a:lumMod val="10000"/>
                          </a:schemeClr>
                        </a:solidFill>
                        <a:ea typeface="黑体" panose="02010609060101010101" pitchFamily="1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Blip>
                          <a:blip r:embed="rId1"/>
                        </a:buBlip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solidFill>
                            <a:schemeClr val="accent4">
                              <a:lumMod val="10000"/>
                            </a:schemeClr>
                          </a:solidFill>
                          <a:ea typeface="黑体" panose="02010609060101010101" pitchFamily="1" charset="-122"/>
                        </a:rPr>
                        <a:t>500K</a:t>
                      </a:r>
                      <a:endParaRPr lang="en-US" altLang="x-none" sz="1800" dirty="0">
                        <a:solidFill>
                          <a:schemeClr val="accent4">
                            <a:lumMod val="10000"/>
                          </a:schemeClr>
                        </a:solidFill>
                        <a:ea typeface="黑体" panose="02010609060101010101" pitchFamily="1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Blip>
                          <a:blip r:embed="rId1"/>
                        </a:buBlip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2400" dirty="0">
                          <a:solidFill>
                            <a:schemeClr val="accent4">
                              <a:lumMod val="10000"/>
                            </a:schemeClr>
                          </a:solidFill>
                          <a:ea typeface="黑体" panose="02010609060101010101" pitchFamily="1" charset="-122"/>
                        </a:rPr>
                        <a:t>Vop-p(mV)</a:t>
                      </a:r>
                      <a:endParaRPr lang="en-US" altLang="x-none" sz="2400" dirty="0">
                        <a:solidFill>
                          <a:schemeClr val="accent4">
                            <a:lumMod val="10000"/>
                          </a:schemeClr>
                        </a:solidFill>
                        <a:ea typeface="黑体" panose="02010609060101010101" pitchFamily="1" charset="-122"/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Blip>
                          <a:blip r:embed="rId1"/>
                        </a:buBlip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solidFill>
                            <a:srgbClr val="FF0000"/>
                          </a:solidFill>
                          <a:ea typeface="黑体" panose="02010609060101010101" pitchFamily="1" charset="-122"/>
                        </a:rPr>
                        <a:t>800</a:t>
                      </a:r>
                      <a:endParaRPr lang="en-US" altLang="x-none" sz="1800" dirty="0">
                        <a:solidFill>
                          <a:srgbClr val="FF0000"/>
                        </a:solidFill>
                        <a:ea typeface="黑体" panose="02010609060101010101" pitchFamily="1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Blip>
                          <a:blip r:embed="rId1"/>
                        </a:buBlip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solidFill>
                            <a:schemeClr val="accent4">
                              <a:lumMod val="10000"/>
                            </a:schemeClr>
                          </a:solidFill>
                          <a:ea typeface="黑体" panose="02010609060101010101" pitchFamily="1" charset="-122"/>
                        </a:rPr>
                        <a:t>900</a:t>
                      </a:r>
                      <a:endParaRPr lang="en-US" altLang="x-none" sz="1800" dirty="0">
                        <a:solidFill>
                          <a:schemeClr val="accent4">
                            <a:lumMod val="10000"/>
                          </a:schemeClr>
                        </a:solidFill>
                        <a:ea typeface="黑体" panose="02010609060101010101" pitchFamily="1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Blip>
                          <a:blip r:embed="rId1"/>
                        </a:buBlip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solidFill>
                            <a:schemeClr val="accent4">
                              <a:lumMod val="10000"/>
                            </a:schemeClr>
                          </a:solidFill>
                          <a:ea typeface="黑体" panose="02010609060101010101" pitchFamily="1" charset="-122"/>
                        </a:rPr>
                        <a:t>1000</a:t>
                      </a:r>
                      <a:endParaRPr lang="en-US" altLang="x-none" sz="1800" dirty="0">
                        <a:solidFill>
                          <a:schemeClr val="accent4">
                            <a:lumMod val="10000"/>
                          </a:schemeClr>
                        </a:solidFill>
                        <a:ea typeface="黑体" panose="02010609060101010101" pitchFamily="1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Blip>
                          <a:blip r:embed="rId1"/>
                        </a:buBlip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solidFill>
                            <a:srgbClr val="000000"/>
                          </a:solidFill>
                          <a:ea typeface="黑体" panose="02010609060101010101" pitchFamily="1" charset="-122"/>
                        </a:rPr>
                        <a:t>1131</a:t>
                      </a:r>
                      <a:endParaRPr lang="en-US" altLang="x-none" sz="1800" dirty="0">
                        <a:solidFill>
                          <a:srgbClr val="000000"/>
                        </a:solidFill>
                        <a:ea typeface="黑体" panose="02010609060101010101" pitchFamily="1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Blip>
                          <a:blip r:embed="rId1"/>
                        </a:buBlip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solidFill>
                            <a:srgbClr val="000000"/>
                          </a:solidFill>
                          <a:ea typeface="黑体" panose="02010609060101010101" pitchFamily="1" charset="-122"/>
                        </a:rPr>
                        <a:t>1131</a:t>
                      </a:r>
                      <a:endParaRPr lang="en-US" altLang="x-none" sz="1800" dirty="0">
                        <a:solidFill>
                          <a:srgbClr val="000000"/>
                        </a:solidFill>
                        <a:ea typeface="黑体" panose="02010609060101010101" pitchFamily="1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Blip>
                          <a:blip r:embed="rId1"/>
                        </a:buBlip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solidFill>
                            <a:srgbClr val="000000"/>
                          </a:solidFill>
                          <a:ea typeface="黑体" panose="02010609060101010101" pitchFamily="1" charset="-122"/>
                        </a:rPr>
                        <a:t>1131</a:t>
                      </a:r>
                      <a:endParaRPr lang="en-US" altLang="x-none" sz="1800" dirty="0">
                        <a:solidFill>
                          <a:srgbClr val="000000"/>
                        </a:solidFill>
                        <a:ea typeface="黑体" panose="02010609060101010101" pitchFamily="1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Blip>
                          <a:blip r:embed="rId1"/>
                        </a:buBlip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solidFill>
                            <a:schemeClr val="accent4">
                              <a:lumMod val="10000"/>
                            </a:schemeClr>
                          </a:solidFill>
                          <a:ea typeface="黑体" panose="02010609060101010101" pitchFamily="1" charset="-122"/>
                        </a:rPr>
                        <a:t>1000</a:t>
                      </a:r>
                      <a:endParaRPr lang="en-US" altLang="x-none" sz="1800" dirty="0">
                        <a:solidFill>
                          <a:schemeClr val="accent4">
                            <a:lumMod val="10000"/>
                          </a:schemeClr>
                        </a:solidFill>
                        <a:ea typeface="黑体" panose="02010609060101010101" pitchFamily="1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Blip>
                          <a:blip r:embed="rId1"/>
                        </a:buBlip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solidFill>
                            <a:srgbClr val="FF0000"/>
                          </a:solidFill>
                          <a:ea typeface="黑体" panose="02010609060101010101" pitchFamily="1" charset="-122"/>
                        </a:rPr>
                        <a:t>800</a:t>
                      </a:r>
                      <a:endParaRPr lang="en-US" altLang="x-none" sz="1800" dirty="0">
                        <a:solidFill>
                          <a:srgbClr val="FF0000"/>
                        </a:solidFill>
                        <a:ea typeface="黑体" panose="02010609060101010101" pitchFamily="1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Blip>
                          <a:blip r:embed="rId1"/>
                        </a:buBlip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2000" dirty="0">
                          <a:solidFill>
                            <a:schemeClr val="accent4">
                              <a:lumMod val="10000"/>
                            </a:schemeClr>
                          </a:solidFill>
                          <a:ea typeface="黑体" panose="02010609060101010101" pitchFamily="1" charset="-122"/>
                        </a:rPr>
                        <a:t>20lg|Av|/dB</a:t>
                      </a:r>
                      <a:endParaRPr lang="en-US" altLang="x-none" sz="2000" dirty="0">
                        <a:solidFill>
                          <a:schemeClr val="accent4">
                            <a:lumMod val="10000"/>
                          </a:schemeClr>
                        </a:solidFill>
                        <a:ea typeface="黑体" panose="02010609060101010101" pitchFamily="1" charset="-122"/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Blip>
                          <a:blip r:embed="rId1"/>
                        </a:buBlip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solidFill>
                            <a:srgbClr val="FF0000"/>
                          </a:solidFill>
                          <a:ea typeface="黑体" panose="02010609060101010101" pitchFamily="1" charset="-122"/>
                        </a:rPr>
                        <a:t>29</a:t>
                      </a:r>
                      <a:endParaRPr lang="en-US" altLang="x-none" sz="1800" dirty="0">
                        <a:solidFill>
                          <a:srgbClr val="FF0000"/>
                        </a:solidFill>
                        <a:ea typeface="黑体" panose="02010609060101010101" pitchFamily="1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Blip>
                          <a:blip r:embed="rId1"/>
                        </a:buBlip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solidFill>
                            <a:schemeClr val="accent4">
                              <a:lumMod val="10000"/>
                            </a:schemeClr>
                          </a:solidFill>
                          <a:ea typeface="黑体" panose="02010609060101010101" pitchFamily="1" charset="-122"/>
                        </a:rPr>
                        <a:t>30</a:t>
                      </a:r>
                      <a:endParaRPr lang="en-US" altLang="x-none" sz="1800" dirty="0">
                        <a:solidFill>
                          <a:schemeClr val="accent4">
                            <a:lumMod val="10000"/>
                          </a:schemeClr>
                        </a:solidFill>
                        <a:ea typeface="黑体" panose="02010609060101010101" pitchFamily="1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Blip>
                          <a:blip r:embed="rId1"/>
                        </a:buBlip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solidFill>
                            <a:schemeClr val="accent4">
                              <a:lumMod val="10000"/>
                            </a:schemeClr>
                          </a:solidFill>
                          <a:ea typeface="黑体" panose="02010609060101010101" pitchFamily="1" charset="-122"/>
                        </a:rPr>
                        <a:t>31</a:t>
                      </a:r>
                      <a:endParaRPr lang="en-US" altLang="x-none" sz="1800" dirty="0">
                        <a:solidFill>
                          <a:schemeClr val="accent4">
                            <a:lumMod val="10000"/>
                          </a:schemeClr>
                        </a:solidFill>
                        <a:ea typeface="黑体" panose="02010609060101010101" pitchFamily="1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Blip>
                          <a:blip r:embed="rId1"/>
                        </a:buBlip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solidFill>
                            <a:srgbClr val="000000"/>
                          </a:solidFill>
                          <a:ea typeface="黑体" panose="02010609060101010101" pitchFamily="1" charset="-122"/>
                        </a:rPr>
                        <a:t>32</a:t>
                      </a:r>
                      <a:endParaRPr lang="en-US" altLang="x-none" sz="1800" dirty="0">
                        <a:solidFill>
                          <a:srgbClr val="000000"/>
                        </a:solidFill>
                        <a:ea typeface="黑体" panose="02010609060101010101" pitchFamily="1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Blip>
                          <a:blip r:embed="rId1"/>
                        </a:buBlip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solidFill>
                            <a:srgbClr val="000000"/>
                          </a:solidFill>
                          <a:ea typeface="黑体" panose="02010609060101010101" pitchFamily="1" charset="-122"/>
                        </a:rPr>
                        <a:t>32</a:t>
                      </a:r>
                      <a:endParaRPr lang="en-US" altLang="x-none" sz="1800" dirty="0">
                        <a:solidFill>
                          <a:srgbClr val="000000"/>
                        </a:solidFill>
                        <a:ea typeface="黑体" panose="02010609060101010101" pitchFamily="1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Blip>
                          <a:blip r:embed="rId1"/>
                        </a:buBlip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solidFill>
                            <a:srgbClr val="000000"/>
                          </a:solidFill>
                          <a:ea typeface="黑体" panose="02010609060101010101" pitchFamily="1" charset="-122"/>
                        </a:rPr>
                        <a:t>32</a:t>
                      </a:r>
                      <a:endParaRPr lang="en-US" altLang="x-none" sz="1800" dirty="0">
                        <a:solidFill>
                          <a:srgbClr val="000000"/>
                        </a:solidFill>
                        <a:ea typeface="黑体" panose="02010609060101010101" pitchFamily="1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Blip>
                          <a:blip r:embed="rId1"/>
                        </a:buBlip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solidFill>
                            <a:schemeClr val="accent4">
                              <a:lumMod val="10000"/>
                            </a:schemeClr>
                          </a:solidFill>
                          <a:ea typeface="黑体" panose="02010609060101010101" pitchFamily="1" charset="-122"/>
                        </a:rPr>
                        <a:t>31</a:t>
                      </a:r>
                      <a:endParaRPr lang="en-US" altLang="x-none" sz="1800" dirty="0">
                        <a:solidFill>
                          <a:schemeClr val="accent4">
                            <a:lumMod val="10000"/>
                          </a:schemeClr>
                        </a:solidFill>
                        <a:ea typeface="黑体" panose="02010609060101010101" pitchFamily="1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5000"/>
                        <a:buBlip>
                          <a:blip r:embed="rId1"/>
                        </a:buBlip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Char char="l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anose="05000000000000000000" pitchFamily="2" charset="2"/>
                        <a:buChar char="l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l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x-none" sz="1800" dirty="0">
                          <a:solidFill>
                            <a:srgbClr val="FF0000"/>
                          </a:solidFill>
                          <a:ea typeface="黑体" panose="02010609060101010101" pitchFamily="1" charset="-122"/>
                        </a:rPr>
                        <a:t>29</a:t>
                      </a:r>
                      <a:endParaRPr lang="en-US" altLang="x-none" sz="1800" dirty="0">
                        <a:solidFill>
                          <a:srgbClr val="FF0000"/>
                        </a:solidFill>
                        <a:ea typeface="黑体" panose="02010609060101010101" pitchFamily="1" charset="-122"/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7454" name="Text Box 47"/>
          <p:cNvSpPr txBox="1"/>
          <p:nvPr/>
        </p:nvSpPr>
        <p:spPr>
          <a:xfrm>
            <a:off x="558165" y="5963920"/>
            <a:ext cx="75628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  <a:buClr>
                <a:srgbClr val="FF0000"/>
              </a:buClr>
              <a:buFont typeface="Monotype Sorts" pitchFamily="2" charset="2"/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1" charset="-122"/>
                <a:ea typeface="黑体" panose="02010609060101010101" pitchFamily="1" charset="-122"/>
              </a:rPr>
              <a:t>注意：保持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1" charset="-122"/>
                <a:ea typeface="黑体" panose="02010609060101010101" pitchFamily="1" charset="-122"/>
              </a:rPr>
              <a:t>输入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1" charset="-122"/>
                <a:ea typeface="黑体" panose="02010609060101010101" pitchFamily="1" charset="-122"/>
              </a:rPr>
              <a:t>信号幅值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1" charset="-122"/>
                <a:ea typeface="黑体" panose="02010609060101010101" pitchFamily="1" charset="-122"/>
              </a:rPr>
              <a:t>不变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1" charset="-122"/>
                <a:ea typeface="黑体" panose="02010609060101010101" pitchFamily="1" charset="-122"/>
              </a:rPr>
              <a:t>，而且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1" charset="-122"/>
                <a:ea typeface="黑体" panose="02010609060101010101" pitchFamily="1" charset="-122"/>
              </a:rPr>
              <a:t>输出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1" charset="-122"/>
                <a:ea typeface="黑体" panose="02010609060101010101" pitchFamily="1" charset="-122"/>
              </a:rPr>
              <a:t>波形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1" charset="-122"/>
                <a:ea typeface="黑体" panose="02010609060101010101" pitchFamily="1" charset="-122"/>
              </a:rPr>
              <a:t>不失真</a:t>
            </a:r>
            <a:endParaRPr lang="zh-CN" altLang="en-US" dirty="0">
              <a:solidFill>
                <a:srgbClr val="FF0000"/>
              </a:solidFill>
              <a:latin typeface="黑体" panose="02010609060101010101" pitchFamily="1" charset="-122"/>
              <a:ea typeface="黑体" panose="02010609060101010101" pitchFamily="1" charset="-122"/>
            </a:endParaRPr>
          </a:p>
        </p:txBody>
      </p:sp>
      <p:sp>
        <p:nvSpPr>
          <p:cNvPr id="17456" name="Text Box 49"/>
          <p:cNvSpPr txBox="1"/>
          <p:nvPr/>
        </p:nvSpPr>
        <p:spPr>
          <a:xfrm>
            <a:off x="699135" y="3817620"/>
            <a:ext cx="683260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  <a:buClr>
                <a:srgbClr val="FF0000"/>
              </a:buClr>
              <a:buFont typeface="Monotype Sorts" pitchFamily="2" charset="2"/>
            </a:pPr>
            <a:r>
              <a:rPr lang="en-US" altLang="zh-CN" dirty="0">
                <a:solidFill>
                  <a:srgbClr val="FF0000"/>
                </a:solidFill>
                <a:ea typeface="黑体" panose="02010609060101010101" pitchFamily="1" charset="-122"/>
                <a:cs typeface="Times New Roman" panose="02020603050405020304" pitchFamily="2" charset="0"/>
              </a:rPr>
              <a:t>Vip-p=30mV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1" charset="-122"/>
                <a:ea typeface="黑体" panose="02010609060101010101" pitchFamily="1" charset="-122"/>
              </a:rPr>
              <a:t>，频率</a:t>
            </a:r>
            <a:r>
              <a:rPr lang="zh-CN" altLang="en-US" dirty="0">
                <a:solidFill>
                  <a:schemeClr val="bg1"/>
                </a:solidFill>
                <a:latin typeface="黑体" panose="02010609060101010101" pitchFamily="1" charset="-122"/>
                <a:ea typeface="黑体" panose="02010609060101010101" pitchFamily="1" charset="-122"/>
              </a:rPr>
              <a:t>根据实际情况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1" charset="-122"/>
                <a:ea typeface="黑体" panose="02010609060101010101" pitchFamily="1" charset="-122"/>
              </a:rPr>
              <a:t>有所不同</a:t>
            </a:r>
            <a:endParaRPr lang="zh-CN" altLang="en-US" dirty="0">
              <a:solidFill>
                <a:srgbClr val="FF0000"/>
              </a:solidFill>
              <a:latin typeface="黑体" panose="02010609060101010101" pitchFamily="1" charset="-122"/>
              <a:ea typeface="黑体" panose="02010609060101010101" pitchFamily="1" charset="-122"/>
            </a:endParaRPr>
          </a:p>
        </p:txBody>
      </p:sp>
      <p:sp>
        <p:nvSpPr>
          <p:cNvPr id="25614" name="Rectangle 21"/>
          <p:cNvSpPr>
            <a:spLocks noGrp="1"/>
          </p:cNvSpPr>
          <p:nvPr/>
        </p:nvSpPr>
        <p:spPr>
          <a:xfrm>
            <a:off x="2359025" y="19051"/>
            <a:ext cx="77057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>
            <a:lvl1pPr marL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eaLnBrk="1" hangingPunct="1"/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：电路幅频特性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&amp;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通频带</a:t>
            </a:r>
            <a:r>
              <a:rPr lang="en-US" altLang="zh-CN" sz="3200" b="1" i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BW</a:t>
            </a:r>
            <a:endParaRPr lang="en-US" altLang="zh-CN" sz="3200" b="1" i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3" name="Group 7"/>
          <p:cNvGrpSpPr>
            <a:grpSpLocks noChangeAspect="1"/>
          </p:cNvGrpSpPr>
          <p:nvPr/>
        </p:nvGrpSpPr>
        <p:grpSpPr>
          <a:xfrm>
            <a:off x="7311073" y="628015"/>
            <a:ext cx="4957482" cy="3456000"/>
            <a:chOff x="0" y="0"/>
            <a:chExt cx="2863" cy="2100"/>
          </a:xfrm>
          <a:solidFill>
            <a:schemeClr val="tx1"/>
          </a:solidFill>
        </p:grpSpPr>
        <p:sp>
          <p:nvSpPr>
            <p:cNvPr id="4" name="AutoShape 8" descr="羊皮纸"/>
            <p:cNvSpPr/>
            <p:nvPr/>
          </p:nvSpPr>
          <p:spPr>
            <a:xfrm>
              <a:off x="0" y="0"/>
              <a:ext cx="2863" cy="2100"/>
            </a:xfrm>
            <a:prstGeom prst="roundRect">
              <a:avLst>
                <a:gd name="adj" fmla="val 16667"/>
              </a:avLst>
            </a:prstGeom>
            <a:grpFill/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2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5" name="Object 9"/>
            <p:cNvGraphicFramePr>
              <a:graphicFrameLocks noChangeAspect="1"/>
            </p:cNvGraphicFramePr>
            <p:nvPr/>
          </p:nvGraphicFramePr>
          <p:xfrm>
            <a:off x="152" y="149"/>
            <a:ext cx="2557" cy="18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" r:id="rId2" imgW="2700655" imgH="2002155" progId="WPS.Doc.6">
                    <p:embed/>
                  </p:oleObj>
                </mc:Choice>
                <mc:Fallback>
                  <p:oleObj name="" r:id="rId2" imgW="2700655" imgH="2002155" progId="WPS.Doc.6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152" y="149"/>
                          <a:ext cx="2557" cy="189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343" name="AutoShape 10"/>
          <p:cNvSpPr/>
          <p:nvPr/>
        </p:nvSpPr>
        <p:spPr>
          <a:xfrm>
            <a:off x="9780588" y="3714445"/>
            <a:ext cx="1111250" cy="1695108"/>
          </a:xfrm>
          <a:prstGeom prst="wedgeEllipseCallout">
            <a:avLst>
              <a:gd name="adj1" fmla="val 63971"/>
              <a:gd name="adj2" fmla="val -148617"/>
            </a:avLst>
          </a:prstGeom>
          <a:solidFill>
            <a:schemeClr val="accent1"/>
          </a:solidFill>
          <a:ln w="9525">
            <a:noFill/>
          </a:ln>
        </p:spPr>
        <p:txBody>
          <a:bodyPr wrap="square" anchor="ctr" anchorCtr="0">
            <a:spAutoFit/>
          </a:bodyPr>
          <a:p>
            <a:pPr algn="ctr"/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高频区</a:t>
            </a:r>
            <a:endParaRPr lang="zh-CN" altLang="en-US" b="1" baseline="-25000" dirty="0">
              <a:solidFill>
                <a:schemeClr val="bg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14344" name="AutoShape 11"/>
          <p:cNvSpPr/>
          <p:nvPr/>
        </p:nvSpPr>
        <p:spPr>
          <a:xfrm>
            <a:off x="9110345" y="1972328"/>
            <a:ext cx="1603375" cy="638457"/>
          </a:xfrm>
          <a:prstGeom prst="wedgeEllipseCallout">
            <a:avLst>
              <a:gd name="adj1" fmla="val -21088"/>
              <a:gd name="adj2" fmla="val -94157"/>
            </a:avLst>
          </a:prstGeom>
          <a:solidFill>
            <a:schemeClr val="accent1"/>
          </a:solidFill>
          <a:ln w="9525">
            <a:noFill/>
          </a:ln>
        </p:spPr>
        <p:txBody>
          <a:bodyPr anchor="ctr" anchorCtr="0">
            <a:spAutoFit/>
          </a:bodyPr>
          <a:p>
            <a:pPr algn="ctr"/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中频区</a:t>
            </a:r>
            <a:endParaRPr lang="zh-CN" altLang="en-US" b="1" baseline="-25000" dirty="0">
              <a:solidFill>
                <a:schemeClr val="bg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14345" name="AutoShape 12"/>
          <p:cNvSpPr/>
          <p:nvPr/>
        </p:nvSpPr>
        <p:spPr>
          <a:xfrm>
            <a:off x="8544243" y="3637410"/>
            <a:ext cx="865187" cy="1689476"/>
          </a:xfrm>
          <a:prstGeom prst="wedgeEllipseCallout">
            <a:avLst>
              <a:gd name="adj1" fmla="val -74110"/>
              <a:gd name="adj2" fmla="val -137898"/>
            </a:avLst>
          </a:prstGeom>
          <a:solidFill>
            <a:schemeClr val="accent1"/>
          </a:solidFill>
          <a:ln w="9525">
            <a:noFill/>
          </a:ln>
        </p:spPr>
        <p:txBody>
          <a:bodyPr wrap="square" anchor="ctr" anchorCtr="0">
            <a:spAutoFit/>
          </a:bodyPr>
          <a:p>
            <a:pPr algn="ctr"/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低频区</a:t>
            </a:r>
            <a:endParaRPr lang="zh-CN" altLang="en-US" b="1" baseline="-25000" dirty="0">
              <a:solidFill>
                <a:schemeClr val="bg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grpSp>
        <p:nvGrpSpPr>
          <p:cNvPr id="14346" name="Group 13"/>
          <p:cNvGrpSpPr/>
          <p:nvPr/>
        </p:nvGrpSpPr>
        <p:grpSpPr>
          <a:xfrm>
            <a:off x="8358505" y="-20837"/>
            <a:ext cx="2549525" cy="849444"/>
            <a:chOff x="-111" y="-199"/>
            <a:chExt cx="1606" cy="760"/>
          </a:xfrm>
        </p:grpSpPr>
        <p:sp>
          <p:nvSpPr>
            <p:cNvPr id="25609" name="AutoShape 14"/>
            <p:cNvSpPr/>
            <p:nvPr/>
          </p:nvSpPr>
          <p:spPr>
            <a:xfrm>
              <a:off x="-111" y="-182"/>
              <a:ext cx="1444" cy="743"/>
            </a:xfrm>
            <a:prstGeom prst="wedgeEllipseCallout">
              <a:avLst>
                <a:gd name="adj1" fmla="val -39333"/>
                <a:gd name="adj2" fmla="val 173356"/>
              </a:avLst>
            </a:prstGeom>
            <a:solidFill>
              <a:schemeClr val="accent1"/>
            </a:solidFill>
            <a:ln w="9525">
              <a:noFill/>
            </a:ln>
          </p:spPr>
          <p:txBody>
            <a:bodyPr anchor="ctr" anchorCtr="0">
              <a:spAutoFit/>
            </a:bodyPr>
            <a:p>
              <a:pPr algn="ctr"/>
              <a:r>
                <a:rPr lang="en-US" altLang="zh-CN" sz="1800" b="1" dirty="0">
                  <a:latin typeface="Times New Roman" panose="02020603050405020304" pitchFamily="2" charset="0"/>
                  <a:ea typeface="宋体" panose="02010600030101010101" pitchFamily="2" charset="-122"/>
                </a:rPr>
                <a:t>3dB </a:t>
              </a:r>
              <a:r>
                <a:rPr lang="zh-CN" altLang="en-US" sz="1800" b="1" dirty="0">
                  <a:latin typeface="Times New Roman" panose="02020603050405020304" pitchFamily="2" charset="0"/>
                  <a:ea typeface="宋体" panose="02010600030101010101" pitchFamily="2" charset="-122"/>
                </a:rPr>
                <a:t>频率点（半功率点）</a:t>
              </a:r>
              <a:endParaRPr lang="zh-CN" altLang="en-US" sz="1800" b="1" baseline="-25000" dirty="0">
                <a:latin typeface="Times New Roman" panose="02020603050405020304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25610" name="AutoShape 15"/>
            <p:cNvSpPr/>
            <p:nvPr/>
          </p:nvSpPr>
          <p:spPr>
            <a:xfrm>
              <a:off x="-35" y="-199"/>
              <a:ext cx="1530" cy="729"/>
            </a:xfrm>
            <a:prstGeom prst="wedgeEllipseCallout">
              <a:avLst>
                <a:gd name="adj1" fmla="val 49167"/>
                <a:gd name="adj2" fmla="val 171352"/>
              </a:avLst>
            </a:prstGeom>
            <a:solidFill>
              <a:schemeClr val="accent1"/>
            </a:solidFill>
            <a:ln w="9525">
              <a:noFill/>
            </a:ln>
          </p:spPr>
          <p:txBody>
            <a:bodyPr wrap="square" anchor="ctr" anchorCtr="0">
              <a:spAutoFit/>
            </a:bodyPr>
            <a:p>
              <a:pPr algn="ctr"/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2" charset="0"/>
                  <a:ea typeface="宋体" panose="02010600030101010101" pitchFamily="2" charset="-122"/>
                </a:rPr>
                <a:t>3dB </a:t>
              </a:r>
              <a:r>
                <a:rPr lang="zh-CN" altLang="en-US" b="1" dirty="0">
                  <a:solidFill>
                    <a:schemeClr val="bg1"/>
                  </a:solidFill>
                  <a:latin typeface="Times New Roman" panose="02020603050405020304" pitchFamily="2" charset="0"/>
                  <a:ea typeface="宋体" panose="02010600030101010101" pitchFamily="2" charset="-122"/>
                </a:rPr>
                <a:t>频率点</a:t>
              </a:r>
              <a:endParaRPr lang="zh-CN" altLang="en-US" b="1" baseline="-25000" dirty="0">
                <a:solidFill>
                  <a:schemeClr val="bg1"/>
                </a:solidFill>
                <a:latin typeface="Times New Roman" panose="02020603050405020304" pitchFamily="2" charset="0"/>
                <a:ea typeface="宋体" panose="02010600030101010101" pitchFamily="2" charset="-122"/>
              </a:endParaRPr>
            </a:p>
          </p:txBody>
        </p:sp>
      </p:grpSp>
      <p:sp>
        <p:nvSpPr>
          <p:cNvPr id="14355" name="Rectangle 24"/>
          <p:cNvSpPr/>
          <p:nvPr/>
        </p:nvSpPr>
        <p:spPr>
          <a:xfrm>
            <a:off x="604520" y="405765"/>
            <a:ext cx="4032250" cy="60769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>
              <a:lnSpc>
                <a:spcPct val="120000"/>
              </a:lnSpc>
              <a:spcBef>
                <a:spcPct val="20000"/>
              </a:spcBef>
              <a:buClr>
                <a:srgbClr val="0000FF"/>
              </a:buClr>
              <a:buSzPct val="85000"/>
              <a:buFont typeface="Monotype Sorts" pitchFamily="2" charset="2"/>
            </a:pP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注：</a:t>
            </a:r>
            <a:r>
              <a: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3dB</a:t>
            </a: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折算绝对倍数即</a:t>
            </a:r>
            <a:r>
              <a: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0.707</a:t>
            </a:r>
            <a:r>
              <a:rPr lang="zh-CN" altLang="en-US" sz="2800" b="1" dirty="0">
                <a:solidFill>
                  <a:schemeClr val="fol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倍</a:t>
            </a:r>
            <a:endParaRPr lang="zh-CN" altLang="en-US" sz="2800" b="1" dirty="0">
              <a:solidFill>
                <a:schemeClr val="fol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357" name="Oval 26"/>
          <p:cNvSpPr/>
          <p:nvPr/>
        </p:nvSpPr>
        <p:spPr>
          <a:xfrm>
            <a:off x="8766810" y="1414145"/>
            <a:ext cx="353695" cy="876300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graphicFrame>
        <p:nvGraphicFramePr>
          <p:cNvPr id="20492" name="对象 14348"/>
          <p:cNvGraphicFramePr>
            <a:graphicFrameLocks noChangeAspect="1"/>
          </p:cNvGraphicFramePr>
          <p:nvPr/>
        </p:nvGraphicFramePr>
        <p:xfrm>
          <a:off x="768668" y="1091883"/>
          <a:ext cx="2035175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4" imgW="1118870" imgH="203200" progId="">
                  <p:embed/>
                </p:oleObj>
              </mc:Choice>
              <mc:Fallback>
                <p:oleObj name="" r:id="rId4" imgW="1118870" imgH="203200" progId="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68668" y="1091883"/>
                        <a:ext cx="2035175" cy="365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3" name="对象 14349"/>
          <p:cNvGraphicFramePr>
            <a:graphicFrameLocks noChangeAspect="1"/>
          </p:cNvGraphicFramePr>
          <p:nvPr/>
        </p:nvGraphicFramePr>
        <p:xfrm>
          <a:off x="5017135" y="1013460"/>
          <a:ext cx="1711325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6" imgW="941070" imgH="228600" progId="">
                  <p:embed/>
                </p:oleObj>
              </mc:Choice>
              <mc:Fallback>
                <p:oleObj name="" r:id="rId6" imgW="941070" imgH="228600" progId="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017135" y="1013460"/>
                        <a:ext cx="1711325" cy="411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5" name="对象 14351"/>
          <p:cNvGraphicFramePr>
            <a:graphicFrameLocks noChangeAspect="1"/>
          </p:cNvGraphicFramePr>
          <p:nvPr/>
        </p:nvGraphicFramePr>
        <p:xfrm>
          <a:off x="2856548" y="1052830"/>
          <a:ext cx="2035175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8" imgW="1118870" imgH="203200" progId="Equation.3">
                  <p:embed/>
                </p:oleObj>
              </mc:Choice>
              <mc:Fallback>
                <p:oleObj name="" r:id="rId8" imgW="1118870" imgH="2032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856548" y="1052830"/>
                        <a:ext cx="2035175" cy="365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035050" y="1494473"/>
            <a:ext cx="127698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800" b="1" dirty="0">
                <a:solidFill>
                  <a:srgbClr val="FF0000"/>
                </a:solidFill>
                <a:ea typeface="黑体" panose="02010609060101010101" pitchFamily="1" charset="-122"/>
                <a:cs typeface="Times New Roman" panose="02020603050405020304" pitchFamily="2" charset="0"/>
              </a:rPr>
              <a:t>Avo(f</a:t>
            </a:r>
            <a:r>
              <a:rPr lang="en-US" altLang="zh-CN" sz="2800" b="1" baseline="-25000" dirty="0">
                <a:solidFill>
                  <a:srgbClr val="FF0000"/>
                </a:solidFill>
                <a:ea typeface="黑体" panose="02010609060101010101" pitchFamily="1" charset="-122"/>
                <a:cs typeface="Times New Roman" panose="02020603050405020304" pitchFamily="2" charset="0"/>
              </a:rPr>
              <a:t>L</a:t>
            </a:r>
            <a:r>
              <a:rPr lang="en-US" altLang="zh-CN" sz="2800" b="1" dirty="0">
                <a:solidFill>
                  <a:srgbClr val="FF0000"/>
                </a:solidFill>
                <a:ea typeface="黑体" panose="02010609060101010101" pitchFamily="1" charset="-122"/>
                <a:cs typeface="Times New Roman" panose="02020603050405020304" pitchFamily="2" charset="0"/>
              </a:rPr>
              <a:t>)</a:t>
            </a:r>
            <a:endParaRPr lang="zh-CN" altLang="en-US" sz="2800">
              <a:ea typeface="宋体" panose="02010600030101010101" pitchFamily="2" charset="-122"/>
              <a:cs typeface="Times New Roman" panose="02020603050405020304" pitchFamily="2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18858" y="2123440"/>
            <a:ext cx="2790825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x-none" b="1" noProof="1" dirty="0">
                <a:solidFill>
                  <a:srgbClr val="FF0000"/>
                </a:solidFill>
                <a:ea typeface="黑体" panose="02010609060101010101" pitchFamily="1" charset="-122"/>
                <a:cs typeface="Times New Roman" panose="02020603050405020304" pitchFamily="2" charset="0"/>
                <a:sym typeface="+mn-ea"/>
              </a:rPr>
              <a:t>Avo(f</a:t>
            </a:r>
            <a:r>
              <a:rPr lang="en-US" altLang="x-none" b="1" baseline="-25000" noProof="1" dirty="0">
                <a:solidFill>
                  <a:srgbClr val="FF0000"/>
                </a:solidFill>
                <a:ea typeface="黑体" panose="02010609060101010101" pitchFamily="1" charset="-122"/>
                <a:cs typeface="Times New Roman" panose="02020603050405020304" pitchFamily="2" charset="0"/>
                <a:sym typeface="+mn-ea"/>
              </a:rPr>
              <a:t>H</a:t>
            </a:r>
            <a:r>
              <a:rPr lang="en-US" altLang="x-none" b="1" noProof="1" dirty="0">
                <a:solidFill>
                  <a:srgbClr val="FF0000"/>
                </a:solidFill>
                <a:ea typeface="黑体" panose="02010609060101010101" pitchFamily="1" charset="-122"/>
                <a:cs typeface="Times New Roman" panose="02020603050405020304" pitchFamily="2" charset="0"/>
                <a:sym typeface="+mn-ea"/>
              </a:rPr>
              <a:t>)</a:t>
            </a:r>
            <a:r>
              <a:rPr lang="zh-CN" altLang="en-US" b="1" noProof="1" dirty="0">
                <a:solidFill>
                  <a:schemeClr val="accent4">
                    <a:lumMod val="10000"/>
                  </a:schemeClr>
                </a:solidFill>
                <a:ea typeface="黑体" panose="02010609060101010101" pitchFamily="1" charset="-122"/>
                <a:cs typeface="Times New Roman" panose="02020603050405020304" pitchFamily="2" charset="0"/>
                <a:sym typeface="+mn-ea"/>
              </a:rPr>
              <a:t>＝</a:t>
            </a:r>
            <a:r>
              <a:rPr lang="en-US" altLang="x-none" b="1" noProof="1" dirty="0">
                <a:solidFill>
                  <a:schemeClr val="accent4">
                    <a:lumMod val="10000"/>
                  </a:schemeClr>
                </a:solidFill>
                <a:ea typeface="黑体" panose="02010609060101010101" pitchFamily="1" charset="-122"/>
                <a:cs typeface="Times New Roman" panose="02020603050405020304" pitchFamily="2" charset="0"/>
                <a:sym typeface="+mn-ea"/>
              </a:rPr>
              <a:t>0.707*Avo</a:t>
            </a:r>
            <a:endParaRPr lang="zh-CN" altLang="en-US" noProof="1">
              <a:cs typeface="Times New Roman" panose="02020603050405020304" pitchFamily="2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289175" y="1548448"/>
            <a:ext cx="18719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b="1" noProof="1" dirty="0">
                <a:solidFill>
                  <a:schemeClr val="accent4">
                    <a:lumMod val="10000"/>
                  </a:schemeClr>
                </a:solidFill>
                <a:ea typeface="黑体" panose="02010609060101010101" pitchFamily="1" charset="-122"/>
                <a:cs typeface="Times New Roman" panose="02020603050405020304" pitchFamily="2" charset="0"/>
                <a:sym typeface="+mn-ea"/>
              </a:rPr>
              <a:t>＝</a:t>
            </a:r>
            <a:r>
              <a:rPr lang="en-US" altLang="x-none" b="1" noProof="1" dirty="0">
                <a:solidFill>
                  <a:schemeClr val="accent4">
                    <a:lumMod val="10000"/>
                  </a:schemeClr>
                </a:solidFill>
                <a:ea typeface="黑体" panose="02010609060101010101" pitchFamily="1" charset="-122"/>
                <a:cs typeface="Times New Roman" panose="02020603050405020304" pitchFamily="2" charset="0"/>
                <a:sym typeface="+mn-ea"/>
              </a:rPr>
              <a:t>0.707*Avo</a:t>
            </a:r>
            <a:endParaRPr lang="zh-CN" altLang="en-US" noProof="1">
              <a:cs typeface="Times New Roman" panose="020206030504050203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3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0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0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04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0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0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29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74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74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74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74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17456" grpId="0"/>
      <p:bldP spid="17454" grpId="0"/>
      <p:bldP spid="14355" grpId="0"/>
      <p:bldP spid="14357" grpId="0" bldLvl="0" animBg="1"/>
      <p:bldP spid="14343" grpId="0" bldLvl="0" animBg="1"/>
      <p:bldP spid="14345" grpId="0" bldLvl="0" animBg="1"/>
      <p:bldP spid="14344" grpId="0" bldLvl="0" animBg="1"/>
      <p:bldP spid="7" grpId="0"/>
      <p:bldP spid="8" grpId="0"/>
      <p:bldP spid="9" grpId="0"/>
      <p:bldP spid="2969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Rectangle 2"/>
          <p:cNvSpPr>
            <a:spLocks noGrp="1"/>
          </p:cNvSpPr>
          <p:nvPr>
            <p:ph type="title"/>
          </p:nvPr>
        </p:nvSpPr>
        <p:spPr>
          <a:xfrm>
            <a:off x="1981200" y="-952"/>
            <a:ext cx="5638800" cy="583565"/>
          </a:xfrm>
        </p:spPr>
        <p:txBody>
          <a:bodyPr wrap="square" anchor="ctr" anchorCtr="0">
            <a:spAutoFit/>
          </a:bodyPr>
          <a:p>
            <a:pPr algn="l" eaLnBrk="1" hangingPunct="1"/>
            <a:r>
              <a:rPr lang="zh-CN" altLang="en-US" sz="3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三、实验</a:t>
            </a:r>
            <a:r>
              <a:rPr lang="zh-CN" altLang="en-US" sz="3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验收</a:t>
            </a:r>
            <a:endParaRPr lang="zh-CN" altLang="en-US" sz="3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458" name="Rectangle 3"/>
          <p:cNvSpPr>
            <a:spLocks noGrp="1"/>
          </p:cNvSpPr>
          <p:nvPr>
            <p:ph idx="4294967295"/>
          </p:nvPr>
        </p:nvSpPr>
        <p:spPr>
          <a:xfrm>
            <a:off x="699770" y="551815"/>
            <a:ext cx="9091930" cy="5527675"/>
          </a:xfrm>
        </p:spPr>
        <p:txBody>
          <a:bodyPr wrap="square" anchor="t"/>
          <a:p>
            <a:pPr marL="342900" marR="0" indent="-342900" algn="l" defTabSz="914400" rtl="0" eaLnBrk="1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Tx/>
              <a:buSzPct val="85000"/>
              <a:buFontTx/>
              <a:buNone/>
            </a:pPr>
            <a:r>
              <a:rPr kumimoji="0" lang="en-US" altLang="x-none" sz="2400" b="0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、静态调试（合适的静态工作点）</a:t>
            </a:r>
            <a:endParaRPr kumimoji="0" lang="zh-CN" altLang="en-US" sz="2400" b="0" i="0" u="none" strike="noStrike" kern="1200" cap="none" spc="0" normalizeH="0" baseline="0" noProof="1" dirty="0">
              <a:solidFill>
                <a:schemeClr val="accent4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lvl="1" algn="l" defTabSz="914400" rtl="0" eaLnBrk="1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charset="0"/>
              <a:buChar char="u"/>
            </a:pP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</a:t>
            </a:r>
            <a:r>
              <a:rPr kumimoji="0" lang="en-US" altLang="x-none" sz="2400" b="0" i="1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V</a:t>
            </a:r>
            <a:r>
              <a:rPr kumimoji="0" lang="en-US" altLang="x-none" sz="2400" b="0" i="0" u="none" strike="noStrike" kern="1200" cap="none" spc="0" normalizeH="0" baseline="-25000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EQ</a:t>
            </a:r>
            <a:r>
              <a:rPr kumimoji="0" lang="en-US" altLang="x-none" sz="2400" b="0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 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、</a:t>
            </a:r>
            <a:r>
              <a:rPr kumimoji="0" lang="en-US" altLang="x-none" sz="2400" b="0" i="1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V</a:t>
            </a:r>
            <a:r>
              <a:rPr kumimoji="0" lang="en-US" altLang="x-none" sz="2400" b="0" i="0" u="none" strike="noStrike" kern="1200" cap="none" spc="0" normalizeH="0" baseline="-25000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BQ</a:t>
            </a:r>
            <a:r>
              <a:rPr kumimoji="0" lang="en-US" altLang="x-none" sz="2400" b="0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 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、</a:t>
            </a:r>
            <a:r>
              <a:rPr kumimoji="0" lang="en-US" altLang="x-none" sz="2400" b="0" i="1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V</a:t>
            </a:r>
            <a:r>
              <a:rPr kumimoji="0" lang="en-US" altLang="x-none" sz="2400" b="0" u="none" strike="noStrike" kern="1200" cap="none" spc="0" normalizeH="0" baseline="-25000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CQ</a:t>
            </a:r>
            <a:r>
              <a:rPr kumimoji="0" lang="en-US" altLang="x-none" sz="2400" b="0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 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，计算</a:t>
            </a:r>
            <a:r>
              <a:rPr kumimoji="0" lang="en-US" altLang="x-none" sz="2400" b="0" i="1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I</a:t>
            </a:r>
            <a:r>
              <a:rPr kumimoji="0" lang="en-US" altLang="x-none" sz="2400" b="0" i="0" u="none" strike="noStrike" kern="1200" cap="none" spc="0" normalizeH="0" baseline="-25000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CQ</a:t>
            </a:r>
            <a:r>
              <a:rPr kumimoji="0" lang="en-US" altLang="x-none" sz="2400" b="0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 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、</a:t>
            </a:r>
            <a:r>
              <a:rPr kumimoji="0" lang="en-US" altLang="x-none" sz="2400" b="0" i="1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V</a:t>
            </a:r>
            <a:r>
              <a:rPr kumimoji="0" lang="en-US" altLang="x-none" sz="2400" b="0" i="0" u="none" strike="noStrike" kern="1200" cap="none" spc="0" normalizeH="0" baseline="-25000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CEQ 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（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</a:t>
            </a:r>
            <a:r>
              <a:rPr kumimoji="0" lang="en-US" altLang="x-none" sz="2400" b="0" i="1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R</a:t>
            </a:r>
            <a:r>
              <a:rPr kumimoji="0" lang="en-US" altLang="x-none" sz="2400" b="0" i="0" u="none" strike="noStrike" kern="1200" cap="none" spc="0" normalizeH="0" baseline="-25000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p 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kumimoji="0" lang="zh-CN" altLang="en-US" sz="2400" b="0" i="0" u="none" strike="noStrike" kern="1200" cap="none" spc="0" normalizeH="0" baseline="0" noProof="1" dirty="0">
              <a:solidFill>
                <a:schemeClr val="accent4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marR="0" lvl="1" indent="0" algn="l" defTabSz="914400" rtl="0" eaLnBrk="1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None/>
            </a:pP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rgbClr val="FF0000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V</a:t>
            </a:r>
            <a:r>
              <a:rPr kumimoji="0" lang="zh-CN" altLang="en-US" sz="2400" b="0" i="0" u="none" strike="noStrike" kern="1200" cap="none" spc="0" normalizeH="0" baseline="-25000" noProof="1" dirty="0">
                <a:solidFill>
                  <a:srgbClr val="FF0000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B</a:t>
            </a:r>
            <a:r>
              <a:rPr kumimoji="0" lang="en-US" altLang="zh-CN" sz="2400" b="0" i="0" u="none" strike="noStrike" kern="1200" cap="none" spc="0" normalizeH="0" baseline="-25000" noProof="1" dirty="0">
                <a:solidFill>
                  <a:srgbClr val="FF0000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Q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rgbClr val="FF0000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=2v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左右，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rgbClr val="FF0000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V</a:t>
            </a:r>
            <a:r>
              <a:rPr kumimoji="0" lang="zh-CN" altLang="en-US" sz="2400" b="0" i="0" u="none" strike="noStrike" kern="1200" cap="none" spc="0" normalizeH="0" baseline="-25000" noProof="1" dirty="0">
                <a:solidFill>
                  <a:srgbClr val="FF0000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C</a:t>
            </a:r>
            <a:r>
              <a:rPr kumimoji="0" lang="en-US" altLang="zh-CN" sz="2400" b="0" i="0" u="none" strike="noStrike" kern="1200" cap="none" spc="0" normalizeH="0" baseline="-25000" noProof="1" dirty="0">
                <a:solidFill>
                  <a:srgbClr val="FF0000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Q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rgbClr val="FF0000"/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=4V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左右</a:t>
            </a:r>
            <a:endParaRPr kumimoji="0" lang="zh-CN" altLang="en-US" sz="2400" b="0" i="0" u="none" strike="noStrike" kern="1200" cap="none" spc="0" normalizeH="0" baseline="-25000" noProof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marR="0" indent="-342900" algn="l" defTabSz="914400" rtl="0" eaLnBrk="1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Tx/>
              <a:buSzPct val="85000"/>
              <a:buFontTx/>
              <a:buNone/>
            </a:pPr>
            <a:r>
              <a:rPr kumimoji="0" lang="en-US" altLang="x-none" sz="2400" b="0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、测量技术指标</a:t>
            </a:r>
            <a:endParaRPr kumimoji="0" lang="zh-CN" altLang="en-US" sz="2400" b="0" i="0" u="none" strike="noStrike" kern="1200" cap="none" spc="0" normalizeH="0" baseline="0" noProof="1" dirty="0">
              <a:solidFill>
                <a:schemeClr val="accent4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lvl="1" algn="l" defTabSz="914400" rtl="0" eaLnBrk="1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charset="0"/>
              <a:buChar char="u"/>
            </a:pP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测试电压放大倍数（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</a:t>
            </a:r>
            <a:r>
              <a:rPr kumimoji="0" lang="en-US" altLang="zh-CN" sz="2400" b="0" i="0" u="none" strike="noStrike" kern="1200" cap="none" spc="0" normalizeH="0" baseline="0" noProof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倍）</a:t>
            </a:r>
            <a:r>
              <a:rPr kumimoji="0" lang="en-US" altLang="x-none" sz="2400" b="1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A</a:t>
            </a:r>
            <a:r>
              <a:rPr kumimoji="0" lang="en-US" altLang="x-none" sz="2400" b="1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vo</a:t>
            </a:r>
            <a:r>
              <a:rPr kumimoji="0" lang="en-US" altLang="x-none" sz="2400" b="0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= </a:t>
            </a:r>
            <a:r>
              <a:rPr lang="en-US" altLang="x-none" sz="2400" dirty="0">
                <a:solidFill>
                  <a:schemeClr val="accent4">
                    <a:lumMod val="10000"/>
                  </a:schemeClr>
                </a:solidFill>
                <a:latin typeface="Book Antiqua" panose="02040602050305030304" pitchFamily="18" charset="0"/>
                <a:ea typeface="微软雅黑" panose="020B0503020204020204" charset="-122"/>
                <a:cs typeface="Book Antiqua" panose="02040602050305030304" pitchFamily="18" charset="0"/>
                <a:sym typeface="+mn-ea"/>
              </a:rPr>
              <a:t>V</a:t>
            </a:r>
            <a:r>
              <a:rPr kumimoji="0" lang="en-US" altLang="x-none" sz="2400" b="0" i="0" u="none" strike="noStrike" kern="1200" cap="none" spc="0" normalizeH="0" baseline="-25000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o </a:t>
            </a:r>
            <a:r>
              <a:rPr kumimoji="0" lang="en-US" altLang="x-none" sz="2400" b="0" i="1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/</a:t>
            </a:r>
            <a:r>
              <a:rPr lang="en-US" altLang="x-none" sz="2400" dirty="0">
                <a:solidFill>
                  <a:schemeClr val="accent4">
                    <a:lumMod val="10000"/>
                  </a:schemeClr>
                </a:solidFill>
                <a:latin typeface="Book Antiqua" panose="02040602050305030304" pitchFamily="18" charset="0"/>
                <a:ea typeface="微软雅黑" panose="020B0503020204020204" charset="-122"/>
                <a:cs typeface="Book Antiqua" panose="02040602050305030304" pitchFamily="18" charset="0"/>
                <a:sym typeface="+mn-ea"/>
              </a:rPr>
              <a:t>V</a:t>
            </a:r>
            <a:r>
              <a:rPr kumimoji="0" lang="en-US" altLang="x-none" sz="2400" b="0" i="0" u="none" strike="noStrike" kern="1200" cap="none" spc="0" normalizeH="0" baseline="-25000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i </a:t>
            </a:r>
            <a:endParaRPr kumimoji="0" lang="en-US" altLang="x-none" sz="2400" b="0" i="0" u="none" strike="noStrike" kern="1200" cap="none" spc="0" normalizeH="0" baseline="-25000" noProof="1" dirty="0">
              <a:solidFill>
                <a:schemeClr val="accent4">
                  <a:lumMod val="10000"/>
                </a:schemeClr>
              </a:solidFill>
              <a:latin typeface="Times New Roman" panose="02020603050405020304" pitchFamily="2" charset="0"/>
              <a:ea typeface="微软雅黑" panose="020B0503020204020204" charset="-122"/>
              <a:cs typeface="Times New Roman" panose="02020603050405020304" pitchFamily="2" charset="0"/>
            </a:endParaRPr>
          </a:p>
          <a:p>
            <a:pPr marR="0" lvl="1" algn="l" defTabSz="914400" rtl="0" eaLnBrk="1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charset="0"/>
              <a:buChar char="u"/>
            </a:pP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记录输入输出波形</a:t>
            </a:r>
            <a:endParaRPr kumimoji="0" lang="zh-CN" altLang="en-US" sz="2400" b="0" i="0" u="none" strike="noStrike" kern="1200" cap="none" spc="0" normalizeH="0" baseline="0" noProof="1" dirty="0">
              <a:solidFill>
                <a:schemeClr val="accent4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lvl="1" algn="l" defTabSz="914400" rtl="0" eaLnBrk="1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charset="0"/>
              <a:buChar char="u"/>
            </a:pP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测量通频带（</a:t>
            </a:r>
            <a:r>
              <a:rPr kumimoji="0" lang="en-US" altLang="zh-CN" sz="2400" b="0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500KHz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左右）</a:t>
            </a:r>
            <a:r>
              <a:rPr kumimoji="0" lang="en-US" altLang="x-none" sz="2400" b="0" i="1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B</a:t>
            </a:r>
            <a:r>
              <a:rPr kumimoji="0" lang="en-US" altLang="x-none" sz="2400" b="0" i="0" u="none" strike="noStrike" kern="1200" cap="none" spc="0" normalizeH="0" baseline="-25000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W 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＝ </a:t>
            </a:r>
            <a:r>
              <a:rPr kumimoji="0" lang="en-US" altLang="x-none" sz="2400" b="0" i="1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f</a:t>
            </a:r>
            <a:r>
              <a:rPr kumimoji="0" lang="en-US" altLang="x-none" sz="2400" b="0" i="0" u="none" strike="noStrike" kern="1200" cap="none" spc="0" normalizeH="0" baseline="-25000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H</a:t>
            </a:r>
            <a:r>
              <a:rPr kumimoji="0" lang="en-US" altLang="x-none" sz="2400" b="0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 -  </a:t>
            </a:r>
            <a:r>
              <a:rPr kumimoji="0" lang="en-US" altLang="x-none" sz="2400" b="0" i="1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f</a:t>
            </a:r>
            <a:r>
              <a:rPr kumimoji="0" lang="en-US" altLang="x-none" sz="2400" b="0" i="0" u="none" strike="noStrike" kern="1200" cap="none" spc="0" normalizeH="0" baseline="-25000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L  </a:t>
            </a:r>
            <a:endParaRPr kumimoji="0" lang="en-US" altLang="x-none" sz="2400" b="0" i="0" u="none" strike="noStrike" kern="1200" cap="none" spc="0" normalizeH="0" baseline="-25000" noProof="1" dirty="0">
              <a:solidFill>
                <a:schemeClr val="accent4">
                  <a:lumMod val="10000"/>
                </a:schemeClr>
              </a:solidFill>
              <a:latin typeface="Times New Roman" panose="02020603050405020304" pitchFamily="2" charset="0"/>
              <a:ea typeface="微软雅黑" panose="020B0503020204020204" charset="-122"/>
              <a:cs typeface="Times New Roman" panose="02020603050405020304" pitchFamily="2" charset="0"/>
            </a:endParaRPr>
          </a:p>
          <a:p>
            <a:pPr marR="0" lvl="1" algn="l" defTabSz="914400" rtl="0" eaLnBrk="1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charset="0"/>
              <a:buChar char="u"/>
            </a:pPr>
            <a:r>
              <a:rPr kumimoji="0" lang="zh-CN" altLang="en-US" sz="2400" b="0" i="0" u="none" strike="noStrike" kern="1200" cap="none" spc="0" normalizeH="0" noProof="1" dirty="0">
                <a:solidFill>
                  <a:schemeClr val="accent4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测量输入输出电阻</a:t>
            </a:r>
            <a:endParaRPr kumimoji="0" lang="zh-CN" altLang="en-US" sz="2400" b="0" i="0" u="none" strike="noStrike" kern="1200" cap="none" spc="0" normalizeH="0" noProof="1" dirty="0">
              <a:solidFill>
                <a:schemeClr val="accent4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marR="0" indent="-342900" algn="l" defTabSz="914400" rtl="0" eaLnBrk="1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Tx/>
              <a:buSzPct val="85000"/>
              <a:buFontTx/>
              <a:buNone/>
            </a:pPr>
            <a:r>
              <a:rPr kumimoji="0" lang="en-US" altLang="x-none" sz="2400" b="0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、研究静态工作点与非线性失真</a:t>
            </a:r>
            <a:endParaRPr kumimoji="0" lang="zh-CN" altLang="en-US" sz="2400" b="0" i="0" u="none" strike="noStrike" kern="1200" cap="none" spc="0" normalizeH="0" baseline="0" noProof="1" dirty="0">
              <a:solidFill>
                <a:schemeClr val="accent4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lvl="1" algn="l" defTabSz="914400" rtl="0" eaLnBrk="1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charset="0"/>
              <a:buChar char="u"/>
            </a:pP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调节</a:t>
            </a:r>
            <a:r>
              <a:rPr kumimoji="0" lang="en-US" altLang="x-none" sz="2400" b="0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R</a:t>
            </a:r>
            <a:r>
              <a:rPr kumimoji="0" lang="en-US" altLang="x-none" sz="2400" b="0" i="0" u="none" strike="noStrike" kern="1200" cap="none" spc="0" normalizeH="0" baseline="-25000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微软雅黑" panose="020B0503020204020204" charset="-122"/>
                <a:cs typeface="Times New Roman" panose="02020603050405020304" pitchFamily="2" charset="0"/>
              </a:rPr>
              <a:t>p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</a:t>
            </a:r>
            <a:r>
              <a:rPr kumimoji="0" lang="en-US" altLang="x-none" sz="2400" b="0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0Ω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kumimoji="0" lang="en-US" altLang="x-none" sz="2400" b="0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100KΩ</a:t>
            </a:r>
            <a:endParaRPr kumimoji="0" lang="zh-CN" altLang="en-US" sz="2400" b="0" i="0" u="none" strike="noStrike" kern="1200" cap="none" spc="0" normalizeH="0" baseline="0" noProof="1" dirty="0">
              <a:solidFill>
                <a:schemeClr val="accent4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lvl="1" algn="l" defTabSz="914400" rtl="0" eaLnBrk="1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charset="0"/>
              <a:buChar char="u"/>
            </a:pP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分别观察饱和失真、截止失真</a:t>
            </a:r>
            <a:endParaRPr kumimoji="0" lang="zh-CN" altLang="en-US" sz="2400" b="0" i="0" u="none" strike="noStrike" kern="1200" cap="none" spc="0" normalizeH="0" baseline="0" noProof="1" dirty="0">
              <a:solidFill>
                <a:schemeClr val="accent4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lvl="1" algn="l" defTabSz="914400" rtl="0" eaLnBrk="1" hangingPunct="1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charset="0"/>
              <a:buChar char="u"/>
            </a:pP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记录失真波形和</a:t>
            </a:r>
            <a:r>
              <a:rPr kumimoji="0" lang="en-US" altLang="x-none" sz="2400" b="0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点的参数</a:t>
            </a:r>
            <a:endParaRPr kumimoji="0" lang="zh-CN" altLang="en-US" sz="2400" b="0" i="0" u="none" strike="noStrike" kern="1200" cap="none" spc="0" normalizeH="0" baseline="0" noProof="1" dirty="0">
              <a:solidFill>
                <a:schemeClr val="accent4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9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9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94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94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94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94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94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94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945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945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945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Rectangle 2"/>
          <p:cNvSpPr>
            <a:spLocks noGrp="1"/>
          </p:cNvSpPr>
          <p:nvPr>
            <p:ph type="body" idx="4294967295"/>
          </p:nvPr>
        </p:nvSpPr>
        <p:spPr>
          <a:xfrm>
            <a:off x="628015" y="2343150"/>
            <a:ext cx="6212205" cy="3147695"/>
          </a:xfrm>
        </p:spPr>
        <p:txBody>
          <a:bodyPr wrap="square" anchor="t"/>
          <a:p>
            <a:pPr marL="354330" marR="0" indent="-354330" algn="l" defTabSz="914400" rtl="0" eaLnBrk="1" hangingPunct="1">
              <a:lnSpc>
                <a:spcPct val="125000"/>
              </a:lnSpc>
              <a:spcBef>
                <a:spcPct val="50000"/>
              </a:spcBef>
              <a:spcAft>
                <a:spcPct val="0"/>
              </a:spcAft>
              <a:buClrTx/>
              <a:buSzPct val="85000"/>
              <a:buFont typeface="Wingdings" panose="05000000000000000000" charset="0"/>
              <a:buChar char="u"/>
            </a:pPr>
            <a:r>
              <a:rPr kumimoji="0" lang="zh-CN" altLang="en-US" sz="2400" b="1" i="0" u="none" strike="noStrike" kern="1200" cap="none" spc="0" normalizeH="0" baseline="0" noProof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交流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电压均用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示波器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</a:t>
            </a:r>
            <a:endParaRPr kumimoji="0" lang="zh-CN" altLang="en-US" sz="2400" b="1" i="0" u="none" strike="noStrike" kern="1200" cap="none" spc="0" normalizeH="0" baseline="0" noProof="1" dirty="0">
              <a:solidFill>
                <a:schemeClr val="accent4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54330" marR="0" indent="-354330" algn="l" defTabSz="914400" rtl="0" eaLnBrk="1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Pct val="85000"/>
              <a:buFont typeface="Wingdings" panose="05000000000000000000" charset="0"/>
              <a:buChar char="u"/>
            </a:pPr>
            <a:r>
              <a:rPr kumimoji="0" lang="zh-CN" altLang="en-US" sz="2400" b="1" i="0" u="none" strike="noStrike" kern="1200" cap="none" spc="0" normalizeH="0" baseline="0" noProof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直流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电压均用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万用表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测量</a:t>
            </a:r>
            <a:endParaRPr kumimoji="0" lang="zh-CN" altLang="en-US" sz="2400" b="1" i="0" u="none" strike="noStrike" kern="1200" cap="none" spc="0" normalizeH="0" baseline="0" noProof="1" dirty="0">
              <a:solidFill>
                <a:schemeClr val="accent4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54330" marR="0" indent="-354330" algn="l" defTabSz="914400" rtl="0" eaLnBrk="1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Pct val="85000"/>
              <a:buFont typeface="Wingdings" panose="05000000000000000000" charset="0"/>
              <a:buChar char="u"/>
            </a:pP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静态工作点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电流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靠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得出</a:t>
            </a:r>
            <a:endParaRPr kumimoji="0" lang="zh-CN" altLang="en-US" sz="2400" b="1" i="0" u="none" strike="noStrike" kern="1200" cap="none" spc="0" normalizeH="0" baseline="0" noProof="1" dirty="0">
              <a:solidFill>
                <a:schemeClr val="accent4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0" algn="l" defTabSz="914400" rtl="0" eaLnBrk="1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Pct val="85000"/>
              <a:buFont typeface="Wingdings" panose="05000000000000000000" charset="0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不要直接测量，否则容易损坏万用表。</a:t>
            </a:r>
            <a:endParaRPr kumimoji="0" lang="zh-CN" altLang="en-US" sz="2400" b="1" i="0" u="none" strike="noStrike" kern="1200" cap="none" spc="0" normalizeH="0" baseline="0" noProof="1" dirty="0">
              <a:solidFill>
                <a:schemeClr val="accent4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54330" marR="0" indent="-354330" algn="l" defTabSz="914400" rtl="0" eaLnBrk="1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Pct val="85000"/>
              <a:buFont typeface="Wingdings" panose="05000000000000000000" charset="0"/>
              <a:buChar char="u"/>
            </a:pP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申请验收应该 </a:t>
            </a:r>
            <a:r>
              <a:rPr lang="en-US" altLang="x-none" sz="2400" b="1" dirty="0">
                <a:solidFill>
                  <a:schemeClr val="accent4">
                    <a:lumMod val="10000"/>
                  </a:schemeClr>
                </a:solidFill>
                <a:ea typeface="黑体" panose="02010609060101010101" pitchFamily="1" charset="-122"/>
                <a:cs typeface="Times New Roman" panose="02020603050405020304" pitchFamily="2" charset="0"/>
                <a:sym typeface="+mn-ea"/>
              </a:rPr>
              <a:t>Avo</a:t>
            </a:r>
            <a:r>
              <a:rPr kumimoji="0" lang="en-US" altLang="x-none" sz="2400" b="1" i="0" u="none" strike="noStrike" kern="1200" cap="none" spc="0" normalizeH="0" baseline="0" noProof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&gt;20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，否则先自行查错。</a:t>
            </a:r>
            <a:endParaRPr kumimoji="0" lang="zh-CN" altLang="en-US" sz="2400" b="1" i="0" u="none" strike="noStrike" kern="1200" cap="none" spc="0" normalizeH="0" baseline="0" noProof="1" dirty="0">
              <a:solidFill>
                <a:schemeClr val="accent4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0" algn="l" defTabSz="914400" rtl="0" eaLnBrk="1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Pct val="85000"/>
              <a:buFont typeface="Wingdings" panose="05000000000000000000" charset="0"/>
              <a:buNone/>
            </a:pPr>
            <a:endParaRPr kumimoji="0" lang="zh-CN" altLang="en-US" sz="2400" b="0" i="0" u="none" strike="noStrike" kern="1200" cap="none" spc="0" normalizeH="0" baseline="0" noProof="1" dirty="0">
              <a:solidFill>
                <a:schemeClr val="accent4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6631" name="Picture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643" y="914083"/>
            <a:ext cx="2069305" cy="262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632" name="TextBox 2"/>
          <p:cNvSpPr txBox="1"/>
          <p:nvPr/>
        </p:nvSpPr>
        <p:spPr>
          <a:xfrm>
            <a:off x="7752715" y="3788728"/>
            <a:ext cx="1830388" cy="829945"/>
          </a:xfrm>
          <a:prstGeom prst="rect">
            <a:avLst/>
          </a:prstGeom>
          <a:gradFill rotWithShape="0">
            <a:gsLst>
              <a:gs pos="0">
                <a:srgbClr val="C2FF96">
                  <a:alpha val="100000"/>
                </a:srgbClr>
              </a:gs>
              <a:gs pos="50000">
                <a:srgbClr val="D8FEBF">
                  <a:alpha val="100000"/>
                </a:srgbClr>
              </a:gs>
              <a:gs pos="100000">
                <a:srgbClr val="EBFEE0">
                  <a:alpha val="100000"/>
                </a:srgbClr>
              </a:gs>
            </a:gsLst>
            <a:lin ang="5400000"/>
            <a:tileRect/>
          </a:gradFill>
          <a:ln w="9525">
            <a:noFill/>
          </a:ln>
        </p:spPr>
        <p:txBody>
          <a:bodyPr anchor="t">
            <a:spAutoFit/>
          </a:bodyPr>
          <a:p>
            <a:r>
              <a:rPr lang="zh-CN" altLang="en-US" b="1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专用</a:t>
            </a:r>
            <a:r>
              <a:rPr lang="en-US" altLang="x-none" b="1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hFE</a:t>
            </a:r>
            <a:r>
              <a:rPr lang="zh-CN" altLang="en-US" b="1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档专用插槽。</a:t>
            </a:r>
            <a:endParaRPr lang="zh-CN" altLang="en-US" b="1" noProof="1" dirty="0">
              <a:solidFill>
                <a:schemeClr val="accent4">
                  <a:lumMod val="10000"/>
                </a:schemeClr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97865" y="838835"/>
            <a:ext cx="4944110" cy="14204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  <a:buFont typeface="Wingdings" panose="05000000000000000000" charset="0"/>
              <a:buChar char="u"/>
            </a:pPr>
            <a:r>
              <a:rPr lang="zh-CN" altLang="en-US" b="1" dirty="0">
                <a:solidFill>
                  <a:schemeClr val="accent4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万用表测量三极管</a:t>
            </a:r>
            <a:r>
              <a:rPr lang="en-US" altLang="zh-CN" b="1" dirty="0">
                <a:solidFill>
                  <a:schemeClr val="accent4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x-none" b="1" dirty="0">
                <a:solidFill>
                  <a:schemeClr val="accent4">
                    <a:lumMod val="10000"/>
                  </a:schemeClr>
                </a:solidFill>
                <a:latin typeface="Symbol" panose="05050102010706020507" pitchFamily="2" charset="2"/>
                <a:sym typeface="+mn-ea"/>
              </a:rPr>
              <a:t>b </a:t>
            </a:r>
            <a:r>
              <a:rPr lang="zh-CN" altLang="en-US" b="1" dirty="0">
                <a:solidFill>
                  <a:schemeClr val="accent4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值</a:t>
            </a:r>
            <a:endParaRPr lang="zh-CN" altLang="en-US" b="1" noProof="1" dirty="0">
              <a:solidFill>
                <a:schemeClr val="accent4">
                  <a:lumMod val="1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Clr>
                <a:srgbClr val="CC3300"/>
              </a:buClr>
              <a:buFont typeface="Wingdings" panose="05000000000000000000" pitchFamily="2" charset="2"/>
            </a:pPr>
            <a:r>
              <a:rPr lang="en-US" altLang="zh-CN" b="1" dirty="0">
                <a:solidFill>
                  <a:schemeClr val="accent4">
                    <a:lumMod val="10000"/>
                  </a:schemeClr>
                </a:solidFill>
                <a:latin typeface="宋体" panose="02010600030101010101" pitchFamily="2" charset="-122"/>
                <a:sym typeface="+mn-ea"/>
              </a:rPr>
              <a:t>  </a:t>
            </a:r>
            <a:r>
              <a:rPr lang="en-US" altLang="x-none" b="1" dirty="0">
                <a:solidFill>
                  <a:schemeClr val="accent4">
                    <a:lumMod val="10000"/>
                  </a:schemeClr>
                </a:solidFill>
                <a:latin typeface="Symbol" panose="05050102010706020507" pitchFamily="2" charset="2"/>
                <a:sym typeface="+mn-ea"/>
              </a:rPr>
              <a:t>b</a:t>
            </a:r>
            <a:r>
              <a:rPr lang="zh-CN" altLang="en-US" b="1" dirty="0">
                <a:solidFill>
                  <a:schemeClr val="accent4">
                    <a:lumMod val="10000"/>
                  </a:schemeClr>
                </a:solidFill>
                <a:latin typeface="Symbol" panose="05050102010706020507" pitchFamily="2" charset="2"/>
                <a:sym typeface="+mn-ea"/>
              </a:rPr>
              <a:t> 至少要大于</a:t>
            </a:r>
            <a:r>
              <a:rPr lang="en-US" altLang="x-none" b="1" dirty="0">
                <a:solidFill>
                  <a:schemeClr val="accent4">
                    <a:lumMod val="10000"/>
                  </a:schemeClr>
                </a:solidFill>
                <a:latin typeface="Symbol" panose="05050102010706020507" pitchFamily="2" charset="2"/>
                <a:sym typeface="+mn-ea"/>
              </a:rPr>
              <a:t>80</a:t>
            </a:r>
            <a:endParaRPr lang="en-US" altLang="x-none" b="1" dirty="0">
              <a:solidFill>
                <a:schemeClr val="accent4">
                  <a:lumMod val="10000"/>
                </a:schemeClr>
              </a:solidFill>
              <a:latin typeface="Symbol" panose="05050102010706020507" pitchFamily="2" charset="2"/>
              <a:sym typeface="+mn-ea"/>
            </a:endParaRP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Clr>
                <a:srgbClr val="CC3300"/>
              </a:buClr>
              <a:buFont typeface="Wingdings" panose="05000000000000000000" pitchFamily="2" charset="2"/>
            </a:pPr>
            <a:r>
              <a:rPr lang="en-US" altLang="x-none" b="1" dirty="0">
                <a:solidFill>
                  <a:schemeClr val="accent4">
                    <a:lumMod val="10000"/>
                  </a:schemeClr>
                </a:solidFill>
                <a:latin typeface="宋体" panose="02010600030101010101" pitchFamily="2" charset="-122"/>
                <a:sym typeface="+mn-ea"/>
              </a:rPr>
              <a:t>  3DG6</a:t>
            </a:r>
            <a:r>
              <a:rPr lang="zh-CN" altLang="en-US" b="1" dirty="0">
                <a:solidFill>
                  <a:schemeClr val="accent4">
                    <a:lumMod val="10000"/>
                  </a:schemeClr>
                </a:solidFill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x-none" b="1" dirty="0">
                <a:solidFill>
                  <a:schemeClr val="accent4">
                    <a:lumMod val="10000"/>
                  </a:schemeClr>
                </a:solidFill>
                <a:latin typeface="宋体" panose="02010600030101010101" pitchFamily="2" charset="-122"/>
                <a:sym typeface="+mn-ea"/>
              </a:rPr>
              <a:t>9018</a:t>
            </a:r>
            <a:r>
              <a:rPr lang="zh-CN" altLang="en-US" b="1" dirty="0">
                <a:solidFill>
                  <a:schemeClr val="accent4">
                    <a:lumMod val="10000"/>
                  </a:schemeClr>
                </a:solidFill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x-none" b="1" dirty="0">
                <a:solidFill>
                  <a:schemeClr val="accent4">
                    <a:lumMod val="10000"/>
                  </a:schemeClr>
                </a:solidFill>
                <a:latin typeface="宋体" panose="02010600030101010101" pitchFamily="2" charset="-122"/>
                <a:sym typeface="+mn-ea"/>
              </a:rPr>
              <a:t>9013 </a:t>
            </a:r>
            <a:r>
              <a:rPr lang="zh-CN" altLang="en-US" b="1" dirty="0">
                <a:solidFill>
                  <a:schemeClr val="accent4">
                    <a:lumMod val="10000"/>
                  </a:schemeClr>
                </a:solidFill>
                <a:latin typeface="宋体" panose="02010600030101010101" pitchFamily="2" charset="-122"/>
                <a:sym typeface="+mn-ea"/>
              </a:rPr>
              <a:t>都是</a:t>
            </a:r>
            <a:r>
              <a:rPr lang="en-US" altLang="x-none" b="1" dirty="0">
                <a:solidFill>
                  <a:schemeClr val="accent4">
                    <a:lumMod val="10000"/>
                  </a:schemeClr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宋体" panose="02010600030101010101" pitchFamily="2" charset="-122"/>
                <a:sym typeface="+mn-ea"/>
              </a:rPr>
              <a:t>NPN </a:t>
            </a:r>
            <a:r>
              <a:rPr lang="zh-CN" altLang="en-US" b="1" dirty="0">
                <a:solidFill>
                  <a:schemeClr val="accent4">
                    <a:lumMod val="10000"/>
                  </a:schemeClr>
                </a:solidFill>
                <a:latin typeface="宋体" panose="02010600030101010101" pitchFamily="2" charset="-122"/>
                <a:sym typeface="+mn-ea"/>
              </a:rPr>
              <a:t>硅管</a:t>
            </a:r>
            <a:endParaRPr lang="zh-CN" altLang="en-US"/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1981200" y="-952"/>
            <a:ext cx="5638800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>
            <a:lvl1pPr marL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eaLnBrk="1" hangingPunct="1"/>
            <a:r>
              <a:rPr lang="zh-CN" altLang="en-US" sz="3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三、实验</a:t>
            </a:r>
            <a:r>
              <a:rPr lang="zh-CN" altLang="en-US" sz="3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验收</a:t>
            </a:r>
            <a:endParaRPr lang="zh-CN" altLang="en-US" sz="3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6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68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68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68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68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686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8" name="Rectangle 4"/>
          <p:cNvSpPr/>
          <p:nvPr/>
        </p:nvSpPr>
        <p:spPr>
          <a:xfrm>
            <a:off x="839470" y="582930"/>
            <a:ext cx="5826125" cy="15163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noAutofit/>
          </a:bodyPr>
          <a:p>
            <a:pPr>
              <a:lnSpc>
                <a:spcPct val="125000"/>
              </a:lnSpc>
              <a:spcBef>
                <a:spcPts val="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zh-CN" altLang="en-US" sz="2600" b="1" strike="noStrike" noProof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测量正常放大区的静态工作点</a:t>
            </a:r>
            <a:r>
              <a:rPr lang="zh-CN" altLang="en-US" sz="2600" b="1" strike="noStrike" noProof="1" dirty="0">
                <a:solidFill>
                  <a:schemeClr val="accent4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zh-CN" altLang="en-US" sz="2600" b="1" strike="noStrike" noProof="1" dirty="0">
              <a:solidFill>
                <a:schemeClr val="accent4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25000"/>
              </a:lnSpc>
              <a:spcBef>
                <a:spcPts val="0"/>
              </a:spcBef>
              <a:buClr>
                <a:srgbClr val="FF0000"/>
              </a:buClr>
              <a:buSzPct val="100000"/>
              <a:buFont typeface="Wingdings" panose="05000000000000000000" charset="0"/>
              <a:buChar char="u"/>
            </a:pPr>
            <a:r>
              <a:rPr lang="zh-CN" altLang="en-US" sz="2600" b="1" strike="noStrike" noProof="1" dirty="0">
                <a:solidFill>
                  <a:schemeClr val="accent4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去掉信号源，输入接地</a:t>
            </a:r>
            <a:endParaRPr lang="zh-CN" altLang="en-US" sz="2600" b="1" strike="noStrike" noProof="1" dirty="0">
              <a:solidFill>
                <a:schemeClr val="accent4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25000"/>
              </a:lnSpc>
              <a:spcBef>
                <a:spcPts val="0"/>
              </a:spcBef>
              <a:buClr>
                <a:srgbClr val="FF0000"/>
              </a:buClr>
              <a:buSzPct val="100000"/>
              <a:buFont typeface="Wingdings" panose="05000000000000000000" charset="0"/>
              <a:buChar char="u"/>
            </a:pPr>
            <a:r>
              <a:rPr lang="zh-CN" altLang="en-US" sz="2600" b="1" strike="noStrike" noProof="1" dirty="0">
                <a:solidFill>
                  <a:schemeClr val="accent4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用万用表的</a:t>
            </a:r>
            <a:r>
              <a:rPr lang="en-US" altLang="x-none" sz="2600" b="1" strike="noStrike" noProof="1" dirty="0">
                <a:solidFill>
                  <a:schemeClr val="accent4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DC</a:t>
            </a:r>
            <a:r>
              <a:rPr lang="zh-CN" altLang="en-US" sz="2600" b="1" strike="noStrike" noProof="1" dirty="0">
                <a:solidFill>
                  <a:schemeClr val="accent4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档测静态工作点电压</a:t>
            </a:r>
            <a:endParaRPr lang="zh-CN" altLang="en-US" sz="2600" b="1" strike="noStrike" noProof="1" dirty="0">
              <a:solidFill>
                <a:schemeClr val="accent4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25000"/>
              </a:lnSpc>
              <a:spcBef>
                <a:spcPts val="0"/>
              </a:spcBef>
              <a:buClr>
                <a:srgbClr val="FF0000"/>
              </a:buClr>
              <a:buSzPct val="100000"/>
              <a:buFont typeface="Wingdings" panose="05000000000000000000" charset="0"/>
              <a:buChar char="u"/>
            </a:pPr>
            <a:endParaRPr lang="zh-CN" altLang="en-US" sz="2600" b="1" strike="noStrike" noProof="1" dirty="0">
              <a:solidFill>
                <a:schemeClr val="accent4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Rectangle 3"/>
          <p:cNvSpPr>
            <a:spLocks noGrp="1"/>
          </p:cNvSpPr>
          <p:nvPr/>
        </p:nvSpPr>
        <p:spPr>
          <a:xfrm>
            <a:off x="871220" y="2190433"/>
            <a:ext cx="1614805" cy="49149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>
            <a:lvl1pPr marL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600" b="1" i="0" u="none" strike="noStrike" kern="1200" cap="none" spc="0" normalizeH="0" baseline="0" noProof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</a:t>
            </a:r>
            <a:r>
              <a:rPr kumimoji="0" lang="zh-CN" altLang="en-US" sz="2600" b="1" i="0" u="none" strike="noStrike" kern="1200" cap="none" spc="0" normalizeH="0" baseline="0" noProof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粗调</a:t>
            </a:r>
            <a:endParaRPr kumimoji="0" lang="zh-CN" altLang="en-US" sz="2600" b="1" i="0" u="none" strike="noStrike" kern="1200" cap="none" spc="0" normalizeH="0" baseline="0" noProof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650" name="Text Box 2"/>
          <p:cNvSpPr txBox="1"/>
          <p:nvPr/>
        </p:nvSpPr>
        <p:spPr>
          <a:xfrm>
            <a:off x="1014730" y="2776855"/>
            <a:ext cx="6685915" cy="109029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marL="0" lvl="1">
              <a:lnSpc>
                <a:spcPct val="115000"/>
              </a:lnSpc>
              <a:spcBef>
                <a:spcPct val="20000"/>
              </a:spcBef>
              <a:buClr>
                <a:srgbClr val="CC3300"/>
              </a:buClr>
              <a:buFont typeface="Wingdings" panose="05000000000000000000" pitchFamily="2" charset="2"/>
            </a:pPr>
            <a:r>
              <a:rPr lang="zh-CN" altLang="en-US" sz="2600" b="1" noProof="1" dirty="0">
                <a:solidFill>
                  <a:schemeClr val="accent4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调整电位器，三极管</a:t>
            </a:r>
            <a:r>
              <a:rPr lang="en-US" altLang="x-none" sz="2600" b="1" noProof="1" dirty="0">
                <a:solidFill>
                  <a:schemeClr val="accent4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lang="zh-CN" altLang="en-US" sz="2600" b="1" noProof="1" dirty="0">
                <a:solidFill>
                  <a:schemeClr val="accent4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极静态工作电压</a:t>
            </a:r>
            <a:endParaRPr lang="zh-CN" altLang="en-US" sz="2600" b="1" noProof="1" dirty="0">
              <a:solidFill>
                <a:schemeClr val="accent4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>
              <a:lnSpc>
                <a:spcPct val="115000"/>
              </a:lnSpc>
              <a:spcBef>
                <a:spcPct val="20000"/>
              </a:spcBef>
              <a:buClr>
                <a:srgbClr val="CC3300"/>
              </a:buClr>
              <a:buFont typeface="Wingdings" panose="05000000000000000000" pitchFamily="2" charset="2"/>
            </a:pPr>
            <a:r>
              <a:rPr lang="zh-CN" altLang="en-US" sz="2600" dirty="0">
                <a:solidFill>
                  <a:srgbClr val="FF0000"/>
                </a:solidFill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V</a:t>
            </a:r>
            <a:r>
              <a:rPr lang="zh-CN" altLang="en-US" sz="2600" baseline="-25000" dirty="0">
                <a:solidFill>
                  <a:srgbClr val="FF0000"/>
                </a:solidFill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B</a:t>
            </a:r>
            <a:r>
              <a:rPr lang="en-US" altLang="zh-CN" sz="2600" baseline="-25000" dirty="0">
                <a:solidFill>
                  <a:srgbClr val="FF0000"/>
                </a:solidFill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Q</a:t>
            </a:r>
            <a:r>
              <a:rPr lang="zh-CN" altLang="en-US" sz="2600" dirty="0">
                <a:solidFill>
                  <a:srgbClr val="FF0000"/>
                </a:solidFill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=2</a:t>
            </a:r>
            <a:r>
              <a:rPr lang="zh-CN" altLang="en-US" sz="2600" dirty="0">
                <a:solidFill>
                  <a:srgbClr val="FF0000"/>
                </a:solidFill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V</a:t>
            </a:r>
            <a:r>
              <a:rPr lang="zh-CN" altLang="en-US" sz="2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左右，</a:t>
            </a:r>
            <a:r>
              <a:rPr lang="zh-CN" altLang="en-US" sz="2600" dirty="0">
                <a:solidFill>
                  <a:srgbClr val="FF0000"/>
                </a:solidFill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V</a:t>
            </a:r>
            <a:r>
              <a:rPr lang="zh-CN" altLang="en-US" sz="2600" baseline="-25000" dirty="0">
                <a:solidFill>
                  <a:srgbClr val="FF0000"/>
                </a:solidFill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C</a:t>
            </a:r>
            <a:r>
              <a:rPr lang="en-US" altLang="zh-CN" sz="2600" baseline="-25000" dirty="0">
                <a:solidFill>
                  <a:srgbClr val="FF0000"/>
                </a:solidFill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Q</a:t>
            </a:r>
            <a:r>
              <a:rPr lang="zh-CN" altLang="en-US" sz="2600" dirty="0">
                <a:solidFill>
                  <a:srgbClr val="FF0000"/>
                </a:solidFill>
                <a:ea typeface="微软雅黑" panose="020B0503020204020204" charset="-122"/>
                <a:cs typeface="Times New Roman" panose="02020603050405020304" pitchFamily="2" charset="0"/>
                <a:sym typeface="+mn-ea"/>
              </a:rPr>
              <a:t>=4V</a:t>
            </a:r>
            <a:r>
              <a:rPr lang="zh-CN" altLang="en-US" sz="2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左右</a:t>
            </a:r>
            <a:endParaRPr lang="zh-CN" altLang="en-US" sz="2600" b="1" noProof="1" dirty="0">
              <a:solidFill>
                <a:schemeClr val="accent4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700" name="Rectangle 4"/>
          <p:cNvSpPr/>
          <p:nvPr/>
        </p:nvSpPr>
        <p:spPr>
          <a:xfrm>
            <a:off x="844233" y="3923665"/>
            <a:ext cx="8280400" cy="220916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fontAlgn="base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x-none" sz="2600" b="1" strike="noStrike" noProof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 sz="2600" b="1" strike="noStrike" noProof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细调</a:t>
            </a:r>
            <a:r>
              <a:rPr lang="zh-CN" altLang="en-US" sz="2600" b="1" strike="noStrike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  </a:t>
            </a:r>
            <a:r>
              <a:rPr lang="en-US" altLang="x-none" sz="2600" b="1" strike="noStrike" noProof="1" dirty="0">
                <a:solidFill>
                  <a:schemeClr val="accent4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CH1</a:t>
            </a:r>
            <a:r>
              <a:rPr lang="zh-CN" altLang="en-US" sz="2600" b="1" strike="noStrike" noProof="1" dirty="0">
                <a:solidFill>
                  <a:schemeClr val="accent4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观察输入</a:t>
            </a:r>
            <a:r>
              <a:rPr lang="en-US" altLang="x-none" sz="2600" b="1" strike="noStrike" noProof="1" dirty="0">
                <a:solidFill>
                  <a:schemeClr val="accent4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Vi,CH2</a:t>
            </a:r>
            <a:r>
              <a:rPr lang="zh-CN" altLang="en-US" sz="2600" b="1" strike="noStrike" noProof="1" dirty="0">
                <a:solidFill>
                  <a:schemeClr val="accent4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观察输出</a:t>
            </a:r>
            <a:r>
              <a:rPr lang="en-US" altLang="x-none" sz="2600" b="1" strike="noStrike" noProof="1" dirty="0">
                <a:solidFill>
                  <a:schemeClr val="accent4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Vo</a:t>
            </a:r>
            <a:endParaRPr lang="zh-CN" altLang="en-US" sz="2600" b="1" strike="noStrike" noProof="1" dirty="0">
              <a:solidFill>
                <a:schemeClr val="accent4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indent="-457200" fontAlgn="base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SzPct val="100000"/>
              <a:buFont typeface="Wingdings" panose="05000000000000000000" charset="0"/>
              <a:buChar char="u"/>
            </a:pPr>
            <a:r>
              <a:rPr lang="zh-CN" altLang="en-US" sz="2600" b="1" strike="noStrike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细调</a:t>
            </a:r>
            <a:r>
              <a:rPr lang="en-US" altLang="x-none" sz="2600" b="1" strike="noStrike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Rp</a:t>
            </a:r>
            <a:r>
              <a:rPr lang="zh-CN" altLang="en-US" sz="2600" b="1" strike="noStrike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使</a:t>
            </a:r>
            <a:r>
              <a:rPr lang="en-US" altLang="x-none" sz="2600" b="1" strike="noStrike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Vo</a:t>
            </a:r>
            <a:r>
              <a:rPr lang="zh-CN" altLang="en-US" sz="2600" b="1" strike="noStrike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最大又不失真，记录此状态下</a:t>
            </a:r>
            <a:r>
              <a:rPr lang="en-US" altLang="x-none" sz="2600" b="1" strike="noStrike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Vi</a:t>
            </a:r>
            <a:r>
              <a:rPr lang="zh-CN" altLang="en-US" sz="2600" b="1" strike="noStrike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、</a:t>
            </a:r>
            <a:r>
              <a:rPr lang="en-US" altLang="x-none" sz="2600" b="1" strike="noStrike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Vo</a:t>
            </a:r>
            <a:r>
              <a:rPr lang="zh-CN" altLang="en-US" sz="2600" b="1" strike="noStrike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的波形、峰峰值以及其他特征值。</a:t>
            </a:r>
            <a:endParaRPr lang="zh-CN" altLang="en-US" sz="2600" b="1" strike="noStrike" noProof="1" dirty="0">
              <a:solidFill>
                <a:schemeClr val="accent4">
                  <a:lumMod val="10000"/>
                </a:schemeClr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marL="457200" indent="-457200" fontAlgn="base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SzPct val="100000"/>
              <a:buFont typeface="Wingdings" panose="05000000000000000000" charset="0"/>
              <a:buChar char="u"/>
            </a:pPr>
            <a:r>
              <a:rPr lang="zh-CN" altLang="en-US" sz="2600" b="1" strike="noStrike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 电压放大倍数</a:t>
            </a:r>
            <a:r>
              <a:rPr lang="en-US" altLang="x-none" sz="2600" b="1" strike="noStrike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A</a:t>
            </a:r>
            <a:r>
              <a:rPr lang="en-US" altLang="x-none" sz="2600" b="1" strike="noStrike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v = V</a:t>
            </a:r>
            <a:r>
              <a:rPr lang="en-US" altLang="x-none" sz="2600" b="1" strike="noStrike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opp/V</a:t>
            </a:r>
            <a:r>
              <a:rPr lang="en-US" altLang="x-none" sz="2600" b="1" strike="noStrike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ipp   </a:t>
            </a:r>
            <a:r>
              <a:rPr lang="en-US" altLang="x-none" sz="2600" b="1" strike="noStrike" noProof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(</a:t>
            </a:r>
            <a:r>
              <a:rPr lang="zh-CN" altLang="en-US" sz="2600" b="1" strike="noStrike" noProof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约</a:t>
            </a:r>
            <a:r>
              <a:rPr lang="en-US" altLang="x-none" sz="2600" b="1" strike="noStrike" noProof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30</a:t>
            </a:r>
            <a:r>
              <a:rPr lang="zh-CN" altLang="en-US" sz="2600" b="1" strike="noStrike" noProof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倍）</a:t>
            </a:r>
            <a:endParaRPr lang="zh-CN" altLang="en-US" sz="2600" b="1" strike="noStrike" noProof="1" dirty="0">
              <a:solidFill>
                <a:srgbClr val="FF0000"/>
              </a:solidFill>
              <a:latin typeface="Times New Roman" panose="02020603050405020304" pitchFamily="2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Rectangle 2"/>
          <p:cNvSpPr>
            <a:spLocks noGrp="1"/>
          </p:cNvSpPr>
          <p:nvPr/>
        </p:nvSpPr>
        <p:spPr>
          <a:xfrm>
            <a:off x="1981200" y="-952"/>
            <a:ext cx="5638800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>
            <a:lvl1pPr marL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eaLnBrk="1" hangingPunct="1"/>
            <a:r>
              <a:rPr lang="zh-CN" altLang="en-US" sz="3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三、实验</a:t>
            </a:r>
            <a:r>
              <a:rPr lang="zh-CN" altLang="en-US" sz="3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验收</a:t>
            </a:r>
            <a:endParaRPr lang="zh-CN" altLang="en-US" sz="3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17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17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97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97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97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765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graphicFrame>
        <p:nvGraphicFramePr>
          <p:cNvPr id="12289" name="对象 56322"/>
          <p:cNvGraphicFramePr/>
          <p:nvPr/>
        </p:nvGraphicFramePr>
        <p:xfrm>
          <a:off x="2135188" y="1196975"/>
          <a:ext cx="7696200" cy="372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" imgW="6276975" imgH="3038475" progId="Paint.Picture">
                  <p:embed/>
                </p:oleObj>
              </mc:Choice>
              <mc:Fallback>
                <p:oleObj name="" r:id="rId1" imgW="6276975" imgH="3038475" progId="Paint.Picture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35188" y="1196975"/>
                        <a:ext cx="7696200" cy="3725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7" name="矩形 56326"/>
          <p:cNvSpPr/>
          <p:nvPr/>
        </p:nvSpPr>
        <p:spPr>
          <a:xfrm>
            <a:off x="1752600" y="115888"/>
            <a:ext cx="5207000" cy="768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5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4400" b="1" i="0" u="none" strike="noStrike" kern="1200" cap="none" spc="0" normalizeH="0" baseline="0" noProof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1" charset="-122"/>
                <a:ea typeface="+mj-ea"/>
                <a:cs typeface="+mj-cs"/>
              </a:rPr>
              <a:t>四、电路调试方法</a:t>
            </a:r>
            <a:endParaRPr kumimoji="0" lang="zh-CN" altLang="en-US" sz="4400" b="1" i="0" u="none" strike="noStrike" kern="1200" cap="none" spc="0" normalizeH="0" baseline="0" noProof="1" dirty="0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黑体" panose="02010609060101010101" pitchFamily="1" charset="-122"/>
              <a:ea typeface="+mj-ea"/>
              <a:cs typeface="+mj-cs"/>
            </a:endParaRPr>
          </a:p>
        </p:txBody>
      </p:sp>
      <p:sp>
        <p:nvSpPr>
          <p:cNvPr id="12291" name="矩形 56327"/>
          <p:cNvSpPr/>
          <p:nvPr/>
        </p:nvSpPr>
        <p:spPr>
          <a:xfrm>
            <a:off x="1774825" y="5157788"/>
            <a:ext cx="7993063" cy="136683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>
              <a:spcBef>
                <a:spcPct val="20000"/>
              </a:spcBef>
              <a:buClr>
                <a:srgbClr val="FF3300"/>
              </a:buClr>
              <a:buSzPct val="120000"/>
              <a:buFont typeface="Wingdings" panose="05000000000000000000" pitchFamily="2" charset="2"/>
              <a:buChar char="§"/>
            </a:pPr>
            <a:r>
              <a:rPr lang="zh-CN" altLang="en-US" sz="2000" b="1" dirty="0">
                <a:latin typeface="Arial" panose="020B0604020202020204" pitchFamily="34" charset="0"/>
                <a:ea typeface="楷体_GB2312" pitchFamily="1" charset="-122"/>
              </a:rPr>
              <a:t>首先在面包板上组装好电路，参考上图搭接好实验测试平台。</a:t>
            </a:r>
            <a:endParaRPr lang="zh-CN" altLang="en-US" sz="2000" b="1" dirty="0">
              <a:latin typeface="Arial" panose="020B0604020202020204" pitchFamily="34" charset="0"/>
              <a:ea typeface="楷体_GB2312" pitchFamily="1" charset="-122"/>
            </a:endParaRPr>
          </a:p>
          <a:p>
            <a:pPr marL="342900" indent="-342900">
              <a:spcBef>
                <a:spcPct val="20000"/>
              </a:spcBef>
              <a:buClr>
                <a:srgbClr val="FF3300"/>
              </a:buClr>
              <a:buSzPct val="120000"/>
              <a:buFont typeface="Wingdings" panose="05000000000000000000" pitchFamily="2" charset="2"/>
              <a:buChar char="§"/>
            </a:pPr>
            <a:r>
              <a:rPr lang="zh-CN" altLang="en-US" sz="2000" b="1" dirty="0">
                <a:latin typeface="Arial" panose="020B0604020202020204" pitchFamily="34" charset="0"/>
                <a:ea typeface="楷体_GB2312" pitchFamily="1" charset="-122"/>
              </a:rPr>
              <a:t>然后进行电路调试：</a:t>
            </a:r>
            <a:r>
              <a:rPr lang="zh-CN" altLang="en-US" sz="2000" b="1" dirty="0">
                <a:solidFill>
                  <a:srgbClr val="FF3300"/>
                </a:solidFill>
                <a:latin typeface="Arial" panose="020B0604020202020204" pitchFamily="34" charset="0"/>
                <a:ea typeface="楷体_GB2312" pitchFamily="1" charset="-122"/>
              </a:rPr>
              <a:t>静态调试和动态调试</a:t>
            </a:r>
            <a:endParaRPr lang="zh-CN" altLang="en-US" sz="2000" b="1" dirty="0">
              <a:solidFill>
                <a:srgbClr val="FF3300"/>
              </a:solidFill>
              <a:latin typeface="Arial" panose="020B0604020202020204" pitchFamily="34" charset="0"/>
              <a:ea typeface="楷体_GB2312" pitchFamily="1" charset="-122"/>
            </a:endParaRPr>
          </a:p>
          <a:p>
            <a:pPr marL="342900" indent="-342900">
              <a:spcBef>
                <a:spcPct val="20000"/>
              </a:spcBef>
              <a:buClr>
                <a:srgbClr val="FF3300"/>
              </a:buClr>
              <a:buSzPct val="120000"/>
              <a:buFont typeface="Wingdings" panose="05000000000000000000" pitchFamily="2" charset="2"/>
              <a:buChar char="§"/>
            </a:pPr>
            <a:r>
              <a:rPr lang="zh-CN" altLang="en-US" sz="2000" b="1" dirty="0">
                <a:latin typeface="Arial" panose="020B0604020202020204" pitchFamily="34" charset="0"/>
                <a:ea typeface="楷体_GB2312" pitchFamily="1" charset="-122"/>
              </a:rPr>
              <a:t>注意：共地、与仪器连线合理有序</a:t>
            </a:r>
            <a:endParaRPr lang="zh-CN" altLang="en-US" sz="2000" b="1" dirty="0">
              <a:latin typeface="Arial" panose="020B0604020202020204" pitchFamily="34" charset="0"/>
              <a:ea typeface="楷体_GB2312" pitchFamily="1" charset="-122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 showMasterSp="0">
  <p:cSld>
    <p:spTree>
      <p:nvGrpSpPr>
        <p:cNvPr id="1" name=""/>
        <p:cNvGrpSpPr/>
        <p:nvPr/>
      </p:nvGrpSpPr>
      <p:grpSpPr/>
      <p:sp>
        <p:nvSpPr>
          <p:cNvPr id="38914" name="Rectangle 3"/>
          <p:cNvSpPr>
            <a:spLocks noGrp="1"/>
          </p:cNvSpPr>
          <p:nvPr>
            <p:ph type="body" idx="4294967295"/>
          </p:nvPr>
        </p:nvSpPr>
        <p:spPr>
          <a:xfrm>
            <a:off x="2208213" y="1123950"/>
            <a:ext cx="7772400" cy="5329238"/>
          </a:xfrm>
        </p:spPr>
        <p:txBody>
          <a:bodyPr wrap="square" anchor="t"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5000"/>
              <a:buFontTx/>
              <a:buBlip>
                <a:blip r:embed="rId1"/>
              </a:buBlip>
            </a:pP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信号发生器没锁定直流电平和占空比；</a:t>
            </a:r>
            <a:endParaRPr kumimoji="0" lang="zh-CN" altLang="en-US" sz="2400" b="1" i="0" u="none" strike="noStrike" kern="1200" cap="none" spc="0" normalizeH="0" baseline="0" noProof="1" dirty="0">
              <a:solidFill>
                <a:schemeClr val="accent4">
                  <a:lumMod val="10000"/>
                </a:schemeClr>
              </a:solidFill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5000"/>
              <a:buFontTx/>
              <a:buBlip>
                <a:blip r:embed="rId1"/>
              </a:buBlip>
            </a:pP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信号发生器信号没从函数输出口引出；</a:t>
            </a:r>
            <a:endParaRPr kumimoji="0" lang="zh-CN" altLang="en-US" sz="2400" b="1" i="0" u="none" strike="noStrike" kern="1200" cap="none" spc="0" normalizeH="0" baseline="0" noProof="1" dirty="0">
              <a:solidFill>
                <a:schemeClr val="accent4">
                  <a:lumMod val="10000"/>
                </a:schemeClr>
              </a:solidFill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5000"/>
              <a:buFontTx/>
              <a:buBlip>
                <a:blip r:embed="rId1"/>
              </a:buBlip>
            </a:pP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稳压电源没从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+mn-ea"/>
                <a:cs typeface="+mn-cs"/>
              </a:rPr>
              <a:t>“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－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Times New Roman" panose="02020603050405020304" pitchFamily="2" charset="0"/>
                <a:ea typeface="+mn-ea"/>
                <a:cs typeface="+mn-cs"/>
              </a:rPr>
              <a:t>”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端引地线或没与电路共地；</a:t>
            </a:r>
            <a:endParaRPr kumimoji="0" lang="zh-CN" altLang="en-US" sz="2400" b="1" i="0" u="none" strike="noStrike" kern="1200" cap="none" spc="0" normalizeH="0" baseline="0" noProof="1" dirty="0">
              <a:solidFill>
                <a:schemeClr val="accent4">
                  <a:lumMod val="10000"/>
                </a:schemeClr>
              </a:solidFill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5000"/>
              <a:buFontTx/>
              <a:buBlip>
                <a:blip r:embed="rId1"/>
              </a:buBlip>
            </a:pP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稳压电源不是＋</a:t>
            </a:r>
            <a:r>
              <a:rPr kumimoji="0" lang="en-US" altLang="x-none" sz="2400" b="1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12V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或还没打开；</a:t>
            </a:r>
            <a:endParaRPr kumimoji="0" lang="zh-CN" altLang="en-US" sz="2400" b="1" i="0" u="none" strike="noStrike" kern="1200" cap="none" spc="0" normalizeH="0" baseline="0" noProof="1" dirty="0">
              <a:solidFill>
                <a:schemeClr val="accent4">
                  <a:lumMod val="10000"/>
                </a:schemeClr>
              </a:solidFill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5000"/>
              <a:buFontTx/>
              <a:buBlip>
                <a:blip r:embed="rId1"/>
              </a:buBlip>
            </a:pP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三极管</a:t>
            </a:r>
            <a:r>
              <a:rPr kumimoji="0" lang="en-US" altLang="x-none" sz="2400" b="1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Symbol" panose="05050102010706020507" pitchFamily="2" charset="2"/>
                <a:ea typeface="+mn-ea"/>
                <a:cs typeface="+mn-cs"/>
              </a:rPr>
              <a:t>b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宋体" panose="02010600030101010101" pitchFamily="2" charset="-122"/>
                <a:ea typeface="+mn-ea"/>
                <a:cs typeface="+mn-cs"/>
              </a:rPr>
              <a:t>值没有用万用表测或测得</a:t>
            </a:r>
            <a:r>
              <a:rPr kumimoji="0" lang="en-US" altLang="x-none" sz="2400" b="1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宋体" panose="02010600030101010101" pitchFamily="2" charset="-122"/>
                <a:ea typeface="+mn-ea"/>
                <a:cs typeface="+mn-cs"/>
              </a:rPr>
              <a:t>&lt;50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宋体" panose="02010600030101010101" pitchFamily="2" charset="-122"/>
                <a:ea typeface="+mn-ea"/>
                <a:cs typeface="+mn-cs"/>
              </a:rPr>
              <a:t>；</a:t>
            </a:r>
            <a:endParaRPr kumimoji="0" lang="zh-CN" altLang="en-US" sz="2400" b="1" i="0" u="none" strike="noStrike" kern="1200" cap="none" spc="0" normalizeH="0" baseline="0" noProof="1" dirty="0">
              <a:solidFill>
                <a:schemeClr val="accent4">
                  <a:lumMod val="10000"/>
                </a:schemeClr>
              </a:solidFill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5000"/>
              <a:buFontTx/>
              <a:buBlip>
                <a:blip r:embed="rId1"/>
              </a:buBlip>
            </a:pP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三极管管脚没分开插或三极接错；</a:t>
            </a:r>
            <a:endParaRPr kumimoji="0" lang="zh-CN" altLang="en-US" sz="2400" b="1" i="0" u="none" strike="noStrike" kern="1200" cap="none" spc="0" normalizeH="0" baseline="0" noProof="1" dirty="0">
              <a:solidFill>
                <a:schemeClr val="accent4">
                  <a:lumMod val="10000"/>
                </a:schemeClr>
              </a:solidFill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5000"/>
              <a:buFontTx/>
              <a:buBlip>
                <a:blip r:embed="rId1"/>
              </a:buBlip>
            </a:pP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电位器用了</a:t>
            </a:r>
            <a:r>
              <a:rPr kumimoji="0" lang="en-US" altLang="x-none" sz="2400" b="1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102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（应该是</a:t>
            </a:r>
            <a:r>
              <a:rPr kumimoji="0" lang="en-US" altLang="x-none" sz="2400" b="1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104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）或根本还没调节；</a:t>
            </a:r>
            <a:endParaRPr kumimoji="0" lang="zh-CN" altLang="en-US" sz="2400" b="1" i="0" u="none" strike="noStrike" kern="1200" cap="none" spc="0" normalizeH="0" baseline="0" noProof="1" dirty="0">
              <a:solidFill>
                <a:schemeClr val="accent4">
                  <a:lumMod val="10000"/>
                </a:schemeClr>
              </a:solidFill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5000"/>
              <a:buFontTx/>
              <a:buBlip>
                <a:blip r:embed="rId1"/>
              </a:buBlip>
            </a:pP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电位器只接了固定端（中间滑动端必须用上）；</a:t>
            </a:r>
            <a:endParaRPr kumimoji="0" lang="zh-CN" altLang="en-US" sz="2400" b="1" i="0" u="none" strike="noStrike" kern="1200" cap="none" spc="0" normalizeH="0" baseline="0" noProof="1" dirty="0">
              <a:solidFill>
                <a:schemeClr val="accent4">
                  <a:lumMod val="10000"/>
                </a:schemeClr>
              </a:solidFill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5000"/>
              <a:buFontTx/>
              <a:buBlip>
                <a:blip r:embed="rId1"/>
              </a:buBlip>
            </a:pPr>
            <a:r>
              <a:rPr kumimoji="0" lang="en-US" altLang="x-none" sz="2400" b="1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R</a:t>
            </a:r>
            <a:r>
              <a:rPr kumimoji="0" lang="en-US" altLang="x-none" sz="1600" b="1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e11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用了</a:t>
            </a:r>
            <a:r>
              <a:rPr kumimoji="0" lang="en-US" altLang="x-none" sz="2400" b="1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5.1K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或</a:t>
            </a:r>
            <a:r>
              <a:rPr kumimoji="0" lang="en-US" altLang="x-none" sz="2400" b="1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51K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（应该是</a:t>
            </a:r>
            <a:r>
              <a:rPr kumimoji="0" lang="en-US" altLang="x-none" sz="2400" b="1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51</a:t>
            </a:r>
            <a:r>
              <a:rPr kumimoji="0" lang="en-US" altLang="x-none" sz="2400" b="1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Symbol" panose="05050102010706020507" pitchFamily="2" charset="2"/>
                <a:ea typeface="+mn-ea"/>
                <a:cs typeface="+mn-cs"/>
              </a:rPr>
              <a:t>W-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Symbol" panose="05050102010706020507" pitchFamily="2" charset="2"/>
                <a:ea typeface="+mn-ea"/>
                <a:cs typeface="+mn-cs"/>
              </a:rPr>
              <a:t>带金环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）；</a:t>
            </a:r>
            <a:endParaRPr kumimoji="0" lang="zh-CN" altLang="en-US" sz="2400" b="1" i="0" u="none" strike="noStrike" kern="1200" cap="none" spc="0" normalizeH="0" baseline="0" noProof="1" dirty="0">
              <a:solidFill>
                <a:schemeClr val="accent4">
                  <a:lumMod val="10000"/>
                </a:schemeClr>
              </a:solidFill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5000"/>
              <a:buFontTx/>
              <a:buBlip>
                <a:blip r:embed="rId1"/>
              </a:buBlip>
            </a:pPr>
            <a:r>
              <a:rPr kumimoji="0" lang="en-US" altLang="x-none" sz="2400" b="1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10K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和</a:t>
            </a:r>
            <a:r>
              <a:rPr kumimoji="0" lang="en-US" altLang="x-none" sz="2400" b="1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1K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固定电阻弄混了</a:t>
            </a:r>
            <a:r>
              <a:rPr kumimoji="0" lang="en-US" altLang="x-none" sz="2400" b="1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;</a:t>
            </a:r>
            <a:endParaRPr kumimoji="0" lang="en-US" altLang="x-none" sz="2400" b="1" i="0" u="none" strike="noStrike" kern="1200" cap="none" spc="0" normalizeH="0" baseline="0" noProof="1" dirty="0">
              <a:solidFill>
                <a:schemeClr val="accent4">
                  <a:lumMod val="10000"/>
                </a:schemeClr>
              </a:solidFill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5000"/>
              <a:buFontTx/>
              <a:buBlip>
                <a:blip r:embed="rId1"/>
              </a:buBlip>
            </a:pP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三个电解电容</a:t>
            </a:r>
            <a:r>
              <a:rPr kumimoji="0" lang="en-US" altLang="x-none" sz="2400" b="1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+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、</a:t>
            </a:r>
            <a:r>
              <a:rPr kumimoji="0" lang="en-US" altLang="x-none" sz="2400" b="1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- 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接反</a:t>
            </a:r>
            <a:r>
              <a:rPr kumimoji="0" lang="en-US" altLang="x-none" sz="2400" b="1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;</a:t>
            </a:r>
            <a:endParaRPr kumimoji="0" lang="en-US" altLang="x-none" sz="2400" b="1" i="0" u="none" strike="noStrike" kern="1200" cap="none" spc="0" normalizeH="0" baseline="0" noProof="1" dirty="0">
              <a:solidFill>
                <a:schemeClr val="accent4">
                  <a:lumMod val="10000"/>
                </a:schemeClr>
              </a:solidFill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85000"/>
              <a:buFontTx/>
              <a:buBlip>
                <a:blip r:embed="rId1"/>
              </a:buBlip>
            </a:pP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照书</a:t>
            </a:r>
            <a:r>
              <a:rPr kumimoji="0" lang="en-US" altLang="x-none" sz="2400" b="1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R</a:t>
            </a:r>
            <a:r>
              <a:rPr kumimoji="0" lang="en-US" altLang="x-none" sz="1600" b="1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b11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错用了</a:t>
            </a:r>
            <a:r>
              <a:rPr kumimoji="0" lang="en-US" altLang="x-none" sz="2400" b="1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100K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固定电阻（应该是</a:t>
            </a:r>
            <a:r>
              <a:rPr kumimoji="0" lang="en-US" altLang="x-none" sz="2400" b="1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16K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4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）</a:t>
            </a:r>
            <a:endParaRPr kumimoji="0" lang="zh-CN" altLang="en-US" sz="2400" b="1" i="0" u="none" strike="noStrike" kern="1200" cap="none" spc="0" normalizeH="0" baseline="0" noProof="1" dirty="0">
              <a:solidFill>
                <a:schemeClr val="accent4">
                  <a:lumMod val="1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9154" name="Line 4"/>
          <p:cNvSpPr/>
          <p:nvPr/>
        </p:nvSpPr>
        <p:spPr>
          <a:xfrm>
            <a:off x="2063750" y="981075"/>
            <a:ext cx="7670800" cy="0"/>
          </a:xfrm>
          <a:prstGeom prst="line">
            <a:avLst/>
          </a:prstGeom>
          <a:ln w="19050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8916" name="Rectangle 7"/>
          <p:cNvSpPr>
            <a:spLocks noGrp="1"/>
          </p:cNvSpPr>
          <p:nvPr>
            <p:ph type="title"/>
          </p:nvPr>
        </p:nvSpPr>
        <p:spPr>
          <a:xfrm>
            <a:off x="1919288" y="112872"/>
            <a:ext cx="8278812" cy="829945"/>
          </a:xfrm>
          <a:solidFill>
            <a:srgbClr val="CCFFFF"/>
          </a:solidFill>
        </p:spPr>
        <p:txBody>
          <a:bodyPr wrap="square" anchor="ctr" anchorCtr="0">
            <a:spAutoFit/>
          </a:bodyPr>
          <a:p>
            <a:pPr eaLnBrk="1" hangingPunct="1"/>
            <a:r>
              <a:rPr lang="zh-CN" altLang="en-US" sz="4800" b="1">
                <a:solidFill>
                  <a:schemeClr val="folHlink"/>
                </a:solidFill>
              </a:rPr>
              <a:t>耐心细心静心</a:t>
            </a:r>
            <a:endParaRPr lang="zh-CN" altLang="en-US" sz="3200" b="1">
              <a:solidFill>
                <a:srgbClr val="FF0000"/>
              </a:solidFill>
              <a:ea typeface="楷体_GB2312" pitchFamily="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charRg st="18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charRg st="36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charRg st="58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charRg st="75" end="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charRg st="95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charRg st="111" end="1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charRg st="136" end="1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charRg st="158" end="1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charRg st="186" end="2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charRg st="201" end="2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charRg st="215" end="2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 showMasterSp="0">
  <p:cSld>
    <p:spTree>
      <p:nvGrpSpPr>
        <p:cNvPr id="1" name=""/>
        <p:cNvGrpSpPr/>
        <p:nvPr/>
      </p:nvGrpSpPr>
      <p:grpSpPr/>
      <p:sp>
        <p:nvSpPr>
          <p:cNvPr id="51201" name="Rectangle 2"/>
          <p:cNvSpPr>
            <a:spLocks noGrp="1" noRot="1"/>
          </p:cNvSpPr>
          <p:nvPr>
            <p:ph type="title"/>
          </p:nvPr>
        </p:nvSpPr>
        <p:spPr>
          <a:xfrm>
            <a:off x="1774825" y="223838"/>
            <a:ext cx="8540750" cy="768350"/>
          </a:xfrm>
        </p:spPr>
        <p:txBody>
          <a:bodyPr anchor="ctr" anchorCtr="0">
            <a:spAutoFit/>
          </a:bodyPr>
          <a:p>
            <a:pPr eaLnBrk="1" hangingPunct="1"/>
            <a:r>
              <a:rPr lang="zh-CN" altLang="en-US"/>
              <a:t>电路组装与测试</a:t>
            </a:r>
            <a:endParaRPr lang="zh-CN" altLang="en-US"/>
          </a:p>
        </p:txBody>
      </p:sp>
      <p:sp>
        <p:nvSpPr>
          <p:cNvPr id="51202" name="Line 3"/>
          <p:cNvSpPr/>
          <p:nvPr/>
        </p:nvSpPr>
        <p:spPr>
          <a:xfrm>
            <a:off x="2540000" y="1066800"/>
            <a:ext cx="7670800" cy="0"/>
          </a:xfrm>
          <a:prstGeom prst="line">
            <a:avLst/>
          </a:prstGeom>
          <a:ln w="3175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graphicFrame>
        <p:nvGraphicFramePr>
          <p:cNvPr id="51203" name="Object 5"/>
          <p:cNvGraphicFramePr>
            <a:graphicFrameLocks noChangeAspect="1"/>
          </p:cNvGraphicFramePr>
          <p:nvPr/>
        </p:nvGraphicFramePr>
        <p:xfrm>
          <a:off x="3200400" y="3362325"/>
          <a:ext cx="6276975" cy="303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1" imgW="6276975" imgH="3038475" progId="Paint.Picture">
                  <p:embed/>
                </p:oleObj>
              </mc:Choice>
              <mc:Fallback>
                <p:oleObj name="" r:id="rId1" imgW="6276975" imgH="3038475" progId="Paint.Picture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00400" y="3362325"/>
                        <a:ext cx="6276975" cy="3038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4" name="Text Box 6"/>
          <p:cNvSpPr txBox="1"/>
          <p:nvPr/>
        </p:nvSpPr>
        <p:spPr>
          <a:xfrm>
            <a:off x="1847850" y="1066800"/>
            <a:ext cx="8280400" cy="182435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10000"/>
              </a:lnSpc>
              <a:spcBef>
                <a:spcPct val="10000"/>
              </a:spcBef>
              <a:buSzPct val="70000"/>
            </a:pPr>
            <a:r>
              <a:rPr lang="zh-CN" altLang="en-US" b="1">
                <a:solidFill>
                  <a:srgbClr val="000099"/>
                </a:solidFill>
                <a:latin typeface="楷体_GB2312" pitchFamily="1" charset="-122"/>
                <a:ea typeface="楷体_GB2312" pitchFamily="1" charset="-122"/>
              </a:rPr>
              <a:t>特别注意：</a:t>
            </a:r>
            <a:endParaRPr lang="zh-CN" altLang="en-US" b="1">
              <a:solidFill>
                <a:srgbClr val="000099"/>
              </a:solidFill>
              <a:latin typeface="楷体_GB2312" pitchFamily="1" charset="-122"/>
              <a:ea typeface="楷体_GB2312" pitchFamily="1" charset="-122"/>
            </a:endParaRPr>
          </a:p>
          <a:p>
            <a:pPr>
              <a:lnSpc>
                <a:spcPct val="110000"/>
              </a:lnSpc>
              <a:spcBef>
                <a:spcPct val="10000"/>
              </a:spcBef>
              <a:buSzPct val="70000"/>
            </a:pPr>
            <a:r>
              <a:rPr lang="zh-CN" altLang="en-US" b="1">
                <a:solidFill>
                  <a:srgbClr val="000099"/>
                </a:solidFill>
                <a:latin typeface="楷体_GB2312" pitchFamily="1" charset="-122"/>
                <a:ea typeface="楷体_GB2312" pitchFamily="1" charset="-122"/>
              </a:rPr>
              <a:t>    </a:t>
            </a:r>
            <a:r>
              <a:rPr lang="en-US" altLang="zh-CN" b="1">
                <a:solidFill>
                  <a:srgbClr val="000099"/>
                </a:solidFill>
                <a:latin typeface="楷体_GB2312" pitchFamily="1" charset="-122"/>
                <a:ea typeface="楷体_GB2312" pitchFamily="1" charset="-122"/>
              </a:rPr>
              <a:t>1. </a:t>
            </a:r>
            <a:r>
              <a:rPr lang="zh-CN" altLang="en-US" b="1">
                <a:solidFill>
                  <a:srgbClr val="000099"/>
                </a:solidFill>
                <a:latin typeface="楷体_GB2312" pitchFamily="1" charset="-122"/>
                <a:ea typeface="楷体_GB2312" pitchFamily="1" charset="-122"/>
              </a:rPr>
              <a:t>所有交流量均用示波器测试。</a:t>
            </a:r>
            <a:endParaRPr lang="zh-CN" altLang="en-US" b="1">
              <a:solidFill>
                <a:srgbClr val="000099"/>
              </a:solidFill>
              <a:latin typeface="楷体_GB2312" pitchFamily="1" charset="-122"/>
              <a:ea typeface="楷体_GB2312" pitchFamily="1" charset="-122"/>
            </a:endParaRPr>
          </a:p>
          <a:p>
            <a:pPr>
              <a:lnSpc>
                <a:spcPct val="110000"/>
              </a:lnSpc>
              <a:spcBef>
                <a:spcPct val="10000"/>
              </a:spcBef>
              <a:buSzPct val="70000"/>
            </a:pPr>
            <a:r>
              <a:rPr lang="zh-CN" altLang="en-US" b="1">
                <a:solidFill>
                  <a:srgbClr val="000099"/>
                </a:solidFill>
                <a:latin typeface="楷体_GB2312" pitchFamily="1" charset="-122"/>
                <a:ea typeface="楷体_GB2312" pitchFamily="1" charset="-122"/>
              </a:rPr>
              <a:t>    </a:t>
            </a:r>
            <a:r>
              <a:rPr lang="en-US" altLang="zh-CN" b="1">
                <a:solidFill>
                  <a:srgbClr val="000099"/>
                </a:solidFill>
                <a:latin typeface="楷体_GB2312" pitchFamily="1" charset="-122"/>
                <a:ea typeface="楷体_GB2312" pitchFamily="1" charset="-122"/>
              </a:rPr>
              <a:t>2. </a:t>
            </a:r>
            <a:r>
              <a:rPr lang="zh-CN" altLang="en-US" b="1">
                <a:solidFill>
                  <a:srgbClr val="000099"/>
                </a:solidFill>
                <a:latin typeface="楷体_GB2312" pitchFamily="1" charset="-122"/>
                <a:ea typeface="楷体_GB2312" pitchFamily="1" charset="-122"/>
              </a:rPr>
              <a:t>发现电路不能正常工作，要用测试方法排查故障。</a:t>
            </a:r>
            <a:endParaRPr lang="zh-CN" altLang="en-US" b="1">
              <a:solidFill>
                <a:srgbClr val="000099"/>
              </a:solidFill>
              <a:latin typeface="楷体_GB2312" pitchFamily="1" charset="-122"/>
              <a:ea typeface="楷体_GB2312" pitchFamily="1" charset="-122"/>
            </a:endParaRPr>
          </a:p>
          <a:p>
            <a:pPr>
              <a:lnSpc>
                <a:spcPct val="110000"/>
              </a:lnSpc>
              <a:spcBef>
                <a:spcPct val="10000"/>
              </a:spcBef>
              <a:buSzPct val="70000"/>
            </a:pPr>
            <a:r>
              <a:rPr lang="zh-CN" altLang="en-US" b="1">
                <a:solidFill>
                  <a:srgbClr val="000099"/>
                </a:solidFill>
                <a:latin typeface="楷体_GB2312" pitchFamily="1" charset="-122"/>
                <a:ea typeface="楷体_GB2312" pitchFamily="1" charset="-122"/>
              </a:rPr>
              <a:t>    </a:t>
            </a:r>
            <a:r>
              <a:rPr lang="en-US" altLang="zh-CN" b="1">
                <a:solidFill>
                  <a:srgbClr val="000099"/>
                </a:solidFill>
                <a:latin typeface="楷体_GB2312" pitchFamily="1" charset="-122"/>
                <a:ea typeface="楷体_GB2312" pitchFamily="1" charset="-122"/>
              </a:rPr>
              <a:t>3. </a:t>
            </a:r>
            <a:r>
              <a:rPr lang="zh-CN" altLang="en-US" b="1">
                <a:solidFill>
                  <a:srgbClr val="000099"/>
                </a:solidFill>
                <a:latin typeface="楷体_GB2312" pitchFamily="1" charset="-122"/>
                <a:ea typeface="楷体_GB2312" pitchFamily="1" charset="-122"/>
              </a:rPr>
              <a:t>实验前，先用万用表测出</a:t>
            </a:r>
            <a:r>
              <a:rPr lang="zh-CN" altLang="en-US" b="1" i="1">
                <a:solidFill>
                  <a:srgbClr val="000099"/>
                </a:solidFill>
                <a:latin typeface="楷体_GB2312" pitchFamily="1" charset="-122"/>
                <a:ea typeface="楷体_GB2312" pitchFamily="1" charset="-122"/>
                <a:sym typeface="Symbol" panose="05050102010706020507" pitchFamily="2" charset="2"/>
              </a:rPr>
              <a:t> </a:t>
            </a:r>
            <a:r>
              <a:rPr lang="zh-CN" altLang="en-US" b="1">
                <a:solidFill>
                  <a:srgbClr val="000099"/>
                </a:solidFill>
                <a:latin typeface="楷体_GB2312" pitchFamily="1" charset="-122"/>
                <a:ea typeface="楷体_GB2312" pitchFamily="1" charset="-122"/>
              </a:rPr>
              <a:t>值。</a:t>
            </a:r>
            <a:endParaRPr lang="zh-CN" altLang="en-US" b="1">
              <a:solidFill>
                <a:srgbClr val="000099"/>
              </a:solidFill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PP_MARK_KEY" val="6c517a82-a27f-4e78-800e-25ef6f20181e"/>
  <p:tag name="COMMONDATA" val="eyJoZGlkIjoiYTM0YjhhZjY5NzRhNjAxYjg5MGU1NzlhYWJkMjM3YzMifQ=="/>
  <p:tag name="commondata" val="eyJoZGlkIjoiMDNmZGY2OGEzMzEyZTYzNzQyZDBmMjk5N2NjMThkM2EifQ=="/>
</p:tagLst>
</file>

<file path=ppt/theme/theme1.xml><?xml version="1.0" encoding="utf-8"?>
<a:theme xmlns:a="http://schemas.openxmlformats.org/drawingml/2006/main" name="Network Blitz">
  <a:themeElements>
    <a:clrScheme name="">
      <a:dk1>
        <a:srgbClr val="FFFFFF"/>
      </a:dk1>
      <a:lt1>
        <a:srgbClr val="000066"/>
      </a:lt1>
      <a:dk2>
        <a:srgbClr val="FFCC00"/>
      </a:dk2>
      <a:lt2>
        <a:srgbClr val="000044"/>
      </a:lt2>
      <a:accent1>
        <a:srgbClr val="9CE157"/>
      </a:accent1>
      <a:accent2>
        <a:srgbClr val="2663A0"/>
      </a:accent2>
      <a:accent3>
        <a:srgbClr val="AAAAB9"/>
      </a:accent3>
      <a:accent4>
        <a:srgbClr val="DCDCDC"/>
      </a:accent4>
      <a:accent5>
        <a:srgbClr val="CBEDB5"/>
      </a:accent5>
      <a:accent6>
        <a:srgbClr val="21588F"/>
      </a:accent6>
      <a:hlink>
        <a:srgbClr val="F98D43"/>
      </a:hlink>
      <a:folHlink>
        <a:srgbClr val="CC3300"/>
      </a:folHlink>
    </a:clrScheme>
    <a:fontScheme name="">
      <a:majorFont>
        <a:latin typeface="Arial Black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FFFFFF"/>
        </a:dk1>
        <a:lt1>
          <a:srgbClr val="000066"/>
        </a:lt1>
        <a:dk2>
          <a:srgbClr val="FFCC00"/>
        </a:dk2>
        <a:lt2>
          <a:srgbClr val="000044"/>
        </a:lt2>
        <a:accent1>
          <a:srgbClr val="9CE157"/>
        </a:accent1>
        <a:accent2>
          <a:srgbClr val="2663A0"/>
        </a:accent2>
        <a:accent3>
          <a:srgbClr val="AAAAB9"/>
        </a:accent3>
        <a:accent4>
          <a:srgbClr val="DCDCDC"/>
        </a:accent4>
        <a:accent5>
          <a:srgbClr val="CBEDB5"/>
        </a:accent5>
        <a:accent6>
          <a:srgbClr val="21588F"/>
        </a:accent6>
        <a:hlink>
          <a:srgbClr val="F98D43"/>
        </a:hlink>
        <a:folHlink>
          <a:srgbClr val="CC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66"/>
        </a:dk1>
        <a:lt1>
          <a:srgbClr val="9CC2E8"/>
        </a:lt1>
        <a:dk2>
          <a:srgbClr val="4D4D4D"/>
        </a:dk2>
        <a:lt2>
          <a:srgbClr val="7DAFE1"/>
        </a:lt2>
        <a:accent1>
          <a:srgbClr val="26D2E4"/>
        </a:accent1>
        <a:accent2>
          <a:srgbClr val="D0E2F4"/>
        </a:accent2>
        <a:accent3>
          <a:srgbClr val="CBDDF1"/>
        </a:accent3>
        <a:accent4>
          <a:srgbClr val="000057"/>
        </a:accent4>
        <a:accent5>
          <a:srgbClr val="ABE5EF"/>
        </a:accent5>
        <a:accent6>
          <a:srgbClr val="BACADB"/>
        </a:accent6>
        <a:hlink>
          <a:srgbClr val="0033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EAEAEA"/>
        </a:lt1>
        <a:dk2>
          <a:srgbClr val="333333"/>
        </a:dk2>
        <a:lt2>
          <a:srgbClr val="DDDDDD"/>
        </a:lt2>
        <a:accent1>
          <a:srgbClr val="C0C0C0"/>
        </a:accent1>
        <a:accent2>
          <a:srgbClr val="FFFFFF"/>
        </a:accent2>
        <a:accent3>
          <a:srgbClr val="F2F2F2"/>
        </a:accent3>
        <a:accent4>
          <a:srgbClr val="000000"/>
        </a:accent4>
        <a:accent5>
          <a:srgbClr val="DCDCDC"/>
        </a:accent5>
        <a:accent6>
          <a:srgbClr val="E5E5E5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5250"/>
        </a:lt1>
        <a:dk2>
          <a:srgbClr val="FFCC00"/>
        </a:dk2>
        <a:lt2>
          <a:srgbClr val="002E2D"/>
        </a:lt2>
        <a:accent1>
          <a:srgbClr val="9CE157"/>
        </a:accent1>
        <a:accent2>
          <a:srgbClr val="00817E"/>
        </a:accent2>
        <a:accent3>
          <a:srgbClr val="AAB3B3"/>
        </a:accent3>
        <a:accent4>
          <a:srgbClr val="DCDCDC"/>
        </a:accent4>
        <a:accent5>
          <a:srgbClr val="CBEDB5"/>
        </a:accent5>
        <a:accent6>
          <a:srgbClr val="007370"/>
        </a:accent6>
        <a:hlink>
          <a:srgbClr val="FFFF99"/>
        </a:hlink>
        <a:folHlink>
          <a:srgbClr val="CC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B256B"/>
        </a:lt1>
        <a:dk2>
          <a:srgbClr val="FFCC00"/>
        </a:dk2>
        <a:lt2>
          <a:srgbClr val="291A4C"/>
        </a:lt2>
        <a:accent1>
          <a:srgbClr val="6EBFCA"/>
        </a:accent1>
        <a:accent2>
          <a:srgbClr val="56369C"/>
        </a:accent2>
        <a:accent3>
          <a:srgbClr val="AFABBA"/>
        </a:accent3>
        <a:accent4>
          <a:srgbClr val="DCDCDC"/>
        </a:accent4>
        <a:accent5>
          <a:srgbClr val="BBDBE1"/>
        </a:accent5>
        <a:accent6>
          <a:srgbClr val="4C308B"/>
        </a:accent6>
        <a:hlink>
          <a:srgbClr val="CCCCFF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D2740"/>
        </a:lt1>
        <a:dk2>
          <a:srgbClr val="FDD409"/>
        </a:dk2>
        <a:lt2>
          <a:srgbClr val="511D30"/>
        </a:lt2>
        <a:accent1>
          <a:srgbClr val="FDB83B"/>
        </a:accent1>
        <a:accent2>
          <a:srgbClr val="9D395D"/>
        </a:accent2>
        <a:accent3>
          <a:srgbClr val="BBABB0"/>
        </a:accent3>
        <a:accent4>
          <a:srgbClr val="DCDCDC"/>
        </a:accent4>
        <a:accent5>
          <a:srgbClr val="FED8AF"/>
        </a:accent5>
        <a:accent6>
          <a:srgbClr val="8C3253"/>
        </a:accent6>
        <a:hlink>
          <a:srgbClr val="FF99CC"/>
        </a:hlink>
        <a:folHlink>
          <a:srgbClr val="D6009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Network Blitz">
  <a:themeElements>
    <a:clrScheme name="">
      <a:dk1>
        <a:srgbClr val="FFFFFF"/>
      </a:dk1>
      <a:lt1>
        <a:srgbClr val="000066"/>
      </a:lt1>
      <a:dk2>
        <a:srgbClr val="FFCC00"/>
      </a:dk2>
      <a:lt2>
        <a:srgbClr val="000044"/>
      </a:lt2>
      <a:accent1>
        <a:srgbClr val="9CE157"/>
      </a:accent1>
      <a:accent2>
        <a:srgbClr val="2663A0"/>
      </a:accent2>
      <a:accent3>
        <a:srgbClr val="AAAAB9"/>
      </a:accent3>
      <a:accent4>
        <a:srgbClr val="DCDCDC"/>
      </a:accent4>
      <a:accent5>
        <a:srgbClr val="CBEDB5"/>
      </a:accent5>
      <a:accent6>
        <a:srgbClr val="21588F"/>
      </a:accent6>
      <a:hlink>
        <a:srgbClr val="F98D43"/>
      </a:hlink>
      <a:folHlink>
        <a:srgbClr val="CC3300"/>
      </a:folHlink>
    </a:clrScheme>
    <a:fontScheme name="">
      <a:majorFont>
        <a:latin typeface="Arial Black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FFFFFF"/>
        </a:dk1>
        <a:lt1>
          <a:srgbClr val="000066"/>
        </a:lt1>
        <a:dk2>
          <a:srgbClr val="FFCC00"/>
        </a:dk2>
        <a:lt2>
          <a:srgbClr val="000044"/>
        </a:lt2>
        <a:accent1>
          <a:srgbClr val="9CE157"/>
        </a:accent1>
        <a:accent2>
          <a:srgbClr val="2663A0"/>
        </a:accent2>
        <a:accent3>
          <a:srgbClr val="AAAAB9"/>
        </a:accent3>
        <a:accent4>
          <a:srgbClr val="DCDCDC"/>
        </a:accent4>
        <a:accent5>
          <a:srgbClr val="CBEDB5"/>
        </a:accent5>
        <a:accent6>
          <a:srgbClr val="21588F"/>
        </a:accent6>
        <a:hlink>
          <a:srgbClr val="F98D43"/>
        </a:hlink>
        <a:folHlink>
          <a:srgbClr val="CC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66"/>
        </a:dk1>
        <a:lt1>
          <a:srgbClr val="9CC2E8"/>
        </a:lt1>
        <a:dk2>
          <a:srgbClr val="4D4D4D"/>
        </a:dk2>
        <a:lt2>
          <a:srgbClr val="7DAFE1"/>
        </a:lt2>
        <a:accent1>
          <a:srgbClr val="26D2E4"/>
        </a:accent1>
        <a:accent2>
          <a:srgbClr val="D0E2F4"/>
        </a:accent2>
        <a:accent3>
          <a:srgbClr val="CBDDF1"/>
        </a:accent3>
        <a:accent4>
          <a:srgbClr val="000057"/>
        </a:accent4>
        <a:accent5>
          <a:srgbClr val="ABE5EF"/>
        </a:accent5>
        <a:accent6>
          <a:srgbClr val="BACADB"/>
        </a:accent6>
        <a:hlink>
          <a:srgbClr val="0033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EAEAEA"/>
        </a:lt1>
        <a:dk2>
          <a:srgbClr val="333333"/>
        </a:dk2>
        <a:lt2>
          <a:srgbClr val="DDDDDD"/>
        </a:lt2>
        <a:accent1>
          <a:srgbClr val="C0C0C0"/>
        </a:accent1>
        <a:accent2>
          <a:srgbClr val="FFFFFF"/>
        </a:accent2>
        <a:accent3>
          <a:srgbClr val="F2F2F2"/>
        </a:accent3>
        <a:accent4>
          <a:srgbClr val="000000"/>
        </a:accent4>
        <a:accent5>
          <a:srgbClr val="DCDCDC"/>
        </a:accent5>
        <a:accent6>
          <a:srgbClr val="E5E5E5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5250"/>
        </a:lt1>
        <a:dk2>
          <a:srgbClr val="FFCC00"/>
        </a:dk2>
        <a:lt2>
          <a:srgbClr val="002E2D"/>
        </a:lt2>
        <a:accent1>
          <a:srgbClr val="9CE157"/>
        </a:accent1>
        <a:accent2>
          <a:srgbClr val="00817E"/>
        </a:accent2>
        <a:accent3>
          <a:srgbClr val="AAB3B3"/>
        </a:accent3>
        <a:accent4>
          <a:srgbClr val="DCDCDC"/>
        </a:accent4>
        <a:accent5>
          <a:srgbClr val="CBEDB5"/>
        </a:accent5>
        <a:accent6>
          <a:srgbClr val="007370"/>
        </a:accent6>
        <a:hlink>
          <a:srgbClr val="FFFF99"/>
        </a:hlink>
        <a:folHlink>
          <a:srgbClr val="CC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B256B"/>
        </a:lt1>
        <a:dk2>
          <a:srgbClr val="FFCC00"/>
        </a:dk2>
        <a:lt2>
          <a:srgbClr val="291A4C"/>
        </a:lt2>
        <a:accent1>
          <a:srgbClr val="6EBFCA"/>
        </a:accent1>
        <a:accent2>
          <a:srgbClr val="56369C"/>
        </a:accent2>
        <a:accent3>
          <a:srgbClr val="AFABBA"/>
        </a:accent3>
        <a:accent4>
          <a:srgbClr val="DCDCDC"/>
        </a:accent4>
        <a:accent5>
          <a:srgbClr val="BBDBE1"/>
        </a:accent5>
        <a:accent6>
          <a:srgbClr val="4C308B"/>
        </a:accent6>
        <a:hlink>
          <a:srgbClr val="CCCCFF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D2740"/>
        </a:lt1>
        <a:dk2>
          <a:srgbClr val="FDD409"/>
        </a:dk2>
        <a:lt2>
          <a:srgbClr val="511D30"/>
        </a:lt2>
        <a:accent1>
          <a:srgbClr val="FDB83B"/>
        </a:accent1>
        <a:accent2>
          <a:srgbClr val="9D395D"/>
        </a:accent2>
        <a:accent3>
          <a:srgbClr val="BBABB0"/>
        </a:accent3>
        <a:accent4>
          <a:srgbClr val="DCDCDC"/>
        </a:accent4>
        <a:accent5>
          <a:srgbClr val="FED8AF"/>
        </a:accent5>
        <a:accent6>
          <a:srgbClr val="8C3253"/>
        </a:accent6>
        <a:hlink>
          <a:srgbClr val="FF99CC"/>
        </a:hlink>
        <a:folHlink>
          <a:srgbClr val="D6009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Designs\Network Blitz.pot</Template>
  <TotalTime>0</TotalTime>
  <Words>1912</Words>
  <Application>WPS 演示</Application>
  <PresentationFormat>全屏显示(4:3)</PresentationFormat>
  <Paragraphs>265</Paragraphs>
  <Slides>16</Slides>
  <Notes>10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15</vt:i4>
      </vt:variant>
      <vt:variant>
        <vt:lpstr>幻灯片标题</vt:lpstr>
      </vt:variant>
      <vt:variant>
        <vt:i4>16</vt:i4>
      </vt:variant>
    </vt:vector>
  </HeadingPairs>
  <TitlesOfParts>
    <vt:vector size="50" baseType="lpstr">
      <vt:lpstr>Arial</vt:lpstr>
      <vt:lpstr>宋体</vt:lpstr>
      <vt:lpstr>Wingdings</vt:lpstr>
      <vt:lpstr>Times New Roman</vt:lpstr>
      <vt:lpstr>微软雅黑</vt:lpstr>
      <vt:lpstr>Book Antiqua</vt:lpstr>
      <vt:lpstr>Wingdings</vt:lpstr>
      <vt:lpstr>隶书</vt:lpstr>
      <vt:lpstr>楷体_GB2312</vt:lpstr>
      <vt:lpstr>新宋体</vt:lpstr>
      <vt:lpstr>黑体</vt:lpstr>
      <vt:lpstr>Tahoma</vt:lpstr>
      <vt:lpstr>Symbol</vt:lpstr>
      <vt:lpstr>Monotype Sorts</vt:lpstr>
      <vt:lpstr>华文新魏</vt:lpstr>
      <vt:lpstr>Arial Unicode MS</vt:lpstr>
      <vt:lpstr>Arial Black</vt:lpstr>
      <vt:lpstr>Network Blitz</vt:lpstr>
      <vt:lpstr>1_Network Blitz</vt:lpstr>
      <vt:lpstr>Word.Picture.8</vt:lpstr>
      <vt:lpstr>WPS.Doc.6</vt:lpstr>
      <vt:lpstr>Equation.3</vt:lpstr>
      <vt:lpstr>WPS.Doc.6</vt:lpstr>
      <vt:lpstr>Equation.3</vt:lpstr>
      <vt:lpstr>Paint.Picture</vt:lpstr>
      <vt:lpstr>Paint.Picture</vt:lpstr>
      <vt:lpstr>WPS.Doc.6</vt:lpstr>
      <vt:lpstr>WPS.Doc.6</vt:lpstr>
      <vt:lpstr>WPS.Doc.6</vt:lpstr>
      <vt:lpstr>Word.Picture.8</vt:lpstr>
      <vt:lpstr>WPS.Doc.6</vt:lpstr>
      <vt:lpstr>Equation.3</vt:lpstr>
      <vt:lpstr>Equation.3</vt:lpstr>
      <vt:lpstr>WPS.Doc.6</vt:lpstr>
      <vt:lpstr>PowerPoint 演示文稿</vt:lpstr>
      <vt:lpstr>一 实验目的</vt:lpstr>
      <vt:lpstr>二 实验内容：单级共射放大电路</vt:lpstr>
      <vt:lpstr>PowerPoint 演示文稿</vt:lpstr>
      <vt:lpstr>实验原理图  单级共射放大电路</vt:lpstr>
      <vt:lpstr>PowerPoint 演示文稿</vt:lpstr>
      <vt:lpstr>PowerPoint 演示文稿</vt:lpstr>
      <vt:lpstr>PowerPoint 演示文稿</vt:lpstr>
      <vt:lpstr>3：电路幅频特性&amp;通频带BW</vt:lpstr>
      <vt:lpstr>通频带的测试方法</vt:lpstr>
      <vt:lpstr>三、实验验收</vt:lpstr>
      <vt:lpstr>PowerPoint 演示文稿</vt:lpstr>
      <vt:lpstr>PowerPoint 演示文稿</vt:lpstr>
      <vt:lpstr>PowerPoint 演示文稿</vt:lpstr>
      <vt:lpstr>耐心细心静心</vt:lpstr>
      <vt:lpstr>电路组装与测试</vt:lpstr>
    </vt:vector>
  </TitlesOfParts>
  <Company>Microsoft 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电子线路测试与实验</dc:title>
  <dc:creator>hgg</dc:creator>
  <cp:lastModifiedBy>Administrator</cp:lastModifiedBy>
  <cp:revision>254</cp:revision>
  <dcterms:created xsi:type="dcterms:W3CDTF">2004-02-14T13:48:00Z</dcterms:created>
  <dcterms:modified xsi:type="dcterms:W3CDTF">2025-11-12T11:19:22Z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2052-11.8.2.11718</vt:lpwstr>
  </property>
  <property fmtid="{D5CDD505-2E9C-101B-9397-08002B2CF9AE}" pid="3" name="ICV">
    <vt:lpwstr>83ACD80F0918495292BAE608A2998EDC</vt:lpwstr>
  </property>
</Properties>
</file>