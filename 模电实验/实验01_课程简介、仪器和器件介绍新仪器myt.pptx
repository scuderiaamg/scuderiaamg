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83" r:id="rId3"/>
    <p:sldId id="344" r:id="rId4"/>
    <p:sldId id="345" r:id="rId5"/>
    <p:sldId id="346" r:id="rId6"/>
    <p:sldId id="521"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522" r:id="rId22"/>
    <p:sldId id="360" r:id="rId23"/>
    <p:sldId id="523" r:id="rId24"/>
    <p:sldId id="469" r:id="rId25"/>
    <p:sldId id="468" r:id="rId26"/>
    <p:sldId id="427" r:id="rId27"/>
    <p:sldId id="361" r:id="rId28"/>
    <p:sldId id="362" r:id="rId29"/>
    <p:sldId id="363" r:id="rId30"/>
    <p:sldId id="364" r:id="rId31"/>
    <p:sldId id="365" r:id="rId32"/>
    <p:sldId id="366" r:id="rId33"/>
    <p:sldId id="276" r:id="rId34"/>
    <p:sldId id="266" r:id="rId35"/>
    <p:sldId id="313" r:id="rId36"/>
    <p:sldId id="314" r:id="rId37"/>
    <p:sldId id="301" r:id="rId38"/>
    <p:sldId id="315" r:id="rId39"/>
    <p:sldId id="316" r:id="rId40"/>
    <p:sldId id="317" r:id="rId41"/>
    <p:sldId id="318" r:id="rId42"/>
    <p:sldId id="319" r:id="rId43"/>
    <p:sldId id="320" r:id="rId44"/>
    <p:sldId id="321" r:id="rId45"/>
    <p:sldId id="322" r:id="rId46"/>
    <p:sldId id="323" r:id="rId47"/>
    <p:sldId id="324" r:id="rId48"/>
    <p:sldId id="325" r:id="rId49"/>
    <p:sldId id="405" r:id="rId50"/>
    <p:sldId id="336" r:id="rId51"/>
    <p:sldId id="337" r:id="rId52"/>
    <p:sldId id="338" r:id="rId53"/>
    <p:sldId id="339" r:id="rId54"/>
    <p:sldId id="340" r:id="rId55"/>
    <p:sldId id="341" r:id="rId56"/>
    <p:sldId id="342" r:id="rId57"/>
    <p:sldId id="303" r:id="rId58"/>
    <p:sldId id="309" r:id="rId59"/>
    <p:sldId id="524" r:id="rId60"/>
    <p:sldId id="333" r:id="rId61"/>
    <p:sldId id="512" r:id="rId62"/>
    <p:sldId id="326" r:id="rId63"/>
    <p:sldId id="304" r:id="rId64"/>
    <p:sldId id="327" r:id="rId65"/>
    <p:sldId id="328" r:id="rId66"/>
    <p:sldId id="329" r:id="rId67"/>
    <p:sldId id="330" r:id="rId68"/>
    <p:sldId id="583" r:id="rId69"/>
    <p:sldId id="584" r:id="rId70"/>
    <p:sldId id="586" r:id="rId71"/>
    <p:sldId id="587" r:id="rId72"/>
    <p:sldId id="306" r:id="rId73"/>
  </p:sldIdLst>
  <p:sldSz cx="9144000" cy="6858000" type="screen4x3"/>
  <p:notesSz cx="6858000" cy="9144000"/>
  <p:custDataLst>
    <p:tags r:id="rId78"/>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32" userDrawn="1">
          <p15:clr>
            <a:srgbClr val="A4A3A4"/>
          </p15:clr>
        </p15:guide>
        <p15:guide id="2" pos="287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FFFF"/>
    <a:srgbClr val="99CCFF"/>
    <a:srgbClr val="FF33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p:scale>
          <a:sx n="70" d="100"/>
          <a:sy n="70" d="100"/>
        </p:scale>
        <p:origin x="-514" y="-221"/>
      </p:cViewPr>
      <p:guideLst>
        <p:guide orient="horz" pos="2232"/>
        <p:guide pos="2875"/>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44.xml"/><Relationship Id="rId77" Type="http://schemas.openxmlformats.org/officeDocument/2006/relationships/commentAuthors" Target="commentAuthors.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image" Target="../media/image3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A602118-8E12-4A3D-A48D-A57DF8565041}"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幻灯片图像占位符 1"/>
          <p:cNvSpPr>
            <a:spLocks noGrp="1"/>
          </p:cNvSpPr>
          <p:nvPr>
            <p:ph type="sldImg"/>
          </p:nvPr>
        </p:nvSpPr>
        <p:spPr/>
      </p:sp>
      <p:sp>
        <p:nvSpPr>
          <p:cNvPr id="11266" name="文本占位符 2"/>
          <p:cNvSpPr/>
          <p:nvPr>
            <p:ph type="body"/>
          </p:nvPr>
        </p:nvSpPr>
        <p:spPr/>
        <p:txBody>
          <a:bodyPr wrap="square" lIns="91440" tIns="45720" rIns="91440" bIns="45720" anchor="ctr"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幻灯片图像占位符 1"/>
          <p:cNvSpPr>
            <a:spLocks noGrp="1"/>
          </p:cNvSpPr>
          <p:nvPr>
            <p:ph type="sldImg"/>
          </p:nvPr>
        </p:nvSpPr>
        <p:spPr/>
      </p:sp>
      <p:sp>
        <p:nvSpPr>
          <p:cNvPr id="11266" name="文本占位符 2"/>
          <p:cNvSpPr/>
          <p:nvPr>
            <p:ph type="body"/>
          </p:nvPr>
        </p:nvSpPr>
        <p:spPr/>
        <p:txBody>
          <a:bodyPr wrap="square" lIns="91440" tIns="45720" rIns="91440" bIns="45720" anchor="ctr" anchorCtr="0"/>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国家标准规定了电阻的阻值按其精度分为两大系列，分别为E-24系列和E-96系列，E-24系列精度为5%，E-96系列为1%，在这街窒盗兄 獾牡缱栉 潜甑缱瑁 夏巡晒骸Ｏ旅媪谐隽顺Ｓ玫?％和1％精度电阻的标称值，供大家设计时参考。  精度为5％的碳膜电阻，以欧姆为单位的标称值： 1.0    5.6    33     160     820      3.9K     20K     100K     510K     2.7M 1.1    6.2    36     180     910      4.3K     22K     110K     560K     3M 1.2    6.8    39     200     1K       4.7K     24K     120K     620K     3.3M 1.3    7.5    43     220     1.1K     5.1K     27K     130K     680K     3.6M 1.5    8.2    47     240     1.2K     5.6K     30K     150K     750K     3.9M 1.6    9.1    51     270     1.3K     6.2K     33K     160K     820K     4.3M 1.8    10     56     300     1.5K     6.6K     36K     180K     910K     4.7M 2.0    11     62     330     1.6K     7.5K     39K     200K     1M       5.1M 2.2    12     68     360     1.8K     8.2K     43K     220K     1.1M     5.6M 2.4    13     75     390     2K       9.1K     47K     240K     1.2M     6.2M 2.7    15     82     430     2.2K     10K      51K     270K     1.3M     6.8M 3.0    16     91     470     2.4K     11K      56K     300K     1.5M     7.5M 3.3    18     100    510     2.7K     12K      62K     330K     1.6M     8.2M 3.6    20     110    560     3K       13K      68K     360K     1.8M     9.1M 3.9    22     120    620     3.2K     15K      75K     390K     2M       10M 4.3    24     130    680     3.3K     16K      82K     430K     2.2M     15M 4.7    27     150    750     3.6K     18K      91K     470K     2.4M     22M 5.1    30       精度为1％的金属膜电阻，以欧姆为单位的标称值： 10      33      100    332    1K       3.32K    10.5K    34K      107K    357K 10.2    33.2    102    340    1.02K    3.4K     10.7K    34.8K    110K    360K 10.5    34      105    348    1.05K    3.48K    11K      35.7K    113K    365K 10.7    34.8    107    350    1.07K    3.57K    11.3K    36K      115K    374K 11      35.7    110    357    1.1K     3.6K     11.5K    36.5K    118K    383K 11.3    36      113    360    1.13K    3.65K    11.8K    37.4K    120K    390K 11.5    36.5    115    365    1.15K    3.74K    12K      38.3K    121K    392K 11.8    37.4    118    374    1.18K    3.83K    12.1K    39K      124K    402K 12      38.3    120    383    1.2K     3.9K     12.4K    39.2K    127K    412K 12.1    39      121    390    1.21K    3.92K    12.7K    40.2K    130K    422K 12.4    39.2    124    392    1.24K    4.02K    13K      41.2K    133K    430K 12.7    40.2    127    402    1.27K    4.12K    13.3K    42.2K    137K    432K 13      41.2    130    412    1.3K     4.22K    13.7K    43K      140K    442K 13.3    42.2    133    422    1.33K    4.32K    14K      43.2K    143K    453K 13.7    43      137    430    1.37K    4.42K    14.3K    44.2K    147K    464K 14      43.2    140    432    1.4K     4.53K    14.7K    45.3K    150K    470K </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幻灯片图像占位符 1"/>
          <p:cNvSpPr>
            <a:spLocks noGrp="1"/>
          </p:cNvSpPr>
          <p:nvPr>
            <p:ph type="sldImg"/>
          </p:nvPr>
        </p:nvSpPr>
        <p:spPr/>
      </p:sp>
      <p:sp>
        <p:nvSpPr>
          <p:cNvPr id="15362" name="文本占位符 2"/>
          <p:cNvSpPr/>
          <p:nvPr>
            <p:ph type="body"/>
          </p:nvPr>
        </p:nvSpPr>
        <p:spPr/>
        <p:txBody>
          <a:bodyPr wrap="square" lIns="91440" tIns="45720" rIns="91440" bIns="45720" anchor="ctr" anchorCtr="0"/>
          <a:p>
            <a:pPr lvl="0"/>
            <a:r>
              <a:rPr lang="en-US" altLang="zh-CN"/>
              <a:t>1</a:t>
            </a:r>
            <a:r>
              <a:rPr lang="zh-CN" altLang="en-US"/>
              <a:t>：测定好总电阻。</a:t>
            </a:r>
            <a:endParaRPr lang="zh-CN" altLang="en-US"/>
          </a:p>
          <a:p>
            <a:pPr lvl="0"/>
            <a:r>
              <a:rPr lang="en-US" altLang="zh-CN"/>
              <a:t>2</a:t>
            </a:r>
            <a:r>
              <a:rPr lang="zh-CN" altLang="en-US"/>
              <a:t>：测定好滑动段的电阻</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0482" name="Rectangle 2"/>
          <p:cNvSpPr>
            <a:spLocks noGrp="1" noTextEdit="1"/>
          </p:cNvSpPr>
          <p:nvPr>
            <p:ph type="sldImg"/>
          </p:nvPr>
        </p:nvSpPr>
        <p:spPr/>
      </p:sp>
      <p:sp>
        <p:nvSpPr>
          <p:cNvPr id="20483" name="Rectangle 3"/>
          <p:cNvSpPr>
            <a:spLocks noGrp="1"/>
          </p:cNvSpPr>
          <p:nvPr>
            <p:ph type="body"/>
          </p:nvPr>
        </p:nvSpPr>
        <p:spPr/>
        <p:txBody>
          <a:bodyPr wrap="square" lIns="91440" tIns="45720" rIns="91440" bIns="45720" anchor="ctr" anchorCtr="0"/>
          <a:p>
            <a:pPr lvl="0" eaLnBrk="1" hangingPunct="1"/>
            <a:r>
              <a:rPr lang="zh-CN" altLang="zh-CN" dirty="0"/>
              <a:t>发放的普通二极管可用作稳压二极管。</a:t>
            </a:r>
            <a:endParaRPr lang="zh-CN" altLang="zh-CN" dirty="0"/>
          </a:p>
          <a:p>
            <a:pPr lvl="0" eaLnBrk="1" hangingPunct="1"/>
            <a:r>
              <a:rPr lang="zh-CN" altLang="zh-CN" dirty="0"/>
              <a:t>一般二极管管压降是 零点几伏；发光管压降是 一点几伏。</a:t>
            </a:r>
            <a:endParaRPr lang="zh-CN" altLang="zh-CN" dirty="0"/>
          </a:p>
          <a:p>
            <a:pPr lvl="0" eaLnBrk="1" hangingPunct="1"/>
            <a:r>
              <a:rPr lang="zh-CN" altLang="zh-CN" dirty="0"/>
              <a:t>开关二极管：</a:t>
            </a:r>
            <a:endParaRPr lang="zh-CN" altLang="zh-CN" dirty="0"/>
          </a:p>
          <a:p>
            <a:pPr lvl="0" eaLnBrk="1" hangingPunct="1"/>
            <a:endParaRPr lang="zh-CN" altLang="zh-CN" dirty="0"/>
          </a:p>
          <a:p>
            <a:pPr lvl="0" eaLnBrk="1" hangingPunct="1"/>
            <a:r>
              <a:rPr lang="zh-CN" altLang="zh-CN" dirty="0"/>
              <a:t>开关二极管开关速度高，即应用频率高。开关二极管高频性能良好，主要用于开关电路作为电子开关使用。</a:t>
            </a:r>
            <a:endParaRPr lang="zh-CN" altLang="zh-CN" dirty="0"/>
          </a:p>
          <a:p>
            <a:pPr lvl="0" eaLnBrk="1" hangingPunct="1"/>
            <a:endParaRPr lang="zh-CN" altLang="zh-CN" dirty="0"/>
          </a:p>
          <a:p>
            <a:pPr lvl="0" eaLnBrk="1" hangingPunct="1"/>
            <a:r>
              <a:rPr lang="zh-CN" altLang="zh-CN" dirty="0"/>
              <a:t>开关二极管高频性能良好，主要用于开关电路作为电子开关使用，而整流管一般高频性能不是很好（开关电源中的整流管高频性能也很好），主要用于对工频电流整流。它通常工作于高电压大电流状态。</a:t>
            </a:r>
            <a:endParaRPr lang="zh-CN" altLang="zh-CN" dirty="0"/>
          </a:p>
          <a:p>
            <a:pPr lvl="0" eaLnBrk="1" hangingPunct="1"/>
            <a:endParaRPr lang="zh-CN" altLang="zh-CN" dirty="0"/>
          </a:p>
          <a:p>
            <a:pPr lvl="0" eaLnBrk="1" hangingPunct="1"/>
            <a:r>
              <a:rPr lang="zh-CN" altLang="zh-CN" dirty="0"/>
              <a:t>开关二极管是半导体二极管的一种，是为在电路上进行“开”、“关”而特殊设计制造的一类二极管。它由导通变为截止或由截止变为导通所需的时间比一般二极管短，常见的有2AK、2DK等系列，主要用于电子计算机、脉冲和开关电路中。</a:t>
            </a:r>
            <a:endParaRPr lang="zh-CN" altLang="zh-CN" dirty="0"/>
          </a:p>
          <a:p>
            <a:pPr lvl="0" eaLnBrk="1" hangingPunct="1"/>
            <a:endParaRPr lang="zh-CN" altLang="zh-CN" dirty="0"/>
          </a:p>
          <a:p>
            <a:pPr lvl="0" eaLnBrk="1" hangingPunct="1"/>
            <a:r>
              <a:rPr lang="zh-CN" altLang="zh-CN" dirty="0"/>
              <a:t>稳压二极管：</a:t>
            </a:r>
            <a:endParaRPr lang="zh-CN" altLang="zh-CN" dirty="0"/>
          </a:p>
          <a:p>
            <a:pPr lvl="0" eaLnBrk="1" hangingPunct="1"/>
            <a:endParaRPr lang="zh-CN" altLang="zh-CN" dirty="0"/>
          </a:p>
          <a:p>
            <a:pPr lvl="0" eaLnBrk="1" hangingPunct="1"/>
            <a:r>
              <a:rPr lang="zh-CN" altLang="zh-CN" dirty="0"/>
              <a:t>此二极管是一种直到临界反向击穿电压前都具有很高电阻的半导体器件。在这临界击穿点上，反向电阻降低到一个很小的数值，在这个低阻区中电流增加而电压则保持恒定，稳压二极管是根据击穿电压来分档的，因为这种特性，稳压管主要被作为稳压器件或电压基准元件使用。</a:t>
            </a:r>
            <a:endParaRPr lang="zh-CN" altLang="zh-CN" dirty="0"/>
          </a:p>
          <a:p>
            <a:pPr lvl="0" eaLnBrk="1" hangingPunct="1"/>
            <a:endParaRPr lang="zh-CN" altLang="zh-CN" dirty="0"/>
          </a:p>
          <a:p>
            <a:pPr lvl="0" eaLnBrk="1" hangingPunct="1"/>
            <a:r>
              <a:rPr lang="zh-CN" altLang="zh-CN" dirty="0"/>
              <a:t>稳压二极管的特点就是反向通电尚未击穿前，其两端的电压基本保持不变。这样，当把稳压管接入电路以后，若由于电源电压发生波动，或其它原因造成电路中各点电压变动时，负载两端的电压将基本保持不变。稳压二极管在电路中常用“ZD”加数字表示，如：ZD5表示编号为5的稳压管。</a:t>
            </a:r>
            <a:endParaRPr lang="zh-CN" altLang="zh-CN" dirty="0"/>
          </a:p>
          <a:p>
            <a:pPr lvl="0" eaLnBrk="1" hangingPunct="1"/>
            <a:endParaRPr lang="zh-CN" altLang="zh-CN" dirty="0"/>
          </a:p>
          <a:p>
            <a:pPr lvl="0" eaLnBrk="1" hangingPunct="1"/>
            <a:r>
              <a:rPr lang="zh-CN" altLang="zh-CN" dirty="0"/>
              <a:t>稳压二极管要工作有两个条件：1、反向加在稳压二极管上的电压要大于稳压管的稳压值。2、通过稳压管的电流要达到其工作条件（也就是反向电流要足够大，一般至少是几个mA）。你按我说的搭电路，假定是6.2V稳压管，电源正极（9V）——电阻（R）——稳压管负极——稳压管正极——电源负极。这个电阻要根据稳压管的参数计算过，假定稳压的时候，电流是5mA，则电阻的大小=（9-6.2）/5mA=1.4K左右，你用一个1K的电阻就可以了。然后你再用万用表去测稳压管负极与地的电压，基本上就在6.2V附近，也就是稳压了。</a:t>
            </a:r>
            <a:endParaRPr lang="zh-CN" altLang="zh-CN" dirty="0"/>
          </a:p>
          <a:p>
            <a:pPr lvl="0" eaLnBrk="1" hangingPunct="1"/>
            <a:endParaRPr lang="zh-CN" altLang="zh-CN" dirty="0"/>
          </a:p>
          <a:p>
            <a:pPr lvl="0" eaLnBrk="1" hangingPunct="1"/>
            <a:r>
              <a:rPr lang="zh-CN" altLang="zh-CN" dirty="0"/>
              <a:t>　　整流二极管：</a:t>
            </a:r>
            <a:endParaRPr lang="zh-CN" altLang="zh-CN" dirty="0"/>
          </a:p>
          <a:p>
            <a:pPr lvl="0" eaLnBrk="1" hangingPunct="1"/>
            <a:endParaRPr lang="zh-CN" altLang="zh-CN" dirty="0"/>
          </a:p>
          <a:p>
            <a:pPr lvl="0" eaLnBrk="1" hangingPunct="1"/>
            <a:r>
              <a:rPr lang="zh-CN" altLang="zh-CN" dirty="0"/>
              <a:t>　　1、整流二极管用在工频大电流领域。整流管一般高频性能不是很好（开关电源中的整流管高频性能也很好），主要用于对工频电流整流。它通常工作于高电压大电流状态。整流二极管一种用于将交流电转变为直流电的半导体器件</a:t>
            </a:r>
            <a:endParaRPr lang="zh-CN" altLang="zh-CN" dirty="0"/>
          </a:p>
          <a:p>
            <a:pPr lvl="0" eaLnBrk="1" hangingPunct="1"/>
            <a:endParaRPr lang="zh-CN" altLang="zh-CN" dirty="0"/>
          </a:p>
          <a:p>
            <a:pPr lvl="0" eaLnBrk="1" hangingPunct="1"/>
            <a:r>
              <a:rPr lang="zh-CN" altLang="zh-CN" dirty="0"/>
              <a:t>　　2、　整流二极管的工作频率低，有电压和电流的要求指标。二极管的基本特性是单向导电性。整流二极管的工作频率低，有电压和电流的要求指标。而普通二极管有许多种类，有的可用作为整流，有的可用作为检波、限幅、开关等，但不一定都能用作为整流。不过，只要在电压和电流上满足整流的要求，一般的二极管都可以作为整流管；但是整流管却不一定能够胜任检波、开关等工作。</a:t>
            </a:r>
            <a:endParaRPr lang="zh-CN" altLang="zh-CN" dirty="0"/>
          </a:p>
          <a:p>
            <a:pPr lvl="0" eaLnBrk="1" hangingPunct="1"/>
            <a:endParaRPr lang="zh-CN" altLang="zh-CN" dirty="0"/>
          </a:p>
          <a:p>
            <a:pPr lvl="0" eaLnBrk="1" hangingPunct="1"/>
            <a:r>
              <a:rPr lang="zh-CN" altLang="zh-CN" dirty="0"/>
              <a:t>　　3、单向导通电流，当二极管二端加正向电压时，二极管导通；当二极管二端加反向电压时二极管截止。可用于整流等电路中。</a:t>
            </a:r>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p:cNvSpPr>
          <p:nvPr>
            <p:ph type="sldImg"/>
          </p:nvPr>
        </p:nvSpPr>
        <p:spPr/>
      </p:sp>
      <p:sp>
        <p:nvSpPr>
          <p:cNvPr id="25602" name="文本占位符 2"/>
          <p:cNvSpPr/>
          <p:nvPr>
            <p:ph type="body"/>
          </p:nvPr>
        </p:nvSpPr>
        <p:spPr/>
        <p:txBody>
          <a:bodyPr wrap="square" lIns="91440" tIns="45720" rIns="91440" bIns="45720" anchor="ctr" anchorCtr="0"/>
          <a:p>
            <a:pPr lvl="0"/>
            <a:r>
              <a:rPr lang="en-US" altLang="zh-CN"/>
              <a:t>1:B</a:t>
            </a:r>
            <a:r>
              <a:rPr lang="zh-CN" altLang="en-US"/>
              <a:t>的测量由专有的挡位</a:t>
            </a:r>
            <a:endParaRPr lang="zh-CN" altLang="en-US"/>
          </a:p>
          <a:p>
            <a:pPr lvl="0"/>
            <a:r>
              <a:rPr lang="zh-CN" altLang="en-US"/>
              <a:t>首先区分</a:t>
            </a:r>
            <a:r>
              <a:rPr lang="en-US" altLang="zh-CN"/>
              <a:t>1</a:t>
            </a:r>
            <a:r>
              <a:rPr lang="zh-CN" altLang="en-US"/>
              <a:t>：</a:t>
            </a:r>
            <a:r>
              <a:rPr lang="en-US" altLang="zh-CN"/>
              <a:t>NPN</a:t>
            </a:r>
            <a:r>
              <a:rPr lang="zh-CN" altLang="en-US"/>
              <a:t>还是</a:t>
            </a:r>
            <a:r>
              <a:rPr lang="en-US" altLang="zh-CN"/>
              <a:t>PNP</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CFA2551-FA28-4A23-AF5D-8BBD3FAF290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30722" name="Rectangle 2"/>
          <p:cNvSpPr>
            <a:spLocks noGrp="1" noTextEdit="1"/>
          </p:cNvSpPr>
          <p:nvPr>
            <p:ph type="sldImg"/>
          </p:nvPr>
        </p:nvSpPr>
        <p:spPr>
          <a:ln w="1"/>
        </p:spPr>
      </p:sp>
      <p:sp>
        <p:nvSpPr>
          <p:cNvPr id="30723" name="Rectangle 3"/>
          <p:cNvSpPr>
            <a:spLocks noGrp="1"/>
          </p:cNvSpPr>
          <p:nvPr>
            <p:ph type="body"/>
          </p:nvPr>
        </p:nvSpPr>
        <p:spPr>
          <a:ln w="1"/>
        </p:spPr>
        <p:txBody>
          <a:bodyPr wrap="square" lIns="91440" tIns="45720" rIns="91440" bIns="45720" anchor="ctr" anchorCtr="0"/>
          <a:p>
            <a:pPr lvl="0" eaLnBrk="1" hangingPunct="1"/>
            <a:r>
              <a:rPr lang="en-US" altLang="zh-CN" dirty="0"/>
              <a:t>1</a:t>
            </a:r>
            <a:r>
              <a:rPr lang="zh-CN" altLang="en-US" dirty="0"/>
              <a:t>：</a:t>
            </a:r>
            <a:r>
              <a:rPr lang="zh-CN" altLang="en-US" dirty="0"/>
              <a:t>芯片上一定不能有跨线。要放在面包板的槽中间。</a:t>
            </a:r>
            <a:endParaRPr lang="zh-CN" altLang="en-US" dirty="0"/>
          </a:p>
          <a:p>
            <a:pPr lvl="0" eaLnBrk="1" hangingPunct="1"/>
            <a:r>
              <a:rPr lang="en-US" altLang="zh-CN" dirty="0"/>
              <a:t>2</a:t>
            </a:r>
            <a:r>
              <a:rPr lang="zh-CN" altLang="en-US" dirty="0"/>
              <a:t>：元器件和线都要用镊子插线</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各系统</a:t>
            </a:r>
            <a:r>
              <a:rPr lang="zh-CN" altLang="en-US"/>
              <a:t>工地</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p:sp>
      <p:sp>
        <p:nvSpPr>
          <p:cNvPr id="34819" name="Rectangle 3"/>
          <p:cNvSpPr>
            <a:spLocks noGrp="1"/>
          </p:cNvSpPr>
          <p:nvPr>
            <p:ph type="body" idx="1"/>
          </p:nvPr>
        </p:nvSpPr>
        <p:spPr>
          <a:noFill/>
        </p:spPr>
        <p:txBody>
          <a:bodyPr/>
          <a:lstStyle/>
          <a:p>
            <a:pPr eaLnBrk="1" hangingPunct="1"/>
            <a:endParaRPr lang="zh-CN" altLang="en-US" smtClean="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导线连接</a:t>
            </a:r>
            <a:r>
              <a:rPr lang="zh-CN" altLang="en-US"/>
              <a:t>方法</a:t>
            </a:r>
            <a:endParaRPr lang="zh-CN" altLang="en-US"/>
          </a:p>
          <a:p>
            <a:r>
              <a:rPr lang="zh-CN" altLang="en-US"/>
              <a:t>三根</a:t>
            </a:r>
            <a:r>
              <a:rPr lang="zh-CN" altLang="en-US"/>
              <a:t>线</a:t>
            </a:r>
            <a:endParaRPr lang="zh-CN" altLang="en-US"/>
          </a:p>
          <a:p>
            <a:r>
              <a:rPr lang="zh-CN" altLang="en-US"/>
              <a:t>电压测量面包板上的：有可能导线错误，连接</a:t>
            </a:r>
            <a:r>
              <a:rPr lang="zh-CN" altLang="en-US"/>
              <a:t>错误</a:t>
            </a:r>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CFA2551-FA28-4A23-AF5D-8BBD3FAF290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latin typeface="Arial" panose="020B0604020202020204" pitchFamily="34" charset="0"/>
                <a:ea typeface="宋体" panose="02010600030101010101" pitchFamily="2" charset="-122"/>
                <a:sym typeface="+mn-ea"/>
              </a:rPr>
              <a:t>旋钮可为每个通道波形调整垂直位置。按 Position（位置）旋钮可移动波形，以让接地参考电平位于屏幕中心</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sym typeface="+mn-ea"/>
              </a:rPr>
              <a:t>刻度线上。</a:t>
            </a:r>
            <a:endParaRPr lang="zh-CN" altLang="en-US">
              <a:latin typeface="Arial" panose="020B0604020202020204" pitchFamily="34" charset="0"/>
              <a:ea typeface="宋体" panose="02010600030101010101" pitchFamily="2" charset="-122"/>
              <a:sym typeface="+mn-ea"/>
            </a:endParaRPr>
          </a:p>
          <a:p>
            <a:endParaRPr lang="zh-CN" altLang="en-US">
              <a:latin typeface="Arial" panose="020B0604020202020204" pitchFamily="34" charset="0"/>
              <a:ea typeface="宋体" panose="02010600030101010101" pitchFamily="2" charset="-122"/>
              <a:sym typeface="+mn-ea"/>
            </a:endParaRPr>
          </a:p>
          <a:p>
            <a:endParaRPr lang="zh-CN" altLang="en-US">
              <a:latin typeface="Arial" panose="020B0604020202020204" pitchFamily="34" charset="0"/>
              <a:ea typeface="宋体" panose="02010600030101010101" pitchFamily="2" charset="-122"/>
              <a:sym typeface="+mn-ea"/>
            </a:endParaRPr>
          </a:p>
          <a:p>
            <a:r>
              <a:rPr lang="zh-CN" altLang="en-US">
                <a:latin typeface="Arial" panose="020B0604020202020204" pitchFamily="34" charset="0"/>
                <a:ea typeface="宋体" panose="02010600030101010101" pitchFamily="2" charset="-122"/>
                <a:sym typeface="+mn-ea"/>
              </a:rPr>
              <a:t>通道 1 或 2 菜单按钮可打开（信号耦合、带宽、探头衰减和类型）侧面菜单，使用此菜单可为每个通道设置垂直参数（包含信号耦合、带宽、探头衰减和类型），或在显示器上显示或从显示器上移除通道波形</a:t>
            </a:r>
            <a:endParaRPr lang="zh-CN" altLang="en-US">
              <a:latin typeface="Arial" panose="020B0604020202020204" pitchFamily="34" charset="0"/>
              <a:ea typeface="宋体" panose="02010600030101010101" pitchFamily="2" charset="-122"/>
            </a:endParaRPr>
          </a:p>
          <a:p>
            <a:endParaRPr lang="zh-CN" altLang="en-US">
              <a:latin typeface="Arial" panose="020B0604020202020204" pitchFamily="34" charset="0"/>
              <a:ea typeface="宋体" panose="02010600030101010101" pitchFamily="2" charset="-122"/>
            </a:endParaRPr>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14"/>
          <p:cNvSpPr>
            <a:spLocks noTextEdit="1"/>
          </p:cNvSpPr>
          <p:nvPr>
            <p:ph type="sldImg"/>
          </p:nvPr>
        </p:nvSpPr>
        <p:spPr>
          <a:ln>
            <a:noFill/>
          </a:ln>
        </p:spPr>
      </p:sp>
      <p:sp>
        <p:nvSpPr>
          <p:cNvPr id="47107" name="Rectangle 30"/>
          <p:cNvSpPr/>
          <p:nvPr>
            <p:ph type="body" idx="1"/>
          </p:nvPr>
        </p:nvSpPr>
        <p:spPr/>
        <p:txBody>
          <a:bodyPr wrap="square" lIns="91440" tIns="45720" rIns="91440" bIns="45720" anchor="t" anchorCtr="0"/>
          <a:p>
            <a:pPr lvl="0" eaLnBrk="1" hangingPunct="1"/>
            <a:endParaRPr lang="zh-CN" altLang="zh-CN" dirty="0"/>
          </a:p>
        </p:txBody>
      </p:sp>
      <p:sp>
        <p:nvSpPr>
          <p:cNvPr id="47108" name="Rectangle 2"/>
          <p:cNvSpPr txBox="1">
            <a:spLocks noGrp="1"/>
          </p:cNvSpPr>
          <p:nvPr/>
        </p:nvSpPr>
        <p:spPr>
          <a:xfrm>
            <a:off x="3884613" y="0"/>
            <a:ext cx="2971800" cy="457200"/>
          </a:xfrm>
          <a:prstGeom prst="rect">
            <a:avLst/>
          </a:prstGeom>
          <a:noFill/>
          <a:ln w="9525">
            <a:noFill/>
          </a:ln>
        </p:spPr>
        <p:txBody>
          <a:bodyPr/>
          <a:p>
            <a:pPr lvl="0" eaLnBrk="1" hangingPunct="1">
              <a:spcBef>
                <a:spcPct val="0"/>
              </a:spcBef>
            </a:pPr>
            <a:endParaRPr lang="zh-CN" altLang="zh-CN" sz="1800" dirty="0"/>
          </a:p>
        </p:txBody>
      </p:sp>
      <p:sp>
        <p:nvSpPr>
          <p:cNvPr id="47109" name="Rectangle 28"/>
          <p:cNvSpPr txBox="1">
            <a:spLocks noGrp="1"/>
          </p:cNvSpPr>
          <p:nvPr/>
        </p:nvSpPr>
        <p:spPr>
          <a:xfrm>
            <a:off x="0" y="8685213"/>
            <a:ext cx="2971800" cy="457200"/>
          </a:xfrm>
          <a:prstGeom prst="rect">
            <a:avLst/>
          </a:prstGeom>
          <a:noFill/>
          <a:ln w="9525">
            <a:noFill/>
          </a:ln>
        </p:spPr>
        <p:txBody>
          <a:bodyPr anchor="b" anchorCtr="0"/>
          <a:p>
            <a:pPr lvl="0" eaLnBrk="1" hangingPunct="1">
              <a:spcBef>
                <a:spcPct val="0"/>
              </a:spcBef>
            </a:pPr>
            <a:endParaRPr lang="zh-CN" altLang="zh-CN" sz="1800" dirty="0"/>
          </a:p>
        </p:txBody>
      </p:sp>
      <p:sp>
        <p:nvSpPr>
          <p:cNvPr id="47110" name="Rectangle 25"/>
          <p:cNvSpPr txBox="1">
            <a:spLocks noGrp="1"/>
          </p:cNvSpPr>
          <p:nvPr/>
        </p:nvSpPr>
        <p:spPr>
          <a:xfrm>
            <a:off x="3884613" y="8685213"/>
            <a:ext cx="2971800" cy="457200"/>
          </a:xfrm>
          <a:prstGeom prst="rect">
            <a:avLst/>
          </a:prstGeom>
          <a:noFill/>
          <a:ln w="9525">
            <a:noFill/>
          </a:ln>
        </p:spPr>
        <p:txBody>
          <a:bodyPr anchor="b" anchorCtr="0"/>
          <a:p>
            <a:pPr lvl="0" eaLnBrk="1" hangingPunct="1">
              <a:spcBef>
                <a:spcPct val="0"/>
              </a:spcBef>
            </a:pPr>
            <a:fld id="{9A0DB2DC-4C9A-4742-B13C-FB6460FD3503}" type="slidenum">
              <a:rPr lang="zh-CN" altLang="zh-CN" dirty="0"/>
            </a:fld>
            <a:endParaRPr lang="zh-CN" altLang="zh-CN" sz="1800" dirty="0"/>
          </a:p>
        </p:txBody>
      </p:sp>
      <p:sp>
        <p:nvSpPr>
          <p:cNvPr id="47111" name="Rectangle 31"/>
          <p:cNvSpPr txBox="1">
            <a:spLocks noGrp="1"/>
          </p:cNvSpPr>
          <p:nvPr/>
        </p:nvSpPr>
        <p:spPr>
          <a:xfrm>
            <a:off x="0" y="0"/>
            <a:ext cx="2971800" cy="457200"/>
          </a:xfrm>
          <a:prstGeom prst="rect">
            <a:avLst/>
          </a:prstGeom>
          <a:noFill/>
          <a:ln w="9525">
            <a:noFill/>
          </a:ln>
        </p:spPr>
        <p:txBody>
          <a:bodyPr/>
          <a:p>
            <a:pPr lvl="0" eaLnBrk="1" hangingPunct="1">
              <a:spcBef>
                <a:spcPct val="0"/>
              </a:spcBef>
            </a:pPr>
            <a:endParaRPr lang="zh-CN" altLang="zh-CN" sz="18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14"/>
          <p:cNvSpPr>
            <a:spLocks noTextEdit="1"/>
          </p:cNvSpPr>
          <p:nvPr>
            <p:ph type="sldImg"/>
          </p:nvPr>
        </p:nvSpPr>
        <p:spPr>
          <a:ln>
            <a:noFill/>
          </a:ln>
        </p:spPr>
      </p:sp>
      <p:sp>
        <p:nvSpPr>
          <p:cNvPr id="49155" name="Rectangle 30"/>
          <p:cNvSpPr/>
          <p:nvPr>
            <p:ph type="body" idx="1"/>
          </p:nvPr>
        </p:nvSpPr>
        <p:spPr/>
        <p:txBody>
          <a:bodyPr wrap="square" lIns="91440" tIns="45720" rIns="91440" bIns="45720" anchor="t" anchorCtr="0"/>
          <a:p>
            <a:pPr lvl="0" eaLnBrk="1" hangingPunct="1"/>
            <a:endParaRPr lang="zh-CN" altLang="zh-CN" dirty="0"/>
          </a:p>
        </p:txBody>
      </p:sp>
      <p:sp>
        <p:nvSpPr>
          <p:cNvPr id="49156" name="Rectangle 2"/>
          <p:cNvSpPr txBox="1">
            <a:spLocks noGrp="1"/>
          </p:cNvSpPr>
          <p:nvPr/>
        </p:nvSpPr>
        <p:spPr>
          <a:xfrm>
            <a:off x="3884613" y="0"/>
            <a:ext cx="2971800" cy="457200"/>
          </a:xfrm>
          <a:prstGeom prst="rect">
            <a:avLst/>
          </a:prstGeom>
          <a:noFill/>
          <a:ln w="9525">
            <a:noFill/>
          </a:ln>
        </p:spPr>
        <p:txBody>
          <a:bodyPr/>
          <a:p>
            <a:pPr lvl="0" eaLnBrk="1" hangingPunct="1">
              <a:spcBef>
                <a:spcPct val="0"/>
              </a:spcBef>
            </a:pPr>
            <a:endParaRPr lang="zh-CN" altLang="zh-CN" sz="1800" dirty="0"/>
          </a:p>
        </p:txBody>
      </p:sp>
      <p:sp>
        <p:nvSpPr>
          <p:cNvPr id="49157" name="Rectangle 28"/>
          <p:cNvSpPr txBox="1">
            <a:spLocks noGrp="1"/>
          </p:cNvSpPr>
          <p:nvPr/>
        </p:nvSpPr>
        <p:spPr>
          <a:xfrm>
            <a:off x="0" y="8685213"/>
            <a:ext cx="2971800" cy="457200"/>
          </a:xfrm>
          <a:prstGeom prst="rect">
            <a:avLst/>
          </a:prstGeom>
          <a:noFill/>
          <a:ln w="9525">
            <a:noFill/>
          </a:ln>
        </p:spPr>
        <p:txBody>
          <a:bodyPr anchor="b" anchorCtr="0"/>
          <a:p>
            <a:pPr lvl="0" eaLnBrk="1" hangingPunct="1">
              <a:spcBef>
                <a:spcPct val="0"/>
              </a:spcBef>
            </a:pPr>
            <a:endParaRPr lang="zh-CN" altLang="zh-CN" sz="1800" dirty="0"/>
          </a:p>
        </p:txBody>
      </p:sp>
      <p:sp>
        <p:nvSpPr>
          <p:cNvPr id="49158" name="Rectangle 25"/>
          <p:cNvSpPr txBox="1">
            <a:spLocks noGrp="1"/>
          </p:cNvSpPr>
          <p:nvPr/>
        </p:nvSpPr>
        <p:spPr>
          <a:xfrm>
            <a:off x="3884613" y="8685213"/>
            <a:ext cx="2971800" cy="457200"/>
          </a:xfrm>
          <a:prstGeom prst="rect">
            <a:avLst/>
          </a:prstGeom>
          <a:noFill/>
          <a:ln w="9525">
            <a:noFill/>
          </a:ln>
        </p:spPr>
        <p:txBody>
          <a:bodyPr anchor="b" anchorCtr="0"/>
          <a:p>
            <a:pPr lvl="0" eaLnBrk="1" hangingPunct="1">
              <a:spcBef>
                <a:spcPct val="0"/>
              </a:spcBef>
            </a:pPr>
            <a:fld id="{9A0DB2DC-4C9A-4742-B13C-FB6460FD3503}" type="slidenum">
              <a:rPr lang="zh-CN" altLang="zh-CN" dirty="0"/>
            </a:fld>
            <a:endParaRPr lang="zh-CN" altLang="zh-CN" sz="1800" dirty="0"/>
          </a:p>
        </p:txBody>
      </p:sp>
      <p:sp>
        <p:nvSpPr>
          <p:cNvPr id="49159" name="Rectangle 31"/>
          <p:cNvSpPr txBox="1">
            <a:spLocks noGrp="1"/>
          </p:cNvSpPr>
          <p:nvPr/>
        </p:nvSpPr>
        <p:spPr>
          <a:xfrm>
            <a:off x="0" y="0"/>
            <a:ext cx="2971800" cy="457200"/>
          </a:xfrm>
          <a:prstGeom prst="rect">
            <a:avLst/>
          </a:prstGeom>
          <a:noFill/>
          <a:ln w="9525">
            <a:noFill/>
          </a:ln>
        </p:spPr>
        <p:txBody>
          <a:bodyPr/>
          <a:p>
            <a:pPr lvl="0" eaLnBrk="1" hangingPunct="1">
              <a:spcBef>
                <a:spcPct val="0"/>
              </a:spcBef>
            </a:pPr>
            <a:endParaRPr lang="zh-CN" altLang="zh-CN" sz="18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2005-6-4</a:t>
            </a:r>
            <a:endPar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2005-6-4</a:t>
            </a:r>
            <a:endPar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2005-6-4</a:t>
            </a:r>
            <a:endPar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2005-6-4</a:t>
            </a:r>
            <a:endPar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7778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95288" y="1125538"/>
            <a:ext cx="4141787" cy="53276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剪贴画占位符 3"/>
          <p:cNvSpPr>
            <a:spLocks noGrp="1"/>
          </p:cNvSpPr>
          <p:nvPr>
            <p:ph type="clipArt" sz="half" idx="2"/>
          </p:nvPr>
        </p:nvSpPr>
        <p:spPr>
          <a:xfrm>
            <a:off x="4689475" y="1125538"/>
            <a:ext cx="4141788" cy="53276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Char char="n"/>
              <a:defRPr/>
            </a:pPr>
            <a:endParaRPr kumimoji="0"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2005-6-4</a:t>
            </a:r>
            <a:endPar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1_自定义版式">
    <p:bg>
      <p:bgPr>
        <a:solidFill>
          <a:schemeClr val="bg1"/>
        </a:solidFill>
        <a:effectLst/>
      </p:bgPr>
    </p:bg>
    <p:spTree>
      <p:nvGrpSpPr>
        <p:cNvPr id="1" name=""/>
        <p:cNvGrpSpPr/>
        <p:nvPr/>
      </p:nvGrpSpPr>
      <p:grpSpPr>
        <a:xfrm>
          <a:off x="0" y="0"/>
          <a:ext cx="0" cy="0"/>
          <a:chOff x="0" y="0"/>
          <a:chExt cx="0" cy="0"/>
        </a:xfrm>
      </p:grpSpPr>
      <p:sp>
        <p:nvSpPr>
          <p:cNvPr id="6" name="AutoShape 4"/>
          <p:cNvSpPr>
            <a:spLocks noChangeArrowheads="1"/>
          </p:cNvSpPr>
          <p:nvPr userDrawn="1"/>
        </p:nvSpPr>
        <p:spPr bwMode="auto">
          <a:xfrm>
            <a:off x="609600" y="728700"/>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ln>
        </p:spPr>
        <p:txBody>
          <a:bodyPr/>
          <a:lstStyle/>
          <a:p>
            <a:pPr algn="l"/>
            <a:endParaRPr lang="zh-CN" altLang="zh-CN" sz="2400" b="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image" Target="../media/image2.png"/><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4.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p:sp>
        <p:nvSpPr>
          <p:cNvPr id="1026" name="Rectangle 2"/>
          <p:cNvSpPr>
            <a:spLocks noGrp="1" noChangeArrowheads="1"/>
          </p:cNvSpPr>
          <p:nvPr>
            <p:ph type="title"/>
          </p:nvPr>
        </p:nvSpPr>
        <p:spPr bwMode="auto">
          <a:xfrm>
            <a:off x="457200" y="188913"/>
            <a:ext cx="822960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Rectangle 3"/>
          <p:cNvSpPr>
            <a:spLocks noGrp="1"/>
          </p:cNvSpPr>
          <p:nvPr>
            <p:ph type="body" idx="1"/>
          </p:nvPr>
        </p:nvSpPr>
        <p:spPr>
          <a:xfrm>
            <a:off x="395288" y="1125538"/>
            <a:ext cx="8435975" cy="53276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031" name="Rectangle 7"/>
          <p:cNvSpPr>
            <a:spLocks noGrp="1" noChangeArrowheads="1"/>
          </p:cNvSpPr>
          <p:nvPr>
            <p:ph type="dt" sz="half" idx="2"/>
          </p:nvPr>
        </p:nvSpPr>
        <p:spPr bwMode="auto">
          <a:xfrm>
            <a:off x="82550" y="6496050"/>
            <a:ext cx="1905000" cy="29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spcBef>
                <a:spcPct val="50000"/>
              </a:spcBef>
              <a:defRPr kumimoji="1" sz="1400">
                <a:solidFill>
                  <a:srgbClr val="0000CC"/>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rPr>
              <a:t>2005-6-4</a:t>
            </a:r>
            <a:endParaRPr kumimoji="1" lang="zh-CN" altLang="zh-CN" sz="1400" b="0" i="0" u="none" strike="noStrike" kern="1200" cap="none" spc="0" normalizeH="0" baseline="0" noProof="0">
              <a:ln>
                <a:noFill/>
              </a:ln>
              <a:solidFill>
                <a:srgbClr val="0000CC"/>
              </a:solidFill>
              <a:effectLst/>
              <a:uLnTx/>
              <a:uFillTx/>
              <a:latin typeface="Arial" panose="020B0604020202020204" pitchFamily="34" charset="0"/>
              <a:ea typeface="宋体" panose="02010600030101010101" pitchFamily="2" charset="-122"/>
              <a:cs typeface="+mn-cs"/>
            </a:endParaRPr>
          </a:p>
        </p:txBody>
      </p:sp>
      <p:pic>
        <p:nvPicPr>
          <p:cNvPr id="1029" name="Picture 8" descr="前进">
            <a:hlinkClick r:id="" action="ppaction://hlinkshowjump?jump=nextslide"/>
          </p:cNvPr>
          <p:cNvPicPr>
            <a:picLocks noChangeAspect="1"/>
          </p:cNvPicPr>
          <p:nvPr userDrawn="1"/>
        </p:nvPicPr>
        <p:blipFill>
          <a:blip r:embed="rId7"/>
          <a:stretch>
            <a:fillRect/>
          </a:stretch>
        </p:blipFill>
        <p:spPr>
          <a:xfrm>
            <a:off x="7702550" y="6594475"/>
            <a:ext cx="619125" cy="171450"/>
          </a:xfrm>
          <a:prstGeom prst="rect">
            <a:avLst/>
          </a:prstGeom>
          <a:noFill/>
          <a:ln w="9525">
            <a:noFill/>
          </a:ln>
        </p:spPr>
      </p:pic>
      <p:pic>
        <p:nvPicPr>
          <p:cNvPr id="1030" name="Picture 9" descr="播放">
            <a:hlinkClick r:id="" action="ppaction://hlinkshowjump?jump=endshow"/>
          </p:cNvPr>
          <p:cNvPicPr>
            <a:picLocks noChangeAspect="1"/>
          </p:cNvPicPr>
          <p:nvPr userDrawn="1"/>
        </p:nvPicPr>
        <p:blipFill>
          <a:blip r:embed="rId8"/>
          <a:stretch>
            <a:fillRect/>
          </a:stretch>
        </p:blipFill>
        <p:spPr>
          <a:xfrm>
            <a:off x="8386763" y="6594475"/>
            <a:ext cx="619125" cy="171450"/>
          </a:xfrm>
          <a:prstGeom prst="rect">
            <a:avLst/>
          </a:prstGeom>
          <a:noFill/>
          <a:ln w="9525">
            <a:noFill/>
          </a:ln>
        </p:spPr>
      </p:pic>
      <p:pic>
        <p:nvPicPr>
          <p:cNvPr id="2" name="Picture 10" descr="后退">
            <a:hlinkClick r:id="" action="ppaction://hlinkshowjump?jump=previousslide"/>
          </p:cNvPr>
          <p:cNvPicPr>
            <a:picLocks noChangeAspect="1"/>
          </p:cNvPicPr>
          <p:nvPr userDrawn="1"/>
        </p:nvPicPr>
        <p:blipFill>
          <a:blip r:embed="rId9"/>
          <a:stretch>
            <a:fillRect/>
          </a:stretch>
        </p:blipFill>
        <p:spPr>
          <a:xfrm>
            <a:off x="7018338" y="6594475"/>
            <a:ext cx="619125" cy="171450"/>
          </a:xfrm>
          <a:prstGeom prst="rect">
            <a:avLst/>
          </a:prstGeom>
          <a:noFill/>
          <a:ln w="9525">
            <a:noFill/>
          </a:ln>
        </p:spPr>
      </p:pic>
      <p:pic>
        <p:nvPicPr>
          <p:cNvPr id="1032" name="Picture 11" descr="机动">
            <a:hlinkClick r:id="" action="ppaction://hlinkshowjump?jump=firstslide"/>
          </p:cNvPr>
          <p:cNvPicPr>
            <a:picLocks noChangeAspect="1"/>
          </p:cNvPicPr>
          <p:nvPr userDrawn="1"/>
        </p:nvPicPr>
        <p:blipFill>
          <a:blip r:embed="rId10"/>
          <a:stretch>
            <a:fillRect/>
          </a:stretch>
        </p:blipFill>
        <p:spPr>
          <a:xfrm>
            <a:off x="6334125" y="6594475"/>
            <a:ext cx="619125" cy="171450"/>
          </a:xfrm>
          <a:prstGeom prst="rect">
            <a:avLst/>
          </a:prstGeom>
          <a:noFill/>
          <a:ln w="9525">
            <a:noFill/>
          </a:ln>
        </p:spPr>
      </p:pic>
      <p:sp>
        <p:nvSpPr>
          <p:cNvPr id="1033" name="Rectangle 12"/>
          <p:cNvSpPr/>
          <p:nvPr userDrawn="1"/>
        </p:nvSpPr>
        <p:spPr>
          <a:xfrm>
            <a:off x="4151313" y="6584950"/>
            <a:ext cx="819150" cy="260350"/>
          </a:xfrm>
          <a:prstGeom prst="rect">
            <a:avLst/>
          </a:prstGeom>
          <a:noFill/>
          <a:ln w="9525">
            <a:noFill/>
          </a:ln>
        </p:spPr>
        <p:txBody>
          <a:bodyPr anchor="b" anchorCtr="0"/>
          <a:p>
            <a:pPr lvl="0" algn="r" eaLnBrk="1" hangingPunct="1"/>
            <a:fld id="{9A0DB2DC-4C9A-4742-B13C-FB6460FD3503}" type="slidenum">
              <a:rPr lang="en-US" altLang="zh-CN" sz="1400" dirty="0">
                <a:solidFill>
                  <a:srgbClr val="0000CC"/>
                </a:solidFill>
                <a:latin typeface="Arial Narrow" panose="020B0606020202030204" pitchFamily="34" charset="0"/>
              </a:rPr>
            </a:fld>
            <a:endParaRPr lang="en-US" altLang="zh-CN" sz="1400" dirty="0">
              <a:solidFill>
                <a:srgbClr val="0000CC"/>
              </a:solidFill>
              <a:latin typeface="Arial Narrow" panose="020B0606020202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p:txStyles>
    <p:titleStyle>
      <a:lvl1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2pPr>
      <a:lvl3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3pPr>
      <a:lvl4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4pPr>
      <a:lvl5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5pPr>
      <a:lvl6pPr marL="4572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6pPr>
      <a:lvl7pPr marL="9144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7pPr>
      <a:lvl8pPr marL="13716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8pPr>
      <a:lvl9pPr marL="18288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vmlDrawing" Target="../drawings/vmlDrawing1.vml"/><Relationship Id="rId6"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oleObject" Target="../embeddings/oleObject2.bin"/><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2.vml"/><Relationship Id="rId5" Type="http://schemas.openxmlformats.org/officeDocument/2006/relationships/slideLayout" Target="../slideLayouts/slideLayout6.xml"/><Relationship Id="rId4" Type="http://schemas.openxmlformats.org/officeDocument/2006/relationships/image" Target="../media/image8.jpeg"/><Relationship Id="rId3" Type="http://schemas.openxmlformats.org/officeDocument/2006/relationships/oleObject" Target="../embeddings/oleObject4.bin"/><Relationship Id="rId2" Type="http://schemas.openxmlformats.org/officeDocument/2006/relationships/image" Target="../media/image5.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jpeg"/><Relationship Id="rId2" Type="http://schemas.openxmlformats.org/officeDocument/2006/relationships/image" Target="../media/image15.wmf"/><Relationship Id="rId1" Type="http://schemas.openxmlformats.org/officeDocument/2006/relationships/image" Target="../media/image1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6.xml"/><Relationship Id="rId4" Type="http://schemas.openxmlformats.org/officeDocument/2006/relationships/image" Target="../media/image22.png"/><Relationship Id="rId3" Type="http://schemas.openxmlformats.org/officeDocument/2006/relationships/image" Target="../media/image21.jpeg"/><Relationship Id="rId2" Type="http://schemas.openxmlformats.org/officeDocument/2006/relationships/image" Target="../media/image20.wmf"/><Relationship Id="rId1" Type="http://schemas.openxmlformats.org/officeDocument/2006/relationships/image" Target="../media/image19.w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6.xml"/><Relationship Id="rId5" Type="http://schemas.openxmlformats.org/officeDocument/2006/relationships/image" Target="../media/image30.jpeg"/><Relationship Id="rId4" Type="http://schemas.openxmlformats.org/officeDocument/2006/relationships/image" Target="../media/image29.jpe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6.xml"/><Relationship Id="rId3" Type="http://schemas.openxmlformats.org/officeDocument/2006/relationships/image" Target="../media/image32.wmf"/><Relationship Id="rId2" Type="http://schemas.openxmlformats.org/officeDocument/2006/relationships/oleObject" Target="../embeddings/oleObject6.bin"/><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6.png"/><Relationship Id="rId1" Type="http://schemas.openxmlformats.org/officeDocument/2006/relationships/image" Target="../media/image35.jpe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36.png"/><Relationship Id="rId1" Type="http://schemas.openxmlformats.org/officeDocument/2006/relationships/image" Target="../media/image35.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6.png"/><Relationship Id="rId1" Type="http://schemas.openxmlformats.org/officeDocument/2006/relationships/image" Target="../media/image35.jpeg"/></Relationships>
</file>

<file path=ppt/slides/_rels/slide24.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image" Target="../media/image38.png"/><Relationship Id="rId3" Type="http://schemas.openxmlformats.org/officeDocument/2006/relationships/oleObject" Target="../embeddings/oleObject8.bin"/><Relationship Id="rId2" Type="http://schemas.openxmlformats.org/officeDocument/2006/relationships/image" Target="../media/image37.wmf"/><Relationship Id="rId1"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6.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39.png"/></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3.xml"/><Relationship Id="rId2" Type="http://schemas.openxmlformats.org/officeDocument/2006/relationships/image" Target="../media/image40.png"/><Relationship Id="rId1" Type="http://schemas.openxmlformats.org/officeDocument/2006/relationships/oleObject" Target="../embeddings/oleObject9.bin"/></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tags" Target="../tags/tag1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5.xml"/><Relationship Id="rId2" Type="http://schemas.openxmlformats.org/officeDocument/2006/relationships/image" Target="../media/image46.png"/><Relationship Id="rId1" Type="http://schemas.openxmlformats.org/officeDocument/2006/relationships/oleObject" Target="../embeddings/oleObject11.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9.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50.emf"/></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image" Target="../media/image51.emf"/></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image" Target="../media/image60.png"/><Relationship Id="rId2" Type="http://schemas.openxmlformats.org/officeDocument/2006/relationships/image" Target="../media/image59.emf"/><Relationship Id="rId1" Type="http://schemas.openxmlformats.org/officeDocument/2006/relationships/image" Target="../media/image58.png"/></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59.emf"/><Relationship Id="rId1" Type="http://schemas.openxmlformats.org/officeDocument/2006/relationships/image" Target="../media/image61.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6.emf"/><Relationship Id="rId2" Type="http://schemas.openxmlformats.org/officeDocument/2006/relationships/image" Target="../media/image65.png"/><Relationship Id="rId1" Type="http://schemas.openxmlformats.org/officeDocument/2006/relationships/image" Target="../media/image64.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9.emf"/><Relationship Id="rId2" Type="http://schemas.openxmlformats.org/officeDocument/2006/relationships/image" Target="../media/image68.png"/><Relationship Id="rId1" Type="http://schemas.openxmlformats.org/officeDocument/2006/relationships/image" Target="../media/image67.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emf"/><Relationship Id="rId1" Type="http://schemas.openxmlformats.org/officeDocument/2006/relationships/image" Target="../media/image61.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61.pn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79.png"/><Relationship Id="rId3" Type="http://schemas.openxmlformats.org/officeDocument/2006/relationships/tags" Target="../tags/tag27.xml"/><Relationship Id="rId2" Type="http://schemas.openxmlformats.org/officeDocument/2006/relationships/image" Target="../media/image78.jpeg"/><Relationship Id="rId1" Type="http://schemas.openxmlformats.org/officeDocument/2006/relationships/image" Target="../media/image77.png"/></Relationships>
</file>

<file path=ppt/slides/_rels/slide48.xml.rels><?xml version="1.0" encoding="UTF-8" standalone="yes"?>
<Relationships xmlns="http://schemas.openxmlformats.org/package/2006/relationships"><Relationship Id="rId9" Type="http://schemas.openxmlformats.org/officeDocument/2006/relationships/image" Target="../media/image87.jpeg"/><Relationship Id="rId8" Type="http://schemas.openxmlformats.org/officeDocument/2006/relationships/image" Target="../media/image86.jpeg"/><Relationship Id="rId7" Type="http://schemas.openxmlformats.org/officeDocument/2006/relationships/image" Target="../media/image85.jpeg"/><Relationship Id="rId6" Type="http://schemas.openxmlformats.org/officeDocument/2006/relationships/tags" Target="../tags/tag28.xml"/><Relationship Id="rId5" Type="http://schemas.openxmlformats.org/officeDocument/2006/relationships/image" Target="../media/image84.png"/><Relationship Id="rId4" Type="http://schemas.openxmlformats.org/officeDocument/2006/relationships/image" Target="../media/image83.jpeg"/><Relationship Id="rId3" Type="http://schemas.openxmlformats.org/officeDocument/2006/relationships/image" Target="../media/image82.png"/><Relationship Id="rId2" Type="http://schemas.openxmlformats.org/officeDocument/2006/relationships/image" Target="../media/image81.jpeg"/><Relationship Id="rId18" Type="http://schemas.openxmlformats.org/officeDocument/2006/relationships/slideLayout" Target="../slideLayouts/slideLayout2.xml"/><Relationship Id="rId17" Type="http://schemas.openxmlformats.org/officeDocument/2006/relationships/image" Target="../media/image79.png"/><Relationship Id="rId16" Type="http://schemas.openxmlformats.org/officeDocument/2006/relationships/tags" Target="../tags/tag29.xml"/><Relationship Id="rId15" Type="http://schemas.openxmlformats.org/officeDocument/2006/relationships/image" Target="../media/image78.jpeg"/><Relationship Id="rId14" Type="http://schemas.openxmlformats.org/officeDocument/2006/relationships/image" Target="../media/image92.jpeg"/><Relationship Id="rId13" Type="http://schemas.openxmlformats.org/officeDocument/2006/relationships/image" Target="../media/image91.jpeg"/><Relationship Id="rId12" Type="http://schemas.openxmlformats.org/officeDocument/2006/relationships/image" Target="../media/image90.jpeg"/><Relationship Id="rId11" Type="http://schemas.openxmlformats.org/officeDocument/2006/relationships/image" Target="../media/image89.jpeg"/><Relationship Id="rId10" Type="http://schemas.openxmlformats.org/officeDocument/2006/relationships/image" Target="../media/image88.jpeg"/><Relationship Id="rId1" Type="http://schemas.openxmlformats.org/officeDocument/2006/relationships/image" Target="../media/image80.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4.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96.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97.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99.png"/><Relationship Id="rId1" Type="http://schemas.openxmlformats.org/officeDocument/2006/relationships/image" Target="../media/image9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0.xml"/><Relationship Id="rId1" Type="http://schemas.openxmlformats.org/officeDocument/2006/relationships/image" Target="../media/image100.jpeg"/></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6.xml"/><Relationship Id="rId3" Type="http://schemas.openxmlformats.org/officeDocument/2006/relationships/tags" Target="../tags/tag31.xml"/><Relationship Id="rId2" Type="http://schemas.openxmlformats.org/officeDocument/2006/relationships/image" Target="../media/image102.png"/><Relationship Id="rId1" Type="http://schemas.openxmlformats.org/officeDocument/2006/relationships/image" Target="../media/image101.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tags" Target="../tags/tag32.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34.xml"/><Relationship Id="rId3" Type="http://schemas.openxmlformats.org/officeDocument/2006/relationships/image" Target="../media/image105.jpeg"/><Relationship Id="rId2" Type="http://schemas.openxmlformats.org/officeDocument/2006/relationships/tags" Target="../tags/tag33.xml"/><Relationship Id="rId1" Type="http://schemas.openxmlformats.org/officeDocument/2006/relationships/image" Target="../media/image45.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5.xml"/><Relationship Id="rId1" Type="http://schemas.openxmlformats.org/officeDocument/2006/relationships/image" Target="../media/image106.png"/></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image" Target="../media/image107.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6.xml"/><Relationship Id="rId3" Type="http://schemas.openxmlformats.org/officeDocument/2006/relationships/image" Target="../media/image109.jpeg"/><Relationship Id="rId2" Type="http://schemas.openxmlformats.org/officeDocument/2006/relationships/tags" Target="../tags/tag40.xml"/><Relationship Id="rId1" Type="http://schemas.openxmlformats.org/officeDocument/2006/relationships/image" Target="../media/image108.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1.xml"/><Relationship Id="rId1" Type="http://schemas.openxmlformats.org/officeDocument/2006/relationships/image" Target="../media/image108.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2.xml"/><Relationship Id="rId1" Type="http://schemas.openxmlformats.org/officeDocument/2006/relationships/image" Target="../media/image108.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43.xml"/><Relationship Id="rId2" Type="http://schemas.openxmlformats.org/officeDocument/2006/relationships/image" Target="../media/image110.jpeg"/><Relationship Id="rId1" Type="http://schemas.openxmlformats.org/officeDocument/2006/relationships/image" Target="../media/image108.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3.jpeg"/><Relationship Id="rId2" Type="http://schemas.openxmlformats.org/officeDocument/2006/relationships/image" Target="../media/image112.jpeg"/><Relationship Id="rId1" Type="http://schemas.openxmlformats.org/officeDocument/2006/relationships/image" Target="../media/image111.jpe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2.jpeg"/><Relationship Id="rId2" Type="http://schemas.openxmlformats.org/officeDocument/2006/relationships/image" Target="../media/image113.jpeg"/><Relationship Id="rId1" Type="http://schemas.openxmlformats.org/officeDocument/2006/relationships/image" Target="../media/image114.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54274" name="Rectangle 2"/>
          <p:cNvSpPr>
            <a:spLocks noChangeArrowheads="1"/>
          </p:cNvSpPr>
          <p:nvPr/>
        </p:nvSpPr>
        <p:spPr bwMode="auto">
          <a:xfrm>
            <a:off x="1116013" y="811213"/>
            <a:ext cx="7127875" cy="396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4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电子线路设计</a:t>
            </a:r>
            <a:r>
              <a:rPr kumimoji="0" lang="en-US" altLang="zh-CN" sz="4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r>
              <a:rPr kumimoji="0" lang="zh-CN" altLang="en-US" sz="4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实验</a:t>
            </a:r>
            <a:r>
              <a:rPr kumimoji="0" lang="en-US" altLang="zh-CN" sz="4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r>
              <a:rPr kumimoji="0" lang="zh-CN" altLang="en-US" sz="4800" b="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测试</a:t>
            </a:r>
            <a:endParaRPr kumimoji="1" lang="zh-CN" altLang="en-US" sz="4800" b="1" i="0" u="none" strike="noStrike" kern="1200" cap="none" spc="0" normalizeH="0" baseline="0" noProof="0" dirty="0">
              <a:ln>
                <a:noFill/>
              </a:ln>
              <a:solidFill>
                <a:schemeClr val="tx2"/>
              </a:solidFill>
              <a:effectLst>
                <a:outerShdw blurRad="38100" dist="38100" dir="2700000" algn="tl">
                  <a:srgbClr val="FFFFFF"/>
                </a:outerShdw>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defRPr/>
            </a:pPr>
            <a:endParaRPr kumimoji="1" lang="zh-CN" altLang="en-US" sz="2800" b="1" i="0" u="none" strike="noStrike" kern="1200" cap="none" spc="0" normalizeH="0" baseline="0" noProof="0" dirty="0">
              <a:ln>
                <a:noFill/>
              </a:ln>
              <a:solidFill>
                <a:schemeClr val="tx1"/>
              </a:solidFill>
              <a:effectLst/>
              <a:uLnTx/>
              <a:uFillTx/>
              <a:latin typeface="Tahoma" panose="020B0604030504040204" pitchFamily="34" charset="0"/>
              <a:ea typeface="仿宋_GB2312" pitchFamily="49" charset="-122"/>
              <a:cs typeface="+mn-cs"/>
            </a:endParaRPr>
          </a:p>
          <a:p>
            <a:pPr marL="0" marR="0" lvl="0" indent="0" algn="ctr" defTabSz="914400" rtl="0" eaLnBrk="1" fontAlgn="base" latinLnBrk="0" hangingPunct="1">
              <a:lnSpc>
                <a:spcPct val="100000"/>
              </a:lnSpc>
              <a:spcBef>
                <a:spcPct val="50000"/>
              </a:spcBef>
              <a:spcAft>
                <a:spcPct val="0"/>
              </a:spcAft>
              <a:buClr>
                <a:schemeClr val="hlink"/>
              </a:buClr>
              <a:buSzPct val="110000"/>
              <a:buFont typeface="Wingdings" panose="05000000000000000000" pitchFamily="2" charset="2"/>
              <a:buNone/>
              <a:defRPr/>
            </a:pPr>
            <a:r>
              <a:rPr kumimoji="1" lang="zh-CN" altLang="en-US" sz="40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闵</a:t>
            </a:r>
            <a:r>
              <a:rPr kumimoji="1" lang="zh-CN" altLang="en-US" sz="40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rPr>
              <a:t>玉堂</a:t>
            </a:r>
            <a:endParaRPr kumimoji="1" lang="zh-CN" altLang="en-US" sz="40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defRPr/>
            </a:pPr>
            <a:endParaRPr kumimoji="1" lang="en-US" altLang="zh-CN" sz="3200" b="1" i="0" u="none" strike="noStrike" kern="1200" cap="none" spc="0" normalizeH="0" baseline="0" noProof="0" dirty="0">
              <a:ln>
                <a:noFill/>
              </a:ln>
              <a:solidFill>
                <a:schemeClr val="tx1"/>
              </a:solidFill>
              <a:effectLst/>
              <a:uLnTx/>
              <a:uFillTx/>
              <a:latin typeface="Tahoma" panose="020B0604030504040204" pitchFamily="34" charset="0"/>
              <a:ea typeface="楷体_GB2312" pitchFamily="49" charset="-122"/>
              <a:cs typeface="+mn-cs"/>
            </a:endParaRPr>
          </a:p>
          <a:p>
            <a:pPr marL="0" marR="0" lvl="0" indent="0" algn="ctr" defTabSz="914400" rtl="0" eaLnBrk="1" fontAlgn="base" latinLnBrk="0" hangingPunct="1">
              <a:lnSpc>
                <a:spcPct val="100000"/>
              </a:lnSpc>
              <a:spcBef>
                <a:spcPct val="50000"/>
              </a:spcBef>
              <a:spcAft>
                <a:spcPct val="0"/>
              </a:spcAft>
              <a:buClr>
                <a:schemeClr val="hlink"/>
              </a:buClr>
              <a:buSzPct val="110000"/>
              <a:buFont typeface="Wingdings" panose="05000000000000000000" pitchFamily="2" charset="2"/>
              <a:buNone/>
              <a:defRPr/>
            </a:pPr>
            <a:r>
              <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请同学们按</a:t>
            </a:r>
            <a:r>
              <a:rPr kumimoji="1" lang="zh-CN" altLang="en-US" sz="3200" b="1" i="0"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序号</a:t>
            </a:r>
            <a:r>
              <a:rPr kumimoji="1"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就座并签到！</a:t>
            </a:r>
            <a:endParaRPr kumimoji="1" lang="zh-CN" altLang="en-US" sz="3200" b="1" i="0" u="none" strike="noStrike" kern="1200" cap="none" spc="0" normalizeH="0" baseline="0" noProof="0" dirty="0">
              <a:ln>
                <a:noFill/>
              </a:ln>
              <a:solidFill>
                <a:schemeClr val="folHlin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
                <a:schemeClr val="hlink"/>
              </a:buClr>
              <a:buSzPct val="110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8193" name="Rectangle 2"/>
          <p:cNvSpPr>
            <a:spLocks noGrp="1"/>
          </p:cNvSpPr>
          <p:nvPr>
            <p:ph type="ctrTitle"/>
          </p:nvPr>
        </p:nvSpPr>
        <p:spPr>
          <a:xfrm>
            <a:off x="1255395" y="2289810"/>
            <a:ext cx="6661785" cy="1671320"/>
          </a:xfrm>
        </p:spPr>
        <p:txBody>
          <a:bodyPr wrap="square" lIns="91440" tIns="45720" rIns="91440" bIns="45720" anchor="b" anchorCtr="0"/>
          <a:p>
            <a:pPr marL="0" indent="0" algn="l" eaLnBrk="1" latinLnBrk="0" hangingPunct="1">
              <a:lnSpc>
                <a:spcPct val="125000"/>
              </a:lnSpc>
              <a:buClrTx/>
              <a:buSzTx/>
              <a:buFontTx/>
            </a:pPr>
            <a:r>
              <a:rPr lang="zh-CN" altLang="en-US" dirty="0">
                <a:effectLst/>
                <a:latin typeface="宋体" panose="02010600030101010101" pitchFamily="2" charset="-122"/>
                <a:ea typeface="宋体" panose="02010600030101010101" pitchFamily="2" charset="-122"/>
                <a:cs typeface="宋体" panose="02010600030101010101" pitchFamily="2" charset="-122"/>
              </a:rPr>
              <a:t>一：常用元器件</a:t>
            </a:r>
            <a:r>
              <a:rPr lang="zh-CN" altLang="zh-CN" dirty="0">
                <a:solidFill>
                  <a:schemeClr val="tx1"/>
                </a:solidFill>
                <a:effectLst/>
                <a:latin typeface="宋体" panose="02010600030101010101" pitchFamily="2" charset="-122"/>
                <a:ea typeface="宋体" panose="02010600030101010101" pitchFamily="2" charset="-122"/>
                <a:cs typeface="宋体" panose="02010600030101010101" pitchFamily="2" charset="-122"/>
                <a:sym typeface="+mn-ea"/>
              </a:rPr>
              <a:t>(教材附录)</a:t>
            </a:r>
            <a:br>
              <a:rPr lang="zh-CN" altLang="en-US" dirty="0">
                <a:effectLst/>
                <a:latin typeface="宋体" panose="02010600030101010101" pitchFamily="2" charset="-122"/>
                <a:ea typeface="宋体" panose="02010600030101010101" pitchFamily="2" charset="-122"/>
                <a:cs typeface="宋体" panose="02010600030101010101" pitchFamily="2" charset="-122"/>
              </a:rPr>
            </a:br>
            <a:r>
              <a:rPr lang="zh-CN" altLang="en-US" dirty="0">
                <a:effectLst/>
                <a:latin typeface="宋体" panose="02010600030101010101" pitchFamily="2" charset="-122"/>
                <a:ea typeface="宋体" panose="02010600030101010101" pitchFamily="2" charset="-122"/>
                <a:cs typeface="宋体" panose="02010600030101010101" pitchFamily="2" charset="-122"/>
              </a:rPr>
              <a:t>二：常用仪器</a:t>
            </a:r>
            <a:endParaRPr lang="zh-CN" altLang="en-US" dirty="0">
              <a:effectLst/>
              <a:latin typeface="宋体" panose="02010600030101010101" pitchFamily="2" charset="-122"/>
              <a:ea typeface="宋体" panose="02010600030101010101" pitchFamily="2" charset="-122"/>
              <a:cs typeface="宋体" panose="02010600030101010101" pitchFamily="2"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9217" name="Rectangle 2"/>
          <p:cNvSpPr>
            <a:spLocks noGrp="1"/>
          </p:cNvSpPr>
          <p:nvPr>
            <p:ph type="title" idx="4294967295"/>
          </p:nvPr>
        </p:nvSpPr>
        <p:spPr>
          <a:xfrm>
            <a:off x="-33020" y="74295"/>
            <a:ext cx="7813675" cy="692150"/>
          </a:xfrm>
        </p:spPr>
        <p:txBody>
          <a:bodyPr wrap="square" lIns="91440" tIns="45720" rIns="91440" bIns="45720" anchor="b" anchorCtr="0"/>
          <a:p>
            <a:pPr eaLnBrk="1" hangingPunct="1"/>
            <a:r>
              <a:rPr lang="zh-CN" altLang="zh-CN" sz="4000" b="1" dirty="0">
                <a:effectLst/>
                <a:ea typeface="楷体_GB2312" pitchFamily="49" charset="-122"/>
              </a:rPr>
              <a:t>一：常用器件</a:t>
            </a:r>
            <a:r>
              <a:rPr lang="zh-CN" altLang="zh-CN" sz="4000" b="1" dirty="0">
                <a:solidFill>
                  <a:schemeClr val="tx1"/>
                </a:solidFill>
                <a:effectLst/>
                <a:latin typeface="宋体" panose="02010600030101010101" pitchFamily="2" charset="-122"/>
                <a:ea typeface="宋体" panose="02010600030101010101" pitchFamily="2" charset="-122"/>
                <a:cs typeface="宋体" panose="02010600030101010101" pitchFamily="2" charset="-122"/>
              </a:rPr>
              <a:t>(教材附录)</a:t>
            </a:r>
            <a:endParaRPr lang="zh-CN" altLang="zh-CN" sz="4000" b="1" dirty="0">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9218" name="Rectangle 3"/>
          <p:cNvSpPr>
            <a:spLocks noGrp="1"/>
          </p:cNvSpPr>
          <p:nvPr>
            <p:ph idx="4294967295"/>
          </p:nvPr>
        </p:nvSpPr>
        <p:spPr>
          <a:xfrm>
            <a:off x="1371600" y="1484630"/>
            <a:ext cx="6346190" cy="2797810"/>
          </a:xfrm>
        </p:spPr>
        <p:txBody>
          <a:bodyPr wrap="square" lIns="91440" tIns="45720" rIns="91440" bIns="45720" anchor="t" anchorCtr="0"/>
          <a:p>
            <a:pPr eaLnBrk="1" hangingPunct="1">
              <a:lnSpc>
                <a:spcPct val="150000"/>
              </a:lnSpc>
              <a:spcBef>
                <a:spcPct val="0"/>
              </a:spcBef>
              <a:buFont typeface="Wingdings" panose="05000000000000000000" charset="0"/>
              <a:buChar char="Ø"/>
            </a:pPr>
            <a:r>
              <a:rPr lang="en-US" altLang="zh-CN" dirty="0">
                <a:latin typeface="宋体" panose="02010600030101010101" pitchFamily="2" charset="-122"/>
                <a:ea typeface="宋体" panose="02010600030101010101" pitchFamily="2" charset="-122"/>
                <a:cs typeface="宋体" panose="02010600030101010101" pitchFamily="2" charset="-122"/>
              </a:rPr>
              <a:t>1 </a:t>
            </a:r>
            <a:r>
              <a:rPr lang="zh-CN" altLang="zh-CN" dirty="0">
                <a:latin typeface="宋体" panose="02010600030101010101" pitchFamily="2" charset="-122"/>
                <a:ea typeface="宋体" panose="02010600030101010101" pitchFamily="2" charset="-122"/>
                <a:cs typeface="宋体" panose="02010600030101010101" pitchFamily="2" charset="-122"/>
              </a:rPr>
              <a:t>电阻、</a:t>
            </a:r>
            <a:r>
              <a:rPr lang="zh-CN" altLang="zh-CN" dirty="0">
                <a:latin typeface="宋体" panose="02010600030101010101" pitchFamily="2" charset="-122"/>
                <a:ea typeface="宋体" panose="02010600030101010101" pitchFamily="2" charset="-122"/>
                <a:cs typeface="宋体" panose="02010600030101010101" pitchFamily="2" charset="-122"/>
                <a:sym typeface="+mn-ea"/>
              </a:rPr>
              <a:t>电位器、</a:t>
            </a:r>
            <a:r>
              <a:rPr lang="zh-CN" altLang="zh-CN" dirty="0">
                <a:latin typeface="宋体" panose="02010600030101010101" pitchFamily="2" charset="-122"/>
                <a:ea typeface="宋体" panose="02010600030101010101" pitchFamily="2" charset="-122"/>
                <a:cs typeface="宋体" panose="02010600030101010101" pitchFamily="2" charset="-122"/>
              </a:rPr>
              <a:t>电容</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ct val="0"/>
              </a:spcBef>
              <a:buFont typeface="Wingdings" panose="05000000000000000000" charset="0"/>
              <a:buChar char="Ø"/>
            </a:pPr>
            <a:r>
              <a:rPr lang="en-US" altLang="zh-CN" dirty="0">
                <a:latin typeface="宋体" panose="02010600030101010101" pitchFamily="2" charset="-122"/>
                <a:ea typeface="宋体" panose="02010600030101010101" pitchFamily="2" charset="-122"/>
                <a:cs typeface="宋体" panose="02010600030101010101" pitchFamily="2" charset="-122"/>
              </a:rPr>
              <a:t>2 </a:t>
            </a:r>
            <a:r>
              <a:rPr lang="zh-CN" altLang="zh-CN" dirty="0">
                <a:latin typeface="宋体" panose="02010600030101010101" pitchFamily="2" charset="-122"/>
                <a:ea typeface="宋体" panose="02010600030101010101" pitchFamily="2" charset="-122"/>
                <a:cs typeface="宋体" panose="02010600030101010101" pitchFamily="2" charset="-122"/>
              </a:rPr>
              <a:t>二极管、发光二极管、三极管</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ct val="0"/>
              </a:spcBef>
              <a:buFont typeface="Wingdings" panose="05000000000000000000" charset="0"/>
              <a:buChar char="Ø"/>
            </a:pPr>
            <a:r>
              <a:rPr lang="en-US" altLang="zh-CN" dirty="0">
                <a:latin typeface="宋体" panose="02010600030101010101" pitchFamily="2" charset="-122"/>
                <a:ea typeface="宋体" panose="02010600030101010101" pitchFamily="2" charset="-122"/>
                <a:cs typeface="宋体" panose="02010600030101010101" pitchFamily="2" charset="-122"/>
              </a:rPr>
              <a:t>3 </a:t>
            </a:r>
            <a:r>
              <a:rPr lang="zh-CN" altLang="zh-CN" dirty="0">
                <a:latin typeface="宋体" panose="02010600030101010101" pitchFamily="2" charset="-122"/>
                <a:ea typeface="宋体" panose="02010600030101010101" pitchFamily="2" charset="-122"/>
                <a:cs typeface="宋体" panose="02010600030101010101" pitchFamily="2" charset="-122"/>
              </a:rPr>
              <a:t>集成电路</a:t>
            </a:r>
            <a:endParaRPr lang="zh-CN" altLang="zh-CN" dirty="0">
              <a:latin typeface="宋体" panose="02010600030101010101" pitchFamily="2" charset="-122"/>
              <a:ea typeface="宋体" panose="02010600030101010101" pitchFamily="2" charset="-122"/>
              <a:cs typeface="宋体" panose="02010600030101010101" pitchFamily="2" charset="-122"/>
            </a:endParaRPr>
          </a:p>
          <a:p>
            <a:pPr eaLnBrk="1" hangingPunct="1">
              <a:lnSpc>
                <a:spcPct val="150000"/>
              </a:lnSpc>
              <a:spcBef>
                <a:spcPct val="0"/>
              </a:spcBef>
              <a:buFont typeface="Wingdings" panose="05000000000000000000" charset="0"/>
              <a:buChar char="Ø"/>
            </a:pPr>
            <a:r>
              <a:rPr lang="en-US" altLang="zh-CN" dirty="0">
                <a:solidFill>
                  <a:srgbClr val="969696"/>
                </a:solidFill>
                <a:latin typeface="宋体" panose="02010600030101010101" pitchFamily="2" charset="-122"/>
                <a:ea typeface="宋体" panose="02010600030101010101" pitchFamily="2" charset="-122"/>
                <a:cs typeface="宋体" panose="02010600030101010101" pitchFamily="2" charset="-122"/>
              </a:rPr>
              <a:t>4 </a:t>
            </a:r>
            <a:r>
              <a:rPr lang="zh-CN" altLang="zh-CN" dirty="0">
                <a:solidFill>
                  <a:srgbClr val="969696"/>
                </a:solidFill>
                <a:latin typeface="宋体" panose="02010600030101010101" pitchFamily="2" charset="-122"/>
                <a:ea typeface="宋体" panose="02010600030101010101" pitchFamily="2" charset="-122"/>
                <a:cs typeface="宋体" panose="02010600030101010101" pitchFamily="2" charset="-122"/>
              </a:rPr>
              <a:t>共阴7段显示器</a:t>
            </a:r>
            <a:r>
              <a:rPr lang="zh-CN" altLang="zh-CN" b="1" dirty="0"/>
              <a:t> </a:t>
            </a:r>
            <a:endParaRPr lang="zh-CN" altLang="zh-CN"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p:sp>
        <p:nvSpPr>
          <p:cNvPr id="8193" name="Rectangle 2"/>
          <p:cNvSpPr/>
          <p:nvPr/>
        </p:nvSpPr>
        <p:spPr>
          <a:xfrm>
            <a:off x="250825" y="5737225"/>
            <a:ext cx="4184650" cy="938213"/>
          </a:xfrm>
          <a:prstGeom prst="rect">
            <a:avLst/>
          </a:prstGeom>
          <a:solidFill>
            <a:srgbClr val="99CCFF"/>
          </a:solidFill>
          <a:ln w="9525">
            <a:noFill/>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0242" name="Rectangle 3"/>
          <p:cNvSpPr>
            <a:spLocks noGrp="1"/>
          </p:cNvSpPr>
          <p:nvPr>
            <p:ph type="title" idx="4294967295"/>
          </p:nvPr>
        </p:nvSpPr>
        <p:spPr>
          <a:xfrm>
            <a:off x="139700" y="43180"/>
            <a:ext cx="7912735" cy="721360"/>
          </a:xfrm>
        </p:spPr>
        <p:txBody>
          <a:bodyPr wrap="square" lIns="91440" tIns="45720" rIns="91440" bIns="45720" anchor="b" anchorCtr="0"/>
          <a:p>
            <a:pPr algn="ctr" eaLnBrk="1" hangingPunct="1"/>
            <a:r>
              <a:rPr lang="en-US" altLang="zh-CN" b="1" dirty="0">
                <a:ea typeface="楷体_GB2312" pitchFamily="49" charset="-122"/>
              </a:rPr>
              <a:t> </a:t>
            </a:r>
            <a:r>
              <a:rPr lang="zh-CN" altLang="zh-CN" b="1" dirty="0">
                <a:ea typeface="楷体_GB2312" pitchFamily="49" charset="-122"/>
              </a:rPr>
              <a:t>电阻</a:t>
            </a:r>
            <a:r>
              <a:rPr lang="zh-CN" altLang="zh-CN" sz="320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800" b="1" dirty="0">
                <a:solidFill>
                  <a:schemeClr val="tx1"/>
                </a:solidFill>
                <a:effectLst/>
                <a:latin typeface="宋体" panose="02010600030101010101" pitchFamily="2" charset="-122"/>
                <a:ea typeface="宋体" panose="02010600030101010101" pitchFamily="2" charset="-122"/>
                <a:cs typeface="宋体" panose="02010600030101010101" pitchFamily="2" charset="-122"/>
              </a:rPr>
              <a:t>教材附录D.1</a:t>
            </a:r>
            <a:r>
              <a:rPr lang="zh-CN" altLang="zh-CN" sz="320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a:t>
            </a:r>
            <a:endParaRPr lang="zh-CN" altLang="zh-CN" sz="3200" dirty="0">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0243" name="Rectangle 4"/>
          <p:cNvSpPr>
            <a:spLocks noGrp="1"/>
          </p:cNvSpPr>
          <p:nvPr>
            <p:ph idx="4294967295"/>
          </p:nvPr>
        </p:nvSpPr>
        <p:spPr>
          <a:xfrm>
            <a:off x="71755" y="2735580"/>
            <a:ext cx="5051425" cy="1014095"/>
          </a:xfrm>
        </p:spPr>
        <p:txBody>
          <a:bodyPr wrap="square" lIns="91440" tIns="45720" rIns="91440" bIns="45720" anchor="t" anchorCtr="0"/>
          <a:p>
            <a:pPr eaLnBrk="1" hangingPunct="1">
              <a:lnSpc>
                <a:spcPct val="90000"/>
              </a:lnSpc>
              <a:buNone/>
            </a:pPr>
            <a:r>
              <a:rPr lang="zh-CN" altLang="zh-CN" sz="2800" b="1" dirty="0"/>
              <a:t>黑 棕 红 橙  黄 绿 蓝  紫 灰 白  </a:t>
            </a:r>
            <a:endParaRPr lang="zh-CN" altLang="zh-CN" sz="2800" b="1" dirty="0"/>
          </a:p>
          <a:p>
            <a:pPr eaLnBrk="1" hangingPunct="1">
              <a:lnSpc>
                <a:spcPct val="90000"/>
              </a:lnSpc>
              <a:buNone/>
            </a:pPr>
            <a:r>
              <a:rPr lang="zh-CN" altLang="zh-CN" sz="2800" b="1" dirty="0"/>
              <a:t> 0  1 </a:t>
            </a:r>
            <a:r>
              <a:rPr lang="en-US" altLang="zh-CN" sz="2800" b="1" dirty="0"/>
              <a:t> </a:t>
            </a:r>
            <a:r>
              <a:rPr lang="zh-CN" altLang="zh-CN" sz="2800" b="1" dirty="0"/>
              <a:t> 2   3   4  </a:t>
            </a:r>
            <a:r>
              <a:rPr lang="en-US" altLang="zh-CN" sz="2800" b="1" dirty="0"/>
              <a:t> </a:t>
            </a:r>
            <a:r>
              <a:rPr lang="zh-CN" altLang="zh-CN" sz="2800" b="1" dirty="0"/>
              <a:t>5  6   </a:t>
            </a:r>
            <a:r>
              <a:rPr lang="en-US" altLang="zh-CN" sz="2800" b="1" dirty="0"/>
              <a:t> </a:t>
            </a:r>
            <a:r>
              <a:rPr lang="zh-CN" altLang="zh-CN" sz="2800" b="1" dirty="0"/>
              <a:t>7  </a:t>
            </a:r>
            <a:r>
              <a:rPr lang="en-US" altLang="zh-CN" sz="2800" b="1" dirty="0"/>
              <a:t> </a:t>
            </a:r>
            <a:r>
              <a:rPr lang="zh-CN" altLang="zh-CN" sz="2800" b="1" dirty="0"/>
              <a:t>8   9   </a:t>
            </a:r>
            <a:endParaRPr lang="zh-CN" altLang="zh-CN" sz="2800" b="1" dirty="0"/>
          </a:p>
        </p:txBody>
      </p:sp>
      <p:sp>
        <p:nvSpPr>
          <p:cNvPr id="8196" name="Rectangle 5" descr="Rectangle: Click to edit Master text styles&#13;&#10;Second level&#13;&#10;Third level&#13;&#10;Fourth level&#13;&#10;Fifth level"/>
          <p:cNvSpPr/>
          <p:nvPr/>
        </p:nvSpPr>
        <p:spPr>
          <a:xfrm>
            <a:off x="344488" y="4198938"/>
            <a:ext cx="4456112" cy="2430462"/>
          </a:xfrm>
          <a:prstGeom prst="rect">
            <a:avLst/>
          </a:prstGeom>
          <a:noFill/>
          <a:ln w="9525">
            <a:noFill/>
          </a:ln>
        </p:spPr>
        <p:txBody>
          <a:bodyPr anchor="t" anchorCtr="0"/>
          <a:p>
            <a:pPr marL="342900" indent="-342900">
              <a:spcBef>
                <a:spcPct val="20000"/>
              </a:spcBef>
              <a:buClr>
                <a:schemeClr val="hlink"/>
              </a:buClr>
              <a:buSzPct val="110000"/>
              <a:buFont typeface="Wingdings" panose="05000000000000000000" pitchFamily="2" charset="2"/>
            </a:pPr>
            <a:r>
              <a:rPr lang="zh-CN" altLang="zh-CN" sz="2400" b="1" dirty="0">
                <a:latin typeface="仿宋_GB2312" pitchFamily="49" charset="-122"/>
                <a:ea typeface="仿宋_GB2312" pitchFamily="49" charset="-122"/>
              </a:rPr>
              <a:t>绿棕黑棕 </a:t>
            </a:r>
            <a:r>
              <a:rPr lang="zh-CN" altLang="zh-CN" sz="2400" b="1" dirty="0">
                <a:solidFill>
                  <a:srgbClr val="FF0000"/>
                </a:solidFill>
                <a:latin typeface="仿宋_GB2312" pitchFamily="49" charset="-122"/>
                <a:ea typeface="仿宋_GB2312" pitchFamily="49" charset="-122"/>
              </a:rPr>
              <a:t>棕</a:t>
            </a:r>
            <a:r>
              <a:rPr lang="zh-CN" altLang="zh-CN" sz="2400" b="1" dirty="0">
                <a:latin typeface="仿宋_GB2312" pitchFamily="49" charset="-122"/>
                <a:ea typeface="仿宋_GB2312" pitchFamily="49" charset="-122"/>
              </a:rPr>
              <a:t>      绿棕</a:t>
            </a:r>
            <a:r>
              <a:rPr lang="zh-CN" altLang="zh-CN" sz="2400" b="1" dirty="0">
                <a:solidFill>
                  <a:srgbClr val="FF0000"/>
                </a:solidFill>
                <a:latin typeface="仿宋_GB2312" pitchFamily="49" charset="-122"/>
                <a:ea typeface="仿宋_GB2312" pitchFamily="49" charset="-122"/>
              </a:rPr>
              <a:t>金 X X</a:t>
            </a:r>
            <a:endParaRPr lang="zh-CN" altLang="zh-CN" sz="2400" b="1" dirty="0">
              <a:solidFill>
                <a:schemeClr val="folHlink"/>
              </a:solidFill>
              <a:latin typeface="仿宋_GB2312" pitchFamily="49" charset="-122"/>
              <a:ea typeface="仿宋_GB2312" pitchFamily="49" charset="-122"/>
            </a:endParaRPr>
          </a:p>
          <a:p>
            <a:pPr marL="342900" indent="-342900">
              <a:spcBef>
                <a:spcPct val="20000"/>
              </a:spcBef>
              <a:buClr>
                <a:schemeClr val="hlink"/>
              </a:buClr>
              <a:buSzPct val="110000"/>
              <a:buFont typeface="Wingdings" panose="05000000000000000000" pitchFamily="2" charset="2"/>
            </a:pPr>
            <a:r>
              <a:rPr lang="zh-CN" altLang="zh-CN" sz="2400" b="1" dirty="0">
                <a:latin typeface="黑体" panose="02010609060101010101" pitchFamily="49" charset="-122"/>
                <a:ea typeface="黑体" panose="02010609060101010101" pitchFamily="49" charset="-122"/>
              </a:rPr>
              <a:t> 5 1 0 1 </a:t>
            </a:r>
            <a:r>
              <a:rPr lang="zh-CN" altLang="zh-CN" sz="2400" b="1" dirty="0">
                <a:solidFill>
                  <a:srgbClr val="FF0000"/>
                </a:solidFill>
                <a:latin typeface="黑体" panose="02010609060101010101" pitchFamily="49" charset="-122"/>
                <a:ea typeface="黑体" panose="02010609060101010101" pitchFamily="49" charset="-122"/>
              </a:rPr>
              <a:t>－</a:t>
            </a:r>
            <a:r>
              <a:rPr lang="zh-CN" altLang="zh-CN" sz="2400" b="1" dirty="0">
                <a:solidFill>
                  <a:srgbClr val="969696"/>
                </a:solidFill>
                <a:latin typeface="黑体" panose="02010609060101010101" pitchFamily="49" charset="-122"/>
                <a:ea typeface="黑体" panose="02010609060101010101" pitchFamily="49" charset="-122"/>
              </a:rPr>
              <a:t>      </a:t>
            </a:r>
            <a:r>
              <a:rPr lang="zh-CN" altLang="zh-CN" sz="2400" b="1" dirty="0">
                <a:latin typeface="黑体" panose="02010609060101010101" pitchFamily="49" charset="-122"/>
                <a:ea typeface="黑体" panose="02010609060101010101" pitchFamily="49" charset="-122"/>
              </a:rPr>
              <a:t>5 1 － - -</a:t>
            </a:r>
            <a:endParaRPr lang="zh-CN" altLang="zh-CN" sz="2400" b="1" dirty="0">
              <a:latin typeface="黑体" panose="02010609060101010101" pitchFamily="49" charset="-122"/>
              <a:ea typeface="黑体" panose="02010609060101010101" pitchFamily="49" charset="-122"/>
            </a:endParaRPr>
          </a:p>
          <a:p>
            <a:pPr marL="342900" indent="-342900">
              <a:spcBef>
                <a:spcPct val="20000"/>
              </a:spcBef>
              <a:buClr>
                <a:schemeClr val="hlink"/>
              </a:buClr>
              <a:buSzPct val="110000"/>
              <a:buFont typeface="Wingdings" panose="05000000000000000000" pitchFamily="2" charset="2"/>
            </a:pPr>
            <a:r>
              <a:rPr lang="zh-CN" altLang="zh-CN" sz="2400" b="1" dirty="0">
                <a:latin typeface="黑体" panose="02010609060101010101" pitchFamily="49" charset="-122"/>
                <a:ea typeface="黑体" panose="02010609060101010101" pitchFamily="49" charset="-122"/>
              </a:rPr>
              <a:t>510X10</a:t>
            </a:r>
            <a:r>
              <a:rPr lang="zh-CN" altLang="zh-CN" sz="2400" b="1" baseline="30000" dirty="0">
                <a:latin typeface="黑体" panose="02010609060101010101" pitchFamily="49" charset="-122"/>
                <a:ea typeface="黑体" panose="02010609060101010101" pitchFamily="49" charset="-122"/>
              </a:rPr>
              <a:t>1</a:t>
            </a:r>
            <a:r>
              <a:rPr lang="zh-CN" altLang="zh-CN" sz="2400" b="1" dirty="0">
                <a:latin typeface="黑体" panose="02010609060101010101" pitchFamily="49" charset="-122"/>
                <a:ea typeface="黑体" panose="02010609060101010101" pitchFamily="49" charset="-122"/>
              </a:rPr>
              <a:t>＝5.1K</a:t>
            </a:r>
            <a:r>
              <a:rPr lang="zh-CN" altLang="zh-CN" sz="2400" b="1" dirty="0">
                <a:latin typeface="Symbol" panose="05050102010706020507" pitchFamily="18" charset="2"/>
                <a:ea typeface="黑体" panose="02010609060101010101" pitchFamily="49" charset="-122"/>
              </a:rPr>
              <a:t>W</a:t>
            </a:r>
            <a:r>
              <a:rPr lang="zh-CN" altLang="zh-CN" sz="2400" b="1" dirty="0">
                <a:latin typeface="黑体" panose="02010609060101010101" pitchFamily="49" charset="-122"/>
                <a:ea typeface="黑体" panose="02010609060101010101" pitchFamily="49" charset="-122"/>
              </a:rPr>
              <a:t>   51</a:t>
            </a:r>
            <a:r>
              <a:rPr lang="zh-CN" altLang="zh-CN" sz="2400" b="1" dirty="0">
                <a:latin typeface="Symbol" panose="05050102010706020507" pitchFamily="18" charset="2"/>
                <a:ea typeface="黑体" panose="02010609060101010101" pitchFamily="49" charset="-122"/>
              </a:rPr>
              <a:t>W</a:t>
            </a:r>
            <a:endParaRPr lang="zh-CN" altLang="zh-CN" sz="2400" b="1" dirty="0">
              <a:latin typeface="Symbol" panose="05050102010706020507" pitchFamily="18" charset="2"/>
              <a:ea typeface="黑体" panose="02010609060101010101" pitchFamily="49" charset="-122"/>
            </a:endParaRPr>
          </a:p>
          <a:p>
            <a:pPr marL="342900" indent="-342900">
              <a:lnSpc>
                <a:spcPct val="130000"/>
              </a:lnSpc>
              <a:spcBef>
                <a:spcPct val="50000"/>
              </a:spcBef>
              <a:buClr>
                <a:schemeClr val="hlink"/>
              </a:buClr>
              <a:buSzPct val="110000"/>
              <a:buFont typeface="Wingdings" panose="05000000000000000000" pitchFamily="2" charset="2"/>
            </a:pPr>
            <a:r>
              <a:rPr lang="zh-CN" altLang="zh-CN" sz="2600" b="1" dirty="0">
                <a:solidFill>
                  <a:schemeClr val="tx2"/>
                </a:solidFill>
                <a:latin typeface="Verdana" panose="020B0604030504040204" pitchFamily="34" charset="0"/>
                <a:ea typeface="宋体" panose="02010600030101010101" pitchFamily="2" charset="-122"/>
              </a:rPr>
              <a:t>额定功率</a:t>
            </a:r>
            <a:r>
              <a:rPr lang="zh-CN" altLang="zh-CN" sz="2600" b="1" dirty="0">
                <a:solidFill>
                  <a:srgbClr val="000000"/>
                </a:solidFill>
                <a:latin typeface="Verdana" panose="020B0604030504040204" pitchFamily="34" charset="0"/>
                <a:ea typeface="宋体" panose="02010600030101010101" pitchFamily="2" charset="-122"/>
              </a:rPr>
              <a:t>     </a:t>
            </a:r>
            <a:r>
              <a:rPr lang="zh-CN" altLang="zh-CN" sz="2600" b="1" dirty="0">
                <a:solidFill>
                  <a:srgbClr val="000000"/>
                </a:solidFill>
                <a:latin typeface="Times New Roman" panose="02020603050405020304" pitchFamily="18" charset="0"/>
                <a:ea typeface="宋体" panose="02010600030101010101" pitchFamily="2" charset="-122"/>
              </a:rPr>
              <a:t>, </a:t>
            </a:r>
            <a:r>
              <a:rPr lang="zh-CN" altLang="zh-CN" sz="2600" b="1" dirty="0">
                <a:solidFill>
                  <a:srgbClr val="000000"/>
                </a:solidFill>
                <a:latin typeface="Arial" panose="020B0604020202020204" pitchFamily="34" charset="0"/>
                <a:ea typeface="宋体" panose="02010600030101010101" pitchFamily="2" charset="-122"/>
              </a:rPr>
              <a:t>¼</a:t>
            </a:r>
            <a:r>
              <a:rPr lang="zh-CN" altLang="zh-CN" sz="2600" b="1" dirty="0">
                <a:solidFill>
                  <a:srgbClr val="000000"/>
                </a:solidFill>
                <a:latin typeface="Verdana" panose="020B0604030504040204" pitchFamily="34" charset="0"/>
                <a:ea typeface="宋体" panose="02010600030101010101" pitchFamily="2" charset="-122"/>
              </a:rPr>
              <a:t> </a:t>
            </a:r>
            <a:r>
              <a:rPr lang="zh-CN" altLang="zh-CN" sz="2600" b="1" dirty="0">
                <a:solidFill>
                  <a:srgbClr val="000000"/>
                </a:solidFill>
                <a:latin typeface="Times New Roman" panose="02020603050405020304" pitchFamily="18" charset="0"/>
                <a:ea typeface="宋体" panose="02010600030101010101" pitchFamily="2" charset="-122"/>
              </a:rPr>
              <a:t>, </a:t>
            </a:r>
            <a:r>
              <a:rPr lang="zh-CN" altLang="zh-CN" sz="2600" b="1" dirty="0">
                <a:solidFill>
                  <a:srgbClr val="000000"/>
                </a:solidFill>
                <a:latin typeface="Arial" panose="020B0604020202020204" pitchFamily="34" charset="0"/>
                <a:ea typeface="宋体" panose="02010600030101010101" pitchFamily="2" charset="-122"/>
              </a:rPr>
              <a:t>½</a:t>
            </a:r>
            <a:r>
              <a:rPr lang="zh-CN" altLang="zh-CN" sz="2600" b="1" dirty="0">
                <a:solidFill>
                  <a:srgbClr val="000000"/>
                </a:solidFill>
                <a:latin typeface="Verdana" panose="020B0604030504040204" pitchFamily="34" charset="0"/>
                <a:ea typeface="宋体" panose="02010600030101010101" pitchFamily="2" charset="-122"/>
              </a:rPr>
              <a:t> </a:t>
            </a:r>
            <a:r>
              <a:rPr lang="zh-CN" altLang="zh-CN" sz="2200" dirty="0">
                <a:solidFill>
                  <a:srgbClr val="000000"/>
                </a:solidFill>
                <a:latin typeface="Times New Roman" panose="02020603050405020304" pitchFamily="18" charset="0"/>
                <a:ea typeface="宋体" panose="02010600030101010101" pitchFamily="2" charset="-122"/>
              </a:rPr>
              <a:t>W</a:t>
            </a:r>
            <a:r>
              <a:rPr lang="zh-CN" altLang="zh-CN" sz="2600" b="1" dirty="0">
                <a:solidFill>
                  <a:srgbClr val="000000"/>
                </a:solidFill>
                <a:latin typeface="Arial" panose="020B0604020202020204" pitchFamily="34" charset="0"/>
                <a:ea typeface="宋体" panose="02010600030101010101" pitchFamily="2" charset="-122"/>
              </a:rPr>
              <a:t>…</a:t>
            </a:r>
            <a:endParaRPr lang="zh-CN" altLang="zh-CN" sz="2600" b="1" dirty="0">
              <a:solidFill>
                <a:srgbClr val="000000"/>
              </a:solidFill>
              <a:latin typeface="Verdana" panose="020B0604030504040204" pitchFamily="34" charset="0"/>
              <a:ea typeface="宋体" panose="02010600030101010101" pitchFamily="2" charset="-122"/>
            </a:endParaRPr>
          </a:p>
          <a:p>
            <a:pPr marL="342900" indent="-342900">
              <a:spcBef>
                <a:spcPct val="10000"/>
              </a:spcBef>
              <a:buClr>
                <a:schemeClr val="hlink"/>
              </a:buClr>
              <a:buSzPct val="110000"/>
              <a:buFont typeface="Wingdings" panose="05000000000000000000" pitchFamily="2" charset="2"/>
            </a:pPr>
            <a:r>
              <a:rPr lang="zh-CN" altLang="zh-CN" sz="2000" b="1" dirty="0">
                <a:solidFill>
                  <a:srgbClr val="000000"/>
                </a:solidFill>
                <a:latin typeface="Verdana" panose="020B0604030504040204" pitchFamily="34" charset="0"/>
                <a:ea typeface="宋体" panose="02010600030101010101" pitchFamily="2" charset="-122"/>
              </a:rPr>
              <a:t>  （与体积相关，现用    </a:t>
            </a:r>
            <a:r>
              <a:rPr lang="zh-CN" altLang="zh-CN" dirty="0">
                <a:solidFill>
                  <a:srgbClr val="000000"/>
                </a:solidFill>
                <a:latin typeface="Times New Roman" panose="02020603050405020304" pitchFamily="18" charset="0"/>
                <a:ea typeface="宋体" panose="02010600030101010101" pitchFamily="2" charset="-122"/>
              </a:rPr>
              <a:t>W</a:t>
            </a:r>
            <a:r>
              <a:rPr lang="zh-CN" altLang="zh-CN" sz="2000" b="1" dirty="0">
                <a:solidFill>
                  <a:srgbClr val="000000"/>
                </a:solidFill>
                <a:latin typeface="Verdana" panose="020B0604030504040204" pitchFamily="34" charset="0"/>
                <a:ea typeface="宋体" panose="02010600030101010101" pitchFamily="2" charset="-122"/>
              </a:rPr>
              <a:t>）</a:t>
            </a:r>
            <a:endParaRPr lang="zh-CN" altLang="zh-CN" sz="2000" b="1" dirty="0">
              <a:solidFill>
                <a:srgbClr val="000000"/>
              </a:solidFill>
              <a:latin typeface="Verdana" panose="020B0604030504040204" pitchFamily="34" charset="0"/>
              <a:ea typeface="宋体" panose="02010600030101010101" pitchFamily="2" charset="-122"/>
            </a:endParaRPr>
          </a:p>
        </p:txBody>
      </p:sp>
      <p:graphicFrame>
        <p:nvGraphicFramePr>
          <p:cNvPr id="10245" name="Object 6"/>
          <p:cNvGraphicFramePr>
            <a:graphicFrameLocks noChangeAspect="1"/>
          </p:cNvGraphicFramePr>
          <p:nvPr/>
        </p:nvGraphicFramePr>
        <p:xfrm>
          <a:off x="323533" y="852170"/>
          <a:ext cx="6389687" cy="1341438"/>
        </p:xfrm>
        <a:graphic>
          <a:graphicData uri="http://schemas.openxmlformats.org/presentationml/2006/ole">
            <mc:AlternateContent xmlns:mc="http://schemas.openxmlformats.org/markup-compatibility/2006">
              <mc:Choice xmlns:v="urn:schemas-microsoft-com:vml" Requires="v">
                <p:oleObj spid="_x0000_s3078" name="" r:id="rId1" imgW="4290695" imgH="894715" progId="WPS.Doc.6">
                  <p:embed/>
                </p:oleObj>
              </mc:Choice>
              <mc:Fallback>
                <p:oleObj name="" r:id="rId1" imgW="4290695" imgH="894715" progId="WPS.Doc.6">
                  <p:embed/>
                  <p:pic>
                    <p:nvPicPr>
                      <p:cNvPr id="0" name="图片 3077"/>
                      <p:cNvPicPr/>
                      <p:nvPr/>
                    </p:nvPicPr>
                    <p:blipFill>
                      <a:blip r:embed="rId2"/>
                      <a:stretch>
                        <a:fillRect/>
                      </a:stretch>
                    </p:blipFill>
                    <p:spPr>
                      <a:xfrm>
                        <a:off x="323533" y="852170"/>
                        <a:ext cx="6389687" cy="1341438"/>
                      </a:xfrm>
                      <a:prstGeom prst="rect">
                        <a:avLst/>
                      </a:prstGeom>
                      <a:noFill/>
                      <a:ln w="38100">
                        <a:noFill/>
                        <a:miter/>
                      </a:ln>
                    </p:spPr>
                  </p:pic>
                </p:oleObj>
              </mc:Fallback>
            </mc:AlternateContent>
          </a:graphicData>
        </a:graphic>
      </p:graphicFrame>
      <p:pic>
        <p:nvPicPr>
          <p:cNvPr id="10246" name="Picture 7"/>
          <p:cNvPicPr>
            <a:picLocks noChangeAspect="1"/>
          </p:cNvPicPr>
          <p:nvPr/>
        </p:nvPicPr>
        <p:blipFill>
          <a:blip r:embed="rId3"/>
          <a:stretch>
            <a:fillRect/>
          </a:stretch>
        </p:blipFill>
        <p:spPr>
          <a:xfrm>
            <a:off x="6876098" y="981075"/>
            <a:ext cx="1843087" cy="984250"/>
          </a:xfrm>
          <a:prstGeom prst="rect">
            <a:avLst/>
          </a:prstGeom>
          <a:noFill/>
          <a:ln w="9525">
            <a:noFill/>
          </a:ln>
        </p:spPr>
      </p:pic>
      <p:sp>
        <p:nvSpPr>
          <p:cNvPr id="8199" name="Line 8"/>
          <p:cNvSpPr/>
          <p:nvPr/>
        </p:nvSpPr>
        <p:spPr>
          <a:xfrm>
            <a:off x="2827338" y="4195763"/>
            <a:ext cx="9525" cy="1292225"/>
          </a:xfrm>
          <a:prstGeom prst="line">
            <a:avLst/>
          </a:prstGeom>
          <a:ln w="38100" cap="flat" cmpd="sng">
            <a:solidFill>
              <a:schemeClr val="hlink"/>
            </a:solidFill>
            <a:prstDash val="solid"/>
            <a:round/>
            <a:headEnd type="none" w="med" len="med"/>
            <a:tailEnd type="none" w="med" len="med"/>
          </a:ln>
        </p:spPr>
      </p:sp>
      <p:grpSp>
        <p:nvGrpSpPr>
          <p:cNvPr id="8200" name="Group 9"/>
          <p:cNvGrpSpPr/>
          <p:nvPr/>
        </p:nvGrpSpPr>
        <p:grpSpPr>
          <a:xfrm>
            <a:off x="1903413" y="5734050"/>
            <a:ext cx="490537" cy="485775"/>
            <a:chOff x="0" y="0"/>
            <a:chExt cx="309" cy="306"/>
          </a:xfrm>
        </p:grpSpPr>
        <p:sp>
          <p:nvSpPr>
            <p:cNvPr id="10249" name="Text Box 10"/>
            <p:cNvSpPr txBox="1"/>
            <p:nvPr/>
          </p:nvSpPr>
          <p:spPr>
            <a:xfrm>
              <a:off x="0" y="0"/>
              <a:ext cx="155" cy="212"/>
            </a:xfrm>
            <a:prstGeom prst="rect">
              <a:avLst/>
            </a:prstGeom>
            <a:noFill/>
            <a:ln w="9525">
              <a:noFill/>
            </a:ln>
          </p:spPr>
          <p:txBody>
            <a:bodyPr anchor="t" anchorCtr="0">
              <a:spAutoFit/>
            </a:bodyPr>
            <a:p>
              <a:pPr algn="ctr">
                <a:spcBef>
                  <a:spcPct val="50000"/>
                </a:spcBef>
              </a:pPr>
              <a:r>
                <a:rPr lang="zh-CN" altLang="zh-CN" sz="1600" b="1" dirty="0">
                  <a:latin typeface="Times New Roman" panose="02020603050405020304" pitchFamily="18" charset="0"/>
                  <a:ea typeface="宋体" panose="02010600030101010101" pitchFamily="2" charset="-122"/>
                </a:rPr>
                <a:t>1</a:t>
              </a:r>
              <a:endParaRPr lang="zh-CN" altLang="zh-CN" sz="1600" b="1" dirty="0">
                <a:latin typeface="Times New Roman" panose="02020603050405020304" pitchFamily="18" charset="0"/>
                <a:ea typeface="宋体" panose="02010600030101010101" pitchFamily="2" charset="-122"/>
              </a:endParaRPr>
            </a:p>
          </p:txBody>
        </p:sp>
        <p:sp>
          <p:nvSpPr>
            <p:cNvPr id="10250" name="Text Box 11"/>
            <p:cNvSpPr txBox="1"/>
            <p:nvPr/>
          </p:nvSpPr>
          <p:spPr>
            <a:xfrm>
              <a:off x="36" y="94"/>
              <a:ext cx="273" cy="212"/>
            </a:xfrm>
            <a:prstGeom prst="rect">
              <a:avLst/>
            </a:prstGeom>
            <a:noFill/>
            <a:ln w="9525">
              <a:noFill/>
            </a:ln>
          </p:spPr>
          <p:txBody>
            <a:bodyPr anchor="t" anchorCtr="0">
              <a:spAutoFit/>
            </a:bodyPr>
            <a:p>
              <a:pPr algn="ctr">
                <a:spcBef>
                  <a:spcPct val="50000"/>
                </a:spcBef>
              </a:pPr>
              <a:r>
                <a:rPr lang="zh-CN" altLang="zh-CN" sz="1600" b="1" dirty="0">
                  <a:latin typeface="Times New Roman" panose="02020603050405020304" pitchFamily="18" charset="0"/>
                  <a:ea typeface="宋体" panose="02010600030101010101" pitchFamily="2" charset="-122"/>
                </a:rPr>
                <a:t>8</a:t>
              </a:r>
              <a:endParaRPr lang="zh-CN" altLang="zh-CN" sz="1600" b="1" dirty="0">
                <a:latin typeface="Times New Roman" panose="02020603050405020304" pitchFamily="18" charset="0"/>
                <a:ea typeface="宋体" panose="02010600030101010101" pitchFamily="2" charset="-122"/>
              </a:endParaRPr>
            </a:p>
          </p:txBody>
        </p:sp>
        <p:sp>
          <p:nvSpPr>
            <p:cNvPr id="10251" name="Line 12"/>
            <p:cNvSpPr/>
            <p:nvPr/>
          </p:nvSpPr>
          <p:spPr>
            <a:xfrm flipH="1">
              <a:off x="96" y="82"/>
              <a:ext cx="71" cy="131"/>
            </a:xfrm>
            <a:prstGeom prst="line">
              <a:avLst/>
            </a:prstGeom>
            <a:ln w="25400" cap="flat" cmpd="sng">
              <a:solidFill>
                <a:schemeClr val="tx1"/>
              </a:solidFill>
              <a:prstDash val="solid"/>
              <a:round/>
              <a:headEnd type="none" w="med" len="med"/>
              <a:tailEnd type="none" w="med" len="med"/>
            </a:ln>
          </p:spPr>
        </p:sp>
      </p:grpSp>
      <p:grpSp>
        <p:nvGrpSpPr>
          <p:cNvPr id="8204" name="Group 13"/>
          <p:cNvGrpSpPr/>
          <p:nvPr/>
        </p:nvGrpSpPr>
        <p:grpSpPr>
          <a:xfrm>
            <a:off x="2873375" y="6129338"/>
            <a:ext cx="490538" cy="485775"/>
            <a:chOff x="0" y="0"/>
            <a:chExt cx="309" cy="306"/>
          </a:xfrm>
        </p:grpSpPr>
        <p:sp>
          <p:nvSpPr>
            <p:cNvPr id="10253" name="Text Box 14"/>
            <p:cNvSpPr txBox="1"/>
            <p:nvPr/>
          </p:nvSpPr>
          <p:spPr>
            <a:xfrm>
              <a:off x="0" y="0"/>
              <a:ext cx="155" cy="212"/>
            </a:xfrm>
            <a:prstGeom prst="rect">
              <a:avLst/>
            </a:prstGeom>
            <a:noFill/>
            <a:ln w="9525">
              <a:noFill/>
            </a:ln>
          </p:spPr>
          <p:txBody>
            <a:bodyPr anchor="t" anchorCtr="0">
              <a:spAutoFit/>
            </a:bodyPr>
            <a:p>
              <a:pPr algn="ctr">
                <a:spcBef>
                  <a:spcPct val="50000"/>
                </a:spcBef>
              </a:pPr>
              <a:r>
                <a:rPr lang="zh-CN" altLang="zh-CN" sz="1600" b="1" dirty="0">
                  <a:latin typeface="Times New Roman" panose="02020603050405020304" pitchFamily="18" charset="0"/>
                  <a:ea typeface="宋体" panose="02010600030101010101" pitchFamily="2" charset="-122"/>
                </a:rPr>
                <a:t>1</a:t>
              </a:r>
              <a:endParaRPr lang="zh-CN" altLang="zh-CN" sz="1600" b="1" dirty="0">
                <a:latin typeface="Times New Roman" panose="02020603050405020304" pitchFamily="18" charset="0"/>
                <a:ea typeface="宋体" panose="02010600030101010101" pitchFamily="2" charset="-122"/>
              </a:endParaRPr>
            </a:p>
          </p:txBody>
        </p:sp>
        <p:sp>
          <p:nvSpPr>
            <p:cNvPr id="10254" name="Text Box 15"/>
            <p:cNvSpPr txBox="1"/>
            <p:nvPr/>
          </p:nvSpPr>
          <p:spPr>
            <a:xfrm>
              <a:off x="36" y="94"/>
              <a:ext cx="273" cy="212"/>
            </a:xfrm>
            <a:prstGeom prst="rect">
              <a:avLst/>
            </a:prstGeom>
            <a:noFill/>
            <a:ln w="9525">
              <a:noFill/>
            </a:ln>
          </p:spPr>
          <p:txBody>
            <a:bodyPr anchor="t" anchorCtr="0">
              <a:spAutoFit/>
            </a:bodyPr>
            <a:p>
              <a:pPr algn="ctr">
                <a:spcBef>
                  <a:spcPct val="50000"/>
                </a:spcBef>
              </a:pPr>
              <a:r>
                <a:rPr lang="zh-CN" altLang="zh-CN" sz="1600" b="1" dirty="0">
                  <a:latin typeface="Times New Roman" panose="02020603050405020304" pitchFamily="18" charset="0"/>
                  <a:ea typeface="宋体" panose="02010600030101010101" pitchFamily="2" charset="-122"/>
                </a:rPr>
                <a:t>8</a:t>
              </a:r>
              <a:endParaRPr lang="zh-CN" altLang="zh-CN" sz="1600" b="1" dirty="0">
                <a:latin typeface="Times New Roman" panose="02020603050405020304" pitchFamily="18" charset="0"/>
                <a:ea typeface="宋体" panose="02010600030101010101" pitchFamily="2" charset="-122"/>
              </a:endParaRPr>
            </a:p>
          </p:txBody>
        </p:sp>
        <p:sp>
          <p:nvSpPr>
            <p:cNvPr id="10255" name="Line 16"/>
            <p:cNvSpPr/>
            <p:nvPr/>
          </p:nvSpPr>
          <p:spPr>
            <a:xfrm flipH="1">
              <a:off x="96" y="82"/>
              <a:ext cx="71" cy="131"/>
            </a:xfrm>
            <a:prstGeom prst="line">
              <a:avLst/>
            </a:prstGeom>
            <a:ln w="25400" cap="flat" cmpd="sng">
              <a:solidFill>
                <a:schemeClr val="tx1"/>
              </a:solidFill>
              <a:prstDash val="solid"/>
              <a:round/>
              <a:headEnd type="none" w="med" len="med"/>
              <a:tailEnd type="none" w="med" len="med"/>
            </a:ln>
          </p:spPr>
        </p:sp>
      </p:grpSp>
      <p:graphicFrame>
        <p:nvGraphicFramePr>
          <p:cNvPr id="10256" name="Object 17"/>
          <p:cNvGraphicFramePr>
            <a:graphicFrameLocks noChangeAspect="1"/>
          </p:cNvGraphicFramePr>
          <p:nvPr/>
        </p:nvGraphicFramePr>
        <p:xfrm>
          <a:off x="5674678" y="2691448"/>
          <a:ext cx="3416422" cy="3276000"/>
        </p:xfrm>
        <a:graphic>
          <a:graphicData uri="http://schemas.openxmlformats.org/presentationml/2006/ole">
            <mc:AlternateContent xmlns:mc="http://schemas.openxmlformats.org/markup-compatibility/2006">
              <mc:Choice xmlns:v="urn:schemas-microsoft-com:vml" Requires="v">
                <p:oleObj spid="_x0000_s3076" name="" r:id="rId4" imgW="2105025" imgH="2019300" progId="PBrush">
                  <p:embed/>
                </p:oleObj>
              </mc:Choice>
              <mc:Fallback>
                <p:oleObj name="" r:id="rId4" imgW="2105025" imgH="2019300" progId="PBrush">
                  <p:embed/>
                  <p:pic>
                    <p:nvPicPr>
                      <p:cNvPr id="0" name="图片 3075"/>
                      <p:cNvPicPr/>
                      <p:nvPr/>
                    </p:nvPicPr>
                    <p:blipFill>
                      <a:blip r:embed="rId5"/>
                      <a:stretch>
                        <a:fillRect/>
                      </a:stretch>
                    </p:blipFill>
                    <p:spPr>
                      <a:xfrm>
                        <a:off x="5674678" y="2691448"/>
                        <a:ext cx="3416422" cy="3276000"/>
                      </a:xfrm>
                      <a:prstGeom prst="rect">
                        <a:avLst/>
                      </a:prstGeom>
                      <a:noFill/>
                      <a:ln w="38100">
                        <a:noFill/>
                        <a:miter/>
                      </a:ln>
                    </p:spPr>
                  </p:pic>
                </p:oleObj>
              </mc:Fallback>
            </mc:AlternateContent>
          </a:graphicData>
        </a:graphic>
      </p:graphicFrame>
      <p:sp>
        <p:nvSpPr>
          <p:cNvPr id="10257" name="Text Box 18"/>
          <p:cNvSpPr txBox="1"/>
          <p:nvPr/>
        </p:nvSpPr>
        <p:spPr>
          <a:xfrm>
            <a:off x="149543" y="3711575"/>
            <a:ext cx="4816475" cy="460375"/>
          </a:xfrm>
          <a:prstGeom prst="rect">
            <a:avLst/>
          </a:prstGeom>
          <a:solidFill>
            <a:srgbClr val="CCFFFF"/>
          </a:solidFill>
          <a:ln w="9525">
            <a:noFill/>
          </a:ln>
        </p:spPr>
        <p:txBody>
          <a:bodyPr lIns="0" rIns="0" anchor="t" anchorCtr="0">
            <a:spAutoFit/>
          </a:bodyPr>
          <a:p>
            <a:pPr algn="ctr">
              <a:spcBef>
                <a:spcPct val="50000"/>
              </a:spcBef>
            </a:pPr>
            <a:r>
              <a:rPr lang="zh-CN" altLang="zh-CN" sz="2400" b="1" dirty="0">
                <a:latin typeface="Tahoma" panose="020B0604030504040204" pitchFamily="34" charset="0"/>
                <a:ea typeface="宋体" panose="02010600030101010101" pitchFamily="2" charset="-122"/>
              </a:rPr>
              <a:t>误差环：金 5％  银 10％  棕 15％</a:t>
            </a:r>
            <a:endParaRPr lang="zh-CN" altLang="zh-CN" sz="2400" b="1" dirty="0">
              <a:latin typeface="Tahoma" panose="020B0604030504040204" pitchFamily="34" charset="0"/>
              <a:ea typeface="宋体" panose="02010600030101010101" pitchFamily="2" charset="-122"/>
            </a:endParaRPr>
          </a:p>
        </p:txBody>
      </p:sp>
      <p:sp>
        <p:nvSpPr>
          <p:cNvPr id="10258" name="Rectangle 19"/>
          <p:cNvSpPr/>
          <p:nvPr/>
        </p:nvSpPr>
        <p:spPr>
          <a:xfrm>
            <a:off x="87630" y="2754630"/>
            <a:ext cx="4963795" cy="880745"/>
          </a:xfrm>
          <a:prstGeom prst="rect">
            <a:avLst/>
          </a:prstGeom>
          <a:noFill/>
          <a:ln w="38100" cap="flat" cmpd="sng">
            <a:solidFill>
              <a:srgbClr val="FF3300"/>
            </a:solidFill>
            <a:prstDash val="solid"/>
            <a:miter/>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2" name="矩形 1"/>
          <p:cNvSpPr/>
          <p:nvPr/>
        </p:nvSpPr>
        <p:spPr>
          <a:xfrm>
            <a:off x="6948805" y="981075"/>
            <a:ext cx="431800" cy="36004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down)">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25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243">
                                            <p:txEl>
                                              <p:pRg st="0" end="0"/>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257">
                                            <p:txEl>
                                              <p:pRg st="0" end="0"/>
                                            </p:txEl>
                                          </p:spTgt>
                                        </p:tgtEl>
                                        <p:attrNameLst>
                                          <p:attrName>style.visibility</p:attrName>
                                        </p:attrNameLst>
                                      </p:cBhvr>
                                      <p:to>
                                        <p:strVal val="visible"/>
                                      </p:to>
                                    </p:set>
                                    <p:anim calcmode="lin" valueType="num">
                                      <p:cBhvr additive="base">
                                        <p:cTn id="20" dur="500" fill="hold"/>
                                        <p:tgtEl>
                                          <p:spTgt spid="10257">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25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196"/>
                                        </p:tgtEl>
                                        <p:attrNameLst>
                                          <p:attrName>style.visibility</p:attrName>
                                        </p:attrNameLst>
                                      </p:cBhvr>
                                      <p:to>
                                        <p:strVal val="visible"/>
                                      </p:to>
                                    </p:set>
                                    <p:anim calcmode="lin" valueType="num">
                                      <p:cBhvr additive="base">
                                        <p:cTn id="26" dur="500" fill="hold"/>
                                        <p:tgtEl>
                                          <p:spTgt spid="8196"/>
                                        </p:tgtEl>
                                        <p:attrNameLst>
                                          <p:attrName>ppt_x</p:attrName>
                                        </p:attrNameLst>
                                      </p:cBhvr>
                                      <p:tavLst>
                                        <p:tav tm="0">
                                          <p:val>
                                            <p:strVal val="#ppt_x"/>
                                          </p:val>
                                        </p:tav>
                                        <p:tav tm="100000">
                                          <p:val>
                                            <p:strVal val="#ppt_x"/>
                                          </p:val>
                                        </p:tav>
                                      </p:tavLst>
                                    </p:anim>
                                    <p:anim calcmode="lin" valueType="num">
                                      <p:cBhvr additive="base">
                                        <p:cTn id="27" dur="500" fill="hold"/>
                                        <p:tgtEl>
                                          <p:spTgt spid="8196"/>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8199"/>
                                        </p:tgtEl>
                                        <p:attrNameLst>
                                          <p:attrName>style.visibility</p:attrName>
                                        </p:attrNameLst>
                                      </p:cBhvr>
                                      <p:to>
                                        <p:strVal val="visible"/>
                                      </p:to>
                                    </p:set>
                                    <p:anim calcmode="lin" valueType="num">
                                      <p:cBhvr additive="base">
                                        <p:cTn id="30" dur="500" fill="hold"/>
                                        <p:tgtEl>
                                          <p:spTgt spid="8199"/>
                                        </p:tgtEl>
                                        <p:attrNameLst>
                                          <p:attrName>ppt_x</p:attrName>
                                        </p:attrNameLst>
                                      </p:cBhvr>
                                      <p:tavLst>
                                        <p:tav tm="0">
                                          <p:val>
                                            <p:strVal val="#ppt_x"/>
                                          </p:val>
                                        </p:tav>
                                        <p:tav tm="100000">
                                          <p:val>
                                            <p:strVal val="#ppt_x"/>
                                          </p:val>
                                        </p:tav>
                                      </p:tavLst>
                                    </p:anim>
                                    <p:anim calcmode="lin" valueType="num">
                                      <p:cBhvr additive="base">
                                        <p:cTn id="31" dur="500" fill="hold"/>
                                        <p:tgtEl>
                                          <p:spTgt spid="819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8193"/>
                                        </p:tgtEl>
                                        <p:attrNameLst>
                                          <p:attrName>style.visibility</p:attrName>
                                        </p:attrNameLst>
                                      </p:cBhvr>
                                      <p:to>
                                        <p:strVal val="visible"/>
                                      </p:to>
                                    </p:set>
                                    <p:anim calcmode="lin" valueType="num">
                                      <p:cBhvr additive="base">
                                        <p:cTn id="34" dur="500" fill="hold"/>
                                        <p:tgtEl>
                                          <p:spTgt spid="8193"/>
                                        </p:tgtEl>
                                        <p:attrNameLst>
                                          <p:attrName>ppt_x</p:attrName>
                                        </p:attrNameLst>
                                      </p:cBhvr>
                                      <p:tavLst>
                                        <p:tav tm="0">
                                          <p:val>
                                            <p:strVal val="#ppt_x"/>
                                          </p:val>
                                        </p:tav>
                                        <p:tav tm="100000">
                                          <p:val>
                                            <p:strVal val="#ppt_x"/>
                                          </p:val>
                                        </p:tav>
                                      </p:tavLst>
                                    </p:anim>
                                    <p:anim calcmode="lin" valueType="num">
                                      <p:cBhvr additive="base">
                                        <p:cTn id="35" dur="500" fill="hold"/>
                                        <p:tgtEl>
                                          <p:spTgt spid="8193"/>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8200"/>
                                        </p:tgtEl>
                                        <p:attrNameLst>
                                          <p:attrName>style.visibility</p:attrName>
                                        </p:attrNameLst>
                                      </p:cBhvr>
                                      <p:to>
                                        <p:strVal val="visible"/>
                                      </p:to>
                                    </p:set>
                                    <p:anim calcmode="lin" valueType="num">
                                      <p:cBhvr additive="base">
                                        <p:cTn id="38" dur="500" fill="hold"/>
                                        <p:tgtEl>
                                          <p:spTgt spid="8200"/>
                                        </p:tgtEl>
                                        <p:attrNameLst>
                                          <p:attrName>ppt_x</p:attrName>
                                        </p:attrNameLst>
                                      </p:cBhvr>
                                      <p:tavLst>
                                        <p:tav tm="0">
                                          <p:val>
                                            <p:strVal val="#ppt_x"/>
                                          </p:val>
                                        </p:tav>
                                        <p:tav tm="100000">
                                          <p:val>
                                            <p:strVal val="#ppt_x"/>
                                          </p:val>
                                        </p:tav>
                                      </p:tavLst>
                                    </p:anim>
                                    <p:anim calcmode="lin" valueType="num">
                                      <p:cBhvr additive="base">
                                        <p:cTn id="39" dur="500" fill="hold"/>
                                        <p:tgtEl>
                                          <p:spTgt spid="8200"/>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8204"/>
                                        </p:tgtEl>
                                        <p:attrNameLst>
                                          <p:attrName>style.visibility</p:attrName>
                                        </p:attrNameLst>
                                      </p:cBhvr>
                                      <p:to>
                                        <p:strVal val="visible"/>
                                      </p:to>
                                    </p:set>
                                    <p:anim calcmode="lin" valueType="num">
                                      <p:cBhvr additive="base">
                                        <p:cTn id="42" dur="500" fill="hold"/>
                                        <p:tgtEl>
                                          <p:spTgt spid="8204"/>
                                        </p:tgtEl>
                                        <p:attrNameLst>
                                          <p:attrName>ppt_x</p:attrName>
                                        </p:attrNameLst>
                                      </p:cBhvr>
                                      <p:tavLst>
                                        <p:tav tm="0">
                                          <p:val>
                                            <p:strVal val="#ppt_x"/>
                                          </p:val>
                                        </p:tav>
                                        <p:tav tm="100000">
                                          <p:val>
                                            <p:strVal val="#ppt_x"/>
                                          </p:val>
                                        </p:tav>
                                      </p:tavLst>
                                    </p:anim>
                                    <p:anim calcmode="lin" valueType="num">
                                      <p:cBhvr additive="base">
                                        <p:cTn id="43" dur="500" fill="hold"/>
                                        <p:tgtEl>
                                          <p:spTgt spid="8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 grpId="0" bldLvl="0" animBg="1"/>
      <p:bldP spid="8196" grpId="0"/>
      <p:bldP spid="10258" grpId="0" bldLvl="0" animBg="1"/>
      <p:bldP spid="10258"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aphicFrame>
        <p:nvGraphicFramePr>
          <p:cNvPr id="3" name="Object 6"/>
          <p:cNvGraphicFramePr>
            <a:graphicFrameLocks noChangeAspect="1"/>
          </p:cNvGraphicFramePr>
          <p:nvPr/>
        </p:nvGraphicFramePr>
        <p:xfrm>
          <a:off x="2549208" y="4982210"/>
          <a:ext cx="6389687" cy="1341438"/>
        </p:xfrm>
        <a:graphic>
          <a:graphicData uri="http://schemas.openxmlformats.org/presentationml/2006/ole">
            <mc:AlternateContent xmlns:mc="http://schemas.openxmlformats.org/markup-compatibility/2006">
              <mc:Choice xmlns:v="urn:schemas-microsoft-com:vml" Requires="v">
                <p:oleObj spid="_x0000_s4" name="" r:id="rId1" imgW="4290695" imgH="894715" progId="WPS.Doc.6">
                  <p:embed/>
                </p:oleObj>
              </mc:Choice>
              <mc:Fallback>
                <p:oleObj name="" r:id="rId1" imgW="4290695" imgH="894715" progId="WPS.Doc.6">
                  <p:embed/>
                  <p:pic>
                    <p:nvPicPr>
                      <p:cNvPr id="0" name="图片 3077"/>
                      <p:cNvPicPr/>
                      <p:nvPr/>
                    </p:nvPicPr>
                    <p:blipFill>
                      <a:blip r:embed="rId2"/>
                      <a:stretch>
                        <a:fillRect/>
                      </a:stretch>
                    </p:blipFill>
                    <p:spPr>
                      <a:xfrm>
                        <a:off x="2549208" y="4982210"/>
                        <a:ext cx="6389687" cy="1341438"/>
                      </a:xfrm>
                      <a:prstGeom prst="rect">
                        <a:avLst/>
                      </a:prstGeom>
                      <a:noFill/>
                      <a:ln w="38100">
                        <a:noFill/>
                        <a:miter/>
                      </a:ln>
                    </p:spPr>
                  </p:pic>
                </p:oleObj>
              </mc:Fallback>
            </mc:AlternateContent>
          </a:graphicData>
        </a:graphic>
      </p:graphicFrame>
      <p:sp>
        <p:nvSpPr>
          <p:cNvPr id="10242" name="Rectangle 3"/>
          <p:cNvSpPr>
            <a:spLocks noGrp="1"/>
          </p:cNvSpPr>
          <p:nvPr>
            <p:ph type="title" idx="4294967295"/>
          </p:nvPr>
        </p:nvSpPr>
        <p:spPr>
          <a:xfrm>
            <a:off x="139700" y="43180"/>
            <a:ext cx="7912735" cy="721360"/>
          </a:xfrm>
        </p:spPr>
        <p:txBody>
          <a:bodyPr wrap="square" lIns="91440" tIns="45720" rIns="91440" bIns="45720" anchor="b" anchorCtr="0"/>
          <a:p>
            <a:pPr algn="ctr" eaLnBrk="1" hangingPunct="1"/>
            <a:r>
              <a:rPr lang="en-US" altLang="zh-CN" b="1" dirty="0">
                <a:ea typeface="楷体_GB2312" pitchFamily="49" charset="-122"/>
              </a:rPr>
              <a:t> </a:t>
            </a:r>
            <a:r>
              <a:rPr lang="zh-CN" altLang="zh-CN" b="1" dirty="0">
                <a:ea typeface="楷体_GB2312" pitchFamily="49" charset="-122"/>
              </a:rPr>
              <a:t>电阻</a:t>
            </a:r>
            <a:r>
              <a:rPr lang="zh-CN" altLang="zh-CN" sz="320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2800" b="1" dirty="0">
                <a:solidFill>
                  <a:schemeClr val="tx1"/>
                </a:solidFill>
                <a:effectLst/>
                <a:latin typeface="宋体" panose="02010600030101010101" pitchFamily="2" charset="-122"/>
                <a:ea typeface="宋体" panose="02010600030101010101" pitchFamily="2" charset="-122"/>
                <a:cs typeface="宋体" panose="02010600030101010101" pitchFamily="2" charset="-122"/>
              </a:rPr>
              <a:t>教材附录D.1</a:t>
            </a:r>
            <a:r>
              <a:rPr lang="zh-CN" altLang="zh-CN" sz="320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a:t>
            </a:r>
            <a:endParaRPr lang="zh-CN" altLang="zh-CN" sz="3200" dirty="0">
              <a:solidFill>
                <a:schemeClr val="tx1"/>
              </a:solidFill>
              <a:effectLst/>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0245" name="Object 6"/>
          <p:cNvGraphicFramePr>
            <a:graphicFrameLocks noChangeAspect="1"/>
          </p:cNvGraphicFramePr>
          <p:nvPr/>
        </p:nvGraphicFramePr>
        <p:xfrm>
          <a:off x="5723573" y="1123950"/>
          <a:ext cx="6389687" cy="1341438"/>
        </p:xfrm>
        <a:graphic>
          <a:graphicData uri="http://schemas.openxmlformats.org/presentationml/2006/ole">
            <mc:AlternateContent xmlns:mc="http://schemas.openxmlformats.org/markup-compatibility/2006">
              <mc:Choice xmlns:v="urn:schemas-microsoft-com:vml" Requires="v">
                <p:oleObj spid="_x0000_s3078" name="" r:id="rId3" imgW="4290695" imgH="894715" progId="WPS.Doc.6">
                  <p:embed/>
                </p:oleObj>
              </mc:Choice>
              <mc:Fallback>
                <p:oleObj name="" r:id="rId3" imgW="4290695" imgH="894715" progId="WPS.Doc.6">
                  <p:embed/>
                  <p:pic>
                    <p:nvPicPr>
                      <p:cNvPr id="0" name="图片 3077"/>
                      <p:cNvPicPr/>
                      <p:nvPr/>
                    </p:nvPicPr>
                    <p:blipFill>
                      <a:blip r:embed="rId2"/>
                      <a:stretch>
                        <a:fillRect/>
                      </a:stretch>
                    </p:blipFill>
                    <p:spPr>
                      <a:xfrm>
                        <a:off x="5723573" y="1123950"/>
                        <a:ext cx="6389687" cy="1341438"/>
                      </a:xfrm>
                      <a:prstGeom prst="rect">
                        <a:avLst/>
                      </a:prstGeom>
                      <a:noFill/>
                      <a:ln w="38100">
                        <a:noFill/>
                        <a:miter/>
                      </a:ln>
                    </p:spPr>
                  </p:pic>
                </p:oleObj>
              </mc:Fallback>
            </mc:AlternateContent>
          </a:graphicData>
        </a:graphic>
      </p:graphicFrame>
      <p:pic>
        <p:nvPicPr>
          <p:cNvPr id="6" name="Picture 9" descr="https://pic2.zhimg.com/v2-4f7491c0a8498cb459525eca9dd09845_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141730"/>
            <a:ext cx="5323840"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descr="Rectangle: Click to edit Master text styles&#10;Second level&#10;Third level&#10;Fourth level&#10;Fifth level"/>
          <p:cNvSpPr>
            <a:spLocks noChangeArrowheads="1"/>
          </p:cNvSpPr>
          <p:nvPr/>
        </p:nvSpPr>
        <p:spPr bwMode="auto">
          <a:xfrm>
            <a:off x="5674831" y="2858780"/>
            <a:ext cx="2376264"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楷体_GB2312"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宋体" panose="02010600030101010101" pitchFamily="2" charset="-122"/>
              </a:defRPr>
            </a:lvl9pPr>
          </a:lstStyle>
          <a:p>
            <a:pPr eaLnBrk="1" hangingPunct="1">
              <a:buClr>
                <a:schemeClr val="hlink"/>
              </a:buClr>
              <a:buSzPct val="110000"/>
              <a:buFont typeface="Wingdings" panose="05000000000000000000" pitchFamily="2" charset="2"/>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例：</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eaLnBrk="1" hangingPunct="1">
              <a:buClr>
                <a:schemeClr val="hlink"/>
              </a:buClr>
              <a:buSzPct val="110000"/>
              <a:buFont typeface="Wingdings" panose="05000000000000000000" pitchFamily="2" charset="2"/>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绿 棕 黑 棕   棕</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eaLnBrk="1" hangingPunct="1">
              <a:buClr>
                <a:schemeClr val="hlink"/>
              </a:buClr>
              <a:buSzPct val="110000"/>
              <a:buFont typeface="Wingdings" panose="05000000000000000000" pitchFamily="2" charset="2"/>
              <a:buNone/>
            </a:pPr>
            <a:r>
              <a:rPr lang="zh-CN" altLang="en-US" sz="2400" dirty="0">
                <a:latin typeface="Times New Roman" panose="02020603050405020304" pitchFamily="18" charset="0"/>
                <a:ea typeface="楷体" panose="02010609060101010101" charset="-122"/>
                <a:cs typeface="Times New Roman" panose="02020603050405020304" pitchFamily="18" charset="0"/>
              </a:rPr>
              <a:t> </a:t>
            </a:r>
            <a:r>
              <a:rPr lang="en-US" altLang="zh-CN" sz="2400" dirty="0">
                <a:latin typeface="Times New Roman" panose="02020603050405020304" pitchFamily="18" charset="0"/>
                <a:ea typeface="楷体" panose="02010609060101010101" charset="-122"/>
                <a:cs typeface="Times New Roman" panose="02020603050405020304" pitchFamily="18" charset="0"/>
              </a:rPr>
              <a:t>5 </a:t>
            </a:r>
            <a:r>
              <a:rPr lang="en-US" altLang="zh-CN" sz="2400" dirty="0" smtClean="0">
                <a:latin typeface="Times New Roman" panose="02020603050405020304" pitchFamily="18" charset="0"/>
                <a:ea typeface="楷体" panose="02010609060101010101" charset="-122"/>
                <a:cs typeface="Times New Roman" panose="02020603050405020304" pitchFamily="18" charset="0"/>
              </a:rPr>
              <a:t>  </a:t>
            </a:r>
            <a:r>
              <a:rPr lang="en-US" altLang="zh-CN" sz="2400" dirty="0">
                <a:latin typeface="Times New Roman" panose="02020603050405020304" pitchFamily="18" charset="0"/>
                <a:ea typeface="楷体" panose="02010609060101010101" charset="-122"/>
                <a:cs typeface="Times New Roman" panose="02020603050405020304" pitchFamily="18" charset="0"/>
              </a:rPr>
              <a:t>1 </a:t>
            </a:r>
            <a:r>
              <a:rPr lang="en-US" altLang="zh-CN" sz="2400" dirty="0" smtClean="0">
                <a:latin typeface="Times New Roman" panose="02020603050405020304" pitchFamily="18" charset="0"/>
                <a:ea typeface="楷体" panose="02010609060101010101" charset="-122"/>
                <a:cs typeface="Times New Roman" panose="02020603050405020304" pitchFamily="18" charset="0"/>
              </a:rPr>
              <a:t>  </a:t>
            </a:r>
            <a:r>
              <a:rPr lang="en-US" altLang="zh-CN" sz="2400" dirty="0">
                <a:latin typeface="Times New Roman" panose="02020603050405020304" pitchFamily="18" charset="0"/>
                <a:ea typeface="楷体" panose="02010609060101010101" charset="-122"/>
                <a:cs typeface="Times New Roman" panose="02020603050405020304" pitchFamily="18" charset="0"/>
              </a:rPr>
              <a:t>0  </a:t>
            </a:r>
            <a:r>
              <a:rPr lang="en-US" altLang="zh-CN" sz="2400" dirty="0" smtClean="0">
                <a:latin typeface="Times New Roman" panose="02020603050405020304" pitchFamily="18" charset="0"/>
                <a:ea typeface="楷体" panose="02010609060101010101" charset="-122"/>
                <a:cs typeface="Times New Roman" panose="02020603050405020304" pitchFamily="18" charset="0"/>
              </a:rPr>
              <a:t> 1    </a:t>
            </a:r>
            <a:r>
              <a:rPr lang="en-US" altLang="zh-CN" sz="2400" dirty="0">
                <a:latin typeface="Times New Roman" panose="02020603050405020304" pitchFamily="18" charset="0"/>
                <a:ea typeface="楷体" panose="02010609060101010101" charset="-122"/>
                <a:cs typeface="Times New Roman" panose="02020603050405020304" pitchFamily="18" charset="0"/>
              </a:rPr>
              <a:t>1</a:t>
            </a:r>
            <a:r>
              <a:rPr lang="zh-CN" altLang="en-US" sz="2400" dirty="0">
                <a:latin typeface="Times New Roman" panose="02020603050405020304" pitchFamily="18" charset="0"/>
                <a:ea typeface="楷体" panose="02010609060101010101" charset="-122"/>
                <a:cs typeface="Times New Roman" panose="02020603050405020304" pitchFamily="18" charset="0"/>
              </a:rPr>
              <a:t>％</a:t>
            </a:r>
            <a:endParaRPr lang="zh-CN" altLang="en-US" sz="2400" dirty="0">
              <a:latin typeface="Times New Roman" panose="02020603050405020304" pitchFamily="18" charset="0"/>
              <a:ea typeface="楷体" panose="02010609060101010101" charset="-122"/>
              <a:cs typeface="Times New Roman" panose="02020603050405020304" pitchFamily="18" charset="0"/>
            </a:endParaRPr>
          </a:p>
          <a:p>
            <a:pPr eaLnBrk="1" hangingPunct="1">
              <a:buClr>
                <a:schemeClr val="hlink"/>
              </a:buClr>
              <a:buSzPct val="110000"/>
              <a:buFont typeface="Wingdings" panose="05000000000000000000" pitchFamily="2" charset="2"/>
              <a:buNone/>
            </a:pPr>
            <a:r>
              <a:rPr lang="en-US" altLang="zh-CN" sz="2400" dirty="0">
                <a:latin typeface="Times New Roman" panose="02020603050405020304" pitchFamily="18" charset="0"/>
                <a:ea typeface="楷体" panose="02010609060101010101" charset="-122"/>
                <a:cs typeface="Times New Roman" panose="02020603050405020304" pitchFamily="18" charset="0"/>
              </a:rPr>
              <a:t>510X10</a:t>
            </a:r>
            <a:r>
              <a:rPr lang="zh-CN" altLang="en-US" sz="2400" dirty="0">
                <a:latin typeface="Times New Roman" panose="02020603050405020304" pitchFamily="18" charset="0"/>
                <a:ea typeface="楷体" panose="02010609060101010101"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charset="-122"/>
                <a:cs typeface="Times New Roman" panose="02020603050405020304" pitchFamily="18" charset="0"/>
              </a:rPr>
              <a:t>5.1KΩ</a:t>
            </a:r>
            <a:endParaRPr lang="en-US" altLang="zh-CN" sz="24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down)">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p:graphicFrame>
        <p:nvGraphicFramePr>
          <p:cNvPr id="12289" name="Object 2"/>
          <p:cNvGraphicFramePr>
            <a:graphicFrameLocks noChangeAspect="1"/>
          </p:cNvGraphicFramePr>
          <p:nvPr/>
        </p:nvGraphicFramePr>
        <p:xfrm>
          <a:off x="1066800" y="1058863"/>
          <a:ext cx="7543800" cy="5570537"/>
        </p:xfrm>
        <a:graphic>
          <a:graphicData uri="http://schemas.openxmlformats.org/presentationml/2006/ole">
            <mc:AlternateContent xmlns:mc="http://schemas.openxmlformats.org/markup-compatibility/2006">
              <mc:Choice xmlns:v="urn:schemas-microsoft-com:vml" Requires="v">
                <p:oleObj spid="_x0000_s3077" name="" r:id="rId1" imgW="3095625" imgH="2286000" progId="PBrush">
                  <p:embed/>
                </p:oleObj>
              </mc:Choice>
              <mc:Fallback>
                <p:oleObj name="" r:id="rId1" imgW="3095625" imgH="2286000" progId="PBrush">
                  <p:embed/>
                  <p:pic>
                    <p:nvPicPr>
                      <p:cNvPr id="0" name="图片 3076"/>
                      <p:cNvPicPr/>
                      <p:nvPr/>
                    </p:nvPicPr>
                    <p:blipFill>
                      <a:blip r:embed="rId2"/>
                      <a:stretch>
                        <a:fillRect/>
                      </a:stretch>
                    </p:blipFill>
                    <p:spPr>
                      <a:xfrm>
                        <a:off x="1066800" y="1058863"/>
                        <a:ext cx="7543800" cy="5570537"/>
                      </a:xfrm>
                      <a:prstGeom prst="rect">
                        <a:avLst/>
                      </a:prstGeom>
                      <a:noFill/>
                      <a:ln w="38100">
                        <a:noFill/>
                        <a:miter/>
                      </a:ln>
                    </p:spPr>
                  </p:pic>
                </p:oleObj>
              </mc:Fallback>
            </mc:AlternateContent>
          </a:graphicData>
        </a:graphic>
      </p:graphicFrame>
      <p:sp>
        <p:nvSpPr>
          <p:cNvPr id="12290" name="Text Box 3"/>
          <p:cNvSpPr txBox="1"/>
          <p:nvPr/>
        </p:nvSpPr>
        <p:spPr>
          <a:xfrm>
            <a:off x="1219200" y="381000"/>
            <a:ext cx="3657600" cy="519113"/>
          </a:xfrm>
          <a:prstGeom prst="rect">
            <a:avLst/>
          </a:prstGeom>
          <a:noFill/>
          <a:ln w="9525">
            <a:noFill/>
          </a:ln>
        </p:spPr>
        <p:txBody>
          <a:bodyPr anchor="t" anchorCtr="0">
            <a:spAutoFit/>
          </a:bodyPr>
          <a:p>
            <a:pPr>
              <a:spcBef>
                <a:spcPct val="50000"/>
              </a:spcBef>
            </a:pPr>
            <a:r>
              <a:rPr lang="zh-CN" altLang="zh-CN" sz="2800" b="1" dirty="0">
                <a:latin typeface="Tahoma" panose="020B0604030504040204" pitchFamily="34" charset="0"/>
                <a:ea typeface="宋体" panose="02010600030101010101" pitchFamily="2" charset="-122"/>
              </a:rPr>
              <a:t>金、银</a:t>
            </a:r>
            <a:endParaRPr lang="zh-CN" altLang="zh-CN" sz="2800" b="1" dirty="0">
              <a:latin typeface="Tahoma" panose="020B0604030504040204" pitchFamily="34"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3313" name="Rectangle 2"/>
          <p:cNvSpPr>
            <a:spLocks noGrp="1"/>
          </p:cNvSpPr>
          <p:nvPr>
            <p:ph type="title" idx="4294967295"/>
          </p:nvPr>
        </p:nvSpPr>
        <p:spPr>
          <a:xfrm>
            <a:off x="0" y="-26035"/>
            <a:ext cx="8229600" cy="777875"/>
          </a:xfrm>
        </p:spPr>
        <p:txBody>
          <a:bodyPr wrap="square" lIns="91440" tIns="45720" rIns="91440" bIns="45720" anchor="b" anchorCtr="0"/>
          <a:p>
            <a:pPr eaLnBrk="1" hangingPunct="1"/>
            <a:r>
              <a:rPr lang="zh-CN" altLang="zh-CN" b="1" dirty="0">
                <a:effectLst/>
                <a:ea typeface="楷体_GB2312" pitchFamily="49" charset="-122"/>
              </a:rPr>
              <a:t>电阻</a:t>
            </a:r>
            <a:r>
              <a:rPr lang="zh-CN" altLang="zh-CN" sz="4000" b="1" dirty="0">
                <a:effectLst/>
                <a:ea typeface="楷体_GB2312" pitchFamily="49" charset="-122"/>
              </a:rPr>
              <a:t>（实际使用技巧）</a:t>
            </a:r>
            <a:endParaRPr lang="zh-CN" altLang="zh-CN" sz="4000" b="1" dirty="0">
              <a:solidFill>
                <a:srgbClr val="0000FF"/>
              </a:solidFill>
              <a:effectLst/>
              <a:ea typeface="楷体_GB2312" pitchFamily="49" charset="-122"/>
            </a:endParaRPr>
          </a:p>
        </p:txBody>
      </p:sp>
      <p:sp>
        <p:nvSpPr>
          <p:cNvPr id="13314" name="Rectangle 3"/>
          <p:cNvSpPr>
            <a:spLocks noGrp="1"/>
          </p:cNvSpPr>
          <p:nvPr>
            <p:ph idx="4294967295"/>
          </p:nvPr>
        </p:nvSpPr>
        <p:spPr>
          <a:xfrm>
            <a:off x="502285" y="1412875"/>
            <a:ext cx="7772400" cy="4819650"/>
          </a:xfrm>
        </p:spPr>
        <p:txBody>
          <a:bodyPr wrap="square" lIns="91440" tIns="45720" rIns="91440" bIns="45720" anchor="t" anchorCtr="0"/>
          <a:p>
            <a:pPr eaLnBrk="1" hangingPunct="1">
              <a:spcBef>
                <a:spcPct val="40000"/>
              </a:spcBef>
              <a:buFont typeface="Wingdings" panose="05000000000000000000" charset="0"/>
              <a:buChar char="l"/>
            </a:pPr>
            <a:r>
              <a:rPr lang="zh-CN" altLang="zh-CN" sz="2800" b="1" dirty="0"/>
              <a:t>电阻实际值应</a:t>
            </a:r>
            <a:r>
              <a:rPr lang="zh-CN" altLang="zh-CN" sz="2800" b="1" dirty="0">
                <a:solidFill>
                  <a:srgbClr val="FF0000"/>
                </a:solidFill>
              </a:rPr>
              <a:t>以万用表测量</a:t>
            </a:r>
            <a:r>
              <a:rPr lang="zh-CN" altLang="zh-CN" sz="2800" b="1" dirty="0"/>
              <a:t>为准，除非精度要求很高或误差太大，一般接近就可用</a:t>
            </a:r>
            <a:endParaRPr lang="zh-CN" altLang="zh-CN" sz="2800" b="1" dirty="0"/>
          </a:p>
          <a:p>
            <a:pPr eaLnBrk="1" hangingPunct="1">
              <a:buFont typeface="Wingdings" panose="05000000000000000000" charset="0"/>
              <a:buChar char="l"/>
            </a:pPr>
            <a:r>
              <a:rPr lang="zh-CN" altLang="zh-CN" sz="2800" b="1" dirty="0"/>
              <a:t>常用电阻不是每个阻值都有</a:t>
            </a:r>
            <a:endParaRPr lang="zh-CN" altLang="zh-CN" sz="2800" b="1" dirty="0"/>
          </a:p>
          <a:p>
            <a:pPr marL="0" indent="0" eaLnBrk="1" hangingPunct="1">
              <a:buFont typeface="Wingdings" panose="05000000000000000000" charset="0"/>
              <a:buNone/>
            </a:pPr>
            <a:r>
              <a:rPr lang="en-US" altLang="zh-CN" sz="2800" b="1" dirty="0"/>
              <a:t>    </a:t>
            </a:r>
            <a:r>
              <a:rPr lang="zh-CN" altLang="zh-CN" sz="2400" b="0" dirty="0"/>
              <a:t>根据国家标准，电阻的阻值按其精度分为两大系列，</a:t>
            </a:r>
            <a:endParaRPr lang="zh-CN" altLang="zh-CN" sz="2400" b="0" dirty="0"/>
          </a:p>
          <a:p>
            <a:pPr marL="0" indent="0" eaLnBrk="1" hangingPunct="1">
              <a:buFont typeface="Wingdings" panose="05000000000000000000" charset="0"/>
              <a:buNone/>
            </a:pPr>
            <a:r>
              <a:rPr lang="en-US" altLang="zh-CN" sz="2400" b="0" dirty="0"/>
              <a:t>    </a:t>
            </a:r>
            <a:r>
              <a:rPr lang="zh-CN" altLang="zh-CN" sz="2400" b="0" dirty="0">
                <a:solidFill>
                  <a:srgbClr val="FF0000"/>
                </a:solidFill>
              </a:rPr>
              <a:t>E-24</a:t>
            </a:r>
            <a:r>
              <a:rPr lang="zh-CN" altLang="zh-CN" sz="2400" b="0" dirty="0"/>
              <a:t>系列精度为5%，</a:t>
            </a:r>
            <a:r>
              <a:rPr lang="zh-CN" altLang="en-US" sz="2400">
                <a:sym typeface="+mn-ea"/>
              </a:rPr>
              <a:t>以</a:t>
            </a:r>
            <a:r>
              <a:rPr lang="zh-CN" altLang="en-US" sz="2400">
                <a:solidFill>
                  <a:srgbClr val="FF0000"/>
                </a:solidFill>
                <a:sym typeface="+mn-ea"/>
              </a:rPr>
              <a:t>欧姆</a:t>
            </a:r>
            <a:r>
              <a:rPr lang="zh-CN" altLang="en-US" sz="2400">
                <a:sym typeface="+mn-ea"/>
              </a:rPr>
              <a:t>为单位</a:t>
            </a:r>
            <a:r>
              <a:rPr lang="zh-CN" altLang="zh-CN" sz="2400" b="0" dirty="0"/>
              <a:t>标称值包括1.0，5.6，33，160，820，3.9K，20K，100K等。</a:t>
            </a:r>
            <a:endParaRPr lang="zh-CN" altLang="zh-CN" sz="2400" b="0" dirty="0"/>
          </a:p>
          <a:p>
            <a:pPr marL="0" indent="0" eaLnBrk="1" hangingPunct="1">
              <a:buFont typeface="Wingdings" panose="05000000000000000000" charset="0"/>
              <a:buNone/>
            </a:pPr>
            <a:r>
              <a:rPr lang="zh-CN" altLang="zh-CN" sz="2400" b="0" dirty="0"/>
              <a:t> </a:t>
            </a:r>
            <a:r>
              <a:rPr lang="en-US" altLang="zh-CN" sz="2400" b="0" dirty="0"/>
              <a:t>   </a:t>
            </a:r>
            <a:r>
              <a:rPr lang="zh-CN" altLang="zh-CN" sz="2400" b="0" dirty="0">
                <a:solidFill>
                  <a:srgbClr val="FF0000"/>
                </a:solidFill>
              </a:rPr>
              <a:t>E-96</a:t>
            </a:r>
            <a:r>
              <a:rPr lang="zh-CN" altLang="zh-CN" sz="2400" b="0" dirty="0"/>
              <a:t>系列精度为1%，标称值包括10，33，100，332，1K，3.32K，10.5K等。</a:t>
            </a:r>
            <a:endParaRPr lang="zh-CN" altLang="zh-CN" sz="2800" b="1" dirty="0">
              <a:solidFill>
                <a:schemeClr val="folHlink"/>
              </a:solidFill>
            </a:endParaRPr>
          </a:p>
          <a:p>
            <a:pPr eaLnBrk="1" hangingPunct="1">
              <a:buFont typeface="Wingdings" panose="05000000000000000000" charset="0"/>
              <a:buChar char="l"/>
            </a:pPr>
            <a:r>
              <a:rPr lang="zh-CN" altLang="zh-CN" sz="2800" b="1" dirty="0">
                <a:solidFill>
                  <a:srgbClr val="FF0000"/>
                </a:solidFill>
              </a:rPr>
              <a:t>色环意义</a:t>
            </a:r>
            <a:r>
              <a:rPr lang="zh-CN" altLang="zh-CN" sz="2800" b="1" dirty="0"/>
              <a:t>在于</a:t>
            </a:r>
            <a:r>
              <a:rPr lang="zh-CN" altLang="zh-CN" sz="2800" b="1" dirty="0">
                <a:solidFill>
                  <a:srgbClr val="FF0000"/>
                </a:solidFill>
              </a:rPr>
              <a:t>初选/选表档/排错</a:t>
            </a:r>
            <a:endParaRPr lang="zh-CN" altLang="zh-CN" sz="2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wipe(down)">
                                      <p:cBhvr>
                                        <p:cTn id="7" dur="500"/>
                                        <p:tgtEl>
                                          <p:spTgt spid="133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314">
                                            <p:txEl>
                                              <p:pRg st="1" end="1"/>
                                            </p:txEl>
                                          </p:spTgt>
                                        </p:tgtEl>
                                        <p:attrNameLst>
                                          <p:attrName>style.visibility</p:attrName>
                                        </p:attrNameLst>
                                      </p:cBhvr>
                                      <p:to>
                                        <p:strVal val="visible"/>
                                      </p:to>
                                    </p:set>
                                    <p:animEffect transition="in" filter="wipe(down)">
                                      <p:cBhvr>
                                        <p:cTn id="12" dur="500"/>
                                        <p:tgtEl>
                                          <p:spTgt spid="133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314">
                                            <p:txEl>
                                              <p:pRg st="2" end="2"/>
                                            </p:txEl>
                                          </p:spTgt>
                                        </p:tgtEl>
                                        <p:attrNameLst>
                                          <p:attrName>style.visibility</p:attrName>
                                        </p:attrNameLst>
                                      </p:cBhvr>
                                      <p:to>
                                        <p:strVal val="visible"/>
                                      </p:to>
                                    </p:set>
                                    <p:animEffect transition="in" filter="wipe(down)">
                                      <p:cBhvr>
                                        <p:cTn id="17" dur="500"/>
                                        <p:tgtEl>
                                          <p:spTgt spid="133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314">
                                            <p:txEl>
                                              <p:pRg st="3" end="3"/>
                                            </p:txEl>
                                          </p:spTgt>
                                        </p:tgtEl>
                                        <p:attrNameLst>
                                          <p:attrName>style.visibility</p:attrName>
                                        </p:attrNameLst>
                                      </p:cBhvr>
                                      <p:to>
                                        <p:strVal val="visible"/>
                                      </p:to>
                                    </p:set>
                                    <p:animEffect transition="in" filter="wipe(down)">
                                      <p:cBhvr>
                                        <p:cTn id="22" dur="500"/>
                                        <p:tgtEl>
                                          <p:spTgt spid="133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3314">
                                            <p:txEl>
                                              <p:pRg st="4" end="4"/>
                                            </p:txEl>
                                          </p:spTgt>
                                        </p:tgtEl>
                                        <p:attrNameLst>
                                          <p:attrName>style.visibility</p:attrName>
                                        </p:attrNameLst>
                                      </p:cBhvr>
                                      <p:to>
                                        <p:strVal val="visible"/>
                                      </p:to>
                                    </p:set>
                                    <p:animEffect transition="in" filter="wipe(down)">
                                      <p:cBhvr>
                                        <p:cTn id="27" dur="500"/>
                                        <p:tgtEl>
                                          <p:spTgt spid="133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3314">
                                            <p:txEl>
                                              <p:pRg st="5" end="5"/>
                                            </p:txEl>
                                          </p:spTgt>
                                        </p:tgtEl>
                                        <p:attrNameLst>
                                          <p:attrName>style.visibility</p:attrName>
                                        </p:attrNameLst>
                                      </p:cBhvr>
                                      <p:to>
                                        <p:strVal val="visible"/>
                                      </p:to>
                                    </p:set>
                                    <p:animEffect transition="in" filter="wipe(down)">
                                      <p:cBhvr>
                                        <p:cTn id="32" dur="500"/>
                                        <p:tgtEl>
                                          <p:spTgt spid="133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4337" name="Rectangle 2"/>
          <p:cNvSpPr>
            <a:spLocks noGrp="1"/>
          </p:cNvSpPr>
          <p:nvPr>
            <p:ph type="title" idx="4294967295"/>
          </p:nvPr>
        </p:nvSpPr>
        <p:spPr>
          <a:xfrm>
            <a:off x="-27940" y="36195"/>
            <a:ext cx="9171940" cy="730250"/>
          </a:xfrm>
        </p:spPr>
        <p:txBody>
          <a:bodyPr wrap="square" lIns="91440" tIns="45720" rIns="91440" bIns="45720" anchor="b" anchorCtr="0"/>
          <a:p>
            <a:pPr eaLnBrk="1" hangingPunct="1"/>
            <a:r>
              <a:rPr lang="zh-CN" altLang="zh-CN" sz="4000" b="1" dirty="0">
                <a:effectLst/>
                <a:ea typeface="楷体_GB2312" pitchFamily="49" charset="-122"/>
              </a:rPr>
              <a:t>电位器</a:t>
            </a:r>
            <a:r>
              <a:rPr lang="zh-CN" altLang="zh-CN" sz="3200" b="1" dirty="0">
                <a:effectLst/>
                <a:latin typeface="宋体" panose="02010600030101010101" pitchFamily="2" charset="-122"/>
                <a:ea typeface="宋体" panose="02010600030101010101" pitchFamily="2" charset="-122"/>
              </a:rPr>
              <a:t>（可变电阻）</a:t>
            </a:r>
            <a:r>
              <a:rPr lang="en-US" altLang="zh-CN" sz="3200" b="1" dirty="0">
                <a:effectLst/>
                <a:latin typeface="宋体" panose="02010600030101010101" pitchFamily="2" charset="-122"/>
                <a:ea typeface="宋体" panose="02010600030101010101" pitchFamily="2" charset="-122"/>
              </a:rPr>
              <a:t>-</a:t>
            </a:r>
            <a:r>
              <a:rPr lang="zh-CN" altLang="zh-CN" sz="3200" dirty="0">
                <a:solidFill>
                  <a:srgbClr val="0000FF"/>
                </a:solidFill>
                <a:effectLst/>
                <a:latin typeface="Tahoma" panose="020B0604030504040204" pitchFamily="34" charset="0"/>
                <a:ea typeface="宋体" panose="02010600030101010101" pitchFamily="2" charset="-122"/>
                <a:sym typeface="+mn-ea"/>
              </a:rPr>
              <a:t>精密多圈</a:t>
            </a:r>
            <a:endParaRPr lang="zh-CN" altLang="zh-CN" sz="3200" b="1" dirty="0">
              <a:solidFill>
                <a:srgbClr val="0000FF"/>
              </a:solidFill>
              <a:effectLst/>
              <a:latin typeface="Tahoma" panose="020B0604030504040204" pitchFamily="34" charset="0"/>
              <a:ea typeface="宋体" panose="02010600030101010101" pitchFamily="2" charset="-122"/>
              <a:sym typeface="+mn-ea"/>
            </a:endParaRPr>
          </a:p>
        </p:txBody>
      </p:sp>
      <p:sp>
        <p:nvSpPr>
          <p:cNvPr id="14338" name="Rectangle 3"/>
          <p:cNvSpPr/>
          <p:nvPr/>
        </p:nvSpPr>
        <p:spPr>
          <a:xfrm>
            <a:off x="4418013" y="4536123"/>
            <a:ext cx="3324225" cy="1398905"/>
          </a:xfrm>
          <a:prstGeom prst="rect">
            <a:avLst/>
          </a:prstGeom>
          <a:noFill/>
          <a:ln w="9525">
            <a:noFill/>
          </a:ln>
        </p:spPr>
        <p:txBody>
          <a:bodyPr anchor="ctr" anchorCtr="0">
            <a:spAutoFit/>
          </a:bodyPr>
          <a:p>
            <a:r>
              <a:rPr lang="zh-CN" altLang="zh-CN" sz="2500" dirty="0">
                <a:latin typeface="Times New Roman" panose="02020603050405020304" pitchFamily="18" charset="0"/>
                <a:ea typeface="Arial Unicode MS" pitchFamily="34" charset="-122"/>
              </a:rPr>
              <a:t>R12</a:t>
            </a:r>
            <a:r>
              <a:rPr lang="zh-CN" altLang="zh-CN" sz="2500" b="1" dirty="0">
                <a:latin typeface="Times New Roman" panose="02020603050405020304" pitchFamily="18" charset="0"/>
                <a:ea typeface="Arial Unicode MS" pitchFamily="34" charset="-122"/>
              </a:rPr>
              <a:t>+</a:t>
            </a:r>
            <a:r>
              <a:rPr lang="zh-CN" altLang="zh-CN" sz="2500" dirty="0">
                <a:latin typeface="Times New Roman" panose="02020603050405020304" pitchFamily="18" charset="0"/>
                <a:ea typeface="Arial Unicode MS" pitchFamily="34" charset="-122"/>
              </a:rPr>
              <a:t>R23</a:t>
            </a:r>
            <a:r>
              <a:rPr lang="zh-CN" altLang="zh-CN" sz="2500" b="1" dirty="0">
                <a:latin typeface="Times New Roman" panose="02020603050405020304" pitchFamily="18" charset="0"/>
                <a:ea typeface="Arial Unicode MS" pitchFamily="34" charset="-122"/>
              </a:rPr>
              <a:t>=</a:t>
            </a:r>
            <a:r>
              <a:rPr lang="zh-CN" altLang="zh-CN" sz="2500" dirty="0">
                <a:latin typeface="Times New Roman" panose="02020603050405020304" pitchFamily="18" charset="0"/>
                <a:ea typeface="Arial Unicode MS" pitchFamily="34" charset="-122"/>
              </a:rPr>
              <a:t>R13(</a:t>
            </a:r>
            <a:r>
              <a:rPr lang="zh-CN" altLang="zh-CN" sz="2500" b="1" dirty="0">
                <a:latin typeface="Times New Roman" panose="02020603050405020304" pitchFamily="18" charset="0"/>
                <a:ea typeface="Arial Unicode MS" pitchFamily="34" charset="-122"/>
              </a:rPr>
              <a:t>标示值</a:t>
            </a:r>
            <a:r>
              <a:rPr lang="zh-CN" altLang="zh-CN" sz="2500" dirty="0">
                <a:latin typeface="Times New Roman" panose="02020603050405020304" pitchFamily="18" charset="0"/>
                <a:ea typeface="Arial Unicode MS" pitchFamily="34" charset="-122"/>
              </a:rPr>
              <a:t>)</a:t>
            </a:r>
            <a:r>
              <a:rPr lang="zh-CN" altLang="zh-CN" sz="2500" dirty="0">
                <a:latin typeface="Times New Roman" panose="02020603050405020304" pitchFamily="18" charset="0"/>
                <a:ea typeface="宋体" panose="02010600030101010101" pitchFamily="2" charset="-122"/>
              </a:rPr>
              <a:t> </a:t>
            </a:r>
            <a:endParaRPr lang="zh-CN" altLang="zh-CN" sz="2500" dirty="0">
              <a:latin typeface="Times New Roman" panose="02020603050405020304" pitchFamily="18" charset="0"/>
              <a:ea typeface="宋体" panose="02010600030101010101" pitchFamily="2" charset="-122"/>
            </a:endParaRPr>
          </a:p>
          <a:p>
            <a:pPr>
              <a:spcBef>
                <a:spcPct val="20000"/>
              </a:spcBef>
              <a:buClr>
                <a:srgbClr val="FF3300"/>
              </a:buClr>
              <a:buFont typeface="Wingdings" panose="05000000000000000000" pitchFamily="2" charset="2"/>
              <a:buChar char="n"/>
            </a:pPr>
            <a:r>
              <a:rPr lang="zh-CN" altLang="zh-CN" sz="2500" dirty="0">
                <a:solidFill>
                  <a:srgbClr val="FF0000"/>
                </a:solidFill>
                <a:latin typeface="Times New Roman" panose="02020603050405020304" pitchFamily="18" charset="0"/>
                <a:ea typeface="Arial Unicode MS" pitchFamily="34" charset="-122"/>
              </a:rPr>
              <a:t>102</a:t>
            </a:r>
            <a:r>
              <a:rPr lang="zh-CN" altLang="zh-CN" sz="2500" b="1" dirty="0">
                <a:solidFill>
                  <a:srgbClr val="FF0000"/>
                </a:solidFill>
                <a:latin typeface="Times New Roman" panose="02020603050405020304" pitchFamily="18" charset="0"/>
                <a:ea typeface="Arial Unicode MS" pitchFamily="34" charset="-122"/>
              </a:rPr>
              <a:t>＝</a:t>
            </a:r>
            <a:r>
              <a:rPr lang="zh-CN" altLang="zh-CN" sz="2500" dirty="0">
                <a:solidFill>
                  <a:srgbClr val="FF0000"/>
                </a:solidFill>
                <a:latin typeface="Times New Roman" panose="02020603050405020304" pitchFamily="18" charset="0"/>
                <a:ea typeface="Arial Unicode MS" pitchFamily="34" charset="-122"/>
              </a:rPr>
              <a:t>1K</a:t>
            </a:r>
            <a:r>
              <a:rPr lang="zh-CN" altLang="zh-CN" sz="2500" dirty="0">
                <a:solidFill>
                  <a:srgbClr val="FF0000"/>
                </a:solidFill>
                <a:latin typeface="Symbol" panose="05050102010706020507" pitchFamily="18" charset="2"/>
                <a:ea typeface="Arial Unicode MS" pitchFamily="34" charset="-122"/>
              </a:rPr>
              <a:t>W</a:t>
            </a:r>
            <a:endParaRPr lang="zh-CN" altLang="zh-CN" sz="2500" dirty="0">
              <a:solidFill>
                <a:srgbClr val="FF0000"/>
              </a:solidFill>
              <a:latin typeface="Symbol" panose="05050102010706020507" pitchFamily="18" charset="2"/>
              <a:ea typeface="Arial Unicode MS" pitchFamily="34" charset="-122"/>
            </a:endParaRPr>
          </a:p>
          <a:p>
            <a:pPr>
              <a:spcBef>
                <a:spcPct val="20000"/>
              </a:spcBef>
              <a:buClr>
                <a:srgbClr val="FF3300"/>
              </a:buClr>
              <a:buFont typeface="Wingdings" panose="05000000000000000000" pitchFamily="2" charset="2"/>
              <a:buChar char="n"/>
            </a:pPr>
            <a:r>
              <a:rPr lang="zh-CN" altLang="zh-CN" sz="2500" dirty="0">
                <a:solidFill>
                  <a:srgbClr val="FF0000"/>
                </a:solidFill>
                <a:latin typeface="Times New Roman" panose="02020603050405020304" pitchFamily="18" charset="0"/>
                <a:ea typeface="Arial Unicode MS" pitchFamily="34" charset="-122"/>
              </a:rPr>
              <a:t>104</a:t>
            </a:r>
            <a:r>
              <a:rPr lang="zh-CN" altLang="zh-CN" sz="2500" b="1" dirty="0">
                <a:solidFill>
                  <a:srgbClr val="FF0000"/>
                </a:solidFill>
                <a:latin typeface="Times New Roman" panose="02020603050405020304" pitchFamily="18" charset="0"/>
                <a:ea typeface="Arial Unicode MS" pitchFamily="34" charset="-122"/>
              </a:rPr>
              <a:t>＝</a:t>
            </a:r>
            <a:r>
              <a:rPr lang="zh-CN" altLang="zh-CN" sz="2500" dirty="0">
                <a:solidFill>
                  <a:srgbClr val="FF0000"/>
                </a:solidFill>
                <a:latin typeface="Times New Roman" panose="02020603050405020304" pitchFamily="18" charset="0"/>
                <a:ea typeface="Arial Unicode MS" pitchFamily="34" charset="-122"/>
              </a:rPr>
              <a:t>100K</a:t>
            </a:r>
            <a:r>
              <a:rPr lang="zh-CN" altLang="zh-CN" sz="2500" dirty="0">
                <a:solidFill>
                  <a:srgbClr val="FF0000"/>
                </a:solidFill>
                <a:latin typeface="Symbol" panose="05050102010706020507" pitchFamily="18" charset="2"/>
                <a:ea typeface="Arial Unicode MS" pitchFamily="34" charset="-122"/>
              </a:rPr>
              <a:t>W</a:t>
            </a:r>
            <a:endParaRPr lang="zh-CN" altLang="zh-CN" sz="2500" dirty="0">
              <a:solidFill>
                <a:srgbClr val="FF0000"/>
              </a:solidFill>
              <a:latin typeface="Symbol" panose="05050102010706020507" pitchFamily="18" charset="2"/>
              <a:ea typeface="Arial Unicode MS" pitchFamily="34" charset="-122"/>
            </a:endParaRPr>
          </a:p>
        </p:txBody>
      </p:sp>
      <p:pic>
        <p:nvPicPr>
          <p:cNvPr id="14339" name="Picture 4"/>
          <p:cNvPicPr>
            <a:picLocks noChangeAspect="1"/>
          </p:cNvPicPr>
          <p:nvPr/>
        </p:nvPicPr>
        <p:blipFill>
          <a:blip r:embed="rId1"/>
          <a:stretch>
            <a:fillRect/>
          </a:stretch>
        </p:blipFill>
        <p:spPr>
          <a:xfrm>
            <a:off x="452438" y="2462213"/>
            <a:ext cx="2844800" cy="3600450"/>
          </a:xfrm>
          <a:prstGeom prst="rect">
            <a:avLst/>
          </a:prstGeom>
          <a:noFill/>
          <a:ln w="9525">
            <a:noFill/>
          </a:ln>
        </p:spPr>
      </p:pic>
      <p:sp>
        <p:nvSpPr>
          <p:cNvPr id="14340" name="Text Box 5"/>
          <p:cNvSpPr txBox="1"/>
          <p:nvPr/>
        </p:nvSpPr>
        <p:spPr>
          <a:xfrm>
            <a:off x="1527175" y="1343025"/>
            <a:ext cx="6029325" cy="534035"/>
          </a:xfrm>
          <a:prstGeom prst="rect">
            <a:avLst/>
          </a:prstGeom>
          <a:noFill/>
          <a:ln w="9525">
            <a:noFill/>
          </a:ln>
        </p:spPr>
        <p:txBody>
          <a:bodyPr anchor="t" anchorCtr="0">
            <a:spAutoFit/>
          </a:bodyPr>
          <a:p>
            <a:pPr>
              <a:lnSpc>
                <a:spcPct val="120000"/>
              </a:lnSpc>
            </a:pPr>
            <a:r>
              <a:rPr lang="zh-CN" altLang="zh-CN" sz="2400" b="1" dirty="0">
                <a:solidFill>
                  <a:srgbClr val="0000FF"/>
                </a:solidFill>
                <a:latin typeface="Tahoma" panose="020B0604030504040204" pitchFamily="34" charset="0"/>
                <a:ea typeface="宋体" panose="02010600030101010101" pitchFamily="2" charset="-122"/>
              </a:rPr>
              <a:t>精密多圈</a:t>
            </a:r>
            <a:r>
              <a:rPr lang="zh-CN" altLang="zh-CN" sz="2400" b="1" dirty="0">
                <a:latin typeface="Tahoma" panose="020B0604030504040204" pitchFamily="34" charset="0"/>
                <a:ea typeface="宋体" panose="02010600030101010101" pitchFamily="2" charset="-122"/>
              </a:rPr>
              <a:t>电位器！用小平口起子转</a:t>
            </a:r>
            <a:endParaRPr lang="zh-CN" altLang="zh-CN" sz="2800" b="1" dirty="0">
              <a:latin typeface="Tahoma" panose="020B0604030504040204" pitchFamily="34" charset="0"/>
              <a:ea typeface="楷体_GB2312" pitchFamily="49" charset="-122"/>
            </a:endParaRPr>
          </a:p>
        </p:txBody>
      </p:sp>
      <p:grpSp>
        <p:nvGrpSpPr>
          <p:cNvPr id="14341" name="Group 6"/>
          <p:cNvGrpSpPr/>
          <p:nvPr/>
        </p:nvGrpSpPr>
        <p:grpSpPr>
          <a:xfrm>
            <a:off x="3581400" y="3378200"/>
            <a:ext cx="5027613" cy="633413"/>
            <a:chOff x="0" y="0"/>
            <a:chExt cx="3167" cy="399"/>
          </a:xfrm>
        </p:grpSpPr>
        <p:sp>
          <p:nvSpPr>
            <p:cNvPr id="14342" name="Line 7"/>
            <p:cNvSpPr/>
            <p:nvPr/>
          </p:nvSpPr>
          <p:spPr>
            <a:xfrm>
              <a:off x="1775" y="66"/>
              <a:ext cx="1392" cy="12"/>
            </a:xfrm>
            <a:prstGeom prst="line">
              <a:avLst/>
            </a:prstGeom>
            <a:ln w="57150" cap="flat" cmpd="sng">
              <a:solidFill>
                <a:srgbClr val="0000FF"/>
              </a:solidFill>
              <a:prstDash val="solid"/>
              <a:round/>
              <a:headEnd type="none" w="med" len="med"/>
              <a:tailEnd type="none" w="med" len="med"/>
            </a:ln>
          </p:spPr>
        </p:sp>
        <p:sp>
          <p:nvSpPr>
            <p:cNvPr id="14343" name="Rectangle 8"/>
            <p:cNvSpPr/>
            <p:nvPr/>
          </p:nvSpPr>
          <p:spPr>
            <a:xfrm>
              <a:off x="2063" y="0"/>
              <a:ext cx="432" cy="144"/>
            </a:xfrm>
            <a:prstGeom prst="rect">
              <a:avLst/>
            </a:prstGeom>
            <a:solidFill>
              <a:schemeClr val="accent1"/>
            </a:solidFill>
            <a:ln w="57150" cap="flat" cmpd="sng">
              <a:solidFill>
                <a:srgbClr val="FF0000"/>
              </a:solidFill>
              <a:prstDash val="solid"/>
              <a:miter/>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4344" name="Line 9"/>
            <p:cNvSpPr/>
            <p:nvPr/>
          </p:nvSpPr>
          <p:spPr>
            <a:xfrm>
              <a:off x="2783" y="60"/>
              <a:ext cx="1" cy="324"/>
            </a:xfrm>
            <a:prstGeom prst="line">
              <a:avLst/>
            </a:prstGeom>
            <a:ln w="57150" cap="flat" cmpd="sng">
              <a:solidFill>
                <a:srgbClr val="0000FF"/>
              </a:solidFill>
              <a:prstDash val="solid"/>
              <a:round/>
              <a:headEnd type="none" w="med" len="med"/>
              <a:tailEnd type="none" w="med" len="med"/>
            </a:ln>
          </p:spPr>
        </p:sp>
        <p:sp>
          <p:nvSpPr>
            <p:cNvPr id="14345" name="Line 10"/>
            <p:cNvSpPr/>
            <p:nvPr/>
          </p:nvSpPr>
          <p:spPr>
            <a:xfrm>
              <a:off x="2303" y="384"/>
              <a:ext cx="480" cy="1"/>
            </a:xfrm>
            <a:prstGeom prst="line">
              <a:avLst/>
            </a:prstGeom>
            <a:ln w="57150" cap="flat" cmpd="sng">
              <a:solidFill>
                <a:srgbClr val="0000FF"/>
              </a:solidFill>
              <a:prstDash val="solid"/>
              <a:round/>
              <a:headEnd type="none" w="med" len="med"/>
              <a:tailEnd type="none" w="med" len="med"/>
            </a:ln>
          </p:spPr>
        </p:sp>
        <p:sp>
          <p:nvSpPr>
            <p:cNvPr id="14346" name="Line 11"/>
            <p:cNvSpPr/>
            <p:nvPr/>
          </p:nvSpPr>
          <p:spPr>
            <a:xfrm>
              <a:off x="2303" y="144"/>
              <a:ext cx="1" cy="240"/>
            </a:xfrm>
            <a:prstGeom prst="line">
              <a:avLst/>
            </a:prstGeom>
            <a:ln w="57150" cap="flat" cmpd="sng">
              <a:solidFill>
                <a:srgbClr val="0000FF"/>
              </a:solidFill>
              <a:prstDash val="solid"/>
              <a:round/>
              <a:headEnd type="triangle" w="med" len="med"/>
              <a:tailEnd type="none" w="med" len="med"/>
            </a:ln>
          </p:spPr>
        </p:sp>
        <p:sp>
          <p:nvSpPr>
            <p:cNvPr id="14347" name="Oval 12"/>
            <p:cNvSpPr/>
            <p:nvPr/>
          </p:nvSpPr>
          <p:spPr>
            <a:xfrm>
              <a:off x="2735" y="24"/>
              <a:ext cx="96" cy="9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4348" name="Line 13"/>
            <p:cNvSpPr/>
            <p:nvPr/>
          </p:nvSpPr>
          <p:spPr>
            <a:xfrm>
              <a:off x="0" y="81"/>
              <a:ext cx="1036" cy="9"/>
            </a:xfrm>
            <a:prstGeom prst="line">
              <a:avLst/>
            </a:prstGeom>
            <a:ln w="57150" cap="flat" cmpd="sng">
              <a:solidFill>
                <a:srgbClr val="0000FF"/>
              </a:solidFill>
              <a:prstDash val="solid"/>
              <a:round/>
              <a:headEnd type="none" w="med" len="med"/>
              <a:tailEnd type="none" w="med" len="med"/>
            </a:ln>
          </p:spPr>
        </p:sp>
        <p:sp>
          <p:nvSpPr>
            <p:cNvPr id="14349" name="Rectangle 14"/>
            <p:cNvSpPr/>
            <p:nvPr/>
          </p:nvSpPr>
          <p:spPr>
            <a:xfrm>
              <a:off x="288" y="15"/>
              <a:ext cx="432" cy="144"/>
            </a:xfrm>
            <a:prstGeom prst="rect">
              <a:avLst/>
            </a:prstGeom>
            <a:solidFill>
              <a:schemeClr val="accent1"/>
            </a:solidFill>
            <a:ln w="57150" cap="flat" cmpd="sng">
              <a:solidFill>
                <a:srgbClr val="FF0000"/>
              </a:solidFill>
              <a:prstDash val="solid"/>
              <a:miter/>
              <a:headEnd type="none" w="med" len="med"/>
              <a:tailEnd type="none" w="med" len="med"/>
            </a:ln>
          </p:spPr>
          <p:txBody>
            <a:bodyPr wrap="none" anchor="ctr" anchorCtr="0"/>
            <a:p>
              <a:pPr algn="ctr"/>
              <a:endParaRPr lang="zh-CN" altLang="zh-CN" dirty="0">
                <a:latin typeface="Verdana" panose="020B0604030504040204" pitchFamily="34" charset="0"/>
                <a:ea typeface="宋体" panose="02010600030101010101" pitchFamily="2" charset="-122"/>
              </a:endParaRPr>
            </a:p>
          </p:txBody>
        </p:sp>
        <p:sp>
          <p:nvSpPr>
            <p:cNvPr id="14350" name="Line 15"/>
            <p:cNvSpPr/>
            <p:nvPr/>
          </p:nvSpPr>
          <p:spPr>
            <a:xfrm>
              <a:off x="528" y="159"/>
              <a:ext cx="1" cy="240"/>
            </a:xfrm>
            <a:prstGeom prst="line">
              <a:avLst/>
            </a:prstGeom>
            <a:ln w="57150" cap="flat" cmpd="sng">
              <a:solidFill>
                <a:srgbClr val="0000FF"/>
              </a:solidFill>
              <a:prstDash val="solid"/>
              <a:round/>
              <a:headEnd type="triangle" w="med" len="med"/>
              <a:tailEnd type="none" w="med" len="med"/>
            </a:ln>
          </p:spPr>
        </p:sp>
      </p:grpSp>
      <p:sp>
        <p:nvSpPr>
          <p:cNvPr id="14351" name="Text Box 16"/>
          <p:cNvSpPr txBox="1"/>
          <p:nvPr/>
        </p:nvSpPr>
        <p:spPr>
          <a:xfrm>
            <a:off x="4445000" y="3883025"/>
            <a:ext cx="1728788"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2-滑动端</a:t>
            </a:r>
            <a:endParaRPr lang="zh-CN" altLang="zh-CN" b="1" dirty="0">
              <a:latin typeface="Tahoma" panose="020B0604030504040204" pitchFamily="34" charset="0"/>
              <a:ea typeface="宋体" panose="02010600030101010101" pitchFamily="2" charset="-122"/>
            </a:endParaRPr>
          </a:p>
        </p:txBody>
      </p:sp>
      <p:sp>
        <p:nvSpPr>
          <p:cNvPr id="14352" name="Text Box 17"/>
          <p:cNvSpPr txBox="1"/>
          <p:nvPr/>
        </p:nvSpPr>
        <p:spPr>
          <a:xfrm>
            <a:off x="6892925" y="3881438"/>
            <a:ext cx="360363"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2</a:t>
            </a:r>
            <a:endParaRPr lang="zh-CN" altLang="zh-CN" b="1" dirty="0">
              <a:latin typeface="Tahoma" panose="020B0604030504040204" pitchFamily="34" charset="0"/>
              <a:ea typeface="宋体" panose="02010600030101010101" pitchFamily="2" charset="-122"/>
            </a:endParaRPr>
          </a:p>
        </p:txBody>
      </p:sp>
      <p:sp>
        <p:nvSpPr>
          <p:cNvPr id="14353" name="Text Box 18"/>
          <p:cNvSpPr txBox="1"/>
          <p:nvPr/>
        </p:nvSpPr>
        <p:spPr>
          <a:xfrm>
            <a:off x="3652838" y="3089275"/>
            <a:ext cx="360362"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1</a:t>
            </a:r>
            <a:endParaRPr lang="zh-CN" altLang="zh-CN" b="1" dirty="0">
              <a:latin typeface="Tahoma" panose="020B0604030504040204" pitchFamily="34" charset="0"/>
              <a:ea typeface="宋体" panose="02010600030101010101" pitchFamily="2" charset="-122"/>
            </a:endParaRPr>
          </a:p>
        </p:txBody>
      </p:sp>
      <p:sp>
        <p:nvSpPr>
          <p:cNvPr id="14354" name="Text Box 19"/>
          <p:cNvSpPr txBox="1"/>
          <p:nvPr/>
        </p:nvSpPr>
        <p:spPr>
          <a:xfrm>
            <a:off x="4805363" y="3089275"/>
            <a:ext cx="360362"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3</a:t>
            </a:r>
            <a:endParaRPr lang="zh-CN" altLang="zh-CN" b="1" dirty="0">
              <a:latin typeface="Tahoma" panose="020B0604030504040204" pitchFamily="34" charset="0"/>
              <a:ea typeface="宋体" panose="02010600030101010101" pitchFamily="2" charset="-122"/>
            </a:endParaRPr>
          </a:p>
        </p:txBody>
      </p:sp>
      <p:sp>
        <p:nvSpPr>
          <p:cNvPr id="14355" name="Text Box 20"/>
          <p:cNvSpPr txBox="1"/>
          <p:nvPr/>
        </p:nvSpPr>
        <p:spPr>
          <a:xfrm>
            <a:off x="3581400" y="2946400"/>
            <a:ext cx="1728788"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     固定端</a:t>
            </a:r>
            <a:endParaRPr lang="zh-CN" altLang="zh-CN" b="1" dirty="0">
              <a:latin typeface="Tahoma" panose="020B0604030504040204" pitchFamily="34" charset="0"/>
              <a:ea typeface="宋体" panose="02010600030101010101" pitchFamily="2" charset="-122"/>
            </a:endParaRPr>
          </a:p>
        </p:txBody>
      </p:sp>
      <p:sp>
        <p:nvSpPr>
          <p:cNvPr id="14356" name="Text Box 21"/>
          <p:cNvSpPr txBox="1"/>
          <p:nvPr/>
        </p:nvSpPr>
        <p:spPr>
          <a:xfrm>
            <a:off x="1768475" y="4079875"/>
            <a:ext cx="360363" cy="398780"/>
          </a:xfrm>
          <a:prstGeom prst="rect">
            <a:avLst/>
          </a:prstGeom>
          <a:noFill/>
          <a:ln w="9525">
            <a:noFill/>
          </a:ln>
        </p:spPr>
        <p:txBody>
          <a:bodyPr anchor="t" anchorCtr="0">
            <a:spAutoFit/>
          </a:bodyPr>
          <a:p>
            <a:pPr>
              <a:spcBef>
                <a:spcPct val="50000"/>
              </a:spcBef>
            </a:pPr>
            <a:r>
              <a:rPr lang="zh-CN" altLang="zh-CN" sz="2000" b="1" dirty="0">
                <a:latin typeface="Tahoma" panose="020B0604030504040204" pitchFamily="34" charset="0"/>
                <a:ea typeface="宋体" panose="02010600030101010101" pitchFamily="2" charset="-122"/>
              </a:rPr>
              <a:t>2</a:t>
            </a:r>
            <a:endParaRPr lang="zh-CN" altLang="zh-CN" sz="2000" b="1" dirty="0">
              <a:latin typeface="Tahoma" panose="020B0604030504040204" pitchFamily="34" charset="0"/>
              <a:ea typeface="宋体" panose="02010600030101010101" pitchFamily="2" charset="-122"/>
            </a:endParaRPr>
          </a:p>
        </p:txBody>
      </p:sp>
      <p:sp>
        <p:nvSpPr>
          <p:cNvPr id="14357" name="Line 22"/>
          <p:cNvSpPr/>
          <p:nvPr/>
        </p:nvSpPr>
        <p:spPr>
          <a:xfrm>
            <a:off x="2390775" y="2295525"/>
            <a:ext cx="0" cy="504825"/>
          </a:xfrm>
          <a:prstGeom prst="line">
            <a:avLst/>
          </a:prstGeom>
          <a:ln w="38100" cap="flat" cmpd="sng">
            <a:solidFill>
              <a:schemeClr val="hlink"/>
            </a:solidFill>
            <a:prstDash val="solid"/>
            <a:round/>
            <a:headEnd type="none" w="med" len="med"/>
            <a:tailEnd type="triangle" w="med" len="med"/>
          </a:ln>
        </p:spPr>
      </p:sp>
      <p:sp>
        <p:nvSpPr>
          <p:cNvPr id="14358" name="Text Box 23"/>
          <p:cNvSpPr txBox="1"/>
          <p:nvPr/>
        </p:nvSpPr>
        <p:spPr>
          <a:xfrm>
            <a:off x="2333625" y="3938588"/>
            <a:ext cx="360363" cy="398780"/>
          </a:xfrm>
          <a:prstGeom prst="rect">
            <a:avLst/>
          </a:prstGeom>
          <a:noFill/>
          <a:ln w="9525">
            <a:noFill/>
          </a:ln>
        </p:spPr>
        <p:txBody>
          <a:bodyPr anchor="t" anchorCtr="0">
            <a:spAutoFit/>
          </a:bodyPr>
          <a:p>
            <a:pPr>
              <a:spcBef>
                <a:spcPct val="50000"/>
              </a:spcBef>
            </a:pPr>
            <a:r>
              <a:rPr lang="zh-CN" altLang="zh-CN" sz="2000" b="1" dirty="0">
                <a:latin typeface="Tahoma" panose="020B0604030504040204" pitchFamily="34" charset="0"/>
                <a:ea typeface="宋体" panose="02010600030101010101" pitchFamily="2" charset="-122"/>
              </a:rPr>
              <a:t>1</a:t>
            </a:r>
            <a:endParaRPr lang="zh-CN" altLang="zh-CN" sz="2000" b="1" dirty="0">
              <a:latin typeface="Tahoma" panose="020B0604030504040204" pitchFamily="34" charset="0"/>
              <a:ea typeface="宋体" panose="02010600030101010101" pitchFamily="2" charset="-122"/>
            </a:endParaRPr>
          </a:p>
        </p:txBody>
      </p:sp>
      <p:sp>
        <p:nvSpPr>
          <p:cNvPr id="14359" name="Text Box 24"/>
          <p:cNvSpPr txBox="1"/>
          <p:nvPr/>
        </p:nvSpPr>
        <p:spPr>
          <a:xfrm>
            <a:off x="1203325" y="3938588"/>
            <a:ext cx="360363" cy="398780"/>
          </a:xfrm>
          <a:prstGeom prst="rect">
            <a:avLst/>
          </a:prstGeom>
          <a:noFill/>
          <a:ln w="9525">
            <a:noFill/>
          </a:ln>
        </p:spPr>
        <p:txBody>
          <a:bodyPr anchor="t" anchorCtr="0">
            <a:spAutoFit/>
          </a:bodyPr>
          <a:p>
            <a:pPr>
              <a:spcBef>
                <a:spcPct val="50000"/>
              </a:spcBef>
            </a:pPr>
            <a:r>
              <a:rPr lang="zh-CN" altLang="zh-CN" sz="2000" b="1" dirty="0">
                <a:latin typeface="Tahoma" panose="020B0604030504040204" pitchFamily="34" charset="0"/>
                <a:ea typeface="宋体" panose="02010600030101010101" pitchFamily="2" charset="-122"/>
              </a:rPr>
              <a:t>3</a:t>
            </a:r>
            <a:endParaRPr lang="zh-CN" altLang="zh-CN" sz="2000" b="1" dirty="0">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grpSp>
        <p:nvGrpSpPr>
          <p:cNvPr id="16386" name="Group 3"/>
          <p:cNvGrpSpPr/>
          <p:nvPr/>
        </p:nvGrpSpPr>
        <p:grpSpPr>
          <a:xfrm>
            <a:off x="684213" y="5086033"/>
            <a:ext cx="5027612" cy="633412"/>
            <a:chOff x="0" y="0"/>
            <a:chExt cx="3167" cy="399"/>
          </a:xfrm>
        </p:grpSpPr>
        <p:sp>
          <p:nvSpPr>
            <p:cNvPr id="16387" name="Line 4"/>
            <p:cNvSpPr/>
            <p:nvPr/>
          </p:nvSpPr>
          <p:spPr>
            <a:xfrm>
              <a:off x="1775" y="66"/>
              <a:ext cx="1392" cy="12"/>
            </a:xfrm>
            <a:prstGeom prst="line">
              <a:avLst/>
            </a:prstGeom>
            <a:ln w="57150" cap="flat" cmpd="sng">
              <a:solidFill>
                <a:srgbClr val="0000FF"/>
              </a:solidFill>
              <a:prstDash val="solid"/>
              <a:round/>
              <a:headEnd type="none" w="med" len="med"/>
              <a:tailEnd type="none" w="med" len="med"/>
            </a:ln>
          </p:spPr>
        </p:sp>
        <p:sp>
          <p:nvSpPr>
            <p:cNvPr id="16388" name="Rectangle 5"/>
            <p:cNvSpPr/>
            <p:nvPr/>
          </p:nvSpPr>
          <p:spPr>
            <a:xfrm>
              <a:off x="2063" y="0"/>
              <a:ext cx="432" cy="144"/>
            </a:xfrm>
            <a:prstGeom prst="rect">
              <a:avLst/>
            </a:prstGeom>
            <a:solidFill>
              <a:schemeClr val="accent1"/>
            </a:solidFill>
            <a:ln w="57150" cap="flat" cmpd="sng">
              <a:solidFill>
                <a:srgbClr val="FF0000"/>
              </a:solidFill>
              <a:prstDash val="solid"/>
              <a:miter/>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6389" name="Line 6"/>
            <p:cNvSpPr/>
            <p:nvPr/>
          </p:nvSpPr>
          <p:spPr>
            <a:xfrm>
              <a:off x="2783" y="60"/>
              <a:ext cx="1" cy="324"/>
            </a:xfrm>
            <a:prstGeom prst="line">
              <a:avLst/>
            </a:prstGeom>
            <a:ln w="57150" cap="flat" cmpd="sng">
              <a:solidFill>
                <a:srgbClr val="0000FF"/>
              </a:solidFill>
              <a:prstDash val="solid"/>
              <a:round/>
              <a:headEnd type="none" w="med" len="med"/>
              <a:tailEnd type="none" w="med" len="med"/>
            </a:ln>
          </p:spPr>
        </p:sp>
        <p:sp>
          <p:nvSpPr>
            <p:cNvPr id="16390" name="Line 7"/>
            <p:cNvSpPr/>
            <p:nvPr/>
          </p:nvSpPr>
          <p:spPr>
            <a:xfrm>
              <a:off x="2303" y="384"/>
              <a:ext cx="480" cy="1"/>
            </a:xfrm>
            <a:prstGeom prst="line">
              <a:avLst/>
            </a:prstGeom>
            <a:ln w="57150" cap="flat" cmpd="sng">
              <a:solidFill>
                <a:srgbClr val="0000FF"/>
              </a:solidFill>
              <a:prstDash val="solid"/>
              <a:round/>
              <a:headEnd type="none" w="med" len="med"/>
              <a:tailEnd type="none" w="med" len="med"/>
            </a:ln>
          </p:spPr>
        </p:sp>
        <p:sp>
          <p:nvSpPr>
            <p:cNvPr id="16391" name="Line 8"/>
            <p:cNvSpPr/>
            <p:nvPr/>
          </p:nvSpPr>
          <p:spPr>
            <a:xfrm>
              <a:off x="2303" y="144"/>
              <a:ext cx="1" cy="240"/>
            </a:xfrm>
            <a:prstGeom prst="line">
              <a:avLst/>
            </a:prstGeom>
            <a:ln w="57150" cap="flat" cmpd="sng">
              <a:solidFill>
                <a:srgbClr val="0000FF"/>
              </a:solidFill>
              <a:prstDash val="solid"/>
              <a:round/>
              <a:headEnd type="triangle" w="med" len="med"/>
              <a:tailEnd type="none" w="med" len="med"/>
            </a:ln>
          </p:spPr>
        </p:sp>
        <p:sp>
          <p:nvSpPr>
            <p:cNvPr id="16392" name="Oval 9"/>
            <p:cNvSpPr/>
            <p:nvPr/>
          </p:nvSpPr>
          <p:spPr>
            <a:xfrm>
              <a:off x="2735" y="24"/>
              <a:ext cx="96" cy="96"/>
            </a:xfrm>
            <a:prstGeom prst="ellipse">
              <a:avLst/>
            </a:prstGeom>
            <a:solidFill>
              <a:srgbClr val="0000FF"/>
            </a:solidFill>
            <a:ln w="9525" cap="flat" cmpd="sng">
              <a:solidFill>
                <a:srgbClr val="0000FF"/>
              </a:solidFill>
              <a:prstDash val="solid"/>
              <a:round/>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6393" name="Line 10"/>
            <p:cNvSpPr/>
            <p:nvPr/>
          </p:nvSpPr>
          <p:spPr>
            <a:xfrm>
              <a:off x="0" y="81"/>
              <a:ext cx="1036" cy="9"/>
            </a:xfrm>
            <a:prstGeom prst="line">
              <a:avLst/>
            </a:prstGeom>
            <a:ln w="57150" cap="flat" cmpd="sng">
              <a:solidFill>
                <a:srgbClr val="0000FF"/>
              </a:solidFill>
              <a:prstDash val="solid"/>
              <a:round/>
              <a:headEnd type="none" w="med" len="med"/>
              <a:tailEnd type="none" w="med" len="med"/>
            </a:ln>
          </p:spPr>
        </p:sp>
        <p:sp>
          <p:nvSpPr>
            <p:cNvPr id="16394" name="Rectangle 11"/>
            <p:cNvSpPr/>
            <p:nvPr/>
          </p:nvSpPr>
          <p:spPr>
            <a:xfrm>
              <a:off x="288" y="15"/>
              <a:ext cx="432" cy="144"/>
            </a:xfrm>
            <a:prstGeom prst="rect">
              <a:avLst/>
            </a:prstGeom>
            <a:solidFill>
              <a:schemeClr val="accent1"/>
            </a:solidFill>
            <a:ln w="57150" cap="flat" cmpd="sng">
              <a:solidFill>
                <a:srgbClr val="FF0000"/>
              </a:solidFill>
              <a:prstDash val="solid"/>
              <a:miter/>
              <a:headEnd type="none" w="med" len="med"/>
              <a:tailEnd type="none" w="med" len="med"/>
            </a:ln>
          </p:spPr>
          <p:txBody>
            <a:bodyPr wrap="none" anchor="ctr" anchorCtr="0"/>
            <a:p>
              <a:pPr algn="ctr"/>
              <a:endParaRPr lang="zh-CN" altLang="zh-CN" dirty="0">
                <a:latin typeface="Verdana" panose="020B0604030504040204" pitchFamily="34" charset="0"/>
                <a:ea typeface="宋体" panose="02010600030101010101" pitchFamily="2" charset="-122"/>
              </a:endParaRPr>
            </a:p>
          </p:txBody>
        </p:sp>
        <p:sp>
          <p:nvSpPr>
            <p:cNvPr id="16395" name="Line 12"/>
            <p:cNvSpPr/>
            <p:nvPr/>
          </p:nvSpPr>
          <p:spPr>
            <a:xfrm>
              <a:off x="528" y="159"/>
              <a:ext cx="1" cy="240"/>
            </a:xfrm>
            <a:prstGeom prst="line">
              <a:avLst/>
            </a:prstGeom>
            <a:ln w="57150" cap="flat" cmpd="sng">
              <a:solidFill>
                <a:srgbClr val="0000FF"/>
              </a:solidFill>
              <a:prstDash val="solid"/>
              <a:round/>
              <a:headEnd type="triangle" w="med" len="med"/>
              <a:tailEnd type="none" w="med" len="med"/>
            </a:ln>
          </p:spPr>
        </p:sp>
      </p:grpSp>
      <p:sp>
        <p:nvSpPr>
          <p:cNvPr id="16396" name="Text Box 13"/>
          <p:cNvSpPr txBox="1"/>
          <p:nvPr/>
        </p:nvSpPr>
        <p:spPr>
          <a:xfrm>
            <a:off x="1619250" y="5589270"/>
            <a:ext cx="1728788"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2-滑动端</a:t>
            </a:r>
            <a:endParaRPr lang="zh-CN" altLang="zh-CN" b="1" dirty="0">
              <a:latin typeface="Tahoma" panose="020B0604030504040204" pitchFamily="34" charset="0"/>
              <a:ea typeface="宋体" panose="02010600030101010101" pitchFamily="2" charset="-122"/>
            </a:endParaRPr>
          </a:p>
        </p:txBody>
      </p:sp>
      <p:sp>
        <p:nvSpPr>
          <p:cNvPr id="16397" name="Text Box 14"/>
          <p:cNvSpPr txBox="1"/>
          <p:nvPr/>
        </p:nvSpPr>
        <p:spPr>
          <a:xfrm>
            <a:off x="3995738" y="5589270"/>
            <a:ext cx="360362"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2</a:t>
            </a:r>
            <a:endParaRPr lang="zh-CN" altLang="zh-CN" b="1" dirty="0">
              <a:latin typeface="Tahoma" panose="020B0604030504040204" pitchFamily="34" charset="0"/>
              <a:ea typeface="宋体" panose="02010600030101010101" pitchFamily="2" charset="-122"/>
            </a:endParaRPr>
          </a:p>
        </p:txBody>
      </p:sp>
      <p:sp>
        <p:nvSpPr>
          <p:cNvPr id="16398" name="Text Box 15"/>
          <p:cNvSpPr txBox="1"/>
          <p:nvPr/>
        </p:nvSpPr>
        <p:spPr>
          <a:xfrm>
            <a:off x="755650" y="4797108"/>
            <a:ext cx="360363"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1</a:t>
            </a:r>
            <a:endParaRPr lang="zh-CN" altLang="zh-CN" b="1" dirty="0">
              <a:latin typeface="Tahoma" panose="020B0604030504040204" pitchFamily="34" charset="0"/>
              <a:ea typeface="宋体" panose="02010600030101010101" pitchFamily="2" charset="-122"/>
            </a:endParaRPr>
          </a:p>
        </p:txBody>
      </p:sp>
      <p:sp>
        <p:nvSpPr>
          <p:cNvPr id="16399" name="Text Box 16"/>
          <p:cNvSpPr txBox="1"/>
          <p:nvPr/>
        </p:nvSpPr>
        <p:spPr>
          <a:xfrm>
            <a:off x="1908175" y="4797108"/>
            <a:ext cx="360363"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3</a:t>
            </a:r>
            <a:endParaRPr lang="zh-CN" altLang="zh-CN" b="1" dirty="0">
              <a:latin typeface="Tahoma" panose="020B0604030504040204" pitchFamily="34" charset="0"/>
              <a:ea typeface="宋体" panose="02010600030101010101" pitchFamily="2" charset="-122"/>
            </a:endParaRPr>
          </a:p>
        </p:txBody>
      </p:sp>
      <p:sp>
        <p:nvSpPr>
          <p:cNvPr id="16400" name="Text Box 17"/>
          <p:cNvSpPr txBox="1"/>
          <p:nvPr/>
        </p:nvSpPr>
        <p:spPr>
          <a:xfrm>
            <a:off x="684213" y="4654233"/>
            <a:ext cx="1728787" cy="368300"/>
          </a:xfrm>
          <a:prstGeom prst="rect">
            <a:avLst/>
          </a:prstGeom>
          <a:noFill/>
          <a:ln w="9525">
            <a:noFill/>
          </a:ln>
        </p:spPr>
        <p:txBody>
          <a:bodyPr anchor="t" anchorCtr="0">
            <a:spAutoFit/>
          </a:bodyPr>
          <a:p>
            <a:pPr>
              <a:spcBef>
                <a:spcPct val="50000"/>
              </a:spcBef>
            </a:pPr>
            <a:r>
              <a:rPr lang="zh-CN" altLang="zh-CN" b="1" dirty="0">
                <a:latin typeface="Tahoma" panose="020B0604030504040204" pitchFamily="34" charset="0"/>
                <a:ea typeface="宋体" panose="02010600030101010101" pitchFamily="2" charset="-122"/>
              </a:rPr>
              <a:t>     固定端</a:t>
            </a:r>
            <a:endParaRPr lang="zh-CN" altLang="zh-CN" b="1" dirty="0">
              <a:latin typeface="Tahoma" panose="020B0604030504040204" pitchFamily="34" charset="0"/>
              <a:ea typeface="宋体" panose="02010600030101010101" pitchFamily="2" charset="-122"/>
            </a:endParaRPr>
          </a:p>
        </p:txBody>
      </p:sp>
      <p:pic>
        <p:nvPicPr>
          <p:cNvPr id="16401" name="Picture 18"/>
          <p:cNvPicPr>
            <a:picLocks noChangeAspect="1"/>
          </p:cNvPicPr>
          <p:nvPr/>
        </p:nvPicPr>
        <p:blipFill>
          <a:blip r:embed="rId1"/>
          <a:stretch>
            <a:fillRect/>
          </a:stretch>
        </p:blipFill>
        <p:spPr>
          <a:xfrm>
            <a:off x="1403350" y="1269683"/>
            <a:ext cx="1481138" cy="3073400"/>
          </a:xfrm>
          <a:prstGeom prst="rect">
            <a:avLst/>
          </a:prstGeom>
          <a:noFill/>
          <a:ln w="9525">
            <a:noFill/>
          </a:ln>
        </p:spPr>
      </p:pic>
      <p:pic>
        <p:nvPicPr>
          <p:cNvPr id="16402" name="Picture 19"/>
          <p:cNvPicPr>
            <a:picLocks noChangeAspect="1"/>
          </p:cNvPicPr>
          <p:nvPr/>
        </p:nvPicPr>
        <p:blipFill>
          <a:blip r:embed="rId2"/>
          <a:stretch>
            <a:fillRect/>
          </a:stretch>
        </p:blipFill>
        <p:spPr>
          <a:xfrm>
            <a:off x="3419475" y="1053783"/>
            <a:ext cx="2671763" cy="3384550"/>
          </a:xfrm>
          <a:prstGeom prst="rect">
            <a:avLst/>
          </a:prstGeom>
          <a:noFill/>
          <a:ln w="9525">
            <a:noFill/>
          </a:ln>
        </p:spPr>
      </p:pic>
      <p:sp>
        <p:nvSpPr>
          <p:cNvPr id="16403" name="Text Box 20"/>
          <p:cNvSpPr txBox="1"/>
          <p:nvPr/>
        </p:nvSpPr>
        <p:spPr>
          <a:xfrm>
            <a:off x="5003800" y="3069908"/>
            <a:ext cx="360363" cy="368300"/>
          </a:xfrm>
          <a:prstGeom prst="rect">
            <a:avLst/>
          </a:prstGeom>
          <a:noFill/>
          <a:ln w="9525">
            <a:noFill/>
          </a:ln>
        </p:spPr>
        <p:txBody>
          <a:bodyPr anchor="t" anchorCtr="0">
            <a:spAutoFit/>
          </a:bodyPr>
          <a:p>
            <a:pPr>
              <a:spcBef>
                <a:spcPct val="50000"/>
              </a:spcBef>
            </a:pPr>
            <a:r>
              <a:rPr lang="zh-CN" altLang="zh-CN" b="1" dirty="0">
                <a:solidFill>
                  <a:schemeClr val="hlink"/>
                </a:solidFill>
                <a:latin typeface="Tahoma" panose="020B0604030504040204" pitchFamily="34" charset="0"/>
                <a:ea typeface="宋体" panose="02010600030101010101" pitchFamily="2" charset="-122"/>
              </a:rPr>
              <a:t>3</a:t>
            </a:r>
            <a:endParaRPr lang="zh-CN" altLang="zh-CN" b="1" dirty="0">
              <a:solidFill>
                <a:schemeClr val="hlink"/>
              </a:solidFill>
              <a:latin typeface="Tahoma" panose="020B0604030504040204" pitchFamily="34" charset="0"/>
              <a:ea typeface="宋体" panose="02010600030101010101" pitchFamily="2" charset="-122"/>
            </a:endParaRPr>
          </a:p>
        </p:txBody>
      </p:sp>
      <p:sp>
        <p:nvSpPr>
          <p:cNvPr id="16404" name="Text Box 21"/>
          <p:cNvSpPr txBox="1"/>
          <p:nvPr/>
        </p:nvSpPr>
        <p:spPr>
          <a:xfrm>
            <a:off x="3924300" y="1774508"/>
            <a:ext cx="360363" cy="368300"/>
          </a:xfrm>
          <a:prstGeom prst="rect">
            <a:avLst/>
          </a:prstGeom>
          <a:noFill/>
          <a:ln w="9525">
            <a:noFill/>
          </a:ln>
        </p:spPr>
        <p:txBody>
          <a:bodyPr anchor="t" anchorCtr="0">
            <a:spAutoFit/>
          </a:bodyPr>
          <a:p>
            <a:pPr>
              <a:spcBef>
                <a:spcPct val="50000"/>
              </a:spcBef>
            </a:pPr>
            <a:r>
              <a:rPr lang="zh-CN" altLang="zh-CN" b="1" dirty="0">
                <a:solidFill>
                  <a:schemeClr val="hlink"/>
                </a:solidFill>
                <a:latin typeface="Tahoma" panose="020B0604030504040204" pitchFamily="34" charset="0"/>
                <a:ea typeface="宋体" panose="02010600030101010101" pitchFamily="2" charset="-122"/>
              </a:rPr>
              <a:t>2</a:t>
            </a:r>
            <a:endParaRPr lang="zh-CN" altLang="zh-CN" b="1" dirty="0">
              <a:solidFill>
                <a:schemeClr val="hlink"/>
              </a:solidFill>
              <a:latin typeface="Tahoma" panose="020B0604030504040204" pitchFamily="34" charset="0"/>
              <a:ea typeface="宋体" panose="02010600030101010101" pitchFamily="2" charset="-122"/>
            </a:endParaRPr>
          </a:p>
        </p:txBody>
      </p:sp>
      <p:sp>
        <p:nvSpPr>
          <p:cNvPr id="16405" name="Text Box 22"/>
          <p:cNvSpPr txBox="1"/>
          <p:nvPr/>
        </p:nvSpPr>
        <p:spPr>
          <a:xfrm>
            <a:off x="3348038" y="3069908"/>
            <a:ext cx="360362" cy="368300"/>
          </a:xfrm>
          <a:prstGeom prst="rect">
            <a:avLst/>
          </a:prstGeom>
          <a:noFill/>
          <a:ln w="9525">
            <a:noFill/>
          </a:ln>
        </p:spPr>
        <p:txBody>
          <a:bodyPr anchor="t" anchorCtr="0">
            <a:spAutoFit/>
          </a:bodyPr>
          <a:p>
            <a:pPr>
              <a:spcBef>
                <a:spcPct val="50000"/>
              </a:spcBef>
            </a:pPr>
            <a:r>
              <a:rPr lang="zh-CN" altLang="zh-CN" b="1" dirty="0">
                <a:solidFill>
                  <a:schemeClr val="hlink"/>
                </a:solidFill>
                <a:latin typeface="Tahoma" panose="020B0604030504040204" pitchFamily="34" charset="0"/>
                <a:ea typeface="宋体" panose="02010600030101010101" pitchFamily="2" charset="-122"/>
              </a:rPr>
              <a:t>1</a:t>
            </a:r>
            <a:endParaRPr lang="zh-CN" altLang="zh-CN" b="1" dirty="0">
              <a:solidFill>
                <a:schemeClr val="hlink"/>
              </a:solidFill>
              <a:latin typeface="Tahoma" panose="020B0604030504040204" pitchFamily="34" charset="0"/>
              <a:ea typeface="宋体" panose="02010600030101010101" pitchFamily="2" charset="-122"/>
            </a:endParaRPr>
          </a:p>
        </p:txBody>
      </p:sp>
      <p:pic>
        <p:nvPicPr>
          <p:cNvPr id="16406" name="Picture 23"/>
          <p:cNvPicPr>
            <a:picLocks noChangeAspect="1"/>
          </p:cNvPicPr>
          <p:nvPr/>
        </p:nvPicPr>
        <p:blipFill>
          <a:blip r:embed="rId3"/>
          <a:stretch>
            <a:fillRect/>
          </a:stretch>
        </p:blipFill>
        <p:spPr>
          <a:xfrm>
            <a:off x="6300788" y="982345"/>
            <a:ext cx="2405062" cy="4513263"/>
          </a:xfrm>
          <a:prstGeom prst="rect">
            <a:avLst/>
          </a:prstGeom>
          <a:noFill/>
          <a:ln w="9525">
            <a:noFill/>
          </a:ln>
        </p:spPr>
      </p:pic>
      <p:sp>
        <p:nvSpPr>
          <p:cNvPr id="14337" name="Rectangle 2"/>
          <p:cNvSpPr>
            <a:spLocks noGrp="1"/>
          </p:cNvSpPr>
          <p:nvPr>
            <p:custDataLst>
              <p:tags r:id="rId4"/>
            </p:custDataLst>
          </p:nvPr>
        </p:nvSpPr>
        <p:spPr>
          <a:xfrm>
            <a:off x="-27940" y="36195"/>
            <a:ext cx="9171940" cy="730250"/>
          </a:xfrm>
          <a:prstGeom prst="rect">
            <a:avLst/>
          </a:prstGeom>
          <a:noFill/>
          <a:ln>
            <a:noFill/>
          </a:ln>
          <a:effectLst/>
        </p:spPr>
        <p:txBody>
          <a:bodyPr vert="horz" wrap="square" lIns="91440" tIns="45720" rIns="91440" bIns="45720" numCol="1" anchor="b" anchorCtr="0" compatLnSpc="1"/>
          <a:lstStyle>
            <a:lvl1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2pPr>
            <a:lvl3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3pPr>
            <a:lvl4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4pPr>
            <a:lvl5pPr algn="ctr" rtl="0" eaLnBrk="0" fontAlgn="base" hangingPunct="0">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5pPr>
            <a:lvl6pPr marL="4572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6pPr>
            <a:lvl7pPr marL="9144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7pPr>
            <a:lvl8pPr marL="13716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8pPr>
            <a:lvl9pPr marL="1828800" algn="ctr" rtl="0" fontAlgn="base">
              <a:spcBef>
                <a:spcPct val="0"/>
              </a:spcBef>
              <a:spcAft>
                <a:spcPct val="0"/>
              </a:spcAft>
              <a:defRPr sz="4400" b="1">
                <a:solidFill>
                  <a:srgbClr val="FF3300"/>
                </a:solidFill>
                <a:effectLst>
                  <a:outerShdw blurRad="38100" dist="38100" dir="2700000" algn="tl">
                    <a:srgbClr val="000000"/>
                  </a:outerShdw>
                </a:effectLst>
                <a:latin typeface="Arial" panose="020B0604020202020204" pitchFamily="34" charset="0"/>
                <a:ea typeface="华文新魏" panose="02010800040101010101" pitchFamily="2" charset="-122"/>
              </a:defRPr>
            </a:lvl9pPr>
          </a:lstStyle>
          <a:p>
            <a:pPr eaLnBrk="1" hangingPunct="1"/>
            <a:r>
              <a:rPr lang="zh-CN" altLang="zh-CN" sz="4000" b="1" dirty="0">
                <a:effectLst/>
                <a:ea typeface="楷体_GB2312" pitchFamily="49" charset="-122"/>
              </a:rPr>
              <a:t>电位器</a:t>
            </a:r>
            <a:r>
              <a:rPr lang="zh-CN" altLang="zh-CN" sz="3200" b="1" dirty="0">
                <a:effectLst/>
                <a:latin typeface="宋体" panose="02010600030101010101" pitchFamily="2" charset="-122"/>
                <a:ea typeface="宋体" panose="02010600030101010101" pitchFamily="2" charset="-122"/>
              </a:rPr>
              <a:t>（可变电阻）</a:t>
            </a:r>
            <a:r>
              <a:rPr lang="en-US" altLang="zh-CN" sz="3200" b="1" dirty="0">
                <a:effectLst/>
                <a:latin typeface="宋体" panose="02010600030101010101" pitchFamily="2" charset="-122"/>
                <a:ea typeface="宋体" panose="02010600030101010101" pitchFamily="2" charset="-122"/>
              </a:rPr>
              <a:t>-</a:t>
            </a:r>
            <a:r>
              <a:rPr lang="zh-CN" altLang="zh-CN" sz="3200" dirty="0">
                <a:solidFill>
                  <a:srgbClr val="0000FF"/>
                </a:solidFill>
                <a:effectLst/>
                <a:latin typeface="宋体" panose="02010600030101010101" pitchFamily="2" charset="-122"/>
                <a:ea typeface="宋体" panose="02010600030101010101" pitchFamily="2" charset="-122"/>
                <a:sym typeface="+mn-ea"/>
              </a:rPr>
              <a:t>单圈类型</a:t>
            </a:r>
            <a:endParaRPr lang="zh-CN" altLang="zh-CN" sz="3200" b="1" dirty="0">
              <a:solidFill>
                <a:srgbClr val="0000FF"/>
              </a:solidFill>
              <a:effectLst/>
              <a:latin typeface="Tahoma" panose="020B0604030504040204" pitchFamily="34" charset="0"/>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7409" name="Rectangle 2"/>
          <p:cNvSpPr>
            <a:spLocks noGrp="1"/>
          </p:cNvSpPr>
          <p:nvPr>
            <p:ph type="title" idx="4294967295"/>
          </p:nvPr>
        </p:nvSpPr>
        <p:spPr>
          <a:xfrm>
            <a:off x="322580" y="-36195"/>
            <a:ext cx="8829040" cy="797560"/>
          </a:xfrm>
        </p:spPr>
        <p:txBody>
          <a:bodyPr wrap="square" lIns="91440" tIns="45720" rIns="91440" bIns="45720" anchor="b" anchorCtr="0"/>
          <a:p>
            <a:pPr algn="ctr" eaLnBrk="1" hangingPunct="1"/>
            <a:r>
              <a:rPr lang="zh-CN" altLang="zh-CN" sz="4000" b="1" dirty="0">
                <a:ea typeface="楷体_GB2312" pitchFamily="49" charset="-122"/>
              </a:rPr>
              <a:t>电容</a:t>
            </a:r>
            <a:endParaRPr lang="zh-CN" altLang="zh-CN" sz="3200" dirty="0">
              <a:solidFill>
                <a:schemeClr val="tx1"/>
              </a:solidFill>
              <a:latin typeface="Times New Roman" panose="02020603050405020304" pitchFamily="18" charset="0"/>
            </a:endParaRPr>
          </a:p>
        </p:txBody>
      </p:sp>
      <p:pic>
        <p:nvPicPr>
          <p:cNvPr id="17410" name="Picture 3"/>
          <p:cNvPicPr>
            <a:picLocks noChangeAspect="1"/>
          </p:cNvPicPr>
          <p:nvPr/>
        </p:nvPicPr>
        <p:blipFill>
          <a:blip r:embed="rId1"/>
          <a:stretch>
            <a:fillRect/>
          </a:stretch>
        </p:blipFill>
        <p:spPr>
          <a:xfrm>
            <a:off x="5395913" y="3234373"/>
            <a:ext cx="2971800" cy="1419225"/>
          </a:xfrm>
          <a:prstGeom prst="rect">
            <a:avLst/>
          </a:prstGeom>
          <a:noFill/>
          <a:ln w="9525">
            <a:noFill/>
          </a:ln>
        </p:spPr>
      </p:pic>
      <p:pic>
        <p:nvPicPr>
          <p:cNvPr id="17411" name="Picture 4"/>
          <p:cNvPicPr>
            <a:picLocks noChangeAspect="1"/>
          </p:cNvPicPr>
          <p:nvPr/>
        </p:nvPicPr>
        <p:blipFill>
          <a:blip r:embed="rId2"/>
          <a:stretch>
            <a:fillRect/>
          </a:stretch>
        </p:blipFill>
        <p:spPr>
          <a:xfrm>
            <a:off x="1581150" y="3347085"/>
            <a:ext cx="2133600" cy="1268413"/>
          </a:xfrm>
          <a:prstGeom prst="rect">
            <a:avLst/>
          </a:prstGeom>
          <a:noFill/>
          <a:ln w="9525">
            <a:noFill/>
          </a:ln>
        </p:spPr>
      </p:pic>
      <p:sp>
        <p:nvSpPr>
          <p:cNvPr id="14340" name="Text Box 5"/>
          <p:cNvSpPr txBox="1"/>
          <p:nvPr/>
        </p:nvSpPr>
        <p:spPr>
          <a:xfrm>
            <a:off x="574675" y="4672648"/>
            <a:ext cx="8237538" cy="891540"/>
          </a:xfrm>
          <a:prstGeom prst="rect">
            <a:avLst/>
          </a:prstGeom>
          <a:noFill/>
          <a:ln w="9525">
            <a:noFill/>
          </a:ln>
        </p:spPr>
        <p:txBody>
          <a:bodyPr wrap="square" anchor="t">
            <a:spAutoFit/>
          </a:bodyPr>
          <a:p>
            <a:pPr marL="457200" indent="-457200">
              <a:buFont typeface="Wingdings" panose="05000000000000000000" charset="0"/>
              <a:buChar char="l"/>
            </a:pPr>
            <a:r>
              <a:rPr lang="zh-CN" altLang="zh-CN" sz="2800" b="1" noProof="1" dirty="0">
                <a:latin typeface="Tahoma" panose="020B0604030504040204" pitchFamily="34" charset="0"/>
                <a:ea typeface="宋体" panose="02010600030101010101" pitchFamily="2" charset="-122"/>
                <a:cs typeface="+mn-cs"/>
              </a:rPr>
              <a:t>瓷片电容   </a:t>
            </a:r>
            <a:r>
              <a:rPr lang="zh-CN" altLang="zh-CN" sz="2400" b="1" noProof="1" dirty="0">
                <a:solidFill>
                  <a:srgbClr val="FF0000"/>
                </a:solidFill>
                <a:latin typeface="Tahoma" panose="020B0604030504040204" pitchFamily="34" charset="0"/>
                <a:ea typeface="宋体" panose="02010600030101010101" pitchFamily="2" charset="-122"/>
                <a:cs typeface="+mn-cs"/>
              </a:rPr>
              <a:t>无极性</a:t>
            </a:r>
            <a:r>
              <a:rPr lang="zh-CN" altLang="zh-CN" sz="2800" b="1" noProof="1" dirty="0">
                <a:latin typeface="Tahoma" panose="020B0604030504040204" pitchFamily="34" charset="0"/>
                <a:ea typeface="宋体" panose="02010600030101010101" pitchFamily="2" charset="-122"/>
                <a:cs typeface="+mn-cs"/>
              </a:rPr>
              <a:t>                 </a:t>
            </a:r>
            <a:r>
              <a:rPr lang="en-US" altLang="zh-CN" sz="2800" b="1" noProof="1" dirty="0">
                <a:latin typeface="Tahoma" panose="020B0604030504040204" pitchFamily="34" charset="0"/>
                <a:ea typeface="宋体" panose="02010600030101010101" pitchFamily="2" charset="-122"/>
                <a:cs typeface="+mn-cs"/>
              </a:rPr>
              <a:t> </a:t>
            </a:r>
            <a:r>
              <a:rPr lang="zh-CN" altLang="zh-CN" sz="2800" b="1" noProof="1" dirty="0">
                <a:latin typeface="Tahoma" panose="020B0604030504040204" pitchFamily="34" charset="0"/>
                <a:ea typeface="宋体" panose="02010600030101010101" pitchFamily="2" charset="-122"/>
                <a:cs typeface="+mn-cs"/>
              </a:rPr>
              <a:t> 电解电容  </a:t>
            </a:r>
            <a:r>
              <a:rPr lang="zh-CN" altLang="zh-CN" sz="2400" b="1" noProof="1" dirty="0">
                <a:solidFill>
                  <a:srgbClr val="FF0000"/>
                </a:solidFill>
                <a:latin typeface="Tahoma" panose="020B0604030504040204" pitchFamily="34" charset="0"/>
                <a:ea typeface="宋体" panose="02010600030101010101" pitchFamily="2" charset="-122"/>
                <a:cs typeface="+mn-cs"/>
              </a:rPr>
              <a:t>有极性</a:t>
            </a:r>
            <a:endParaRPr lang="zh-CN" altLang="zh-CN" sz="2400" b="1" noProof="1" dirty="0">
              <a:solidFill>
                <a:srgbClr val="FF0000"/>
              </a:solidFill>
              <a:latin typeface="Tahoma" panose="020B0604030504040204" pitchFamily="34" charset="0"/>
              <a:ea typeface="宋体" panose="02010600030101010101" pitchFamily="2" charset="-122"/>
            </a:endParaRPr>
          </a:p>
          <a:p>
            <a:pPr marL="342900" indent="-342900">
              <a:buFont typeface="Wingdings" panose="05000000000000000000" charset="0"/>
              <a:buChar char="l"/>
            </a:pPr>
            <a:r>
              <a:rPr lang="en-US" altLang="zh-CN" sz="2400" b="1" noProof="1" dirty="0">
                <a:latin typeface="Tahoma" panose="020B0604030504040204" pitchFamily="34" charset="0"/>
                <a:ea typeface="宋体" panose="02010600030101010101" pitchFamily="2" charset="-122"/>
                <a:cs typeface="+mn-cs"/>
              </a:rPr>
              <a:t> </a:t>
            </a:r>
            <a:r>
              <a:rPr lang="zh-CN" altLang="zh-CN" sz="2400" b="1" noProof="1" dirty="0">
                <a:latin typeface="Tahoma" panose="020B0604030504040204" pitchFamily="34" charset="0"/>
                <a:ea typeface="宋体" panose="02010600030101010101" pitchFamily="2" charset="-122"/>
                <a:cs typeface="+mn-cs"/>
              </a:rPr>
              <a:t>容量较小(多在</a:t>
            </a:r>
            <a:r>
              <a:rPr lang="zh-CN" altLang="zh-CN" sz="2400" b="1" noProof="1" dirty="0">
                <a:latin typeface="Times New Roman" panose="02020603050405020304" pitchFamily="18" charset="0"/>
                <a:ea typeface="宋体" panose="02010600030101010101" pitchFamily="2" charset="-122"/>
                <a:cs typeface="+mn-cs"/>
              </a:rPr>
              <a:t>1</a:t>
            </a:r>
            <a:r>
              <a:rPr lang="zh-CN" altLang="zh-CN" sz="2400" b="1" noProof="1" dirty="0">
                <a:latin typeface="Symbol" panose="05050102010706020507" pitchFamily="18" charset="2"/>
                <a:ea typeface="宋体" panose="02010600030101010101" pitchFamily="2" charset="-122"/>
                <a:cs typeface="+mn-cs"/>
              </a:rPr>
              <a:t>m</a:t>
            </a:r>
            <a:r>
              <a:rPr lang="zh-CN" altLang="zh-CN" sz="2400" b="1" noProof="1" dirty="0">
                <a:latin typeface="Times New Roman" panose="02020603050405020304" pitchFamily="18" charset="0"/>
                <a:ea typeface="宋体" panose="02010600030101010101" pitchFamily="2" charset="-122"/>
                <a:cs typeface="+mn-cs"/>
              </a:rPr>
              <a:t>F</a:t>
            </a:r>
            <a:r>
              <a:rPr lang="zh-CN" altLang="zh-CN" sz="2400" b="1" noProof="1" dirty="0">
                <a:latin typeface="Tahoma" panose="020B0604030504040204" pitchFamily="34" charset="0"/>
                <a:ea typeface="宋体" panose="02010600030101010101" pitchFamily="2" charset="-122"/>
                <a:cs typeface="+mn-cs"/>
              </a:rPr>
              <a:t>以下)              </a:t>
            </a:r>
            <a:r>
              <a:rPr lang="en-US" altLang="zh-CN" sz="2400" b="1" noProof="1" dirty="0">
                <a:latin typeface="Tahoma" panose="020B0604030504040204" pitchFamily="34" charset="0"/>
                <a:ea typeface="宋体" panose="02010600030101010101" pitchFamily="2" charset="-122"/>
                <a:cs typeface="+mn-cs"/>
              </a:rPr>
              <a:t>  </a:t>
            </a:r>
            <a:r>
              <a:rPr lang="zh-CN" altLang="zh-CN" sz="2400" b="1" noProof="1" dirty="0">
                <a:latin typeface="Tahoma" panose="020B0604030504040204" pitchFamily="34" charset="0"/>
                <a:ea typeface="宋体" panose="02010600030101010101" pitchFamily="2" charset="-122"/>
                <a:cs typeface="+mn-cs"/>
              </a:rPr>
              <a:t>容量较大(</a:t>
            </a:r>
            <a:r>
              <a:rPr lang="zh-CN" altLang="zh-CN" sz="2400" b="1" noProof="1" dirty="0">
                <a:latin typeface="Times New Roman" panose="02020603050405020304" pitchFamily="18" charset="0"/>
                <a:ea typeface="宋体" panose="02010600030101010101" pitchFamily="2" charset="-122"/>
                <a:cs typeface="+mn-cs"/>
              </a:rPr>
              <a:t>1</a:t>
            </a:r>
            <a:r>
              <a:rPr lang="zh-CN" altLang="zh-CN" sz="2400" b="1" noProof="1" dirty="0">
                <a:latin typeface="Symbol" panose="05050102010706020507" pitchFamily="18" charset="2"/>
                <a:ea typeface="宋体" panose="02010600030101010101" pitchFamily="2" charset="-122"/>
                <a:cs typeface="+mn-cs"/>
              </a:rPr>
              <a:t>m</a:t>
            </a:r>
            <a:r>
              <a:rPr lang="zh-CN" altLang="zh-CN" sz="2400" b="1" noProof="1" dirty="0">
                <a:latin typeface="Times New Roman" panose="02020603050405020304" pitchFamily="18" charset="0"/>
                <a:ea typeface="宋体" panose="02010600030101010101" pitchFamily="2" charset="-122"/>
                <a:cs typeface="+mn-cs"/>
              </a:rPr>
              <a:t>F</a:t>
            </a:r>
            <a:r>
              <a:rPr lang="zh-CN" altLang="zh-CN" sz="2400" b="1" noProof="1" dirty="0">
                <a:latin typeface="Tahoma" panose="020B0604030504040204" pitchFamily="34" charset="0"/>
                <a:ea typeface="宋体" panose="02010600030101010101" pitchFamily="2" charset="-122"/>
                <a:cs typeface="+mn-cs"/>
              </a:rPr>
              <a:t>以上)</a:t>
            </a:r>
            <a:r>
              <a:rPr lang="en-US" altLang="zh-CN" sz="2400" b="1" noProof="1" dirty="0">
                <a:latin typeface="Times New Roman" panose="02020603050405020304" pitchFamily="18" charset="0"/>
                <a:ea typeface="宋体" panose="02010600030101010101" pitchFamily="2" charset="-122"/>
                <a:cs typeface="+mn-cs"/>
              </a:rPr>
              <a:t>     </a:t>
            </a:r>
            <a:r>
              <a:rPr lang="zh-CN" altLang="zh-CN" sz="2400" b="1" noProof="1" dirty="0">
                <a:latin typeface="Times New Roman" panose="02020603050405020304" pitchFamily="18" charset="0"/>
                <a:ea typeface="宋体" panose="02010600030101010101" pitchFamily="2" charset="-122"/>
                <a:cs typeface="+mn-cs"/>
              </a:rPr>
              <a:t>                      </a:t>
            </a:r>
            <a:endParaRPr lang="zh-CN" altLang="zh-CN" sz="2400" b="1" noProof="1" dirty="0">
              <a:latin typeface="Times New Roman" panose="02020603050405020304" pitchFamily="18" charset="0"/>
              <a:ea typeface="宋体" panose="02010600030101010101" pitchFamily="2" charset="-122"/>
            </a:endParaRPr>
          </a:p>
        </p:txBody>
      </p:sp>
      <p:pic>
        <p:nvPicPr>
          <p:cNvPr id="17413" name="Picture 6" descr="电解电容"/>
          <p:cNvPicPr>
            <a:picLocks noChangeAspect="1"/>
          </p:cNvPicPr>
          <p:nvPr/>
        </p:nvPicPr>
        <p:blipFill>
          <a:blip r:embed="rId3"/>
          <a:stretch>
            <a:fillRect/>
          </a:stretch>
        </p:blipFill>
        <p:spPr>
          <a:xfrm>
            <a:off x="5562600" y="1038860"/>
            <a:ext cx="2362200" cy="1066800"/>
          </a:xfrm>
          <a:prstGeom prst="rect">
            <a:avLst/>
          </a:prstGeom>
          <a:noFill/>
          <a:ln w="9525">
            <a:noFill/>
          </a:ln>
        </p:spPr>
      </p:pic>
      <p:pic>
        <p:nvPicPr>
          <p:cNvPr id="17414" name="Picture 7"/>
          <p:cNvPicPr>
            <a:picLocks noChangeAspect="1"/>
          </p:cNvPicPr>
          <p:nvPr/>
        </p:nvPicPr>
        <p:blipFill>
          <a:blip r:embed="rId4"/>
          <a:stretch>
            <a:fillRect/>
          </a:stretch>
        </p:blipFill>
        <p:spPr>
          <a:xfrm>
            <a:off x="4787900" y="957898"/>
            <a:ext cx="3816350" cy="2159000"/>
          </a:xfrm>
          <a:prstGeom prst="rect">
            <a:avLst/>
          </a:prstGeom>
          <a:noFill/>
          <a:ln w="9525">
            <a:noFill/>
          </a:ln>
        </p:spPr>
      </p:pic>
      <p:pic>
        <p:nvPicPr>
          <p:cNvPr id="17415" name="Picture 8"/>
          <p:cNvPicPr>
            <a:picLocks noChangeAspect="1"/>
          </p:cNvPicPr>
          <p:nvPr/>
        </p:nvPicPr>
        <p:blipFill>
          <a:blip r:embed="rId5"/>
          <a:stretch>
            <a:fillRect/>
          </a:stretch>
        </p:blipFill>
        <p:spPr>
          <a:xfrm>
            <a:off x="1317625" y="1140460"/>
            <a:ext cx="2911475" cy="1900238"/>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40">
                                            <p:txEl>
                                              <p:charRg st="0" end="38"/>
                                            </p:txEl>
                                          </p:spTgt>
                                        </p:tgtEl>
                                        <p:attrNameLst>
                                          <p:attrName>style.visibility</p:attrName>
                                        </p:attrNameLst>
                                      </p:cBhvr>
                                      <p:to>
                                        <p:strVal val="visible"/>
                                      </p:to>
                                    </p:set>
                                    <p:anim calcmode="lin" valueType="num">
                                      <p:cBhvr additive="base">
                                        <p:cTn id="7" dur="500" fill="hold"/>
                                        <p:tgtEl>
                                          <p:spTgt spid="14340">
                                            <p:txEl>
                                              <p:charRg st="0" end="3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40">
                                            <p:txEl>
                                              <p:charRg st="0" end="3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40">
                                            <p:txEl>
                                              <p:charRg st="38" end="77"/>
                                            </p:txEl>
                                          </p:spTgt>
                                        </p:tgtEl>
                                        <p:attrNameLst>
                                          <p:attrName>style.visibility</p:attrName>
                                        </p:attrNameLst>
                                      </p:cBhvr>
                                      <p:to>
                                        <p:strVal val="visible"/>
                                      </p:to>
                                    </p:set>
                                    <p:anim calcmode="lin" valueType="num">
                                      <p:cBhvr additive="base">
                                        <p:cTn id="13" dur="500" fill="hold"/>
                                        <p:tgtEl>
                                          <p:spTgt spid="14340">
                                            <p:txEl>
                                              <p:charRg st="38" end="7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40">
                                            <p:txEl>
                                              <p:charRg st="38" end="7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8433" name="Rectangle 2"/>
          <p:cNvSpPr>
            <a:spLocks noGrp="1"/>
          </p:cNvSpPr>
          <p:nvPr>
            <p:ph type="title" idx="4294967295"/>
          </p:nvPr>
        </p:nvSpPr>
        <p:spPr>
          <a:xfrm>
            <a:off x="-12700" y="-27940"/>
            <a:ext cx="8242300" cy="779780"/>
          </a:xfrm>
        </p:spPr>
        <p:txBody>
          <a:bodyPr wrap="square" lIns="91440" tIns="45720" rIns="91440" bIns="45720" anchor="b" anchorCtr="0"/>
          <a:p>
            <a:pPr eaLnBrk="1" hangingPunct="1"/>
            <a:r>
              <a:rPr lang="zh-CN" altLang="zh-CN" sz="4000" b="1" dirty="0">
                <a:effectLst/>
                <a:ea typeface="楷体_GB2312" pitchFamily="49" charset="-122"/>
              </a:rPr>
              <a:t>电容－</a:t>
            </a:r>
            <a:r>
              <a:rPr lang="zh-CN" altLang="zh-CN" sz="4000" b="1" dirty="0">
                <a:solidFill>
                  <a:srgbClr val="0000FF"/>
                </a:solidFill>
                <a:effectLst/>
                <a:ea typeface="楷体_GB2312" pitchFamily="49" charset="-122"/>
              </a:rPr>
              <a:t>标称容量</a:t>
            </a:r>
            <a:endParaRPr lang="zh-CN" altLang="zh-CN" sz="4000" b="1" dirty="0">
              <a:solidFill>
                <a:srgbClr val="0000FF"/>
              </a:solidFill>
              <a:effectLst/>
              <a:ea typeface="楷体_GB2312" pitchFamily="49" charset="-122"/>
            </a:endParaRPr>
          </a:p>
        </p:txBody>
      </p:sp>
      <p:sp>
        <p:nvSpPr>
          <p:cNvPr id="18434" name="Rectangle 3"/>
          <p:cNvSpPr>
            <a:spLocks noGrp="1"/>
          </p:cNvSpPr>
          <p:nvPr>
            <p:ph idx="4294967295"/>
          </p:nvPr>
        </p:nvSpPr>
        <p:spPr>
          <a:xfrm>
            <a:off x="420370" y="740410"/>
            <a:ext cx="7862570" cy="4971415"/>
          </a:xfrm>
        </p:spPr>
        <p:txBody>
          <a:bodyPr wrap="square" lIns="91440" tIns="45720" rIns="91440" bIns="45720" anchor="t" anchorCtr="0"/>
          <a:p>
            <a:pPr marL="0" indent="0" eaLnBrk="1" hangingPunct="1">
              <a:lnSpc>
                <a:spcPct val="110000"/>
              </a:lnSpc>
              <a:spcBef>
                <a:spcPct val="0"/>
              </a:spcBef>
              <a:buNone/>
            </a:pPr>
            <a:r>
              <a:rPr lang="en-US" altLang="zh-CN" dirty="0">
                <a:solidFill>
                  <a:srgbClr val="FF0000"/>
                </a:solidFill>
                <a:latin typeface="Tahoma" panose="020B0604030504040204" pitchFamily="34" charset="0"/>
                <a:ea typeface="宋体" panose="02010600030101010101" pitchFamily="2" charset="-122"/>
                <a:sym typeface="+mn-ea"/>
              </a:rPr>
              <a:t>1</a:t>
            </a:r>
            <a:r>
              <a:rPr lang="zh-CN" altLang="en-US" dirty="0">
                <a:solidFill>
                  <a:srgbClr val="FF0000"/>
                </a:solidFill>
                <a:latin typeface="Tahoma" panose="020B0604030504040204" pitchFamily="34" charset="0"/>
                <a:ea typeface="宋体" panose="02010600030101010101" pitchFamily="2" charset="-122"/>
                <a:sym typeface="+mn-ea"/>
              </a:rPr>
              <a:t>）</a:t>
            </a:r>
            <a:r>
              <a:rPr lang="zh-CN" altLang="zh-CN" dirty="0">
                <a:solidFill>
                  <a:srgbClr val="FF0000"/>
                </a:solidFill>
                <a:latin typeface="Tahoma" panose="020B0604030504040204" pitchFamily="34" charset="0"/>
                <a:ea typeface="宋体" panose="02010600030101010101" pitchFamily="2" charset="-122"/>
                <a:sym typeface="+mn-ea"/>
              </a:rPr>
              <a:t>瓷片电容</a:t>
            </a:r>
            <a:endParaRPr lang="zh-CN" altLang="zh-CN" dirty="0">
              <a:solidFill>
                <a:srgbClr val="FF0000"/>
              </a:solidFill>
              <a:latin typeface="Tahoma" panose="020B0604030504040204" pitchFamily="34" charset="0"/>
              <a:ea typeface="宋体" panose="02010600030101010101" pitchFamily="2" charset="-122"/>
              <a:sym typeface="+mn-ea"/>
            </a:endParaRPr>
          </a:p>
          <a:p>
            <a:pPr eaLnBrk="1" hangingPunct="1">
              <a:lnSpc>
                <a:spcPct val="110000"/>
              </a:lnSpc>
              <a:spcBef>
                <a:spcPct val="0"/>
              </a:spcBef>
              <a:buClr>
                <a:srgbClr val="FF0000"/>
              </a:buClr>
              <a:buFont typeface="Wingdings" panose="05000000000000000000" charset="0"/>
              <a:buChar char="l"/>
            </a:pPr>
            <a:r>
              <a:rPr lang="zh-CN" altLang="zh-CN" sz="2400" b="0" dirty="0">
                <a:latin typeface="楷体" panose="02010609060101010101" charset="-122"/>
                <a:ea typeface="楷体" panose="02010609060101010101" charset="-122"/>
                <a:cs typeface="楷体" panose="02010609060101010101" charset="-122"/>
              </a:rPr>
              <a:t>小于</a:t>
            </a:r>
            <a:r>
              <a:rPr lang="zh-CN" altLang="zh-CN" sz="2400" b="0" dirty="0">
                <a:latin typeface="Times New Roman" panose="02020603050405020304" pitchFamily="18" charset="0"/>
              </a:rPr>
              <a:t>1</a:t>
            </a:r>
            <a:r>
              <a:rPr lang="zh-CN" altLang="zh-CN" sz="2400" b="0" dirty="0">
                <a:latin typeface="Symbol" panose="05050102010706020507" pitchFamily="18" charset="2"/>
              </a:rPr>
              <a:t>m</a:t>
            </a:r>
            <a:r>
              <a:rPr lang="zh-CN" altLang="zh-CN" sz="2400" b="0" dirty="0">
                <a:latin typeface="Times New Roman" panose="02020603050405020304" pitchFamily="18" charset="0"/>
              </a:rPr>
              <a:t>F</a:t>
            </a:r>
            <a:r>
              <a:rPr lang="zh-CN" altLang="zh-CN" sz="2400" b="0" dirty="0">
                <a:latin typeface="楷体" panose="02010609060101010101" charset="-122"/>
                <a:ea typeface="楷体" panose="02010609060101010101" charset="-122"/>
              </a:rPr>
              <a:t>电容，只标数值，</a:t>
            </a:r>
            <a:r>
              <a:rPr lang="zh-CN" altLang="zh-CN" sz="2400" b="0" dirty="0">
                <a:solidFill>
                  <a:srgbClr val="0000FF"/>
                </a:solidFill>
                <a:latin typeface="楷体" panose="02010609060101010101" charset="-122"/>
                <a:ea typeface="楷体" panose="02010609060101010101" charset="-122"/>
              </a:rPr>
              <a:t>单位缺省为</a:t>
            </a:r>
            <a:r>
              <a:rPr lang="zh-CN" altLang="zh-CN" sz="2400" b="0" dirty="0">
                <a:solidFill>
                  <a:srgbClr val="0000FF"/>
                </a:solidFill>
                <a:latin typeface="Times New Roman" panose="02020603050405020304" pitchFamily="18" charset="0"/>
              </a:rPr>
              <a:t>pF</a:t>
            </a:r>
            <a:endParaRPr lang="zh-CN" altLang="zh-CN" sz="2400" b="0" dirty="0">
              <a:solidFill>
                <a:srgbClr val="0000FF"/>
              </a:solidFill>
              <a:latin typeface="Times New Roman" panose="02020603050405020304" pitchFamily="18" charset="0"/>
            </a:endParaRPr>
          </a:p>
          <a:p>
            <a:pPr eaLnBrk="1" hangingPunct="1">
              <a:lnSpc>
                <a:spcPct val="110000"/>
              </a:lnSpc>
              <a:spcBef>
                <a:spcPct val="0"/>
              </a:spcBef>
              <a:buFont typeface="Wingdings" panose="05000000000000000000" charset="0"/>
              <a:buChar char="l"/>
            </a:pPr>
            <a:r>
              <a:rPr lang="zh-CN" altLang="zh-CN" sz="2400" b="0" dirty="0">
                <a:latin typeface="楷体" panose="02010609060101010101" charset="-122"/>
                <a:ea typeface="楷体" panose="02010609060101010101" charset="-122"/>
              </a:rPr>
              <a:t>不到三位数，直接是实际数值</a:t>
            </a:r>
            <a:r>
              <a:rPr lang="zh-CN" altLang="zh-CN" sz="2400" b="0" dirty="0">
                <a:latin typeface="Times New Roman" panose="02020603050405020304" pitchFamily="18" charset="0"/>
              </a:rPr>
              <a:t>：</a:t>
            </a:r>
            <a:endParaRPr lang="zh-CN" altLang="zh-CN" sz="2400" b="0" dirty="0">
              <a:latin typeface="Times New Roman" panose="02020603050405020304" pitchFamily="18" charset="0"/>
            </a:endParaRPr>
          </a:p>
          <a:p>
            <a:pPr eaLnBrk="1" hangingPunct="1">
              <a:lnSpc>
                <a:spcPct val="110000"/>
              </a:lnSpc>
              <a:spcBef>
                <a:spcPct val="0"/>
              </a:spcBef>
              <a:buNone/>
            </a:pPr>
            <a:r>
              <a:rPr lang="zh-CN" altLang="zh-CN" sz="2400" b="0" dirty="0">
                <a:latin typeface="Times New Roman" panose="02020603050405020304" pitchFamily="18" charset="0"/>
              </a:rPr>
              <a:t>         </a:t>
            </a:r>
            <a:r>
              <a:rPr lang="en-US" altLang="zh-CN" sz="2400" b="0" dirty="0">
                <a:latin typeface="Times New Roman" panose="02020603050405020304" pitchFamily="18" charset="0"/>
              </a:rPr>
              <a:t>  </a:t>
            </a:r>
            <a:r>
              <a:rPr lang="zh-CN" altLang="zh-CN" sz="2400" b="0" dirty="0">
                <a:latin typeface="Times New Roman" panose="02020603050405020304" pitchFamily="18" charset="0"/>
              </a:rPr>
              <a:t>33</a:t>
            </a:r>
            <a:r>
              <a:rPr lang="zh-CN" altLang="zh-CN" sz="2400" b="0" dirty="0">
                <a:latin typeface="楷体" panose="02010609060101010101" charset="-122"/>
                <a:ea typeface="楷体" panose="02010609060101010101" charset="-122"/>
              </a:rPr>
              <a:t>表示</a:t>
            </a:r>
            <a:r>
              <a:rPr lang="zh-CN" altLang="zh-CN" sz="2400" b="0" dirty="0">
                <a:latin typeface="Times New Roman" panose="02020603050405020304" pitchFamily="18" charset="0"/>
              </a:rPr>
              <a:t>33pF；6.8</a:t>
            </a:r>
            <a:r>
              <a:rPr lang="zh-CN" altLang="zh-CN" sz="2400" b="0" dirty="0">
                <a:latin typeface="楷体" panose="02010609060101010101" charset="-122"/>
                <a:ea typeface="楷体" panose="02010609060101010101" charset="-122"/>
              </a:rPr>
              <a:t>表示</a:t>
            </a:r>
            <a:r>
              <a:rPr lang="zh-CN" altLang="zh-CN" sz="2400" b="0" dirty="0">
                <a:latin typeface="Times New Roman" panose="02020603050405020304" pitchFamily="18" charset="0"/>
              </a:rPr>
              <a:t>6.8pF</a:t>
            </a:r>
            <a:endParaRPr lang="zh-CN" altLang="zh-CN" sz="2400" b="0" dirty="0">
              <a:latin typeface="Times New Roman" panose="02020603050405020304" pitchFamily="18" charset="0"/>
            </a:endParaRPr>
          </a:p>
          <a:p>
            <a:pPr eaLnBrk="1" hangingPunct="1">
              <a:lnSpc>
                <a:spcPct val="110000"/>
              </a:lnSpc>
              <a:spcBef>
                <a:spcPct val="0"/>
              </a:spcBef>
              <a:buFont typeface="Wingdings" panose="05000000000000000000" charset="0"/>
              <a:buChar char="l"/>
            </a:pPr>
            <a:r>
              <a:rPr lang="zh-CN" altLang="zh-CN" sz="2400" b="0" dirty="0">
                <a:latin typeface="楷体" panose="02010609060101010101" charset="-122"/>
                <a:ea typeface="楷体" panose="02010609060101010101" charset="-122"/>
                <a:cs typeface="楷体" panose="02010609060101010101" charset="-122"/>
              </a:rPr>
              <a:t>标示三位数，则第三位是倍率</a:t>
            </a:r>
            <a:r>
              <a:rPr lang="zh-CN" altLang="zh-CN" sz="2400" b="0" dirty="0">
                <a:latin typeface="Times New Roman" panose="02020603050405020304" pitchFamily="18" charset="0"/>
              </a:rPr>
              <a:t>：  </a:t>
            </a:r>
            <a:endParaRPr lang="zh-CN" altLang="zh-CN" sz="2400" b="0" dirty="0">
              <a:latin typeface="Times New Roman" panose="02020603050405020304" pitchFamily="18" charset="0"/>
            </a:endParaRPr>
          </a:p>
          <a:p>
            <a:pPr eaLnBrk="1" hangingPunct="1">
              <a:lnSpc>
                <a:spcPct val="110000"/>
              </a:lnSpc>
              <a:spcBef>
                <a:spcPct val="0"/>
              </a:spcBef>
              <a:buNone/>
            </a:pPr>
            <a:r>
              <a:rPr lang="zh-CN" altLang="zh-CN" sz="2400" b="0" dirty="0">
                <a:latin typeface="Times New Roman" panose="02020603050405020304" pitchFamily="18" charset="0"/>
              </a:rPr>
              <a:t>          </a:t>
            </a:r>
            <a:r>
              <a:rPr lang="zh-CN" altLang="zh-CN" sz="2400" b="0" dirty="0">
                <a:solidFill>
                  <a:schemeClr val="tx1"/>
                </a:solidFill>
                <a:latin typeface="Times New Roman" panose="02020603050405020304" pitchFamily="18" charset="0"/>
              </a:rPr>
              <a:t>104：10</a:t>
            </a:r>
            <a:r>
              <a:rPr lang="zh-CN" altLang="zh-CN" sz="2400" b="0" dirty="0">
                <a:solidFill>
                  <a:schemeClr val="tx1"/>
                </a:solidFill>
              </a:rPr>
              <a:t>×</a:t>
            </a:r>
            <a:r>
              <a:rPr lang="zh-CN" altLang="zh-CN" sz="2400" b="0" dirty="0">
                <a:solidFill>
                  <a:schemeClr val="tx1"/>
                </a:solidFill>
                <a:latin typeface="Times New Roman" panose="02020603050405020304" pitchFamily="18" charset="0"/>
              </a:rPr>
              <a:t>10</a:t>
            </a:r>
            <a:r>
              <a:rPr lang="zh-CN" altLang="zh-CN" sz="2400" b="0" baseline="30000" dirty="0">
                <a:solidFill>
                  <a:schemeClr val="tx1"/>
                </a:solidFill>
                <a:latin typeface="Times New Roman" panose="02020603050405020304" pitchFamily="18" charset="0"/>
              </a:rPr>
              <a:t>4</a:t>
            </a:r>
            <a:r>
              <a:rPr lang="zh-CN" altLang="zh-CN" sz="2400" b="0" dirty="0">
                <a:solidFill>
                  <a:schemeClr val="tx1"/>
                </a:solidFill>
                <a:latin typeface="Times New Roman" panose="02020603050405020304" pitchFamily="18" charset="0"/>
              </a:rPr>
              <a:t>pF= 10</a:t>
            </a:r>
            <a:r>
              <a:rPr lang="zh-CN" altLang="zh-CN" sz="2400" b="0" baseline="30000" dirty="0">
                <a:solidFill>
                  <a:schemeClr val="tx1"/>
                </a:solidFill>
                <a:latin typeface="Times New Roman" panose="02020603050405020304" pitchFamily="18" charset="0"/>
              </a:rPr>
              <a:t>5</a:t>
            </a:r>
            <a:r>
              <a:rPr lang="zh-CN" altLang="zh-CN" sz="2400" b="0" dirty="0">
                <a:solidFill>
                  <a:schemeClr val="tx1"/>
                </a:solidFill>
                <a:latin typeface="Times New Roman" panose="02020603050405020304" pitchFamily="18" charset="0"/>
              </a:rPr>
              <a:t>pf =0.1</a:t>
            </a:r>
            <a:r>
              <a:rPr lang="zh-CN" altLang="zh-CN" sz="2400" b="0" dirty="0">
                <a:solidFill>
                  <a:schemeClr val="tx1"/>
                </a:solidFill>
                <a:latin typeface="Symbol" panose="05050102010706020507" pitchFamily="18" charset="2"/>
              </a:rPr>
              <a:t>m</a:t>
            </a:r>
            <a:r>
              <a:rPr lang="zh-CN" altLang="zh-CN" sz="2400" b="0" dirty="0">
                <a:solidFill>
                  <a:schemeClr val="tx1"/>
                </a:solidFill>
                <a:latin typeface="Times New Roman" panose="02020603050405020304" pitchFamily="18" charset="0"/>
              </a:rPr>
              <a:t>F</a:t>
            </a:r>
            <a:endParaRPr lang="zh-CN" altLang="zh-CN" sz="2400" b="0" dirty="0">
              <a:solidFill>
                <a:schemeClr val="folHlink"/>
              </a:solidFill>
              <a:latin typeface="Times New Roman" panose="02020603050405020304" pitchFamily="18" charset="0"/>
            </a:endParaRPr>
          </a:p>
          <a:p>
            <a:pPr eaLnBrk="1" hangingPunct="1">
              <a:lnSpc>
                <a:spcPct val="110000"/>
              </a:lnSpc>
              <a:spcBef>
                <a:spcPct val="0"/>
              </a:spcBef>
              <a:buNone/>
            </a:pPr>
            <a:r>
              <a:rPr lang="zh-CN" altLang="zh-CN" sz="2400" b="0" dirty="0">
                <a:latin typeface="Times New Roman" panose="02020603050405020304" pitchFamily="18" charset="0"/>
              </a:rPr>
              <a:t>          103：10</a:t>
            </a:r>
            <a:r>
              <a:rPr lang="zh-CN" altLang="zh-CN" sz="2400" b="0" dirty="0"/>
              <a:t>×</a:t>
            </a:r>
            <a:r>
              <a:rPr lang="zh-CN" altLang="zh-CN" sz="2400" b="0" dirty="0">
                <a:latin typeface="Times New Roman" panose="02020603050405020304" pitchFamily="18" charset="0"/>
              </a:rPr>
              <a:t>10</a:t>
            </a:r>
            <a:r>
              <a:rPr lang="zh-CN" altLang="zh-CN" sz="2400" b="0" baseline="30000" dirty="0">
                <a:latin typeface="Times New Roman" panose="02020603050405020304" pitchFamily="18" charset="0"/>
              </a:rPr>
              <a:t>3</a:t>
            </a:r>
            <a:r>
              <a:rPr lang="zh-CN" altLang="zh-CN" sz="2400" b="0" dirty="0">
                <a:latin typeface="Times New Roman" panose="02020603050405020304" pitchFamily="18" charset="0"/>
              </a:rPr>
              <a:t>pF= 10</a:t>
            </a:r>
            <a:r>
              <a:rPr lang="zh-CN" altLang="zh-CN" sz="2400" b="0" baseline="30000" dirty="0">
                <a:latin typeface="Times New Roman" panose="02020603050405020304" pitchFamily="18" charset="0"/>
              </a:rPr>
              <a:t>4</a:t>
            </a:r>
            <a:r>
              <a:rPr lang="zh-CN" altLang="zh-CN" sz="2400" b="0" dirty="0">
                <a:latin typeface="Times New Roman" panose="02020603050405020304" pitchFamily="18" charset="0"/>
              </a:rPr>
              <a:t>pf =0.01</a:t>
            </a:r>
            <a:r>
              <a:rPr lang="zh-CN" altLang="zh-CN" sz="2400" b="0" dirty="0">
                <a:latin typeface="Symbol" panose="05050102010706020507" pitchFamily="18" charset="2"/>
              </a:rPr>
              <a:t>m</a:t>
            </a:r>
            <a:r>
              <a:rPr lang="zh-CN" altLang="zh-CN" sz="2400" b="0" dirty="0">
                <a:latin typeface="Times New Roman" panose="02020603050405020304" pitchFamily="18" charset="0"/>
              </a:rPr>
              <a:t>F  </a:t>
            </a:r>
            <a:r>
              <a:rPr lang="zh-CN" altLang="zh-CN" sz="2800" b="0" dirty="0">
                <a:latin typeface="Times New Roman" panose="02020603050405020304" pitchFamily="18" charset="0"/>
              </a:rPr>
              <a:t>          </a:t>
            </a:r>
            <a:r>
              <a:rPr lang="zh-CN" altLang="zh-CN" sz="2800" b="1" dirty="0">
                <a:latin typeface="Times New Roman" panose="02020603050405020304" pitchFamily="18" charset="0"/>
              </a:rPr>
              <a:t> </a:t>
            </a:r>
            <a:endParaRPr lang="zh-CN" altLang="zh-CN" sz="2800" b="1" dirty="0">
              <a:latin typeface="Times New Roman" panose="02020603050405020304" pitchFamily="18" charset="0"/>
            </a:endParaRPr>
          </a:p>
          <a:p>
            <a:pPr marL="0" indent="0" eaLnBrk="1" hangingPunct="1">
              <a:lnSpc>
                <a:spcPct val="110000"/>
              </a:lnSpc>
              <a:spcBef>
                <a:spcPct val="0"/>
              </a:spcBef>
              <a:buNone/>
            </a:pPr>
            <a:r>
              <a:rPr lang="en-US" altLang="zh-CN" sz="2800" b="1" dirty="0">
                <a:solidFill>
                  <a:srgbClr val="FF0000"/>
                </a:solidFill>
                <a:latin typeface="Times New Roman" panose="02020603050405020304" pitchFamily="18" charset="0"/>
              </a:rPr>
              <a:t>2</a:t>
            </a:r>
            <a:r>
              <a:rPr lang="zh-CN" altLang="en-US" sz="2800" b="1" dirty="0">
                <a:solidFill>
                  <a:srgbClr val="FF0000"/>
                </a:solidFill>
                <a:latin typeface="Times New Roman" panose="02020603050405020304" pitchFamily="18" charset="0"/>
              </a:rPr>
              <a:t>）</a:t>
            </a:r>
            <a:r>
              <a:rPr lang="zh-CN" altLang="zh-CN" sz="2800" b="1" dirty="0">
                <a:solidFill>
                  <a:srgbClr val="FF0000"/>
                </a:solidFill>
                <a:latin typeface="宋体" panose="02010600030101010101" pitchFamily="2" charset="-122"/>
                <a:ea typeface="宋体" panose="02010600030101010101" pitchFamily="2" charset="-122"/>
              </a:rPr>
              <a:t>电解电容</a:t>
            </a:r>
            <a:endParaRPr lang="zh-CN" altLang="zh-CN" sz="2800" b="1" dirty="0">
              <a:solidFill>
                <a:srgbClr val="FF0000"/>
              </a:solidFill>
              <a:latin typeface="楷体" panose="02010609060101010101" charset="-122"/>
              <a:ea typeface="楷体" panose="02010609060101010101" charset="-122"/>
              <a:cs typeface="楷体" panose="02010609060101010101" charset="-122"/>
            </a:endParaRPr>
          </a:p>
          <a:p>
            <a:pPr marL="0" indent="0" eaLnBrk="1" hangingPunct="1">
              <a:lnSpc>
                <a:spcPct val="110000"/>
              </a:lnSpc>
              <a:spcBef>
                <a:spcPct val="0"/>
              </a:spcBef>
              <a:buNone/>
            </a:pPr>
            <a:r>
              <a:rPr lang="en-US" altLang="zh-CN" sz="2400" b="0" dirty="0">
                <a:solidFill>
                  <a:srgbClr val="FF0000"/>
                </a:solidFill>
                <a:latin typeface="Symbol" panose="05050102010706020507" pitchFamily="18" charset="2"/>
                <a:sym typeface="+mn-ea"/>
              </a:rPr>
              <a:t>      </a:t>
            </a:r>
            <a:r>
              <a:rPr lang="zh-CN" altLang="zh-CN" sz="2400" b="0" dirty="0">
                <a:solidFill>
                  <a:srgbClr val="FF0000"/>
                </a:solidFill>
                <a:latin typeface="Symbol" panose="05050102010706020507" pitchFamily="18" charset="2"/>
                <a:sym typeface="+mn-ea"/>
              </a:rPr>
              <a:t>m</a:t>
            </a:r>
            <a:r>
              <a:rPr lang="zh-CN" altLang="zh-CN" sz="2400" b="0" dirty="0">
                <a:solidFill>
                  <a:srgbClr val="FF0000"/>
                </a:solidFill>
                <a:latin typeface="Times New Roman" panose="02020603050405020304" pitchFamily="18" charset="0"/>
                <a:sym typeface="+mn-ea"/>
              </a:rPr>
              <a:t>F</a:t>
            </a:r>
            <a:r>
              <a:rPr lang="zh-CN" altLang="zh-CN" sz="2400" b="0" dirty="0">
                <a:solidFill>
                  <a:srgbClr val="FF0000"/>
                </a:solidFill>
                <a:latin typeface="楷体" panose="02010609060101010101" charset="-122"/>
                <a:ea typeface="楷体" panose="02010609060101010101" charset="-122"/>
                <a:cs typeface="楷体" panose="02010609060101010101" charset="-122"/>
              </a:rPr>
              <a:t>为单位</a:t>
            </a:r>
            <a:r>
              <a:rPr lang="zh-CN" altLang="zh-CN" sz="2400" b="0" dirty="0">
                <a:latin typeface="楷体" panose="02010609060101010101" charset="-122"/>
                <a:ea typeface="楷体" panose="02010609060101010101" charset="-122"/>
                <a:cs typeface="楷体" panose="02010609060101010101" charset="-122"/>
              </a:rPr>
              <a:t>完整标印，并标明</a:t>
            </a:r>
            <a:r>
              <a:rPr lang="zh-CN" altLang="zh-CN" sz="2400" b="0" dirty="0">
                <a:solidFill>
                  <a:srgbClr val="FF0000"/>
                </a:solidFill>
                <a:latin typeface="楷体" panose="02010609060101010101" charset="-122"/>
                <a:ea typeface="楷体" panose="02010609060101010101" charset="-122"/>
                <a:cs typeface="楷体" panose="02010609060101010101" charset="-122"/>
              </a:rPr>
              <a:t>负极</a:t>
            </a:r>
            <a:r>
              <a:rPr lang="zh-CN" altLang="zh-CN" sz="2400" b="0" dirty="0">
                <a:latin typeface="楷体" panose="02010609060101010101" charset="-122"/>
                <a:ea typeface="楷体" panose="02010609060101010101" charset="-122"/>
                <a:cs typeface="楷体" panose="02010609060101010101" charset="-122"/>
              </a:rPr>
              <a:t>和</a:t>
            </a:r>
            <a:r>
              <a:rPr lang="zh-CN" altLang="zh-CN" sz="2400" b="0" dirty="0">
                <a:solidFill>
                  <a:srgbClr val="FF0000"/>
                </a:solidFill>
                <a:latin typeface="楷体" panose="02010609060101010101" charset="-122"/>
                <a:ea typeface="楷体" panose="02010609060101010101" charset="-122"/>
                <a:cs typeface="楷体" panose="02010609060101010101" charset="-122"/>
              </a:rPr>
              <a:t>耐压值。</a:t>
            </a:r>
            <a:endParaRPr lang="zh-CN" altLang="zh-CN" sz="2400" b="0" dirty="0">
              <a:solidFill>
                <a:schemeClr val="tx2"/>
              </a:solidFill>
              <a:latin typeface="楷体" panose="02010609060101010101" charset="-122"/>
              <a:ea typeface="楷体" panose="02010609060101010101" charset="-122"/>
              <a:cs typeface="楷体" panose="02010609060101010101" charset="-122"/>
            </a:endParaRPr>
          </a:p>
          <a:p>
            <a:pPr marL="0" indent="0" eaLnBrk="1" hangingPunct="1">
              <a:lnSpc>
                <a:spcPct val="110000"/>
              </a:lnSpc>
              <a:spcBef>
                <a:spcPct val="0"/>
              </a:spcBef>
              <a:buNone/>
            </a:pPr>
            <a:r>
              <a:rPr lang="zh-CN" altLang="zh-CN" sz="2400" b="0" dirty="0">
                <a:solidFill>
                  <a:schemeClr val="tx2"/>
                </a:solidFill>
                <a:latin typeface="楷体" panose="02010609060101010101" charset="-122"/>
                <a:ea typeface="楷体" panose="02010609060101010101" charset="-122"/>
                <a:cs typeface="楷体" panose="02010609060101010101" charset="-122"/>
              </a:rPr>
              <a:t> </a:t>
            </a:r>
            <a:r>
              <a:rPr lang="en-US" altLang="zh-CN" sz="2400" b="0" dirty="0">
                <a:solidFill>
                  <a:schemeClr val="tx2"/>
                </a:solidFill>
                <a:latin typeface="楷体" panose="02010609060101010101" charset="-122"/>
                <a:ea typeface="楷体" panose="02010609060101010101" charset="-122"/>
                <a:cs typeface="楷体" panose="02010609060101010101" charset="-122"/>
              </a:rPr>
              <a:t>  </a:t>
            </a:r>
            <a:r>
              <a:rPr lang="zh-CN" altLang="zh-CN" sz="2400" b="0" dirty="0">
                <a:latin typeface="楷体" panose="02010609060101010101" charset="-122"/>
                <a:ea typeface="楷体" panose="02010609060101010101" charset="-122"/>
                <a:cs typeface="楷体" panose="02010609060101010101" charset="-122"/>
              </a:rPr>
              <a:t>如果加在电解电容两端的电压超过此值，电容可能会被击穿而损坏</a:t>
            </a:r>
            <a:endParaRPr lang="zh-CN" altLang="zh-CN" sz="2400" b="1"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wipe(down)">
                                      <p:cBhvr>
                                        <p:cTn id="7" dur="500"/>
                                        <p:tgtEl>
                                          <p:spTgt spid="184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434">
                                            <p:txEl>
                                              <p:pRg st="1" end="1"/>
                                            </p:txEl>
                                          </p:spTgt>
                                        </p:tgtEl>
                                        <p:attrNameLst>
                                          <p:attrName>style.visibility</p:attrName>
                                        </p:attrNameLst>
                                      </p:cBhvr>
                                      <p:to>
                                        <p:strVal val="visible"/>
                                      </p:to>
                                    </p:set>
                                    <p:animEffect transition="in" filter="wipe(down)">
                                      <p:cBhvr>
                                        <p:cTn id="12" dur="500"/>
                                        <p:tgtEl>
                                          <p:spTgt spid="184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434">
                                            <p:txEl>
                                              <p:pRg st="2" end="2"/>
                                            </p:txEl>
                                          </p:spTgt>
                                        </p:tgtEl>
                                        <p:attrNameLst>
                                          <p:attrName>style.visibility</p:attrName>
                                        </p:attrNameLst>
                                      </p:cBhvr>
                                      <p:to>
                                        <p:strVal val="visible"/>
                                      </p:to>
                                    </p:set>
                                    <p:animEffect transition="in" filter="wipe(down)">
                                      <p:cBhvr>
                                        <p:cTn id="17" dur="500"/>
                                        <p:tgtEl>
                                          <p:spTgt spid="184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8434">
                                            <p:txEl>
                                              <p:pRg st="3" end="3"/>
                                            </p:txEl>
                                          </p:spTgt>
                                        </p:tgtEl>
                                        <p:attrNameLst>
                                          <p:attrName>style.visibility</p:attrName>
                                        </p:attrNameLst>
                                      </p:cBhvr>
                                      <p:to>
                                        <p:strVal val="visible"/>
                                      </p:to>
                                    </p:set>
                                    <p:animEffect transition="in" filter="wipe(down)">
                                      <p:cBhvr>
                                        <p:cTn id="22" dur="500"/>
                                        <p:tgtEl>
                                          <p:spTgt spid="184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8434">
                                            <p:txEl>
                                              <p:pRg st="4" end="4"/>
                                            </p:txEl>
                                          </p:spTgt>
                                        </p:tgtEl>
                                        <p:attrNameLst>
                                          <p:attrName>style.visibility</p:attrName>
                                        </p:attrNameLst>
                                      </p:cBhvr>
                                      <p:to>
                                        <p:strVal val="visible"/>
                                      </p:to>
                                    </p:set>
                                    <p:animEffect transition="in" filter="wipe(down)">
                                      <p:cBhvr>
                                        <p:cTn id="27" dur="500"/>
                                        <p:tgtEl>
                                          <p:spTgt spid="184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8434">
                                            <p:txEl>
                                              <p:pRg st="5" end="5"/>
                                            </p:txEl>
                                          </p:spTgt>
                                        </p:tgtEl>
                                        <p:attrNameLst>
                                          <p:attrName>style.visibility</p:attrName>
                                        </p:attrNameLst>
                                      </p:cBhvr>
                                      <p:to>
                                        <p:strVal val="visible"/>
                                      </p:to>
                                    </p:set>
                                    <p:animEffect transition="in" filter="wipe(down)">
                                      <p:cBhvr>
                                        <p:cTn id="32" dur="500"/>
                                        <p:tgtEl>
                                          <p:spTgt spid="1843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8434">
                                            <p:txEl>
                                              <p:pRg st="6" end="6"/>
                                            </p:txEl>
                                          </p:spTgt>
                                        </p:tgtEl>
                                        <p:attrNameLst>
                                          <p:attrName>style.visibility</p:attrName>
                                        </p:attrNameLst>
                                      </p:cBhvr>
                                      <p:to>
                                        <p:strVal val="visible"/>
                                      </p:to>
                                    </p:set>
                                    <p:animEffect transition="in" filter="wipe(down)">
                                      <p:cBhvr>
                                        <p:cTn id="37" dur="500"/>
                                        <p:tgtEl>
                                          <p:spTgt spid="1843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8434">
                                            <p:txEl>
                                              <p:pRg st="7" end="7"/>
                                            </p:txEl>
                                          </p:spTgt>
                                        </p:tgtEl>
                                        <p:attrNameLst>
                                          <p:attrName>style.visibility</p:attrName>
                                        </p:attrNameLst>
                                      </p:cBhvr>
                                      <p:to>
                                        <p:strVal val="visible"/>
                                      </p:to>
                                    </p:set>
                                    <p:animEffect transition="in" filter="wipe(down)">
                                      <p:cBhvr>
                                        <p:cTn id="42" dur="500"/>
                                        <p:tgtEl>
                                          <p:spTgt spid="1843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8434">
                                            <p:txEl>
                                              <p:pRg st="8" end="8"/>
                                            </p:txEl>
                                          </p:spTgt>
                                        </p:tgtEl>
                                        <p:attrNameLst>
                                          <p:attrName>style.visibility</p:attrName>
                                        </p:attrNameLst>
                                      </p:cBhvr>
                                      <p:to>
                                        <p:strVal val="visible"/>
                                      </p:to>
                                    </p:set>
                                    <p:animEffect transition="in" filter="wipe(down)">
                                      <p:cBhvr>
                                        <p:cTn id="47" dur="500"/>
                                        <p:tgtEl>
                                          <p:spTgt spid="1843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8434">
                                            <p:txEl>
                                              <p:pRg st="9" end="9"/>
                                            </p:txEl>
                                          </p:spTgt>
                                        </p:tgtEl>
                                        <p:attrNameLst>
                                          <p:attrName>style.visibility</p:attrName>
                                        </p:attrNameLst>
                                      </p:cBhvr>
                                      <p:to>
                                        <p:strVal val="visible"/>
                                      </p:to>
                                    </p:set>
                                    <p:animEffect transition="in" filter="wipe(down)">
                                      <p:cBhvr>
                                        <p:cTn id="52" dur="500"/>
                                        <p:tgtEl>
                                          <p:spTgt spid="1843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19457" name="Picture 2"/>
          <p:cNvPicPr>
            <a:picLocks noChangeAspect="1"/>
          </p:cNvPicPr>
          <p:nvPr/>
        </p:nvPicPr>
        <p:blipFill>
          <a:blip r:embed="rId1"/>
          <a:stretch>
            <a:fillRect/>
          </a:stretch>
        </p:blipFill>
        <p:spPr>
          <a:xfrm>
            <a:off x="1131888" y="4245293"/>
            <a:ext cx="2952750" cy="1131887"/>
          </a:xfrm>
          <a:prstGeom prst="rect">
            <a:avLst/>
          </a:prstGeom>
          <a:noFill/>
          <a:ln w="9525">
            <a:noFill/>
          </a:ln>
        </p:spPr>
      </p:pic>
      <p:sp>
        <p:nvSpPr>
          <p:cNvPr id="19458" name="Rectangle 3"/>
          <p:cNvSpPr>
            <a:spLocks noGrp="1"/>
          </p:cNvSpPr>
          <p:nvPr>
            <p:ph type="title" idx="4294967295"/>
          </p:nvPr>
        </p:nvSpPr>
        <p:spPr>
          <a:xfrm>
            <a:off x="889000" y="-18415"/>
            <a:ext cx="7493635" cy="758190"/>
          </a:xfrm>
        </p:spPr>
        <p:txBody>
          <a:bodyPr wrap="square" lIns="91440" tIns="45720" rIns="91440" bIns="45720" anchor="b" anchorCtr="0"/>
          <a:p>
            <a:pPr eaLnBrk="1" hangingPunct="1"/>
            <a:r>
              <a:rPr lang="zh-CN" altLang="zh-CN" sz="4000" b="1" dirty="0">
                <a:ea typeface="楷体_GB2312" pitchFamily="49" charset="-122"/>
              </a:rPr>
              <a:t>二极管、发光二极管</a:t>
            </a:r>
            <a:endParaRPr lang="zh-CN" altLang="zh-CN" sz="4000" b="1" dirty="0">
              <a:ea typeface="楷体_GB2312" pitchFamily="49" charset="-122"/>
            </a:endParaRPr>
          </a:p>
        </p:txBody>
      </p:sp>
      <p:sp>
        <p:nvSpPr>
          <p:cNvPr id="19459" name="Rectangle 4" descr="Rectangle: Click to edit Master text styles&#13;&#10;Second level&#13;&#10;Third level&#13;&#10;Fourth level&#13;&#10;Fifth level"/>
          <p:cNvSpPr>
            <a:spLocks noGrp="1"/>
          </p:cNvSpPr>
          <p:nvPr>
            <p:ph idx="4294967295"/>
          </p:nvPr>
        </p:nvSpPr>
        <p:spPr>
          <a:xfrm>
            <a:off x="1511300" y="5231130"/>
            <a:ext cx="7632700" cy="762000"/>
          </a:xfrm>
        </p:spPr>
        <p:txBody>
          <a:bodyPr wrap="square" lIns="91440" tIns="45720" rIns="91440" bIns="45720" anchor="t" anchorCtr="0"/>
          <a:p>
            <a:pPr eaLnBrk="1" hangingPunct="1">
              <a:buNone/>
            </a:pPr>
            <a:r>
              <a:rPr lang="zh-CN" altLang="zh-CN" sz="2800" b="1" dirty="0"/>
              <a:t>   </a:t>
            </a:r>
            <a:r>
              <a:rPr lang="zh-CN" altLang="zh-CN" sz="2800" b="1" dirty="0">
                <a:latin typeface="楷体" panose="02010609060101010101" charset="-122"/>
                <a:ea typeface="楷体" panose="02010609060101010101" charset="-122"/>
                <a:cs typeface="楷体" panose="02010609060101010101" charset="-122"/>
              </a:rPr>
              <a:t>有极性             有极性(导通发光)</a:t>
            </a:r>
            <a:r>
              <a:rPr lang="zh-CN" altLang="zh-CN" sz="2800" b="1" dirty="0"/>
              <a:t> </a:t>
            </a:r>
            <a:endParaRPr lang="zh-CN" altLang="zh-CN" sz="2800" b="1" dirty="0"/>
          </a:p>
        </p:txBody>
      </p:sp>
      <p:pic>
        <p:nvPicPr>
          <p:cNvPr id="19460" name="Picture 5"/>
          <p:cNvPicPr>
            <a:picLocks noChangeAspect="1"/>
          </p:cNvPicPr>
          <p:nvPr/>
        </p:nvPicPr>
        <p:blipFill>
          <a:blip r:embed="rId2"/>
          <a:stretch>
            <a:fillRect/>
          </a:stretch>
        </p:blipFill>
        <p:spPr>
          <a:xfrm>
            <a:off x="5551488" y="3818255"/>
            <a:ext cx="2719387" cy="1265238"/>
          </a:xfrm>
          <a:prstGeom prst="rect">
            <a:avLst/>
          </a:prstGeom>
          <a:noFill/>
          <a:ln w="9525">
            <a:noFill/>
          </a:ln>
        </p:spPr>
      </p:pic>
      <p:pic>
        <p:nvPicPr>
          <p:cNvPr id="13318" name="Picture 6" descr="diode"/>
          <p:cNvPicPr>
            <a:picLocks noChangeAspect="1"/>
          </p:cNvPicPr>
          <p:nvPr/>
        </p:nvPicPr>
        <p:blipFill>
          <a:blip r:embed="rId3"/>
          <a:stretch>
            <a:fillRect/>
          </a:stretch>
        </p:blipFill>
        <p:spPr>
          <a:xfrm>
            <a:off x="900113" y="887730"/>
            <a:ext cx="4373562" cy="3281363"/>
          </a:xfrm>
          <a:prstGeom prst="rect">
            <a:avLst/>
          </a:prstGeom>
          <a:noFill/>
          <a:ln w="9525">
            <a:noFill/>
          </a:ln>
        </p:spPr>
      </p:pic>
      <p:pic>
        <p:nvPicPr>
          <p:cNvPr id="19462" name="Picture 7" descr="led"/>
          <p:cNvPicPr>
            <a:picLocks noChangeAspect="1"/>
          </p:cNvPicPr>
          <p:nvPr/>
        </p:nvPicPr>
        <p:blipFill>
          <a:blip r:embed="rId4"/>
          <a:stretch>
            <a:fillRect/>
          </a:stretch>
        </p:blipFill>
        <p:spPr>
          <a:xfrm>
            <a:off x="5580063" y="1343343"/>
            <a:ext cx="2425700" cy="2352675"/>
          </a:xfrm>
          <a:prstGeom prst="rect">
            <a:avLst/>
          </a:prstGeom>
          <a:noFill/>
          <a:ln w="9525">
            <a:noFill/>
          </a:ln>
        </p:spPr>
      </p:pic>
      <p:sp>
        <p:nvSpPr>
          <p:cNvPr id="19463" name="Line 8"/>
          <p:cNvSpPr/>
          <p:nvPr/>
        </p:nvSpPr>
        <p:spPr>
          <a:xfrm flipH="1">
            <a:off x="3432175" y="3091180"/>
            <a:ext cx="620713" cy="147638"/>
          </a:xfrm>
          <a:prstGeom prst="line">
            <a:avLst/>
          </a:prstGeom>
          <a:ln w="38100" cap="flat" cmpd="sng">
            <a:solidFill>
              <a:schemeClr val="hlink"/>
            </a:solidFill>
            <a:prstDash val="solid"/>
            <a:round/>
            <a:headEnd type="none" w="med" len="med"/>
            <a:tailEnd type="arrow" w="med" len="med"/>
          </a:ln>
        </p:spPr>
      </p:sp>
      <p:sp>
        <p:nvSpPr>
          <p:cNvPr id="19464" name="Text Box 9"/>
          <p:cNvSpPr txBox="1"/>
          <p:nvPr/>
        </p:nvSpPr>
        <p:spPr>
          <a:xfrm>
            <a:off x="4035425" y="2616518"/>
            <a:ext cx="1208088" cy="1476375"/>
          </a:xfrm>
          <a:prstGeom prst="rect">
            <a:avLst/>
          </a:prstGeom>
          <a:noFill/>
          <a:ln w="38100" cap="flat" cmpd="sng">
            <a:solidFill>
              <a:srgbClr val="FF0000"/>
            </a:solidFill>
            <a:prstDash val="solid"/>
            <a:miter/>
            <a:headEnd type="none" w="med" len="med"/>
            <a:tailEnd type="none" w="med" len="med"/>
          </a:ln>
        </p:spPr>
        <p:txBody>
          <a:bodyPr anchor="t" anchorCtr="0">
            <a:spAutoFit/>
          </a:bodyPr>
          <a:p>
            <a:pPr algn="ctr"/>
            <a:r>
              <a:rPr lang="zh-CN" altLang="zh-CN" b="1" dirty="0">
                <a:latin typeface="宋体" panose="02010600030101010101" pitchFamily="2" charset="-122"/>
                <a:ea typeface="宋体" panose="02010600030101010101" pitchFamily="2" charset="-122"/>
              </a:rPr>
              <a:t>发放的有</a:t>
            </a:r>
            <a:endParaRPr lang="zh-CN" altLang="zh-CN" b="1" dirty="0">
              <a:latin typeface="宋体" panose="02010600030101010101" pitchFamily="2" charset="-122"/>
              <a:ea typeface="宋体" panose="02010600030101010101" pitchFamily="2" charset="-122"/>
            </a:endParaRPr>
          </a:p>
          <a:p>
            <a:pPr algn="ctr"/>
            <a:r>
              <a:rPr lang="zh-CN" altLang="zh-CN" b="1" dirty="0">
                <a:latin typeface="宋体" panose="02010600030101010101" pitchFamily="2" charset="-122"/>
                <a:ea typeface="宋体" panose="02010600030101010101" pitchFamily="2" charset="-122"/>
              </a:rPr>
              <a:t>2AP7</a:t>
            </a:r>
            <a:endParaRPr lang="zh-CN" altLang="zh-CN" b="1" dirty="0">
              <a:latin typeface="宋体" panose="02010600030101010101" pitchFamily="2" charset="-122"/>
              <a:ea typeface="宋体" panose="02010600030101010101" pitchFamily="2" charset="-122"/>
            </a:endParaRPr>
          </a:p>
          <a:p>
            <a:pPr algn="ctr"/>
            <a:r>
              <a:rPr lang="zh-CN" altLang="zh-CN" b="1" dirty="0">
                <a:latin typeface="宋体" panose="02010600030101010101" pitchFamily="2" charset="-122"/>
                <a:ea typeface="宋体" panose="02010600030101010101" pitchFamily="2" charset="-122"/>
              </a:rPr>
              <a:t>2CP6</a:t>
            </a:r>
            <a:endParaRPr lang="zh-CN" altLang="zh-CN" b="1" dirty="0">
              <a:latin typeface="宋体" panose="02010600030101010101" pitchFamily="2" charset="-122"/>
              <a:ea typeface="宋体" panose="02010600030101010101" pitchFamily="2" charset="-122"/>
            </a:endParaRPr>
          </a:p>
          <a:p>
            <a:pPr algn="ctr"/>
            <a:r>
              <a:rPr lang="zh-CN" altLang="zh-CN" b="1" dirty="0">
                <a:latin typeface="宋体" panose="02010600030101010101" pitchFamily="2" charset="-122"/>
                <a:ea typeface="宋体" panose="02010600030101010101" pitchFamily="2" charset="-122"/>
              </a:rPr>
              <a:t>及稳压管2CW7</a:t>
            </a:r>
            <a:endParaRPr lang="zh-CN" altLang="zh-CN" b="1"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7"/>
                                        </p:tgtEl>
                                        <p:attrNameLst>
                                          <p:attrName>style.visibility</p:attrName>
                                        </p:attrNameLst>
                                      </p:cBhvr>
                                      <p:to>
                                        <p:strVal val="visible"/>
                                      </p:to>
                                    </p:set>
                                    <p:anim calcmode="lin" valueType="num">
                                      <p:cBhvr additive="base">
                                        <p:cTn id="7" dur="500" fill="hold"/>
                                        <p:tgtEl>
                                          <p:spTgt spid="19457"/>
                                        </p:tgtEl>
                                        <p:attrNameLst>
                                          <p:attrName>ppt_x</p:attrName>
                                        </p:attrNameLst>
                                      </p:cBhvr>
                                      <p:tavLst>
                                        <p:tav tm="0">
                                          <p:val>
                                            <p:strVal val="#ppt_x"/>
                                          </p:val>
                                        </p:tav>
                                        <p:tav tm="100000">
                                          <p:val>
                                            <p:strVal val="#ppt_x"/>
                                          </p:val>
                                        </p:tav>
                                      </p:tavLst>
                                    </p:anim>
                                    <p:anim calcmode="lin" valueType="num">
                                      <p:cBhvr additive="base">
                                        <p:cTn id="8" dur="500" fill="hold"/>
                                        <p:tgtEl>
                                          <p:spTgt spid="194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60"/>
                                        </p:tgtEl>
                                        <p:attrNameLst>
                                          <p:attrName>style.visibility</p:attrName>
                                        </p:attrNameLst>
                                      </p:cBhvr>
                                      <p:to>
                                        <p:strVal val="visible"/>
                                      </p:to>
                                    </p:set>
                                    <p:anim calcmode="lin" valueType="num">
                                      <p:cBhvr additive="base">
                                        <p:cTn id="13" dur="500" fill="hold"/>
                                        <p:tgtEl>
                                          <p:spTgt spid="19460"/>
                                        </p:tgtEl>
                                        <p:attrNameLst>
                                          <p:attrName>ppt_x</p:attrName>
                                        </p:attrNameLst>
                                      </p:cBhvr>
                                      <p:tavLst>
                                        <p:tav tm="0">
                                          <p:val>
                                            <p:strVal val="#ppt_x"/>
                                          </p:val>
                                        </p:tav>
                                        <p:tav tm="100000">
                                          <p:val>
                                            <p:strVal val="#ppt_x"/>
                                          </p:val>
                                        </p:tav>
                                      </p:tavLst>
                                    </p:anim>
                                    <p:anim calcmode="lin" valueType="num">
                                      <p:cBhvr additive="base">
                                        <p:cTn id="14"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0" end="0"/>
                                            </p:txEl>
                                          </p:spTgt>
                                        </p:tgtEl>
                                        <p:attrNameLst>
                                          <p:attrName>style.visibility</p:attrName>
                                        </p:attrNameLst>
                                      </p:cBhvr>
                                      <p:to>
                                        <p:strVal val="visible"/>
                                      </p:to>
                                    </p:set>
                                    <p:anim calcmode="lin" valueType="num">
                                      <p:cBhvr additive="base">
                                        <p:cTn id="19"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1505" name="Picture 2"/>
          <p:cNvPicPr>
            <a:picLocks noChangeAspect="1"/>
          </p:cNvPicPr>
          <p:nvPr/>
        </p:nvPicPr>
        <p:blipFill>
          <a:blip r:embed="rId1"/>
          <a:stretch>
            <a:fillRect/>
          </a:stretch>
        </p:blipFill>
        <p:spPr>
          <a:xfrm>
            <a:off x="667068" y="803593"/>
            <a:ext cx="7969250" cy="5256212"/>
          </a:xfrm>
          <a:prstGeom prst="rect">
            <a:avLst/>
          </a:prstGeom>
          <a:noFill/>
          <a:ln w="9525">
            <a:noFill/>
          </a:ln>
        </p:spPr>
      </p:pic>
      <p:sp>
        <p:nvSpPr>
          <p:cNvPr id="15363" name="Rectangle 3" descr="Rectangle: Click to edit Master text styles&#13;&#10;Second level&#13;&#10;Third level&#13;&#10;Fourth level&#13;&#10;Fifth level"/>
          <p:cNvSpPr/>
          <p:nvPr/>
        </p:nvSpPr>
        <p:spPr>
          <a:xfrm>
            <a:off x="770255" y="3728085"/>
            <a:ext cx="7733030" cy="1061720"/>
          </a:xfrm>
          <a:prstGeom prst="rect">
            <a:avLst/>
          </a:prstGeom>
          <a:solidFill>
            <a:schemeClr val="bg1"/>
          </a:solidFill>
          <a:ln w="9525">
            <a:noFill/>
          </a:ln>
        </p:spPr>
        <p:txBody>
          <a:bodyPr anchor="t" anchorCtr="0"/>
          <a:p>
            <a:pPr>
              <a:lnSpc>
                <a:spcPct val="125000"/>
              </a:lnSpc>
              <a:spcBef>
                <a:spcPts val="0"/>
              </a:spcBef>
              <a:buClr>
                <a:schemeClr val="folHlink"/>
              </a:buClr>
              <a:buSzPct val="60000"/>
              <a:buFont typeface="Wingdings" panose="05000000000000000000" pitchFamily="2" charset="2"/>
            </a:pPr>
            <a:r>
              <a:rPr lang="zh-CN" altLang="zh-CN" sz="2400" b="1" dirty="0">
                <a:latin typeface="Tahoma" panose="020B0604030504040204" pitchFamily="34" charset="0"/>
                <a:ea typeface="宋体" panose="02010600030101010101" pitchFamily="2" charset="-122"/>
              </a:rPr>
              <a:t>   </a:t>
            </a:r>
            <a:r>
              <a:rPr lang="en-US" altLang="zh-CN" sz="2400" b="1" dirty="0">
                <a:latin typeface="Tahoma" panose="020B0604030504040204" pitchFamily="34"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极性</a:t>
            </a:r>
            <a:r>
              <a:rPr lang="zh-CN" altLang="zh-CN" sz="2400" b="1" dirty="0">
                <a:latin typeface="Tahoma" panose="020B0604030504040204" pitchFamily="34" charset="0"/>
                <a:ea typeface="宋体" panose="02010600030101010101" pitchFamily="2" charset="-122"/>
              </a:rPr>
              <a:t>以万用表测量为准，注意如果用</a:t>
            </a:r>
            <a:r>
              <a:rPr lang="zh-CN" altLang="zh-CN" sz="2400" b="1" dirty="0">
                <a:solidFill>
                  <a:schemeClr val="tx2"/>
                </a:solidFill>
                <a:latin typeface="Tahoma" panose="020B0604030504040204" pitchFamily="34" charset="0"/>
                <a:ea typeface="宋体" panose="02010600030101010101" pitchFamily="2" charset="-122"/>
              </a:rPr>
              <a:t>数字万用表</a:t>
            </a:r>
            <a:r>
              <a:rPr lang="zh-CN" altLang="zh-CN" sz="2400" b="1" dirty="0">
                <a:latin typeface="Tahoma" panose="020B0604030504040204" pitchFamily="34" charset="0"/>
                <a:ea typeface="宋体" panose="02010600030101010101" pitchFamily="2" charset="-122"/>
              </a:rPr>
              <a:t>测量，少用小电阻档测</a:t>
            </a:r>
            <a:endParaRPr lang="zh-CN" altLang="zh-CN" sz="2400" b="1" dirty="0">
              <a:latin typeface="Tahoma" panose="020B0604030504040204" pitchFamily="34" charset="0"/>
              <a:ea typeface="楷体_GB2312" pitchFamily="49" charset="-122"/>
            </a:endParaRPr>
          </a:p>
        </p:txBody>
      </p:sp>
      <p:sp>
        <p:nvSpPr>
          <p:cNvPr id="21507" name="Rectangle 4"/>
          <p:cNvSpPr>
            <a:spLocks noGrp="1"/>
          </p:cNvSpPr>
          <p:nvPr>
            <p:ph type="title" idx="4294967295"/>
          </p:nvPr>
        </p:nvSpPr>
        <p:spPr>
          <a:xfrm>
            <a:off x="0" y="-26035"/>
            <a:ext cx="8229600" cy="777875"/>
          </a:xfrm>
        </p:spPr>
        <p:txBody>
          <a:bodyPr wrap="square" lIns="91440" tIns="45720" rIns="91440" bIns="45720" anchor="b" anchorCtr="0"/>
          <a:p>
            <a:pPr eaLnBrk="1" hangingPunct="1"/>
            <a:r>
              <a:rPr lang="zh-CN" altLang="zh-CN" sz="4000" b="1" dirty="0">
                <a:ea typeface="楷体_GB2312" pitchFamily="49" charset="-122"/>
              </a:rPr>
              <a:t>二极管极性分辨方法</a:t>
            </a:r>
            <a:r>
              <a:rPr lang="zh-CN" altLang="zh-CN" sz="4000" b="1" dirty="0">
                <a:solidFill>
                  <a:srgbClr val="0000FF"/>
                </a:solidFill>
                <a:effectLst/>
                <a:latin typeface="宋体" panose="02010600030101010101" pitchFamily="2" charset="-122"/>
                <a:ea typeface="宋体" panose="02010600030101010101" pitchFamily="2" charset="-122"/>
              </a:rPr>
              <a:t>－万用表测</a:t>
            </a:r>
            <a:endParaRPr lang="zh-CN" altLang="zh-CN" sz="4000" b="1" dirty="0">
              <a:solidFill>
                <a:srgbClr val="0000FF"/>
              </a:solidFill>
              <a:effectLst/>
              <a:latin typeface="宋体" panose="02010600030101010101" pitchFamily="2" charset="-122"/>
              <a:ea typeface="宋体" panose="02010600030101010101" pitchFamily="2" charset="-122"/>
            </a:endParaRPr>
          </a:p>
        </p:txBody>
      </p:sp>
      <p:sp>
        <p:nvSpPr>
          <p:cNvPr id="2" name="文本框 1"/>
          <p:cNvSpPr txBox="1"/>
          <p:nvPr/>
        </p:nvSpPr>
        <p:spPr>
          <a:xfrm>
            <a:off x="770255" y="4817745"/>
            <a:ext cx="7733030" cy="1014730"/>
          </a:xfrm>
          <a:prstGeom prst="rect">
            <a:avLst/>
          </a:prstGeom>
          <a:solidFill>
            <a:schemeClr val="bg1"/>
          </a:solidFill>
        </p:spPr>
        <p:txBody>
          <a:bodyPr wrap="square" rtlCol="0" anchor="t">
            <a:spAutoFit/>
          </a:bodyPr>
          <a:p>
            <a:pPr>
              <a:lnSpc>
                <a:spcPct val="125000"/>
              </a:lnSpc>
            </a:pPr>
            <a:r>
              <a:rPr lang="en-US" altLang="zh-CN" sz="2400" b="1" dirty="0">
                <a:solidFill>
                  <a:srgbClr val="FF0000"/>
                </a:solidFill>
                <a:sym typeface="+mn-ea"/>
              </a:rPr>
              <a:t>   </a:t>
            </a:r>
            <a:r>
              <a:rPr lang="zh-CN" altLang="zh-CN" sz="2400" b="1" dirty="0">
                <a:solidFill>
                  <a:srgbClr val="FF0000"/>
                </a:solidFill>
                <a:sym typeface="+mn-ea"/>
              </a:rPr>
              <a:t>测</a:t>
            </a:r>
            <a:r>
              <a:rPr lang="zh-CN" altLang="zh-CN" sz="2400" b="1" dirty="0">
                <a:solidFill>
                  <a:srgbClr val="FF0000"/>
                </a:solidFill>
                <a:latin typeface="Times New Roman" panose="02020603050405020304" pitchFamily="18" charset="0"/>
                <a:cs typeface="Times New Roman" panose="02020603050405020304" pitchFamily="18" charset="0"/>
                <a:sym typeface="+mn-ea"/>
              </a:rPr>
              <a:t>PN</a:t>
            </a:r>
            <a:r>
              <a:rPr lang="zh-CN" altLang="zh-CN" sz="2400" b="1" dirty="0">
                <a:solidFill>
                  <a:srgbClr val="FF0000"/>
                </a:solidFill>
                <a:sym typeface="+mn-ea"/>
              </a:rPr>
              <a:t>结的专用档位</a:t>
            </a:r>
            <a:r>
              <a:rPr lang="zh-CN" altLang="zh-CN" sz="2400" b="1" dirty="0">
                <a:sym typeface="+mn-ea"/>
              </a:rPr>
              <a:t>（有二极管符号）：</a:t>
            </a:r>
            <a:endParaRPr lang="zh-CN" altLang="zh-CN" sz="2400" b="1" dirty="0">
              <a:sym typeface="+mn-ea"/>
            </a:endParaRPr>
          </a:p>
          <a:p>
            <a:pPr>
              <a:lnSpc>
                <a:spcPct val="125000"/>
              </a:lnSpc>
            </a:pPr>
            <a:r>
              <a:rPr lang="zh-CN" altLang="zh-CN" sz="2400" b="1" dirty="0">
                <a:ea typeface="楷体_GB2312" pitchFamily="49" charset="-122"/>
                <a:sym typeface="+mn-ea"/>
              </a:rPr>
              <a:t>负向显示无穷大；正向显示导通电压（</a:t>
            </a:r>
            <a:r>
              <a:rPr lang="zh-CN" altLang="zh-CN" sz="2400" b="1" dirty="0">
                <a:solidFill>
                  <a:srgbClr val="FF0000"/>
                </a:solidFill>
                <a:ea typeface="楷体_GB2312" pitchFamily="49" charset="-122"/>
                <a:sym typeface="+mn-ea"/>
              </a:rPr>
              <a:t>红表</a:t>
            </a:r>
            <a:r>
              <a:rPr lang="zh-CN" altLang="zh-CN" sz="2400" b="1" dirty="0">
                <a:ea typeface="楷体_GB2312" pitchFamily="49" charset="-122"/>
                <a:sym typeface="+mn-ea"/>
              </a:rPr>
              <a:t>笔端即</a:t>
            </a:r>
            <a:r>
              <a:rPr lang="zh-CN" altLang="zh-CN" sz="2400" b="1" dirty="0">
                <a:solidFill>
                  <a:srgbClr val="FF0000"/>
                </a:solidFill>
                <a:latin typeface="Times New Roman" panose="02020603050405020304" pitchFamily="18" charset="0"/>
                <a:ea typeface="楷体_GB2312" pitchFamily="49" charset="-122"/>
                <a:cs typeface="Times New Roman" panose="02020603050405020304" pitchFamily="18" charset="0"/>
                <a:sym typeface="+mn-ea"/>
              </a:rPr>
              <a:t>P</a:t>
            </a:r>
            <a:r>
              <a:rPr lang="zh-CN" altLang="zh-CN" sz="2400" b="1" dirty="0">
                <a:ea typeface="楷体_GB2312" pitchFamily="49" charset="-122"/>
                <a:sym typeface="+mn-ea"/>
              </a:rPr>
              <a:t>极）</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ldLvl="0" animBg="1"/>
      <p:bldP spid="2"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2529" name="Rectangle 2"/>
          <p:cNvSpPr>
            <a:spLocks noGrp="1"/>
          </p:cNvSpPr>
          <p:nvPr>
            <p:ph type="title" idx="4294967295"/>
          </p:nvPr>
        </p:nvSpPr>
        <p:spPr>
          <a:xfrm>
            <a:off x="899160" y="-171450"/>
            <a:ext cx="7922895" cy="982345"/>
          </a:xfrm>
        </p:spPr>
        <p:txBody>
          <a:bodyPr wrap="square" lIns="91440" tIns="45720" rIns="91440" bIns="45720" anchor="b" anchorCtr="0"/>
          <a:p>
            <a:pPr eaLnBrk="1" hangingPunct="1"/>
            <a:r>
              <a:rPr lang="zh-CN" altLang="zh-CN" sz="4000" b="1" dirty="0">
                <a:effectLst/>
                <a:ea typeface="楷体_GB2312" pitchFamily="49" charset="-122"/>
              </a:rPr>
              <a:t>二极管测量及正向导通电压</a:t>
            </a:r>
            <a:endParaRPr lang="zh-CN" altLang="zh-CN" sz="4000" b="1" dirty="0">
              <a:effectLst/>
              <a:ea typeface="楷体_GB2312" pitchFamily="49" charset="-122"/>
            </a:endParaRPr>
          </a:p>
        </p:txBody>
      </p:sp>
      <p:pic>
        <p:nvPicPr>
          <p:cNvPr id="22530" name="Picture 3"/>
          <p:cNvPicPr>
            <a:picLocks noChangeAspect="1"/>
          </p:cNvPicPr>
          <p:nvPr/>
        </p:nvPicPr>
        <p:blipFill>
          <a:blip r:embed="rId1"/>
          <a:stretch>
            <a:fillRect/>
          </a:stretch>
        </p:blipFill>
        <p:spPr>
          <a:xfrm>
            <a:off x="2317750" y="826453"/>
            <a:ext cx="6586538" cy="5376862"/>
          </a:xfrm>
          <a:prstGeom prst="rect">
            <a:avLst/>
          </a:prstGeom>
          <a:noFill/>
          <a:ln w="9525">
            <a:noFill/>
          </a:ln>
        </p:spPr>
      </p:pic>
      <p:sp>
        <p:nvSpPr>
          <p:cNvPr id="19459" name="Text Box 4"/>
          <p:cNvSpPr txBox="1"/>
          <p:nvPr/>
        </p:nvSpPr>
        <p:spPr>
          <a:xfrm>
            <a:off x="188913" y="1289685"/>
            <a:ext cx="2236787" cy="3907790"/>
          </a:xfrm>
          <a:prstGeom prst="rect">
            <a:avLst/>
          </a:prstGeom>
          <a:noFill/>
          <a:ln w="9525">
            <a:noFill/>
          </a:ln>
        </p:spPr>
        <p:txBody>
          <a:bodyPr anchor="t" anchorCtr="0">
            <a:spAutoFit/>
          </a:bodyPr>
          <a:p>
            <a:pPr>
              <a:spcBef>
                <a:spcPct val="50000"/>
              </a:spcBef>
            </a:pPr>
            <a:r>
              <a:rPr lang="zh-CN" altLang="zh-CN" sz="3200" b="1" dirty="0">
                <a:latin typeface="宋体" panose="02010600030101010101" pitchFamily="2" charset="-122"/>
              </a:rPr>
              <a:t>导通电压</a:t>
            </a:r>
            <a:r>
              <a:rPr lang="zh-CN" altLang="zh-CN" sz="3200" b="1" dirty="0">
                <a:latin typeface="Tahoma" panose="020B0604030504040204" pitchFamily="34" charset="0"/>
                <a:ea typeface="宋体" panose="02010600030101010101" pitchFamily="2" charset="-122"/>
              </a:rPr>
              <a:t>：</a:t>
            </a:r>
            <a:endParaRPr lang="zh-CN" altLang="zh-CN" sz="3200" b="1" dirty="0">
              <a:latin typeface="Tahoma" panose="020B0604030504040204" pitchFamily="34" charset="0"/>
              <a:ea typeface="宋体" panose="02010600030101010101" pitchFamily="2" charset="-122"/>
            </a:endParaRPr>
          </a:p>
          <a:p>
            <a:pPr marL="342900" indent="-342900">
              <a:spcBef>
                <a:spcPct val="50000"/>
              </a:spcBef>
              <a:buFont typeface="Wingdings" panose="05000000000000000000" charset="0"/>
              <a:buChar char="l"/>
            </a:pPr>
            <a:r>
              <a:rPr lang="zh-CN" altLang="zh-CN" sz="2400" b="1" dirty="0">
                <a:solidFill>
                  <a:srgbClr val="FF0000"/>
                </a:solidFill>
                <a:latin typeface="楷体" panose="02010609060101010101" charset="-122"/>
                <a:ea typeface="楷体" panose="02010609060101010101" charset="-122"/>
              </a:rPr>
              <a:t>硅二极管</a:t>
            </a:r>
            <a:endParaRPr lang="zh-CN" altLang="zh-CN" sz="2400" b="1" dirty="0">
              <a:solidFill>
                <a:srgbClr val="FF0000"/>
              </a:solidFill>
              <a:latin typeface="楷体" panose="02010609060101010101" charset="-122"/>
              <a:ea typeface="楷体" panose="02010609060101010101" charset="-122"/>
            </a:endParaRPr>
          </a:p>
          <a:p>
            <a:pPr>
              <a:spcBef>
                <a:spcPct val="50000"/>
              </a:spcBef>
            </a:pPr>
            <a:r>
              <a:rPr lang="zh-CN" altLang="zh-CN" sz="2400" b="1" dirty="0">
                <a:solidFill>
                  <a:srgbClr val="FF0000"/>
                </a:solidFill>
                <a:latin typeface="Tahoma" panose="020B0604030504040204" pitchFamily="34" charset="0"/>
                <a:ea typeface="宋体" panose="02010600030101010101" pitchFamily="2" charset="-122"/>
              </a:rPr>
              <a:t>   </a:t>
            </a:r>
            <a:r>
              <a:rPr lang="zh-CN"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0.6~0.7V</a:t>
            </a:r>
            <a:endParaRPr lang="zh-CN" altLang="zh-CN" sz="2400" b="1" dirty="0">
              <a:solidFill>
                <a:srgbClr val="FF0000"/>
              </a:solidFill>
              <a:latin typeface="Tahoma" panose="020B0604030504040204" pitchFamily="34" charset="0"/>
              <a:ea typeface="宋体" panose="02010600030101010101" pitchFamily="2" charset="-122"/>
            </a:endParaRPr>
          </a:p>
          <a:p>
            <a:pPr marL="342900" indent="-342900">
              <a:spcBef>
                <a:spcPct val="50000"/>
              </a:spcBef>
              <a:buFont typeface="Wingdings" panose="05000000000000000000" charset="0"/>
              <a:buChar char="l"/>
            </a:pPr>
            <a:r>
              <a:rPr lang="zh-CN" altLang="zh-CN" sz="2400" b="1" dirty="0">
                <a:solidFill>
                  <a:schemeClr val="tx1"/>
                </a:solidFill>
                <a:latin typeface="楷体" panose="02010609060101010101" charset="-122"/>
                <a:ea typeface="楷体" panose="02010609060101010101" charset="-122"/>
              </a:rPr>
              <a:t>锗二极管</a:t>
            </a:r>
            <a:endParaRPr lang="zh-CN" altLang="zh-CN" sz="2400" b="1" dirty="0">
              <a:solidFill>
                <a:schemeClr val="tx1"/>
              </a:solidFill>
              <a:latin typeface="楷体" panose="02010609060101010101" charset="-122"/>
              <a:ea typeface="楷体" panose="02010609060101010101" charset="-122"/>
            </a:endParaRPr>
          </a:p>
          <a:p>
            <a:pPr>
              <a:spcBef>
                <a:spcPct val="50000"/>
              </a:spcBef>
            </a:pPr>
            <a:r>
              <a:rPr lang="zh-CN" altLang="zh-CN" sz="2400" b="1" dirty="0">
                <a:solidFill>
                  <a:schemeClr val="tx1"/>
                </a:solidFill>
                <a:latin typeface="Tahoma" panose="020B0604030504040204" pitchFamily="34" charset="0"/>
                <a:ea typeface="宋体" panose="02010600030101010101" pitchFamily="2" charset="-122"/>
              </a:rPr>
              <a:t>   </a:t>
            </a:r>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0.2~0.3V</a:t>
            </a:r>
            <a:endParaRPr lang="zh-CN" altLang="zh-CN" sz="2400" b="1" dirty="0">
              <a:solidFill>
                <a:schemeClr val="tx1"/>
              </a:solidFill>
              <a:latin typeface="Tahoma" panose="020B0604030504040204" pitchFamily="34" charset="0"/>
              <a:ea typeface="宋体" panose="02010600030101010101" pitchFamily="2" charset="-122"/>
            </a:endParaRPr>
          </a:p>
          <a:p>
            <a:pPr marL="342900" indent="-342900">
              <a:spcBef>
                <a:spcPct val="50000"/>
              </a:spcBef>
              <a:buFont typeface="Wingdings" panose="05000000000000000000" charset="0"/>
              <a:buChar char="l"/>
            </a:pPr>
            <a:r>
              <a:rPr lang="zh-CN" altLang="zh-CN" sz="2400" b="1" dirty="0">
                <a:latin typeface="楷体" panose="02010609060101010101" charset="-122"/>
                <a:ea typeface="楷体" panose="02010609060101010101" charset="-122"/>
              </a:rPr>
              <a:t>发光二极管</a:t>
            </a:r>
            <a:endParaRPr lang="zh-CN" altLang="zh-CN" sz="2400" b="1" dirty="0">
              <a:latin typeface="楷体" panose="02010609060101010101" charset="-122"/>
              <a:ea typeface="楷体" panose="02010609060101010101" charset="-122"/>
            </a:endParaRPr>
          </a:p>
          <a:p>
            <a:pPr>
              <a:spcBef>
                <a:spcPct val="50000"/>
              </a:spcBef>
            </a:pPr>
            <a:r>
              <a:rPr lang="zh-CN" altLang="zh-CN" sz="2400" b="1" dirty="0">
                <a:latin typeface="Tahoma" panose="020B0604030504040204" pitchFamily="34"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cs typeface="Times New Roman" panose="02020603050405020304" pitchFamily="18" charset="0"/>
              </a:rPr>
              <a:t>1.7V</a:t>
            </a:r>
            <a:r>
              <a:rPr lang="zh-CN" altLang="zh-CN" sz="2400" b="1" dirty="0">
                <a:latin typeface="楷体" panose="02010609060101010101" charset="-122"/>
                <a:ea typeface="楷体" panose="02010609060101010101" charset="-122"/>
              </a:rPr>
              <a:t>左右</a:t>
            </a:r>
            <a:endParaRPr lang="zh-CN" altLang="zh-CN" sz="2400" b="1" dirty="0">
              <a:solidFill>
                <a:srgbClr val="006600"/>
              </a:solidFill>
              <a:latin typeface="楷体" panose="02010609060101010101" charset="-122"/>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wipe(down)">
                                      <p:cBhvr>
                                        <p:cTn id="7" dur="500"/>
                                        <p:tgtEl>
                                          <p:spTgt spid="1945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wipe(down)">
                                      <p:cBhvr>
                                        <p:cTn id="10" dur="5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 calcmode="lin" valueType="num">
                                      <p:cBhvr additive="base">
                                        <p:cTn id="1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4" end="4"/>
                                            </p:txEl>
                                          </p:spTgt>
                                        </p:tgtEl>
                                        <p:attrNameLst>
                                          <p:attrName>style.visibility</p:attrName>
                                        </p:attrNameLst>
                                      </p:cBhvr>
                                      <p:to>
                                        <p:strVal val="visible"/>
                                      </p:to>
                                    </p:set>
                                    <p:anim calcmode="lin" valueType="num">
                                      <p:cBhvr additive="base">
                                        <p:cTn id="19"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459">
                                            <p:txEl>
                                              <p:charRg st="41" end="47"/>
                                            </p:txEl>
                                          </p:spTgt>
                                        </p:tgtEl>
                                        <p:attrNameLst>
                                          <p:attrName>style.visibility</p:attrName>
                                        </p:attrNameLst>
                                      </p:cBhvr>
                                      <p:to>
                                        <p:strVal val="visible"/>
                                      </p:to>
                                    </p:set>
                                    <p:anim calcmode="lin" valueType="num">
                                      <p:cBhvr additive="base">
                                        <p:cTn id="25" dur="500" fill="hold"/>
                                        <p:tgtEl>
                                          <p:spTgt spid="19459">
                                            <p:txEl>
                                              <p:charRg st="41" end="4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charRg st="41" end="4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9459">
                                            <p:txEl>
                                              <p:charRg st="47" end="58"/>
                                            </p:txEl>
                                          </p:spTgt>
                                        </p:tgtEl>
                                        <p:attrNameLst>
                                          <p:attrName>style.visibility</p:attrName>
                                        </p:attrNameLst>
                                      </p:cBhvr>
                                      <p:to>
                                        <p:strVal val="visible"/>
                                      </p:to>
                                    </p:set>
                                    <p:anim calcmode="lin" valueType="num">
                                      <p:cBhvr additive="base">
                                        <p:cTn id="29" dur="500" fill="hold"/>
                                        <p:tgtEl>
                                          <p:spTgt spid="19459">
                                            <p:txEl>
                                              <p:charRg st="47" end="5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charRg st="47" end="5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3553" name="Rectangle 2"/>
          <p:cNvSpPr>
            <a:spLocks noGrp="1"/>
          </p:cNvSpPr>
          <p:nvPr>
            <p:ph type="title" idx="4294967295"/>
          </p:nvPr>
        </p:nvSpPr>
        <p:spPr>
          <a:xfrm>
            <a:off x="0" y="-26035"/>
            <a:ext cx="8229600" cy="777875"/>
          </a:xfrm>
        </p:spPr>
        <p:txBody>
          <a:bodyPr wrap="square" lIns="91440" tIns="45720" rIns="91440" bIns="45720" anchor="b" anchorCtr="0"/>
          <a:p>
            <a:pPr eaLnBrk="1" hangingPunct="1"/>
            <a:r>
              <a:rPr lang="zh-CN" altLang="zh-CN" b="1" dirty="0">
                <a:ea typeface="楷体_GB2312" pitchFamily="49" charset="-122"/>
              </a:rPr>
              <a:t>发光二极管的使用</a:t>
            </a:r>
            <a:endParaRPr lang="zh-CN" altLang="zh-CN" b="1" dirty="0">
              <a:ea typeface="楷体_GB2312" pitchFamily="49" charset="-122"/>
            </a:endParaRPr>
          </a:p>
        </p:txBody>
      </p:sp>
      <p:sp>
        <p:nvSpPr>
          <p:cNvPr id="19458" name="Rectangle 3"/>
          <p:cNvSpPr>
            <a:spLocks noGrp="1"/>
          </p:cNvSpPr>
          <p:nvPr>
            <p:ph idx="4294967295"/>
          </p:nvPr>
        </p:nvSpPr>
        <p:spPr>
          <a:xfrm>
            <a:off x="430530" y="1017905"/>
            <a:ext cx="6335395" cy="4537075"/>
          </a:xfrm>
        </p:spPr>
        <p:txBody>
          <a:bodyPr wrap="square" lIns="91440" tIns="45720" rIns="91440" bIns="45720" anchor="t"/>
          <a:p>
            <a:pPr marR="0" algn="l" defTabSz="914400" rtl="0" eaLnBrk="1" fontAlgn="base" latinLnBrk="0" hangingPunct="1">
              <a:lnSpc>
                <a:spcPct val="120000"/>
              </a:lnSpc>
              <a:spcBef>
                <a:spcPct val="20000"/>
              </a:spcBef>
              <a:spcAft>
                <a:spcPct val="0"/>
              </a:spcAft>
              <a:buClr>
                <a:srgbClr val="FF0000"/>
              </a:buClr>
              <a:buSzPct val="100000"/>
              <a:buFont typeface="Wingdings" panose="05000000000000000000" charset="0"/>
              <a:buChar char="l"/>
            </a:pPr>
            <a:r>
              <a:rPr kumimoji="0" lang="zh-CN" altLang="zh-CN" sz="2800" b="1" i="0" u="none" strike="noStrike" kern="0" cap="none" spc="0" normalizeH="0" baseline="0" noProof="1" dirty="0">
                <a:solidFill>
                  <a:srgbClr val="FF0000"/>
                </a:solidFill>
                <a:latin typeface="楷体" panose="02010609060101010101" charset="-122"/>
                <a:ea typeface="楷体" panose="02010609060101010101" charset="-122"/>
                <a:cs typeface="+mn-cs"/>
              </a:rPr>
              <a:t>管压降：</a:t>
            </a:r>
            <a:r>
              <a:rPr kumimoji="0" lang="zh-CN" altLang="zh-CN" sz="2400" b="1" i="0" u="none" strike="noStrike" kern="0" cap="none" spc="0" normalizeH="0" baseline="0" noProof="1" dirty="0">
                <a:solidFill>
                  <a:srgbClr val="FF0000"/>
                </a:solidFill>
                <a:latin typeface="Times New Roman" panose="02020603050405020304" pitchFamily="18" charset="0"/>
                <a:ea typeface="+mn-ea"/>
                <a:cs typeface="+mn-cs"/>
              </a:rPr>
              <a:t>1.7V</a:t>
            </a:r>
            <a:r>
              <a:rPr kumimoji="0" lang="zh-CN" altLang="zh-CN" sz="2400" b="1" i="0" u="none" strike="noStrike" kern="0" cap="none" spc="0" normalizeH="0" baseline="0" noProof="1" dirty="0">
                <a:solidFill>
                  <a:schemeClr val="tx1"/>
                </a:solidFill>
                <a:latin typeface="楷体" panose="02010609060101010101" charset="-122"/>
                <a:ea typeface="楷体" panose="02010609060101010101" charset="-122"/>
                <a:cs typeface="+mn-cs"/>
              </a:rPr>
              <a:t>左右</a:t>
            </a:r>
            <a:endParaRPr kumimoji="0" lang="zh-CN" altLang="zh-CN" sz="2800" b="1" i="0" u="none" strike="noStrike" kern="0" cap="none" spc="0" normalizeH="0" baseline="0" noProof="1" dirty="0">
              <a:solidFill>
                <a:schemeClr val="tx1"/>
              </a:solidFill>
              <a:latin typeface="Times New Roman" panose="02020603050405020304" pitchFamily="18" charset="0"/>
              <a:ea typeface="+mn-ea"/>
              <a:cs typeface="+mn-cs"/>
            </a:endParaRPr>
          </a:p>
          <a:p>
            <a:pPr marR="0" algn="l" defTabSz="914400" rtl="0" eaLnBrk="1" fontAlgn="base" latinLnBrk="0" hangingPunct="1">
              <a:lnSpc>
                <a:spcPct val="120000"/>
              </a:lnSpc>
              <a:spcBef>
                <a:spcPct val="20000"/>
              </a:spcBef>
              <a:spcAft>
                <a:spcPct val="0"/>
              </a:spcAft>
              <a:buClr>
                <a:srgbClr val="FF0000"/>
              </a:buClr>
              <a:buSzPct val="100000"/>
              <a:buFont typeface="Wingdings" panose="05000000000000000000" charset="0"/>
              <a:buChar char="l"/>
            </a:pPr>
            <a:r>
              <a:rPr kumimoji="0" lang="zh-CN" altLang="zh-CN" sz="2800" b="1" i="0" u="none" strike="noStrike" kern="0" cap="none" spc="0" normalizeH="0" baseline="0" noProof="1" dirty="0">
                <a:solidFill>
                  <a:srgbClr val="FF0000"/>
                </a:solidFill>
                <a:latin typeface="楷体" panose="02010609060101010101" charset="-122"/>
                <a:ea typeface="楷体" panose="02010609060101010101" charset="-122"/>
                <a:cs typeface="+mn-cs"/>
              </a:rPr>
              <a:t>导通电流：</a:t>
            </a:r>
            <a:r>
              <a:rPr kumimoji="0" lang="zh-CN" altLang="zh-CN" sz="2400" i="0" u="none" strike="noStrike" kern="0" cap="none" spc="0" normalizeH="0" baseline="0" noProof="1" dirty="0">
                <a:solidFill>
                  <a:srgbClr val="FF0000"/>
                </a:solidFill>
                <a:latin typeface="楷体" panose="02010609060101010101" charset="-122"/>
                <a:ea typeface="楷体" panose="02010609060101010101" charset="-122"/>
                <a:cs typeface="+mn-cs"/>
              </a:rPr>
              <a:t>限定</a:t>
            </a:r>
            <a:r>
              <a:rPr kumimoji="0" lang="zh-CN" altLang="zh-CN" sz="2400" i="0" u="none" strike="noStrike" kern="0" cap="none" spc="0" normalizeH="0" baseline="0" noProof="1" dirty="0">
                <a:solidFill>
                  <a:schemeClr val="tx1"/>
                </a:solidFill>
                <a:latin typeface="楷体" panose="02010609060101010101" charset="-122"/>
                <a:ea typeface="楷体" panose="02010609060101010101" charset="-122"/>
                <a:cs typeface="+mn-cs"/>
              </a:rPr>
              <a:t>在</a:t>
            </a:r>
            <a:r>
              <a:rPr kumimoji="0" lang="zh-CN" altLang="zh-CN" sz="2400" i="0" u="none" strike="noStrike" kern="0" cap="none" spc="0" normalizeH="0" baseline="0" noProof="1" dirty="0">
                <a:solidFill>
                  <a:schemeClr val="tx1"/>
                </a:solidFill>
                <a:latin typeface="Times New Roman" panose="02020603050405020304" pitchFamily="18" charset="0"/>
                <a:ea typeface="+mn-ea"/>
                <a:cs typeface="+mn-cs"/>
              </a:rPr>
              <a:t>20mA</a:t>
            </a:r>
            <a:r>
              <a:rPr kumimoji="0" lang="zh-CN" altLang="zh-CN" sz="2400" i="0" u="none" strike="noStrike" kern="0" cap="none" spc="0" normalizeH="0" baseline="0" noProof="1" dirty="0">
                <a:solidFill>
                  <a:schemeClr val="tx1"/>
                </a:solidFill>
                <a:latin typeface="楷体" panose="02010609060101010101" charset="-122"/>
                <a:ea typeface="楷体" panose="02010609060101010101" charset="-122"/>
                <a:cs typeface="+mn-cs"/>
              </a:rPr>
              <a:t>以下，太大会损</a:t>
            </a:r>
            <a:r>
              <a:rPr kumimoji="0" lang="en-US" altLang="zh-CN" sz="2400" i="0" u="none" strike="noStrike" kern="0" cap="none" spc="0" normalizeH="0" baseline="0" noProof="1" dirty="0">
                <a:solidFill>
                  <a:schemeClr val="tx1"/>
                </a:solidFill>
                <a:latin typeface="楷体" panose="02010609060101010101" charset="-122"/>
                <a:ea typeface="楷体" panose="02010609060101010101" charset="-122"/>
                <a:cs typeface="+mn-cs"/>
              </a:rPr>
              <a:t>   </a:t>
            </a:r>
            <a:endParaRPr kumimoji="0" lang="en-US" altLang="zh-CN" sz="2400" i="0" u="none" strike="noStrike" kern="0" cap="none" spc="0" normalizeH="0" baseline="0" noProof="1" dirty="0">
              <a:solidFill>
                <a:schemeClr val="tx1"/>
              </a:solidFill>
              <a:latin typeface="楷体" panose="02010609060101010101" charset="-122"/>
              <a:ea typeface="楷体" panose="02010609060101010101" charset="-122"/>
              <a:cs typeface="+mn-cs"/>
            </a:endParaRPr>
          </a:p>
          <a:p>
            <a:pPr marL="0" marR="0" indent="0" algn="l" defTabSz="914400" rtl="0" eaLnBrk="1" fontAlgn="base" latinLnBrk="0" hangingPunct="1">
              <a:lnSpc>
                <a:spcPct val="120000"/>
              </a:lnSpc>
              <a:spcBef>
                <a:spcPct val="20000"/>
              </a:spcBef>
              <a:spcAft>
                <a:spcPct val="0"/>
              </a:spcAft>
              <a:buClr>
                <a:srgbClr val="FF0000"/>
              </a:buClr>
              <a:buSzPct val="100000"/>
              <a:buFont typeface="Wingdings" panose="05000000000000000000" charset="0"/>
              <a:buNone/>
            </a:pPr>
            <a:r>
              <a:rPr kumimoji="0" lang="en-US" altLang="zh-CN" sz="2400" i="0" u="none" strike="noStrike" kern="0" cap="none" spc="0" normalizeH="0" baseline="0" noProof="1" dirty="0">
                <a:solidFill>
                  <a:schemeClr val="tx1"/>
                </a:solidFill>
                <a:latin typeface="楷体" panose="02010609060101010101" charset="-122"/>
                <a:ea typeface="楷体" panose="02010609060101010101" charset="-122"/>
                <a:cs typeface="+mn-cs"/>
              </a:rPr>
              <a:t>              </a:t>
            </a:r>
            <a:r>
              <a:rPr kumimoji="0" lang="zh-CN" altLang="zh-CN" sz="2400" i="0" u="none" strike="noStrike" kern="0" cap="none" spc="0" normalizeH="0" baseline="0" noProof="1" dirty="0">
                <a:solidFill>
                  <a:schemeClr val="tx1"/>
                </a:solidFill>
                <a:latin typeface="楷体" panose="02010609060101010101" charset="-122"/>
                <a:ea typeface="楷体" panose="02010609060101010101" charset="-122"/>
                <a:cs typeface="+mn-cs"/>
              </a:rPr>
              <a:t>坏发光管</a:t>
            </a:r>
            <a:endParaRPr kumimoji="0" lang="zh-CN" altLang="zh-CN" sz="2800" b="1" i="0" u="none" strike="noStrike" kern="0" cap="none" spc="0" normalizeH="0" baseline="0" noProof="1" dirty="0">
              <a:solidFill>
                <a:schemeClr val="tx1"/>
              </a:solidFill>
              <a:latin typeface="Times New Roman" panose="02020603050405020304" pitchFamily="18" charset="0"/>
              <a:ea typeface="+mn-ea"/>
              <a:cs typeface="+mn-cs"/>
            </a:endParaRPr>
          </a:p>
          <a:p>
            <a:pPr marL="0" marR="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zh-CN" sz="2800" b="1" i="0" u="none" strike="noStrike" kern="0" cap="none" spc="0" normalizeH="0" baseline="0" noProof="1" dirty="0">
                <a:solidFill>
                  <a:schemeClr val="tx1"/>
                </a:solidFill>
                <a:latin typeface="Times New Roman" panose="02020603050405020304" pitchFamily="18" charset="0"/>
                <a:ea typeface="+mn-ea"/>
                <a:cs typeface="+mn-cs"/>
              </a:rPr>
              <a:t>     </a:t>
            </a:r>
            <a:r>
              <a:rPr kumimoji="0" lang="zh-CN" altLang="zh-CN" sz="2400" b="1" i="0" u="none" strike="noStrike" kern="0" cap="none" spc="0" normalizeH="0" baseline="0" noProof="1" dirty="0">
                <a:solidFill>
                  <a:schemeClr val="tx1"/>
                </a:solidFill>
                <a:latin typeface="楷体" panose="02010609060101010101" charset="-122"/>
                <a:ea typeface="楷体" panose="02010609060101010101" charset="-122"/>
                <a:cs typeface="+mn-cs"/>
              </a:rPr>
              <a:t>实际用发光二极管</a:t>
            </a:r>
            <a:r>
              <a:rPr kumimoji="0" lang="zh-CN" altLang="zh-CN" sz="2400" b="1" i="0" u="none" strike="noStrike" kern="0" cap="none" spc="0" normalizeH="0" baseline="0" noProof="1" dirty="0">
                <a:solidFill>
                  <a:srgbClr val="FF0000"/>
                </a:solidFill>
                <a:latin typeface="楷体" panose="02010609060101010101" charset="-122"/>
                <a:ea typeface="楷体" panose="02010609060101010101" charset="-122"/>
                <a:cs typeface="+mn-cs"/>
              </a:rPr>
              <a:t>必须串接限流电阻</a:t>
            </a:r>
            <a:r>
              <a:rPr kumimoji="0" lang="zh-CN" altLang="zh-CN" sz="2400" b="1" i="0" u="none" strike="noStrike" kern="0" cap="none" spc="0" normalizeH="0" baseline="0" noProof="1" dirty="0">
                <a:solidFill>
                  <a:schemeClr val="tx1"/>
                </a:solidFill>
                <a:latin typeface="楷体" panose="02010609060101010101" charset="-122"/>
                <a:ea typeface="楷体" panose="02010609060101010101" charset="-122"/>
                <a:cs typeface="+mn-cs"/>
              </a:rPr>
              <a:t>！可以根据加在其上的电压范围减去管压降，计算出限流电阻范围。</a:t>
            </a:r>
            <a:endParaRPr kumimoji="0" lang="zh-CN" altLang="zh-CN" sz="2800" b="1" i="0" u="none" strike="noStrike" kern="0" cap="none" spc="0" normalizeH="0" baseline="0" noProof="1" dirty="0">
              <a:solidFill>
                <a:schemeClr val="tx1"/>
              </a:solidFill>
              <a:latin typeface="Times New Roman" panose="02020603050405020304" pitchFamily="18" charset="0"/>
              <a:ea typeface="+mn-ea"/>
              <a:cs typeface="+mn-cs"/>
            </a:endParaRPr>
          </a:p>
          <a:p>
            <a:pPr marL="0" marR="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pPr>
            <a:r>
              <a:rPr kumimoji="0" lang="zh-CN" altLang="zh-CN" sz="2800" b="1" i="0" u="none" strike="noStrike" kern="0" cap="none" spc="0" normalizeH="0" baseline="0" noProof="1" dirty="0">
                <a:solidFill>
                  <a:schemeClr val="tx1"/>
                </a:solidFill>
                <a:latin typeface="Times New Roman" panose="02020603050405020304" pitchFamily="18" charset="0"/>
                <a:ea typeface="+mn-ea"/>
                <a:cs typeface="+mn-cs"/>
              </a:rPr>
              <a:t>    </a:t>
            </a:r>
            <a:r>
              <a:rPr kumimoji="0" lang="zh-CN" altLang="zh-CN" sz="2400" b="1" i="0" u="none" strike="noStrike" kern="0" cap="none" spc="0" normalizeH="0" baseline="0" noProof="1" dirty="0">
                <a:solidFill>
                  <a:srgbClr val="FF0000"/>
                </a:solidFill>
                <a:latin typeface="楷体" panose="02010609060101010101" charset="-122"/>
                <a:ea typeface="楷体" panose="02010609060101010101" charset="-122"/>
                <a:cs typeface="+mn-cs"/>
              </a:rPr>
              <a:t>数字实验电路</a:t>
            </a:r>
            <a:r>
              <a:rPr kumimoji="0" lang="zh-CN" altLang="zh-CN" sz="2400" b="1" i="0" u="none" strike="noStrike" kern="0" cap="none" spc="0" normalizeH="0" baseline="0" noProof="1" dirty="0">
                <a:solidFill>
                  <a:schemeClr val="tx1"/>
                </a:solidFill>
                <a:latin typeface="楷体" panose="02010609060101010101" charset="-122"/>
                <a:ea typeface="楷体" panose="02010609060101010101" charset="-122"/>
                <a:cs typeface="+mn-cs"/>
              </a:rPr>
              <a:t>部分，输入电压约为</a:t>
            </a:r>
            <a:r>
              <a:rPr kumimoji="0" lang="zh-CN" altLang="zh-CN" sz="2400" b="1" i="0" u="none" strike="noStrike" kern="0" cap="none" spc="0" normalizeH="0" baseline="0" noProof="1" dirty="0">
                <a:solidFill>
                  <a:schemeClr val="tx1"/>
                </a:solidFill>
                <a:latin typeface="Times New Roman" panose="02020603050405020304" pitchFamily="18" charset="0"/>
                <a:ea typeface="+mn-ea"/>
                <a:cs typeface="+mn-cs"/>
              </a:rPr>
              <a:t>5V</a:t>
            </a:r>
            <a:r>
              <a:rPr kumimoji="0" lang="zh-CN" altLang="zh-CN" sz="2400" b="1" i="0" u="none" strike="noStrike" kern="0" cap="none" spc="0" normalizeH="0" baseline="0" noProof="1" dirty="0">
                <a:solidFill>
                  <a:schemeClr val="tx1"/>
                </a:solidFill>
                <a:latin typeface="楷体" panose="02010609060101010101" charset="-122"/>
                <a:ea typeface="楷体" panose="02010609060101010101" charset="-122"/>
                <a:cs typeface="+mn-cs"/>
              </a:rPr>
              <a:t>时，限流电阻常用</a:t>
            </a:r>
            <a:r>
              <a:rPr kumimoji="0" lang="zh-CN" altLang="zh-CN" sz="2400" b="1" i="0" u="none" strike="noStrike" kern="0" cap="none" spc="0" normalizeH="0" baseline="0" noProof="1" dirty="0">
                <a:solidFill>
                  <a:schemeClr val="tx1"/>
                </a:solidFill>
                <a:latin typeface="Times New Roman" panose="02020603050405020304" pitchFamily="18" charset="0"/>
                <a:ea typeface="+mn-ea"/>
                <a:cs typeface="+mn-cs"/>
              </a:rPr>
              <a:t>200～500</a:t>
            </a:r>
            <a:r>
              <a:rPr kumimoji="0" lang="zh-CN" altLang="zh-CN" sz="2400" b="1" i="0" u="none" strike="noStrike" kern="0" cap="none" spc="0" normalizeH="0" baseline="0" noProof="1" dirty="0">
                <a:solidFill>
                  <a:schemeClr val="tx1"/>
                </a:solidFill>
                <a:latin typeface="Symbol" panose="05050102010706020507" pitchFamily="18" charset="2"/>
                <a:ea typeface="+mn-ea"/>
                <a:cs typeface="+mn-cs"/>
              </a:rPr>
              <a:t>W</a:t>
            </a:r>
            <a:r>
              <a:rPr kumimoji="0" lang="zh-CN" altLang="zh-CN" sz="2400" b="1" i="0" u="none" strike="noStrike" kern="0" cap="none" spc="0" normalizeH="0" baseline="0" noProof="1" dirty="0">
                <a:solidFill>
                  <a:schemeClr val="tx1"/>
                </a:solidFill>
                <a:latin typeface="Times New Roman" panose="02020603050405020304" pitchFamily="18" charset="0"/>
                <a:ea typeface="+mn-ea"/>
                <a:cs typeface="+mn-cs"/>
              </a:rPr>
              <a:t>。</a:t>
            </a:r>
            <a:endParaRPr kumimoji="0" lang="zh-CN" altLang="zh-CN" sz="2400" b="1" i="0" u="none" strike="noStrike" kern="0" cap="none" spc="0" normalizeH="0" baseline="0" noProof="1" dirty="0">
              <a:solidFill>
                <a:schemeClr val="tx1"/>
              </a:solidFill>
              <a:latin typeface="Times New Roman" panose="02020603050405020304" pitchFamily="18" charset="0"/>
              <a:ea typeface="+mn-ea"/>
              <a:cs typeface="+mn-cs"/>
            </a:endParaRPr>
          </a:p>
        </p:txBody>
      </p:sp>
      <p:pic>
        <p:nvPicPr>
          <p:cNvPr id="23555" name="Picture 4"/>
          <p:cNvPicPr>
            <a:picLocks noChangeAspect="1"/>
          </p:cNvPicPr>
          <p:nvPr/>
        </p:nvPicPr>
        <p:blipFill>
          <a:blip r:embed="rId1"/>
          <a:stretch>
            <a:fillRect/>
          </a:stretch>
        </p:blipFill>
        <p:spPr>
          <a:xfrm>
            <a:off x="6733540" y="2434273"/>
            <a:ext cx="1781175" cy="256222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wipe(down)">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wipe(down)">
                                      <p:cBhvr>
                                        <p:cTn id="12" dur="500"/>
                                        <p:tgtEl>
                                          <p:spTgt spid="19458">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9458">
                                            <p:txEl>
                                              <p:pRg st="2" end="2"/>
                                            </p:txEl>
                                          </p:spTgt>
                                        </p:tgtEl>
                                        <p:attrNameLst>
                                          <p:attrName>style.visibility</p:attrName>
                                        </p:attrNameLst>
                                      </p:cBhvr>
                                      <p:to>
                                        <p:strVal val="visible"/>
                                      </p:to>
                                    </p:set>
                                    <p:animEffect transition="in" filter="wipe(down)">
                                      <p:cBhvr>
                                        <p:cTn id="15" dur="500"/>
                                        <p:tgtEl>
                                          <p:spTgt spid="1945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9458">
                                            <p:txEl>
                                              <p:pRg st="3" end="3"/>
                                            </p:txEl>
                                          </p:spTgt>
                                        </p:tgtEl>
                                        <p:attrNameLst>
                                          <p:attrName>style.visibility</p:attrName>
                                        </p:attrNameLst>
                                      </p:cBhvr>
                                      <p:to>
                                        <p:strVal val="visible"/>
                                      </p:to>
                                    </p:set>
                                    <p:animEffect transition="in" filter="wipe(down)">
                                      <p:cBhvr>
                                        <p:cTn id="20" dur="500"/>
                                        <p:tgtEl>
                                          <p:spTgt spid="1945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9458">
                                            <p:txEl>
                                              <p:pRg st="4" end="4"/>
                                            </p:txEl>
                                          </p:spTgt>
                                        </p:tgtEl>
                                        <p:attrNameLst>
                                          <p:attrName>style.visibility</p:attrName>
                                        </p:attrNameLst>
                                      </p:cBhvr>
                                      <p:to>
                                        <p:strVal val="visible"/>
                                      </p:to>
                                    </p:set>
                                    <p:animEffect transition="in" filter="wipe(down)">
                                      <p:cBhvr>
                                        <p:cTn id="25" dur="500"/>
                                        <p:tgtEl>
                                          <p:spTgt spid="1945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3555"/>
                                        </p:tgtEl>
                                        <p:attrNameLst>
                                          <p:attrName>style.visibility</p:attrName>
                                        </p:attrNameLst>
                                      </p:cBhvr>
                                      <p:to>
                                        <p:strVal val="visible"/>
                                      </p:to>
                                    </p:set>
                                    <p:animEffect transition="in" filter="wipe(down)">
                                      <p:cBhvr>
                                        <p:cTn id="30" dur="5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4577" name="Rectangle 2"/>
          <p:cNvSpPr>
            <a:spLocks noGrp="1"/>
          </p:cNvSpPr>
          <p:nvPr>
            <p:ph type="title" idx="4294967295"/>
          </p:nvPr>
        </p:nvSpPr>
        <p:spPr>
          <a:xfrm>
            <a:off x="1317625" y="8890"/>
            <a:ext cx="7826375" cy="718185"/>
          </a:xfrm>
        </p:spPr>
        <p:txBody>
          <a:bodyPr wrap="square" lIns="91440" tIns="45720" rIns="91440" bIns="45720" anchor="b" anchorCtr="0"/>
          <a:p>
            <a:pPr eaLnBrk="1" hangingPunct="1"/>
            <a:r>
              <a:rPr lang="zh-CN" altLang="zh-CN" b="1" dirty="0">
                <a:ea typeface="楷体_GB2312" pitchFamily="49" charset="-122"/>
              </a:rPr>
              <a:t>三极管</a:t>
            </a:r>
            <a:r>
              <a:rPr lang="zh-CN" altLang="zh-CN" dirty="0"/>
              <a:t>   </a:t>
            </a:r>
            <a:r>
              <a:rPr lang="zh-CN" altLang="zh-CN" sz="2800" b="1" dirty="0">
                <a:effectLst/>
                <a:latin typeface="宋体" panose="02010600030101010101" pitchFamily="2" charset="-122"/>
              </a:rPr>
              <a:t>塑封9018、9013</a:t>
            </a:r>
            <a:r>
              <a:rPr lang="zh-CN" altLang="zh-CN" sz="3200" b="1" dirty="0">
                <a:effectLst/>
                <a:latin typeface="宋体" panose="02010600030101010101" pitchFamily="2" charset="-122"/>
                <a:sym typeface="Symbol" panose="05050102010706020507" pitchFamily="18" charset="2"/>
              </a:rPr>
              <a:t></a:t>
            </a:r>
            <a:r>
              <a:rPr lang="zh-CN" altLang="zh-CN" sz="2800" b="1" dirty="0">
                <a:effectLst/>
                <a:latin typeface="宋体" panose="02010600030101010101" pitchFamily="2" charset="-122"/>
              </a:rPr>
              <a:t>3DG6  </a:t>
            </a:r>
            <a:r>
              <a:rPr lang="zh-CN" altLang="zh-CN" sz="2800" b="1" dirty="0">
                <a:solidFill>
                  <a:srgbClr val="0000FF"/>
                </a:solidFill>
                <a:effectLst/>
                <a:latin typeface="Times New Roman" panose="02020603050405020304" pitchFamily="18" charset="0"/>
                <a:cs typeface="Times New Roman" panose="02020603050405020304" pitchFamily="18" charset="0"/>
              </a:rPr>
              <a:t>NPN</a:t>
            </a:r>
            <a:r>
              <a:rPr lang="zh-CN" altLang="zh-CN" sz="2800" b="1" dirty="0">
                <a:solidFill>
                  <a:srgbClr val="0000FF"/>
                </a:solidFill>
                <a:effectLst/>
                <a:latin typeface="宋体" panose="02010600030101010101" pitchFamily="2" charset="-122"/>
              </a:rPr>
              <a:t>硅管</a:t>
            </a:r>
            <a:endParaRPr lang="zh-CN" altLang="zh-CN" sz="2800" b="1" dirty="0">
              <a:solidFill>
                <a:srgbClr val="0000FF"/>
              </a:solidFill>
              <a:effectLst/>
              <a:latin typeface="宋体" panose="02010600030101010101" pitchFamily="2" charset="-122"/>
            </a:endParaRPr>
          </a:p>
        </p:txBody>
      </p:sp>
      <p:pic>
        <p:nvPicPr>
          <p:cNvPr id="24578" name="Picture 3" descr="三极管"/>
          <p:cNvPicPr>
            <a:picLocks noChangeAspect="1"/>
          </p:cNvPicPr>
          <p:nvPr/>
        </p:nvPicPr>
        <p:blipFill>
          <a:blip r:embed="rId1"/>
          <a:stretch>
            <a:fillRect/>
          </a:stretch>
        </p:blipFill>
        <p:spPr>
          <a:xfrm>
            <a:off x="6096000" y="1030605"/>
            <a:ext cx="2687638" cy="3121025"/>
          </a:xfrm>
          <a:prstGeom prst="rect">
            <a:avLst/>
          </a:prstGeom>
          <a:noFill/>
          <a:ln w="9525">
            <a:noFill/>
          </a:ln>
        </p:spPr>
      </p:pic>
      <p:pic>
        <p:nvPicPr>
          <p:cNvPr id="24579" name="Picture 4"/>
          <p:cNvPicPr>
            <a:picLocks noChangeAspect="1"/>
          </p:cNvPicPr>
          <p:nvPr/>
        </p:nvPicPr>
        <p:blipFill>
          <a:blip r:embed="rId2"/>
          <a:stretch>
            <a:fillRect/>
          </a:stretch>
        </p:blipFill>
        <p:spPr>
          <a:xfrm>
            <a:off x="900113" y="1559243"/>
            <a:ext cx="2171700" cy="3200400"/>
          </a:xfrm>
          <a:prstGeom prst="rect">
            <a:avLst/>
          </a:prstGeom>
          <a:noFill/>
          <a:ln w="9525">
            <a:noFill/>
          </a:ln>
        </p:spPr>
      </p:pic>
      <p:pic>
        <p:nvPicPr>
          <p:cNvPr id="24580" name="Picture 5"/>
          <p:cNvPicPr>
            <a:picLocks noChangeAspect="1"/>
          </p:cNvPicPr>
          <p:nvPr/>
        </p:nvPicPr>
        <p:blipFill>
          <a:blip r:embed="rId3"/>
          <a:stretch>
            <a:fillRect/>
          </a:stretch>
        </p:blipFill>
        <p:spPr>
          <a:xfrm>
            <a:off x="3200400" y="878205"/>
            <a:ext cx="2941638" cy="4721225"/>
          </a:xfrm>
          <a:prstGeom prst="rect">
            <a:avLst/>
          </a:prstGeom>
          <a:noFill/>
          <a:ln w="9525">
            <a:noFill/>
          </a:ln>
        </p:spPr>
      </p:pic>
      <p:sp>
        <p:nvSpPr>
          <p:cNvPr id="24581" name="Text Box 6"/>
          <p:cNvSpPr txBox="1"/>
          <p:nvPr/>
        </p:nvSpPr>
        <p:spPr>
          <a:xfrm>
            <a:off x="3708400" y="5304155"/>
            <a:ext cx="2232025" cy="460375"/>
          </a:xfrm>
          <a:prstGeom prst="rect">
            <a:avLst/>
          </a:prstGeom>
          <a:noFill/>
          <a:ln w="9525">
            <a:noFill/>
          </a:ln>
        </p:spPr>
        <p:txBody>
          <a:bodyPr anchor="t" anchorCtr="0">
            <a:spAutoFit/>
          </a:bodyPr>
          <a:p>
            <a:pPr algn="ctr">
              <a:spcBef>
                <a:spcPct val="50000"/>
              </a:spcBef>
            </a:pPr>
            <a:r>
              <a:rPr lang="zh-CN" altLang="zh-CN" sz="2400" b="1" dirty="0">
                <a:latin typeface="Tahoma" panose="020B0604030504040204" pitchFamily="34" charset="0"/>
                <a:ea typeface="宋体" panose="02010600030101010101" pitchFamily="2" charset="-122"/>
              </a:rPr>
              <a:t>E   B   C</a:t>
            </a:r>
            <a:endParaRPr lang="zh-CN" altLang="zh-CN" sz="2400" b="1" dirty="0">
              <a:latin typeface="Tahoma" panose="020B0604030504040204" pitchFamily="34" charset="0"/>
              <a:ea typeface="宋体" panose="02010600030101010101" pitchFamily="2" charset="-122"/>
            </a:endParaRPr>
          </a:p>
        </p:txBody>
      </p:sp>
      <p:sp>
        <p:nvSpPr>
          <p:cNvPr id="24582" name="Text Box 7"/>
          <p:cNvSpPr txBox="1"/>
          <p:nvPr/>
        </p:nvSpPr>
        <p:spPr>
          <a:xfrm>
            <a:off x="1692275" y="4223068"/>
            <a:ext cx="504825" cy="398780"/>
          </a:xfrm>
          <a:prstGeom prst="rect">
            <a:avLst/>
          </a:prstGeom>
          <a:solidFill>
            <a:schemeClr val="bg1"/>
          </a:solidFill>
          <a:ln w="9525">
            <a:noFill/>
          </a:ln>
        </p:spPr>
        <p:txBody>
          <a:bodyPr anchor="t" anchorCtr="0">
            <a:spAutoFit/>
          </a:bodyPr>
          <a:p>
            <a:pPr algn="ctr">
              <a:spcBef>
                <a:spcPct val="50000"/>
              </a:spcBef>
            </a:pPr>
            <a:r>
              <a:rPr lang="zh-CN" altLang="zh-CN" sz="2000" b="1" dirty="0">
                <a:latin typeface="Tahoma" panose="020B0604030504040204" pitchFamily="34" charset="0"/>
                <a:ea typeface="宋体" panose="02010600030101010101" pitchFamily="2" charset="-122"/>
              </a:rPr>
              <a:t>E</a:t>
            </a:r>
            <a:endParaRPr lang="zh-CN" altLang="zh-CN" sz="2000" b="1" dirty="0">
              <a:latin typeface="Tahoma" panose="020B0604030504040204" pitchFamily="34" charset="0"/>
              <a:ea typeface="宋体" panose="02010600030101010101" pitchFamily="2" charset="-122"/>
            </a:endParaRPr>
          </a:p>
        </p:txBody>
      </p:sp>
      <p:sp>
        <p:nvSpPr>
          <p:cNvPr id="24583" name="Text Box 8"/>
          <p:cNvSpPr txBox="1"/>
          <p:nvPr/>
        </p:nvSpPr>
        <p:spPr>
          <a:xfrm>
            <a:off x="2411413" y="3430905"/>
            <a:ext cx="504825" cy="398780"/>
          </a:xfrm>
          <a:prstGeom prst="rect">
            <a:avLst/>
          </a:prstGeom>
          <a:solidFill>
            <a:schemeClr val="bg1"/>
          </a:solidFill>
          <a:ln w="9525">
            <a:noFill/>
          </a:ln>
        </p:spPr>
        <p:txBody>
          <a:bodyPr anchor="t" anchorCtr="0">
            <a:spAutoFit/>
          </a:bodyPr>
          <a:p>
            <a:pPr algn="ctr">
              <a:spcBef>
                <a:spcPct val="50000"/>
              </a:spcBef>
            </a:pPr>
            <a:r>
              <a:rPr lang="zh-CN" altLang="zh-CN" sz="2000" b="1" dirty="0">
                <a:latin typeface="Tahoma" panose="020B0604030504040204" pitchFamily="34" charset="0"/>
                <a:ea typeface="宋体" panose="02010600030101010101" pitchFamily="2" charset="-122"/>
              </a:rPr>
              <a:t>B</a:t>
            </a:r>
            <a:endParaRPr lang="zh-CN" altLang="zh-CN" sz="2000" b="1" dirty="0">
              <a:latin typeface="Tahoma" panose="020B0604030504040204" pitchFamily="34" charset="0"/>
              <a:ea typeface="宋体" panose="02010600030101010101" pitchFamily="2" charset="-122"/>
            </a:endParaRPr>
          </a:p>
        </p:txBody>
      </p:sp>
      <p:sp>
        <p:nvSpPr>
          <p:cNvPr id="24584" name="Text Box 9"/>
          <p:cNvSpPr txBox="1"/>
          <p:nvPr/>
        </p:nvSpPr>
        <p:spPr>
          <a:xfrm>
            <a:off x="1116013" y="3143568"/>
            <a:ext cx="504825" cy="398780"/>
          </a:xfrm>
          <a:prstGeom prst="rect">
            <a:avLst/>
          </a:prstGeom>
          <a:solidFill>
            <a:schemeClr val="bg1"/>
          </a:solidFill>
          <a:ln w="9525">
            <a:noFill/>
          </a:ln>
        </p:spPr>
        <p:txBody>
          <a:bodyPr anchor="t" anchorCtr="0">
            <a:spAutoFit/>
          </a:bodyPr>
          <a:p>
            <a:pPr algn="ctr">
              <a:spcBef>
                <a:spcPct val="50000"/>
              </a:spcBef>
            </a:pPr>
            <a:r>
              <a:rPr lang="zh-CN" altLang="zh-CN" sz="2000" b="1" dirty="0">
                <a:latin typeface="Tahoma" panose="020B0604030504040204" pitchFamily="34" charset="0"/>
                <a:ea typeface="宋体" panose="02010600030101010101" pitchFamily="2" charset="-122"/>
              </a:rPr>
              <a:t>C</a:t>
            </a:r>
            <a:endParaRPr lang="zh-CN" altLang="zh-CN" sz="2000" b="1" dirty="0">
              <a:latin typeface="Tahoma" panose="020B0604030504040204" pitchFamily="34" charset="0"/>
              <a:ea typeface="宋体" panose="02010600030101010101" pitchFamily="2" charset="-122"/>
            </a:endParaRPr>
          </a:p>
        </p:txBody>
      </p:sp>
      <p:sp>
        <p:nvSpPr>
          <p:cNvPr id="24586" name="Text Box 11"/>
          <p:cNvSpPr txBox="1"/>
          <p:nvPr/>
        </p:nvSpPr>
        <p:spPr>
          <a:xfrm>
            <a:off x="1101725" y="4870768"/>
            <a:ext cx="1728788" cy="460375"/>
          </a:xfrm>
          <a:prstGeom prst="rect">
            <a:avLst/>
          </a:prstGeom>
          <a:noFill/>
          <a:ln w="9525">
            <a:noFill/>
          </a:ln>
        </p:spPr>
        <p:txBody>
          <a:bodyPr anchor="t" anchorCtr="0">
            <a:spAutoFit/>
          </a:bodyPr>
          <a:p>
            <a:pPr>
              <a:spcBef>
                <a:spcPct val="50000"/>
              </a:spcBef>
            </a:pPr>
            <a:r>
              <a:rPr lang="zh-CN" altLang="zh-CN" sz="2400" b="1" dirty="0">
                <a:latin typeface="Tahoma" panose="020B0604030504040204" pitchFamily="34" charset="0"/>
                <a:ea typeface="宋体" panose="02010600030101010101" pitchFamily="2" charset="-122"/>
              </a:rPr>
              <a:t>带定位销</a:t>
            </a:r>
            <a:endParaRPr lang="zh-CN" altLang="zh-CN" sz="2400" b="1" dirty="0">
              <a:latin typeface="Tahoma" panose="020B0604030504040204" pitchFamily="34" charset="0"/>
              <a:ea typeface="宋体" panose="02010600030101010101" pitchFamily="2" charset="-122"/>
            </a:endParaRPr>
          </a:p>
        </p:txBody>
      </p:sp>
      <p:sp>
        <p:nvSpPr>
          <p:cNvPr id="24587" name="Line 12"/>
          <p:cNvSpPr/>
          <p:nvPr/>
        </p:nvSpPr>
        <p:spPr>
          <a:xfrm flipH="1" flipV="1">
            <a:off x="1758950" y="2899093"/>
            <a:ext cx="36513" cy="1266825"/>
          </a:xfrm>
          <a:prstGeom prst="line">
            <a:avLst/>
          </a:prstGeom>
          <a:ln w="38100" cap="flat" cmpd="sng">
            <a:solidFill>
              <a:schemeClr val="hlink"/>
            </a:solidFill>
            <a:prstDash val="solid"/>
            <a:round/>
            <a:headEnd type="none" w="med" len="med"/>
            <a:tailEnd type="arrow" w="med" len="med"/>
          </a:ln>
        </p:spPr>
      </p:sp>
      <p:grpSp>
        <p:nvGrpSpPr>
          <p:cNvPr id="18445" name="Group 13"/>
          <p:cNvGrpSpPr>
            <a:grpSpLocks noChangeAspect="1"/>
          </p:cNvGrpSpPr>
          <p:nvPr/>
        </p:nvGrpSpPr>
        <p:grpSpPr>
          <a:xfrm>
            <a:off x="3910013" y="1968818"/>
            <a:ext cx="3892550" cy="3330575"/>
            <a:chOff x="0" y="0"/>
            <a:chExt cx="2452" cy="2098"/>
          </a:xfrm>
        </p:grpSpPr>
        <p:pic>
          <p:nvPicPr>
            <p:cNvPr id="24589" name="Picture 14"/>
            <p:cNvPicPr>
              <a:picLocks noChangeAspect="1"/>
            </p:cNvPicPr>
            <p:nvPr/>
          </p:nvPicPr>
          <p:blipFill>
            <a:blip r:embed="rId4"/>
            <a:stretch>
              <a:fillRect/>
            </a:stretch>
          </p:blipFill>
          <p:spPr>
            <a:xfrm>
              <a:off x="0" y="6"/>
              <a:ext cx="1386" cy="2092"/>
            </a:xfrm>
            <a:prstGeom prst="rect">
              <a:avLst/>
            </a:prstGeom>
            <a:noFill/>
            <a:ln w="9525">
              <a:noFill/>
            </a:ln>
          </p:spPr>
        </p:pic>
        <p:pic>
          <p:nvPicPr>
            <p:cNvPr id="24590" name="Picture 15"/>
            <p:cNvPicPr>
              <a:picLocks noChangeAspect="1"/>
            </p:cNvPicPr>
            <p:nvPr/>
          </p:nvPicPr>
          <p:blipFill>
            <a:blip r:embed="rId5"/>
            <a:stretch>
              <a:fillRect/>
            </a:stretch>
          </p:blipFill>
          <p:spPr>
            <a:xfrm>
              <a:off x="1389" y="0"/>
              <a:ext cx="1063" cy="1350"/>
            </a:xfrm>
            <a:prstGeom prst="rect">
              <a:avLst/>
            </a:prstGeom>
            <a:noFill/>
            <a:ln w="9525">
              <a:noFill/>
            </a:ln>
          </p:spPr>
        </p:pic>
      </p:grpSp>
      <p:sp>
        <p:nvSpPr>
          <p:cNvPr id="18442" name="Text Box 10"/>
          <p:cNvSpPr txBox="1"/>
          <p:nvPr/>
        </p:nvSpPr>
        <p:spPr>
          <a:xfrm>
            <a:off x="4137660" y="4152900"/>
            <a:ext cx="3400425" cy="460375"/>
          </a:xfrm>
          <a:prstGeom prst="rect">
            <a:avLst/>
          </a:prstGeom>
          <a:solidFill>
            <a:schemeClr val="bg1"/>
          </a:solidFill>
          <a:ln w="9525">
            <a:noFill/>
          </a:ln>
        </p:spPr>
        <p:txBody>
          <a:bodyPr wrap="square" anchor="t" anchorCtr="0">
            <a:spAutoFit/>
          </a:bodyPr>
          <a:p>
            <a:pPr algn="ctr">
              <a:spcBef>
                <a:spcPct val="50000"/>
              </a:spcBef>
            </a:pPr>
            <a:r>
              <a:rPr lang="zh-CN" altLang="zh-CN" sz="2400" b="1" dirty="0">
                <a:latin typeface="楷体" panose="02010609060101010101" charset="-122"/>
                <a:ea typeface="楷体" panose="02010609060101010101" charset="-122"/>
              </a:rPr>
              <a:t>万用表</a:t>
            </a:r>
            <a:r>
              <a:rPr lang="zh-CN"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hFE</a:t>
            </a:r>
            <a:r>
              <a:rPr lang="zh-CN" altLang="zh-CN" sz="2400" b="1" dirty="0">
                <a:solidFill>
                  <a:srgbClr val="FF0000"/>
                </a:solidFill>
                <a:latin typeface="楷体" panose="02010609060101010101" charset="-122"/>
                <a:ea typeface="楷体" panose="02010609060101010101" charset="-122"/>
                <a:cs typeface="楷体" panose="02010609060101010101" charset="-122"/>
              </a:rPr>
              <a:t>专用档</a:t>
            </a:r>
            <a:r>
              <a:rPr lang="zh-CN" altLang="zh-CN" sz="2400" b="1" dirty="0">
                <a:latin typeface="楷体" panose="02010609060101010101" charset="-122"/>
                <a:ea typeface="楷体" panose="02010609060101010101" charset="-122"/>
                <a:cs typeface="楷体" panose="02010609060101010101" charset="-122"/>
              </a:rPr>
              <a:t>测</a:t>
            </a:r>
            <a:r>
              <a:rPr lang="zh-CN" altLang="zh-CN" sz="2400" b="1" dirty="0">
                <a:latin typeface="Symbol" panose="05050102010706020507" pitchFamily="18" charset="2"/>
                <a:ea typeface="宋体" panose="02010600030101010101" pitchFamily="2" charset="-122"/>
              </a:rPr>
              <a:t>b</a:t>
            </a:r>
            <a:r>
              <a:rPr lang="zh-CN" altLang="zh-CN" sz="2400" b="1" dirty="0">
                <a:latin typeface="楷体" panose="02010609060101010101" charset="-122"/>
                <a:ea typeface="楷体" panose="02010609060101010101" charset="-122"/>
              </a:rPr>
              <a:t>值</a:t>
            </a:r>
            <a:endParaRPr lang="zh-CN" altLang="zh-CN" sz="2400" b="1" dirty="0">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445"/>
                                        </p:tgtEl>
                                        <p:attrNameLst>
                                          <p:attrName>style.visibility</p:attrName>
                                        </p:attrNameLst>
                                      </p:cBhvr>
                                      <p:to>
                                        <p:strVal val="visible"/>
                                      </p:to>
                                    </p:set>
                                    <p:animEffect transition="in" filter="wipe(down)">
                                      <p:cBhvr>
                                        <p:cTn id="7" dur="500"/>
                                        <p:tgtEl>
                                          <p:spTgt spid="184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442"/>
                                        </p:tgtEl>
                                        <p:attrNameLst>
                                          <p:attrName>style.visibility</p:attrName>
                                        </p:attrNameLst>
                                      </p:cBhvr>
                                      <p:to>
                                        <p:strVal val="visible"/>
                                      </p:to>
                                    </p:set>
                                    <p:animEffect transition="in" filter="wipe(down)">
                                      <p:cBhvr>
                                        <p:cTn id="12" dur="500"/>
                                        <p:tgtEl>
                                          <p:spTgt spid="18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6625" name="Picture 2"/>
          <p:cNvPicPr>
            <a:picLocks noChangeAspect="1"/>
          </p:cNvPicPr>
          <p:nvPr/>
        </p:nvPicPr>
        <p:blipFill>
          <a:blip r:embed="rId1"/>
          <a:stretch>
            <a:fillRect/>
          </a:stretch>
        </p:blipFill>
        <p:spPr>
          <a:xfrm>
            <a:off x="540068" y="1487805"/>
            <a:ext cx="7510462" cy="3890963"/>
          </a:xfrm>
          <a:prstGeom prst="rect">
            <a:avLst/>
          </a:prstGeom>
          <a:noFill/>
          <a:ln w="9525">
            <a:noFill/>
          </a:ln>
        </p:spPr>
      </p:pic>
      <p:sp>
        <p:nvSpPr>
          <p:cNvPr id="26626" name="Rectangle 3"/>
          <p:cNvSpPr>
            <a:spLocks noGrp="1"/>
          </p:cNvSpPr>
          <p:nvPr>
            <p:ph type="title" idx="4294967295"/>
          </p:nvPr>
        </p:nvSpPr>
        <p:spPr>
          <a:xfrm>
            <a:off x="1351280" y="78105"/>
            <a:ext cx="7792720" cy="722630"/>
          </a:xfrm>
        </p:spPr>
        <p:txBody>
          <a:bodyPr wrap="square" lIns="91440" tIns="45720" rIns="91440" bIns="45720" anchor="b" anchorCtr="0"/>
          <a:p>
            <a:pPr eaLnBrk="1" hangingPunct="1"/>
            <a:r>
              <a:rPr lang="zh-CN" altLang="zh-CN" sz="4000" b="1" dirty="0">
                <a:effectLst/>
                <a:ea typeface="楷体_GB2312" pitchFamily="49" charset="-122"/>
              </a:rPr>
              <a:t>集成电路芯片</a:t>
            </a:r>
            <a:r>
              <a:rPr lang="zh-CN" altLang="zh-CN" sz="36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3200" b="1" dirty="0">
                <a:effectLst/>
                <a:latin typeface="宋体" panose="02010600030101010101" pitchFamily="2" charset="-122"/>
                <a:ea typeface="宋体" panose="02010600030101010101" pitchFamily="2" charset="-122"/>
                <a:cs typeface="宋体" panose="02010600030101010101" pitchFamily="2" charset="-122"/>
              </a:rPr>
              <a:t>双列直插封装DIP</a:t>
            </a:r>
            <a:r>
              <a:rPr lang="zh-CN" altLang="zh-CN" sz="3600" b="1" dirty="0">
                <a:effectLst/>
                <a:latin typeface="宋体" panose="02010600030101010101" pitchFamily="2" charset="-122"/>
                <a:ea typeface="宋体" panose="02010600030101010101" pitchFamily="2" charset="-122"/>
                <a:cs typeface="宋体" panose="02010600030101010101" pitchFamily="2" charset="-122"/>
              </a:rPr>
              <a:t>）</a:t>
            </a:r>
            <a:endParaRPr lang="zh-CN" altLang="zh-CN" sz="3600" b="1"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9460" name="Text Box 4"/>
          <p:cNvSpPr txBox="1"/>
          <p:nvPr/>
        </p:nvSpPr>
        <p:spPr>
          <a:xfrm>
            <a:off x="2486343" y="4511993"/>
            <a:ext cx="290512" cy="738505"/>
          </a:xfrm>
          <a:prstGeom prst="rect">
            <a:avLst/>
          </a:prstGeom>
          <a:solidFill>
            <a:schemeClr val="bg1"/>
          </a:solidFill>
          <a:ln w="9525">
            <a:noFill/>
          </a:ln>
        </p:spPr>
        <p:txBody>
          <a:bodyPr lIns="0" tIns="0" rIns="0" bIns="0" anchor="t" anchorCtr="0">
            <a:spAutoFit/>
          </a:bodyPr>
          <a:p>
            <a:pPr>
              <a:spcBef>
                <a:spcPct val="50000"/>
              </a:spcBef>
            </a:pPr>
            <a:r>
              <a:rPr lang="zh-CN" altLang="zh-CN" sz="2400" b="1" dirty="0">
                <a:solidFill>
                  <a:srgbClr val="FF0000"/>
                </a:solidFill>
                <a:latin typeface="Tahoma" panose="020B0604030504040204" pitchFamily="34" charset="0"/>
                <a:ea typeface="黑体" panose="02010609060101010101" pitchFamily="49" charset="-122"/>
              </a:rPr>
              <a:t>缺口</a:t>
            </a:r>
            <a:endParaRPr lang="zh-CN" altLang="zh-CN" sz="2400" b="1" dirty="0">
              <a:solidFill>
                <a:srgbClr val="FF0000"/>
              </a:solidFill>
              <a:latin typeface="Tahoma" panose="020B0604030504040204" pitchFamily="34" charset="0"/>
              <a:ea typeface="黑体" panose="02010609060101010101" pitchFamily="49" charset="-122"/>
            </a:endParaRPr>
          </a:p>
        </p:txBody>
      </p:sp>
      <p:sp>
        <p:nvSpPr>
          <p:cNvPr id="19461" name="Text Box 5"/>
          <p:cNvSpPr txBox="1"/>
          <p:nvPr/>
        </p:nvSpPr>
        <p:spPr>
          <a:xfrm>
            <a:off x="2727643" y="3938905"/>
            <a:ext cx="161925" cy="276860"/>
          </a:xfrm>
          <a:prstGeom prst="rect">
            <a:avLst/>
          </a:prstGeom>
          <a:solidFill>
            <a:schemeClr val="bg1"/>
          </a:solidFill>
          <a:ln w="9525">
            <a:noFill/>
          </a:ln>
        </p:spPr>
        <p:txBody>
          <a:bodyPr lIns="0" tIns="0" rIns="0" bIns="0" anchor="t" anchorCtr="0">
            <a:spAutoFit/>
          </a:bodyPr>
          <a:p>
            <a:pPr>
              <a:spcBef>
                <a:spcPct val="50000"/>
              </a:spcBef>
            </a:pPr>
            <a:r>
              <a:rPr lang="zh-CN" altLang="zh-CN" dirty="0">
                <a:latin typeface="Tahoma" panose="020B0604030504040204" pitchFamily="34" charset="0"/>
                <a:ea typeface="宋体" panose="02010600030101010101" pitchFamily="2" charset="-122"/>
              </a:rPr>
              <a:t>1</a:t>
            </a:r>
            <a:endParaRPr lang="zh-CN" altLang="zh-CN" dirty="0">
              <a:latin typeface="Tahoma" panose="020B0604030504040204" pitchFamily="34" charset="0"/>
              <a:ea typeface="宋体" panose="02010600030101010101" pitchFamily="2" charset="-122"/>
            </a:endParaRPr>
          </a:p>
        </p:txBody>
      </p:sp>
      <p:sp>
        <p:nvSpPr>
          <p:cNvPr id="26629" name="Text Box 6"/>
          <p:cNvSpPr txBox="1"/>
          <p:nvPr/>
        </p:nvSpPr>
        <p:spPr>
          <a:xfrm>
            <a:off x="7596505" y="4078605"/>
            <a:ext cx="360363" cy="368300"/>
          </a:xfrm>
          <a:prstGeom prst="rect">
            <a:avLst/>
          </a:prstGeom>
          <a:noFill/>
          <a:ln w="9525">
            <a:noFill/>
          </a:ln>
        </p:spPr>
        <p:txBody>
          <a:bodyPr anchor="t" anchorCtr="0">
            <a:spAutoFit/>
          </a:bodyPr>
          <a:p>
            <a:pPr>
              <a:spcBef>
                <a:spcPct val="50000"/>
              </a:spcBef>
            </a:pPr>
            <a:r>
              <a:rPr lang="zh-CN" altLang="zh-CN" dirty="0">
                <a:solidFill>
                  <a:schemeClr val="hlink"/>
                </a:solidFill>
                <a:latin typeface="Tahoma" panose="020B0604030504040204" pitchFamily="34" charset="0"/>
                <a:ea typeface="宋体" panose="02010600030101010101" pitchFamily="2" charset="-122"/>
              </a:rPr>
              <a:t>1</a:t>
            </a:r>
            <a:endParaRPr lang="zh-CN" altLang="zh-CN" dirty="0">
              <a:solidFill>
                <a:schemeClr val="hlink"/>
              </a:solidFill>
              <a:latin typeface="Tahoma" panose="020B0604030504040204" pitchFamily="34" charset="0"/>
              <a:ea typeface="宋体" panose="02010600030101010101" pitchFamily="2" charset="-122"/>
            </a:endParaRPr>
          </a:p>
        </p:txBody>
      </p:sp>
      <p:sp>
        <p:nvSpPr>
          <p:cNvPr id="19463" name="Arc 7"/>
          <p:cNvSpPr/>
          <p:nvPr/>
        </p:nvSpPr>
        <p:spPr>
          <a:xfrm flipH="1">
            <a:off x="682943" y="2854643"/>
            <a:ext cx="1081087" cy="1008062"/>
          </a:xfrm>
          <a:custGeom>
            <a:avLst/>
            <a:gdLst/>
            <a:ahLst/>
            <a:cxnLst>
              <a:cxn ang="0">
                <a:pos x="0" y="0"/>
              </a:cxn>
              <a:cxn ang="0">
                <a:pos x="54108755" y="47045787"/>
              </a:cxn>
              <a:cxn ang="0">
                <a:pos x="0" y="47045787"/>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8575" cap="flat" cmpd="sng">
            <a:solidFill>
              <a:srgbClr val="FF3300"/>
            </a:solidFill>
            <a:prstDash val="solid"/>
            <a:round/>
            <a:headEnd type="oval" w="med" len="med"/>
            <a:tailEnd type="triangle" w="med" len="med"/>
          </a:ln>
        </p:spPr>
        <p:txBody>
          <a:bodyPr/>
          <a:p>
            <a:endParaRPr lang="zh-CN" altLang="en-US"/>
          </a:p>
        </p:txBody>
      </p:sp>
      <p:sp>
        <p:nvSpPr>
          <p:cNvPr id="26631" name="Rectangle 8" descr="Rectangle: Click to edit Master text styles&#13;&#10;Second level&#13;&#10;Third level&#13;&#10;Fourth level&#13;&#10;Fifth level"/>
          <p:cNvSpPr>
            <a:spLocks noGrp="1"/>
          </p:cNvSpPr>
          <p:nvPr>
            <p:ph idx="4294967295"/>
          </p:nvPr>
        </p:nvSpPr>
        <p:spPr>
          <a:xfrm>
            <a:off x="506095" y="838835"/>
            <a:ext cx="7776845" cy="487045"/>
          </a:xfrm>
        </p:spPr>
        <p:txBody>
          <a:bodyPr wrap="square" lIns="91440" tIns="45720" rIns="91440" bIns="45720" anchor="t" anchorCtr="0"/>
          <a:p>
            <a:pPr eaLnBrk="1" hangingPunct="1">
              <a:buNone/>
            </a:pPr>
            <a:r>
              <a:rPr lang="zh-CN" altLang="zh-CN" sz="2800" b="1" dirty="0"/>
              <a:t>以正面</a:t>
            </a:r>
            <a:r>
              <a:rPr lang="zh-CN" altLang="zh-CN" sz="2800" b="1" dirty="0">
                <a:solidFill>
                  <a:srgbClr val="FF0000"/>
                </a:solidFill>
              </a:rPr>
              <a:t>字序</a:t>
            </a:r>
            <a:r>
              <a:rPr lang="zh-CN" altLang="zh-CN" sz="2800" b="1" dirty="0"/>
              <a:t>或</a:t>
            </a:r>
            <a:r>
              <a:rPr lang="zh-CN" altLang="zh-CN" sz="2800" b="1" dirty="0">
                <a:solidFill>
                  <a:srgbClr val="FF0000"/>
                </a:solidFill>
              </a:rPr>
              <a:t>缺口</a:t>
            </a:r>
            <a:r>
              <a:rPr lang="zh-CN" altLang="zh-CN" sz="2800" b="1" dirty="0"/>
              <a:t>下方定位 1，</a:t>
            </a:r>
            <a:r>
              <a:rPr lang="zh-CN" altLang="zh-CN" sz="2800" b="1" dirty="0">
                <a:solidFill>
                  <a:srgbClr val="FF0000"/>
                </a:solidFill>
              </a:rPr>
              <a:t>逆时针</a:t>
            </a:r>
            <a:r>
              <a:rPr lang="zh-CN" altLang="zh-CN" sz="2800" b="1" dirty="0"/>
              <a:t>转一圈。</a:t>
            </a:r>
            <a:endParaRPr lang="zh-CN" altLang="zh-CN" sz="2800" b="1" dirty="0"/>
          </a:p>
        </p:txBody>
      </p:sp>
      <p:graphicFrame>
        <p:nvGraphicFramePr>
          <p:cNvPr id="26632" name="Object 9"/>
          <p:cNvGraphicFramePr>
            <a:graphicFrameLocks noChangeAspect="1"/>
          </p:cNvGraphicFramePr>
          <p:nvPr/>
        </p:nvGraphicFramePr>
        <p:xfrm>
          <a:off x="5278755" y="2887980"/>
          <a:ext cx="2709863" cy="2436813"/>
        </p:xfrm>
        <a:graphic>
          <a:graphicData uri="http://schemas.openxmlformats.org/presentationml/2006/ole">
            <mc:AlternateContent xmlns:mc="http://schemas.openxmlformats.org/markup-compatibility/2006">
              <mc:Choice xmlns:v="urn:schemas-microsoft-com:vml" Requires="v">
                <p:oleObj spid="_x0000_s3077" name="" r:id="rId2" imgW="1289685" imgH="1141730" progId="WPS.Doc.6">
                  <p:embed/>
                </p:oleObj>
              </mc:Choice>
              <mc:Fallback>
                <p:oleObj name="" r:id="rId2" imgW="1289685" imgH="1141730" progId="WPS.Doc.6">
                  <p:embed/>
                  <p:pic>
                    <p:nvPicPr>
                      <p:cNvPr id="0" name="图片 3076"/>
                      <p:cNvPicPr/>
                      <p:nvPr/>
                    </p:nvPicPr>
                    <p:blipFill>
                      <a:blip r:embed="rId3"/>
                      <a:srcRect l="3044" r="-1378"/>
                      <a:stretch>
                        <a:fillRect/>
                      </a:stretch>
                    </p:blipFill>
                    <p:spPr>
                      <a:xfrm>
                        <a:off x="5278755" y="2887980"/>
                        <a:ext cx="2709863" cy="2436813"/>
                      </a:xfrm>
                      <a:prstGeom prst="rect">
                        <a:avLst/>
                      </a:prstGeom>
                      <a:solidFill>
                        <a:schemeClr val="bg1"/>
                      </a:solidFill>
                      <a:ln w="38100">
                        <a:noFill/>
                        <a:miter/>
                      </a:ln>
                    </p:spPr>
                  </p:pic>
                </p:oleObj>
              </mc:Fallback>
            </mc:AlternateContent>
          </a:graphicData>
        </a:graphic>
      </p:graphicFrame>
      <p:sp>
        <p:nvSpPr>
          <p:cNvPr id="26633" name="Text Box 10"/>
          <p:cNvSpPr txBox="1"/>
          <p:nvPr/>
        </p:nvSpPr>
        <p:spPr>
          <a:xfrm>
            <a:off x="5558790" y="3296285"/>
            <a:ext cx="456565" cy="1296670"/>
          </a:xfrm>
          <a:prstGeom prst="rect">
            <a:avLst/>
          </a:prstGeom>
          <a:noFill/>
          <a:ln w="9525">
            <a:noFill/>
          </a:ln>
        </p:spPr>
        <p:txBody>
          <a:bodyPr anchor="t" anchorCtr="0">
            <a:noAutofit/>
          </a:bodyPr>
          <a:p>
            <a:pPr>
              <a:spcBef>
                <a:spcPct val="50000"/>
              </a:spcBef>
            </a:pPr>
            <a:r>
              <a:rPr lang="zh-CN" altLang="zh-CN" sz="2000" b="1" dirty="0">
                <a:solidFill>
                  <a:srgbClr val="FF0000"/>
                </a:solidFill>
                <a:latin typeface="Tahoma" panose="020B0604030504040204" pitchFamily="34" charset="0"/>
                <a:ea typeface="宋体" panose="02010600030101010101" pitchFamily="2" charset="-122"/>
              </a:rPr>
              <a:t>半圆缺口</a:t>
            </a:r>
            <a:endParaRPr lang="zh-CN" altLang="zh-CN" sz="2000" b="1" dirty="0">
              <a:solidFill>
                <a:srgbClr val="FF0000"/>
              </a:solidFill>
              <a:latin typeface="Tahoma" panose="020B0604030504040204" pitchFamily="34" charset="0"/>
              <a:ea typeface="宋体" panose="02010600030101010101" pitchFamily="2" charset="-122"/>
            </a:endParaRPr>
          </a:p>
        </p:txBody>
      </p:sp>
      <p:sp>
        <p:nvSpPr>
          <p:cNvPr id="26634" name="Text Box 11"/>
          <p:cNvSpPr txBox="1"/>
          <p:nvPr/>
        </p:nvSpPr>
        <p:spPr>
          <a:xfrm>
            <a:off x="6009640" y="3442335"/>
            <a:ext cx="1624965" cy="871220"/>
          </a:xfrm>
          <a:prstGeom prst="rect">
            <a:avLst/>
          </a:prstGeom>
          <a:noFill/>
          <a:ln w="9525">
            <a:noFill/>
          </a:ln>
        </p:spPr>
        <p:txBody>
          <a:bodyPr anchor="t" anchorCtr="0">
            <a:noAutofit/>
          </a:bodyPr>
          <a:p>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741 …</a:t>
            </a:r>
            <a:endParaRPr lang="zh-CN"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68" name="Text Box 12"/>
          <p:cNvSpPr txBox="1"/>
          <p:nvPr/>
        </p:nvSpPr>
        <p:spPr>
          <a:xfrm>
            <a:off x="1700530" y="2919730"/>
            <a:ext cx="161925" cy="276860"/>
          </a:xfrm>
          <a:prstGeom prst="rect">
            <a:avLst/>
          </a:prstGeom>
          <a:solidFill>
            <a:schemeClr val="bg1"/>
          </a:solidFill>
          <a:ln w="9525">
            <a:noFill/>
          </a:ln>
        </p:spPr>
        <p:txBody>
          <a:bodyPr lIns="0" tIns="0" rIns="0" bIns="0" anchor="t" anchorCtr="0">
            <a:spAutoFit/>
          </a:bodyPr>
          <a:p>
            <a:pPr>
              <a:spcBef>
                <a:spcPct val="50000"/>
              </a:spcBef>
            </a:pPr>
            <a:r>
              <a:rPr lang="zh-CN" altLang="zh-CN" dirty="0">
                <a:latin typeface="Tahoma" panose="020B0604030504040204" pitchFamily="34" charset="0"/>
                <a:ea typeface="宋体" panose="02010600030101010101" pitchFamily="2" charset="-122"/>
              </a:rPr>
              <a:t>7</a:t>
            </a:r>
            <a:endParaRPr lang="zh-CN" altLang="zh-CN" dirty="0">
              <a:latin typeface="Tahoma" panose="020B0604030504040204" pitchFamily="34" charset="0"/>
              <a:ea typeface="宋体" panose="02010600030101010101" pitchFamily="2" charset="-122"/>
            </a:endParaRPr>
          </a:p>
        </p:txBody>
      </p:sp>
      <p:sp>
        <p:nvSpPr>
          <p:cNvPr id="19469" name="Text Box 13"/>
          <p:cNvSpPr txBox="1"/>
          <p:nvPr/>
        </p:nvSpPr>
        <p:spPr>
          <a:xfrm>
            <a:off x="805180" y="3805555"/>
            <a:ext cx="161925" cy="276860"/>
          </a:xfrm>
          <a:prstGeom prst="rect">
            <a:avLst/>
          </a:prstGeom>
          <a:solidFill>
            <a:schemeClr val="bg1"/>
          </a:solidFill>
          <a:ln w="9525">
            <a:noFill/>
          </a:ln>
        </p:spPr>
        <p:txBody>
          <a:bodyPr lIns="0" tIns="0" rIns="0" bIns="0" anchor="t" anchorCtr="0">
            <a:spAutoFit/>
          </a:bodyPr>
          <a:p>
            <a:pPr>
              <a:spcBef>
                <a:spcPct val="50000"/>
              </a:spcBef>
            </a:pPr>
            <a:r>
              <a:rPr lang="zh-CN" altLang="zh-CN" dirty="0">
                <a:latin typeface="Tahoma" panose="020B0604030504040204" pitchFamily="34" charset="0"/>
                <a:ea typeface="宋体" panose="02010600030101010101" pitchFamily="2" charset="-122"/>
              </a:rPr>
              <a:t>8</a:t>
            </a:r>
            <a:endParaRPr lang="zh-CN" altLang="zh-CN" dirty="0">
              <a:latin typeface="Tahoma" panose="020B0604030504040204" pitchFamily="34" charset="0"/>
              <a:ea typeface="宋体" panose="02010600030101010101" pitchFamily="2" charset="-122"/>
            </a:endParaRPr>
          </a:p>
        </p:txBody>
      </p:sp>
      <p:sp>
        <p:nvSpPr>
          <p:cNvPr id="19470" name="Text Box 14"/>
          <p:cNvSpPr txBox="1"/>
          <p:nvPr/>
        </p:nvSpPr>
        <p:spPr>
          <a:xfrm>
            <a:off x="1870393" y="4983480"/>
            <a:ext cx="303212" cy="276860"/>
          </a:xfrm>
          <a:prstGeom prst="rect">
            <a:avLst/>
          </a:prstGeom>
          <a:solidFill>
            <a:schemeClr val="bg1"/>
          </a:solidFill>
          <a:ln w="9525">
            <a:noFill/>
          </a:ln>
        </p:spPr>
        <p:txBody>
          <a:bodyPr lIns="0" tIns="0" rIns="0" bIns="0" anchor="t" anchorCtr="0">
            <a:spAutoFit/>
          </a:bodyPr>
          <a:p>
            <a:pPr>
              <a:spcBef>
                <a:spcPct val="50000"/>
              </a:spcBef>
            </a:pPr>
            <a:r>
              <a:rPr lang="zh-CN" altLang="zh-CN" dirty="0">
                <a:latin typeface="Tahoma" panose="020B0604030504040204" pitchFamily="34" charset="0"/>
                <a:ea typeface="宋体" panose="02010600030101010101" pitchFamily="2" charset="-122"/>
              </a:rPr>
              <a:t>14</a:t>
            </a:r>
            <a:endParaRPr lang="zh-CN" altLang="zh-CN" dirty="0">
              <a:latin typeface="Tahoma" panose="020B0604030504040204" pitchFamily="34" charset="0"/>
              <a:ea typeface="宋体" panose="02010600030101010101" pitchFamily="2" charset="-122"/>
            </a:endParaRPr>
          </a:p>
        </p:txBody>
      </p:sp>
      <p:sp>
        <p:nvSpPr>
          <p:cNvPr id="26638" name="Line 15"/>
          <p:cNvSpPr/>
          <p:nvPr/>
        </p:nvSpPr>
        <p:spPr>
          <a:xfrm flipV="1">
            <a:off x="7717155" y="2851468"/>
            <a:ext cx="565150" cy="998537"/>
          </a:xfrm>
          <a:prstGeom prst="line">
            <a:avLst/>
          </a:prstGeom>
          <a:ln w="38100" cap="flat" cmpd="sng">
            <a:solidFill>
              <a:schemeClr val="tx1"/>
            </a:solidFill>
            <a:prstDash val="solid"/>
            <a:round/>
            <a:headEnd type="none" w="med" len="med"/>
            <a:tailEnd type="none" w="med" len="med"/>
          </a:ln>
        </p:spPr>
      </p:sp>
      <p:sp>
        <p:nvSpPr>
          <p:cNvPr id="26639" name="Text Box 16"/>
          <p:cNvSpPr txBox="1"/>
          <p:nvPr/>
        </p:nvSpPr>
        <p:spPr>
          <a:xfrm>
            <a:off x="8291830" y="2427605"/>
            <a:ext cx="735013" cy="2584450"/>
          </a:xfrm>
          <a:prstGeom prst="rect">
            <a:avLst/>
          </a:prstGeom>
          <a:noFill/>
          <a:ln w="9525">
            <a:noFill/>
          </a:ln>
        </p:spPr>
        <p:txBody>
          <a:bodyPr anchor="t" anchorCtr="0">
            <a:spAutoFit/>
          </a:bodyPr>
          <a:p>
            <a:pPr algn="ctr">
              <a:spcBef>
                <a:spcPct val="50000"/>
              </a:spcBef>
            </a:pPr>
            <a:r>
              <a:rPr lang="zh-CN" altLang="zh-CN" b="1" dirty="0">
                <a:latin typeface="Tahoma" panose="020B0604030504040204" pitchFamily="34" charset="0"/>
                <a:ea typeface="宋体" panose="02010600030101010101" pitchFamily="2" charset="-122"/>
              </a:rPr>
              <a:t>不要把</a:t>
            </a:r>
            <a:r>
              <a:rPr lang="zh-CN" altLang="zh-CN" b="1" dirty="0">
                <a:solidFill>
                  <a:srgbClr val="FF0000"/>
                </a:solidFill>
                <a:latin typeface="Tahoma" panose="020B0604030504040204" pitchFamily="34" charset="0"/>
                <a:ea typeface="宋体" panose="02010600030101010101" pitchFamily="2" charset="-122"/>
              </a:rPr>
              <a:t>半圆缺口</a:t>
            </a:r>
            <a:r>
              <a:rPr lang="zh-CN" altLang="zh-CN" b="1" dirty="0">
                <a:latin typeface="Tahoma" panose="020B0604030504040204" pitchFamily="34" charset="0"/>
                <a:ea typeface="宋体" panose="02010600030101010101" pitchFamily="2" charset="-122"/>
              </a:rPr>
              <a:t>和尾部的圆形凹点混淆！</a:t>
            </a:r>
            <a:endParaRPr lang="zh-CN" altLang="zh-CN" b="1" dirty="0">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61"/>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9468"/>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499"/>
                                          </p:stCondLst>
                                        </p:cTn>
                                        <p:tgtEl>
                                          <p:spTgt spid="19463"/>
                                        </p:tgtEl>
                                        <p:attrNameLst>
                                          <p:attrName>style.visibility</p:attrName>
                                        </p:attrNameLst>
                                      </p:cBhvr>
                                      <p:to>
                                        <p:strVal val="visible"/>
                                      </p:to>
                                    </p:se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19469"/>
                                        </p:tgtEl>
                                        <p:attrNameLst>
                                          <p:attrName>style.visibility</p:attrName>
                                        </p:attrNameLst>
                                      </p:cBhvr>
                                      <p:to>
                                        <p:strVal val="visible"/>
                                      </p:to>
                                    </p:set>
                                  </p:childTnLst>
                                </p:cTn>
                              </p:par>
                            </p:childTnLst>
                          </p:cTn>
                        </p:par>
                        <p:par>
                          <p:cTn id="20" fill="hold">
                            <p:stCondLst>
                              <p:cond delay="2000"/>
                            </p:stCondLst>
                            <p:childTnLst>
                              <p:par>
                                <p:cTn id="21" presetID="1" presetClass="entr" presetSubtype="0" fill="hold" grpId="0" nodeType="afterEffect">
                                  <p:stCondLst>
                                    <p:cond delay="0"/>
                                  </p:stCondLst>
                                  <p:childTnLst>
                                    <p:set>
                                      <p:cBhvr>
                                        <p:cTn id="22" dur="1" fill="hold">
                                          <p:stCondLst>
                                            <p:cond delay="499"/>
                                          </p:stCondLst>
                                        </p:cTn>
                                        <p:tgtEl>
                                          <p:spTgt spid="194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6632"/>
                                        </p:tgtEl>
                                        <p:attrNameLst>
                                          <p:attrName>style.visibility</p:attrName>
                                        </p:attrNameLst>
                                      </p:cBhvr>
                                      <p:to>
                                        <p:strVal val="visible"/>
                                      </p:to>
                                    </p:set>
                                    <p:animEffect transition="in" filter="wipe(down)">
                                      <p:cBhvr>
                                        <p:cTn id="27" dur="500"/>
                                        <p:tgtEl>
                                          <p:spTgt spid="26632"/>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6634"/>
                                        </p:tgtEl>
                                        <p:attrNameLst>
                                          <p:attrName>style.visibility</p:attrName>
                                        </p:attrNameLst>
                                      </p:cBhvr>
                                      <p:to>
                                        <p:strVal val="visible"/>
                                      </p:to>
                                    </p:set>
                                    <p:animEffect transition="in" filter="wipe(down)">
                                      <p:cBhvr>
                                        <p:cTn id="30" dur="500"/>
                                        <p:tgtEl>
                                          <p:spTgt spid="2663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6633"/>
                                        </p:tgtEl>
                                        <p:attrNameLst>
                                          <p:attrName>style.visibility</p:attrName>
                                        </p:attrNameLst>
                                      </p:cBhvr>
                                      <p:to>
                                        <p:strVal val="visible"/>
                                      </p:to>
                                    </p:set>
                                    <p:animEffect transition="in" filter="wipe(down)">
                                      <p:cBhvr>
                                        <p:cTn id="35" dur="500"/>
                                        <p:tgtEl>
                                          <p:spTgt spid="2663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6638"/>
                                        </p:tgtEl>
                                        <p:attrNameLst>
                                          <p:attrName>style.visibility</p:attrName>
                                        </p:attrNameLst>
                                      </p:cBhvr>
                                      <p:to>
                                        <p:strVal val="visible"/>
                                      </p:to>
                                    </p:set>
                                    <p:animEffect transition="in" filter="wipe(down)">
                                      <p:cBhvr>
                                        <p:cTn id="40" dur="500"/>
                                        <p:tgtEl>
                                          <p:spTgt spid="2663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6639"/>
                                        </p:tgtEl>
                                        <p:attrNameLst>
                                          <p:attrName>style.visibility</p:attrName>
                                        </p:attrNameLst>
                                      </p:cBhvr>
                                      <p:to>
                                        <p:strVal val="visible"/>
                                      </p:to>
                                    </p:set>
                                    <p:animEffect transition="in" filter="wipe(down)">
                                      <p:cBhvr>
                                        <p:cTn id="43" dur="500"/>
                                        <p:tgtEl>
                                          <p:spTgt spid="26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ldLvl="0" animBg="1"/>
      <p:bldP spid="19461" grpId="0" bldLvl="0" animBg="1"/>
      <p:bldP spid="19468" grpId="0" bldLvl="0" animBg="1"/>
      <p:bldP spid="19469" grpId="0" bldLvl="0" animBg="1"/>
      <p:bldP spid="19470" grpId="0" bldLvl="0" animBg="1"/>
      <p:bldP spid="26633" grpId="0"/>
      <p:bldP spid="26634" grpId="0"/>
      <p:bldP spid="2663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7649" name="Rectangle 2"/>
          <p:cNvSpPr>
            <a:spLocks noGrp="1"/>
          </p:cNvSpPr>
          <p:nvPr>
            <p:ph type="title" idx="4294967295"/>
          </p:nvPr>
        </p:nvSpPr>
        <p:spPr>
          <a:xfrm>
            <a:off x="554990" y="22225"/>
            <a:ext cx="7727950" cy="768350"/>
          </a:xfrm>
        </p:spPr>
        <p:txBody>
          <a:bodyPr wrap="square" lIns="91440" tIns="45720" rIns="91440" bIns="45720" anchor="b" anchorCtr="0"/>
          <a:p>
            <a:pPr eaLnBrk="1" hangingPunct="1"/>
            <a:r>
              <a:rPr lang="zh-CN" altLang="zh-CN" sz="4800" b="1" dirty="0">
                <a:ea typeface="楷体_GB2312" pitchFamily="49" charset="-122"/>
              </a:rPr>
              <a:t>二： 常用仪器的使用练习</a:t>
            </a:r>
            <a:endParaRPr lang="zh-CN" altLang="zh-CN" sz="4800" b="1" dirty="0">
              <a:ea typeface="楷体_GB2312" pitchFamily="49" charset="-122"/>
            </a:endParaRPr>
          </a:p>
        </p:txBody>
      </p:sp>
      <p:sp>
        <p:nvSpPr>
          <p:cNvPr id="27650" name="Rectangle 3"/>
          <p:cNvSpPr/>
          <p:nvPr/>
        </p:nvSpPr>
        <p:spPr>
          <a:xfrm>
            <a:off x="1317625" y="1263650"/>
            <a:ext cx="7180263" cy="2945765"/>
          </a:xfrm>
          <a:prstGeom prst="rect">
            <a:avLst/>
          </a:prstGeom>
          <a:noFill/>
          <a:ln w="9525">
            <a:noFill/>
          </a:ln>
        </p:spPr>
        <p:txBody>
          <a:bodyPr anchor="t" anchorCtr="0">
            <a:spAutoFit/>
          </a:bodyPr>
          <a:p>
            <a:pPr marL="457200" indent="-457200">
              <a:spcBef>
                <a:spcPct val="20000"/>
              </a:spcBef>
              <a:buClr>
                <a:srgbClr val="FF3300"/>
              </a:buClr>
              <a:buSzPct val="100000"/>
              <a:buFont typeface="Wingdings" panose="05000000000000000000" charset="0"/>
              <a:buChar char="Ø"/>
            </a:pPr>
            <a:r>
              <a:rPr lang="zh-CN" altLang="zh-CN" sz="3200" b="1" dirty="0">
                <a:latin typeface="Tahoma" panose="020B0604030504040204" pitchFamily="34" charset="0"/>
                <a:ea typeface="宋体" panose="02010600030101010101" pitchFamily="2" charset="-122"/>
              </a:rPr>
              <a:t> 面包板</a:t>
            </a:r>
            <a:endParaRPr lang="zh-CN" altLang="zh-CN" sz="3200" b="1" dirty="0">
              <a:latin typeface="Tahoma" panose="020B0604030504040204" pitchFamily="34" charset="0"/>
              <a:ea typeface="宋体" panose="02010600030101010101" pitchFamily="2" charset="-122"/>
            </a:endParaRPr>
          </a:p>
          <a:p>
            <a:pPr marL="457200" indent="-457200">
              <a:spcBef>
                <a:spcPct val="20000"/>
              </a:spcBef>
              <a:buClr>
                <a:srgbClr val="FF3300"/>
              </a:buClr>
              <a:buSzPct val="100000"/>
              <a:buFont typeface="Wingdings" panose="05000000000000000000" charset="0"/>
              <a:buChar char="Ø"/>
            </a:pPr>
            <a:r>
              <a:rPr lang="zh-CN" altLang="zh-CN" sz="3200" b="1" dirty="0">
                <a:latin typeface="Tahoma" panose="020B0604030504040204" pitchFamily="34" charset="0"/>
                <a:ea typeface="宋体" panose="02010600030101010101" pitchFamily="2" charset="-122"/>
              </a:rPr>
              <a:t> 万用表</a:t>
            </a:r>
            <a:endParaRPr lang="zh-CN" altLang="zh-CN" sz="3200" b="1" dirty="0">
              <a:latin typeface="Tahoma" panose="020B0604030504040204" pitchFamily="34" charset="0"/>
              <a:ea typeface="宋体" panose="02010600030101010101" pitchFamily="2" charset="-122"/>
            </a:endParaRPr>
          </a:p>
          <a:p>
            <a:pPr marL="457200" indent="-457200">
              <a:spcBef>
                <a:spcPct val="20000"/>
              </a:spcBef>
              <a:buClr>
                <a:srgbClr val="FF3300"/>
              </a:buClr>
              <a:buSzPct val="100000"/>
              <a:buFont typeface="Wingdings" panose="05000000000000000000" charset="0"/>
              <a:buChar char="Ø"/>
            </a:pPr>
            <a:r>
              <a:rPr lang="zh-CN" altLang="zh-CN" sz="3200" b="1" dirty="0">
                <a:latin typeface="Tahoma" panose="020B0604030504040204" pitchFamily="34" charset="0"/>
                <a:ea typeface="宋体" panose="02010600030101010101" pitchFamily="2" charset="-122"/>
              </a:rPr>
              <a:t> 稳压电源</a:t>
            </a:r>
            <a:endParaRPr lang="zh-CN" altLang="zh-CN" sz="3200" b="1" dirty="0">
              <a:latin typeface="Tahoma" panose="020B0604030504040204" pitchFamily="34" charset="0"/>
              <a:ea typeface="宋体" panose="02010600030101010101" pitchFamily="2" charset="-122"/>
            </a:endParaRPr>
          </a:p>
          <a:p>
            <a:pPr marL="457200" indent="-457200">
              <a:spcBef>
                <a:spcPct val="20000"/>
              </a:spcBef>
              <a:buClr>
                <a:srgbClr val="FF3300"/>
              </a:buClr>
              <a:buSzPct val="100000"/>
              <a:buFont typeface="Wingdings" panose="05000000000000000000" charset="0"/>
              <a:buChar char="Ø"/>
            </a:pPr>
            <a:r>
              <a:rPr lang="zh-CN" altLang="zh-CN" sz="3200" b="1" dirty="0">
                <a:latin typeface="Tahoma" panose="020B0604030504040204" pitchFamily="34" charset="0"/>
                <a:ea typeface="宋体" panose="02010600030101010101" pitchFamily="2" charset="-122"/>
              </a:rPr>
              <a:t> 波形产生器</a:t>
            </a:r>
            <a:endParaRPr lang="zh-CN" altLang="zh-CN" sz="3200" b="1" dirty="0">
              <a:latin typeface="Tahoma" panose="020B0604030504040204" pitchFamily="34" charset="0"/>
              <a:ea typeface="宋体" panose="02010600030101010101" pitchFamily="2" charset="-122"/>
            </a:endParaRPr>
          </a:p>
          <a:p>
            <a:pPr marL="457200" indent="-457200">
              <a:spcBef>
                <a:spcPct val="20000"/>
              </a:spcBef>
              <a:buClr>
                <a:srgbClr val="FF3300"/>
              </a:buClr>
              <a:buSzPct val="100000"/>
              <a:buFont typeface="Wingdings" panose="05000000000000000000" charset="0"/>
              <a:buChar char="Ø"/>
            </a:pPr>
            <a:r>
              <a:rPr lang="zh-CN" altLang="zh-CN" sz="3200" b="1" dirty="0">
                <a:latin typeface="Tahoma" panose="020B0604030504040204" pitchFamily="34" charset="0"/>
                <a:ea typeface="宋体" panose="02010600030101010101" pitchFamily="2" charset="-122"/>
              </a:rPr>
              <a:t> 示波器 </a:t>
            </a:r>
            <a:endParaRPr lang="zh-CN" altLang="zh-CN" sz="3200" b="1" dirty="0">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52120" y="230505"/>
            <a:ext cx="8530590" cy="6398895"/>
          </a:xfrm>
          <a:prstGeom prst="rect">
            <a:avLst/>
          </a:prstGeom>
        </p:spPr>
      </p:pic>
      <p:sp>
        <p:nvSpPr>
          <p:cNvPr id="3" name="矩形 2"/>
          <p:cNvSpPr/>
          <p:nvPr/>
        </p:nvSpPr>
        <p:spPr>
          <a:xfrm>
            <a:off x="6033392" y="5197560"/>
            <a:ext cx="1055370" cy="437515"/>
          </a:xfrm>
          <a:prstGeom prst="rect">
            <a:avLst/>
          </a:prstGeom>
          <a:solidFill>
            <a:srgbClr val="FF3300"/>
          </a:solidFill>
        </p:spPr>
        <p:style>
          <a:lnRef idx="3">
            <a:schemeClr val="lt1"/>
          </a:lnRef>
          <a:fillRef idx="1">
            <a:schemeClr val="accent2"/>
          </a:fillRef>
          <a:effectRef idx="1">
            <a:schemeClr val="accent2"/>
          </a:effectRef>
          <a:fontRef idx="minor">
            <a:schemeClr val="lt1"/>
          </a:fontRef>
        </p:style>
        <p:txBody>
          <a:bodyPr wrap="none" lIns="68580" tIns="34290" rIns="68580" bIns="34290">
            <a:spAutoFit/>
          </a:bodyPr>
          <a:lstStyle/>
          <a:p>
            <a:pPr algn="ctr"/>
            <a:r>
              <a:rPr lang="zh-CN" altLang="en-US" sz="2400" b="1" dirty="0">
                <a:ln w="9525">
                  <a:solidFill>
                    <a:schemeClr val="bg1"/>
                  </a:solidFill>
                  <a:prstDash val="solid"/>
                </a:ln>
                <a:solidFill>
                  <a:schemeClr val="tx1"/>
                </a:solidFill>
                <a:effectLst>
                  <a:outerShdw blurRad="12700" dist="38100" dir="2700000" algn="tl" rotWithShape="0">
                    <a:schemeClr val="bg1">
                      <a:lumMod val="50000"/>
                    </a:schemeClr>
                  </a:outerShdw>
                </a:effectLst>
              </a:rPr>
              <a:t>示波器</a:t>
            </a:r>
            <a:endParaRPr lang="zh-CN" altLang="en-US" sz="24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7" name="矩形 16"/>
          <p:cNvSpPr/>
          <p:nvPr/>
        </p:nvSpPr>
        <p:spPr>
          <a:xfrm>
            <a:off x="164763" y="1398318"/>
            <a:ext cx="1055370" cy="437515"/>
          </a:xfrm>
          <a:prstGeom prst="rect">
            <a:avLst/>
          </a:prstGeom>
          <a:solidFill>
            <a:srgbClr val="FF3300"/>
          </a:solidFill>
        </p:spPr>
        <p:style>
          <a:lnRef idx="3">
            <a:schemeClr val="lt1"/>
          </a:lnRef>
          <a:fillRef idx="1">
            <a:schemeClr val="accent2"/>
          </a:fillRef>
          <a:effectRef idx="1">
            <a:schemeClr val="accent2"/>
          </a:effectRef>
          <a:fontRef idx="minor">
            <a:schemeClr val="lt1"/>
          </a:fontRef>
        </p:style>
        <p:txBody>
          <a:bodyPr wrap="none" lIns="68580" tIns="34290" rIns="68580" bIns="34290">
            <a:spAutoFit/>
          </a:bodyPr>
          <a:lstStyle/>
          <a:p>
            <a:pPr algn="ctr"/>
            <a:r>
              <a:rPr lang="zh-CN" altLang="en-US" sz="2400" b="1" dirty="0">
                <a:ln w="9525">
                  <a:solidFill>
                    <a:schemeClr val="bg1"/>
                  </a:solidFill>
                  <a:prstDash val="solid"/>
                </a:ln>
                <a:solidFill>
                  <a:schemeClr val="tx1"/>
                </a:solidFill>
                <a:effectLst>
                  <a:outerShdw blurRad="38100" dist="38100" dir="2700000" algn="tl">
                    <a:srgbClr val="000000">
                      <a:alpha val="43137"/>
                    </a:srgbClr>
                  </a:outerShdw>
                </a:effectLst>
              </a:rPr>
              <a:t>万用表</a:t>
            </a:r>
            <a:endParaRPr lang="zh-CN" altLang="en-US" sz="2400" b="1" dirty="0">
              <a:ln w="9525">
                <a:solidFill>
                  <a:schemeClr val="bg1"/>
                </a:solidFill>
                <a:prstDash val="solid"/>
              </a:ln>
              <a:solidFill>
                <a:schemeClr val="tx1"/>
              </a:solidFill>
              <a:effectLst>
                <a:outerShdw blurRad="38100" dist="38100" dir="2700000" algn="tl">
                  <a:srgbClr val="000000">
                    <a:alpha val="43137"/>
                  </a:srgbClr>
                </a:outerShdw>
              </a:effectLst>
            </a:endParaRPr>
          </a:p>
        </p:txBody>
      </p:sp>
      <p:sp>
        <p:nvSpPr>
          <p:cNvPr id="19" name="矩形 18"/>
          <p:cNvSpPr/>
          <p:nvPr/>
        </p:nvSpPr>
        <p:spPr>
          <a:xfrm>
            <a:off x="23158" y="3113016"/>
            <a:ext cx="1051560" cy="437515"/>
          </a:xfrm>
          <a:prstGeom prst="rect">
            <a:avLst/>
          </a:prstGeom>
          <a:solidFill>
            <a:srgbClr val="FF3300"/>
          </a:solidFill>
        </p:spPr>
        <p:style>
          <a:lnRef idx="3">
            <a:schemeClr val="lt1"/>
          </a:lnRef>
          <a:fillRef idx="1">
            <a:schemeClr val="accent2"/>
          </a:fillRef>
          <a:effectRef idx="1">
            <a:schemeClr val="accent2"/>
          </a:effectRef>
          <a:fontRef idx="minor">
            <a:schemeClr val="lt1"/>
          </a:fontRef>
        </p:style>
        <p:txBody>
          <a:bodyPr wrap="none" lIns="68580" tIns="34290" rIns="68580" bIns="34290">
            <a:spAutoFit/>
          </a:bodyPr>
          <a:lstStyle/>
          <a:p>
            <a:pPr algn="ctr"/>
            <a:r>
              <a:rPr lang="zh-CN" altLang="en-US" sz="2400" dirty="0">
                <a:ln w="9525">
                  <a:solidFill>
                    <a:schemeClr val="bg1"/>
                  </a:solidFill>
                  <a:prstDash val="solid"/>
                </a:ln>
                <a:solidFill>
                  <a:schemeClr val="tx1"/>
                </a:solidFill>
                <a:effectLst/>
              </a:rPr>
              <a:t>信号源</a:t>
            </a:r>
            <a:endParaRPr lang="zh-CN" altLang="en-US" sz="2400" dirty="0">
              <a:ln w="9525">
                <a:solidFill>
                  <a:schemeClr val="bg1"/>
                </a:solidFill>
                <a:prstDash val="solid"/>
              </a:ln>
              <a:solidFill>
                <a:schemeClr val="tx1"/>
              </a:solidFill>
              <a:effectLst/>
            </a:endParaRPr>
          </a:p>
        </p:txBody>
      </p:sp>
      <p:sp>
        <p:nvSpPr>
          <p:cNvPr id="20" name="矩形 19"/>
          <p:cNvSpPr/>
          <p:nvPr/>
        </p:nvSpPr>
        <p:spPr>
          <a:xfrm>
            <a:off x="105158" y="4986320"/>
            <a:ext cx="1973580" cy="437515"/>
          </a:xfrm>
          <a:prstGeom prst="rect">
            <a:avLst/>
          </a:prstGeom>
          <a:solidFill>
            <a:srgbClr val="FF3300"/>
          </a:solidFill>
        </p:spPr>
        <p:style>
          <a:lnRef idx="3">
            <a:schemeClr val="lt1"/>
          </a:lnRef>
          <a:fillRef idx="1">
            <a:schemeClr val="accent2"/>
          </a:fillRef>
          <a:effectRef idx="1">
            <a:schemeClr val="accent2"/>
          </a:effectRef>
          <a:fontRef idx="minor">
            <a:schemeClr val="lt1"/>
          </a:fontRef>
        </p:style>
        <p:txBody>
          <a:bodyPr wrap="none" lIns="68580" tIns="34290" rIns="68580" bIns="34290">
            <a:spAutoFit/>
          </a:bodyPr>
          <a:lstStyle/>
          <a:p>
            <a:pPr algn="ctr"/>
            <a:r>
              <a:rPr lang="zh-CN" altLang="en-US" sz="2400" b="1" dirty="0">
                <a:ln w="9525">
                  <a:solidFill>
                    <a:schemeClr val="bg1"/>
                  </a:solidFill>
                  <a:prstDash val="solid"/>
                </a:ln>
                <a:solidFill>
                  <a:schemeClr val="tx1"/>
                </a:solidFill>
                <a:effectLst/>
              </a:rPr>
              <a:t>直流稳压电源</a:t>
            </a:r>
            <a:endParaRPr lang="zh-CN" altLang="en-US" sz="2400" b="1" dirty="0">
              <a:ln w="9525">
                <a:solidFill>
                  <a:schemeClr val="bg1"/>
                </a:solidFill>
                <a:prstDash val="solid"/>
              </a:ln>
              <a:solidFill>
                <a:schemeClr val="tx1"/>
              </a:solidFill>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8678" name="Rectangle 7"/>
          <p:cNvSpPr>
            <a:spLocks noGrp="1"/>
          </p:cNvSpPr>
          <p:nvPr>
            <p:ph type="title" idx="4294967295"/>
          </p:nvPr>
        </p:nvSpPr>
        <p:spPr>
          <a:xfrm>
            <a:off x="0" y="51435"/>
            <a:ext cx="6892925" cy="692150"/>
          </a:xfrm>
        </p:spPr>
        <p:txBody>
          <a:bodyPr wrap="square" lIns="91440" tIns="45720" rIns="91440" bIns="45720" anchor="b" anchorCtr="0"/>
          <a:p>
            <a:pPr eaLnBrk="1" hangingPunct="1"/>
            <a:r>
              <a:rPr lang="zh-CN" altLang="zh-CN" b="1" dirty="0">
                <a:ea typeface="楷体_GB2312" pitchFamily="49" charset="-122"/>
              </a:rPr>
              <a:t>面包板</a:t>
            </a:r>
            <a:endParaRPr lang="zh-CN" altLang="zh-CN" b="1" dirty="0">
              <a:ea typeface="楷体_GB2312" pitchFamily="49" charset="-122"/>
            </a:endParaRPr>
          </a:p>
        </p:txBody>
      </p:sp>
      <p:grpSp>
        <p:nvGrpSpPr>
          <p:cNvPr id="4" name="组合 4"/>
          <p:cNvGrpSpPr/>
          <p:nvPr/>
        </p:nvGrpSpPr>
        <p:grpSpPr bwMode="auto">
          <a:xfrm>
            <a:off x="128697" y="981234"/>
            <a:ext cx="8821737" cy="2471737"/>
            <a:chOff x="164306" y="2096852"/>
            <a:chExt cx="8821737" cy="2471737"/>
          </a:xfrm>
        </p:grpSpPr>
        <p:pic>
          <p:nvPicPr>
            <p:cNvPr id="6"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306" y="2096852"/>
              <a:ext cx="8821737" cy="24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 6"/>
            <p:cNvSpPr/>
            <p:nvPr/>
          </p:nvSpPr>
          <p:spPr bwMode="auto">
            <a:xfrm>
              <a:off x="862806" y="4184414"/>
              <a:ext cx="2233612" cy="180975"/>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sp>
          <p:nvSpPr>
            <p:cNvPr id="8" name="圆角矩形 7"/>
            <p:cNvSpPr/>
            <p:nvPr/>
          </p:nvSpPr>
          <p:spPr bwMode="auto">
            <a:xfrm>
              <a:off x="3204368" y="4184414"/>
              <a:ext cx="2951163" cy="180975"/>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sp>
          <p:nvSpPr>
            <p:cNvPr id="9" name="圆角矩形 8"/>
            <p:cNvSpPr/>
            <p:nvPr/>
          </p:nvSpPr>
          <p:spPr bwMode="auto">
            <a:xfrm>
              <a:off x="6263481" y="4184414"/>
              <a:ext cx="2232025" cy="180975"/>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sp>
          <p:nvSpPr>
            <p:cNvPr id="10" name="圆角矩形 9"/>
            <p:cNvSpPr/>
            <p:nvPr/>
          </p:nvSpPr>
          <p:spPr bwMode="auto">
            <a:xfrm rot="5400000">
              <a:off x="467518" y="2781064"/>
              <a:ext cx="755650" cy="107950"/>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sp>
          <p:nvSpPr>
            <p:cNvPr id="11" name="圆角矩形 10"/>
            <p:cNvSpPr/>
            <p:nvPr/>
          </p:nvSpPr>
          <p:spPr bwMode="auto">
            <a:xfrm>
              <a:off x="899318" y="2223852"/>
              <a:ext cx="2232025" cy="179387"/>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sp>
          <p:nvSpPr>
            <p:cNvPr id="12" name="圆角矩形 11"/>
            <p:cNvSpPr/>
            <p:nvPr/>
          </p:nvSpPr>
          <p:spPr bwMode="auto">
            <a:xfrm>
              <a:off x="6263481" y="2223852"/>
              <a:ext cx="2232025" cy="179387"/>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sp>
          <p:nvSpPr>
            <p:cNvPr id="13" name="圆角矩形 12"/>
            <p:cNvSpPr/>
            <p:nvPr/>
          </p:nvSpPr>
          <p:spPr bwMode="auto">
            <a:xfrm>
              <a:off x="3223418" y="2223852"/>
              <a:ext cx="2952750" cy="179387"/>
            </a:xfrm>
            <a:prstGeom prst="round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wrap="none"/>
            <a:lstStyle/>
            <a:p>
              <a:pPr eaLnBrk="1" hangingPunct="1">
                <a:defRPr/>
              </a:pPr>
              <a:endParaRPr lang="zh-CN" altLang="en-US">
                <a:solidFill>
                  <a:schemeClr val="tx1"/>
                </a:solidFill>
                <a:ea typeface="宋体" panose="02010600030101010101" pitchFamily="2" charset="-122"/>
              </a:endParaRPr>
            </a:p>
          </p:txBody>
        </p:sp>
      </p:grpSp>
      <p:sp>
        <p:nvSpPr>
          <p:cNvPr id="14" name="Text Box 7"/>
          <p:cNvSpPr txBox="1">
            <a:spLocks noChangeArrowheads="1"/>
          </p:cNvSpPr>
          <p:nvPr/>
        </p:nvSpPr>
        <p:spPr bwMode="auto">
          <a:xfrm>
            <a:off x="485195" y="4092043"/>
            <a:ext cx="849694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marL="342900" indent="-342900">
              <a:lnSpc>
                <a:spcPct val="150000"/>
              </a:lnSpc>
              <a:spcBef>
                <a:spcPct val="50000"/>
              </a:spcBef>
              <a:buFont typeface="Wingdings" panose="05000000000000000000" pitchFamily="2" charset="2"/>
              <a:buChar char="u"/>
            </a:pPr>
            <a:r>
              <a:rPr lang="zh-CN" altLang="en-US" sz="2400" b="0" dirty="0">
                <a:latin typeface="Times New Roman" panose="02020603050405020304" pitchFamily="18" charset="0"/>
                <a:ea typeface="楷体" panose="02010609060101010101" charset="-122"/>
                <a:cs typeface="Times New Roman" panose="02020603050405020304" pitchFamily="18" charset="0"/>
              </a:rPr>
              <a:t>面包板底下有金属条，保证相邻若干个孔</a:t>
            </a:r>
            <a:r>
              <a:rPr lang="zh-CN" altLang="en-US" sz="2400" b="0" dirty="0" smtClean="0">
                <a:latin typeface="Times New Roman" panose="02020603050405020304" pitchFamily="18" charset="0"/>
                <a:ea typeface="楷体" panose="02010609060101010101" charset="-122"/>
                <a:cs typeface="Times New Roman" panose="02020603050405020304" pitchFamily="18" charset="0"/>
              </a:rPr>
              <a:t>相连。</a:t>
            </a:r>
            <a:endParaRPr lang="en-US" altLang="zh-CN" sz="2400" b="0" dirty="0" smtClean="0">
              <a:latin typeface="Times New Roman" panose="02020603050405020304" pitchFamily="18" charset="0"/>
              <a:ea typeface="楷体" panose="02010609060101010101" charset="-122"/>
              <a:cs typeface="Times New Roman" panose="02020603050405020304" pitchFamily="18" charset="0"/>
            </a:endParaRPr>
          </a:p>
          <a:p>
            <a:pPr>
              <a:lnSpc>
                <a:spcPct val="150000"/>
              </a:lnSpc>
              <a:spcBef>
                <a:spcPct val="50000"/>
              </a:spcBef>
            </a:pPr>
            <a:r>
              <a:rPr lang="en-US" altLang="zh-CN" sz="2400" b="0" dirty="0">
                <a:latin typeface="Times New Roman" panose="02020603050405020304" pitchFamily="18" charset="0"/>
                <a:ea typeface="楷体" panose="02010609060101010101" charset="-122"/>
                <a:cs typeface="Times New Roman" panose="02020603050405020304" pitchFamily="18" charset="0"/>
              </a:rPr>
              <a:t> </a:t>
            </a:r>
            <a:r>
              <a:rPr lang="en-US" altLang="zh-CN" sz="2400" b="0" dirty="0" smtClean="0">
                <a:latin typeface="Times New Roman" panose="02020603050405020304" pitchFamily="18" charset="0"/>
                <a:ea typeface="楷体" panose="02010609060101010101" charset="-122"/>
                <a:cs typeface="Times New Roman" panose="02020603050405020304" pitchFamily="18" charset="0"/>
              </a:rPr>
              <a:t>   </a:t>
            </a:r>
            <a:r>
              <a:rPr lang="zh-CN" altLang="en-US" sz="2400" b="0" dirty="0" smtClean="0">
                <a:latin typeface="Times New Roman" panose="02020603050405020304" pitchFamily="18" charset="0"/>
                <a:ea typeface="楷体" panose="02010609060101010101" charset="-122"/>
                <a:cs typeface="Times New Roman" panose="02020603050405020304" pitchFamily="18" charset="0"/>
              </a:rPr>
              <a:t>（竖条每</a:t>
            </a:r>
            <a:r>
              <a:rPr lang="en-US" altLang="zh-CN" sz="2400" b="0" dirty="0" smtClean="0">
                <a:latin typeface="Times New Roman" panose="02020603050405020304" pitchFamily="18" charset="0"/>
                <a:ea typeface="楷体" panose="02010609060101010101" charset="-122"/>
                <a:cs typeface="Times New Roman" panose="02020603050405020304" pitchFamily="18" charset="0"/>
              </a:rPr>
              <a:t>5</a:t>
            </a:r>
            <a:r>
              <a:rPr lang="zh-CN" altLang="en-US" sz="2400" b="0" dirty="0" smtClean="0">
                <a:latin typeface="Times New Roman" panose="02020603050405020304" pitchFamily="18" charset="0"/>
                <a:ea typeface="楷体" panose="02010609060101010101" charset="-122"/>
                <a:cs typeface="Times New Roman" panose="02020603050405020304" pitchFamily="18" charset="0"/>
              </a:rPr>
              <a:t>个孔一组，横条按照</a:t>
            </a:r>
            <a:r>
              <a:rPr lang="en-US" altLang="zh-CN" sz="2400" b="0" dirty="0" smtClean="0">
                <a:latin typeface="Times New Roman" panose="02020603050405020304" pitchFamily="18" charset="0"/>
                <a:ea typeface="楷体" panose="02010609060101010101" charset="-122"/>
                <a:cs typeface="Times New Roman" panose="02020603050405020304" pitchFamily="18" charset="0"/>
              </a:rPr>
              <a:t>3/4/3</a:t>
            </a:r>
            <a:r>
              <a:rPr lang="zh-CN" altLang="en-US" sz="2400" b="0" dirty="0" smtClean="0">
                <a:latin typeface="Times New Roman" panose="02020603050405020304" pitchFamily="18" charset="0"/>
                <a:ea typeface="楷体" panose="02010609060101010101" charset="-122"/>
                <a:cs typeface="Times New Roman" panose="02020603050405020304" pitchFamily="18" charset="0"/>
              </a:rPr>
              <a:t>个</a:t>
            </a:r>
            <a:r>
              <a:rPr lang="zh-CN" altLang="en-US" sz="2400" b="0" dirty="0">
                <a:latin typeface="Times New Roman" panose="02020603050405020304" pitchFamily="18" charset="0"/>
                <a:ea typeface="楷体" panose="02010609060101010101" charset="-122"/>
                <a:cs typeface="Times New Roman" panose="02020603050405020304" pitchFamily="18" charset="0"/>
              </a:rPr>
              <a:t>孔一组</a:t>
            </a:r>
            <a:r>
              <a:rPr lang="zh-CN" altLang="en-US" sz="2400" b="0" dirty="0" smtClean="0">
                <a:latin typeface="Times New Roman" panose="02020603050405020304" pitchFamily="18" charset="0"/>
                <a:ea typeface="楷体" panose="02010609060101010101" charset="-122"/>
                <a:cs typeface="Times New Roman" panose="02020603050405020304" pitchFamily="18" charset="0"/>
              </a:rPr>
              <a:t>）</a:t>
            </a:r>
            <a:endParaRPr lang="zh-CN" altLang="en-US" sz="2400" b="0" dirty="0">
              <a:latin typeface="Times New Roman" panose="02020603050405020304" pitchFamily="18" charset="0"/>
              <a:ea typeface="楷体" panose="02010609060101010101" charset="-122"/>
              <a:cs typeface="Times New Roman" panose="02020603050405020304" pitchFamily="18" charset="0"/>
            </a:endParaRPr>
          </a:p>
          <a:p>
            <a:pPr marL="342900" indent="-342900">
              <a:lnSpc>
                <a:spcPct val="150000"/>
              </a:lnSpc>
              <a:spcBef>
                <a:spcPct val="50000"/>
              </a:spcBef>
              <a:buFont typeface="Wingdings" panose="05000000000000000000" pitchFamily="2" charset="2"/>
              <a:buChar char="u"/>
            </a:pPr>
            <a:r>
              <a:rPr lang="zh-CN" altLang="en-US" sz="2400" b="0" dirty="0">
                <a:latin typeface="Times New Roman" panose="02020603050405020304" pitchFamily="18" charset="0"/>
                <a:ea typeface="楷体" panose="02010609060101010101" charset="-122"/>
                <a:cs typeface="Times New Roman" panose="02020603050405020304" pitchFamily="18" charset="0"/>
              </a:rPr>
              <a:t>插入面包板的导线或器件引脚要适当，通常在</a:t>
            </a:r>
            <a:r>
              <a:rPr lang="en-US" altLang="zh-CN" sz="2400" b="0" dirty="0">
                <a:latin typeface="Times New Roman" panose="02020603050405020304" pitchFamily="18" charset="0"/>
                <a:ea typeface="楷体" panose="02010609060101010101" charset="-122"/>
                <a:cs typeface="Times New Roman" panose="02020603050405020304" pitchFamily="18" charset="0"/>
              </a:rPr>
              <a:t>0.7~1cm</a:t>
            </a:r>
            <a:r>
              <a:rPr lang="zh-CN" altLang="en-US" sz="2400" b="0" dirty="0">
                <a:latin typeface="Times New Roman" panose="02020603050405020304" pitchFamily="18" charset="0"/>
                <a:ea typeface="楷体" panose="02010609060101010101" charset="-122"/>
                <a:cs typeface="Times New Roman" panose="02020603050405020304" pitchFamily="18" charset="0"/>
              </a:rPr>
              <a:t>左右。</a:t>
            </a:r>
            <a:endParaRPr lang="zh-CN" altLang="en-US" sz="2400" b="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p:pic>
        <p:nvPicPr>
          <p:cNvPr id="28673" name="Picture 2"/>
          <p:cNvPicPr>
            <a:picLocks noChangeAspect="1"/>
          </p:cNvPicPr>
          <p:nvPr/>
        </p:nvPicPr>
        <p:blipFill>
          <a:blip r:embed="rId1"/>
          <a:stretch>
            <a:fillRect/>
          </a:stretch>
        </p:blipFill>
        <p:spPr>
          <a:xfrm>
            <a:off x="755650" y="1052513"/>
            <a:ext cx="7751763" cy="2813050"/>
          </a:xfrm>
          <a:prstGeom prst="rect">
            <a:avLst/>
          </a:prstGeom>
          <a:noFill/>
          <a:ln w="9525">
            <a:noFill/>
          </a:ln>
        </p:spPr>
      </p:pic>
      <p:pic>
        <p:nvPicPr>
          <p:cNvPr id="28674" name="Picture 3"/>
          <p:cNvPicPr>
            <a:picLocks noChangeAspect="1"/>
          </p:cNvPicPr>
          <p:nvPr/>
        </p:nvPicPr>
        <p:blipFill>
          <a:blip r:embed="rId2"/>
          <a:stretch>
            <a:fillRect/>
          </a:stretch>
        </p:blipFill>
        <p:spPr>
          <a:xfrm>
            <a:off x="755650" y="4076700"/>
            <a:ext cx="7777163" cy="2524125"/>
          </a:xfrm>
          <a:prstGeom prst="rect">
            <a:avLst/>
          </a:prstGeom>
          <a:noFill/>
          <a:ln w="9525">
            <a:noFill/>
          </a:ln>
        </p:spPr>
      </p:pic>
      <p:sp>
        <p:nvSpPr>
          <p:cNvPr id="28675" name="Line 4"/>
          <p:cNvSpPr/>
          <p:nvPr/>
        </p:nvSpPr>
        <p:spPr>
          <a:xfrm>
            <a:off x="1016000" y="1066800"/>
            <a:ext cx="7670800" cy="0"/>
          </a:xfrm>
          <a:prstGeom prst="line">
            <a:avLst/>
          </a:prstGeom>
          <a:ln w="3175" cap="flat" cmpd="sng">
            <a:solidFill>
              <a:schemeClr val="bg2"/>
            </a:solidFill>
            <a:prstDash val="solid"/>
            <a:round/>
            <a:headEnd type="none" w="med" len="med"/>
            <a:tailEnd type="none" w="med" len="med"/>
          </a:ln>
        </p:spPr>
      </p:sp>
      <p:sp>
        <p:nvSpPr>
          <p:cNvPr id="28676" name="Line 5"/>
          <p:cNvSpPr/>
          <p:nvPr/>
        </p:nvSpPr>
        <p:spPr>
          <a:xfrm>
            <a:off x="1331913" y="4352925"/>
            <a:ext cx="6769100" cy="0"/>
          </a:xfrm>
          <a:prstGeom prst="line">
            <a:avLst/>
          </a:prstGeom>
          <a:ln w="47625" cap="flat" cmpd="sng">
            <a:solidFill>
              <a:srgbClr val="FF3300"/>
            </a:solidFill>
            <a:prstDash val="solid"/>
            <a:round/>
            <a:headEnd type="none" w="med" len="med"/>
            <a:tailEnd type="none" w="med" len="med"/>
          </a:ln>
        </p:spPr>
      </p:sp>
      <p:sp>
        <p:nvSpPr>
          <p:cNvPr id="28677" name="Line 6"/>
          <p:cNvSpPr/>
          <p:nvPr/>
        </p:nvSpPr>
        <p:spPr>
          <a:xfrm>
            <a:off x="1331913" y="6381750"/>
            <a:ext cx="6696075" cy="0"/>
          </a:xfrm>
          <a:prstGeom prst="line">
            <a:avLst/>
          </a:prstGeom>
          <a:ln w="47625" cap="flat" cmpd="sng">
            <a:solidFill>
              <a:schemeClr val="tx1"/>
            </a:solidFill>
            <a:prstDash val="solid"/>
            <a:round/>
            <a:headEnd type="none" w="med" len="med"/>
            <a:tailEnd type="none" w="med" len="med"/>
          </a:ln>
        </p:spPr>
      </p:sp>
      <p:sp>
        <p:nvSpPr>
          <p:cNvPr id="28678" name="Rectangle 7"/>
          <p:cNvSpPr>
            <a:spLocks noGrp="1"/>
          </p:cNvSpPr>
          <p:nvPr>
            <p:ph type="title" idx="4294967295"/>
          </p:nvPr>
        </p:nvSpPr>
        <p:spPr>
          <a:xfrm>
            <a:off x="0" y="51435"/>
            <a:ext cx="6892925" cy="692150"/>
          </a:xfrm>
        </p:spPr>
        <p:txBody>
          <a:bodyPr wrap="square" lIns="91440" tIns="45720" rIns="91440" bIns="45720" anchor="b" anchorCtr="0"/>
          <a:p>
            <a:pPr eaLnBrk="1" hangingPunct="1"/>
            <a:r>
              <a:rPr lang="zh-CN" altLang="zh-CN" b="1" dirty="0">
                <a:ea typeface="楷体_GB2312" pitchFamily="49" charset="-122"/>
              </a:rPr>
              <a:t>面包板</a:t>
            </a:r>
            <a:endParaRPr lang="zh-CN" altLang="zh-CN" b="1" dirty="0">
              <a:ea typeface="楷体_GB2312" pitchFamily="49" charset="-122"/>
            </a:endParaRPr>
          </a:p>
        </p:txBody>
      </p:sp>
      <p:sp>
        <p:nvSpPr>
          <p:cNvPr id="28682" name="Line 11"/>
          <p:cNvSpPr/>
          <p:nvPr/>
        </p:nvSpPr>
        <p:spPr>
          <a:xfrm>
            <a:off x="7569200" y="4641850"/>
            <a:ext cx="0" cy="576263"/>
          </a:xfrm>
          <a:prstGeom prst="line">
            <a:avLst/>
          </a:prstGeom>
          <a:ln w="57150" cap="flat" cmpd="sng">
            <a:solidFill>
              <a:srgbClr val="FF3300"/>
            </a:solidFill>
            <a:prstDash val="solid"/>
            <a:round/>
            <a:headEnd type="none" w="med" len="med"/>
            <a:tailEnd type="none" w="med" len="med"/>
          </a:ln>
        </p:spPr>
      </p:sp>
      <p:sp>
        <p:nvSpPr>
          <p:cNvPr id="28683" name="Line 12"/>
          <p:cNvSpPr/>
          <p:nvPr/>
        </p:nvSpPr>
        <p:spPr>
          <a:xfrm>
            <a:off x="7720013" y="1676400"/>
            <a:ext cx="0" cy="576263"/>
          </a:xfrm>
          <a:prstGeom prst="line">
            <a:avLst/>
          </a:prstGeom>
          <a:ln w="57150" cap="flat" cmpd="sng">
            <a:solidFill>
              <a:srgbClr val="FF3300"/>
            </a:solidFill>
            <a:prstDash val="solid"/>
            <a:round/>
            <a:headEnd type="none" w="med" len="med"/>
            <a:tailEnd type="none" w="med" len="med"/>
          </a:ln>
        </p:spPr>
      </p:sp>
      <p:sp>
        <p:nvSpPr>
          <p:cNvPr id="28690" name="Line 19"/>
          <p:cNvSpPr/>
          <p:nvPr/>
        </p:nvSpPr>
        <p:spPr>
          <a:xfrm>
            <a:off x="7731125" y="2620963"/>
            <a:ext cx="0" cy="576262"/>
          </a:xfrm>
          <a:prstGeom prst="line">
            <a:avLst/>
          </a:prstGeom>
          <a:ln w="57150" cap="flat" cmpd="sng">
            <a:solidFill>
              <a:srgbClr val="FF3300"/>
            </a:solidFill>
            <a:prstDash val="solid"/>
            <a:round/>
            <a:headEnd type="none" w="med" len="med"/>
            <a:tailEnd type="none" w="med" len="med"/>
          </a:ln>
        </p:spPr>
      </p:sp>
      <p:sp>
        <p:nvSpPr>
          <p:cNvPr id="28693" name="Line 22"/>
          <p:cNvSpPr/>
          <p:nvPr/>
        </p:nvSpPr>
        <p:spPr>
          <a:xfrm>
            <a:off x="7569200" y="5507038"/>
            <a:ext cx="0" cy="576262"/>
          </a:xfrm>
          <a:prstGeom prst="line">
            <a:avLst/>
          </a:prstGeom>
          <a:ln w="57150" cap="flat" cmpd="sng">
            <a:solidFill>
              <a:srgbClr val="FF3300"/>
            </a:solidFill>
            <a:prstDash val="solid"/>
            <a:round/>
            <a:headEnd type="none" w="med" len="med"/>
            <a:tailEnd type="none" w="med" len="med"/>
          </a:ln>
        </p:spPr>
      </p:sp>
      <p:sp>
        <p:nvSpPr>
          <p:cNvPr id="3" name="Line 5"/>
          <p:cNvSpPr/>
          <p:nvPr/>
        </p:nvSpPr>
        <p:spPr>
          <a:xfrm>
            <a:off x="1243648" y="1231265"/>
            <a:ext cx="6769100" cy="0"/>
          </a:xfrm>
          <a:prstGeom prst="line">
            <a:avLst/>
          </a:prstGeom>
          <a:ln w="47625" cap="flat" cmpd="sng">
            <a:solidFill>
              <a:srgbClr val="FF3300"/>
            </a:solidFill>
            <a:prstDash val="solid"/>
            <a:round/>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wipe(left)">
                                      <p:cBhvr>
                                        <p:cTn id="12" dur="500"/>
                                        <p:tgtEl>
                                          <p:spTgt spid="286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8683"/>
                                        </p:tgtEl>
                                        <p:attrNameLst>
                                          <p:attrName>style.visibility</p:attrName>
                                        </p:attrNameLst>
                                      </p:cBhvr>
                                      <p:to>
                                        <p:strVal val="visible"/>
                                      </p:to>
                                    </p:set>
                                    <p:animEffect transition="in" filter="wipe(down)">
                                      <p:cBhvr>
                                        <p:cTn id="17" dur="500"/>
                                        <p:tgtEl>
                                          <p:spTgt spid="286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8682"/>
                                        </p:tgtEl>
                                        <p:attrNameLst>
                                          <p:attrName>style.visibility</p:attrName>
                                        </p:attrNameLst>
                                      </p:cBhvr>
                                      <p:to>
                                        <p:strVal val="visible"/>
                                      </p:to>
                                    </p:set>
                                    <p:animEffect transition="in" filter="wipe(down)">
                                      <p:cBhvr>
                                        <p:cTn id="22" dur="500"/>
                                        <p:tgtEl>
                                          <p:spTgt spid="286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690"/>
                                        </p:tgtEl>
                                        <p:attrNameLst>
                                          <p:attrName>style.visibility</p:attrName>
                                        </p:attrNameLst>
                                      </p:cBhvr>
                                      <p:to>
                                        <p:strVal val="visible"/>
                                      </p:to>
                                    </p:set>
                                    <p:animEffect transition="in" filter="wipe(down)">
                                      <p:cBhvr>
                                        <p:cTn id="27" dur="500"/>
                                        <p:tgtEl>
                                          <p:spTgt spid="286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8693"/>
                                        </p:tgtEl>
                                        <p:attrNameLst>
                                          <p:attrName>style.visibility</p:attrName>
                                        </p:attrNameLst>
                                      </p:cBhvr>
                                      <p:to>
                                        <p:strVal val="visible"/>
                                      </p:to>
                                    </p:set>
                                    <p:animEffect transition="in" filter="wipe(down)">
                                      <p:cBhvr>
                                        <p:cTn id="32" dur="500"/>
                                        <p:tgtEl>
                                          <p:spTgt spid="28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p:pic>
        <p:nvPicPr>
          <p:cNvPr id="28673" name="Picture 2"/>
          <p:cNvPicPr>
            <a:picLocks noChangeAspect="1"/>
          </p:cNvPicPr>
          <p:nvPr/>
        </p:nvPicPr>
        <p:blipFill>
          <a:blip r:embed="rId1"/>
          <a:stretch>
            <a:fillRect/>
          </a:stretch>
        </p:blipFill>
        <p:spPr>
          <a:xfrm>
            <a:off x="755650" y="1052513"/>
            <a:ext cx="7751763" cy="2813050"/>
          </a:xfrm>
          <a:prstGeom prst="rect">
            <a:avLst/>
          </a:prstGeom>
          <a:noFill/>
          <a:ln w="9525">
            <a:noFill/>
          </a:ln>
        </p:spPr>
      </p:pic>
      <p:pic>
        <p:nvPicPr>
          <p:cNvPr id="28674" name="Picture 3"/>
          <p:cNvPicPr>
            <a:picLocks noChangeAspect="1"/>
          </p:cNvPicPr>
          <p:nvPr/>
        </p:nvPicPr>
        <p:blipFill>
          <a:blip r:embed="rId2"/>
          <a:stretch>
            <a:fillRect/>
          </a:stretch>
        </p:blipFill>
        <p:spPr>
          <a:xfrm>
            <a:off x="755650" y="4076700"/>
            <a:ext cx="7777163" cy="2524125"/>
          </a:xfrm>
          <a:prstGeom prst="rect">
            <a:avLst/>
          </a:prstGeom>
          <a:noFill/>
          <a:ln w="9525">
            <a:noFill/>
          </a:ln>
        </p:spPr>
      </p:pic>
      <p:sp>
        <p:nvSpPr>
          <p:cNvPr id="28675" name="Line 4"/>
          <p:cNvSpPr/>
          <p:nvPr/>
        </p:nvSpPr>
        <p:spPr>
          <a:xfrm>
            <a:off x="1016000" y="1066800"/>
            <a:ext cx="7670800" cy="0"/>
          </a:xfrm>
          <a:prstGeom prst="line">
            <a:avLst/>
          </a:prstGeom>
          <a:ln w="3175" cap="flat" cmpd="sng">
            <a:solidFill>
              <a:schemeClr val="bg2"/>
            </a:solidFill>
            <a:prstDash val="solid"/>
            <a:round/>
            <a:headEnd type="none" w="med" len="med"/>
            <a:tailEnd type="none" w="med" len="med"/>
          </a:ln>
        </p:spPr>
      </p:sp>
      <p:sp>
        <p:nvSpPr>
          <p:cNvPr id="28676" name="Line 5"/>
          <p:cNvSpPr/>
          <p:nvPr/>
        </p:nvSpPr>
        <p:spPr>
          <a:xfrm>
            <a:off x="1331913" y="4352925"/>
            <a:ext cx="6769100" cy="0"/>
          </a:xfrm>
          <a:prstGeom prst="line">
            <a:avLst/>
          </a:prstGeom>
          <a:ln w="47625" cap="flat" cmpd="sng">
            <a:solidFill>
              <a:srgbClr val="FF3300"/>
            </a:solidFill>
            <a:prstDash val="solid"/>
            <a:round/>
            <a:headEnd type="none" w="med" len="med"/>
            <a:tailEnd type="none" w="med" len="med"/>
          </a:ln>
        </p:spPr>
      </p:sp>
      <p:sp>
        <p:nvSpPr>
          <p:cNvPr id="28677" name="Line 6"/>
          <p:cNvSpPr/>
          <p:nvPr/>
        </p:nvSpPr>
        <p:spPr>
          <a:xfrm>
            <a:off x="1331913" y="6381750"/>
            <a:ext cx="6696075" cy="0"/>
          </a:xfrm>
          <a:prstGeom prst="line">
            <a:avLst/>
          </a:prstGeom>
          <a:ln w="47625" cap="flat" cmpd="sng">
            <a:solidFill>
              <a:schemeClr val="tx1"/>
            </a:solidFill>
            <a:prstDash val="solid"/>
            <a:round/>
            <a:headEnd type="none" w="med" len="med"/>
            <a:tailEnd type="none" w="med" len="med"/>
          </a:ln>
        </p:spPr>
      </p:sp>
      <p:sp>
        <p:nvSpPr>
          <p:cNvPr id="28678" name="Rectangle 7"/>
          <p:cNvSpPr>
            <a:spLocks noGrp="1"/>
          </p:cNvSpPr>
          <p:nvPr>
            <p:ph type="title" idx="4294967295"/>
          </p:nvPr>
        </p:nvSpPr>
        <p:spPr>
          <a:xfrm>
            <a:off x="0" y="51435"/>
            <a:ext cx="6892925" cy="692150"/>
          </a:xfrm>
        </p:spPr>
        <p:txBody>
          <a:bodyPr wrap="square" lIns="91440" tIns="45720" rIns="91440" bIns="45720" anchor="b" anchorCtr="0"/>
          <a:p>
            <a:pPr eaLnBrk="1" hangingPunct="1"/>
            <a:r>
              <a:rPr lang="zh-CN" altLang="zh-CN" b="1" dirty="0">
                <a:ea typeface="楷体_GB2312" pitchFamily="49" charset="-122"/>
              </a:rPr>
              <a:t>面包板</a:t>
            </a:r>
            <a:endParaRPr lang="zh-CN" altLang="zh-CN" b="1" dirty="0">
              <a:ea typeface="楷体_GB2312" pitchFamily="49" charset="-122"/>
            </a:endParaRPr>
          </a:p>
        </p:txBody>
      </p:sp>
      <p:sp>
        <p:nvSpPr>
          <p:cNvPr id="28682" name="Line 11"/>
          <p:cNvSpPr/>
          <p:nvPr/>
        </p:nvSpPr>
        <p:spPr>
          <a:xfrm>
            <a:off x="7569200" y="4641850"/>
            <a:ext cx="0" cy="576263"/>
          </a:xfrm>
          <a:prstGeom prst="line">
            <a:avLst/>
          </a:prstGeom>
          <a:ln w="57150" cap="flat" cmpd="sng">
            <a:solidFill>
              <a:srgbClr val="FF3300"/>
            </a:solidFill>
            <a:prstDash val="solid"/>
            <a:round/>
            <a:headEnd type="none" w="med" len="med"/>
            <a:tailEnd type="none" w="med" len="med"/>
          </a:ln>
        </p:spPr>
      </p:sp>
      <p:sp>
        <p:nvSpPr>
          <p:cNvPr id="28683" name="Line 12"/>
          <p:cNvSpPr/>
          <p:nvPr/>
        </p:nvSpPr>
        <p:spPr>
          <a:xfrm>
            <a:off x="7720013" y="1676400"/>
            <a:ext cx="0" cy="576263"/>
          </a:xfrm>
          <a:prstGeom prst="line">
            <a:avLst/>
          </a:prstGeom>
          <a:ln w="57150" cap="flat" cmpd="sng">
            <a:solidFill>
              <a:srgbClr val="FF3300"/>
            </a:solidFill>
            <a:prstDash val="solid"/>
            <a:round/>
            <a:headEnd type="none" w="med" len="med"/>
            <a:tailEnd type="none" w="med" len="med"/>
          </a:ln>
        </p:spPr>
      </p:sp>
      <p:sp>
        <p:nvSpPr>
          <p:cNvPr id="28690" name="Line 19"/>
          <p:cNvSpPr/>
          <p:nvPr/>
        </p:nvSpPr>
        <p:spPr>
          <a:xfrm>
            <a:off x="7731125" y="2620963"/>
            <a:ext cx="0" cy="576262"/>
          </a:xfrm>
          <a:prstGeom prst="line">
            <a:avLst/>
          </a:prstGeom>
          <a:ln w="57150" cap="flat" cmpd="sng">
            <a:solidFill>
              <a:srgbClr val="FF3300"/>
            </a:solidFill>
            <a:prstDash val="solid"/>
            <a:round/>
            <a:headEnd type="none" w="med" len="med"/>
            <a:tailEnd type="none" w="med" len="med"/>
          </a:ln>
        </p:spPr>
      </p:sp>
      <p:sp>
        <p:nvSpPr>
          <p:cNvPr id="28693" name="Line 22"/>
          <p:cNvSpPr/>
          <p:nvPr/>
        </p:nvSpPr>
        <p:spPr>
          <a:xfrm>
            <a:off x="7569200" y="5507038"/>
            <a:ext cx="0" cy="576262"/>
          </a:xfrm>
          <a:prstGeom prst="line">
            <a:avLst/>
          </a:prstGeom>
          <a:ln w="57150" cap="flat" cmpd="sng">
            <a:solidFill>
              <a:srgbClr val="FF3300"/>
            </a:solidFill>
            <a:prstDash val="solid"/>
            <a:round/>
            <a:headEnd type="none" w="med" len="med"/>
            <a:tailEnd type="none" w="med" len="med"/>
          </a:ln>
        </p:spPr>
      </p:sp>
      <p:sp>
        <p:nvSpPr>
          <p:cNvPr id="3" name="Line 5"/>
          <p:cNvSpPr/>
          <p:nvPr/>
        </p:nvSpPr>
        <p:spPr>
          <a:xfrm>
            <a:off x="1243648" y="1231265"/>
            <a:ext cx="6769100" cy="0"/>
          </a:xfrm>
          <a:prstGeom prst="line">
            <a:avLst/>
          </a:prstGeom>
          <a:ln w="47625" cap="flat" cmpd="sng">
            <a:solidFill>
              <a:srgbClr val="FF3300"/>
            </a:solidFill>
            <a:prstDash val="solid"/>
            <a:round/>
            <a:headEnd type="none" w="med" len="med"/>
            <a:tailEnd type="none" w="med" len="med"/>
          </a:ln>
        </p:spPr>
      </p:sp>
      <p:grpSp>
        <p:nvGrpSpPr>
          <p:cNvPr id="21517" name="Group 13"/>
          <p:cNvGrpSpPr/>
          <p:nvPr/>
        </p:nvGrpSpPr>
        <p:grpSpPr>
          <a:xfrm>
            <a:off x="737870" y="802733"/>
            <a:ext cx="7954010" cy="3448227"/>
            <a:chOff x="-374" y="-173"/>
            <a:chExt cx="3168" cy="2238"/>
          </a:xfrm>
        </p:grpSpPr>
        <p:sp>
          <p:nvSpPr>
            <p:cNvPr id="28685" name="AutoShape 14"/>
            <p:cNvSpPr/>
            <p:nvPr>
              <p:custDataLst>
                <p:tags r:id="rId3"/>
              </p:custDataLst>
            </p:nvPr>
          </p:nvSpPr>
          <p:spPr>
            <a:xfrm rot="10800000">
              <a:off x="-338" y="-141"/>
              <a:ext cx="3040" cy="2206"/>
            </a:xfrm>
            <a:prstGeom prst="upArrowCallout">
              <a:avLst>
                <a:gd name="adj1" fmla="val 32093"/>
                <a:gd name="adj2" fmla="val 32089"/>
                <a:gd name="adj3" fmla="val 16625"/>
                <a:gd name="adj4" fmla="val 66667"/>
              </a:avLst>
            </a:prstGeom>
            <a:solidFill>
              <a:srgbClr val="FFFF99"/>
            </a:solidFill>
            <a:ln w="38100" cap="flat" cmpd="sng">
              <a:solidFill>
                <a:schemeClr val="hlink"/>
              </a:solidFill>
              <a:prstDash val="solid"/>
              <a:miter/>
              <a:headEnd type="none" w="med" len="med"/>
              <a:tailEnd type="none" w="med" len="med"/>
            </a:ln>
          </p:spPr>
          <p:txBody>
            <a:bodyPr wrap="none" anchor="ctr" anchorCtr="0"/>
            <a:p>
              <a:pPr algn="ctr"/>
              <a:endParaRPr lang="zh-CN" altLang="en-US" sz="2400" dirty="0">
                <a:latin typeface="Tahoma" panose="020B0604030504040204" pitchFamily="34" charset="0"/>
                <a:ea typeface="宋体" panose="02010600030101010101" pitchFamily="2" charset="-122"/>
              </a:endParaRPr>
            </a:p>
          </p:txBody>
        </p:sp>
        <p:sp>
          <p:nvSpPr>
            <p:cNvPr id="24590" name="Text Box 15"/>
            <p:cNvSpPr txBox="1"/>
            <p:nvPr>
              <p:custDataLst>
                <p:tags r:id="rId4"/>
              </p:custDataLst>
            </p:nvPr>
          </p:nvSpPr>
          <p:spPr>
            <a:xfrm>
              <a:off x="-374" y="-173"/>
              <a:ext cx="3168" cy="1018"/>
            </a:xfrm>
            <a:prstGeom prst="rect">
              <a:avLst/>
            </a:prstGeom>
            <a:noFill/>
            <a:ln w="9525">
              <a:noFill/>
            </a:ln>
          </p:spPr>
          <p:txBody>
            <a:bodyPr wrap="square" anchor="t">
              <a:spAutoFit/>
            </a:bodyPr>
            <a:p>
              <a:pPr>
                <a:lnSpc>
                  <a:spcPct val="120000"/>
                </a:lnSpc>
                <a:spcBef>
                  <a:spcPts val="0"/>
                </a:spcBef>
              </a:pPr>
              <a:r>
                <a:rPr lang="en-US" sz="2800" b="1" noProof="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zh-CN" sz="2800" b="1" noProof="1" dirty="0">
                  <a:solidFill>
                    <a:srgbClr val="FF0000"/>
                  </a:solidFill>
                  <a:latin typeface="Tahoma" panose="020B0604030504040204" pitchFamily="34" charset="0"/>
                  <a:ea typeface="宋体" panose="02010600030101010101" pitchFamily="2" charset="-122"/>
                  <a:cs typeface="+mn-cs"/>
                </a:rPr>
                <a:t>中间区</a:t>
              </a:r>
              <a:r>
                <a:rPr lang="en-US" altLang="zh-CN" sz="2800" b="1" noProof="1" dirty="0">
                  <a:solidFill>
                    <a:srgbClr val="FF0000"/>
                  </a:solidFill>
                  <a:latin typeface="Tahoma" panose="020B0604030504040204" pitchFamily="34" charset="0"/>
                  <a:ea typeface="宋体" panose="02010600030101010101" pitchFamily="2" charset="-122"/>
                  <a:cs typeface="+mn-cs"/>
                </a:rPr>
                <a:t>:</a:t>
              </a:r>
              <a:r>
                <a:rPr lang="zh-CN" altLang="zh-CN" sz="2400" noProof="1" dirty="0">
                  <a:latin typeface="楷体" panose="02010609060101010101" charset="-122"/>
                  <a:ea typeface="楷体" panose="02010609060101010101" charset="-122"/>
                  <a:cs typeface="楷体" panose="02010609060101010101" charset="-122"/>
                </a:rPr>
                <a:t>正面的孔是竖着5个一组，由金属簧片相连；</a:t>
              </a:r>
              <a:endParaRPr lang="zh-CN" altLang="zh-CN" sz="2400" noProof="1" dirty="0">
                <a:latin typeface="楷体" panose="02010609060101010101" charset="-122"/>
                <a:ea typeface="楷体" panose="02010609060101010101" charset="-122"/>
                <a:cs typeface="楷体" panose="02010609060101010101" charset="-122"/>
              </a:endParaRPr>
            </a:p>
            <a:p>
              <a:pPr>
                <a:lnSpc>
                  <a:spcPct val="120000"/>
                </a:lnSpc>
                <a:spcBef>
                  <a:spcPts val="0"/>
                </a:spcBef>
              </a:pPr>
              <a:r>
                <a:rPr lang="zh-CN" altLang="zh-CN" sz="2400" noProof="1" dirty="0">
                  <a:latin typeface="楷体" panose="02010609060101010101" charset="-122"/>
                  <a:ea typeface="楷体" panose="02010609060101010101" charset="-122"/>
                  <a:cs typeface="楷体" panose="02010609060101010101" charset="-122"/>
                </a:rPr>
                <a:t> </a:t>
              </a:r>
              <a:r>
                <a:rPr lang="en-US" altLang="zh-CN" sz="2400" noProof="1" dirty="0">
                  <a:latin typeface="楷体" panose="02010609060101010101" charset="-122"/>
                  <a:ea typeface="楷体" panose="02010609060101010101" charset="-122"/>
                  <a:cs typeface="楷体" panose="02010609060101010101" charset="-122"/>
                </a:rPr>
                <a:t>       </a:t>
              </a:r>
              <a:r>
                <a:rPr lang="zh-CN" altLang="zh-CN" sz="2400" noProof="1" dirty="0">
                  <a:solidFill>
                    <a:srgbClr val="FF0000"/>
                  </a:solidFill>
                  <a:latin typeface="楷体" panose="02010609060101010101" charset="-122"/>
                  <a:ea typeface="楷体" panose="02010609060101010101" charset="-122"/>
                  <a:cs typeface="楷体" panose="02010609060101010101" charset="-122"/>
                </a:rPr>
                <a:t>组和组</a:t>
              </a:r>
              <a:r>
                <a:rPr lang="zh-CN" altLang="zh-CN" sz="2400" noProof="1" dirty="0">
                  <a:latin typeface="楷体" panose="02010609060101010101" charset="-122"/>
                  <a:ea typeface="楷体" panose="02010609060101010101" charset="-122"/>
                  <a:cs typeface="楷体" panose="02010609060101010101" charset="-122"/>
                </a:rPr>
                <a:t>之间无连结</a:t>
              </a:r>
              <a:r>
                <a:rPr lang="zh-CN" altLang="zh-CN" sz="2400" b="1" noProof="1" dirty="0">
                  <a:latin typeface="Tahoma" panose="020B0604030504040204" pitchFamily="34" charset="0"/>
                  <a:ea typeface="宋体" panose="02010600030101010101" pitchFamily="2" charset="-122"/>
                  <a:cs typeface="+mn-cs"/>
                </a:rPr>
                <a:t>！ </a:t>
              </a:r>
              <a:endParaRPr lang="zh-CN" altLang="zh-CN" sz="2400" b="1" noProof="1" dirty="0">
                <a:latin typeface="Tahoma" panose="020B0604030504040204" pitchFamily="34" charset="0"/>
                <a:ea typeface="宋体" panose="02010600030101010101" pitchFamily="2" charset="-122"/>
              </a:endParaRPr>
            </a:p>
            <a:p>
              <a:pPr>
                <a:lnSpc>
                  <a:spcPct val="120000"/>
                </a:lnSpc>
                <a:spcBef>
                  <a:spcPts val="0"/>
                </a:spcBef>
              </a:pPr>
              <a:r>
                <a:rPr lang="en-US" sz="2800" b="1" dirty="0">
                  <a:solidFill>
                    <a:srgbClr val="FF0000"/>
                  </a:solidFill>
                  <a:latin typeface="Times New Roman" panose="02020603050405020304" pitchFamily="18" charset="0"/>
                  <a:cs typeface="Times New Roman" panose="02020603050405020304" pitchFamily="18" charset="0"/>
                  <a:sym typeface="+mn-ea"/>
                </a:rPr>
                <a:t>2) </a:t>
              </a:r>
              <a:r>
                <a:rPr lang="zh-CN" altLang="zh-CN" sz="2800" b="1" noProof="1" dirty="0">
                  <a:solidFill>
                    <a:srgbClr val="FF0000"/>
                  </a:solidFill>
                  <a:latin typeface="Tahoma" panose="020B0604030504040204" pitchFamily="34" charset="0"/>
                  <a:ea typeface="宋体" panose="02010600030101010101" pitchFamily="2" charset="-122"/>
                  <a:cs typeface="+mn-cs"/>
                </a:rPr>
                <a:t>边条</a:t>
              </a:r>
              <a:r>
                <a:rPr lang="en-US" altLang="zh-CN" sz="2800" b="1" noProof="1" dirty="0">
                  <a:solidFill>
                    <a:srgbClr val="FF0000"/>
                  </a:solidFill>
                  <a:latin typeface="Tahoma" panose="020B0604030504040204" pitchFamily="34" charset="0"/>
                  <a:ea typeface="宋体" panose="02010600030101010101" pitchFamily="2" charset="-122"/>
                  <a:cs typeface="+mn-cs"/>
                </a:rPr>
                <a:t>:</a:t>
              </a:r>
              <a:r>
                <a:rPr lang="zh-CN" altLang="zh-CN" sz="2400" noProof="1" dirty="0">
                  <a:latin typeface="楷体" panose="02010609060101010101" charset="-122"/>
                  <a:ea typeface="楷体" panose="02010609060101010101" charset="-122"/>
                  <a:cs typeface="+mn-cs"/>
                </a:rPr>
                <a:t>有两种连结方式</a:t>
              </a:r>
              <a:endParaRPr lang="zh-CN" altLang="zh-CN" sz="2400" noProof="1" dirty="0">
                <a:latin typeface="楷体" panose="02010609060101010101" charset="-122"/>
                <a:ea typeface="楷体" panose="02010609060101010101" charset="-122"/>
              </a:endParaRPr>
            </a:p>
          </p:txBody>
        </p:sp>
      </p:grpSp>
      <p:sp>
        <p:nvSpPr>
          <p:cNvPr id="8" name="文本框 7"/>
          <p:cNvSpPr txBox="1"/>
          <p:nvPr>
            <p:custDataLst>
              <p:tags r:id="rId5"/>
            </p:custDataLst>
          </p:nvPr>
        </p:nvSpPr>
        <p:spPr>
          <a:xfrm>
            <a:off x="1353185" y="2172970"/>
            <a:ext cx="5641975" cy="977265"/>
          </a:xfrm>
          <a:prstGeom prst="rect">
            <a:avLst/>
          </a:prstGeom>
          <a:noFill/>
        </p:spPr>
        <p:txBody>
          <a:bodyPr wrap="square" rtlCol="0" anchor="t">
            <a:spAutoFit/>
          </a:bodyPr>
          <a:p>
            <a:pPr marL="342900" indent="-342900">
              <a:lnSpc>
                <a:spcPct val="120000"/>
              </a:lnSpc>
              <a:spcBef>
                <a:spcPts val="0"/>
              </a:spcBef>
              <a:buFont typeface="Wingdings" panose="05000000000000000000" charset="0"/>
              <a:buChar char="l"/>
            </a:pPr>
            <a:r>
              <a:rPr lang="zh-CN" altLang="zh-CN" sz="2400" dirty="0">
                <a:latin typeface="楷体" panose="02010609060101010101" charset="-122"/>
                <a:ea typeface="楷体" panose="02010609060101010101" charset="-122"/>
                <a:sym typeface="+mn-ea"/>
              </a:rPr>
              <a:t>一种横向全部连通－正面有画线标示</a:t>
            </a:r>
            <a:endParaRPr lang="zh-CN" altLang="zh-CN" sz="2400" noProof="1" dirty="0">
              <a:latin typeface="楷体" panose="02010609060101010101" charset="-122"/>
              <a:ea typeface="楷体" panose="02010609060101010101" charset="-122"/>
            </a:endParaRPr>
          </a:p>
          <a:p>
            <a:pPr marL="342900" indent="-342900">
              <a:lnSpc>
                <a:spcPct val="120000"/>
              </a:lnSpc>
              <a:spcBef>
                <a:spcPts val="0"/>
              </a:spcBef>
              <a:buFont typeface="Wingdings" panose="05000000000000000000" charset="0"/>
              <a:buChar char="l"/>
            </a:pPr>
            <a:r>
              <a:rPr lang="zh-CN" altLang="zh-CN" sz="2400" dirty="0">
                <a:latin typeface="楷体" panose="02010609060101010101" charset="-122"/>
                <a:ea typeface="楷体" panose="02010609060101010101" charset="-122"/>
                <a:sym typeface="+mn-ea"/>
              </a:rPr>
              <a:t>另一种横向不完全连通的方式</a:t>
            </a:r>
            <a:endParaRPr lang="zh-CN" altLang="zh-CN" sz="2400" dirty="0">
              <a:latin typeface="楷体" panose="02010609060101010101" charset="-122"/>
              <a:ea typeface="楷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517"/>
                                        </p:tgtEl>
                                        <p:attrNameLst>
                                          <p:attrName>style.visibility</p:attrName>
                                        </p:attrNameLst>
                                      </p:cBhvr>
                                      <p:to>
                                        <p:strVal val="visible"/>
                                      </p:to>
                                    </p:set>
                                    <p:animEffect transition="in" filter="wipe(down)">
                                      <p:cBhvr>
                                        <p:cTn id="7" dur="500"/>
                                        <p:tgtEl>
                                          <p:spTgt spid="21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down)">
                                      <p:cBhvr>
                                        <p:cTn id="1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p:pic>
        <p:nvPicPr>
          <p:cNvPr id="28673" name="Picture 2"/>
          <p:cNvPicPr>
            <a:picLocks noChangeAspect="1"/>
          </p:cNvPicPr>
          <p:nvPr/>
        </p:nvPicPr>
        <p:blipFill>
          <a:blip r:embed="rId1"/>
          <a:stretch>
            <a:fillRect/>
          </a:stretch>
        </p:blipFill>
        <p:spPr>
          <a:xfrm>
            <a:off x="755650" y="1052513"/>
            <a:ext cx="7751763" cy="2813050"/>
          </a:xfrm>
          <a:prstGeom prst="rect">
            <a:avLst/>
          </a:prstGeom>
          <a:noFill/>
          <a:ln w="9525">
            <a:noFill/>
          </a:ln>
        </p:spPr>
      </p:pic>
      <p:pic>
        <p:nvPicPr>
          <p:cNvPr id="28674" name="Picture 3"/>
          <p:cNvPicPr>
            <a:picLocks noChangeAspect="1"/>
          </p:cNvPicPr>
          <p:nvPr/>
        </p:nvPicPr>
        <p:blipFill>
          <a:blip r:embed="rId2"/>
          <a:stretch>
            <a:fillRect/>
          </a:stretch>
        </p:blipFill>
        <p:spPr>
          <a:xfrm>
            <a:off x="755650" y="4076700"/>
            <a:ext cx="7777163" cy="2524125"/>
          </a:xfrm>
          <a:prstGeom prst="rect">
            <a:avLst/>
          </a:prstGeom>
          <a:noFill/>
          <a:ln w="9525">
            <a:noFill/>
          </a:ln>
        </p:spPr>
      </p:pic>
      <p:sp>
        <p:nvSpPr>
          <p:cNvPr id="28675" name="Line 4"/>
          <p:cNvSpPr/>
          <p:nvPr/>
        </p:nvSpPr>
        <p:spPr>
          <a:xfrm>
            <a:off x="1016000" y="1066800"/>
            <a:ext cx="7670800" cy="0"/>
          </a:xfrm>
          <a:prstGeom prst="line">
            <a:avLst/>
          </a:prstGeom>
          <a:ln w="3175" cap="flat" cmpd="sng">
            <a:solidFill>
              <a:schemeClr val="bg2"/>
            </a:solidFill>
            <a:prstDash val="solid"/>
            <a:round/>
            <a:headEnd type="none" w="med" len="med"/>
            <a:tailEnd type="none" w="med" len="med"/>
          </a:ln>
        </p:spPr>
      </p:sp>
      <p:sp>
        <p:nvSpPr>
          <p:cNvPr id="28676" name="Line 5"/>
          <p:cNvSpPr/>
          <p:nvPr/>
        </p:nvSpPr>
        <p:spPr>
          <a:xfrm>
            <a:off x="1331913" y="4424680"/>
            <a:ext cx="6769100" cy="0"/>
          </a:xfrm>
          <a:prstGeom prst="line">
            <a:avLst/>
          </a:prstGeom>
          <a:ln w="47625" cap="flat" cmpd="sng">
            <a:solidFill>
              <a:srgbClr val="FF3300"/>
            </a:solidFill>
            <a:prstDash val="solid"/>
            <a:round/>
            <a:headEnd type="none" w="med" len="med"/>
            <a:tailEnd type="none" w="med" len="med"/>
          </a:ln>
        </p:spPr>
      </p:sp>
      <p:sp>
        <p:nvSpPr>
          <p:cNvPr id="28677" name="Line 6"/>
          <p:cNvSpPr/>
          <p:nvPr/>
        </p:nvSpPr>
        <p:spPr>
          <a:xfrm>
            <a:off x="1331913" y="6381750"/>
            <a:ext cx="6696075" cy="0"/>
          </a:xfrm>
          <a:prstGeom prst="line">
            <a:avLst/>
          </a:prstGeom>
          <a:ln w="47625" cap="flat" cmpd="sng">
            <a:solidFill>
              <a:schemeClr val="tx1"/>
            </a:solidFill>
            <a:prstDash val="solid"/>
            <a:round/>
            <a:headEnd type="none" w="med" len="med"/>
            <a:tailEnd type="none" w="med" len="med"/>
          </a:ln>
        </p:spPr>
      </p:sp>
      <p:sp>
        <p:nvSpPr>
          <p:cNvPr id="28678" name="Rectangle 7"/>
          <p:cNvSpPr>
            <a:spLocks noGrp="1"/>
          </p:cNvSpPr>
          <p:nvPr>
            <p:ph type="title" idx="4294967295"/>
          </p:nvPr>
        </p:nvSpPr>
        <p:spPr>
          <a:xfrm>
            <a:off x="0" y="51435"/>
            <a:ext cx="6892925" cy="692150"/>
          </a:xfrm>
        </p:spPr>
        <p:txBody>
          <a:bodyPr wrap="square" lIns="91440" tIns="45720" rIns="91440" bIns="45720" anchor="b" anchorCtr="0"/>
          <a:p>
            <a:pPr eaLnBrk="1" hangingPunct="1"/>
            <a:r>
              <a:rPr lang="zh-CN" altLang="zh-CN" b="1" dirty="0">
                <a:ea typeface="楷体_GB2312" pitchFamily="49" charset="-122"/>
              </a:rPr>
              <a:t>面包板</a:t>
            </a:r>
            <a:endParaRPr lang="zh-CN" altLang="zh-CN" b="1" dirty="0">
              <a:ea typeface="楷体_GB2312" pitchFamily="49" charset="-122"/>
            </a:endParaRPr>
          </a:p>
        </p:txBody>
      </p:sp>
      <p:sp>
        <p:nvSpPr>
          <p:cNvPr id="28679" name="Line 8"/>
          <p:cNvSpPr/>
          <p:nvPr/>
        </p:nvSpPr>
        <p:spPr>
          <a:xfrm>
            <a:off x="1322388" y="6299518"/>
            <a:ext cx="6696075" cy="0"/>
          </a:xfrm>
          <a:prstGeom prst="line">
            <a:avLst/>
          </a:prstGeom>
          <a:ln w="47625" cap="flat" cmpd="sng">
            <a:solidFill>
              <a:srgbClr val="FF3300"/>
            </a:solidFill>
            <a:prstDash val="solid"/>
            <a:round/>
            <a:headEnd type="none" w="med" len="med"/>
            <a:tailEnd type="none" w="med" len="med"/>
          </a:ln>
        </p:spPr>
      </p:sp>
      <p:sp>
        <p:nvSpPr>
          <p:cNvPr id="28680" name="Line 9"/>
          <p:cNvSpPr/>
          <p:nvPr/>
        </p:nvSpPr>
        <p:spPr>
          <a:xfrm>
            <a:off x="7678738" y="4641850"/>
            <a:ext cx="0" cy="576263"/>
          </a:xfrm>
          <a:prstGeom prst="line">
            <a:avLst/>
          </a:prstGeom>
          <a:ln w="57150" cap="flat" cmpd="sng">
            <a:solidFill>
              <a:schemeClr val="accent2"/>
            </a:solidFill>
            <a:prstDash val="solid"/>
            <a:round/>
            <a:headEnd type="none" w="med" len="med"/>
            <a:tailEnd type="none" w="med" len="med"/>
          </a:ln>
        </p:spPr>
      </p:sp>
      <p:sp>
        <p:nvSpPr>
          <p:cNvPr id="28681" name="Line 10"/>
          <p:cNvSpPr/>
          <p:nvPr/>
        </p:nvSpPr>
        <p:spPr>
          <a:xfrm>
            <a:off x="7848600" y="1676400"/>
            <a:ext cx="0" cy="576263"/>
          </a:xfrm>
          <a:prstGeom prst="line">
            <a:avLst/>
          </a:prstGeom>
          <a:ln w="57150" cap="flat" cmpd="sng">
            <a:solidFill>
              <a:schemeClr val="accent2"/>
            </a:solidFill>
            <a:prstDash val="solid"/>
            <a:round/>
            <a:headEnd type="none" w="med" len="med"/>
            <a:tailEnd type="none" w="med" len="med"/>
          </a:ln>
        </p:spPr>
      </p:sp>
      <p:sp>
        <p:nvSpPr>
          <p:cNvPr id="28682" name="Line 11"/>
          <p:cNvSpPr/>
          <p:nvPr/>
        </p:nvSpPr>
        <p:spPr>
          <a:xfrm>
            <a:off x="7569200" y="4641850"/>
            <a:ext cx="0" cy="576263"/>
          </a:xfrm>
          <a:prstGeom prst="line">
            <a:avLst/>
          </a:prstGeom>
          <a:ln w="57150" cap="flat" cmpd="sng">
            <a:solidFill>
              <a:schemeClr val="accent2"/>
            </a:solidFill>
            <a:prstDash val="solid"/>
            <a:round/>
            <a:headEnd type="none" w="med" len="med"/>
            <a:tailEnd type="none" w="med" len="med"/>
          </a:ln>
        </p:spPr>
      </p:sp>
      <p:sp>
        <p:nvSpPr>
          <p:cNvPr id="28683" name="Line 12"/>
          <p:cNvSpPr/>
          <p:nvPr/>
        </p:nvSpPr>
        <p:spPr>
          <a:xfrm>
            <a:off x="7720013" y="1676400"/>
            <a:ext cx="0" cy="576263"/>
          </a:xfrm>
          <a:prstGeom prst="line">
            <a:avLst/>
          </a:prstGeom>
          <a:ln w="57150" cap="flat" cmpd="sng">
            <a:solidFill>
              <a:schemeClr val="accent2"/>
            </a:solidFill>
            <a:prstDash val="solid"/>
            <a:round/>
            <a:headEnd type="none" w="med" len="med"/>
            <a:tailEnd type="none" w="med" len="med"/>
          </a:ln>
        </p:spPr>
      </p:sp>
      <p:grpSp>
        <p:nvGrpSpPr>
          <p:cNvPr id="21517" name="Group 13"/>
          <p:cNvGrpSpPr/>
          <p:nvPr/>
        </p:nvGrpSpPr>
        <p:grpSpPr>
          <a:xfrm>
            <a:off x="809625" y="802733"/>
            <a:ext cx="7954010" cy="3750217"/>
            <a:chOff x="-374" y="-173"/>
            <a:chExt cx="3168" cy="2434"/>
          </a:xfrm>
        </p:grpSpPr>
        <p:sp>
          <p:nvSpPr>
            <p:cNvPr id="28685" name="AutoShape 14"/>
            <p:cNvSpPr/>
            <p:nvPr/>
          </p:nvSpPr>
          <p:spPr>
            <a:xfrm rot="10800000">
              <a:off x="-336" y="-171"/>
              <a:ext cx="3040" cy="2432"/>
            </a:xfrm>
            <a:prstGeom prst="upArrowCallout">
              <a:avLst>
                <a:gd name="adj1" fmla="val 32093"/>
                <a:gd name="adj2" fmla="val 32089"/>
                <a:gd name="adj3" fmla="val 16625"/>
                <a:gd name="adj4" fmla="val 66667"/>
              </a:avLst>
            </a:prstGeom>
            <a:solidFill>
              <a:srgbClr val="FFFF99"/>
            </a:solidFill>
            <a:ln w="38100" cap="flat" cmpd="sng">
              <a:solidFill>
                <a:schemeClr val="hlink"/>
              </a:solidFill>
              <a:prstDash val="solid"/>
              <a:miter/>
              <a:headEnd type="none" w="med" len="med"/>
              <a:tailEnd type="none" w="med" len="med"/>
            </a:ln>
          </p:spPr>
          <p:txBody>
            <a:bodyPr wrap="none" anchor="ctr" anchorCtr="0"/>
            <a:p>
              <a:pPr algn="ctr"/>
              <a:endParaRPr lang="zh-CN" altLang="en-US" sz="2400" dirty="0">
                <a:latin typeface="Tahoma" panose="020B0604030504040204" pitchFamily="34" charset="0"/>
                <a:ea typeface="宋体" panose="02010600030101010101" pitchFamily="2" charset="-122"/>
              </a:endParaRPr>
            </a:p>
          </p:txBody>
        </p:sp>
        <p:sp>
          <p:nvSpPr>
            <p:cNvPr id="24590" name="Text Box 15"/>
            <p:cNvSpPr txBox="1"/>
            <p:nvPr/>
          </p:nvSpPr>
          <p:spPr>
            <a:xfrm>
              <a:off x="-374" y="-173"/>
              <a:ext cx="3168" cy="1058"/>
            </a:xfrm>
            <a:prstGeom prst="rect">
              <a:avLst/>
            </a:prstGeom>
            <a:noFill/>
            <a:ln w="9525">
              <a:noFill/>
            </a:ln>
          </p:spPr>
          <p:txBody>
            <a:bodyPr wrap="square" anchor="t">
              <a:spAutoFit/>
            </a:bodyPr>
            <a:p>
              <a:pPr>
                <a:lnSpc>
                  <a:spcPct val="125000"/>
                </a:lnSpc>
                <a:spcBef>
                  <a:spcPts val="0"/>
                </a:spcBef>
              </a:pPr>
              <a:r>
                <a:rPr lang="en-US" sz="2800" b="1" noProof="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zh-CN" sz="2800" b="1" noProof="1" dirty="0">
                  <a:solidFill>
                    <a:srgbClr val="FF0000"/>
                  </a:solidFill>
                  <a:latin typeface="Tahoma" panose="020B0604030504040204" pitchFamily="34" charset="0"/>
                  <a:ea typeface="宋体" panose="02010600030101010101" pitchFamily="2" charset="-122"/>
                  <a:cs typeface="+mn-cs"/>
                </a:rPr>
                <a:t>中间区</a:t>
              </a:r>
              <a:r>
                <a:rPr lang="en-US" altLang="zh-CN" sz="2800" b="1" noProof="1" dirty="0">
                  <a:solidFill>
                    <a:srgbClr val="FF0000"/>
                  </a:solidFill>
                  <a:latin typeface="Tahoma" panose="020B0604030504040204" pitchFamily="34" charset="0"/>
                  <a:ea typeface="宋体" panose="02010600030101010101" pitchFamily="2" charset="-122"/>
                  <a:cs typeface="+mn-cs"/>
                </a:rPr>
                <a:t>:</a:t>
              </a:r>
              <a:r>
                <a:rPr lang="zh-CN" altLang="zh-CN" sz="2400" noProof="1" dirty="0">
                  <a:latin typeface="楷体" panose="02010609060101010101" charset="-122"/>
                  <a:ea typeface="楷体" panose="02010609060101010101" charset="-122"/>
                  <a:cs typeface="楷体" panose="02010609060101010101" charset="-122"/>
                </a:rPr>
                <a:t>正面的孔是竖着5个一组，由金属簧片相连；</a:t>
              </a:r>
              <a:endParaRPr lang="zh-CN" altLang="zh-CN" sz="2400" noProof="1" dirty="0">
                <a:latin typeface="楷体" panose="02010609060101010101" charset="-122"/>
                <a:ea typeface="楷体" panose="02010609060101010101" charset="-122"/>
                <a:cs typeface="楷体" panose="02010609060101010101" charset="-122"/>
              </a:endParaRPr>
            </a:p>
            <a:p>
              <a:pPr>
                <a:lnSpc>
                  <a:spcPct val="125000"/>
                </a:lnSpc>
                <a:spcBef>
                  <a:spcPts val="0"/>
                </a:spcBef>
              </a:pPr>
              <a:r>
                <a:rPr lang="zh-CN" altLang="zh-CN" sz="2400" noProof="1" dirty="0">
                  <a:latin typeface="楷体" panose="02010609060101010101" charset="-122"/>
                  <a:ea typeface="楷体" panose="02010609060101010101" charset="-122"/>
                  <a:cs typeface="楷体" panose="02010609060101010101" charset="-122"/>
                </a:rPr>
                <a:t> </a:t>
              </a:r>
              <a:r>
                <a:rPr lang="en-US" altLang="zh-CN" sz="2400" noProof="1" dirty="0">
                  <a:latin typeface="楷体" panose="02010609060101010101" charset="-122"/>
                  <a:ea typeface="楷体" panose="02010609060101010101" charset="-122"/>
                  <a:cs typeface="楷体" panose="02010609060101010101" charset="-122"/>
                </a:rPr>
                <a:t>       </a:t>
              </a:r>
              <a:r>
                <a:rPr lang="zh-CN" altLang="zh-CN" sz="2400" noProof="1" dirty="0">
                  <a:solidFill>
                    <a:srgbClr val="FF0000"/>
                  </a:solidFill>
                  <a:latin typeface="楷体" panose="02010609060101010101" charset="-122"/>
                  <a:ea typeface="楷体" panose="02010609060101010101" charset="-122"/>
                  <a:cs typeface="楷体" panose="02010609060101010101" charset="-122"/>
                </a:rPr>
                <a:t>组和组</a:t>
              </a:r>
              <a:r>
                <a:rPr lang="zh-CN" altLang="zh-CN" sz="2400" noProof="1" dirty="0">
                  <a:latin typeface="楷体" panose="02010609060101010101" charset="-122"/>
                  <a:ea typeface="楷体" panose="02010609060101010101" charset="-122"/>
                  <a:cs typeface="楷体" panose="02010609060101010101" charset="-122"/>
                </a:rPr>
                <a:t>之间无连结</a:t>
              </a:r>
              <a:r>
                <a:rPr lang="zh-CN" altLang="zh-CN" sz="2400" b="1" noProof="1" dirty="0">
                  <a:latin typeface="Tahoma" panose="020B0604030504040204" pitchFamily="34" charset="0"/>
                  <a:ea typeface="宋体" panose="02010600030101010101" pitchFamily="2" charset="-122"/>
                  <a:cs typeface="+mn-cs"/>
                </a:rPr>
                <a:t>！ </a:t>
              </a:r>
              <a:endParaRPr lang="zh-CN" altLang="zh-CN" sz="2400" b="1" noProof="1" dirty="0">
                <a:latin typeface="Tahoma" panose="020B0604030504040204" pitchFamily="34" charset="0"/>
                <a:ea typeface="宋体" panose="02010600030101010101" pitchFamily="2" charset="-122"/>
              </a:endParaRPr>
            </a:p>
            <a:p>
              <a:pPr>
                <a:lnSpc>
                  <a:spcPct val="125000"/>
                </a:lnSpc>
                <a:spcBef>
                  <a:spcPts val="0"/>
                </a:spcBef>
              </a:pPr>
              <a:r>
                <a:rPr lang="en-US" sz="2800" b="1" dirty="0">
                  <a:solidFill>
                    <a:srgbClr val="FF0000"/>
                  </a:solidFill>
                  <a:latin typeface="Times New Roman" panose="02020603050405020304" pitchFamily="18" charset="0"/>
                  <a:cs typeface="Times New Roman" panose="02020603050405020304" pitchFamily="18" charset="0"/>
                  <a:sym typeface="+mn-ea"/>
                </a:rPr>
                <a:t>2) </a:t>
              </a:r>
              <a:r>
                <a:rPr lang="zh-CN" altLang="zh-CN" sz="2800" b="1" noProof="1" dirty="0">
                  <a:solidFill>
                    <a:srgbClr val="FF0000"/>
                  </a:solidFill>
                  <a:latin typeface="Tahoma" panose="020B0604030504040204" pitchFamily="34" charset="0"/>
                  <a:ea typeface="宋体" panose="02010600030101010101" pitchFamily="2" charset="-122"/>
                  <a:cs typeface="+mn-cs"/>
                </a:rPr>
                <a:t>边条</a:t>
              </a:r>
              <a:r>
                <a:rPr lang="en-US" altLang="zh-CN" sz="2800" b="1" noProof="1" dirty="0">
                  <a:solidFill>
                    <a:srgbClr val="FF0000"/>
                  </a:solidFill>
                  <a:latin typeface="Tahoma" panose="020B0604030504040204" pitchFamily="34" charset="0"/>
                  <a:ea typeface="宋体" panose="02010600030101010101" pitchFamily="2" charset="-122"/>
                  <a:cs typeface="+mn-cs"/>
                </a:rPr>
                <a:t>:</a:t>
              </a:r>
              <a:r>
                <a:rPr lang="zh-CN" altLang="zh-CN" sz="2400" noProof="1" dirty="0">
                  <a:latin typeface="楷体" panose="02010609060101010101" charset="-122"/>
                  <a:ea typeface="楷体" panose="02010609060101010101" charset="-122"/>
                  <a:cs typeface="+mn-cs"/>
                </a:rPr>
                <a:t>有两种连结方式</a:t>
              </a:r>
              <a:endParaRPr lang="zh-CN" altLang="zh-CN" sz="2400" noProof="1" dirty="0">
                <a:latin typeface="楷体" panose="02010609060101010101" charset="-122"/>
                <a:ea typeface="楷体" panose="02010609060101010101" charset="-122"/>
              </a:endParaRPr>
            </a:p>
          </p:txBody>
        </p:sp>
      </p:grpSp>
      <p:sp>
        <p:nvSpPr>
          <p:cNvPr id="28687" name="Line 16"/>
          <p:cNvSpPr/>
          <p:nvPr/>
        </p:nvSpPr>
        <p:spPr>
          <a:xfrm>
            <a:off x="7869238" y="2620963"/>
            <a:ext cx="0" cy="576262"/>
          </a:xfrm>
          <a:prstGeom prst="line">
            <a:avLst/>
          </a:prstGeom>
          <a:ln w="57150" cap="flat" cmpd="sng">
            <a:solidFill>
              <a:schemeClr val="accent2"/>
            </a:solidFill>
            <a:prstDash val="solid"/>
            <a:round/>
            <a:headEnd type="none" w="med" len="med"/>
            <a:tailEnd type="none" w="med" len="med"/>
          </a:ln>
        </p:spPr>
      </p:sp>
      <p:sp>
        <p:nvSpPr>
          <p:cNvPr id="28688" name="Line 17"/>
          <p:cNvSpPr/>
          <p:nvPr/>
        </p:nvSpPr>
        <p:spPr>
          <a:xfrm>
            <a:off x="7996238" y="1676400"/>
            <a:ext cx="0" cy="576263"/>
          </a:xfrm>
          <a:prstGeom prst="line">
            <a:avLst/>
          </a:prstGeom>
          <a:ln w="57150" cap="flat" cmpd="sng">
            <a:solidFill>
              <a:schemeClr val="accent2"/>
            </a:solidFill>
            <a:prstDash val="solid"/>
            <a:round/>
            <a:headEnd type="none" w="med" len="med"/>
            <a:tailEnd type="none" w="med" len="med"/>
          </a:ln>
        </p:spPr>
      </p:sp>
      <p:sp>
        <p:nvSpPr>
          <p:cNvPr id="28689" name="Line 18"/>
          <p:cNvSpPr/>
          <p:nvPr/>
        </p:nvSpPr>
        <p:spPr>
          <a:xfrm>
            <a:off x="7996238" y="2640013"/>
            <a:ext cx="0" cy="576262"/>
          </a:xfrm>
          <a:prstGeom prst="line">
            <a:avLst/>
          </a:prstGeom>
          <a:ln w="57150" cap="flat" cmpd="sng">
            <a:solidFill>
              <a:schemeClr val="accent2"/>
            </a:solidFill>
            <a:prstDash val="solid"/>
            <a:round/>
            <a:headEnd type="none" w="med" len="med"/>
            <a:tailEnd type="none" w="med" len="med"/>
          </a:ln>
        </p:spPr>
      </p:sp>
      <p:sp>
        <p:nvSpPr>
          <p:cNvPr id="28690" name="Line 19"/>
          <p:cNvSpPr/>
          <p:nvPr/>
        </p:nvSpPr>
        <p:spPr>
          <a:xfrm>
            <a:off x="7731125" y="2620963"/>
            <a:ext cx="0" cy="576262"/>
          </a:xfrm>
          <a:prstGeom prst="line">
            <a:avLst/>
          </a:prstGeom>
          <a:ln w="57150" cap="flat" cmpd="sng">
            <a:solidFill>
              <a:schemeClr val="accent2"/>
            </a:solidFill>
            <a:prstDash val="solid"/>
            <a:round/>
            <a:headEnd type="none" w="med" len="med"/>
            <a:tailEnd type="none" w="med" len="med"/>
          </a:ln>
        </p:spPr>
      </p:sp>
      <p:sp>
        <p:nvSpPr>
          <p:cNvPr id="28691" name="Line 20"/>
          <p:cNvSpPr/>
          <p:nvPr/>
        </p:nvSpPr>
        <p:spPr>
          <a:xfrm>
            <a:off x="7777163" y="4651375"/>
            <a:ext cx="0" cy="576263"/>
          </a:xfrm>
          <a:prstGeom prst="line">
            <a:avLst/>
          </a:prstGeom>
          <a:ln w="57150" cap="flat" cmpd="sng">
            <a:solidFill>
              <a:schemeClr val="accent2"/>
            </a:solidFill>
            <a:prstDash val="solid"/>
            <a:round/>
            <a:headEnd type="none" w="med" len="med"/>
            <a:tailEnd type="none" w="med" len="med"/>
          </a:ln>
        </p:spPr>
      </p:sp>
      <p:sp>
        <p:nvSpPr>
          <p:cNvPr id="28692" name="Line 21"/>
          <p:cNvSpPr/>
          <p:nvPr/>
        </p:nvSpPr>
        <p:spPr>
          <a:xfrm>
            <a:off x="7678738" y="5507038"/>
            <a:ext cx="0" cy="576262"/>
          </a:xfrm>
          <a:prstGeom prst="line">
            <a:avLst/>
          </a:prstGeom>
          <a:ln w="57150" cap="flat" cmpd="sng">
            <a:solidFill>
              <a:schemeClr val="accent2"/>
            </a:solidFill>
            <a:prstDash val="solid"/>
            <a:round/>
            <a:headEnd type="none" w="med" len="med"/>
            <a:tailEnd type="none" w="med" len="med"/>
          </a:ln>
        </p:spPr>
      </p:sp>
      <p:sp>
        <p:nvSpPr>
          <p:cNvPr id="28693" name="Line 22"/>
          <p:cNvSpPr/>
          <p:nvPr/>
        </p:nvSpPr>
        <p:spPr>
          <a:xfrm>
            <a:off x="7569200" y="5507038"/>
            <a:ext cx="0" cy="576262"/>
          </a:xfrm>
          <a:prstGeom prst="line">
            <a:avLst/>
          </a:prstGeom>
          <a:ln w="57150" cap="flat" cmpd="sng">
            <a:solidFill>
              <a:schemeClr val="accent2"/>
            </a:solidFill>
            <a:prstDash val="solid"/>
            <a:round/>
            <a:headEnd type="none" w="med" len="med"/>
            <a:tailEnd type="none" w="med" len="med"/>
          </a:ln>
        </p:spPr>
      </p:sp>
      <p:sp>
        <p:nvSpPr>
          <p:cNvPr id="28694" name="Line 23"/>
          <p:cNvSpPr/>
          <p:nvPr/>
        </p:nvSpPr>
        <p:spPr>
          <a:xfrm>
            <a:off x="7777163" y="5516563"/>
            <a:ext cx="0" cy="576262"/>
          </a:xfrm>
          <a:prstGeom prst="line">
            <a:avLst/>
          </a:prstGeom>
          <a:ln w="57150" cap="flat" cmpd="sng">
            <a:solidFill>
              <a:schemeClr val="accent2"/>
            </a:solidFill>
            <a:prstDash val="solid"/>
            <a:round/>
            <a:headEnd type="none" w="med" len="med"/>
            <a:tailEnd type="none" w="med" len="med"/>
          </a:ln>
        </p:spPr>
      </p:sp>
      <p:sp>
        <p:nvSpPr>
          <p:cNvPr id="2" name="文本框 1"/>
          <p:cNvSpPr txBox="1"/>
          <p:nvPr/>
        </p:nvSpPr>
        <p:spPr>
          <a:xfrm>
            <a:off x="1496695" y="2316480"/>
            <a:ext cx="5641975" cy="1014730"/>
          </a:xfrm>
          <a:prstGeom prst="rect">
            <a:avLst/>
          </a:prstGeom>
          <a:noFill/>
        </p:spPr>
        <p:txBody>
          <a:bodyPr wrap="square" rtlCol="0" anchor="t">
            <a:spAutoFit/>
          </a:bodyPr>
          <a:p>
            <a:pPr marL="342900" indent="-342900">
              <a:lnSpc>
                <a:spcPct val="125000"/>
              </a:lnSpc>
              <a:spcBef>
                <a:spcPts val="0"/>
              </a:spcBef>
              <a:buFont typeface="Wingdings" panose="05000000000000000000" charset="0"/>
              <a:buChar char="l"/>
            </a:pPr>
            <a:r>
              <a:rPr lang="zh-CN" altLang="zh-CN" sz="2400" dirty="0">
                <a:latin typeface="楷体" panose="02010609060101010101" charset="-122"/>
                <a:ea typeface="楷体" panose="02010609060101010101" charset="-122"/>
                <a:sym typeface="+mn-ea"/>
              </a:rPr>
              <a:t>一种横向全部连通－正面有画线标示</a:t>
            </a:r>
            <a:endParaRPr lang="zh-CN" altLang="zh-CN" sz="2400" noProof="1" dirty="0">
              <a:latin typeface="楷体" panose="02010609060101010101" charset="-122"/>
              <a:ea typeface="楷体" panose="02010609060101010101" charset="-122"/>
            </a:endParaRPr>
          </a:p>
          <a:p>
            <a:pPr marL="342900" indent="-342900">
              <a:lnSpc>
                <a:spcPct val="125000"/>
              </a:lnSpc>
              <a:spcBef>
                <a:spcPts val="0"/>
              </a:spcBef>
              <a:buFont typeface="Wingdings" panose="05000000000000000000" charset="0"/>
              <a:buChar char="l"/>
            </a:pPr>
            <a:r>
              <a:rPr lang="zh-CN" altLang="zh-CN" sz="2400" dirty="0">
                <a:latin typeface="楷体" panose="02010609060101010101" charset="-122"/>
                <a:ea typeface="楷体" panose="02010609060101010101" charset="-122"/>
                <a:sym typeface="+mn-ea"/>
              </a:rPr>
              <a:t>另一种横向不完全连通的方式</a:t>
            </a:r>
            <a:endParaRPr lang="zh-CN" altLang="zh-CN" sz="2400" dirty="0">
              <a:latin typeface="楷体" panose="02010609060101010101" charset="-122"/>
              <a:ea typeface="楷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517"/>
                                        </p:tgtEl>
                                        <p:attrNameLst>
                                          <p:attrName>style.visibility</p:attrName>
                                        </p:attrNameLst>
                                      </p:cBhvr>
                                      <p:to>
                                        <p:strVal val="visible"/>
                                      </p:to>
                                    </p:set>
                                    <p:animEffect transition="in" filter="wipe(down)">
                                      <p:cBhvr>
                                        <p:cTn id="7" dur="500"/>
                                        <p:tgtEl>
                                          <p:spTgt spid="21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dow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down)">
                                      <p:cBhvr>
                                        <p:cTn id="1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40962" name="Rectangle 2"/>
          <p:cNvSpPr>
            <a:spLocks noGrp="1" noChangeArrowheads="1"/>
          </p:cNvSpPr>
          <p:nvPr>
            <p:ph type="title"/>
          </p:nvPr>
        </p:nvSpPr>
        <p:spPr>
          <a:xfrm>
            <a:off x="457200" y="188913"/>
            <a:ext cx="7138988" cy="7778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smtClean="0">
                <a:ln>
                  <a:noFill/>
                </a:ln>
                <a:solidFill>
                  <a:srgbClr val="FF3300"/>
                </a:solidFill>
                <a:effectLst>
                  <a:outerShdw blurRad="38100" dist="38100" dir="2700000" algn="tl">
                    <a:srgbClr val="000000"/>
                  </a:outerShdw>
                </a:effectLst>
                <a:uLnTx/>
                <a:uFillTx/>
                <a:latin typeface="+mj-lt"/>
                <a:ea typeface="黑体" panose="02010609060101010101" pitchFamily="49" charset="-122"/>
                <a:cs typeface="+mj-cs"/>
              </a:rPr>
              <a:t>   集成芯片的使用插板</a:t>
            </a:r>
            <a:endParaRPr kumimoji="0" lang="zh-CN" altLang="en-US" sz="4400" b="0" i="0" u="none" strike="noStrike" kern="0" cap="none" spc="0" normalizeH="0" baseline="0" noProof="0" dirty="0" smtClean="0">
              <a:ln>
                <a:noFill/>
              </a:ln>
              <a:solidFill>
                <a:srgbClr val="FF3300"/>
              </a:solidFill>
              <a:effectLst>
                <a:outerShdw blurRad="38100" dist="38100" dir="2700000" algn="tl">
                  <a:srgbClr val="000000"/>
                </a:outerShdw>
              </a:effectLst>
              <a:uLnTx/>
              <a:uFillTx/>
              <a:latin typeface="+mj-lt"/>
              <a:ea typeface="黑体" panose="02010609060101010101" pitchFamily="49" charset="-122"/>
              <a:cs typeface="+mj-cs"/>
            </a:endParaRPr>
          </a:p>
        </p:txBody>
      </p:sp>
      <p:graphicFrame>
        <p:nvGraphicFramePr>
          <p:cNvPr id="46083" name="Object 4"/>
          <p:cNvGraphicFramePr>
            <a:graphicFrameLocks noChangeAspect="1"/>
          </p:cNvGraphicFramePr>
          <p:nvPr>
            <p:ph idx="1"/>
          </p:nvPr>
        </p:nvGraphicFramePr>
        <p:xfrm>
          <a:off x="611188" y="981075"/>
          <a:ext cx="7848600" cy="3348038"/>
        </p:xfrm>
        <a:graphic>
          <a:graphicData uri="http://schemas.openxmlformats.org/presentationml/2006/ole">
            <mc:AlternateContent xmlns:mc="http://schemas.openxmlformats.org/markup-compatibility/2006">
              <mc:Choice xmlns:v="urn:schemas-microsoft-com:vml" Requires="v">
                <p:oleObj spid="_x0000_s3082" name="" r:id="rId1" imgW="4838700" imgH="2294890" progId="Word.Picture.8">
                  <p:embed/>
                </p:oleObj>
              </mc:Choice>
              <mc:Fallback>
                <p:oleObj name="" r:id="rId1" imgW="4838700" imgH="2294890" progId="Word.Picture.8">
                  <p:embed/>
                  <p:pic>
                    <p:nvPicPr>
                      <p:cNvPr id="0" name="图片 3081"/>
                      <p:cNvPicPr/>
                      <p:nvPr/>
                    </p:nvPicPr>
                    <p:blipFill>
                      <a:blip r:embed="rId2"/>
                      <a:srcRect/>
                      <a:stretch>
                        <a:fillRect/>
                      </a:stretch>
                    </p:blipFill>
                    <p:spPr>
                      <a:xfrm>
                        <a:off x="611188" y="981075"/>
                        <a:ext cx="7848600" cy="3348038"/>
                      </a:xfrm>
                      <a:prstGeom prst="rect">
                        <a:avLst/>
                      </a:prstGeom>
                      <a:noFill/>
                      <a:ln w="38100">
                        <a:miter/>
                      </a:ln>
                    </p:spPr>
                  </p:pic>
                </p:oleObj>
              </mc:Fallback>
            </mc:AlternateContent>
          </a:graphicData>
        </a:graphic>
      </p:graphicFrame>
      <p:graphicFrame>
        <p:nvGraphicFramePr>
          <p:cNvPr id="46084" name="对象 1"/>
          <p:cNvGraphicFramePr>
            <a:graphicFrameLocks noChangeAspect="1"/>
          </p:cNvGraphicFramePr>
          <p:nvPr/>
        </p:nvGraphicFramePr>
        <p:xfrm>
          <a:off x="827088" y="4292600"/>
          <a:ext cx="7561262" cy="2398713"/>
        </p:xfrm>
        <a:graphic>
          <a:graphicData uri="http://schemas.openxmlformats.org/presentationml/2006/ole">
            <mc:AlternateContent xmlns:mc="http://schemas.openxmlformats.org/markup-compatibility/2006">
              <mc:Choice xmlns:v="urn:schemas-microsoft-com:vml" Requires="v">
                <p:oleObj spid="_x0000_s3083" name="" r:id="rId3" imgW="4122420" imgH="1333500" progId="PBrush">
                  <p:embed/>
                </p:oleObj>
              </mc:Choice>
              <mc:Fallback>
                <p:oleObj name="" r:id="rId3" imgW="4122420" imgH="1333500" progId="PBrush">
                  <p:embed/>
                  <p:pic>
                    <p:nvPicPr>
                      <p:cNvPr id="0" name="图片 3082"/>
                      <p:cNvPicPr/>
                      <p:nvPr/>
                    </p:nvPicPr>
                    <p:blipFill>
                      <a:blip r:embed="rId4"/>
                      <a:stretch>
                        <a:fillRect/>
                      </a:stretch>
                    </p:blipFill>
                    <p:spPr>
                      <a:xfrm>
                        <a:off x="827088" y="4292600"/>
                        <a:ext cx="7561262" cy="2398713"/>
                      </a:xfrm>
                      <a:prstGeom prst="rect">
                        <a:avLst/>
                      </a:prstGeom>
                      <a:noFill/>
                      <a:ln w="38100">
                        <a:noFill/>
                        <a:miter/>
                      </a:ln>
                    </p:spPr>
                  </p:pic>
                </p:oleObj>
              </mc:Fallback>
            </mc:AlternateContent>
          </a:graphicData>
        </a:graphic>
      </p:graphicFrame>
      <p:sp>
        <p:nvSpPr>
          <p:cNvPr id="2" name="矩形 1"/>
          <p:cNvSpPr/>
          <p:nvPr/>
        </p:nvSpPr>
        <p:spPr>
          <a:xfrm>
            <a:off x="1764030" y="2277110"/>
            <a:ext cx="1657985" cy="720090"/>
          </a:xfrm>
          <a:prstGeom prst="rect">
            <a:avLst/>
          </a:prstGeom>
          <a:noFill/>
          <a:ln w="38100">
            <a:solidFill>
              <a:srgbClr val="FF33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custDataLst>
              <p:tags r:id="rId5"/>
            </p:custDataLst>
          </p:nvPr>
        </p:nvSpPr>
        <p:spPr>
          <a:xfrm>
            <a:off x="998220" y="5130800"/>
            <a:ext cx="1864360" cy="720090"/>
          </a:xfrm>
          <a:prstGeom prst="rect">
            <a:avLst/>
          </a:prstGeom>
          <a:noFill/>
          <a:ln w="38100">
            <a:solidFill>
              <a:srgbClr val="FF33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9697" name="Rectangle 2"/>
          <p:cNvSpPr>
            <a:spLocks noGrp="1"/>
          </p:cNvSpPr>
          <p:nvPr>
            <p:ph type="title" idx="4294967295"/>
          </p:nvPr>
        </p:nvSpPr>
        <p:spPr>
          <a:xfrm>
            <a:off x="16510" y="-54610"/>
            <a:ext cx="8213090" cy="806450"/>
          </a:xfrm>
        </p:spPr>
        <p:txBody>
          <a:bodyPr wrap="square" lIns="91440" tIns="45720" rIns="91440" bIns="45720" anchor="b" anchorCtr="0"/>
          <a:p>
            <a:pPr eaLnBrk="1" hangingPunct="1"/>
            <a:r>
              <a:rPr lang="zh-CN" altLang="zh-CN" b="1" dirty="0">
                <a:ea typeface="楷体_GB2312" pitchFamily="49" charset="-122"/>
              </a:rPr>
              <a:t>面包板</a:t>
            </a:r>
            <a:endParaRPr lang="zh-CN" altLang="zh-CN" b="1" dirty="0">
              <a:ea typeface="楷体_GB2312" pitchFamily="49" charset="-122"/>
            </a:endParaRPr>
          </a:p>
        </p:txBody>
      </p:sp>
      <p:pic>
        <p:nvPicPr>
          <p:cNvPr id="29698" name="Picture 3"/>
          <p:cNvPicPr>
            <a:picLocks noChangeAspect="1"/>
          </p:cNvPicPr>
          <p:nvPr/>
        </p:nvPicPr>
        <p:blipFill>
          <a:blip r:embed="rId1"/>
          <a:stretch>
            <a:fillRect/>
          </a:stretch>
        </p:blipFill>
        <p:spPr>
          <a:xfrm>
            <a:off x="333375" y="1322388"/>
            <a:ext cx="8477250" cy="3133725"/>
          </a:xfrm>
          <a:prstGeom prst="rect">
            <a:avLst/>
          </a:prstGeom>
          <a:noFill/>
          <a:ln w="9525">
            <a:noFill/>
          </a:ln>
        </p:spPr>
      </p:pic>
      <p:sp>
        <p:nvSpPr>
          <p:cNvPr id="22532" name="Rectangle 4"/>
          <p:cNvSpPr>
            <a:spLocks noChangeArrowheads="1"/>
          </p:cNvSpPr>
          <p:nvPr/>
        </p:nvSpPr>
        <p:spPr bwMode="auto">
          <a:xfrm>
            <a:off x="484188" y="5018088"/>
            <a:ext cx="8135938"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defRPr/>
            </a:pPr>
            <a:r>
              <a:rPr kumimoji="0" lang="zh-CN" altLang="zh-CN" sz="28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sym typeface="+mn-ea"/>
              </a:rPr>
              <a:t>横纵；边条；集成芯片跨置；金属线头露</a:t>
            </a:r>
            <a:r>
              <a:rPr kumimoji="0" lang="zh-CN" altLang="zh-CN"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sym typeface="+mn-ea"/>
              </a:rPr>
              <a:t>7-8mm</a:t>
            </a:r>
            <a:r>
              <a:rPr kumimoji="0" lang="zh-CN" altLang="zh-CN" sz="28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sym typeface="+mn-ea"/>
              </a:rPr>
              <a:t>，尽量贴板布线；</a:t>
            </a:r>
            <a:r>
              <a:rPr kumimoji="0" lang="zh-CN"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红－电源，黑－地，其他－信号</a:t>
            </a:r>
            <a:r>
              <a:rPr kumimoji="0" lang="zh-CN" altLang="zh-CN" sz="28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sym typeface="+mn-ea"/>
              </a:rPr>
              <a:t>；</a:t>
            </a:r>
            <a:endParaRPr kumimoji="0" lang="zh-CN" altLang="zh-CN" sz="28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sym typeface="+mn-ea"/>
            </a:endParaRPr>
          </a:p>
        </p:txBody>
      </p:sp>
      <p:sp>
        <p:nvSpPr>
          <p:cNvPr id="29700" name="Line 5"/>
          <p:cNvSpPr/>
          <p:nvPr/>
        </p:nvSpPr>
        <p:spPr>
          <a:xfrm>
            <a:off x="6267450" y="2498725"/>
            <a:ext cx="0" cy="506413"/>
          </a:xfrm>
          <a:prstGeom prst="line">
            <a:avLst/>
          </a:prstGeom>
          <a:ln w="57150" cap="flat" cmpd="sng">
            <a:solidFill>
              <a:schemeClr val="hlink"/>
            </a:solidFill>
            <a:prstDash val="solid"/>
            <a:round/>
            <a:headEnd type="none" w="med" len="med"/>
            <a:tailEnd type="none" w="med" len="med"/>
          </a:ln>
        </p:spPr>
      </p:sp>
      <p:sp>
        <p:nvSpPr>
          <p:cNvPr id="29701" name="Line 6"/>
          <p:cNvSpPr/>
          <p:nvPr/>
        </p:nvSpPr>
        <p:spPr>
          <a:xfrm>
            <a:off x="6380163" y="2498725"/>
            <a:ext cx="0" cy="506413"/>
          </a:xfrm>
          <a:prstGeom prst="line">
            <a:avLst/>
          </a:prstGeom>
          <a:ln w="57150" cap="flat" cmpd="sng">
            <a:solidFill>
              <a:schemeClr val="hlink"/>
            </a:solidFill>
            <a:prstDash val="solid"/>
            <a:round/>
            <a:headEnd type="none" w="med" len="med"/>
            <a:tailEnd type="none" w="med" len="med"/>
          </a:ln>
        </p:spPr>
      </p:sp>
      <p:sp>
        <p:nvSpPr>
          <p:cNvPr id="29702" name="Line 7"/>
          <p:cNvSpPr/>
          <p:nvPr/>
        </p:nvSpPr>
        <p:spPr>
          <a:xfrm>
            <a:off x="6511925" y="2498725"/>
            <a:ext cx="0" cy="506413"/>
          </a:xfrm>
          <a:prstGeom prst="line">
            <a:avLst/>
          </a:prstGeom>
          <a:ln w="57150" cap="flat" cmpd="sng">
            <a:solidFill>
              <a:schemeClr val="hlink"/>
            </a:solidFill>
            <a:prstDash val="solid"/>
            <a:round/>
            <a:headEnd type="none" w="med" len="med"/>
            <a:tailEnd type="none" w="med" len="med"/>
          </a:ln>
        </p:spPr>
      </p:sp>
      <p:sp>
        <p:nvSpPr>
          <p:cNvPr id="29703" name="Line 8"/>
          <p:cNvSpPr/>
          <p:nvPr/>
        </p:nvSpPr>
        <p:spPr>
          <a:xfrm>
            <a:off x="6511925" y="3373438"/>
            <a:ext cx="0" cy="506412"/>
          </a:xfrm>
          <a:prstGeom prst="line">
            <a:avLst/>
          </a:prstGeom>
          <a:ln w="57150" cap="flat" cmpd="sng">
            <a:solidFill>
              <a:schemeClr val="hlink"/>
            </a:solidFill>
            <a:prstDash val="solid"/>
            <a:round/>
            <a:headEnd type="none" w="med" len="med"/>
            <a:tailEnd type="none" w="med" len="med"/>
          </a:ln>
        </p:spPr>
      </p:sp>
      <p:sp>
        <p:nvSpPr>
          <p:cNvPr id="29704" name="Line 9"/>
          <p:cNvSpPr/>
          <p:nvPr/>
        </p:nvSpPr>
        <p:spPr>
          <a:xfrm>
            <a:off x="6400800" y="3352800"/>
            <a:ext cx="0" cy="506413"/>
          </a:xfrm>
          <a:prstGeom prst="line">
            <a:avLst/>
          </a:prstGeom>
          <a:ln w="57150" cap="flat" cmpd="sng">
            <a:solidFill>
              <a:schemeClr val="hlink"/>
            </a:solidFill>
            <a:prstDash val="solid"/>
            <a:round/>
            <a:headEnd type="none" w="med" len="med"/>
            <a:tailEnd type="none" w="med" len="med"/>
          </a:ln>
        </p:spPr>
      </p:sp>
      <p:sp>
        <p:nvSpPr>
          <p:cNvPr id="29705" name="Line 10"/>
          <p:cNvSpPr/>
          <p:nvPr/>
        </p:nvSpPr>
        <p:spPr>
          <a:xfrm>
            <a:off x="6278563" y="3352800"/>
            <a:ext cx="0" cy="506413"/>
          </a:xfrm>
          <a:prstGeom prst="line">
            <a:avLst/>
          </a:prstGeom>
          <a:ln w="57150" cap="flat" cmpd="sng">
            <a:solidFill>
              <a:schemeClr val="hlink"/>
            </a:solidFill>
            <a:prstDash val="solid"/>
            <a:round/>
            <a:headEnd type="none" w="med" len="med"/>
            <a:tailEnd type="none" w="med" len="med"/>
          </a:ln>
        </p:spPr>
      </p:sp>
      <p:sp>
        <p:nvSpPr>
          <p:cNvPr id="29706" name="Line 11"/>
          <p:cNvSpPr/>
          <p:nvPr/>
        </p:nvSpPr>
        <p:spPr>
          <a:xfrm>
            <a:off x="396875" y="3910013"/>
            <a:ext cx="7924800" cy="344487"/>
          </a:xfrm>
          <a:prstGeom prst="line">
            <a:avLst/>
          </a:prstGeom>
          <a:ln w="53975" cap="flat" cmpd="sng">
            <a:solidFill>
              <a:schemeClr val="tx1"/>
            </a:solidFill>
            <a:prstDash val="solid"/>
            <a:round/>
            <a:headEnd type="none" w="med" len="med"/>
            <a:tailEnd type="none" w="med" len="med"/>
          </a:ln>
        </p:spPr>
      </p:sp>
      <p:sp>
        <p:nvSpPr>
          <p:cNvPr id="2" name="矩形 1"/>
          <p:cNvSpPr/>
          <p:nvPr>
            <p:custDataLst>
              <p:tags r:id="rId2"/>
            </p:custDataLst>
          </p:nvPr>
        </p:nvSpPr>
        <p:spPr>
          <a:xfrm>
            <a:off x="902970" y="2717800"/>
            <a:ext cx="1579880" cy="638175"/>
          </a:xfrm>
          <a:prstGeom prst="rect">
            <a:avLst/>
          </a:prstGeom>
          <a:noFill/>
          <a:ln w="38100">
            <a:solidFill>
              <a:srgbClr val="0000FF"/>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custDataLst>
              <p:tags r:id="rId3"/>
            </p:custDataLst>
          </p:nvPr>
        </p:nvSpPr>
        <p:spPr>
          <a:xfrm>
            <a:off x="3900170" y="2773045"/>
            <a:ext cx="1579880" cy="638175"/>
          </a:xfrm>
          <a:prstGeom prst="rect">
            <a:avLst/>
          </a:prstGeom>
          <a:noFill/>
          <a:ln w="38100">
            <a:solidFill>
              <a:srgbClr val="0000FF"/>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Line 11"/>
          <p:cNvSpPr/>
          <p:nvPr>
            <p:custDataLst>
              <p:tags r:id="rId4"/>
            </p:custDataLst>
          </p:nvPr>
        </p:nvSpPr>
        <p:spPr>
          <a:xfrm>
            <a:off x="523875" y="2099945"/>
            <a:ext cx="7864475" cy="194310"/>
          </a:xfrm>
          <a:prstGeom prst="line">
            <a:avLst/>
          </a:prstGeom>
          <a:ln w="53975" cap="flat" cmpd="sng">
            <a:solidFill>
              <a:srgbClr val="FF0000"/>
            </a:solidFill>
            <a:prstDash val="solid"/>
            <a:round/>
            <a:headEnd type="none" w="med" len="med"/>
            <a:tailEnd type="none" w="med" len="med"/>
          </a:ln>
        </p:spPr>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9706"/>
                                        </p:tgtEl>
                                        <p:attrNameLst>
                                          <p:attrName>style.visibility</p:attrName>
                                        </p:attrNameLst>
                                      </p:cBhvr>
                                      <p:to>
                                        <p:strVal val="visible"/>
                                      </p:to>
                                    </p:set>
                                    <p:animEffect transition="in" filter="wipe(down)">
                                      <p:cBhvr>
                                        <p:cTn id="22" dur="500"/>
                                        <p:tgtEl>
                                          <p:spTgt spid="2970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2532"/>
                                        </p:tgtEl>
                                        <p:attrNameLst>
                                          <p:attrName>style.visibility</p:attrName>
                                        </p:attrNameLst>
                                      </p:cBhvr>
                                      <p:to>
                                        <p:strVal val="visible"/>
                                      </p:to>
                                    </p:set>
                                    <p:animEffect transition="in" filter="wipe(down)">
                                      <p:cBhvr>
                                        <p:cTn id="27"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22532"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graphicFrame>
        <p:nvGraphicFramePr>
          <p:cNvPr id="31745" name="Object 2"/>
          <p:cNvGraphicFramePr>
            <a:graphicFrameLocks noChangeAspect="1"/>
          </p:cNvGraphicFramePr>
          <p:nvPr/>
        </p:nvGraphicFramePr>
        <p:xfrm>
          <a:off x="228600" y="0"/>
          <a:ext cx="8686800" cy="6664325"/>
        </p:xfrm>
        <a:graphic>
          <a:graphicData uri="http://schemas.openxmlformats.org/presentationml/2006/ole">
            <mc:AlternateContent xmlns:mc="http://schemas.openxmlformats.org/markup-compatibility/2006">
              <mc:Choice xmlns:v="urn:schemas-microsoft-com:vml" Requires="v">
                <p:oleObj spid="_x0000_s3076" name="" r:id="rId1" imgW="2743200" imgH="2105025" progId="PBrush">
                  <p:embed/>
                </p:oleObj>
              </mc:Choice>
              <mc:Fallback>
                <p:oleObj name="" r:id="rId1" imgW="2743200" imgH="2105025" progId="PBrush">
                  <p:embed/>
                  <p:pic>
                    <p:nvPicPr>
                      <p:cNvPr id="0" name="图片 3075"/>
                      <p:cNvPicPr/>
                      <p:nvPr/>
                    </p:nvPicPr>
                    <p:blipFill>
                      <a:blip r:embed="rId2"/>
                      <a:stretch>
                        <a:fillRect/>
                      </a:stretch>
                    </p:blipFill>
                    <p:spPr>
                      <a:xfrm>
                        <a:off x="228600" y="0"/>
                        <a:ext cx="8686800" cy="6664325"/>
                      </a:xfrm>
                      <a:prstGeom prst="rect">
                        <a:avLst/>
                      </a:prstGeom>
                      <a:noFill/>
                      <a:ln w="38100">
                        <a:noFill/>
                        <a:miter/>
                      </a:ln>
                    </p:spPr>
                  </p:pic>
                </p:oleObj>
              </mc:Fallback>
            </mc:AlternateContent>
          </a:graphicData>
        </a:graphic>
      </p:graphicFrame>
      <p:sp>
        <p:nvSpPr>
          <p:cNvPr id="31746" name="Rectangle 3"/>
          <p:cNvSpPr>
            <a:spLocks noGrp="1"/>
          </p:cNvSpPr>
          <p:nvPr>
            <p:ph type="title"/>
          </p:nvPr>
        </p:nvSpPr>
        <p:spPr>
          <a:xfrm>
            <a:off x="304800" y="152400"/>
            <a:ext cx="7620000" cy="685800"/>
          </a:xfrm>
          <a:solidFill>
            <a:schemeClr val="bg1"/>
          </a:solidFill>
        </p:spPr>
        <p:txBody>
          <a:bodyPr wrap="square" lIns="91440" tIns="45720" rIns="91440" bIns="45720" anchor="b" anchorCtr="0"/>
          <a:p>
            <a:pPr eaLnBrk="1" hangingPunct="1"/>
            <a:r>
              <a:rPr lang="zh-CN" altLang="zh-CN" dirty="0">
                <a:solidFill>
                  <a:srgbClr val="FF0000"/>
                </a:solidFill>
                <a:effectLst/>
                <a:latin typeface="宋体" panose="02010600030101010101" pitchFamily="2" charset="-122"/>
                <a:ea typeface="宋体" panose="02010600030101010101" pitchFamily="2" charset="-122"/>
              </a:rPr>
              <a:t>电路组装</a:t>
            </a:r>
            <a:r>
              <a:rPr lang="zh-CN" altLang="zh-CN" sz="3600" dirty="0">
                <a:solidFill>
                  <a:srgbClr val="FF0000"/>
                </a:solidFill>
                <a:effectLst/>
                <a:latin typeface="宋体" panose="02010600030101010101" pitchFamily="2" charset="-122"/>
                <a:ea typeface="宋体" panose="02010600030101010101" pitchFamily="2" charset="-122"/>
              </a:rPr>
              <a:t>（实例）</a:t>
            </a:r>
            <a:endParaRPr lang="zh-CN" altLang="zh-CN" sz="3600" dirty="0">
              <a:solidFill>
                <a:srgbClr val="FF0000"/>
              </a:solidFill>
              <a:effectLst/>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32769" name="Rectangle 2"/>
          <p:cNvSpPr>
            <a:spLocks noGrp="1"/>
          </p:cNvSpPr>
          <p:nvPr>
            <p:ph type="title"/>
          </p:nvPr>
        </p:nvSpPr>
        <p:spPr>
          <a:xfrm>
            <a:off x="927735" y="200660"/>
            <a:ext cx="7620000" cy="727075"/>
          </a:xfrm>
        </p:spPr>
        <p:txBody>
          <a:bodyPr wrap="square" lIns="91440" tIns="45720" rIns="91440" bIns="45720" anchor="b" anchorCtr="0"/>
          <a:p>
            <a:pPr eaLnBrk="1" hangingPunct="1"/>
            <a:r>
              <a:rPr lang="zh-CN" altLang="zh-CN" dirty="0">
                <a:solidFill>
                  <a:srgbClr val="FF0000"/>
                </a:solidFill>
                <a:effectLst/>
                <a:latin typeface="宋体" panose="02010600030101010101" pitchFamily="2" charset="-122"/>
                <a:ea typeface="宋体" panose="02010600030101010101" pitchFamily="2" charset="-122"/>
              </a:rPr>
              <a:t>建立测试平台</a:t>
            </a:r>
            <a:endParaRPr lang="zh-CN" altLang="zh-CN" dirty="0">
              <a:solidFill>
                <a:srgbClr val="FF0000"/>
              </a:solidFill>
              <a:effectLst/>
              <a:latin typeface="宋体" panose="02010600030101010101" pitchFamily="2" charset="-122"/>
              <a:ea typeface="宋体" panose="02010600030101010101" pitchFamily="2" charset="-122"/>
            </a:endParaRPr>
          </a:p>
        </p:txBody>
      </p:sp>
      <p:graphicFrame>
        <p:nvGraphicFramePr>
          <p:cNvPr id="32770" name="Object 3"/>
          <p:cNvGraphicFramePr>
            <a:graphicFrameLocks noChangeAspect="1"/>
          </p:cNvGraphicFramePr>
          <p:nvPr/>
        </p:nvGraphicFramePr>
        <p:xfrm>
          <a:off x="851535" y="1143635"/>
          <a:ext cx="7696200" cy="3725863"/>
        </p:xfrm>
        <a:graphic>
          <a:graphicData uri="http://schemas.openxmlformats.org/presentationml/2006/ole">
            <mc:AlternateContent xmlns:mc="http://schemas.openxmlformats.org/markup-compatibility/2006">
              <mc:Choice xmlns:v="urn:schemas-microsoft-com:vml" Requires="v">
                <p:oleObj spid="_x0000_s3078" name="" r:id="rId1" imgW="6276975" imgH="3038475" progId="PBrush">
                  <p:embed/>
                </p:oleObj>
              </mc:Choice>
              <mc:Fallback>
                <p:oleObj name="" r:id="rId1" imgW="6276975" imgH="3038475" progId="PBrush">
                  <p:embed/>
                  <p:pic>
                    <p:nvPicPr>
                      <p:cNvPr id="0" name="图片 3077"/>
                      <p:cNvPicPr/>
                      <p:nvPr/>
                    </p:nvPicPr>
                    <p:blipFill>
                      <a:blip r:embed="rId2"/>
                      <a:stretch>
                        <a:fillRect/>
                      </a:stretch>
                    </p:blipFill>
                    <p:spPr>
                      <a:xfrm>
                        <a:off x="851535" y="1143635"/>
                        <a:ext cx="7696200" cy="3725863"/>
                      </a:xfrm>
                      <a:prstGeom prst="rect">
                        <a:avLst/>
                      </a:prstGeom>
                      <a:noFill/>
                      <a:ln w="38100">
                        <a:noFill/>
                        <a:miter/>
                      </a:ln>
                    </p:spPr>
                  </p:pic>
                </p:oleObj>
              </mc:Fallback>
            </mc:AlternateContent>
          </a:graphicData>
        </a:graphic>
      </p:graphicFrame>
      <p:sp>
        <p:nvSpPr>
          <p:cNvPr id="32771" name="Text Box 4"/>
          <p:cNvSpPr txBox="1"/>
          <p:nvPr/>
        </p:nvSpPr>
        <p:spPr>
          <a:xfrm>
            <a:off x="1156335" y="5132705"/>
            <a:ext cx="4147185" cy="521970"/>
          </a:xfrm>
          <a:prstGeom prst="rect">
            <a:avLst/>
          </a:prstGeom>
          <a:noFill/>
          <a:ln w="9525">
            <a:noFill/>
          </a:ln>
        </p:spPr>
        <p:txBody>
          <a:bodyPr wrap="square" anchor="t" anchorCtr="0">
            <a:spAutoFit/>
          </a:bodyPr>
          <a:p>
            <a:pPr>
              <a:spcBef>
                <a:spcPct val="50000"/>
              </a:spcBef>
            </a:pPr>
            <a:r>
              <a:rPr lang="zh-CN" altLang="zh-CN" sz="2800" b="1" dirty="0">
                <a:solidFill>
                  <a:srgbClr val="FF0000"/>
                </a:solidFill>
                <a:latin typeface="Times New Roman" panose="02020603050405020304" pitchFamily="18" charset="0"/>
                <a:ea typeface="楷体_GB2312" pitchFamily="49" charset="-122"/>
                <a:sym typeface="Wingdings 2" panose="05020102010507070707" pitchFamily="18" charset="2"/>
              </a:rPr>
              <a:t> </a:t>
            </a:r>
            <a:r>
              <a:rPr lang="zh-CN" altLang="zh-CN" sz="2800" b="1" dirty="0">
                <a:solidFill>
                  <a:srgbClr val="FF0000"/>
                </a:solidFill>
                <a:latin typeface="Times New Roman" panose="02020603050405020304" pitchFamily="18" charset="0"/>
                <a:ea typeface="楷体_GB2312" pitchFamily="49" charset="-122"/>
              </a:rPr>
              <a:t>共地（参考零电位）</a:t>
            </a:r>
            <a:endParaRPr lang="zh-CN" altLang="zh-CN" sz="2800" b="1" dirty="0">
              <a:solidFill>
                <a:srgbClr val="FF0000"/>
              </a:solidFill>
              <a:latin typeface="Times New Roman" panose="02020603050405020304" pitchFamily="18" charset="0"/>
              <a:ea typeface="楷体_GB2312" pitchFamily="49" charset="-122"/>
            </a:endParaRPr>
          </a:p>
        </p:txBody>
      </p:sp>
      <p:sp>
        <p:nvSpPr>
          <p:cNvPr id="32772" name="Text Box 5"/>
          <p:cNvSpPr txBox="1"/>
          <p:nvPr/>
        </p:nvSpPr>
        <p:spPr>
          <a:xfrm>
            <a:off x="1156335" y="5652135"/>
            <a:ext cx="4572000" cy="519113"/>
          </a:xfrm>
          <a:prstGeom prst="rect">
            <a:avLst/>
          </a:prstGeom>
          <a:noFill/>
          <a:ln w="9525">
            <a:noFill/>
          </a:ln>
        </p:spPr>
        <p:txBody>
          <a:bodyPr anchor="t" anchorCtr="0">
            <a:spAutoFit/>
          </a:bodyPr>
          <a:p>
            <a:pPr>
              <a:spcBef>
                <a:spcPct val="50000"/>
              </a:spcBef>
            </a:pPr>
            <a:r>
              <a:rPr lang="zh-CN" altLang="zh-CN" sz="2800" b="1" dirty="0">
                <a:latin typeface="Times New Roman" panose="02020603050405020304" pitchFamily="18" charset="0"/>
                <a:ea typeface="楷体_GB2312" pitchFamily="49" charset="-122"/>
                <a:sym typeface="Wingdings 2" panose="05020102010507070707" pitchFamily="18" charset="2"/>
              </a:rPr>
              <a:t> </a:t>
            </a:r>
            <a:r>
              <a:rPr lang="zh-CN" altLang="zh-CN" sz="2800" b="1" dirty="0">
                <a:latin typeface="Times New Roman" panose="02020603050405020304" pitchFamily="18" charset="0"/>
                <a:ea typeface="楷体_GB2312" pitchFamily="49" charset="-122"/>
              </a:rPr>
              <a:t>与仪器连线合理有序</a:t>
            </a:r>
            <a:endParaRPr lang="zh-CN" altLang="zh-CN" sz="2800" b="1" dirty="0">
              <a:latin typeface="Times New Roman" panose="02020603050405020304" pitchFamily="18" charset="0"/>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pic>
        <p:nvPicPr>
          <p:cNvPr id="33793" name="Picture 2"/>
          <p:cNvPicPr>
            <a:picLocks noChangeAspect="1"/>
          </p:cNvPicPr>
          <p:nvPr/>
        </p:nvPicPr>
        <p:blipFill>
          <a:blip r:embed="rId1"/>
          <a:stretch>
            <a:fillRect/>
          </a:stretch>
        </p:blipFill>
        <p:spPr>
          <a:xfrm>
            <a:off x="1314450" y="1471613"/>
            <a:ext cx="7477125" cy="5114925"/>
          </a:xfrm>
          <a:prstGeom prst="rect">
            <a:avLst/>
          </a:prstGeom>
          <a:noFill/>
          <a:ln w="9525">
            <a:noFill/>
          </a:ln>
        </p:spPr>
      </p:pic>
      <p:sp>
        <p:nvSpPr>
          <p:cNvPr id="33794" name="Rectangle 3"/>
          <p:cNvSpPr>
            <a:spLocks noGrp="1"/>
          </p:cNvSpPr>
          <p:nvPr>
            <p:ph type="title"/>
          </p:nvPr>
        </p:nvSpPr>
        <p:spPr/>
        <p:txBody>
          <a:bodyPr wrap="square" lIns="91440" tIns="45720" rIns="91440" bIns="45720" anchor="b" anchorCtr="0"/>
          <a:p>
            <a:pPr eaLnBrk="1" hangingPunct="1"/>
            <a:r>
              <a:rPr lang="zh-CN" altLang="zh-CN" b="1" dirty="0">
                <a:effectLst/>
                <a:latin typeface="宋体" panose="02010600030101010101" pitchFamily="2" charset="-122"/>
                <a:ea typeface="宋体" panose="02010600030101010101" pitchFamily="2" charset="-122"/>
              </a:rPr>
              <a:t>通常达到的效果</a:t>
            </a:r>
            <a:endParaRPr lang="zh-CN" altLang="zh-CN" b="1" dirty="0">
              <a:effectLst/>
              <a:latin typeface="宋体" panose="02010600030101010101" pitchFamily="2" charset="-122"/>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pic>
        <p:nvPicPr>
          <p:cNvPr id="34817" name="Picture 2"/>
          <p:cNvPicPr>
            <a:picLocks noChangeAspect="1"/>
          </p:cNvPicPr>
          <p:nvPr/>
        </p:nvPicPr>
        <p:blipFill>
          <a:blip r:embed="rId1"/>
          <a:stretch>
            <a:fillRect/>
          </a:stretch>
        </p:blipFill>
        <p:spPr>
          <a:xfrm>
            <a:off x="1189038" y="949325"/>
            <a:ext cx="7610475" cy="5686425"/>
          </a:xfrm>
          <a:prstGeom prst="rect">
            <a:avLst/>
          </a:prstGeom>
          <a:noFill/>
          <a:ln w="9525">
            <a:noFill/>
          </a:ln>
        </p:spPr>
      </p:pic>
      <p:sp>
        <p:nvSpPr>
          <p:cNvPr id="34818" name="Rectangle 3"/>
          <p:cNvSpPr>
            <a:spLocks noGrp="1"/>
          </p:cNvSpPr>
          <p:nvPr>
            <p:ph type="title"/>
          </p:nvPr>
        </p:nvSpPr>
        <p:spPr>
          <a:xfrm>
            <a:off x="1150938" y="214313"/>
            <a:ext cx="7793037" cy="687387"/>
          </a:xfrm>
        </p:spPr>
        <p:txBody>
          <a:bodyPr wrap="square" lIns="91440" tIns="45720" rIns="91440" bIns="45720" anchor="b" anchorCtr="0"/>
          <a:p>
            <a:pPr eaLnBrk="1" hangingPunct="1"/>
            <a:r>
              <a:rPr lang="zh-CN" altLang="zh-CN" sz="4000" b="1" dirty="0">
                <a:effectLst/>
                <a:latin typeface="宋体" panose="02010600030101010101" pitchFamily="2" charset="-122"/>
                <a:ea typeface="宋体" panose="02010600030101010101" pitchFamily="2" charset="-122"/>
              </a:rPr>
              <a:t>和刚才同样的电原理图</a:t>
            </a:r>
            <a:endParaRPr lang="zh-CN" altLang="zh-CN" sz="4000" b="1" dirty="0">
              <a:effectLst/>
              <a:latin typeface="宋体" panose="02010600030101010101" pitchFamily="2" charset="-122"/>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custDataLst>
              <p:tags r:id="rId1"/>
            </p:custDataLst>
          </p:nvPr>
        </p:nvPicPr>
        <p:blipFill>
          <a:blip r:embed="rId2"/>
          <a:stretch>
            <a:fillRect/>
          </a:stretch>
        </p:blipFill>
        <p:spPr>
          <a:xfrm>
            <a:off x="969645" y="172085"/>
            <a:ext cx="7045325" cy="63601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37890" name="Rectangle 2"/>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5400" b="1" i="0" u="none" strike="noStrike" kern="0" cap="none" spc="0" normalizeH="0" baseline="0" noProof="0" smtClean="0">
                <a:ln>
                  <a:noFill/>
                </a:ln>
                <a:solidFill>
                  <a:srgbClr val="FF3300"/>
                </a:solidFill>
                <a:effectLst/>
                <a:uLnTx/>
                <a:uFillTx/>
                <a:latin typeface="宋体" panose="02010600030101010101" pitchFamily="2" charset="-122"/>
                <a:ea typeface="宋体" panose="02010600030101010101" pitchFamily="2" charset="-122"/>
                <a:cs typeface="宋体" panose="02010600030101010101" pitchFamily="2" charset="-122"/>
              </a:rPr>
              <a:t>二  常用仪器的使用</a:t>
            </a:r>
            <a:endParaRPr kumimoji="0" lang="zh-CN" altLang="en-US" sz="5400" b="1" i="0" u="none" strike="noStrike" kern="0" cap="none" spc="0" normalizeH="0" baseline="0" noProof="0" smtClean="0">
              <a:ln>
                <a:noFill/>
              </a:ln>
              <a:solidFill>
                <a:srgbClr val="FF33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4579" name="Rectangle 3"/>
          <p:cNvSpPr>
            <a:spLocks noGrp="1"/>
          </p:cNvSpPr>
          <p:nvPr>
            <p:ph idx="1"/>
          </p:nvPr>
        </p:nvSpPr>
        <p:spPr>
          <a:xfrm>
            <a:off x="2045970" y="1125855"/>
            <a:ext cx="4457065" cy="4501515"/>
          </a:xfrm>
        </p:spPr>
        <p:txBody>
          <a:bodyPr vert="horz" wrap="square" lIns="91440" tIns="45720" rIns="91440" bIns="45720" anchor="t" anchorCtr="0"/>
          <a:p>
            <a:pPr eaLnBrk="1" hangingPunct="1">
              <a:buFont typeface="Wingdings" panose="05000000000000000000" charset="0"/>
              <a:buChar char="Ø"/>
            </a:pPr>
            <a:r>
              <a:rPr lang="zh-CN" altLang="en-US" sz="4800" dirty="0">
                <a:latin typeface="宋体" panose="02010600030101010101" pitchFamily="2" charset="-122"/>
                <a:ea typeface="宋体" panose="02010600030101010101" pitchFamily="2" charset="-122"/>
              </a:rPr>
              <a:t>万用表</a:t>
            </a:r>
            <a:endParaRPr lang="zh-CN" altLang="en-US" sz="4800" dirty="0">
              <a:latin typeface="宋体" panose="02010600030101010101" pitchFamily="2" charset="-122"/>
              <a:ea typeface="宋体" panose="02010600030101010101" pitchFamily="2" charset="-122"/>
            </a:endParaRPr>
          </a:p>
          <a:p>
            <a:pPr eaLnBrk="1" hangingPunct="1">
              <a:buFont typeface="Wingdings" panose="05000000000000000000" charset="0"/>
              <a:buChar char="Ø"/>
            </a:pPr>
            <a:r>
              <a:rPr lang="zh-CN" altLang="en-US" sz="4800" dirty="0">
                <a:latin typeface="宋体" panose="02010600030101010101" pitchFamily="2" charset="-122"/>
                <a:ea typeface="宋体" panose="02010600030101010101" pitchFamily="2" charset="-122"/>
              </a:rPr>
              <a:t>稳压电源</a:t>
            </a:r>
            <a:endParaRPr lang="zh-CN" altLang="en-US" sz="4800" dirty="0">
              <a:latin typeface="宋体" panose="02010600030101010101" pitchFamily="2" charset="-122"/>
              <a:ea typeface="宋体" panose="02010600030101010101" pitchFamily="2" charset="-122"/>
            </a:endParaRPr>
          </a:p>
          <a:p>
            <a:pPr eaLnBrk="1" hangingPunct="1">
              <a:buFont typeface="Wingdings" panose="05000000000000000000" charset="0"/>
              <a:buChar char="Ø"/>
            </a:pPr>
            <a:r>
              <a:rPr lang="zh-CN" altLang="en-US" sz="4800" dirty="0">
                <a:latin typeface="宋体" panose="02010600030101010101" pitchFamily="2" charset="-122"/>
                <a:ea typeface="宋体" panose="02010600030101010101" pitchFamily="2" charset="-122"/>
              </a:rPr>
              <a:t>信号源</a:t>
            </a:r>
            <a:endParaRPr lang="zh-CN" altLang="en-US" sz="4800" dirty="0">
              <a:latin typeface="宋体" panose="02010600030101010101" pitchFamily="2" charset="-122"/>
              <a:ea typeface="宋体" panose="02010600030101010101" pitchFamily="2" charset="-122"/>
            </a:endParaRPr>
          </a:p>
          <a:p>
            <a:pPr eaLnBrk="1" hangingPunct="1">
              <a:buFont typeface="Wingdings" panose="05000000000000000000" charset="0"/>
              <a:buChar char="Ø"/>
            </a:pPr>
            <a:r>
              <a:rPr lang="zh-CN" altLang="en-US" sz="4800" dirty="0">
                <a:latin typeface="宋体" panose="02010600030101010101" pitchFamily="2" charset="-122"/>
                <a:ea typeface="宋体" panose="02010600030101010101" pitchFamily="2" charset="-122"/>
              </a:rPr>
              <a:t>示波器</a:t>
            </a:r>
            <a:endParaRPr lang="zh-CN" altLang="en-US" sz="4800" dirty="0">
              <a:latin typeface="宋体" panose="02010600030101010101" pitchFamily="2" charset="-122"/>
              <a:ea typeface="宋体" panose="02010600030101010101" pitchFamily="2" charset="-122"/>
            </a:endParaRPr>
          </a:p>
          <a:p>
            <a:pPr eaLnBrk="1" hangingPunct="1">
              <a:buFont typeface="Wingdings" panose="05000000000000000000" charset="0"/>
              <a:buChar char="Ø"/>
            </a:pPr>
            <a:r>
              <a:rPr lang="zh-CN" altLang="en-US" sz="4800" dirty="0">
                <a:latin typeface="宋体" panose="02010600030101010101" pitchFamily="2" charset="-122"/>
                <a:ea typeface="宋体" panose="02010600030101010101" pitchFamily="2" charset="-122"/>
              </a:rPr>
              <a:t>面包板</a:t>
            </a:r>
            <a:endParaRPr lang="zh-CN" altLang="en-US" sz="4800" dirty="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14478000" y="-10858500"/>
            <a:ext cx="3062400" cy="22968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2" name="Rectangle 2"/>
          <p:cNvSpPr>
            <a:spLocks noGrp="1" noChangeArrowheads="1"/>
          </p:cNvSpPr>
          <p:nvPr>
            <p:ph type="title"/>
          </p:nvPr>
        </p:nvSpPr>
        <p:spPr>
          <a:xfrm>
            <a:off x="250825" y="260350"/>
            <a:ext cx="2438400" cy="777875"/>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800" b="1" i="0" u="none" strike="noStrike" kern="0" cap="none" spc="0" normalizeH="0" baseline="0" noProof="0" dirty="0" smtClean="0">
                <a:ln>
                  <a:noFill/>
                </a:ln>
                <a:solidFill>
                  <a:srgbClr val="FF3300"/>
                </a:solidFill>
                <a:effectLst/>
                <a:uLnTx/>
                <a:uFillTx/>
                <a:latin typeface="宋体" panose="02010600030101010101" pitchFamily="2" charset="-122"/>
                <a:ea typeface="宋体" panose="02010600030101010101" pitchFamily="2" charset="-122"/>
                <a:cs typeface="+mj-cs"/>
              </a:rPr>
              <a:t>万用表</a:t>
            </a:r>
            <a:endParaRPr kumimoji="0" lang="zh-CN" altLang="en-US" sz="4800" b="1" i="0" u="none" strike="noStrike" kern="0" cap="none" spc="0" normalizeH="0" baseline="0" noProof="0" dirty="0" smtClean="0">
              <a:ln>
                <a:noFill/>
              </a:ln>
              <a:solidFill>
                <a:srgbClr val="FF3300"/>
              </a:solidFill>
              <a:effectLst/>
              <a:uLnTx/>
              <a:uFillTx/>
              <a:latin typeface="宋体" panose="02010600030101010101" pitchFamily="2" charset="-122"/>
              <a:ea typeface="宋体" panose="02010600030101010101" pitchFamily="2" charset="-122"/>
              <a:cs typeface="+mj-cs"/>
            </a:endParaRPr>
          </a:p>
        </p:txBody>
      </p:sp>
      <p:graphicFrame>
        <p:nvGraphicFramePr>
          <p:cNvPr id="25603" name="Object 5"/>
          <p:cNvGraphicFramePr>
            <a:graphicFrameLocks noChangeAspect="1"/>
          </p:cNvGraphicFramePr>
          <p:nvPr>
            <p:ph type="clipArt" sz="half" idx="2"/>
          </p:nvPr>
        </p:nvGraphicFramePr>
        <p:xfrm>
          <a:off x="2987675" y="115888"/>
          <a:ext cx="3987800" cy="6626225"/>
        </p:xfrm>
        <a:graphic>
          <a:graphicData uri="http://schemas.openxmlformats.org/presentationml/2006/ole">
            <mc:AlternateContent xmlns:mc="http://schemas.openxmlformats.org/markup-compatibility/2006">
              <mc:Choice xmlns:v="urn:schemas-microsoft-com:vml" Requires="v">
                <p:oleObj spid="_x0000_s3076" name="" r:id="rId1" imgW="1819275" imgH="3629025" progId="Paint.Picture">
                  <p:embed/>
                </p:oleObj>
              </mc:Choice>
              <mc:Fallback>
                <p:oleObj name="" r:id="rId1" imgW="1819275" imgH="3629025" progId="Paint.Picture">
                  <p:embed/>
                  <p:pic>
                    <p:nvPicPr>
                      <p:cNvPr id="0" name="图片 3075"/>
                      <p:cNvPicPr/>
                      <p:nvPr/>
                    </p:nvPicPr>
                    <p:blipFill>
                      <a:blip r:embed="rId2"/>
                      <a:srcRect/>
                      <a:stretch>
                        <a:fillRect/>
                      </a:stretch>
                    </p:blipFill>
                    <p:spPr>
                      <a:xfrm>
                        <a:off x="2987675" y="115888"/>
                        <a:ext cx="3987800" cy="6626225"/>
                      </a:xfrm>
                      <a:prstGeom prst="rect">
                        <a:avLst/>
                      </a:prstGeom>
                      <a:noFill/>
                      <a:ln w="38100">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a:xfrm>
          <a:off x="0" y="0"/>
          <a:ext cx="0" cy="0"/>
          <a:chOff x="0" y="0"/>
          <a:chExt cx="0" cy="0"/>
        </a:xfrm>
      </p:grpSpPr>
      <p:grpSp>
        <p:nvGrpSpPr>
          <p:cNvPr id="2" name="组合 37"/>
          <p:cNvGrpSpPr/>
          <p:nvPr/>
        </p:nvGrpSpPr>
        <p:grpSpPr bwMode="auto">
          <a:xfrm>
            <a:off x="1143000" y="3202781"/>
            <a:ext cx="6694715" cy="796529"/>
            <a:chOff x="-299503" y="3095622"/>
            <a:chExt cx="4973101" cy="714375"/>
          </a:xfrm>
        </p:grpSpPr>
        <p:sp>
          <p:nvSpPr>
            <p:cNvPr id="30" name="矩形 29"/>
            <p:cNvSpPr/>
            <p:nvPr/>
          </p:nvSpPr>
          <p:spPr>
            <a:xfrm>
              <a:off x="228614" y="3095622"/>
              <a:ext cx="4444984" cy="714375"/>
            </a:xfrm>
            <a:prstGeom prst="rect">
              <a:avLst/>
            </a:prstGeom>
            <a:solidFill>
              <a:srgbClr val="FFFF00">
                <a:alpha val="42000"/>
              </a:srgbClr>
            </a:solidFill>
            <a:ln>
              <a:noFill/>
            </a:ln>
            <a:effectLst>
              <a:glow rad="228600">
                <a:srgbClr val="8064A2">
                  <a:satMod val="175000"/>
                  <a:alpha val="40000"/>
                </a:srgbClr>
              </a:glow>
            </a:effectLst>
          </p:spPr>
        </p:sp>
        <p:sp>
          <p:nvSpPr>
            <p:cNvPr id="31" name="矩形 30"/>
            <p:cNvSpPr/>
            <p:nvPr/>
          </p:nvSpPr>
          <p:spPr>
            <a:xfrm>
              <a:off x="-299503" y="3095622"/>
              <a:ext cx="4973101" cy="714375"/>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74676" tIns="74676" rIns="74676" bIns="74676" spcCol="1270" anchor="ctr"/>
            <a:lstStyle/>
            <a:p>
              <a:pPr algn="ctr" defTabSz="622300">
                <a:lnSpc>
                  <a:spcPct val="90000"/>
                </a:lnSpc>
                <a:spcAft>
                  <a:spcPct val="35000"/>
                </a:spcAft>
                <a:defRPr/>
              </a:pPr>
              <a:r>
                <a:rPr lang="en-US" altLang="zh-CN" sz="2100" b="1" kern="0" dirty="0">
                  <a:solidFill>
                    <a:sysClr val="window" lastClr="FFFFFF"/>
                  </a:solidFill>
                  <a:latin typeface="隶书" panose="02010509060101010101" pitchFamily="49" charset="-122"/>
                  <a:ea typeface="隶书" panose="02010509060101010101" pitchFamily="49" charset="-122"/>
                </a:rPr>
                <a:t>5</a:t>
              </a:r>
              <a:r>
                <a:rPr lang="en-US" altLang="zh-CN" sz="2100" b="1" kern="0" baseline="25000" dirty="0">
                  <a:solidFill>
                    <a:sysClr val="window" lastClr="FFFFFF"/>
                  </a:solidFill>
                  <a:latin typeface="隶书" panose="02010509060101010101" pitchFamily="49" charset="-122"/>
                  <a:ea typeface="隶书" panose="02010509060101010101" pitchFamily="49" charset="-122"/>
                </a:rPr>
                <a:t>1</a:t>
              </a:r>
              <a:r>
                <a:rPr lang="en-US" altLang="zh-CN" sz="1500" b="1" kern="0" dirty="0">
                  <a:solidFill>
                    <a:sysClr val="window" lastClr="FFFFFF"/>
                  </a:solidFill>
                  <a:latin typeface="隶书" panose="02010509060101010101" pitchFamily="49" charset="-122"/>
                  <a:ea typeface="隶书" panose="02010509060101010101" pitchFamily="49" charset="-122"/>
                </a:rPr>
                <a:t>/</a:t>
              </a:r>
              <a:r>
                <a:rPr lang="en-US" altLang="zh-CN" sz="2100" b="1" kern="0" baseline="-10000" dirty="0">
                  <a:solidFill>
                    <a:sysClr val="window" lastClr="FFFFFF"/>
                  </a:solidFill>
                  <a:latin typeface="隶书" panose="02010509060101010101" pitchFamily="49" charset="-122"/>
                  <a:ea typeface="隶书" panose="02010509060101010101" pitchFamily="49" charset="-122"/>
                </a:rPr>
                <a:t>2</a:t>
              </a:r>
              <a:r>
                <a:rPr lang="zh-CN" altLang="en-US" sz="2100" b="1" kern="0" dirty="0">
                  <a:solidFill>
                    <a:sysClr val="window" lastClr="FFFFFF"/>
                  </a:solidFill>
                  <a:latin typeface="隶书" panose="02010509060101010101" pitchFamily="49" charset="-122"/>
                  <a:ea typeface="隶书" panose="02010509060101010101" pitchFamily="49" charset="-122"/>
                </a:rPr>
                <a:t>测量精度</a:t>
              </a:r>
              <a:r>
                <a:rPr lang="en-US" altLang="zh-CN" sz="2100" b="1" kern="0" dirty="0">
                  <a:solidFill>
                    <a:sysClr val="window" lastClr="FFFFFF"/>
                  </a:solidFill>
                  <a:latin typeface="隶书" panose="02010509060101010101" pitchFamily="49" charset="-122"/>
                  <a:ea typeface="隶书" panose="02010509060101010101" pitchFamily="49" charset="-122"/>
                </a:rPr>
                <a:t>,</a:t>
              </a:r>
              <a:r>
                <a:rPr lang="zh-CN" altLang="en-US" sz="2100" b="1" kern="0" dirty="0">
                  <a:solidFill>
                    <a:sysClr val="window" lastClr="FFFFFF"/>
                  </a:solidFill>
                  <a:latin typeface="隶书" panose="02010509060101010101" pitchFamily="49" charset="-122"/>
                  <a:ea typeface="隶书" panose="02010509060101010101" pitchFamily="49" charset="-122"/>
                </a:rPr>
                <a:t>扩展的测量范围</a:t>
              </a:r>
              <a:endParaRPr lang="zh-CN" altLang="en-US" sz="2100" kern="0" dirty="0">
                <a:solidFill>
                  <a:sysClr val="window" lastClr="FFFFFF"/>
                </a:solidFill>
                <a:latin typeface="隶书" panose="02010509060101010101" pitchFamily="49" charset="-122"/>
                <a:ea typeface="隶书" panose="02010509060101010101" pitchFamily="49" charset="-122"/>
              </a:endParaRPr>
            </a:p>
            <a:p>
              <a:pPr algn="ctr" defTabSz="622300">
                <a:lnSpc>
                  <a:spcPct val="90000"/>
                </a:lnSpc>
                <a:spcAft>
                  <a:spcPct val="35000"/>
                </a:spcAft>
                <a:defRPr/>
              </a:pPr>
              <a:r>
                <a:rPr lang="zh-CN" altLang="en-US" sz="2100" b="1" kern="0" dirty="0">
                  <a:solidFill>
                    <a:sysClr val="window" lastClr="FFFFFF"/>
                  </a:solidFill>
                  <a:latin typeface="隶书" panose="02010509060101010101" pitchFamily="49" charset="-122"/>
                  <a:ea typeface="隶书" panose="02010509060101010101" pitchFamily="49" charset="-122"/>
                </a:rPr>
                <a:t>满足几乎绝大部分用户的基本测试需求</a:t>
              </a:r>
              <a:endParaRPr lang="en-US" altLang="zh-CN" sz="2100" b="1" kern="0" dirty="0">
                <a:solidFill>
                  <a:sysClr val="window" lastClr="FFFFFF"/>
                </a:solidFill>
                <a:latin typeface="隶书" panose="02010509060101010101" pitchFamily="49" charset="-122"/>
                <a:ea typeface="隶书" panose="02010509060101010101" pitchFamily="49" charset="-122"/>
              </a:endParaRPr>
            </a:p>
          </p:txBody>
        </p:sp>
      </p:grpSp>
      <p:grpSp>
        <p:nvGrpSpPr>
          <p:cNvPr id="3" name="组合 32"/>
          <p:cNvGrpSpPr/>
          <p:nvPr/>
        </p:nvGrpSpPr>
        <p:grpSpPr bwMode="auto">
          <a:xfrm>
            <a:off x="783771" y="1737713"/>
            <a:ext cx="7456714" cy="1350768"/>
            <a:chOff x="1809212" y="1762132"/>
            <a:chExt cx="6841997" cy="1524000"/>
          </a:xfrm>
        </p:grpSpPr>
        <p:grpSp>
          <p:nvGrpSpPr>
            <p:cNvPr id="4" name="组合 47"/>
            <p:cNvGrpSpPr/>
            <p:nvPr/>
          </p:nvGrpSpPr>
          <p:grpSpPr bwMode="auto">
            <a:xfrm>
              <a:off x="1809212" y="1762132"/>
              <a:ext cx="2228572" cy="1524000"/>
              <a:chOff x="1846345" y="1905000"/>
              <a:chExt cx="2228572" cy="1524000"/>
            </a:xfrm>
          </p:grpSpPr>
          <p:sp>
            <p:nvSpPr>
              <p:cNvPr id="42" name="椭圆 41"/>
              <p:cNvSpPr/>
              <p:nvPr/>
            </p:nvSpPr>
            <p:spPr>
              <a:xfrm>
                <a:off x="1846345" y="1905000"/>
                <a:ext cx="2228572" cy="1071562"/>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a:bevelT w="63500" h="25400"/>
              </a:sp3d>
            </p:spPr>
            <p:txBody>
              <a:bodyPr/>
              <a:lstStyle/>
              <a:p>
                <a:pPr defTabSz="711200">
                  <a:lnSpc>
                    <a:spcPct val="90000"/>
                  </a:lnSpc>
                  <a:spcAft>
                    <a:spcPct val="35000"/>
                  </a:spcAft>
                  <a:defRPr/>
                </a:pPr>
                <a:r>
                  <a:rPr lang="en-US" sz="1800" b="1" kern="0" dirty="0">
                    <a:solidFill>
                      <a:sysClr val="window" lastClr="FFFFFF"/>
                    </a:solidFill>
                    <a:latin typeface="Calibri" panose="020F0502020204030204"/>
                  </a:rPr>
                  <a:t>-1</a:t>
                </a:r>
                <a:r>
                  <a:rPr lang="en-US" altLang="zh-CN" sz="1800" b="1" kern="0" dirty="0">
                    <a:solidFill>
                      <a:sysClr val="window" lastClr="FFFFFF"/>
                    </a:solidFill>
                    <a:latin typeface="Calibri" panose="020F0502020204030204"/>
                    <a:ea typeface="宋体" panose="02010600030101010101" pitchFamily="2" charset="-122"/>
                  </a:rPr>
                  <a:t>0</a:t>
                </a:r>
                <a:r>
                  <a:rPr lang="en-US" sz="1800" b="1" kern="0" dirty="0">
                    <a:solidFill>
                      <a:sysClr val="window" lastClr="FFFFFF"/>
                    </a:solidFill>
                    <a:latin typeface="Calibri" panose="020F0502020204030204"/>
                  </a:rPr>
                  <a:t>00V</a:t>
                </a:r>
                <a:r>
                  <a:rPr lang="en-US" sz="1800" b="1" kern="0" dirty="0">
                    <a:solidFill>
                      <a:sysClr val="window" lastClr="FFFFFF"/>
                    </a:solidFill>
                  </a:rPr>
                  <a:t>~</a:t>
                </a:r>
                <a:r>
                  <a:rPr lang="en-US" sz="1800" b="1" kern="0" dirty="0">
                    <a:solidFill>
                      <a:sysClr val="window" lastClr="FFFFFF"/>
                    </a:solidFill>
                    <a:latin typeface="Calibri" panose="020F0502020204030204"/>
                  </a:rPr>
                  <a:t>+1</a:t>
                </a:r>
                <a:r>
                  <a:rPr lang="en-US" altLang="zh-CN" sz="1800" b="1" kern="0" dirty="0">
                    <a:solidFill>
                      <a:sysClr val="window" lastClr="FFFFFF"/>
                    </a:solidFill>
                    <a:latin typeface="Calibri" panose="020F0502020204030204"/>
                    <a:ea typeface="宋体" panose="02010600030101010101" pitchFamily="2" charset="-122"/>
                  </a:rPr>
                  <a:t>0</a:t>
                </a:r>
                <a:r>
                  <a:rPr lang="en-US" sz="1800" b="1" kern="0" dirty="0">
                    <a:solidFill>
                      <a:sysClr val="window" lastClr="FFFFFF"/>
                    </a:solidFill>
                    <a:latin typeface="Calibri" panose="020F0502020204030204"/>
                  </a:rPr>
                  <a:t>00V</a:t>
                </a:r>
                <a:endParaRPr lang="en-US" sz="1800" b="1" kern="0" dirty="0">
                  <a:solidFill>
                    <a:sysClr val="window" lastClr="FFFFFF"/>
                  </a:solidFill>
                  <a:latin typeface="Calibri" panose="020F0502020204030204"/>
                </a:endParaRPr>
              </a:p>
              <a:p>
                <a:pPr defTabSz="71120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直流电压测量</a:t>
                </a:r>
                <a:endParaRPr lang="zh-CN" altLang="en-US" sz="1800" b="1" kern="0" dirty="0">
                  <a:solidFill>
                    <a:sysClr val="window" lastClr="FFFFFF"/>
                  </a:solidFill>
                  <a:latin typeface="Calibri" panose="020F0502020204030204"/>
                  <a:ea typeface="宋体" panose="02010600030101010101" pitchFamily="2" charset="-122"/>
                </a:endParaRPr>
              </a:p>
            </p:txBody>
          </p:sp>
          <p:sp>
            <p:nvSpPr>
              <p:cNvPr id="43" name="下箭头 42"/>
              <p:cNvSpPr/>
              <p:nvPr/>
            </p:nvSpPr>
            <p:spPr>
              <a:xfrm>
                <a:off x="2476348" y="3048000"/>
                <a:ext cx="595312" cy="381000"/>
              </a:xfrm>
              <a:prstGeom prst="downArrow">
                <a:avLst/>
              </a:prstGeom>
              <a:solidFill>
                <a:srgbClr val="C0504D">
                  <a:tint val="4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p:spPr>
          </p:sp>
        </p:grpSp>
        <p:grpSp>
          <p:nvGrpSpPr>
            <p:cNvPr id="5" name="组合 48"/>
            <p:cNvGrpSpPr/>
            <p:nvPr/>
          </p:nvGrpSpPr>
          <p:grpSpPr bwMode="auto">
            <a:xfrm>
              <a:off x="4067749" y="1762132"/>
              <a:ext cx="2404800" cy="1524000"/>
              <a:chOff x="4104882" y="1905000"/>
              <a:chExt cx="2404800" cy="1524000"/>
            </a:xfrm>
          </p:grpSpPr>
          <p:sp>
            <p:nvSpPr>
              <p:cNvPr id="40" name="椭圆 39"/>
              <p:cNvSpPr/>
              <p:nvPr/>
            </p:nvSpPr>
            <p:spPr>
              <a:xfrm>
                <a:off x="4104882" y="1905000"/>
                <a:ext cx="2404800" cy="1071562"/>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a:bevelT w="63500" h="25400"/>
              </a:sp3d>
            </p:spPr>
            <p:txBody>
              <a:bodyPr anchor="ctr"/>
              <a:lstStyle/>
              <a:p>
                <a:pPr algn="ctr">
                  <a:defRPr/>
                </a:pPr>
                <a:r>
                  <a:rPr lang="en-US" altLang="zh-CN" sz="1800" b="1" kern="0" dirty="0">
                    <a:solidFill>
                      <a:sysClr val="window" lastClr="FFFFFF"/>
                    </a:solidFill>
                    <a:latin typeface="Calibri" panose="020F0502020204030204"/>
                    <a:ea typeface="宋体" panose="02010600030101010101" pitchFamily="2" charset="-122"/>
                  </a:rPr>
                  <a:t>0</a:t>
                </a:r>
                <a:r>
                  <a:rPr lang="en-US" sz="1800" b="1" kern="0" dirty="0">
                    <a:solidFill>
                      <a:sysClr val="window" lastClr="FFFFFF"/>
                    </a:solidFill>
                  </a:rPr>
                  <a:t>~</a:t>
                </a:r>
                <a:r>
                  <a:rPr lang="en-US" altLang="zh-CN" sz="1800" b="1" kern="0" dirty="0">
                    <a:solidFill>
                      <a:sysClr val="window" lastClr="FFFFFF"/>
                    </a:solidFill>
                    <a:latin typeface="Calibri" panose="020F0502020204030204"/>
                    <a:ea typeface="宋体" panose="02010600030101010101" pitchFamily="2" charset="-122"/>
                  </a:rPr>
                  <a:t>750V</a:t>
                </a:r>
                <a:endParaRPr lang="en-US" altLang="zh-CN" sz="1800" b="1" kern="0" dirty="0">
                  <a:solidFill>
                    <a:sysClr val="window" lastClr="FFFFFF"/>
                  </a:solidFill>
                  <a:latin typeface="Calibri" panose="020F0502020204030204"/>
                  <a:ea typeface="宋体" panose="02010600030101010101" pitchFamily="2" charset="-122"/>
                </a:endParaRPr>
              </a:p>
              <a:p>
                <a:pPr algn="ctr">
                  <a:defRPr/>
                </a:pPr>
                <a:r>
                  <a:rPr lang="zh-CN" altLang="en-US" sz="1800" b="1" kern="0" dirty="0">
                    <a:solidFill>
                      <a:sysClr val="window" lastClr="FFFFFF"/>
                    </a:solidFill>
                    <a:latin typeface="Calibri" panose="020F0502020204030204"/>
                    <a:ea typeface="宋体" panose="02010600030101010101" pitchFamily="2" charset="-122"/>
                  </a:rPr>
                  <a:t>交流电压测量</a:t>
                </a:r>
                <a:endParaRPr lang="zh-CN" altLang="en-US" sz="1800" b="1" kern="0" dirty="0">
                  <a:solidFill>
                    <a:sysClr val="window" lastClr="FFFFFF"/>
                  </a:solidFill>
                  <a:latin typeface="Calibri" panose="020F0502020204030204"/>
                  <a:ea typeface="宋体" panose="02010600030101010101" pitchFamily="2" charset="-122"/>
                </a:endParaRPr>
              </a:p>
            </p:txBody>
          </p:sp>
          <p:sp>
            <p:nvSpPr>
              <p:cNvPr id="41" name="下箭头 40"/>
              <p:cNvSpPr/>
              <p:nvPr/>
            </p:nvSpPr>
            <p:spPr>
              <a:xfrm>
                <a:off x="5009626" y="3048000"/>
                <a:ext cx="595312" cy="381000"/>
              </a:xfrm>
              <a:prstGeom prst="downArrow">
                <a:avLst/>
              </a:prstGeom>
              <a:solidFill>
                <a:srgbClr val="C0504D">
                  <a:tint val="4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p:spPr>
          </p:sp>
        </p:grpSp>
        <p:grpSp>
          <p:nvGrpSpPr>
            <p:cNvPr id="6" name="组合 49"/>
            <p:cNvGrpSpPr/>
            <p:nvPr/>
          </p:nvGrpSpPr>
          <p:grpSpPr bwMode="auto">
            <a:xfrm>
              <a:off x="6596355" y="1762132"/>
              <a:ext cx="2054854" cy="1524000"/>
              <a:chOff x="6633488" y="1905000"/>
              <a:chExt cx="2054854" cy="1524000"/>
            </a:xfrm>
          </p:grpSpPr>
          <p:sp>
            <p:nvSpPr>
              <p:cNvPr id="38" name="下箭头 37"/>
              <p:cNvSpPr/>
              <p:nvPr/>
            </p:nvSpPr>
            <p:spPr>
              <a:xfrm>
                <a:off x="7538233" y="3048000"/>
                <a:ext cx="595312" cy="381000"/>
              </a:xfrm>
              <a:prstGeom prst="downArrow">
                <a:avLst/>
              </a:prstGeom>
              <a:solidFill>
                <a:srgbClr val="C0504D">
                  <a:tint val="4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p:spPr>
          </p:sp>
          <p:sp>
            <p:nvSpPr>
              <p:cNvPr id="39" name="椭圆 38"/>
              <p:cNvSpPr/>
              <p:nvPr/>
            </p:nvSpPr>
            <p:spPr>
              <a:xfrm>
                <a:off x="6633488" y="1905000"/>
                <a:ext cx="2054854" cy="1071562"/>
              </a:xfrm>
              <a:prstGeom prst="ellipse">
                <a:avLst/>
              </a:prstGeom>
              <a:gradFill rotWithShape="1">
                <a:gsLst>
                  <a:gs pos="0">
                    <a:srgbClr val="4BACC6">
                      <a:shade val="51000"/>
                      <a:satMod val="130000"/>
                    </a:srgbClr>
                  </a:gs>
                  <a:gs pos="80000">
                    <a:srgbClr val="4BACC6">
                      <a:shade val="93000"/>
                      <a:satMod val="130000"/>
                    </a:srgbClr>
                  </a:gs>
                  <a:gs pos="100000">
                    <a:srgbClr val="4BACC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a:bevelT w="63500" h="25400"/>
              </a:sp3d>
            </p:spPr>
            <p:txBody>
              <a:bodyPr/>
              <a:lstStyle/>
              <a:p>
                <a:pPr algn="ctr" defTabSz="711200">
                  <a:lnSpc>
                    <a:spcPct val="90000"/>
                  </a:lnSpc>
                  <a:spcAft>
                    <a:spcPct val="35000"/>
                  </a:spcAft>
                  <a:defRPr/>
                </a:pPr>
                <a:r>
                  <a:rPr lang="en-US" sz="1800" b="1" kern="0" dirty="0">
                    <a:solidFill>
                      <a:sysClr val="window" lastClr="FFFFFF"/>
                    </a:solidFill>
                    <a:latin typeface="Calibri" panose="020F0502020204030204"/>
                  </a:rPr>
                  <a:t>0</a:t>
                </a:r>
                <a:r>
                  <a:rPr lang="en-US" sz="1800" b="1" kern="0" dirty="0">
                    <a:solidFill>
                      <a:sysClr val="window" lastClr="FFFFFF"/>
                    </a:solidFill>
                  </a:rPr>
                  <a:t>~</a:t>
                </a:r>
                <a:r>
                  <a:rPr lang="en-US" sz="1800" b="1" kern="0" dirty="0">
                    <a:solidFill>
                      <a:sysClr val="window" lastClr="FFFFFF"/>
                    </a:solidFill>
                    <a:latin typeface="Calibri" panose="020F0502020204030204"/>
                  </a:rPr>
                  <a:t>1</a:t>
                </a:r>
                <a:r>
                  <a:rPr lang="en-US" altLang="zh-CN" sz="1800" b="1" kern="0" dirty="0">
                    <a:solidFill>
                      <a:sysClr val="window" lastClr="FFFFFF"/>
                    </a:solidFill>
                    <a:latin typeface="Calibri" panose="020F0502020204030204"/>
                    <a:ea typeface="宋体" panose="02010600030101010101" pitchFamily="2" charset="-122"/>
                  </a:rPr>
                  <a:t>0</a:t>
                </a:r>
                <a:r>
                  <a:rPr lang="en-US" sz="1800" b="1" kern="0" dirty="0">
                    <a:solidFill>
                      <a:sysClr val="window" lastClr="FFFFFF"/>
                    </a:solidFill>
                    <a:latin typeface="Calibri" panose="020F0502020204030204"/>
                  </a:rPr>
                  <a:t>0M</a:t>
                </a:r>
                <a:r>
                  <a:rPr lang="el-GR" sz="1800" b="1" kern="0" dirty="0">
                    <a:solidFill>
                      <a:sysClr val="window" lastClr="FFFFFF"/>
                    </a:solidFill>
                    <a:latin typeface="Calibri" panose="020F0502020204030204"/>
                  </a:rPr>
                  <a:t>Ω</a:t>
                </a:r>
                <a:endParaRPr lang="en-US" sz="1800" b="1" kern="0" dirty="0">
                  <a:solidFill>
                    <a:sysClr val="window" lastClr="FFFFFF"/>
                  </a:solidFill>
                  <a:latin typeface="Calibri" panose="020F0502020204030204"/>
                </a:endParaRPr>
              </a:p>
              <a:p>
                <a:pPr algn="ctr" defTabSz="71120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电阻测量</a:t>
                </a:r>
                <a:endParaRPr lang="zh-CN" altLang="en-US" sz="1800" b="1" kern="0" dirty="0">
                  <a:solidFill>
                    <a:sysClr val="window" lastClr="FFFFFF"/>
                  </a:solidFill>
                  <a:latin typeface="Calibri" panose="020F0502020204030204"/>
                  <a:ea typeface="宋体" panose="02010600030101010101" pitchFamily="2" charset="-122"/>
                </a:endParaRPr>
              </a:p>
            </p:txBody>
          </p:sp>
        </p:grpSp>
      </p:grpSp>
      <p:grpSp>
        <p:nvGrpSpPr>
          <p:cNvPr id="7" name="组合 43"/>
          <p:cNvGrpSpPr/>
          <p:nvPr/>
        </p:nvGrpSpPr>
        <p:grpSpPr bwMode="auto">
          <a:xfrm>
            <a:off x="914400" y="4124325"/>
            <a:ext cx="7326085" cy="1214438"/>
            <a:chOff x="1534471" y="4667260"/>
            <a:chExt cx="7466685" cy="1619260"/>
          </a:xfrm>
        </p:grpSpPr>
        <p:grpSp>
          <p:nvGrpSpPr>
            <p:cNvPr id="8" name="组合 51"/>
            <p:cNvGrpSpPr/>
            <p:nvPr/>
          </p:nvGrpSpPr>
          <p:grpSpPr bwMode="auto">
            <a:xfrm>
              <a:off x="4067749" y="4667260"/>
              <a:ext cx="2404800" cy="1619260"/>
              <a:chOff x="4104882" y="4810128"/>
              <a:chExt cx="2404800" cy="1619260"/>
            </a:xfrm>
          </p:grpSpPr>
          <p:sp>
            <p:nvSpPr>
              <p:cNvPr id="53" name="椭圆 52"/>
              <p:cNvSpPr/>
              <p:nvPr/>
            </p:nvSpPr>
            <p:spPr>
              <a:xfrm>
                <a:off x="4104882" y="5357826"/>
                <a:ext cx="2404800" cy="1071562"/>
              </a:xfrm>
              <a:prstGeom prst="ellipse">
                <a:avLst/>
              </a:prstGeom>
              <a:gradFill rotWithShape="1">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a:lstStyle/>
              <a:p>
                <a:pPr algn="ctr" defTabSz="75565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最大</a:t>
                </a:r>
                <a:r>
                  <a:rPr lang="en-US" altLang="zh-CN" sz="1800" b="1" kern="0" dirty="0">
                    <a:solidFill>
                      <a:sysClr val="window" lastClr="FFFFFF"/>
                    </a:solidFill>
                    <a:latin typeface="Calibri" panose="020F0502020204030204"/>
                    <a:ea typeface="宋体" panose="02010600030101010101" pitchFamily="2" charset="-122"/>
                  </a:rPr>
                  <a:t>1MHz</a:t>
                </a:r>
                <a:endParaRPr lang="en-US" altLang="zh-CN" sz="1800" b="1" kern="0" dirty="0">
                  <a:solidFill>
                    <a:sysClr val="window" lastClr="FFFFFF"/>
                  </a:solidFill>
                  <a:latin typeface="Calibri" panose="020F0502020204030204"/>
                  <a:ea typeface="宋体" panose="02010600030101010101" pitchFamily="2" charset="-122"/>
                </a:endParaRPr>
              </a:p>
              <a:p>
                <a:pPr algn="ctr" defTabSz="75565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频率测量</a:t>
                </a:r>
                <a:endParaRPr lang="zh-CN" altLang="en-US" sz="1800" b="1" kern="0" dirty="0">
                  <a:solidFill>
                    <a:sysClr val="window" lastClr="FFFFFF"/>
                  </a:solidFill>
                  <a:latin typeface="Calibri" panose="020F0502020204030204"/>
                  <a:ea typeface="宋体" panose="02010600030101010101" pitchFamily="2" charset="-122"/>
                </a:endParaRPr>
              </a:p>
            </p:txBody>
          </p:sp>
          <p:sp>
            <p:nvSpPr>
              <p:cNvPr id="54" name="下箭头 53"/>
              <p:cNvSpPr/>
              <p:nvPr/>
            </p:nvSpPr>
            <p:spPr>
              <a:xfrm rot="10800000">
                <a:off x="5009627" y="4810128"/>
                <a:ext cx="595312" cy="381000"/>
              </a:xfrm>
              <a:prstGeom prst="downArrow">
                <a:avLst/>
              </a:prstGeom>
              <a:solidFill>
                <a:srgbClr val="C0504D">
                  <a:tint val="4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p:spPr>
          </p:sp>
        </p:grpSp>
        <p:grpSp>
          <p:nvGrpSpPr>
            <p:cNvPr id="9" name="组合 55"/>
            <p:cNvGrpSpPr/>
            <p:nvPr/>
          </p:nvGrpSpPr>
          <p:grpSpPr bwMode="auto">
            <a:xfrm>
              <a:off x="1534471" y="4667260"/>
              <a:ext cx="2404800" cy="1619260"/>
              <a:chOff x="1534471" y="4667260"/>
              <a:chExt cx="2404800" cy="1619260"/>
            </a:xfrm>
          </p:grpSpPr>
          <p:sp>
            <p:nvSpPr>
              <p:cNvPr id="51" name="下箭头 50"/>
              <p:cNvSpPr/>
              <p:nvPr/>
            </p:nvSpPr>
            <p:spPr>
              <a:xfrm rot="10800000">
                <a:off x="2439216" y="4667260"/>
                <a:ext cx="595312" cy="381000"/>
              </a:xfrm>
              <a:prstGeom prst="downArrow">
                <a:avLst/>
              </a:prstGeom>
              <a:solidFill>
                <a:srgbClr val="C0504D">
                  <a:tint val="4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p:spPr>
          </p:sp>
          <p:sp>
            <p:nvSpPr>
              <p:cNvPr id="52" name="椭圆 51"/>
              <p:cNvSpPr/>
              <p:nvPr/>
            </p:nvSpPr>
            <p:spPr>
              <a:xfrm>
                <a:off x="1534471" y="5214958"/>
                <a:ext cx="2404800" cy="1071562"/>
              </a:xfrm>
              <a:prstGeom prst="ellipse">
                <a:avLst/>
              </a:prstGeom>
              <a:gradFill rotWithShape="1">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a:lstStyle/>
              <a:p>
                <a:pPr algn="ctr" defTabSz="755650">
                  <a:lnSpc>
                    <a:spcPct val="90000"/>
                  </a:lnSpc>
                  <a:spcAft>
                    <a:spcPct val="35000"/>
                  </a:spcAft>
                  <a:defRPr/>
                </a:pPr>
                <a:r>
                  <a:rPr lang="en-US" sz="1800" b="1" kern="0" dirty="0">
                    <a:solidFill>
                      <a:sysClr val="window" lastClr="FFFFFF"/>
                    </a:solidFill>
                    <a:latin typeface="Calibri" panose="020F0502020204030204"/>
                  </a:rPr>
                  <a:t>-10</a:t>
                </a:r>
                <a:r>
                  <a:rPr lang="en-US" altLang="zh-CN" sz="1800" b="1" kern="0" dirty="0">
                    <a:solidFill>
                      <a:sysClr val="window" lastClr="FFFFFF"/>
                    </a:solidFill>
                    <a:latin typeface="Calibri" panose="020F0502020204030204"/>
                    <a:ea typeface="宋体" panose="02010600030101010101" pitchFamily="2" charset="-122"/>
                  </a:rPr>
                  <a:t>A</a:t>
                </a:r>
                <a:r>
                  <a:rPr lang="en-US" sz="1800" b="1" kern="0" dirty="0">
                    <a:solidFill>
                      <a:sysClr val="window" lastClr="FFFFFF"/>
                    </a:solidFill>
                  </a:rPr>
                  <a:t>~</a:t>
                </a:r>
                <a:r>
                  <a:rPr lang="en-US" altLang="zh-CN" sz="1800" b="1" kern="0" dirty="0">
                    <a:solidFill>
                      <a:sysClr val="window" lastClr="FFFFFF"/>
                    </a:solidFill>
                    <a:latin typeface="Calibri" panose="020F0502020204030204"/>
                    <a:ea typeface="宋体" panose="02010600030101010101" pitchFamily="2" charset="-122"/>
                  </a:rPr>
                  <a:t>10A</a:t>
                </a:r>
                <a:endParaRPr lang="en-US" altLang="zh-CN" sz="1800" b="1" kern="0" dirty="0">
                  <a:solidFill>
                    <a:sysClr val="window" lastClr="FFFFFF"/>
                  </a:solidFill>
                  <a:latin typeface="Calibri" panose="020F0502020204030204"/>
                  <a:ea typeface="宋体" panose="02010600030101010101" pitchFamily="2" charset="-122"/>
                </a:endParaRPr>
              </a:p>
              <a:p>
                <a:pPr algn="ctr" defTabSz="75565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电流测量</a:t>
                </a:r>
                <a:endParaRPr lang="en-US" sz="1800" b="1" kern="0" dirty="0">
                  <a:solidFill>
                    <a:sysClr val="window" lastClr="FFFFFF"/>
                  </a:solidFill>
                  <a:latin typeface="Calibri" panose="020F0502020204030204"/>
                </a:endParaRPr>
              </a:p>
            </p:txBody>
          </p:sp>
        </p:grpSp>
        <p:grpSp>
          <p:nvGrpSpPr>
            <p:cNvPr id="10" name="组合 56"/>
            <p:cNvGrpSpPr/>
            <p:nvPr/>
          </p:nvGrpSpPr>
          <p:grpSpPr bwMode="auto">
            <a:xfrm>
              <a:off x="6596356" y="4667260"/>
              <a:ext cx="2404800" cy="1619260"/>
              <a:chOff x="6596356" y="4667260"/>
              <a:chExt cx="2404800" cy="1619260"/>
            </a:xfrm>
          </p:grpSpPr>
          <p:sp>
            <p:nvSpPr>
              <p:cNvPr id="49" name="椭圆 48"/>
              <p:cNvSpPr/>
              <p:nvPr/>
            </p:nvSpPr>
            <p:spPr>
              <a:xfrm>
                <a:off x="6596356" y="5214958"/>
                <a:ext cx="2404800" cy="1071562"/>
              </a:xfrm>
              <a:prstGeom prst="ellipse">
                <a:avLst/>
              </a:prstGeom>
              <a:gradFill rotWithShape="1">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p:spPr>
            <p:txBody>
              <a:bodyPr/>
              <a:lstStyle/>
              <a:p>
                <a:pPr algn="ctr" defTabSz="75565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最大</a:t>
                </a:r>
                <a:r>
                  <a:rPr lang="en-US" altLang="zh-CN" sz="1800" b="1" kern="0" dirty="0">
                    <a:solidFill>
                      <a:sysClr val="window" lastClr="FFFFFF"/>
                    </a:solidFill>
                    <a:latin typeface="Calibri" panose="020F0502020204030204"/>
                    <a:ea typeface="宋体" panose="02010600030101010101" pitchFamily="2" charset="-122"/>
                  </a:rPr>
                  <a:t>10000uF</a:t>
                </a:r>
                <a:endParaRPr lang="en-US" altLang="zh-CN" sz="1800" b="1" kern="0" dirty="0">
                  <a:solidFill>
                    <a:sysClr val="window" lastClr="FFFFFF"/>
                  </a:solidFill>
                  <a:latin typeface="Calibri" panose="020F0502020204030204"/>
                  <a:ea typeface="宋体" panose="02010600030101010101" pitchFamily="2" charset="-122"/>
                </a:endParaRPr>
              </a:p>
              <a:p>
                <a:pPr algn="ctr" defTabSz="755650">
                  <a:lnSpc>
                    <a:spcPct val="90000"/>
                  </a:lnSpc>
                  <a:spcAft>
                    <a:spcPct val="35000"/>
                  </a:spcAft>
                  <a:defRPr/>
                </a:pPr>
                <a:r>
                  <a:rPr lang="zh-CN" altLang="en-US" sz="1800" b="1" kern="0" dirty="0">
                    <a:solidFill>
                      <a:sysClr val="window" lastClr="FFFFFF"/>
                    </a:solidFill>
                    <a:latin typeface="Calibri" panose="020F0502020204030204"/>
                    <a:ea typeface="宋体" panose="02010600030101010101" pitchFamily="2" charset="-122"/>
                  </a:rPr>
                  <a:t>电容测量</a:t>
                </a:r>
                <a:endParaRPr lang="zh-CN" altLang="en-US" sz="1800" b="1" kern="0" dirty="0">
                  <a:solidFill>
                    <a:sysClr val="window" lastClr="FFFFFF"/>
                  </a:solidFill>
                  <a:latin typeface="Calibri" panose="020F0502020204030204"/>
                  <a:ea typeface="宋体" panose="02010600030101010101" pitchFamily="2" charset="-122"/>
                </a:endParaRPr>
              </a:p>
            </p:txBody>
          </p:sp>
          <p:sp>
            <p:nvSpPr>
              <p:cNvPr id="50" name="下箭头 49"/>
              <p:cNvSpPr/>
              <p:nvPr/>
            </p:nvSpPr>
            <p:spPr>
              <a:xfrm rot="10800000">
                <a:off x="7501101" y="4667260"/>
                <a:ext cx="595312" cy="381000"/>
              </a:xfrm>
              <a:prstGeom prst="downArrow">
                <a:avLst/>
              </a:prstGeom>
              <a:solidFill>
                <a:srgbClr val="C0504D">
                  <a:tint val="40000"/>
                  <a:hueOff val="0"/>
                  <a:satOff val="0"/>
                  <a:lumOff val="0"/>
                  <a:alphaOff val="0"/>
                </a:srgbClr>
              </a:solidFill>
              <a:ln>
                <a:noFill/>
              </a:ln>
              <a:effectLst>
                <a:outerShdw blurRad="40000" dist="23000" dir="5400000" rotWithShape="0">
                  <a:srgbClr val="000000">
                    <a:alpha val="35000"/>
                  </a:srgbClr>
                </a:outerShdw>
              </a:effectLst>
              <a:scene3d>
                <a:camera prst="orthographicFront"/>
                <a:lightRig rig="flat" dir="t"/>
              </a:scene3d>
              <a:sp3d z="190500" prstMaterial="plastic">
                <a:bevelT w="120900" h="88900"/>
                <a:bevelB w="88900" h="31750" prst="angle"/>
              </a:sp3d>
            </p:spPr>
          </p:sp>
        </p:grpSp>
      </p:grpSp>
      <p:sp>
        <p:nvSpPr>
          <p:cNvPr id="18437" name="Rectangle 2"/>
          <p:cNvSpPr>
            <a:spLocks noGrp="1"/>
          </p:cNvSpPr>
          <p:nvPr>
            <p:ph type="title" idx="4294967295"/>
          </p:nvPr>
        </p:nvSpPr>
        <p:spPr>
          <a:xfrm>
            <a:off x="1440815" y="537845"/>
            <a:ext cx="6101715" cy="1074420"/>
          </a:xfrm>
        </p:spPr>
        <p:txBody>
          <a:bodyPr/>
          <a:lstStyle/>
          <a:p>
            <a:r>
              <a:rPr lang="zh-CN" altLang="en-US" sz="3600" b="1" dirty="0">
                <a:latin typeface="+mn-ea"/>
              </a:rPr>
              <a:t>万用表</a:t>
            </a:r>
            <a:br>
              <a:rPr lang="zh-CN" altLang="en-US" sz="3600" b="1" dirty="0">
                <a:latin typeface="+mn-ea"/>
              </a:rPr>
            </a:br>
            <a:r>
              <a:rPr lang="en-US" altLang="zh-CN" sz="3600" b="1" dirty="0">
                <a:latin typeface="+mn-ea"/>
              </a:rPr>
              <a:t>SDM3055X-E</a:t>
            </a:r>
            <a:r>
              <a:rPr lang="zh-CN" altLang="en-US" sz="3600" b="1" kern="0" dirty="0">
                <a:latin typeface="+mn-ea"/>
              </a:rPr>
              <a:t>基本测量功能</a:t>
            </a:r>
            <a:endParaRPr lang="zh-CN" altLang="en-US" sz="3600" dirty="0"/>
          </a:p>
        </p:txBody>
      </p:sp>
      <p:pic>
        <p:nvPicPr>
          <p:cNvPr id="28" name="图片 27" descr="5.png"/>
          <p:cNvPicPr>
            <a:picLocks noChangeAspect="1"/>
          </p:cNvPicPr>
          <p:nvPr/>
        </p:nvPicPr>
        <p:blipFill>
          <a:blip r:embed="rId1"/>
          <a:stretch>
            <a:fillRect/>
          </a:stretch>
        </p:blipFill>
        <p:spPr>
          <a:xfrm>
            <a:off x="1143000" y="5625719"/>
            <a:ext cx="6858000" cy="37503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02285" y="199390"/>
            <a:ext cx="4746625" cy="478155"/>
          </a:xfrm>
        </p:spPr>
        <p:txBody>
          <a:bodyPr>
            <a:noAutofit/>
          </a:body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rotWithShape="1">
          <a:blip r:embed="rId1"/>
          <a:srcRect l="4824" t="16855" r="1282" b="1536"/>
          <a:stretch>
            <a:fillRect/>
          </a:stretch>
        </p:blipFill>
        <p:spPr>
          <a:xfrm>
            <a:off x="126482" y="2117609"/>
            <a:ext cx="8614747" cy="3376520"/>
          </a:xfrm>
          <a:prstGeom prst="rect">
            <a:avLst/>
          </a:prstGeom>
        </p:spPr>
      </p:pic>
      <p:sp>
        <p:nvSpPr>
          <p:cNvPr id="8" name="圆角矩形 7"/>
          <p:cNvSpPr/>
          <p:nvPr/>
        </p:nvSpPr>
        <p:spPr>
          <a:xfrm>
            <a:off x="800100" y="4977490"/>
            <a:ext cx="4098472" cy="359229"/>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9" name="圆角矩形 8"/>
          <p:cNvSpPr/>
          <p:nvPr/>
        </p:nvSpPr>
        <p:spPr>
          <a:xfrm>
            <a:off x="5192486" y="2326649"/>
            <a:ext cx="1959429" cy="854699"/>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宋体" panose="02010600030101010101" pitchFamily="2" charset="-122"/>
              <a:ea typeface="宋体" panose="02010600030101010101" pitchFamily="2" charset="-122"/>
            </a:endParaRPr>
          </a:p>
        </p:txBody>
      </p:sp>
      <p:sp>
        <p:nvSpPr>
          <p:cNvPr id="10" name="圆角矩形 9"/>
          <p:cNvSpPr/>
          <p:nvPr/>
        </p:nvSpPr>
        <p:spPr>
          <a:xfrm>
            <a:off x="5192486" y="3181347"/>
            <a:ext cx="1959429" cy="854699"/>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宋体" panose="02010600030101010101" pitchFamily="2" charset="-122"/>
              <a:ea typeface="宋体" panose="02010600030101010101" pitchFamily="2" charset="-122"/>
            </a:endParaRPr>
          </a:p>
        </p:txBody>
      </p:sp>
      <p:sp>
        <p:nvSpPr>
          <p:cNvPr id="11" name="圆角矩形 10"/>
          <p:cNvSpPr/>
          <p:nvPr/>
        </p:nvSpPr>
        <p:spPr>
          <a:xfrm>
            <a:off x="5112385" y="4123055"/>
            <a:ext cx="1344930" cy="1214120"/>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宋体" panose="02010600030101010101" pitchFamily="2" charset="-122"/>
              <a:ea typeface="宋体" panose="02010600030101010101" pitchFamily="2" charset="-122"/>
            </a:endParaRPr>
          </a:p>
        </p:txBody>
      </p:sp>
      <p:sp>
        <p:nvSpPr>
          <p:cNvPr id="14" name="圆角矩形 13"/>
          <p:cNvSpPr/>
          <p:nvPr/>
        </p:nvSpPr>
        <p:spPr>
          <a:xfrm>
            <a:off x="7233559" y="2427851"/>
            <a:ext cx="1507670" cy="2549639"/>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宋体" panose="02010600030101010101" pitchFamily="2" charset="-122"/>
              <a:ea typeface="宋体" panose="02010600030101010101" pitchFamily="2" charset="-122"/>
            </a:endParaRPr>
          </a:p>
        </p:txBody>
      </p:sp>
      <p:sp>
        <p:nvSpPr>
          <p:cNvPr id="17" name="圆角矩形标注 16"/>
          <p:cNvSpPr/>
          <p:nvPr/>
        </p:nvSpPr>
        <p:spPr>
          <a:xfrm>
            <a:off x="4572000" y="5548217"/>
            <a:ext cx="1502228" cy="370890"/>
          </a:xfrm>
          <a:prstGeom prst="wedgeRoundRectCallout">
            <a:avLst>
              <a:gd name="adj1" fmla="val 49871"/>
              <a:gd name="adj2" fmla="val -124354"/>
              <a:gd name="adj3" fmla="val 1666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smtClean="0">
                <a:solidFill>
                  <a:schemeClr val="tx1"/>
                </a:solidFill>
                <a:latin typeface="宋体" panose="02010600030101010101" pitchFamily="2" charset="-122"/>
                <a:ea typeface="宋体" panose="02010600030101010101" pitchFamily="2" charset="-122"/>
              </a:rPr>
              <a:t>方向键</a:t>
            </a:r>
            <a:endParaRPr lang="zh-CN" altLang="en-US" sz="2200" dirty="0" smtClean="0">
              <a:solidFill>
                <a:schemeClr val="tx1"/>
              </a:solidFill>
              <a:latin typeface="宋体" panose="02010600030101010101" pitchFamily="2" charset="-122"/>
              <a:ea typeface="宋体" panose="02010600030101010101" pitchFamily="2" charset="-122"/>
            </a:endParaRPr>
          </a:p>
        </p:txBody>
      </p:sp>
      <p:sp>
        <p:nvSpPr>
          <p:cNvPr id="18" name="圆角矩形标注 17"/>
          <p:cNvSpPr/>
          <p:nvPr/>
        </p:nvSpPr>
        <p:spPr>
          <a:xfrm>
            <a:off x="7164070" y="5681980"/>
            <a:ext cx="1647190" cy="389255"/>
          </a:xfrm>
          <a:prstGeom prst="wedgeRoundRectCallout">
            <a:avLst>
              <a:gd name="adj1" fmla="val -53760"/>
              <a:gd name="adj2" fmla="val -486215"/>
              <a:gd name="adj3" fmla="val 1666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smtClean="0">
                <a:solidFill>
                  <a:schemeClr val="tx1"/>
                </a:solidFill>
                <a:latin typeface="宋体" panose="02010600030101010101" pitchFamily="2" charset="-122"/>
                <a:ea typeface="宋体" panose="02010600030101010101" pitchFamily="2" charset="-122"/>
              </a:rPr>
              <a:t>辅助功能区</a:t>
            </a:r>
            <a:endParaRPr lang="zh-CN" altLang="en-US" sz="2200" dirty="0" smtClean="0">
              <a:solidFill>
                <a:schemeClr val="tx1"/>
              </a:solidFill>
              <a:latin typeface="宋体" panose="02010600030101010101" pitchFamily="2" charset="-122"/>
              <a:ea typeface="宋体" panose="02010600030101010101" pitchFamily="2" charset="-122"/>
            </a:endParaRPr>
          </a:p>
        </p:txBody>
      </p:sp>
      <p:sp>
        <p:nvSpPr>
          <p:cNvPr id="19" name="圆角矩形标注 18"/>
          <p:cNvSpPr/>
          <p:nvPr/>
        </p:nvSpPr>
        <p:spPr>
          <a:xfrm>
            <a:off x="7200900" y="1695450"/>
            <a:ext cx="1741170" cy="386080"/>
          </a:xfrm>
          <a:prstGeom prst="wedgeRoundRectCallout">
            <a:avLst>
              <a:gd name="adj1" fmla="val -5563"/>
              <a:gd name="adj2" fmla="val 165989"/>
              <a:gd name="adj3" fmla="val 1666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smtClean="0">
                <a:solidFill>
                  <a:schemeClr val="tx1"/>
                </a:solidFill>
                <a:latin typeface="宋体" panose="02010600030101010101" pitchFamily="2" charset="-122"/>
                <a:ea typeface="宋体" panose="02010600030101010101" pitchFamily="2" charset="-122"/>
              </a:rPr>
              <a:t>测量输入端</a:t>
            </a:r>
            <a:endParaRPr lang="zh-CN" altLang="en-US" sz="2200" dirty="0" smtClean="0">
              <a:solidFill>
                <a:schemeClr val="tx1"/>
              </a:solidFill>
              <a:latin typeface="宋体" panose="02010600030101010101" pitchFamily="2" charset="-122"/>
              <a:ea typeface="宋体" panose="02010600030101010101" pitchFamily="2" charset="-122"/>
            </a:endParaRPr>
          </a:p>
        </p:txBody>
      </p:sp>
      <p:sp>
        <p:nvSpPr>
          <p:cNvPr id="20" name="圆角矩形标注 19"/>
          <p:cNvSpPr/>
          <p:nvPr/>
        </p:nvSpPr>
        <p:spPr>
          <a:xfrm>
            <a:off x="2098040" y="5451475"/>
            <a:ext cx="1793240" cy="349885"/>
          </a:xfrm>
          <a:prstGeom prst="wedgeRoundRectCallout">
            <a:avLst>
              <a:gd name="adj1" fmla="val -43607"/>
              <a:gd name="adj2" fmla="val -86984"/>
              <a:gd name="adj3" fmla="val 1666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smtClean="0">
                <a:solidFill>
                  <a:schemeClr val="tx1"/>
                </a:solidFill>
                <a:latin typeface="宋体" panose="02010600030101010101" pitchFamily="2" charset="-122"/>
                <a:ea typeface="宋体" panose="02010600030101010101" pitchFamily="2" charset="-122"/>
              </a:rPr>
              <a:t>菜单选择键</a:t>
            </a:r>
            <a:endParaRPr lang="zh-CN" altLang="en-US" sz="2200" b="1" dirty="0" smtClean="0">
              <a:solidFill>
                <a:schemeClr val="tx1"/>
              </a:solidFill>
              <a:latin typeface="宋体" panose="02010600030101010101" pitchFamily="2" charset="-122"/>
              <a:ea typeface="宋体" panose="02010600030101010101" pitchFamily="2" charset="-122"/>
            </a:endParaRPr>
          </a:p>
        </p:txBody>
      </p:sp>
      <p:sp>
        <p:nvSpPr>
          <p:cNvPr id="21" name="圆角矩形标注 20"/>
          <p:cNvSpPr/>
          <p:nvPr/>
        </p:nvSpPr>
        <p:spPr>
          <a:xfrm>
            <a:off x="5290185" y="1788795"/>
            <a:ext cx="1633220" cy="328930"/>
          </a:xfrm>
          <a:prstGeom prst="wedgeRoundRectCallout">
            <a:avLst>
              <a:gd name="adj1" fmla="val -25128"/>
              <a:gd name="adj2" fmla="val 114245"/>
              <a:gd name="adj3" fmla="val 1666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dirty="0" smtClean="0">
                <a:solidFill>
                  <a:schemeClr val="tx1"/>
                </a:solidFill>
                <a:latin typeface="宋体" panose="02010600030101010101" pitchFamily="2" charset="-122"/>
                <a:ea typeface="宋体" panose="02010600030101010101" pitchFamily="2" charset="-122"/>
              </a:rPr>
              <a:t>测量功能区</a:t>
            </a:r>
            <a:endParaRPr lang="zh-CN" altLang="en-US" sz="2200" dirty="0" smtClean="0">
              <a:solidFill>
                <a:schemeClr val="tx1"/>
              </a:solidFill>
              <a:latin typeface="宋体" panose="02010600030101010101" pitchFamily="2" charset="-122"/>
              <a:ea typeface="宋体" panose="02010600030101010101" pitchFamily="2" charset="-122"/>
            </a:endParaRPr>
          </a:p>
        </p:txBody>
      </p:sp>
      <p:sp>
        <p:nvSpPr>
          <p:cNvPr id="22" name="圆角矩形标注 21"/>
          <p:cNvSpPr/>
          <p:nvPr/>
        </p:nvSpPr>
        <p:spPr>
          <a:xfrm>
            <a:off x="2911534" y="1815190"/>
            <a:ext cx="1301238" cy="293072"/>
          </a:xfrm>
          <a:prstGeom prst="wedgeRoundRectCallout">
            <a:avLst>
              <a:gd name="adj1" fmla="val -12243"/>
              <a:gd name="adj2" fmla="val 212771"/>
              <a:gd name="adj3" fmla="val 16667"/>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smtClean="0">
                <a:solidFill>
                  <a:schemeClr val="tx1"/>
                </a:solidFill>
                <a:latin typeface="宋体" panose="02010600030101010101" pitchFamily="2" charset="-122"/>
                <a:ea typeface="宋体" panose="02010600030101010101" pitchFamily="2" charset="-122"/>
              </a:rPr>
              <a:t>显示区</a:t>
            </a:r>
            <a:endParaRPr lang="zh-CN" altLang="en-US" sz="2200" b="1" dirty="0" smtClean="0">
              <a:solidFill>
                <a:schemeClr val="tx1"/>
              </a:solidFill>
              <a:latin typeface="宋体" panose="02010600030101010101" pitchFamily="2" charset="-122"/>
              <a:ea typeface="宋体" panose="02010600030101010101" pitchFamily="2" charset="-122"/>
            </a:endParaRPr>
          </a:p>
        </p:txBody>
      </p:sp>
      <p:sp>
        <p:nvSpPr>
          <p:cNvPr id="2" name="文本框 1"/>
          <p:cNvSpPr txBox="1"/>
          <p:nvPr/>
        </p:nvSpPr>
        <p:spPr>
          <a:xfrm>
            <a:off x="676910" y="822325"/>
            <a:ext cx="281813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1) </a:t>
            </a:r>
            <a:r>
              <a:rPr lang="zh-CN" altLang="en-US" sz="2800" dirty="0" smtClean="0">
                <a:solidFill>
                  <a:srgbClr val="FF0000"/>
                </a:solidFill>
                <a:latin typeface="楷体" panose="02010609060101010101" charset="-122"/>
                <a:ea typeface="楷体" panose="02010609060101010101" charset="-122"/>
                <a:cs typeface="宋体" panose="02010600030101010101" pitchFamily="2" charset="-122"/>
                <a:sym typeface="+mn-ea"/>
              </a:rPr>
              <a:t>前面板介绍</a:t>
            </a:r>
            <a:endParaRPr lang="zh-CN" altLang="en-US" sz="2800" dirty="0" smtClean="0">
              <a:solidFill>
                <a:srgbClr val="FF0000"/>
              </a:solidFill>
              <a:latin typeface="楷体" panose="02010609060101010101" charset="-122"/>
              <a:ea typeface="楷体" panose="02010609060101010101" charset="-122"/>
              <a:cs typeface="宋体" panose="02010600030101010101" pitchFamily="2" charset="-122"/>
              <a:sym typeface="+mn-ea"/>
            </a:endParaRPr>
          </a:p>
        </p:txBody>
      </p:sp>
      <p:sp>
        <p:nvSpPr>
          <p:cNvPr id="4" name="文本框 3"/>
          <p:cNvSpPr txBox="1"/>
          <p:nvPr/>
        </p:nvSpPr>
        <p:spPr>
          <a:xfrm>
            <a:off x="5187950" y="812800"/>
            <a:ext cx="1736090" cy="368300"/>
          </a:xfrm>
          <a:prstGeom prst="rect">
            <a:avLst/>
          </a:prstGeom>
          <a:noFill/>
        </p:spPr>
        <p:txBody>
          <a:bodyPr wrap="square" rtlCol="0">
            <a:spAutoFit/>
          </a:bodyPr>
          <a:p>
            <a:r>
              <a:rPr lang="zh-CN" altLang="en-US" b="1">
                <a:solidFill>
                  <a:srgbClr val="FF0000"/>
                </a:solidFill>
              </a:rPr>
              <a:t>直流电压电流</a:t>
            </a:r>
            <a:endParaRPr lang="zh-CN" altLang="en-US" b="1">
              <a:solidFill>
                <a:srgbClr val="FF0000"/>
              </a:solidFill>
            </a:endParaRPr>
          </a:p>
        </p:txBody>
      </p:sp>
      <p:sp>
        <p:nvSpPr>
          <p:cNvPr id="6" name="文本框 5"/>
          <p:cNvSpPr txBox="1"/>
          <p:nvPr/>
        </p:nvSpPr>
        <p:spPr>
          <a:xfrm>
            <a:off x="6588125" y="825500"/>
            <a:ext cx="1736090" cy="368300"/>
          </a:xfrm>
          <a:prstGeom prst="rect">
            <a:avLst/>
          </a:prstGeom>
          <a:noFill/>
        </p:spPr>
        <p:txBody>
          <a:bodyPr wrap="square" rtlCol="0">
            <a:spAutoFit/>
          </a:bodyPr>
          <a:p>
            <a:r>
              <a:rPr lang="en-US" altLang="zh-CN" b="1">
                <a:solidFill>
                  <a:srgbClr val="FF0000"/>
                </a:solidFill>
              </a:rPr>
              <a:t>/</a:t>
            </a:r>
            <a:r>
              <a:rPr lang="zh-CN" altLang="en-US" b="1">
                <a:solidFill>
                  <a:srgbClr val="FF0000"/>
                </a:solidFill>
              </a:rPr>
              <a:t>交流电压电流</a:t>
            </a:r>
            <a:endParaRPr lang="zh-CN" altLang="en-US" b="1">
              <a:solidFill>
                <a:srgbClr val="FF0000"/>
              </a:solidFill>
            </a:endParaRPr>
          </a:p>
        </p:txBody>
      </p:sp>
      <p:sp>
        <p:nvSpPr>
          <p:cNvPr id="7" name="文本框 6"/>
          <p:cNvSpPr txBox="1"/>
          <p:nvPr/>
        </p:nvSpPr>
        <p:spPr>
          <a:xfrm>
            <a:off x="5800725" y="1210310"/>
            <a:ext cx="2373630" cy="368300"/>
          </a:xfrm>
          <a:prstGeom prst="rect">
            <a:avLst/>
          </a:prstGeom>
          <a:noFill/>
        </p:spPr>
        <p:txBody>
          <a:bodyPr wrap="square" rtlCol="0">
            <a:spAutoFit/>
          </a:bodyPr>
          <a:p>
            <a:r>
              <a:rPr lang="zh-CN" altLang="en-US" b="1">
                <a:solidFill>
                  <a:srgbClr val="FF0000"/>
                </a:solidFill>
              </a:rPr>
              <a:t>电容</a:t>
            </a:r>
            <a:r>
              <a:rPr lang="en-US" altLang="zh-CN" b="1">
                <a:solidFill>
                  <a:srgbClr val="FF0000"/>
                </a:solidFill>
              </a:rPr>
              <a:t>/</a:t>
            </a:r>
            <a:r>
              <a:rPr lang="zh-CN" altLang="en-US" b="1">
                <a:solidFill>
                  <a:srgbClr val="FF0000"/>
                </a:solidFill>
              </a:rPr>
              <a:t>频率</a:t>
            </a:r>
            <a:r>
              <a:rPr lang="en-US" altLang="zh-CN" b="1">
                <a:solidFill>
                  <a:srgbClr val="FF0000"/>
                </a:solidFill>
              </a:rPr>
              <a:t>/</a:t>
            </a:r>
            <a:r>
              <a:rPr lang="zh-CN" altLang="en-US" b="1">
                <a:solidFill>
                  <a:srgbClr val="FF0000"/>
                </a:solidFill>
              </a:rPr>
              <a:t>二极管</a:t>
            </a:r>
            <a:endParaRPr lang="zh-CN" altLang="en-US" b="1">
              <a:solidFill>
                <a:srgbClr val="FF0000"/>
              </a:solidFill>
            </a:endParaRPr>
          </a:p>
        </p:txBody>
      </p:sp>
      <p:sp>
        <p:nvSpPr>
          <p:cNvPr id="12" name="文本框 11"/>
          <p:cNvSpPr txBox="1"/>
          <p:nvPr/>
        </p:nvSpPr>
        <p:spPr>
          <a:xfrm>
            <a:off x="5247005" y="1189990"/>
            <a:ext cx="748665" cy="368300"/>
          </a:xfrm>
          <a:prstGeom prst="rect">
            <a:avLst/>
          </a:prstGeom>
          <a:noFill/>
        </p:spPr>
        <p:txBody>
          <a:bodyPr wrap="square" rtlCol="0">
            <a:spAutoFit/>
          </a:bodyPr>
          <a:p>
            <a:r>
              <a:rPr lang="zh-CN" altLang="en-US" b="1">
                <a:solidFill>
                  <a:srgbClr val="FF0000"/>
                </a:solidFill>
              </a:rPr>
              <a:t>电阻</a:t>
            </a:r>
            <a:r>
              <a:rPr lang="en-US" altLang="zh-CN" b="1">
                <a:solidFill>
                  <a:srgbClr val="FF0000"/>
                </a:solidFill>
                <a:sym typeface="+mn-ea"/>
              </a:rPr>
              <a:t>/</a:t>
            </a:r>
            <a:endParaRPr lang="en-US" altLang="zh-CN" b="1">
              <a:solidFill>
                <a:srgbClr val="FF0000"/>
              </a:solidFill>
              <a:sym typeface="+mn-ea"/>
            </a:endParaRPr>
          </a:p>
        </p:txBody>
      </p:sp>
      <p:sp>
        <p:nvSpPr>
          <p:cNvPr id="13" name="文本框 12"/>
          <p:cNvSpPr txBox="1"/>
          <p:nvPr/>
        </p:nvSpPr>
        <p:spPr>
          <a:xfrm>
            <a:off x="6017260" y="5446395"/>
            <a:ext cx="1605915" cy="429895"/>
          </a:xfrm>
          <a:prstGeom prst="rect">
            <a:avLst/>
          </a:prstGeom>
          <a:solidFill>
            <a:schemeClr val="bg1"/>
          </a:solidFill>
        </p:spPr>
        <p:txBody>
          <a:bodyPr wrap="square" rtlCol="0" anchor="t">
            <a:spAutoFit/>
          </a:bodyPr>
          <a:p>
            <a:r>
              <a:rPr lang="zh-CN" altLang="en-US" sz="2200" b="1" dirty="0" smtClean="0">
                <a:solidFill>
                  <a:srgbClr val="FF0000"/>
                </a:solidFill>
                <a:sym typeface="+mn-ea"/>
              </a:rPr>
              <a:t>量程选择</a:t>
            </a:r>
            <a:endParaRPr lang="zh-CN" altLang="en-US" sz="2200" b="1" dirty="0" smtClean="0">
              <a:solidFill>
                <a:srgbClr val="FF0000"/>
              </a:solidFill>
              <a:sym typeface="+mn-ea"/>
            </a:endParaRPr>
          </a:p>
        </p:txBody>
      </p:sp>
      <p:sp>
        <p:nvSpPr>
          <p:cNvPr id="15" name="矩形 14"/>
          <p:cNvSpPr/>
          <p:nvPr/>
        </p:nvSpPr>
        <p:spPr>
          <a:xfrm>
            <a:off x="6515735" y="4149090"/>
            <a:ext cx="582295" cy="1080135"/>
          </a:xfrm>
          <a:prstGeom prst="rect">
            <a:avLst/>
          </a:prstGeom>
          <a:noFill/>
          <a:ln w="44450" cmpd="sng">
            <a:solidFill>
              <a:srgbClr val="FF33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ppt_x"/>
                                          </p:val>
                                        </p:tav>
                                        <p:tav tm="100000">
                                          <p:val>
                                            <p:strVal val="#ppt_x"/>
                                          </p:val>
                                        </p:tav>
                                      </p:tavLst>
                                    </p:anim>
                                    <p:anim calcmode="lin" valueType="num">
                                      <p:cBhvr additive="base">
                                        <p:cTn id="6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additive="base">
                                        <p:cTn id="73" dur="500" fill="hold"/>
                                        <p:tgtEl>
                                          <p:spTgt spid="13"/>
                                        </p:tgtEl>
                                        <p:attrNameLst>
                                          <p:attrName>ppt_x</p:attrName>
                                        </p:attrNameLst>
                                      </p:cBhvr>
                                      <p:tavLst>
                                        <p:tav tm="0">
                                          <p:val>
                                            <p:strVal val="#ppt_x"/>
                                          </p:val>
                                        </p:tav>
                                        <p:tav tm="100000">
                                          <p:val>
                                            <p:strVal val="#ppt_x"/>
                                          </p:val>
                                        </p:tav>
                                      </p:tavLst>
                                    </p:anim>
                                    <p:anim calcmode="lin" valueType="num">
                                      <p:cBhvr additive="base">
                                        <p:cTn id="7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0" grpId="0" bldLvl="0" animBg="1"/>
      <p:bldP spid="21" grpId="0" bldLvl="0" animBg="1"/>
      <p:bldP spid="17" grpId="0" animBg="1"/>
      <p:bldP spid="19" grpId="0" bldLvl="0" animBg="1"/>
      <p:bldP spid="18" grpId="0" bldLvl="0" animBg="1"/>
      <p:bldP spid="4" grpId="0"/>
      <p:bldP spid="6" grpId="0"/>
      <p:bldP spid="12" grpId="0"/>
      <p:bldP spid="7" grpId="0"/>
      <p:bldP spid="15"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p:pic>
        <p:nvPicPr>
          <p:cNvPr id="26627" name="Picture 4" descr="C:\Users\Administrator\AppData\Roaming\Tencent\Users\16685809\QQ\WinTemp\RichOle\%Q054)`0@OICK2{)M7M611V.png"/>
          <p:cNvPicPr>
            <a:picLocks noChangeAspect="1"/>
          </p:cNvPicPr>
          <p:nvPr/>
        </p:nvPicPr>
        <p:blipFill>
          <a:blip r:embed="rId1"/>
          <a:stretch>
            <a:fillRect/>
          </a:stretch>
        </p:blipFill>
        <p:spPr>
          <a:xfrm>
            <a:off x="827088" y="692150"/>
            <a:ext cx="7396162" cy="3241675"/>
          </a:xfrm>
          <a:prstGeom prst="rect">
            <a:avLst/>
          </a:prstGeom>
          <a:noFill/>
          <a:ln w="9525">
            <a:noFill/>
          </a:ln>
        </p:spPr>
      </p:pic>
      <p:sp>
        <p:nvSpPr>
          <p:cNvPr id="26628" name="TextBox 2"/>
          <p:cNvSpPr txBox="1"/>
          <p:nvPr/>
        </p:nvSpPr>
        <p:spPr>
          <a:xfrm>
            <a:off x="395288" y="4005263"/>
            <a:ext cx="8280400" cy="646112"/>
          </a:xfrm>
          <a:prstGeom prst="rect">
            <a:avLst/>
          </a:prstGeom>
          <a:noFill/>
          <a:ln w="9525">
            <a:noFill/>
          </a:ln>
        </p:spPr>
        <p:txBody>
          <a:bodyPr>
            <a:spAutoFit/>
          </a:bodyPr>
          <a:p>
            <a:r>
              <a:rPr lang="zh-CN" altLang="en-US" dirty="0">
                <a:latin typeface="Arial" panose="020B0604020202020204" pitchFamily="34" charset="0"/>
              </a:rPr>
              <a:t>       深圳鼎阳公司：</a:t>
            </a:r>
            <a:r>
              <a:rPr lang="en-US" altLang="zh-CN" dirty="0">
                <a:latin typeface="Arial" panose="020B0604020202020204" pitchFamily="34" charset="0"/>
              </a:rPr>
              <a:t>A</a:t>
            </a:r>
            <a:r>
              <a:rPr lang="zh-CN" altLang="en-US" dirty="0">
                <a:solidFill>
                  <a:srgbClr val="FF0000"/>
                </a:solidFill>
                <a:latin typeface="Arial" panose="020B0604020202020204" pitchFamily="34" charset="0"/>
              </a:rPr>
              <a:t>显示屏</a:t>
            </a:r>
            <a:r>
              <a:rPr lang="zh-CN" altLang="en-US" dirty="0">
                <a:latin typeface="Arial" panose="020B0604020202020204" pitchFamily="34" charset="0"/>
              </a:rPr>
              <a:t>、</a:t>
            </a:r>
            <a:r>
              <a:rPr lang="en-US" altLang="zh-CN" dirty="0">
                <a:latin typeface="Arial" panose="020B0604020202020204" pitchFamily="34" charset="0"/>
              </a:rPr>
              <a:t>B</a:t>
            </a:r>
            <a:r>
              <a:rPr lang="en-US" altLang="zh-CN" dirty="0">
                <a:solidFill>
                  <a:srgbClr val="FF0000"/>
                </a:solidFill>
                <a:latin typeface="Arial" panose="020B0604020202020204" pitchFamily="34" charset="0"/>
              </a:rPr>
              <a:t>USB</a:t>
            </a:r>
            <a:r>
              <a:rPr lang="zh-CN" altLang="en-US" dirty="0">
                <a:solidFill>
                  <a:srgbClr val="FF0000"/>
                </a:solidFill>
                <a:latin typeface="Arial" panose="020B0604020202020204" pitchFamily="34" charset="0"/>
              </a:rPr>
              <a:t>口</a:t>
            </a:r>
            <a:r>
              <a:rPr lang="zh-CN" altLang="en-US" dirty="0">
                <a:latin typeface="Arial" panose="020B0604020202020204" pitchFamily="34" charset="0"/>
              </a:rPr>
              <a:t>、</a:t>
            </a:r>
            <a:r>
              <a:rPr lang="en-US" altLang="zh-CN" dirty="0">
                <a:latin typeface="Arial" panose="020B0604020202020204" pitchFamily="34" charset="0"/>
              </a:rPr>
              <a:t>C</a:t>
            </a:r>
            <a:r>
              <a:rPr lang="zh-CN" altLang="en-US" dirty="0">
                <a:solidFill>
                  <a:srgbClr val="FF0000"/>
                </a:solidFill>
                <a:latin typeface="Arial" panose="020B0604020202020204" pitchFamily="34" charset="0"/>
              </a:rPr>
              <a:t>电源开关</a:t>
            </a:r>
            <a:r>
              <a:rPr lang="zh-CN" altLang="en-US" dirty="0">
                <a:latin typeface="Arial" panose="020B0604020202020204" pitchFamily="34" charset="0"/>
              </a:rPr>
              <a:t>、</a:t>
            </a:r>
            <a:r>
              <a:rPr lang="en-US" altLang="zh-CN" dirty="0">
                <a:latin typeface="Arial" panose="020B0604020202020204" pitchFamily="34" charset="0"/>
              </a:rPr>
              <a:t>D</a:t>
            </a:r>
            <a:r>
              <a:rPr lang="zh-CN" altLang="en-US" dirty="0">
                <a:solidFill>
                  <a:srgbClr val="FF0000"/>
                </a:solidFill>
                <a:latin typeface="Arial" panose="020B0604020202020204" pitchFamily="34" charset="0"/>
              </a:rPr>
              <a:t>菜单键</a:t>
            </a:r>
            <a:r>
              <a:rPr lang="zh-CN" altLang="en-US" dirty="0">
                <a:latin typeface="Arial" panose="020B0604020202020204" pitchFamily="34" charset="0"/>
              </a:rPr>
              <a:t>、</a:t>
            </a:r>
            <a:r>
              <a:rPr lang="en-US" altLang="zh-CN" dirty="0">
                <a:latin typeface="Arial" panose="020B0604020202020204" pitchFamily="34" charset="0"/>
              </a:rPr>
              <a:t>E</a:t>
            </a:r>
            <a:r>
              <a:rPr lang="zh-CN" altLang="en-US" dirty="0">
                <a:solidFill>
                  <a:srgbClr val="FF0000"/>
                </a:solidFill>
                <a:latin typeface="Arial" panose="020B0604020202020204" pitchFamily="34" charset="0"/>
              </a:rPr>
              <a:t>测量及辅助功能键</a:t>
            </a:r>
            <a:r>
              <a:rPr lang="zh-CN" altLang="en-US" dirty="0">
                <a:latin typeface="Arial" panose="020B0604020202020204" pitchFamily="34" charset="0"/>
              </a:rPr>
              <a:t>、</a:t>
            </a:r>
            <a:r>
              <a:rPr lang="en-US" altLang="zh-CN" dirty="0">
                <a:latin typeface="Arial" panose="020B0604020202020204" pitchFamily="34" charset="0"/>
              </a:rPr>
              <a:t>F</a:t>
            </a:r>
            <a:r>
              <a:rPr lang="zh-CN" altLang="en-US" dirty="0">
                <a:solidFill>
                  <a:srgbClr val="FF0000"/>
                </a:solidFill>
                <a:latin typeface="Arial" panose="020B0604020202020204" pitchFamily="34" charset="0"/>
              </a:rPr>
              <a:t>量程档位选择及方向键</a:t>
            </a:r>
            <a:r>
              <a:rPr lang="zh-CN" altLang="en-US" dirty="0">
                <a:latin typeface="Arial" panose="020B0604020202020204" pitchFamily="34" charset="0"/>
              </a:rPr>
              <a:t>、</a:t>
            </a:r>
            <a:r>
              <a:rPr lang="en-US" altLang="zh-CN" dirty="0">
                <a:latin typeface="Arial" panose="020B0604020202020204" pitchFamily="34" charset="0"/>
              </a:rPr>
              <a:t>G</a:t>
            </a:r>
            <a:r>
              <a:rPr lang="zh-CN" altLang="en-US" dirty="0">
                <a:solidFill>
                  <a:srgbClr val="FF0000"/>
                </a:solidFill>
                <a:latin typeface="Arial" panose="020B0604020202020204" pitchFamily="34" charset="0"/>
              </a:rPr>
              <a:t>信号输入端</a:t>
            </a:r>
            <a:endParaRPr lang="zh-CN" altLang="en-US" dirty="0">
              <a:solidFill>
                <a:srgbClr val="FF0000"/>
              </a:solidFill>
              <a:latin typeface="Arial" panose="020B0604020202020204" pitchFamily="34" charset="0"/>
            </a:endParaRPr>
          </a:p>
        </p:txBody>
      </p:sp>
      <p:sp>
        <p:nvSpPr>
          <p:cNvPr id="26629" name="TextBox 3"/>
          <p:cNvSpPr txBox="1"/>
          <p:nvPr/>
        </p:nvSpPr>
        <p:spPr>
          <a:xfrm>
            <a:off x="395288" y="4652963"/>
            <a:ext cx="7866062" cy="369887"/>
          </a:xfrm>
          <a:prstGeom prst="rect">
            <a:avLst/>
          </a:prstGeom>
          <a:noFill/>
          <a:ln w="9525">
            <a:noFill/>
          </a:ln>
        </p:spPr>
        <p:txBody>
          <a:bodyPr wrap="none">
            <a:spAutoFit/>
          </a:bodyPr>
          <a:p>
            <a:r>
              <a:rPr lang="zh-CN" altLang="en-US" dirty="0">
                <a:latin typeface="Arial" panose="020B0604020202020204" pitchFamily="34" charset="0"/>
              </a:rPr>
              <a:t>测量直流电压或直流电流、测量交流电压或交流电流、测量二线或四线电阻</a:t>
            </a:r>
            <a:endParaRPr lang="zh-CN" altLang="en-US" dirty="0">
              <a:latin typeface="Arial" panose="020B0604020202020204" pitchFamily="34" charset="0"/>
            </a:endParaRPr>
          </a:p>
        </p:txBody>
      </p:sp>
      <p:sp>
        <p:nvSpPr>
          <p:cNvPr id="26630" name="TextBox 6"/>
          <p:cNvSpPr txBox="1"/>
          <p:nvPr/>
        </p:nvSpPr>
        <p:spPr>
          <a:xfrm>
            <a:off x="395288" y="5157788"/>
            <a:ext cx="6186487" cy="368300"/>
          </a:xfrm>
          <a:prstGeom prst="rect">
            <a:avLst/>
          </a:prstGeom>
          <a:noFill/>
          <a:ln w="9525">
            <a:noFill/>
          </a:ln>
        </p:spPr>
        <p:txBody>
          <a:bodyPr wrap="none">
            <a:spAutoFit/>
          </a:bodyPr>
          <a:p>
            <a:r>
              <a:rPr lang="zh-CN" altLang="en-US" dirty="0">
                <a:latin typeface="Arial" panose="020B0604020202020204" pitchFamily="34" charset="0"/>
              </a:rPr>
              <a:t>测量电容或频率、测试连通性或二极管、测量温度或扫描卡</a:t>
            </a:r>
            <a:endParaRPr lang="zh-CN" altLang="en-US" dirty="0">
              <a:latin typeface="Arial" panose="020B0604020202020204" pitchFamily="34" charset="0"/>
            </a:endParaRPr>
          </a:p>
        </p:txBody>
      </p:sp>
      <p:sp>
        <p:nvSpPr>
          <p:cNvPr id="26631" name="TextBox 7"/>
          <p:cNvSpPr txBox="1"/>
          <p:nvPr/>
        </p:nvSpPr>
        <p:spPr>
          <a:xfrm>
            <a:off x="412750" y="5661025"/>
            <a:ext cx="8262938" cy="369888"/>
          </a:xfrm>
          <a:prstGeom prst="rect">
            <a:avLst/>
          </a:prstGeom>
          <a:noFill/>
          <a:ln w="9525">
            <a:noFill/>
          </a:ln>
        </p:spPr>
        <p:txBody>
          <a:bodyPr wrap="none">
            <a:spAutoFit/>
          </a:bodyPr>
          <a:p>
            <a:r>
              <a:rPr lang="zh-CN" altLang="en-US" dirty="0">
                <a:latin typeface="Arial" panose="020B0604020202020204" pitchFamily="34" charset="0"/>
              </a:rPr>
              <a:t>双显示功能或辅助系统功能卡、采样设置或帮助系统、数学运算功能或显示功能</a:t>
            </a:r>
            <a:endParaRPr lang="zh-CN" altLang="en-US" dirty="0">
              <a:latin typeface="Arial" panose="020B0604020202020204" pitchFamily="34" charset="0"/>
            </a:endParaRPr>
          </a:p>
        </p:txBody>
      </p:sp>
      <p:sp>
        <p:nvSpPr>
          <p:cNvPr id="26632" name="TextBox 8"/>
          <p:cNvSpPr txBox="1"/>
          <p:nvPr/>
        </p:nvSpPr>
        <p:spPr>
          <a:xfrm>
            <a:off x="395288" y="6156325"/>
            <a:ext cx="7212012" cy="368300"/>
          </a:xfrm>
          <a:prstGeom prst="rect">
            <a:avLst/>
          </a:prstGeom>
          <a:noFill/>
          <a:ln w="9525">
            <a:noFill/>
          </a:ln>
        </p:spPr>
        <p:txBody>
          <a:bodyPr wrap="none">
            <a:spAutoFit/>
          </a:bodyPr>
          <a:p>
            <a:r>
              <a:rPr lang="zh-CN" altLang="en-US" dirty="0">
                <a:latin typeface="Arial" panose="020B0604020202020204" pitchFamily="34" charset="0"/>
              </a:rPr>
              <a:t>自动触发</a:t>
            </a:r>
            <a:r>
              <a:rPr lang="en-US" altLang="zh-CN" dirty="0">
                <a:latin typeface="Arial" panose="020B0604020202020204" pitchFamily="34" charset="0"/>
              </a:rPr>
              <a:t>/</a:t>
            </a:r>
            <a:r>
              <a:rPr lang="zh-CN" altLang="en-US" dirty="0">
                <a:latin typeface="Arial" panose="020B0604020202020204" pitchFamily="34" charset="0"/>
              </a:rPr>
              <a:t>停止、单次触发或</a:t>
            </a:r>
            <a:r>
              <a:rPr lang="en-US" altLang="zh-CN" dirty="0">
                <a:latin typeface="Arial" panose="020B0604020202020204" pitchFamily="34" charset="0"/>
              </a:rPr>
              <a:t>hold</a:t>
            </a:r>
            <a:r>
              <a:rPr lang="zh-CN" altLang="en-US" dirty="0">
                <a:latin typeface="Arial" panose="020B0604020202020204" pitchFamily="34" charset="0"/>
              </a:rPr>
              <a:t>测量功能、切换功能</a:t>
            </a:r>
            <a:r>
              <a:rPr lang="en-US" altLang="zh-CN" dirty="0">
                <a:latin typeface="Arial" panose="020B0604020202020204" pitchFamily="34" charset="0"/>
              </a:rPr>
              <a:t>/</a:t>
            </a:r>
            <a:r>
              <a:rPr lang="zh-CN" altLang="en-US" dirty="0">
                <a:latin typeface="Arial" panose="020B0604020202020204" pitchFamily="34" charset="0"/>
              </a:rPr>
              <a:t>从遥控状态返回</a:t>
            </a:r>
            <a:endParaRPr lang="zh-CN" altLang="en-US" dirty="0">
              <a:latin typeface="Arial" panose="020B0604020202020204" pitchFamily="34" charset="0"/>
            </a:endParaRPr>
          </a:p>
        </p:txBody>
      </p:sp>
      <p:sp>
        <p:nvSpPr>
          <p:cNvPr id="18437" name="Rectangle 2"/>
          <p:cNvSpPr>
            <a:spLocks noGrp="1"/>
          </p:cNvSpPr>
          <p:nvPr>
            <p:ph type="title" idx="4294967295"/>
          </p:nvPr>
        </p:nvSpPr>
        <p:spPr>
          <a:xfrm>
            <a:off x="1440815" y="-36195"/>
            <a:ext cx="6101715" cy="1074420"/>
          </a:xfrm>
        </p:spPr>
        <p:txBody>
          <a:bodyPr/>
          <a:p>
            <a:r>
              <a:rPr lang="zh-CN" altLang="en-US" sz="3200" b="1" dirty="0">
                <a:latin typeface="+mn-ea"/>
              </a:rPr>
              <a:t>万用表</a:t>
            </a:r>
            <a:br>
              <a:rPr lang="zh-CN" altLang="en-US" sz="3200" b="1" dirty="0">
                <a:latin typeface="+mn-ea"/>
              </a:rPr>
            </a:br>
            <a:r>
              <a:rPr lang="en-US" altLang="zh-CN" sz="3200" b="1" dirty="0">
                <a:latin typeface="+mn-ea"/>
              </a:rPr>
              <a:t>SDM3055X-E</a:t>
            </a:r>
            <a:r>
              <a:rPr lang="zh-CN" altLang="en-US" sz="3200" b="1" kern="0" dirty="0">
                <a:latin typeface="+mn-ea"/>
              </a:rPr>
              <a:t>基本测量功能</a:t>
            </a:r>
            <a:endParaRPr lang="zh-CN" altLang="en-US" sz="3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anim calcmode="lin" valueType="num">
                                      <p:cBhvr additive="base">
                                        <p:cTn id="7" dur="500" fill="hold"/>
                                        <p:tgtEl>
                                          <p:spTgt spid="26629"/>
                                        </p:tgtEl>
                                        <p:attrNameLst>
                                          <p:attrName>ppt_x</p:attrName>
                                        </p:attrNameLst>
                                      </p:cBhvr>
                                      <p:tavLst>
                                        <p:tav tm="0">
                                          <p:val>
                                            <p:strVal val="#ppt_x"/>
                                          </p:val>
                                        </p:tav>
                                        <p:tav tm="100000">
                                          <p:val>
                                            <p:strVal val="#ppt_x"/>
                                          </p:val>
                                        </p:tav>
                                      </p:tavLst>
                                    </p:anim>
                                    <p:anim calcmode="lin" valueType="num">
                                      <p:cBhvr additive="base">
                                        <p:cTn id="8" dur="500" fill="hold"/>
                                        <p:tgtEl>
                                          <p:spTgt spid="266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30"/>
                                        </p:tgtEl>
                                        <p:attrNameLst>
                                          <p:attrName>style.visibility</p:attrName>
                                        </p:attrNameLst>
                                      </p:cBhvr>
                                      <p:to>
                                        <p:strVal val="visible"/>
                                      </p:to>
                                    </p:set>
                                    <p:anim calcmode="lin" valueType="num">
                                      <p:cBhvr additive="base">
                                        <p:cTn id="13" dur="500" fill="hold"/>
                                        <p:tgtEl>
                                          <p:spTgt spid="26630"/>
                                        </p:tgtEl>
                                        <p:attrNameLst>
                                          <p:attrName>ppt_x</p:attrName>
                                        </p:attrNameLst>
                                      </p:cBhvr>
                                      <p:tavLst>
                                        <p:tav tm="0">
                                          <p:val>
                                            <p:strVal val="#ppt_x"/>
                                          </p:val>
                                        </p:tav>
                                        <p:tav tm="100000">
                                          <p:val>
                                            <p:strVal val="#ppt_x"/>
                                          </p:val>
                                        </p:tav>
                                      </p:tavLst>
                                    </p:anim>
                                    <p:anim calcmode="lin" valueType="num">
                                      <p:cBhvr additive="base">
                                        <p:cTn id="14"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31"/>
                                        </p:tgtEl>
                                        <p:attrNameLst>
                                          <p:attrName>style.visibility</p:attrName>
                                        </p:attrNameLst>
                                      </p:cBhvr>
                                      <p:to>
                                        <p:strVal val="visible"/>
                                      </p:to>
                                    </p:set>
                                    <p:anim calcmode="lin" valueType="num">
                                      <p:cBhvr additive="base">
                                        <p:cTn id="19" dur="500" fill="hold"/>
                                        <p:tgtEl>
                                          <p:spTgt spid="26631"/>
                                        </p:tgtEl>
                                        <p:attrNameLst>
                                          <p:attrName>ppt_x</p:attrName>
                                        </p:attrNameLst>
                                      </p:cBhvr>
                                      <p:tavLst>
                                        <p:tav tm="0">
                                          <p:val>
                                            <p:strVal val="#ppt_x"/>
                                          </p:val>
                                        </p:tav>
                                        <p:tav tm="100000">
                                          <p:val>
                                            <p:strVal val="#ppt_x"/>
                                          </p:val>
                                        </p:tav>
                                      </p:tavLst>
                                    </p:anim>
                                    <p:anim calcmode="lin" valueType="num">
                                      <p:cBhvr additive="base">
                                        <p:cTn id="20"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632"/>
                                        </p:tgtEl>
                                        <p:attrNameLst>
                                          <p:attrName>style.visibility</p:attrName>
                                        </p:attrNameLst>
                                      </p:cBhvr>
                                      <p:to>
                                        <p:strVal val="visible"/>
                                      </p:to>
                                    </p:set>
                                    <p:anim calcmode="lin" valueType="num">
                                      <p:cBhvr additive="base">
                                        <p:cTn id="25" dur="500" fill="hold"/>
                                        <p:tgtEl>
                                          <p:spTgt spid="26632"/>
                                        </p:tgtEl>
                                        <p:attrNameLst>
                                          <p:attrName>ppt_x</p:attrName>
                                        </p:attrNameLst>
                                      </p:cBhvr>
                                      <p:tavLst>
                                        <p:tav tm="0">
                                          <p:val>
                                            <p:strVal val="#ppt_x"/>
                                          </p:val>
                                        </p:tav>
                                        <p:tav tm="100000">
                                          <p:val>
                                            <p:strVal val="#ppt_x"/>
                                          </p:val>
                                        </p:tav>
                                      </p:tavLst>
                                    </p:anim>
                                    <p:anim calcmode="lin" valueType="num">
                                      <p:cBhvr additive="base">
                                        <p:cTn id="26" dur="500" fill="hold"/>
                                        <p:tgtEl>
                                          <p:spTgt spid="266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P spid="26630" grpId="0"/>
      <p:bldP spid="26631" grpId="0"/>
      <p:bldP spid="2663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副标题 2"/>
          <p:cNvSpPr>
            <a:spLocks noGrp="1"/>
          </p:cNvSpPr>
          <p:nvPr>
            <p:ph type="subTitle" idx="4294967295"/>
          </p:nvPr>
        </p:nvSpPr>
        <p:spPr>
          <a:xfrm>
            <a:off x="2268855" y="1741170"/>
            <a:ext cx="4866005" cy="4244975"/>
          </a:xfrm>
        </p:spPr>
        <p:txBody>
          <a:bodyPr>
            <a:normAutofit lnSpcReduction="10000"/>
          </a:bodyPr>
          <a:lstStyle/>
          <a:p>
            <a:pPr algn="l">
              <a:lnSpc>
                <a:spcPct val="170000"/>
              </a:lnSpc>
              <a:buFont typeface="Wingdings" panose="05000000000000000000" pitchFamily="2" charset="2"/>
            </a:pPr>
            <a:r>
              <a:rPr lang="zh-CN" altLang="en-US" sz="2100" dirty="0" smtClean="0"/>
              <a:t>测量直流电压或者直流电流</a:t>
            </a:r>
            <a:endParaRPr lang="en-US" altLang="zh-CN" sz="2100" dirty="0" smtClean="0"/>
          </a:p>
          <a:p>
            <a:pPr algn="l">
              <a:lnSpc>
                <a:spcPct val="170000"/>
              </a:lnSpc>
              <a:buFont typeface="Wingdings" panose="05000000000000000000" pitchFamily="2" charset="2"/>
            </a:pPr>
            <a:r>
              <a:rPr lang="zh-CN" altLang="en-US" sz="2100" dirty="0" smtClean="0"/>
              <a:t>测量交流电压或者交流电流</a:t>
            </a:r>
            <a:r>
              <a:rPr lang="en-US" altLang="zh-CN" sz="2100" dirty="0" smtClean="0"/>
              <a:t> </a:t>
            </a:r>
            <a:endParaRPr lang="en-US" altLang="zh-CN" sz="2100" dirty="0" smtClean="0"/>
          </a:p>
          <a:p>
            <a:pPr algn="l">
              <a:lnSpc>
                <a:spcPct val="170000"/>
              </a:lnSpc>
              <a:buFont typeface="Wingdings" panose="05000000000000000000" pitchFamily="2" charset="2"/>
            </a:pPr>
            <a:r>
              <a:rPr lang="zh-CN" altLang="en-US" sz="2100" dirty="0" smtClean="0"/>
              <a:t>测量二线或者四线电阻</a:t>
            </a:r>
            <a:endParaRPr lang="en-US" altLang="zh-CN" sz="2100" dirty="0" smtClean="0"/>
          </a:p>
          <a:p>
            <a:pPr algn="l">
              <a:lnSpc>
                <a:spcPct val="170000"/>
              </a:lnSpc>
              <a:buFont typeface="Wingdings" panose="05000000000000000000" pitchFamily="2" charset="2"/>
            </a:pPr>
            <a:r>
              <a:rPr lang="zh-CN" altLang="en-US" sz="2100" dirty="0" smtClean="0"/>
              <a:t>测量电容或者频率</a:t>
            </a:r>
            <a:endParaRPr lang="en-US" altLang="zh-CN" sz="2100" dirty="0" smtClean="0"/>
          </a:p>
          <a:p>
            <a:pPr algn="l">
              <a:lnSpc>
                <a:spcPct val="170000"/>
              </a:lnSpc>
              <a:buFont typeface="Wingdings" panose="05000000000000000000" pitchFamily="2" charset="2"/>
            </a:pPr>
            <a:r>
              <a:rPr lang="zh-CN" altLang="en-US" sz="2100" dirty="0" smtClean="0"/>
              <a:t>测量连通性或者二极管</a:t>
            </a:r>
            <a:endParaRPr lang="en-US" altLang="zh-CN" sz="2100" dirty="0" smtClean="0"/>
          </a:p>
          <a:p>
            <a:pPr algn="l">
              <a:lnSpc>
                <a:spcPct val="170000"/>
              </a:lnSpc>
              <a:buFont typeface="Wingdings" panose="05000000000000000000" pitchFamily="2" charset="2"/>
            </a:pPr>
            <a:r>
              <a:rPr lang="zh-CN" altLang="en-US" sz="2100" dirty="0" smtClean="0"/>
              <a:t>测量温度或者扫描卡</a:t>
            </a:r>
            <a:endParaRPr lang="en-US" altLang="zh-CN" sz="2100" dirty="0" smtClean="0"/>
          </a:p>
          <a:p>
            <a:pPr algn="l">
              <a:lnSpc>
                <a:spcPct val="170000"/>
              </a:lnSpc>
              <a:buFont typeface="Wingdings" panose="05000000000000000000" pitchFamily="2" charset="2"/>
            </a:pPr>
            <a:r>
              <a:rPr lang="zh-CN" altLang="en-US" sz="2100" dirty="0" smtClean="0"/>
              <a:t>双显示功能或者辅助系统功能</a:t>
            </a:r>
            <a:endParaRPr lang="zh-CN" altLang="en-US" sz="2100" dirty="0"/>
          </a:p>
        </p:txBody>
      </p:sp>
      <p:pic>
        <p:nvPicPr>
          <p:cNvPr id="7" name="图片 6"/>
          <p:cNvPicPr>
            <a:picLocks noChangeAspect="1"/>
          </p:cNvPicPr>
          <p:nvPr/>
        </p:nvPicPr>
        <p:blipFill>
          <a:blip r:embed="rId1"/>
          <a:stretch>
            <a:fillRect/>
          </a:stretch>
        </p:blipFill>
        <p:spPr>
          <a:xfrm>
            <a:off x="1053148" y="1710926"/>
            <a:ext cx="843689" cy="4245428"/>
          </a:xfrm>
          <a:prstGeom prst="rect">
            <a:avLst/>
          </a:prstGeom>
        </p:spPr>
      </p:pic>
      <p:cxnSp>
        <p:nvCxnSpPr>
          <p:cNvPr id="8" name="直接箭头连接符 7"/>
          <p:cNvCxnSpPr/>
          <p:nvPr/>
        </p:nvCxnSpPr>
        <p:spPr>
          <a:xfrm flipV="1">
            <a:off x="1885952" y="2065565"/>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1868261" y="2658838"/>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873704" y="3267582"/>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1875066" y="3879903"/>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1868261" y="4492224"/>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1857375" y="5095531"/>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1881870" y="5708701"/>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2"/>
            </p:custDataLst>
          </p:nvPr>
        </p:nvSpPr>
        <p:spPr>
          <a:xfrm>
            <a:off x="676910" y="822325"/>
            <a:ext cx="5193665"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2) </a:t>
            </a:r>
            <a:r>
              <a:rPr lang="zh-CN" altLang="en-US" sz="2800" b="1" dirty="0" smtClean="0">
                <a:solidFill>
                  <a:srgbClr val="FF0000"/>
                </a:solidFill>
                <a:latin typeface="楷体" panose="02010609060101010101" charset="-122"/>
                <a:ea typeface="楷体" panose="02010609060101010101" charset="-122"/>
                <a:sym typeface="+mn-ea"/>
              </a:rPr>
              <a:t>测量功能区按键的功能</a:t>
            </a:r>
            <a:endParaRPr lang="zh-CN" altLang="en-US" sz="2800" b="1" dirty="0" smtClean="0">
              <a:solidFill>
                <a:srgbClr val="FF0000"/>
              </a:solidFill>
              <a:latin typeface="楷体" panose="02010609060101010101" charset="-122"/>
              <a:ea typeface="楷体" panose="02010609060101010101" charset="-122"/>
              <a:cs typeface="宋体" panose="02010600030101010101" pitchFamily="2" charset="-122"/>
              <a:sym typeface="+mn-ea"/>
            </a:endParaRPr>
          </a:p>
        </p:txBody>
      </p:sp>
      <p:sp>
        <p:nvSpPr>
          <p:cNvPr id="6" name="内容占位符 2"/>
          <p:cNvSpPr>
            <a:spLocks noGrp="1"/>
          </p:cNvSpPr>
          <p:nvPr>
            <p:custDataLst>
              <p:tags r:id="rId3"/>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副标题 2"/>
          <p:cNvSpPr>
            <a:spLocks noGrp="1"/>
          </p:cNvSpPr>
          <p:nvPr>
            <p:ph type="subTitle" idx="4294967295"/>
          </p:nvPr>
        </p:nvSpPr>
        <p:spPr>
          <a:xfrm>
            <a:off x="2556510" y="1773555"/>
            <a:ext cx="4865370" cy="3806825"/>
          </a:xfrm>
        </p:spPr>
        <p:txBody>
          <a:bodyPr>
            <a:normAutofit/>
          </a:bodyPr>
          <a:lstStyle/>
          <a:p>
            <a:pPr algn="l">
              <a:lnSpc>
                <a:spcPct val="170000"/>
              </a:lnSpc>
              <a:buFont typeface="Wingdings" panose="05000000000000000000" charset="0"/>
              <a:buChar char="n"/>
            </a:pPr>
            <a:r>
              <a:rPr lang="zh-CN" altLang="en-US" sz="2100" dirty="0" smtClean="0"/>
              <a:t>采样设置或者帮助系统</a:t>
            </a:r>
            <a:endParaRPr lang="en-US" altLang="zh-CN" sz="2100" dirty="0" smtClean="0"/>
          </a:p>
          <a:p>
            <a:pPr algn="l">
              <a:lnSpc>
                <a:spcPct val="170000"/>
              </a:lnSpc>
              <a:buFont typeface="Wingdings" panose="05000000000000000000" charset="0"/>
              <a:buChar char="n"/>
            </a:pPr>
            <a:r>
              <a:rPr lang="zh-CN" altLang="en-US" sz="2100" dirty="0" smtClean="0"/>
              <a:t>数学运算或者显示功能</a:t>
            </a:r>
            <a:endParaRPr lang="en-US" altLang="zh-CN" sz="2100" dirty="0" smtClean="0"/>
          </a:p>
          <a:p>
            <a:pPr algn="l">
              <a:lnSpc>
                <a:spcPct val="170000"/>
              </a:lnSpc>
              <a:buFont typeface="Wingdings" panose="05000000000000000000" charset="0"/>
              <a:buChar char="n"/>
            </a:pPr>
            <a:r>
              <a:rPr lang="zh-CN" altLang="en-US" sz="2100" dirty="0" smtClean="0"/>
              <a:t>自动触发</a:t>
            </a:r>
            <a:r>
              <a:rPr lang="en-US" altLang="zh-CN" sz="2100" dirty="0" smtClean="0"/>
              <a:t>/</a:t>
            </a:r>
            <a:r>
              <a:rPr lang="zh-CN" altLang="en-US" sz="2100" dirty="0" smtClean="0"/>
              <a:t>停止</a:t>
            </a:r>
            <a:endParaRPr lang="en-US" altLang="zh-CN" sz="2100" dirty="0" smtClean="0"/>
          </a:p>
          <a:p>
            <a:pPr algn="l">
              <a:lnSpc>
                <a:spcPct val="170000"/>
              </a:lnSpc>
              <a:buFont typeface="Wingdings" panose="05000000000000000000" charset="0"/>
              <a:buChar char="n"/>
            </a:pPr>
            <a:r>
              <a:rPr lang="zh-CN" altLang="en-US" sz="2100" dirty="0" smtClean="0"/>
              <a:t>单次触发或者</a:t>
            </a:r>
            <a:r>
              <a:rPr lang="en-US" altLang="zh-CN" sz="2100" dirty="0" smtClean="0"/>
              <a:t>hold</a:t>
            </a:r>
            <a:r>
              <a:rPr lang="zh-CN" altLang="en-US" sz="2100" dirty="0" smtClean="0"/>
              <a:t>测量功能</a:t>
            </a:r>
            <a:endParaRPr lang="en-US" altLang="zh-CN" sz="2100" dirty="0" smtClean="0"/>
          </a:p>
          <a:p>
            <a:pPr algn="l">
              <a:lnSpc>
                <a:spcPct val="170000"/>
              </a:lnSpc>
              <a:buFont typeface="Wingdings" panose="05000000000000000000" charset="0"/>
              <a:buChar char="n"/>
            </a:pPr>
            <a:r>
              <a:rPr lang="zh-CN" altLang="en-US" sz="2100" dirty="0" smtClean="0"/>
              <a:t>切换功能</a:t>
            </a:r>
            <a:r>
              <a:rPr lang="en-US" altLang="zh-CN" sz="2100" dirty="0" smtClean="0"/>
              <a:t>/</a:t>
            </a:r>
            <a:r>
              <a:rPr lang="zh-CN" altLang="en-US" sz="2100" dirty="0" smtClean="0"/>
              <a:t>从遥控状态返回</a:t>
            </a:r>
            <a:endParaRPr lang="en-US" altLang="zh-CN" sz="2100" dirty="0" smtClean="0"/>
          </a:p>
          <a:p>
            <a:pPr algn="l">
              <a:lnSpc>
                <a:spcPct val="170000"/>
              </a:lnSpc>
              <a:buFont typeface="Wingdings" panose="05000000000000000000" charset="0"/>
              <a:buChar char="n"/>
            </a:pPr>
            <a:r>
              <a:rPr lang="zh-CN" altLang="en-US" sz="2100" dirty="0" smtClean="0"/>
              <a:t>量程选择</a:t>
            </a:r>
            <a:endParaRPr lang="zh-CN" altLang="en-US" sz="2100" dirty="0"/>
          </a:p>
        </p:txBody>
      </p:sp>
      <p:pic>
        <p:nvPicPr>
          <p:cNvPr id="4" name="图片 3"/>
          <p:cNvPicPr>
            <a:picLocks noChangeAspect="1"/>
          </p:cNvPicPr>
          <p:nvPr/>
        </p:nvPicPr>
        <p:blipFill>
          <a:blip r:embed="rId1"/>
          <a:stretch>
            <a:fillRect/>
          </a:stretch>
        </p:blipFill>
        <p:spPr>
          <a:xfrm>
            <a:off x="1143000" y="1690612"/>
            <a:ext cx="794657" cy="4245428"/>
          </a:xfrm>
          <a:prstGeom prst="rect">
            <a:avLst/>
          </a:prstGeom>
        </p:spPr>
      </p:pic>
      <p:cxnSp>
        <p:nvCxnSpPr>
          <p:cNvPr id="8" name="直接箭头连接符 7"/>
          <p:cNvCxnSpPr/>
          <p:nvPr/>
        </p:nvCxnSpPr>
        <p:spPr>
          <a:xfrm flipV="1">
            <a:off x="1921329" y="2049236"/>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860094" y="2669722"/>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21329" y="3186426"/>
            <a:ext cx="446315" cy="953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1905001" y="3832681"/>
            <a:ext cx="462643" cy="1719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1860093" y="4326776"/>
            <a:ext cx="523879" cy="26050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V="1">
            <a:off x="1937657" y="5237163"/>
            <a:ext cx="462643" cy="1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p:cNvSpPr txBox="1"/>
          <p:nvPr>
            <p:custDataLst>
              <p:tags r:id="rId2"/>
            </p:custDataLst>
          </p:nvPr>
        </p:nvSpPr>
        <p:spPr>
          <a:xfrm>
            <a:off x="676910" y="822325"/>
            <a:ext cx="644779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3) </a:t>
            </a:r>
            <a:r>
              <a:rPr lang="zh-CN" altLang="en-US" sz="2800" b="1" dirty="0" smtClean="0">
                <a:solidFill>
                  <a:srgbClr val="FF0000"/>
                </a:solidFill>
                <a:latin typeface="楷体" panose="02010609060101010101" charset="-122"/>
                <a:ea typeface="楷体" panose="02010609060101010101" charset="-122"/>
                <a:sym typeface="+mn-ea"/>
              </a:rPr>
              <a:t>辅助功能区</a:t>
            </a:r>
            <a:r>
              <a:rPr lang="zh-CN" altLang="en-US" sz="2800" b="1" dirty="0" smtClean="0">
                <a:solidFill>
                  <a:srgbClr val="FF0000"/>
                </a:solidFill>
                <a:latin typeface="楷体" panose="02010609060101010101" charset="-122"/>
                <a:ea typeface="楷体" panose="02010609060101010101" charset="-122"/>
                <a:sym typeface="+mn-ea"/>
              </a:rPr>
              <a:t>按键的功能</a:t>
            </a:r>
            <a:endParaRPr lang="zh-CN" altLang="en-US" sz="2800" b="1" dirty="0" smtClean="0">
              <a:solidFill>
                <a:srgbClr val="FF0000"/>
              </a:solidFill>
              <a:latin typeface="楷体" panose="02010609060101010101" charset="-122"/>
              <a:ea typeface="楷体" panose="02010609060101010101" charset="-122"/>
              <a:cs typeface="宋体" panose="02010600030101010101" pitchFamily="2" charset="-122"/>
              <a:sym typeface="+mn-ea"/>
            </a:endParaRPr>
          </a:p>
        </p:txBody>
      </p:sp>
      <p:sp>
        <p:nvSpPr>
          <p:cNvPr id="6" name="内容占位符 2"/>
          <p:cNvSpPr>
            <a:spLocks noGrp="1"/>
          </p:cNvSpPr>
          <p:nvPr>
            <p:custDataLst>
              <p:tags r:id="rId3"/>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74040" y="1845310"/>
            <a:ext cx="3872230" cy="1243330"/>
          </a:xfrm>
        </p:spPr>
        <p:txBody>
          <a:bodyPr/>
          <a:lstStyle/>
          <a:p>
            <a:pPr marL="0" indent="0">
              <a:lnSpc>
                <a:spcPct val="150000"/>
              </a:lnSpc>
              <a:buNone/>
            </a:pPr>
            <a:r>
              <a:rPr lang="en-US" altLang="zh-CN" sz="2400" dirty="0" smtClean="0">
                <a:latin typeface="Times New Roman" panose="02020603050405020304" pitchFamily="18" charset="0"/>
                <a:cs typeface="Times New Roman" panose="02020603050405020304" pitchFamily="18" charset="0"/>
              </a:rPr>
              <a:t>(1)</a:t>
            </a:r>
            <a:r>
              <a:rPr lang="zh-CN" altLang="en-US" sz="2400" dirty="0" smtClean="0">
                <a:latin typeface="楷体" panose="02010609060101010101" charset="-122"/>
                <a:ea typeface="楷体" panose="02010609060101010101" charset="-122"/>
                <a:cs typeface="楷体" panose="02010609060101010101" charset="-122"/>
              </a:rPr>
              <a:t>按      键，进入直流电压测量界面</a:t>
            </a:r>
            <a:endParaRPr lang="zh-CN" altLang="en-US" sz="2400" dirty="0" smtClean="0">
              <a:latin typeface="楷体" panose="02010609060101010101" charset="-122"/>
              <a:ea typeface="楷体" panose="02010609060101010101" charset="-122"/>
              <a:cs typeface="楷体" panose="02010609060101010101" charset="-122"/>
            </a:endParaRPr>
          </a:p>
        </p:txBody>
      </p:sp>
      <p:pic>
        <p:nvPicPr>
          <p:cNvPr id="6" name="图片 5"/>
          <p:cNvPicPr>
            <a:picLocks noChangeAspect="1"/>
          </p:cNvPicPr>
          <p:nvPr/>
        </p:nvPicPr>
        <p:blipFill>
          <a:blip r:embed="rId1"/>
          <a:stretch>
            <a:fillRect/>
          </a:stretch>
        </p:blipFill>
        <p:spPr>
          <a:xfrm>
            <a:off x="4525943" y="1737079"/>
            <a:ext cx="3314286" cy="1900000"/>
          </a:xfrm>
          <a:prstGeom prst="rect">
            <a:avLst/>
          </a:prstGeom>
        </p:spPr>
      </p:pic>
      <p:sp>
        <p:nvSpPr>
          <p:cNvPr id="7" name="内容占位符 2"/>
          <p:cNvSpPr txBox="1"/>
          <p:nvPr/>
        </p:nvSpPr>
        <p:spPr>
          <a:xfrm>
            <a:off x="602615" y="3144520"/>
            <a:ext cx="3464560" cy="2324735"/>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sz="2400" b="1" dirty="0" smtClean="0">
                <a:latin typeface="Times New Roman" panose="02020603050405020304" pitchFamily="18" charset="0"/>
                <a:cs typeface="Times New Roman" panose="02020603050405020304" pitchFamily="18" charset="0"/>
                <a:sym typeface="+mn-ea"/>
              </a:rPr>
              <a:t>(2) </a:t>
            </a:r>
            <a:r>
              <a:rPr lang="zh-CN" altLang="en-US" sz="2400" b="1" dirty="0" smtClean="0">
                <a:latin typeface="楷体" panose="02010609060101010101" charset="-122"/>
                <a:ea typeface="楷体" panose="02010609060101010101" charset="-122"/>
              </a:rPr>
              <a:t>如图所示连接测量表</a:t>
            </a:r>
            <a:r>
              <a:rPr lang="en-US" altLang="zh-CN" sz="2400" b="1" dirty="0" smtClean="0">
                <a:latin typeface="楷体" panose="02010609060101010101" charset="-122"/>
                <a:ea typeface="楷体" panose="02010609060101010101" charset="-122"/>
              </a:rPr>
              <a:t>  </a:t>
            </a:r>
            <a:endParaRPr lang="en-US" altLang="zh-CN" sz="2400" b="1" dirty="0" smtClean="0">
              <a:latin typeface="楷体" panose="02010609060101010101" charset="-122"/>
              <a:ea typeface="楷体" panose="02010609060101010101" charset="-122"/>
            </a:endParaRPr>
          </a:p>
          <a:p>
            <a:pPr marL="0" indent="0">
              <a:lnSpc>
                <a:spcPct val="125000"/>
              </a:lnSpc>
              <a:buNone/>
            </a:pPr>
            <a:r>
              <a:rPr lang="en-US" altLang="zh-CN" sz="2400" b="1" dirty="0" smtClean="0">
                <a:latin typeface="楷体" panose="02010609060101010101" charset="-122"/>
                <a:ea typeface="楷体" panose="02010609060101010101" charset="-122"/>
              </a:rPr>
              <a:t>  </a:t>
            </a:r>
            <a:r>
              <a:rPr lang="zh-CN" altLang="en-US" sz="2400" b="1" dirty="0" smtClean="0">
                <a:latin typeface="楷体" panose="02010609060101010101" charset="-122"/>
                <a:ea typeface="楷体" panose="02010609060101010101" charset="-122"/>
              </a:rPr>
              <a:t>笔和被测电路</a:t>
            </a:r>
            <a:endParaRPr lang="zh-CN" altLang="en-US" sz="2400" b="1" dirty="0" smtClean="0">
              <a:latin typeface="楷体" panose="02010609060101010101" charset="-122"/>
              <a:ea typeface="楷体" panose="02010609060101010101" charset="-122"/>
            </a:endParaRPr>
          </a:p>
          <a:p>
            <a:pPr marL="0" indent="0">
              <a:lnSpc>
                <a:spcPct val="125000"/>
              </a:lnSpc>
              <a:buNone/>
            </a:pPr>
            <a:r>
              <a:rPr lang="zh-CN" altLang="en-US" sz="2400" b="1" dirty="0" smtClean="0">
                <a:latin typeface="楷体" panose="02010609060101010101" charset="-122"/>
                <a:ea typeface="楷体" panose="02010609060101010101" charset="-122"/>
              </a:rPr>
              <a:t>红表笔</a:t>
            </a:r>
            <a:r>
              <a:rPr lang="en-US" altLang="zh-CN" sz="2400" b="1" dirty="0" smtClean="0">
                <a:latin typeface="楷体" panose="02010609060101010101" charset="-122"/>
                <a:ea typeface="楷体" panose="02010609060101010101" charset="-122"/>
              </a:rPr>
              <a:t>:</a:t>
            </a:r>
            <a:r>
              <a:rPr lang="en-US" altLang="zh-CN" sz="2400" b="1" dirty="0" smtClean="0">
                <a:latin typeface="Times New Roman" panose="02020603050405020304" pitchFamily="18" charset="0"/>
                <a:ea typeface="楷体" panose="02010609060101010101" charset="-122"/>
                <a:cs typeface="Times New Roman" panose="02020603050405020304" pitchFamily="18" charset="0"/>
              </a:rPr>
              <a:t>Input-HI</a:t>
            </a:r>
            <a:r>
              <a:rPr lang="zh-CN" altLang="en-US" sz="2400" b="1" dirty="0" smtClean="0">
                <a:latin typeface="楷体" panose="02010609060101010101" charset="-122"/>
                <a:ea typeface="楷体" panose="02010609060101010101" charset="-122"/>
                <a:cs typeface="楷体" panose="02010609060101010101" charset="-122"/>
              </a:rPr>
              <a:t>端</a:t>
            </a:r>
            <a:endParaRPr lang="zh-CN" altLang="en-US" sz="2400" b="1" dirty="0" smtClean="0">
              <a:latin typeface="楷体" panose="02010609060101010101" charset="-122"/>
              <a:ea typeface="楷体" panose="02010609060101010101" charset="-122"/>
              <a:cs typeface="楷体" panose="02010609060101010101" charset="-122"/>
            </a:endParaRPr>
          </a:p>
          <a:p>
            <a:pPr marL="0" indent="0">
              <a:lnSpc>
                <a:spcPct val="125000"/>
              </a:lnSpc>
              <a:buNone/>
            </a:pPr>
            <a:r>
              <a:rPr lang="zh-CN" altLang="en-US" sz="2400" b="1" dirty="0" smtClean="0">
                <a:latin typeface="楷体" panose="02010609060101010101" charset="-122"/>
                <a:ea typeface="楷体" panose="02010609060101010101" charset="-122"/>
                <a:cs typeface="楷体" panose="02010609060101010101" charset="-122"/>
              </a:rPr>
              <a:t>黑表笔</a:t>
            </a:r>
            <a:r>
              <a:rPr lang="en-US" altLang="zh-CN" sz="2400" b="1" dirty="0" smtClean="0">
                <a:latin typeface="楷体" panose="02010609060101010101" charset="-122"/>
                <a:ea typeface="楷体" panose="02010609060101010101" charset="-122"/>
                <a:cs typeface="楷体" panose="02010609060101010101" charset="-122"/>
              </a:rPr>
              <a:t>:</a:t>
            </a:r>
            <a:r>
              <a:rPr lang="en-US" altLang="zh-CN" sz="2400" b="1" dirty="0" smtClean="0">
                <a:latin typeface="Times New Roman" panose="02020603050405020304" pitchFamily="18" charset="0"/>
                <a:ea typeface="楷体" panose="02010609060101010101" charset="-122"/>
                <a:cs typeface="Times New Roman" panose="02020603050405020304" pitchFamily="18" charset="0"/>
              </a:rPr>
              <a:t>Input-LO</a:t>
            </a:r>
            <a:r>
              <a:rPr lang="zh-CN" altLang="en-US" sz="2400" b="1" dirty="0" smtClean="0">
                <a:latin typeface="楷体" panose="02010609060101010101" charset="-122"/>
                <a:ea typeface="楷体" panose="02010609060101010101" charset="-122"/>
                <a:cs typeface="楷体" panose="02010609060101010101" charset="-122"/>
              </a:rPr>
              <a:t>端</a:t>
            </a:r>
            <a:endParaRPr lang="zh-CN" altLang="en-US" sz="2400" b="1" dirty="0" smtClean="0">
              <a:latin typeface="楷体" panose="02010609060101010101" charset="-122"/>
              <a:ea typeface="楷体" panose="02010609060101010101" charset="-122"/>
              <a:cs typeface="楷体" panose="02010609060101010101" charset="-122"/>
            </a:endParaRPr>
          </a:p>
        </p:txBody>
      </p:sp>
      <p:pic>
        <p:nvPicPr>
          <p:cNvPr id="8" name="图片 7"/>
          <p:cNvPicPr>
            <a:picLocks noChangeAspect="1"/>
          </p:cNvPicPr>
          <p:nvPr/>
        </p:nvPicPr>
        <p:blipFill>
          <a:blip r:embed="rId2"/>
          <a:stretch>
            <a:fillRect/>
          </a:stretch>
        </p:blipFill>
        <p:spPr>
          <a:xfrm>
            <a:off x="4525943" y="3637079"/>
            <a:ext cx="3061400" cy="2355629"/>
          </a:xfrm>
          <a:prstGeom prst="rect">
            <a:avLst/>
          </a:prstGeom>
        </p:spPr>
      </p:pic>
      <p:pic>
        <p:nvPicPr>
          <p:cNvPr id="9" name="图片 8"/>
          <p:cNvPicPr>
            <a:picLocks noChangeAspect="1"/>
          </p:cNvPicPr>
          <p:nvPr/>
        </p:nvPicPr>
        <p:blipFill>
          <a:blip r:embed="rId3"/>
          <a:stretch>
            <a:fillRect/>
          </a:stretch>
        </p:blipFill>
        <p:spPr>
          <a:xfrm>
            <a:off x="1519510" y="1901020"/>
            <a:ext cx="657225" cy="500063"/>
          </a:xfrm>
          <a:prstGeom prst="rect">
            <a:avLst/>
          </a:prstGeom>
        </p:spPr>
      </p:pic>
      <p:sp>
        <p:nvSpPr>
          <p:cNvPr id="2" name="文本框 1"/>
          <p:cNvSpPr txBox="1"/>
          <p:nvPr>
            <p:custDataLst>
              <p:tags r:id="rId4"/>
            </p:custDataLst>
          </p:nvPr>
        </p:nvSpPr>
        <p:spPr>
          <a:xfrm>
            <a:off x="676910" y="822325"/>
            <a:ext cx="644779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4) </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基本测量</a:t>
            </a:r>
            <a:r>
              <a:rPr lang="en-US" altLang="zh-CN" sz="2800" b="1" dirty="0" smtClean="0">
                <a:solidFill>
                  <a:srgbClr val="FF0000"/>
                </a:solidFill>
                <a:latin typeface="楷体" panose="02010609060101010101" charset="-122"/>
                <a:ea typeface="楷体" panose="02010609060101010101" charset="-122"/>
                <a:cs typeface="楷体" panose="02010609060101010101" charset="-122"/>
                <a:sym typeface="+mn-ea"/>
              </a:rPr>
              <a:t>--</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测量直流</a:t>
            </a:r>
            <a:r>
              <a:rPr lang="zh-CN" altLang="en-US" sz="2800" b="1" dirty="0" smtClean="0">
                <a:solidFill>
                  <a:srgbClr val="0000FF"/>
                </a:solidFill>
                <a:latin typeface="楷体" panose="02010609060101010101" charset="-122"/>
                <a:ea typeface="楷体" panose="02010609060101010101" charset="-122"/>
                <a:cs typeface="楷体" panose="02010609060101010101" charset="-122"/>
                <a:sym typeface="+mn-ea"/>
              </a:rPr>
              <a:t>电压</a:t>
            </a:r>
            <a:endParaRPr lang="zh-CN" altLang="en-US" sz="2800" b="1" dirty="0" smtClean="0">
              <a:solidFill>
                <a:srgbClr val="0000FF"/>
              </a:solidFill>
              <a:latin typeface="楷体" panose="02010609060101010101" charset="-122"/>
              <a:ea typeface="楷体" panose="02010609060101010101" charset="-122"/>
              <a:cs typeface="楷体" panose="02010609060101010101" charset="-122"/>
              <a:sym typeface="+mn-ea"/>
            </a:endParaRPr>
          </a:p>
        </p:txBody>
      </p:sp>
      <p:sp>
        <p:nvSpPr>
          <p:cNvPr id="4" name="内容占位符 2"/>
          <p:cNvSpPr>
            <a:spLocks noGrp="1"/>
          </p:cNvSpPr>
          <p:nvPr>
            <p:custDataLst>
              <p:tags r:id="rId5"/>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down)">
                                      <p:cBhvr>
                                        <p:cTn id="15" dur="500"/>
                                        <p:tgtEl>
                                          <p:spTgt spid="7">
                                            <p:txEl>
                                              <p:pRg st="0" end="0"/>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wipe(down)">
                                      <p:cBhvr>
                                        <p:cTn id="18" dur="500"/>
                                        <p:tgtEl>
                                          <p:spTgt spid="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wipe(down)">
                                      <p:cBhvr>
                                        <p:cTn id="23" dur="500"/>
                                        <p:tgtEl>
                                          <p:spTgt spid="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wipe(down)">
                                      <p:cBhvr>
                                        <p:cTn id="28"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02285" y="1630045"/>
            <a:ext cx="4085590" cy="1243330"/>
          </a:xfrm>
        </p:spPr>
        <p:txBody>
          <a:bodyPr/>
          <a:lstStyle/>
          <a:p>
            <a:pPr marL="0" indent="0">
              <a:lnSpc>
                <a:spcPct val="150000"/>
              </a:lnSpc>
              <a:buNone/>
            </a:pPr>
            <a:r>
              <a:rPr lang="en-US" altLang="zh-CN" sz="2400" dirty="0" smtClean="0">
                <a:latin typeface="Times New Roman" panose="02020603050405020304" pitchFamily="18" charset="0"/>
                <a:ea typeface="楷体" panose="02010609060101010101" charset="-122"/>
                <a:cs typeface="Times New Roman" panose="02020603050405020304" pitchFamily="18" charset="0"/>
                <a:sym typeface="+mn-ea"/>
              </a:rPr>
              <a:t>(1)</a:t>
            </a:r>
            <a:r>
              <a:rPr lang="en-US" altLang="zh-CN" sz="2400" dirty="0" smtClean="0">
                <a:latin typeface="楷体" panose="02010609060101010101" charset="-122"/>
                <a:ea typeface="楷体" panose="02010609060101010101" charset="-122"/>
                <a:cs typeface="楷体" panose="02010609060101010101" charset="-122"/>
                <a:sym typeface="+mn-ea"/>
              </a:rPr>
              <a:t> </a:t>
            </a:r>
            <a:r>
              <a:rPr lang="zh-CN" altLang="en-US" sz="2400" dirty="0" smtClean="0">
                <a:latin typeface="楷体" panose="02010609060101010101" charset="-122"/>
                <a:ea typeface="楷体" panose="02010609060101010101" charset="-122"/>
                <a:cs typeface="楷体" panose="02010609060101010101" charset="-122"/>
              </a:rPr>
              <a:t>按     键，再按          键，进入直流电流测量界面</a:t>
            </a:r>
            <a:endParaRPr lang="en-US" altLang="zh-CN" sz="2400" dirty="0" smtClean="0">
              <a:latin typeface="楷体" panose="02010609060101010101" charset="-122"/>
              <a:ea typeface="楷体" panose="02010609060101010101" charset="-122"/>
              <a:cs typeface="楷体" panose="02010609060101010101" charset="-122"/>
            </a:endParaRPr>
          </a:p>
        </p:txBody>
      </p:sp>
      <p:pic>
        <p:nvPicPr>
          <p:cNvPr id="9" name="图片 8"/>
          <p:cNvPicPr>
            <a:picLocks noChangeAspect="1"/>
          </p:cNvPicPr>
          <p:nvPr/>
        </p:nvPicPr>
        <p:blipFill>
          <a:blip r:embed="rId1"/>
          <a:stretch>
            <a:fillRect/>
          </a:stretch>
        </p:blipFill>
        <p:spPr>
          <a:xfrm>
            <a:off x="3550285" y="1705530"/>
            <a:ext cx="657225" cy="500063"/>
          </a:xfrm>
          <a:prstGeom prst="rect">
            <a:avLst/>
          </a:prstGeom>
        </p:spPr>
      </p:pic>
      <p:pic>
        <p:nvPicPr>
          <p:cNvPr id="2" name="图片 1"/>
          <p:cNvPicPr>
            <a:picLocks noChangeAspect="1"/>
          </p:cNvPicPr>
          <p:nvPr/>
        </p:nvPicPr>
        <p:blipFill>
          <a:blip r:embed="rId2"/>
          <a:stretch>
            <a:fillRect/>
          </a:stretch>
        </p:blipFill>
        <p:spPr>
          <a:xfrm>
            <a:off x="1479540" y="1734738"/>
            <a:ext cx="608069" cy="474427"/>
          </a:xfrm>
          <a:prstGeom prst="rect">
            <a:avLst/>
          </a:prstGeom>
        </p:spPr>
      </p:pic>
      <p:pic>
        <p:nvPicPr>
          <p:cNvPr id="4" name="图片 3"/>
          <p:cNvPicPr>
            <a:picLocks noChangeAspect="1"/>
          </p:cNvPicPr>
          <p:nvPr/>
        </p:nvPicPr>
        <p:blipFill>
          <a:blip r:embed="rId3"/>
          <a:stretch>
            <a:fillRect/>
          </a:stretch>
        </p:blipFill>
        <p:spPr>
          <a:xfrm>
            <a:off x="4639625" y="1641022"/>
            <a:ext cx="3165843" cy="1787516"/>
          </a:xfrm>
          <a:prstGeom prst="rect">
            <a:avLst/>
          </a:prstGeom>
        </p:spPr>
      </p:pic>
      <p:pic>
        <p:nvPicPr>
          <p:cNvPr id="10" name="图片 9"/>
          <p:cNvPicPr>
            <a:picLocks noChangeAspect="1"/>
          </p:cNvPicPr>
          <p:nvPr/>
        </p:nvPicPr>
        <p:blipFill>
          <a:blip r:embed="rId4"/>
          <a:stretch>
            <a:fillRect/>
          </a:stretch>
        </p:blipFill>
        <p:spPr>
          <a:xfrm>
            <a:off x="4639625" y="3428538"/>
            <a:ext cx="3718597" cy="2403484"/>
          </a:xfrm>
          <a:prstGeom prst="rect">
            <a:avLst/>
          </a:prstGeom>
        </p:spPr>
      </p:pic>
      <p:sp>
        <p:nvSpPr>
          <p:cNvPr id="6" name="文本框 5"/>
          <p:cNvSpPr txBox="1"/>
          <p:nvPr>
            <p:custDataLst>
              <p:tags r:id="rId5"/>
            </p:custDataLst>
          </p:nvPr>
        </p:nvSpPr>
        <p:spPr>
          <a:xfrm>
            <a:off x="676910" y="822325"/>
            <a:ext cx="644779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4) </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基本测量</a:t>
            </a:r>
            <a:r>
              <a:rPr lang="en-US" altLang="zh-CN" sz="2800" b="1" dirty="0" smtClean="0">
                <a:solidFill>
                  <a:srgbClr val="FF0000"/>
                </a:solidFill>
                <a:latin typeface="楷体" panose="02010609060101010101" charset="-122"/>
                <a:ea typeface="楷体" panose="02010609060101010101" charset="-122"/>
                <a:cs typeface="楷体" panose="02010609060101010101" charset="-122"/>
                <a:sym typeface="+mn-ea"/>
              </a:rPr>
              <a:t>--</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测量直流</a:t>
            </a:r>
            <a:r>
              <a:rPr lang="zh-CN" altLang="en-US" sz="2800" b="1" dirty="0" smtClean="0">
                <a:solidFill>
                  <a:srgbClr val="0000FF"/>
                </a:solidFill>
                <a:latin typeface="楷体" panose="02010609060101010101" charset="-122"/>
                <a:ea typeface="楷体" panose="02010609060101010101" charset="-122"/>
                <a:cs typeface="楷体" panose="02010609060101010101" charset="-122"/>
                <a:sym typeface="+mn-ea"/>
              </a:rPr>
              <a:t>电流</a:t>
            </a:r>
            <a:endParaRPr lang="zh-CN" altLang="en-US" sz="2800" b="1" dirty="0" smtClean="0">
              <a:solidFill>
                <a:srgbClr val="0000FF"/>
              </a:solidFill>
              <a:latin typeface="楷体" panose="02010609060101010101" charset="-122"/>
              <a:ea typeface="楷体" panose="02010609060101010101" charset="-122"/>
              <a:cs typeface="楷体" panose="02010609060101010101" charset="-122"/>
              <a:sym typeface="+mn-ea"/>
            </a:endParaRPr>
          </a:p>
        </p:txBody>
      </p:sp>
      <p:sp>
        <p:nvSpPr>
          <p:cNvPr id="8" name="内容占位符 2"/>
          <p:cNvSpPr>
            <a:spLocks noGrp="1"/>
          </p:cNvSpPr>
          <p:nvPr>
            <p:custDataLst>
              <p:tags r:id="rId6"/>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内容占位符 2"/>
          <p:cNvSpPr txBox="1"/>
          <p:nvPr>
            <p:custDataLst>
              <p:tags r:id="rId7"/>
            </p:custDataLst>
          </p:nvPr>
        </p:nvSpPr>
        <p:spPr>
          <a:xfrm>
            <a:off x="602615" y="3144520"/>
            <a:ext cx="3464560" cy="2324735"/>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sz="2400" b="1" dirty="0" smtClean="0">
                <a:latin typeface="Times New Roman" panose="02020603050405020304" pitchFamily="18" charset="0"/>
                <a:cs typeface="Times New Roman" panose="02020603050405020304" pitchFamily="18" charset="0"/>
                <a:sym typeface="+mn-ea"/>
              </a:rPr>
              <a:t>(2) </a:t>
            </a:r>
            <a:r>
              <a:rPr lang="zh-CN" altLang="en-US" sz="2400" b="1" dirty="0" smtClean="0">
                <a:latin typeface="楷体" panose="02010609060101010101" charset="-122"/>
                <a:ea typeface="楷体" panose="02010609060101010101" charset="-122"/>
              </a:rPr>
              <a:t>如图所示连接测量表</a:t>
            </a:r>
            <a:r>
              <a:rPr lang="en-US" altLang="zh-CN" sz="2400" b="1" dirty="0" smtClean="0">
                <a:latin typeface="楷体" panose="02010609060101010101" charset="-122"/>
                <a:ea typeface="楷体" panose="02010609060101010101" charset="-122"/>
              </a:rPr>
              <a:t>  </a:t>
            </a:r>
            <a:endParaRPr lang="en-US" altLang="zh-CN" sz="2400" b="1" dirty="0" smtClean="0">
              <a:latin typeface="楷体" panose="02010609060101010101" charset="-122"/>
              <a:ea typeface="楷体" panose="02010609060101010101" charset="-122"/>
            </a:endParaRPr>
          </a:p>
          <a:p>
            <a:pPr marL="0" indent="0">
              <a:lnSpc>
                <a:spcPct val="125000"/>
              </a:lnSpc>
              <a:buNone/>
            </a:pPr>
            <a:r>
              <a:rPr lang="en-US" altLang="zh-CN" sz="2400" b="1" dirty="0" smtClean="0">
                <a:latin typeface="楷体" panose="02010609060101010101" charset="-122"/>
                <a:ea typeface="楷体" panose="02010609060101010101" charset="-122"/>
              </a:rPr>
              <a:t>  </a:t>
            </a:r>
            <a:r>
              <a:rPr lang="zh-CN" altLang="en-US" sz="2400" b="1" dirty="0" smtClean="0">
                <a:latin typeface="楷体" panose="02010609060101010101" charset="-122"/>
                <a:ea typeface="楷体" panose="02010609060101010101" charset="-122"/>
              </a:rPr>
              <a:t>笔和被测电路</a:t>
            </a:r>
            <a:endParaRPr lang="zh-CN" altLang="en-US" sz="2400" b="1" dirty="0" smtClean="0">
              <a:latin typeface="楷体" panose="02010609060101010101" charset="-122"/>
              <a:ea typeface="楷体" panose="02010609060101010101" charset="-122"/>
            </a:endParaRPr>
          </a:p>
          <a:p>
            <a:pPr marL="0" indent="0">
              <a:lnSpc>
                <a:spcPct val="125000"/>
              </a:lnSpc>
              <a:buNone/>
            </a:pPr>
            <a:r>
              <a:rPr lang="zh-CN" altLang="en-US" sz="2400" b="1" dirty="0" smtClean="0">
                <a:latin typeface="楷体" panose="02010609060101010101" charset="-122"/>
                <a:ea typeface="楷体" panose="02010609060101010101" charset="-122"/>
              </a:rPr>
              <a:t>红表笔</a:t>
            </a:r>
            <a:r>
              <a:rPr lang="en-US" altLang="zh-CN" sz="2400" b="1" dirty="0" smtClean="0">
                <a:latin typeface="楷体" panose="02010609060101010101" charset="-122"/>
                <a:ea typeface="楷体" panose="02010609060101010101" charset="-122"/>
              </a:rPr>
              <a:t>:</a:t>
            </a:r>
            <a:r>
              <a:rPr lang="en-US" altLang="zh-CN" sz="2400" b="1" dirty="0" smtClean="0">
                <a:latin typeface="Times New Roman" panose="02020603050405020304" pitchFamily="18" charset="0"/>
                <a:ea typeface="楷体" panose="02010609060101010101" charset="-122"/>
                <a:cs typeface="Times New Roman" panose="02020603050405020304" pitchFamily="18" charset="0"/>
              </a:rPr>
              <a:t>Input-HI</a:t>
            </a:r>
            <a:r>
              <a:rPr lang="zh-CN" altLang="en-US" sz="2400" b="1" dirty="0" smtClean="0">
                <a:latin typeface="楷体" panose="02010609060101010101" charset="-122"/>
                <a:ea typeface="楷体" panose="02010609060101010101" charset="-122"/>
                <a:cs typeface="楷体" panose="02010609060101010101" charset="-122"/>
              </a:rPr>
              <a:t>端</a:t>
            </a:r>
            <a:endParaRPr lang="zh-CN" altLang="en-US" sz="2400" b="1" dirty="0" smtClean="0">
              <a:latin typeface="楷体" panose="02010609060101010101" charset="-122"/>
              <a:ea typeface="楷体" panose="02010609060101010101" charset="-122"/>
              <a:cs typeface="楷体" panose="02010609060101010101" charset="-122"/>
            </a:endParaRPr>
          </a:p>
          <a:p>
            <a:pPr marL="0" indent="0">
              <a:lnSpc>
                <a:spcPct val="125000"/>
              </a:lnSpc>
              <a:buNone/>
            </a:pPr>
            <a:r>
              <a:rPr lang="zh-CN" altLang="en-US" sz="2400" b="1" dirty="0" smtClean="0">
                <a:latin typeface="楷体" panose="02010609060101010101" charset="-122"/>
                <a:ea typeface="楷体" panose="02010609060101010101" charset="-122"/>
                <a:cs typeface="楷体" panose="02010609060101010101" charset="-122"/>
              </a:rPr>
              <a:t>黑表笔</a:t>
            </a:r>
            <a:r>
              <a:rPr lang="en-US" altLang="zh-CN" sz="2400" b="1" dirty="0" smtClean="0">
                <a:latin typeface="楷体" panose="02010609060101010101" charset="-122"/>
                <a:ea typeface="楷体" panose="02010609060101010101" charset="-122"/>
                <a:cs typeface="楷体" panose="02010609060101010101" charset="-122"/>
              </a:rPr>
              <a:t>:</a:t>
            </a:r>
            <a:r>
              <a:rPr lang="en-US" altLang="zh-CN" sz="2400" b="1" dirty="0" smtClean="0">
                <a:latin typeface="Times New Roman" panose="02020603050405020304" pitchFamily="18" charset="0"/>
                <a:ea typeface="楷体" panose="02010609060101010101" charset="-122"/>
                <a:cs typeface="Times New Roman" panose="02020603050405020304" pitchFamily="18" charset="0"/>
              </a:rPr>
              <a:t>Input-LO</a:t>
            </a:r>
            <a:r>
              <a:rPr lang="zh-CN" altLang="en-US" sz="2400" b="1" dirty="0" smtClean="0">
                <a:latin typeface="楷体" panose="02010609060101010101" charset="-122"/>
                <a:ea typeface="楷体" panose="02010609060101010101" charset="-122"/>
                <a:cs typeface="楷体" panose="02010609060101010101" charset="-122"/>
              </a:rPr>
              <a:t>端</a:t>
            </a:r>
            <a:endParaRPr lang="zh-CN" altLang="en-US" sz="2400" b="1" dirty="0" smtClean="0">
              <a:latin typeface="楷体" panose="02010609060101010101" charset="-122"/>
              <a:ea typeface="楷体" panose="02010609060101010101" charset="-122"/>
              <a:cs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down)">
                                      <p:cBhvr>
                                        <p:cTn id="18" dur="500"/>
                                        <p:tgtEl>
                                          <p:spTgt spid="11">
                                            <p:txEl>
                                              <p:pRg st="0" end="0"/>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wipe(down)">
                                      <p:cBhvr>
                                        <p:cTn id="21" dur="500"/>
                                        <p:tgtEl>
                                          <p:spTgt spid="11">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wipe(down)">
                                      <p:cBhvr>
                                        <p:cTn id="26" dur="500"/>
                                        <p:tgtEl>
                                          <p:spTgt spid="1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animEffect transition="in" filter="wipe(down)">
                                      <p:cBhvr>
                                        <p:cTn id="31"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72135" y="1605915"/>
            <a:ext cx="3662045" cy="1267460"/>
          </a:xfrm>
        </p:spPr>
        <p:txBody>
          <a:bodyPr/>
          <a:lstStyle/>
          <a:p>
            <a:pPr marL="0" indent="0">
              <a:lnSpc>
                <a:spcPct val="150000"/>
              </a:lnSpc>
              <a:buNone/>
            </a:pPr>
            <a:r>
              <a:rPr lang="en-US" altLang="zh-CN" sz="2400" dirty="0" smtClean="0">
                <a:latin typeface="楷体" panose="02010609060101010101" charset="-122"/>
                <a:ea typeface="楷体" panose="02010609060101010101" charset="-122"/>
                <a:cs typeface="楷体" panose="02010609060101010101" charset="-122"/>
              </a:rPr>
              <a:t>(1)</a:t>
            </a:r>
            <a:r>
              <a:rPr lang="zh-CN" altLang="en-US" sz="2400" dirty="0" smtClean="0">
                <a:latin typeface="楷体" panose="02010609060101010101" charset="-122"/>
                <a:ea typeface="楷体" panose="02010609060101010101" charset="-122"/>
                <a:cs typeface="楷体" panose="02010609060101010101" charset="-122"/>
              </a:rPr>
              <a:t>按      键，进入交流电压测量界面</a:t>
            </a:r>
            <a:endParaRPr lang="en-US" altLang="zh-CN" sz="2400" dirty="0" smtClean="0">
              <a:latin typeface="楷体" panose="02010609060101010101" charset="-122"/>
              <a:ea typeface="楷体" panose="02010609060101010101" charset="-122"/>
              <a:cs typeface="楷体" panose="02010609060101010101" charset="-122"/>
            </a:endParaRPr>
          </a:p>
        </p:txBody>
      </p:sp>
      <p:pic>
        <p:nvPicPr>
          <p:cNvPr id="2" name="图片 1"/>
          <p:cNvPicPr>
            <a:picLocks noChangeAspect="1"/>
          </p:cNvPicPr>
          <p:nvPr/>
        </p:nvPicPr>
        <p:blipFill>
          <a:blip r:embed="rId1"/>
          <a:stretch>
            <a:fillRect/>
          </a:stretch>
        </p:blipFill>
        <p:spPr>
          <a:xfrm>
            <a:off x="4564143" y="1747498"/>
            <a:ext cx="3273572" cy="1855380"/>
          </a:xfrm>
          <a:prstGeom prst="rect">
            <a:avLst/>
          </a:prstGeom>
        </p:spPr>
      </p:pic>
      <p:pic>
        <p:nvPicPr>
          <p:cNvPr id="4" name="图片 3"/>
          <p:cNvPicPr>
            <a:picLocks noChangeAspect="1"/>
          </p:cNvPicPr>
          <p:nvPr/>
        </p:nvPicPr>
        <p:blipFill>
          <a:blip r:embed="rId2"/>
          <a:stretch>
            <a:fillRect/>
          </a:stretch>
        </p:blipFill>
        <p:spPr>
          <a:xfrm>
            <a:off x="1481000" y="1687817"/>
            <a:ext cx="647156" cy="498750"/>
          </a:xfrm>
          <a:prstGeom prst="rect">
            <a:avLst/>
          </a:prstGeom>
        </p:spPr>
      </p:pic>
      <p:pic>
        <p:nvPicPr>
          <p:cNvPr id="6" name="图片 5"/>
          <p:cNvPicPr>
            <a:picLocks noChangeAspect="1"/>
          </p:cNvPicPr>
          <p:nvPr/>
        </p:nvPicPr>
        <p:blipFill>
          <a:blip r:embed="rId3"/>
          <a:stretch>
            <a:fillRect/>
          </a:stretch>
        </p:blipFill>
        <p:spPr>
          <a:xfrm>
            <a:off x="4564142" y="3622270"/>
            <a:ext cx="3556585" cy="2291396"/>
          </a:xfrm>
          <a:prstGeom prst="rect">
            <a:avLst/>
          </a:prstGeom>
        </p:spPr>
      </p:pic>
      <p:sp>
        <p:nvSpPr>
          <p:cNvPr id="8" name="文本框 7"/>
          <p:cNvSpPr txBox="1"/>
          <p:nvPr>
            <p:custDataLst>
              <p:tags r:id="rId4"/>
            </p:custDataLst>
          </p:nvPr>
        </p:nvSpPr>
        <p:spPr>
          <a:xfrm>
            <a:off x="676910" y="822325"/>
            <a:ext cx="644779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4) </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基本测量</a:t>
            </a:r>
            <a:r>
              <a:rPr lang="en-US" altLang="zh-CN" sz="2800" b="1" dirty="0" smtClean="0">
                <a:solidFill>
                  <a:srgbClr val="FF0000"/>
                </a:solidFill>
                <a:latin typeface="楷体" panose="02010609060101010101" charset="-122"/>
                <a:ea typeface="楷体" panose="02010609060101010101" charset="-122"/>
                <a:cs typeface="楷体" panose="02010609060101010101" charset="-122"/>
                <a:sym typeface="+mn-ea"/>
              </a:rPr>
              <a:t>--</a:t>
            </a:r>
            <a:r>
              <a:rPr lang="zh-CN" altLang="en-US" sz="2800" b="1" dirty="0" smtClean="0">
                <a:solidFill>
                  <a:srgbClr val="FF0000"/>
                </a:solidFill>
                <a:latin typeface="楷体" panose="02010609060101010101" charset="-122"/>
                <a:ea typeface="楷体" panose="02010609060101010101" charset="-122"/>
                <a:sym typeface="+mn-ea"/>
              </a:rPr>
              <a:t>测量</a:t>
            </a:r>
            <a:r>
              <a:rPr lang="zh-CN" altLang="en-US" sz="2800" b="1" dirty="0" smtClean="0">
                <a:solidFill>
                  <a:srgbClr val="0000FF"/>
                </a:solidFill>
                <a:latin typeface="楷体" panose="02010609060101010101" charset="-122"/>
                <a:ea typeface="楷体" panose="02010609060101010101" charset="-122"/>
                <a:sym typeface="+mn-ea"/>
              </a:rPr>
              <a:t>交流</a:t>
            </a:r>
            <a:r>
              <a:rPr lang="zh-CN" altLang="en-US" sz="2800" b="1" dirty="0" smtClean="0">
                <a:solidFill>
                  <a:srgbClr val="FF0000"/>
                </a:solidFill>
                <a:latin typeface="楷体" panose="02010609060101010101" charset="-122"/>
                <a:ea typeface="楷体" panose="02010609060101010101" charset="-122"/>
                <a:sym typeface="+mn-ea"/>
              </a:rPr>
              <a:t>电压</a:t>
            </a:r>
            <a:endPar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endParaRPr>
          </a:p>
        </p:txBody>
      </p:sp>
      <p:sp>
        <p:nvSpPr>
          <p:cNvPr id="9" name="内容占位符 2"/>
          <p:cNvSpPr>
            <a:spLocks noGrp="1"/>
          </p:cNvSpPr>
          <p:nvPr>
            <p:custDataLst>
              <p:tags r:id="rId5"/>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内容占位符 2"/>
          <p:cNvSpPr txBox="1"/>
          <p:nvPr>
            <p:custDataLst>
              <p:tags r:id="rId6"/>
            </p:custDataLst>
          </p:nvPr>
        </p:nvSpPr>
        <p:spPr>
          <a:xfrm>
            <a:off x="602615" y="2929255"/>
            <a:ext cx="3464560" cy="2324735"/>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000"/>
              </a:lnSpc>
              <a:buNone/>
            </a:pPr>
            <a:r>
              <a:rPr lang="en-US" altLang="zh-CN" sz="2400" b="1" dirty="0" smtClean="0">
                <a:latin typeface="Times New Roman" panose="02020603050405020304" pitchFamily="18" charset="0"/>
                <a:cs typeface="Times New Roman" panose="02020603050405020304" pitchFamily="18" charset="0"/>
                <a:sym typeface="+mn-ea"/>
              </a:rPr>
              <a:t>(2) </a:t>
            </a:r>
            <a:r>
              <a:rPr lang="zh-CN" altLang="en-US" sz="2400" b="1" dirty="0" smtClean="0">
                <a:latin typeface="楷体" panose="02010609060101010101" charset="-122"/>
                <a:ea typeface="楷体" panose="02010609060101010101" charset="-122"/>
              </a:rPr>
              <a:t>如图所示连接测量表</a:t>
            </a:r>
            <a:r>
              <a:rPr lang="en-US" altLang="zh-CN" sz="2400" b="1" dirty="0" smtClean="0">
                <a:latin typeface="楷体" panose="02010609060101010101" charset="-122"/>
                <a:ea typeface="楷体" panose="02010609060101010101" charset="-122"/>
              </a:rPr>
              <a:t>  </a:t>
            </a:r>
            <a:endParaRPr lang="en-US" altLang="zh-CN" sz="2400" b="1" dirty="0" smtClean="0">
              <a:latin typeface="楷体" panose="02010609060101010101" charset="-122"/>
              <a:ea typeface="楷体" panose="02010609060101010101" charset="-122"/>
            </a:endParaRPr>
          </a:p>
          <a:p>
            <a:pPr marL="0" indent="0">
              <a:lnSpc>
                <a:spcPct val="125000"/>
              </a:lnSpc>
              <a:buNone/>
            </a:pPr>
            <a:r>
              <a:rPr lang="en-US" altLang="zh-CN" sz="2400" b="1" dirty="0" smtClean="0">
                <a:latin typeface="楷体" panose="02010609060101010101" charset="-122"/>
                <a:ea typeface="楷体" panose="02010609060101010101" charset="-122"/>
              </a:rPr>
              <a:t>  </a:t>
            </a:r>
            <a:r>
              <a:rPr lang="zh-CN" altLang="en-US" sz="2400" b="1" dirty="0" smtClean="0">
                <a:latin typeface="楷体" panose="02010609060101010101" charset="-122"/>
                <a:ea typeface="楷体" panose="02010609060101010101" charset="-122"/>
              </a:rPr>
              <a:t>笔和被测电路</a:t>
            </a:r>
            <a:endParaRPr lang="zh-CN" altLang="en-US" sz="2400" b="1" dirty="0" smtClean="0">
              <a:latin typeface="楷体" panose="02010609060101010101" charset="-122"/>
              <a:ea typeface="楷体" panose="02010609060101010101" charset="-122"/>
            </a:endParaRPr>
          </a:p>
          <a:p>
            <a:pPr marL="0" indent="0">
              <a:lnSpc>
                <a:spcPct val="125000"/>
              </a:lnSpc>
              <a:buNone/>
            </a:pPr>
            <a:r>
              <a:rPr lang="zh-CN" altLang="en-US" sz="2400" b="1" dirty="0" smtClean="0">
                <a:latin typeface="楷体" panose="02010609060101010101" charset="-122"/>
                <a:ea typeface="楷体" panose="02010609060101010101" charset="-122"/>
              </a:rPr>
              <a:t>红表笔</a:t>
            </a:r>
            <a:r>
              <a:rPr lang="en-US" altLang="zh-CN" sz="2400" b="1" dirty="0" smtClean="0">
                <a:latin typeface="楷体" panose="02010609060101010101" charset="-122"/>
                <a:ea typeface="楷体" panose="02010609060101010101" charset="-122"/>
              </a:rPr>
              <a:t>:</a:t>
            </a:r>
            <a:r>
              <a:rPr lang="en-US" altLang="zh-CN" sz="2400" b="1" dirty="0" smtClean="0">
                <a:latin typeface="Times New Roman" panose="02020603050405020304" pitchFamily="18" charset="0"/>
                <a:ea typeface="楷体" panose="02010609060101010101" charset="-122"/>
                <a:cs typeface="Times New Roman" panose="02020603050405020304" pitchFamily="18" charset="0"/>
              </a:rPr>
              <a:t>Input-HI</a:t>
            </a:r>
            <a:r>
              <a:rPr lang="zh-CN" altLang="en-US" sz="2400" b="1" dirty="0" smtClean="0">
                <a:latin typeface="楷体" panose="02010609060101010101" charset="-122"/>
                <a:ea typeface="楷体" panose="02010609060101010101" charset="-122"/>
                <a:cs typeface="楷体" panose="02010609060101010101" charset="-122"/>
              </a:rPr>
              <a:t>端</a:t>
            </a:r>
            <a:endParaRPr lang="zh-CN" altLang="en-US" sz="2400" b="1" dirty="0" smtClean="0">
              <a:latin typeface="楷体" panose="02010609060101010101" charset="-122"/>
              <a:ea typeface="楷体" panose="02010609060101010101" charset="-122"/>
              <a:cs typeface="楷体" panose="02010609060101010101" charset="-122"/>
            </a:endParaRPr>
          </a:p>
          <a:p>
            <a:pPr marL="0" indent="0">
              <a:lnSpc>
                <a:spcPct val="125000"/>
              </a:lnSpc>
              <a:buNone/>
            </a:pPr>
            <a:r>
              <a:rPr lang="zh-CN" altLang="en-US" sz="2400" b="1" dirty="0" smtClean="0">
                <a:latin typeface="楷体" panose="02010609060101010101" charset="-122"/>
                <a:ea typeface="楷体" panose="02010609060101010101" charset="-122"/>
                <a:cs typeface="楷体" panose="02010609060101010101" charset="-122"/>
              </a:rPr>
              <a:t>黑表笔</a:t>
            </a:r>
            <a:r>
              <a:rPr lang="en-US" altLang="zh-CN" sz="2400" b="1" dirty="0" smtClean="0">
                <a:latin typeface="楷体" panose="02010609060101010101" charset="-122"/>
                <a:ea typeface="楷体" panose="02010609060101010101" charset="-122"/>
                <a:cs typeface="楷体" panose="02010609060101010101" charset="-122"/>
              </a:rPr>
              <a:t>:</a:t>
            </a:r>
            <a:r>
              <a:rPr lang="en-US" altLang="zh-CN" sz="2400" b="1" dirty="0" smtClean="0">
                <a:latin typeface="Times New Roman" panose="02020603050405020304" pitchFamily="18" charset="0"/>
                <a:ea typeface="楷体" panose="02010609060101010101" charset="-122"/>
                <a:cs typeface="Times New Roman" panose="02020603050405020304" pitchFamily="18" charset="0"/>
              </a:rPr>
              <a:t>Input-LO</a:t>
            </a:r>
            <a:r>
              <a:rPr lang="zh-CN" altLang="en-US" sz="2400" b="1" dirty="0" smtClean="0">
                <a:latin typeface="楷体" panose="02010609060101010101" charset="-122"/>
                <a:ea typeface="楷体" panose="02010609060101010101" charset="-122"/>
                <a:cs typeface="楷体" panose="02010609060101010101" charset="-122"/>
              </a:rPr>
              <a:t>端</a:t>
            </a:r>
            <a:endParaRPr lang="zh-CN" altLang="en-US" sz="2400" b="1" dirty="0" smtClean="0">
              <a:latin typeface="楷体" panose="02010609060101010101" charset="-122"/>
              <a:ea typeface="楷体" panose="02010609060101010101" charset="-122"/>
              <a:cs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7" name="内容占位符 2"/>
          <p:cNvSpPr txBox="1"/>
          <p:nvPr/>
        </p:nvSpPr>
        <p:spPr>
          <a:xfrm>
            <a:off x="530860" y="3088640"/>
            <a:ext cx="3666490" cy="2652395"/>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300" dirty="0" smtClean="0"/>
              <a:t>(2).</a:t>
            </a:r>
            <a:r>
              <a:rPr lang="zh-CN" altLang="en-US" sz="2300" dirty="0" smtClean="0"/>
              <a:t>如图所示连接测量表笔和被测电路</a:t>
            </a:r>
            <a:endParaRPr lang="zh-CN" altLang="en-US" sz="2300" dirty="0" smtClean="0"/>
          </a:p>
          <a:p>
            <a:pPr marL="0" indent="0">
              <a:lnSpc>
                <a:spcPct val="150000"/>
              </a:lnSpc>
              <a:buNone/>
            </a:pPr>
            <a:r>
              <a:rPr lang="zh-CN" altLang="en-US" sz="2300" dirty="0" smtClean="0"/>
              <a:t> </a:t>
            </a:r>
            <a:r>
              <a:rPr lang="en-US" altLang="zh-CN" sz="2300" dirty="0" smtClean="0"/>
              <a:t>  </a:t>
            </a:r>
            <a:r>
              <a:rPr lang="zh-CN" altLang="en-US" sz="2300" dirty="0" smtClean="0"/>
              <a:t>红表笔</a:t>
            </a:r>
            <a:r>
              <a:rPr lang="en-US" altLang="zh-CN" sz="2300" dirty="0" smtClean="0"/>
              <a:t>:</a:t>
            </a:r>
            <a:r>
              <a:rPr lang="en-US" altLang="zh-CN" sz="2300" dirty="0" smtClean="0">
                <a:latin typeface="Times New Roman" panose="02020603050405020304" pitchFamily="18" charset="0"/>
                <a:cs typeface="Times New Roman" panose="02020603050405020304" pitchFamily="18" charset="0"/>
              </a:rPr>
              <a:t>Input-I</a:t>
            </a:r>
            <a:r>
              <a:rPr lang="zh-CN" altLang="en-US" sz="2300" dirty="0" smtClean="0"/>
              <a:t>端</a:t>
            </a:r>
            <a:endParaRPr lang="zh-CN" altLang="en-US" sz="2300" dirty="0" smtClean="0"/>
          </a:p>
          <a:p>
            <a:pPr marL="0" indent="0">
              <a:lnSpc>
                <a:spcPct val="150000"/>
              </a:lnSpc>
              <a:buNone/>
            </a:pPr>
            <a:r>
              <a:rPr lang="zh-CN" altLang="en-US" sz="2300" dirty="0" smtClean="0"/>
              <a:t> </a:t>
            </a:r>
            <a:r>
              <a:rPr lang="en-US" altLang="zh-CN" sz="2300" dirty="0" smtClean="0"/>
              <a:t>  </a:t>
            </a:r>
            <a:r>
              <a:rPr lang="zh-CN" altLang="en-US" sz="2300" dirty="0" smtClean="0"/>
              <a:t>黑表笔</a:t>
            </a:r>
            <a:r>
              <a:rPr lang="en-US" altLang="zh-CN" sz="2300" dirty="0" smtClean="0"/>
              <a:t>:</a:t>
            </a:r>
            <a:r>
              <a:rPr lang="en-US" altLang="zh-CN" sz="2300" dirty="0" smtClean="0">
                <a:latin typeface="Times New Roman" panose="02020603050405020304" pitchFamily="18" charset="0"/>
                <a:cs typeface="Times New Roman" panose="02020603050405020304" pitchFamily="18" charset="0"/>
              </a:rPr>
              <a:t>Input-LO</a:t>
            </a:r>
            <a:r>
              <a:rPr lang="zh-CN" altLang="en-US" sz="2300" dirty="0" smtClean="0"/>
              <a:t>端。</a:t>
            </a:r>
            <a:endParaRPr lang="zh-CN" altLang="en-US" sz="2300" dirty="0" smtClean="0"/>
          </a:p>
        </p:txBody>
      </p:sp>
      <p:sp>
        <p:nvSpPr>
          <p:cNvPr id="9" name="内容占位符 2"/>
          <p:cNvSpPr>
            <a:spLocks noGrp="1"/>
          </p:cNvSpPr>
          <p:nvPr>
            <p:ph idx="4294967295"/>
          </p:nvPr>
        </p:nvSpPr>
        <p:spPr>
          <a:xfrm>
            <a:off x="502285" y="1845310"/>
            <a:ext cx="3660140" cy="1243330"/>
          </a:xfrm>
        </p:spPr>
        <p:txBody>
          <a:bodyPr/>
          <a:lstStyle/>
          <a:p>
            <a:pPr marL="0" indent="0">
              <a:lnSpc>
                <a:spcPct val="150000"/>
              </a:lnSpc>
              <a:buNone/>
            </a:pPr>
            <a:r>
              <a:rPr lang="en-US" altLang="zh-CN" sz="2000" dirty="0" smtClean="0"/>
              <a:t>(1) </a:t>
            </a:r>
            <a:r>
              <a:rPr lang="zh-CN" altLang="en-US" sz="2000" dirty="0" smtClean="0"/>
              <a:t>按          键，再按          键，进入直流电流的测量界面</a:t>
            </a:r>
            <a:endParaRPr lang="en-US" altLang="zh-CN" sz="2000" dirty="0" smtClean="0"/>
          </a:p>
        </p:txBody>
      </p:sp>
      <p:pic>
        <p:nvPicPr>
          <p:cNvPr id="4" name="图片 3"/>
          <p:cNvPicPr>
            <a:picLocks noChangeAspect="1"/>
          </p:cNvPicPr>
          <p:nvPr/>
        </p:nvPicPr>
        <p:blipFill>
          <a:blip r:embed="rId1"/>
          <a:stretch>
            <a:fillRect/>
          </a:stretch>
        </p:blipFill>
        <p:spPr>
          <a:xfrm>
            <a:off x="1357005" y="1915418"/>
            <a:ext cx="608129" cy="475529"/>
          </a:xfrm>
          <a:prstGeom prst="rect">
            <a:avLst/>
          </a:prstGeom>
        </p:spPr>
      </p:pic>
      <p:pic>
        <p:nvPicPr>
          <p:cNvPr id="10" name="图片 9"/>
          <p:cNvPicPr>
            <a:picLocks noChangeAspect="1"/>
          </p:cNvPicPr>
          <p:nvPr/>
        </p:nvPicPr>
        <p:blipFill>
          <a:blip r:embed="rId2"/>
          <a:stretch>
            <a:fillRect/>
          </a:stretch>
        </p:blipFill>
        <p:spPr>
          <a:xfrm>
            <a:off x="2990123" y="1892197"/>
            <a:ext cx="647156" cy="498750"/>
          </a:xfrm>
          <a:prstGeom prst="rect">
            <a:avLst/>
          </a:prstGeom>
        </p:spPr>
      </p:pic>
      <p:pic>
        <p:nvPicPr>
          <p:cNvPr id="11" name="图片 10"/>
          <p:cNvPicPr>
            <a:picLocks noChangeAspect="1"/>
          </p:cNvPicPr>
          <p:nvPr/>
        </p:nvPicPr>
        <p:blipFill>
          <a:blip r:embed="rId3"/>
          <a:stretch>
            <a:fillRect/>
          </a:stretch>
        </p:blipFill>
        <p:spPr>
          <a:xfrm>
            <a:off x="4551542" y="1641021"/>
            <a:ext cx="2992258" cy="1728380"/>
          </a:xfrm>
          <a:prstGeom prst="rect">
            <a:avLst/>
          </a:prstGeom>
        </p:spPr>
      </p:pic>
      <p:pic>
        <p:nvPicPr>
          <p:cNvPr id="12" name="图片 11"/>
          <p:cNvPicPr>
            <a:picLocks noChangeAspect="1"/>
          </p:cNvPicPr>
          <p:nvPr/>
        </p:nvPicPr>
        <p:blipFill>
          <a:blip r:embed="rId4"/>
          <a:stretch>
            <a:fillRect/>
          </a:stretch>
        </p:blipFill>
        <p:spPr>
          <a:xfrm>
            <a:off x="4551542" y="3369401"/>
            <a:ext cx="3590972" cy="2429963"/>
          </a:xfrm>
          <a:prstGeom prst="rect">
            <a:avLst/>
          </a:prstGeom>
        </p:spPr>
      </p:pic>
      <p:sp>
        <p:nvSpPr>
          <p:cNvPr id="8" name="文本框 7"/>
          <p:cNvSpPr txBox="1"/>
          <p:nvPr>
            <p:custDataLst>
              <p:tags r:id="rId5"/>
            </p:custDataLst>
          </p:nvPr>
        </p:nvSpPr>
        <p:spPr>
          <a:xfrm>
            <a:off x="676910" y="822325"/>
            <a:ext cx="644779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4) </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基本测量</a:t>
            </a:r>
            <a:r>
              <a:rPr lang="en-US" altLang="zh-CN" sz="2800" b="1" dirty="0" smtClean="0">
                <a:solidFill>
                  <a:srgbClr val="FF0000"/>
                </a:solidFill>
                <a:latin typeface="楷体" panose="02010609060101010101" charset="-122"/>
                <a:ea typeface="楷体" panose="02010609060101010101" charset="-122"/>
                <a:cs typeface="楷体" panose="02010609060101010101" charset="-122"/>
                <a:sym typeface="+mn-ea"/>
              </a:rPr>
              <a:t>--</a:t>
            </a:r>
            <a:r>
              <a:rPr lang="zh-CN" altLang="en-US" sz="2800" b="1" dirty="0" smtClean="0">
                <a:solidFill>
                  <a:srgbClr val="FF0000"/>
                </a:solidFill>
                <a:latin typeface="楷体" panose="02010609060101010101" charset="-122"/>
                <a:ea typeface="楷体" panose="02010609060101010101" charset="-122"/>
                <a:sym typeface="+mn-ea"/>
              </a:rPr>
              <a:t>测量</a:t>
            </a:r>
            <a:r>
              <a:rPr lang="zh-CN" altLang="en-US" sz="2800" b="1" dirty="0" smtClean="0">
                <a:solidFill>
                  <a:srgbClr val="0000FF"/>
                </a:solidFill>
                <a:latin typeface="楷体" panose="02010609060101010101" charset="-122"/>
                <a:ea typeface="楷体" panose="02010609060101010101" charset="-122"/>
                <a:sym typeface="+mn-ea"/>
              </a:rPr>
              <a:t>交流</a:t>
            </a:r>
            <a:r>
              <a:rPr lang="zh-CN" altLang="en-US" sz="2800" b="1" dirty="0" smtClean="0">
                <a:solidFill>
                  <a:srgbClr val="0000FF"/>
                </a:solidFill>
                <a:latin typeface="楷体" panose="02010609060101010101" charset="-122"/>
                <a:ea typeface="楷体" panose="02010609060101010101" charset="-122"/>
                <a:sym typeface="+mn-ea"/>
              </a:rPr>
              <a:t>电流</a:t>
            </a:r>
            <a:endParaRPr lang="zh-CN" altLang="en-US" sz="2800" b="1" dirty="0" smtClean="0">
              <a:solidFill>
                <a:srgbClr val="0000FF"/>
              </a:solidFill>
              <a:latin typeface="楷体" panose="02010609060101010101" charset="-122"/>
              <a:ea typeface="楷体" panose="02010609060101010101" charset="-122"/>
              <a:sym typeface="+mn-ea"/>
            </a:endParaRPr>
          </a:p>
        </p:txBody>
      </p:sp>
      <p:sp>
        <p:nvSpPr>
          <p:cNvPr id="2" name="内容占位符 2"/>
          <p:cNvSpPr>
            <a:spLocks noGrp="1"/>
          </p:cNvSpPr>
          <p:nvPr>
            <p:custDataLst>
              <p:tags r:id="rId6"/>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530678" y="1845469"/>
            <a:ext cx="3660322" cy="1243353"/>
          </a:xfrm>
        </p:spPr>
        <p:txBody>
          <a:bodyPr/>
          <a:lstStyle/>
          <a:p>
            <a:pPr marL="0" indent="0">
              <a:lnSpc>
                <a:spcPct val="150000"/>
              </a:lnSpc>
              <a:buNone/>
            </a:pPr>
            <a:r>
              <a:rPr lang="en-US" altLang="zh-CN" sz="2000" dirty="0" smtClean="0"/>
              <a:t>1.</a:t>
            </a:r>
            <a:r>
              <a:rPr lang="zh-CN" altLang="en-US" sz="2000" dirty="0" smtClean="0"/>
              <a:t>按         键，进入电阻的测量界面</a:t>
            </a:r>
            <a:endParaRPr lang="en-US" altLang="zh-CN" sz="2000" dirty="0" smtClean="0"/>
          </a:p>
        </p:txBody>
      </p:sp>
      <p:sp>
        <p:nvSpPr>
          <p:cNvPr id="5" name="标题 1"/>
          <p:cNvSpPr txBox="1"/>
          <p:nvPr/>
        </p:nvSpPr>
        <p:spPr>
          <a:xfrm>
            <a:off x="805543" y="1165622"/>
            <a:ext cx="6858000" cy="4754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smtClean="0"/>
              <a:t>三、基本测量</a:t>
            </a:r>
            <a:r>
              <a:rPr lang="en-US" altLang="zh-CN" sz="2400" b="1" dirty="0" smtClean="0"/>
              <a:t>—5.</a:t>
            </a:r>
            <a:r>
              <a:rPr lang="zh-CN" altLang="en-US" sz="2400" b="1" dirty="0" smtClean="0"/>
              <a:t>测量二线电阻</a:t>
            </a:r>
            <a:endParaRPr lang="zh-CN" altLang="en-US" sz="2400" b="1" dirty="0"/>
          </a:p>
        </p:txBody>
      </p:sp>
      <p:sp>
        <p:nvSpPr>
          <p:cNvPr id="7" name="内容占位符 2"/>
          <p:cNvSpPr txBox="1"/>
          <p:nvPr/>
        </p:nvSpPr>
        <p:spPr>
          <a:xfrm>
            <a:off x="530678" y="3017101"/>
            <a:ext cx="3464379" cy="1751477"/>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100" dirty="0" smtClean="0"/>
              <a:t>2.</a:t>
            </a:r>
            <a:r>
              <a:rPr lang="zh-CN" altLang="en-US" sz="2100" dirty="0" smtClean="0"/>
              <a:t>如图所示连接测量表笔和被测电路，红表笔插入</a:t>
            </a:r>
            <a:r>
              <a:rPr lang="en-US" altLang="zh-CN" sz="2100" dirty="0" smtClean="0"/>
              <a:t>Input-HI</a:t>
            </a:r>
            <a:r>
              <a:rPr lang="zh-CN" altLang="en-US" sz="2100" dirty="0" smtClean="0"/>
              <a:t>端，黑表笔插入</a:t>
            </a:r>
            <a:r>
              <a:rPr lang="en-US" altLang="zh-CN" sz="2100" dirty="0" smtClean="0"/>
              <a:t>Input-LO</a:t>
            </a:r>
            <a:r>
              <a:rPr lang="zh-CN" altLang="en-US" sz="2100" dirty="0" smtClean="0"/>
              <a:t>端。</a:t>
            </a:r>
            <a:endParaRPr lang="zh-CN" altLang="en-US" sz="2100" dirty="0"/>
          </a:p>
        </p:txBody>
      </p:sp>
      <p:pic>
        <p:nvPicPr>
          <p:cNvPr id="2" name="图片 1"/>
          <p:cNvPicPr>
            <a:picLocks noChangeAspect="1"/>
          </p:cNvPicPr>
          <p:nvPr/>
        </p:nvPicPr>
        <p:blipFill>
          <a:blip r:embed="rId1"/>
          <a:stretch>
            <a:fillRect/>
          </a:stretch>
        </p:blipFill>
        <p:spPr>
          <a:xfrm>
            <a:off x="4234543" y="1641022"/>
            <a:ext cx="3222172" cy="1869273"/>
          </a:xfrm>
          <a:prstGeom prst="rect">
            <a:avLst/>
          </a:prstGeom>
        </p:spPr>
      </p:pic>
      <p:pic>
        <p:nvPicPr>
          <p:cNvPr id="4" name="图片 3"/>
          <p:cNvPicPr>
            <a:picLocks noChangeAspect="1"/>
          </p:cNvPicPr>
          <p:nvPr/>
        </p:nvPicPr>
        <p:blipFill>
          <a:blip r:embed="rId2"/>
          <a:stretch>
            <a:fillRect/>
          </a:stretch>
        </p:blipFill>
        <p:spPr>
          <a:xfrm>
            <a:off x="4234542" y="3510295"/>
            <a:ext cx="3654673" cy="2397927"/>
          </a:xfrm>
          <a:prstGeom prst="rect">
            <a:avLst/>
          </a:prstGeom>
        </p:spPr>
      </p:pic>
      <p:pic>
        <p:nvPicPr>
          <p:cNvPr id="6" name="图片 5"/>
          <p:cNvPicPr>
            <a:picLocks noChangeAspect="1"/>
          </p:cNvPicPr>
          <p:nvPr/>
        </p:nvPicPr>
        <p:blipFill>
          <a:blip r:embed="rId3"/>
          <a:stretch>
            <a:fillRect/>
          </a:stretch>
        </p:blipFill>
        <p:spPr>
          <a:xfrm>
            <a:off x="1100454" y="1885942"/>
            <a:ext cx="647156" cy="50750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530678" y="1845469"/>
            <a:ext cx="3660322" cy="1243353"/>
          </a:xfrm>
        </p:spPr>
        <p:txBody>
          <a:bodyPr/>
          <a:lstStyle/>
          <a:p>
            <a:pPr marL="0" indent="0">
              <a:lnSpc>
                <a:spcPct val="150000"/>
              </a:lnSpc>
              <a:buNone/>
            </a:pPr>
            <a:r>
              <a:rPr lang="en-US" altLang="zh-CN" sz="2000" dirty="0" smtClean="0"/>
              <a:t>1.</a:t>
            </a:r>
            <a:r>
              <a:rPr lang="zh-CN" altLang="en-US" sz="2000" dirty="0" smtClean="0"/>
              <a:t>按         键，进入电容的测量界面</a:t>
            </a:r>
            <a:endParaRPr lang="en-US" altLang="zh-CN" sz="2000" dirty="0" smtClean="0"/>
          </a:p>
        </p:txBody>
      </p:sp>
      <p:sp>
        <p:nvSpPr>
          <p:cNvPr id="5" name="标题 1"/>
          <p:cNvSpPr txBox="1"/>
          <p:nvPr/>
        </p:nvSpPr>
        <p:spPr>
          <a:xfrm>
            <a:off x="805543" y="1165622"/>
            <a:ext cx="6858000" cy="4754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smtClean="0"/>
              <a:t>三、基本测量</a:t>
            </a:r>
            <a:r>
              <a:rPr lang="en-US" altLang="zh-CN" sz="2400" b="1" dirty="0" smtClean="0"/>
              <a:t>—6.</a:t>
            </a:r>
            <a:r>
              <a:rPr lang="zh-CN" altLang="en-US" sz="2400" b="1" dirty="0" smtClean="0"/>
              <a:t>测量电容</a:t>
            </a:r>
            <a:endParaRPr lang="zh-CN" altLang="en-US" sz="2400" b="1" dirty="0"/>
          </a:p>
        </p:txBody>
      </p:sp>
      <p:sp>
        <p:nvSpPr>
          <p:cNvPr id="7" name="内容占位符 2"/>
          <p:cNvSpPr txBox="1"/>
          <p:nvPr/>
        </p:nvSpPr>
        <p:spPr>
          <a:xfrm>
            <a:off x="538933" y="2925026"/>
            <a:ext cx="3464379" cy="1751477"/>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100" dirty="0" smtClean="0"/>
              <a:t>2.</a:t>
            </a:r>
            <a:r>
              <a:rPr lang="zh-CN" altLang="en-US" sz="2100" dirty="0" smtClean="0"/>
              <a:t>如图所示连接测量表笔和被测电路，红表笔插入</a:t>
            </a:r>
            <a:r>
              <a:rPr lang="en-US" altLang="zh-CN" sz="2100" dirty="0" smtClean="0"/>
              <a:t>Input-HI</a:t>
            </a:r>
            <a:r>
              <a:rPr lang="zh-CN" altLang="en-US" sz="2100" dirty="0" smtClean="0"/>
              <a:t>端，黑表笔插入</a:t>
            </a:r>
            <a:r>
              <a:rPr lang="en-US" altLang="zh-CN" sz="2100" dirty="0" smtClean="0"/>
              <a:t>Input-LO</a:t>
            </a:r>
            <a:r>
              <a:rPr lang="zh-CN" altLang="en-US" sz="2100" dirty="0" smtClean="0"/>
              <a:t>端。</a:t>
            </a:r>
            <a:endParaRPr lang="zh-CN" altLang="en-US" sz="21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34543" y="1641021"/>
            <a:ext cx="3287486" cy="1855007"/>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5428" y="3496028"/>
            <a:ext cx="4007555" cy="2504722"/>
          </a:xfrm>
          <a:prstGeom prst="rect">
            <a:avLst/>
          </a:prstGeom>
        </p:spPr>
      </p:pic>
      <p:pic>
        <p:nvPicPr>
          <p:cNvPr id="6" name="图片 5"/>
          <p:cNvPicPr>
            <a:picLocks noChangeAspect="1"/>
          </p:cNvPicPr>
          <p:nvPr/>
        </p:nvPicPr>
        <p:blipFill>
          <a:blip r:embed="rId3"/>
          <a:stretch>
            <a:fillRect/>
          </a:stretch>
        </p:blipFill>
        <p:spPr>
          <a:xfrm>
            <a:off x="1100455" y="1893446"/>
            <a:ext cx="647156" cy="490000"/>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a:xfrm>
          <a:off x="0" y="0"/>
          <a:ext cx="0" cy="0"/>
          <a:chOff x="0" y="0"/>
          <a:chExt cx="0" cy="0"/>
        </a:xfrm>
      </p:grpSpPr>
      <p:sp>
        <p:nvSpPr>
          <p:cNvPr id="5" name="标题 1"/>
          <p:cNvSpPr txBox="1"/>
          <p:nvPr/>
        </p:nvSpPr>
        <p:spPr>
          <a:xfrm>
            <a:off x="805543" y="1165622"/>
            <a:ext cx="6858000" cy="4754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smtClean="0"/>
              <a:t>三、基本测量</a:t>
            </a:r>
            <a:r>
              <a:rPr lang="en-US" altLang="zh-CN" sz="2400" b="1" dirty="0" smtClean="0"/>
              <a:t>—7.</a:t>
            </a:r>
            <a:r>
              <a:rPr lang="zh-CN" altLang="en-US" sz="2400" b="1" dirty="0" smtClean="0"/>
              <a:t>测量频率</a:t>
            </a:r>
            <a:endParaRPr lang="zh-CN" altLang="en-US" sz="2400" b="1" dirty="0"/>
          </a:p>
        </p:txBody>
      </p:sp>
      <p:sp>
        <p:nvSpPr>
          <p:cNvPr id="7" name="内容占位符 2"/>
          <p:cNvSpPr txBox="1"/>
          <p:nvPr/>
        </p:nvSpPr>
        <p:spPr>
          <a:xfrm>
            <a:off x="539568" y="2997416"/>
            <a:ext cx="3464379" cy="1751477"/>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100" dirty="0" smtClean="0"/>
              <a:t>2.</a:t>
            </a:r>
            <a:r>
              <a:rPr lang="zh-CN" altLang="en-US" sz="2100" dirty="0" smtClean="0"/>
              <a:t>如图所示连接测量表笔和被测电路，红表笔插入</a:t>
            </a:r>
            <a:r>
              <a:rPr lang="en-US" altLang="zh-CN" sz="2100" dirty="0" smtClean="0"/>
              <a:t>Input-I</a:t>
            </a:r>
            <a:r>
              <a:rPr lang="zh-CN" altLang="en-US" sz="2100" dirty="0" smtClean="0"/>
              <a:t>端，黑表笔插入</a:t>
            </a:r>
            <a:r>
              <a:rPr lang="en-US" altLang="zh-CN" sz="2100" dirty="0" smtClean="0"/>
              <a:t>Input-LO</a:t>
            </a:r>
            <a:r>
              <a:rPr lang="zh-CN" altLang="en-US" sz="2100" dirty="0" smtClean="0"/>
              <a:t>端。</a:t>
            </a:r>
            <a:endParaRPr lang="zh-CN" altLang="en-US" sz="2100" dirty="0"/>
          </a:p>
        </p:txBody>
      </p:sp>
      <p:sp>
        <p:nvSpPr>
          <p:cNvPr id="9" name="内容占位符 2"/>
          <p:cNvSpPr>
            <a:spLocks noGrp="1"/>
          </p:cNvSpPr>
          <p:nvPr>
            <p:ph idx="1"/>
          </p:nvPr>
        </p:nvSpPr>
        <p:spPr>
          <a:xfrm>
            <a:off x="530678" y="1845469"/>
            <a:ext cx="3660322" cy="1499133"/>
          </a:xfrm>
        </p:spPr>
        <p:txBody>
          <a:bodyPr/>
          <a:lstStyle/>
          <a:p>
            <a:pPr marL="0" indent="0">
              <a:lnSpc>
                <a:spcPct val="150000"/>
              </a:lnSpc>
              <a:buNone/>
            </a:pPr>
            <a:r>
              <a:rPr lang="en-US" altLang="zh-CN" sz="2000" dirty="0" smtClean="0"/>
              <a:t>1.</a:t>
            </a:r>
            <a:r>
              <a:rPr lang="zh-CN" altLang="en-US" sz="2000" dirty="0" smtClean="0"/>
              <a:t>按          键，再按          键，进入频率测量界面</a:t>
            </a:r>
            <a:endParaRPr lang="en-US" altLang="zh-CN" sz="2000" dirty="0" smtClean="0"/>
          </a:p>
        </p:txBody>
      </p:sp>
      <p:pic>
        <p:nvPicPr>
          <p:cNvPr id="4" name="图片 3"/>
          <p:cNvPicPr>
            <a:picLocks noChangeAspect="1"/>
          </p:cNvPicPr>
          <p:nvPr/>
        </p:nvPicPr>
        <p:blipFill>
          <a:blip r:embed="rId1"/>
          <a:stretch>
            <a:fillRect/>
          </a:stretch>
        </p:blipFill>
        <p:spPr>
          <a:xfrm>
            <a:off x="1188095" y="1917323"/>
            <a:ext cx="608129" cy="475529"/>
          </a:xfrm>
          <a:prstGeom prst="rect">
            <a:avLst/>
          </a:prstGeom>
        </p:spPr>
      </p:pic>
      <p:pic>
        <p:nvPicPr>
          <p:cNvPr id="13" name="图片 12"/>
          <p:cNvPicPr>
            <a:picLocks noChangeAspect="1"/>
          </p:cNvPicPr>
          <p:nvPr/>
        </p:nvPicPr>
        <p:blipFill>
          <a:blip r:embed="rId2"/>
          <a:stretch>
            <a:fillRect/>
          </a:stretch>
        </p:blipFill>
        <p:spPr>
          <a:xfrm>
            <a:off x="2915830" y="1845568"/>
            <a:ext cx="647156" cy="490000"/>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8053" y="1594066"/>
            <a:ext cx="3236119" cy="1678781"/>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2402" y="3344602"/>
            <a:ext cx="4205005" cy="2495278"/>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a:xfrm>
          <a:off x="0" y="0"/>
          <a:ext cx="0" cy="0"/>
          <a:chOff x="0" y="0"/>
          <a:chExt cx="0" cy="0"/>
        </a:xfrm>
      </p:grpSpPr>
      <p:sp>
        <p:nvSpPr>
          <p:cNvPr id="5" name="标题 1"/>
          <p:cNvSpPr txBox="1"/>
          <p:nvPr/>
        </p:nvSpPr>
        <p:spPr>
          <a:xfrm>
            <a:off x="805543" y="1165622"/>
            <a:ext cx="6858000" cy="47540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dirty="0" smtClean="0"/>
              <a:t>三、基本测量</a:t>
            </a:r>
            <a:r>
              <a:rPr lang="en-US" altLang="zh-CN" sz="2400" b="1" dirty="0" smtClean="0"/>
              <a:t>—8.</a:t>
            </a:r>
            <a:r>
              <a:rPr lang="zh-CN" altLang="en-US" sz="2400" b="1" dirty="0" smtClean="0"/>
              <a:t>测量电路的连通性（短路测量）</a:t>
            </a:r>
            <a:endParaRPr lang="zh-CN" altLang="en-US" sz="2400" b="1" dirty="0"/>
          </a:p>
        </p:txBody>
      </p:sp>
      <p:sp>
        <p:nvSpPr>
          <p:cNvPr id="7" name="内容占位符 2"/>
          <p:cNvSpPr txBox="1"/>
          <p:nvPr/>
        </p:nvSpPr>
        <p:spPr>
          <a:xfrm>
            <a:off x="530678" y="3375876"/>
            <a:ext cx="3464379" cy="1751477"/>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100" dirty="0" smtClean="0"/>
              <a:t>2.</a:t>
            </a:r>
            <a:r>
              <a:rPr lang="zh-CN" altLang="en-US" sz="2100" dirty="0" smtClean="0"/>
              <a:t>如图所示连接测量表笔和被测电路，红表笔插入</a:t>
            </a:r>
            <a:r>
              <a:rPr lang="en-US" altLang="zh-CN" sz="2100" dirty="0" smtClean="0"/>
              <a:t>Input-I</a:t>
            </a:r>
            <a:r>
              <a:rPr lang="zh-CN" altLang="en-US" sz="2100" dirty="0" smtClean="0"/>
              <a:t>端，黑表笔插入</a:t>
            </a:r>
            <a:r>
              <a:rPr lang="en-US" altLang="zh-CN" sz="2100" dirty="0" smtClean="0"/>
              <a:t>Input-LO</a:t>
            </a:r>
            <a:r>
              <a:rPr lang="zh-CN" altLang="en-US" sz="2100" dirty="0" smtClean="0"/>
              <a:t>端。</a:t>
            </a:r>
            <a:endParaRPr lang="zh-CN" altLang="en-US" sz="2100" dirty="0"/>
          </a:p>
        </p:txBody>
      </p:sp>
      <p:sp>
        <p:nvSpPr>
          <p:cNvPr id="9" name="内容占位符 2"/>
          <p:cNvSpPr>
            <a:spLocks noGrp="1"/>
          </p:cNvSpPr>
          <p:nvPr>
            <p:ph idx="1"/>
          </p:nvPr>
        </p:nvSpPr>
        <p:spPr>
          <a:xfrm>
            <a:off x="530678" y="1845468"/>
            <a:ext cx="3660322" cy="2104447"/>
          </a:xfrm>
        </p:spPr>
        <p:txBody>
          <a:bodyPr>
            <a:normAutofit fontScale="52500"/>
          </a:bodyPr>
          <a:lstStyle/>
          <a:p>
            <a:pPr marL="0" indent="0">
              <a:lnSpc>
                <a:spcPct val="150000"/>
              </a:lnSpc>
              <a:buFont typeface="Wingdings" panose="05000000000000000000" pitchFamily="2" charset="2"/>
              <a:buNone/>
            </a:pPr>
            <a:r>
              <a:rPr lang="zh-CN" altLang="en-US" dirty="0" smtClean="0"/>
              <a:t>当测量的电阻值低于设定值时，判定电路是连通的，仪器发出蜂鸣声。</a:t>
            </a:r>
            <a:endParaRPr lang="en-US" altLang="zh-CN" dirty="0" smtClean="0"/>
          </a:p>
          <a:p>
            <a:pPr marL="0" indent="0">
              <a:lnSpc>
                <a:spcPct val="150000"/>
              </a:lnSpc>
              <a:buNone/>
            </a:pPr>
            <a:r>
              <a:rPr lang="en-US" altLang="zh-CN" dirty="0" smtClean="0"/>
              <a:t>1.</a:t>
            </a:r>
            <a:r>
              <a:rPr lang="zh-CN" altLang="en-US" dirty="0" smtClean="0"/>
              <a:t>按</a:t>
            </a:r>
            <a:r>
              <a:rPr lang="en-US" altLang="zh-CN" dirty="0" smtClean="0"/>
              <a:t>    </a:t>
            </a:r>
            <a:r>
              <a:rPr lang="zh-CN" altLang="en-US" dirty="0" smtClean="0"/>
              <a:t>          键，进入连通性测量界面</a:t>
            </a:r>
            <a:endParaRPr lang="en-US" altLang="zh-CN" dirty="0" smtClean="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2104" y="1795852"/>
            <a:ext cx="2914650" cy="1664494"/>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2104" y="3460346"/>
            <a:ext cx="3834810" cy="2426105"/>
          </a:xfrm>
          <a:prstGeom prst="rect">
            <a:avLst/>
          </a:prstGeom>
        </p:spPr>
      </p:pic>
      <p:pic>
        <p:nvPicPr>
          <p:cNvPr id="6" name="图片 5"/>
          <p:cNvPicPr>
            <a:picLocks noChangeAspect="1"/>
          </p:cNvPicPr>
          <p:nvPr/>
        </p:nvPicPr>
        <p:blipFill>
          <a:blip r:embed="rId3"/>
          <a:stretch>
            <a:fillRect/>
          </a:stretch>
        </p:blipFill>
        <p:spPr>
          <a:xfrm>
            <a:off x="971266" y="2564504"/>
            <a:ext cx="650081" cy="492919"/>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内容占位符 2"/>
          <p:cNvSpPr txBox="1"/>
          <p:nvPr/>
        </p:nvSpPr>
        <p:spPr>
          <a:xfrm>
            <a:off x="539568" y="3141561"/>
            <a:ext cx="3464379" cy="1751477"/>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100" dirty="0" smtClean="0"/>
              <a:t>2.</a:t>
            </a:r>
            <a:r>
              <a:rPr lang="zh-CN" altLang="en-US" sz="2100" dirty="0" smtClean="0"/>
              <a:t>如图所示连接测量表笔和被测电路，红表笔插入</a:t>
            </a:r>
            <a:r>
              <a:rPr lang="en-US" altLang="zh-CN" sz="2100" dirty="0" smtClean="0"/>
              <a:t>Input-I</a:t>
            </a:r>
            <a:r>
              <a:rPr lang="zh-CN" altLang="en-US" sz="2100" dirty="0" smtClean="0"/>
              <a:t>端，黑表笔插入</a:t>
            </a:r>
            <a:r>
              <a:rPr lang="en-US" altLang="zh-CN" sz="2100" dirty="0" smtClean="0"/>
              <a:t>Input-LO</a:t>
            </a:r>
            <a:r>
              <a:rPr lang="zh-CN" altLang="en-US" sz="2100" dirty="0" smtClean="0"/>
              <a:t>端。</a:t>
            </a:r>
            <a:endParaRPr lang="zh-CN" altLang="en-US" sz="2100" dirty="0"/>
          </a:p>
        </p:txBody>
      </p:sp>
      <p:sp>
        <p:nvSpPr>
          <p:cNvPr id="9" name="内容占位符 2"/>
          <p:cNvSpPr>
            <a:spLocks noGrp="1"/>
          </p:cNvSpPr>
          <p:nvPr>
            <p:ph idx="4294967295"/>
          </p:nvPr>
        </p:nvSpPr>
        <p:spPr>
          <a:xfrm>
            <a:off x="502285" y="1917065"/>
            <a:ext cx="3660140" cy="1243330"/>
          </a:xfrm>
        </p:spPr>
        <p:txBody>
          <a:bodyPr/>
          <a:lstStyle/>
          <a:p>
            <a:pPr marL="0" indent="0">
              <a:lnSpc>
                <a:spcPct val="150000"/>
              </a:lnSpc>
              <a:buNone/>
            </a:pPr>
            <a:r>
              <a:rPr lang="en-US" altLang="zh-CN" sz="2000" dirty="0" smtClean="0"/>
              <a:t>1.</a:t>
            </a:r>
            <a:r>
              <a:rPr lang="zh-CN" altLang="en-US" sz="2000" dirty="0" smtClean="0"/>
              <a:t>按          键，再按          键，进入二极管的测量界面</a:t>
            </a:r>
            <a:endParaRPr lang="en-US" altLang="zh-CN" sz="2000" dirty="0" smtClean="0"/>
          </a:p>
        </p:txBody>
      </p:sp>
      <p:pic>
        <p:nvPicPr>
          <p:cNvPr id="4" name="图片 3"/>
          <p:cNvPicPr>
            <a:picLocks noChangeAspect="1"/>
          </p:cNvPicPr>
          <p:nvPr/>
        </p:nvPicPr>
        <p:blipFill>
          <a:blip r:embed="rId1"/>
          <a:stretch>
            <a:fillRect/>
          </a:stretch>
        </p:blipFill>
        <p:spPr>
          <a:xfrm>
            <a:off x="1117610" y="1989078"/>
            <a:ext cx="608129" cy="475529"/>
          </a:xfrm>
          <a:prstGeom prst="rect">
            <a:avLst/>
          </a:prstGeom>
        </p:spPr>
      </p:pic>
      <p:pic>
        <p:nvPicPr>
          <p:cNvPr id="2" name="图片 1"/>
          <p:cNvPicPr>
            <a:picLocks noChangeAspect="1"/>
          </p:cNvPicPr>
          <p:nvPr/>
        </p:nvPicPr>
        <p:blipFill>
          <a:blip r:embed="rId2"/>
          <a:stretch>
            <a:fillRect/>
          </a:stretch>
        </p:blipFill>
        <p:spPr>
          <a:xfrm>
            <a:off x="2866922" y="1917224"/>
            <a:ext cx="650081" cy="492919"/>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4543" y="1734230"/>
            <a:ext cx="3236119" cy="1800225"/>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4542" y="3534456"/>
            <a:ext cx="3933584" cy="2384652"/>
          </a:xfrm>
          <a:prstGeom prst="rect">
            <a:avLst/>
          </a:prstGeom>
        </p:spPr>
      </p:pic>
      <p:sp>
        <p:nvSpPr>
          <p:cNvPr id="8" name="文本框 7"/>
          <p:cNvSpPr txBox="1"/>
          <p:nvPr>
            <p:custDataLst>
              <p:tags r:id="rId5"/>
            </p:custDataLst>
          </p:nvPr>
        </p:nvSpPr>
        <p:spPr>
          <a:xfrm>
            <a:off x="676910" y="822325"/>
            <a:ext cx="7134860" cy="583565"/>
          </a:xfrm>
          <a:prstGeom prst="rect">
            <a:avLst/>
          </a:prstGeom>
          <a:noFill/>
        </p:spPr>
        <p:txBody>
          <a:bodyPr wrap="square" rtlCol="0" anchor="t">
            <a:spAutoFit/>
          </a:bodyPr>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sym typeface="+mn-ea"/>
              </a:rPr>
              <a:t>4) </a:t>
            </a:r>
            <a:r>
              <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rPr>
              <a:t>基本测量</a:t>
            </a:r>
            <a:r>
              <a:rPr lang="en-US" altLang="zh-CN" sz="2800" b="1" dirty="0" smtClean="0">
                <a:solidFill>
                  <a:srgbClr val="FF0000"/>
                </a:solidFill>
                <a:latin typeface="楷体" panose="02010609060101010101" charset="-122"/>
                <a:ea typeface="楷体" panose="02010609060101010101" charset="-122"/>
                <a:cs typeface="楷体" panose="02010609060101010101" charset="-122"/>
                <a:sym typeface="+mn-ea"/>
              </a:rPr>
              <a:t>--</a:t>
            </a:r>
            <a:r>
              <a:rPr lang="zh-CN" altLang="en-US" sz="2800" b="1" dirty="0" smtClean="0">
                <a:sym typeface="+mn-ea"/>
              </a:rPr>
              <a:t>测量二极管导通或截止特性</a:t>
            </a:r>
            <a:endParaRPr lang="zh-CN" altLang="en-US" sz="2800" b="1" dirty="0" smtClean="0">
              <a:solidFill>
                <a:srgbClr val="FF0000"/>
              </a:solidFill>
              <a:latin typeface="楷体" panose="02010609060101010101" charset="-122"/>
              <a:ea typeface="楷体" panose="02010609060101010101" charset="-122"/>
              <a:cs typeface="楷体" panose="02010609060101010101" charset="-122"/>
              <a:sym typeface="+mn-ea"/>
            </a:endParaRPr>
          </a:p>
        </p:txBody>
      </p:sp>
      <p:sp>
        <p:nvSpPr>
          <p:cNvPr id="10" name="内容占位符 2"/>
          <p:cNvSpPr>
            <a:spLocks noGrp="1"/>
          </p:cNvSpPr>
          <p:nvPr>
            <p:custDataLst>
              <p:tags r:id="rId6"/>
            </p:custDataLst>
          </p:nvPr>
        </p:nvSpPr>
        <p:spPr>
          <a:xfrm>
            <a:off x="502285" y="199390"/>
            <a:ext cx="4746625" cy="478155"/>
          </a:xfrm>
          <a:prstGeom prst="rect">
            <a:avLst/>
          </a:prstGeom>
          <a:noFill/>
          <a:ln w="9525">
            <a:noFill/>
          </a:ln>
        </p:spPr>
        <p:txBody>
          <a:bodyPr>
            <a:no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anose="05000000000000000000" pitchFamily="2" charset="2"/>
              <a:buChar char="Ø"/>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5pPr>
            <a:lvl6pPr marL="25146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6pPr>
            <a:lvl7pPr marL="29718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7pPr>
            <a:lvl8pPr marL="34290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8pPr>
            <a:lvl9pPr marL="3886200" indent="-228600" algn="l" rtl="0" fontAlgn="base">
              <a:spcBef>
                <a:spcPct val="20000"/>
              </a:spcBef>
              <a:spcAft>
                <a:spcPct val="0"/>
              </a:spcAft>
              <a:buClr>
                <a:schemeClr val="accent2"/>
              </a:buClr>
              <a:buFont typeface="Wingdings" panose="05000000000000000000" pitchFamily="2" charset="2"/>
              <a:buChar char="Ø"/>
              <a:defRPr sz="2000" b="1">
                <a:solidFill>
                  <a:schemeClr val="tx1"/>
                </a:solidFill>
                <a:latin typeface="+mn-lt"/>
                <a:ea typeface="+mn-ea"/>
              </a:defRPr>
            </a:lvl9pPr>
          </a:lstStyle>
          <a:p>
            <a:pPr marL="0" indent="0">
              <a:buNone/>
            </a:pPr>
            <a:r>
              <a:rPr lang="en-US" altLang="zh-CN" sz="3200" dirty="0" smtClean="0">
                <a:solidFill>
                  <a:srgbClr val="FF0000"/>
                </a:solidFill>
                <a:latin typeface="Times New Roman" panose="02020603050405020304" pitchFamily="18" charset="0"/>
                <a:cs typeface="Times New Roman" panose="02020603050405020304" pitchFamily="18" charset="0"/>
              </a:rPr>
              <a:t>SDM3055X-E</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数字万用表</a:t>
            </a:r>
            <a:endPar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8679" name="Picture 9" descr="C:\Users\Administrator\AppData\Roaming\Tencent\Users\16685809\QQ\WinTemp\RichOle\8MW6OR1N0}HM(ZQ]LY8T}%J.png"/>
          <p:cNvPicPr>
            <a:picLocks noChangeAspect="1"/>
          </p:cNvPicPr>
          <p:nvPr/>
        </p:nvPicPr>
        <p:blipFill>
          <a:blip r:embed="rId1"/>
          <a:stretch>
            <a:fillRect/>
          </a:stretch>
        </p:blipFill>
        <p:spPr>
          <a:xfrm>
            <a:off x="3202623" y="689928"/>
            <a:ext cx="5905500" cy="4732337"/>
          </a:xfrm>
          <a:prstGeom prst="rect">
            <a:avLst/>
          </a:prstGeom>
          <a:noFill/>
          <a:ln w="9525">
            <a:noFill/>
          </a:ln>
        </p:spPr>
      </p:pic>
      <p:sp>
        <p:nvSpPr>
          <p:cNvPr id="28680" name="TextBox 1"/>
          <p:cNvSpPr txBox="1"/>
          <p:nvPr/>
        </p:nvSpPr>
        <p:spPr>
          <a:xfrm>
            <a:off x="180340" y="768985"/>
            <a:ext cx="2592388" cy="2584450"/>
          </a:xfrm>
          <a:prstGeom prst="rect">
            <a:avLst/>
          </a:prstGeom>
          <a:noFill/>
          <a:ln w="9525">
            <a:noFill/>
          </a:ln>
        </p:spPr>
        <p:txBody>
          <a:bodyPr>
            <a:spAutoFit/>
          </a:bodyPr>
          <a:p>
            <a:r>
              <a:rPr lang="en-US" altLang="zh-CN" dirty="0">
                <a:latin typeface="Arial" panose="020B0604020202020204" pitchFamily="34" charset="0"/>
              </a:rPr>
              <a:t>② </a:t>
            </a:r>
            <a:r>
              <a:rPr lang="zh-CN" altLang="en-US" dirty="0">
                <a:latin typeface="Arial" panose="020B0604020202020204" pitchFamily="34" charset="0"/>
              </a:rPr>
              <a:t>显示界面</a:t>
            </a:r>
            <a:endParaRPr lang="zh-CN" altLang="en-US" dirty="0">
              <a:latin typeface="Arial" panose="020B0604020202020204" pitchFamily="34" charset="0"/>
            </a:endParaRPr>
          </a:p>
          <a:p>
            <a:r>
              <a:rPr lang="zh-CN" altLang="en-US" dirty="0">
                <a:sym typeface="+mn-ea"/>
              </a:rPr>
              <a:t>⑧</a:t>
            </a:r>
            <a:r>
              <a:rPr lang="en-US" altLang="zh-CN" dirty="0">
                <a:sym typeface="+mn-ea"/>
              </a:rPr>
              <a:t> </a:t>
            </a:r>
            <a:r>
              <a:rPr lang="zh-CN" altLang="en-US" dirty="0">
                <a:sym typeface="+mn-ea"/>
              </a:rPr>
              <a:t>通道控制按键</a:t>
            </a:r>
            <a:endParaRPr lang="zh-CN" altLang="en-US" dirty="0">
              <a:latin typeface="Arial" panose="020B0604020202020204" pitchFamily="34" charset="0"/>
            </a:endParaRPr>
          </a:p>
          <a:p>
            <a:r>
              <a:rPr lang="zh-CN" altLang="en-US" b="1" dirty="0">
                <a:solidFill>
                  <a:srgbClr val="FF0000"/>
                </a:solidFill>
                <a:latin typeface="Arial" panose="020B0604020202020204" pitchFamily="34" charset="0"/>
              </a:rPr>
              <a:t>⑨</a:t>
            </a:r>
            <a:r>
              <a:rPr lang="en-US" altLang="zh-CN" b="1" dirty="0">
                <a:solidFill>
                  <a:srgbClr val="FF0000"/>
                </a:solidFill>
                <a:latin typeface="Arial" panose="020B0604020202020204" pitchFamily="34" charset="0"/>
              </a:rPr>
              <a:t> </a:t>
            </a:r>
            <a:r>
              <a:rPr lang="en-US" altLang="zh-CN" b="1" dirty="0">
                <a:solidFill>
                  <a:srgbClr val="FF0000"/>
                </a:solidFill>
                <a:latin typeface="Times New Roman" panose="02020603050405020304" pitchFamily="18" charset="0"/>
                <a:cs typeface="Times New Roman" panose="02020603050405020304" pitchFamily="18" charset="0"/>
              </a:rPr>
              <a:t>CH3</a:t>
            </a:r>
            <a:r>
              <a:rPr lang="en-US" altLang="zh-CN" b="1" dirty="0">
                <a:solidFill>
                  <a:srgbClr val="FF0000"/>
                </a:solidFill>
                <a:latin typeface="Arial" panose="020B0604020202020204" pitchFamily="34" charset="0"/>
              </a:rPr>
              <a:t> </a:t>
            </a:r>
            <a:r>
              <a:rPr lang="zh-CN" altLang="en-US" b="1" dirty="0">
                <a:solidFill>
                  <a:srgbClr val="FF0000"/>
                </a:solidFill>
                <a:latin typeface="Arial" panose="020B0604020202020204" pitchFamily="34" charset="0"/>
              </a:rPr>
              <a:t>档位拨码开关</a:t>
            </a:r>
            <a:endParaRPr lang="zh-CN" altLang="en-US" b="1" dirty="0">
              <a:solidFill>
                <a:srgbClr val="FF0000"/>
              </a:solidFill>
              <a:latin typeface="Arial" panose="020B0604020202020204" pitchFamily="34" charset="0"/>
            </a:endParaRPr>
          </a:p>
          <a:p>
            <a:pPr marL="342900" indent="-342900">
              <a:buFont typeface="+mj-ea"/>
              <a:buAutoNum type="circleNumDbPlain" startAt="10"/>
            </a:pPr>
            <a:r>
              <a:rPr lang="zh-CN" altLang="en-US" dirty="0">
                <a:latin typeface="Arial" panose="020B0604020202020204" pitchFamily="34" charset="0"/>
              </a:rPr>
              <a:t>电源开关</a:t>
            </a:r>
            <a:endParaRPr lang="zh-CN" altLang="en-US" dirty="0">
              <a:latin typeface="Arial" panose="020B0604020202020204" pitchFamily="34" charset="0"/>
            </a:endParaRPr>
          </a:p>
          <a:p>
            <a:pPr marL="342900" indent="-342900">
              <a:buFont typeface="+mj-ea"/>
              <a:buAutoNum type="circleNumDbPlain" startAt="10"/>
            </a:pPr>
            <a:r>
              <a:rPr lang="zh-CN" altLang="en-US" b="1" dirty="0">
                <a:solidFill>
                  <a:srgbClr val="FF0000"/>
                </a:solidFill>
                <a:latin typeface="Arial" panose="020B0604020202020204" pitchFamily="34" charset="0"/>
              </a:rPr>
              <a:t>通道</a:t>
            </a:r>
            <a:r>
              <a:rPr lang="en-US" altLang="zh-CN" b="1" dirty="0">
                <a:solidFill>
                  <a:srgbClr val="FF0000"/>
                </a:solidFill>
                <a:latin typeface="Times New Roman" panose="02020603050405020304" pitchFamily="18" charset="0"/>
                <a:cs typeface="Times New Roman" panose="02020603050405020304" pitchFamily="18" charset="0"/>
              </a:rPr>
              <a:t>1</a:t>
            </a:r>
            <a:r>
              <a:rPr lang="zh-CN" altLang="en-US" dirty="0">
                <a:latin typeface="Arial" panose="020B0604020202020204" pitchFamily="34" charset="0"/>
              </a:rPr>
              <a:t>输出端</a:t>
            </a:r>
            <a:r>
              <a:rPr lang="en-US" altLang="zh-CN" dirty="0">
                <a:latin typeface="Arial" panose="020B0604020202020204" pitchFamily="34" charset="0"/>
              </a:rPr>
              <a:t>CH1</a:t>
            </a:r>
            <a:endParaRPr lang="zh-CN" altLang="en-US" dirty="0">
              <a:latin typeface="Arial" panose="020B0604020202020204" pitchFamily="34" charset="0"/>
            </a:endParaRPr>
          </a:p>
          <a:p>
            <a:pPr marL="342900" indent="-342900">
              <a:buFont typeface="+mj-ea"/>
              <a:buAutoNum type="circleNumDbPlain" startAt="10"/>
            </a:pPr>
            <a:r>
              <a:rPr lang="zh-CN" altLang="en-US" dirty="0">
                <a:latin typeface="Arial" panose="020B0604020202020204" pitchFamily="34" charset="0"/>
              </a:rPr>
              <a:t>公共接地端</a:t>
            </a:r>
            <a:endParaRPr lang="zh-CN" altLang="en-US" dirty="0">
              <a:latin typeface="Arial" panose="020B0604020202020204" pitchFamily="34" charset="0"/>
            </a:endParaRPr>
          </a:p>
          <a:p>
            <a:pPr marL="342900" indent="-342900">
              <a:buFont typeface="+mj-ea"/>
              <a:buAutoNum type="circleNumDbPlain" startAt="10"/>
            </a:pPr>
            <a:r>
              <a:rPr lang="zh-CN" altLang="en-US" b="1" dirty="0">
                <a:solidFill>
                  <a:srgbClr val="FF0000"/>
                </a:solidFill>
                <a:latin typeface="Arial" panose="020B0604020202020204" pitchFamily="34" charset="0"/>
              </a:rPr>
              <a:t>通道</a:t>
            </a:r>
            <a:r>
              <a:rPr lang="en-US" altLang="zh-CN" b="1" dirty="0">
                <a:solidFill>
                  <a:srgbClr val="FF0000"/>
                </a:solidFill>
                <a:latin typeface="Arial" panose="020B0604020202020204" pitchFamily="34" charset="0"/>
              </a:rPr>
              <a:t>2</a:t>
            </a:r>
            <a:r>
              <a:rPr lang="zh-CN" altLang="en-US" dirty="0">
                <a:latin typeface="Arial" panose="020B0604020202020204" pitchFamily="34" charset="0"/>
              </a:rPr>
              <a:t>输出端</a:t>
            </a:r>
            <a:r>
              <a:rPr lang="en-US" altLang="zh-CN" dirty="0">
                <a:latin typeface="Arial" panose="020B0604020202020204" pitchFamily="34" charset="0"/>
              </a:rPr>
              <a:t>CH2</a:t>
            </a:r>
            <a:endParaRPr lang="zh-CN" altLang="en-US" dirty="0">
              <a:latin typeface="Arial" panose="020B0604020202020204" pitchFamily="34" charset="0"/>
            </a:endParaRPr>
          </a:p>
          <a:p>
            <a:pPr marL="342900" indent="-342900">
              <a:buFont typeface="+mj-ea"/>
              <a:buAutoNum type="circleNumDbPlain" startAt="10"/>
            </a:pPr>
            <a:r>
              <a:rPr lang="en-US" altLang="zh-CN" dirty="0">
                <a:latin typeface="Times New Roman" panose="02020603050405020304" pitchFamily="18" charset="0"/>
                <a:cs typeface="Times New Roman" panose="02020603050405020304" pitchFamily="18" charset="0"/>
              </a:rPr>
              <a:t>CV/CC</a:t>
            </a:r>
            <a:r>
              <a:rPr lang="en-US" altLang="zh-CN" dirty="0">
                <a:latin typeface="Arial" panose="020B0604020202020204" pitchFamily="34" charset="0"/>
              </a:rPr>
              <a:t> </a:t>
            </a:r>
            <a:r>
              <a:rPr lang="zh-CN" altLang="en-US" dirty="0">
                <a:latin typeface="Arial" panose="020B0604020202020204" pitchFamily="34" charset="0"/>
              </a:rPr>
              <a:t>指示灯</a:t>
            </a:r>
            <a:endParaRPr lang="zh-CN" altLang="en-US" dirty="0">
              <a:latin typeface="Arial" panose="020B0604020202020204" pitchFamily="34" charset="0"/>
            </a:endParaRPr>
          </a:p>
          <a:p>
            <a:pPr marL="342900" indent="-342900">
              <a:buFont typeface="+mj-ea"/>
              <a:buAutoNum type="circleNumDbPlain" startAt="10"/>
            </a:pPr>
            <a:r>
              <a:rPr lang="zh-CN" altLang="en-US" b="1" dirty="0">
                <a:solidFill>
                  <a:srgbClr val="FF0000"/>
                </a:solidFill>
                <a:latin typeface="Arial" panose="020B0604020202020204" pitchFamily="34" charset="0"/>
              </a:rPr>
              <a:t>通道</a:t>
            </a:r>
            <a:r>
              <a:rPr lang="en-US" altLang="zh-CN" b="1" dirty="0">
                <a:solidFill>
                  <a:srgbClr val="FF0000"/>
                </a:solidFill>
                <a:latin typeface="Arial" panose="020B0604020202020204" pitchFamily="34" charset="0"/>
              </a:rPr>
              <a:t>3</a:t>
            </a:r>
            <a:r>
              <a:rPr lang="zh-CN" altLang="en-US" dirty="0">
                <a:latin typeface="Arial" panose="020B0604020202020204" pitchFamily="34" charset="0"/>
              </a:rPr>
              <a:t>输出端</a:t>
            </a:r>
            <a:r>
              <a:rPr lang="en-US" altLang="zh-CN" dirty="0">
                <a:latin typeface="Arial" panose="020B0604020202020204" pitchFamily="34" charset="0"/>
              </a:rPr>
              <a:t>CH3</a:t>
            </a:r>
            <a:endParaRPr lang="en-US" altLang="zh-CN" dirty="0">
              <a:latin typeface="Arial" panose="020B0604020202020204" pitchFamily="34" charset="0"/>
            </a:endParaRPr>
          </a:p>
        </p:txBody>
      </p:sp>
      <p:sp>
        <p:nvSpPr>
          <p:cNvPr id="28681" name="TextBox 12"/>
          <p:cNvSpPr txBox="1"/>
          <p:nvPr/>
        </p:nvSpPr>
        <p:spPr>
          <a:xfrm>
            <a:off x="252095" y="3644265"/>
            <a:ext cx="3543300" cy="1198880"/>
          </a:xfrm>
          <a:prstGeom prst="rect">
            <a:avLst/>
          </a:prstGeom>
          <a:noFill/>
          <a:ln w="9525">
            <a:noFill/>
          </a:ln>
        </p:spPr>
        <p:txBody>
          <a:bodyPr wrap="square">
            <a:spAutoFit/>
          </a:bodyPr>
          <a:p>
            <a:pPr marL="285750" indent="-285750">
              <a:buFont typeface="Wingdings" panose="05000000000000000000" charset="0"/>
              <a:buChar char="l"/>
            </a:pPr>
            <a:r>
              <a:rPr lang="en-US" altLang="zh-CN" dirty="0">
                <a:solidFill>
                  <a:srgbClr val="FF0000"/>
                </a:solidFill>
                <a:latin typeface="Times New Roman" panose="02020603050405020304" pitchFamily="18" charset="0"/>
                <a:cs typeface="Times New Roman" panose="02020603050405020304" pitchFamily="18" charset="0"/>
              </a:rPr>
              <a:t>Wavedisp</a:t>
            </a:r>
            <a:endParaRPr lang="zh-CN" altLang="en-US" dirty="0">
              <a:solidFill>
                <a:srgbClr val="FF0000"/>
              </a:solidFill>
              <a:latin typeface="Times New Roman" panose="02020603050405020304" pitchFamily="18" charset="0"/>
              <a:cs typeface="Times New Roman" panose="02020603050405020304" pitchFamily="18" charset="0"/>
            </a:endParaRPr>
          </a:p>
          <a:p>
            <a:r>
              <a:rPr lang="en-US" altLang="zh-CN" dirty="0">
                <a:latin typeface="Arial" panose="020B0604020202020204" pitchFamily="34" charset="0"/>
              </a:rPr>
              <a:t>    </a:t>
            </a:r>
            <a:r>
              <a:rPr lang="zh-CN" altLang="en-US" dirty="0">
                <a:latin typeface="楷体" panose="02010609060101010101" charset="-122"/>
                <a:ea typeface="楷体" panose="02010609060101010101" charset="-122"/>
                <a:cs typeface="楷体" panose="02010609060101010101" charset="-122"/>
              </a:rPr>
              <a:t>打开</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关闭波形显示界面</a:t>
            </a:r>
            <a:endParaRPr lang="zh-CN" altLang="en-US" dirty="0">
              <a:latin typeface="Arial" panose="020B0604020202020204" pitchFamily="34" charset="0"/>
            </a:endParaRPr>
          </a:p>
          <a:p>
            <a:pPr marL="285750" indent="-285750">
              <a:buFont typeface="Wingdings" panose="05000000000000000000" charset="0"/>
              <a:buChar char="l"/>
            </a:pPr>
            <a:r>
              <a:rPr lang="en-US" altLang="zh-CN" b="1" dirty="0">
                <a:solidFill>
                  <a:srgbClr val="FF0000"/>
                </a:solidFill>
                <a:latin typeface="Times New Roman" panose="02020603050405020304" pitchFamily="18" charset="0"/>
                <a:cs typeface="Times New Roman" panose="02020603050405020304" pitchFamily="18" charset="0"/>
              </a:rPr>
              <a:t>Ser:</a:t>
            </a:r>
            <a:r>
              <a:rPr lang="en-US" altLang="zh-CN" dirty="0">
                <a:latin typeface="Times New Roman" panose="02020603050405020304" pitchFamily="18" charset="0"/>
                <a:cs typeface="Times New Roman" panose="02020603050405020304" pitchFamily="18" charset="0"/>
              </a:rPr>
              <a:t>CH1/CH2</a:t>
            </a:r>
            <a:r>
              <a:rPr lang="zh-CN" altLang="en-US" dirty="0">
                <a:solidFill>
                  <a:srgbClr val="FF0000"/>
                </a:solidFill>
                <a:latin typeface="Arial" panose="020B0604020202020204" pitchFamily="34" charset="0"/>
              </a:rPr>
              <a:t>串联</a:t>
            </a:r>
            <a:r>
              <a:rPr lang="zh-CN" altLang="en-US" dirty="0">
                <a:latin typeface="Arial" panose="020B0604020202020204" pitchFamily="34" charset="0"/>
              </a:rPr>
              <a:t>模式</a:t>
            </a:r>
            <a:endParaRPr lang="zh-CN" altLang="en-US" dirty="0">
              <a:latin typeface="Arial" panose="020B0604020202020204" pitchFamily="34" charset="0"/>
            </a:endParaRPr>
          </a:p>
          <a:p>
            <a:pPr marL="285750" indent="-285750">
              <a:buFont typeface="Wingdings" panose="05000000000000000000" charset="0"/>
              <a:buChar char="l"/>
            </a:pPr>
            <a:r>
              <a:rPr lang="en-US" altLang="zh-CN" b="1" dirty="0">
                <a:solidFill>
                  <a:srgbClr val="FF0000"/>
                </a:solidFill>
                <a:latin typeface="Times New Roman" panose="02020603050405020304" pitchFamily="18" charset="0"/>
                <a:cs typeface="Times New Roman" panose="02020603050405020304" pitchFamily="18" charset="0"/>
              </a:rPr>
              <a:t>Para</a:t>
            </a:r>
            <a:r>
              <a:rPr lang="en-US" altLang="zh-CN" dirty="0">
                <a:solidFill>
                  <a:srgbClr val="FF0000"/>
                </a:solidFill>
                <a:latin typeface="Arial" panose="020B0604020202020204" pitchFamily="34" charset="0"/>
              </a:rPr>
              <a:t>:</a:t>
            </a:r>
            <a:r>
              <a:rPr lang="en-US" altLang="zh-CN" dirty="0">
                <a:latin typeface="Times New Roman" panose="02020603050405020304" pitchFamily="18" charset="0"/>
                <a:cs typeface="Times New Roman" panose="02020603050405020304" pitchFamily="18" charset="0"/>
              </a:rPr>
              <a:t>CH1/CH2</a:t>
            </a:r>
            <a:r>
              <a:rPr lang="zh-CN" altLang="en-US" dirty="0">
                <a:solidFill>
                  <a:srgbClr val="FF0000"/>
                </a:solidFill>
                <a:latin typeface="Arial" panose="020B0604020202020204" pitchFamily="34" charset="0"/>
              </a:rPr>
              <a:t>并联</a:t>
            </a:r>
            <a:r>
              <a:rPr lang="zh-CN" altLang="en-US" dirty="0">
                <a:latin typeface="Arial" panose="020B0604020202020204" pitchFamily="34" charset="0"/>
              </a:rPr>
              <a:t>模式</a:t>
            </a:r>
            <a:endParaRPr lang="zh-CN" altLang="en-US" dirty="0">
              <a:latin typeface="Arial" panose="020B0604020202020204" pitchFamily="34" charset="0"/>
            </a:endParaRPr>
          </a:p>
        </p:txBody>
      </p:sp>
      <p:sp>
        <p:nvSpPr>
          <p:cNvPr id="25" name="object 6"/>
          <p:cNvSpPr/>
          <p:nvPr/>
        </p:nvSpPr>
        <p:spPr>
          <a:xfrm>
            <a:off x="2004060" y="5353049"/>
            <a:ext cx="560705" cy="313690"/>
          </a:xfrm>
          <a:prstGeom prst="rect">
            <a:avLst/>
          </a:prstGeom>
          <a:blipFill>
            <a:blip r:embed="rId2" cstate="print"/>
            <a:stretch>
              <a:fillRect/>
            </a:stretch>
          </a:blipFill>
        </p:spPr>
        <p:txBody>
          <a:bodyPr wrap="square" lIns="0" tIns="0" rIns="0" bIns="0" rtlCol="0"/>
          <a:p/>
        </p:txBody>
      </p:sp>
      <p:graphicFrame>
        <p:nvGraphicFramePr>
          <p:cNvPr id="26" name="object 7"/>
          <p:cNvGraphicFramePr>
            <a:graphicFrameLocks noGrp="1"/>
          </p:cNvGraphicFramePr>
          <p:nvPr>
            <p:custDataLst>
              <p:tags r:id="rId3"/>
            </p:custDataLst>
          </p:nvPr>
        </p:nvGraphicFramePr>
        <p:xfrm>
          <a:off x="1877060" y="5285105"/>
          <a:ext cx="4189730" cy="1361440"/>
        </p:xfrm>
        <a:graphic>
          <a:graphicData uri="http://schemas.openxmlformats.org/drawingml/2006/table">
            <a:tbl>
              <a:tblPr firstRow="1" bandRow="1">
                <a:tableStyleId>{2D5ABB26-0587-4C30-8999-92F81FD0307C}</a:tableStyleId>
              </a:tblPr>
              <a:tblGrid>
                <a:gridCol w="1127760"/>
                <a:gridCol w="3061970"/>
              </a:tblGrid>
              <a:tr h="641985">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marL="52070">
                        <a:lnSpc>
                          <a:spcPct val="100000"/>
                        </a:lnSpc>
                        <a:spcBef>
                          <a:spcPts val="480"/>
                        </a:spcBef>
                      </a:pPr>
                      <a:r>
                        <a:rPr sz="1800" b="1" dirty="0">
                          <a:solidFill>
                            <a:srgbClr val="FF0000"/>
                          </a:solidFill>
                          <a:latin typeface="楷体" panose="02010609060101010101" charset="-122"/>
                          <a:ea typeface="楷体" panose="02010609060101010101" charset="-122"/>
                          <a:cs typeface="宋体" panose="02010600030101010101" pitchFamily="2" charset="-122"/>
                        </a:rPr>
                        <a:t>移动光标，选择数值的数位</a:t>
                      </a:r>
                      <a:endParaRPr sz="1800" b="1" dirty="0">
                        <a:solidFill>
                          <a:srgbClr val="FF0000"/>
                        </a:solidFill>
                        <a:latin typeface="楷体" panose="02010609060101010101" charset="-122"/>
                        <a:ea typeface="楷体" panose="02010609060101010101" charset="-122"/>
                        <a:cs typeface="宋体" panose="02010600030101010101" pitchFamily="2" charset="-122"/>
                      </a:endParaRPr>
                    </a:p>
                  </a:txBody>
                  <a:tcPr marL="0" marR="0" marT="60960" marB="0"/>
                </a:tc>
              </a:tr>
              <a:tr h="719455">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55"/>
                        </a:spcBef>
                      </a:pPr>
                      <a:endParaRPr sz="1200">
                        <a:latin typeface="宋体" panose="02010600030101010101" pitchFamily="2" charset="-122"/>
                        <a:cs typeface="宋体" panose="02010600030101010101" pitchFamily="2" charset="-122"/>
                      </a:endParaRPr>
                    </a:p>
                  </a:txBody>
                  <a:tcPr marL="0" marR="0" marT="6985" marB="0"/>
                </a:tc>
              </a:tr>
            </a:tbl>
          </a:graphicData>
        </a:graphic>
      </p:graphicFrame>
      <p:sp>
        <p:nvSpPr>
          <p:cNvPr id="27" name="object 10"/>
          <p:cNvSpPr/>
          <p:nvPr/>
        </p:nvSpPr>
        <p:spPr>
          <a:xfrm>
            <a:off x="2004060" y="5782944"/>
            <a:ext cx="561975" cy="786129"/>
          </a:xfrm>
          <a:prstGeom prst="rect">
            <a:avLst/>
          </a:prstGeom>
          <a:blipFill>
            <a:blip r:embed="rId4" cstate="print"/>
            <a:stretch>
              <a:fillRect/>
            </a:stretch>
          </a:blipFill>
        </p:spPr>
        <p:txBody>
          <a:bodyPr wrap="square" lIns="0" tIns="0" rIns="0" bIns="0" rtlCol="0"/>
          <a:p/>
        </p:txBody>
      </p:sp>
      <p:sp>
        <p:nvSpPr>
          <p:cNvPr id="2" name="TextBox 1"/>
          <p:cNvSpPr txBox="1"/>
          <p:nvPr/>
        </p:nvSpPr>
        <p:spPr>
          <a:xfrm>
            <a:off x="179705" y="3356610"/>
            <a:ext cx="2592388" cy="368300"/>
          </a:xfrm>
          <a:prstGeom prst="rect">
            <a:avLst/>
          </a:prstGeom>
          <a:noFill/>
          <a:ln w="9525">
            <a:noFill/>
          </a:ln>
        </p:spPr>
        <p:txBody>
          <a:bodyPr>
            <a:spAutoFit/>
          </a:bodyPr>
          <a:p>
            <a:r>
              <a:rPr lang="zh-CN" altLang="en-US" b="1" dirty="0">
                <a:solidFill>
                  <a:srgbClr val="FF0000"/>
                </a:solidFill>
                <a:latin typeface="Arial" panose="020B0604020202020204" pitchFamily="34" charset="0"/>
              </a:rPr>
              <a:t>④系统参数配置按键</a:t>
            </a:r>
            <a:endParaRPr lang="zh-CN" altLang="en-US" b="1" dirty="0">
              <a:solidFill>
                <a:srgbClr val="FF0000"/>
              </a:solidFill>
              <a:latin typeface="Arial" panose="020B0604020202020204" pitchFamily="34" charset="0"/>
            </a:endParaRPr>
          </a:p>
        </p:txBody>
      </p:sp>
      <p:sp>
        <p:nvSpPr>
          <p:cNvPr id="3" name="TextBox 1"/>
          <p:cNvSpPr txBox="1"/>
          <p:nvPr/>
        </p:nvSpPr>
        <p:spPr>
          <a:xfrm>
            <a:off x="108585" y="4798060"/>
            <a:ext cx="2592388" cy="1252855"/>
          </a:xfrm>
          <a:prstGeom prst="rect">
            <a:avLst/>
          </a:prstGeom>
          <a:noFill/>
          <a:ln w="9525">
            <a:noFill/>
          </a:ln>
        </p:spPr>
        <p:txBody>
          <a:bodyPr>
            <a:spAutoFit/>
          </a:bodyPr>
          <a:p>
            <a:pPr>
              <a:lnSpc>
                <a:spcPct val="140000"/>
              </a:lnSpc>
            </a:pPr>
            <a:r>
              <a:rPr lang="zh-CN" altLang="en-US" dirty="0">
                <a:latin typeface="Arial" panose="020B0604020202020204" pitchFamily="34" charset="0"/>
              </a:rPr>
              <a:t>⑤多功能旋钮</a:t>
            </a:r>
            <a:endParaRPr lang="zh-CN" altLang="en-US" dirty="0">
              <a:latin typeface="Arial" panose="020B0604020202020204" pitchFamily="34" charset="0"/>
            </a:endParaRPr>
          </a:p>
          <a:p>
            <a:pPr>
              <a:lnSpc>
                <a:spcPct val="140000"/>
              </a:lnSpc>
            </a:pPr>
            <a:r>
              <a:rPr lang="zh-CN" altLang="en-US" dirty="0">
                <a:latin typeface="Arial" panose="020B0604020202020204" pitchFamily="34" charset="0"/>
              </a:rPr>
              <a:t>⑥细调功能按键</a:t>
            </a:r>
            <a:endParaRPr lang="zh-CN" altLang="en-US" dirty="0">
              <a:latin typeface="Arial" panose="020B0604020202020204" pitchFamily="34" charset="0"/>
            </a:endParaRPr>
          </a:p>
          <a:p>
            <a:pPr>
              <a:lnSpc>
                <a:spcPct val="140000"/>
              </a:lnSpc>
            </a:pPr>
            <a:r>
              <a:rPr lang="zh-CN" altLang="en-US" dirty="0">
                <a:latin typeface="Arial" panose="020B0604020202020204" pitchFamily="34" charset="0"/>
              </a:rPr>
              <a:t>⑦左右方向按键</a:t>
            </a:r>
            <a:endParaRPr lang="zh-CN" altLang="en-US" dirty="0">
              <a:latin typeface="Arial" panose="020B0604020202020204" pitchFamily="34" charset="0"/>
            </a:endParaRPr>
          </a:p>
        </p:txBody>
      </p:sp>
      <p:sp>
        <p:nvSpPr>
          <p:cNvPr id="4" name="文本框 3"/>
          <p:cNvSpPr txBox="1"/>
          <p:nvPr/>
        </p:nvSpPr>
        <p:spPr>
          <a:xfrm>
            <a:off x="2952750" y="5828030"/>
            <a:ext cx="2533650" cy="368300"/>
          </a:xfrm>
          <a:prstGeom prst="rect">
            <a:avLst/>
          </a:prstGeom>
          <a:noFill/>
        </p:spPr>
        <p:txBody>
          <a:bodyPr wrap="none" rtlCol="0" anchor="t">
            <a:spAutoFit/>
          </a:bodyPr>
          <a:p>
            <a:pPr marL="52070">
              <a:lnSpc>
                <a:spcPct val="100000"/>
              </a:lnSpc>
            </a:pPr>
            <a:r>
              <a:rPr b="1" dirty="0">
                <a:solidFill>
                  <a:srgbClr val="FF0000"/>
                </a:solidFill>
                <a:latin typeface="楷体" panose="02010609060101010101" charset="-122"/>
                <a:ea typeface="楷体" panose="02010609060101010101" charset="-122"/>
                <a:cs typeface="宋体" panose="02010600030101010101" pitchFamily="2" charset="-122"/>
                <a:sym typeface="+mn-ea"/>
              </a:rPr>
              <a:t>左右方向键，移动光标</a:t>
            </a:r>
            <a:endParaRPr lang="zh-CN" altLang="en-US" b="1" dirty="0">
              <a:solidFill>
                <a:srgbClr val="FF0000"/>
              </a:solidFill>
              <a:latin typeface="楷体" panose="02010609060101010101" charset="-122"/>
              <a:ea typeface="楷体" panose="02010609060101010101" charset="-122"/>
              <a:cs typeface="宋体" panose="02010600030101010101" pitchFamily="2" charset="-122"/>
              <a:sym typeface="+mn-ea"/>
            </a:endParaRPr>
          </a:p>
        </p:txBody>
      </p:sp>
      <p:sp>
        <p:nvSpPr>
          <p:cNvPr id="65538" name="Rectangle 2"/>
          <p:cNvSpPr>
            <a:spLocks noGrp="1" noChangeArrowheads="1"/>
          </p:cNvSpPr>
          <p:nvPr>
            <p:ph type="title" idx="4294967295"/>
          </p:nvPr>
        </p:nvSpPr>
        <p:spPr>
          <a:xfrm>
            <a:off x="430530" y="-27305"/>
            <a:ext cx="7340600" cy="777875"/>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i="0" u="none" strike="noStrike" kern="0" cap="none" spc="0" normalizeH="0" baseline="0" noProof="0" dirty="0" smtClean="0">
                <a:ln>
                  <a:noFill/>
                </a:ln>
                <a:solidFill>
                  <a:srgbClr val="FF0000"/>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j-cs"/>
              </a:rPr>
              <a:t>稳压电源</a:t>
            </a:r>
            <a:r>
              <a:rPr kumimoji="0" lang="en-US" altLang="zh-CN" sz="3200" i="0" u="none" strike="noStrike" kern="0" cap="none" spc="0" normalizeH="0" baseline="0" noProof="0" dirty="0" smtClean="0">
                <a:ln>
                  <a:noFill/>
                </a:ln>
                <a:solidFill>
                  <a:srgbClr val="FF0000"/>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j-cs"/>
              </a:rPr>
              <a:t>-</a:t>
            </a:r>
            <a:r>
              <a:rPr kumimoji="0" lang="zh-CN" altLang="en-US" sz="3200" i="0" u="none" strike="noStrike" kern="0" cap="none" spc="0" normalizeH="0" baseline="0" noProof="0" dirty="0" smtClean="0">
                <a:ln>
                  <a:noFill/>
                </a:ln>
                <a:solidFill>
                  <a:srgbClr val="0000FF"/>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j-cs"/>
              </a:rPr>
              <a:t>双路连续可调一路</a:t>
            </a:r>
            <a:r>
              <a:rPr kumimoji="0" lang="zh-CN" altLang="en-US" sz="3200" i="0" u="none" strike="noStrike" kern="0" cap="none" spc="0" normalizeH="0" baseline="0" noProof="0" dirty="0" smtClean="0">
                <a:ln>
                  <a:noFill/>
                </a:ln>
                <a:solidFill>
                  <a:srgbClr val="0000FF"/>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j-cs"/>
              </a:rPr>
              <a:t>额定</a:t>
            </a:r>
            <a:r>
              <a:rPr kumimoji="0" lang="zh-CN" altLang="en-US" sz="3200" i="0" u="none" strike="noStrike" kern="0" cap="none" spc="0" normalizeH="0" baseline="0" noProof="0" dirty="0" smtClean="0">
                <a:ln>
                  <a:noFill/>
                </a:ln>
                <a:solidFill>
                  <a:srgbClr val="0000FF"/>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j-cs"/>
              </a:rPr>
              <a:t>可调</a:t>
            </a:r>
            <a:endParaRPr kumimoji="0" lang="zh-CN" altLang="en-US" sz="3200" i="0" u="none" strike="noStrike" kern="0" cap="none" spc="0" normalizeH="0" baseline="0" noProof="0" dirty="0" smtClean="0">
              <a:ln>
                <a:noFill/>
              </a:ln>
              <a:solidFill>
                <a:srgbClr val="0000FF"/>
              </a:solidFill>
              <a:effectLst>
                <a:outerShdw blurRad="38100" dist="38100" dir="2700000" algn="tl">
                  <a:srgbClr val="FFFFFF"/>
                </a:outerShdw>
              </a:effectLst>
              <a:uLnTx/>
              <a:uFillTx/>
              <a:latin typeface="宋体" panose="02010600030101010101" pitchFamily="2" charset="-122"/>
              <a:ea typeface="宋体" panose="02010600030101010101" pitchFamily="2" charset="-122"/>
              <a:cs typeface="+mj-c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80">
                                            <p:txEl>
                                              <p:pRg st="0" end="0"/>
                                            </p:txEl>
                                          </p:spTgt>
                                        </p:tgtEl>
                                        <p:attrNameLst>
                                          <p:attrName>style.visibility</p:attrName>
                                        </p:attrNameLst>
                                      </p:cBhvr>
                                      <p:to>
                                        <p:strVal val="visible"/>
                                      </p:to>
                                    </p:set>
                                    <p:anim calcmode="lin" valueType="num">
                                      <p:cBhvr additive="base">
                                        <p:cTn id="7" dur="500" fill="hold"/>
                                        <p:tgtEl>
                                          <p:spTgt spid="286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80">
                                            <p:txEl>
                                              <p:pRg st="1" end="1"/>
                                            </p:txEl>
                                          </p:spTgt>
                                        </p:tgtEl>
                                        <p:attrNameLst>
                                          <p:attrName>style.visibility</p:attrName>
                                        </p:attrNameLst>
                                      </p:cBhvr>
                                      <p:to>
                                        <p:strVal val="visible"/>
                                      </p:to>
                                    </p:set>
                                    <p:anim calcmode="lin" valueType="num">
                                      <p:cBhvr additive="base">
                                        <p:cTn id="13" dur="500" fill="hold"/>
                                        <p:tgtEl>
                                          <p:spTgt spid="286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680">
                                            <p:txEl>
                                              <p:pRg st="2" end="2"/>
                                            </p:txEl>
                                          </p:spTgt>
                                        </p:tgtEl>
                                        <p:attrNameLst>
                                          <p:attrName>style.visibility</p:attrName>
                                        </p:attrNameLst>
                                      </p:cBhvr>
                                      <p:to>
                                        <p:strVal val="visible"/>
                                      </p:to>
                                    </p:set>
                                    <p:anim calcmode="lin" valueType="num">
                                      <p:cBhvr additive="base">
                                        <p:cTn id="19" dur="500" fill="hold"/>
                                        <p:tgtEl>
                                          <p:spTgt spid="286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680">
                                            <p:txEl>
                                              <p:pRg st="3" end="3"/>
                                            </p:txEl>
                                          </p:spTgt>
                                        </p:tgtEl>
                                        <p:attrNameLst>
                                          <p:attrName>style.visibility</p:attrName>
                                        </p:attrNameLst>
                                      </p:cBhvr>
                                      <p:to>
                                        <p:strVal val="visible"/>
                                      </p:to>
                                    </p:set>
                                    <p:anim calcmode="lin" valueType="num">
                                      <p:cBhvr additive="base">
                                        <p:cTn id="25" dur="500" fill="hold"/>
                                        <p:tgtEl>
                                          <p:spTgt spid="2868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8680">
                                            <p:txEl>
                                              <p:pRg st="4" end="4"/>
                                            </p:txEl>
                                          </p:spTgt>
                                        </p:tgtEl>
                                        <p:attrNameLst>
                                          <p:attrName>style.visibility</p:attrName>
                                        </p:attrNameLst>
                                      </p:cBhvr>
                                      <p:to>
                                        <p:strVal val="visible"/>
                                      </p:to>
                                    </p:set>
                                    <p:anim calcmode="lin" valueType="num">
                                      <p:cBhvr additive="base">
                                        <p:cTn id="31" dur="500" fill="hold"/>
                                        <p:tgtEl>
                                          <p:spTgt spid="2868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8680">
                                            <p:txEl>
                                              <p:pRg st="5" end="5"/>
                                            </p:txEl>
                                          </p:spTgt>
                                        </p:tgtEl>
                                        <p:attrNameLst>
                                          <p:attrName>style.visibility</p:attrName>
                                        </p:attrNameLst>
                                      </p:cBhvr>
                                      <p:to>
                                        <p:strVal val="visible"/>
                                      </p:to>
                                    </p:set>
                                    <p:anim calcmode="lin" valueType="num">
                                      <p:cBhvr additive="base">
                                        <p:cTn id="37" dur="500" fill="hold"/>
                                        <p:tgtEl>
                                          <p:spTgt spid="2868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680">
                                            <p:txEl>
                                              <p:pRg st="6" end="6"/>
                                            </p:txEl>
                                          </p:spTgt>
                                        </p:tgtEl>
                                        <p:attrNameLst>
                                          <p:attrName>style.visibility</p:attrName>
                                        </p:attrNameLst>
                                      </p:cBhvr>
                                      <p:to>
                                        <p:strVal val="visible"/>
                                      </p:to>
                                    </p:set>
                                    <p:anim calcmode="lin" valueType="num">
                                      <p:cBhvr additive="base">
                                        <p:cTn id="43" dur="500" fill="hold"/>
                                        <p:tgtEl>
                                          <p:spTgt spid="2868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68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8680">
                                            <p:txEl>
                                              <p:pRg st="7" end="7"/>
                                            </p:txEl>
                                          </p:spTgt>
                                        </p:tgtEl>
                                        <p:attrNameLst>
                                          <p:attrName>style.visibility</p:attrName>
                                        </p:attrNameLst>
                                      </p:cBhvr>
                                      <p:to>
                                        <p:strVal val="visible"/>
                                      </p:to>
                                    </p:set>
                                    <p:anim calcmode="lin" valueType="num">
                                      <p:cBhvr additive="base">
                                        <p:cTn id="49" dur="500" fill="hold"/>
                                        <p:tgtEl>
                                          <p:spTgt spid="2868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868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8680">
                                            <p:txEl>
                                              <p:pRg st="8" end="8"/>
                                            </p:txEl>
                                          </p:spTgt>
                                        </p:tgtEl>
                                        <p:attrNameLst>
                                          <p:attrName>style.visibility</p:attrName>
                                        </p:attrNameLst>
                                      </p:cBhvr>
                                      <p:to>
                                        <p:strVal val="visible"/>
                                      </p:to>
                                    </p:set>
                                    <p:anim calcmode="lin" valueType="num">
                                      <p:cBhvr additive="base">
                                        <p:cTn id="55" dur="500" fill="hold"/>
                                        <p:tgtEl>
                                          <p:spTgt spid="28680">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868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additive="base">
                                        <p:cTn id="61" dur="500" fill="hold"/>
                                        <p:tgtEl>
                                          <p:spTgt spid="2"/>
                                        </p:tgtEl>
                                        <p:attrNameLst>
                                          <p:attrName>ppt_x</p:attrName>
                                        </p:attrNameLst>
                                      </p:cBhvr>
                                      <p:tavLst>
                                        <p:tav tm="0">
                                          <p:val>
                                            <p:strVal val="#ppt_x"/>
                                          </p:val>
                                        </p:tav>
                                        <p:tav tm="100000">
                                          <p:val>
                                            <p:strVal val="#ppt_x"/>
                                          </p:val>
                                        </p:tav>
                                      </p:tavLst>
                                    </p:anim>
                                    <p:anim calcmode="lin" valueType="num">
                                      <p:cBhvr additive="base">
                                        <p:cTn id="6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8681">
                                            <p:txEl>
                                              <p:pRg st="0" end="0"/>
                                            </p:txEl>
                                          </p:spTgt>
                                        </p:tgtEl>
                                        <p:attrNameLst>
                                          <p:attrName>style.visibility</p:attrName>
                                        </p:attrNameLst>
                                      </p:cBhvr>
                                      <p:to>
                                        <p:strVal val="visible"/>
                                      </p:to>
                                    </p:set>
                                    <p:anim calcmode="lin" valueType="num">
                                      <p:cBhvr additive="base">
                                        <p:cTn id="67" dur="500" fill="hold"/>
                                        <p:tgtEl>
                                          <p:spTgt spid="28681">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8681">
                                            <p:txEl>
                                              <p:pRg st="0" end="0"/>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8681">
                                            <p:txEl>
                                              <p:pRg st="1" end="1"/>
                                            </p:txEl>
                                          </p:spTgt>
                                        </p:tgtEl>
                                        <p:attrNameLst>
                                          <p:attrName>style.visibility</p:attrName>
                                        </p:attrNameLst>
                                      </p:cBhvr>
                                      <p:to>
                                        <p:strVal val="visible"/>
                                      </p:to>
                                    </p:set>
                                    <p:anim calcmode="lin" valueType="num">
                                      <p:cBhvr additive="base">
                                        <p:cTn id="71" dur="500" fill="hold"/>
                                        <p:tgtEl>
                                          <p:spTgt spid="28681">
                                            <p:txEl>
                                              <p:pRg st="1" end="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2868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8681">
                                            <p:txEl>
                                              <p:pRg st="2" end="2"/>
                                            </p:txEl>
                                          </p:spTgt>
                                        </p:tgtEl>
                                        <p:attrNameLst>
                                          <p:attrName>style.visibility</p:attrName>
                                        </p:attrNameLst>
                                      </p:cBhvr>
                                      <p:to>
                                        <p:strVal val="visible"/>
                                      </p:to>
                                    </p:set>
                                    <p:anim calcmode="lin" valueType="num">
                                      <p:cBhvr additive="base">
                                        <p:cTn id="77" dur="500" fill="hold"/>
                                        <p:tgtEl>
                                          <p:spTgt spid="28681">
                                            <p:txEl>
                                              <p:pRg st="2" end="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86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28681">
                                            <p:txEl>
                                              <p:pRg st="3" end="3"/>
                                            </p:txEl>
                                          </p:spTgt>
                                        </p:tgtEl>
                                        <p:attrNameLst>
                                          <p:attrName>style.visibility</p:attrName>
                                        </p:attrNameLst>
                                      </p:cBhvr>
                                      <p:to>
                                        <p:strVal val="visible"/>
                                      </p:to>
                                    </p:set>
                                    <p:anim calcmode="lin" valueType="num">
                                      <p:cBhvr additive="base">
                                        <p:cTn id="83" dur="500" fill="hold"/>
                                        <p:tgtEl>
                                          <p:spTgt spid="28681">
                                            <p:txEl>
                                              <p:pRg st="3" end="3"/>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2868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3">
                                            <p:txEl>
                                              <p:pRg st="0" end="0"/>
                                            </p:txEl>
                                          </p:spTgt>
                                        </p:tgtEl>
                                        <p:attrNameLst>
                                          <p:attrName>style.visibility</p:attrName>
                                        </p:attrNameLst>
                                      </p:cBhvr>
                                      <p:to>
                                        <p:strVal val="visible"/>
                                      </p:to>
                                    </p:set>
                                    <p:anim calcmode="lin" valueType="num">
                                      <p:cBhvr additive="base">
                                        <p:cTn id="8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3">
                                            <p:txEl>
                                              <p:pRg st="1" end="1"/>
                                            </p:txEl>
                                          </p:spTgt>
                                        </p:tgtEl>
                                        <p:attrNameLst>
                                          <p:attrName>style.visibility</p:attrName>
                                        </p:attrNameLst>
                                      </p:cBhvr>
                                      <p:to>
                                        <p:strVal val="visible"/>
                                      </p:to>
                                    </p:set>
                                    <p:anim calcmode="lin" valueType="num">
                                      <p:cBhvr additive="base">
                                        <p:cTn id="9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2" nodeType="click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500" fill="hold"/>
                                        <p:tgtEl>
                                          <p:spTgt spid="25"/>
                                        </p:tgtEl>
                                        <p:attrNameLst>
                                          <p:attrName>ppt_x</p:attrName>
                                        </p:attrNameLst>
                                      </p:cBhvr>
                                      <p:tavLst>
                                        <p:tav tm="0">
                                          <p:val>
                                            <p:strVal val="#ppt_x"/>
                                          </p:val>
                                        </p:tav>
                                        <p:tav tm="100000">
                                          <p:val>
                                            <p:strVal val="#ppt_x"/>
                                          </p:val>
                                        </p:tav>
                                      </p:tavLst>
                                    </p:anim>
                                    <p:anim calcmode="lin" valueType="num">
                                      <p:cBhvr additive="base">
                                        <p:cTn id="10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26"/>
                                        </p:tgtEl>
                                        <p:attrNameLst>
                                          <p:attrName>style.visibility</p:attrName>
                                        </p:attrNameLst>
                                      </p:cBhvr>
                                      <p:to>
                                        <p:strVal val="visible"/>
                                      </p:to>
                                    </p:set>
                                    <p:anim calcmode="lin" valueType="num">
                                      <p:cBhvr additive="base">
                                        <p:cTn id="107" dur="500" fill="hold"/>
                                        <p:tgtEl>
                                          <p:spTgt spid="26"/>
                                        </p:tgtEl>
                                        <p:attrNameLst>
                                          <p:attrName>ppt_x</p:attrName>
                                        </p:attrNameLst>
                                      </p:cBhvr>
                                      <p:tavLst>
                                        <p:tav tm="0">
                                          <p:val>
                                            <p:strVal val="#ppt_x"/>
                                          </p:val>
                                        </p:tav>
                                        <p:tav tm="100000">
                                          <p:val>
                                            <p:strVal val="#ppt_x"/>
                                          </p:val>
                                        </p:tav>
                                      </p:tavLst>
                                    </p:anim>
                                    <p:anim calcmode="lin" valueType="num">
                                      <p:cBhvr additive="base">
                                        <p:cTn id="10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nodeType="clickEffect">
                                  <p:stCondLst>
                                    <p:cond delay="0"/>
                                  </p:stCondLst>
                                  <p:childTnLst>
                                    <p:set>
                                      <p:cBhvr>
                                        <p:cTn id="112" dur="1" fill="hold">
                                          <p:stCondLst>
                                            <p:cond delay="0"/>
                                          </p:stCondLst>
                                        </p:cTn>
                                        <p:tgtEl>
                                          <p:spTgt spid="3">
                                            <p:txEl>
                                              <p:pRg st="2" end="2"/>
                                            </p:txEl>
                                          </p:spTgt>
                                        </p:tgtEl>
                                        <p:attrNameLst>
                                          <p:attrName>style.visibility</p:attrName>
                                        </p:attrNameLst>
                                      </p:cBhvr>
                                      <p:to>
                                        <p:strVal val="visible"/>
                                      </p:to>
                                    </p:set>
                                    <p:anim calcmode="lin" valueType="num">
                                      <p:cBhvr additive="base">
                                        <p:cTn id="1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2" nodeType="clickEffect">
                                  <p:stCondLst>
                                    <p:cond delay="0"/>
                                  </p:stCondLst>
                                  <p:childTnLst>
                                    <p:set>
                                      <p:cBhvr>
                                        <p:cTn id="118" dur="1" fill="hold">
                                          <p:stCondLst>
                                            <p:cond delay="0"/>
                                          </p:stCondLst>
                                        </p:cTn>
                                        <p:tgtEl>
                                          <p:spTgt spid="27"/>
                                        </p:tgtEl>
                                        <p:attrNameLst>
                                          <p:attrName>style.visibility</p:attrName>
                                        </p:attrNameLst>
                                      </p:cBhvr>
                                      <p:to>
                                        <p:strVal val="visible"/>
                                      </p:to>
                                    </p:set>
                                    <p:anim calcmode="lin" valueType="num">
                                      <p:cBhvr additive="base">
                                        <p:cTn id="119" dur="500" fill="hold"/>
                                        <p:tgtEl>
                                          <p:spTgt spid="27"/>
                                        </p:tgtEl>
                                        <p:attrNameLst>
                                          <p:attrName>ppt_x</p:attrName>
                                        </p:attrNameLst>
                                      </p:cBhvr>
                                      <p:tavLst>
                                        <p:tav tm="0">
                                          <p:val>
                                            <p:strVal val="#ppt_x"/>
                                          </p:val>
                                        </p:tav>
                                        <p:tav tm="100000">
                                          <p:val>
                                            <p:strVal val="#ppt_x"/>
                                          </p:val>
                                        </p:tav>
                                      </p:tavLst>
                                    </p:anim>
                                    <p:anim calcmode="lin" valueType="num">
                                      <p:cBhvr additive="base">
                                        <p:cTn id="1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grpId="0" nodeType="clickEffect">
                                  <p:stCondLst>
                                    <p:cond delay="0"/>
                                  </p:stCondLst>
                                  <p:childTnLst>
                                    <p:set>
                                      <p:cBhvr>
                                        <p:cTn id="124" dur="1" fill="hold">
                                          <p:stCondLst>
                                            <p:cond delay="0"/>
                                          </p:stCondLst>
                                        </p:cTn>
                                        <p:tgtEl>
                                          <p:spTgt spid="4"/>
                                        </p:tgtEl>
                                        <p:attrNameLst>
                                          <p:attrName>style.visibility</p:attrName>
                                        </p:attrNameLst>
                                      </p:cBhvr>
                                      <p:to>
                                        <p:strVal val="visible"/>
                                      </p:to>
                                    </p:set>
                                    <p:anim calcmode="lin" valueType="num">
                                      <p:cBhvr additive="base">
                                        <p:cTn id="125" dur="500" fill="hold"/>
                                        <p:tgtEl>
                                          <p:spTgt spid="4"/>
                                        </p:tgtEl>
                                        <p:attrNameLst>
                                          <p:attrName>ppt_x</p:attrName>
                                        </p:attrNameLst>
                                      </p:cBhvr>
                                      <p:tavLst>
                                        <p:tav tm="0">
                                          <p:val>
                                            <p:strVal val="#ppt_x"/>
                                          </p:val>
                                        </p:tav>
                                        <p:tav tm="100000">
                                          <p:val>
                                            <p:strVal val="#ppt_x"/>
                                          </p:val>
                                        </p:tav>
                                      </p:tavLst>
                                    </p:anim>
                                    <p:anim calcmode="lin" valueType="num">
                                      <p:cBhvr additive="base">
                                        <p:cTn id="1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1" animBg="1"/>
      <p:bldP spid="27" grpId="1" animBg="1"/>
      <p:bldP spid="2" grpId="0"/>
      <p:bldP spid="25" grpId="2" bldLvl="0" animBg="1"/>
      <p:bldP spid="27" grpId="2" bldLvl="0" animBg="1"/>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6" name="object 6"/>
          <p:cNvSpPr txBox="1"/>
          <p:nvPr/>
        </p:nvSpPr>
        <p:spPr>
          <a:xfrm>
            <a:off x="628015" y="307975"/>
            <a:ext cx="2512060" cy="320040"/>
          </a:xfrm>
          <a:prstGeom prst="rect">
            <a:avLst/>
          </a:prstGeom>
        </p:spPr>
        <p:txBody>
          <a:bodyPr vert="horz" wrap="square" lIns="0" tIns="12700" rIns="0" bIns="0" rtlCol="0">
            <a:spAutoFit/>
          </a:bodyPr>
          <a:p>
            <a:pPr marL="12700">
              <a:lnSpc>
                <a:spcPct val="100000"/>
              </a:lnSpc>
              <a:spcBef>
                <a:spcPts val="100"/>
              </a:spcBef>
            </a:pPr>
            <a:r>
              <a:rPr sz="2000" b="1" spc="-5" dirty="0">
                <a:latin typeface="宋体" panose="02010600030101010101" pitchFamily="2" charset="-122"/>
                <a:cs typeface="宋体" panose="02010600030101010101" pitchFamily="2" charset="-122"/>
              </a:rPr>
              <a:t>系</a:t>
            </a:r>
            <a:r>
              <a:rPr sz="2000" b="1" spc="15" dirty="0">
                <a:latin typeface="宋体" panose="02010600030101010101" pitchFamily="2" charset="-122"/>
                <a:cs typeface="宋体" panose="02010600030101010101" pitchFamily="2" charset="-122"/>
              </a:rPr>
              <a:t>统</a:t>
            </a:r>
            <a:r>
              <a:rPr sz="2000" b="1" spc="-5" dirty="0">
                <a:latin typeface="宋体" panose="02010600030101010101" pitchFamily="2" charset="-122"/>
                <a:cs typeface="宋体" panose="02010600030101010101" pitchFamily="2" charset="-122"/>
              </a:rPr>
              <a:t>参数配置按键</a:t>
            </a:r>
            <a:endParaRPr sz="2000">
              <a:latin typeface="宋体" panose="02010600030101010101" pitchFamily="2" charset="-122"/>
              <a:cs typeface="宋体" panose="02010600030101010101" pitchFamily="2" charset="-122"/>
            </a:endParaRPr>
          </a:p>
        </p:txBody>
      </p:sp>
      <p:sp>
        <p:nvSpPr>
          <p:cNvPr id="7" name="object 7"/>
          <p:cNvSpPr/>
          <p:nvPr/>
        </p:nvSpPr>
        <p:spPr>
          <a:xfrm>
            <a:off x="640715" y="664209"/>
            <a:ext cx="591185" cy="362584"/>
          </a:xfrm>
          <a:prstGeom prst="rect">
            <a:avLst/>
          </a:prstGeom>
          <a:blipFill>
            <a:blip r:embed="rId1" cstate="print"/>
            <a:stretch>
              <a:fillRect/>
            </a:stretch>
          </a:blipFill>
        </p:spPr>
        <p:txBody>
          <a:bodyPr wrap="square" lIns="0" tIns="0" rIns="0" bIns="0" rtlCol="0"/>
          <a:p/>
        </p:txBody>
      </p:sp>
      <p:sp>
        <p:nvSpPr>
          <p:cNvPr id="8" name="object 8"/>
          <p:cNvSpPr/>
          <p:nvPr/>
        </p:nvSpPr>
        <p:spPr>
          <a:xfrm>
            <a:off x="640715" y="1207134"/>
            <a:ext cx="591185" cy="359409"/>
          </a:xfrm>
          <a:prstGeom prst="rect">
            <a:avLst/>
          </a:prstGeom>
          <a:blipFill>
            <a:blip r:embed="rId2" cstate="print"/>
            <a:stretch>
              <a:fillRect/>
            </a:stretch>
          </a:blipFill>
        </p:spPr>
        <p:txBody>
          <a:bodyPr wrap="square" lIns="0" tIns="0" rIns="0" bIns="0" rtlCol="0"/>
          <a:p/>
        </p:txBody>
      </p:sp>
      <p:sp>
        <p:nvSpPr>
          <p:cNvPr id="9" name="object 9"/>
          <p:cNvSpPr/>
          <p:nvPr/>
        </p:nvSpPr>
        <p:spPr>
          <a:xfrm>
            <a:off x="4665599" y="1272882"/>
            <a:ext cx="757237" cy="186982"/>
          </a:xfrm>
          <a:prstGeom prst="rect">
            <a:avLst/>
          </a:prstGeom>
          <a:blipFill>
            <a:blip r:embed="rId3" cstate="print"/>
            <a:stretch>
              <a:fillRect/>
            </a:stretch>
          </a:blipFill>
        </p:spPr>
        <p:txBody>
          <a:bodyPr wrap="square" lIns="0" tIns="0" rIns="0" bIns="0" rtlCol="0"/>
          <a:p/>
        </p:txBody>
      </p:sp>
      <p:sp>
        <p:nvSpPr>
          <p:cNvPr id="10" name="object 10"/>
          <p:cNvSpPr/>
          <p:nvPr/>
        </p:nvSpPr>
        <p:spPr>
          <a:xfrm>
            <a:off x="640715" y="1743074"/>
            <a:ext cx="591185" cy="363220"/>
          </a:xfrm>
          <a:prstGeom prst="rect">
            <a:avLst/>
          </a:prstGeom>
          <a:blipFill>
            <a:blip r:embed="rId4" cstate="print"/>
            <a:stretch>
              <a:fillRect/>
            </a:stretch>
          </a:blipFill>
        </p:spPr>
        <p:txBody>
          <a:bodyPr wrap="square" lIns="0" tIns="0" rIns="0" bIns="0" rtlCol="0"/>
          <a:p/>
        </p:txBody>
      </p:sp>
      <p:sp>
        <p:nvSpPr>
          <p:cNvPr id="11" name="object 11"/>
          <p:cNvSpPr/>
          <p:nvPr/>
        </p:nvSpPr>
        <p:spPr>
          <a:xfrm>
            <a:off x="4642485" y="1791969"/>
            <a:ext cx="780414" cy="219709"/>
          </a:xfrm>
          <a:prstGeom prst="rect">
            <a:avLst/>
          </a:prstGeom>
          <a:blipFill>
            <a:blip r:embed="rId5" cstate="print"/>
            <a:stretch>
              <a:fillRect/>
            </a:stretch>
          </a:blipFill>
        </p:spPr>
        <p:txBody>
          <a:bodyPr wrap="square" lIns="0" tIns="0" rIns="0" bIns="0" rtlCol="0"/>
          <a:p/>
        </p:txBody>
      </p:sp>
      <p:graphicFrame>
        <p:nvGraphicFramePr>
          <p:cNvPr id="13" name="object 12"/>
          <p:cNvGraphicFramePr>
            <a:graphicFrameLocks noGrp="1"/>
          </p:cNvGraphicFramePr>
          <p:nvPr>
            <p:custDataLst>
              <p:tags r:id="rId6"/>
            </p:custDataLst>
          </p:nvPr>
        </p:nvGraphicFramePr>
        <p:xfrm>
          <a:off x="513715" y="664209"/>
          <a:ext cx="5191125" cy="3063240"/>
        </p:xfrm>
        <a:graphic>
          <a:graphicData uri="http://schemas.openxmlformats.org/drawingml/2006/table">
            <a:tbl>
              <a:tblPr firstRow="1" bandRow="1">
                <a:tableStyleId>{2D5ABB26-0587-4C30-8999-92F81FD0307C}</a:tableStyleId>
              </a:tblPr>
              <a:tblGrid>
                <a:gridCol w="772160"/>
                <a:gridCol w="4418965"/>
              </a:tblGrid>
              <a:tr h="452754">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marL="53340">
                        <a:lnSpc>
                          <a:spcPct val="100000"/>
                        </a:lnSpc>
                        <a:spcBef>
                          <a:spcPts val="675"/>
                        </a:spcBef>
                      </a:pPr>
                      <a:r>
                        <a:rPr sz="1200" dirty="0">
                          <a:latin typeface="宋体" panose="02010600030101010101" pitchFamily="2" charset="-122"/>
                          <a:cs typeface="宋体" panose="02010600030101010101" pitchFamily="2" charset="-122"/>
                        </a:rPr>
                        <a:t>按该键打开</a:t>
                      </a:r>
                      <a:r>
                        <a:rPr sz="1200" dirty="0">
                          <a:latin typeface="Times New Roman" panose="02020603050405020304"/>
                          <a:cs typeface="Times New Roman" panose="02020603050405020304"/>
                        </a:rPr>
                        <a:t>/</a:t>
                      </a:r>
                      <a:r>
                        <a:rPr sz="1200" dirty="0">
                          <a:latin typeface="宋体" panose="02010600030101010101" pitchFamily="2" charset="-122"/>
                          <a:cs typeface="宋体" panose="02010600030101010101" pitchFamily="2" charset="-122"/>
                        </a:rPr>
                        <a:t>关闭波形显示界面</a:t>
                      </a:r>
                      <a:endParaRPr sz="1200">
                        <a:latin typeface="宋体" panose="02010600030101010101" pitchFamily="2" charset="-122"/>
                        <a:cs typeface="宋体" panose="02010600030101010101" pitchFamily="2" charset="-122"/>
                      </a:endParaRPr>
                    </a:p>
                  </a:txBody>
                  <a:tcPr marL="0" marR="0" marT="85725" marB="0"/>
                </a:tc>
              </a:tr>
              <a:tr h="537844">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10"/>
                        </a:spcBef>
                      </a:pPr>
                      <a:endParaRPr sz="1300">
                        <a:latin typeface="Times New Roman" panose="02020603050405020304"/>
                        <a:cs typeface="Times New Roman" panose="02020603050405020304"/>
                      </a:endParaRPr>
                    </a:p>
                    <a:p>
                      <a:pPr marL="53340">
                        <a:lnSpc>
                          <a:spcPct val="100000"/>
                        </a:lnSpc>
                        <a:tabLst>
                          <a:tab pos="4138295" algn="l"/>
                        </a:tabLst>
                      </a:pPr>
                      <a:r>
                        <a:rPr sz="1200" dirty="0">
                          <a:latin typeface="宋体" panose="02010600030101010101" pitchFamily="2" charset="-122"/>
                          <a:cs typeface="宋体" panose="02010600030101010101" pitchFamily="2" charset="-122"/>
                        </a:rPr>
                        <a:t>设</a:t>
                      </a:r>
                      <a:r>
                        <a:rPr sz="1200" spc="290" dirty="0">
                          <a:latin typeface="宋体" panose="02010600030101010101" pitchFamily="2" charset="-122"/>
                          <a:cs typeface="宋体" panose="02010600030101010101" pitchFamily="2" charset="-122"/>
                        </a:rPr>
                        <a:t>置</a:t>
                      </a:r>
                      <a:r>
                        <a:rPr sz="1200" dirty="0">
                          <a:latin typeface="Times New Roman" panose="02020603050405020304"/>
                          <a:cs typeface="Times New Roman" panose="02020603050405020304"/>
                        </a:rPr>
                        <a:t>CH1/CH2</a:t>
                      </a:r>
                      <a:r>
                        <a:rPr sz="1200" spc="-1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串联模式</a:t>
                      </a:r>
                      <a:r>
                        <a:rPr sz="1200" spc="-459"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界面同时显示串联</a:t>
                      </a:r>
                      <a:r>
                        <a:rPr sz="1200" spc="20" dirty="0">
                          <a:latin typeface="宋体" panose="02010600030101010101" pitchFamily="2" charset="-122"/>
                          <a:cs typeface="宋体" panose="02010600030101010101" pitchFamily="2" charset="-122"/>
                        </a:rPr>
                        <a:t>标</a:t>
                      </a:r>
                      <a:r>
                        <a:rPr sz="1200" spc="-459" dirty="0">
                          <a:latin typeface="宋体" panose="02010600030101010101" pitchFamily="2" charset="-122"/>
                          <a:cs typeface="宋体" panose="02010600030101010101" pitchFamily="2" charset="-122"/>
                        </a:rPr>
                        <a:t>识</a:t>
                      </a:r>
                      <a:r>
                        <a:rPr sz="1200" dirty="0">
                          <a:latin typeface="宋体" panose="02010600030101010101" pitchFamily="2" charset="-122"/>
                          <a:cs typeface="宋体" panose="02010600030101010101" pitchFamily="2" charset="-122"/>
                        </a:rPr>
                        <a:t>“	”</a:t>
                      </a:r>
                      <a:endParaRPr sz="1200">
                        <a:latin typeface="宋体" panose="02010600030101010101" pitchFamily="2" charset="-122"/>
                        <a:cs typeface="宋体" panose="02010600030101010101" pitchFamily="2" charset="-122"/>
                      </a:endParaRPr>
                    </a:p>
                  </a:txBody>
                  <a:tcPr marL="0" marR="0" marT="1270" marB="0"/>
                </a:tc>
              </a:tr>
              <a:tr h="541337">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5"/>
                        </a:spcBef>
                      </a:pPr>
                      <a:endParaRPr sz="1400">
                        <a:latin typeface="Times New Roman" panose="02020603050405020304"/>
                        <a:cs typeface="Times New Roman" panose="02020603050405020304"/>
                      </a:endParaRPr>
                    </a:p>
                    <a:p>
                      <a:pPr marL="53340">
                        <a:lnSpc>
                          <a:spcPct val="100000"/>
                        </a:lnSpc>
                        <a:tabLst>
                          <a:tab pos="4138295" algn="l"/>
                        </a:tabLst>
                      </a:pPr>
                      <a:r>
                        <a:rPr sz="1200" dirty="0">
                          <a:latin typeface="宋体" panose="02010600030101010101" pitchFamily="2" charset="-122"/>
                          <a:cs typeface="宋体" panose="02010600030101010101" pitchFamily="2" charset="-122"/>
                        </a:rPr>
                        <a:t>设</a:t>
                      </a:r>
                      <a:r>
                        <a:rPr sz="1200" spc="290" dirty="0">
                          <a:latin typeface="宋体" panose="02010600030101010101" pitchFamily="2" charset="-122"/>
                          <a:cs typeface="宋体" panose="02010600030101010101" pitchFamily="2" charset="-122"/>
                        </a:rPr>
                        <a:t>置</a:t>
                      </a:r>
                      <a:r>
                        <a:rPr sz="1200" dirty="0">
                          <a:latin typeface="Times New Roman" panose="02020603050405020304"/>
                          <a:cs typeface="Times New Roman" panose="02020603050405020304"/>
                        </a:rPr>
                        <a:t>CH1/CH2</a:t>
                      </a:r>
                      <a:r>
                        <a:rPr sz="1200" spc="-1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并联模式</a:t>
                      </a:r>
                      <a:r>
                        <a:rPr sz="1200" spc="-530"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界面同时显示并联</a:t>
                      </a:r>
                      <a:r>
                        <a:rPr sz="1200" spc="20" dirty="0">
                          <a:latin typeface="宋体" panose="02010600030101010101" pitchFamily="2" charset="-122"/>
                          <a:cs typeface="宋体" panose="02010600030101010101" pitchFamily="2" charset="-122"/>
                        </a:rPr>
                        <a:t>标</a:t>
                      </a:r>
                      <a:r>
                        <a:rPr sz="1200" spc="-530" dirty="0">
                          <a:latin typeface="宋体" panose="02010600030101010101" pitchFamily="2" charset="-122"/>
                          <a:cs typeface="宋体" panose="02010600030101010101" pitchFamily="2" charset="-122"/>
                        </a:rPr>
                        <a:t>识</a:t>
                      </a:r>
                      <a:r>
                        <a:rPr sz="1200" dirty="0">
                          <a:latin typeface="宋体" panose="02010600030101010101" pitchFamily="2" charset="-122"/>
                          <a:cs typeface="宋体" panose="02010600030101010101" pitchFamily="2" charset="-122"/>
                        </a:rPr>
                        <a:t>“	”</a:t>
                      </a:r>
                      <a:endParaRPr sz="1200">
                        <a:latin typeface="宋体" panose="02010600030101010101" pitchFamily="2" charset="-122"/>
                        <a:cs typeface="宋体" panose="02010600030101010101" pitchFamily="2" charset="-122"/>
                      </a:endParaRPr>
                    </a:p>
                  </a:txBody>
                  <a:tcPr marL="0" marR="0" marT="635" marB="0"/>
                </a:tc>
              </a:tr>
              <a:tr h="540702">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5"/>
                        </a:spcBef>
                      </a:pPr>
                      <a:endParaRPr sz="1200">
                        <a:latin typeface="Times New Roman" panose="02020603050405020304"/>
                        <a:cs typeface="Times New Roman" panose="02020603050405020304"/>
                      </a:endParaRPr>
                    </a:p>
                    <a:p>
                      <a:pPr marL="53340">
                        <a:lnSpc>
                          <a:spcPct val="100000"/>
                        </a:lnSpc>
                      </a:pPr>
                      <a:r>
                        <a:rPr sz="1200" dirty="0">
                          <a:latin typeface="宋体" panose="02010600030101010101" pitchFamily="2" charset="-122"/>
                          <a:cs typeface="宋体" panose="02010600030101010101" pitchFamily="2" charset="-122"/>
                        </a:rPr>
                        <a:t>进入存储系统</a:t>
                      </a:r>
                      <a:endParaRPr sz="1200">
                        <a:latin typeface="宋体" panose="02010600030101010101" pitchFamily="2" charset="-122"/>
                        <a:cs typeface="宋体" panose="02010600030101010101" pitchFamily="2" charset="-122"/>
                      </a:endParaRPr>
                    </a:p>
                  </a:txBody>
                  <a:tcPr marL="0" marR="0" marT="635" marB="0"/>
                </a:tc>
              </a:tr>
              <a:tr h="539750">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55"/>
                        </a:spcBef>
                      </a:pPr>
                      <a:endParaRPr sz="1150">
                        <a:latin typeface="Times New Roman" panose="02020603050405020304"/>
                        <a:cs typeface="Times New Roman" panose="02020603050405020304"/>
                      </a:endParaRPr>
                    </a:p>
                    <a:p>
                      <a:pPr marL="53340">
                        <a:lnSpc>
                          <a:spcPct val="100000"/>
                        </a:lnSpc>
                      </a:pPr>
                      <a:r>
                        <a:rPr sz="1200" dirty="0">
                          <a:latin typeface="宋体" panose="02010600030101010101" pitchFamily="2" charset="-122"/>
                          <a:cs typeface="宋体" panose="02010600030101010101" pitchFamily="2" charset="-122"/>
                        </a:rPr>
                        <a:t>进入定时系统状态</a:t>
                      </a:r>
                      <a:endParaRPr sz="1200">
                        <a:latin typeface="宋体" panose="02010600030101010101" pitchFamily="2" charset="-122"/>
                        <a:cs typeface="宋体" panose="02010600030101010101" pitchFamily="2" charset="-122"/>
                      </a:endParaRPr>
                    </a:p>
                  </a:txBody>
                  <a:tcPr marL="0" marR="0" marT="6985" marB="0"/>
                </a:tc>
              </a:tr>
              <a:tr h="450850">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50"/>
                        </a:spcBef>
                      </a:pPr>
                      <a:endParaRPr sz="1150">
                        <a:latin typeface="Times New Roman" panose="02020603050405020304"/>
                        <a:cs typeface="Times New Roman" panose="02020603050405020304"/>
                      </a:endParaRPr>
                    </a:p>
                    <a:p>
                      <a:pPr marL="53340">
                        <a:lnSpc>
                          <a:spcPct val="100000"/>
                        </a:lnSpc>
                        <a:spcBef>
                          <a:spcPts val="5"/>
                        </a:spcBef>
                      </a:pPr>
                      <a:r>
                        <a:rPr sz="1200" dirty="0">
                          <a:latin typeface="宋体" panose="02010600030101010101" pitchFamily="2" charset="-122"/>
                          <a:cs typeface="宋体" panose="02010600030101010101" pitchFamily="2" charset="-122"/>
                        </a:rPr>
                        <a:t>长按该键，开启锁键功能，短按该键，进入系统信息界面</a:t>
                      </a:r>
                      <a:endParaRPr sz="1200">
                        <a:latin typeface="宋体" panose="02010600030101010101" pitchFamily="2" charset="-122"/>
                        <a:cs typeface="宋体" panose="02010600030101010101" pitchFamily="2" charset="-122"/>
                      </a:endParaRPr>
                    </a:p>
                  </a:txBody>
                  <a:tcPr marL="0" marR="0" marT="6350" marB="0"/>
                </a:tc>
              </a:tr>
            </a:tbl>
          </a:graphicData>
        </a:graphic>
      </p:graphicFrame>
      <p:sp>
        <p:nvSpPr>
          <p:cNvPr id="14" name="object 13"/>
          <p:cNvSpPr/>
          <p:nvPr/>
        </p:nvSpPr>
        <p:spPr>
          <a:xfrm>
            <a:off x="640715" y="2285999"/>
            <a:ext cx="591185" cy="362584"/>
          </a:xfrm>
          <a:prstGeom prst="rect">
            <a:avLst/>
          </a:prstGeom>
          <a:blipFill>
            <a:blip r:embed="rId7" cstate="print"/>
            <a:stretch>
              <a:fillRect/>
            </a:stretch>
          </a:blipFill>
        </p:spPr>
        <p:txBody>
          <a:bodyPr wrap="square" lIns="0" tIns="0" rIns="0" bIns="0" rtlCol="0"/>
          <a:p/>
        </p:txBody>
      </p:sp>
      <p:sp>
        <p:nvSpPr>
          <p:cNvPr id="15" name="object 14"/>
          <p:cNvSpPr/>
          <p:nvPr/>
        </p:nvSpPr>
        <p:spPr>
          <a:xfrm>
            <a:off x="640715" y="2825114"/>
            <a:ext cx="591185" cy="356847"/>
          </a:xfrm>
          <a:prstGeom prst="rect">
            <a:avLst/>
          </a:prstGeom>
          <a:blipFill>
            <a:blip r:embed="rId8" cstate="print"/>
            <a:stretch>
              <a:fillRect/>
            </a:stretch>
          </a:blipFill>
        </p:spPr>
        <p:txBody>
          <a:bodyPr wrap="square" lIns="0" tIns="0" rIns="0" bIns="0" rtlCol="0"/>
          <a:p/>
        </p:txBody>
      </p:sp>
      <p:sp>
        <p:nvSpPr>
          <p:cNvPr id="16" name="object 15"/>
          <p:cNvSpPr/>
          <p:nvPr/>
        </p:nvSpPr>
        <p:spPr>
          <a:xfrm>
            <a:off x="640715" y="3364864"/>
            <a:ext cx="591185" cy="362585"/>
          </a:xfrm>
          <a:prstGeom prst="rect">
            <a:avLst/>
          </a:prstGeom>
          <a:blipFill>
            <a:blip r:embed="rId9" cstate="print"/>
            <a:stretch>
              <a:fillRect/>
            </a:stretch>
          </a:blipFill>
        </p:spPr>
        <p:txBody>
          <a:bodyPr wrap="square" lIns="0" tIns="0" rIns="0" bIns="0" rtlCol="0"/>
          <a:p/>
        </p:txBody>
      </p:sp>
      <p:sp>
        <p:nvSpPr>
          <p:cNvPr id="18" name="object 16"/>
          <p:cNvSpPr txBox="1"/>
          <p:nvPr/>
        </p:nvSpPr>
        <p:spPr>
          <a:xfrm flipH="1">
            <a:off x="6012180" y="271145"/>
            <a:ext cx="1929765" cy="320040"/>
          </a:xfrm>
          <a:prstGeom prst="rect">
            <a:avLst/>
          </a:prstGeom>
        </p:spPr>
        <p:txBody>
          <a:bodyPr vert="horz" wrap="square" lIns="0" tIns="12700" rIns="0" bIns="0" rtlCol="0">
            <a:spAutoFit/>
          </a:bodyPr>
          <a:p>
            <a:pPr marL="12700">
              <a:lnSpc>
                <a:spcPct val="100000"/>
              </a:lnSpc>
              <a:spcBef>
                <a:spcPts val="100"/>
              </a:spcBef>
            </a:pPr>
            <a:r>
              <a:rPr sz="2000" b="1" spc="-5" dirty="0">
                <a:latin typeface="宋体" panose="02010600030101010101" pitchFamily="2" charset="-122"/>
                <a:cs typeface="宋体" panose="02010600030101010101" pitchFamily="2" charset="-122"/>
              </a:rPr>
              <a:t>通</a:t>
            </a:r>
            <a:r>
              <a:rPr sz="2000" b="1" spc="15" dirty="0">
                <a:latin typeface="宋体" panose="02010600030101010101" pitchFamily="2" charset="-122"/>
                <a:cs typeface="宋体" panose="02010600030101010101" pitchFamily="2" charset="-122"/>
              </a:rPr>
              <a:t>道</a:t>
            </a:r>
            <a:r>
              <a:rPr sz="2000" b="1" spc="-5" dirty="0">
                <a:latin typeface="宋体" panose="02010600030101010101" pitchFamily="2" charset="-122"/>
                <a:cs typeface="宋体" panose="02010600030101010101" pitchFamily="2" charset="-122"/>
              </a:rPr>
              <a:t>控制按键</a:t>
            </a:r>
            <a:endParaRPr sz="2000">
              <a:latin typeface="宋体" panose="02010600030101010101" pitchFamily="2" charset="-122"/>
              <a:cs typeface="宋体" panose="02010600030101010101" pitchFamily="2" charset="-122"/>
            </a:endParaRPr>
          </a:p>
        </p:txBody>
      </p:sp>
      <p:sp>
        <p:nvSpPr>
          <p:cNvPr id="19" name="object 17"/>
          <p:cNvSpPr/>
          <p:nvPr/>
        </p:nvSpPr>
        <p:spPr>
          <a:xfrm>
            <a:off x="6022340" y="806449"/>
            <a:ext cx="560705" cy="311150"/>
          </a:xfrm>
          <a:prstGeom prst="rect">
            <a:avLst/>
          </a:prstGeom>
          <a:blipFill>
            <a:blip r:embed="rId10" cstate="print"/>
            <a:stretch>
              <a:fillRect/>
            </a:stretch>
          </a:blipFill>
        </p:spPr>
        <p:txBody>
          <a:bodyPr wrap="square" lIns="0" tIns="0" rIns="0" bIns="0" rtlCol="0"/>
          <a:p/>
        </p:txBody>
      </p:sp>
      <p:graphicFrame>
        <p:nvGraphicFramePr>
          <p:cNvPr id="20" name="object 18"/>
          <p:cNvGraphicFramePr>
            <a:graphicFrameLocks noGrp="1"/>
          </p:cNvGraphicFramePr>
          <p:nvPr/>
        </p:nvGraphicFramePr>
        <p:xfrm>
          <a:off x="5895340" y="806449"/>
          <a:ext cx="2684780" cy="3343910"/>
        </p:xfrm>
        <a:graphic>
          <a:graphicData uri="http://schemas.openxmlformats.org/drawingml/2006/table">
            <a:tbl>
              <a:tblPr firstRow="1" bandRow="1">
                <a:tableStyleId>{2D5ABB26-0587-4C30-8999-92F81FD0307C}</a:tableStyleId>
              </a:tblPr>
              <a:tblGrid>
                <a:gridCol w="756920"/>
                <a:gridCol w="1927860"/>
              </a:tblGrid>
              <a:tr h="382587">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marL="68580">
                        <a:lnSpc>
                          <a:spcPct val="100000"/>
                        </a:lnSpc>
                        <a:spcBef>
                          <a:spcPts val="465"/>
                        </a:spcBef>
                      </a:pPr>
                      <a:r>
                        <a:rPr sz="1200" dirty="0">
                          <a:latin typeface="宋体" panose="02010600030101010101" pitchFamily="2" charset="-122"/>
                          <a:cs typeface="宋体" panose="02010600030101010101" pitchFamily="2" charset="-122"/>
                        </a:rPr>
                        <a:t>开启</a:t>
                      </a:r>
                      <a:r>
                        <a:rPr sz="1200" dirty="0">
                          <a:latin typeface="Times New Roman" panose="02020603050405020304"/>
                          <a:cs typeface="Times New Roman" panose="02020603050405020304"/>
                        </a:rPr>
                        <a:t>/</a:t>
                      </a:r>
                      <a:r>
                        <a:rPr sz="1200" dirty="0">
                          <a:latin typeface="宋体" panose="02010600030101010101" pitchFamily="2" charset="-122"/>
                          <a:cs typeface="宋体" panose="02010600030101010101" pitchFamily="2" charset="-122"/>
                        </a:rPr>
                        <a:t>关闭所有通道</a:t>
                      </a:r>
                      <a:endParaRPr sz="1200">
                        <a:latin typeface="宋体" panose="02010600030101010101" pitchFamily="2" charset="-122"/>
                        <a:cs typeface="宋体" panose="02010600030101010101" pitchFamily="2" charset="-122"/>
                      </a:endParaRPr>
                    </a:p>
                  </a:txBody>
                  <a:tcPr marL="0" marR="0" marT="59055" marB="0"/>
                </a:tc>
              </a:tr>
              <a:tr h="638492">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25"/>
                        </a:spcBef>
                      </a:pPr>
                      <a:endParaRPr sz="1650">
                        <a:latin typeface="Times New Roman" panose="02020603050405020304"/>
                        <a:cs typeface="Times New Roman" panose="02020603050405020304"/>
                      </a:endParaRPr>
                    </a:p>
                    <a:p>
                      <a:pPr marL="68580">
                        <a:lnSpc>
                          <a:spcPct val="100000"/>
                        </a:lnSpc>
                      </a:pPr>
                      <a:r>
                        <a:rPr sz="1200" dirty="0">
                          <a:latin typeface="宋体" panose="02010600030101010101" pitchFamily="2" charset="-122"/>
                          <a:cs typeface="宋体" panose="02010600030101010101" pitchFamily="2" charset="-122"/>
                        </a:rPr>
                        <a:t>选</a:t>
                      </a:r>
                      <a:r>
                        <a:rPr sz="1200" spc="290" dirty="0">
                          <a:latin typeface="宋体" panose="02010600030101010101" pitchFamily="2" charset="-122"/>
                          <a:cs typeface="宋体" panose="02010600030101010101" pitchFamily="2" charset="-122"/>
                        </a:rPr>
                        <a:t>择</a:t>
                      </a:r>
                      <a:r>
                        <a:rPr sz="1200" spc="-5" dirty="0">
                          <a:latin typeface="Times New Roman" panose="02020603050405020304"/>
                          <a:cs typeface="Times New Roman" panose="02020603050405020304"/>
                        </a:rPr>
                        <a:t>CH1</a:t>
                      </a:r>
                      <a:r>
                        <a:rPr sz="1200" spc="-4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为当前操作通道</a:t>
                      </a:r>
                      <a:endParaRPr sz="1200">
                        <a:latin typeface="宋体" panose="02010600030101010101" pitchFamily="2" charset="-122"/>
                        <a:cs typeface="宋体" panose="02010600030101010101" pitchFamily="2" charset="-122"/>
                      </a:endParaRPr>
                    </a:p>
                  </a:txBody>
                  <a:tcPr marL="0" marR="0" marT="3175" marB="0"/>
                </a:tc>
              </a:tr>
              <a:tr h="594359">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20"/>
                        </a:spcBef>
                      </a:pPr>
                      <a:endParaRPr sz="1350">
                        <a:latin typeface="Times New Roman" panose="02020603050405020304"/>
                        <a:cs typeface="Times New Roman" panose="02020603050405020304"/>
                      </a:endParaRPr>
                    </a:p>
                    <a:p>
                      <a:pPr marL="68580">
                        <a:lnSpc>
                          <a:spcPct val="100000"/>
                        </a:lnSpc>
                      </a:pPr>
                      <a:r>
                        <a:rPr sz="1200" dirty="0">
                          <a:latin typeface="宋体" panose="02010600030101010101" pitchFamily="2" charset="-122"/>
                          <a:cs typeface="宋体" panose="02010600030101010101" pitchFamily="2" charset="-122"/>
                        </a:rPr>
                        <a:t>选</a:t>
                      </a:r>
                      <a:r>
                        <a:rPr sz="1200" spc="290" dirty="0">
                          <a:latin typeface="宋体" panose="02010600030101010101" pitchFamily="2" charset="-122"/>
                          <a:cs typeface="宋体" panose="02010600030101010101" pitchFamily="2" charset="-122"/>
                        </a:rPr>
                        <a:t>择</a:t>
                      </a:r>
                      <a:r>
                        <a:rPr sz="1200" spc="-5" dirty="0">
                          <a:latin typeface="Times New Roman" panose="02020603050405020304"/>
                          <a:cs typeface="Times New Roman" panose="02020603050405020304"/>
                        </a:rPr>
                        <a:t>CH2</a:t>
                      </a:r>
                      <a:r>
                        <a:rPr sz="1200" spc="-4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为当前操作通道</a:t>
                      </a:r>
                      <a:endParaRPr sz="1200">
                        <a:latin typeface="宋体" panose="02010600030101010101" pitchFamily="2" charset="-122"/>
                        <a:cs typeface="宋体" panose="02010600030101010101" pitchFamily="2" charset="-122"/>
                      </a:endParaRPr>
                    </a:p>
                  </a:txBody>
                  <a:tcPr marL="0" marR="0" marT="2540" marB="0"/>
                </a:tc>
              </a:tr>
              <a:tr h="608330">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25"/>
                        </a:spcBef>
                      </a:pPr>
                      <a:endParaRPr sz="1350">
                        <a:latin typeface="Times New Roman" panose="02020603050405020304"/>
                        <a:cs typeface="Times New Roman" panose="02020603050405020304"/>
                      </a:endParaRPr>
                    </a:p>
                    <a:p>
                      <a:pPr marL="68580">
                        <a:lnSpc>
                          <a:spcPct val="100000"/>
                        </a:lnSpc>
                      </a:pPr>
                      <a:r>
                        <a:rPr sz="1200" dirty="0">
                          <a:latin typeface="宋体" panose="02010600030101010101" pitchFamily="2" charset="-122"/>
                          <a:cs typeface="宋体" panose="02010600030101010101" pitchFamily="2" charset="-122"/>
                        </a:rPr>
                        <a:t>开启</a:t>
                      </a:r>
                      <a:r>
                        <a:rPr sz="1200" dirty="0">
                          <a:latin typeface="Times New Roman" panose="02020603050405020304"/>
                          <a:cs typeface="Times New Roman" panose="02020603050405020304"/>
                        </a:rPr>
                        <a:t>/</a:t>
                      </a:r>
                      <a:r>
                        <a:rPr sz="1200" dirty="0">
                          <a:latin typeface="宋体" panose="02010600030101010101" pitchFamily="2" charset="-122"/>
                          <a:cs typeface="宋体" panose="02010600030101010101" pitchFamily="2" charset="-122"/>
                        </a:rPr>
                        <a:t>关闭当前通道输出</a:t>
                      </a:r>
                      <a:endParaRPr sz="1200">
                        <a:latin typeface="宋体" panose="02010600030101010101" pitchFamily="2" charset="-122"/>
                        <a:cs typeface="宋体" panose="02010600030101010101" pitchFamily="2" charset="-122"/>
                      </a:endParaRPr>
                    </a:p>
                  </a:txBody>
                  <a:tcPr marL="0" marR="0" marT="3175" marB="0"/>
                </a:tc>
              </a:tr>
              <a:tr h="1120140">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pPr>
                      <a:endParaRPr sz="1300">
                        <a:latin typeface="Times New Roman" panose="02020603050405020304"/>
                        <a:cs typeface="Times New Roman" panose="02020603050405020304"/>
                      </a:endParaRPr>
                    </a:p>
                    <a:p>
                      <a:pPr>
                        <a:lnSpc>
                          <a:spcPct val="100000"/>
                        </a:lnSpc>
                      </a:pPr>
                      <a:endParaRPr sz="1300">
                        <a:latin typeface="Times New Roman" panose="02020603050405020304"/>
                        <a:cs typeface="Times New Roman" panose="02020603050405020304"/>
                      </a:endParaRPr>
                    </a:p>
                    <a:p>
                      <a:pPr marL="68580">
                        <a:lnSpc>
                          <a:spcPct val="100000"/>
                        </a:lnSpc>
                        <a:spcBef>
                          <a:spcPts val="830"/>
                        </a:spcBef>
                      </a:pPr>
                      <a:r>
                        <a:rPr sz="1200" dirty="0">
                          <a:latin typeface="宋体" panose="02010600030101010101" pitchFamily="2" charset="-122"/>
                          <a:cs typeface="宋体" panose="02010600030101010101" pitchFamily="2" charset="-122"/>
                        </a:rPr>
                        <a:t>开启</a:t>
                      </a:r>
                      <a:r>
                        <a:rPr sz="1200" dirty="0">
                          <a:latin typeface="Times New Roman" panose="02020603050405020304"/>
                          <a:cs typeface="Times New Roman" panose="02020603050405020304"/>
                        </a:rPr>
                        <a:t>/</a:t>
                      </a:r>
                      <a:r>
                        <a:rPr sz="1200" dirty="0">
                          <a:latin typeface="宋体" panose="02010600030101010101" pitchFamily="2" charset="-122"/>
                          <a:cs typeface="宋体" panose="02010600030101010101" pitchFamily="2" charset="-122"/>
                        </a:rPr>
                        <a:t>关闭</a:t>
                      </a:r>
                      <a:r>
                        <a:rPr sz="1200" spc="-15" dirty="0">
                          <a:latin typeface="宋体" panose="02010600030101010101" pitchFamily="2" charset="-122"/>
                          <a:cs typeface="宋体" panose="02010600030101010101" pitchFamily="2" charset="-122"/>
                        </a:rPr>
                        <a:t> </a:t>
                      </a:r>
                      <a:r>
                        <a:rPr sz="1200" spc="-5" dirty="0">
                          <a:latin typeface="Times New Roman" panose="02020603050405020304"/>
                          <a:cs typeface="Times New Roman" panose="02020603050405020304"/>
                        </a:rPr>
                        <a:t>CH3</a:t>
                      </a:r>
                      <a:r>
                        <a:rPr sz="1200" spc="-2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输出</a:t>
                      </a:r>
                      <a:endParaRPr sz="1200">
                        <a:latin typeface="宋体" panose="02010600030101010101" pitchFamily="2" charset="-122"/>
                        <a:cs typeface="宋体" panose="02010600030101010101" pitchFamily="2" charset="-122"/>
                      </a:endParaRPr>
                    </a:p>
                  </a:txBody>
                  <a:tcPr marL="0" marR="0" marT="0" marB="0"/>
                </a:tc>
              </a:tr>
            </a:tbl>
          </a:graphicData>
        </a:graphic>
      </p:graphicFrame>
      <p:sp>
        <p:nvSpPr>
          <p:cNvPr id="21" name="object 19"/>
          <p:cNvSpPr/>
          <p:nvPr/>
        </p:nvSpPr>
        <p:spPr>
          <a:xfrm>
            <a:off x="6022340" y="1260474"/>
            <a:ext cx="384175" cy="539750"/>
          </a:xfrm>
          <a:prstGeom prst="rect">
            <a:avLst/>
          </a:prstGeom>
          <a:blipFill>
            <a:blip r:embed="rId11" cstate="print"/>
            <a:stretch>
              <a:fillRect/>
            </a:stretch>
          </a:blipFill>
        </p:spPr>
        <p:txBody>
          <a:bodyPr wrap="square" lIns="0" tIns="0" rIns="0" bIns="0" rtlCol="0"/>
          <a:p/>
        </p:txBody>
      </p:sp>
      <p:sp>
        <p:nvSpPr>
          <p:cNvPr id="22" name="object 20"/>
          <p:cNvSpPr/>
          <p:nvPr/>
        </p:nvSpPr>
        <p:spPr>
          <a:xfrm>
            <a:off x="6029748" y="1862228"/>
            <a:ext cx="363008" cy="524962"/>
          </a:xfrm>
          <a:prstGeom prst="rect">
            <a:avLst/>
          </a:prstGeom>
          <a:blipFill>
            <a:blip r:embed="rId12" cstate="print"/>
            <a:stretch>
              <a:fillRect/>
            </a:stretch>
          </a:blipFill>
        </p:spPr>
        <p:txBody>
          <a:bodyPr wrap="square" lIns="0" tIns="0" rIns="0" bIns="0" rtlCol="0"/>
          <a:p/>
        </p:txBody>
      </p:sp>
      <p:sp>
        <p:nvSpPr>
          <p:cNvPr id="23" name="object 21"/>
          <p:cNvSpPr/>
          <p:nvPr/>
        </p:nvSpPr>
        <p:spPr>
          <a:xfrm>
            <a:off x="6022340" y="2449195"/>
            <a:ext cx="368934" cy="539750"/>
          </a:xfrm>
          <a:prstGeom prst="rect">
            <a:avLst/>
          </a:prstGeom>
          <a:blipFill>
            <a:blip r:embed="rId13" cstate="print"/>
            <a:stretch>
              <a:fillRect/>
            </a:stretch>
          </a:blipFill>
        </p:spPr>
        <p:txBody>
          <a:bodyPr wrap="square" lIns="0" tIns="0" rIns="0" bIns="0" rtlCol="0"/>
          <a:p/>
        </p:txBody>
      </p:sp>
      <p:sp>
        <p:nvSpPr>
          <p:cNvPr id="24" name="object 22"/>
          <p:cNvSpPr/>
          <p:nvPr/>
        </p:nvSpPr>
        <p:spPr>
          <a:xfrm>
            <a:off x="6022340" y="3071495"/>
            <a:ext cx="377825" cy="1078865"/>
          </a:xfrm>
          <a:prstGeom prst="rect">
            <a:avLst/>
          </a:prstGeom>
          <a:blipFill>
            <a:blip r:embed="rId14" cstate="print"/>
            <a:stretch>
              <a:fillRect/>
            </a:stretch>
          </a:blipFill>
        </p:spPr>
        <p:txBody>
          <a:bodyPr wrap="square" lIns="0" tIns="0" rIns="0" bIns="0" rtlCol="0"/>
          <a:p/>
        </p:txBody>
      </p:sp>
      <p:sp>
        <p:nvSpPr>
          <p:cNvPr id="25" name="object 6"/>
          <p:cNvSpPr/>
          <p:nvPr/>
        </p:nvSpPr>
        <p:spPr>
          <a:xfrm>
            <a:off x="568960" y="4707254"/>
            <a:ext cx="560705" cy="313690"/>
          </a:xfrm>
          <a:prstGeom prst="rect">
            <a:avLst/>
          </a:prstGeom>
          <a:blipFill>
            <a:blip r:embed="rId15" cstate="print"/>
            <a:stretch>
              <a:fillRect/>
            </a:stretch>
          </a:blipFill>
        </p:spPr>
        <p:txBody>
          <a:bodyPr wrap="square" lIns="0" tIns="0" rIns="0" bIns="0" rtlCol="0"/>
          <a:p/>
        </p:txBody>
      </p:sp>
      <p:graphicFrame>
        <p:nvGraphicFramePr>
          <p:cNvPr id="26" name="object 7"/>
          <p:cNvGraphicFramePr>
            <a:graphicFrameLocks noGrp="1"/>
          </p:cNvGraphicFramePr>
          <p:nvPr>
            <p:custDataLst>
              <p:tags r:id="rId16"/>
            </p:custDataLst>
          </p:nvPr>
        </p:nvGraphicFramePr>
        <p:xfrm>
          <a:off x="441960" y="4707254"/>
          <a:ext cx="2748280" cy="1216025"/>
        </p:xfrm>
        <a:graphic>
          <a:graphicData uri="http://schemas.openxmlformats.org/drawingml/2006/table">
            <a:tbl>
              <a:tblPr firstRow="1" bandRow="1">
                <a:tableStyleId>{2D5ABB26-0587-4C30-8999-92F81FD0307C}</a:tableStyleId>
              </a:tblPr>
              <a:tblGrid>
                <a:gridCol w="739775"/>
                <a:gridCol w="2007870"/>
              </a:tblGrid>
              <a:tr h="531987">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marL="52070">
                        <a:lnSpc>
                          <a:spcPct val="100000"/>
                        </a:lnSpc>
                        <a:spcBef>
                          <a:spcPts val="480"/>
                        </a:spcBef>
                      </a:pPr>
                      <a:r>
                        <a:rPr sz="1200" dirty="0">
                          <a:latin typeface="宋体" panose="02010600030101010101" pitchFamily="2" charset="-122"/>
                          <a:cs typeface="宋体" panose="02010600030101010101" pitchFamily="2" charset="-122"/>
                        </a:rPr>
                        <a:t>移动光标，选择数值的数位</a:t>
                      </a:r>
                      <a:endParaRPr sz="1200">
                        <a:latin typeface="宋体" panose="02010600030101010101" pitchFamily="2" charset="-122"/>
                        <a:cs typeface="宋体" panose="02010600030101010101" pitchFamily="2" charset="-122"/>
                      </a:endParaRPr>
                    </a:p>
                  </a:txBody>
                  <a:tcPr marL="0" marR="0" marT="60960" marB="0"/>
                </a:tc>
              </a:tr>
              <a:tr h="684037">
                <a:tc>
                  <a:txBody>
                    <a:bodyPr/>
                    <a:p>
                      <a:pPr>
                        <a:lnSpc>
                          <a:spcPct val="100000"/>
                        </a:lnSpc>
                      </a:pPr>
                      <a:endParaRPr sz="1100">
                        <a:latin typeface="Times New Roman" panose="02020603050405020304"/>
                        <a:cs typeface="Times New Roman" panose="02020603050405020304"/>
                      </a:endParaRPr>
                    </a:p>
                  </a:txBody>
                  <a:tcPr marL="0" marR="0" marT="0" marB="0"/>
                </a:tc>
                <a:tc>
                  <a:txBody>
                    <a:bodyPr/>
                    <a:p>
                      <a:pPr>
                        <a:lnSpc>
                          <a:spcPct val="100000"/>
                        </a:lnSpc>
                        <a:spcBef>
                          <a:spcPts val="55"/>
                        </a:spcBef>
                      </a:pPr>
                      <a:endParaRPr sz="1300">
                        <a:latin typeface="Times New Roman" panose="02020603050405020304"/>
                        <a:cs typeface="Times New Roman" panose="02020603050405020304"/>
                      </a:endParaRPr>
                    </a:p>
                    <a:p>
                      <a:pPr marL="52070">
                        <a:lnSpc>
                          <a:spcPct val="100000"/>
                        </a:lnSpc>
                      </a:pPr>
                      <a:r>
                        <a:rPr sz="1200" dirty="0">
                          <a:latin typeface="宋体" panose="02010600030101010101" pitchFamily="2" charset="-122"/>
                          <a:cs typeface="宋体" panose="02010600030101010101" pitchFamily="2" charset="-122"/>
                        </a:rPr>
                        <a:t>左右方向键，移动光标</a:t>
                      </a:r>
                      <a:endParaRPr sz="1200">
                        <a:latin typeface="宋体" panose="02010600030101010101" pitchFamily="2" charset="-122"/>
                        <a:cs typeface="宋体" panose="02010600030101010101" pitchFamily="2" charset="-122"/>
                      </a:endParaRPr>
                    </a:p>
                  </a:txBody>
                  <a:tcPr marL="0" marR="0" marT="6985" marB="0"/>
                </a:tc>
              </a:tr>
            </a:tbl>
          </a:graphicData>
        </a:graphic>
      </p:graphicFrame>
      <p:sp>
        <p:nvSpPr>
          <p:cNvPr id="27" name="object 10"/>
          <p:cNvSpPr/>
          <p:nvPr/>
        </p:nvSpPr>
        <p:spPr>
          <a:xfrm>
            <a:off x="568960" y="5137149"/>
            <a:ext cx="561975" cy="786129"/>
          </a:xfrm>
          <a:prstGeom prst="rect">
            <a:avLst/>
          </a:prstGeom>
          <a:blipFill>
            <a:blip r:embed="rId17" cstate="print"/>
            <a:stretch>
              <a:fillRect/>
            </a:stretch>
          </a:blipFill>
        </p:spPr>
        <p:txBody>
          <a:bodyPr wrap="square" lIns="0" tIns="0" rIns="0" bIns="0" rtlCol="0"/>
          <a:p/>
        </p:txBody>
      </p:sp>
      <p:sp>
        <p:nvSpPr>
          <p:cNvPr id="28" name="object 5"/>
          <p:cNvSpPr txBox="1"/>
          <p:nvPr/>
        </p:nvSpPr>
        <p:spPr>
          <a:xfrm>
            <a:off x="540385" y="4220845"/>
            <a:ext cx="1344295" cy="320675"/>
          </a:xfrm>
          <a:prstGeom prst="rect">
            <a:avLst/>
          </a:prstGeom>
        </p:spPr>
        <p:txBody>
          <a:bodyPr vert="horz" wrap="square" lIns="0" tIns="13335" rIns="0" bIns="0" rtlCol="0">
            <a:spAutoFit/>
          </a:bodyPr>
          <a:p>
            <a:pPr>
              <a:lnSpc>
                <a:spcPct val="100000"/>
              </a:lnSpc>
            </a:pPr>
            <a:r>
              <a:rPr sz="2000" b="1" spc="-5" dirty="0">
                <a:latin typeface="宋体" panose="02010600030101010101" pitchFamily="2" charset="-122"/>
                <a:cs typeface="宋体" panose="02010600030101010101" pitchFamily="2" charset="-122"/>
              </a:rPr>
              <a:t>其</a:t>
            </a:r>
            <a:r>
              <a:rPr sz="2000" b="1" spc="15" dirty="0">
                <a:latin typeface="宋体" panose="02010600030101010101" pitchFamily="2" charset="-122"/>
                <a:cs typeface="宋体" panose="02010600030101010101" pitchFamily="2" charset="-122"/>
              </a:rPr>
              <a:t>它</a:t>
            </a:r>
            <a:r>
              <a:rPr sz="2000" b="1" spc="-5" dirty="0">
                <a:latin typeface="宋体" panose="02010600030101010101" pitchFamily="2" charset="-122"/>
                <a:cs typeface="宋体" panose="02010600030101010101" pitchFamily="2" charset="-122"/>
              </a:rPr>
              <a:t>按键</a:t>
            </a:r>
            <a:endParaRPr sz="2000">
              <a:latin typeface="宋体" panose="02010600030101010101" pitchFamily="2" charset="-122"/>
              <a:cs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 calcmode="lin" valueType="num">
                                      <p:cBhvr additive="base">
                                        <p:cTn id="57" dur="500" fill="hold"/>
                                        <p:tgtEl>
                                          <p:spTgt spid="20"/>
                                        </p:tgtEl>
                                        <p:attrNameLst>
                                          <p:attrName>ppt_x</p:attrName>
                                        </p:attrNameLst>
                                      </p:cBhvr>
                                      <p:tavLst>
                                        <p:tav tm="0">
                                          <p:val>
                                            <p:strVal val="#ppt_x"/>
                                          </p:val>
                                        </p:tav>
                                        <p:tav tm="100000">
                                          <p:val>
                                            <p:strVal val="#ppt_x"/>
                                          </p:val>
                                        </p:tav>
                                      </p:tavLst>
                                    </p:anim>
                                    <p:anim calcmode="lin" valueType="num">
                                      <p:cBhvr additive="base">
                                        <p:cTn id="58" dur="500" fill="hold"/>
                                        <p:tgtEl>
                                          <p:spTgt spid="2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 calcmode="lin" valueType="num">
                                      <p:cBhvr additive="base">
                                        <p:cTn id="69" dur="500" fill="hold"/>
                                        <p:tgtEl>
                                          <p:spTgt spid="23"/>
                                        </p:tgtEl>
                                        <p:attrNameLst>
                                          <p:attrName>ppt_x</p:attrName>
                                        </p:attrNameLst>
                                      </p:cBhvr>
                                      <p:tavLst>
                                        <p:tav tm="0">
                                          <p:val>
                                            <p:strVal val="#ppt_x"/>
                                          </p:val>
                                        </p:tav>
                                        <p:tav tm="100000">
                                          <p:val>
                                            <p:strVal val="#ppt_x"/>
                                          </p:val>
                                        </p:tav>
                                      </p:tavLst>
                                    </p:anim>
                                    <p:anim calcmode="lin" valueType="num">
                                      <p:cBhvr additive="base">
                                        <p:cTn id="70" dur="500" fill="hold"/>
                                        <p:tgtEl>
                                          <p:spTgt spid="23"/>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fill="hold"/>
                                        <p:tgtEl>
                                          <p:spTgt spid="25"/>
                                        </p:tgtEl>
                                        <p:attrNameLst>
                                          <p:attrName>ppt_x</p:attrName>
                                        </p:attrNameLst>
                                      </p:cBhvr>
                                      <p:tavLst>
                                        <p:tav tm="0">
                                          <p:val>
                                            <p:strVal val="#ppt_x"/>
                                          </p:val>
                                        </p:tav>
                                        <p:tav tm="100000">
                                          <p:val>
                                            <p:strVal val="#ppt_x"/>
                                          </p:val>
                                        </p:tav>
                                      </p:tavLst>
                                    </p:anim>
                                    <p:anim calcmode="lin" valueType="num">
                                      <p:cBhvr additive="base">
                                        <p:cTn id="80" dur="500" fill="hold"/>
                                        <p:tgtEl>
                                          <p:spTgt spid="25"/>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 calcmode="lin" valueType="num">
                                      <p:cBhvr additive="base">
                                        <p:cTn id="87" dur="500" fill="hold"/>
                                        <p:tgtEl>
                                          <p:spTgt spid="27"/>
                                        </p:tgtEl>
                                        <p:attrNameLst>
                                          <p:attrName>ppt_x</p:attrName>
                                        </p:attrNameLst>
                                      </p:cBhvr>
                                      <p:tavLst>
                                        <p:tav tm="0">
                                          <p:val>
                                            <p:strVal val="#ppt_x"/>
                                          </p:val>
                                        </p:tav>
                                        <p:tav tm="100000">
                                          <p:val>
                                            <p:strVal val="#ppt_x"/>
                                          </p:val>
                                        </p:tav>
                                      </p:tavLst>
                                    </p:anim>
                                    <p:anim calcmode="lin" valueType="num">
                                      <p:cBhvr additive="base">
                                        <p:cTn id="88" dur="500" fill="hold"/>
                                        <p:tgtEl>
                                          <p:spTgt spid="27"/>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P spid="11" grpId="0" animBg="1"/>
      <p:bldP spid="14" grpId="0" animBg="1"/>
      <p:bldP spid="15" grpId="0" animBg="1"/>
      <p:bldP spid="16" grpId="0" animBg="1"/>
      <p:bldP spid="6" grpId="1"/>
      <p:bldP spid="7" grpId="1" animBg="1"/>
      <p:bldP spid="8" grpId="1" animBg="1"/>
      <p:bldP spid="9" grpId="1" animBg="1"/>
      <p:bldP spid="10" grpId="1" animBg="1"/>
      <p:bldP spid="11" grpId="1" animBg="1"/>
      <p:bldP spid="14" grpId="1" animBg="1"/>
      <p:bldP spid="15" grpId="1" animBg="1"/>
      <p:bldP spid="16" grpId="1" animBg="1"/>
      <p:bldP spid="18" grpId="0"/>
      <p:bldP spid="19" grpId="0" animBg="1"/>
      <p:bldP spid="21" grpId="0" animBg="1"/>
      <p:bldP spid="22" grpId="0" animBg="1"/>
      <p:bldP spid="23" grpId="0" animBg="1"/>
      <p:bldP spid="24" grpId="0" animBg="1"/>
      <p:bldP spid="18" grpId="1"/>
      <p:bldP spid="19" grpId="1" animBg="1"/>
      <p:bldP spid="21" grpId="1" animBg="1"/>
      <p:bldP spid="22" grpId="1" animBg="1"/>
      <p:bldP spid="23" grpId="1" animBg="1"/>
      <p:bldP spid="24" grpId="1" animBg="1"/>
      <p:bldP spid="25" grpId="0" animBg="1"/>
      <p:bldP spid="27" grpId="0" animBg="1"/>
      <p:bldP spid="28" grpId="0"/>
      <p:bldP spid="25" grpId="1" animBg="1"/>
      <p:bldP spid="27" grpId="1" animBg="1"/>
      <p:bldP spid="28" grpId="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6" name="object 6"/>
          <p:cNvSpPr/>
          <p:nvPr/>
        </p:nvSpPr>
        <p:spPr>
          <a:xfrm>
            <a:off x="2734945" y="692784"/>
            <a:ext cx="4572000" cy="2590799"/>
          </a:xfrm>
          <a:prstGeom prst="rect">
            <a:avLst/>
          </a:prstGeom>
          <a:blipFill>
            <a:blip r:embed="rId1" cstate="print"/>
            <a:stretch>
              <a:fillRect/>
            </a:stretch>
          </a:blipFill>
        </p:spPr>
        <p:txBody>
          <a:bodyPr wrap="square" lIns="0" tIns="0" rIns="0" bIns="0" rtlCol="0"/>
          <a:p>
            <a:endParaRPr sz="2400"/>
          </a:p>
        </p:txBody>
      </p:sp>
      <p:sp>
        <p:nvSpPr>
          <p:cNvPr id="7" name="object 7"/>
          <p:cNvSpPr/>
          <p:nvPr/>
        </p:nvSpPr>
        <p:spPr>
          <a:xfrm>
            <a:off x="3106420" y="398144"/>
            <a:ext cx="76200" cy="287020"/>
          </a:xfrm>
          <a:custGeom>
            <a:avLst/>
            <a:gdLst/>
            <a:ahLst/>
            <a:cxnLst/>
            <a:rect l="l" t="t" r="r" b="b"/>
            <a:pathLst>
              <a:path w="76200" h="287019">
                <a:moveTo>
                  <a:pt x="31750" y="210820"/>
                </a:moveTo>
                <a:lnTo>
                  <a:pt x="0" y="210820"/>
                </a:lnTo>
                <a:lnTo>
                  <a:pt x="38100" y="287020"/>
                </a:lnTo>
                <a:lnTo>
                  <a:pt x="66675" y="229870"/>
                </a:lnTo>
                <a:lnTo>
                  <a:pt x="34543" y="229870"/>
                </a:lnTo>
                <a:lnTo>
                  <a:pt x="31750" y="227075"/>
                </a:lnTo>
                <a:lnTo>
                  <a:pt x="31750" y="210820"/>
                </a:lnTo>
                <a:close/>
              </a:path>
              <a:path w="76200" h="287019">
                <a:moveTo>
                  <a:pt x="41656" y="0"/>
                </a:moveTo>
                <a:lnTo>
                  <a:pt x="34543" y="0"/>
                </a:lnTo>
                <a:lnTo>
                  <a:pt x="31750" y="2794"/>
                </a:lnTo>
                <a:lnTo>
                  <a:pt x="31750" y="227075"/>
                </a:lnTo>
                <a:lnTo>
                  <a:pt x="34543" y="229870"/>
                </a:lnTo>
                <a:lnTo>
                  <a:pt x="41656" y="229870"/>
                </a:lnTo>
                <a:lnTo>
                  <a:pt x="44450" y="227075"/>
                </a:lnTo>
                <a:lnTo>
                  <a:pt x="44450" y="2794"/>
                </a:lnTo>
                <a:lnTo>
                  <a:pt x="41656" y="0"/>
                </a:lnTo>
                <a:close/>
              </a:path>
              <a:path w="76200" h="287019">
                <a:moveTo>
                  <a:pt x="76200" y="210820"/>
                </a:moveTo>
                <a:lnTo>
                  <a:pt x="44450" y="210820"/>
                </a:lnTo>
                <a:lnTo>
                  <a:pt x="44450" y="227075"/>
                </a:lnTo>
                <a:lnTo>
                  <a:pt x="41656" y="229870"/>
                </a:lnTo>
                <a:lnTo>
                  <a:pt x="66675" y="229870"/>
                </a:lnTo>
                <a:lnTo>
                  <a:pt x="76200" y="210820"/>
                </a:lnTo>
                <a:close/>
              </a:path>
            </a:pathLst>
          </a:custGeom>
          <a:solidFill>
            <a:srgbClr val="FF0000"/>
          </a:solidFill>
        </p:spPr>
        <p:txBody>
          <a:bodyPr wrap="square" lIns="0" tIns="0" rIns="0" bIns="0" rtlCol="0"/>
          <a:p>
            <a:endParaRPr sz="2400"/>
          </a:p>
        </p:txBody>
      </p:sp>
      <p:sp>
        <p:nvSpPr>
          <p:cNvPr id="8" name="object 8"/>
          <p:cNvSpPr/>
          <p:nvPr/>
        </p:nvSpPr>
        <p:spPr>
          <a:xfrm>
            <a:off x="3858895" y="398144"/>
            <a:ext cx="76200" cy="591820"/>
          </a:xfrm>
          <a:custGeom>
            <a:avLst/>
            <a:gdLst/>
            <a:ahLst/>
            <a:cxnLst/>
            <a:rect l="l" t="t" r="r" b="b"/>
            <a:pathLst>
              <a:path w="76200" h="591819">
                <a:moveTo>
                  <a:pt x="31750" y="515620"/>
                </a:moveTo>
                <a:lnTo>
                  <a:pt x="0" y="515620"/>
                </a:lnTo>
                <a:lnTo>
                  <a:pt x="38100" y="591820"/>
                </a:lnTo>
                <a:lnTo>
                  <a:pt x="66675" y="534670"/>
                </a:lnTo>
                <a:lnTo>
                  <a:pt x="34543" y="534670"/>
                </a:lnTo>
                <a:lnTo>
                  <a:pt x="31750" y="531876"/>
                </a:lnTo>
                <a:lnTo>
                  <a:pt x="31750" y="515620"/>
                </a:lnTo>
                <a:close/>
              </a:path>
              <a:path w="76200" h="591819">
                <a:moveTo>
                  <a:pt x="41656" y="0"/>
                </a:moveTo>
                <a:lnTo>
                  <a:pt x="34543" y="0"/>
                </a:lnTo>
                <a:lnTo>
                  <a:pt x="31750" y="2794"/>
                </a:lnTo>
                <a:lnTo>
                  <a:pt x="31750" y="531876"/>
                </a:lnTo>
                <a:lnTo>
                  <a:pt x="34543" y="534670"/>
                </a:lnTo>
                <a:lnTo>
                  <a:pt x="41656" y="534670"/>
                </a:lnTo>
                <a:lnTo>
                  <a:pt x="44450" y="531876"/>
                </a:lnTo>
                <a:lnTo>
                  <a:pt x="44450" y="2794"/>
                </a:lnTo>
                <a:lnTo>
                  <a:pt x="41656" y="0"/>
                </a:lnTo>
                <a:close/>
              </a:path>
              <a:path w="76200" h="591819">
                <a:moveTo>
                  <a:pt x="76200" y="515620"/>
                </a:moveTo>
                <a:lnTo>
                  <a:pt x="44450" y="515620"/>
                </a:lnTo>
                <a:lnTo>
                  <a:pt x="44450" y="531876"/>
                </a:lnTo>
                <a:lnTo>
                  <a:pt x="41656" y="534670"/>
                </a:lnTo>
                <a:lnTo>
                  <a:pt x="66675" y="534670"/>
                </a:lnTo>
                <a:lnTo>
                  <a:pt x="76200" y="515620"/>
                </a:lnTo>
                <a:close/>
              </a:path>
            </a:pathLst>
          </a:custGeom>
          <a:solidFill>
            <a:srgbClr val="FF0000"/>
          </a:solidFill>
        </p:spPr>
        <p:txBody>
          <a:bodyPr wrap="square" lIns="0" tIns="0" rIns="0" bIns="0" rtlCol="0"/>
          <a:p>
            <a:endParaRPr sz="2400"/>
          </a:p>
        </p:txBody>
      </p:sp>
      <p:sp>
        <p:nvSpPr>
          <p:cNvPr id="9" name="object 9"/>
          <p:cNvSpPr/>
          <p:nvPr/>
        </p:nvSpPr>
        <p:spPr>
          <a:xfrm>
            <a:off x="2309495" y="1020444"/>
            <a:ext cx="577850" cy="76200"/>
          </a:xfrm>
          <a:custGeom>
            <a:avLst/>
            <a:gdLst/>
            <a:ahLst/>
            <a:cxnLst/>
            <a:rect l="l" t="t" r="r" b="b"/>
            <a:pathLst>
              <a:path w="577850" h="76200">
                <a:moveTo>
                  <a:pt x="501650" y="0"/>
                </a:moveTo>
                <a:lnTo>
                  <a:pt x="501650" y="76200"/>
                </a:lnTo>
                <a:lnTo>
                  <a:pt x="565150" y="44450"/>
                </a:lnTo>
                <a:lnTo>
                  <a:pt x="517906" y="44450"/>
                </a:lnTo>
                <a:lnTo>
                  <a:pt x="520700" y="41655"/>
                </a:lnTo>
                <a:lnTo>
                  <a:pt x="520700" y="34544"/>
                </a:lnTo>
                <a:lnTo>
                  <a:pt x="517906" y="31750"/>
                </a:lnTo>
                <a:lnTo>
                  <a:pt x="565150" y="31750"/>
                </a:lnTo>
                <a:lnTo>
                  <a:pt x="501650" y="0"/>
                </a:lnTo>
                <a:close/>
              </a:path>
              <a:path w="577850" h="76200">
                <a:moveTo>
                  <a:pt x="501650" y="31750"/>
                </a:moveTo>
                <a:lnTo>
                  <a:pt x="2844" y="31750"/>
                </a:lnTo>
                <a:lnTo>
                  <a:pt x="0" y="34544"/>
                </a:lnTo>
                <a:lnTo>
                  <a:pt x="0" y="41655"/>
                </a:lnTo>
                <a:lnTo>
                  <a:pt x="2844" y="44450"/>
                </a:lnTo>
                <a:lnTo>
                  <a:pt x="501650" y="44450"/>
                </a:lnTo>
                <a:lnTo>
                  <a:pt x="501650" y="31750"/>
                </a:lnTo>
                <a:close/>
              </a:path>
              <a:path w="577850" h="76200">
                <a:moveTo>
                  <a:pt x="565150" y="31750"/>
                </a:moveTo>
                <a:lnTo>
                  <a:pt x="517906" y="31750"/>
                </a:lnTo>
                <a:lnTo>
                  <a:pt x="520700" y="34544"/>
                </a:lnTo>
                <a:lnTo>
                  <a:pt x="520700" y="41655"/>
                </a:lnTo>
                <a:lnTo>
                  <a:pt x="517906" y="44450"/>
                </a:lnTo>
                <a:lnTo>
                  <a:pt x="565150" y="44450"/>
                </a:lnTo>
                <a:lnTo>
                  <a:pt x="577850" y="38100"/>
                </a:lnTo>
                <a:lnTo>
                  <a:pt x="565150" y="31750"/>
                </a:lnTo>
                <a:close/>
              </a:path>
            </a:pathLst>
          </a:custGeom>
          <a:solidFill>
            <a:srgbClr val="FF0000"/>
          </a:solidFill>
        </p:spPr>
        <p:txBody>
          <a:bodyPr wrap="square" lIns="0" tIns="0" rIns="0" bIns="0" rtlCol="0"/>
          <a:p>
            <a:endParaRPr sz="2400"/>
          </a:p>
        </p:txBody>
      </p:sp>
      <p:sp>
        <p:nvSpPr>
          <p:cNvPr id="10" name="object 10"/>
          <p:cNvSpPr/>
          <p:nvPr/>
        </p:nvSpPr>
        <p:spPr>
          <a:xfrm>
            <a:off x="6078220" y="3165474"/>
            <a:ext cx="76200" cy="483870"/>
          </a:xfrm>
          <a:custGeom>
            <a:avLst/>
            <a:gdLst/>
            <a:ahLst/>
            <a:cxnLst/>
            <a:rect l="l" t="t" r="r" b="b"/>
            <a:pathLst>
              <a:path w="76200" h="483870">
                <a:moveTo>
                  <a:pt x="41655" y="57150"/>
                </a:moveTo>
                <a:lnTo>
                  <a:pt x="34544" y="57150"/>
                </a:lnTo>
                <a:lnTo>
                  <a:pt x="31750" y="59944"/>
                </a:lnTo>
                <a:lnTo>
                  <a:pt x="31750" y="481075"/>
                </a:lnTo>
                <a:lnTo>
                  <a:pt x="34544" y="483870"/>
                </a:lnTo>
                <a:lnTo>
                  <a:pt x="41655" y="483870"/>
                </a:lnTo>
                <a:lnTo>
                  <a:pt x="44450" y="481075"/>
                </a:lnTo>
                <a:lnTo>
                  <a:pt x="44450" y="59944"/>
                </a:lnTo>
                <a:lnTo>
                  <a:pt x="41655" y="57150"/>
                </a:lnTo>
                <a:close/>
              </a:path>
              <a:path w="76200" h="483870">
                <a:moveTo>
                  <a:pt x="38100" y="0"/>
                </a:moveTo>
                <a:lnTo>
                  <a:pt x="0" y="76200"/>
                </a:lnTo>
                <a:lnTo>
                  <a:pt x="31750" y="76200"/>
                </a:lnTo>
                <a:lnTo>
                  <a:pt x="31750" y="59944"/>
                </a:lnTo>
                <a:lnTo>
                  <a:pt x="34544" y="57150"/>
                </a:lnTo>
                <a:lnTo>
                  <a:pt x="66675" y="57150"/>
                </a:lnTo>
                <a:lnTo>
                  <a:pt x="38100" y="0"/>
                </a:lnTo>
                <a:close/>
              </a:path>
              <a:path w="76200" h="483870">
                <a:moveTo>
                  <a:pt x="66675" y="57150"/>
                </a:moveTo>
                <a:lnTo>
                  <a:pt x="41655" y="57150"/>
                </a:lnTo>
                <a:lnTo>
                  <a:pt x="44450" y="59944"/>
                </a:lnTo>
                <a:lnTo>
                  <a:pt x="44450" y="76200"/>
                </a:lnTo>
                <a:lnTo>
                  <a:pt x="76200" y="76200"/>
                </a:lnTo>
                <a:lnTo>
                  <a:pt x="66675" y="57150"/>
                </a:lnTo>
                <a:close/>
              </a:path>
            </a:pathLst>
          </a:custGeom>
          <a:solidFill>
            <a:srgbClr val="FF0000"/>
          </a:solidFill>
        </p:spPr>
        <p:txBody>
          <a:bodyPr wrap="square" lIns="0" tIns="0" rIns="0" bIns="0" rtlCol="0"/>
          <a:p>
            <a:endParaRPr sz="2400"/>
          </a:p>
        </p:txBody>
      </p:sp>
      <p:sp>
        <p:nvSpPr>
          <p:cNvPr id="11" name="object 11"/>
          <p:cNvSpPr/>
          <p:nvPr/>
        </p:nvSpPr>
        <p:spPr>
          <a:xfrm>
            <a:off x="7097395" y="2277744"/>
            <a:ext cx="492125" cy="76200"/>
          </a:xfrm>
          <a:custGeom>
            <a:avLst/>
            <a:gdLst/>
            <a:ahLst/>
            <a:cxnLst/>
            <a:rect l="l" t="t" r="r" b="b"/>
            <a:pathLst>
              <a:path w="492125" h="76200">
                <a:moveTo>
                  <a:pt x="76200" y="0"/>
                </a:moveTo>
                <a:lnTo>
                  <a:pt x="0" y="38100"/>
                </a:lnTo>
                <a:lnTo>
                  <a:pt x="76200" y="76200"/>
                </a:lnTo>
                <a:lnTo>
                  <a:pt x="76200" y="44450"/>
                </a:lnTo>
                <a:lnTo>
                  <a:pt x="59944" y="44450"/>
                </a:lnTo>
                <a:lnTo>
                  <a:pt x="57150" y="41655"/>
                </a:lnTo>
                <a:lnTo>
                  <a:pt x="57150" y="34543"/>
                </a:lnTo>
                <a:lnTo>
                  <a:pt x="59944" y="31750"/>
                </a:lnTo>
                <a:lnTo>
                  <a:pt x="76200" y="31750"/>
                </a:lnTo>
                <a:lnTo>
                  <a:pt x="76200" y="0"/>
                </a:lnTo>
                <a:close/>
              </a:path>
              <a:path w="492125" h="76200">
                <a:moveTo>
                  <a:pt x="76200" y="31750"/>
                </a:moveTo>
                <a:lnTo>
                  <a:pt x="59944" y="31750"/>
                </a:lnTo>
                <a:lnTo>
                  <a:pt x="57150" y="34543"/>
                </a:lnTo>
                <a:lnTo>
                  <a:pt x="57150" y="41655"/>
                </a:lnTo>
                <a:lnTo>
                  <a:pt x="59944" y="44450"/>
                </a:lnTo>
                <a:lnTo>
                  <a:pt x="76200" y="44450"/>
                </a:lnTo>
                <a:lnTo>
                  <a:pt x="76200" y="31750"/>
                </a:lnTo>
                <a:close/>
              </a:path>
              <a:path w="492125" h="76200">
                <a:moveTo>
                  <a:pt x="489330" y="31750"/>
                </a:moveTo>
                <a:lnTo>
                  <a:pt x="76200" y="31750"/>
                </a:lnTo>
                <a:lnTo>
                  <a:pt x="76200" y="44450"/>
                </a:lnTo>
                <a:lnTo>
                  <a:pt x="489330" y="44450"/>
                </a:lnTo>
                <a:lnTo>
                  <a:pt x="492125" y="41655"/>
                </a:lnTo>
                <a:lnTo>
                  <a:pt x="492125" y="34543"/>
                </a:lnTo>
                <a:lnTo>
                  <a:pt x="489330" y="31750"/>
                </a:lnTo>
                <a:close/>
              </a:path>
            </a:pathLst>
          </a:custGeom>
          <a:solidFill>
            <a:srgbClr val="FF0000"/>
          </a:solidFill>
        </p:spPr>
        <p:txBody>
          <a:bodyPr wrap="square" lIns="0" tIns="0" rIns="0" bIns="0" rtlCol="0"/>
          <a:p>
            <a:endParaRPr sz="2400"/>
          </a:p>
        </p:txBody>
      </p:sp>
      <p:sp>
        <p:nvSpPr>
          <p:cNvPr id="12" name="object 12"/>
          <p:cNvSpPr/>
          <p:nvPr/>
        </p:nvSpPr>
        <p:spPr>
          <a:xfrm>
            <a:off x="7097395" y="1496694"/>
            <a:ext cx="492125" cy="76200"/>
          </a:xfrm>
          <a:custGeom>
            <a:avLst/>
            <a:gdLst/>
            <a:ahLst/>
            <a:cxnLst/>
            <a:rect l="l" t="t" r="r" b="b"/>
            <a:pathLst>
              <a:path w="492125" h="76200">
                <a:moveTo>
                  <a:pt x="76200" y="0"/>
                </a:moveTo>
                <a:lnTo>
                  <a:pt x="0" y="38100"/>
                </a:lnTo>
                <a:lnTo>
                  <a:pt x="76200" y="76200"/>
                </a:lnTo>
                <a:lnTo>
                  <a:pt x="76200" y="44450"/>
                </a:lnTo>
                <a:lnTo>
                  <a:pt x="59944" y="44450"/>
                </a:lnTo>
                <a:lnTo>
                  <a:pt x="57150" y="41655"/>
                </a:lnTo>
                <a:lnTo>
                  <a:pt x="57150" y="34544"/>
                </a:lnTo>
                <a:lnTo>
                  <a:pt x="59944" y="31750"/>
                </a:lnTo>
                <a:lnTo>
                  <a:pt x="76200" y="31750"/>
                </a:lnTo>
                <a:lnTo>
                  <a:pt x="76200" y="0"/>
                </a:lnTo>
                <a:close/>
              </a:path>
              <a:path w="492125" h="76200">
                <a:moveTo>
                  <a:pt x="76200" y="31750"/>
                </a:moveTo>
                <a:lnTo>
                  <a:pt x="59944" y="31750"/>
                </a:lnTo>
                <a:lnTo>
                  <a:pt x="57150" y="34544"/>
                </a:lnTo>
                <a:lnTo>
                  <a:pt x="57150" y="41655"/>
                </a:lnTo>
                <a:lnTo>
                  <a:pt x="59944" y="44450"/>
                </a:lnTo>
                <a:lnTo>
                  <a:pt x="76200" y="44450"/>
                </a:lnTo>
                <a:lnTo>
                  <a:pt x="76200" y="31750"/>
                </a:lnTo>
                <a:close/>
              </a:path>
              <a:path w="492125" h="76200">
                <a:moveTo>
                  <a:pt x="489330" y="31750"/>
                </a:moveTo>
                <a:lnTo>
                  <a:pt x="76200" y="31750"/>
                </a:lnTo>
                <a:lnTo>
                  <a:pt x="76200" y="44450"/>
                </a:lnTo>
                <a:lnTo>
                  <a:pt x="489330" y="44450"/>
                </a:lnTo>
                <a:lnTo>
                  <a:pt x="492125" y="41655"/>
                </a:lnTo>
                <a:lnTo>
                  <a:pt x="492125" y="34544"/>
                </a:lnTo>
                <a:lnTo>
                  <a:pt x="489330" y="31750"/>
                </a:lnTo>
                <a:close/>
              </a:path>
            </a:pathLst>
          </a:custGeom>
          <a:solidFill>
            <a:srgbClr val="FF0000"/>
          </a:solidFill>
        </p:spPr>
        <p:txBody>
          <a:bodyPr wrap="square" lIns="0" tIns="0" rIns="0" bIns="0" rtlCol="0"/>
          <a:p>
            <a:endParaRPr sz="2400"/>
          </a:p>
        </p:txBody>
      </p:sp>
      <p:sp>
        <p:nvSpPr>
          <p:cNvPr id="13" name="object 13"/>
          <p:cNvSpPr/>
          <p:nvPr/>
        </p:nvSpPr>
        <p:spPr>
          <a:xfrm>
            <a:off x="6583045" y="326389"/>
            <a:ext cx="76200" cy="406400"/>
          </a:xfrm>
          <a:custGeom>
            <a:avLst/>
            <a:gdLst/>
            <a:ahLst/>
            <a:cxnLst/>
            <a:rect l="l" t="t" r="r" b="b"/>
            <a:pathLst>
              <a:path w="76200" h="406400">
                <a:moveTo>
                  <a:pt x="31750" y="330200"/>
                </a:moveTo>
                <a:lnTo>
                  <a:pt x="0" y="330200"/>
                </a:lnTo>
                <a:lnTo>
                  <a:pt x="38100" y="406400"/>
                </a:lnTo>
                <a:lnTo>
                  <a:pt x="66675" y="349250"/>
                </a:lnTo>
                <a:lnTo>
                  <a:pt x="34544" y="349250"/>
                </a:lnTo>
                <a:lnTo>
                  <a:pt x="31750" y="346455"/>
                </a:lnTo>
                <a:lnTo>
                  <a:pt x="31750" y="330200"/>
                </a:lnTo>
                <a:close/>
              </a:path>
              <a:path w="76200" h="406400">
                <a:moveTo>
                  <a:pt x="41655" y="0"/>
                </a:moveTo>
                <a:lnTo>
                  <a:pt x="34544" y="0"/>
                </a:lnTo>
                <a:lnTo>
                  <a:pt x="31750" y="2793"/>
                </a:lnTo>
                <a:lnTo>
                  <a:pt x="31750" y="346455"/>
                </a:lnTo>
                <a:lnTo>
                  <a:pt x="34544" y="349250"/>
                </a:lnTo>
                <a:lnTo>
                  <a:pt x="41655" y="349250"/>
                </a:lnTo>
                <a:lnTo>
                  <a:pt x="44450" y="346455"/>
                </a:lnTo>
                <a:lnTo>
                  <a:pt x="44450" y="2793"/>
                </a:lnTo>
                <a:lnTo>
                  <a:pt x="41655" y="0"/>
                </a:lnTo>
                <a:close/>
              </a:path>
              <a:path w="76200" h="406400">
                <a:moveTo>
                  <a:pt x="76200" y="330200"/>
                </a:moveTo>
                <a:lnTo>
                  <a:pt x="44450" y="330200"/>
                </a:lnTo>
                <a:lnTo>
                  <a:pt x="44450" y="346455"/>
                </a:lnTo>
                <a:lnTo>
                  <a:pt x="41655" y="349250"/>
                </a:lnTo>
                <a:lnTo>
                  <a:pt x="66675" y="349250"/>
                </a:lnTo>
                <a:lnTo>
                  <a:pt x="76200" y="330200"/>
                </a:lnTo>
                <a:close/>
              </a:path>
            </a:pathLst>
          </a:custGeom>
          <a:solidFill>
            <a:srgbClr val="FF0000"/>
          </a:solidFill>
        </p:spPr>
        <p:txBody>
          <a:bodyPr wrap="square" lIns="0" tIns="0" rIns="0" bIns="0" rtlCol="0"/>
          <a:p>
            <a:endParaRPr sz="2400"/>
          </a:p>
        </p:txBody>
      </p:sp>
      <p:sp>
        <p:nvSpPr>
          <p:cNvPr id="14" name="object 14"/>
          <p:cNvSpPr/>
          <p:nvPr/>
        </p:nvSpPr>
        <p:spPr>
          <a:xfrm>
            <a:off x="6078220" y="398144"/>
            <a:ext cx="76200" cy="334645"/>
          </a:xfrm>
          <a:custGeom>
            <a:avLst/>
            <a:gdLst/>
            <a:ahLst/>
            <a:cxnLst/>
            <a:rect l="l" t="t" r="r" b="b"/>
            <a:pathLst>
              <a:path w="76200" h="334644">
                <a:moveTo>
                  <a:pt x="31750" y="258445"/>
                </a:moveTo>
                <a:lnTo>
                  <a:pt x="0" y="258445"/>
                </a:lnTo>
                <a:lnTo>
                  <a:pt x="38100" y="334645"/>
                </a:lnTo>
                <a:lnTo>
                  <a:pt x="66675" y="277495"/>
                </a:lnTo>
                <a:lnTo>
                  <a:pt x="34544" y="277495"/>
                </a:lnTo>
                <a:lnTo>
                  <a:pt x="31750" y="274700"/>
                </a:lnTo>
                <a:lnTo>
                  <a:pt x="31750" y="258445"/>
                </a:lnTo>
                <a:close/>
              </a:path>
              <a:path w="76200" h="334644">
                <a:moveTo>
                  <a:pt x="41655" y="0"/>
                </a:moveTo>
                <a:lnTo>
                  <a:pt x="34544" y="0"/>
                </a:lnTo>
                <a:lnTo>
                  <a:pt x="31750" y="2794"/>
                </a:lnTo>
                <a:lnTo>
                  <a:pt x="31750" y="274700"/>
                </a:lnTo>
                <a:lnTo>
                  <a:pt x="34544" y="277495"/>
                </a:lnTo>
                <a:lnTo>
                  <a:pt x="41655" y="277495"/>
                </a:lnTo>
                <a:lnTo>
                  <a:pt x="44450" y="274700"/>
                </a:lnTo>
                <a:lnTo>
                  <a:pt x="44450" y="2794"/>
                </a:lnTo>
                <a:lnTo>
                  <a:pt x="41655" y="0"/>
                </a:lnTo>
                <a:close/>
              </a:path>
              <a:path w="76200" h="334644">
                <a:moveTo>
                  <a:pt x="76200" y="258445"/>
                </a:moveTo>
                <a:lnTo>
                  <a:pt x="44450" y="258445"/>
                </a:lnTo>
                <a:lnTo>
                  <a:pt x="44450" y="274700"/>
                </a:lnTo>
                <a:lnTo>
                  <a:pt x="41655" y="277495"/>
                </a:lnTo>
                <a:lnTo>
                  <a:pt x="66675" y="277495"/>
                </a:lnTo>
                <a:lnTo>
                  <a:pt x="76200" y="258445"/>
                </a:lnTo>
                <a:close/>
              </a:path>
            </a:pathLst>
          </a:custGeom>
          <a:solidFill>
            <a:srgbClr val="FF0000"/>
          </a:solidFill>
        </p:spPr>
        <p:txBody>
          <a:bodyPr wrap="square" lIns="0" tIns="0" rIns="0" bIns="0" rtlCol="0"/>
          <a:p>
            <a:endParaRPr sz="2400"/>
          </a:p>
        </p:txBody>
      </p:sp>
      <p:sp>
        <p:nvSpPr>
          <p:cNvPr id="15" name="object 15"/>
          <p:cNvSpPr/>
          <p:nvPr/>
        </p:nvSpPr>
        <p:spPr>
          <a:xfrm>
            <a:off x="4706620" y="398144"/>
            <a:ext cx="76200" cy="591820"/>
          </a:xfrm>
          <a:custGeom>
            <a:avLst/>
            <a:gdLst/>
            <a:ahLst/>
            <a:cxnLst/>
            <a:rect l="l" t="t" r="r" b="b"/>
            <a:pathLst>
              <a:path w="76200" h="591819">
                <a:moveTo>
                  <a:pt x="31750" y="515620"/>
                </a:moveTo>
                <a:lnTo>
                  <a:pt x="0" y="515620"/>
                </a:lnTo>
                <a:lnTo>
                  <a:pt x="38100" y="591820"/>
                </a:lnTo>
                <a:lnTo>
                  <a:pt x="66675" y="534670"/>
                </a:lnTo>
                <a:lnTo>
                  <a:pt x="34544" y="534670"/>
                </a:lnTo>
                <a:lnTo>
                  <a:pt x="31750" y="531876"/>
                </a:lnTo>
                <a:lnTo>
                  <a:pt x="31750" y="515620"/>
                </a:lnTo>
                <a:close/>
              </a:path>
              <a:path w="76200" h="591819">
                <a:moveTo>
                  <a:pt x="41655" y="0"/>
                </a:moveTo>
                <a:lnTo>
                  <a:pt x="34544" y="0"/>
                </a:lnTo>
                <a:lnTo>
                  <a:pt x="31750" y="2794"/>
                </a:lnTo>
                <a:lnTo>
                  <a:pt x="31750" y="531876"/>
                </a:lnTo>
                <a:lnTo>
                  <a:pt x="34544" y="534670"/>
                </a:lnTo>
                <a:lnTo>
                  <a:pt x="41655" y="534670"/>
                </a:lnTo>
                <a:lnTo>
                  <a:pt x="44450" y="531876"/>
                </a:lnTo>
                <a:lnTo>
                  <a:pt x="44450" y="2794"/>
                </a:lnTo>
                <a:lnTo>
                  <a:pt x="41655" y="0"/>
                </a:lnTo>
                <a:close/>
              </a:path>
              <a:path w="76200" h="591819">
                <a:moveTo>
                  <a:pt x="76200" y="515620"/>
                </a:moveTo>
                <a:lnTo>
                  <a:pt x="44450" y="515620"/>
                </a:lnTo>
                <a:lnTo>
                  <a:pt x="44450" y="531876"/>
                </a:lnTo>
                <a:lnTo>
                  <a:pt x="41655" y="534670"/>
                </a:lnTo>
                <a:lnTo>
                  <a:pt x="66675" y="534670"/>
                </a:lnTo>
                <a:lnTo>
                  <a:pt x="76200" y="515620"/>
                </a:lnTo>
                <a:close/>
              </a:path>
            </a:pathLst>
          </a:custGeom>
          <a:solidFill>
            <a:srgbClr val="FF0000"/>
          </a:solidFill>
        </p:spPr>
        <p:txBody>
          <a:bodyPr wrap="square" lIns="0" tIns="0" rIns="0" bIns="0" rtlCol="0"/>
          <a:p>
            <a:endParaRPr sz="2400"/>
          </a:p>
        </p:txBody>
      </p:sp>
      <p:sp>
        <p:nvSpPr>
          <p:cNvPr id="24" name="文本框 23"/>
          <p:cNvSpPr txBox="1"/>
          <p:nvPr/>
        </p:nvSpPr>
        <p:spPr>
          <a:xfrm>
            <a:off x="2929890" y="3810"/>
            <a:ext cx="769620" cy="368300"/>
          </a:xfrm>
          <a:prstGeom prst="rect">
            <a:avLst/>
          </a:prstGeom>
          <a:noFill/>
        </p:spPr>
        <p:txBody>
          <a:bodyPr wrap="square" rtlCol="0">
            <a:spAutoFit/>
          </a:bodyPr>
          <a:p>
            <a:r>
              <a:rPr lang="en-US" altLang="zh-CN"/>
              <a:t>1</a:t>
            </a:r>
            <a:endParaRPr lang="en-US" altLang="zh-CN"/>
          </a:p>
        </p:txBody>
      </p:sp>
      <p:sp>
        <p:nvSpPr>
          <p:cNvPr id="25" name="文本框 24"/>
          <p:cNvSpPr txBox="1"/>
          <p:nvPr/>
        </p:nvSpPr>
        <p:spPr>
          <a:xfrm>
            <a:off x="3666490" y="54610"/>
            <a:ext cx="769620" cy="368300"/>
          </a:xfrm>
          <a:prstGeom prst="rect">
            <a:avLst/>
          </a:prstGeom>
          <a:noFill/>
        </p:spPr>
        <p:txBody>
          <a:bodyPr wrap="square" rtlCol="0">
            <a:spAutoFit/>
          </a:bodyPr>
          <a:p>
            <a:r>
              <a:rPr lang="en-US" altLang="zh-CN"/>
              <a:t>2</a:t>
            </a:r>
            <a:endParaRPr lang="en-US" altLang="zh-CN"/>
          </a:p>
        </p:txBody>
      </p:sp>
      <p:sp>
        <p:nvSpPr>
          <p:cNvPr id="26" name="文本框 25"/>
          <p:cNvSpPr txBox="1"/>
          <p:nvPr/>
        </p:nvSpPr>
        <p:spPr>
          <a:xfrm>
            <a:off x="4580890" y="54610"/>
            <a:ext cx="769620" cy="368300"/>
          </a:xfrm>
          <a:prstGeom prst="rect">
            <a:avLst/>
          </a:prstGeom>
          <a:noFill/>
        </p:spPr>
        <p:txBody>
          <a:bodyPr wrap="square" rtlCol="0">
            <a:spAutoFit/>
          </a:bodyPr>
          <a:p>
            <a:r>
              <a:rPr lang="en-US" altLang="zh-CN"/>
              <a:t>3</a:t>
            </a:r>
            <a:endParaRPr lang="en-US" altLang="zh-CN"/>
          </a:p>
        </p:txBody>
      </p:sp>
      <p:sp>
        <p:nvSpPr>
          <p:cNvPr id="27" name="文本框 26"/>
          <p:cNvSpPr txBox="1"/>
          <p:nvPr/>
        </p:nvSpPr>
        <p:spPr>
          <a:xfrm>
            <a:off x="5952490" y="54610"/>
            <a:ext cx="769620" cy="368300"/>
          </a:xfrm>
          <a:prstGeom prst="rect">
            <a:avLst/>
          </a:prstGeom>
          <a:noFill/>
        </p:spPr>
        <p:txBody>
          <a:bodyPr wrap="square" rtlCol="0">
            <a:spAutoFit/>
          </a:bodyPr>
          <a:p>
            <a:r>
              <a:rPr lang="en-US" altLang="zh-CN"/>
              <a:t>4</a:t>
            </a:r>
            <a:endParaRPr lang="en-US" altLang="zh-CN"/>
          </a:p>
        </p:txBody>
      </p:sp>
      <p:sp>
        <p:nvSpPr>
          <p:cNvPr id="28" name="文本框 27"/>
          <p:cNvSpPr txBox="1"/>
          <p:nvPr/>
        </p:nvSpPr>
        <p:spPr>
          <a:xfrm>
            <a:off x="6485890" y="-21590"/>
            <a:ext cx="769620" cy="368300"/>
          </a:xfrm>
          <a:prstGeom prst="rect">
            <a:avLst/>
          </a:prstGeom>
          <a:noFill/>
        </p:spPr>
        <p:txBody>
          <a:bodyPr wrap="square" rtlCol="0">
            <a:spAutoFit/>
          </a:bodyPr>
          <a:p>
            <a:r>
              <a:rPr lang="en-US" altLang="zh-CN"/>
              <a:t>5</a:t>
            </a:r>
            <a:endParaRPr lang="en-US" altLang="zh-CN"/>
          </a:p>
        </p:txBody>
      </p:sp>
      <p:sp>
        <p:nvSpPr>
          <p:cNvPr id="29" name="文本框 28"/>
          <p:cNvSpPr txBox="1"/>
          <p:nvPr/>
        </p:nvSpPr>
        <p:spPr>
          <a:xfrm>
            <a:off x="7552690" y="1273810"/>
            <a:ext cx="769620" cy="368300"/>
          </a:xfrm>
          <a:prstGeom prst="rect">
            <a:avLst/>
          </a:prstGeom>
          <a:noFill/>
        </p:spPr>
        <p:txBody>
          <a:bodyPr wrap="square" rtlCol="0">
            <a:spAutoFit/>
          </a:bodyPr>
          <a:p>
            <a:r>
              <a:rPr lang="en-US" altLang="zh-CN"/>
              <a:t>6</a:t>
            </a:r>
            <a:endParaRPr lang="en-US" altLang="zh-CN"/>
          </a:p>
        </p:txBody>
      </p:sp>
      <p:sp>
        <p:nvSpPr>
          <p:cNvPr id="30" name="文本框 29"/>
          <p:cNvSpPr txBox="1"/>
          <p:nvPr/>
        </p:nvSpPr>
        <p:spPr>
          <a:xfrm>
            <a:off x="7603490" y="2162810"/>
            <a:ext cx="769620" cy="368300"/>
          </a:xfrm>
          <a:prstGeom prst="rect">
            <a:avLst/>
          </a:prstGeom>
          <a:noFill/>
        </p:spPr>
        <p:txBody>
          <a:bodyPr wrap="square" rtlCol="0">
            <a:spAutoFit/>
          </a:bodyPr>
          <a:p>
            <a:r>
              <a:rPr lang="en-US" altLang="zh-CN"/>
              <a:t>7</a:t>
            </a:r>
            <a:endParaRPr lang="en-US" altLang="zh-CN"/>
          </a:p>
        </p:txBody>
      </p:sp>
      <p:sp>
        <p:nvSpPr>
          <p:cNvPr id="31" name="文本框 30"/>
          <p:cNvSpPr txBox="1"/>
          <p:nvPr/>
        </p:nvSpPr>
        <p:spPr>
          <a:xfrm>
            <a:off x="5927090" y="3610610"/>
            <a:ext cx="769620" cy="368300"/>
          </a:xfrm>
          <a:prstGeom prst="rect">
            <a:avLst/>
          </a:prstGeom>
          <a:noFill/>
        </p:spPr>
        <p:txBody>
          <a:bodyPr wrap="square" rtlCol="0">
            <a:spAutoFit/>
          </a:bodyPr>
          <a:p>
            <a:r>
              <a:rPr lang="en-US" altLang="zh-CN"/>
              <a:t>8</a:t>
            </a:r>
            <a:endParaRPr lang="en-US" altLang="zh-CN"/>
          </a:p>
        </p:txBody>
      </p:sp>
      <p:sp>
        <p:nvSpPr>
          <p:cNvPr id="32" name="文本框 31"/>
          <p:cNvSpPr txBox="1"/>
          <p:nvPr/>
        </p:nvSpPr>
        <p:spPr>
          <a:xfrm>
            <a:off x="1941195" y="905510"/>
            <a:ext cx="769620" cy="368300"/>
          </a:xfrm>
          <a:prstGeom prst="rect">
            <a:avLst/>
          </a:prstGeom>
          <a:noFill/>
        </p:spPr>
        <p:txBody>
          <a:bodyPr wrap="square" rtlCol="0">
            <a:spAutoFit/>
          </a:bodyPr>
          <a:p>
            <a:r>
              <a:rPr lang="en-US" altLang="zh-CN"/>
              <a:t>9</a:t>
            </a:r>
            <a:endParaRPr lang="en-US" altLang="zh-CN"/>
          </a:p>
        </p:txBody>
      </p:sp>
      <p:sp>
        <p:nvSpPr>
          <p:cNvPr id="19" name="object 19"/>
          <p:cNvSpPr txBox="1"/>
          <p:nvPr/>
        </p:nvSpPr>
        <p:spPr>
          <a:xfrm>
            <a:off x="1216660" y="3461385"/>
            <a:ext cx="7270750" cy="3244850"/>
          </a:xfrm>
          <a:prstGeom prst="rect">
            <a:avLst/>
          </a:prstGeom>
        </p:spPr>
        <p:txBody>
          <a:bodyPr vert="horz" wrap="square" lIns="0" tIns="85090" rIns="0" bIns="0" rtlCol="0">
            <a:spAutoFit/>
          </a:bodyPr>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串并联标识：打开串并联时，显示该标识；</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通道标识；</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工作模式标志：</a:t>
            </a:r>
            <a:r>
              <a:rPr sz="1800" b="1" dirty="0">
                <a:solidFill>
                  <a:srgbClr val="FF0000"/>
                </a:solidFill>
                <a:latin typeface="宋体" panose="02010600030101010101" pitchFamily="2" charset="-122"/>
                <a:cs typeface="宋体" panose="02010600030101010101" pitchFamily="2" charset="-122"/>
              </a:rPr>
              <a:t>工作恒压</a:t>
            </a:r>
            <a:r>
              <a:rPr sz="1800" b="1" spc="-5" dirty="0">
                <a:solidFill>
                  <a:srgbClr val="FF0000"/>
                </a:solidFill>
                <a:latin typeface="宋体" panose="02010600030101010101" pitchFamily="2" charset="-122"/>
                <a:cs typeface="宋体" panose="02010600030101010101" pitchFamily="2" charset="-122"/>
              </a:rPr>
              <a:t>（</a:t>
            </a:r>
            <a:r>
              <a:rPr sz="1800" b="1" spc="-5" dirty="0">
                <a:solidFill>
                  <a:srgbClr val="FF0000"/>
                </a:solidFill>
                <a:latin typeface="Times New Roman" panose="02020603050405020304"/>
                <a:cs typeface="Times New Roman" panose="02020603050405020304"/>
              </a:rPr>
              <a:t>CV</a:t>
            </a:r>
            <a:r>
              <a:rPr sz="1800" b="1" spc="-5" dirty="0">
                <a:solidFill>
                  <a:srgbClr val="FF0000"/>
                </a:solidFill>
                <a:latin typeface="宋体" panose="02010600030101010101" pitchFamily="2" charset="-122"/>
                <a:cs typeface="宋体" panose="02010600030101010101" pitchFamily="2" charset="-122"/>
              </a:rPr>
              <a:t>）</a:t>
            </a:r>
            <a:r>
              <a:rPr sz="1800" b="1" dirty="0">
                <a:solidFill>
                  <a:srgbClr val="FF0000"/>
                </a:solidFill>
                <a:latin typeface="宋体" panose="02010600030101010101" pitchFamily="2" charset="-122"/>
                <a:cs typeface="宋体" panose="02010600030101010101" pitchFamily="2" charset="-122"/>
              </a:rPr>
              <a:t>与恒流（</a:t>
            </a:r>
            <a:r>
              <a:rPr sz="1800" b="1" dirty="0">
                <a:solidFill>
                  <a:srgbClr val="FF0000"/>
                </a:solidFill>
                <a:latin typeface="Times New Roman" panose="02020603050405020304"/>
                <a:cs typeface="Times New Roman" panose="02020603050405020304"/>
              </a:rPr>
              <a:t>CC</a:t>
            </a:r>
            <a:r>
              <a:rPr sz="1800" b="1" dirty="0">
                <a:solidFill>
                  <a:srgbClr val="FF0000"/>
                </a:solidFill>
                <a:latin typeface="宋体" panose="02010600030101010101" pitchFamily="2" charset="-122"/>
                <a:cs typeface="宋体" panose="02010600030101010101" pitchFamily="2" charset="-122"/>
              </a:rPr>
              <a:t>）时</a:t>
            </a:r>
            <a:r>
              <a:rPr sz="1800" dirty="0">
                <a:latin typeface="宋体" panose="02010600030101010101" pitchFamily="2" charset="-122"/>
                <a:cs typeface="宋体" panose="02010600030101010101" pitchFamily="2" charset="-122"/>
              </a:rPr>
              <a:t>，显示相应标识；</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spc="-60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LAN</a:t>
            </a:r>
            <a:r>
              <a:rPr sz="1800" spc="-20" dirty="0">
                <a:latin typeface="Times New Roman" panose="02020603050405020304"/>
                <a:cs typeface="Times New Roman" panose="02020603050405020304"/>
              </a:rPr>
              <a:t> </a:t>
            </a:r>
            <a:r>
              <a:rPr sz="1800" dirty="0">
                <a:latin typeface="宋体" panose="02010600030101010101" pitchFamily="2" charset="-122"/>
                <a:cs typeface="宋体" panose="02010600030101010101" pitchFamily="2" charset="-122"/>
              </a:rPr>
              <a:t>口连接标识：检测到后</a:t>
            </a:r>
            <a:r>
              <a:rPr sz="1800" spc="20" dirty="0">
                <a:latin typeface="宋体" panose="02010600030101010101" pitchFamily="2" charset="-122"/>
                <a:cs typeface="宋体" panose="02010600030101010101" pitchFamily="2" charset="-122"/>
              </a:rPr>
              <a:t>端</a:t>
            </a:r>
            <a:r>
              <a:rPr sz="1800" spc="290" dirty="0">
                <a:latin typeface="宋体" panose="02010600030101010101" pitchFamily="2" charset="-122"/>
                <a:cs typeface="宋体" panose="02010600030101010101" pitchFamily="2" charset="-122"/>
              </a:rPr>
              <a:t>有</a:t>
            </a:r>
            <a:r>
              <a:rPr sz="1800" dirty="0">
                <a:latin typeface="Times New Roman" panose="02020603050405020304"/>
                <a:cs typeface="Times New Roman" panose="02020603050405020304"/>
              </a:rPr>
              <a:t>LAN</a:t>
            </a:r>
            <a:r>
              <a:rPr sz="1800" spc="-25" dirty="0">
                <a:latin typeface="Times New Roman" panose="02020603050405020304"/>
                <a:cs typeface="Times New Roman" panose="02020603050405020304"/>
              </a:rPr>
              <a:t> </a:t>
            </a:r>
            <a:r>
              <a:rPr sz="1800" dirty="0">
                <a:latin typeface="宋体" panose="02010600030101010101" pitchFamily="2" charset="-122"/>
                <a:cs typeface="宋体" panose="02010600030101010101" pitchFamily="2" charset="-122"/>
              </a:rPr>
              <a:t>口连</a:t>
            </a:r>
            <a:r>
              <a:rPr sz="1800" spc="25" dirty="0">
                <a:latin typeface="宋体" panose="02010600030101010101" pitchFamily="2" charset="-122"/>
                <a:cs typeface="宋体" panose="02010600030101010101" pitchFamily="2" charset="-122"/>
              </a:rPr>
              <a:t>接</a:t>
            </a:r>
            <a:r>
              <a:rPr sz="1800" dirty="0">
                <a:latin typeface="宋体" panose="02010600030101010101" pitchFamily="2" charset="-122"/>
                <a:cs typeface="宋体" panose="02010600030101010101" pitchFamily="2" charset="-122"/>
              </a:rPr>
              <a:t>时，显示该标识；</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spc="-600" dirty="0">
                <a:latin typeface="Times New Roman" panose="02020603050405020304"/>
                <a:cs typeface="Times New Roman" panose="02020603050405020304"/>
              </a:rPr>
              <a:t>	</a:t>
            </a:r>
            <a:r>
              <a:rPr sz="1800" spc="-5" dirty="0">
                <a:latin typeface="Times New Roman" panose="02020603050405020304"/>
                <a:cs typeface="Times New Roman" panose="02020603050405020304"/>
              </a:rPr>
              <a:t>USB</a:t>
            </a:r>
            <a:r>
              <a:rPr sz="1800" spc="-25" dirty="0">
                <a:latin typeface="Times New Roman" panose="02020603050405020304"/>
                <a:cs typeface="Times New Roman" panose="02020603050405020304"/>
              </a:rPr>
              <a:t> </a:t>
            </a:r>
            <a:r>
              <a:rPr sz="1800" dirty="0">
                <a:latin typeface="宋体" panose="02010600030101010101" pitchFamily="2" charset="-122"/>
                <a:cs typeface="宋体" panose="02010600030101010101" pitchFamily="2" charset="-122"/>
              </a:rPr>
              <a:t>连接标识：检测到后端</a:t>
            </a:r>
            <a:r>
              <a:rPr sz="1800" spc="290" dirty="0">
                <a:latin typeface="宋体" panose="02010600030101010101" pitchFamily="2" charset="-122"/>
                <a:cs typeface="宋体" panose="02010600030101010101" pitchFamily="2" charset="-122"/>
              </a:rPr>
              <a:t>有</a:t>
            </a:r>
            <a:r>
              <a:rPr sz="1800" spc="5" dirty="0">
                <a:latin typeface="Times New Roman" panose="02020603050405020304"/>
                <a:cs typeface="Times New Roman" panose="02020603050405020304"/>
              </a:rPr>
              <a:t>USB</a:t>
            </a:r>
            <a:r>
              <a:rPr sz="1800" spc="-20" dirty="0">
                <a:latin typeface="Times New Roman" panose="02020603050405020304"/>
                <a:cs typeface="Times New Roman" panose="02020603050405020304"/>
              </a:rPr>
              <a:t> </a:t>
            </a:r>
            <a:r>
              <a:rPr sz="1800" dirty="0">
                <a:latin typeface="宋体" panose="02010600030101010101" pitchFamily="2" charset="-122"/>
                <a:cs typeface="宋体" panose="02010600030101010101" pitchFamily="2" charset="-122"/>
              </a:rPr>
              <a:t>连接时</a:t>
            </a:r>
            <a:r>
              <a:rPr sz="1800" spc="20" dirty="0">
                <a:latin typeface="宋体" panose="02010600030101010101" pitchFamily="2" charset="-122"/>
                <a:cs typeface="宋体" panose="02010600030101010101" pitchFamily="2" charset="-122"/>
              </a:rPr>
              <a:t>，</a:t>
            </a:r>
            <a:r>
              <a:rPr sz="1800" dirty="0">
                <a:latin typeface="宋体" panose="02010600030101010101" pitchFamily="2" charset="-122"/>
                <a:cs typeface="宋体" panose="02010600030101010101" pitchFamily="2" charset="-122"/>
              </a:rPr>
              <a:t>显示该标识；</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设定值；</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回读值；</a:t>
            </a:r>
            <a:r>
              <a:rPr lang="zh-CN" sz="1800" b="1" dirty="0">
                <a:solidFill>
                  <a:srgbClr val="FF0000"/>
                </a:solidFill>
                <a:latin typeface="宋体" panose="02010600030101010101" pitchFamily="2" charset="-122"/>
                <a:cs typeface="宋体" panose="02010600030101010101" pitchFamily="2" charset="-122"/>
              </a:rPr>
              <a:t>输出电压</a:t>
            </a:r>
            <a:r>
              <a:rPr lang="zh-CN" sz="1800" b="1" dirty="0">
                <a:latin typeface="宋体" panose="02010600030101010101" pitchFamily="2" charset="-122"/>
                <a:cs typeface="宋体" panose="02010600030101010101" pitchFamily="2" charset="-122"/>
              </a:rPr>
              <a:t>和</a:t>
            </a:r>
            <a:r>
              <a:rPr lang="zh-CN" sz="1800" b="1" dirty="0">
                <a:solidFill>
                  <a:srgbClr val="FF0000"/>
                </a:solidFill>
                <a:latin typeface="宋体" panose="02010600030101010101" pitchFamily="2" charset="-122"/>
                <a:cs typeface="宋体" panose="02010600030101010101" pitchFamily="2" charset="-122"/>
              </a:rPr>
              <a:t>输出电流</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定时器标识：定时器状态标识；</a:t>
            </a:r>
            <a:endParaRPr sz="1800" dirty="0">
              <a:latin typeface="宋体" panose="02010600030101010101" pitchFamily="2" charset="-122"/>
              <a:cs typeface="宋体" panose="02010600030101010101" pitchFamily="2" charset="-122"/>
            </a:endParaRPr>
          </a:p>
          <a:p>
            <a:pPr marL="381000" indent="-228600">
              <a:lnSpc>
                <a:spcPct val="100000"/>
              </a:lnSpc>
              <a:spcBef>
                <a:spcPts val="650"/>
              </a:spcBef>
              <a:buFont typeface="+mj-lt"/>
              <a:buAutoNum type="arabicPeriod"/>
              <a:tabLst>
                <a:tab pos="456565" algn="l"/>
              </a:tabLst>
            </a:pPr>
            <a:r>
              <a:rPr sz="1800" dirty="0">
                <a:latin typeface="宋体" panose="02010600030101010101" pitchFamily="2" charset="-122"/>
                <a:cs typeface="宋体" panose="02010600030101010101" pitchFamily="2" charset="-122"/>
              </a:rPr>
              <a:t>通道开</a:t>
            </a:r>
            <a:r>
              <a:rPr sz="1800" dirty="0">
                <a:latin typeface="Times New Roman" panose="02020603050405020304"/>
                <a:cs typeface="Times New Roman" panose="02020603050405020304"/>
              </a:rPr>
              <a:t>/</a:t>
            </a:r>
            <a:r>
              <a:rPr sz="1800" dirty="0">
                <a:latin typeface="宋体" panose="02010600030101010101" pitchFamily="2" charset="-122"/>
                <a:cs typeface="宋体" panose="02010600030101010101" pitchFamily="2" charset="-122"/>
              </a:rPr>
              <a:t>关标识；</a:t>
            </a:r>
            <a:endParaRPr sz="1800">
              <a:latin typeface="Times New Roman" panose="02020603050405020304"/>
              <a:cs typeface="Times New Roman" panose="02020603050405020304"/>
            </a:endParaRPr>
          </a:p>
        </p:txBody>
      </p:sp>
      <p:sp>
        <p:nvSpPr>
          <p:cNvPr id="4" name="文本框 3"/>
          <p:cNvSpPr txBox="1"/>
          <p:nvPr/>
        </p:nvSpPr>
        <p:spPr>
          <a:xfrm>
            <a:off x="2214245" y="5325745"/>
            <a:ext cx="4572000" cy="368300"/>
          </a:xfrm>
          <a:prstGeom prst="rect">
            <a:avLst/>
          </a:prstGeom>
          <a:noFill/>
        </p:spPr>
        <p:txBody>
          <a:bodyPr wrap="square" rtlCol="0" anchor="t">
            <a:spAutoFit/>
          </a:bodyPr>
          <a:p>
            <a:pPr marL="152400">
              <a:lnSpc>
                <a:spcPct val="100000"/>
              </a:lnSpc>
              <a:spcBef>
                <a:spcPts val="650"/>
              </a:spcBef>
              <a:buFont typeface="+mj-lt"/>
              <a:tabLst>
                <a:tab pos="456565" algn="l"/>
              </a:tabLst>
            </a:pPr>
            <a:r>
              <a:rPr lang="zh-CN" sz="1800" dirty="0">
                <a:latin typeface="宋体" panose="02010600030101010101" pitchFamily="2" charset="-122"/>
                <a:cs typeface="宋体" panose="02010600030101010101" pitchFamily="2" charset="-122"/>
                <a:sym typeface="+mn-ea"/>
              </a:rPr>
              <a:t>电压源时</a:t>
            </a:r>
            <a:r>
              <a:rPr lang="en-US" altLang="zh-CN" sz="1800" dirty="0">
                <a:latin typeface="宋体" panose="02010600030101010101" pitchFamily="2" charset="-122"/>
                <a:cs typeface="宋体" panose="02010600030101010101" pitchFamily="2" charset="-122"/>
                <a:sym typeface="+mn-ea"/>
              </a:rPr>
              <a:t>,</a:t>
            </a:r>
            <a:r>
              <a:rPr lang="zh-CN" sz="1800" dirty="0">
                <a:latin typeface="宋体" panose="02010600030101010101" pitchFamily="2" charset="-122"/>
                <a:cs typeface="宋体" panose="02010600030101010101" pitchFamily="2" charset="-122"/>
                <a:sym typeface="+mn-ea"/>
              </a:rPr>
              <a:t>设定</a:t>
            </a:r>
            <a:r>
              <a:rPr lang="zh-CN" sz="1800" b="1" dirty="0">
                <a:solidFill>
                  <a:srgbClr val="FF0000"/>
                </a:solidFill>
                <a:latin typeface="宋体" panose="02010600030101010101" pitchFamily="2" charset="-122"/>
                <a:cs typeface="宋体" panose="02010600030101010101" pitchFamily="2" charset="-122"/>
                <a:sym typeface="+mn-ea"/>
              </a:rPr>
              <a:t>输出电压</a:t>
            </a:r>
            <a:r>
              <a:rPr lang="zh-CN" sz="1800" b="1" dirty="0">
                <a:latin typeface="宋体" panose="02010600030101010101" pitchFamily="2" charset="-122"/>
                <a:cs typeface="宋体" panose="02010600030101010101" pitchFamily="2" charset="-122"/>
                <a:sym typeface="+mn-ea"/>
              </a:rPr>
              <a:t>和</a:t>
            </a:r>
            <a:r>
              <a:rPr lang="zh-CN" sz="1800" b="1" dirty="0">
                <a:solidFill>
                  <a:srgbClr val="FF0000"/>
                </a:solidFill>
                <a:latin typeface="宋体" panose="02010600030101010101" pitchFamily="2" charset="-122"/>
                <a:cs typeface="宋体" panose="02010600030101010101" pitchFamily="2" charset="-122"/>
                <a:sym typeface="+mn-ea"/>
              </a:rPr>
              <a:t>最大输出电流</a:t>
            </a:r>
            <a:endParaRPr lang="zh-CN" altLang="en-US" sz="1800" b="1" dirty="0">
              <a:solidFill>
                <a:srgbClr val="FF0000"/>
              </a:solidFill>
              <a:latin typeface="宋体" panose="02010600030101010101" pitchFamily="2" charset="-122"/>
              <a:cs typeface="宋体" panose="02010600030101010101" pitchFamily="2" charset="-122"/>
              <a:sym typeface="+mn-ea"/>
            </a:endParaRPr>
          </a:p>
        </p:txBody>
      </p:sp>
      <p:sp>
        <p:nvSpPr>
          <p:cNvPr id="2" name="矩形 1"/>
          <p:cNvSpPr/>
          <p:nvPr/>
        </p:nvSpPr>
        <p:spPr>
          <a:xfrm>
            <a:off x="2831465" y="1179195"/>
            <a:ext cx="4404995" cy="665480"/>
          </a:xfrm>
          <a:prstGeom prst="rect">
            <a:avLst/>
          </a:prstGeom>
          <a:noFill/>
          <a:ln w="44450" cmpd="sng">
            <a:solidFill>
              <a:srgbClr val="FF33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2831465" y="1951990"/>
            <a:ext cx="4438015" cy="806450"/>
          </a:xfrm>
          <a:prstGeom prst="rect">
            <a:avLst/>
          </a:prstGeom>
          <a:noFill/>
          <a:ln w="44450" cmpd="sng">
            <a:solidFill>
              <a:srgbClr val="FF33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down)">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wipe(down)">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wipe(down)">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
                                            <p:txEl>
                                              <p:pRg st="3" end="3"/>
                                            </p:txEl>
                                          </p:spTgt>
                                        </p:tgtEl>
                                        <p:attrNameLst>
                                          <p:attrName>style.visibility</p:attrName>
                                        </p:attrNameLst>
                                      </p:cBhvr>
                                      <p:to>
                                        <p:strVal val="visible"/>
                                      </p:to>
                                    </p:set>
                                    <p:animEffect transition="in" filter="wipe(down)">
                                      <p:cBhvr>
                                        <p:cTn id="22" dur="500"/>
                                        <p:tgtEl>
                                          <p:spTgt spid="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xEl>
                                              <p:pRg st="4" end="4"/>
                                            </p:txEl>
                                          </p:spTgt>
                                        </p:tgtEl>
                                        <p:attrNameLst>
                                          <p:attrName>style.visibility</p:attrName>
                                        </p:attrNameLst>
                                      </p:cBhvr>
                                      <p:to>
                                        <p:strVal val="visible"/>
                                      </p:to>
                                    </p:set>
                                    <p:animEffect transition="in" filter="wipe(down)">
                                      <p:cBhvr>
                                        <p:cTn id="27" dur="500"/>
                                        <p:tgtEl>
                                          <p:spTgt spid="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9">
                                            <p:txEl>
                                              <p:pRg st="5" end="5"/>
                                            </p:txEl>
                                          </p:spTgt>
                                        </p:tgtEl>
                                        <p:attrNameLst>
                                          <p:attrName>style.visibility</p:attrName>
                                        </p:attrNameLst>
                                      </p:cBhvr>
                                      <p:to>
                                        <p:strVal val="visible"/>
                                      </p:to>
                                    </p:set>
                                    <p:animEffect transition="in" filter="wipe(down)">
                                      <p:cBhvr>
                                        <p:cTn id="37" dur="500"/>
                                        <p:tgtEl>
                                          <p:spTgt spid="19">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down)">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9">
                                            <p:txEl>
                                              <p:pRg st="6" end="6"/>
                                            </p:txEl>
                                          </p:spTgt>
                                        </p:tgtEl>
                                        <p:attrNameLst>
                                          <p:attrName>style.visibility</p:attrName>
                                        </p:attrNameLst>
                                      </p:cBhvr>
                                      <p:to>
                                        <p:strVal val="visible"/>
                                      </p:to>
                                    </p:set>
                                    <p:animEffect transition="in" filter="wipe(down)">
                                      <p:cBhvr>
                                        <p:cTn id="53" dur="500"/>
                                        <p:tgtEl>
                                          <p:spTgt spid="19">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9">
                                            <p:txEl>
                                              <p:pRg st="7" end="7"/>
                                            </p:txEl>
                                          </p:spTgt>
                                        </p:tgtEl>
                                        <p:attrNameLst>
                                          <p:attrName>style.visibility</p:attrName>
                                        </p:attrNameLst>
                                      </p:cBhvr>
                                      <p:to>
                                        <p:strVal val="visible"/>
                                      </p:to>
                                    </p:set>
                                    <p:animEffect transition="in" filter="wipe(down)">
                                      <p:cBhvr>
                                        <p:cTn id="58" dur="500"/>
                                        <p:tgtEl>
                                          <p:spTgt spid="19">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19">
                                            <p:txEl>
                                              <p:pRg st="8" end="8"/>
                                            </p:txEl>
                                          </p:spTgt>
                                        </p:tgtEl>
                                        <p:attrNameLst>
                                          <p:attrName>style.visibility</p:attrName>
                                        </p:attrNameLst>
                                      </p:cBhvr>
                                      <p:to>
                                        <p:strVal val="visible"/>
                                      </p:to>
                                    </p:set>
                                    <p:animEffect transition="in" filter="wipe(down)">
                                      <p:cBhvr>
                                        <p:cTn id="63" dur="500"/>
                                        <p:tgtEl>
                                          <p:spTgt spid="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P spid="2" grpId="1" animBg="1"/>
      <p:bldP spid="3" grpId="0" bldLvl="0" animBg="1"/>
      <p:bldP spid="3" grpId="1" animBg="1"/>
    </p:bldLst>
  </p:timing>
</p:sld>
</file>

<file path=ppt/slides/slide50.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p:sp>
        <p:nvSpPr>
          <p:cNvPr id="6" name="object 6"/>
          <p:cNvSpPr txBox="1"/>
          <p:nvPr/>
        </p:nvSpPr>
        <p:spPr>
          <a:xfrm>
            <a:off x="305435" y="189865"/>
            <a:ext cx="8455025" cy="6169025"/>
          </a:xfrm>
          <a:prstGeom prst="rect">
            <a:avLst/>
          </a:prstGeom>
        </p:spPr>
        <p:txBody>
          <a:bodyPr vert="horz" wrap="square" lIns="0" tIns="13335" rIns="0" bIns="0" rtlCol="0">
            <a:spAutoFit/>
          </a:bodyPr>
          <a:p>
            <a:pPr marL="12700">
              <a:lnSpc>
                <a:spcPct val="125000"/>
              </a:lnSpc>
              <a:spcBef>
                <a:spcPts val="0"/>
              </a:spcBef>
            </a:pPr>
            <a:r>
              <a:rPr lang="en-US" sz="2000" b="1" dirty="0">
                <a:latin typeface="宋体" panose="02010600030101010101" pitchFamily="2" charset="-122"/>
                <a:cs typeface="宋体" panose="02010600030101010101" pitchFamily="2" charset="-122"/>
              </a:rPr>
              <a:t>    </a:t>
            </a:r>
            <a:r>
              <a:rPr sz="2000" b="1" dirty="0">
                <a:latin typeface="宋体" panose="02010600030101010101" pitchFamily="2" charset="-122"/>
                <a:cs typeface="宋体" panose="02010600030101010101" pitchFamily="2" charset="-122"/>
              </a:rPr>
              <a:t>输出综述</a:t>
            </a:r>
            <a:endParaRPr sz="2000" b="1" dirty="0">
              <a:latin typeface="宋体" panose="02010600030101010101" pitchFamily="2" charset="-122"/>
              <a:cs typeface="宋体" panose="02010600030101010101" pitchFamily="2" charset="-122"/>
            </a:endParaRPr>
          </a:p>
          <a:p>
            <a:pPr marL="12700">
              <a:lnSpc>
                <a:spcPct val="125000"/>
              </a:lnSpc>
              <a:spcBef>
                <a:spcPts val="0"/>
              </a:spcBef>
            </a:pPr>
            <a:r>
              <a:rPr sz="2000" b="1" dirty="0">
                <a:latin typeface="宋体" panose="02010600030101010101" pitchFamily="2" charset="-122"/>
                <a:cs typeface="宋体" panose="02010600030101010101" pitchFamily="2" charset="-122"/>
              </a:rPr>
              <a:t> </a:t>
            </a:r>
            <a:r>
              <a:rPr lang="en-US" sz="2000" b="1" dirty="0">
                <a:latin typeface="宋体" panose="02010600030101010101" pitchFamily="2" charset="-122"/>
                <a:cs typeface="宋体" panose="02010600030101010101" pitchFamily="2" charset="-122"/>
              </a:rPr>
              <a:t>  </a:t>
            </a:r>
            <a:r>
              <a:rPr sz="2000" dirty="0">
                <a:latin typeface="宋体" panose="02010600030101010101" pitchFamily="2" charset="-122"/>
                <a:cs typeface="宋体" panose="02010600030101010101" pitchFamily="2" charset="-122"/>
              </a:rPr>
              <a:t>有三组独立输出：两组可调电压 值和一组固定可选择电压值</a:t>
            </a:r>
            <a:r>
              <a:rPr sz="2000" spc="-310" dirty="0">
                <a:latin typeface="宋体" panose="02010600030101010101" pitchFamily="2" charset="-122"/>
                <a:cs typeface="宋体" panose="02010600030101010101" pitchFamily="2" charset="-122"/>
              </a:rPr>
              <a:t> </a:t>
            </a:r>
            <a:r>
              <a:rPr sz="2000" dirty="0">
                <a:latin typeface="Times New Roman" panose="02020603050405020304"/>
                <a:cs typeface="Times New Roman" panose="02020603050405020304"/>
              </a:rPr>
              <a:t>2.5V</a:t>
            </a:r>
            <a:r>
              <a:rPr sz="2000" dirty="0">
                <a:latin typeface="宋体" panose="02010600030101010101" pitchFamily="2" charset="-122"/>
                <a:cs typeface="宋体" panose="02010600030101010101" pitchFamily="2" charset="-122"/>
              </a:rPr>
              <a:t>、</a:t>
            </a:r>
            <a:r>
              <a:rPr sz="2000" dirty="0">
                <a:latin typeface="Times New Roman" panose="02020603050405020304"/>
                <a:cs typeface="Times New Roman" panose="02020603050405020304"/>
              </a:rPr>
              <a:t>3.3V</a:t>
            </a:r>
            <a:r>
              <a:rPr sz="2000" spc="-15" dirty="0">
                <a:latin typeface="Times New Roman" panose="02020603050405020304"/>
                <a:cs typeface="Times New Roman" panose="02020603050405020304"/>
              </a:rPr>
              <a:t> </a:t>
            </a:r>
            <a:r>
              <a:rPr sz="2000" dirty="0">
                <a:latin typeface="宋体" panose="02010600030101010101" pitchFamily="2" charset="-122"/>
                <a:cs typeface="宋体" panose="02010600030101010101" pitchFamily="2" charset="-122"/>
              </a:rPr>
              <a:t>和</a:t>
            </a:r>
            <a:r>
              <a:rPr sz="2000" spc="-315" dirty="0">
                <a:latin typeface="宋体" panose="02010600030101010101" pitchFamily="2" charset="-122"/>
                <a:cs typeface="宋体" panose="02010600030101010101" pitchFamily="2" charset="-122"/>
              </a:rPr>
              <a:t> </a:t>
            </a:r>
            <a:r>
              <a:rPr sz="2000" spc="5" dirty="0">
                <a:latin typeface="Times New Roman" panose="02020603050405020304"/>
                <a:cs typeface="Times New Roman" panose="02020603050405020304"/>
              </a:rPr>
              <a:t>5V</a:t>
            </a:r>
            <a:endParaRPr sz="2000">
              <a:latin typeface="Times New Roman" panose="02020603050405020304"/>
              <a:cs typeface="Times New Roman" panose="02020603050405020304"/>
            </a:endParaRPr>
          </a:p>
          <a:p>
            <a:pPr marL="280670">
              <a:lnSpc>
                <a:spcPct val="125000"/>
              </a:lnSpc>
              <a:spcBef>
                <a:spcPts val="0"/>
              </a:spcBef>
            </a:pPr>
            <a:r>
              <a:rPr sz="2000" b="1" spc="-5" dirty="0">
                <a:solidFill>
                  <a:srgbClr val="FF0000"/>
                </a:solidFill>
                <a:latin typeface="宋体" panose="02010600030101010101" pitchFamily="2" charset="-122"/>
                <a:cs typeface="宋体" panose="02010600030101010101" pitchFamily="2" charset="-122"/>
              </a:rPr>
              <a:t>独</a:t>
            </a:r>
            <a:r>
              <a:rPr sz="2000" b="1" spc="15" dirty="0">
                <a:solidFill>
                  <a:srgbClr val="FF0000"/>
                </a:solidFill>
                <a:latin typeface="宋体" panose="02010600030101010101" pitchFamily="2" charset="-122"/>
                <a:cs typeface="宋体" panose="02010600030101010101" pitchFamily="2" charset="-122"/>
              </a:rPr>
              <a:t>立</a:t>
            </a:r>
            <a:r>
              <a:rPr sz="2000" b="1" spc="-25" dirty="0">
                <a:solidFill>
                  <a:srgbClr val="FF0000"/>
                </a:solidFill>
                <a:latin typeface="Times New Roman" panose="02020603050405020304"/>
                <a:cs typeface="Times New Roman" panose="02020603050405020304"/>
              </a:rPr>
              <a:t>/</a:t>
            </a:r>
            <a:r>
              <a:rPr sz="2000" b="1" spc="15" dirty="0">
                <a:solidFill>
                  <a:srgbClr val="FF0000"/>
                </a:solidFill>
                <a:latin typeface="宋体" panose="02010600030101010101" pitchFamily="2" charset="-122"/>
                <a:cs typeface="宋体" panose="02010600030101010101" pitchFamily="2" charset="-122"/>
              </a:rPr>
              <a:t>并</a:t>
            </a:r>
            <a:r>
              <a:rPr sz="2000" b="1" spc="20" dirty="0">
                <a:solidFill>
                  <a:srgbClr val="FF0000"/>
                </a:solidFill>
                <a:latin typeface="宋体" panose="02010600030101010101" pitchFamily="2" charset="-122"/>
                <a:cs typeface="宋体" panose="02010600030101010101" pitchFamily="2" charset="-122"/>
              </a:rPr>
              <a:t>联</a:t>
            </a:r>
            <a:r>
              <a:rPr sz="2000" b="1" spc="-25" dirty="0">
                <a:solidFill>
                  <a:srgbClr val="FF0000"/>
                </a:solidFill>
                <a:latin typeface="Times New Roman" panose="02020603050405020304"/>
                <a:cs typeface="Times New Roman" panose="02020603050405020304"/>
              </a:rPr>
              <a:t>/</a:t>
            </a:r>
            <a:r>
              <a:rPr sz="2000" b="1" spc="-5" dirty="0">
                <a:solidFill>
                  <a:srgbClr val="FF0000"/>
                </a:solidFill>
                <a:latin typeface="宋体" panose="02010600030101010101" pitchFamily="2" charset="-122"/>
                <a:cs typeface="宋体" panose="02010600030101010101" pitchFamily="2" charset="-122"/>
              </a:rPr>
              <a:t>串联：</a:t>
            </a:r>
            <a:endParaRPr sz="2000">
              <a:solidFill>
                <a:srgbClr val="FF0000"/>
              </a:solidFill>
              <a:latin typeface="宋体" panose="02010600030101010101" pitchFamily="2" charset="-122"/>
              <a:cs typeface="宋体" panose="02010600030101010101" pitchFamily="2" charset="-122"/>
            </a:endParaRPr>
          </a:p>
          <a:p>
            <a:pPr marL="12700" indent="304800" algn="just">
              <a:lnSpc>
                <a:spcPct val="125000"/>
              </a:lnSpc>
              <a:spcBef>
                <a:spcPts val="0"/>
              </a:spcBef>
            </a:pPr>
            <a:r>
              <a:rPr sz="2000" spc="-15" dirty="0">
                <a:latin typeface="Times New Roman" panose="02020603050405020304"/>
                <a:cs typeface="Times New Roman" panose="02020603050405020304"/>
              </a:rPr>
              <a:t> </a:t>
            </a:r>
            <a:r>
              <a:rPr sz="2000" dirty="0">
                <a:latin typeface="宋体" panose="02010600030101010101" pitchFamily="2" charset="-122"/>
                <a:cs typeface="宋体" panose="02010600030101010101" pitchFamily="2" charset="-122"/>
              </a:rPr>
              <a:t>具有三种输出模式：独</a:t>
            </a:r>
            <a:r>
              <a:rPr sz="2000" spc="-25" dirty="0">
                <a:latin typeface="宋体" panose="02010600030101010101" pitchFamily="2" charset="-122"/>
                <a:cs typeface="宋体" panose="02010600030101010101" pitchFamily="2" charset="-122"/>
              </a:rPr>
              <a:t>立</a:t>
            </a:r>
            <a:r>
              <a:rPr sz="2000" dirty="0">
                <a:latin typeface="宋体" panose="02010600030101010101" pitchFamily="2" charset="-122"/>
                <a:cs typeface="宋体" panose="02010600030101010101" pitchFamily="2" charset="-122"/>
              </a:rPr>
              <a:t>、并联和串</a:t>
            </a:r>
            <a:r>
              <a:rPr sz="2000" spc="5" dirty="0">
                <a:latin typeface="宋体" panose="02010600030101010101" pitchFamily="2" charset="-122"/>
                <a:cs typeface="宋体" panose="02010600030101010101" pitchFamily="2" charset="-122"/>
              </a:rPr>
              <a:t>联</a:t>
            </a:r>
            <a:r>
              <a:rPr sz="2000" dirty="0">
                <a:latin typeface="宋体" panose="02010600030101010101" pitchFamily="2" charset="-122"/>
                <a:cs typeface="宋体" panose="02010600030101010101" pitchFamily="2" charset="-122"/>
              </a:rPr>
              <a:t>，由前面板的跟踪开</a:t>
            </a:r>
            <a:endParaRPr sz="2000">
              <a:latin typeface="宋体" panose="02010600030101010101" pitchFamily="2" charset="-122"/>
              <a:cs typeface="宋体" panose="02010600030101010101" pitchFamily="2" charset="-122"/>
            </a:endParaRPr>
          </a:p>
          <a:p>
            <a:pPr marL="12700" marR="65405">
              <a:lnSpc>
                <a:spcPct val="125000"/>
              </a:lnSpc>
              <a:spcBef>
                <a:spcPts val="0"/>
              </a:spcBef>
            </a:pPr>
            <a:r>
              <a:rPr sz="2000" dirty="0">
                <a:latin typeface="宋体" panose="02010600030101010101" pitchFamily="2" charset="-122"/>
                <a:cs typeface="宋体" panose="02010600030101010101" pitchFamily="2" charset="-122"/>
              </a:rPr>
              <a:t>关来选择相应模式</a:t>
            </a:r>
            <a:r>
              <a:rPr sz="2000" spc="-75"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在独立模下</a:t>
            </a:r>
            <a:r>
              <a:rPr sz="2000" spc="-75"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输出电压</a:t>
            </a:r>
            <a:r>
              <a:rPr sz="2000" spc="-25" dirty="0">
                <a:latin typeface="宋体" panose="02010600030101010101" pitchFamily="2" charset="-122"/>
                <a:cs typeface="宋体" panose="02010600030101010101" pitchFamily="2" charset="-122"/>
              </a:rPr>
              <a:t>和</a:t>
            </a:r>
            <a:r>
              <a:rPr sz="2000" dirty="0">
                <a:latin typeface="宋体" panose="02010600030101010101" pitchFamily="2" charset="-122"/>
                <a:cs typeface="宋体" panose="02010600030101010101" pitchFamily="2" charset="-122"/>
              </a:rPr>
              <a:t>电流各自单独控制</a:t>
            </a:r>
            <a:r>
              <a:rPr sz="2000" spc="-75"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在并联模</a:t>
            </a:r>
            <a:r>
              <a:rPr sz="2000" spc="10" dirty="0">
                <a:latin typeface="宋体" panose="02010600030101010101" pitchFamily="2" charset="-122"/>
                <a:cs typeface="宋体" panose="02010600030101010101" pitchFamily="2" charset="-122"/>
              </a:rPr>
              <a:t>式</a:t>
            </a:r>
            <a:r>
              <a:rPr sz="2000" dirty="0">
                <a:latin typeface="宋体" panose="02010600030101010101" pitchFamily="2" charset="-122"/>
                <a:cs typeface="宋体" panose="02010600030101010101" pitchFamily="2" charset="-122"/>
              </a:rPr>
              <a:t>下</a:t>
            </a:r>
            <a:r>
              <a:rPr sz="2000" spc="-75"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输 出电流是单通道的</a:t>
            </a:r>
            <a:r>
              <a:rPr sz="2000" spc="-315" dirty="0">
                <a:latin typeface="宋体" panose="02010600030101010101" pitchFamily="2" charset="-122"/>
                <a:cs typeface="宋体" panose="02010600030101010101" pitchFamily="2" charset="-122"/>
              </a:rPr>
              <a:t> </a:t>
            </a:r>
            <a:r>
              <a:rPr sz="2000" dirty="0">
                <a:latin typeface="Times New Roman" panose="02020603050405020304"/>
                <a:cs typeface="Times New Roman" panose="02020603050405020304"/>
              </a:rPr>
              <a:t>2</a:t>
            </a:r>
            <a:r>
              <a:rPr sz="2000" spc="-20" dirty="0">
                <a:latin typeface="Times New Roman" panose="02020603050405020304"/>
                <a:cs typeface="Times New Roman" panose="02020603050405020304"/>
              </a:rPr>
              <a:t> </a:t>
            </a:r>
            <a:r>
              <a:rPr sz="2000" dirty="0">
                <a:latin typeface="宋体" panose="02010600030101010101" pitchFamily="2" charset="-122"/>
                <a:cs typeface="宋体" panose="02010600030101010101" pitchFamily="2" charset="-122"/>
              </a:rPr>
              <a:t>倍；在串联模式下，输</a:t>
            </a:r>
            <a:r>
              <a:rPr sz="2000" spc="20" dirty="0">
                <a:latin typeface="宋体" panose="02010600030101010101" pitchFamily="2" charset="-122"/>
                <a:cs typeface="宋体" panose="02010600030101010101" pitchFamily="2" charset="-122"/>
              </a:rPr>
              <a:t>出</a:t>
            </a:r>
            <a:r>
              <a:rPr sz="2000" dirty="0">
                <a:latin typeface="宋体" panose="02010600030101010101" pitchFamily="2" charset="-122"/>
                <a:cs typeface="宋体" panose="02010600030101010101" pitchFamily="2" charset="-122"/>
              </a:rPr>
              <a:t>电压</a:t>
            </a:r>
            <a:r>
              <a:rPr sz="2000" spc="5" dirty="0">
                <a:latin typeface="宋体" panose="02010600030101010101" pitchFamily="2" charset="-122"/>
                <a:cs typeface="宋体" panose="02010600030101010101" pitchFamily="2" charset="-122"/>
              </a:rPr>
              <a:t>是</a:t>
            </a:r>
            <a:r>
              <a:rPr sz="2000" dirty="0">
                <a:latin typeface="宋体" panose="02010600030101010101" pitchFamily="2" charset="-122"/>
                <a:cs typeface="宋体" panose="02010600030101010101" pitchFamily="2" charset="-122"/>
              </a:rPr>
              <a:t>单通道的</a:t>
            </a:r>
            <a:r>
              <a:rPr sz="2000" spc="-310" dirty="0">
                <a:latin typeface="宋体" panose="02010600030101010101" pitchFamily="2" charset="-122"/>
                <a:cs typeface="宋体" panose="02010600030101010101" pitchFamily="2" charset="-122"/>
              </a:rPr>
              <a:t> </a:t>
            </a:r>
            <a:r>
              <a:rPr sz="2000" dirty="0">
                <a:latin typeface="Times New Roman" panose="02020603050405020304"/>
                <a:cs typeface="Times New Roman" panose="02020603050405020304"/>
              </a:rPr>
              <a:t>2</a:t>
            </a:r>
            <a:r>
              <a:rPr sz="2000" spc="-20" dirty="0">
                <a:latin typeface="Times New Roman" panose="02020603050405020304"/>
                <a:cs typeface="Times New Roman" panose="02020603050405020304"/>
              </a:rPr>
              <a:t> </a:t>
            </a:r>
            <a:r>
              <a:rPr sz="2000" dirty="0">
                <a:latin typeface="宋体" panose="02010600030101010101" pitchFamily="2" charset="-122"/>
                <a:cs typeface="宋体" panose="02010600030101010101" pitchFamily="2" charset="-122"/>
              </a:rPr>
              <a:t>倍。</a:t>
            </a:r>
            <a:endParaRPr sz="2000">
              <a:latin typeface="Times New Roman" panose="02020603050405020304"/>
              <a:cs typeface="Times New Roman" panose="02020603050405020304"/>
            </a:endParaRPr>
          </a:p>
          <a:p>
            <a:pPr marL="320675">
              <a:lnSpc>
                <a:spcPct val="125000"/>
              </a:lnSpc>
              <a:spcBef>
                <a:spcPts val="0"/>
              </a:spcBef>
            </a:pPr>
            <a:r>
              <a:rPr sz="2000" b="1" spc="-5" dirty="0">
                <a:solidFill>
                  <a:srgbClr val="FF0000"/>
                </a:solidFill>
                <a:latin typeface="宋体" panose="02010600030101010101" pitchFamily="2" charset="-122"/>
                <a:cs typeface="宋体" panose="02010600030101010101" pitchFamily="2" charset="-122"/>
              </a:rPr>
              <a:t>恒</a:t>
            </a:r>
            <a:r>
              <a:rPr sz="2000" b="1" spc="15" dirty="0">
                <a:solidFill>
                  <a:srgbClr val="FF0000"/>
                </a:solidFill>
                <a:latin typeface="宋体" panose="02010600030101010101" pitchFamily="2" charset="-122"/>
                <a:cs typeface="宋体" panose="02010600030101010101" pitchFamily="2" charset="-122"/>
              </a:rPr>
              <a:t>压</a:t>
            </a:r>
            <a:r>
              <a:rPr sz="2000" b="1" spc="-25" dirty="0">
                <a:solidFill>
                  <a:srgbClr val="FF0000"/>
                </a:solidFill>
                <a:latin typeface="Times New Roman" panose="02020603050405020304"/>
                <a:cs typeface="Times New Roman" panose="02020603050405020304"/>
              </a:rPr>
              <a:t>/</a:t>
            </a:r>
            <a:r>
              <a:rPr sz="2000" b="1" spc="-5" dirty="0">
                <a:solidFill>
                  <a:srgbClr val="FF0000"/>
                </a:solidFill>
                <a:latin typeface="宋体" panose="02010600030101010101" pitchFamily="2" charset="-122"/>
                <a:cs typeface="宋体" panose="02010600030101010101" pitchFamily="2" charset="-122"/>
              </a:rPr>
              <a:t>恒流：</a:t>
            </a:r>
            <a:endParaRPr sz="2000">
              <a:solidFill>
                <a:srgbClr val="FF0000"/>
              </a:solidFill>
              <a:latin typeface="宋体" panose="02010600030101010101" pitchFamily="2" charset="-122"/>
              <a:cs typeface="宋体" panose="02010600030101010101" pitchFamily="2" charset="-122"/>
            </a:endParaRPr>
          </a:p>
          <a:p>
            <a:pPr marL="12700" marR="65405" indent="304800" algn="just">
              <a:lnSpc>
                <a:spcPct val="125000"/>
              </a:lnSpc>
              <a:spcBef>
                <a:spcPts val="0"/>
              </a:spcBef>
            </a:pPr>
            <a:r>
              <a:rPr sz="2000" dirty="0">
                <a:solidFill>
                  <a:srgbClr val="FF0000"/>
                </a:solidFill>
                <a:latin typeface="宋体" panose="02010600030101010101" pitchFamily="2" charset="-122"/>
                <a:cs typeface="宋体" panose="02010600030101010101" pitchFamily="2" charset="-122"/>
              </a:rPr>
              <a:t>恒流模式下</a:t>
            </a:r>
            <a:r>
              <a:rPr lang="zh-CN" sz="2000" dirty="0">
                <a:solidFill>
                  <a:srgbClr val="FF0000"/>
                </a:solidFill>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输出电</a:t>
            </a:r>
            <a:r>
              <a:rPr sz="2000" spc="5" dirty="0">
                <a:latin typeface="宋体" panose="02010600030101010101" pitchFamily="2" charset="-122"/>
                <a:cs typeface="宋体" panose="02010600030101010101" pitchFamily="2" charset="-122"/>
              </a:rPr>
              <a:t>流</a:t>
            </a:r>
            <a:r>
              <a:rPr sz="2000" dirty="0">
                <a:latin typeface="宋体" panose="02010600030101010101" pitchFamily="2" charset="-122"/>
                <a:cs typeface="宋体" panose="02010600030101010101" pitchFamily="2" charset="-122"/>
              </a:rPr>
              <a:t>为设定值</a:t>
            </a:r>
            <a:r>
              <a:rPr sz="2000" spc="-48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并通过前面板控制</a:t>
            </a:r>
            <a:r>
              <a:rPr sz="2000" spc="-48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前面板指示灯亮红</a:t>
            </a:r>
            <a:r>
              <a:rPr sz="2000" spc="-480" dirty="0">
                <a:latin typeface="宋体" panose="02010600030101010101" pitchFamily="2" charset="-122"/>
                <a:cs typeface="宋体" panose="02010600030101010101" pitchFamily="2" charset="-122"/>
              </a:rPr>
              <a:t>色</a:t>
            </a:r>
            <a:r>
              <a:rPr sz="2000" spc="5" dirty="0">
                <a:latin typeface="宋体" panose="02010600030101010101" pitchFamily="2" charset="-122"/>
                <a:cs typeface="宋体" panose="02010600030101010101" pitchFamily="2" charset="-122"/>
              </a:rPr>
              <a:t>（</a:t>
            </a:r>
            <a:r>
              <a:rPr sz="2000" spc="-10" dirty="0">
                <a:latin typeface="Times New Roman" panose="02020603050405020304"/>
                <a:cs typeface="Times New Roman" panose="02020603050405020304"/>
              </a:rPr>
              <a:t>CC</a:t>
            </a:r>
            <a:r>
              <a:rPr sz="2000" spc="-600" dirty="0">
                <a:latin typeface="宋体" panose="02010600030101010101" pitchFamily="2" charset="-122"/>
                <a:cs typeface="宋体" panose="02010600030101010101" pitchFamily="2" charset="-122"/>
              </a:rPr>
              <a:t>）， </a:t>
            </a:r>
            <a:r>
              <a:rPr sz="2000" dirty="0">
                <a:latin typeface="宋体" panose="02010600030101010101" pitchFamily="2" charset="-122"/>
                <a:cs typeface="宋体" panose="02010600030101010101" pitchFamily="2" charset="-122"/>
              </a:rPr>
              <a:t>电流维持在设定值</a:t>
            </a:r>
            <a:r>
              <a:rPr sz="2000" spc="-95"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此时电压值低于设定值</a:t>
            </a:r>
            <a:r>
              <a:rPr sz="2000" spc="-12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当输出电流低于设定值时</a:t>
            </a:r>
            <a:r>
              <a:rPr sz="2000" spc="-95"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则切换到恒 压模式</a:t>
            </a:r>
            <a:r>
              <a:rPr sz="2000" spc="-60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（说明，在并联模式时，辅助通道固定为恒流模式，与电流设定值无关）</a:t>
            </a:r>
            <a:endParaRPr sz="2000">
              <a:latin typeface="宋体" panose="02010600030101010101" pitchFamily="2" charset="-122"/>
              <a:cs typeface="宋体" panose="02010600030101010101" pitchFamily="2" charset="-122"/>
            </a:endParaRPr>
          </a:p>
          <a:p>
            <a:pPr marL="12700" marR="43815" indent="304800">
              <a:lnSpc>
                <a:spcPct val="125000"/>
              </a:lnSpc>
              <a:spcBef>
                <a:spcPts val="0"/>
              </a:spcBef>
            </a:pPr>
            <a:r>
              <a:rPr sz="2000" dirty="0">
                <a:solidFill>
                  <a:srgbClr val="FF0000"/>
                </a:solidFill>
                <a:latin typeface="宋体" panose="02010600030101010101" pitchFamily="2" charset="-122"/>
                <a:cs typeface="宋体" panose="02010600030101010101" pitchFamily="2" charset="-122"/>
              </a:rPr>
              <a:t>恒压模式下</a:t>
            </a:r>
            <a:r>
              <a:rPr lang="zh-CN" sz="2000" dirty="0">
                <a:solidFill>
                  <a:srgbClr val="FF0000"/>
                </a:solidFill>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输出电流小于设定值</a:t>
            </a:r>
            <a:r>
              <a:rPr sz="2000" spc="-10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输出电</a:t>
            </a:r>
            <a:r>
              <a:rPr sz="2000" spc="-25" dirty="0">
                <a:latin typeface="宋体" panose="02010600030101010101" pitchFamily="2" charset="-122"/>
                <a:cs typeface="宋体" panose="02010600030101010101" pitchFamily="2" charset="-122"/>
              </a:rPr>
              <a:t>压</a:t>
            </a:r>
            <a:r>
              <a:rPr sz="2000" dirty="0">
                <a:latin typeface="宋体" panose="02010600030101010101" pitchFamily="2" charset="-122"/>
                <a:cs typeface="宋体" panose="02010600030101010101" pitchFamily="2" charset="-122"/>
              </a:rPr>
              <a:t>通过前面板控</a:t>
            </a:r>
            <a:r>
              <a:rPr sz="2000" spc="10" dirty="0">
                <a:latin typeface="宋体" panose="02010600030101010101" pitchFamily="2" charset="-122"/>
                <a:cs typeface="宋体" panose="02010600030101010101" pitchFamily="2" charset="-122"/>
              </a:rPr>
              <a:t>制</a:t>
            </a:r>
            <a:r>
              <a:rPr sz="2000" spc="-10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前面板指示灯亮 黄灯（</a:t>
            </a:r>
            <a:r>
              <a:rPr sz="2000" spc="-15" dirty="0">
                <a:latin typeface="Times New Roman" panose="02020603050405020304"/>
                <a:cs typeface="Times New Roman" panose="02020603050405020304"/>
              </a:rPr>
              <a:t>C</a:t>
            </a:r>
            <a:r>
              <a:rPr sz="2000" spc="-10" dirty="0">
                <a:latin typeface="Times New Roman" panose="02020603050405020304"/>
                <a:cs typeface="Times New Roman" panose="02020603050405020304"/>
              </a:rPr>
              <a:t>V</a:t>
            </a:r>
            <a:r>
              <a:rPr sz="2000" spc="-600" dirty="0">
                <a:latin typeface="宋体" panose="02010600030101010101" pitchFamily="2" charset="-122"/>
                <a:cs typeface="宋体" panose="02010600030101010101" pitchFamily="2" charset="-122"/>
              </a:rPr>
              <a:t>）</a:t>
            </a:r>
            <a:r>
              <a:rPr sz="2000" dirty="0">
                <a:latin typeface="宋体" panose="02010600030101010101" pitchFamily="2" charset="-122"/>
                <a:cs typeface="宋体" panose="02010600030101010101" pitchFamily="2" charset="-122"/>
              </a:rPr>
              <a:t>，电压值保持在设定</a:t>
            </a:r>
            <a:r>
              <a:rPr sz="2000" spc="5" dirty="0">
                <a:latin typeface="宋体" panose="02010600030101010101" pitchFamily="2" charset="-122"/>
                <a:cs typeface="宋体" panose="02010600030101010101" pitchFamily="2" charset="-122"/>
              </a:rPr>
              <a:t>值</a:t>
            </a:r>
            <a:r>
              <a:rPr sz="2000" dirty="0">
                <a:latin typeface="宋体" panose="02010600030101010101" pitchFamily="2" charset="-122"/>
                <a:cs typeface="宋体" panose="02010600030101010101" pitchFamily="2" charset="-122"/>
              </a:rPr>
              <a:t>，当输出电流值达到设定值，</a:t>
            </a:r>
            <a:r>
              <a:rPr sz="2000" spc="5" dirty="0">
                <a:latin typeface="宋体" panose="02010600030101010101" pitchFamily="2" charset="-122"/>
                <a:cs typeface="宋体" panose="02010600030101010101" pitchFamily="2" charset="-122"/>
              </a:rPr>
              <a:t>则</a:t>
            </a:r>
            <a:r>
              <a:rPr sz="2000" dirty="0">
                <a:latin typeface="宋体" panose="02010600030101010101" pitchFamily="2" charset="-122"/>
                <a:cs typeface="宋体" panose="02010600030101010101" pitchFamily="2" charset="-122"/>
              </a:rPr>
              <a:t>切换到恒流模式。</a:t>
            </a:r>
            <a:endParaRPr sz="2000">
              <a:latin typeface="宋体" panose="02010600030101010101" pitchFamily="2" charset="-122"/>
              <a:cs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2" name="object 6"/>
          <p:cNvSpPr txBox="1"/>
          <p:nvPr/>
        </p:nvSpPr>
        <p:spPr>
          <a:xfrm>
            <a:off x="899160" y="116205"/>
            <a:ext cx="5663565" cy="1061720"/>
          </a:xfrm>
          <a:prstGeom prst="rect">
            <a:avLst/>
          </a:prstGeom>
        </p:spPr>
        <p:txBody>
          <a:bodyPr vert="horz" wrap="square" lIns="0" tIns="13335" rIns="0" bIns="0" rtlCol="0">
            <a:noAutofit/>
          </a:bodyPr>
          <a:p>
            <a:pPr marL="12700">
              <a:lnSpc>
                <a:spcPct val="125000"/>
              </a:lnSpc>
              <a:spcBef>
                <a:spcPts val="105"/>
              </a:spcBef>
            </a:pPr>
            <a:r>
              <a:rPr sz="2400" b="1" spc="-10" dirty="0">
                <a:solidFill>
                  <a:srgbClr val="FF0000"/>
                </a:solidFill>
                <a:latin typeface="Times New Roman" panose="02020603050405020304"/>
                <a:cs typeface="Times New Roman" panose="02020603050405020304"/>
              </a:rPr>
              <a:t>CH1/CH2</a:t>
            </a:r>
            <a:r>
              <a:rPr sz="2400" b="1" dirty="0">
                <a:solidFill>
                  <a:srgbClr val="FF0000"/>
                </a:solidFill>
                <a:latin typeface="Times New Roman" panose="02020603050405020304"/>
                <a:cs typeface="Times New Roman" panose="02020603050405020304"/>
              </a:rPr>
              <a:t> </a:t>
            </a:r>
            <a:r>
              <a:rPr sz="2400" b="1" dirty="0">
                <a:solidFill>
                  <a:srgbClr val="FF0000"/>
                </a:solidFill>
                <a:latin typeface="宋体" panose="02010600030101010101" pitchFamily="2" charset="-122"/>
                <a:cs typeface="宋体" panose="02010600030101010101" pitchFamily="2" charset="-122"/>
              </a:rPr>
              <a:t>独立输出</a:t>
            </a:r>
            <a:endParaRPr sz="2100" b="1">
              <a:solidFill>
                <a:srgbClr val="FF0000"/>
              </a:solidFill>
              <a:latin typeface="Times New Roman" panose="02020603050405020304"/>
              <a:cs typeface="Times New Roman" panose="02020603050405020304"/>
            </a:endParaRPr>
          </a:p>
          <a:p>
            <a:pPr marL="280670">
              <a:lnSpc>
                <a:spcPct val="125000"/>
              </a:lnSpc>
            </a:pPr>
            <a:r>
              <a:rPr sz="1600" dirty="0">
                <a:latin typeface="宋体" panose="02010600030101010101" pitchFamily="2" charset="-122"/>
                <a:cs typeface="宋体" panose="02010600030101010101" pitchFamily="2" charset="-122"/>
              </a:rPr>
              <a:t>说明：</a:t>
            </a:r>
            <a:r>
              <a:rPr sz="1600" spc="-25" dirty="0">
                <a:latin typeface="宋体" panose="02010600030101010101" pitchFamily="2" charset="-122"/>
                <a:cs typeface="宋体" panose="02010600030101010101" pitchFamily="2" charset="-122"/>
              </a:rPr>
              <a:t> </a:t>
            </a:r>
            <a:r>
              <a:rPr sz="1600" spc="-5" dirty="0">
                <a:latin typeface="Times New Roman" panose="02020603050405020304"/>
                <a:cs typeface="Times New Roman" panose="02020603050405020304"/>
              </a:rPr>
              <a:t>CH1</a:t>
            </a:r>
            <a:r>
              <a:rPr sz="1600" spc="-25" dirty="0">
                <a:latin typeface="Times New Roman" panose="02020603050405020304"/>
                <a:cs typeface="Times New Roman" panose="02020603050405020304"/>
              </a:rPr>
              <a:t> </a:t>
            </a:r>
            <a:r>
              <a:rPr sz="1600" dirty="0">
                <a:latin typeface="宋体" panose="02010600030101010101" pitchFamily="2" charset="-122"/>
                <a:cs typeface="宋体" panose="02010600030101010101" pitchFamily="2" charset="-122"/>
              </a:rPr>
              <a:t>和</a:t>
            </a:r>
            <a:r>
              <a:rPr sz="1600" spc="-300" dirty="0">
                <a:latin typeface="宋体" panose="02010600030101010101" pitchFamily="2" charset="-122"/>
                <a:cs typeface="宋体" panose="02010600030101010101" pitchFamily="2" charset="-122"/>
              </a:rPr>
              <a:t> </a:t>
            </a:r>
            <a:r>
              <a:rPr sz="1600" spc="-5" dirty="0">
                <a:latin typeface="Times New Roman" panose="02020603050405020304"/>
                <a:cs typeface="Times New Roman" panose="02020603050405020304"/>
              </a:rPr>
              <a:t>CH2</a:t>
            </a:r>
            <a:r>
              <a:rPr sz="1600" spc="-25" dirty="0">
                <a:latin typeface="Times New Roman" panose="02020603050405020304"/>
                <a:cs typeface="Times New Roman" panose="02020603050405020304"/>
              </a:rPr>
              <a:t> </a:t>
            </a:r>
            <a:r>
              <a:rPr sz="1600" dirty="0">
                <a:latin typeface="宋体" panose="02010600030101010101" pitchFamily="2" charset="-122"/>
                <a:cs typeface="宋体" panose="02010600030101010101" pitchFamily="2" charset="-122"/>
              </a:rPr>
              <a:t>输出工作在独立控制状</a:t>
            </a:r>
            <a:r>
              <a:rPr sz="1600" spc="30" dirty="0">
                <a:latin typeface="宋体" panose="02010600030101010101" pitchFamily="2" charset="-122"/>
                <a:cs typeface="宋体" panose="02010600030101010101" pitchFamily="2" charset="-122"/>
              </a:rPr>
              <a:t>态</a:t>
            </a:r>
            <a:r>
              <a:rPr sz="1600" dirty="0">
                <a:latin typeface="宋体" panose="02010600030101010101" pitchFamily="2" charset="-122"/>
                <a:cs typeface="宋体" panose="02010600030101010101" pitchFamily="2" charset="-122"/>
              </a:rPr>
              <a:t>，</a:t>
            </a:r>
            <a:endParaRPr sz="1600" dirty="0">
              <a:latin typeface="宋体" panose="02010600030101010101" pitchFamily="2" charset="-122"/>
              <a:cs typeface="宋体" panose="02010600030101010101" pitchFamily="2" charset="-122"/>
            </a:endParaRPr>
          </a:p>
          <a:p>
            <a:pPr marL="280670">
              <a:lnSpc>
                <a:spcPct val="125000"/>
              </a:lnSpc>
            </a:pPr>
            <a:r>
              <a:rPr sz="1600" dirty="0">
                <a:latin typeface="宋体" panose="02010600030101010101" pitchFamily="2" charset="-122"/>
                <a:cs typeface="宋体" panose="02010600030101010101" pitchFamily="2" charset="-122"/>
              </a:rPr>
              <a:t> </a:t>
            </a:r>
            <a:r>
              <a:rPr lang="en-US" sz="1600" dirty="0">
                <a:latin typeface="宋体" panose="02010600030101010101" pitchFamily="2" charset="-122"/>
                <a:cs typeface="宋体" panose="02010600030101010101" pitchFamily="2" charset="-122"/>
              </a:rPr>
              <a:t>      </a:t>
            </a:r>
            <a:r>
              <a:rPr sz="1600" dirty="0">
                <a:latin typeface="宋体" panose="02010600030101010101" pitchFamily="2" charset="-122"/>
                <a:cs typeface="宋体" panose="02010600030101010101" pitchFamily="2" charset="-122"/>
              </a:rPr>
              <a:t>同</a:t>
            </a:r>
            <a:r>
              <a:rPr sz="1600" spc="285" dirty="0">
                <a:latin typeface="宋体" panose="02010600030101010101" pitchFamily="2" charset="-122"/>
                <a:cs typeface="宋体" panose="02010600030101010101" pitchFamily="2" charset="-122"/>
              </a:rPr>
              <a:t>时</a:t>
            </a:r>
            <a:r>
              <a:rPr sz="1600" spc="-5" dirty="0">
                <a:solidFill>
                  <a:srgbClr val="FF0000"/>
                </a:solidFill>
                <a:latin typeface="Times New Roman" panose="02020603050405020304"/>
                <a:cs typeface="Times New Roman" panose="02020603050405020304"/>
              </a:rPr>
              <a:t>CH1</a:t>
            </a:r>
            <a:r>
              <a:rPr sz="1600" dirty="0">
                <a:solidFill>
                  <a:srgbClr val="FF0000"/>
                </a:solidFill>
                <a:latin typeface="Times New Roman" panose="02020603050405020304"/>
                <a:cs typeface="Times New Roman" panose="02020603050405020304"/>
              </a:rPr>
              <a:t> </a:t>
            </a:r>
            <a:r>
              <a:rPr sz="1600" spc="285" dirty="0">
                <a:solidFill>
                  <a:srgbClr val="FF0000"/>
                </a:solidFill>
                <a:latin typeface="宋体" panose="02010600030101010101" pitchFamily="2" charset="-122"/>
                <a:cs typeface="宋体" panose="02010600030101010101" pitchFamily="2" charset="-122"/>
              </a:rPr>
              <a:t>与</a:t>
            </a:r>
            <a:r>
              <a:rPr sz="1600" dirty="0">
                <a:solidFill>
                  <a:srgbClr val="FF0000"/>
                </a:solidFill>
                <a:latin typeface="Times New Roman" panose="02020603050405020304"/>
                <a:cs typeface="Times New Roman" panose="02020603050405020304"/>
              </a:rPr>
              <a:t>CH2</a:t>
            </a:r>
            <a:r>
              <a:rPr sz="1600" spc="-25" dirty="0">
                <a:solidFill>
                  <a:srgbClr val="FF0000"/>
                </a:solidFill>
                <a:latin typeface="Times New Roman" panose="02020603050405020304"/>
                <a:cs typeface="Times New Roman" panose="02020603050405020304"/>
              </a:rPr>
              <a:t> </a:t>
            </a:r>
            <a:r>
              <a:rPr sz="1600" dirty="0">
                <a:solidFill>
                  <a:srgbClr val="FF0000"/>
                </a:solidFill>
                <a:latin typeface="宋体" panose="02010600030101010101" pitchFamily="2" charset="-122"/>
                <a:cs typeface="宋体" panose="02010600030101010101" pitchFamily="2" charset="-122"/>
              </a:rPr>
              <a:t>均与地隔离</a:t>
            </a:r>
            <a:r>
              <a:rPr sz="1600" dirty="0">
                <a:latin typeface="宋体" panose="02010600030101010101" pitchFamily="2" charset="-122"/>
                <a:cs typeface="宋体" panose="02010600030101010101" pitchFamily="2" charset="-122"/>
              </a:rPr>
              <a:t>。</a:t>
            </a:r>
            <a:endParaRPr sz="1600">
              <a:latin typeface="宋体" panose="02010600030101010101" pitchFamily="2" charset="-122"/>
              <a:cs typeface="宋体" panose="02010600030101010101" pitchFamily="2" charset="-122"/>
            </a:endParaRPr>
          </a:p>
        </p:txBody>
      </p:sp>
      <p:sp>
        <p:nvSpPr>
          <p:cNvPr id="7" name="object 7"/>
          <p:cNvSpPr/>
          <p:nvPr/>
        </p:nvSpPr>
        <p:spPr>
          <a:xfrm>
            <a:off x="1751965" y="1401444"/>
            <a:ext cx="3806825" cy="1258570"/>
          </a:xfrm>
          <a:prstGeom prst="rect">
            <a:avLst/>
          </a:prstGeom>
          <a:blipFill>
            <a:blip r:embed="rId1" cstate="print"/>
            <a:stretch>
              <a:fillRect/>
            </a:stretch>
          </a:blipFill>
        </p:spPr>
        <p:txBody>
          <a:bodyPr wrap="square" lIns="0" tIns="0" rIns="0" bIns="0" rtlCol="0"/>
          <a:p/>
        </p:txBody>
      </p:sp>
      <p:sp>
        <p:nvSpPr>
          <p:cNvPr id="8" name="object 8"/>
          <p:cNvSpPr txBox="1"/>
          <p:nvPr/>
        </p:nvSpPr>
        <p:spPr>
          <a:xfrm>
            <a:off x="1183893" y="2919856"/>
            <a:ext cx="4523105" cy="1397635"/>
          </a:xfrm>
          <a:prstGeom prst="rect">
            <a:avLst/>
          </a:prstGeom>
        </p:spPr>
        <p:txBody>
          <a:bodyPr vert="horz" wrap="square" lIns="0" tIns="12700" rIns="0" bIns="0" rtlCol="0">
            <a:spAutoFit/>
          </a:bodyPr>
          <a:p>
            <a:pPr marL="12700">
              <a:lnSpc>
                <a:spcPct val="100000"/>
              </a:lnSpc>
              <a:spcBef>
                <a:spcPts val="100"/>
              </a:spcBef>
              <a:tabLst>
                <a:tab pos="927100" algn="l"/>
              </a:tabLst>
            </a:pPr>
            <a:r>
              <a:rPr sz="1200" dirty="0">
                <a:latin typeface="宋体" panose="02010600030101010101" pitchFamily="2" charset="-122"/>
                <a:cs typeface="宋体" panose="02010600030101010101" pitchFamily="2" charset="-122"/>
              </a:rPr>
              <a:t>输出额定值	</a:t>
            </a:r>
            <a:r>
              <a:rPr sz="1200" spc="-5" dirty="0">
                <a:latin typeface="Times New Roman" panose="02020603050405020304"/>
                <a:cs typeface="Times New Roman" panose="02020603050405020304"/>
              </a:rPr>
              <a:t>0~32V</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0~3.2A</a:t>
            </a:r>
            <a:endParaRPr sz="1200">
              <a:latin typeface="Times New Roman" panose="02020603050405020304"/>
              <a:cs typeface="Times New Roman" panose="02020603050405020304"/>
            </a:endParaRPr>
          </a:p>
          <a:p>
            <a:pPr marL="12700">
              <a:lnSpc>
                <a:spcPct val="100000"/>
              </a:lnSpc>
              <a:spcBef>
                <a:spcPts val="885"/>
              </a:spcBef>
            </a:pPr>
            <a:r>
              <a:rPr sz="1200" dirty="0">
                <a:latin typeface="宋体" panose="02010600030101010101" pitchFamily="2" charset="-122"/>
                <a:cs typeface="宋体" panose="02010600030101010101" pitchFamily="2" charset="-122"/>
              </a:rPr>
              <a:t>操作步骤：</a:t>
            </a:r>
            <a:endParaRPr sz="1200">
              <a:latin typeface="宋体" panose="02010600030101010101" pitchFamily="2" charset="-122"/>
              <a:cs typeface="宋体" panose="02010600030101010101" pitchFamily="2" charset="-122"/>
            </a:endParaRPr>
          </a:p>
          <a:p>
            <a:pPr marL="88900">
              <a:lnSpc>
                <a:spcPct val="100000"/>
              </a:lnSpc>
              <a:spcBef>
                <a:spcPts val="915"/>
              </a:spcBef>
            </a:pPr>
            <a:r>
              <a:rPr sz="1200" dirty="0">
                <a:latin typeface="Times New Roman" panose="02020603050405020304"/>
                <a:cs typeface="Times New Roman" panose="02020603050405020304"/>
              </a:rPr>
              <a:t>1</a:t>
            </a:r>
            <a:r>
              <a:rPr sz="1200" dirty="0">
                <a:latin typeface="宋体" panose="02010600030101010101" pitchFamily="2" charset="-122"/>
                <a:cs typeface="宋体" panose="02010600030101010101" pitchFamily="2" charset="-122"/>
              </a:rPr>
              <a:t>、确定并联和串联键关闭</a:t>
            </a:r>
            <a:r>
              <a:rPr sz="1200" spc="5"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按键灯不亮，界面没有串并联标</a:t>
            </a:r>
            <a:r>
              <a:rPr sz="1200" spc="5" dirty="0">
                <a:latin typeface="宋体" panose="02010600030101010101" pitchFamily="2" charset="-122"/>
                <a:cs typeface="宋体" panose="02010600030101010101" pitchFamily="2" charset="-122"/>
              </a:rPr>
              <a:t>识</a:t>
            </a:r>
            <a:r>
              <a:rPr sz="1200" spc="-600"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88900">
              <a:lnSpc>
                <a:spcPct val="100000"/>
              </a:lnSpc>
              <a:spcBef>
                <a:spcPts val="890"/>
              </a:spcBef>
            </a:pPr>
            <a:r>
              <a:rPr sz="1200" dirty="0">
                <a:latin typeface="Times New Roman" panose="02020603050405020304"/>
                <a:cs typeface="Times New Roman" panose="02020603050405020304"/>
              </a:rPr>
              <a:t>2</a:t>
            </a:r>
            <a:r>
              <a:rPr sz="1200" dirty="0">
                <a:latin typeface="宋体" panose="02010600030101010101" pitchFamily="2" charset="-122"/>
                <a:cs typeface="宋体" panose="02010600030101010101" pitchFamily="2" charset="-122"/>
              </a:rPr>
              <a:t>、连接负载到前面板端子</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CH1</a:t>
            </a:r>
            <a:r>
              <a:rPr sz="1200" dirty="0">
                <a:latin typeface="Times New Roman" panose="02020603050405020304"/>
                <a:cs typeface="Times New Roman" panose="02020603050405020304"/>
              </a:rPr>
              <a:t> </a:t>
            </a:r>
            <a:r>
              <a:rPr sz="1200" spc="-5" dirty="0">
                <a:latin typeface="Times New Roman" panose="02020603050405020304"/>
                <a:cs typeface="Times New Roman" panose="02020603050405020304"/>
              </a:rPr>
              <a:t>+/-</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CH2</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88900">
              <a:lnSpc>
                <a:spcPct val="100000"/>
              </a:lnSpc>
              <a:spcBef>
                <a:spcPts val="910"/>
              </a:spcBef>
            </a:pPr>
            <a:r>
              <a:rPr sz="1200" dirty="0">
                <a:latin typeface="Times New Roman" panose="02020603050405020304"/>
                <a:cs typeface="Times New Roman" panose="02020603050405020304"/>
              </a:rPr>
              <a:t>3</a:t>
            </a:r>
            <a:r>
              <a:rPr sz="1200" dirty="0">
                <a:latin typeface="宋体" panose="02010600030101010101" pitchFamily="2" charset="-122"/>
                <a:cs typeface="宋体" panose="02010600030101010101" pitchFamily="2" charset="-122"/>
              </a:rPr>
              <a:t>、设</a:t>
            </a:r>
            <a:r>
              <a:rPr sz="1200" spc="290" dirty="0">
                <a:latin typeface="宋体" panose="02010600030101010101" pitchFamily="2" charset="-122"/>
                <a:cs typeface="宋体" panose="02010600030101010101" pitchFamily="2" charset="-122"/>
              </a:rPr>
              <a:t>置</a:t>
            </a:r>
            <a:r>
              <a:rPr sz="1200" dirty="0">
                <a:latin typeface="Times New Roman" panose="02020603050405020304"/>
                <a:cs typeface="Times New Roman" panose="02020603050405020304"/>
              </a:rPr>
              <a:t>CH1/CH2</a:t>
            </a:r>
            <a:r>
              <a:rPr sz="1200" spc="-2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输出电压和电流：</a:t>
            </a:r>
            <a:endParaRPr sz="1200">
              <a:latin typeface="宋体" panose="02010600030101010101" pitchFamily="2" charset="-122"/>
              <a:cs typeface="宋体" panose="02010600030101010101" pitchFamily="2" charset="-122"/>
            </a:endParaRPr>
          </a:p>
        </p:txBody>
      </p:sp>
      <p:sp>
        <p:nvSpPr>
          <p:cNvPr id="9" name="object 9"/>
          <p:cNvSpPr txBox="1"/>
          <p:nvPr/>
        </p:nvSpPr>
        <p:spPr>
          <a:xfrm>
            <a:off x="1488440" y="4404360"/>
            <a:ext cx="4353560" cy="796925"/>
          </a:xfrm>
          <a:prstGeom prst="rect">
            <a:avLst/>
          </a:prstGeom>
        </p:spPr>
        <p:txBody>
          <a:bodyPr vert="horz" wrap="square" lIns="0" tIns="12700" rIns="0" bIns="0" rtlCol="0">
            <a:spAutoFit/>
          </a:bodyPr>
          <a:p>
            <a:pPr marL="241300" indent="-228600">
              <a:lnSpc>
                <a:spcPct val="100000"/>
              </a:lnSpc>
              <a:spcBef>
                <a:spcPts val="100"/>
              </a:spcBef>
              <a:buFont typeface="Times New Roman" panose="02020603050405020304"/>
              <a:buAutoNum type="alphaLcParenR"/>
              <a:tabLst>
                <a:tab pos="241300" algn="l"/>
              </a:tabLst>
            </a:pPr>
            <a:r>
              <a:rPr sz="1200" b="1" dirty="0">
                <a:solidFill>
                  <a:srgbClr val="FF0000"/>
                </a:solidFill>
                <a:latin typeface="宋体" panose="02010600030101010101" pitchFamily="2" charset="-122"/>
                <a:cs typeface="宋体" panose="02010600030101010101" pitchFamily="2" charset="-122"/>
              </a:rPr>
              <a:t>按键</a:t>
            </a:r>
            <a:r>
              <a:rPr sz="1200" b="1" spc="-75" dirty="0">
                <a:solidFill>
                  <a:srgbClr val="FF0000"/>
                </a:solidFill>
                <a:latin typeface="宋体" panose="02010600030101010101" pitchFamily="2" charset="-122"/>
                <a:cs typeface="宋体" panose="02010600030101010101" pitchFamily="2" charset="-122"/>
              </a:rPr>
              <a:t>“</a:t>
            </a:r>
            <a:r>
              <a:rPr sz="1200" b="1" spc="-75" dirty="0">
                <a:solidFill>
                  <a:srgbClr val="FF0000"/>
                </a:solidFill>
                <a:latin typeface="Times New Roman" panose="02020603050405020304"/>
                <a:cs typeface="Times New Roman" panose="02020603050405020304"/>
              </a:rPr>
              <a:t>1</a:t>
            </a:r>
            <a:r>
              <a:rPr sz="1200" b="1" spc="-75" dirty="0">
                <a:solidFill>
                  <a:srgbClr val="FF0000"/>
                </a:solidFill>
                <a:latin typeface="宋体" panose="02010600030101010101" pitchFamily="2" charset="-122"/>
                <a:cs typeface="宋体" panose="02010600030101010101" pitchFamily="2" charset="-122"/>
              </a:rPr>
              <a:t>”</a:t>
            </a:r>
            <a:r>
              <a:rPr sz="1200" b="1" spc="-75" dirty="0">
                <a:solidFill>
                  <a:srgbClr val="FF0000"/>
                </a:solidFill>
                <a:latin typeface="Times New Roman" panose="02020603050405020304"/>
                <a:cs typeface="Times New Roman" panose="02020603050405020304"/>
              </a:rPr>
              <a:t>/</a:t>
            </a:r>
            <a:r>
              <a:rPr sz="1200" b="1" spc="-75" dirty="0">
                <a:solidFill>
                  <a:srgbClr val="FF0000"/>
                </a:solidFill>
                <a:latin typeface="宋体" panose="02010600030101010101" pitchFamily="2" charset="-122"/>
                <a:cs typeface="宋体" panose="02010600030101010101" pitchFamily="2" charset="-122"/>
              </a:rPr>
              <a:t>“</a:t>
            </a:r>
            <a:r>
              <a:rPr sz="1200" b="1" spc="-75" dirty="0">
                <a:solidFill>
                  <a:srgbClr val="FF0000"/>
                </a:solidFill>
                <a:latin typeface="Times New Roman" panose="02020603050405020304"/>
                <a:cs typeface="Times New Roman" panose="02020603050405020304"/>
              </a:rPr>
              <a:t>2</a:t>
            </a:r>
            <a:r>
              <a:rPr sz="1200" b="1" spc="-75" dirty="0">
                <a:solidFill>
                  <a:srgbClr val="FF0000"/>
                </a:solidFill>
                <a:latin typeface="宋体" panose="02010600030101010101" pitchFamily="2" charset="-122"/>
                <a:cs typeface="宋体" panose="02010600030101010101" pitchFamily="2" charset="-122"/>
              </a:rPr>
              <a:t>”，</a:t>
            </a:r>
            <a:r>
              <a:rPr sz="1200" b="1" dirty="0">
                <a:solidFill>
                  <a:srgbClr val="FF0000"/>
                </a:solidFill>
                <a:latin typeface="宋体" panose="02010600030101010101" pitchFamily="2" charset="-122"/>
                <a:cs typeface="宋体" panose="02010600030101010101" pitchFamily="2" charset="-122"/>
              </a:rPr>
              <a:t>选择设置通道</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241300" indent="-228600">
              <a:lnSpc>
                <a:spcPct val="100000"/>
              </a:lnSpc>
              <a:spcBef>
                <a:spcPts val="915"/>
              </a:spcBef>
              <a:buFont typeface="Times New Roman" panose="02020603050405020304"/>
              <a:buAutoNum type="alphaLcParenR"/>
              <a:tabLst>
                <a:tab pos="241300" algn="l"/>
              </a:tabLst>
            </a:pPr>
            <a:r>
              <a:rPr sz="1200" dirty="0">
                <a:latin typeface="宋体" panose="02010600030101010101" pitchFamily="2" charset="-122"/>
                <a:cs typeface="宋体" panose="02010600030101010101" pitchFamily="2" charset="-122"/>
              </a:rPr>
              <a:t>通过方向键移动</a:t>
            </a:r>
            <a:r>
              <a:rPr sz="1200" b="1" dirty="0">
                <a:solidFill>
                  <a:srgbClr val="FF0000"/>
                </a:solidFill>
                <a:latin typeface="宋体" panose="02010600030101010101" pitchFamily="2" charset="-122"/>
                <a:cs typeface="宋体" panose="02010600030101010101" pitchFamily="2" charset="-122"/>
              </a:rPr>
              <a:t>光标</a:t>
            </a:r>
            <a:r>
              <a:rPr sz="1200" dirty="0">
                <a:latin typeface="宋体" panose="02010600030101010101" pitchFamily="2" charset="-122"/>
                <a:cs typeface="宋体" panose="02010600030101010101" pitchFamily="2" charset="-122"/>
              </a:rPr>
              <a:t>选择需要修改的参数（电压、电流</a:t>
            </a:r>
            <a:r>
              <a:rPr sz="1200" spc="-600"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12700">
              <a:lnSpc>
                <a:spcPct val="100000"/>
              </a:lnSpc>
              <a:spcBef>
                <a:spcPts val="885"/>
              </a:spcBef>
            </a:pPr>
            <a:r>
              <a:rPr sz="1200" spc="-5" dirty="0">
                <a:latin typeface="Times New Roman" panose="02020603050405020304"/>
                <a:cs typeface="Times New Roman" panose="02020603050405020304"/>
              </a:rPr>
              <a:t>c)</a:t>
            </a:r>
            <a:endParaRPr sz="1200">
              <a:latin typeface="Times New Roman" panose="02020603050405020304"/>
              <a:cs typeface="Times New Roman" panose="02020603050405020304"/>
            </a:endParaRPr>
          </a:p>
        </p:txBody>
      </p:sp>
      <p:sp>
        <p:nvSpPr>
          <p:cNvPr id="10" name="object 10"/>
          <p:cNvSpPr txBox="1"/>
          <p:nvPr/>
        </p:nvSpPr>
        <p:spPr>
          <a:xfrm>
            <a:off x="1717293" y="4999100"/>
            <a:ext cx="4107815" cy="381635"/>
          </a:xfrm>
          <a:prstGeom prst="rect">
            <a:avLst/>
          </a:prstGeom>
        </p:spPr>
        <p:txBody>
          <a:bodyPr vert="horz" wrap="square" lIns="0" tIns="12700" rIns="0" bIns="0" rtlCol="0">
            <a:spAutoFit/>
          </a:bodyPr>
          <a:p>
            <a:pPr marL="12700">
              <a:lnSpc>
                <a:spcPct val="100000"/>
              </a:lnSpc>
              <a:spcBef>
                <a:spcPts val="100"/>
              </a:spcBef>
            </a:pPr>
            <a:r>
              <a:rPr sz="1200" dirty="0">
                <a:latin typeface="宋体" panose="02010600030101010101" pitchFamily="2" charset="-122"/>
                <a:cs typeface="宋体" panose="02010600030101010101" pitchFamily="2" charset="-122"/>
              </a:rPr>
              <a:t>按</a:t>
            </a:r>
            <a:r>
              <a:rPr sz="1200" b="1" dirty="0">
                <a:solidFill>
                  <a:srgbClr val="FF0000"/>
                </a:solidFill>
                <a:latin typeface="宋体" panose="02010600030101010101" pitchFamily="2" charset="-122"/>
                <a:cs typeface="宋体" panose="02010600030101010101" pitchFamily="2" charset="-122"/>
              </a:rPr>
              <a:t>“</a:t>
            </a:r>
            <a:r>
              <a:rPr sz="1200" b="1" spc="-5" dirty="0">
                <a:solidFill>
                  <a:srgbClr val="FF0000"/>
                </a:solidFill>
                <a:latin typeface="Times New Roman" panose="02020603050405020304"/>
                <a:cs typeface="Times New Roman" panose="02020603050405020304"/>
              </a:rPr>
              <a:t>F</a:t>
            </a:r>
            <a:r>
              <a:rPr sz="1200" b="1" spc="-25" dirty="0">
                <a:solidFill>
                  <a:srgbClr val="FF0000"/>
                </a:solidFill>
                <a:latin typeface="Times New Roman" panose="02020603050405020304"/>
                <a:cs typeface="Times New Roman" panose="02020603050405020304"/>
              </a:rPr>
              <a:t>i</a:t>
            </a:r>
            <a:r>
              <a:rPr sz="1200" b="1" dirty="0">
                <a:solidFill>
                  <a:srgbClr val="FF0000"/>
                </a:solidFill>
                <a:latin typeface="Times New Roman" panose="02020603050405020304"/>
                <a:cs typeface="Times New Roman" panose="02020603050405020304"/>
              </a:rPr>
              <a:t>n</a:t>
            </a:r>
            <a:r>
              <a:rPr sz="1200" b="1" spc="-5" dirty="0">
                <a:solidFill>
                  <a:srgbClr val="FF0000"/>
                </a:solidFill>
                <a:latin typeface="Times New Roman" panose="02020603050405020304"/>
                <a:cs typeface="Times New Roman" panose="02020603050405020304"/>
              </a:rPr>
              <a:t>e</a:t>
            </a:r>
            <a:r>
              <a:rPr sz="1200" dirty="0">
                <a:latin typeface="宋体" panose="02010600030101010101" pitchFamily="2" charset="-122"/>
                <a:cs typeface="宋体" panose="02010600030101010101" pitchFamily="2" charset="-122"/>
              </a:rPr>
              <a:t>”键选择数位，再旋转</a:t>
            </a:r>
            <a:r>
              <a:rPr sz="1200" b="1" dirty="0">
                <a:solidFill>
                  <a:srgbClr val="FF0000"/>
                </a:solidFill>
                <a:latin typeface="宋体" panose="02010600030101010101" pitchFamily="2" charset="-122"/>
                <a:cs typeface="宋体" panose="02010600030101010101" pitchFamily="2" charset="-122"/>
              </a:rPr>
              <a:t>多功能旋钮</a:t>
            </a:r>
            <a:r>
              <a:rPr sz="1200" b="1" spc="20" dirty="0">
                <a:solidFill>
                  <a:srgbClr val="FF0000"/>
                </a:solidFill>
                <a:latin typeface="宋体" panose="02010600030101010101" pitchFamily="2" charset="-122"/>
                <a:cs typeface="宋体" panose="02010600030101010101" pitchFamily="2" charset="-122"/>
              </a:rPr>
              <a:t>改</a:t>
            </a:r>
            <a:r>
              <a:rPr sz="1200" b="1" dirty="0">
                <a:solidFill>
                  <a:srgbClr val="FF0000"/>
                </a:solidFill>
                <a:latin typeface="宋体" panose="02010600030101010101" pitchFamily="2" charset="-122"/>
                <a:cs typeface="宋体" panose="02010600030101010101" pitchFamily="2" charset="-122"/>
              </a:rPr>
              <a:t>变相应参数值</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p:txBody>
      </p:sp>
      <p:sp>
        <p:nvSpPr>
          <p:cNvPr id="11" name="object 11"/>
          <p:cNvSpPr txBox="1"/>
          <p:nvPr/>
        </p:nvSpPr>
        <p:spPr>
          <a:xfrm>
            <a:off x="1260093" y="5297805"/>
            <a:ext cx="4846320" cy="495300"/>
          </a:xfrm>
          <a:prstGeom prst="rect">
            <a:avLst/>
          </a:prstGeom>
        </p:spPr>
        <p:txBody>
          <a:bodyPr vert="horz" wrap="square" lIns="0" tIns="12700" rIns="0" bIns="0" rtlCol="0">
            <a:spAutoFit/>
          </a:bodyPr>
          <a:p>
            <a:pPr marL="12700">
              <a:lnSpc>
                <a:spcPct val="100000"/>
              </a:lnSpc>
              <a:spcBef>
                <a:spcPts val="100"/>
              </a:spcBef>
            </a:pPr>
            <a:r>
              <a:rPr sz="1200" dirty="0">
                <a:latin typeface="Times New Roman" panose="02020603050405020304"/>
                <a:cs typeface="Times New Roman" panose="02020603050405020304"/>
              </a:rPr>
              <a:t>4</a:t>
            </a:r>
            <a:r>
              <a:rPr sz="1200" dirty="0">
                <a:latin typeface="宋体" panose="02010600030101010101" pitchFamily="2" charset="-122"/>
                <a:cs typeface="宋体" panose="02010600030101010101" pitchFamily="2" charset="-122"/>
              </a:rPr>
              <a:t>、打开输出：</a:t>
            </a:r>
            <a:endParaRPr sz="1200">
              <a:latin typeface="宋体" panose="02010600030101010101" pitchFamily="2" charset="-122"/>
              <a:cs typeface="宋体" panose="02010600030101010101" pitchFamily="2" charset="-122"/>
            </a:endParaRPr>
          </a:p>
          <a:p>
            <a:pPr marL="240665">
              <a:lnSpc>
                <a:spcPct val="100000"/>
              </a:lnSpc>
              <a:spcBef>
                <a:spcPts val="885"/>
              </a:spcBef>
            </a:pPr>
            <a:r>
              <a:rPr sz="1200" dirty="0">
                <a:latin typeface="宋体" panose="02010600030101010101" pitchFamily="2" charset="-122"/>
                <a:cs typeface="宋体" panose="02010600030101010101" pitchFamily="2" charset="-122"/>
              </a:rPr>
              <a:t>按下</a:t>
            </a:r>
            <a:r>
              <a:rPr sz="1200" b="1" spc="-25" dirty="0">
                <a:solidFill>
                  <a:srgbClr val="FF0000"/>
                </a:solidFill>
                <a:latin typeface="宋体" panose="02010600030101010101" pitchFamily="2" charset="-122"/>
                <a:cs typeface="宋体" panose="02010600030101010101" pitchFamily="2" charset="-122"/>
              </a:rPr>
              <a:t> </a:t>
            </a:r>
            <a:r>
              <a:rPr sz="1200" b="1" spc="-75" dirty="0">
                <a:solidFill>
                  <a:srgbClr val="FF0000"/>
                </a:solidFill>
                <a:latin typeface="宋体" panose="02010600030101010101" pitchFamily="2" charset="-122"/>
                <a:cs typeface="宋体" panose="02010600030101010101" pitchFamily="2" charset="-122"/>
              </a:rPr>
              <a:t>“</a:t>
            </a:r>
            <a:r>
              <a:rPr sz="1200" b="1" spc="-75" dirty="0">
                <a:solidFill>
                  <a:srgbClr val="FF0000"/>
                </a:solidFill>
                <a:latin typeface="Times New Roman" panose="02020603050405020304"/>
                <a:cs typeface="Times New Roman" panose="02020603050405020304"/>
              </a:rPr>
              <a:t>on/off</a:t>
            </a:r>
            <a:r>
              <a:rPr sz="1200" b="1" spc="-75" dirty="0">
                <a:solidFill>
                  <a:srgbClr val="FF0000"/>
                </a:solidFill>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相应通道指示灯被点亮，输</a:t>
            </a:r>
            <a:r>
              <a:rPr sz="1200" spc="20" dirty="0">
                <a:latin typeface="宋体" panose="02010600030101010101" pitchFamily="2" charset="-122"/>
                <a:cs typeface="宋体" panose="02010600030101010101" pitchFamily="2" charset="-122"/>
              </a:rPr>
              <a:t>出</a:t>
            </a:r>
            <a:r>
              <a:rPr sz="1200" dirty="0">
                <a:latin typeface="宋体" panose="02010600030101010101" pitchFamily="2" charset="-122"/>
                <a:cs typeface="宋体" panose="02010600030101010101" pitchFamily="2" charset="-122"/>
              </a:rPr>
              <a:t>显示</a:t>
            </a:r>
            <a:r>
              <a:rPr sz="1200" spc="-315" dirty="0">
                <a:latin typeface="宋体" panose="02010600030101010101" pitchFamily="2" charset="-122"/>
                <a:cs typeface="宋体" panose="02010600030101010101" pitchFamily="2" charset="-122"/>
              </a:rPr>
              <a:t> </a:t>
            </a:r>
            <a:r>
              <a:rPr sz="1200" spc="5" dirty="0">
                <a:latin typeface="Times New Roman" panose="02020603050405020304"/>
                <a:cs typeface="Times New Roman" panose="02020603050405020304"/>
              </a:rPr>
              <a:t>CC</a:t>
            </a:r>
            <a:r>
              <a:rPr sz="1200" spc="-3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或</a:t>
            </a:r>
            <a:r>
              <a:rPr sz="1200" spc="-300" dirty="0">
                <a:latin typeface="宋体" panose="02010600030101010101" pitchFamily="2" charset="-122"/>
                <a:cs typeface="宋体" panose="02010600030101010101" pitchFamily="2" charset="-122"/>
              </a:rPr>
              <a:t> </a:t>
            </a:r>
            <a:r>
              <a:rPr sz="1200" spc="-10" dirty="0">
                <a:latin typeface="Times New Roman" panose="02020603050405020304"/>
                <a:cs typeface="Times New Roman" panose="02020603050405020304"/>
              </a:rPr>
              <a:t>CV</a:t>
            </a:r>
            <a:r>
              <a:rPr sz="1200" spc="-3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模式。</a:t>
            </a:r>
            <a:endParaRPr sz="1200">
              <a:latin typeface="宋体" panose="02010600030101010101" pitchFamily="2" charset="-122"/>
              <a:cs typeface="宋体" panose="02010600030101010101" pitchFamily="2" charset="-122"/>
            </a:endParaRPr>
          </a:p>
        </p:txBody>
      </p:sp>
      <p:sp>
        <p:nvSpPr>
          <p:cNvPr id="12" name="object 12"/>
          <p:cNvSpPr/>
          <p:nvPr/>
        </p:nvSpPr>
        <p:spPr>
          <a:xfrm>
            <a:off x="1156335" y="289877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
        <p:nvSpPr>
          <p:cNvPr id="13" name="object 13"/>
          <p:cNvSpPr/>
          <p:nvPr/>
        </p:nvSpPr>
        <p:spPr>
          <a:xfrm>
            <a:off x="1156335" y="319595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 calcmode="lin" valueType="num">
                                      <p:cBhvr additive="base">
                                        <p:cTn id="2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anim calcmode="lin" valueType="num">
                                      <p:cBhvr additive="base">
                                        <p:cTn id="3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anim calcmode="lin" valueType="num">
                                      <p:cBhvr additive="base">
                                        <p:cTn id="3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 calcmode="lin" valueType="num">
                                      <p:cBhvr additive="base">
                                        <p:cTn id="4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1">
                                            <p:txEl>
                                              <p:pRg st="1" end="1"/>
                                            </p:txEl>
                                          </p:spTgt>
                                        </p:tgtEl>
                                        <p:attrNameLst>
                                          <p:attrName>style.visibility</p:attrName>
                                        </p:attrNameLst>
                                      </p:cBhvr>
                                      <p:to>
                                        <p:strVal val="visible"/>
                                      </p:to>
                                    </p:set>
                                    <p:anim calcmode="lin" valueType="num">
                                      <p:cBhvr additive="base">
                                        <p:cTn id="53"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6" name="object 6"/>
          <p:cNvSpPr txBox="1"/>
          <p:nvPr/>
        </p:nvSpPr>
        <p:spPr>
          <a:xfrm>
            <a:off x="1130300" y="224790"/>
            <a:ext cx="6443345" cy="1243965"/>
          </a:xfrm>
          <a:prstGeom prst="rect">
            <a:avLst/>
          </a:prstGeom>
        </p:spPr>
        <p:txBody>
          <a:bodyPr vert="horz" wrap="square" lIns="0" tIns="13335" rIns="0" bIns="0" rtlCol="0">
            <a:spAutoFit/>
          </a:bodyPr>
          <a:p>
            <a:pPr marL="12700">
              <a:lnSpc>
                <a:spcPct val="125000"/>
              </a:lnSpc>
              <a:spcBef>
                <a:spcPts val="0"/>
              </a:spcBef>
            </a:pPr>
            <a:r>
              <a:rPr sz="2400" b="1" spc="15" dirty="0">
                <a:solidFill>
                  <a:srgbClr val="FF0000"/>
                </a:solidFill>
                <a:latin typeface="Times New Roman" panose="02020603050405020304"/>
                <a:cs typeface="Times New Roman" panose="02020603050405020304"/>
              </a:rPr>
              <a:t> </a:t>
            </a:r>
            <a:r>
              <a:rPr sz="2400" b="1" spc="-10" dirty="0">
                <a:solidFill>
                  <a:srgbClr val="FF0000"/>
                </a:solidFill>
                <a:latin typeface="Times New Roman" panose="02020603050405020304"/>
                <a:cs typeface="Times New Roman" panose="02020603050405020304"/>
              </a:rPr>
              <a:t>CH3</a:t>
            </a:r>
            <a:r>
              <a:rPr sz="2400" b="1" spc="-5" dirty="0">
                <a:solidFill>
                  <a:srgbClr val="FF0000"/>
                </a:solidFill>
                <a:latin typeface="Times New Roman" panose="02020603050405020304"/>
                <a:cs typeface="Times New Roman" panose="02020603050405020304"/>
              </a:rPr>
              <a:t> </a:t>
            </a:r>
            <a:r>
              <a:rPr sz="2400" b="1" dirty="0">
                <a:solidFill>
                  <a:srgbClr val="FF0000"/>
                </a:solidFill>
                <a:latin typeface="宋体" panose="02010600030101010101" pitchFamily="2" charset="-122"/>
                <a:cs typeface="宋体" panose="02010600030101010101" pitchFamily="2" charset="-122"/>
              </a:rPr>
              <a:t>独立模式</a:t>
            </a:r>
            <a:endParaRPr sz="2400">
              <a:solidFill>
                <a:srgbClr val="FF0000"/>
              </a:solidFill>
              <a:latin typeface="宋体" panose="02010600030101010101" pitchFamily="2" charset="-122"/>
              <a:cs typeface="宋体" panose="02010600030101010101" pitchFamily="2" charset="-122"/>
            </a:endParaRPr>
          </a:p>
          <a:p>
            <a:pPr>
              <a:lnSpc>
                <a:spcPct val="125000"/>
              </a:lnSpc>
              <a:spcBef>
                <a:spcPts val="0"/>
              </a:spcBef>
            </a:pPr>
            <a:r>
              <a:rPr lang="en-US" sz="1200" dirty="0">
                <a:latin typeface="宋体" panose="02010600030101010101" pitchFamily="2" charset="-122"/>
                <a:cs typeface="宋体" panose="02010600030101010101" pitchFamily="2" charset="-122"/>
              </a:rPr>
              <a:t>   </a:t>
            </a:r>
            <a:r>
              <a:rPr lang="en-US" sz="2000" dirty="0">
                <a:latin typeface="宋体" panose="02010600030101010101" pitchFamily="2" charset="-122"/>
                <a:cs typeface="宋体" panose="02010600030101010101" pitchFamily="2" charset="-122"/>
              </a:rPr>
              <a:t>  </a:t>
            </a:r>
            <a:r>
              <a:rPr sz="2000" dirty="0">
                <a:latin typeface="宋体" panose="02010600030101010101" pitchFamily="2" charset="-122"/>
                <a:cs typeface="宋体" panose="02010600030101010101" pitchFamily="2" charset="-122"/>
              </a:rPr>
              <a:t>说明：</a:t>
            </a:r>
            <a:r>
              <a:rPr sz="2000" spc="-15" dirty="0">
                <a:latin typeface="宋体" panose="02010600030101010101" pitchFamily="2" charset="-122"/>
                <a:cs typeface="宋体" panose="02010600030101010101" pitchFamily="2" charset="-122"/>
              </a:rPr>
              <a:t> </a:t>
            </a:r>
            <a:r>
              <a:rPr sz="2000" spc="-5" dirty="0">
                <a:latin typeface="Times New Roman" panose="02020603050405020304"/>
                <a:cs typeface="Times New Roman" panose="02020603050405020304"/>
              </a:rPr>
              <a:t>CH3</a:t>
            </a:r>
            <a:r>
              <a:rPr sz="2000" spc="-25" dirty="0">
                <a:latin typeface="Times New Roman" panose="02020603050405020304"/>
                <a:cs typeface="Times New Roman" panose="02020603050405020304"/>
              </a:rPr>
              <a:t> </a:t>
            </a:r>
            <a:r>
              <a:rPr sz="2000" dirty="0">
                <a:latin typeface="宋体" panose="02010600030101010101" pitchFamily="2" charset="-122"/>
                <a:cs typeface="宋体" panose="02010600030101010101" pitchFamily="2" charset="-122"/>
              </a:rPr>
              <a:t>额定值为</a:t>
            </a:r>
            <a:r>
              <a:rPr sz="2000" b="1" spc="-315" dirty="0">
                <a:solidFill>
                  <a:srgbClr val="FF0000"/>
                </a:solidFill>
                <a:latin typeface="宋体" panose="02010600030101010101" pitchFamily="2" charset="-122"/>
                <a:cs typeface="宋体" panose="02010600030101010101" pitchFamily="2" charset="-122"/>
              </a:rPr>
              <a:t> </a:t>
            </a:r>
            <a:r>
              <a:rPr sz="2000" b="1" dirty="0">
                <a:solidFill>
                  <a:srgbClr val="FF0000"/>
                </a:solidFill>
                <a:latin typeface="Times New Roman" panose="02020603050405020304"/>
                <a:cs typeface="Times New Roman" panose="02020603050405020304"/>
              </a:rPr>
              <a:t>2.5V</a:t>
            </a:r>
            <a:r>
              <a:rPr sz="2000" b="1" dirty="0">
                <a:solidFill>
                  <a:srgbClr val="FF0000"/>
                </a:solidFill>
                <a:latin typeface="宋体" panose="02010600030101010101" pitchFamily="2" charset="-122"/>
                <a:cs typeface="宋体" panose="02010600030101010101" pitchFamily="2" charset="-122"/>
              </a:rPr>
              <a:t>、</a:t>
            </a:r>
            <a:r>
              <a:rPr sz="2000" b="1" dirty="0">
                <a:solidFill>
                  <a:srgbClr val="FF0000"/>
                </a:solidFill>
                <a:latin typeface="Times New Roman" panose="02020603050405020304"/>
                <a:cs typeface="Times New Roman" panose="02020603050405020304"/>
              </a:rPr>
              <a:t>3.3V</a:t>
            </a:r>
            <a:r>
              <a:rPr sz="2000" b="1" dirty="0">
                <a:solidFill>
                  <a:srgbClr val="FF0000"/>
                </a:solidFill>
                <a:latin typeface="宋体" panose="02010600030101010101" pitchFamily="2" charset="-122"/>
                <a:cs typeface="宋体" panose="02010600030101010101" pitchFamily="2" charset="-122"/>
              </a:rPr>
              <a:t>、</a:t>
            </a:r>
            <a:r>
              <a:rPr sz="2000" b="1" spc="-5" dirty="0">
                <a:solidFill>
                  <a:srgbClr val="FF0000"/>
                </a:solidFill>
                <a:latin typeface="Times New Roman" panose="02020603050405020304"/>
                <a:cs typeface="Times New Roman" panose="02020603050405020304"/>
              </a:rPr>
              <a:t>5V</a:t>
            </a:r>
            <a:r>
              <a:rPr sz="2000" b="1" spc="-5" dirty="0">
                <a:solidFill>
                  <a:srgbClr val="FF0000"/>
                </a:solidFill>
                <a:latin typeface="宋体" panose="02010600030101010101" pitchFamily="2" charset="-122"/>
                <a:cs typeface="宋体" panose="02010600030101010101" pitchFamily="2" charset="-122"/>
              </a:rPr>
              <a:t>，</a:t>
            </a:r>
            <a:r>
              <a:rPr sz="2000" b="1" spc="-5" dirty="0">
                <a:solidFill>
                  <a:srgbClr val="FF0000"/>
                </a:solidFill>
                <a:latin typeface="Times New Roman" panose="02020603050405020304"/>
                <a:cs typeface="Times New Roman" panose="02020603050405020304"/>
              </a:rPr>
              <a:t>3.2A</a:t>
            </a:r>
            <a:r>
              <a:rPr sz="2000" dirty="0">
                <a:latin typeface="宋体" panose="02010600030101010101" pitchFamily="2" charset="-122"/>
                <a:cs typeface="宋体" panose="02010600030101010101" pitchFamily="2" charset="-122"/>
              </a:rPr>
              <a:t>。</a:t>
            </a:r>
            <a:endParaRPr sz="2000" dirty="0">
              <a:latin typeface="宋体" panose="02010600030101010101" pitchFamily="2" charset="-122"/>
              <a:cs typeface="宋体" panose="02010600030101010101" pitchFamily="2" charset="-122"/>
            </a:endParaRPr>
          </a:p>
          <a:p>
            <a:pPr>
              <a:lnSpc>
                <a:spcPct val="125000"/>
              </a:lnSpc>
              <a:spcBef>
                <a:spcPts val="0"/>
              </a:spcBef>
            </a:pPr>
            <a:r>
              <a:rPr sz="2000" dirty="0">
                <a:latin typeface="宋体" panose="02010600030101010101" pitchFamily="2" charset="-122"/>
                <a:cs typeface="宋体" panose="02010600030101010101" pitchFamily="2" charset="-122"/>
              </a:rPr>
              <a:t> </a:t>
            </a:r>
            <a:r>
              <a:rPr lang="en-US" sz="2000" dirty="0">
                <a:latin typeface="宋体" panose="02010600030101010101" pitchFamily="2" charset="-122"/>
                <a:cs typeface="宋体" panose="02010600030101010101" pitchFamily="2" charset="-122"/>
              </a:rPr>
              <a:t>          </a:t>
            </a:r>
            <a:r>
              <a:rPr sz="2000" dirty="0">
                <a:latin typeface="宋体" panose="02010600030101010101" pitchFamily="2" charset="-122"/>
                <a:cs typeface="宋体" panose="02010600030101010101" pitchFamily="2" charset="-122"/>
              </a:rPr>
              <a:t>独立</a:t>
            </a:r>
            <a:r>
              <a:rPr sz="2000" spc="285" dirty="0">
                <a:latin typeface="宋体" panose="02010600030101010101" pitchFamily="2" charset="-122"/>
                <a:cs typeface="宋体" panose="02010600030101010101" pitchFamily="2" charset="-122"/>
              </a:rPr>
              <a:t>于</a:t>
            </a:r>
            <a:r>
              <a:rPr sz="2000" spc="-5" dirty="0">
                <a:latin typeface="Times New Roman" panose="02020603050405020304"/>
                <a:cs typeface="Times New Roman" panose="02020603050405020304"/>
              </a:rPr>
              <a:t>CH1/CH2</a:t>
            </a:r>
            <a:r>
              <a:rPr sz="2000" dirty="0">
                <a:latin typeface="宋体" panose="02010600030101010101" pitchFamily="2" charset="-122"/>
                <a:cs typeface="宋体" panose="02010600030101010101" pitchFamily="2" charset="-122"/>
              </a:rPr>
              <a:t>。</a:t>
            </a:r>
            <a:endParaRPr sz="2000">
              <a:latin typeface="宋体" panose="02010600030101010101" pitchFamily="2" charset="-122"/>
              <a:cs typeface="宋体" panose="02010600030101010101" pitchFamily="2" charset="-122"/>
            </a:endParaRPr>
          </a:p>
        </p:txBody>
      </p:sp>
      <p:sp>
        <p:nvSpPr>
          <p:cNvPr id="3" name="object 7"/>
          <p:cNvSpPr/>
          <p:nvPr/>
        </p:nvSpPr>
        <p:spPr>
          <a:xfrm>
            <a:off x="3223260" y="1616709"/>
            <a:ext cx="1295400" cy="1258570"/>
          </a:xfrm>
          <a:prstGeom prst="rect">
            <a:avLst/>
          </a:prstGeom>
          <a:blipFill>
            <a:blip r:embed="rId1" cstate="print"/>
            <a:stretch>
              <a:fillRect/>
            </a:stretch>
          </a:blipFill>
        </p:spPr>
        <p:txBody>
          <a:bodyPr wrap="square" lIns="0" tIns="0" rIns="0" bIns="0" rtlCol="0"/>
          <a:p/>
        </p:txBody>
      </p:sp>
      <p:sp>
        <p:nvSpPr>
          <p:cNvPr id="4" name="object 8"/>
          <p:cNvSpPr txBox="1"/>
          <p:nvPr/>
        </p:nvSpPr>
        <p:spPr>
          <a:xfrm>
            <a:off x="1399158" y="3063366"/>
            <a:ext cx="787400" cy="208279"/>
          </a:xfrm>
          <a:prstGeom prst="rect">
            <a:avLst/>
          </a:prstGeom>
        </p:spPr>
        <p:txBody>
          <a:bodyPr vert="horz" wrap="square" lIns="0" tIns="12700" rIns="0" bIns="0" rtlCol="0">
            <a:spAutoFit/>
          </a:bodyPr>
          <a:p>
            <a:pPr marL="12700">
              <a:lnSpc>
                <a:spcPct val="100000"/>
              </a:lnSpc>
              <a:spcBef>
                <a:spcPts val="100"/>
              </a:spcBef>
            </a:pPr>
            <a:r>
              <a:rPr sz="1200" dirty="0">
                <a:latin typeface="宋体" panose="02010600030101010101" pitchFamily="2" charset="-122"/>
                <a:cs typeface="宋体" panose="02010600030101010101" pitchFamily="2" charset="-122"/>
              </a:rPr>
              <a:t>输出额定值</a:t>
            </a:r>
            <a:endParaRPr sz="1200">
              <a:latin typeface="宋体" panose="02010600030101010101" pitchFamily="2" charset="-122"/>
              <a:cs typeface="宋体" panose="02010600030101010101" pitchFamily="2" charset="-122"/>
            </a:endParaRPr>
          </a:p>
        </p:txBody>
      </p:sp>
      <p:sp>
        <p:nvSpPr>
          <p:cNvPr id="5" name="object 9"/>
          <p:cNvSpPr txBox="1"/>
          <p:nvPr/>
        </p:nvSpPr>
        <p:spPr>
          <a:xfrm>
            <a:off x="2466213" y="3063366"/>
            <a:ext cx="1239520" cy="208279"/>
          </a:xfrm>
          <a:prstGeom prst="rect">
            <a:avLst/>
          </a:prstGeom>
        </p:spPr>
        <p:txBody>
          <a:bodyPr vert="horz" wrap="square" lIns="0" tIns="12700" rIns="0" bIns="0" rtlCol="0">
            <a:spAutoFit/>
          </a:bodyPr>
          <a:p>
            <a:pPr marL="12700">
              <a:lnSpc>
                <a:spcPct val="100000"/>
              </a:lnSpc>
              <a:spcBef>
                <a:spcPts val="100"/>
              </a:spcBef>
            </a:pPr>
            <a:r>
              <a:rPr sz="1200" dirty="0">
                <a:latin typeface="Times New Roman" panose="02020603050405020304"/>
                <a:cs typeface="Times New Roman" panose="02020603050405020304"/>
              </a:rPr>
              <a:t>2</a:t>
            </a:r>
            <a:r>
              <a:rPr sz="1200" spc="10" dirty="0">
                <a:latin typeface="Times New Roman" panose="02020603050405020304"/>
                <a:cs typeface="Times New Roman" panose="02020603050405020304"/>
              </a:rPr>
              <a:t>.</a:t>
            </a:r>
            <a:r>
              <a:rPr sz="1200" dirty="0">
                <a:latin typeface="Times New Roman" panose="02020603050405020304"/>
                <a:cs typeface="Times New Roman" panose="02020603050405020304"/>
              </a:rPr>
              <a:t>5V/3</a:t>
            </a:r>
            <a:r>
              <a:rPr sz="1200" spc="10" dirty="0">
                <a:latin typeface="Times New Roman" panose="02020603050405020304"/>
                <a:cs typeface="Times New Roman" panose="02020603050405020304"/>
              </a:rPr>
              <a:t>.</a:t>
            </a:r>
            <a:r>
              <a:rPr sz="1200" spc="-5" dirty="0">
                <a:latin typeface="Times New Roman" panose="02020603050405020304"/>
                <a:cs typeface="Times New Roman" panose="02020603050405020304"/>
              </a:rPr>
              <a:t>3V/5V</a:t>
            </a:r>
            <a:r>
              <a:rPr sz="1200"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3A</a:t>
            </a:r>
            <a:endParaRPr sz="1200">
              <a:latin typeface="Times New Roman" panose="02020603050405020304"/>
              <a:cs typeface="Times New Roman" panose="02020603050405020304"/>
            </a:endParaRPr>
          </a:p>
        </p:txBody>
      </p:sp>
      <p:sp>
        <p:nvSpPr>
          <p:cNvPr id="14" name="object 10"/>
          <p:cNvSpPr txBox="1"/>
          <p:nvPr/>
        </p:nvSpPr>
        <p:spPr>
          <a:xfrm>
            <a:off x="1130604" y="3657726"/>
            <a:ext cx="5629910" cy="2287905"/>
          </a:xfrm>
          <a:prstGeom prst="rect">
            <a:avLst/>
          </a:prstGeom>
        </p:spPr>
        <p:txBody>
          <a:bodyPr vert="horz" wrap="square" lIns="0" tIns="12700" rIns="0" bIns="0" rtlCol="0">
            <a:spAutoFit/>
          </a:bodyPr>
          <a:p>
            <a:pPr marL="280670">
              <a:lnSpc>
                <a:spcPct val="100000"/>
              </a:lnSpc>
              <a:spcBef>
                <a:spcPts val="100"/>
              </a:spcBef>
            </a:pPr>
            <a:r>
              <a:rPr sz="1200" dirty="0">
                <a:latin typeface="宋体" panose="02010600030101010101" pitchFamily="2" charset="-122"/>
                <a:cs typeface="宋体" panose="02010600030101010101" pitchFamily="2" charset="-122"/>
              </a:rPr>
              <a:t>操作步骤：</a:t>
            </a:r>
            <a:endParaRPr sz="1200">
              <a:latin typeface="宋体" panose="02010600030101010101" pitchFamily="2" charset="-122"/>
              <a:cs typeface="宋体" panose="02010600030101010101" pitchFamily="2" charset="-122"/>
            </a:endParaRPr>
          </a:p>
          <a:p>
            <a:pPr marL="356870">
              <a:lnSpc>
                <a:spcPct val="100000"/>
              </a:lnSpc>
              <a:spcBef>
                <a:spcPts val="890"/>
              </a:spcBef>
            </a:pPr>
            <a:r>
              <a:rPr sz="1200" dirty="0">
                <a:latin typeface="Times New Roman" panose="02020603050405020304"/>
                <a:cs typeface="Times New Roman" panose="02020603050405020304"/>
              </a:rPr>
              <a:t>1</a:t>
            </a:r>
            <a:r>
              <a:rPr sz="1200" dirty="0">
                <a:latin typeface="宋体" panose="02010600030101010101" pitchFamily="2" charset="-122"/>
                <a:cs typeface="宋体" panose="02010600030101010101" pitchFamily="2" charset="-122"/>
              </a:rPr>
              <a:t>、连接负载到前面</a:t>
            </a:r>
            <a:r>
              <a:rPr sz="1200" spc="290" dirty="0">
                <a:latin typeface="宋体" panose="02010600030101010101" pitchFamily="2" charset="-122"/>
                <a:cs typeface="宋体" panose="02010600030101010101" pitchFamily="2" charset="-122"/>
              </a:rPr>
              <a:t>板</a:t>
            </a:r>
            <a:r>
              <a:rPr sz="1200" spc="-5" dirty="0">
                <a:latin typeface="Times New Roman" panose="02020603050405020304"/>
                <a:cs typeface="Times New Roman" panose="02020603050405020304"/>
              </a:rPr>
              <a:t>CH3</a:t>
            </a:r>
            <a:r>
              <a:rPr sz="1200" dirty="0">
                <a:latin typeface="Times New Roman" panose="02020603050405020304"/>
                <a:cs typeface="Times New Roman" panose="02020603050405020304"/>
              </a:rPr>
              <a:t> </a:t>
            </a:r>
            <a:r>
              <a:rPr sz="1200" spc="-5"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端子。</a:t>
            </a:r>
            <a:endParaRPr sz="1200">
              <a:latin typeface="宋体" panose="02010600030101010101" pitchFamily="2" charset="-122"/>
              <a:cs typeface="宋体" panose="02010600030101010101" pitchFamily="2" charset="-122"/>
            </a:endParaRPr>
          </a:p>
          <a:p>
            <a:pPr marL="356870">
              <a:lnSpc>
                <a:spcPct val="100000"/>
              </a:lnSpc>
              <a:spcBef>
                <a:spcPts val="910"/>
              </a:spcBef>
            </a:pPr>
            <a:r>
              <a:rPr sz="1200" dirty="0">
                <a:latin typeface="Times New Roman" panose="02020603050405020304"/>
                <a:cs typeface="Times New Roman" panose="02020603050405020304"/>
              </a:rPr>
              <a:t>2</a:t>
            </a:r>
            <a:r>
              <a:rPr sz="1200" dirty="0">
                <a:latin typeface="宋体" panose="02010600030101010101" pitchFamily="2" charset="-122"/>
                <a:cs typeface="宋体" panose="02010600030101010101" pitchFamily="2" charset="-122"/>
              </a:rPr>
              <a:t>、使</a:t>
            </a:r>
            <a:r>
              <a:rPr sz="1200" spc="290" dirty="0">
                <a:latin typeface="宋体" panose="02010600030101010101" pitchFamily="2" charset="-122"/>
                <a:cs typeface="宋体" panose="02010600030101010101" pitchFamily="2" charset="-122"/>
              </a:rPr>
              <a:t>用</a:t>
            </a:r>
            <a:r>
              <a:rPr sz="1200" spc="-5" dirty="0">
                <a:latin typeface="Times New Roman" panose="02020603050405020304"/>
                <a:cs typeface="Times New Roman" panose="02020603050405020304"/>
              </a:rPr>
              <a:t>CH3</a:t>
            </a:r>
            <a:r>
              <a:rPr sz="1200" spc="-2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拨码开</a:t>
            </a:r>
            <a:r>
              <a:rPr sz="1200" spc="20" dirty="0">
                <a:latin typeface="宋体" panose="02010600030101010101" pitchFamily="2" charset="-122"/>
                <a:cs typeface="宋体" panose="02010600030101010101" pitchFamily="2" charset="-122"/>
              </a:rPr>
              <a:t>关</a:t>
            </a:r>
            <a:r>
              <a:rPr sz="1200" spc="-25"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选择所需档位</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2.5V</a:t>
            </a:r>
            <a:r>
              <a:rPr sz="1200" spc="-25" dirty="0">
                <a:latin typeface="宋体" panose="02010600030101010101" pitchFamily="2" charset="-122"/>
                <a:cs typeface="宋体" panose="02010600030101010101" pitchFamily="2" charset="-122"/>
              </a:rPr>
              <a:t>、</a:t>
            </a:r>
            <a:r>
              <a:rPr sz="1200" dirty="0">
                <a:latin typeface="Times New Roman" panose="02020603050405020304"/>
                <a:cs typeface="Times New Roman" panose="02020603050405020304"/>
              </a:rPr>
              <a:t>3.3V</a:t>
            </a:r>
            <a:r>
              <a:rPr sz="1200" spc="-2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5V</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356870">
              <a:lnSpc>
                <a:spcPct val="100000"/>
              </a:lnSpc>
              <a:spcBef>
                <a:spcPts val="890"/>
              </a:spcBef>
            </a:pPr>
            <a:r>
              <a:rPr sz="1200" dirty="0">
                <a:latin typeface="Times New Roman" panose="02020603050405020304"/>
                <a:cs typeface="Times New Roman" panose="02020603050405020304"/>
              </a:rPr>
              <a:t>3</a:t>
            </a:r>
            <a:r>
              <a:rPr sz="1200" dirty="0">
                <a:latin typeface="宋体" panose="02010600030101010101" pitchFamily="2" charset="-122"/>
                <a:cs typeface="宋体" panose="02010600030101010101" pitchFamily="2" charset="-122"/>
              </a:rPr>
              <a:t>、打开输出：按下输出键</a:t>
            </a:r>
            <a:r>
              <a:rPr sz="1200" spc="-10" dirty="0">
                <a:latin typeface="宋体" panose="02010600030101010101" pitchFamily="2" charset="-122"/>
                <a:cs typeface="宋体" panose="02010600030101010101" pitchFamily="2" charset="-122"/>
              </a:rPr>
              <a:t>“</a:t>
            </a:r>
            <a:r>
              <a:rPr sz="1200" spc="-10" dirty="0">
                <a:latin typeface="Times New Roman" panose="02020603050405020304"/>
                <a:cs typeface="Times New Roman" panose="02020603050405020304"/>
              </a:rPr>
              <a:t>on/off</a:t>
            </a:r>
            <a:r>
              <a:rPr sz="1200" spc="-10"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打开输出，</a:t>
            </a:r>
            <a:r>
              <a:rPr sz="1200" spc="20" dirty="0">
                <a:latin typeface="宋体" panose="02010600030101010101" pitchFamily="2" charset="-122"/>
                <a:cs typeface="宋体" panose="02010600030101010101" pitchFamily="2" charset="-122"/>
              </a:rPr>
              <a:t>同</a:t>
            </a:r>
            <a:r>
              <a:rPr sz="1200" dirty="0">
                <a:latin typeface="宋体" panose="02010600030101010101" pitchFamily="2" charset="-122"/>
                <a:cs typeface="宋体" panose="02010600030101010101" pitchFamily="2" charset="-122"/>
              </a:rPr>
              <a:t>时按键灯点亮。</a:t>
            </a:r>
            <a:endParaRPr sz="1200">
              <a:latin typeface="宋体" panose="02010600030101010101" pitchFamily="2" charset="-122"/>
              <a:cs typeface="宋体" panose="02010600030101010101" pitchFamily="2" charset="-122"/>
            </a:endParaRPr>
          </a:p>
          <a:p>
            <a:pPr>
              <a:lnSpc>
                <a:spcPct val="100000"/>
              </a:lnSpc>
            </a:pPr>
            <a:endParaRPr sz="1300">
              <a:latin typeface="Times New Roman" panose="02020603050405020304"/>
              <a:cs typeface="Times New Roman" panose="02020603050405020304"/>
            </a:endParaRPr>
          </a:p>
          <a:p>
            <a:pPr marL="12700" marR="5080" indent="267970">
              <a:lnSpc>
                <a:spcPct val="163000"/>
              </a:lnSpc>
              <a:spcBef>
                <a:spcPts val="835"/>
              </a:spcBef>
            </a:pPr>
            <a:r>
              <a:rPr sz="1200" dirty="0">
                <a:latin typeface="宋体" panose="02010600030101010101" pitchFamily="2" charset="-122"/>
                <a:cs typeface="宋体" panose="02010600030101010101" pitchFamily="2" charset="-122"/>
              </a:rPr>
              <a:t>当输出电流超过</a:t>
            </a:r>
            <a:r>
              <a:rPr sz="1200" spc="-270" dirty="0">
                <a:latin typeface="宋体" panose="02010600030101010101" pitchFamily="2" charset="-122"/>
                <a:cs typeface="宋体" panose="02010600030101010101" pitchFamily="2" charset="-122"/>
              </a:rPr>
              <a:t> </a:t>
            </a:r>
            <a:r>
              <a:rPr sz="1200" spc="-5" dirty="0">
                <a:latin typeface="Times New Roman" panose="02020603050405020304"/>
                <a:cs typeface="Times New Roman" panose="02020603050405020304"/>
              </a:rPr>
              <a:t>3A</a:t>
            </a:r>
            <a:r>
              <a:rPr sz="1200" spc="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时，过载指示灯显示红</a:t>
            </a:r>
            <a:r>
              <a:rPr sz="1200" spc="30" dirty="0">
                <a:latin typeface="宋体" panose="02010600030101010101" pitchFamily="2" charset="-122"/>
                <a:cs typeface="宋体" panose="02010600030101010101" pitchFamily="2" charset="-122"/>
              </a:rPr>
              <a:t>灯</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CH3</a:t>
            </a:r>
            <a:r>
              <a:rPr sz="1200" spc="3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操作模式从恒压转变为恒流 模式</a:t>
            </a:r>
            <a:endParaRPr sz="1200">
              <a:latin typeface="宋体" panose="02010600030101010101" pitchFamily="2" charset="-122"/>
              <a:cs typeface="宋体" panose="02010600030101010101" pitchFamily="2" charset="-122"/>
            </a:endParaRPr>
          </a:p>
          <a:p>
            <a:pPr marL="280670">
              <a:lnSpc>
                <a:spcPct val="100000"/>
              </a:lnSpc>
              <a:spcBef>
                <a:spcPts val="885"/>
              </a:spcBef>
            </a:pPr>
            <a:r>
              <a:rPr sz="1200" b="1" spc="-5" dirty="0">
                <a:latin typeface="宋体" panose="02010600030101010101" pitchFamily="2" charset="-122"/>
                <a:cs typeface="宋体" panose="02010600030101010101" pitchFamily="2" charset="-122"/>
              </a:rPr>
              <a:t>注</a:t>
            </a:r>
            <a:r>
              <a:rPr sz="1200" b="1" spc="15" dirty="0">
                <a:latin typeface="宋体" panose="02010600030101010101" pitchFamily="2" charset="-122"/>
                <a:cs typeface="宋体" panose="02010600030101010101" pitchFamily="2" charset="-122"/>
              </a:rPr>
              <a:t>意</a:t>
            </a:r>
            <a:r>
              <a:rPr sz="1200" spc="-60" dirty="0">
                <a:latin typeface="宋体" panose="02010600030101010101" pitchFamily="2" charset="-122"/>
                <a:cs typeface="宋体" panose="02010600030101010101" pitchFamily="2" charset="-122"/>
              </a:rPr>
              <a:t>：“</a:t>
            </a:r>
            <a:r>
              <a:rPr sz="1200" spc="-60" dirty="0">
                <a:latin typeface="Times New Roman" panose="02020603050405020304"/>
                <a:cs typeface="Times New Roman" panose="02020603050405020304"/>
              </a:rPr>
              <a:t>overload</a:t>
            </a:r>
            <a:r>
              <a:rPr sz="1200" spc="-60"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这种状态，不表示异常操作。</a:t>
            </a:r>
            <a:endParaRPr sz="1200">
              <a:latin typeface="宋体" panose="02010600030101010101" pitchFamily="2" charset="-122"/>
              <a:cs typeface="宋体" panose="02010600030101010101" pitchFamily="2" charset="-122"/>
            </a:endParaRPr>
          </a:p>
        </p:txBody>
      </p:sp>
      <p:sp>
        <p:nvSpPr>
          <p:cNvPr id="15" name="object 11"/>
          <p:cNvSpPr/>
          <p:nvPr/>
        </p:nvSpPr>
        <p:spPr>
          <a:xfrm>
            <a:off x="1371600" y="298640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
        <p:nvSpPr>
          <p:cNvPr id="16" name="object 12"/>
          <p:cNvSpPr/>
          <p:nvPr/>
        </p:nvSpPr>
        <p:spPr>
          <a:xfrm>
            <a:off x="1371600" y="338264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2" name="object 6"/>
          <p:cNvSpPr txBox="1"/>
          <p:nvPr/>
        </p:nvSpPr>
        <p:spPr>
          <a:xfrm>
            <a:off x="1130604" y="224663"/>
            <a:ext cx="5626735" cy="1513205"/>
          </a:xfrm>
          <a:prstGeom prst="rect">
            <a:avLst/>
          </a:prstGeom>
        </p:spPr>
        <p:txBody>
          <a:bodyPr vert="horz" wrap="square" lIns="0" tIns="13335" rIns="0" bIns="0" rtlCol="0">
            <a:spAutoFit/>
          </a:bodyPr>
          <a:p>
            <a:pPr marL="12700">
              <a:lnSpc>
                <a:spcPct val="125000"/>
              </a:lnSpc>
              <a:spcBef>
                <a:spcPts val="0"/>
              </a:spcBef>
            </a:pPr>
            <a:r>
              <a:rPr sz="2400" b="1" spc="-10" dirty="0">
                <a:solidFill>
                  <a:srgbClr val="FF0000"/>
                </a:solidFill>
                <a:latin typeface="Times New Roman" panose="02020603050405020304"/>
                <a:cs typeface="Times New Roman" panose="02020603050405020304"/>
              </a:rPr>
              <a:t>CH1/CH2</a:t>
            </a:r>
            <a:r>
              <a:rPr sz="2400" b="1" spc="20" dirty="0">
                <a:solidFill>
                  <a:srgbClr val="FF0000"/>
                </a:solidFill>
                <a:latin typeface="Times New Roman" panose="02020603050405020304"/>
                <a:cs typeface="Times New Roman" panose="02020603050405020304"/>
              </a:rPr>
              <a:t> </a:t>
            </a:r>
            <a:r>
              <a:rPr sz="2400" b="1" dirty="0">
                <a:solidFill>
                  <a:srgbClr val="FF0000"/>
                </a:solidFill>
                <a:latin typeface="宋体" panose="02010600030101010101" pitchFamily="2" charset="-122"/>
                <a:cs typeface="宋体" panose="02010600030101010101" pitchFamily="2" charset="-122"/>
              </a:rPr>
              <a:t>串联模式</a:t>
            </a:r>
            <a:endParaRPr sz="2400">
              <a:solidFill>
                <a:srgbClr val="FF0000"/>
              </a:solidFill>
              <a:latin typeface="宋体" panose="02010600030101010101" pitchFamily="2" charset="-122"/>
              <a:cs typeface="宋体" panose="02010600030101010101" pitchFamily="2" charset="-122"/>
            </a:endParaRPr>
          </a:p>
          <a:p>
            <a:pPr marL="814070" marR="5080" indent="-533400">
              <a:lnSpc>
                <a:spcPct val="125000"/>
              </a:lnSpc>
              <a:spcBef>
                <a:spcPts val="0"/>
              </a:spcBef>
            </a:pPr>
            <a:r>
              <a:rPr sz="1800" dirty="0">
                <a:latin typeface="宋体" panose="02010600030101010101" pitchFamily="2" charset="-122"/>
                <a:cs typeface="宋体" panose="02010600030101010101" pitchFamily="2" charset="-122"/>
              </a:rPr>
              <a:t>串联模式下</a:t>
            </a:r>
            <a:r>
              <a:rPr sz="1800" spc="-25" dirty="0">
                <a:latin typeface="宋体" panose="02010600030101010101" pitchFamily="2" charset="-122"/>
                <a:cs typeface="宋体" panose="02010600030101010101" pitchFamily="2" charset="-122"/>
              </a:rPr>
              <a:t>，</a:t>
            </a:r>
            <a:r>
              <a:rPr sz="1800" dirty="0">
                <a:latin typeface="宋体" panose="02010600030101010101" pitchFamily="2" charset="-122"/>
                <a:cs typeface="宋体" panose="02010600030101010101" pitchFamily="2" charset="-122"/>
              </a:rPr>
              <a:t>输出电压为单通道的</a:t>
            </a:r>
            <a:r>
              <a:rPr sz="1800" spc="20" dirty="0">
                <a:latin typeface="宋体" panose="02010600030101010101" pitchFamily="2" charset="-122"/>
                <a:cs typeface="宋体" panose="02010600030101010101" pitchFamily="2" charset="-122"/>
              </a:rPr>
              <a:t>两</a:t>
            </a:r>
            <a:r>
              <a:rPr sz="1800" dirty="0">
                <a:latin typeface="宋体" panose="02010600030101010101" pitchFamily="2" charset="-122"/>
                <a:cs typeface="宋体" panose="02010600030101010101" pitchFamily="2" charset="-122"/>
              </a:rPr>
              <a:t>倍</a:t>
            </a:r>
            <a:endParaRPr sz="1800" dirty="0">
              <a:latin typeface="宋体" panose="02010600030101010101" pitchFamily="2" charset="-122"/>
              <a:cs typeface="宋体" panose="02010600030101010101" pitchFamily="2" charset="-122"/>
            </a:endParaRPr>
          </a:p>
          <a:p>
            <a:pPr marL="814070" marR="5080" indent="-533400">
              <a:lnSpc>
                <a:spcPct val="125000"/>
              </a:lnSpc>
              <a:spcBef>
                <a:spcPts val="0"/>
              </a:spcBef>
            </a:pPr>
            <a:r>
              <a:rPr sz="1800" spc="-10" dirty="0">
                <a:latin typeface="Times New Roman" panose="02020603050405020304"/>
                <a:cs typeface="Times New Roman" panose="02020603050405020304"/>
              </a:rPr>
              <a:t>CH1 </a:t>
            </a:r>
            <a:r>
              <a:rPr sz="1800" spc="285" dirty="0">
                <a:latin typeface="宋体" panose="02010600030101010101" pitchFamily="2" charset="-122"/>
                <a:cs typeface="宋体" panose="02010600030101010101" pitchFamily="2" charset="-122"/>
              </a:rPr>
              <a:t>与</a:t>
            </a:r>
            <a:r>
              <a:rPr sz="1800" dirty="0">
                <a:latin typeface="Times New Roman" panose="02020603050405020304"/>
                <a:cs typeface="Times New Roman" panose="02020603050405020304"/>
              </a:rPr>
              <a:t>CH2</a:t>
            </a:r>
            <a:r>
              <a:rPr sz="1800" spc="-30" dirty="0">
                <a:latin typeface="Times New Roman" panose="02020603050405020304"/>
                <a:cs typeface="Times New Roman" panose="02020603050405020304"/>
              </a:rPr>
              <a:t> </a:t>
            </a:r>
            <a:r>
              <a:rPr sz="1800" dirty="0">
                <a:latin typeface="宋体" panose="02010600030101010101" pitchFamily="2" charset="-122"/>
                <a:cs typeface="宋体" panose="02010600030101010101" pitchFamily="2" charset="-122"/>
              </a:rPr>
              <a:t>在内部连接成一个通道</a:t>
            </a:r>
            <a:endParaRPr sz="1800" spc="-5" dirty="0">
              <a:latin typeface="宋体" panose="02010600030101010101" pitchFamily="2" charset="-122"/>
              <a:cs typeface="宋体" panose="02010600030101010101" pitchFamily="2" charset="-122"/>
            </a:endParaRPr>
          </a:p>
          <a:p>
            <a:pPr marL="814070" marR="5080" indent="-533400">
              <a:lnSpc>
                <a:spcPct val="125000"/>
              </a:lnSpc>
              <a:spcBef>
                <a:spcPts val="0"/>
              </a:spcBef>
            </a:pPr>
            <a:r>
              <a:rPr sz="1800" b="1" spc="-5" dirty="0">
                <a:solidFill>
                  <a:srgbClr val="FF0000"/>
                </a:solidFill>
                <a:latin typeface="Times New Roman" panose="02020603050405020304"/>
                <a:cs typeface="Times New Roman" panose="02020603050405020304"/>
              </a:rPr>
              <a:t>CH1</a:t>
            </a:r>
            <a:r>
              <a:rPr sz="1800" b="1" spc="-20" dirty="0">
                <a:solidFill>
                  <a:srgbClr val="FF0000"/>
                </a:solidFill>
                <a:latin typeface="Times New Roman" panose="02020603050405020304"/>
                <a:cs typeface="Times New Roman" panose="02020603050405020304"/>
              </a:rPr>
              <a:t> </a:t>
            </a:r>
            <a:r>
              <a:rPr sz="1800" b="1" dirty="0">
                <a:solidFill>
                  <a:srgbClr val="FF0000"/>
                </a:solidFill>
                <a:latin typeface="宋体" panose="02010600030101010101" pitchFamily="2" charset="-122"/>
                <a:cs typeface="宋体" panose="02010600030101010101" pitchFamily="2" charset="-122"/>
              </a:rPr>
              <a:t>为控制通道</a:t>
            </a:r>
            <a:endParaRPr sz="1800" b="1" dirty="0">
              <a:solidFill>
                <a:srgbClr val="FF0000"/>
              </a:solidFill>
              <a:latin typeface="宋体" panose="02010600030101010101" pitchFamily="2" charset="-122"/>
              <a:cs typeface="宋体" panose="02010600030101010101" pitchFamily="2" charset="-122"/>
            </a:endParaRPr>
          </a:p>
        </p:txBody>
      </p:sp>
      <p:sp>
        <p:nvSpPr>
          <p:cNvPr id="7" name="object 7"/>
          <p:cNvSpPr/>
          <p:nvPr/>
        </p:nvSpPr>
        <p:spPr>
          <a:xfrm>
            <a:off x="2035810" y="1837689"/>
            <a:ext cx="3810000" cy="1270634"/>
          </a:xfrm>
          <a:prstGeom prst="rect">
            <a:avLst/>
          </a:prstGeom>
          <a:blipFill>
            <a:blip r:embed="rId1" cstate="print"/>
            <a:stretch>
              <a:fillRect/>
            </a:stretch>
          </a:blipFill>
        </p:spPr>
        <p:txBody>
          <a:bodyPr wrap="square" lIns="0" tIns="0" rIns="0" bIns="0" rtlCol="0"/>
          <a:p/>
        </p:txBody>
      </p:sp>
      <p:sp>
        <p:nvSpPr>
          <p:cNvPr id="8" name="object 8"/>
          <p:cNvSpPr txBox="1"/>
          <p:nvPr/>
        </p:nvSpPr>
        <p:spPr>
          <a:xfrm>
            <a:off x="1399158" y="3502532"/>
            <a:ext cx="787400" cy="208279"/>
          </a:xfrm>
          <a:prstGeom prst="rect">
            <a:avLst/>
          </a:prstGeom>
        </p:spPr>
        <p:txBody>
          <a:bodyPr vert="horz" wrap="square" lIns="0" tIns="12700" rIns="0" bIns="0" rtlCol="0">
            <a:spAutoFit/>
          </a:bodyPr>
          <a:p>
            <a:pPr marL="12700">
              <a:lnSpc>
                <a:spcPct val="100000"/>
              </a:lnSpc>
              <a:spcBef>
                <a:spcPts val="100"/>
              </a:spcBef>
            </a:pPr>
            <a:r>
              <a:rPr sz="1200" dirty="0">
                <a:latin typeface="宋体" panose="02010600030101010101" pitchFamily="2" charset="-122"/>
                <a:cs typeface="宋体" panose="02010600030101010101" pitchFamily="2" charset="-122"/>
              </a:rPr>
              <a:t>输出额定值</a:t>
            </a:r>
            <a:endParaRPr sz="1200">
              <a:latin typeface="宋体" panose="02010600030101010101" pitchFamily="2" charset="-122"/>
              <a:cs typeface="宋体" panose="02010600030101010101" pitchFamily="2" charset="-122"/>
            </a:endParaRPr>
          </a:p>
        </p:txBody>
      </p:sp>
      <p:sp>
        <p:nvSpPr>
          <p:cNvPr id="9" name="object 9"/>
          <p:cNvSpPr txBox="1"/>
          <p:nvPr/>
        </p:nvSpPr>
        <p:spPr>
          <a:xfrm>
            <a:off x="2466213" y="3502532"/>
            <a:ext cx="949960" cy="208279"/>
          </a:xfrm>
          <a:prstGeom prst="rect">
            <a:avLst/>
          </a:prstGeom>
        </p:spPr>
        <p:txBody>
          <a:bodyPr vert="horz" wrap="square" lIns="0" tIns="12700" rIns="0" bIns="0" rtlCol="0">
            <a:spAutoFit/>
          </a:bodyPr>
          <a:p>
            <a:pPr marL="12700">
              <a:lnSpc>
                <a:spcPct val="100000"/>
              </a:lnSpc>
              <a:spcBef>
                <a:spcPts val="100"/>
              </a:spcBef>
            </a:pPr>
            <a:r>
              <a:rPr sz="1200" dirty="0">
                <a:latin typeface="Times New Roman" panose="02020603050405020304"/>
                <a:cs typeface="Times New Roman" panose="02020603050405020304"/>
              </a:rPr>
              <a:t>0~</a:t>
            </a:r>
            <a:r>
              <a:rPr sz="1200" spc="-5" dirty="0">
                <a:latin typeface="Times New Roman" panose="02020603050405020304"/>
                <a:cs typeface="Times New Roman" panose="02020603050405020304"/>
              </a:rPr>
              <a:t>6</a:t>
            </a:r>
            <a:r>
              <a:rPr sz="1200" dirty="0">
                <a:latin typeface="Times New Roman" panose="02020603050405020304"/>
                <a:cs typeface="Times New Roman" panose="02020603050405020304"/>
              </a:rPr>
              <a:t>4V/0~3</a:t>
            </a:r>
            <a:r>
              <a:rPr sz="1200" spc="10" dirty="0">
                <a:latin typeface="Times New Roman" panose="02020603050405020304"/>
                <a:cs typeface="Times New Roman" panose="02020603050405020304"/>
              </a:rPr>
              <a:t>.</a:t>
            </a:r>
            <a:r>
              <a:rPr sz="1200" dirty="0">
                <a:latin typeface="Times New Roman" panose="02020603050405020304"/>
                <a:cs typeface="Times New Roman" panose="02020603050405020304"/>
              </a:rPr>
              <a:t>2</a:t>
            </a:r>
            <a:r>
              <a:rPr sz="1200" spc="-5" dirty="0">
                <a:latin typeface="Times New Roman" panose="02020603050405020304"/>
                <a:cs typeface="Times New Roman" panose="02020603050405020304"/>
              </a:rPr>
              <a:t>A</a:t>
            </a:r>
            <a:endParaRPr sz="1200">
              <a:latin typeface="Times New Roman" panose="02020603050405020304"/>
              <a:cs typeface="Times New Roman" panose="02020603050405020304"/>
            </a:endParaRPr>
          </a:p>
        </p:txBody>
      </p:sp>
      <p:sp>
        <p:nvSpPr>
          <p:cNvPr id="10" name="object 10"/>
          <p:cNvSpPr/>
          <p:nvPr/>
        </p:nvSpPr>
        <p:spPr>
          <a:xfrm>
            <a:off x="2138298" y="4519637"/>
            <a:ext cx="757237" cy="186982"/>
          </a:xfrm>
          <a:prstGeom prst="rect">
            <a:avLst/>
          </a:prstGeom>
          <a:blipFill>
            <a:blip r:embed="rId2" cstate="print"/>
            <a:stretch>
              <a:fillRect/>
            </a:stretch>
          </a:blipFill>
        </p:spPr>
        <p:txBody>
          <a:bodyPr wrap="square" lIns="0" tIns="0" rIns="0" bIns="0" rtlCol="0"/>
          <a:p/>
        </p:txBody>
      </p:sp>
      <p:sp>
        <p:nvSpPr>
          <p:cNvPr id="11" name="object 11"/>
          <p:cNvSpPr txBox="1"/>
          <p:nvPr/>
        </p:nvSpPr>
        <p:spPr>
          <a:xfrm>
            <a:off x="1435735" y="3881881"/>
            <a:ext cx="5391785" cy="2732405"/>
          </a:xfrm>
          <a:prstGeom prst="rect">
            <a:avLst/>
          </a:prstGeom>
        </p:spPr>
        <p:txBody>
          <a:bodyPr vert="horz" wrap="square" lIns="0" tIns="12700" rIns="0" bIns="0" rtlCol="0">
            <a:spAutoFit/>
          </a:bodyPr>
          <a:p>
            <a:pPr marL="12700">
              <a:lnSpc>
                <a:spcPct val="100000"/>
              </a:lnSpc>
              <a:spcBef>
                <a:spcPts val="100"/>
              </a:spcBef>
            </a:pPr>
            <a:r>
              <a:rPr sz="1200" dirty="0">
                <a:latin typeface="宋体" panose="02010600030101010101" pitchFamily="2" charset="-122"/>
                <a:cs typeface="宋体" panose="02010600030101010101" pitchFamily="2" charset="-122"/>
              </a:rPr>
              <a:t>操作步骤：</a:t>
            </a:r>
            <a:endParaRPr sz="1200">
              <a:latin typeface="宋体" panose="02010600030101010101" pitchFamily="2" charset="-122"/>
              <a:cs typeface="宋体" panose="02010600030101010101" pitchFamily="2" charset="-122"/>
            </a:endParaRPr>
          </a:p>
          <a:p>
            <a:pPr marL="317500">
              <a:lnSpc>
                <a:spcPct val="100000"/>
              </a:lnSpc>
              <a:spcBef>
                <a:spcPts val="910"/>
              </a:spcBef>
            </a:pPr>
            <a:r>
              <a:rPr sz="1200" dirty="0">
                <a:latin typeface="Times New Roman" panose="02020603050405020304"/>
                <a:cs typeface="Times New Roman" panose="02020603050405020304"/>
              </a:rPr>
              <a:t>1</a:t>
            </a:r>
            <a:r>
              <a:rPr sz="1200" dirty="0">
                <a:latin typeface="宋体" panose="02010600030101010101" pitchFamily="2" charset="-122"/>
                <a:cs typeface="宋体" panose="02010600030101010101" pitchFamily="2" charset="-122"/>
              </a:rPr>
              <a:t>、按下“</a:t>
            </a:r>
            <a:r>
              <a:rPr sz="1200" dirty="0">
                <a:latin typeface="Times New Roman" panose="02020603050405020304"/>
                <a:cs typeface="Times New Roman" panose="02020603050405020304"/>
              </a:rPr>
              <a:t>Ser</a:t>
            </a:r>
            <a:r>
              <a:rPr sz="1200" dirty="0">
                <a:latin typeface="宋体" panose="02010600030101010101" pitchFamily="2" charset="-122"/>
                <a:cs typeface="宋体" panose="02010600030101010101" pitchFamily="2" charset="-122"/>
              </a:rPr>
              <a:t>”键启动串联模式，按键灯点亮，</a:t>
            </a:r>
            <a:r>
              <a:rPr sz="1200" spc="-25" dirty="0">
                <a:latin typeface="宋体" panose="02010600030101010101" pitchFamily="2" charset="-122"/>
                <a:cs typeface="宋体" panose="02010600030101010101" pitchFamily="2" charset="-122"/>
              </a:rPr>
              <a:t>界</a:t>
            </a:r>
            <a:r>
              <a:rPr sz="1200" spc="5" dirty="0">
                <a:latin typeface="宋体" panose="02010600030101010101" pitchFamily="2" charset="-122"/>
                <a:cs typeface="宋体" panose="02010600030101010101" pitchFamily="2" charset="-122"/>
              </a:rPr>
              <a:t>面</a:t>
            </a:r>
            <a:r>
              <a:rPr sz="1200" dirty="0">
                <a:latin typeface="宋体" panose="02010600030101010101" pitchFamily="2" charset="-122"/>
                <a:cs typeface="宋体" panose="02010600030101010101" pitchFamily="2" charset="-122"/>
              </a:rPr>
              <a:t>上方出现串联标识</a:t>
            </a:r>
            <a:endParaRPr sz="1200">
              <a:latin typeface="宋体" panose="02010600030101010101" pitchFamily="2" charset="-122"/>
              <a:cs typeface="宋体" panose="02010600030101010101" pitchFamily="2" charset="-122"/>
            </a:endParaRPr>
          </a:p>
          <a:p>
            <a:pPr>
              <a:lnSpc>
                <a:spcPct val="100000"/>
              </a:lnSpc>
              <a:spcBef>
                <a:spcPts val="35"/>
              </a:spcBef>
            </a:pPr>
            <a:endParaRPr sz="1200">
              <a:latin typeface="Times New Roman" panose="02020603050405020304"/>
              <a:cs typeface="Times New Roman" panose="02020603050405020304"/>
            </a:endParaRPr>
          </a:p>
          <a:p>
            <a:pPr marL="546100">
              <a:lnSpc>
                <a:spcPct val="100000"/>
              </a:lnSpc>
              <a:tabLst>
                <a:tab pos="1460500" algn="l"/>
              </a:tabLst>
            </a:pPr>
            <a:r>
              <a:rPr sz="1200" dirty="0">
                <a:latin typeface="宋体" panose="02010600030101010101" pitchFamily="2" charset="-122"/>
                <a:cs typeface="宋体" panose="02010600030101010101" pitchFamily="2" charset="-122"/>
              </a:rPr>
              <a:t>“	”</a:t>
            </a:r>
            <a:endParaRPr sz="1200">
              <a:latin typeface="宋体" panose="02010600030101010101" pitchFamily="2" charset="-122"/>
              <a:cs typeface="宋体" panose="02010600030101010101" pitchFamily="2" charset="-122"/>
            </a:endParaRPr>
          </a:p>
          <a:p>
            <a:pPr>
              <a:lnSpc>
                <a:spcPct val="100000"/>
              </a:lnSpc>
              <a:spcBef>
                <a:spcPts val="5"/>
              </a:spcBef>
            </a:pPr>
            <a:endParaRPr sz="1000">
              <a:latin typeface="Times New Roman" panose="02020603050405020304"/>
              <a:cs typeface="Times New Roman" panose="02020603050405020304"/>
            </a:endParaRPr>
          </a:p>
          <a:p>
            <a:pPr marL="317500">
              <a:lnSpc>
                <a:spcPct val="100000"/>
              </a:lnSpc>
            </a:pPr>
            <a:r>
              <a:rPr sz="1200" dirty="0">
                <a:latin typeface="Times New Roman" panose="02020603050405020304"/>
                <a:cs typeface="Times New Roman" panose="02020603050405020304"/>
              </a:rPr>
              <a:t>2</a:t>
            </a:r>
            <a:r>
              <a:rPr sz="1200" dirty="0">
                <a:latin typeface="宋体" panose="02010600030101010101" pitchFamily="2" charset="-122"/>
                <a:cs typeface="宋体" panose="02010600030101010101" pitchFamily="2" charset="-122"/>
              </a:rPr>
              <a:t>、连接负载到前面板端子</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CH2&amp;CH1-</a:t>
            </a:r>
            <a:r>
              <a:rPr sz="120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546100" marR="129540" indent="-228600">
              <a:lnSpc>
                <a:spcPct val="162000"/>
              </a:lnSpc>
              <a:spcBef>
                <a:spcPts val="25"/>
              </a:spcBef>
            </a:pPr>
            <a:r>
              <a:rPr sz="1200" dirty="0">
                <a:latin typeface="Times New Roman" panose="02020603050405020304"/>
                <a:cs typeface="Times New Roman" panose="02020603050405020304"/>
              </a:rPr>
              <a:t>3</a:t>
            </a:r>
            <a:r>
              <a:rPr sz="1200" dirty="0">
                <a:latin typeface="宋体" panose="02010600030101010101" pitchFamily="2" charset="-122"/>
                <a:cs typeface="宋体" panose="02010600030101010101" pitchFamily="2" charset="-122"/>
              </a:rPr>
              <a:t>、按下“</a:t>
            </a:r>
            <a:r>
              <a:rPr sz="1200" dirty="0">
                <a:latin typeface="Times New Roman" panose="02020603050405020304"/>
                <a:cs typeface="Times New Roman" panose="02020603050405020304"/>
              </a:rPr>
              <a:t>1</a:t>
            </a:r>
            <a:r>
              <a:rPr sz="1200" dirty="0">
                <a:latin typeface="宋体" panose="02010600030101010101" pitchFamily="2" charset="-122"/>
                <a:cs typeface="宋体" panose="02010600030101010101" pitchFamily="2" charset="-122"/>
              </a:rPr>
              <a:t>”设</a:t>
            </a:r>
            <a:r>
              <a:rPr sz="1200" spc="290" dirty="0">
                <a:latin typeface="宋体" panose="02010600030101010101" pitchFamily="2" charset="-122"/>
                <a:cs typeface="宋体" panose="02010600030101010101" pitchFamily="2" charset="-122"/>
              </a:rPr>
              <a:t>置</a:t>
            </a:r>
            <a:r>
              <a:rPr sz="1200" spc="-5" dirty="0">
                <a:latin typeface="Times New Roman" panose="02020603050405020304"/>
                <a:cs typeface="Times New Roman" panose="02020603050405020304"/>
              </a:rPr>
              <a:t>CH1</a:t>
            </a:r>
            <a:r>
              <a:rPr sz="1200" spc="-10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为当前操作通道，使用</a:t>
            </a:r>
            <a:r>
              <a:rPr sz="1200" spc="20" dirty="0">
                <a:latin typeface="宋体" panose="02010600030101010101" pitchFamily="2" charset="-122"/>
                <a:cs typeface="宋体" panose="02010600030101010101" pitchFamily="2" charset="-122"/>
              </a:rPr>
              <a:t>左</a:t>
            </a:r>
            <a:r>
              <a:rPr sz="1200" dirty="0">
                <a:latin typeface="宋体" panose="02010600030101010101" pitchFamily="2" charset="-122"/>
                <a:cs typeface="宋体" panose="02010600030101010101" pitchFamily="2" charset="-122"/>
              </a:rPr>
              <a:t>右方向键移动光标，使用 </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Fine</a:t>
            </a:r>
            <a:r>
              <a:rPr sz="1200" spc="-5"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键和多功能旋钮来设置输出电压和</a:t>
            </a:r>
            <a:r>
              <a:rPr sz="1200" spc="20" dirty="0">
                <a:latin typeface="宋体" panose="02010600030101010101" pitchFamily="2" charset="-122"/>
                <a:cs typeface="宋体" panose="02010600030101010101" pitchFamily="2" charset="-122"/>
              </a:rPr>
              <a:t>电</a:t>
            </a:r>
            <a:r>
              <a:rPr sz="1200" dirty="0">
                <a:latin typeface="宋体" panose="02010600030101010101" pitchFamily="2" charset="-122"/>
                <a:cs typeface="宋体" panose="02010600030101010101" pitchFamily="2" charset="-122"/>
              </a:rPr>
              <a:t>流值。</a:t>
            </a:r>
            <a:endParaRPr sz="1200">
              <a:latin typeface="宋体" panose="02010600030101010101" pitchFamily="2" charset="-122"/>
              <a:cs typeface="宋体" panose="02010600030101010101" pitchFamily="2" charset="-122"/>
            </a:endParaRPr>
          </a:p>
          <a:p>
            <a:pPr marL="317500">
              <a:lnSpc>
                <a:spcPct val="100000"/>
              </a:lnSpc>
              <a:spcBef>
                <a:spcPts val="910"/>
              </a:spcBef>
            </a:pPr>
            <a:r>
              <a:rPr sz="1200" dirty="0">
                <a:latin typeface="Times New Roman" panose="02020603050405020304"/>
                <a:cs typeface="Times New Roman" panose="02020603050405020304"/>
              </a:rPr>
              <a:t>4</a:t>
            </a:r>
            <a:r>
              <a:rPr sz="1200" dirty="0">
                <a:latin typeface="宋体" panose="02010600030101010101" pitchFamily="2" charset="-122"/>
                <a:cs typeface="宋体" panose="02010600030101010101" pitchFamily="2" charset="-122"/>
              </a:rPr>
              <a:t>、按下通道</a:t>
            </a:r>
            <a:r>
              <a:rPr sz="1200" spc="-320" dirty="0">
                <a:latin typeface="宋体" panose="02010600030101010101" pitchFamily="2" charset="-122"/>
                <a:cs typeface="宋体" panose="02010600030101010101" pitchFamily="2" charset="-122"/>
              </a:rPr>
              <a:t> </a:t>
            </a:r>
            <a:r>
              <a:rPr sz="1200" dirty="0">
                <a:latin typeface="Times New Roman" panose="02020603050405020304"/>
                <a:cs typeface="Times New Roman" panose="02020603050405020304"/>
              </a:rPr>
              <a:t>1</a:t>
            </a:r>
            <a:r>
              <a:rPr sz="1200" spc="-1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对应的</a:t>
            </a:r>
            <a:r>
              <a:rPr sz="1200" b="1" spc="-5" dirty="0">
                <a:solidFill>
                  <a:srgbClr val="FF0000"/>
                </a:solidFill>
                <a:latin typeface="宋体" panose="02010600030101010101" pitchFamily="2" charset="-122"/>
                <a:cs typeface="宋体" panose="02010600030101010101" pitchFamily="2" charset="-122"/>
              </a:rPr>
              <a:t>“</a:t>
            </a:r>
            <a:r>
              <a:rPr sz="1200" b="1" spc="-5" dirty="0">
                <a:solidFill>
                  <a:srgbClr val="FF0000"/>
                </a:solidFill>
                <a:latin typeface="Times New Roman" panose="02020603050405020304"/>
                <a:cs typeface="Times New Roman" panose="02020603050405020304"/>
              </a:rPr>
              <a:t>on/off</a:t>
            </a:r>
            <a:r>
              <a:rPr sz="1200" b="1" spc="-5" dirty="0">
                <a:solidFill>
                  <a:srgbClr val="FF0000"/>
                </a:solidFill>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键，打开输出。</a:t>
            </a:r>
            <a:endParaRPr sz="1200">
              <a:latin typeface="宋体" panose="02010600030101010101" pitchFamily="2" charset="-122"/>
              <a:cs typeface="宋体" panose="02010600030101010101" pitchFamily="2" charset="-122"/>
            </a:endParaRPr>
          </a:p>
          <a:p>
            <a:pPr>
              <a:lnSpc>
                <a:spcPct val="100000"/>
              </a:lnSpc>
            </a:pPr>
            <a:endParaRPr sz="1300">
              <a:latin typeface="Times New Roman" panose="02020603050405020304"/>
              <a:cs typeface="Times New Roman" panose="02020603050405020304"/>
            </a:endParaRPr>
          </a:p>
          <a:p>
            <a:pPr>
              <a:lnSpc>
                <a:spcPct val="100000"/>
              </a:lnSpc>
              <a:spcBef>
                <a:spcPts val="25"/>
              </a:spcBef>
            </a:pPr>
            <a:endParaRPr sz="1500">
              <a:latin typeface="Times New Roman" panose="02020603050405020304"/>
              <a:cs typeface="Times New Roman" panose="02020603050405020304"/>
            </a:endParaRPr>
          </a:p>
          <a:p>
            <a:pPr marL="24765">
              <a:lnSpc>
                <a:spcPct val="100000"/>
              </a:lnSpc>
            </a:pPr>
            <a:r>
              <a:rPr sz="1200" b="1" spc="-5" dirty="0">
                <a:latin typeface="宋体" panose="02010600030101010101" pitchFamily="2" charset="-122"/>
                <a:cs typeface="宋体" panose="02010600030101010101" pitchFamily="2" charset="-122"/>
              </a:rPr>
              <a:t>注</a:t>
            </a:r>
            <a:r>
              <a:rPr sz="1200" b="1" spc="15" dirty="0">
                <a:latin typeface="宋体" panose="02010600030101010101" pitchFamily="2" charset="-122"/>
                <a:cs typeface="宋体" panose="02010600030101010101" pitchFamily="2" charset="-122"/>
              </a:rPr>
              <a:t>意</a:t>
            </a:r>
            <a:r>
              <a:rPr sz="1200" b="1" spc="-5" dirty="0">
                <a:latin typeface="宋体" panose="02010600030101010101" pitchFamily="2" charset="-122"/>
                <a:cs typeface="宋体" panose="02010600030101010101" pitchFamily="2" charset="-122"/>
              </a:rPr>
              <a:t>：</a:t>
            </a:r>
            <a:r>
              <a:rPr sz="1200" b="1" spc="-220" dirty="0">
                <a:latin typeface="宋体" panose="02010600030101010101" pitchFamily="2" charset="-122"/>
                <a:cs typeface="宋体" panose="02010600030101010101" pitchFamily="2" charset="-122"/>
              </a:rPr>
              <a:t> </a:t>
            </a:r>
            <a:r>
              <a:rPr sz="1200" dirty="0">
                <a:latin typeface="宋体" panose="02010600030101010101" pitchFamily="2" charset="-122"/>
                <a:cs typeface="宋体" panose="02010600030101010101" pitchFamily="2" charset="-122"/>
              </a:rPr>
              <a:t>通</a:t>
            </a:r>
            <a:r>
              <a:rPr sz="1200" spc="290" dirty="0">
                <a:latin typeface="宋体" panose="02010600030101010101" pitchFamily="2" charset="-122"/>
                <a:cs typeface="宋体" panose="02010600030101010101" pitchFamily="2" charset="-122"/>
              </a:rPr>
              <a:t>过</a:t>
            </a:r>
            <a:r>
              <a:rPr sz="1200" spc="-5" dirty="0">
                <a:latin typeface="Times New Roman" panose="02020603050405020304"/>
                <a:cs typeface="Times New Roman" panose="02020603050405020304"/>
              </a:rPr>
              <a:t>CH1</a:t>
            </a:r>
            <a:r>
              <a:rPr sz="1200" spc="-3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指示灯，</a:t>
            </a:r>
            <a:r>
              <a:rPr sz="1200" spc="-229" dirty="0">
                <a:latin typeface="宋体" panose="02010600030101010101" pitchFamily="2" charset="-122"/>
                <a:cs typeface="宋体" panose="02010600030101010101" pitchFamily="2" charset="-122"/>
              </a:rPr>
              <a:t> </a:t>
            </a:r>
            <a:r>
              <a:rPr sz="1200" dirty="0">
                <a:latin typeface="宋体" panose="02010600030101010101" pitchFamily="2" charset="-122"/>
                <a:cs typeface="宋体" panose="02010600030101010101" pitchFamily="2" charset="-122"/>
              </a:rPr>
              <a:t>可以识别输出状</a:t>
            </a:r>
            <a:r>
              <a:rPr sz="1200" spc="290" dirty="0">
                <a:latin typeface="宋体" panose="02010600030101010101" pitchFamily="2" charset="-122"/>
                <a:cs typeface="宋体" panose="02010600030101010101" pitchFamily="2" charset="-122"/>
              </a:rPr>
              <a:t>态</a:t>
            </a:r>
            <a:r>
              <a:rPr sz="1200" spc="-30" dirty="0">
                <a:latin typeface="Times New Roman" panose="02020603050405020304"/>
                <a:cs typeface="Times New Roman" panose="02020603050405020304"/>
              </a:rPr>
              <a:t>CV/CC</a:t>
            </a:r>
            <a:r>
              <a:rPr sz="1200" spc="-30" dirty="0">
                <a:latin typeface="宋体" panose="02010600030101010101" pitchFamily="2" charset="-122"/>
                <a:cs typeface="宋体" panose="02010600030101010101" pitchFamily="2" charset="-122"/>
              </a:rPr>
              <a:t>（</a:t>
            </a:r>
            <a:r>
              <a:rPr sz="1200" spc="-30" dirty="0">
                <a:latin typeface="Times New Roman" panose="02020603050405020304"/>
                <a:cs typeface="Times New Roman" panose="02020603050405020304"/>
              </a:rPr>
              <a:t>CV </a:t>
            </a:r>
            <a:r>
              <a:rPr sz="1200" dirty="0">
                <a:latin typeface="宋体" panose="02010600030101010101" pitchFamily="2" charset="-122"/>
                <a:cs typeface="宋体" panose="02010600030101010101" pitchFamily="2" charset="-122"/>
              </a:rPr>
              <a:t>为黄灯</a:t>
            </a:r>
            <a:r>
              <a:rPr sz="1200" spc="-70" dirty="0">
                <a:latin typeface="宋体" panose="02010600030101010101" pitchFamily="2" charset="-122"/>
                <a:cs typeface="宋体" panose="02010600030101010101" pitchFamily="2" charset="-122"/>
              </a:rPr>
              <a:t>，</a:t>
            </a:r>
            <a:r>
              <a:rPr sz="1200" spc="-70" dirty="0">
                <a:latin typeface="Times New Roman" panose="02020603050405020304"/>
                <a:cs typeface="Times New Roman" panose="02020603050405020304"/>
              </a:rPr>
              <a:t>CC</a:t>
            </a:r>
            <a:r>
              <a:rPr sz="1200" spc="-3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为红灯）</a:t>
            </a:r>
            <a:endParaRPr sz="1200">
              <a:latin typeface="宋体" panose="02010600030101010101" pitchFamily="2" charset="-122"/>
              <a:cs typeface="宋体" panose="02010600030101010101" pitchFamily="2" charset="-122"/>
            </a:endParaRPr>
          </a:p>
        </p:txBody>
      </p:sp>
      <p:sp>
        <p:nvSpPr>
          <p:cNvPr id="12" name="object 12"/>
          <p:cNvSpPr/>
          <p:nvPr/>
        </p:nvSpPr>
        <p:spPr>
          <a:xfrm>
            <a:off x="1371600" y="349313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
        <p:nvSpPr>
          <p:cNvPr id="13" name="object 13"/>
          <p:cNvSpPr/>
          <p:nvPr/>
        </p:nvSpPr>
        <p:spPr>
          <a:xfrm>
            <a:off x="1371600" y="379031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cxnSp>
        <p:nvCxnSpPr>
          <p:cNvPr id="3" name="直接连接符 2"/>
          <p:cNvCxnSpPr/>
          <p:nvPr/>
        </p:nvCxnSpPr>
        <p:spPr>
          <a:xfrm>
            <a:off x="1979930" y="5373370"/>
            <a:ext cx="1332000" cy="0"/>
          </a:xfrm>
          <a:prstGeom prst="line">
            <a:avLst/>
          </a:prstGeom>
          <a:ln w="28575">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4833620" y="5428615"/>
            <a:ext cx="808990" cy="0"/>
          </a:xfrm>
          <a:prstGeom prst="line">
            <a:avLst/>
          </a:prstGeom>
          <a:ln w="28575">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018665" y="5699125"/>
            <a:ext cx="808990" cy="0"/>
          </a:xfrm>
          <a:prstGeom prst="line">
            <a:avLst/>
          </a:prstGeom>
          <a:ln w="28575">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289175" y="6041390"/>
            <a:ext cx="1728000" cy="0"/>
          </a:xfrm>
          <a:prstGeom prst="line">
            <a:avLst/>
          </a:prstGeom>
          <a:ln w="28575">
            <a:solidFill>
              <a:srgbClr val="FF3300"/>
            </a:solidFill>
          </a:ln>
        </p:spPr>
        <p:style>
          <a:lnRef idx="1">
            <a:schemeClr val="accent1"/>
          </a:lnRef>
          <a:fillRef idx="0">
            <a:schemeClr val="accent1"/>
          </a:fillRef>
          <a:effectRef idx="0">
            <a:schemeClr val="accent1"/>
          </a:effectRef>
          <a:fontRef idx="minor">
            <a:schemeClr val="tx1"/>
          </a:fontRef>
        </p:style>
      </p:cxnSp>
      <p:sp>
        <p:nvSpPr>
          <p:cNvPr id="17" name="任意多边形 16"/>
          <p:cNvSpPr/>
          <p:nvPr/>
        </p:nvSpPr>
        <p:spPr>
          <a:xfrm>
            <a:off x="3238500" y="2494280"/>
            <a:ext cx="1403985" cy="573405"/>
          </a:xfrm>
          <a:custGeom>
            <a:avLst/>
            <a:gdLst>
              <a:gd name="connisteX0" fmla="*/ 0 w 1403985"/>
              <a:gd name="connsiteY0" fmla="*/ 12065 h 414670"/>
              <a:gd name="connisteX1" fmla="*/ 592455 w 1403985"/>
              <a:gd name="connsiteY1" fmla="*/ 414655 h 414670"/>
              <a:gd name="connisteX2" fmla="*/ 1403985 w 1403985"/>
              <a:gd name="connsiteY2" fmla="*/ 0 h 414670"/>
            </a:gdLst>
            <a:ahLst/>
            <a:cxnLst>
              <a:cxn ang="0">
                <a:pos x="connisteX0" y="connsiteY0"/>
              </a:cxn>
              <a:cxn ang="0">
                <a:pos x="connisteX1" y="connsiteY1"/>
              </a:cxn>
              <a:cxn ang="0">
                <a:pos x="connisteX2" y="connsiteY2"/>
              </a:cxn>
            </a:cxnLst>
            <a:rect l="l" t="t" r="r" b="b"/>
            <a:pathLst>
              <a:path w="1403985" h="414670">
                <a:moveTo>
                  <a:pt x="0" y="12065"/>
                </a:moveTo>
                <a:cubicBezTo>
                  <a:pt x="102235" y="100965"/>
                  <a:pt x="311785" y="417195"/>
                  <a:pt x="592455" y="414655"/>
                </a:cubicBezTo>
                <a:cubicBezTo>
                  <a:pt x="873125" y="412115"/>
                  <a:pt x="1253490" y="90805"/>
                  <a:pt x="1403985"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5062855" y="3063240"/>
            <a:ext cx="722630" cy="368300"/>
          </a:xfrm>
          <a:prstGeom prst="rect">
            <a:avLst/>
          </a:prstGeom>
          <a:noFill/>
        </p:spPr>
        <p:txBody>
          <a:bodyPr wrap="none" rtlCol="0">
            <a:spAutoFit/>
          </a:bodyPr>
          <a:p>
            <a:r>
              <a:rPr lang="en-US" altLang="zh-CN">
                <a:solidFill>
                  <a:srgbClr val="FF0000"/>
                </a:solidFill>
              </a:rPr>
              <a:t>+15V</a:t>
            </a:r>
            <a:endParaRPr lang="en-US" altLang="zh-CN">
              <a:solidFill>
                <a:srgbClr val="FF0000"/>
              </a:solidFill>
            </a:endParaRPr>
          </a:p>
        </p:txBody>
      </p:sp>
      <p:sp>
        <p:nvSpPr>
          <p:cNvPr id="19" name="文本框 18"/>
          <p:cNvSpPr txBox="1"/>
          <p:nvPr/>
        </p:nvSpPr>
        <p:spPr>
          <a:xfrm>
            <a:off x="2176145" y="3118485"/>
            <a:ext cx="665480" cy="368300"/>
          </a:xfrm>
          <a:prstGeom prst="rect">
            <a:avLst/>
          </a:prstGeom>
          <a:noFill/>
        </p:spPr>
        <p:txBody>
          <a:bodyPr wrap="none" rtlCol="0">
            <a:spAutoFit/>
          </a:bodyPr>
          <a:p>
            <a:r>
              <a:rPr lang="en-US" altLang="zh-CN">
                <a:solidFill>
                  <a:srgbClr val="FF0000"/>
                </a:solidFill>
              </a:rPr>
              <a:t>-15V</a:t>
            </a:r>
            <a:endParaRPr lang="en-US" altLang="zh-CN">
              <a:solidFill>
                <a:srgbClr val="FF0000"/>
              </a:solidFill>
            </a:endParaRPr>
          </a:p>
        </p:txBody>
      </p:sp>
      <p:sp>
        <p:nvSpPr>
          <p:cNvPr id="20" name="文本框 19"/>
          <p:cNvSpPr txBox="1"/>
          <p:nvPr/>
        </p:nvSpPr>
        <p:spPr>
          <a:xfrm>
            <a:off x="3953510" y="3101975"/>
            <a:ext cx="462280" cy="368300"/>
          </a:xfrm>
          <a:prstGeom prst="rect">
            <a:avLst/>
          </a:prstGeom>
          <a:noFill/>
        </p:spPr>
        <p:txBody>
          <a:bodyPr wrap="none" rtlCol="0">
            <a:spAutoFit/>
          </a:bodyPr>
          <a:p>
            <a:r>
              <a:rPr lang="en-US" altLang="zh-CN">
                <a:solidFill>
                  <a:srgbClr val="FF0000"/>
                </a:solidFill>
              </a:rPr>
              <a:t>0V</a:t>
            </a:r>
            <a:endParaRPr lang="en-US" altLang="zh-CN">
              <a:solidFill>
                <a:srgbClr val="FF0000"/>
              </a:solidFill>
            </a:endParaRPr>
          </a:p>
        </p:txBody>
      </p:sp>
      <p:grpSp>
        <p:nvGrpSpPr>
          <p:cNvPr id="16" name="组合 15"/>
          <p:cNvGrpSpPr/>
          <p:nvPr/>
        </p:nvGrpSpPr>
        <p:grpSpPr>
          <a:xfrm>
            <a:off x="3761740" y="3067685"/>
            <a:ext cx="143510" cy="217170"/>
            <a:chOff x="7167" y="4831"/>
            <a:chExt cx="226" cy="342"/>
          </a:xfrm>
        </p:grpSpPr>
        <p:cxnSp>
          <p:nvCxnSpPr>
            <p:cNvPr id="14" name="直接连接符 13"/>
            <p:cNvCxnSpPr/>
            <p:nvPr/>
          </p:nvCxnSpPr>
          <p:spPr>
            <a:xfrm>
              <a:off x="7276" y="4831"/>
              <a:ext cx="0" cy="343"/>
            </a:xfrm>
            <a:prstGeom prst="line">
              <a:avLst/>
            </a:prstGeom>
            <a:ln w="38100" cap="flat" cmpd="sng">
              <a:solidFill>
                <a:schemeClr val="tx1"/>
              </a:solidFill>
              <a:prstDash val="solid"/>
              <a:round/>
              <a:headEnd type="none" w="med" len="med"/>
              <a:tailEnd type="none" w="med" len="med"/>
            </a:ln>
          </p:spPr>
        </p:cxnSp>
        <p:cxnSp>
          <p:nvCxnSpPr>
            <p:cNvPr id="15" name="直接连接符 14"/>
            <p:cNvCxnSpPr/>
            <p:nvPr/>
          </p:nvCxnSpPr>
          <p:spPr>
            <a:xfrm>
              <a:off x="7167" y="5144"/>
              <a:ext cx="227" cy="0"/>
            </a:xfrm>
            <a:prstGeom prst="line">
              <a:avLst/>
            </a:prstGeom>
            <a:ln w="38100" cap="flat" cmpd="sng">
              <a:solidFill>
                <a:schemeClr val="tx1"/>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xEl>
                                              <p:pRg st="1" end="1"/>
                                            </p:txEl>
                                          </p:spTgt>
                                        </p:tgtEl>
                                        <p:attrNameLst>
                                          <p:attrName>style.visibility</p:attrName>
                                        </p:attrNameLst>
                                      </p:cBhvr>
                                      <p:to>
                                        <p:strVal val="visible"/>
                                      </p:to>
                                    </p:set>
                                    <p:anim calcmode="lin" valueType="num">
                                      <p:cBhvr additive="base">
                                        <p:cTn id="25"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xEl>
                                              <p:pRg st="5" end="5"/>
                                            </p:txEl>
                                          </p:spTgt>
                                        </p:tgtEl>
                                        <p:attrNameLst>
                                          <p:attrName>style.visibility</p:attrName>
                                        </p:attrNameLst>
                                      </p:cBhvr>
                                      <p:to>
                                        <p:strVal val="visible"/>
                                      </p:to>
                                    </p:set>
                                    <p:anim calcmode="lin" valueType="num">
                                      <p:cBhvr additive="base">
                                        <p:cTn id="37"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xEl>
                                              <p:pRg st="6" end="6"/>
                                            </p:txEl>
                                          </p:spTgt>
                                        </p:tgtEl>
                                        <p:attrNameLst>
                                          <p:attrName>style.visibility</p:attrName>
                                        </p:attrNameLst>
                                      </p:cBhvr>
                                      <p:to>
                                        <p:strVal val="visible"/>
                                      </p:to>
                                    </p:set>
                                    <p:anim calcmode="lin" valueType="num">
                                      <p:cBhvr additive="base">
                                        <p:cTn id="43"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additive="base">
                                        <p:cTn id="49" dur="500" fill="hold"/>
                                        <p:tgtEl>
                                          <p:spTgt spid="3"/>
                                        </p:tgtEl>
                                        <p:attrNameLst>
                                          <p:attrName>ppt_x</p:attrName>
                                        </p:attrNameLst>
                                      </p:cBhvr>
                                      <p:tavLst>
                                        <p:tav tm="0">
                                          <p:val>
                                            <p:strVal val="#ppt_x"/>
                                          </p:val>
                                        </p:tav>
                                        <p:tav tm="100000">
                                          <p:val>
                                            <p:strVal val="#ppt_x"/>
                                          </p:val>
                                        </p:tav>
                                      </p:tavLst>
                                    </p:anim>
                                    <p:anim calcmode="lin" valueType="num">
                                      <p:cBhvr additive="base">
                                        <p:cTn id="5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1">
                                            <p:txEl>
                                              <p:pRg st="7" end="7"/>
                                            </p:txEl>
                                          </p:spTgt>
                                        </p:tgtEl>
                                        <p:attrNameLst>
                                          <p:attrName>style.visibility</p:attrName>
                                        </p:attrNameLst>
                                      </p:cBhvr>
                                      <p:to>
                                        <p:strVal val="visible"/>
                                      </p:to>
                                    </p:set>
                                    <p:anim calcmode="lin" valueType="num">
                                      <p:cBhvr additive="base">
                                        <p:cTn id="67" dur="500" fill="hold"/>
                                        <p:tgtEl>
                                          <p:spTgt spid="11">
                                            <p:txEl>
                                              <p:pRg st="7" end="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6"/>
                                        </p:tgtEl>
                                        <p:attrNameLst>
                                          <p:attrName>style.visibility</p:attrName>
                                        </p:attrNameLst>
                                      </p:cBhvr>
                                      <p:to>
                                        <p:strVal val="visible"/>
                                      </p:to>
                                    </p:set>
                                    <p:anim calcmode="lin" valueType="num">
                                      <p:cBhvr additive="base">
                                        <p:cTn id="73" dur="500" fill="hold"/>
                                        <p:tgtEl>
                                          <p:spTgt spid="6"/>
                                        </p:tgtEl>
                                        <p:attrNameLst>
                                          <p:attrName>ppt_x</p:attrName>
                                        </p:attrNameLst>
                                      </p:cBhvr>
                                      <p:tavLst>
                                        <p:tav tm="0">
                                          <p:val>
                                            <p:strVal val="#ppt_x"/>
                                          </p:val>
                                        </p:tav>
                                        <p:tav tm="100000">
                                          <p:val>
                                            <p:strVal val="#ppt_x"/>
                                          </p:val>
                                        </p:tav>
                                      </p:tavLst>
                                    </p:anim>
                                    <p:anim calcmode="lin" valueType="num">
                                      <p:cBhvr additive="base">
                                        <p:cTn id="7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1">
                                            <p:txEl>
                                              <p:pRg st="10" end="10"/>
                                            </p:txEl>
                                          </p:spTgt>
                                        </p:tgtEl>
                                        <p:attrNameLst>
                                          <p:attrName>style.visibility</p:attrName>
                                        </p:attrNameLst>
                                      </p:cBhvr>
                                      <p:to>
                                        <p:strVal val="visible"/>
                                      </p:to>
                                    </p:set>
                                    <p:anim calcmode="lin" valueType="num">
                                      <p:cBhvr additive="base">
                                        <p:cTn id="79" dur="500" fill="hold"/>
                                        <p:tgtEl>
                                          <p:spTgt spid="11">
                                            <p:txEl>
                                              <p:pRg st="10" end="1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1">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additive="base">
                                        <p:cTn id="85" dur="500" fill="hold"/>
                                        <p:tgtEl>
                                          <p:spTgt spid="17"/>
                                        </p:tgtEl>
                                        <p:attrNameLst>
                                          <p:attrName>ppt_x</p:attrName>
                                        </p:attrNameLst>
                                      </p:cBhvr>
                                      <p:tavLst>
                                        <p:tav tm="0">
                                          <p:val>
                                            <p:strVal val="#ppt_x"/>
                                          </p:val>
                                        </p:tav>
                                        <p:tav tm="100000">
                                          <p:val>
                                            <p:strVal val="#ppt_x"/>
                                          </p:val>
                                        </p:tav>
                                      </p:tavLst>
                                    </p:anim>
                                    <p:anim calcmode="lin" valueType="num">
                                      <p:cBhvr additive="base">
                                        <p:cTn id="8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wipe(down)">
                                      <p:cBhvr>
                                        <p:cTn id="91" dur="500"/>
                                        <p:tgtEl>
                                          <p:spTgt spid="16"/>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20"/>
                                        </p:tgtEl>
                                        <p:attrNameLst>
                                          <p:attrName>style.visibility</p:attrName>
                                        </p:attrNameLst>
                                      </p:cBhvr>
                                      <p:to>
                                        <p:strVal val="visible"/>
                                      </p:to>
                                    </p:set>
                                    <p:anim calcmode="lin" valueType="num">
                                      <p:cBhvr additive="base">
                                        <p:cTn id="96" dur="500" fill="hold"/>
                                        <p:tgtEl>
                                          <p:spTgt spid="20"/>
                                        </p:tgtEl>
                                        <p:attrNameLst>
                                          <p:attrName>ppt_x</p:attrName>
                                        </p:attrNameLst>
                                      </p:cBhvr>
                                      <p:tavLst>
                                        <p:tav tm="0">
                                          <p:val>
                                            <p:strVal val="#ppt_x"/>
                                          </p:val>
                                        </p:tav>
                                        <p:tav tm="100000">
                                          <p:val>
                                            <p:strVal val="#ppt_x"/>
                                          </p:val>
                                        </p:tav>
                                      </p:tavLst>
                                    </p:anim>
                                    <p:anim calcmode="lin" valueType="num">
                                      <p:cBhvr additive="base">
                                        <p:cTn id="9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18"/>
                                        </p:tgtEl>
                                        <p:attrNameLst>
                                          <p:attrName>style.visibility</p:attrName>
                                        </p:attrNameLst>
                                      </p:cBhvr>
                                      <p:to>
                                        <p:strVal val="visible"/>
                                      </p:to>
                                    </p:set>
                                    <p:anim calcmode="lin" valueType="num">
                                      <p:cBhvr additive="base">
                                        <p:cTn id="102" dur="500" fill="hold"/>
                                        <p:tgtEl>
                                          <p:spTgt spid="18"/>
                                        </p:tgtEl>
                                        <p:attrNameLst>
                                          <p:attrName>ppt_x</p:attrName>
                                        </p:attrNameLst>
                                      </p:cBhvr>
                                      <p:tavLst>
                                        <p:tav tm="0">
                                          <p:val>
                                            <p:strVal val="#ppt_x"/>
                                          </p:val>
                                        </p:tav>
                                        <p:tav tm="100000">
                                          <p:val>
                                            <p:strVal val="#ppt_x"/>
                                          </p:val>
                                        </p:tav>
                                      </p:tavLst>
                                    </p:anim>
                                    <p:anim calcmode="lin" valueType="num">
                                      <p:cBhvr additive="base">
                                        <p:cTn id="10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19"/>
                                        </p:tgtEl>
                                        <p:attrNameLst>
                                          <p:attrName>style.visibility</p:attrName>
                                        </p:attrNameLst>
                                      </p:cBhvr>
                                      <p:to>
                                        <p:strVal val="visible"/>
                                      </p:to>
                                    </p:set>
                                    <p:anim calcmode="lin" valueType="num">
                                      <p:cBhvr additive="base">
                                        <p:cTn id="108" dur="500" fill="hold"/>
                                        <p:tgtEl>
                                          <p:spTgt spid="19"/>
                                        </p:tgtEl>
                                        <p:attrNameLst>
                                          <p:attrName>ppt_x</p:attrName>
                                        </p:attrNameLst>
                                      </p:cBhvr>
                                      <p:tavLst>
                                        <p:tav tm="0">
                                          <p:val>
                                            <p:strVal val="#ppt_x"/>
                                          </p:val>
                                        </p:tav>
                                        <p:tav tm="100000">
                                          <p:val>
                                            <p:strVal val="#ppt_x"/>
                                          </p:val>
                                        </p:tav>
                                      </p:tavLst>
                                    </p:anim>
                                    <p:anim calcmode="lin" valueType="num">
                                      <p:cBhvr additive="base">
                                        <p:cTn id="10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bldLvl="0" animBg="1"/>
      <p:bldP spid="20" grpId="0"/>
      <p:bldP spid="18" grpId="0"/>
      <p:bldP spid="19" grpId="0"/>
    </p:bldLst>
  </p:timing>
</p:sld>
</file>

<file path=ppt/slides/slide54.xml><?xml version="1.0" encoding="utf-8"?>
<p:sld xmlns:a="http://schemas.openxmlformats.org/drawingml/2006/main" xmlns:r="http://schemas.openxmlformats.org/officeDocument/2006/relationships" xmlns:p="http://schemas.openxmlformats.org/presentationml/2006/main" show="0" showMasterSp="0">
  <p:cSld>
    <p:bg>
      <p:bgPr>
        <a:noFill/>
        <a:effectLst/>
      </p:bgPr>
    </p:bg>
    <p:spTree>
      <p:nvGrpSpPr>
        <p:cNvPr id="1" name=""/>
        <p:cNvGrpSpPr/>
        <p:nvPr/>
      </p:nvGrpSpPr>
      <p:grpSpPr/>
      <p:sp>
        <p:nvSpPr>
          <p:cNvPr id="6" name="object 6"/>
          <p:cNvSpPr txBox="1"/>
          <p:nvPr/>
        </p:nvSpPr>
        <p:spPr>
          <a:xfrm>
            <a:off x="1162050" y="194945"/>
            <a:ext cx="6046470" cy="905510"/>
          </a:xfrm>
          <a:prstGeom prst="rect">
            <a:avLst/>
          </a:prstGeom>
        </p:spPr>
        <p:txBody>
          <a:bodyPr vert="horz" wrap="square" lIns="0" tIns="13335" rIns="0" bIns="0" rtlCol="0">
            <a:noAutofit/>
          </a:bodyPr>
          <a:p>
            <a:pPr marL="12700">
              <a:lnSpc>
                <a:spcPct val="125000"/>
              </a:lnSpc>
              <a:spcBef>
                <a:spcPts val="0"/>
              </a:spcBef>
            </a:pPr>
            <a:r>
              <a:rPr sz="2400" b="1" spc="-10" dirty="0">
                <a:solidFill>
                  <a:srgbClr val="FF0000"/>
                </a:solidFill>
                <a:latin typeface="Times New Roman" panose="02020603050405020304"/>
                <a:cs typeface="Times New Roman" panose="02020603050405020304"/>
              </a:rPr>
              <a:t>CH1/CH2</a:t>
            </a:r>
            <a:r>
              <a:rPr sz="2400" b="1" spc="20" dirty="0">
                <a:solidFill>
                  <a:srgbClr val="FF0000"/>
                </a:solidFill>
                <a:latin typeface="Times New Roman" panose="02020603050405020304"/>
                <a:cs typeface="Times New Roman" panose="02020603050405020304"/>
              </a:rPr>
              <a:t> </a:t>
            </a:r>
            <a:r>
              <a:rPr sz="2400" b="1" dirty="0">
                <a:solidFill>
                  <a:srgbClr val="FF0000"/>
                </a:solidFill>
                <a:latin typeface="宋体" panose="02010600030101010101" pitchFamily="2" charset="-122"/>
                <a:cs typeface="宋体" panose="02010600030101010101" pitchFamily="2" charset="-122"/>
              </a:rPr>
              <a:t>并联模式</a:t>
            </a:r>
            <a:endParaRPr sz="2400" b="1">
              <a:solidFill>
                <a:srgbClr val="FF0000"/>
              </a:solidFill>
              <a:latin typeface="宋体" panose="02010600030101010101" pitchFamily="2" charset="-122"/>
              <a:cs typeface="宋体" panose="02010600030101010101" pitchFamily="2" charset="-122"/>
            </a:endParaRPr>
          </a:p>
          <a:p>
            <a:pPr>
              <a:lnSpc>
                <a:spcPct val="125000"/>
              </a:lnSpc>
              <a:spcBef>
                <a:spcPts val="0"/>
              </a:spcBef>
            </a:pPr>
            <a:r>
              <a:rPr lang="en-US" sz="1200" spc="20" dirty="0">
                <a:latin typeface="宋体" panose="02010600030101010101" pitchFamily="2" charset="-122"/>
                <a:cs typeface="宋体" panose="02010600030101010101" pitchFamily="2" charset="-122"/>
              </a:rPr>
              <a:t>    </a:t>
            </a:r>
            <a:r>
              <a:rPr sz="1200" spc="20" dirty="0">
                <a:latin typeface="宋体" panose="02010600030101010101" pitchFamily="2" charset="-122"/>
                <a:cs typeface="宋体" panose="02010600030101010101" pitchFamily="2" charset="-122"/>
              </a:rPr>
              <a:t>说明：并</a:t>
            </a:r>
            <a:r>
              <a:rPr sz="1200" dirty="0">
                <a:latin typeface="宋体" panose="02010600030101010101" pitchFamily="2" charset="-122"/>
                <a:cs typeface="宋体" panose="02010600030101010101" pitchFamily="2" charset="-122"/>
              </a:rPr>
              <a:t>联</a:t>
            </a:r>
            <a:r>
              <a:rPr sz="1200" spc="20" dirty="0">
                <a:latin typeface="宋体" panose="02010600030101010101" pitchFamily="2" charset="-122"/>
                <a:cs typeface="宋体" panose="02010600030101010101" pitchFamily="2" charset="-122"/>
              </a:rPr>
              <a:t>模式</a:t>
            </a:r>
            <a:r>
              <a:rPr sz="1200" dirty="0">
                <a:latin typeface="宋体" panose="02010600030101010101" pitchFamily="2" charset="-122"/>
                <a:cs typeface="宋体" panose="02010600030101010101" pitchFamily="2" charset="-122"/>
              </a:rPr>
              <a:t>下</a:t>
            </a:r>
            <a:r>
              <a:rPr sz="1200" spc="20" dirty="0">
                <a:latin typeface="宋体" panose="02010600030101010101" pitchFamily="2" charset="-122"/>
                <a:cs typeface="宋体" panose="02010600030101010101" pitchFamily="2" charset="-122"/>
              </a:rPr>
              <a:t>，输出</a:t>
            </a:r>
            <a:r>
              <a:rPr sz="1200" dirty="0">
                <a:latin typeface="宋体" panose="02010600030101010101" pitchFamily="2" charset="-122"/>
                <a:cs typeface="宋体" panose="02010600030101010101" pitchFamily="2" charset="-122"/>
              </a:rPr>
              <a:t>电</a:t>
            </a:r>
            <a:r>
              <a:rPr sz="1200" spc="20" dirty="0">
                <a:latin typeface="宋体" panose="02010600030101010101" pitchFamily="2" charset="-122"/>
                <a:cs typeface="宋体" panose="02010600030101010101" pitchFamily="2" charset="-122"/>
              </a:rPr>
              <a:t>流为</a:t>
            </a:r>
            <a:r>
              <a:rPr sz="1200" dirty="0">
                <a:latin typeface="宋体" panose="02010600030101010101" pitchFamily="2" charset="-122"/>
                <a:cs typeface="宋体" panose="02010600030101010101" pitchFamily="2" charset="-122"/>
              </a:rPr>
              <a:t>单</a:t>
            </a:r>
            <a:r>
              <a:rPr sz="1200" spc="20" dirty="0">
                <a:latin typeface="宋体" panose="02010600030101010101" pitchFamily="2" charset="-122"/>
                <a:cs typeface="宋体" panose="02010600030101010101" pitchFamily="2" charset="-122"/>
              </a:rPr>
              <a:t>通道的</a:t>
            </a:r>
            <a:r>
              <a:rPr sz="1200" dirty="0">
                <a:latin typeface="宋体" panose="02010600030101010101" pitchFamily="2" charset="-122"/>
                <a:cs typeface="宋体" panose="02010600030101010101" pitchFamily="2" charset="-122"/>
              </a:rPr>
              <a:t>两倍</a:t>
            </a:r>
            <a:r>
              <a:rPr sz="1200" spc="20" dirty="0">
                <a:latin typeface="宋体" panose="02010600030101010101" pitchFamily="2" charset="-122"/>
                <a:cs typeface="宋体" panose="02010600030101010101" pitchFamily="2" charset="-122"/>
              </a:rPr>
              <a:t>，内部进</a:t>
            </a:r>
            <a:r>
              <a:rPr sz="1200" dirty="0">
                <a:latin typeface="宋体" panose="02010600030101010101" pitchFamily="2" charset="-122"/>
                <a:cs typeface="宋体" panose="02010600030101010101" pitchFamily="2" charset="-122"/>
              </a:rPr>
              <a:t>行</a:t>
            </a:r>
            <a:r>
              <a:rPr sz="1200" spc="20" dirty="0">
                <a:latin typeface="宋体" panose="02010600030101010101" pitchFamily="2" charset="-122"/>
                <a:cs typeface="宋体" panose="02010600030101010101" pitchFamily="2" charset="-122"/>
              </a:rPr>
              <a:t>了并</a:t>
            </a:r>
            <a:r>
              <a:rPr sz="1200" dirty="0">
                <a:latin typeface="宋体" panose="02010600030101010101" pitchFamily="2" charset="-122"/>
                <a:cs typeface="宋体" panose="02010600030101010101" pitchFamily="2" charset="-122"/>
              </a:rPr>
              <a:t>联</a:t>
            </a:r>
            <a:r>
              <a:rPr sz="1200" spc="20" dirty="0">
                <a:latin typeface="宋体" panose="02010600030101010101" pitchFamily="2" charset="-122"/>
                <a:cs typeface="宋体" panose="02010600030101010101" pitchFamily="2" charset="-122"/>
              </a:rPr>
              <a:t>连接</a:t>
            </a:r>
            <a:r>
              <a:rPr sz="1200" dirty="0">
                <a:latin typeface="宋体" panose="02010600030101010101" pitchFamily="2" charset="-122"/>
                <a:cs typeface="宋体" panose="02010600030101010101" pitchFamily="2" charset="-122"/>
              </a:rPr>
              <a:t>，</a:t>
            </a:r>
            <a:r>
              <a:rPr sz="1200" spc="10" dirty="0">
                <a:latin typeface="宋体" panose="02010600030101010101" pitchFamily="2" charset="-122"/>
                <a:cs typeface="宋体" panose="02010600030101010101" pitchFamily="2" charset="-122"/>
              </a:rPr>
              <a:t> </a:t>
            </a:r>
            <a:r>
              <a:rPr sz="1200" spc="20" dirty="0">
                <a:latin typeface="宋体" panose="02010600030101010101" pitchFamily="2" charset="-122"/>
                <a:cs typeface="宋体" panose="02010600030101010101" pitchFamily="2" charset="-122"/>
              </a:rPr>
              <a:t>通</a:t>
            </a:r>
            <a:r>
              <a:rPr sz="1200" dirty="0">
                <a:latin typeface="宋体" panose="02010600030101010101" pitchFamily="2" charset="-122"/>
                <a:cs typeface="宋体" panose="02010600030101010101" pitchFamily="2" charset="-122"/>
              </a:rPr>
              <a:t>道</a:t>
            </a:r>
            <a:r>
              <a:rPr sz="1200" spc="-20" dirty="0">
                <a:latin typeface="宋体" panose="02010600030101010101" pitchFamily="2" charset="-122"/>
                <a:cs typeface="宋体" panose="02010600030101010101" pitchFamily="2" charset="-122"/>
              </a:rPr>
              <a:t> </a:t>
            </a:r>
            <a:r>
              <a:rPr sz="1200"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737870">
              <a:lnSpc>
                <a:spcPct val="125000"/>
              </a:lnSpc>
              <a:spcBef>
                <a:spcPts val="0"/>
              </a:spcBef>
            </a:pPr>
            <a:r>
              <a:rPr sz="1200" dirty="0">
                <a:latin typeface="宋体" panose="02010600030101010101" pitchFamily="2" charset="-122"/>
                <a:cs typeface="宋体" panose="02010600030101010101" pitchFamily="2" charset="-122"/>
              </a:rPr>
              <a:t>为控制通道。</a:t>
            </a:r>
            <a:endParaRPr sz="1200">
              <a:latin typeface="宋体" panose="02010600030101010101" pitchFamily="2" charset="-122"/>
              <a:cs typeface="宋体" panose="02010600030101010101" pitchFamily="2" charset="-122"/>
            </a:endParaRPr>
          </a:p>
        </p:txBody>
      </p:sp>
      <p:sp>
        <p:nvSpPr>
          <p:cNvPr id="3" name="object 7"/>
          <p:cNvSpPr/>
          <p:nvPr/>
        </p:nvSpPr>
        <p:spPr>
          <a:xfrm>
            <a:off x="2221864" y="1138554"/>
            <a:ext cx="3806825" cy="1234440"/>
          </a:xfrm>
          <a:prstGeom prst="rect">
            <a:avLst/>
          </a:prstGeom>
          <a:blipFill>
            <a:blip r:embed="rId1" cstate="print"/>
            <a:stretch>
              <a:fillRect/>
            </a:stretch>
          </a:blipFill>
        </p:spPr>
        <p:txBody>
          <a:bodyPr wrap="square" lIns="0" tIns="0" rIns="0" bIns="0" rtlCol="0"/>
          <a:p/>
        </p:txBody>
      </p:sp>
      <p:sp>
        <p:nvSpPr>
          <p:cNvPr id="4" name="object 8"/>
          <p:cNvSpPr txBox="1"/>
          <p:nvPr/>
        </p:nvSpPr>
        <p:spPr>
          <a:xfrm>
            <a:off x="1399158" y="2928492"/>
            <a:ext cx="787400" cy="208279"/>
          </a:xfrm>
          <a:prstGeom prst="rect">
            <a:avLst/>
          </a:prstGeom>
        </p:spPr>
        <p:txBody>
          <a:bodyPr vert="horz" wrap="square" lIns="0" tIns="12700" rIns="0" bIns="0" rtlCol="0">
            <a:spAutoFit/>
          </a:bodyPr>
          <a:p>
            <a:pPr marL="12700">
              <a:lnSpc>
                <a:spcPct val="100000"/>
              </a:lnSpc>
              <a:spcBef>
                <a:spcPts val="100"/>
              </a:spcBef>
            </a:pPr>
            <a:r>
              <a:rPr sz="1200" dirty="0">
                <a:latin typeface="宋体" panose="02010600030101010101" pitchFamily="2" charset="-122"/>
                <a:cs typeface="宋体" panose="02010600030101010101" pitchFamily="2" charset="-122"/>
              </a:rPr>
              <a:t>输出额定值</a:t>
            </a:r>
            <a:endParaRPr sz="1200">
              <a:latin typeface="宋体" panose="02010600030101010101" pitchFamily="2" charset="-122"/>
              <a:cs typeface="宋体" panose="02010600030101010101" pitchFamily="2" charset="-122"/>
            </a:endParaRPr>
          </a:p>
        </p:txBody>
      </p:sp>
      <p:sp>
        <p:nvSpPr>
          <p:cNvPr id="5" name="object 9"/>
          <p:cNvSpPr txBox="1"/>
          <p:nvPr/>
        </p:nvSpPr>
        <p:spPr>
          <a:xfrm>
            <a:off x="2466213" y="2928492"/>
            <a:ext cx="949960" cy="208279"/>
          </a:xfrm>
          <a:prstGeom prst="rect">
            <a:avLst/>
          </a:prstGeom>
        </p:spPr>
        <p:txBody>
          <a:bodyPr vert="horz" wrap="square" lIns="0" tIns="12700" rIns="0" bIns="0" rtlCol="0">
            <a:spAutoFit/>
          </a:bodyPr>
          <a:p>
            <a:pPr marL="12700">
              <a:lnSpc>
                <a:spcPct val="100000"/>
              </a:lnSpc>
              <a:spcBef>
                <a:spcPts val="100"/>
              </a:spcBef>
            </a:pPr>
            <a:r>
              <a:rPr sz="1200" dirty="0">
                <a:latin typeface="Times New Roman" panose="02020603050405020304"/>
                <a:cs typeface="Times New Roman" panose="02020603050405020304"/>
              </a:rPr>
              <a:t>0~</a:t>
            </a:r>
            <a:r>
              <a:rPr sz="1200" spc="-5" dirty="0">
                <a:latin typeface="Times New Roman" panose="02020603050405020304"/>
                <a:cs typeface="Times New Roman" panose="02020603050405020304"/>
              </a:rPr>
              <a:t>3</a:t>
            </a:r>
            <a:r>
              <a:rPr sz="1200" dirty="0">
                <a:latin typeface="Times New Roman" panose="02020603050405020304"/>
                <a:cs typeface="Times New Roman" panose="02020603050405020304"/>
              </a:rPr>
              <a:t>2V/0~6</a:t>
            </a:r>
            <a:r>
              <a:rPr sz="1200" spc="10" dirty="0">
                <a:latin typeface="Times New Roman" panose="02020603050405020304"/>
                <a:cs typeface="Times New Roman" panose="02020603050405020304"/>
              </a:rPr>
              <a:t>.</a:t>
            </a:r>
            <a:r>
              <a:rPr sz="1200" dirty="0">
                <a:latin typeface="Times New Roman" panose="02020603050405020304"/>
                <a:cs typeface="Times New Roman" panose="02020603050405020304"/>
              </a:rPr>
              <a:t>4</a:t>
            </a:r>
            <a:r>
              <a:rPr sz="1200" spc="-5" dirty="0">
                <a:latin typeface="Times New Roman" panose="02020603050405020304"/>
                <a:cs typeface="Times New Roman" panose="02020603050405020304"/>
              </a:rPr>
              <a:t>A</a:t>
            </a:r>
            <a:endParaRPr sz="1200">
              <a:latin typeface="Times New Roman" panose="02020603050405020304"/>
              <a:cs typeface="Times New Roman" panose="02020603050405020304"/>
            </a:endParaRPr>
          </a:p>
        </p:txBody>
      </p:sp>
      <p:sp>
        <p:nvSpPr>
          <p:cNvPr id="14" name="object 10"/>
          <p:cNvSpPr/>
          <p:nvPr/>
        </p:nvSpPr>
        <p:spPr>
          <a:xfrm>
            <a:off x="2133600" y="4069079"/>
            <a:ext cx="780414" cy="219710"/>
          </a:xfrm>
          <a:prstGeom prst="rect">
            <a:avLst/>
          </a:prstGeom>
          <a:blipFill>
            <a:blip r:embed="rId2" cstate="print"/>
            <a:stretch>
              <a:fillRect/>
            </a:stretch>
          </a:blipFill>
        </p:spPr>
        <p:txBody>
          <a:bodyPr wrap="square" lIns="0" tIns="0" rIns="0" bIns="0" rtlCol="0"/>
          <a:p/>
        </p:txBody>
      </p:sp>
      <p:sp>
        <p:nvSpPr>
          <p:cNvPr id="15" name="object 11"/>
          <p:cNvSpPr txBox="1"/>
          <p:nvPr/>
        </p:nvSpPr>
        <p:spPr>
          <a:xfrm>
            <a:off x="1399158" y="3451351"/>
            <a:ext cx="5355590" cy="2982595"/>
          </a:xfrm>
          <a:prstGeom prst="rect">
            <a:avLst/>
          </a:prstGeom>
        </p:spPr>
        <p:txBody>
          <a:bodyPr vert="horz" wrap="square" lIns="0" tIns="12700" rIns="0" bIns="0" rtlCol="0">
            <a:spAutoFit/>
          </a:bodyPr>
          <a:p>
            <a:pPr marL="12700">
              <a:lnSpc>
                <a:spcPct val="100000"/>
              </a:lnSpc>
              <a:spcBef>
                <a:spcPts val="100"/>
              </a:spcBef>
            </a:pPr>
            <a:r>
              <a:rPr sz="1200" dirty="0">
                <a:latin typeface="宋体" panose="02010600030101010101" pitchFamily="2" charset="-122"/>
                <a:cs typeface="宋体" panose="02010600030101010101" pitchFamily="2" charset="-122"/>
              </a:rPr>
              <a:t>操作步骤：</a:t>
            </a:r>
            <a:endParaRPr sz="1200">
              <a:latin typeface="宋体" panose="02010600030101010101" pitchFamily="2" charset="-122"/>
              <a:cs typeface="宋体" panose="02010600030101010101" pitchFamily="2" charset="-122"/>
            </a:endParaRPr>
          </a:p>
          <a:p>
            <a:pPr marL="353695">
              <a:lnSpc>
                <a:spcPct val="100000"/>
              </a:lnSpc>
              <a:spcBef>
                <a:spcPts val="910"/>
              </a:spcBef>
            </a:pPr>
            <a:r>
              <a:rPr sz="1200" dirty="0">
                <a:latin typeface="Times New Roman" panose="02020603050405020304"/>
                <a:cs typeface="Times New Roman" panose="02020603050405020304"/>
              </a:rPr>
              <a:t>1</a:t>
            </a:r>
            <a:r>
              <a:rPr sz="1200" dirty="0">
                <a:latin typeface="宋体" panose="02010600030101010101" pitchFamily="2" charset="-122"/>
                <a:cs typeface="宋体" panose="02010600030101010101" pitchFamily="2" charset="-122"/>
              </a:rPr>
              <a:t>、按下</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Para</a:t>
            </a:r>
            <a:r>
              <a:rPr sz="1200" spc="-5"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键启动并联模式，按键灯点亮，界面上方出现并联标识</a:t>
            </a:r>
            <a:endParaRPr sz="1200">
              <a:latin typeface="宋体" panose="02010600030101010101" pitchFamily="2" charset="-122"/>
              <a:cs typeface="宋体" panose="02010600030101010101" pitchFamily="2" charset="-122"/>
            </a:endParaRPr>
          </a:p>
          <a:p>
            <a:pPr>
              <a:lnSpc>
                <a:spcPct val="100000"/>
              </a:lnSpc>
              <a:spcBef>
                <a:spcPts val="15"/>
              </a:spcBef>
            </a:pPr>
            <a:endParaRPr sz="1300">
              <a:latin typeface="Times New Roman" panose="02020603050405020304"/>
              <a:cs typeface="Times New Roman" panose="02020603050405020304"/>
            </a:endParaRPr>
          </a:p>
          <a:p>
            <a:pPr marL="582295">
              <a:lnSpc>
                <a:spcPct val="100000"/>
              </a:lnSpc>
              <a:spcBef>
                <a:spcPts val="5"/>
              </a:spcBef>
              <a:tabLst>
                <a:tab pos="1515745" algn="l"/>
              </a:tabLst>
            </a:pPr>
            <a:r>
              <a:rPr sz="1200" dirty="0">
                <a:latin typeface="宋体" panose="02010600030101010101" pitchFamily="2" charset="-122"/>
                <a:cs typeface="宋体" panose="02010600030101010101" pitchFamily="2" charset="-122"/>
              </a:rPr>
              <a:t>“	”</a:t>
            </a:r>
            <a:endParaRPr sz="1200">
              <a:latin typeface="宋体" panose="02010600030101010101" pitchFamily="2" charset="-122"/>
              <a:cs typeface="宋体" panose="02010600030101010101" pitchFamily="2" charset="-122"/>
            </a:endParaRPr>
          </a:p>
          <a:p>
            <a:pPr marL="353695">
              <a:lnSpc>
                <a:spcPct val="100000"/>
              </a:lnSpc>
              <a:spcBef>
                <a:spcPts val="1055"/>
              </a:spcBef>
            </a:pPr>
            <a:r>
              <a:rPr sz="1200" dirty="0">
                <a:latin typeface="Times New Roman" panose="02020603050405020304"/>
                <a:cs typeface="Times New Roman" panose="02020603050405020304"/>
              </a:rPr>
              <a:t>2</a:t>
            </a:r>
            <a:r>
              <a:rPr sz="1200" dirty="0">
                <a:latin typeface="宋体" panose="02010600030101010101" pitchFamily="2" charset="-122"/>
                <a:cs typeface="宋体" panose="02010600030101010101" pitchFamily="2" charset="-122"/>
              </a:rPr>
              <a:t>、连接负载</a:t>
            </a:r>
            <a:r>
              <a:rPr sz="1200" spc="290" dirty="0">
                <a:latin typeface="宋体" panose="02010600030101010101" pitchFamily="2" charset="-122"/>
                <a:cs typeface="宋体" panose="02010600030101010101" pitchFamily="2" charset="-122"/>
              </a:rPr>
              <a:t>到</a:t>
            </a:r>
            <a:r>
              <a:rPr sz="1200" spc="-5" dirty="0">
                <a:latin typeface="Times New Roman" panose="02020603050405020304"/>
                <a:cs typeface="Times New Roman" panose="02020603050405020304"/>
              </a:rPr>
              <a:t>CH1+/_</a:t>
            </a:r>
            <a:r>
              <a:rPr sz="1200" dirty="0">
                <a:latin typeface="宋体" panose="02010600030101010101" pitchFamily="2" charset="-122"/>
                <a:cs typeface="宋体" panose="02010600030101010101" pitchFamily="2" charset="-122"/>
              </a:rPr>
              <a:t>端子</a:t>
            </a:r>
            <a:endParaRPr sz="1200">
              <a:latin typeface="宋体" panose="02010600030101010101" pitchFamily="2" charset="-122"/>
              <a:cs typeface="宋体" panose="02010600030101010101" pitchFamily="2" charset="-122"/>
            </a:endParaRPr>
          </a:p>
          <a:p>
            <a:pPr marL="582295" marR="56515" indent="-228600">
              <a:lnSpc>
                <a:spcPct val="162000"/>
              </a:lnSpc>
              <a:spcBef>
                <a:spcPts val="25"/>
              </a:spcBef>
            </a:pPr>
            <a:r>
              <a:rPr sz="1200" dirty="0">
                <a:latin typeface="Times New Roman" panose="02020603050405020304"/>
                <a:cs typeface="Times New Roman" panose="02020603050405020304"/>
              </a:rPr>
              <a:t>3</a:t>
            </a:r>
            <a:r>
              <a:rPr sz="1200" dirty="0">
                <a:latin typeface="宋体" panose="02010600030101010101" pitchFamily="2" charset="-122"/>
                <a:cs typeface="宋体" panose="02010600030101010101" pitchFamily="2" charset="-122"/>
              </a:rPr>
              <a:t>、按下“</a:t>
            </a:r>
            <a:r>
              <a:rPr sz="1200" dirty="0">
                <a:latin typeface="Times New Roman" panose="02020603050405020304"/>
                <a:cs typeface="Times New Roman" panose="02020603050405020304"/>
              </a:rPr>
              <a:t>1</a:t>
            </a:r>
            <a:r>
              <a:rPr sz="1200" dirty="0">
                <a:latin typeface="宋体" panose="02010600030101010101" pitchFamily="2" charset="-122"/>
                <a:cs typeface="宋体" panose="02010600030101010101" pitchFamily="2" charset="-122"/>
              </a:rPr>
              <a:t>”设</a:t>
            </a:r>
            <a:r>
              <a:rPr sz="1200" spc="290" dirty="0">
                <a:latin typeface="宋体" panose="02010600030101010101" pitchFamily="2" charset="-122"/>
                <a:cs typeface="宋体" panose="02010600030101010101" pitchFamily="2" charset="-122"/>
              </a:rPr>
              <a:t>置</a:t>
            </a:r>
            <a:r>
              <a:rPr sz="1200" spc="-5" dirty="0">
                <a:latin typeface="Times New Roman" panose="02020603050405020304"/>
                <a:cs typeface="Times New Roman" panose="02020603050405020304"/>
              </a:rPr>
              <a:t>CH1</a:t>
            </a:r>
            <a:r>
              <a:rPr sz="1200" spc="-10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为当前操作通道，使用</a:t>
            </a:r>
            <a:r>
              <a:rPr sz="1200" spc="20" dirty="0">
                <a:latin typeface="宋体" panose="02010600030101010101" pitchFamily="2" charset="-122"/>
                <a:cs typeface="宋体" panose="02010600030101010101" pitchFamily="2" charset="-122"/>
              </a:rPr>
              <a:t>左</a:t>
            </a:r>
            <a:r>
              <a:rPr sz="1200" dirty="0">
                <a:latin typeface="宋体" panose="02010600030101010101" pitchFamily="2" charset="-122"/>
                <a:cs typeface="宋体" panose="02010600030101010101" pitchFamily="2" charset="-122"/>
              </a:rPr>
              <a:t>右方向键移动光标</a:t>
            </a:r>
            <a:r>
              <a:rPr sz="1200" spc="10"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使用 </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Fine</a:t>
            </a:r>
            <a:r>
              <a:rPr sz="1200" spc="-5"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键和多功能旋钮来设置输出电压和</a:t>
            </a:r>
            <a:r>
              <a:rPr sz="1200" spc="20" dirty="0">
                <a:latin typeface="宋体" panose="02010600030101010101" pitchFamily="2" charset="-122"/>
                <a:cs typeface="宋体" panose="02010600030101010101" pitchFamily="2" charset="-122"/>
              </a:rPr>
              <a:t>电</a:t>
            </a:r>
            <a:r>
              <a:rPr sz="1200" dirty="0">
                <a:latin typeface="宋体" panose="02010600030101010101" pitchFamily="2" charset="-122"/>
                <a:cs typeface="宋体" panose="02010600030101010101" pitchFamily="2" charset="-122"/>
              </a:rPr>
              <a:t>流值。</a:t>
            </a:r>
            <a:endParaRPr sz="1200">
              <a:latin typeface="宋体" panose="02010600030101010101" pitchFamily="2" charset="-122"/>
              <a:cs typeface="宋体" panose="02010600030101010101" pitchFamily="2" charset="-122"/>
            </a:endParaRPr>
          </a:p>
          <a:p>
            <a:pPr marL="353695">
              <a:lnSpc>
                <a:spcPct val="100000"/>
              </a:lnSpc>
              <a:spcBef>
                <a:spcPts val="910"/>
              </a:spcBef>
            </a:pPr>
            <a:r>
              <a:rPr sz="1200" dirty="0">
                <a:latin typeface="Times New Roman" panose="02020603050405020304"/>
                <a:cs typeface="Times New Roman" panose="02020603050405020304"/>
              </a:rPr>
              <a:t>4</a:t>
            </a:r>
            <a:r>
              <a:rPr sz="1200" dirty="0">
                <a:latin typeface="宋体" panose="02010600030101010101" pitchFamily="2" charset="-122"/>
                <a:cs typeface="宋体" panose="02010600030101010101" pitchFamily="2" charset="-122"/>
              </a:rPr>
              <a:t>、按下通道</a:t>
            </a:r>
            <a:r>
              <a:rPr sz="1200" spc="-320" dirty="0">
                <a:latin typeface="宋体" panose="02010600030101010101" pitchFamily="2" charset="-122"/>
                <a:cs typeface="宋体" panose="02010600030101010101" pitchFamily="2" charset="-122"/>
              </a:rPr>
              <a:t> </a:t>
            </a:r>
            <a:r>
              <a:rPr sz="1200" dirty="0">
                <a:latin typeface="Times New Roman" panose="02020603050405020304"/>
                <a:cs typeface="Times New Roman" panose="02020603050405020304"/>
              </a:rPr>
              <a:t>1</a:t>
            </a:r>
            <a:r>
              <a:rPr sz="1200" spc="-1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对应的</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on/off</a:t>
            </a:r>
            <a:r>
              <a:rPr sz="1200" spc="-5" dirty="0">
                <a:latin typeface="宋体" panose="02010600030101010101" pitchFamily="2" charset="-122"/>
                <a:cs typeface="宋体" panose="02010600030101010101" pitchFamily="2" charset="-122"/>
              </a:rPr>
              <a:t>”</a:t>
            </a:r>
            <a:r>
              <a:rPr sz="1200" dirty="0">
                <a:latin typeface="宋体" panose="02010600030101010101" pitchFamily="2" charset="-122"/>
                <a:cs typeface="宋体" panose="02010600030101010101" pitchFamily="2" charset="-122"/>
              </a:rPr>
              <a:t>键，打开输出。</a:t>
            </a:r>
            <a:endParaRPr sz="1200">
              <a:latin typeface="宋体" panose="02010600030101010101" pitchFamily="2" charset="-122"/>
              <a:cs typeface="宋体" panose="02010600030101010101" pitchFamily="2" charset="-122"/>
            </a:endParaRPr>
          </a:p>
          <a:p>
            <a:pPr>
              <a:lnSpc>
                <a:spcPct val="100000"/>
              </a:lnSpc>
            </a:pPr>
            <a:endParaRPr sz="1300">
              <a:latin typeface="Times New Roman" panose="02020603050405020304"/>
              <a:cs typeface="Times New Roman" panose="02020603050405020304"/>
            </a:endParaRPr>
          </a:p>
          <a:p>
            <a:pPr marL="469265" marR="5080" indent="-457200">
              <a:lnSpc>
                <a:spcPct val="162000"/>
              </a:lnSpc>
              <a:spcBef>
                <a:spcPts val="860"/>
              </a:spcBef>
            </a:pPr>
            <a:r>
              <a:rPr sz="1200" b="1" spc="-5" dirty="0">
                <a:latin typeface="宋体" panose="02010600030101010101" pitchFamily="2" charset="-122"/>
                <a:cs typeface="宋体" panose="02010600030101010101" pitchFamily="2" charset="-122"/>
              </a:rPr>
              <a:t>注</a:t>
            </a:r>
            <a:r>
              <a:rPr sz="1200" b="1" spc="15" dirty="0">
                <a:latin typeface="宋体" panose="02010600030101010101" pitchFamily="2" charset="-122"/>
                <a:cs typeface="宋体" panose="02010600030101010101" pitchFamily="2" charset="-122"/>
              </a:rPr>
              <a:t>意</a:t>
            </a:r>
            <a:r>
              <a:rPr sz="1200" dirty="0">
                <a:latin typeface="宋体" panose="02010600030101010101" pitchFamily="2" charset="-122"/>
                <a:cs typeface="宋体" panose="02010600030101010101" pitchFamily="2" charset="-122"/>
              </a:rPr>
              <a:t>：通过</a:t>
            </a:r>
            <a:r>
              <a:rPr sz="1200" spc="-280" dirty="0">
                <a:latin typeface="宋体" panose="02010600030101010101" pitchFamily="2" charset="-122"/>
                <a:cs typeface="宋体" panose="02010600030101010101" pitchFamily="2" charset="-122"/>
              </a:rPr>
              <a:t> </a:t>
            </a:r>
            <a:r>
              <a:rPr sz="1200" spc="-5" dirty="0">
                <a:latin typeface="Times New Roman" panose="02020603050405020304"/>
                <a:cs typeface="Times New Roman" panose="02020603050405020304"/>
              </a:rPr>
              <a:t>CH1</a:t>
            </a:r>
            <a:r>
              <a:rPr sz="1200" spc="2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指示灯，可以识别当前输出</a:t>
            </a:r>
            <a:r>
              <a:rPr sz="1200" spc="-25" dirty="0">
                <a:latin typeface="宋体" panose="02010600030101010101" pitchFamily="2" charset="-122"/>
                <a:cs typeface="宋体" panose="02010600030101010101" pitchFamily="2" charset="-122"/>
              </a:rPr>
              <a:t>状</a:t>
            </a:r>
            <a:r>
              <a:rPr sz="1200" dirty="0">
                <a:latin typeface="宋体" panose="02010600030101010101" pitchFamily="2" charset="-122"/>
                <a:cs typeface="宋体" panose="02010600030101010101" pitchFamily="2" charset="-122"/>
              </a:rPr>
              <a:t>态</a:t>
            </a:r>
            <a:r>
              <a:rPr sz="1200" spc="-270" dirty="0">
                <a:latin typeface="宋体" panose="02010600030101010101" pitchFamily="2" charset="-122"/>
                <a:cs typeface="宋体" panose="02010600030101010101" pitchFamily="2" charset="-122"/>
              </a:rPr>
              <a:t> </a:t>
            </a:r>
            <a:r>
              <a:rPr sz="1200" spc="-10" dirty="0">
                <a:latin typeface="Times New Roman" panose="02020603050405020304"/>
                <a:cs typeface="Times New Roman" panose="02020603050405020304"/>
              </a:rPr>
              <a:t>CC/CV</a:t>
            </a:r>
            <a:r>
              <a:rPr sz="1200" spc="-10" dirty="0">
                <a:latin typeface="宋体" panose="02010600030101010101" pitchFamily="2" charset="-122"/>
                <a:cs typeface="宋体" panose="02010600030101010101" pitchFamily="2" charset="-122"/>
              </a:rPr>
              <a:t>（</a:t>
            </a:r>
            <a:r>
              <a:rPr sz="1200" spc="-10" dirty="0">
                <a:latin typeface="Times New Roman" panose="02020603050405020304"/>
                <a:cs typeface="Times New Roman" panose="02020603050405020304"/>
              </a:rPr>
              <a:t>CV</a:t>
            </a:r>
            <a:r>
              <a:rPr sz="1200" spc="2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为黄灯</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CC</a:t>
            </a:r>
            <a:r>
              <a:rPr sz="1200" spc="1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为红 灯）并联模式下</a:t>
            </a:r>
            <a:r>
              <a:rPr sz="1200" spc="-5" dirty="0">
                <a:latin typeface="宋体" panose="02010600030101010101" pitchFamily="2" charset="-122"/>
                <a:cs typeface="宋体" panose="02010600030101010101" pitchFamily="2" charset="-122"/>
              </a:rPr>
              <a:t>，</a:t>
            </a:r>
            <a:r>
              <a:rPr sz="1200" spc="-5" dirty="0">
                <a:latin typeface="Times New Roman" panose="02020603050405020304"/>
                <a:cs typeface="Times New Roman" panose="02020603050405020304"/>
              </a:rPr>
              <a:t>CH2</a:t>
            </a:r>
            <a:r>
              <a:rPr sz="1200" spc="-20"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只工作在</a:t>
            </a:r>
            <a:r>
              <a:rPr sz="1200" spc="-290" dirty="0">
                <a:latin typeface="宋体" panose="02010600030101010101" pitchFamily="2" charset="-122"/>
                <a:cs typeface="宋体" panose="02010600030101010101" pitchFamily="2" charset="-122"/>
              </a:rPr>
              <a:t> </a:t>
            </a:r>
            <a:r>
              <a:rPr sz="1200" spc="5" dirty="0">
                <a:latin typeface="Times New Roman" panose="02020603050405020304"/>
                <a:cs typeface="Times New Roman" panose="02020603050405020304"/>
              </a:rPr>
              <a:t>CC</a:t>
            </a:r>
            <a:r>
              <a:rPr sz="1200" spc="-25" dirty="0">
                <a:latin typeface="Times New Roman" panose="02020603050405020304"/>
                <a:cs typeface="Times New Roman" panose="02020603050405020304"/>
              </a:rPr>
              <a:t> </a:t>
            </a:r>
            <a:r>
              <a:rPr sz="1200" dirty="0">
                <a:latin typeface="宋体" panose="02010600030101010101" pitchFamily="2" charset="-122"/>
                <a:cs typeface="宋体" panose="02010600030101010101" pitchFamily="2" charset="-122"/>
              </a:rPr>
              <a:t>模式</a:t>
            </a:r>
            <a:endParaRPr sz="1200">
              <a:latin typeface="宋体" panose="02010600030101010101" pitchFamily="2" charset="-122"/>
              <a:cs typeface="宋体" panose="02010600030101010101" pitchFamily="2" charset="-122"/>
            </a:endParaRPr>
          </a:p>
        </p:txBody>
      </p:sp>
      <p:sp>
        <p:nvSpPr>
          <p:cNvPr id="16" name="object 12"/>
          <p:cNvSpPr/>
          <p:nvPr/>
        </p:nvSpPr>
        <p:spPr>
          <a:xfrm>
            <a:off x="1371600" y="271589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
        <p:nvSpPr>
          <p:cNvPr id="17" name="object 13"/>
          <p:cNvSpPr/>
          <p:nvPr/>
        </p:nvSpPr>
        <p:spPr>
          <a:xfrm>
            <a:off x="1371600" y="3274694"/>
            <a:ext cx="5143500" cy="0"/>
          </a:xfrm>
          <a:custGeom>
            <a:avLst/>
            <a:gdLst/>
            <a:ahLst/>
            <a:cxnLst/>
            <a:rect l="l" t="t" r="r" b="b"/>
            <a:pathLst>
              <a:path w="5143500">
                <a:moveTo>
                  <a:pt x="0" y="0"/>
                </a:moveTo>
                <a:lnTo>
                  <a:pt x="5143500" y="0"/>
                </a:lnTo>
              </a:path>
            </a:pathLst>
          </a:custGeom>
          <a:ln w="9525">
            <a:solidFill>
              <a:srgbClr val="000000"/>
            </a:solidFill>
          </a:ln>
        </p:spPr>
        <p:txBody>
          <a:bodyPr wrap="square" lIns="0" tIns="0" rIns="0" bIns="0" rtlCol="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8" name="Picture 4" descr="C:\Users\Administrator\AppData\Roaming\Tencent\Users\16685809\QQ\WinTemp\RichOle\JWO`T0A_NRJ$JGA3NHA1G8I.png"/>
          <p:cNvPicPr>
            <a:picLocks noChangeAspect="1"/>
          </p:cNvPicPr>
          <p:nvPr/>
        </p:nvPicPr>
        <p:blipFill>
          <a:blip r:embed="rId1"/>
          <a:stretch>
            <a:fillRect/>
          </a:stretch>
        </p:blipFill>
        <p:spPr>
          <a:xfrm>
            <a:off x="-111125" y="3342958"/>
            <a:ext cx="5915025" cy="3000375"/>
          </a:xfrm>
          <a:prstGeom prst="rect">
            <a:avLst/>
          </a:prstGeom>
          <a:noFill/>
          <a:ln w="9525">
            <a:noFill/>
          </a:ln>
        </p:spPr>
      </p:pic>
      <p:pic>
        <p:nvPicPr>
          <p:cNvPr id="30723" name="Picture 1" descr="C:\Users\Administrator\AppData\Roaming\Tencent\Users\16685809\QQ\WinTemp\RichOle\GUWNCJG47{E7W8RUY)P3UBP.png"/>
          <p:cNvPicPr>
            <a:picLocks noChangeAspect="1"/>
          </p:cNvPicPr>
          <p:nvPr/>
        </p:nvPicPr>
        <p:blipFill>
          <a:blip r:embed="rId2"/>
          <a:stretch>
            <a:fillRect/>
          </a:stretch>
        </p:blipFill>
        <p:spPr>
          <a:xfrm>
            <a:off x="107315" y="788670"/>
            <a:ext cx="5796915" cy="2538095"/>
          </a:xfrm>
          <a:prstGeom prst="rect">
            <a:avLst/>
          </a:prstGeom>
          <a:noFill/>
          <a:ln w="9525">
            <a:noFill/>
          </a:ln>
        </p:spPr>
      </p:pic>
      <p:sp>
        <p:nvSpPr>
          <p:cNvPr id="2" name="文本框 1"/>
          <p:cNvSpPr txBox="1"/>
          <p:nvPr/>
        </p:nvSpPr>
        <p:spPr>
          <a:xfrm>
            <a:off x="323850" y="0"/>
            <a:ext cx="7194550" cy="706755"/>
          </a:xfrm>
          <a:prstGeom prst="rect">
            <a:avLst/>
          </a:prstGeom>
          <a:noFill/>
        </p:spPr>
        <p:txBody>
          <a:bodyPr wrap="square" rtlCol="0">
            <a:spAutoFit/>
          </a:bodyPr>
          <a:p>
            <a:r>
              <a:rPr lang="zh-CN" altLang="en-US" sz="4000" b="1">
                <a:solidFill>
                  <a:srgbClr val="FF0000"/>
                </a:solidFill>
              </a:rPr>
              <a:t>信号源</a:t>
            </a:r>
            <a:r>
              <a:rPr lang="en-US" altLang="zh-CN" sz="3600" b="1">
                <a:solidFill>
                  <a:srgbClr val="FF0000"/>
                </a:solidFill>
                <a:latin typeface="楷体" panose="02010609060101010101" charset="-122"/>
                <a:ea typeface="楷体" panose="02010609060101010101" charset="-122"/>
                <a:cs typeface="楷体" panose="02010609060101010101" charset="-122"/>
              </a:rPr>
              <a:t>-</a:t>
            </a:r>
            <a:r>
              <a:rPr lang="zh-CN" altLang="en-US" sz="3600" b="1">
                <a:solidFill>
                  <a:srgbClr val="0000FF"/>
                </a:solidFill>
                <a:latin typeface="楷体" panose="02010609060101010101" charset="-122"/>
                <a:ea typeface="楷体" panose="02010609060101010101" charset="-122"/>
                <a:cs typeface="楷体" panose="02010609060101010101" charset="-122"/>
              </a:rPr>
              <a:t>双通道信号源</a:t>
            </a:r>
            <a:endParaRPr lang="zh-CN" altLang="en-US" sz="3600" b="1">
              <a:solidFill>
                <a:srgbClr val="0000FF"/>
              </a:solidFill>
              <a:latin typeface="楷体" panose="02010609060101010101" charset="-122"/>
              <a:ea typeface="楷体" panose="02010609060101010101" charset="-122"/>
              <a:cs typeface="楷体" panose="02010609060101010101" charset="-122"/>
            </a:endParaRPr>
          </a:p>
        </p:txBody>
      </p:sp>
      <p:sp>
        <p:nvSpPr>
          <p:cNvPr id="3" name="文本框 2"/>
          <p:cNvSpPr txBox="1"/>
          <p:nvPr/>
        </p:nvSpPr>
        <p:spPr>
          <a:xfrm>
            <a:off x="5864225" y="725170"/>
            <a:ext cx="1480820" cy="398780"/>
          </a:xfrm>
          <a:prstGeom prst="rect">
            <a:avLst/>
          </a:prstGeom>
          <a:noFill/>
        </p:spPr>
        <p:txBody>
          <a:bodyPr wrap="none" rtlCol="0">
            <a:spAutoFit/>
          </a:bodyPr>
          <a:p>
            <a:r>
              <a:rPr lang="en-US" altLang="zh-CN" sz="2000">
                <a:latin typeface="Times New Roman" panose="02020603050405020304" pitchFamily="18" charset="0"/>
                <a:ea typeface="楷体" panose="02010609060101010101" charset="-122"/>
                <a:cs typeface="Times New Roman" panose="02020603050405020304" pitchFamily="18" charset="0"/>
              </a:rPr>
              <a:t>1):</a:t>
            </a:r>
            <a:r>
              <a:rPr lang="zh-CN" altLang="en-US" sz="2000">
                <a:latin typeface="楷体" panose="02010609060101010101" charset="-122"/>
                <a:ea typeface="楷体" panose="02010609060101010101" charset="-122"/>
                <a:cs typeface="楷体" panose="02010609060101010101" charset="-122"/>
              </a:rPr>
              <a:t>波形选择</a:t>
            </a:r>
            <a:endParaRPr lang="zh-CN" altLang="en-US" sz="2000">
              <a:latin typeface="楷体" panose="02010609060101010101" charset="-122"/>
              <a:ea typeface="楷体" panose="02010609060101010101" charset="-122"/>
              <a:cs typeface="楷体" panose="02010609060101010101" charset="-122"/>
            </a:endParaRPr>
          </a:p>
        </p:txBody>
      </p:sp>
      <p:sp>
        <p:nvSpPr>
          <p:cNvPr id="4" name="文本框 3"/>
          <p:cNvSpPr txBox="1"/>
          <p:nvPr/>
        </p:nvSpPr>
        <p:spPr>
          <a:xfrm>
            <a:off x="5864225" y="1117600"/>
            <a:ext cx="2242820" cy="398780"/>
          </a:xfrm>
          <a:prstGeom prst="rect">
            <a:avLst/>
          </a:prstGeom>
          <a:noFill/>
        </p:spPr>
        <p:txBody>
          <a:bodyPr wrap="none" rtlCol="0">
            <a:spAutoFit/>
          </a:bodyPr>
          <a:p>
            <a:r>
              <a:rPr lang="en-US" altLang="zh-CN" sz="2000">
                <a:latin typeface="Times New Roman" panose="02020603050405020304" pitchFamily="18" charset="0"/>
                <a:ea typeface="楷体" panose="02010609060101010101" charset="-122"/>
                <a:cs typeface="Times New Roman" panose="02020603050405020304" pitchFamily="18" charset="0"/>
              </a:rPr>
              <a:t>2):</a:t>
            </a:r>
            <a:r>
              <a:rPr lang="zh-CN" altLang="en-US" sz="2000">
                <a:latin typeface="楷体" panose="02010609060101010101" charset="-122"/>
                <a:ea typeface="楷体" panose="02010609060101010101" charset="-122"/>
                <a:cs typeface="楷体" panose="02010609060101010101" charset="-122"/>
              </a:rPr>
              <a:t>通道选择与开关</a:t>
            </a:r>
            <a:endParaRPr lang="zh-CN" altLang="en-US" sz="2000">
              <a:latin typeface="楷体" panose="02010609060101010101" charset="-122"/>
              <a:ea typeface="楷体" panose="02010609060101010101" charset="-122"/>
              <a:cs typeface="楷体" panose="02010609060101010101" charset="-122"/>
            </a:endParaRPr>
          </a:p>
        </p:txBody>
      </p:sp>
      <p:sp>
        <p:nvSpPr>
          <p:cNvPr id="5" name="文本框 4"/>
          <p:cNvSpPr txBox="1"/>
          <p:nvPr/>
        </p:nvSpPr>
        <p:spPr>
          <a:xfrm>
            <a:off x="5864225" y="1510030"/>
            <a:ext cx="1988820" cy="398780"/>
          </a:xfrm>
          <a:prstGeom prst="rect">
            <a:avLst/>
          </a:prstGeom>
          <a:noFill/>
        </p:spPr>
        <p:txBody>
          <a:bodyPr wrap="none" rtlCol="0">
            <a:spAutoFit/>
          </a:bodyPr>
          <a:p>
            <a:r>
              <a:rPr lang="en-US" altLang="zh-CN" sz="2000">
                <a:latin typeface="Times New Roman" panose="02020603050405020304" pitchFamily="18" charset="0"/>
                <a:ea typeface="楷体" panose="02010609060101010101" charset="-122"/>
                <a:cs typeface="Times New Roman" panose="02020603050405020304" pitchFamily="18" charset="0"/>
              </a:rPr>
              <a:t>3):</a:t>
            </a:r>
            <a:r>
              <a:rPr lang="zh-CN" altLang="en-US" sz="2000">
                <a:latin typeface="楷体" panose="02010609060101010101" charset="-122"/>
                <a:ea typeface="楷体" panose="02010609060101010101" charset="-122"/>
                <a:cs typeface="楷体" panose="02010609060101010101" charset="-122"/>
              </a:rPr>
              <a:t>通道参数设置</a:t>
            </a:r>
            <a:endParaRPr lang="zh-CN" altLang="en-US" sz="2000">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6238875" y="1924050"/>
            <a:ext cx="2741295" cy="398780"/>
          </a:xfrm>
          <a:prstGeom prst="rect">
            <a:avLst/>
          </a:prstGeom>
          <a:noFill/>
        </p:spPr>
        <p:txBody>
          <a:bodyPr wrap="none" rtlCol="0" anchor="t">
            <a:spAutoFit/>
          </a:bodyPr>
          <a:p>
            <a:pPr marL="342900" indent="-342900">
              <a:buFont typeface="Wingdings" panose="05000000000000000000" charset="0"/>
              <a:buChar char="l"/>
            </a:pPr>
            <a:r>
              <a:rPr lang="en-US" altLang="zh-CN" sz="2000" dirty="0">
                <a:latin typeface="Times New Roman" panose="02020603050405020304" pitchFamily="18" charset="0"/>
                <a:ea typeface="楷体" panose="02010609060101010101" charset="-122"/>
                <a:cs typeface="Times New Roman" panose="02020603050405020304" pitchFamily="18" charset="0"/>
                <a:sym typeface="+mn-ea"/>
              </a:rPr>
              <a:t>Ch1/2:</a:t>
            </a:r>
            <a:r>
              <a:rPr lang="zh-CN" altLang="en-US" sz="2000" dirty="0">
                <a:latin typeface="楷体" panose="02010609060101010101" charset="-122"/>
                <a:ea typeface="楷体" panose="02010609060101010101" charset="-122"/>
                <a:cs typeface="楷体" panose="02010609060101010101" charset="-122"/>
                <a:sym typeface="+mn-ea"/>
              </a:rPr>
              <a:t>通道切换按钮</a:t>
            </a:r>
            <a:endParaRPr lang="zh-CN" altLang="en-US" sz="2000">
              <a:latin typeface="楷体" panose="02010609060101010101" charset="-122"/>
              <a:ea typeface="楷体" panose="02010609060101010101" charset="-122"/>
              <a:cs typeface="楷体" panose="02010609060101010101" charset="-122"/>
            </a:endParaRPr>
          </a:p>
        </p:txBody>
      </p:sp>
      <p:sp>
        <p:nvSpPr>
          <p:cNvPr id="7" name="文本框 6"/>
          <p:cNvSpPr txBox="1"/>
          <p:nvPr/>
        </p:nvSpPr>
        <p:spPr>
          <a:xfrm>
            <a:off x="6222365" y="2266315"/>
            <a:ext cx="2595880" cy="1014730"/>
          </a:xfrm>
          <a:prstGeom prst="rect">
            <a:avLst/>
          </a:prstGeom>
          <a:noFill/>
        </p:spPr>
        <p:txBody>
          <a:bodyPr wrap="none" rtlCol="0" anchor="t">
            <a:spAutoFit/>
          </a:bodyPr>
          <a:p>
            <a:pPr marL="342900" indent="-342900">
              <a:buFont typeface="Wingdings" panose="05000000000000000000" charset="0"/>
              <a:buChar char="l"/>
            </a:pPr>
            <a:r>
              <a:rPr lang="zh-CN" altLang="en-US" sz="2000" dirty="0">
                <a:latin typeface="楷体" panose="02010609060101010101" charset="-122"/>
                <a:ea typeface="楷体" panose="02010609060101010101" charset="-122"/>
                <a:sym typeface="+mn-ea"/>
              </a:rPr>
              <a:t>幅值设置：</a:t>
            </a:r>
            <a:endParaRPr lang="zh-CN" altLang="en-US" sz="2000" dirty="0">
              <a:latin typeface="楷体" panose="02010609060101010101" charset="-122"/>
              <a:ea typeface="楷体" panose="02010609060101010101" charset="-122"/>
              <a:sym typeface="+mn-ea"/>
            </a:endParaRPr>
          </a:p>
          <a:p>
            <a:pPr>
              <a:buFont typeface="Wingdings" panose="05000000000000000000" charset="0"/>
            </a:pPr>
            <a:r>
              <a:rPr lang="en-US" altLang="zh-CN" sz="2000" dirty="0">
                <a:latin typeface="楷体" panose="02010609060101010101" charset="-122"/>
                <a:ea typeface="楷体" panose="02010609060101010101" charset="-122"/>
                <a:sym typeface="+mn-ea"/>
              </a:rPr>
              <a:t>   </a:t>
            </a:r>
            <a:r>
              <a:rPr lang="zh-CN" altLang="en-US" sz="2000" dirty="0">
                <a:latin typeface="楷体" panose="02010609060101010101" charset="-122"/>
                <a:ea typeface="楷体" panose="02010609060101010101" charset="-122"/>
                <a:sym typeface="+mn-ea"/>
              </a:rPr>
              <a:t>幅度</a:t>
            </a:r>
            <a:r>
              <a:rPr lang="zh-CN" altLang="en-US" sz="2000" dirty="0">
                <a:latin typeface="楷体" panose="02010609060101010101" charset="-122"/>
                <a:ea typeface="楷体" panose="02010609060101010101" charset="-122"/>
                <a:sym typeface="+mn-ea"/>
              </a:rPr>
              <a:t>和直流</a:t>
            </a:r>
            <a:endParaRPr lang="zh-CN" altLang="en-US" sz="2000" dirty="0">
              <a:latin typeface="楷体" panose="02010609060101010101" charset="-122"/>
              <a:ea typeface="楷体" panose="02010609060101010101" charset="-122"/>
              <a:sym typeface="+mn-ea"/>
            </a:endParaRPr>
          </a:p>
          <a:p>
            <a:pPr>
              <a:buFont typeface="Wingdings" panose="05000000000000000000" charset="0"/>
            </a:pPr>
            <a:r>
              <a:rPr lang="en-US" altLang="zh-CN" sz="2000" dirty="0">
                <a:latin typeface="楷体" panose="02010609060101010101" charset="-122"/>
                <a:ea typeface="楷体" panose="02010609060101010101" charset="-122"/>
                <a:sym typeface="+mn-ea"/>
              </a:rPr>
              <a:t>   </a:t>
            </a:r>
            <a:r>
              <a:rPr lang="zh-CN" altLang="en-US" sz="2000" dirty="0">
                <a:solidFill>
                  <a:srgbClr val="FF0000"/>
                </a:solidFill>
                <a:latin typeface="楷体" panose="02010609060101010101" charset="-122"/>
                <a:ea typeface="楷体" panose="02010609060101010101" charset="-122"/>
                <a:sym typeface="+mn-ea"/>
              </a:rPr>
              <a:t>或</a:t>
            </a:r>
            <a:r>
              <a:rPr lang="zh-CN" altLang="en-US" sz="2000" dirty="0">
                <a:latin typeface="楷体" panose="02010609060101010101" charset="-122"/>
                <a:ea typeface="楷体" panose="02010609060101010101" charset="-122"/>
                <a:sym typeface="+mn-ea"/>
              </a:rPr>
              <a:t>高电平和低</a:t>
            </a:r>
            <a:r>
              <a:rPr lang="zh-CN" altLang="en-US" sz="2000" dirty="0">
                <a:latin typeface="楷体" panose="02010609060101010101" charset="-122"/>
                <a:ea typeface="楷体" panose="02010609060101010101" charset="-122"/>
                <a:sym typeface="+mn-ea"/>
              </a:rPr>
              <a:t>电平</a:t>
            </a:r>
            <a:endParaRPr lang="zh-CN" altLang="en-US" sz="2000" dirty="0">
              <a:latin typeface="楷体" panose="02010609060101010101" charset="-122"/>
              <a:ea typeface="楷体" panose="02010609060101010101" charset="-122"/>
              <a:sym typeface="+mn-ea"/>
            </a:endParaRPr>
          </a:p>
        </p:txBody>
      </p:sp>
      <p:sp>
        <p:nvSpPr>
          <p:cNvPr id="9" name="TextBox 4"/>
          <p:cNvSpPr txBox="1"/>
          <p:nvPr/>
        </p:nvSpPr>
        <p:spPr>
          <a:xfrm>
            <a:off x="5868035" y="3282950"/>
            <a:ext cx="3124200" cy="3464560"/>
          </a:xfrm>
          <a:prstGeom prst="rect">
            <a:avLst/>
          </a:prstGeom>
          <a:noFill/>
          <a:ln w="28575" cmpd="sng">
            <a:solidFill>
              <a:srgbClr val="FF3300"/>
            </a:solidFill>
            <a:prstDash val="solid"/>
          </a:ln>
        </p:spPr>
        <p:txBody>
          <a:bodyPr>
            <a:noAutofit/>
          </a:bodyPr>
          <a:p>
            <a:pPr>
              <a:lnSpc>
                <a:spcPct val="125000"/>
              </a:lnSpc>
            </a:pPr>
            <a:r>
              <a:rPr lang="en-US" altLang="zh-CN" sz="1800" dirty="0">
                <a:latin typeface="宋体" panose="02010600030101010101" pitchFamily="2" charset="-122"/>
              </a:rPr>
              <a:t>5:</a:t>
            </a:r>
            <a:r>
              <a:rPr lang="zh-CN" altLang="en-US" sz="1800" dirty="0">
                <a:latin typeface="宋体" panose="02010600030101010101" pitchFamily="2" charset="-122"/>
              </a:rPr>
              <a:t>辅助功能</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8:</a:t>
            </a:r>
            <a:r>
              <a:rPr lang="zh-CN" altLang="en-US" sz="1800" b="1" dirty="0">
                <a:solidFill>
                  <a:srgbClr val="FF0000"/>
                </a:solidFill>
                <a:latin typeface="宋体" panose="02010600030101010101" pitchFamily="2" charset="-122"/>
              </a:rPr>
              <a:t>通道</a:t>
            </a:r>
            <a:r>
              <a:rPr lang="en-US" altLang="zh-CN" sz="1800" b="1" dirty="0">
                <a:solidFill>
                  <a:srgbClr val="FF0000"/>
                </a:solidFill>
                <a:latin typeface="宋体" panose="02010600030101010101" pitchFamily="2" charset="-122"/>
              </a:rPr>
              <a:t>2</a:t>
            </a:r>
            <a:r>
              <a:rPr lang="zh-CN" altLang="en-US" sz="1800" dirty="0">
                <a:latin typeface="宋体" panose="02010600030101010101" pitchFamily="2" charset="-122"/>
              </a:rPr>
              <a:t>开</a:t>
            </a:r>
            <a:r>
              <a:rPr lang="en-US" altLang="zh-CN" sz="1800" dirty="0">
                <a:latin typeface="宋体" panose="02010600030101010101" pitchFamily="2" charset="-122"/>
              </a:rPr>
              <a:t>/</a:t>
            </a:r>
            <a:r>
              <a:rPr lang="zh-CN" altLang="en-US" sz="1800" dirty="0">
                <a:latin typeface="宋体" panose="02010600030101010101" pitchFamily="2" charset="-122"/>
              </a:rPr>
              <a:t>关按钮</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9:</a:t>
            </a:r>
            <a:r>
              <a:rPr lang="zh-CN" altLang="en-US" sz="1800" dirty="0">
                <a:solidFill>
                  <a:srgbClr val="FF0000"/>
                </a:solidFill>
                <a:latin typeface="宋体" panose="02010600030101010101" pitchFamily="2" charset="-122"/>
              </a:rPr>
              <a:t>通道</a:t>
            </a:r>
            <a:r>
              <a:rPr lang="en-US" altLang="zh-CN" sz="1800" dirty="0">
                <a:solidFill>
                  <a:srgbClr val="FF0000"/>
                </a:solidFill>
                <a:latin typeface="宋体" panose="02010600030101010101" pitchFamily="2" charset="-122"/>
              </a:rPr>
              <a:t>2</a:t>
            </a:r>
            <a:r>
              <a:rPr lang="zh-CN" altLang="en-US" sz="1800" dirty="0">
                <a:latin typeface="宋体" panose="02010600030101010101" pitchFamily="2" charset="-122"/>
              </a:rPr>
              <a:t>输出连接器</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10:</a:t>
            </a:r>
            <a:r>
              <a:rPr lang="zh-CN" altLang="en-US" sz="1800" b="1" dirty="0">
                <a:solidFill>
                  <a:srgbClr val="FF0000"/>
                </a:solidFill>
                <a:latin typeface="宋体" panose="02010600030101010101" pitchFamily="2" charset="-122"/>
              </a:rPr>
              <a:t>通道</a:t>
            </a:r>
            <a:r>
              <a:rPr lang="en-US" altLang="zh-CN" sz="1800" b="1" dirty="0">
                <a:solidFill>
                  <a:srgbClr val="FF0000"/>
                </a:solidFill>
                <a:latin typeface="宋体" panose="02010600030101010101" pitchFamily="2" charset="-122"/>
              </a:rPr>
              <a:t>1</a:t>
            </a:r>
            <a:r>
              <a:rPr lang="zh-CN" altLang="en-US" sz="1800" dirty="0">
                <a:latin typeface="宋体" panose="02010600030101010101" pitchFamily="2" charset="-122"/>
              </a:rPr>
              <a:t>开</a:t>
            </a:r>
            <a:r>
              <a:rPr lang="en-US" altLang="zh-CN" sz="1800" dirty="0">
                <a:latin typeface="宋体" panose="02010600030101010101" pitchFamily="2" charset="-122"/>
              </a:rPr>
              <a:t>/</a:t>
            </a:r>
            <a:r>
              <a:rPr lang="zh-CN" altLang="en-US" sz="1800" dirty="0">
                <a:latin typeface="宋体" panose="02010600030101010101" pitchFamily="2" charset="-122"/>
              </a:rPr>
              <a:t>关按钮</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11:</a:t>
            </a:r>
            <a:r>
              <a:rPr lang="zh-CN" altLang="en-US" sz="1800" b="1" dirty="0">
                <a:solidFill>
                  <a:srgbClr val="FF0000"/>
                </a:solidFill>
                <a:latin typeface="宋体" panose="02010600030101010101" pitchFamily="2" charset="-122"/>
              </a:rPr>
              <a:t>通道</a:t>
            </a:r>
            <a:r>
              <a:rPr lang="en-US" altLang="zh-CN" sz="1800" b="1" dirty="0">
                <a:solidFill>
                  <a:srgbClr val="FF0000"/>
                </a:solidFill>
                <a:latin typeface="宋体" panose="02010600030101010101" pitchFamily="2" charset="-122"/>
              </a:rPr>
              <a:t>1</a:t>
            </a:r>
            <a:r>
              <a:rPr lang="zh-CN" altLang="en-US" sz="1800" dirty="0">
                <a:latin typeface="宋体" panose="02010600030101010101" pitchFamily="2" charset="-122"/>
              </a:rPr>
              <a:t>输出连接器</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12:</a:t>
            </a:r>
            <a:r>
              <a:rPr lang="en-US" altLang="zh-CN" sz="1800" dirty="0">
                <a:solidFill>
                  <a:srgbClr val="FF0000"/>
                </a:solidFill>
                <a:latin typeface="Times New Roman" panose="02020603050405020304" pitchFamily="18" charset="0"/>
                <a:cs typeface="Times New Roman" panose="02020603050405020304" pitchFamily="18" charset="0"/>
              </a:rPr>
              <a:t>Ch1/2</a:t>
            </a:r>
            <a:r>
              <a:rPr lang="en-US" altLang="zh-CN" sz="1800" dirty="0">
                <a:solidFill>
                  <a:srgbClr val="FF0000"/>
                </a:solidFill>
                <a:latin typeface="宋体" panose="02010600030101010101" pitchFamily="2" charset="-122"/>
              </a:rPr>
              <a:t>:</a:t>
            </a:r>
            <a:r>
              <a:rPr lang="zh-CN" altLang="en-US" sz="1800" dirty="0">
                <a:latin typeface="宋体" panose="02010600030101010101" pitchFamily="2" charset="-122"/>
              </a:rPr>
              <a:t>通道切换按钮</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   Both:</a:t>
            </a:r>
            <a:r>
              <a:rPr lang="zh-CN" altLang="en-US" sz="1800" dirty="0">
                <a:latin typeface="宋体" panose="02010600030101010101" pitchFamily="2" charset="-122"/>
              </a:rPr>
              <a:t>同时显示</a:t>
            </a:r>
            <a:r>
              <a:rPr lang="en-US" altLang="zh-CN" sz="1800" dirty="0">
                <a:latin typeface="宋体" panose="02010600030101010101" pitchFamily="2" charset="-122"/>
              </a:rPr>
              <a:t>2</a:t>
            </a:r>
            <a:r>
              <a:rPr lang="zh-CN" altLang="en-US" sz="1800" dirty="0">
                <a:latin typeface="宋体" panose="02010600030101010101" pitchFamily="2" charset="-122"/>
              </a:rPr>
              <a:t>通道参数</a:t>
            </a:r>
            <a:endParaRPr lang="zh-CN" altLang="en-US" sz="1800" dirty="0">
              <a:latin typeface="宋体" panose="02010600030101010101" pitchFamily="2" charset="-122"/>
            </a:endParaRPr>
          </a:p>
          <a:p>
            <a:pPr>
              <a:lnSpc>
                <a:spcPct val="125000"/>
              </a:lnSpc>
            </a:pPr>
            <a:r>
              <a:rPr lang="en-US" altLang="zh-CN" sz="1800" dirty="0">
                <a:latin typeface="宋体" panose="02010600030101010101" pitchFamily="2" charset="-122"/>
              </a:rPr>
              <a:t>   Mod:</a:t>
            </a:r>
            <a:r>
              <a:rPr lang="zh-CN" altLang="en-US" sz="1800" dirty="0">
                <a:latin typeface="宋体" panose="02010600030101010101" pitchFamily="2" charset="-122"/>
              </a:rPr>
              <a:t>运行模式按钮</a:t>
            </a:r>
            <a:endParaRPr lang="zh-CN" altLang="en-US" sz="1800" dirty="0">
              <a:latin typeface="宋体" panose="02010600030101010101" pitchFamily="2" charset="-122"/>
            </a:endParaRPr>
          </a:p>
          <a:p>
            <a:pPr>
              <a:lnSpc>
                <a:spcPct val="125000"/>
              </a:lnSpc>
            </a:pPr>
            <a:r>
              <a:rPr lang="en-US" altLang="zh-CN" sz="1800" b="1" dirty="0">
                <a:solidFill>
                  <a:srgbClr val="FF0000"/>
                </a:solidFill>
                <a:latin typeface="宋体" panose="02010600030101010101" pitchFamily="2" charset="-122"/>
              </a:rPr>
              <a:t>14:</a:t>
            </a:r>
            <a:r>
              <a:rPr lang="zh-CN" altLang="en-US" sz="1800" b="1" dirty="0">
                <a:solidFill>
                  <a:srgbClr val="FF0000"/>
                </a:solidFill>
                <a:latin typeface="宋体" panose="02010600030101010101" pitchFamily="2" charset="-122"/>
              </a:rPr>
              <a:t>功能按钮</a:t>
            </a:r>
            <a:r>
              <a:rPr lang="en-US" altLang="zh-CN" sz="1800" b="1" dirty="0">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波形选择</a:t>
            </a:r>
            <a:endParaRPr lang="zh-CN" altLang="en-US" sz="1800" b="1" dirty="0">
              <a:solidFill>
                <a:srgbClr val="FF0000"/>
              </a:solidFill>
              <a:latin typeface="宋体" panose="02010600030101010101" pitchFamily="2" charset="-122"/>
            </a:endParaRPr>
          </a:p>
        </p:txBody>
      </p:sp>
      <p:sp>
        <p:nvSpPr>
          <p:cNvPr id="10" name="文本框 9"/>
          <p:cNvSpPr txBox="1"/>
          <p:nvPr/>
        </p:nvSpPr>
        <p:spPr>
          <a:xfrm>
            <a:off x="5864225" y="332740"/>
            <a:ext cx="1925320" cy="429895"/>
          </a:xfrm>
          <a:prstGeom prst="rect">
            <a:avLst/>
          </a:prstGeom>
          <a:noFill/>
        </p:spPr>
        <p:txBody>
          <a:bodyPr wrap="square" rtlCol="0">
            <a:spAutoFit/>
          </a:bodyPr>
          <a:p>
            <a:r>
              <a:rPr lang="zh-CN" altLang="en-US" sz="2200" b="1">
                <a:solidFill>
                  <a:srgbClr val="FF0000"/>
                </a:solidFill>
                <a:sym typeface="+mn-ea"/>
              </a:rPr>
              <a:t>信号设置</a:t>
            </a:r>
            <a:r>
              <a:rPr lang="zh-CN" altLang="en-US" sz="2200" b="1">
                <a:solidFill>
                  <a:srgbClr val="FF0000"/>
                </a:solidFill>
              </a:rPr>
              <a:t>步骤</a:t>
            </a:r>
            <a:endParaRPr lang="zh-CN" altLang="en-US" sz="2200"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wipe(down)">
                                      <p:cBhvr>
                                        <p:cTn id="36" dur="500"/>
                                        <p:tgtEl>
                                          <p:spTgt spid="7">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7">
                                            <p:txEl>
                                              <p:pRg st="1" end="1"/>
                                            </p:txEl>
                                          </p:spTgt>
                                        </p:tgtEl>
                                        <p:attrNameLst>
                                          <p:attrName>style.visibility</p:attrName>
                                        </p:attrNameLst>
                                      </p:cBhvr>
                                      <p:to>
                                        <p:strVal val="visible"/>
                                      </p:to>
                                    </p:set>
                                    <p:animEffect transition="in" filter="wipe(down)">
                                      <p:cBhvr>
                                        <p:cTn id="41" dur="500"/>
                                        <p:tgtEl>
                                          <p:spTgt spid="7">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7">
                                            <p:txEl>
                                              <p:pRg st="2" end="2"/>
                                            </p:txEl>
                                          </p:spTgt>
                                        </p:tgtEl>
                                        <p:attrNameLst>
                                          <p:attrName>style.visibility</p:attrName>
                                        </p:attrNameLst>
                                      </p:cBhvr>
                                      <p:to>
                                        <p:strVal val="visible"/>
                                      </p:to>
                                    </p:set>
                                    <p:animEffect transition="in" filter="wipe(down)">
                                      <p:cBhvr>
                                        <p:cTn id="46" dur="500"/>
                                        <p:tgtEl>
                                          <p:spTgt spid="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down)">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10" grpId="0"/>
      <p:bldP spid="9"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31747" name="Picture 2" descr="C:\Users\Administrator\Documents\Tencent Files\16685809\Image\Group2\2}\75\2}75FY1P9)ITXUW{CG)U}Q1.jpg"/>
          <p:cNvPicPr>
            <a:picLocks noChangeAspect="1"/>
          </p:cNvPicPr>
          <p:nvPr/>
        </p:nvPicPr>
        <p:blipFill>
          <a:blip r:embed="rId1"/>
          <a:stretch>
            <a:fillRect/>
          </a:stretch>
        </p:blipFill>
        <p:spPr>
          <a:xfrm>
            <a:off x="107315" y="981075"/>
            <a:ext cx="8296275" cy="5257800"/>
          </a:xfrm>
          <a:prstGeom prst="rect">
            <a:avLst/>
          </a:prstGeom>
          <a:noFill/>
          <a:ln w="9525">
            <a:noFill/>
          </a:ln>
        </p:spPr>
      </p:pic>
      <p:sp>
        <p:nvSpPr>
          <p:cNvPr id="3" name="椭圆 2"/>
          <p:cNvSpPr/>
          <p:nvPr/>
        </p:nvSpPr>
        <p:spPr>
          <a:xfrm>
            <a:off x="5233035" y="2132965"/>
            <a:ext cx="1155065" cy="3600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椭圆 3"/>
          <p:cNvSpPr/>
          <p:nvPr/>
        </p:nvSpPr>
        <p:spPr>
          <a:xfrm>
            <a:off x="6228080" y="3284855"/>
            <a:ext cx="925195" cy="9423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2771775" y="1431925"/>
            <a:ext cx="692785" cy="4787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custDataLst>
              <p:tags r:id="rId2"/>
            </p:custDataLst>
          </p:nvPr>
        </p:nvSpPr>
        <p:spPr>
          <a:xfrm>
            <a:off x="236220" y="0"/>
            <a:ext cx="6151880" cy="706755"/>
          </a:xfrm>
          <a:prstGeom prst="rect">
            <a:avLst/>
          </a:prstGeom>
          <a:noFill/>
        </p:spPr>
        <p:txBody>
          <a:bodyPr wrap="square" rtlCol="0">
            <a:spAutoFit/>
          </a:bodyPr>
          <a:p>
            <a:r>
              <a:rPr lang="zh-CN" altLang="en-US" sz="4000" b="1">
                <a:solidFill>
                  <a:srgbClr val="FF0000"/>
                </a:solidFill>
              </a:rPr>
              <a:t>信号源</a:t>
            </a:r>
            <a:r>
              <a:rPr lang="en-US" altLang="zh-CN" sz="3600" b="1">
                <a:solidFill>
                  <a:srgbClr val="FF0000"/>
                </a:solidFill>
                <a:latin typeface="楷体" panose="02010609060101010101" charset="-122"/>
                <a:ea typeface="楷体" panose="02010609060101010101" charset="-122"/>
                <a:cs typeface="楷体" panose="02010609060101010101" charset="-122"/>
              </a:rPr>
              <a:t>-</a:t>
            </a:r>
            <a:r>
              <a:rPr lang="zh-CN" altLang="en-US" sz="3600" b="1">
                <a:solidFill>
                  <a:srgbClr val="FF0000"/>
                </a:solidFill>
                <a:latin typeface="楷体" panose="02010609060101010101" charset="-122"/>
                <a:ea typeface="楷体" panose="02010609060101010101" charset="-122"/>
                <a:cs typeface="楷体" panose="02010609060101010101" charset="-122"/>
                <a:sym typeface="+mn-ea"/>
              </a:rPr>
              <a:t>输出</a:t>
            </a:r>
            <a:r>
              <a:rPr lang="zh-CN" altLang="en-US" sz="3600" b="1">
                <a:solidFill>
                  <a:srgbClr val="FF0000"/>
                </a:solidFill>
                <a:latin typeface="楷体" panose="02010609060101010101" charset="-122"/>
                <a:ea typeface="楷体" panose="02010609060101010101" charset="-122"/>
                <a:cs typeface="楷体" panose="02010609060101010101" charset="-122"/>
              </a:rPr>
              <a:t>设置</a:t>
            </a:r>
            <a:r>
              <a:rPr lang="en-US" altLang="zh-CN" sz="3600" b="1">
                <a:solidFill>
                  <a:srgbClr val="0000FF"/>
                </a:solidFill>
              </a:rPr>
              <a:t>HighZ</a:t>
            </a:r>
            <a:endParaRPr lang="en-US" altLang="zh-CN" sz="3600" b="1">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3" grpId="0" bldLvl="0" animBg="1"/>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pic>
        <p:nvPicPr>
          <p:cNvPr id="4" name="内容占位符 3"/>
          <p:cNvPicPr>
            <a:picLocks noGrp="1" noChangeAspect="1" noChangeArrowheads="1"/>
          </p:cNvPicPr>
          <p:nvPr>
            <p:ph idx="4294967295"/>
          </p:nvPr>
        </p:nvPicPr>
        <p:blipFill rotWithShape="1">
          <a:blip r:embed="rId1">
            <a:extLst>
              <a:ext uri="{28A0092B-C50C-407E-A947-70E740481C1C}">
                <a14:useLocalDpi xmlns:a14="http://schemas.microsoft.com/office/drawing/2010/main" val="0"/>
              </a:ext>
            </a:extLst>
          </a:blip>
          <a:srcRect l="7287" r="19002"/>
          <a:stretch>
            <a:fillRect/>
          </a:stretch>
        </p:blipFill>
        <p:spPr>
          <a:xfrm>
            <a:off x="467360" y="1125220"/>
            <a:ext cx="5079365" cy="3754120"/>
          </a:xfrm>
        </p:spPr>
      </p:pic>
      <p:sp>
        <p:nvSpPr>
          <p:cNvPr id="5" name="矩形 4"/>
          <p:cNvSpPr/>
          <p:nvPr/>
        </p:nvSpPr>
        <p:spPr>
          <a:xfrm>
            <a:off x="304800" y="785742"/>
            <a:ext cx="1897380" cy="339725"/>
          </a:xfrm>
          <a:prstGeom prst="rect">
            <a:avLst/>
          </a:prstGeom>
        </p:spPr>
        <p:txBody>
          <a:bodyPr wrap="none">
            <a:spAutoFit/>
          </a:bodyPr>
          <a:lstStyle/>
          <a:p>
            <a:pPr marL="342900" indent="-342900">
              <a:lnSpc>
                <a:spcPct val="90000"/>
              </a:lnSpc>
              <a:buFont typeface="宋体" panose="02010600030101010101" pitchFamily="2" charset="-122"/>
              <a:buChar char="※"/>
            </a:pPr>
            <a:r>
              <a:rPr lang="zh-CN" altLang="en-US" sz="1800" dirty="0" smtClean="0">
                <a:solidFill>
                  <a:srgbClr val="C00000"/>
                </a:solidFill>
              </a:rPr>
              <a:t>输出负载设置</a:t>
            </a:r>
            <a:endParaRPr lang="zh-CN" altLang="en-US" sz="1800" dirty="0">
              <a:solidFill>
                <a:srgbClr val="C00000"/>
              </a:solidFill>
            </a:endParaRPr>
          </a:p>
        </p:txBody>
      </p:sp>
      <p:pic>
        <p:nvPicPr>
          <p:cNvPr id="6"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9084" t="12103" r="9161" b="10442"/>
          <a:stretch>
            <a:fillRect/>
          </a:stretch>
        </p:blipFill>
        <p:spPr bwMode="auto">
          <a:xfrm>
            <a:off x="3977934" y="2569575"/>
            <a:ext cx="4968549" cy="2052228"/>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7" name="Text Box 7"/>
          <p:cNvSpPr txBox="1">
            <a:spLocks noChangeArrowheads="1"/>
          </p:cNvSpPr>
          <p:nvPr/>
        </p:nvSpPr>
        <p:spPr bwMode="auto">
          <a:xfrm>
            <a:off x="5247073" y="4584007"/>
            <a:ext cx="2430270" cy="575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50000"/>
              </a:spcBef>
            </a:pPr>
            <a:r>
              <a:rPr lang="zh-CN" altLang="en-US" sz="2100" dirty="0" smtClean="0">
                <a:solidFill>
                  <a:srgbClr val="FF0000"/>
                </a:solidFill>
                <a:latin typeface="Times New Roman" panose="02020603050405020304" pitchFamily="18" charset="0"/>
                <a:ea typeface="楷体" panose="02010609060101010101" charset="-122"/>
                <a:cs typeface="Times New Roman" panose="02020603050405020304" pitchFamily="18" charset="0"/>
              </a:rPr>
              <a:t>信号源内阻为</a:t>
            </a:r>
            <a:r>
              <a:rPr lang="en-US" altLang="zh-CN" sz="2100" dirty="0" smtClean="0">
                <a:solidFill>
                  <a:srgbClr val="FF0000"/>
                </a:solidFill>
                <a:latin typeface="Times New Roman" panose="02020603050405020304" pitchFamily="18" charset="0"/>
                <a:ea typeface="楷体" panose="02010609060101010101" charset="-122"/>
                <a:cs typeface="Times New Roman" panose="02020603050405020304" pitchFamily="18" charset="0"/>
              </a:rPr>
              <a:t>50Ω</a:t>
            </a:r>
            <a:endParaRPr lang="zh-CN" altLang="en-US" sz="2100" dirty="0">
              <a:solidFill>
                <a:srgbClr val="FF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10" name="文本框 9"/>
          <p:cNvSpPr txBox="1"/>
          <p:nvPr>
            <p:custDataLst>
              <p:tags r:id="rId3"/>
            </p:custDataLst>
          </p:nvPr>
        </p:nvSpPr>
        <p:spPr>
          <a:xfrm>
            <a:off x="236220" y="0"/>
            <a:ext cx="6151880" cy="706755"/>
          </a:xfrm>
          <a:prstGeom prst="rect">
            <a:avLst/>
          </a:prstGeom>
          <a:noFill/>
        </p:spPr>
        <p:txBody>
          <a:bodyPr wrap="square" rtlCol="0">
            <a:spAutoFit/>
          </a:bodyPr>
          <a:p>
            <a:r>
              <a:rPr lang="zh-CN" altLang="en-US" sz="4000" b="1">
                <a:solidFill>
                  <a:srgbClr val="FF0000"/>
                </a:solidFill>
              </a:rPr>
              <a:t>信号源</a:t>
            </a:r>
            <a:r>
              <a:rPr lang="en-US" altLang="zh-CN" sz="3600" b="1">
                <a:solidFill>
                  <a:srgbClr val="FF0000"/>
                </a:solidFill>
                <a:latin typeface="楷体" panose="02010609060101010101" charset="-122"/>
                <a:ea typeface="楷体" panose="02010609060101010101" charset="-122"/>
                <a:cs typeface="楷体" panose="02010609060101010101" charset="-122"/>
              </a:rPr>
              <a:t>-</a:t>
            </a:r>
            <a:r>
              <a:rPr lang="zh-CN" altLang="en-US" sz="3600" b="1">
                <a:solidFill>
                  <a:srgbClr val="FF0000"/>
                </a:solidFill>
                <a:latin typeface="楷体" panose="02010609060101010101" charset="-122"/>
                <a:ea typeface="楷体" panose="02010609060101010101" charset="-122"/>
                <a:cs typeface="楷体" panose="02010609060101010101" charset="-122"/>
                <a:sym typeface="+mn-ea"/>
              </a:rPr>
              <a:t>输出</a:t>
            </a:r>
            <a:r>
              <a:rPr lang="zh-CN" altLang="en-US" sz="3600" b="1">
                <a:solidFill>
                  <a:srgbClr val="FF0000"/>
                </a:solidFill>
                <a:latin typeface="楷体" panose="02010609060101010101" charset="-122"/>
                <a:ea typeface="楷体" panose="02010609060101010101" charset="-122"/>
                <a:cs typeface="楷体" panose="02010609060101010101" charset="-122"/>
              </a:rPr>
              <a:t>设置</a:t>
            </a:r>
            <a:r>
              <a:rPr lang="en-US" altLang="zh-CN" sz="3600" b="1">
                <a:solidFill>
                  <a:srgbClr val="0000FF"/>
                </a:solidFill>
              </a:rPr>
              <a:t>HighZ</a:t>
            </a:r>
            <a:endParaRPr lang="en-US" altLang="zh-CN" sz="3600" b="1">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pic>
        <p:nvPicPr>
          <p:cNvPr id="10242" name="图片 4"/>
          <p:cNvPicPr>
            <a:picLocks noChangeAspect="1"/>
          </p:cNvPicPr>
          <p:nvPr>
            <p:custDataLst>
              <p:tags r:id="rId1"/>
            </p:custDataLst>
          </p:nvPr>
        </p:nvPicPr>
        <p:blipFill>
          <a:blip r:embed="rId2"/>
          <a:stretch>
            <a:fillRect/>
          </a:stretch>
        </p:blipFill>
        <p:spPr>
          <a:xfrm>
            <a:off x="1187450" y="116840"/>
            <a:ext cx="4641850" cy="3422650"/>
          </a:xfrm>
          <a:prstGeom prst="rect">
            <a:avLst/>
          </a:prstGeom>
          <a:noFill/>
          <a:ln w="9525">
            <a:noFill/>
          </a:ln>
        </p:spPr>
      </p:pic>
      <p:pic>
        <p:nvPicPr>
          <p:cNvPr id="10243" name="图片 5"/>
          <p:cNvPicPr>
            <a:picLocks noChangeAspect="1"/>
          </p:cNvPicPr>
          <p:nvPr/>
        </p:nvPicPr>
        <p:blipFill>
          <a:blip r:embed="rId3"/>
          <a:stretch>
            <a:fillRect/>
          </a:stretch>
        </p:blipFill>
        <p:spPr>
          <a:xfrm>
            <a:off x="1042988" y="3610928"/>
            <a:ext cx="4929187" cy="2874962"/>
          </a:xfrm>
          <a:prstGeom prst="rect">
            <a:avLst/>
          </a:prstGeom>
          <a:noFill/>
          <a:ln w="9525">
            <a:noFill/>
          </a:ln>
        </p:spPr>
      </p:pic>
      <p:sp>
        <p:nvSpPr>
          <p:cNvPr id="2" name="矩形 1"/>
          <p:cNvSpPr/>
          <p:nvPr/>
        </p:nvSpPr>
        <p:spPr>
          <a:xfrm>
            <a:off x="1115695" y="3831590"/>
            <a:ext cx="4824730" cy="6102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1099185" y="4464050"/>
            <a:ext cx="4824730" cy="429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82675" y="4938395"/>
            <a:ext cx="4824730" cy="429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1082675" y="5406390"/>
            <a:ext cx="4824730" cy="2228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1066165" y="5659755"/>
            <a:ext cx="4824730" cy="2228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1060450" y="5920740"/>
            <a:ext cx="4824730" cy="2228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1008380" y="6190615"/>
            <a:ext cx="4824730" cy="2228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000"/>
                                        <p:tgtEl>
                                          <p:spTgt spid="2"/>
                                        </p:tgtEl>
                                      </p:cBhvr>
                                    </p:animEffect>
                                    <p:set>
                                      <p:cBhvr>
                                        <p:cTn id="7" dur="1" fill="hold">
                                          <p:stCondLst>
                                            <p:cond delay="998"/>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1000"/>
                                        <p:tgtEl>
                                          <p:spTgt spid="3"/>
                                        </p:tgtEl>
                                      </p:cBhvr>
                                    </p:animEffect>
                                    <p:set>
                                      <p:cBhvr>
                                        <p:cTn id="12" dur="1" fill="hold">
                                          <p:stCondLst>
                                            <p:cond delay="998"/>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1000"/>
                                        <p:tgtEl>
                                          <p:spTgt spid="4"/>
                                        </p:tgtEl>
                                      </p:cBhvr>
                                    </p:animEffect>
                                    <p:set>
                                      <p:cBhvr>
                                        <p:cTn id="17" dur="1" fill="hold">
                                          <p:stCondLst>
                                            <p:cond delay="998"/>
                                          </p:stCondLst>
                                        </p:cTn>
                                        <p:tgtEl>
                                          <p:spTgt spid="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1000"/>
                                        <p:tgtEl>
                                          <p:spTgt spid="5"/>
                                        </p:tgtEl>
                                      </p:cBhvr>
                                    </p:animEffect>
                                    <p:set>
                                      <p:cBhvr>
                                        <p:cTn id="22" dur="1" fill="hold">
                                          <p:stCondLst>
                                            <p:cond delay="998"/>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1000"/>
                                        <p:tgtEl>
                                          <p:spTgt spid="6"/>
                                        </p:tgtEl>
                                      </p:cBhvr>
                                    </p:animEffect>
                                    <p:set>
                                      <p:cBhvr>
                                        <p:cTn id="27" dur="1" fill="hold">
                                          <p:stCondLst>
                                            <p:cond delay="998"/>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1000"/>
                                        <p:tgtEl>
                                          <p:spTgt spid="7"/>
                                        </p:tgtEl>
                                      </p:cBhvr>
                                    </p:animEffect>
                                    <p:set>
                                      <p:cBhvr>
                                        <p:cTn id="32" dur="1" fill="hold">
                                          <p:stCondLst>
                                            <p:cond delay="998"/>
                                          </p:stCondLst>
                                        </p:cTn>
                                        <p:tgtEl>
                                          <p:spTgt spid="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1000"/>
                                        <p:tgtEl>
                                          <p:spTgt spid="8"/>
                                        </p:tgtEl>
                                      </p:cBhvr>
                                    </p:animEffect>
                                    <p:set>
                                      <p:cBhvr>
                                        <p:cTn id="37" dur="1" fill="hold">
                                          <p:stCondLst>
                                            <p:cond delay="998"/>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bldLvl="0" animBg="1"/>
      <p:bldP spid="5" grpId="0" bldLvl="0" animBg="1"/>
      <p:bldP spid="6" grpId="0" bldLvl="0" animBg="1"/>
      <p:bldP spid="7" grpId="0" bldLvl="0" animBg="1"/>
      <p:bldP spid="8"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3" name="图片 2"/>
          <p:cNvPicPr>
            <a:picLocks noChangeAspect="1"/>
          </p:cNvPicPr>
          <p:nvPr/>
        </p:nvPicPr>
        <p:blipFill>
          <a:blip r:embed="rId1"/>
          <a:stretch>
            <a:fillRect/>
          </a:stretch>
        </p:blipFill>
        <p:spPr>
          <a:xfrm>
            <a:off x="-14478000" y="-10858500"/>
            <a:ext cx="3062400" cy="2296800"/>
          </a:xfrm>
          <a:prstGeom prst="rect">
            <a:avLst/>
          </a:prstGeom>
        </p:spPr>
      </p:pic>
      <p:pic>
        <p:nvPicPr>
          <p:cNvPr id="100" name="图片 99"/>
          <p:cNvPicPr/>
          <p:nvPr>
            <p:custDataLst>
              <p:tags r:id="rId2"/>
            </p:custDataLst>
          </p:nvPr>
        </p:nvPicPr>
        <p:blipFill>
          <a:blip r:embed="rId3"/>
          <a:stretch>
            <a:fillRect/>
          </a:stretch>
        </p:blipFill>
        <p:spPr>
          <a:xfrm>
            <a:off x="179917" y="44450"/>
            <a:ext cx="8466666" cy="6858000"/>
          </a:xfrm>
          <a:prstGeom prst="rect">
            <a:avLst/>
          </a:prstGeom>
          <a:noFill/>
          <a:ln w="9525">
            <a:noFill/>
          </a:ln>
        </p:spPr>
      </p:pic>
      <p:sp>
        <p:nvSpPr>
          <p:cNvPr id="6" name="文本框 5"/>
          <p:cNvSpPr txBox="1"/>
          <p:nvPr/>
        </p:nvSpPr>
        <p:spPr>
          <a:xfrm>
            <a:off x="4067810" y="405765"/>
            <a:ext cx="776605" cy="937260"/>
          </a:xfrm>
          <a:prstGeom prst="rect">
            <a:avLst/>
          </a:prstGeom>
          <a:noFill/>
        </p:spPr>
        <p:txBody>
          <a:bodyPr wrap="square" rtlCol="0">
            <a:spAutoFit/>
          </a:bodyPr>
          <a:p>
            <a:r>
              <a:rPr lang="en-US" altLang="zh-CN" sz="5500">
                <a:solidFill>
                  <a:srgbClr val="FF0000"/>
                </a:solidFill>
              </a:rPr>
              <a:t>+</a:t>
            </a:r>
            <a:endParaRPr lang="en-US" altLang="zh-CN" sz="5500">
              <a:solidFill>
                <a:srgbClr val="FF0000"/>
              </a:solidFill>
            </a:endParaRPr>
          </a:p>
        </p:txBody>
      </p:sp>
      <p:sp>
        <p:nvSpPr>
          <p:cNvPr id="7" name="文本框 6"/>
          <p:cNvSpPr txBox="1"/>
          <p:nvPr>
            <p:custDataLst>
              <p:tags r:id="rId4"/>
            </p:custDataLst>
          </p:nvPr>
        </p:nvSpPr>
        <p:spPr>
          <a:xfrm>
            <a:off x="2257425" y="461010"/>
            <a:ext cx="776605" cy="1106805"/>
          </a:xfrm>
          <a:prstGeom prst="rect">
            <a:avLst/>
          </a:prstGeom>
          <a:noFill/>
        </p:spPr>
        <p:txBody>
          <a:bodyPr wrap="square" rtlCol="0">
            <a:spAutoFit/>
          </a:bodyPr>
          <a:p>
            <a:r>
              <a:rPr lang="en-US" altLang="zh-CN" sz="6600" b="1">
                <a:solidFill>
                  <a:srgbClr val="FF0000"/>
                </a:solidFill>
              </a:rPr>
              <a:t>-</a:t>
            </a:r>
            <a:endParaRPr lang="en-US" altLang="zh-CN" sz="6600" b="1">
              <a:solidFill>
                <a:srgbClr val="FF0000"/>
              </a:solidFill>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7" name="object 7"/>
          <p:cNvSpPr/>
          <p:nvPr/>
        </p:nvSpPr>
        <p:spPr>
          <a:xfrm>
            <a:off x="683260" y="1414780"/>
            <a:ext cx="7322820" cy="4483100"/>
          </a:xfrm>
          <a:prstGeom prst="rect">
            <a:avLst/>
          </a:prstGeom>
          <a:blipFill>
            <a:blip r:embed="rId1" cstate="print"/>
            <a:stretch>
              <a:fillRect/>
            </a:stretch>
          </a:blipFill>
        </p:spPr>
        <p:txBody>
          <a:bodyPr wrap="square" lIns="0" tIns="0" rIns="0" bIns="0" rtlCol="0"/>
          <a:p/>
        </p:txBody>
      </p:sp>
      <p:sp>
        <p:nvSpPr>
          <p:cNvPr id="2" name="椭圆 1"/>
          <p:cNvSpPr/>
          <p:nvPr/>
        </p:nvSpPr>
        <p:spPr>
          <a:xfrm>
            <a:off x="3564255" y="5231130"/>
            <a:ext cx="791845" cy="4318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椭圆 2"/>
          <p:cNvSpPr/>
          <p:nvPr/>
        </p:nvSpPr>
        <p:spPr>
          <a:xfrm>
            <a:off x="2195830" y="5231130"/>
            <a:ext cx="1065530" cy="4318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椭圆 3"/>
          <p:cNvSpPr/>
          <p:nvPr/>
        </p:nvSpPr>
        <p:spPr>
          <a:xfrm>
            <a:off x="821055" y="5286375"/>
            <a:ext cx="1089660" cy="4318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467995" y="2350770"/>
            <a:ext cx="791845" cy="4318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467995" y="4150995"/>
            <a:ext cx="791845" cy="4318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custDataLst>
              <p:tags r:id="rId2"/>
            </p:custDataLst>
          </p:nvPr>
        </p:nvSpPr>
        <p:spPr>
          <a:xfrm>
            <a:off x="510540" y="22225"/>
            <a:ext cx="7888605" cy="845185"/>
          </a:xfrm>
          <a:prstGeom prst="rect">
            <a:avLst/>
          </a:prstGeom>
          <a:noFill/>
        </p:spPr>
        <p:txBody>
          <a:bodyPr wrap="square" rtlCol="0" anchor="t">
            <a:noAutofit/>
          </a:bodyPr>
          <a:p>
            <a:r>
              <a:rPr lang="zh-CN" altLang="en-US" sz="4400" b="1">
                <a:solidFill>
                  <a:srgbClr val="FF0000"/>
                </a:solidFill>
              </a:rPr>
              <a:t>示波器</a:t>
            </a:r>
            <a:r>
              <a:rPr lang="zh-CN" altLang="en-US" sz="4400" b="1">
                <a:solidFill>
                  <a:srgbClr val="FF0000"/>
                </a:solidFill>
                <a:latin typeface="Times New Roman" panose="02020603050405020304" pitchFamily="18" charset="0"/>
                <a:cs typeface="Times New Roman" panose="02020603050405020304" pitchFamily="18" charset="0"/>
              </a:rPr>
              <a:t>TBS1000C</a:t>
            </a:r>
            <a:r>
              <a:rPr lang="en-US" altLang="zh-CN" sz="4400" b="1">
                <a:solidFill>
                  <a:srgbClr val="FF0000"/>
                </a:solidFill>
                <a:latin typeface="Times New Roman" panose="02020603050405020304" pitchFamily="18" charset="0"/>
                <a:cs typeface="Times New Roman" panose="02020603050405020304" pitchFamily="18" charset="0"/>
              </a:rPr>
              <a:t>-</a:t>
            </a:r>
            <a:r>
              <a:rPr lang="zh-CN" altLang="en-US" sz="4400" b="1">
                <a:solidFill>
                  <a:srgbClr val="0000FF"/>
                </a:solidFill>
                <a:latin typeface="Times New Roman" panose="02020603050405020304" pitchFamily="18" charset="0"/>
                <a:cs typeface="Times New Roman" panose="02020603050405020304" pitchFamily="18" charset="0"/>
              </a:rPr>
              <a:t>双</a:t>
            </a:r>
            <a:r>
              <a:rPr lang="zh-CN" altLang="en-US" sz="4400" b="1">
                <a:solidFill>
                  <a:srgbClr val="0000FF"/>
                </a:solidFill>
                <a:latin typeface="Times New Roman" panose="02020603050405020304" pitchFamily="18" charset="0"/>
                <a:cs typeface="Times New Roman" panose="02020603050405020304" pitchFamily="18" charset="0"/>
              </a:rPr>
              <a:t>通道</a:t>
            </a:r>
            <a:endParaRPr lang="zh-CN" altLang="en-US" sz="4400" b="1">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3"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34819" name="Picture 4" descr="C:\Users\Administrator\AppData\Roaming\Tencent\Users\16685809\QQ\WinTemp\RichOle\)9[P%C68PWJ[{~D%]KIAHMM.png"/>
          <p:cNvPicPr>
            <a:picLocks noChangeAspect="1"/>
          </p:cNvPicPr>
          <p:nvPr/>
        </p:nvPicPr>
        <p:blipFill>
          <a:blip r:embed="rId1"/>
          <a:stretch>
            <a:fillRect/>
          </a:stretch>
        </p:blipFill>
        <p:spPr>
          <a:xfrm>
            <a:off x="123190" y="837565"/>
            <a:ext cx="8482013" cy="4464050"/>
          </a:xfrm>
          <a:prstGeom prst="rect">
            <a:avLst/>
          </a:prstGeom>
          <a:noFill/>
          <a:ln w="9525">
            <a:noFill/>
          </a:ln>
        </p:spPr>
      </p:pic>
      <p:sp>
        <p:nvSpPr>
          <p:cNvPr id="34820" name="TextBox 4"/>
          <p:cNvSpPr txBox="1"/>
          <p:nvPr/>
        </p:nvSpPr>
        <p:spPr>
          <a:xfrm>
            <a:off x="231775" y="5227003"/>
            <a:ext cx="8264525" cy="1476375"/>
          </a:xfrm>
          <a:prstGeom prst="rect">
            <a:avLst/>
          </a:prstGeom>
          <a:noFill/>
          <a:ln w="9525">
            <a:noFill/>
          </a:ln>
        </p:spPr>
        <p:txBody>
          <a:bodyPr>
            <a:spAutoFit/>
          </a:bodyPr>
          <a:p>
            <a:r>
              <a:rPr lang="en-US" altLang="zh-CN" sz="1800" dirty="0">
                <a:latin typeface="Arial" panose="020B0604020202020204" pitchFamily="34" charset="0"/>
              </a:rPr>
              <a:t>1</a:t>
            </a:r>
            <a:r>
              <a:rPr lang="zh-CN" altLang="zh-CN" sz="1800" dirty="0">
                <a:latin typeface="Arial" panose="020B0604020202020204" pitchFamily="34" charset="0"/>
              </a:rPr>
              <a:t>波形导航、缩放和光标的多用途旋钮</a:t>
            </a:r>
            <a:endParaRPr lang="zh-CN" altLang="zh-CN" sz="1800" dirty="0">
              <a:latin typeface="Arial" panose="020B0604020202020204" pitchFamily="34" charset="0"/>
            </a:endParaRPr>
          </a:p>
          <a:p>
            <a:r>
              <a:rPr lang="en-US" altLang="zh-CN" sz="1800" dirty="0">
                <a:latin typeface="Arial" panose="020B0604020202020204" pitchFamily="34" charset="0"/>
              </a:rPr>
              <a:t>2</a:t>
            </a:r>
            <a:r>
              <a:rPr lang="zh-CN" altLang="zh-CN" sz="1800" dirty="0">
                <a:latin typeface="Arial" panose="020B0604020202020204" pitchFamily="34" charset="0"/>
              </a:rPr>
              <a:t>保存调出</a:t>
            </a:r>
            <a:r>
              <a:rPr lang="en-US" altLang="zh-CN" sz="1800" dirty="0">
                <a:latin typeface="Arial" panose="020B0604020202020204" pitchFamily="34" charset="0"/>
              </a:rPr>
              <a:t>/3</a:t>
            </a:r>
            <a:r>
              <a:rPr lang="zh-CN" altLang="zh-CN" sz="1800" dirty="0">
                <a:latin typeface="Arial" panose="020B0604020202020204" pitchFamily="34" charset="0"/>
              </a:rPr>
              <a:t>帮助</a:t>
            </a:r>
            <a:r>
              <a:rPr lang="en-US" altLang="zh-CN" sz="1800" dirty="0">
                <a:latin typeface="Arial" panose="020B0604020202020204" pitchFamily="34" charset="0"/>
              </a:rPr>
              <a:t>/4</a:t>
            </a:r>
            <a:r>
              <a:rPr lang="zh-CN" altLang="zh-CN" sz="1800" dirty="0">
                <a:latin typeface="Arial" panose="020B0604020202020204" pitchFamily="34" charset="0"/>
              </a:rPr>
              <a:t>标准信号</a:t>
            </a:r>
            <a:endParaRPr lang="zh-CN" altLang="zh-CN" sz="1800" dirty="0">
              <a:latin typeface="Arial" panose="020B0604020202020204" pitchFamily="34" charset="0"/>
            </a:endParaRPr>
          </a:p>
          <a:p>
            <a:r>
              <a:rPr lang="en-US" altLang="zh-CN" sz="1800" dirty="0">
                <a:latin typeface="Arial" panose="020B0604020202020204" pitchFamily="34" charset="0"/>
              </a:rPr>
              <a:t>5</a:t>
            </a:r>
            <a:r>
              <a:rPr lang="zh-CN" altLang="zh-CN" sz="1800" dirty="0">
                <a:latin typeface="Arial" panose="020B0604020202020204" pitchFamily="34" charset="0"/>
              </a:rPr>
              <a:t>各通道专用控制旋钮</a:t>
            </a:r>
            <a:r>
              <a:rPr lang="en-US" altLang="zh-CN" sz="1800" dirty="0">
                <a:latin typeface="Arial" panose="020B0604020202020204" pitchFamily="34" charset="0"/>
              </a:rPr>
              <a:t>/6</a:t>
            </a:r>
            <a:r>
              <a:rPr lang="zh-CN" altLang="zh-CN" sz="1800" dirty="0">
                <a:latin typeface="Arial" panose="020B0604020202020204" pitchFamily="34" charset="0"/>
              </a:rPr>
              <a:t>探头接口</a:t>
            </a:r>
            <a:endParaRPr lang="zh-CN" altLang="zh-CN" sz="1800" dirty="0">
              <a:latin typeface="Arial" panose="020B0604020202020204" pitchFamily="34" charset="0"/>
            </a:endParaRPr>
          </a:p>
          <a:p>
            <a:r>
              <a:rPr lang="en-US" altLang="zh-CN" sz="1800" dirty="0">
                <a:latin typeface="Arial" panose="020B0604020202020204" pitchFamily="34" charset="0"/>
              </a:rPr>
              <a:t>7</a:t>
            </a:r>
            <a:r>
              <a:rPr lang="zh-CN" altLang="zh-CN" sz="1800" dirty="0">
                <a:latin typeface="Arial" panose="020B0604020202020204" pitchFamily="34" charset="0"/>
              </a:rPr>
              <a:t>保存</a:t>
            </a:r>
            <a:r>
              <a:rPr lang="en-US" altLang="zh-CN" sz="1800" dirty="0">
                <a:latin typeface="Arial" panose="020B0604020202020204" pitchFamily="34" charset="0"/>
              </a:rPr>
              <a:t>/</a:t>
            </a:r>
            <a:r>
              <a:rPr lang="zh-CN" altLang="zh-CN" sz="1800" dirty="0">
                <a:latin typeface="Arial" panose="020B0604020202020204" pitchFamily="34" charset="0"/>
              </a:rPr>
              <a:t>调出用</a:t>
            </a:r>
            <a:r>
              <a:rPr lang="en-US" altLang="zh-CN" sz="1800" dirty="0">
                <a:latin typeface="Arial" panose="020B0604020202020204" pitchFamily="34" charset="0"/>
              </a:rPr>
              <a:t>USB</a:t>
            </a:r>
            <a:r>
              <a:rPr lang="zh-CN" altLang="zh-CN" sz="1800" dirty="0">
                <a:latin typeface="Arial" panose="020B0604020202020204" pitchFamily="34" charset="0"/>
              </a:rPr>
              <a:t>端口</a:t>
            </a:r>
            <a:endParaRPr lang="zh-CN" altLang="zh-CN" sz="1800" dirty="0">
              <a:latin typeface="Arial" panose="020B0604020202020204" pitchFamily="34" charset="0"/>
            </a:endParaRPr>
          </a:p>
          <a:p>
            <a:r>
              <a:rPr lang="en-US" altLang="zh-CN" sz="1800" dirty="0">
                <a:latin typeface="Arial" panose="020B0604020202020204" pitchFamily="34" charset="0"/>
              </a:rPr>
              <a:t>8</a:t>
            </a:r>
            <a:r>
              <a:rPr lang="zh-CN" altLang="zh-CN" sz="1800" dirty="0">
                <a:latin typeface="Arial" panose="020B0604020202020204" pitchFamily="34" charset="0"/>
              </a:rPr>
              <a:t>显示屏</a:t>
            </a:r>
            <a:r>
              <a:rPr lang="zh-CN" altLang="en-US" sz="1800" dirty="0">
                <a:latin typeface="Arial" panose="020B0604020202020204" pitchFamily="34" charset="0"/>
              </a:rPr>
              <a:t>、波形数学（创建数学波形、查看频率信息、显示参考波形）</a:t>
            </a:r>
            <a:endParaRPr lang="zh-CN" altLang="zh-CN" sz="1800" dirty="0">
              <a:latin typeface="Arial" panose="020B0604020202020204" pitchFamily="34" charset="0"/>
            </a:endParaRPr>
          </a:p>
        </p:txBody>
      </p:sp>
      <p:sp>
        <p:nvSpPr>
          <p:cNvPr id="2" name="矩形 1"/>
          <p:cNvSpPr/>
          <p:nvPr/>
        </p:nvSpPr>
        <p:spPr>
          <a:xfrm>
            <a:off x="5368290" y="2586355"/>
            <a:ext cx="504825" cy="21240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矩形 2"/>
          <p:cNvSpPr/>
          <p:nvPr/>
        </p:nvSpPr>
        <p:spPr>
          <a:xfrm>
            <a:off x="6141085" y="2586355"/>
            <a:ext cx="504825" cy="210756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6913880" y="2447290"/>
            <a:ext cx="504825" cy="1480820"/>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7543165" y="4342765"/>
            <a:ext cx="504825" cy="44513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7518400" y="2106930"/>
            <a:ext cx="504825" cy="290830"/>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5436870" y="5370830"/>
            <a:ext cx="3432175" cy="368300"/>
          </a:xfrm>
          <a:prstGeom prst="rect">
            <a:avLst/>
          </a:prstGeom>
          <a:noFill/>
        </p:spPr>
        <p:txBody>
          <a:bodyPr wrap="square" rtlCol="0">
            <a:spAutoFit/>
          </a:bodyPr>
          <a:p>
            <a:r>
              <a:rPr lang="zh-CN" altLang="en-US" sz="1800" b="1">
                <a:solidFill>
                  <a:srgbClr val="FF0000"/>
                </a:solidFill>
              </a:rPr>
              <a:t>纵坐标独立设置：</a:t>
            </a:r>
            <a:r>
              <a:rPr lang="zh-CN" altLang="en-US" sz="1600" b="1">
                <a:solidFill>
                  <a:srgbClr val="0000FF"/>
                </a:solidFill>
                <a:latin typeface="楷体" panose="02010609060101010101" charset="-122"/>
                <a:ea typeface="楷体" panose="02010609060101010101" charset="-122"/>
                <a:sym typeface="+mn-ea"/>
              </a:rPr>
              <a:t>位置和标度</a:t>
            </a:r>
            <a:endParaRPr lang="zh-CN" altLang="en-US" sz="1600" b="1">
              <a:solidFill>
                <a:srgbClr val="FF0000"/>
              </a:solidFill>
              <a:latin typeface="楷体" panose="02010609060101010101" charset="-122"/>
              <a:ea typeface="楷体" panose="02010609060101010101" charset="-122"/>
            </a:endParaRPr>
          </a:p>
        </p:txBody>
      </p:sp>
      <p:sp>
        <p:nvSpPr>
          <p:cNvPr id="8" name="文本框 7"/>
          <p:cNvSpPr txBox="1"/>
          <p:nvPr/>
        </p:nvSpPr>
        <p:spPr>
          <a:xfrm>
            <a:off x="6783705" y="3919220"/>
            <a:ext cx="2611120" cy="368300"/>
          </a:xfrm>
          <a:prstGeom prst="rect">
            <a:avLst/>
          </a:prstGeom>
          <a:solidFill>
            <a:schemeClr val="bg1"/>
          </a:solidFill>
        </p:spPr>
        <p:txBody>
          <a:bodyPr wrap="square" rtlCol="0">
            <a:spAutoFit/>
          </a:bodyPr>
          <a:p>
            <a:r>
              <a:rPr lang="zh-CN" altLang="en-US" b="1">
                <a:solidFill>
                  <a:srgbClr val="FF0000"/>
                </a:solidFill>
              </a:rPr>
              <a:t>横坐标共用</a:t>
            </a:r>
            <a:r>
              <a:rPr lang="en-US" altLang="zh-CN" b="1">
                <a:solidFill>
                  <a:srgbClr val="FF0000"/>
                </a:solidFill>
              </a:rPr>
              <a:t>:</a:t>
            </a:r>
            <a:r>
              <a:rPr lang="zh-CN" altLang="en-US" sz="1600" b="1">
                <a:solidFill>
                  <a:srgbClr val="0000FF"/>
                </a:solidFill>
              </a:rPr>
              <a:t>位置和标度</a:t>
            </a:r>
            <a:endParaRPr lang="zh-CN" altLang="en-US" sz="1600" b="1">
              <a:solidFill>
                <a:srgbClr val="0000FF"/>
              </a:solidFill>
            </a:endParaRPr>
          </a:p>
        </p:txBody>
      </p:sp>
      <p:sp>
        <p:nvSpPr>
          <p:cNvPr id="9" name="文本框 8"/>
          <p:cNvSpPr txBox="1"/>
          <p:nvPr/>
        </p:nvSpPr>
        <p:spPr>
          <a:xfrm>
            <a:off x="7382510" y="4859020"/>
            <a:ext cx="1486535" cy="368300"/>
          </a:xfrm>
          <a:prstGeom prst="rect">
            <a:avLst/>
          </a:prstGeom>
          <a:solidFill>
            <a:schemeClr val="bg1"/>
          </a:solidFill>
        </p:spPr>
        <p:txBody>
          <a:bodyPr wrap="square" rtlCol="0">
            <a:spAutoFit/>
          </a:bodyPr>
          <a:p>
            <a:r>
              <a:rPr lang="en-US" altLang="zh-CN" b="1">
                <a:solidFill>
                  <a:srgbClr val="FF0000"/>
                </a:solidFill>
                <a:latin typeface="Times New Roman" panose="02020603050405020304" pitchFamily="18" charset="0"/>
                <a:cs typeface="Times New Roman" panose="02020603050405020304" pitchFamily="18" charset="0"/>
              </a:rPr>
              <a:t>1kHZ</a:t>
            </a:r>
            <a:r>
              <a:rPr lang="zh-CN" altLang="en-US" b="1">
                <a:solidFill>
                  <a:srgbClr val="FF0000"/>
                </a:solidFill>
                <a:latin typeface="楷体" panose="02010609060101010101" charset="-122"/>
                <a:ea typeface="楷体" panose="02010609060101010101" charset="-122"/>
              </a:rPr>
              <a:t>正方波</a:t>
            </a:r>
            <a:endParaRPr lang="zh-CN" altLang="en-US" b="1">
              <a:solidFill>
                <a:srgbClr val="FF0000"/>
              </a:solidFill>
              <a:latin typeface="楷体" panose="02010609060101010101" charset="-122"/>
              <a:ea typeface="楷体" panose="02010609060101010101" charset="-122"/>
            </a:endParaRPr>
          </a:p>
        </p:txBody>
      </p:sp>
      <p:sp>
        <p:nvSpPr>
          <p:cNvPr id="10" name="文本框 9"/>
          <p:cNvSpPr txBox="1"/>
          <p:nvPr/>
        </p:nvSpPr>
        <p:spPr>
          <a:xfrm>
            <a:off x="7978140" y="2093595"/>
            <a:ext cx="1281430" cy="368300"/>
          </a:xfrm>
          <a:prstGeom prst="rect">
            <a:avLst/>
          </a:prstGeom>
          <a:noFill/>
        </p:spPr>
        <p:txBody>
          <a:bodyPr wrap="square" rtlCol="0">
            <a:spAutoFit/>
          </a:bodyPr>
          <a:p>
            <a:r>
              <a:rPr lang="zh-CN" altLang="en-US" b="1">
                <a:solidFill>
                  <a:srgbClr val="FF0000"/>
                </a:solidFill>
                <a:latin typeface="楷体" panose="02010609060101010101" charset="-122"/>
                <a:ea typeface="楷体" panose="02010609060101010101" charset="-122"/>
              </a:rPr>
              <a:t>自动设置</a:t>
            </a:r>
            <a:endParaRPr lang="zh-CN" altLang="en-US" b="1">
              <a:solidFill>
                <a:srgbClr val="FF0000"/>
              </a:solidFill>
              <a:latin typeface="楷体" panose="02010609060101010101" charset="-122"/>
              <a:ea typeface="楷体" panose="02010609060101010101" charset="-122"/>
            </a:endParaRPr>
          </a:p>
        </p:txBody>
      </p:sp>
      <p:sp>
        <p:nvSpPr>
          <p:cNvPr id="11" name="文本框 10"/>
          <p:cNvSpPr txBox="1"/>
          <p:nvPr>
            <p:custDataLst>
              <p:tags r:id="rId2"/>
            </p:custDataLst>
          </p:nvPr>
        </p:nvSpPr>
        <p:spPr>
          <a:xfrm>
            <a:off x="8033385" y="2938145"/>
            <a:ext cx="1281430" cy="368300"/>
          </a:xfrm>
          <a:prstGeom prst="rect">
            <a:avLst/>
          </a:prstGeom>
          <a:noFill/>
        </p:spPr>
        <p:txBody>
          <a:bodyPr wrap="square" rtlCol="0">
            <a:spAutoFit/>
          </a:bodyPr>
          <a:p>
            <a:r>
              <a:rPr lang="zh-CN" altLang="en-US" b="1">
                <a:solidFill>
                  <a:srgbClr val="FF0000"/>
                </a:solidFill>
                <a:latin typeface="楷体" panose="02010609060101010101" charset="-122"/>
                <a:ea typeface="楷体" panose="02010609060101010101" charset="-122"/>
              </a:rPr>
              <a:t>触发设置</a:t>
            </a:r>
            <a:endParaRPr lang="zh-CN" altLang="en-US" b="1">
              <a:solidFill>
                <a:srgbClr val="FF0000"/>
              </a:solidFill>
              <a:latin typeface="楷体" panose="02010609060101010101" charset="-122"/>
              <a:ea typeface="楷体" panose="02010609060101010101" charset="-122"/>
            </a:endParaRPr>
          </a:p>
        </p:txBody>
      </p:sp>
      <p:sp>
        <p:nvSpPr>
          <p:cNvPr id="12" name="文本框 11"/>
          <p:cNvSpPr txBox="1"/>
          <p:nvPr>
            <p:custDataLst>
              <p:tags r:id="rId3"/>
            </p:custDataLst>
          </p:nvPr>
        </p:nvSpPr>
        <p:spPr>
          <a:xfrm>
            <a:off x="6151245" y="1056005"/>
            <a:ext cx="1662430" cy="368300"/>
          </a:xfrm>
          <a:prstGeom prst="rect">
            <a:avLst/>
          </a:prstGeom>
          <a:solidFill>
            <a:schemeClr val="bg1"/>
          </a:solidFill>
        </p:spPr>
        <p:txBody>
          <a:bodyPr wrap="square" rtlCol="0">
            <a:spAutoFit/>
          </a:bodyPr>
          <a:p>
            <a:r>
              <a:rPr lang="zh-CN" altLang="en-US" b="1">
                <a:solidFill>
                  <a:srgbClr val="FF0000"/>
                </a:solidFill>
                <a:latin typeface="楷体" panose="02010609060101010101" charset="-122"/>
                <a:ea typeface="楷体" panose="02010609060101010101" charset="-122"/>
              </a:rPr>
              <a:t>测量信息</a:t>
            </a:r>
            <a:r>
              <a:rPr lang="zh-CN" altLang="en-US" b="1">
                <a:solidFill>
                  <a:srgbClr val="FF0000"/>
                </a:solidFill>
                <a:latin typeface="楷体" panose="02010609060101010101" charset="-122"/>
                <a:ea typeface="楷体" panose="02010609060101010101" charset="-122"/>
              </a:rPr>
              <a:t>设置</a:t>
            </a:r>
            <a:endParaRPr lang="zh-CN" altLang="en-US" b="1">
              <a:solidFill>
                <a:srgbClr val="FF0000"/>
              </a:solidFill>
              <a:latin typeface="楷体" panose="02010609060101010101" charset="-122"/>
              <a:ea typeface="楷体" panose="02010609060101010101" charset="-122"/>
            </a:endParaRPr>
          </a:p>
        </p:txBody>
      </p:sp>
      <p:sp>
        <p:nvSpPr>
          <p:cNvPr id="13" name="矩形 12"/>
          <p:cNvSpPr/>
          <p:nvPr/>
        </p:nvSpPr>
        <p:spPr>
          <a:xfrm>
            <a:off x="6372225" y="1482725"/>
            <a:ext cx="575945" cy="287655"/>
          </a:xfrm>
          <a:prstGeom prst="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custDataLst>
              <p:tags r:id="rId4"/>
            </p:custDataLst>
          </p:nvPr>
        </p:nvSpPr>
        <p:spPr>
          <a:xfrm>
            <a:off x="7510145" y="2447925"/>
            <a:ext cx="504825" cy="1447800"/>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custDataLst>
              <p:tags r:id="rId5"/>
            </p:custDataLst>
          </p:nvPr>
        </p:nvSpPr>
        <p:spPr>
          <a:xfrm>
            <a:off x="510540" y="22225"/>
            <a:ext cx="6667500" cy="845185"/>
          </a:xfrm>
          <a:prstGeom prst="rect">
            <a:avLst/>
          </a:prstGeom>
          <a:noFill/>
        </p:spPr>
        <p:txBody>
          <a:bodyPr wrap="square" rtlCol="0" anchor="t">
            <a:noAutofit/>
          </a:bodyPr>
          <a:p>
            <a:r>
              <a:rPr lang="zh-CN" altLang="en-US" sz="4400" b="1">
                <a:solidFill>
                  <a:srgbClr val="FF0000"/>
                </a:solidFill>
              </a:rPr>
              <a:t>示波器</a:t>
            </a:r>
            <a:r>
              <a:rPr lang="zh-CN" altLang="en-US" sz="4400" b="1">
                <a:solidFill>
                  <a:srgbClr val="FF0000"/>
                </a:solidFill>
                <a:latin typeface="Times New Roman" panose="02020603050405020304" pitchFamily="18" charset="0"/>
                <a:cs typeface="Times New Roman" panose="02020603050405020304" pitchFamily="18" charset="0"/>
              </a:rPr>
              <a:t>TBS1000C</a:t>
            </a:r>
            <a:r>
              <a:rPr lang="en-US" altLang="zh-CN" sz="4400" b="1">
                <a:solidFill>
                  <a:srgbClr val="FF0000"/>
                </a:solidFill>
                <a:latin typeface="Times New Roman" panose="02020603050405020304" pitchFamily="18" charset="0"/>
                <a:cs typeface="Times New Roman" panose="02020603050405020304" pitchFamily="18" charset="0"/>
              </a:rPr>
              <a:t>-</a:t>
            </a:r>
            <a:r>
              <a:rPr lang="zh-CN" altLang="en-US" sz="4400" b="1">
                <a:solidFill>
                  <a:srgbClr val="0000FF"/>
                </a:solidFill>
                <a:latin typeface="Times New Roman" panose="02020603050405020304" pitchFamily="18" charset="0"/>
                <a:cs typeface="Times New Roman" panose="02020603050405020304" pitchFamily="18" charset="0"/>
              </a:rPr>
              <a:t>双</a:t>
            </a:r>
            <a:r>
              <a:rPr lang="zh-CN" altLang="en-US" sz="4400" b="1">
                <a:solidFill>
                  <a:srgbClr val="0000FF"/>
                </a:solidFill>
                <a:latin typeface="Times New Roman" panose="02020603050405020304" pitchFamily="18" charset="0"/>
                <a:cs typeface="Times New Roman" panose="02020603050405020304" pitchFamily="18" charset="0"/>
              </a:rPr>
              <a:t>通道</a:t>
            </a:r>
            <a:endParaRPr lang="zh-CN" altLang="en-US" sz="4400" b="1">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down)">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down)">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down)">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anim calcmode="lin" valueType="num">
                                      <p:cBhvr additive="base">
                                        <p:cTn id="67" dur="500" fill="hold"/>
                                        <p:tgtEl>
                                          <p:spTgt spid="5"/>
                                        </p:tgtEl>
                                        <p:attrNameLst>
                                          <p:attrName>ppt_x</p:attrName>
                                        </p:attrNameLst>
                                      </p:cBhvr>
                                      <p:tavLst>
                                        <p:tav tm="0">
                                          <p:val>
                                            <p:strVal val="#ppt_x"/>
                                          </p:val>
                                        </p:tav>
                                        <p:tav tm="100000">
                                          <p:val>
                                            <p:strVal val="#ppt_x"/>
                                          </p:val>
                                        </p:tav>
                                      </p:tavLst>
                                    </p:anim>
                                    <p:anim calcmode="lin" valueType="num">
                                      <p:cBhvr additive="base">
                                        <p:cTn id="6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wipe(down)">
                                      <p:cBhvr>
                                        <p:cTn id="7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bldLvl="0" animBg="1"/>
      <p:bldP spid="7" grpId="0"/>
      <p:bldP spid="8" grpId="0" bldLvl="0" animBg="1"/>
      <p:bldP spid="10" grpId="0"/>
      <p:bldP spid="11" grpId="0"/>
      <p:bldP spid="12" grpId="0" bldLvl="0" animBg="1"/>
      <p:bldP spid="13" grpId="0" bldLvl="0" animBg="1"/>
      <p:bldP spid="9" grpId="0" bldLvl="0" animBg="1"/>
      <p:bldP spid="14"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5122" name="图片 1"/>
          <p:cNvPicPr>
            <a:picLocks noChangeAspect="1"/>
          </p:cNvPicPr>
          <p:nvPr/>
        </p:nvPicPr>
        <p:blipFill>
          <a:blip r:embed="rId1"/>
          <a:stretch>
            <a:fillRect/>
          </a:stretch>
        </p:blipFill>
        <p:spPr>
          <a:xfrm>
            <a:off x="396875" y="923925"/>
            <a:ext cx="4184650" cy="4097338"/>
          </a:xfrm>
          <a:prstGeom prst="rect">
            <a:avLst/>
          </a:prstGeom>
          <a:noFill/>
          <a:ln w="9525">
            <a:noFill/>
          </a:ln>
        </p:spPr>
      </p:pic>
      <p:cxnSp>
        <p:nvCxnSpPr>
          <p:cNvPr id="4" name="肘形连接符 3"/>
          <p:cNvCxnSpPr/>
          <p:nvPr/>
        </p:nvCxnSpPr>
        <p:spPr>
          <a:xfrm>
            <a:off x="2989263" y="3552190"/>
            <a:ext cx="3073400" cy="2122488"/>
          </a:xfrm>
          <a:prstGeom prst="bentConnector3">
            <a:avLst>
              <a:gd name="adj1" fmla="val 57426"/>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6" name="矩形 5"/>
          <p:cNvSpPr/>
          <p:nvPr/>
        </p:nvSpPr>
        <p:spPr>
          <a:xfrm>
            <a:off x="1404938" y="3389313"/>
            <a:ext cx="1584325" cy="585788"/>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125" name="文本框 6"/>
          <p:cNvSpPr txBox="1"/>
          <p:nvPr/>
        </p:nvSpPr>
        <p:spPr>
          <a:xfrm>
            <a:off x="6062663" y="4583430"/>
            <a:ext cx="2241550" cy="1630045"/>
          </a:xfrm>
          <a:prstGeom prst="rect">
            <a:avLst/>
          </a:prstGeom>
          <a:noFill/>
          <a:ln w="25400" cap="flat" cmpd="sng">
            <a:solidFill>
              <a:srgbClr val="FF3300"/>
            </a:solidFill>
            <a:prstDash val="solid"/>
            <a:round/>
            <a:headEnd type="none" w="med" len="med"/>
            <a:tailEnd type="none" w="med" len="med"/>
          </a:ln>
        </p:spPr>
        <p:txBody>
          <a:bodyPr wrap="square" anchor="t" anchorCtr="0">
            <a:spAutoFit/>
          </a:bodyPr>
          <a:p>
            <a:r>
              <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Vertical Scale</a:t>
            </a:r>
            <a:endParaRPr lang="zh-CN" altLang="en-US"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a:latin typeface="Arial" panose="020B0604020202020204" pitchFamily="34" charset="0"/>
                <a:ea typeface="宋体" panose="02010600030101010101" pitchFamily="2" charset="-122"/>
              </a:rPr>
              <a:t>（</a:t>
            </a:r>
            <a:r>
              <a:rPr lang="zh-CN" altLang="en-US" sz="2000" b="1">
                <a:solidFill>
                  <a:srgbClr val="FF0000"/>
                </a:solidFill>
                <a:latin typeface="Arial" panose="020B0604020202020204" pitchFamily="34" charset="0"/>
                <a:ea typeface="宋体" panose="02010600030101010101" pitchFamily="2" charset="-122"/>
              </a:rPr>
              <a:t>垂直标度</a:t>
            </a:r>
            <a:r>
              <a:rPr lang="zh-CN" altLang="en-US" sz="2000">
                <a:latin typeface="Arial" panose="020B0604020202020204" pitchFamily="34" charset="0"/>
                <a:ea typeface="宋体" panose="02010600030101010101" pitchFamily="2" charset="-122"/>
              </a:rPr>
              <a:t>）</a:t>
            </a:r>
            <a:endParaRPr lang="zh-CN" altLang="en-US" sz="2000">
              <a:latin typeface="Arial" panose="020B0604020202020204" pitchFamily="34" charset="0"/>
              <a:ea typeface="宋体" panose="02010600030101010101" pitchFamily="2" charset="-122"/>
            </a:endParaRPr>
          </a:p>
          <a:p>
            <a:r>
              <a:rPr lang="zh-CN" altLang="en-US" sz="2000">
                <a:latin typeface="楷体" panose="02010609060101010101" charset="-122"/>
                <a:ea typeface="楷体" panose="02010609060101010101" charset="-122"/>
                <a:cs typeface="楷体" panose="02010609060101010101" charset="-122"/>
              </a:rPr>
              <a:t>通道设置垂直标度（伏特或单位/每垂直刻度格）</a:t>
            </a:r>
            <a:endParaRPr lang="zh-CN" altLang="en-US" sz="2000">
              <a:latin typeface="楷体" panose="02010609060101010101" charset="-122"/>
              <a:ea typeface="楷体" panose="02010609060101010101" charset="-122"/>
              <a:cs typeface="楷体" panose="02010609060101010101" charset="-122"/>
            </a:endParaRPr>
          </a:p>
        </p:txBody>
      </p:sp>
      <p:sp>
        <p:nvSpPr>
          <p:cNvPr id="5126" name="文本框 7"/>
          <p:cNvSpPr txBox="1"/>
          <p:nvPr/>
        </p:nvSpPr>
        <p:spPr>
          <a:xfrm>
            <a:off x="6059805" y="2084070"/>
            <a:ext cx="3027045" cy="2014855"/>
          </a:xfrm>
          <a:prstGeom prst="rect">
            <a:avLst/>
          </a:prstGeom>
          <a:noFill/>
          <a:ln w="31750" cap="flat" cmpd="sng">
            <a:solidFill>
              <a:srgbClr val="FF3300"/>
            </a:solidFill>
            <a:prstDash val="solid"/>
            <a:round/>
            <a:headEnd type="none" w="med" len="med"/>
            <a:tailEnd type="none" w="med" len="med"/>
          </a:ln>
        </p:spPr>
        <p:txBody>
          <a:bodyPr wrap="square" anchor="t" anchorCtr="0">
            <a:spAutoFit/>
          </a:bodyPr>
          <a:p>
            <a:pPr>
              <a:lnSpc>
                <a:spcPct val="125000"/>
              </a:lnSpc>
            </a:pPr>
            <a:r>
              <a:rPr lang="zh-CN" altLang="en-US" sz="2000" b="1">
                <a:solidFill>
                  <a:srgbClr val="FF0000"/>
                </a:solidFill>
                <a:latin typeface="Arial" panose="020B0604020202020204" pitchFamily="34" charset="0"/>
                <a:ea typeface="宋体" panose="02010600030101010101" pitchFamily="2" charset="-122"/>
              </a:rPr>
              <a:t>菜单按钮</a:t>
            </a:r>
            <a:endParaRPr lang="zh-CN" altLang="en-US" sz="2000" b="1">
              <a:solidFill>
                <a:srgbClr val="FF0000"/>
              </a:solidFill>
              <a:latin typeface="Arial" panose="020B0604020202020204" pitchFamily="34" charset="0"/>
              <a:ea typeface="宋体" panose="02010600030101010101" pitchFamily="2" charset="-122"/>
            </a:endParaRPr>
          </a:p>
          <a:p>
            <a:pPr>
              <a:lnSpc>
                <a:spcPct val="125000"/>
              </a:lnSpc>
            </a:pPr>
            <a:r>
              <a:rPr lang="zh-CN" altLang="en-US" sz="2000">
                <a:solidFill>
                  <a:srgbClr val="FF0000"/>
                </a:solidFill>
                <a:latin typeface="楷体" panose="02010609060101010101" charset="-122"/>
                <a:ea typeface="楷体" panose="02010609060101010101" charset="-122"/>
                <a:cs typeface="楷体" panose="02010609060101010101" charset="-122"/>
                <a:sym typeface="+mn-ea"/>
              </a:rPr>
              <a:t>通道设置垂直参数</a:t>
            </a:r>
            <a:r>
              <a:rPr lang="en-US" altLang="zh-CN" sz="2000">
                <a:solidFill>
                  <a:srgbClr val="FF0000"/>
                </a:solidFill>
                <a:latin typeface="楷体" panose="02010609060101010101" charset="-122"/>
                <a:ea typeface="楷体" panose="02010609060101010101" charset="-122"/>
                <a:cs typeface="楷体" panose="02010609060101010101" charset="-122"/>
                <a:sym typeface="+mn-ea"/>
              </a:rPr>
              <a:t>:</a:t>
            </a:r>
            <a:endParaRPr lang="zh-CN" altLang="en-US" sz="2000">
              <a:latin typeface="楷体" panose="02010609060101010101" charset="-122"/>
              <a:ea typeface="楷体" panose="02010609060101010101" charset="-122"/>
              <a:cs typeface="楷体" panose="02010609060101010101" charset="-122"/>
            </a:endParaRPr>
          </a:p>
          <a:p>
            <a:pPr>
              <a:lnSpc>
                <a:spcPct val="125000"/>
              </a:lnSpc>
            </a:pPr>
            <a:r>
              <a:rPr lang="zh-CN" altLang="en-US" sz="2000">
                <a:latin typeface="楷体" panose="02010609060101010101" charset="-122"/>
                <a:ea typeface="楷体" panose="02010609060101010101" charset="-122"/>
              </a:rPr>
              <a:t>信号耦合</a:t>
            </a:r>
            <a:r>
              <a:rPr lang="en-US" altLang="zh-CN" sz="2000">
                <a:latin typeface="楷体" panose="02010609060101010101" charset="-122"/>
                <a:ea typeface="楷体" panose="02010609060101010101" charset="-122"/>
              </a:rPr>
              <a:t>:</a:t>
            </a:r>
            <a:r>
              <a:rPr lang="zh-CN" altLang="en-US" sz="1600" b="1">
                <a:solidFill>
                  <a:srgbClr val="FF0000"/>
                </a:solidFill>
                <a:latin typeface="楷体" panose="02010609060101010101" charset="-122"/>
                <a:ea typeface="楷体" panose="02010609060101010101" charset="-122"/>
              </a:rPr>
              <a:t>直流</a:t>
            </a:r>
            <a:r>
              <a:rPr lang="en-US" altLang="zh-CN" sz="1600" b="1">
                <a:solidFill>
                  <a:srgbClr val="FF0000"/>
                </a:solidFill>
                <a:latin typeface="楷体" panose="02010609060101010101" charset="-122"/>
                <a:ea typeface="楷体" panose="02010609060101010101" charset="-122"/>
              </a:rPr>
              <a:t>/</a:t>
            </a:r>
            <a:r>
              <a:rPr lang="zh-CN" altLang="en-US" sz="1600" b="1">
                <a:solidFill>
                  <a:srgbClr val="FF0000"/>
                </a:solidFill>
                <a:latin typeface="楷体" panose="02010609060101010101" charset="-122"/>
                <a:ea typeface="楷体" panose="02010609060101010101" charset="-122"/>
              </a:rPr>
              <a:t>交流</a:t>
            </a:r>
            <a:r>
              <a:rPr lang="en-US" altLang="zh-CN" sz="1600" b="1">
                <a:solidFill>
                  <a:srgbClr val="FF0000"/>
                </a:solidFill>
                <a:latin typeface="楷体" panose="02010609060101010101" charset="-122"/>
                <a:ea typeface="楷体" panose="02010609060101010101" charset="-122"/>
              </a:rPr>
              <a:t>/</a:t>
            </a:r>
            <a:r>
              <a:rPr lang="zh-CN" altLang="en-US" sz="1600" b="1">
                <a:solidFill>
                  <a:srgbClr val="FF0000"/>
                </a:solidFill>
                <a:latin typeface="楷体" panose="02010609060101010101" charset="-122"/>
                <a:ea typeface="楷体" panose="02010609060101010101" charset="-122"/>
              </a:rPr>
              <a:t>接地</a:t>
            </a:r>
            <a:endParaRPr lang="zh-CN" altLang="en-US" sz="1600">
              <a:solidFill>
                <a:srgbClr val="FF0000"/>
              </a:solidFill>
              <a:latin typeface="楷体" panose="02010609060101010101" charset="-122"/>
              <a:ea typeface="楷体" panose="02010609060101010101" charset="-122"/>
            </a:endParaRPr>
          </a:p>
          <a:p>
            <a:pPr>
              <a:lnSpc>
                <a:spcPct val="125000"/>
              </a:lnSpc>
            </a:pPr>
            <a:r>
              <a:rPr lang="zh-CN" altLang="en-US" sz="2000">
                <a:latin typeface="楷体" panose="02010609060101010101" charset="-122"/>
                <a:ea typeface="楷体" panose="02010609060101010101" charset="-122"/>
              </a:rPr>
              <a:t>探头衰减和类型</a:t>
            </a:r>
            <a:r>
              <a:rPr lang="en-US" altLang="zh-CN" sz="2000">
                <a:latin typeface="楷体" panose="02010609060101010101" charset="-122"/>
                <a:ea typeface="楷体" panose="02010609060101010101" charset="-122"/>
              </a:rPr>
              <a:t>:</a:t>
            </a:r>
            <a:r>
              <a:rPr lang="en-US" altLang="zh-CN" sz="1600" b="1">
                <a:solidFill>
                  <a:srgbClr val="FF0000"/>
                </a:solidFill>
                <a:latin typeface="Times New Roman" panose="02020603050405020304" pitchFamily="18" charset="0"/>
                <a:ea typeface="楷体" panose="02010609060101010101" charset="-122"/>
                <a:cs typeface="Times New Roman" panose="02020603050405020304" pitchFamily="18" charset="0"/>
              </a:rPr>
              <a:t>10X</a:t>
            </a:r>
            <a:r>
              <a:rPr lang="en-US" altLang="zh-CN" sz="1600">
                <a:latin typeface="Times New Roman" panose="02020603050405020304" pitchFamily="18" charset="0"/>
                <a:ea typeface="楷体" panose="02010609060101010101" charset="-122"/>
                <a:cs typeface="Times New Roman" panose="02020603050405020304" pitchFamily="18" charset="0"/>
              </a:rPr>
              <a:t>(</a:t>
            </a:r>
            <a:r>
              <a:rPr lang="zh-CN" altLang="en-US" sz="1600">
                <a:latin typeface="Times New Roman" panose="02020603050405020304" pitchFamily="18" charset="0"/>
                <a:ea typeface="楷体" panose="02010609060101010101" charset="-122"/>
                <a:cs typeface="Times New Roman" panose="02020603050405020304" pitchFamily="18" charset="0"/>
              </a:rPr>
              <a:t>默认</a:t>
            </a:r>
            <a:r>
              <a:rPr lang="en-US" altLang="zh-CN" sz="1600">
                <a:latin typeface="Times New Roman" panose="02020603050405020304" pitchFamily="18" charset="0"/>
                <a:ea typeface="楷体" panose="02010609060101010101" charset="-122"/>
                <a:cs typeface="Times New Roman" panose="02020603050405020304" pitchFamily="18" charset="0"/>
              </a:rPr>
              <a:t>)</a:t>
            </a:r>
            <a:endParaRPr lang="zh-CN" altLang="en-US" sz="1800">
              <a:latin typeface="楷体" panose="02010609060101010101" charset="-122"/>
              <a:ea typeface="楷体" panose="02010609060101010101" charset="-122"/>
            </a:endParaRPr>
          </a:p>
          <a:p>
            <a:pPr>
              <a:lnSpc>
                <a:spcPct val="125000"/>
              </a:lnSpc>
            </a:pPr>
            <a:r>
              <a:rPr lang="zh-CN" altLang="en-US" sz="2000">
                <a:latin typeface="楷体" panose="02010609060101010101" charset="-122"/>
                <a:ea typeface="楷体" panose="02010609060101010101" charset="-122"/>
                <a:sym typeface="+mn-ea"/>
              </a:rPr>
              <a:t>带宽</a:t>
            </a:r>
            <a:r>
              <a:rPr lang="en-US" altLang="zh-CN" sz="2000">
                <a:latin typeface="楷体" panose="02010609060101010101" charset="-122"/>
                <a:ea typeface="楷体" panose="02010609060101010101" charset="-122"/>
                <a:sym typeface="+mn-ea"/>
              </a:rPr>
              <a:t>/</a:t>
            </a:r>
            <a:r>
              <a:rPr lang="zh-CN" altLang="en-US" sz="2000">
                <a:latin typeface="楷体" panose="02010609060101010101" charset="-122"/>
                <a:ea typeface="楷体" panose="02010609060101010101" charset="-122"/>
              </a:rPr>
              <a:t>侧面菜单</a:t>
            </a:r>
            <a:endParaRPr lang="zh-CN" altLang="en-US" sz="2000">
              <a:latin typeface="Arial" panose="020B0604020202020204" pitchFamily="34" charset="0"/>
              <a:ea typeface="宋体" panose="02010600030101010101" pitchFamily="2" charset="-122"/>
            </a:endParaRPr>
          </a:p>
        </p:txBody>
      </p:sp>
      <p:sp>
        <p:nvSpPr>
          <p:cNvPr id="9" name="矩形 8"/>
          <p:cNvSpPr/>
          <p:nvPr/>
        </p:nvSpPr>
        <p:spPr>
          <a:xfrm>
            <a:off x="1404938" y="2946400"/>
            <a:ext cx="158432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10" name="肘形连接符 9"/>
          <p:cNvCxnSpPr/>
          <p:nvPr/>
        </p:nvCxnSpPr>
        <p:spPr>
          <a:xfrm>
            <a:off x="3038793" y="3088323"/>
            <a:ext cx="3024188" cy="3175"/>
          </a:xfrm>
          <a:prstGeom prst="bentConnector2">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5129" name="文本框 10"/>
          <p:cNvSpPr txBox="1"/>
          <p:nvPr/>
        </p:nvSpPr>
        <p:spPr>
          <a:xfrm>
            <a:off x="6067425" y="762635"/>
            <a:ext cx="2938145" cy="983615"/>
          </a:xfrm>
          <a:prstGeom prst="rect">
            <a:avLst/>
          </a:prstGeom>
          <a:noFill/>
          <a:ln w="25400" cap="flat" cmpd="sng">
            <a:solidFill>
              <a:srgbClr val="FF0000"/>
            </a:solidFill>
            <a:prstDash val="solid"/>
            <a:round/>
            <a:headEnd type="none" w="med" len="med"/>
            <a:tailEnd type="none" w="med" len="med"/>
          </a:ln>
        </p:spPr>
        <p:txBody>
          <a:bodyPr wrap="square" anchor="t" anchorCtr="0">
            <a:spAutoFit/>
          </a:bodyPr>
          <a:p>
            <a:r>
              <a:rPr lang="zh-CN" altLang="en-US" sz="22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Vertical Position</a:t>
            </a:r>
            <a:endParaRPr lang="zh-CN" altLang="en-US" sz="22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800">
                <a:latin typeface="Arial" panose="020B0604020202020204" pitchFamily="34" charset="0"/>
                <a:ea typeface="宋体" panose="02010600030101010101" pitchFamily="2" charset="-122"/>
              </a:rPr>
              <a:t>（</a:t>
            </a:r>
            <a:r>
              <a:rPr lang="zh-CN" altLang="en-US" sz="1800" b="1">
                <a:solidFill>
                  <a:srgbClr val="FF0000"/>
                </a:solidFill>
                <a:latin typeface="Arial" panose="020B0604020202020204" pitchFamily="34" charset="0"/>
                <a:ea typeface="宋体" panose="02010600030101010101" pitchFamily="2" charset="-122"/>
              </a:rPr>
              <a:t>垂直位置</a:t>
            </a:r>
            <a:r>
              <a:rPr lang="zh-CN" altLang="en-US" sz="1800">
                <a:latin typeface="Arial" panose="020B0604020202020204" pitchFamily="34" charset="0"/>
                <a:ea typeface="宋体" panose="02010600030101010101" pitchFamily="2" charset="-122"/>
              </a:rPr>
              <a:t>）</a:t>
            </a:r>
            <a:endParaRPr lang="zh-CN" altLang="en-US" sz="1800">
              <a:latin typeface="Arial" panose="020B0604020202020204" pitchFamily="34" charset="0"/>
              <a:ea typeface="宋体" panose="02010600030101010101" pitchFamily="2" charset="-122"/>
            </a:endParaRPr>
          </a:p>
          <a:p>
            <a:r>
              <a:rPr lang="zh-CN" altLang="en-US" sz="1800">
                <a:latin typeface="楷体" panose="02010609060101010101" charset="-122"/>
                <a:ea typeface="楷体" panose="02010609060101010101" charset="-122"/>
              </a:rPr>
              <a:t>通道波形调整垂直</a:t>
            </a:r>
            <a:r>
              <a:rPr lang="zh-CN" altLang="en-US" sz="1800">
                <a:latin typeface="楷体" panose="02010609060101010101" charset="-122"/>
                <a:ea typeface="楷体" panose="02010609060101010101" charset="-122"/>
              </a:rPr>
              <a:t>显示位置</a:t>
            </a:r>
            <a:endParaRPr lang="zh-CN" altLang="en-US" sz="1800">
              <a:latin typeface="楷体" panose="02010609060101010101" charset="-122"/>
              <a:ea typeface="楷体" panose="02010609060101010101" charset="-122"/>
            </a:endParaRPr>
          </a:p>
        </p:txBody>
      </p:sp>
      <p:sp>
        <p:nvSpPr>
          <p:cNvPr id="12" name="矩形 11"/>
          <p:cNvSpPr/>
          <p:nvPr/>
        </p:nvSpPr>
        <p:spPr>
          <a:xfrm>
            <a:off x="1404938" y="2505075"/>
            <a:ext cx="1584325" cy="346075"/>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13" name="肘形连接符 12"/>
          <p:cNvCxnSpPr/>
          <p:nvPr/>
        </p:nvCxnSpPr>
        <p:spPr>
          <a:xfrm flipV="1">
            <a:off x="3011805" y="1225868"/>
            <a:ext cx="3051175" cy="1330325"/>
          </a:xfrm>
          <a:prstGeom prst="bentConnector3">
            <a:avLst>
              <a:gd name="adj1" fmla="val 57773"/>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15" name="文本框 14"/>
          <p:cNvSpPr txBox="1"/>
          <p:nvPr>
            <p:custDataLst>
              <p:tags r:id="rId2"/>
            </p:custDataLst>
          </p:nvPr>
        </p:nvSpPr>
        <p:spPr>
          <a:xfrm>
            <a:off x="510540" y="22225"/>
            <a:ext cx="6667500" cy="845185"/>
          </a:xfrm>
          <a:prstGeom prst="rect">
            <a:avLst/>
          </a:prstGeom>
          <a:noFill/>
        </p:spPr>
        <p:txBody>
          <a:bodyPr wrap="square" rtlCol="0" anchor="t">
            <a:noAutofit/>
          </a:bodyPr>
          <a:p>
            <a:r>
              <a:rPr lang="en-US" altLang="zh-CN" sz="36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3600" b="1">
                <a:solidFill>
                  <a:srgbClr val="FF0000"/>
                </a:solidFill>
                <a:latin typeface="微软雅黑" panose="020B0503020204020204" charset="-122"/>
                <a:ea typeface="微软雅黑" panose="020B0503020204020204" charset="-122"/>
                <a:cs typeface="微软雅黑" panose="020B0503020204020204" charset="-122"/>
              </a:rPr>
              <a:t>、纵坐标</a:t>
            </a:r>
            <a:endParaRPr lang="zh-CN" altLang="en-US" sz="36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170815" y="4511675"/>
            <a:ext cx="1913890" cy="398780"/>
          </a:xfrm>
          <a:prstGeom prst="rect">
            <a:avLst/>
          </a:prstGeom>
          <a:solidFill>
            <a:schemeClr val="bg1"/>
          </a:solidFill>
        </p:spPr>
        <p:txBody>
          <a:bodyPr wrap="square" rtlCol="0">
            <a:spAutoFit/>
          </a:bodyPr>
          <a:p>
            <a:r>
              <a:rPr lang="zh-CN" altLang="en-US" sz="2000" b="1">
                <a:solidFill>
                  <a:srgbClr val="FF0000"/>
                </a:solidFill>
              </a:rPr>
              <a:t>屏幕菜单开关</a:t>
            </a:r>
            <a:endParaRPr lang="zh-CN" altLang="en-US" sz="2000" b="1">
              <a:solidFill>
                <a:srgbClr val="FF0000"/>
              </a:solidFill>
            </a:endParaRPr>
          </a:p>
        </p:txBody>
      </p:sp>
      <p:grpSp>
        <p:nvGrpSpPr>
          <p:cNvPr id="49" name="组合 48"/>
          <p:cNvGrpSpPr/>
          <p:nvPr/>
        </p:nvGrpSpPr>
        <p:grpSpPr>
          <a:xfrm>
            <a:off x="5335270" y="549275"/>
            <a:ext cx="3642993" cy="4090035"/>
            <a:chOff x="8117536" y="1745785"/>
            <a:chExt cx="2704609" cy="3600107"/>
          </a:xfrm>
        </p:grpSpPr>
        <p:pic>
          <p:nvPicPr>
            <p:cNvPr id="46" name="图片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7536" y="1745785"/>
              <a:ext cx="2700080" cy="3600107"/>
            </a:xfrm>
            <a:prstGeom prst="rect">
              <a:avLst/>
            </a:prstGeom>
          </p:spPr>
        </p:pic>
        <p:sp>
          <p:nvSpPr>
            <p:cNvPr id="47" name="矩形 46"/>
            <p:cNvSpPr/>
            <p:nvPr/>
          </p:nvSpPr>
          <p:spPr>
            <a:xfrm>
              <a:off x="9961384" y="2276872"/>
              <a:ext cx="686406" cy="513662"/>
            </a:xfrm>
            <a:prstGeom prst="rect">
              <a:avLst/>
            </a:prstGeom>
          </p:spPr>
          <p:style>
            <a:lnRef idx="3">
              <a:schemeClr val="lt1"/>
            </a:lnRef>
            <a:fillRef idx="1">
              <a:schemeClr val="accent1"/>
            </a:fillRef>
            <a:effectRef idx="1">
              <a:schemeClr val="accent1"/>
            </a:effectRef>
            <a:fontRef idx="minor">
              <a:schemeClr val="lt1"/>
            </a:fontRef>
          </p:style>
          <p:txBody>
            <a:bodyPr wrap="square" lIns="91440" tIns="45720" rIns="91440" bIns="45720">
              <a:spAutoFit/>
            </a:bodyPr>
            <a:p>
              <a:pPr algn="ctr"/>
              <a:r>
                <a:rPr lang="en-US" altLang="zh-CN" sz="3200" b="1" dirty="0" smtClean="0">
                  <a:ln w="9525">
                    <a:solidFill>
                      <a:schemeClr val="bg1"/>
                    </a:solidFill>
                    <a:prstDash val="solid"/>
                  </a:ln>
                  <a:solidFill>
                    <a:schemeClr val="tx1"/>
                  </a:solidFill>
                  <a:effectLst>
                    <a:outerShdw blurRad="12700" dist="38100" dir="2700000" algn="tl" rotWithShape="0">
                      <a:schemeClr val="bg1">
                        <a:lumMod val="50000"/>
                      </a:schemeClr>
                    </a:outerShdw>
                  </a:effectLst>
                </a:rPr>
                <a:t>1X</a:t>
              </a:r>
              <a:endParaRPr lang="en-US" altLang="zh-CN" sz="3200" b="1" dirty="0" smtClean="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48" name="矩形 47"/>
            <p:cNvSpPr/>
            <p:nvPr/>
          </p:nvSpPr>
          <p:spPr>
            <a:xfrm>
              <a:off x="9908112" y="4111874"/>
              <a:ext cx="914033" cy="513662"/>
            </a:xfrm>
            <a:prstGeom prst="rect">
              <a:avLst/>
            </a:prstGeom>
          </p:spPr>
          <p:style>
            <a:lnRef idx="3">
              <a:schemeClr val="lt1"/>
            </a:lnRef>
            <a:fillRef idx="1">
              <a:schemeClr val="accent2"/>
            </a:fillRef>
            <a:effectRef idx="1">
              <a:schemeClr val="accent2"/>
            </a:effectRef>
            <a:fontRef idx="minor">
              <a:schemeClr val="lt1"/>
            </a:fontRef>
          </p:style>
          <p:txBody>
            <a:bodyPr wrap="square" lIns="91440" tIns="45720" rIns="91440" bIns="45720">
              <a:spAutoFit/>
            </a:bodyPr>
            <a:p>
              <a:pPr algn="ctr"/>
              <a:r>
                <a:rPr lang="en-US" altLang="zh-CN" sz="3200" b="1" dirty="0" smtClean="0">
                  <a:ln w="9525">
                    <a:solidFill>
                      <a:schemeClr val="bg1"/>
                    </a:solidFill>
                    <a:prstDash val="solid"/>
                  </a:ln>
                  <a:solidFill>
                    <a:schemeClr val="tx1"/>
                  </a:solidFill>
                  <a:effectLst>
                    <a:outerShdw blurRad="12700" dist="38100" dir="2700000" algn="tl" rotWithShape="0">
                      <a:schemeClr val="bg1">
                        <a:lumMod val="50000"/>
                      </a:schemeClr>
                    </a:outerShdw>
                  </a:effectLst>
                </a:rPr>
                <a:t>10X</a:t>
              </a:r>
              <a:endParaRPr lang="en-US" altLang="zh-CN" sz="3200" b="1" dirty="0" smtClean="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grpSp>
      <p:sp>
        <p:nvSpPr>
          <p:cNvPr id="3" name="文本框 2"/>
          <p:cNvSpPr txBox="1"/>
          <p:nvPr/>
        </p:nvSpPr>
        <p:spPr>
          <a:xfrm>
            <a:off x="5436235" y="2708910"/>
            <a:ext cx="776605" cy="937260"/>
          </a:xfrm>
          <a:prstGeom prst="rect">
            <a:avLst/>
          </a:prstGeom>
          <a:noFill/>
        </p:spPr>
        <p:txBody>
          <a:bodyPr wrap="square" rtlCol="0">
            <a:spAutoFit/>
          </a:bodyPr>
          <a:p>
            <a:r>
              <a:rPr lang="en-US" altLang="zh-CN" sz="5500">
                <a:solidFill>
                  <a:srgbClr val="FF0000"/>
                </a:solidFill>
              </a:rPr>
              <a:t>+</a:t>
            </a:r>
            <a:endParaRPr lang="en-US" altLang="zh-CN" sz="5500">
              <a:solidFill>
                <a:srgbClr val="FF0000"/>
              </a:solidFill>
            </a:endParaRPr>
          </a:p>
        </p:txBody>
      </p:sp>
      <p:sp>
        <p:nvSpPr>
          <p:cNvPr id="7" name="文本框 6"/>
          <p:cNvSpPr txBox="1"/>
          <p:nvPr/>
        </p:nvSpPr>
        <p:spPr>
          <a:xfrm>
            <a:off x="6516370" y="2061210"/>
            <a:ext cx="776605" cy="1106805"/>
          </a:xfrm>
          <a:prstGeom prst="rect">
            <a:avLst/>
          </a:prstGeom>
          <a:noFill/>
        </p:spPr>
        <p:txBody>
          <a:bodyPr wrap="square" rtlCol="0">
            <a:spAutoFit/>
          </a:bodyPr>
          <a:p>
            <a:r>
              <a:rPr lang="en-US" altLang="zh-CN" sz="6600" b="1">
                <a:solidFill>
                  <a:srgbClr val="FF0000"/>
                </a:solidFill>
              </a:rPr>
              <a:t>-</a:t>
            </a:r>
            <a:endParaRPr lang="en-US" altLang="zh-CN" sz="6600"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126">
                                            <p:txEl>
                                              <p:pRg st="0" end="0"/>
                                            </p:txEl>
                                          </p:spTgt>
                                        </p:tgtEl>
                                        <p:attrNameLst>
                                          <p:attrName>style.visibility</p:attrName>
                                        </p:attrNameLst>
                                      </p:cBhvr>
                                      <p:to>
                                        <p:strVal val="visible"/>
                                      </p:to>
                                    </p:set>
                                    <p:animEffect transition="in" filter="wipe(down)">
                                      <p:cBhvr>
                                        <p:cTn id="12" dur="500"/>
                                        <p:tgtEl>
                                          <p:spTgt spid="51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126">
                                            <p:txEl>
                                              <p:pRg st="1" end="1"/>
                                            </p:txEl>
                                          </p:spTgt>
                                        </p:tgtEl>
                                        <p:attrNameLst>
                                          <p:attrName>style.visibility</p:attrName>
                                        </p:attrNameLst>
                                      </p:cBhvr>
                                      <p:to>
                                        <p:strVal val="visible"/>
                                      </p:to>
                                    </p:set>
                                    <p:animEffect transition="in" filter="wipe(down)">
                                      <p:cBhvr>
                                        <p:cTn id="17" dur="500"/>
                                        <p:tgtEl>
                                          <p:spTgt spid="51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126">
                                            <p:txEl>
                                              <p:pRg st="2" end="2"/>
                                            </p:txEl>
                                          </p:spTgt>
                                        </p:tgtEl>
                                        <p:attrNameLst>
                                          <p:attrName>style.visibility</p:attrName>
                                        </p:attrNameLst>
                                      </p:cBhvr>
                                      <p:to>
                                        <p:strVal val="visible"/>
                                      </p:to>
                                    </p:set>
                                    <p:animEffect transition="in" filter="wipe(down)">
                                      <p:cBhvr>
                                        <p:cTn id="22" dur="500"/>
                                        <p:tgtEl>
                                          <p:spTgt spid="512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126">
                                            <p:txEl>
                                              <p:pRg st="3" end="3"/>
                                            </p:txEl>
                                          </p:spTgt>
                                        </p:tgtEl>
                                        <p:attrNameLst>
                                          <p:attrName>style.visibility</p:attrName>
                                        </p:attrNameLst>
                                      </p:cBhvr>
                                      <p:to>
                                        <p:strVal val="visible"/>
                                      </p:to>
                                    </p:set>
                                    <p:animEffect transition="in" filter="wipe(down)">
                                      <p:cBhvr>
                                        <p:cTn id="27" dur="500"/>
                                        <p:tgtEl>
                                          <p:spTgt spid="512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down)">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nodeType="clickEffect">
                                  <p:stCondLst>
                                    <p:cond delay="0"/>
                                  </p:stCondLst>
                                  <p:childTnLst>
                                    <p:animEffect transition="out" filter="wipe(down)">
                                      <p:cBhvr>
                                        <p:cTn id="46" dur="500"/>
                                        <p:tgtEl>
                                          <p:spTgt spid="49"/>
                                        </p:tgtEl>
                                      </p:cBhvr>
                                    </p:animEffect>
                                    <p:set>
                                      <p:cBhvr>
                                        <p:cTn id="47" dur="1" fill="hold">
                                          <p:stCondLst>
                                            <p:cond delay="499"/>
                                          </p:stCondLst>
                                        </p:cTn>
                                        <p:tgtEl>
                                          <p:spTgt spid="49"/>
                                        </p:tgtEl>
                                        <p:attrNameLst>
                                          <p:attrName>style.visibility</p:attrName>
                                        </p:attrNameLst>
                                      </p:cBhvr>
                                      <p:to>
                                        <p:strVal val="hidden"/>
                                      </p:to>
                                    </p:set>
                                  </p:childTnLst>
                                </p:cTn>
                              </p:par>
                              <p:par>
                                <p:cTn id="48" presetID="22" presetClass="exit" presetSubtype="4" fill="hold" grpId="1" nodeType="withEffect">
                                  <p:stCondLst>
                                    <p:cond delay="0"/>
                                  </p:stCondLst>
                                  <p:childTnLst>
                                    <p:animEffect transition="out" filter="wipe(down)">
                                      <p:cBhvr>
                                        <p:cTn id="49" dur="500"/>
                                        <p:tgtEl>
                                          <p:spTgt spid="3"/>
                                        </p:tgtEl>
                                      </p:cBhvr>
                                    </p:animEffect>
                                    <p:set>
                                      <p:cBhvr>
                                        <p:cTn id="50" dur="1" fill="hold">
                                          <p:stCondLst>
                                            <p:cond delay="499"/>
                                          </p:stCondLst>
                                        </p:cTn>
                                        <p:tgtEl>
                                          <p:spTgt spid="3"/>
                                        </p:tgtEl>
                                        <p:attrNameLst>
                                          <p:attrName>style.visibility</p:attrName>
                                        </p:attrNameLst>
                                      </p:cBhvr>
                                      <p:to>
                                        <p:strVal val="hidden"/>
                                      </p:to>
                                    </p:set>
                                  </p:childTnLst>
                                </p:cTn>
                              </p:par>
                              <p:par>
                                <p:cTn id="51" presetID="22" presetClass="exit" presetSubtype="4" fill="hold" grpId="1" nodeType="withEffect">
                                  <p:stCondLst>
                                    <p:cond delay="0"/>
                                  </p:stCondLst>
                                  <p:childTnLst>
                                    <p:animEffect transition="out" filter="wipe(down)">
                                      <p:cBhvr>
                                        <p:cTn id="52" dur="500"/>
                                        <p:tgtEl>
                                          <p:spTgt spid="7"/>
                                        </p:tgtEl>
                                      </p:cBhvr>
                                    </p:animEffect>
                                    <p:set>
                                      <p:cBhvr>
                                        <p:cTn id="53" dur="1" fill="hold">
                                          <p:stCondLst>
                                            <p:cond delay="499"/>
                                          </p:stCondLst>
                                        </p:cTn>
                                        <p:tgtEl>
                                          <p:spTgt spid="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5126">
                                            <p:txEl>
                                              <p:pRg st="4" end="4"/>
                                            </p:txEl>
                                          </p:spTgt>
                                        </p:tgtEl>
                                        <p:attrNameLst>
                                          <p:attrName>style.visibility</p:attrName>
                                        </p:attrNameLst>
                                      </p:cBhvr>
                                      <p:to>
                                        <p:strVal val="visible"/>
                                      </p:to>
                                    </p:set>
                                    <p:animEffect transition="in" filter="wipe(down)">
                                      <p:cBhvr>
                                        <p:cTn id="58" dur="500"/>
                                        <p:tgtEl>
                                          <p:spTgt spid="512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5125">
                                            <p:txEl>
                                              <p:pRg st="0" end="0"/>
                                            </p:txEl>
                                          </p:spTgt>
                                        </p:tgtEl>
                                        <p:attrNameLst>
                                          <p:attrName>style.visibility</p:attrName>
                                        </p:attrNameLst>
                                      </p:cBhvr>
                                      <p:to>
                                        <p:strVal val="visible"/>
                                      </p:to>
                                    </p:set>
                                    <p:animEffect transition="in" filter="wipe(down)">
                                      <p:cBhvr>
                                        <p:cTn id="63" dur="500"/>
                                        <p:tgtEl>
                                          <p:spTgt spid="5125">
                                            <p:txEl>
                                              <p:pRg st="0" end="0"/>
                                            </p:txEl>
                                          </p:spTgt>
                                        </p:tgtEl>
                                      </p:cBhvr>
                                    </p:animEffect>
                                  </p:childTnLst>
                                </p:cTn>
                              </p:par>
                              <p:par>
                                <p:cTn id="64" presetID="22" presetClass="entr" presetSubtype="4" fill="hold" nodeType="withEffect">
                                  <p:stCondLst>
                                    <p:cond delay="0"/>
                                  </p:stCondLst>
                                  <p:childTnLst>
                                    <p:set>
                                      <p:cBhvr>
                                        <p:cTn id="65" dur="1" fill="hold">
                                          <p:stCondLst>
                                            <p:cond delay="0"/>
                                          </p:stCondLst>
                                        </p:cTn>
                                        <p:tgtEl>
                                          <p:spTgt spid="5125">
                                            <p:txEl>
                                              <p:pRg st="1" end="1"/>
                                            </p:txEl>
                                          </p:spTgt>
                                        </p:tgtEl>
                                        <p:attrNameLst>
                                          <p:attrName>style.visibility</p:attrName>
                                        </p:attrNameLst>
                                      </p:cBhvr>
                                      <p:to>
                                        <p:strVal val="visible"/>
                                      </p:to>
                                    </p:set>
                                    <p:animEffect transition="in" filter="wipe(down)">
                                      <p:cBhvr>
                                        <p:cTn id="66" dur="500"/>
                                        <p:tgtEl>
                                          <p:spTgt spid="5125">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5125">
                                            <p:txEl>
                                              <p:pRg st="2" end="2"/>
                                            </p:txEl>
                                          </p:spTgt>
                                        </p:tgtEl>
                                        <p:attrNameLst>
                                          <p:attrName>style.visibility</p:attrName>
                                        </p:attrNameLst>
                                      </p:cBhvr>
                                      <p:to>
                                        <p:strVal val="visible"/>
                                      </p:to>
                                    </p:set>
                                    <p:animEffect transition="in" filter="wipe(down)">
                                      <p:cBhvr>
                                        <p:cTn id="71" dur="500"/>
                                        <p:tgtEl>
                                          <p:spTgt spid="51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3" grpId="1"/>
      <p:bldP spid="7" grpId="0"/>
      <p:bldP spid="7" grpId="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8194" name="图片 1"/>
          <p:cNvPicPr>
            <a:picLocks noChangeAspect="1"/>
          </p:cNvPicPr>
          <p:nvPr/>
        </p:nvPicPr>
        <p:blipFill>
          <a:blip r:embed="rId1"/>
          <a:stretch>
            <a:fillRect/>
          </a:stretch>
        </p:blipFill>
        <p:spPr>
          <a:xfrm>
            <a:off x="1041400" y="981710"/>
            <a:ext cx="4186238" cy="4098925"/>
          </a:xfrm>
          <a:prstGeom prst="rect">
            <a:avLst/>
          </a:prstGeom>
          <a:noFill/>
          <a:ln w="9525">
            <a:noFill/>
          </a:ln>
        </p:spPr>
      </p:pic>
      <p:sp>
        <p:nvSpPr>
          <p:cNvPr id="8196" name="文本框 6"/>
          <p:cNvSpPr txBox="1"/>
          <p:nvPr/>
        </p:nvSpPr>
        <p:spPr>
          <a:xfrm>
            <a:off x="5850890" y="4638675"/>
            <a:ext cx="2241550" cy="82994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en-US" altLang="zh-CN" sz="1600">
                <a:latin typeface="Arial" panose="020B0604020202020204" pitchFamily="34" charset="0"/>
                <a:ea typeface="宋体" panose="02010600030101010101" pitchFamily="2" charset="-122"/>
              </a:rPr>
              <a:t>Horizontal</a:t>
            </a:r>
            <a:r>
              <a:rPr lang="zh-CN" altLang="en-US" sz="1600">
                <a:latin typeface="Arial" panose="020B0604020202020204" pitchFamily="34" charset="0"/>
                <a:ea typeface="宋体" panose="02010600030101010101" pitchFamily="2" charset="-122"/>
              </a:rPr>
              <a:t> Scale</a:t>
            </a:r>
            <a:endParaRPr lang="zh-CN" altLang="en-US" sz="1600">
              <a:latin typeface="Arial" panose="020B0604020202020204" pitchFamily="34" charset="0"/>
              <a:ea typeface="宋体" panose="02010600030101010101" pitchFamily="2" charset="-122"/>
            </a:endParaRPr>
          </a:p>
          <a:p>
            <a:r>
              <a:rPr lang="zh-CN" altLang="en-US" sz="1600">
                <a:latin typeface="Arial" panose="020B0604020202020204" pitchFamily="34" charset="0"/>
                <a:ea typeface="宋体" panose="02010600030101010101" pitchFamily="2" charset="-122"/>
              </a:rPr>
              <a:t>（</a:t>
            </a:r>
            <a:r>
              <a:rPr lang="zh-CN" altLang="en-US" sz="1600" b="1">
                <a:solidFill>
                  <a:srgbClr val="FF0000"/>
                </a:solidFill>
                <a:latin typeface="Arial" panose="020B0604020202020204" pitchFamily="34" charset="0"/>
                <a:ea typeface="宋体" panose="02010600030101010101" pitchFamily="2" charset="-122"/>
              </a:rPr>
              <a:t>水平标度</a:t>
            </a:r>
            <a:r>
              <a:rPr lang="zh-CN" altLang="en-US" sz="1600">
                <a:latin typeface="Arial" panose="020B0604020202020204" pitchFamily="34" charset="0"/>
                <a:ea typeface="宋体" panose="02010600030101010101" pitchFamily="2" charset="-122"/>
              </a:rPr>
              <a:t>）旋钮可为每个通道设置水平标度</a:t>
            </a:r>
            <a:endParaRPr lang="zh-CN" altLang="en-US" sz="1600">
              <a:latin typeface="Arial" panose="020B0604020202020204" pitchFamily="34" charset="0"/>
              <a:ea typeface="宋体" panose="02010600030101010101" pitchFamily="2" charset="-122"/>
            </a:endParaRPr>
          </a:p>
        </p:txBody>
      </p:sp>
      <p:sp>
        <p:nvSpPr>
          <p:cNvPr id="8197" name="文本框 7"/>
          <p:cNvSpPr txBox="1"/>
          <p:nvPr/>
        </p:nvSpPr>
        <p:spPr>
          <a:xfrm>
            <a:off x="5850890" y="3341688"/>
            <a:ext cx="2241550" cy="107632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Acquire（采集）按钮可打开您用于设置采集模式和调整记录长度的菜单</a:t>
            </a:r>
            <a:endParaRPr lang="zh-CN" altLang="en-US" sz="1600">
              <a:latin typeface="Arial" panose="020B0604020202020204" pitchFamily="34" charset="0"/>
              <a:ea typeface="宋体" panose="02010600030101010101" pitchFamily="2" charset="-122"/>
            </a:endParaRPr>
          </a:p>
        </p:txBody>
      </p:sp>
      <p:sp>
        <p:nvSpPr>
          <p:cNvPr id="8198" name="文本框 10"/>
          <p:cNvSpPr txBox="1"/>
          <p:nvPr/>
        </p:nvSpPr>
        <p:spPr>
          <a:xfrm>
            <a:off x="5850890" y="893763"/>
            <a:ext cx="2195513" cy="230695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Horizontal Position</a:t>
            </a:r>
            <a:endParaRPr lang="zh-CN" altLang="en-US" sz="1600">
              <a:latin typeface="Arial" panose="020B0604020202020204" pitchFamily="34" charset="0"/>
              <a:ea typeface="宋体" panose="02010600030101010101" pitchFamily="2" charset="-122"/>
            </a:endParaRPr>
          </a:p>
          <a:p>
            <a:r>
              <a:rPr lang="zh-CN" altLang="en-US" sz="1600">
                <a:latin typeface="Arial" panose="020B0604020202020204" pitchFamily="34" charset="0"/>
                <a:ea typeface="宋体" panose="02010600030101010101" pitchFamily="2" charset="-122"/>
              </a:rPr>
              <a:t>（</a:t>
            </a:r>
            <a:r>
              <a:rPr lang="zh-CN" altLang="en-US" sz="1600" b="1">
                <a:solidFill>
                  <a:srgbClr val="FF0000"/>
                </a:solidFill>
                <a:latin typeface="Arial" panose="020B0604020202020204" pitchFamily="34" charset="0"/>
                <a:ea typeface="宋体" panose="02010600030101010101" pitchFamily="2" charset="-122"/>
              </a:rPr>
              <a:t>水平位置</a:t>
            </a:r>
            <a:r>
              <a:rPr lang="zh-CN" altLang="en-US" sz="1600">
                <a:latin typeface="Arial" panose="020B0604020202020204" pitchFamily="34" charset="0"/>
                <a:ea typeface="宋体" panose="02010600030101010101" pitchFamily="2" charset="-122"/>
              </a:rPr>
              <a:t>）旋钮可将触发点位置相对于采集波形记录。向左或向右调整。按Position（位置）旋钮，将触发点恢复至屏幕中心（中心垂直刻度线）</a:t>
            </a:r>
            <a:endParaRPr lang="zh-CN" altLang="en-US" sz="1600">
              <a:latin typeface="Arial" panose="020B0604020202020204" pitchFamily="34" charset="0"/>
              <a:ea typeface="宋体" panose="02010600030101010101" pitchFamily="2" charset="-122"/>
            </a:endParaRPr>
          </a:p>
        </p:txBody>
      </p:sp>
      <p:sp>
        <p:nvSpPr>
          <p:cNvPr id="3" name="矩形 2"/>
          <p:cNvSpPr/>
          <p:nvPr/>
        </p:nvSpPr>
        <p:spPr>
          <a:xfrm>
            <a:off x="3921125" y="2262505"/>
            <a:ext cx="511175" cy="637540"/>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 name="矩形 4"/>
          <p:cNvSpPr/>
          <p:nvPr/>
        </p:nvSpPr>
        <p:spPr>
          <a:xfrm>
            <a:off x="3921125" y="3559810"/>
            <a:ext cx="511175" cy="419100"/>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4" name="矩形 13"/>
          <p:cNvSpPr/>
          <p:nvPr/>
        </p:nvSpPr>
        <p:spPr>
          <a:xfrm>
            <a:off x="3921125" y="3054985"/>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6" name="文本框 5"/>
          <p:cNvSpPr txBox="1"/>
          <p:nvPr>
            <p:custDataLst>
              <p:tags r:id="rId2"/>
            </p:custDataLst>
          </p:nvPr>
        </p:nvSpPr>
        <p:spPr>
          <a:xfrm>
            <a:off x="510540" y="22225"/>
            <a:ext cx="6667500" cy="845185"/>
          </a:xfrm>
          <a:prstGeom prst="rect">
            <a:avLst/>
          </a:prstGeom>
          <a:noFill/>
        </p:spPr>
        <p:txBody>
          <a:bodyPr wrap="square" rtlCol="0" anchor="t">
            <a:noAutofit/>
          </a:bodyPr>
          <a:p>
            <a:r>
              <a:rPr lang="en-US" altLang="zh-CN" sz="3600" b="1">
                <a:solidFill>
                  <a:srgbClr val="FF0000"/>
                </a:solidFill>
                <a:latin typeface="微软雅黑" panose="020B0503020204020204" charset="-122"/>
                <a:ea typeface="微软雅黑" panose="020B0503020204020204" charset="-122"/>
                <a:cs typeface="微软雅黑" panose="020B0503020204020204" charset="-122"/>
              </a:rPr>
              <a:t>2</a:t>
            </a:r>
            <a:r>
              <a:rPr lang="zh-CN" altLang="en-US" sz="3600" b="1">
                <a:solidFill>
                  <a:srgbClr val="FF0000"/>
                </a:solidFill>
                <a:latin typeface="微软雅黑" panose="020B0503020204020204" charset="-122"/>
                <a:ea typeface="微软雅黑" panose="020B0503020204020204" charset="-122"/>
                <a:cs typeface="微软雅黑" panose="020B0503020204020204" charset="-122"/>
              </a:rPr>
              <a:t>、横坐标</a:t>
            </a:r>
            <a:endParaRPr lang="zh-CN" altLang="en-US" sz="3600" b="1">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wipe(down)">
                                      <p:cBhvr>
                                        <p:cTn id="12" dur="500"/>
                                        <p:tgtEl>
                                          <p:spTgt spid="81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wipe(down)">
                                      <p:cBhvr>
                                        <p:cTn id="22" dur="500"/>
                                        <p:tgtEl>
                                          <p:spTgt spid="81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196"/>
                                        </p:tgtEl>
                                        <p:attrNameLst>
                                          <p:attrName>style.visibility</p:attrName>
                                        </p:attrNameLst>
                                      </p:cBhvr>
                                      <p:to>
                                        <p:strVal val="visible"/>
                                      </p:to>
                                    </p:set>
                                    <p:animEffect transition="in" filter="wipe(down)">
                                      <p:cBhvr>
                                        <p:cTn id="32"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198" grpId="0" bldLvl="0" animBg="1"/>
      <p:bldP spid="14" grpId="0" animBg="1"/>
      <p:bldP spid="8197" grpId="0" bldLvl="0" animBg="1"/>
      <p:bldP spid="5" grpId="0" animBg="1"/>
      <p:bldP spid="8196"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12290" name="图片 1"/>
          <p:cNvPicPr>
            <a:picLocks noChangeAspect="1"/>
          </p:cNvPicPr>
          <p:nvPr/>
        </p:nvPicPr>
        <p:blipFill>
          <a:blip r:embed="rId1"/>
          <a:stretch>
            <a:fillRect/>
          </a:stretch>
        </p:blipFill>
        <p:spPr>
          <a:xfrm>
            <a:off x="682625" y="1555750"/>
            <a:ext cx="4186238" cy="4098925"/>
          </a:xfrm>
          <a:prstGeom prst="rect">
            <a:avLst/>
          </a:prstGeom>
          <a:noFill/>
          <a:ln w="9525">
            <a:noFill/>
          </a:ln>
        </p:spPr>
      </p:pic>
      <p:cxnSp>
        <p:nvCxnSpPr>
          <p:cNvPr id="4" name="肘形连接符 3"/>
          <p:cNvCxnSpPr>
            <a:endCxn id="12292" idx="1"/>
          </p:cNvCxnSpPr>
          <p:nvPr/>
        </p:nvCxnSpPr>
        <p:spPr>
          <a:xfrm>
            <a:off x="4787900" y="4364990"/>
            <a:ext cx="1565275" cy="688975"/>
          </a:xfrm>
          <a:prstGeom prst="bentConnector3">
            <a:avLst>
              <a:gd name="adj1" fmla="val 50020"/>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12292" name="文本框 6"/>
          <p:cNvSpPr txBox="1"/>
          <p:nvPr/>
        </p:nvSpPr>
        <p:spPr>
          <a:xfrm>
            <a:off x="6353175" y="4638675"/>
            <a:ext cx="2241550" cy="82994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sz="1600">
                <a:latin typeface="Arial" panose="020B0604020202020204" pitchFamily="34" charset="0"/>
                <a:ea typeface="宋体" panose="02010600030101010101" pitchFamily="2" charset="-122"/>
              </a:rPr>
              <a:t>Force Trig（强制触发）按钮会强制执行一个立即触发事件</a:t>
            </a:r>
            <a:endParaRPr lang="zh-CN" sz="1600">
              <a:latin typeface="Arial" panose="020B0604020202020204" pitchFamily="34" charset="0"/>
              <a:ea typeface="宋体" panose="02010600030101010101" pitchFamily="2" charset="-122"/>
            </a:endParaRPr>
          </a:p>
        </p:txBody>
      </p:sp>
      <p:sp>
        <p:nvSpPr>
          <p:cNvPr id="12293" name="文本框 7"/>
          <p:cNvSpPr txBox="1"/>
          <p:nvPr/>
        </p:nvSpPr>
        <p:spPr>
          <a:xfrm>
            <a:off x="6353175" y="2852738"/>
            <a:ext cx="2241550" cy="1322070"/>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Trigger Level（</a:t>
            </a:r>
            <a:r>
              <a:rPr lang="zh-CN" altLang="en-US" sz="1600" b="1">
                <a:solidFill>
                  <a:srgbClr val="FF0000"/>
                </a:solidFill>
                <a:latin typeface="Arial" panose="020B0604020202020204" pitchFamily="34" charset="0"/>
                <a:ea typeface="宋体" panose="02010600030101010101" pitchFamily="2" charset="-122"/>
              </a:rPr>
              <a:t>触发电平</a:t>
            </a:r>
            <a:r>
              <a:rPr lang="zh-CN" altLang="en-US" sz="1600">
                <a:latin typeface="Arial" panose="020B0604020202020204" pitchFamily="34" charset="0"/>
                <a:ea typeface="宋体" panose="02010600030101010101" pitchFamily="2" charset="-122"/>
              </a:rPr>
              <a:t>）旋钮可调节触发电平。在使用此控件时，触发电</a:t>
            </a:r>
            <a:endParaRPr lang="zh-CN" altLang="en-US" sz="1600">
              <a:latin typeface="Arial" panose="020B0604020202020204" pitchFamily="34" charset="0"/>
              <a:ea typeface="宋体" panose="02010600030101010101" pitchFamily="2" charset="-122"/>
            </a:endParaRPr>
          </a:p>
          <a:p>
            <a:r>
              <a:rPr lang="zh-CN" altLang="en-US" sz="1600">
                <a:latin typeface="Arial" panose="020B0604020202020204" pitchFamily="34" charset="0"/>
                <a:ea typeface="宋体" panose="02010600030101010101" pitchFamily="2" charset="-122"/>
              </a:rPr>
              <a:t>平在水平线上显示</a:t>
            </a:r>
            <a:endParaRPr lang="zh-CN" altLang="en-US" sz="1600">
              <a:latin typeface="Arial" panose="020B0604020202020204" pitchFamily="34" charset="0"/>
              <a:ea typeface="宋体" panose="02010600030101010101" pitchFamily="2" charset="-122"/>
            </a:endParaRPr>
          </a:p>
        </p:txBody>
      </p:sp>
      <p:sp>
        <p:nvSpPr>
          <p:cNvPr id="12294" name="文本框 10"/>
          <p:cNvSpPr txBox="1"/>
          <p:nvPr/>
        </p:nvSpPr>
        <p:spPr>
          <a:xfrm>
            <a:off x="6372225" y="1484313"/>
            <a:ext cx="2195513" cy="107632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Trigger Menu（触发菜单）按钮可打开侧面菜单以进行触发设置，主要</a:t>
            </a:r>
            <a:r>
              <a:rPr lang="zh-CN" altLang="en-US" sz="1600" b="1">
                <a:solidFill>
                  <a:srgbClr val="FF0000"/>
                </a:solidFill>
                <a:latin typeface="Arial" panose="020B0604020202020204" pitchFamily="34" charset="0"/>
                <a:ea typeface="宋体" panose="02010600030101010101" pitchFamily="2" charset="-122"/>
              </a:rPr>
              <a:t>触发源</a:t>
            </a:r>
            <a:endParaRPr lang="zh-CN" altLang="en-US" sz="1600" b="1">
              <a:solidFill>
                <a:srgbClr val="FF0000"/>
              </a:solidFill>
              <a:latin typeface="Arial" panose="020B0604020202020204" pitchFamily="34" charset="0"/>
              <a:ea typeface="宋体" panose="02010600030101010101" pitchFamily="2" charset="-122"/>
            </a:endParaRPr>
          </a:p>
        </p:txBody>
      </p:sp>
      <p:cxnSp>
        <p:nvCxnSpPr>
          <p:cNvPr id="13" name="肘形连接符 12"/>
          <p:cNvCxnSpPr>
            <a:stCxn id="3" idx="3"/>
            <a:endCxn id="12294" idx="1"/>
          </p:cNvCxnSpPr>
          <p:nvPr/>
        </p:nvCxnSpPr>
        <p:spPr>
          <a:xfrm flipV="1">
            <a:off x="4722813" y="2022475"/>
            <a:ext cx="1649413" cy="1292225"/>
          </a:xfrm>
          <a:prstGeom prst="bentConnector3">
            <a:avLst>
              <a:gd name="adj1" fmla="val 50019"/>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 name="矩形 2"/>
          <p:cNvSpPr/>
          <p:nvPr/>
        </p:nvSpPr>
        <p:spPr>
          <a:xfrm>
            <a:off x="4211638" y="3140075"/>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 name="矩形 4"/>
          <p:cNvSpPr/>
          <p:nvPr/>
        </p:nvSpPr>
        <p:spPr>
          <a:xfrm>
            <a:off x="4211638" y="4149725"/>
            <a:ext cx="511175" cy="419100"/>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4" name="矩形 13"/>
          <p:cNvSpPr/>
          <p:nvPr/>
        </p:nvSpPr>
        <p:spPr>
          <a:xfrm>
            <a:off x="4211638" y="3644900"/>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15" name="肘形连接符 14"/>
          <p:cNvCxnSpPr>
            <a:stCxn id="3" idx="3"/>
            <a:endCxn id="12294" idx="1"/>
          </p:cNvCxnSpPr>
          <p:nvPr/>
        </p:nvCxnSpPr>
        <p:spPr>
          <a:xfrm>
            <a:off x="4787900" y="3860800"/>
            <a:ext cx="1511300" cy="3175"/>
          </a:xfrm>
          <a:prstGeom prst="bentConnector2">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6" name="文本框 5"/>
          <p:cNvSpPr txBox="1"/>
          <p:nvPr>
            <p:custDataLst>
              <p:tags r:id="rId2"/>
            </p:custDataLst>
          </p:nvPr>
        </p:nvSpPr>
        <p:spPr>
          <a:xfrm>
            <a:off x="510540" y="22225"/>
            <a:ext cx="6667500" cy="845185"/>
          </a:xfrm>
          <a:prstGeom prst="rect">
            <a:avLst/>
          </a:prstGeom>
          <a:noFill/>
        </p:spPr>
        <p:txBody>
          <a:bodyPr wrap="square" rtlCol="0" anchor="t">
            <a:noAutofit/>
          </a:bodyPr>
          <a:p>
            <a:r>
              <a:rPr lang="en-US" altLang="zh-CN" sz="3600" b="1">
                <a:solidFill>
                  <a:srgbClr val="FF0000"/>
                </a:solidFill>
                <a:latin typeface="微软雅黑" panose="020B0503020204020204" charset="-122"/>
                <a:ea typeface="微软雅黑" panose="020B0503020204020204" charset="-122"/>
                <a:cs typeface="微软雅黑" panose="020B0503020204020204" charset="-122"/>
              </a:rPr>
              <a:t>3</a:t>
            </a:r>
            <a:r>
              <a:rPr lang="zh-CN" altLang="en-US" sz="3600" b="1">
                <a:solidFill>
                  <a:srgbClr val="FF0000"/>
                </a:solidFill>
                <a:latin typeface="微软雅黑" panose="020B0503020204020204" charset="-122"/>
                <a:ea typeface="微软雅黑" panose="020B0503020204020204" charset="-122"/>
                <a:cs typeface="微软雅黑" panose="020B0503020204020204" charset="-122"/>
              </a:rPr>
              <a:t>、触发</a:t>
            </a:r>
            <a:endParaRPr lang="zh-CN" altLang="en-US" sz="3600" b="1">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4578" name="图片 1"/>
          <p:cNvPicPr>
            <a:picLocks noChangeAspect="1"/>
          </p:cNvPicPr>
          <p:nvPr/>
        </p:nvPicPr>
        <p:blipFill>
          <a:blip r:embed="rId1"/>
          <a:stretch>
            <a:fillRect/>
          </a:stretch>
        </p:blipFill>
        <p:spPr>
          <a:xfrm>
            <a:off x="682625" y="1555750"/>
            <a:ext cx="4186238" cy="4098925"/>
          </a:xfrm>
          <a:prstGeom prst="rect">
            <a:avLst/>
          </a:prstGeom>
          <a:noFill/>
          <a:ln w="9525">
            <a:noFill/>
          </a:ln>
        </p:spPr>
      </p:pic>
      <p:cxnSp>
        <p:nvCxnSpPr>
          <p:cNvPr id="13" name="肘形连接符 12"/>
          <p:cNvCxnSpPr/>
          <p:nvPr/>
        </p:nvCxnSpPr>
        <p:spPr>
          <a:xfrm flipV="1">
            <a:off x="2515870" y="908050"/>
            <a:ext cx="2916000" cy="792000"/>
          </a:xfrm>
          <a:prstGeom prst="bentConnector3">
            <a:avLst>
              <a:gd name="adj1" fmla="val 1003"/>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 name="矩形 2"/>
          <p:cNvSpPr/>
          <p:nvPr/>
        </p:nvSpPr>
        <p:spPr>
          <a:xfrm>
            <a:off x="2266950" y="1700213"/>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6" name="肘形连接符 5"/>
          <p:cNvCxnSpPr/>
          <p:nvPr/>
        </p:nvCxnSpPr>
        <p:spPr>
          <a:xfrm flipV="1">
            <a:off x="3138805" y="1288733"/>
            <a:ext cx="2304000" cy="432000"/>
          </a:xfrm>
          <a:prstGeom prst="bentConnector3">
            <a:avLst>
              <a:gd name="adj1" fmla="val 474"/>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7" name="矩形 6"/>
          <p:cNvSpPr/>
          <p:nvPr/>
        </p:nvSpPr>
        <p:spPr>
          <a:xfrm>
            <a:off x="2914650" y="1700213"/>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585" name="文本框 10"/>
          <p:cNvSpPr txBox="1"/>
          <p:nvPr/>
        </p:nvSpPr>
        <p:spPr>
          <a:xfrm>
            <a:off x="5435600" y="1497648"/>
            <a:ext cx="625475"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缩放</a:t>
            </a:r>
            <a:endParaRPr lang="zh-CN" altLang="en-US" sz="1600">
              <a:latin typeface="Arial" panose="020B0604020202020204" pitchFamily="34" charset="0"/>
              <a:ea typeface="宋体" panose="02010600030101010101" pitchFamily="2" charset="-122"/>
            </a:endParaRPr>
          </a:p>
        </p:txBody>
      </p:sp>
      <p:cxnSp>
        <p:nvCxnSpPr>
          <p:cNvPr id="9" name="肘形连接符 8"/>
          <p:cNvCxnSpPr>
            <a:endCxn id="24585" idx="1"/>
          </p:cNvCxnSpPr>
          <p:nvPr/>
        </p:nvCxnSpPr>
        <p:spPr>
          <a:xfrm flipV="1">
            <a:off x="2771775" y="1666558"/>
            <a:ext cx="2663825" cy="458788"/>
          </a:xfrm>
          <a:prstGeom prst="bentConnector3">
            <a:avLst>
              <a:gd name="adj1" fmla="val 26555"/>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10" name="矩形 9"/>
          <p:cNvSpPr/>
          <p:nvPr/>
        </p:nvSpPr>
        <p:spPr>
          <a:xfrm>
            <a:off x="2266950" y="2132013"/>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pic>
        <p:nvPicPr>
          <p:cNvPr id="24588" name="图片 10"/>
          <p:cNvPicPr>
            <a:picLocks noChangeAspect="1"/>
          </p:cNvPicPr>
          <p:nvPr/>
        </p:nvPicPr>
        <p:blipFill>
          <a:blip r:embed="rId2"/>
          <a:stretch>
            <a:fillRect/>
          </a:stretch>
        </p:blipFill>
        <p:spPr>
          <a:xfrm>
            <a:off x="6359525" y="692150"/>
            <a:ext cx="2236788" cy="1601788"/>
          </a:xfrm>
          <a:prstGeom prst="rect">
            <a:avLst/>
          </a:prstGeom>
          <a:noFill/>
          <a:ln w="9525">
            <a:noFill/>
          </a:ln>
        </p:spPr>
      </p:pic>
      <p:sp>
        <p:nvSpPr>
          <p:cNvPr id="24589" name="文本框 10"/>
          <p:cNvSpPr txBox="1"/>
          <p:nvPr/>
        </p:nvSpPr>
        <p:spPr>
          <a:xfrm>
            <a:off x="5435600" y="1887538"/>
            <a:ext cx="1052513"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保存</a:t>
            </a:r>
            <a:r>
              <a:rPr lang="en-US" altLang="zh-CN" sz="1600">
                <a:latin typeface="Arial" panose="020B0604020202020204" pitchFamily="34" charset="0"/>
                <a:ea typeface="宋体" panose="02010600030101010101" pitchFamily="2" charset="-122"/>
              </a:rPr>
              <a:t>/</a:t>
            </a:r>
            <a:r>
              <a:rPr lang="zh-CN" altLang="en-US" sz="1600">
                <a:latin typeface="Arial" panose="020B0604020202020204" pitchFamily="34" charset="0"/>
                <a:ea typeface="宋体" panose="02010600030101010101" pitchFamily="2" charset="-122"/>
              </a:rPr>
              <a:t>调出</a:t>
            </a:r>
            <a:endParaRPr lang="zh-CN" altLang="en-US" sz="1600">
              <a:latin typeface="Arial" panose="020B0604020202020204" pitchFamily="34" charset="0"/>
              <a:ea typeface="宋体" panose="02010600030101010101" pitchFamily="2" charset="-122"/>
            </a:endParaRPr>
          </a:p>
        </p:txBody>
      </p:sp>
      <p:cxnSp>
        <p:nvCxnSpPr>
          <p:cNvPr id="17" name="肘形连接符 16"/>
          <p:cNvCxnSpPr>
            <a:stCxn id="18" idx="3"/>
            <a:endCxn id="24589" idx="1"/>
          </p:cNvCxnSpPr>
          <p:nvPr/>
        </p:nvCxnSpPr>
        <p:spPr>
          <a:xfrm flipV="1">
            <a:off x="3416300" y="2056765"/>
            <a:ext cx="2019300" cy="236855"/>
          </a:xfrm>
          <a:prstGeom prst="bentConnector3">
            <a:avLst>
              <a:gd name="adj1" fmla="val 50000"/>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18" name="矩形 17"/>
          <p:cNvSpPr/>
          <p:nvPr/>
        </p:nvSpPr>
        <p:spPr>
          <a:xfrm>
            <a:off x="2905125" y="2119313"/>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592" name="文本框 10"/>
          <p:cNvSpPr txBox="1"/>
          <p:nvPr/>
        </p:nvSpPr>
        <p:spPr>
          <a:xfrm>
            <a:off x="5435600" y="2346325"/>
            <a:ext cx="1528763"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恢复默认设置</a:t>
            </a:r>
            <a:endParaRPr lang="zh-CN" altLang="en-US" sz="1600">
              <a:latin typeface="Arial" panose="020B0604020202020204" pitchFamily="34" charset="0"/>
              <a:ea typeface="宋体" panose="02010600030101010101" pitchFamily="2" charset="-122"/>
            </a:endParaRPr>
          </a:p>
        </p:txBody>
      </p:sp>
      <p:cxnSp>
        <p:nvCxnSpPr>
          <p:cNvPr id="20" name="肘形连接符 19"/>
          <p:cNvCxnSpPr>
            <a:stCxn id="18" idx="3"/>
            <a:endCxn id="24592" idx="1"/>
          </p:cNvCxnSpPr>
          <p:nvPr/>
        </p:nvCxnSpPr>
        <p:spPr>
          <a:xfrm>
            <a:off x="3416300" y="2293620"/>
            <a:ext cx="2019300" cy="221615"/>
          </a:xfrm>
          <a:prstGeom prst="bentConnector3">
            <a:avLst>
              <a:gd name="adj1" fmla="val 50000"/>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21" name="矩形 20"/>
          <p:cNvSpPr/>
          <p:nvPr/>
        </p:nvSpPr>
        <p:spPr>
          <a:xfrm>
            <a:off x="3556000" y="2122488"/>
            <a:ext cx="511175" cy="338138"/>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595" name="文本框 10"/>
          <p:cNvSpPr txBox="1"/>
          <p:nvPr/>
        </p:nvSpPr>
        <p:spPr>
          <a:xfrm>
            <a:off x="5435600" y="2735263"/>
            <a:ext cx="3398838" cy="138366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400">
                <a:latin typeface="Arial" panose="020B0604020202020204" pitchFamily="34" charset="0"/>
                <a:ea typeface="宋体" panose="02010600030101010101" pitchFamily="2" charset="-122"/>
              </a:rPr>
              <a:t>Function（功能）按钮的 Fine（微调）按钮灵敏度可使用 Multipurpose</a:t>
            </a:r>
            <a:endParaRPr lang="zh-CN" altLang="en-US" sz="1400">
              <a:latin typeface="Arial" panose="020B0604020202020204" pitchFamily="34" charset="0"/>
              <a:ea typeface="宋体" panose="02010600030101010101" pitchFamily="2" charset="-122"/>
            </a:endParaRPr>
          </a:p>
          <a:p>
            <a:r>
              <a:rPr lang="zh-CN" altLang="en-US" sz="1400">
                <a:latin typeface="Arial" panose="020B0604020202020204" pitchFamily="34" charset="0"/>
                <a:ea typeface="宋体" panose="02010600030101010101" pitchFamily="2" charset="-122"/>
              </a:rPr>
              <a:t>（通用）旋钮、垂直和水平 Position（位置）旋钮、垂直 Scale（标度）</a:t>
            </a:r>
            <a:endParaRPr lang="zh-CN" altLang="en-US" sz="1400">
              <a:latin typeface="Arial" panose="020B0604020202020204" pitchFamily="34" charset="0"/>
              <a:ea typeface="宋体" panose="02010600030101010101" pitchFamily="2" charset="-122"/>
            </a:endParaRPr>
          </a:p>
          <a:p>
            <a:r>
              <a:rPr lang="zh-CN" altLang="en-US" sz="1400">
                <a:latin typeface="Arial" panose="020B0604020202020204" pitchFamily="34" charset="0"/>
                <a:ea typeface="宋体" panose="02010600030101010101" pitchFamily="2" charset="-122"/>
              </a:rPr>
              <a:t>旋钮和触发 Level（电平）旋钮做出细微调整</a:t>
            </a:r>
            <a:endParaRPr lang="zh-CN" altLang="en-US" sz="1400">
              <a:latin typeface="Arial" panose="020B0604020202020204" pitchFamily="34" charset="0"/>
              <a:ea typeface="宋体" panose="02010600030101010101" pitchFamily="2" charset="-122"/>
            </a:endParaRPr>
          </a:p>
        </p:txBody>
      </p:sp>
      <p:cxnSp>
        <p:nvCxnSpPr>
          <p:cNvPr id="23" name="肘形连接符 22"/>
          <p:cNvCxnSpPr>
            <a:endCxn id="24595" idx="1"/>
          </p:cNvCxnSpPr>
          <p:nvPr/>
        </p:nvCxnSpPr>
        <p:spPr>
          <a:xfrm>
            <a:off x="3420110" y="2564765"/>
            <a:ext cx="2015490" cy="862965"/>
          </a:xfrm>
          <a:prstGeom prst="bentConnector3">
            <a:avLst>
              <a:gd name="adj1" fmla="val 50032"/>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24" name="矩形 23"/>
          <p:cNvSpPr/>
          <p:nvPr/>
        </p:nvSpPr>
        <p:spPr>
          <a:xfrm>
            <a:off x="2905125" y="2492693"/>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598" name="文本框 10"/>
          <p:cNvSpPr txBox="1"/>
          <p:nvPr/>
        </p:nvSpPr>
        <p:spPr>
          <a:xfrm>
            <a:off x="5436235" y="4221163"/>
            <a:ext cx="1528763"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辅助功能</a:t>
            </a:r>
            <a:endParaRPr lang="zh-CN" altLang="en-US" sz="1600">
              <a:latin typeface="Arial" panose="020B0604020202020204" pitchFamily="34" charset="0"/>
              <a:ea typeface="宋体" panose="02010600030101010101" pitchFamily="2" charset="-122"/>
            </a:endParaRPr>
          </a:p>
        </p:txBody>
      </p:sp>
      <p:cxnSp>
        <p:nvCxnSpPr>
          <p:cNvPr id="27" name="肘形连接符 26"/>
          <p:cNvCxnSpPr>
            <a:stCxn id="28" idx="3"/>
            <a:endCxn id="24598" idx="1"/>
          </p:cNvCxnSpPr>
          <p:nvPr/>
        </p:nvCxnSpPr>
        <p:spPr>
          <a:xfrm>
            <a:off x="4075430" y="2680970"/>
            <a:ext cx="1360805" cy="1709420"/>
          </a:xfrm>
          <a:prstGeom prst="bentConnector3">
            <a:avLst>
              <a:gd name="adj1" fmla="val 50023"/>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28" name="矩形 27"/>
          <p:cNvSpPr/>
          <p:nvPr/>
        </p:nvSpPr>
        <p:spPr>
          <a:xfrm>
            <a:off x="3563938" y="2506663"/>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601" name="文本框 10"/>
          <p:cNvSpPr txBox="1"/>
          <p:nvPr/>
        </p:nvSpPr>
        <p:spPr>
          <a:xfrm>
            <a:off x="5435600" y="4659313"/>
            <a:ext cx="1530350"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数学</a:t>
            </a:r>
            <a:endParaRPr lang="zh-CN" altLang="en-US" sz="1600">
              <a:latin typeface="Arial" panose="020B0604020202020204" pitchFamily="34" charset="0"/>
              <a:ea typeface="宋体" panose="02010600030101010101" pitchFamily="2" charset="-122"/>
            </a:endParaRPr>
          </a:p>
        </p:txBody>
      </p:sp>
      <p:cxnSp>
        <p:nvCxnSpPr>
          <p:cNvPr id="30" name="肘形连接符 29"/>
          <p:cNvCxnSpPr>
            <a:stCxn id="31" idx="3"/>
            <a:endCxn id="24601" idx="1"/>
          </p:cNvCxnSpPr>
          <p:nvPr/>
        </p:nvCxnSpPr>
        <p:spPr>
          <a:xfrm>
            <a:off x="1771650" y="3314065"/>
            <a:ext cx="3663950" cy="1514475"/>
          </a:xfrm>
          <a:prstGeom prst="bentConnector3">
            <a:avLst>
              <a:gd name="adj1" fmla="val 50000"/>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1" name="矩形 30"/>
          <p:cNvSpPr/>
          <p:nvPr/>
        </p:nvSpPr>
        <p:spPr>
          <a:xfrm>
            <a:off x="1260475" y="3140075"/>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604" name="文本框 10"/>
          <p:cNvSpPr txBox="1"/>
          <p:nvPr/>
        </p:nvSpPr>
        <p:spPr>
          <a:xfrm>
            <a:off x="5435600" y="5099050"/>
            <a:ext cx="1530350"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en-US" altLang="zh-CN" sz="1600">
                <a:latin typeface="Arial" panose="020B0604020202020204" pitchFamily="34" charset="0"/>
                <a:ea typeface="宋体" panose="02010600030101010101" pitchFamily="2" charset="-122"/>
              </a:rPr>
              <a:t>FFT</a:t>
            </a:r>
            <a:r>
              <a:rPr lang="zh-CN" altLang="en-US" sz="1600">
                <a:latin typeface="Arial" panose="020B0604020202020204" pitchFamily="34" charset="0"/>
                <a:ea typeface="宋体" panose="02010600030101010101" pitchFamily="2" charset="-122"/>
              </a:rPr>
              <a:t>功能</a:t>
            </a:r>
            <a:endParaRPr lang="zh-CN" altLang="en-US" sz="1600">
              <a:latin typeface="Arial" panose="020B0604020202020204" pitchFamily="34" charset="0"/>
              <a:ea typeface="宋体" panose="02010600030101010101" pitchFamily="2" charset="-122"/>
            </a:endParaRPr>
          </a:p>
        </p:txBody>
      </p:sp>
      <p:cxnSp>
        <p:nvCxnSpPr>
          <p:cNvPr id="33" name="肘形连接符 32"/>
          <p:cNvCxnSpPr>
            <a:stCxn id="31" idx="3"/>
            <a:endCxn id="24604" idx="1"/>
          </p:cNvCxnSpPr>
          <p:nvPr/>
        </p:nvCxnSpPr>
        <p:spPr>
          <a:xfrm>
            <a:off x="1771650" y="3314065"/>
            <a:ext cx="3663950" cy="1953895"/>
          </a:xfrm>
          <a:prstGeom prst="bentConnector3">
            <a:avLst>
              <a:gd name="adj1" fmla="val 50000"/>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4" name="矩形 33"/>
          <p:cNvSpPr/>
          <p:nvPr/>
        </p:nvSpPr>
        <p:spPr>
          <a:xfrm>
            <a:off x="1260475" y="3644900"/>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607" name="文本框 10"/>
          <p:cNvSpPr txBox="1"/>
          <p:nvPr/>
        </p:nvSpPr>
        <p:spPr>
          <a:xfrm>
            <a:off x="5435600" y="5589588"/>
            <a:ext cx="1528763" cy="337185"/>
          </a:xfrm>
          <a:prstGeom prst="rect">
            <a:avLst/>
          </a:prstGeom>
          <a:noFill/>
          <a:ln w="9525" cap="flat" cmpd="sng">
            <a:solidFill>
              <a:schemeClr val="accent2"/>
            </a:solidFill>
            <a:prstDash val="solid"/>
            <a:round/>
            <a:headEnd type="none" w="med" len="med"/>
            <a:tailEnd type="none" w="med" len="med"/>
          </a:ln>
        </p:spPr>
        <p:txBody>
          <a:bodyPr wrap="square" anchor="t" anchorCtr="0">
            <a:spAutoFit/>
          </a:bodyPr>
          <a:p>
            <a:r>
              <a:rPr lang="zh-CN" altLang="en-US" sz="1600">
                <a:latin typeface="Arial" panose="020B0604020202020204" pitchFamily="34" charset="0"/>
                <a:ea typeface="宋体" panose="02010600030101010101" pitchFamily="2" charset="-122"/>
              </a:rPr>
              <a:t>迹线参考</a:t>
            </a:r>
            <a:endParaRPr lang="zh-CN" altLang="en-US" sz="1600">
              <a:latin typeface="Arial" panose="020B0604020202020204" pitchFamily="34" charset="0"/>
              <a:ea typeface="宋体" panose="02010600030101010101" pitchFamily="2" charset="-122"/>
            </a:endParaRPr>
          </a:p>
        </p:txBody>
      </p:sp>
      <p:cxnSp>
        <p:nvCxnSpPr>
          <p:cNvPr id="36" name="肘形连接符 35"/>
          <p:cNvCxnSpPr>
            <a:stCxn id="37" idx="3"/>
            <a:endCxn id="24607" idx="1"/>
          </p:cNvCxnSpPr>
          <p:nvPr/>
        </p:nvCxnSpPr>
        <p:spPr>
          <a:xfrm>
            <a:off x="1771650" y="4290695"/>
            <a:ext cx="3663950" cy="1468120"/>
          </a:xfrm>
          <a:prstGeom prst="bentConnector3">
            <a:avLst>
              <a:gd name="adj1" fmla="val 50000"/>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7" name="矩形 36"/>
          <p:cNvSpPr/>
          <p:nvPr/>
        </p:nvSpPr>
        <p:spPr>
          <a:xfrm>
            <a:off x="1260475" y="4116388"/>
            <a:ext cx="511175" cy="347663"/>
          </a:xfrm>
          <a:prstGeom prst="rect">
            <a:avLst/>
          </a:prstGeom>
          <a:noFill/>
          <a:ln w="28575">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4579" name="文本框 10"/>
          <p:cNvSpPr txBox="1"/>
          <p:nvPr/>
        </p:nvSpPr>
        <p:spPr>
          <a:xfrm>
            <a:off x="5435600" y="765175"/>
            <a:ext cx="2119630" cy="337185"/>
          </a:xfrm>
          <a:prstGeom prst="rect">
            <a:avLst/>
          </a:prstGeom>
          <a:solidFill>
            <a:schemeClr val="bg1"/>
          </a:solidFill>
          <a:ln w="9525" cap="flat" cmpd="sng">
            <a:solidFill>
              <a:schemeClr val="accent2"/>
            </a:solidFill>
            <a:prstDash val="solid"/>
            <a:round/>
            <a:headEnd type="none" w="med" len="med"/>
            <a:tailEnd type="none" w="med" len="med"/>
          </a:ln>
        </p:spPr>
        <p:txBody>
          <a:bodyPr wrap="square" anchor="t" anchorCtr="0">
            <a:spAutoFit/>
          </a:bodyPr>
          <a:p>
            <a:r>
              <a:rPr lang="zh-CN" altLang="en-US" sz="1600" b="1">
                <a:solidFill>
                  <a:srgbClr val="FF0000"/>
                </a:solidFill>
                <a:latin typeface="Arial" panose="020B0604020202020204" pitchFamily="34" charset="0"/>
                <a:ea typeface="宋体" panose="02010600030101010101" pitchFamily="2" charset="-122"/>
              </a:rPr>
              <a:t>光标</a:t>
            </a:r>
            <a:r>
              <a:rPr lang="en-US" altLang="zh-CN" sz="1600" b="1">
                <a:solidFill>
                  <a:srgbClr val="FF0000"/>
                </a:solidFill>
                <a:latin typeface="Arial" panose="020B0604020202020204" pitchFamily="34" charset="0"/>
                <a:ea typeface="宋体" panose="02010600030101010101" pitchFamily="2" charset="-122"/>
              </a:rPr>
              <a:t>:</a:t>
            </a:r>
            <a:r>
              <a:rPr lang="zh-CN" altLang="en-US" sz="1600" b="1">
                <a:solidFill>
                  <a:srgbClr val="FF0000"/>
                </a:solidFill>
                <a:latin typeface="Arial" panose="020B0604020202020204" pitchFamily="34" charset="0"/>
                <a:ea typeface="宋体" panose="02010600030101010101" pitchFamily="2" charset="-122"/>
              </a:rPr>
              <a:t>精准测量</a:t>
            </a:r>
            <a:r>
              <a:rPr lang="zh-CN" altLang="en-US" sz="1600" b="1">
                <a:solidFill>
                  <a:srgbClr val="FF0000"/>
                </a:solidFill>
                <a:latin typeface="Arial" panose="020B0604020202020204" pitchFamily="34" charset="0"/>
                <a:ea typeface="宋体" panose="02010600030101010101" pitchFamily="2" charset="-122"/>
              </a:rPr>
              <a:t>参数</a:t>
            </a:r>
            <a:endParaRPr lang="zh-CN" altLang="en-US" sz="1600" b="1">
              <a:solidFill>
                <a:srgbClr val="FF0000"/>
              </a:solidFill>
              <a:latin typeface="Arial" panose="020B0604020202020204" pitchFamily="34" charset="0"/>
              <a:ea typeface="宋体" panose="02010600030101010101" pitchFamily="2" charset="-122"/>
            </a:endParaRPr>
          </a:p>
        </p:txBody>
      </p:sp>
      <p:sp>
        <p:nvSpPr>
          <p:cNvPr id="4" name="文本框 3"/>
          <p:cNvSpPr txBox="1"/>
          <p:nvPr>
            <p:custDataLst>
              <p:tags r:id="rId3"/>
            </p:custDataLst>
          </p:nvPr>
        </p:nvSpPr>
        <p:spPr>
          <a:xfrm>
            <a:off x="510540" y="22225"/>
            <a:ext cx="6667500" cy="845185"/>
          </a:xfrm>
          <a:prstGeom prst="rect">
            <a:avLst/>
          </a:prstGeom>
          <a:noFill/>
        </p:spPr>
        <p:txBody>
          <a:bodyPr wrap="square" rtlCol="0" anchor="t">
            <a:noAutofit/>
          </a:bodyPr>
          <a:p>
            <a:r>
              <a:rPr lang="en-US" altLang="zh-CN" sz="3600" b="1">
                <a:solidFill>
                  <a:srgbClr val="FF0000"/>
                </a:solidFill>
                <a:latin typeface="微软雅黑" panose="020B0503020204020204" charset="-122"/>
                <a:ea typeface="微软雅黑" panose="020B0503020204020204" charset="-122"/>
                <a:cs typeface="微软雅黑" panose="020B0503020204020204" charset="-122"/>
              </a:rPr>
              <a:t>4</a:t>
            </a:r>
            <a:r>
              <a:rPr lang="zh-CN" altLang="en-US" sz="3600" b="1">
                <a:solidFill>
                  <a:srgbClr val="FF0000"/>
                </a:solidFill>
                <a:latin typeface="微软雅黑" panose="020B0503020204020204" charset="-122"/>
                <a:ea typeface="微软雅黑" panose="020B0503020204020204" charset="-122"/>
                <a:cs typeface="微软雅黑" panose="020B0503020204020204" charset="-122"/>
              </a:rPr>
              <a:t>、其他</a:t>
            </a:r>
            <a:endParaRPr lang="zh-CN" altLang="en-US" sz="36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4582" name="文本框 10"/>
          <p:cNvSpPr txBox="1"/>
          <p:nvPr/>
        </p:nvSpPr>
        <p:spPr>
          <a:xfrm>
            <a:off x="5435600" y="1123950"/>
            <a:ext cx="1673225" cy="337185"/>
          </a:xfrm>
          <a:prstGeom prst="rect">
            <a:avLst/>
          </a:prstGeom>
          <a:solidFill>
            <a:schemeClr val="bg1"/>
          </a:solidFill>
          <a:ln w="9525" cap="flat" cmpd="sng">
            <a:solidFill>
              <a:schemeClr val="accent2"/>
            </a:solidFill>
            <a:prstDash val="solid"/>
            <a:round/>
            <a:headEnd type="none" w="med" len="med"/>
            <a:tailEnd type="none" w="med" len="med"/>
          </a:ln>
        </p:spPr>
        <p:txBody>
          <a:bodyPr wrap="square" anchor="t" anchorCtr="0">
            <a:spAutoFit/>
          </a:bodyPr>
          <a:p>
            <a:r>
              <a:rPr lang="zh-CN" altLang="en-US" sz="1600" b="1">
                <a:solidFill>
                  <a:srgbClr val="FF0000"/>
                </a:solidFill>
                <a:latin typeface="Arial" panose="020B0604020202020204" pitchFamily="34" charset="0"/>
                <a:ea typeface="宋体" panose="02010600030101010101" pitchFamily="2" charset="-122"/>
              </a:rPr>
              <a:t>测量</a:t>
            </a:r>
            <a:r>
              <a:rPr lang="en-US" altLang="zh-CN" sz="1600" b="1">
                <a:solidFill>
                  <a:srgbClr val="FF0000"/>
                </a:solidFill>
                <a:latin typeface="Arial" panose="020B0604020202020204" pitchFamily="34" charset="0"/>
                <a:ea typeface="宋体" panose="02010600030101010101" pitchFamily="2" charset="-122"/>
              </a:rPr>
              <a:t>:</a:t>
            </a:r>
            <a:r>
              <a:rPr lang="zh-CN" altLang="en-US" sz="1600" b="1">
                <a:solidFill>
                  <a:srgbClr val="FF0000"/>
                </a:solidFill>
                <a:latin typeface="Arial" panose="020B0604020202020204" pitchFamily="34" charset="0"/>
                <a:ea typeface="宋体" panose="02010600030101010101" pitchFamily="2" charset="-122"/>
              </a:rPr>
              <a:t>参数</a:t>
            </a:r>
            <a:r>
              <a:rPr lang="zh-CN" altLang="en-US" sz="1600" b="1">
                <a:solidFill>
                  <a:srgbClr val="FF0000"/>
                </a:solidFill>
                <a:latin typeface="Arial" panose="020B0604020202020204" pitchFamily="34" charset="0"/>
                <a:ea typeface="宋体" panose="02010600030101010101" pitchFamily="2" charset="-122"/>
              </a:rPr>
              <a:t>显示</a:t>
            </a:r>
            <a:endParaRPr lang="zh-CN" altLang="en-US" sz="1600" b="1">
              <a:solidFill>
                <a:srgbClr val="FF0000"/>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4579"/>
                                        </p:tgtEl>
                                        <p:attrNameLst>
                                          <p:attrName>style.visibility</p:attrName>
                                        </p:attrNameLst>
                                      </p:cBhvr>
                                      <p:to>
                                        <p:strVal val="visible"/>
                                      </p:to>
                                    </p:set>
                                    <p:animEffect transition="in" filter="wipe(down)">
                                      <p:cBhvr>
                                        <p:cTn id="19" dur="500"/>
                                        <p:tgtEl>
                                          <p:spTgt spid="2457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4582"/>
                                        </p:tgtEl>
                                        <p:attrNameLst>
                                          <p:attrName>style.visibility</p:attrName>
                                        </p:attrNameLst>
                                      </p:cBhvr>
                                      <p:to>
                                        <p:strVal val="visible"/>
                                      </p:to>
                                    </p:set>
                                    <p:anim calcmode="lin" valueType="num">
                                      <p:cBhvr additive="base">
                                        <p:cTn id="35" dur="500" fill="hold"/>
                                        <p:tgtEl>
                                          <p:spTgt spid="24582"/>
                                        </p:tgtEl>
                                        <p:attrNameLst>
                                          <p:attrName>ppt_x</p:attrName>
                                        </p:attrNameLst>
                                      </p:cBhvr>
                                      <p:tavLst>
                                        <p:tav tm="0">
                                          <p:val>
                                            <p:strVal val="#ppt_x"/>
                                          </p:val>
                                        </p:tav>
                                        <p:tav tm="100000">
                                          <p:val>
                                            <p:strVal val="#ppt_x"/>
                                          </p:val>
                                        </p:tav>
                                      </p:tavLst>
                                    </p:anim>
                                    <p:anim calcmode="lin" valueType="num">
                                      <p:cBhvr additive="base">
                                        <p:cTn id="36"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ppt_x"/>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4585"/>
                                        </p:tgtEl>
                                        <p:attrNameLst>
                                          <p:attrName>style.visibility</p:attrName>
                                        </p:attrNameLst>
                                      </p:cBhvr>
                                      <p:to>
                                        <p:strVal val="visible"/>
                                      </p:to>
                                    </p:set>
                                    <p:anim calcmode="lin" valueType="num">
                                      <p:cBhvr additive="base">
                                        <p:cTn id="53" dur="500" fill="hold"/>
                                        <p:tgtEl>
                                          <p:spTgt spid="24585"/>
                                        </p:tgtEl>
                                        <p:attrNameLst>
                                          <p:attrName>ppt_x</p:attrName>
                                        </p:attrNameLst>
                                      </p:cBhvr>
                                      <p:tavLst>
                                        <p:tav tm="0">
                                          <p:val>
                                            <p:strVal val="#ppt_x"/>
                                          </p:val>
                                        </p:tav>
                                        <p:tav tm="100000">
                                          <p:val>
                                            <p:strVal val="#ppt_x"/>
                                          </p:val>
                                        </p:tav>
                                      </p:tavLst>
                                    </p:anim>
                                    <p:anim calcmode="lin" valueType="num">
                                      <p:cBhvr additive="base">
                                        <p:cTn id="54" dur="500" fill="hold"/>
                                        <p:tgtEl>
                                          <p:spTgt spid="2458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4589"/>
                                        </p:tgtEl>
                                        <p:attrNameLst>
                                          <p:attrName>style.visibility</p:attrName>
                                        </p:attrNameLst>
                                      </p:cBhvr>
                                      <p:to>
                                        <p:strVal val="visible"/>
                                      </p:to>
                                    </p:set>
                                    <p:anim calcmode="lin" valueType="num">
                                      <p:cBhvr additive="base">
                                        <p:cTn id="71" dur="500" fill="hold"/>
                                        <p:tgtEl>
                                          <p:spTgt spid="24589"/>
                                        </p:tgtEl>
                                        <p:attrNameLst>
                                          <p:attrName>ppt_x</p:attrName>
                                        </p:attrNameLst>
                                      </p:cBhvr>
                                      <p:tavLst>
                                        <p:tav tm="0">
                                          <p:val>
                                            <p:strVal val="#ppt_x"/>
                                          </p:val>
                                        </p:tav>
                                        <p:tav tm="100000">
                                          <p:val>
                                            <p:strVal val="#ppt_x"/>
                                          </p:val>
                                        </p:tav>
                                      </p:tavLst>
                                    </p:anim>
                                    <p:anim calcmode="lin" valueType="num">
                                      <p:cBhvr additive="base">
                                        <p:cTn id="72" dur="500" fill="hold"/>
                                        <p:tgtEl>
                                          <p:spTgt spid="2458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fill="hold"/>
                                        <p:tgtEl>
                                          <p:spTgt spid="21"/>
                                        </p:tgtEl>
                                        <p:attrNameLst>
                                          <p:attrName>ppt_x</p:attrName>
                                        </p:attrNameLst>
                                      </p:cBhvr>
                                      <p:tavLst>
                                        <p:tav tm="0">
                                          <p:val>
                                            <p:strVal val="#ppt_x"/>
                                          </p:val>
                                        </p:tav>
                                        <p:tav tm="100000">
                                          <p:val>
                                            <p:strVal val="#ppt_x"/>
                                          </p:val>
                                        </p:tav>
                                      </p:tavLst>
                                    </p:anim>
                                    <p:anim calcmode="lin" valueType="num">
                                      <p:cBhvr additive="base">
                                        <p:cTn id="7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additive="base">
                                        <p:cTn id="83" dur="500" fill="hold"/>
                                        <p:tgtEl>
                                          <p:spTgt spid="20"/>
                                        </p:tgtEl>
                                        <p:attrNameLst>
                                          <p:attrName>ppt_x</p:attrName>
                                        </p:attrNameLst>
                                      </p:cBhvr>
                                      <p:tavLst>
                                        <p:tav tm="0">
                                          <p:val>
                                            <p:strVal val="#ppt_x"/>
                                          </p:val>
                                        </p:tav>
                                        <p:tav tm="100000">
                                          <p:val>
                                            <p:strVal val="#ppt_x"/>
                                          </p:val>
                                        </p:tav>
                                      </p:tavLst>
                                    </p:anim>
                                    <p:anim calcmode="lin" valueType="num">
                                      <p:cBhvr additive="base">
                                        <p:cTn id="8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24592"/>
                                        </p:tgtEl>
                                        <p:attrNameLst>
                                          <p:attrName>style.visibility</p:attrName>
                                        </p:attrNameLst>
                                      </p:cBhvr>
                                      <p:to>
                                        <p:strVal val="visible"/>
                                      </p:to>
                                    </p:set>
                                    <p:anim calcmode="lin" valueType="num">
                                      <p:cBhvr additive="base">
                                        <p:cTn id="89" dur="500" fill="hold"/>
                                        <p:tgtEl>
                                          <p:spTgt spid="24592"/>
                                        </p:tgtEl>
                                        <p:attrNameLst>
                                          <p:attrName>ppt_x</p:attrName>
                                        </p:attrNameLst>
                                      </p:cBhvr>
                                      <p:tavLst>
                                        <p:tav tm="0">
                                          <p:val>
                                            <p:strVal val="#ppt_x"/>
                                          </p:val>
                                        </p:tav>
                                        <p:tav tm="100000">
                                          <p:val>
                                            <p:strVal val="#ppt_x"/>
                                          </p:val>
                                        </p:tav>
                                      </p:tavLst>
                                    </p:anim>
                                    <p:anim calcmode="lin" valueType="num">
                                      <p:cBhvr additive="base">
                                        <p:cTn id="90" dur="500" fill="hold"/>
                                        <p:tgtEl>
                                          <p:spTgt spid="24592"/>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00" fill="hold"/>
                                        <p:tgtEl>
                                          <p:spTgt spid="24"/>
                                        </p:tgtEl>
                                        <p:attrNameLst>
                                          <p:attrName>ppt_x</p:attrName>
                                        </p:attrNameLst>
                                      </p:cBhvr>
                                      <p:tavLst>
                                        <p:tav tm="0">
                                          <p:val>
                                            <p:strVal val="#ppt_x"/>
                                          </p:val>
                                        </p:tav>
                                        <p:tav tm="100000">
                                          <p:val>
                                            <p:strVal val="#ppt_x"/>
                                          </p:val>
                                        </p:tav>
                                      </p:tavLst>
                                    </p:anim>
                                    <p:anim calcmode="lin" valueType="num">
                                      <p:cBhvr additive="base">
                                        <p:cTn id="9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23"/>
                                        </p:tgtEl>
                                        <p:attrNameLst>
                                          <p:attrName>style.visibility</p:attrName>
                                        </p:attrNameLst>
                                      </p:cBhvr>
                                      <p:to>
                                        <p:strVal val="visible"/>
                                      </p:to>
                                    </p:set>
                                    <p:anim calcmode="lin" valueType="num">
                                      <p:cBhvr additive="base">
                                        <p:cTn id="101" dur="500" fill="hold"/>
                                        <p:tgtEl>
                                          <p:spTgt spid="23"/>
                                        </p:tgtEl>
                                        <p:attrNameLst>
                                          <p:attrName>ppt_x</p:attrName>
                                        </p:attrNameLst>
                                      </p:cBhvr>
                                      <p:tavLst>
                                        <p:tav tm="0">
                                          <p:val>
                                            <p:strVal val="#ppt_x"/>
                                          </p:val>
                                        </p:tav>
                                        <p:tav tm="100000">
                                          <p:val>
                                            <p:strVal val="#ppt_x"/>
                                          </p:val>
                                        </p:tav>
                                      </p:tavLst>
                                    </p:anim>
                                    <p:anim calcmode="lin" valueType="num">
                                      <p:cBhvr additive="base">
                                        <p:cTn id="10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4595"/>
                                        </p:tgtEl>
                                        <p:attrNameLst>
                                          <p:attrName>style.visibility</p:attrName>
                                        </p:attrNameLst>
                                      </p:cBhvr>
                                      <p:to>
                                        <p:strVal val="visible"/>
                                      </p:to>
                                    </p:set>
                                    <p:anim calcmode="lin" valueType="num">
                                      <p:cBhvr additive="base">
                                        <p:cTn id="107" dur="500" fill="hold"/>
                                        <p:tgtEl>
                                          <p:spTgt spid="24595"/>
                                        </p:tgtEl>
                                        <p:attrNameLst>
                                          <p:attrName>ppt_x</p:attrName>
                                        </p:attrNameLst>
                                      </p:cBhvr>
                                      <p:tavLst>
                                        <p:tav tm="0">
                                          <p:val>
                                            <p:strVal val="#ppt_x"/>
                                          </p:val>
                                        </p:tav>
                                        <p:tav tm="100000">
                                          <p:val>
                                            <p:strVal val="#ppt_x"/>
                                          </p:val>
                                        </p:tav>
                                      </p:tavLst>
                                    </p:anim>
                                    <p:anim calcmode="lin" valueType="num">
                                      <p:cBhvr additive="base">
                                        <p:cTn id="108" dur="500" fill="hold"/>
                                        <p:tgtEl>
                                          <p:spTgt spid="24595"/>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 calcmode="lin" valueType="num">
                                      <p:cBhvr additive="base">
                                        <p:cTn id="113" dur="500" fill="hold"/>
                                        <p:tgtEl>
                                          <p:spTgt spid="28"/>
                                        </p:tgtEl>
                                        <p:attrNameLst>
                                          <p:attrName>ppt_x</p:attrName>
                                        </p:attrNameLst>
                                      </p:cBhvr>
                                      <p:tavLst>
                                        <p:tav tm="0">
                                          <p:val>
                                            <p:strVal val="#ppt_x"/>
                                          </p:val>
                                        </p:tav>
                                        <p:tav tm="100000">
                                          <p:val>
                                            <p:strVal val="#ppt_x"/>
                                          </p:val>
                                        </p:tav>
                                      </p:tavLst>
                                    </p:anim>
                                    <p:anim calcmode="lin" valueType="num">
                                      <p:cBhvr additive="base">
                                        <p:cTn id="1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27"/>
                                        </p:tgtEl>
                                        <p:attrNameLst>
                                          <p:attrName>style.visibility</p:attrName>
                                        </p:attrNameLst>
                                      </p:cBhvr>
                                      <p:to>
                                        <p:strVal val="visible"/>
                                      </p:to>
                                    </p:set>
                                    <p:anim calcmode="lin" valueType="num">
                                      <p:cBhvr additive="base">
                                        <p:cTn id="119" dur="500" fill="hold"/>
                                        <p:tgtEl>
                                          <p:spTgt spid="27"/>
                                        </p:tgtEl>
                                        <p:attrNameLst>
                                          <p:attrName>ppt_x</p:attrName>
                                        </p:attrNameLst>
                                      </p:cBhvr>
                                      <p:tavLst>
                                        <p:tav tm="0">
                                          <p:val>
                                            <p:strVal val="#ppt_x"/>
                                          </p:val>
                                        </p:tav>
                                        <p:tav tm="100000">
                                          <p:val>
                                            <p:strVal val="#ppt_x"/>
                                          </p:val>
                                        </p:tav>
                                      </p:tavLst>
                                    </p:anim>
                                    <p:anim calcmode="lin" valueType="num">
                                      <p:cBhvr additive="base">
                                        <p:cTn id="1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grpId="0" nodeType="clickEffect">
                                  <p:stCondLst>
                                    <p:cond delay="0"/>
                                  </p:stCondLst>
                                  <p:childTnLst>
                                    <p:set>
                                      <p:cBhvr>
                                        <p:cTn id="124" dur="1" fill="hold">
                                          <p:stCondLst>
                                            <p:cond delay="0"/>
                                          </p:stCondLst>
                                        </p:cTn>
                                        <p:tgtEl>
                                          <p:spTgt spid="24598"/>
                                        </p:tgtEl>
                                        <p:attrNameLst>
                                          <p:attrName>style.visibility</p:attrName>
                                        </p:attrNameLst>
                                      </p:cBhvr>
                                      <p:to>
                                        <p:strVal val="visible"/>
                                      </p:to>
                                    </p:set>
                                    <p:anim calcmode="lin" valueType="num">
                                      <p:cBhvr additive="base">
                                        <p:cTn id="125" dur="500" fill="hold"/>
                                        <p:tgtEl>
                                          <p:spTgt spid="24598"/>
                                        </p:tgtEl>
                                        <p:attrNameLst>
                                          <p:attrName>ppt_x</p:attrName>
                                        </p:attrNameLst>
                                      </p:cBhvr>
                                      <p:tavLst>
                                        <p:tav tm="0">
                                          <p:val>
                                            <p:strVal val="#ppt_x"/>
                                          </p:val>
                                        </p:tav>
                                        <p:tav tm="100000">
                                          <p:val>
                                            <p:strVal val="#ppt_x"/>
                                          </p:val>
                                        </p:tav>
                                      </p:tavLst>
                                    </p:anim>
                                    <p:anim calcmode="lin" valueType="num">
                                      <p:cBhvr additive="base">
                                        <p:cTn id="126" dur="500" fill="hold"/>
                                        <p:tgtEl>
                                          <p:spTgt spid="24598"/>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31"/>
                                        </p:tgtEl>
                                        <p:attrNameLst>
                                          <p:attrName>style.visibility</p:attrName>
                                        </p:attrNameLst>
                                      </p:cBhvr>
                                      <p:to>
                                        <p:strVal val="visible"/>
                                      </p:to>
                                    </p:set>
                                    <p:anim calcmode="lin" valueType="num">
                                      <p:cBhvr additive="base">
                                        <p:cTn id="131" dur="500" fill="hold"/>
                                        <p:tgtEl>
                                          <p:spTgt spid="31"/>
                                        </p:tgtEl>
                                        <p:attrNameLst>
                                          <p:attrName>ppt_x</p:attrName>
                                        </p:attrNameLst>
                                      </p:cBhvr>
                                      <p:tavLst>
                                        <p:tav tm="0">
                                          <p:val>
                                            <p:strVal val="#ppt_x"/>
                                          </p:val>
                                        </p:tav>
                                        <p:tav tm="100000">
                                          <p:val>
                                            <p:strVal val="#ppt_x"/>
                                          </p:val>
                                        </p:tav>
                                      </p:tavLst>
                                    </p:anim>
                                    <p:anim calcmode="lin" valueType="num">
                                      <p:cBhvr additive="base">
                                        <p:cTn id="1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nodeType="click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ppt_x</p:attrName>
                                        </p:attrNameLst>
                                      </p:cBhvr>
                                      <p:tavLst>
                                        <p:tav tm="0">
                                          <p:val>
                                            <p:strVal val="#ppt_x"/>
                                          </p:val>
                                        </p:tav>
                                        <p:tav tm="100000">
                                          <p:val>
                                            <p:strVal val="#ppt_x"/>
                                          </p:val>
                                        </p:tav>
                                      </p:tavLst>
                                    </p:anim>
                                    <p:anim calcmode="lin" valueType="num">
                                      <p:cBhvr additive="base">
                                        <p:cTn id="1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24601"/>
                                        </p:tgtEl>
                                        <p:attrNameLst>
                                          <p:attrName>style.visibility</p:attrName>
                                        </p:attrNameLst>
                                      </p:cBhvr>
                                      <p:to>
                                        <p:strVal val="visible"/>
                                      </p:to>
                                    </p:set>
                                    <p:anim calcmode="lin" valueType="num">
                                      <p:cBhvr additive="base">
                                        <p:cTn id="143" dur="500" fill="hold"/>
                                        <p:tgtEl>
                                          <p:spTgt spid="24601"/>
                                        </p:tgtEl>
                                        <p:attrNameLst>
                                          <p:attrName>ppt_x</p:attrName>
                                        </p:attrNameLst>
                                      </p:cBhvr>
                                      <p:tavLst>
                                        <p:tav tm="0">
                                          <p:val>
                                            <p:strVal val="#ppt_x"/>
                                          </p:val>
                                        </p:tav>
                                        <p:tav tm="100000">
                                          <p:val>
                                            <p:strVal val="#ppt_x"/>
                                          </p:val>
                                        </p:tav>
                                      </p:tavLst>
                                    </p:anim>
                                    <p:anim calcmode="lin" valueType="num">
                                      <p:cBhvr additive="base">
                                        <p:cTn id="144" dur="500" fill="hold"/>
                                        <p:tgtEl>
                                          <p:spTgt spid="24601"/>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34"/>
                                        </p:tgtEl>
                                        <p:attrNameLst>
                                          <p:attrName>style.visibility</p:attrName>
                                        </p:attrNameLst>
                                      </p:cBhvr>
                                      <p:to>
                                        <p:strVal val="visible"/>
                                      </p:to>
                                    </p:set>
                                    <p:anim calcmode="lin" valueType="num">
                                      <p:cBhvr additive="base">
                                        <p:cTn id="149" dur="500" fill="hold"/>
                                        <p:tgtEl>
                                          <p:spTgt spid="34"/>
                                        </p:tgtEl>
                                        <p:attrNameLst>
                                          <p:attrName>ppt_x</p:attrName>
                                        </p:attrNameLst>
                                      </p:cBhvr>
                                      <p:tavLst>
                                        <p:tav tm="0">
                                          <p:val>
                                            <p:strVal val="#ppt_x"/>
                                          </p:val>
                                        </p:tav>
                                        <p:tav tm="100000">
                                          <p:val>
                                            <p:strVal val="#ppt_x"/>
                                          </p:val>
                                        </p:tav>
                                      </p:tavLst>
                                    </p:anim>
                                    <p:anim calcmode="lin" valueType="num">
                                      <p:cBhvr additive="base">
                                        <p:cTn id="15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2" presetClass="entr" presetSubtype="4" fill="hold" nodeType="clickEffect">
                                  <p:stCondLst>
                                    <p:cond delay="0"/>
                                  </p:stCondLst>
                                  <p:childTnLst>
                                    <p:set>
                                      <p:cBhvr>
                                        <p:cTn id="154" dur="1" fill="hold">
                                          <p:stCondLst>
                                            <p:cond delay="0"/>
                                          </p:stCondLst>
                                        </p:cTn>
                                        <p:tgtEl>
                                          <p:spTgt spid="33"/>
                                        </p:tgtEl>
                                        <p:attrNameLst>
                                          <p:attrName>style.visibility</p:attrName>
                                        </p:attrNameLst>
                                      </p:cBhvr>
                                      <p:to>
                                        <p:strVal val="visible"/>
                                      </p:to>
                                    </p:set>
                                    <p:anim calcmode="lin" valueType="num">
                                      <p:cBhvr additive="base">
                                        <p:cTn id="155" dur="500" fill="hold"/>
                                        <p:tgtEl>
                                          <p:spTgt spid="33"/>
                                        </p:tgtEl>
                                        <p:attrNameLst>
                                          <p:attrName>ppt_x</p:attrName>
                                        </p:attrNameLst>
                                      </p:cBhvr>
                                      <p:tavLst>
                                        <p:tav tm="0">
                                          <p:val>
                                            <p:strVal val="#ppt_x"/>
                                          </p:val>
                                        </p:tav>
                                        <p:tav tm="100000">
                                          <p:val>
                                            <p:strVal val="#ppt_x"/>
                                          </p:val>
                                        </p:tav>
                                      </p:tavLst>
                                    </p:anim>
                                    <p:anim calcmode="lin" valueType="num">
                                      <p:cBhvr additive="base">
                                        <p:cTn id="15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24604"/>
                                        </p:tgtEl>
                                        <p:attrNameLst>
                                          <p:attrName>style.visibility</p:attrName>
                                        </p:attrNameLst>
                                      </p:cBhvr>
                                      <p:to>
                                        <p:strVal val="visible"/>
                                      </p:to>
                                    </p:set>
                                    <p:anim calcmode="lin" valueType="num">
                                      <p:cBhvr additive="base">
                                        <p:cTn id="161" dur="500" fill="hold"/>
                                        <p:tgtEl>
                                          <p:spTgt spid="24604"/>
                                        </p:tgtEl>
                                        <p:attrNameLst>
                                          <p:attrName>ppt_x</p:attrName>
                                        </p:attrNameLst>
                                      </p:cBhvr>
                                      <p:tavLst>
                                        <p:tav tm="0">
                                          <p:val>
                                            <p:strVal val="#ppt_x"/>
                                          </p:val>
                                        </p:tav>
                                        <p:tav tm="100000">
                                          <p:val>
                                            <p:strVal val="#ppt_x"/>
                                          </p:val>
                                        </p:tav>
                                      </p:tavLst>
                                    </p:anim>
                                    <p:anim calcmode="lin" valueType="num">
                                      <p:cBhvr additive="base">
                                        <p:cTn id="162" dur="500" fill="hold"/>
                                        <p:tgtEl>
                                          <p:spTgt spid="24604"/>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4" fill="hold" grpId="0" nodeType="clickEffect">
                                  <p:stCondLst>
                                    <p:cond delay="0"/>
                                  </p:stCondLst>
                                  <p:childTnLst>
                                    <p:set>
                                      <p:cBhvr>
                                        <p:cTn id="166" dur="1" fill="hold">
                                          <p:stCondLst>
                                            <p:cond delay="0"/>
                                          </p:stCondLst>
                                        </p:cTn>
                                        <p:tgtEl>
                                          <p:spTgt spid="37"/>
                                        </p:tgtEl>
                                        <p:attrNameLst>
                                          <p:attrName>style.visibility</p:attrName>
                                        </p:attrNameLst>
                                      </p:cBhvr>
                                      <p:to>
                                        <p:strVal val="visible"/>
                                      </p:to>
                                    </p:set>
                                    <p:anim calcmode="lin" valueType="num">
                                      <p:cBhvr additive="base">
                                        <p:cTn id="167" dur="500" fill="hold"/>
                                        <p:tgtEl>
                                          <p:spTgt spid="37"/>
                                        </p:tgtEl>
                                        <p:attrNameLst>
                                          <p:attrName>ppt_x</p:attrName>
                                        </p:attrNameLst>
                                      </p:cBhvr>
                                      <p:tavLst>
                                        <p:tav tm="0">
                                          <p:val>
                                            <p:strVal val="#ppt_x"/>
                                          </p:val>
                                        </p:tav>
                                        <p:tav tm="100000">
                                          <p:val>
                                            <p:strVal val="#ppt_x"/>
                                          </p:val>
                                        </p:tav>
                                      </p:tavLst>
                                    </p:anim>
                                    <p:anim calcmode="lin" valueType="num">
                                      <p:cBhvr additive="base">
                                        <p:cTn id="16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 presetClass="entr" presetSubtype="4" fill="hold" nodeType="clickEffect">
                                  <p:stCondLst>
                                    <p:cond delay="0"/>
                                  </p:stCondLst>
                                  <p:childTnLst>
                                    <p:set>
                                      <p:cBhvr>
                                        <p:cTn id="172" dur="1" fill="hold">
                                          <p:stCondLst>
                                            <p:cond delay="0"/>
                                          </p:stCondLst>
                                        </p:cTn>
                                        <p:tgtEl>
                                          <p:spTgt spid="36"/>
                                        </p:tgtEl>
                                        <p:attrNameLst>
                                          <p:attrName>style.visibility</p:attrName>
                                        </p:attrNameLst>
                                      </p:cBhvr>
                                      <p:to>
                                        <p:strVal val="visible"/>
                                      </p:to>
                                    </p:set>
                                    <p:anim calcmode="lin" valueType="num">
                                      <p:cBhvr additive="base">
                                        <p:cTn id="173" dur="500" fill="hold"/>
                                        <p:tgtEl>
                                          <p:spTgt spid="36"/>
                                        </p:tgtEl>
                                        <p:attrNameLst>
                                          <p:attrName>ppt_x</p:attrName>
                                        </p:attrNameLst>
                                      </p:cBhvr>
                                      <p:tavLst>
                                        <p:tav tm="0">
                                          <p:val>
                                            <p:strVal val="#ppt_x"/>
                                          </p:val>
                                        </p:tav>
                                        <p:tav tm="100000">
                                          <p:val>
                                            <p:strVal val="#ppt_x"/>
                                          </p:val>
                                        </p:tav>
                                      </p:tavLst>
                                    </p:anim>
                                    <p:anim calcmode="lin" valueType="num">
                                      <p:cBhvr additive="base">
                                        <p:cTn id="17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2" presetClass="entr" presetSubtype="4" fill="hold" grpId="0" nodeType="clickEffect">
                                  <p:stCondLst>
                                    <p:cond delay="0"/>
                                  </p:stCondLst>
                                  <p:childTnLst>
                                    <p:set>
                                      <p:cBhvr>
                                        <p:cTn id="178" dur="1" fill="hold">
                                          <p:stCondLst>
                                            <p:cond delay="0"/>
                                          </p:stCondLst>
                                        </p:cTn>
                                        <p:tgtEl>
                                          <p:spTgt spid="24607"/>
                                        </p:tgtEl>
                                        <p:attrNameLst>
                                          <p:attrName>style.visibility</p:attrName>
                                        </p:attrNameLst>
                                      </p:cBhvr>
                                      <p:to>
                                        <p:strVal val="visible"/>
                                      </p:to>
                                    </p:set>
                                    <p:anim calcmode="lin" valueType="num">
                                      <p:cBhvr additive="base">
                                        <p:cTn id="179" dur="500" fill="hold"/>
                                        <p:tgtEl>
                                          <p:spTgt spid="24607"/>
                                        </p:tgtEl>
                                        <p:attrNameLst>
                                          <p:attrName>ppt_x</p:attrName>
                                        </p:attrNameLst>
                                      </p:cBhvr>
                                      <p:tavLst>
                                        <p:tav tm="0">
                                          <p:val>
                                            <p:strVal val="#ppt_x"/>
                                          </p:val>
                                        </p:tav>
                                        <p:tav tm="100000">
                                          <p:val>
                                            <p:strVal val="#ppt_x"/>
                                          </p:val>
                                        </p:tav>
                                      </p:tavLst>
                                    </p:anim>
                                    <p:anim calcmode="lin" valueType="num">
                                      <p:cBhvr additive="base">
                                        <p:cTn id="180" dur="500" fill="hold"/>
                                        <p:tgtEl>
                                          <p:spTgt spid="246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bldLvl="0" animBg="1"/>
      <p:bldP spid="24585" grpId="0" bldLvl="0" animBg="1"/>
      <p:bldP spid="24589" grpId="0" bldLvl="0" animBg="1"/>
      <p:bldP spid="24592" grpId="0" bldLvl="0" animBg="1"/>
      <p:bldP spid="24595" grpId="0" bldLvl="0" animBg="1"/>
      <p:bldP spid="24598" grpId="0" bldLvl="0" animBg="1"/>
      <p:bldP spid="24601" grpId="0" bldLvl="0" animBg="1"/>
      <p:bldP spid="24604" grpId="0" bldLvl="0" animBg="1"/>
      <p:bldP spid="24607" grpId="0" bldLvl="0" animBg="1"/>
      <p:bldP spid="3" grpId="0" animBg="1"/>
      <p:bldP spid="10" grpId="0" animBg="1"/>
      <p:bldP spid="18" grpId="0" animBg="1"/>
      <p:bldP spid="21" grpId="0" animBg="1"/>
      <p:bldP spid="24" grpId="0" animBg="1"/>
      <p:bldP spid="28" grpId="0" animBg="1"/>
      <p:bldP spid="31" grpId="0" animBg="1"/>
      <p:bldP spid="34" grpId="0" animBg="1"/>
      <p:bldP spid="37" grpId="0" animBg="1"/>
      <p:bldP spid="7" grpId="0" animBg="1"/>
      <p:bldP spid="24579"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0353" name="Rectangle 2"/>
          <p:cNvSpPr>
            <a:spLocks noGrp="1"/>
          </p:cNvSpPr>
          <p:nvPr>
            <p:ph type="title"/>
          </p:nvPr>
        </p:nvSpPr>
        <p:spPr/>
        <p:txBody>
          <a:bodyPr wrap="square" lIns="91440" tIns="45720" rIns="91440" bIns="45720" anchor="b" anchorCtr="0"/>
          <a:p>
            <a:pPr eaLnBrk="1" hangingPunct="1"/>
            <a:r>
              <a:rPr lang="zh-CN" altLang="zh-CN" b="1" dirty="0">
                <a:solidFill>
                  <a:srgbClr val="990099"/>
                </a:solidFill>
              </a:rPr>
              <a:t>实验</a:t>
            </a:r>
            <a:r>
              <a:rPr lang="zh-CN" altLang="zh-CN" b="1" dirty="0">
                <a:solidFill>
                  <a:srgbClr val="990099"/>
                </a:solidFill>
                <a:latin typeface="Times New Roman" panose="02020603050405020304" pitchFamily="18" charset="0"/>
              </a:rPr>
              <a:t>内容</a:t>
            </a:r>
            <a:r>
              <a:rPr lang="zh-CN" altLang="zh-CN" sz="3600" b="1" dirty="0">
                <a:solidFill>
                  <a:schemeClr val="tx1"/>
                </a:solidFill>
                <a:latin typeface="Times New Roman" panose="02020603050405020304" pitchFamily="18" charset="0"/>
                <a:ea typeface="楷体_GB2312" pitchFamily="49" charset="-122"/>
              </a:rPr>
              <a:t>－教材p74内容5－</a:t>
            </a:r>
            <a:r>
              <a:rPr lang="zh-CN" altLang="zh-CN" sz="3600" b="1" dirty="0">
                <a:solidFill>
                  <a:schemeClr val="folHlink"/>
                </a:solidFill>
                <a:latin typeface="Times New Roman" panose="02020603050405020304" pitchFamily="18" charset="0"/>
                <a:ea typeface="楷体_GB2312" pitchFamily="49" charset="-122"/>
              </a:rPr>
              <a:t>要记录</a:t>
            </a:r>
            <a:endParaRPr lang="zh-CN" altLang="zh-CN" sz="3600" b="1" dirty="0">
              <a:solidFill>
                <a:schemeClr val="folHlink"/>
              </a:solidFill>
              <a:latin typeface="Times New Roman" panose="02020603050405020304" pitchFamily="18" charset="0"/>
              <a:ea typeface="楷体_GB2312" pitchFamily="49" charset="-122"/>
            </a:endParaRPr>
          </a:p>
        </p:txBody>
      </p:sp>
      <p:sp>
        <p:nvSpPr>
          <p:cNvPr id="100354" name="Rectangle 3"/>
          <p:cNvSpPr>
            <a:spLocks noGrp="1"/>
          </p:cNvSpPr>
          <p:nvPr>
            <p:ph idx="1"/>
          </p:nvPr>
        </p:nvSpPr>
        <p:spPr>
          <a:xfrm>
            <a:off x="374650" y="4779963"/>
            <a:ext cx="8255000" cy="1925637"/>
          </a:xfrm>
        </p:spPr>
        <p:txBody>
          <a:bodyPr wrap="square" lIns="91440" tIns="45720" rIns="91440" bIns="45720" anchor="t" anchorCtr="0"/>
          <a:p>
            <a:pPr eaLnBrk="1" hangingPunct="1"/>
            <a:r>
              <a:rPr lang="zh-CN" altLang="zh-CN" sz="2800" b="1" dirty="0">
                <a:latin typeface="Times New Roman" panose="02020603050405020304" pitchFamily="18" charset="0"/>
              </a:rPr>
              <a:t>1KHz  4V</a:t>
            </a:r>
            <a:r>
              <a:rPr lang="zh-CN" altLang="zh-CN" sz="2000" b="1" dirty="0">
                <a:latin typeface="Times New Roman" panose="02020603050405020304" pitchFamily="18" charset="0"/>
              </a:rPr>
              <a:t>p-p</a:t>
            </a:r>
            <a:r>
              <a:rPr lang="zh-CN" altLang="zh-CN" sz="2800" b="1" dirty="0">
                <a:latin typeface="Times New Roman" panose="02020603050405020304" pitchFamily="18" charset="0"/>
              </a:rPr>
              <a:t>(</a:t>
            </a:r>
            <a:r>
              <a:rPr lang="zh-CN" altLang="zh-CN" sz="2400" b="1" dirty="0">
                <a:latin typeface="Times New Roman" panose="02020603050405020304" pitchFamily="18" charset="0"/>
              </a:rPr>
              <a:t>教材上是有效值)  </a:t>
            </a:r>
            <a:r>
              <a:rPr lang="zh-CN" altLang="zh-CN" sz="2800" b="1" dirty="0">
                <a:solidFill>
                  <a:schemeClr val="folHlink"/>
                </a:solidFill>
                <a:latin typeface="Times New Roman" panose="02020603050405020304" pitchFamily="18" charset="0"/>
              </a:rPr>
              <a:t>直流电平= </a:t>
            </a:r>
            <a:r>
              <a:rPr lang="zh-CN" altLang="zh-CN" sz="2800" dirty="0">
                <a:solidFill>
                  <a:schemeClr val="folHlink"/>
                </a:solidFill>
              </a:rPr>
              <a:t>-</a:t>
            </a:r>
            <a:r>
              <a:rPr lang="zh-CN" altLang="zh-CN" sz="2800" b="1" dirty="0">
                <a:solidFill>
                  <a:schemeClr val="folHlink"/>
                </a:solidFill>
                <a:latin typeface="Times New Roman" panose="02020603050405020304" pitchFamily="18" charset="0"/>
              </a:rPr>
              <a:t>1V </a:t>
            </a:r>
            <a:r>
              <a:rPr lang="zh-CN" altLang="zh-CN" sz="2800" b="1" dirty="0">
                <a:latin typeface="Times New Roman" panose="02020603050405020304" pitchFamily="18" charset="0"/>
              </a:rPr>
              <a:t>的正弦信号，经RC移相网络得同频不同相的两信号。</a:t>
            </a:r>
            <a:endParaRPr lang="zh-CN" altLang="zh-CN" sz="2800" b="1" dirty="0">
              <a:latin typeface="Times New Roman" panose="02020603050405020304" pitchFamily="18" charset="0"/>
            </a:endParaRPr>
          </a:p>
          <a:p>
            <a:pPr eaLnBrk="1" hangingPunct="1"/>
            <a:r>
              <a:rPr lang="zh-CN" altLang="zh-CN" sz="2800" b="1" dirty="0">
                <a:solidFill>
                  <a:schemeClr val="folHlink"/>
                </a:solidFill>
                <a:latin typeface="Times New Roman" panose="02020603050405020304" pitchFamily="18" charset="0"/>
              </a:rPr>
              <a:t>描绘输入输出信号对应波形</a:t>
            </a:r>
            <a:r>
              <a:rPr lang="zh-CN" altLang="zh-CN" sz="2800" b="1" dirty="0">
                <a:latin typeface="Times New Roman" panose="02020603050405020304" pitchFamily="18" charset="0"/>
              </a:rPr>
              <a:t>，要求相位关系明确、格式规范、参数准确－</a:t>
            </a:r>
            <a:r>
              <a:rPr lang="zh-CN" altLang="zh-CN" sz="2800" b="1" dirty="0">
                <a:latin typeface="Times New Roman" panose="02020603050405020304" pitchFamily="18" charset="0"/>
                <a:ea typeface="楷体_GB2312" pitchFamily="49" charset="-122"/>
              </a:rPr>
              <a:t>照抄图4.3.8行不通</a:t>
            </a:r>
            <a:r>
              <a:rPr lang="zh-CN" altLang="zh-CN" sz="2800" b="1" dirty="0">
                <a:latin typeface="Times New Roman" panose="02020603050405020304" pitchFamily="18" charset="0"/>
              </a:rPr>
              <a:t>。 </a:t>
            </a:r>
            <a:endParaRPr lang="zh-CN" altLang="zh-CN" sz="2800" b="1" dirty="0">
              <a:latin typeface="Times New Roman" panose="02020603050405020304" pitchFamily="18" charset="0"/>
            </a:endParaRPr>
          </a:p>
        </p:txBody>
      </p:sp>
      <p:pic>
        <p:nvPicPr>
          <p:cNvPr id="100355" name="Picture 4" descr="1"/>
          <p:cNvPicPr>
            <a:picLocks noChangeAspect="1"/>
          </p:cNvPicPr>
          <p:nvPr/>
        </p:nvPicPr>
        <p:blipFill>
          <a:blip r:embed="rId1"/>
          <a:stretch>
            <a:fillRect/>
          </a:stretch>
        </p:blipFill>
        <p:spPr>
          <a:xfrm>
            <a:off x="1784350" y="1352550"/>
            <a:ext cx="5165725" cy="3389313"/>
          </a:xfrm>
          <a:prstGeom prst="rect">
            <a:avLst/>
          </a:prstGeom>
          <a:noFill/>
          <a:ln w="9525">
            <a:noFill/>
          </a:ln>
        </p:spPr>
      </p:pic>
      <p:sp>
        <p:nvSpPr>
          <p:cNvPr id="100356" name="Rectangle 5"/>
          <p:cNvSpPr/>
          <p:nvPr/>
        </p:nvSpPr>
        <p:spPr>
          <a:xfrm>
            <a:off x="2827338" y="4418013"/>
            <a:ext cx="658812" cy="257175"/>
          </a:xfrm>
          <a:prstGeom prst="rect">
            <a:avLst/>
          </a:prstGeom>
          <a:solidFill>
            <a:schemeClr val="bg1"/>
          </a:solidFill>
          <a:ln w="9525">
            <a:noFill/>
          </a:ln>
        </p:spPr>
        <p:txBody>
          <a:bodyPr wrap="none" anchor="ctr" anchorCtr="0"/>
          <a:p>
            <a:pPr algn="ctr"/>
            <a:r>
              <a:rPr lang="zh-CN" altLang="zh-CN" b="1" dirty="0">
                <a:latin typeface="Tahoma" panose="020B0604030504040204" pitchFamily="34" charset="0"/>
                <a:ea typeface="宋体" panose="02010600030101010101" pitchFamily="2" charset="-122"/>
              </a:rPr>
              <a:t>4.3.7</a:t>
            </a:r>
            <a:endParaRPr lang="zh-CN" altLang="zh-CN" b="1" dirty="0">
              <a:latin typeface="Tahoma" panose="020B0604030504040204" pitchFamily="34" charset="0"/>
              <a:ea typeface="宋体" panose="02010600030101010101" pitchFamily="2" charset="-122"/>
            </a:endParaRPr>
          </a:p>
        </p:txBody>
      </p:sp>
      <p:pic>
        <p:nvPicPr>
          <p:cNvPr id="100357" name="Picture 6"/>
          <p:cNvPicPr>
            <a:picLocks noChangeAspect="1"/>
          </p:cNvPicPr>
          <p:nvPr/>
        </p:nvPicPr>
        <p:blipFill>
          <a:blip r:embed="rId2"/>
          <a:stretch>
            <a:fillRect/>
          </a:stretch>
        </p:blipFill>
        <p:spPr>
          <a:xfrm>
            <a:off x="915988" y="2089150"/>
            <a:ext cx="1504950" cy="1371600"/>
          </a:xfrm>
          <a:prstGeom prst="rect">
            <a:avLst/>
          </a:prstGeom>
          <a:noFill/>
          <a:ln w="9525">
            <a:noFill/>
          </a:ln>
        </p:spPr>
      </p:pic>
      <p:pic>
        <p:nvPicPr>
          <p:cNvPr id="100358" name="Picture 7" descr="DSC00041"/>
          <p:cNvPicPr>
            <a:picLocks noChangeAspect="1"/>
          </p:cNvPicPr>
          <p:nvPr/>
        </p:nvPicPr>
        <p:blipFill>
          <a:blip r:embed="rId3">
            <a:lum bright="20001" contrast="-20000"/>
          </a:blip>
          <a:stretch>
            <a:fillRect/>
          </a:stretch>
        </p:blipFill>
        <p:spPr>
          <a:xfrm>
            <a:off x="6281738" y="2047875"/>
            <a:ext cx="2660650" cy="1604963"/>
          </a:xfrm>
          <a:prstGeom prst="rect">
            <a:avLst/>
          </a:prstGeom>
          <a:noFill/>
          <a:ln w="9525">
            <a:noFill/>
          </a:ln>
        </p:spPr>
      </p:pic>
      <p:sp>
        <p:nvSpPr>
          <p:cNvPr id="100359" name="Oval 8"/>
          <p:cNvSpPr/>
          <p:nvPr/>
        </p:nvSpPr>
        <p:spPr>
          <a:xfrm>
            <a:off x="781050" y="2743200"/>
            <a:ext cx="873125" cy="769938"/>
          </a:xfrm>
          <a:prstGeom prst="ellipse">
            <a:avLst/>
          </a:prstGeom>
          <a:noFill/>
          <a:ln w="38100" cap="flat" cmpd="sng">
            <a:solidFill>
              <a:schemeClr val="folHlink"/>
            </a:solidFill>
            <a:prstDash val="solid"/>
            <a:round/>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02409" name="Oval 9"/>
          <p:cNvSpPr/>
          <p:nvPr/>
        </p:nvSpPr>
        <p:spPr>
          <a:xfrm>
            <a:off x="2701925" y="2168525"/>
            <a:ext cx="360363" cy="296863"/>
          </a:xfrm>
          <a:prstGeom prst="ellipse">
            <a:avLst/>
          </a:prstGeom>
          <a:noFill/>
          <a:ln w="38100" cap="flat" cmpd="sng">
            <a:solidFill>
              <a:schemeClr val="hlink"/>
            </a:solidFill>
            <a:prstDash val="solid"/>
            <a:round/>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02410" name="Oval 10"/>
          <p:cNvSpPr/>
          <p:nvPr/>
        </p:nvSpPr>
        <p:spPr>
          <a:xfrm>
            <a:off x="5054600" y="2136775"/>
            <a:ext cx="360363" cy="296863"/>
          </a:xfrm>
          <a:prstGeom prst="ellipse">
            <a:avLst/>
          </a:prstGeom>
          <a:noFill/>
          <a:ln w="38100" cap="flat" cmpd="sng">
            <a:solidFill>
              <a:schemeClr val="hlink"/>
            </a:solidFill>
            <a:prstDash val="solid"/>
            <a:round/>
            <a:headEnd type="none" w="med" len="med"/>
            <a:tailEnd type="none" w="med" len="med"/>
          </a:ln>
        </p:spPr>
        <p:txBody>
          <a:bodyPr wrap="none" anchor="ctr" anchorCtr="0"/>
          <a:p>
            <a:pPr algn="ctr"/>
            <a:endParaRPr lang="zh-CN" altLang="en-US" dirty="0">
              <a:latin typeface="Tahoma" panose="020B0604030504040204" pitchFamily="34" charset="0"/>
              <a:ea typeface="宋体" panose="02010600030101010101" pitchFamily="2" charset="-122"/>
            </a:endParaRPr>
          </a:p>
        </p:txBody>
      </p:sp>
      <p:sp>
        <p:nvSpPr>
          <p:cNvPr id="102411" name="Line 11"/>
          <p:cNvSpPr/>
          <p:nvPr/>
        </p:nvSpPr>
        <p:spPr>
          <a:xfrm>
            <a:off x="2989263" y="2465388"/>
            <a:ext cx="627062" cy="1665287"/>
          </a:xfrm>
          <a:prstGeom prst="line">
            <a:avLst/>
          </a:prstGeom>
          <a:ln w="38100" cap="flat" cmpd="sng">
            <a:solidFill>
              <a:schemeClr val="hlink"/>
            </a:solidFill>
            <a:prstDash val="solid"/>
            <a:round/>
            <a:headEnd type="none" w="med" len="med"/>
            <a:tailEnd type="none" w="med" len="med"/>
          </a:ln>
        </p:spPr>
      </p:sp>
      <p:sp>
        <p:nvSpPr>
          <p:cNvPr id="102412" name="Line 12"/>
          <p:cNvSpPr/>
          <p:nvPr/>
        </p:nvSpPr>
        <p:spPr>
          <a:xfrm flipV="1">
            <a:off x="3852863" y="2476500"/>
            <a:ext cx="1273175" cy="1663700"/>
          </a:xfrm>
          <a:prstGeom prst="line">
            <a:avLst/>
          </a:prstGeom>
          <a:ln w="38100" cap="flat" cmpd="sng">
            <a:solidFill>
              <a:schemeClr val="hlink"/>
            </a:solidFill>
            <a:prstDash val="solid"/>
            <a:round/>
            <a:headEnd type="none" w="med" len="med"/>
            <a:tailEnd type="none" w="med" len="med"/>
          </a:ln>
        </p:spPr>
      </p:sp>
      <p:sp>
        <p:nvSpPr>
          <p:cNvPr id="102413" name="Oval 13"/>
          <p:cNvSpPr/>
          <p:nvPr/>
        </p:nvSpPr>
        <p:spPr>
          <a:xfrm>
            <a:off x="4727575" y="3644900"/>
            <a:ext cx="1519238" cy="684213"/>
          </a:xfrm>
          <a:prstGeom prst="ellipse">
            <a:avLst/>
          </a:prstGeom>
          <a:noFill/>
          <a:ln w="38100" cap="rnd" cmpd="sng">
            <a:solidFill>
              <a:srgbClr val="800080"/>
            </a:solidFill>
            <a:prstDash val="sysDot"/>
            <a:round/>
            <a:headEnd type="none" w="med" len="med"/>
            <a:tailEnd type="none" w="med" len="med"/>
          </a:ln>
        </p:spPr>
        <p:txBody>
          <a:bodyPr wrap="none" anchor="ctr" anchorCtr="0"/>
          <a:p>
            <a:r>
              <a:rPr lang="zh-CN" altLang="zh-CN" sz="2400" b="1" dirty="0">
                <a:solidFill>
                  <a:srgbClr val="990099"/>
                </a:solidFill>
                <a:latin typeface="Tahoma" panose="020B0604030504040204" pitchFamily="34" charset="0"/>
                <a:ea typeface="宋体" panose="02010600030101010101" pitchFamily="2" charset="-122"/>
              </a:rPr>
              <a:t>   共地</a:t>
            </a:r>
            <a:r>
              <a:rPr lang="zh-CN" altLang="zh-CN" sz="2000" b="1" dirty="0">
                <a:solidFill>
                  <a:srgbClr val="990099"/>
                </a:solidFill>
                <a:latin typeface="Tahoma" panose="020B0604030504040204" pitchFamily="34" charset="0"/>
                <a:ea typeface="宋体" panose="02010600030101010101" pitchFamily="2" charset="-122"/>
              </a:rPr>
              <a:t>！</a:t>
            </a:r>
            <a:endParaRPr lang="zh-CN" altLang="zh-CN" sz="2000" b="1" dirty="0">
              <a:solidFill>
                <a:srgbClr val="990099"/>
              </a:solidFill>
              <a:latin typeface="Tahoma" panose="020B0604030504040204" pitchFamily="34" charset="0"/>
              <a:ea typeface="宋体" panose="02010600030101010101" pitchFamily="2" charset="-122"/>
            </a:endParaRPr>
          </a:p>
        </p:txBody>
      </p:sp>
      <p:sp>
        <p:nvSpPr>
          <p:cNvPr id="102414" name="Text Box 14"/>
          <p:cNvSpPr txBox="1"/>
          <p:nvPr/>
        </p:nvSpPr>
        <p:spPr>
          <a:xfrm>
            <a:off x="1090613" y="4089400"/>
            <a:ext cx="3368675" cy="366713"/>
          </a:xfrm>
          <a:prstGeom prst="rect">
            <a:avLst/>
          </a:prstGeom>
          <a:noFill/>
          <a:ln w="9525">
            <a:noFill/>
          </a:ln>
        </p:spPr>
        <p:txBody>
          <a:bodyPr anchor="t" anchorCtr="0">
            <a:spAutoFit/>
          </a:bodyPr>
          <a:p>
            <a:pPr algn="ctr">
              <a:spcBef>
                <a:spcPct val="50000"/>
              </a:spcBef>
            </a:pPr>
            <a:r>
              <a:rPr lang="zh-CN" altLang="zh-CN" b="1" dirty="0">
                <a:solidFill>
                  <a:schemeClr val="hlink"/>
                </a:solidFill>
                <a:latin typeface="Tahoma" panose="020B0604030504040204" pitchFamily="34" charset="0"/>
                <a:ea typeface="楷体_GB2312" pitchFamily="49" charset="-122"/>
              </a:rPr>
              <a:t>实际设备中就是探头的黑夹</a:t>
            </a:r>
            <a:endParaRPr lang="zh-CN" altLang="zh-CN" b="1" dirty="0">
              <a:solidFill>
                <a:schemeClr val="hlink"/>
              </a:solidFill>
              <a:latin typeface="Tahoma" panose="020B060403050404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4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9" grpId="0" bldLvl="0" animBg="1"/>
      <p:bldP spid="102410" grpId="0" bldLvl="0" animBg="1"/>
      <p:bldP spid="102413" grpId="0" bldLvl="0" animBg="1"/>
      <p:bldP spid="102414" grpId="0"/>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1377" name="Rectangle 2"/>
          <p:cNvSpPr>
            <a:spLocks noGrp="1"/>
          </p:cNvSpPr>
          <p:nvPr>
            <p:ph type="title"/>
          </p:nvPr>
        </p:nvSpPr>
        <p:spPr>
          <a:xfrm>
            <a:off x="879475" y="360363"/>
            <a:ext cx="8027988" cy="768350"/>
          </a:xfrm>
        </p:spPr>
        <p:txBody>
          <a:bodyPr wrap="square" lIns="91440" tIns="45720" rIns="91440" bIns="45720" anchor="b" anchorCtr="0"/>
          <a:p>
            <a:pPr eaLnBrk="1" hangingPunct="1"/>
            <a:r>
              <a:rPr lang="zh-CN" altLang="zh-CN" b="1" dirty="0">
                <a:solidFill>
                  <a:srgbClr val="990099"/>
                </a:solidFill>
              </a:rPr>
              <a:t>实验内容－</a:t>
            </a:r>
            <a:r>
              <a:rPr lang="zh-CN" altLang="zh-CN" sz="3600" b="1" dirty="0">
                <a:solidFill>
                  <a:schemeClr val="tx1"/>
                </a:solidFill>
                <a:ea typeface="楷体_GB2312" pitchFamily="49" charset="-122"/>
              </a:rPr>
              <a:t>半波整流电路－</a:t>
            </a:r>
            <a:r>
              <a:rPr lang="zh-CN" altLang="zh-CN" sz="3600" b="1" dirty="0">
                <a:solidFill>
                  <a:schemeClr val="folHlink"/>
                </a:solidFill>
                <a:latin typeface="Times New Roman" panose="02020603050405020304" pitchFamily="18" charset="0"/>
                <a:ea typeface="楷体_GB2312" pitchFamily="49" charset="-122"/>
              </a:rPr>
              <a:t>要记录</a:t>
            </a:r>
            <a:endParaRPr lang="zh-CN" altLang="zh-CN" sz="3600" b="1" dirty="0">
              <a:solidFill>
                <a:schemeClr val="folHlink"/>
              </a:solidFill>
              <a:latin typeface="Times New Roman" panose="02020603050405020304" pitchFamily="18" charset="0"/>
              <a:ea typeface="楷体_GB2312" pitchFamily="49" charset="-122"/>
            </a:endParaRPr>
          </a:p>
        </p:txBody>
      </p:sp>
      <p:sp>
        <p:nvSpPr>
          <p:cNvPr id="101378" name="Rectangle 3"/>
          <p:cNvSpPr>
            <a:spLocks noGrp="1"/>
          </p:cNvSpPr>
          <p:nvPr>
            <p:ph idx="1"/>
          </p:nvPr>
        </p:nvSpPr>
        <p:spPr>
          <a:xfrm>
            <a:off x="388938" y="3700463"/>
            <a:ext cx="8293100" cy="2994025"/>
          </a:xfrm>
        </p:spPr>
        <p:txBody>
          <a:bodyPr wrap="square" lIns="91440" tIns="45720" rIns="91440" bIns="45720" anchor="t" anchorCtr="0"/>
          <a:p>
            <a:pPr marL="0" indent="0" eaLnBrk="1" hangingPunct="1">
              <a:lnSpc>
                <a:spcPct val="110000"/>
              </a:lnSpc>
              <a:spcBef>
                <a:spcPct val="30000"/>
              </a:spcBef>
              <a:buNone/>
            </a:pPr>
            <a:r>
              <a:rPr lang="zh-CN" altLang="zh-CN" sz="2400" b="1" dirty="0">
                <a:latin typeface="Times New Roman" panose="02020603050405020304" pitchFamily="18" charset="0"/>
              </a:rPr>
              <a:t>  将前图中电容更换为二极管1n4148，输入信号不变，仍为1KHz  4V</a:t>
            </a:r>
            <a:r>
              <a:rPr lang="zh-CN" altLang="zh-CN" sz="1800" b="1" dirty="0">
                <a:latin typeface="Times New Roman" panose="02020603050405020304" pitchFamily="18" charset="0"/>
              </a:rPr>
              <a:t>p-p  </a:t>
            </a:r>
            <a:r>
              <a:rPr lang="zh-CN" altLang="zh-CN" sz="2400" b="1" dirty="0">
                <a:solidFill>
                  <a:schemeClr val="folHlink"/>
                </a:solidFill>
                <a:latin typeface="Times New Roman" panose="02020603050405020304" pitchFamily="18" charset="0"/>
              </a:rPr>
              <a:t>offset= </a:t>
            </a:r>
            <a:r>
              <a:rPr lang="zh-CN" altLang="zh-CN" sz="2400" dirty="0">
                <a:solidFill>
                  <a:schemeClr val="folHlink"/>
                </a:solidFill>
              </a:rPr>
              <a:t>-</a:t>
            </a:r>
            <a:r>
              <a:rPr lang="zh-CN" altLang="zh-CN" sz="2400" b="1" dirty="0">
                <a:solidFill>
                  <a:schemeClr val="folHlink"/>
                </a:solidFill>
                <a:latin typeface="Times New Roman" panose="02020603050405020304" pitchFamily="18" charset="0"/>
              </a:rPr>
              <a:t>1V </a:t>
            </a:r>
            <a:r>
              <a:rPr lang="zh-CN" altLang="zh-CN" sz="2400" b="1" dirty="0">
                <a:latin typeface="Times New Roman" panose="02020603050405020304" pitchFamily="18" charset="0"/>
              </a:rPr>
              <a:t>。</a:t>
            </a:r>
            <a:r>
              <a:rPr lang="zh-CN" altLang="zh-CN" sz="2400" b="1" dirty="0"/>
              <a:t>用双踪示波器</a:t>
            </a:r>
            <a:r>
              <a:rPr lang="zh-CN" altLang="zh-CN" sz="2400" b="1" dirty="0">
                <a:solidFill>
                  <a:schemeClr val="hlink"/>
                </a:solidFill>
              </a:rPr>
              <a:t>直流耦合</a:t>
            </a:r>
            <a:r>
              <a:rPr lang="zh-CN" altLang="zh-CN" sz="2400" b="1" dirty="0"/>
              <a:t>方式</a:t>
            </a:r>
            <a:r>
              <a:rPr lang="zh-CN" altLang="zh-CN" sz="2400" b="1" dirty="0">
                <a:latin typeface="宋体" panose="02010600030101010101" pitchFamily="2" charset="-122"/>
              </a:rPr>
              <a:t>双踪同显，</a:t>
            </a:r>
            <a:r>
              <a:rPr lang="zh-CN" altLang="zh-CN" sz="2400" b="1" dirty="0"/>
              <a:t>测量、比对半波整流电路</a:t>
            </a:r>
            <a:r>
              <a:rPr lang="zh-CN" altLang="zh-CN" sz="2400" b="1" dirty="0">
                <a:solidFill>
                  <a:schemeClr val="folHlink"/>
                </a:solidFill>
              </a:rPr>
              <a:t>输入输出信号</a:t>
            </a:r>
            <a:r>
              <a:rPr lang="zh-CN" altLang="zh-CN" sz="2400" b="1" dirty="0"/>
              <a:t>的对应关系</a:t>
            </a:r>
            <a:r>
              <a:rPr lang="zh-CN" altLang="zh-CN" sz="2400" b="1" dirty="0">
                <a:latin typeface="宋体" panose="02010600030101010101" pitchFamily="2" charset="-122"/>
              </a:rPr>
              <a:t>。</a:t>
            </a:r>
            <a:endParaRPr lang="zh-CN" altLang="zh-CN" sz="2400" b="1" dirty="0">
              <a:latin typeface="宋体" panose="02010600030101010101" pitchFamily="2" charset="-122"/>
            </a:endParaRPr>
          </a:p>
          <a:p>
            <a:pPr marL="0" indent="0" eaLnBrk="1" hangingPunct="1">
              <a:lnSpc>
                <a:spcPct val="110000"/>
              </a:lnSpc>
              <a:spcBef>
                <a:spcPct val="30000"/>
              </a:spcBef>
              <a:buNone/>
            </a:pPr>
            <a:r>
              <a:rPr lang="zh-CN" altLang="zh-CN" sz="2400" b="1" dirty="0">
                <a:latin typeface="楷体_GB2312" pitchFamily="49" charset="-122"/>
                <a:ea typeface="楷体_GB2312" pitchFamily="49" charset="-122"/>
              </a:rPr>
              <a:t>要求：在报告纸上描绘半波整流电路输入输出信号的对应波形关系，必须格式规范、参数准确</a:t>
            </a:r>
            <a:r>
              <a:rPr lang="zh-CN" altLang="zh-CN" sz="2400" b="1" dirty="0">
                <a:solidFill>
                  <a:schemeClr val="hlink"/>
                </a:solidFill>
                <a:latin typeface="宋体" panose="02010600030101010101" pitchFamily="2" charset="-122"/>
              </a:rPr>
              <a:t>－看示波器测量值</a:t>
            </a:r>
            <a:r>
              <a:rPr lang="zh-CN" altLang="zh-CN" sz="2400" b="1" dirty="0"/>
              <a:t>。</a:t>
            </a:r>
            <a:endParaRPr lang="zh-CN" altLang="zh-CN" sz="2400" b="1" dirty="0"/>
          </a:p>
          <a:p>
            <a:pPr marL="0" indent="0" eaLnBrk="1" hangingPunct="1">
              <a:lnSpc>
                <a:spcPct val="110000"/>
              </a:lnSpc>
              <a:buNone/>
            </a:pPr>
            <a:r>
              <a:rPr lang="zh-CN" altLang="zh-CN" sz="2800" b="1" dirty="0"/>
              <a:t>  </a:t>
            </a:r>
            <a:r>
              <a:rPr lang="zh-CN" altLang="zh-CN" sz="2800" b="1" dirty="0">
                <a:solidFill>
                  <a:srgbClr val="990099"/>
                </a:solidFill>
                <a:latin typeface="楷体_GB2312" pitchFamily="49" charset="-122"/>
                <a:ea typeface="楷体_GB2312" pitchFamily="49" charset="-122"/>
              </a:rPr>
              <a:t>现场自查，课后报告只需上述整理后的规范记录。</a:t>
            </a:r>
            <a:endParaRPr lang="zh-CN" altLang="zh-CN" sz="2800" b="1" dirty="0">
              <a:solidFill>
                <a:srgbClr val="990099"/>
              </a:solidFill>
              <a:latin typeface="楷体_GB2312" pitchFamily="49" charset="-122"/>
              <a:ea typeface="楷体_GB2312" pitchFamily="49" charset="-122"/>
            </a:endParaRPr>
          </a:p>
        </p:txBody>
      </p:sp>
      <p:pic>
        <p:nvPicPr>
          <p:cNvPr id="101379" name="Picture 4"/>
          <p:cNvPicPr>
            <a:picLocks noChangeAspect="1"/>
          </p:cNvPicPr>
          <p:nvPr/>
        </p:nvPicPr>
        <p:blipFill>
          <a:blip r:embed="rId1"/>
          <a:stretch>
            <a:fillRect/>
          </a:stretch>
        </p:blipFill>
        <p:spPr>
          <a:xfrm>
            <a:off x="2798763" y="1428750"/>
            <a:ext cx="3133725" cy="1876425"/>
          </a:xfrm>
          <a:prstGeom prst="rect">
            <a:avLst/>
          </a:prstGeom>
          <a:noFill/>
          <a:ln w="9525">
            <a:noFill/>
          </a:ln>
        </p:spPr>
      </p:pic>
      <p:pic>
        <p:nvPicPr>
          <p:cNvPr id="101380" name="Picture 5" descr="DSC00041"/>
          <p:cNvPicPr>
            <a:picLocks noChangeAspect="1"/>
          </p:cNvPicPr>
          <p:nvPr/>
        </p:nvPicPr>
        <p:blipFill>
          <a:blip r:embed="rId2">
            <a:lum bright="20001" contrast="-20000"/>
          </a:blip>
          <a:stretch>
            <a:fillRect/>
          </a:stretch>
        </p:blipFill>
        <p:spPr>
          <a:xfrm>
            <a:off x="6272213" y="1420813"/>
            <a:ext cx="2660650" cy="1604962"/>
          </a:xfrm>
          <a:prstGeom prst="rect">
            <a:avLst/>
          </a:prstGeom>
          <a:noFill/>
          <a:ln w="9525">
            <a:noFill/>
          </a:ln>
        </p:spPr>
      </p:pic>
      <p:pic>
        <p:nvPicPr>
          <p:cNvPr id="101381" name="Picture 6"/>
          <p:cNvPicPr>
            <a:picLocks noChangeAspect="1"/>
          </p:cNvPicPr>
          <p:nvPr/>
        </p:nvPicPr>
        <p:blipFill>
          <a:blip r:embed="rId3"/>
          <a:stretch>
            <a:fillRect/>
          </a:stretch>
        </p:blipFill>
        <p:spPr>
          <a:xfrm>
            <a:off x="515938" y="1401763"/>
            <a:ext cx="1504950" cy="1371600"/>
          </a:xfrm>
          <a:prstGeom prst="rect">
            <a:avLst/>
          </a:prstGeom>
          <a:noFill/>
          <a:ln w="9525">
            <a:noFill/>
          </a:ln>
        </p:spPr>
      </p:pic>
      <p:sp>
        <p:nvSpPr>
          <p:cNvPr id="101382" name="AutoShape 7"/>
          <p:cNvSpPr/>
          <p:nvPr/>
        </p:nvSpPr>
        <p:spPr>
          <a:xfrm>
            <a:off x="5222875" y="3286125"/>
            <a:ext cx="3552825" cy="360363"/>
          </a:xfrm>
          <a:prstGeom prst="wedgeRoundRectCallout">
            <a:avLst>
              <a:gd name="adj1" fmla="val -59606"/>
              <a:gd name="adj2" fmla="val -115639"/>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p>
            <a:pPr algn="ctr"/>
            <a:r>
              <a:rPr lang="zh-CN" altLang="zh-CN" b="1" dirty="0">
                <a:latin typeface="Arial" panose="020B0604020202020204" pitchFamily="34" charset="0"/>
                <a:ea typeface="宋体" panose="02010600030101010101" pitchFamily="2" charset="-122"/>
              </a:rPr>
              <a:t>依然要注意设备和电路共地！</a:t>
            </a:r>
            <a:endParaRPr lang="zh-CN" altLang="zh-CN" b="1" dirty="0">
              <a:latin typeface="Arial" panose="020B0604020202020204" pitchFamily="34" charset="0"/>
              <a:ea typeface="宋体" panose="02010600030101010101" pitchFamily="2" charset="-122"/>
            </a:endParaRPr>
          </a:p>
        </p:txBody>
      </p:sp>
      <p:sp>
        <p:nvSpPr>
          <p:cNvPr id="101383" name="Line 8"/>
          <p:cNvSpPr/>
          <p:nvPr/>
        </p:nvSpPr>
        <p:spPr>
          <a:xfrm flipH="1" flipV="1">
            <a:off x="2479675" y="2795588"/>
            <a:ext cx="473075" cy="179387"/>
          </a:xfrm>
          <a:prstGeom prst="line">
            <a:avLst/>
          </a:prstGeom>
          <a:ln w="50800" cap="flat" cmpd="sng">
            <a:solidFill>
              <a:schemeClr val="tx1"/>
            </a:solidFill>
            <a:prstDash val="solid"/>
            <a:round/>
            <a:headEnd type="none" w="med" len="med"/>
            <a:tailEnd type="none" w="med" len="med"/>
          </a:ln>
        </p:spPr>
      </p:sp>
      <p:sp>
        <p:nvSpPr>
          <p:cNvPr id="101384" name="Line 9"/>
          <p:cNvSpPr/>
          <p:nvPr/>
        </p:nvSpPr>
        <p:spPr>
          <a:xfrm flipV="1">
            <a:off x="5727700" y="2806700"/>
            <a:ext cx="473075" cy="209550"/>
          </a:xfrm>
          <a:prstGeom prst="line">
            <a:avLst/>
          </a:prstGeom>
          <a:ln w="57150" cap="flat" cmpd="sng">
            <a:solidFill>
              <a:schemeClr val="tx1"/>
            </a:solidFill>
            <a:prstDash val="solid"/>
            <a:round/>
            <a:headEnd type="none" w="med" len="med"/>
            <a:tailEnd type="none" w="med" len="med"/>
          </a:ln>
        </p:spPr>
      </p:sp>
      <p:sp>
        <p:nvSpPr>
          <p:cNvPr id="101385" name="Line 10"/>
          <p:cNvSpPr/>
          <p:nvPr/>
        </p:nvSpPr>
        <p:spPr>
          <a:xfrm flipV="1">
            <a:off x="2479675" y="1703388"/>
            <a:ext cx="473075" cy="209550"/>
          </a:xfrm>
          <a:prstGeom prst="line">
            <a:avLst/>
          </a:prstGeom>
          <a:ln w="57150" cap="flat" cmpd="sng">
            <a:solidFill>
              <a:srgbClr val="FF0000"/>
            </a:solidFill>
            <a:prstDash val="solid"/>
            <a:round/>
            <a:headEnd type="none" w="med" len="med"/>
            <a:tailEnd type="none" w="med" len="med"/>
          </a:ln>
        </p:spPr>
      </p:sp>
      <p:sp>
        <p:nvSpPr>
          <p:cNvPr id="101386" name="Line 11"/>
          <p:cNvSpPr/>
          <p:nvPr/>
        </p:nvSpPr>
        <p:spPr>
          <a:xfrm flipH="1" flipV="1">
            <a:off x="5664200" y="1692275"/>
            <a:ext cx="473075" cy="179388"/>
          </a:xfrm>
          <a:prstGeom prst="line">
            <a:avLst/>
          </a:prstGeom>
          <a:ln w="50800" cap="flat" cmpd="sng">
            <a:solidFill>
              <a:srgbClr val="FF0000"/>
            </a:solidFill>
            <a:prstDash val="solid"/>
            <a:round/>
            <a:headEnd type="none" w="med" len="med"/>
            <a:tailEnd type="none" w="med" len="med"/>
          </a:ln>
        </p:spPr>
      </p:sp>
      <p:sp>
        <p:nvSpPr>
          <p:cNvPr id="101387" name="Line 12"/>
          <p:cNvSpPr/>
          <p:nvPr/>
        </p:nvSpPr>
        <p:spPr>
          <a:xfrm flipH="1" flipV="1">
            <a:off x="2951163" y="1712913"/>
            <a:ext cx="473075" cy="179387"/>
          </a:xfrm>
          <a:prstGeom prst="line">
            <a:avLst/>
          </a:prstGeom>
          <a:ln w="50800" cap="flat" cmpd="sng">
            <a:solidFill>
              <a:srgbClr val="FF0000"/>
            </a:solidFill>
            <a:prstDash val="solid"/>
            <a:round/>
            <a:headEnd type="none" w="med" len="med"/>
            <a:tailEnd type="none" w="med" len="med"/>
          </a:ln>
        </p:spPr>
      </p:sp>
      <p:sp>
        <p:nvSpPr>
          <p:cNvPr id="101388" name="Line 13"/>
          <p:cNvSpPr/>
          <p:nvPr/>
        </p:nvSpPr>
        <p:spPr>
          <a:xfrm flipV="1">
            <a:off x="5716588" y="2627313"/>
            <a:ext cx="420687" cy="346075"/>
          </a:xfrm>
          <a:prstGeom prst="line">
            <a:avLst/>
          </a:prstGeom>
          <a:ln w="57150" cap="flat" cmpd="sng">
            <a:solidFill>
              <a:schemeClr val="tx1"/>
            </a:solidFill>
            <a:prstDash val="solid"/>
            <a:round/>
            <a:headEnd type="none" w="med" len="med"/>
            <a:tailEnd type="none" w="med" len="med"/>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ChangeArrowheads="1"/>
          </p:cNvSpPr>
          <p:nvPr>
            <p:ph type="title" idx="4294967295"/>
          </p:nvPr>
        </p:nvSpPr>
        <p:spPr>
          <a:xfrm>
            <a:off x="0" y="188913"/>
            <a:ext cx="8229600" cy="777875"/>
          </a:xfrm>
        </p:spPr>
        <p:txBody>
          <a:bodyPr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实验内容</a:t>
            </a:r>
            <a:r>
              <a:rPr kumimoji="0" lang="en-US" altLang="zh-CN"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1</a:t>
            </a:r>
            <a:r>
              <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：半波整流电路测量</a:t>
            </a:r>
            <a:endPar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endParaRPr>
          </a:p>
        </p:txBody>
      </p:sp>
      <p:sp>
        <p:nvSpPr>
          <p:cNvPr id="46083" name="Line 4"/>
          <p:cNvSpPr/>
          <p:nvPr/>
        </p:nvSpPr>
        <p:spPr>
          <a:xfrm>
            <a:off x="2339975" y="3571875"/>
            <a:ext cx="3598863" cy="0"/>
          </a:xfrm>
          <a:prstGeom prst="line">
            <a:avLst/>
          </a:prstGeom>
          <a:ln w="76200" cap="flat" cmpd="sng">
            <a:solidFill>
              <a:schemeClr val="tx1"/>
            </a:solidFill>
            <a:prstDash val="solid"/>
            <a:headEnd type="none" w="med" len="med"/>
            <a:tailEnd type="none" w="med" len="med"/>
          </a:ln>
        </p:spPr>
      </p:sp>
      <p:sp>
        <p:nvSpPr>
          <p:cNvPr id="46084" name="Oval 5"/>
          <p:cNvSpPr/>
          <p:nvPr/>
        </p:nvSpPr>
        <p:spPr>
          <a:xfrm>
            <a:off x="2195513" y="3500438"/>
            <a:ext cx="144462"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6085" name="Oval 6"/>
          <p:cNvSpPr/>
          <p:nvPr/>
        </p:nvSpPr>
        <p:spPr>
          <a:xfrm>
            <a:off x="5867400" y="3500438"/>
            <a:ext cx="144463"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6086" name="Line 7"/>
          <p:cNvSpPr/>
          <p:nvPr/>
        </p:nvSpPr>
        <p:spPr>
          <a:xfrm>
            <a:off x="2339975" y="2060575"/>
            <a:ext cx="3598863" cy="0"/>
          </a:xfrm>
          <a:prstGeom prst="line">
            <a:avLst/>
          </a:prstGeom>
          <a:ln w="76200" cap="flat" cmpd="sng">
            <a:solidFill>
              <a:schemeClr val="tx1"/>
            </a:solidFill>
            <a:prstDash val="solid"/>
            <a:headEnd type="none" w="med" len="med"/>
            <a:tailEnd type="none" w="med" len="med"/>
          </a:ln>
        </p:spPr>
      </p:sp>
      <p:sp>
        <p:nvSpPr>
          <p:cNvPr id="46087" name="Oval 8"/>
          <p:cNvSpPr/>
          <p:nvPr/>
        </p:nvSpPr>
        <p:spPr>
          <a:xfrm>
            <a:off x="2195513" y="1989138"/>
            <a:ext cx="144462"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6088" name="Oval 9"/>
          <p:cNvSpPr/>
          <p:nvPr/>
        </p:nvSpPr>
        <p:spPr>
          <a:xfrm>
            <a:off x="5867400" y="1989138"/>
            <a:ext cx="144463"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6089" name="Text Box 10"/>
          <p:cNvSpPr txBox="1"/>
          <p:nvPr/>
        </p:nvSpPr>
        <p:spPr>
          <a:xfrm>
            <a:off x="1763713" y="2636838"/>
            <a:ext cx="431800" cy="366712"/>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v</a:t>
            </a:r>
            <a:r>
              <a:rPr lang="en-US" altLang="zh-CN" sz="1800" baseline="-25000" dirty="0">
                <a:ea typeface="宋体" panose="02010600030101010101" pitchFamily="2" charset="-122"/>
              </a:rPr>
              <a:t>i</a:t>
            </a:r>
            <a:endParaRPr lang="en-US" altLang="zh-CN" sz="1800" baseline="-25000" dirty="0">
              <a:ea typeface="宋体" panose="02010600030101010101" pitchFamily="2" charset="-122"/>
            </a:endParaRPr>
          </a:p>
        </p:txBody>
      </p:sp>
      <p:sp>
        <p:nvSpPr>
          <p:cNvPr id="46090" name="Line 14"/>
          <p:cNvSpPr/>
          <p:nvPr/>
        </p:nvSpPr>
        <p:spPr>
          <a:xfrm>
            <a:off x="4643438" y="2060575"/>
            <a:ext cx="0" cy="2160588"/>
          </a:xfrm>
          <a:prstGeom prst="line">
            <a:avLst/>
          </a:prstGeom>
          <a:ln w="76200" cap="flat" cmpd="sng">
            <a:solidFill>
              <a:schemeClr val="tx1"/>
            </a:solidFill>
            <a:prstDash val="solid"/>
            <a:headEnd type="none" w="med" len="med"/>
            <a:tailEnd type="none" w="med" len="med"/>
          </a:ln>
        </p:spPr>
      </p:sp>
      <p:sp>
        <p:nvSpPr>
          <p:cNvPr id="46091" name="Line 15"/>
          <p:cNvSpPr/>
          <p:nvPr/>
        </p:nvSpPr>
        <p:spPr>
          <a:xfrm>
            <a:off x="3708400" y="1882775"/>
            <a:ext cx="0" cy="360363"/>
          </a:xfrm>
          <a:prstGeom prst="line">
            <a:avLst/>
          </a:prstGeom>
          <a:ln w="38100" cap="flat" cmpd="sng">
            <a:solidFill>
              <a:schemeClr val="tx1"/>
            </a:solidFill>
            <a:prstDash val="solid"/>
            <a:headEnd type="none" w="med" len="med"/>
            <a:tailEnd type="none" w="med" len="med"/>
          </a:ln>
        </p:spPr>
      </p:sp>
      <p:sp>
        <p:nvSpPr>
          <p:cNvPr id="46092" name="AutoShape 16"/>
          <p:cNvSpPr/>
          <p:nvPr/>
        </p:nvSpPr>
        <p:spPr>
          <a:xfrm rot="5400000">
            <a:off x="3382963" y="1917700"/>
            <a:ext cx="360362" cy="288925"/>
          </a:xfrm>
          <a:prstGeom prst="triangle">
            <a:avLst>
              <a:gd name="adj" fmla="val 50000"/>
            </a:avLst>
          </a:prstGeom>
          <a:solidFill>
            <a:schemeClr val="accent1"/>
          </a:solidFill>
          <a:ln w="38100" cap="flat" cmpd="sng">
            <a:solidFill>
              <a:schemeClr val="tx1"/>
            </a:solidFill>
            <a:prstDash val="solid"/>
            <a:miter/>
            <a:headEnd type="none" w="med" len="med"/>
            <a:tailEnd type="none" w="med" len="med"/>
          </a:ln>
        </p:spPr>
        <p:txBody>
          <a:bodyPr rot="10800000" vert="eaVert"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6093" name="Rectangle 17"/>
          <p:cNvSpPr/>
          <p:nvPr/>
        </p:nvSpPr>
        <p:spPr>
          <a:xfrm rot="-5400000">
            <a:off x="4310063" y="2709863"/>
            <a:ext cx="647700" cy="215900"/>
          </a:xfrm>
          <a:prstGeom prst="rect">
            <a:avLst/>
          </a:prstGeom>
          <a:solidFill>
            <a:schemeClr val="accent1"/>
          </a:solidFill>
          <a:ln w="38100"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6094" name="Text Box 18"/>
          <p:cNvSpPr txBox="1"/>
          <p:nvPr/>
        </p:nvSpPr>
        <p:spPr>
          <a:xfrm>
            <a:off x="6156325" y="2563813"/>
            <a:ext cx="431800" cy="366712"/>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v</a:t>
            </a:r>
            <a:r>
              <a:rPr lang="en-US" altLang="zh-CN" sz="1800" baseline="-25000" dirty="0">
                <a:ea typeface="宋体" panose="02010600030101010101" pitchFamily="2" charset="-122"/>
              </a:rPr>
              <a:t>o</a:t>
            </a:r>
            <a:endParaRPr lang="en-US" altLang="zh-CN" sz="1800" baseline="-25000" dirty="0">
              <a:ea typeface="宋体" panose="02010600030101010101" pitchFamily="2" charset="-122"/>
            </a:endParaRPr>
          </a:p>
        </p:txBody>
      </p:sp>
      <p:sp>
        <p:nvSpPr>
          <p:cNvPr id="46095" name="Text Box 19"/>
          <p:cNvSpPr txBox="1"/>
          <p:nvPr/>
        </p:nvSpPr>
        <p:spPr>
          <a:xfrm>
            <a:off x="1835150" y="18446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6096" name="Text Box 20"/>
          <p:cNvSpPr txBox="1"/>
          <p:nvPr/>
        </p:nvSpPr>
        <p:spPr>
          <a:xfrm>
            <a:off x="1836738" y="33559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6097" name="Line 23"/>
          <p:cNvSpPr/>
          <p:nvPr/>
        </p:nvSpPr>
        <p:spPr>
          <a:xfrm>
            <a:off x="4427538" y="4221163"/>
            <a:ext cx="431800" cy="0"/>
          </a:xfrm>
          <a:prstGeom prst="line">
            <a:avLst/>
          </a:prstGeom>
          <a:ln w="76200" cap="flat" cmpd="sng">
            <a:solidFill>
              <a:schemeClr val="tx1"/>
            </a:solidFill>
            <a:prstDash val="solid"/>
            <a:headEnd type="none" w="med" len="med"/>
            <a:tailEnd type="none" w="med" len="med"/>
          </a:ln>
        </p:spPr>
      </p:sp>
      <p:sp>
        <p:nvSpPr>
          <p:cNvPr id="46098" name="Text Box 24"/>
          <p:cNvSpPr txBox="1"/>
          <p:nvPr/>
        </p:nvSpPr>
        <p:spPr>
          <a:xfrm>
            <a:off x="6156325" y="18446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6099" name="Text Box 25"/>
          <p:cNvSpPr txBox="1"/>
          <p:nvPr/>
        </p:nvSpPr>
        <p:spPr>
          <a:xfrm>
            <a:off x="6156325" y="33559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6100" name="矩形 1"/>
          <p:cNvSpPr/>
          <p:nvPr/>
        </p:nvSpPr>
        <p:spPr>
          <a:xfrm>
            <a:off x="755650" y="4508500"/>
            <a:ext cx="7056438" cy="1939925"/>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输入信号为</a:t>
            </a:r>
            <a:r>
              <a:rPr lang="en-US" altLang="zh-CN" sz="2400" dirty="0">
                <a:latin typeface="楷体" panose="02010609060101010101" charset="-122"/>
                <a:ea typeface="楷体" panose="02010609060101010101" charset="-122"/>
              </a:rPr>
              <a:t>Vipp=4v</a:t>
            </a:r>
            <a:r>
              <a:rPr lang="zh-CN" altLang="zh-CN" sz="2400" dirty="0">
                <a:latin typeface="楷体" panose="02010609060101010101" charset="-122"/>
                <a:ea typeface="楷体" panose="02010609060101010101" charset="-122"/>
              </a:rPr>
              <a:t>，</a:t>
            </a:r>
            <a:r>
              <a:rPr lang="en-US" altLang="zh-CN" sz="2400" dirty="0">
                <a:latin typeface="楷体" panose="02010609060101010101" charset="-122"/>
                <a:ea typeface="楷体" panose="02010609060101010101" charset="-122"/>
              </a:rPr>
              <a:t>fi=2KHz</a:t>
            </a:r>
            <a:r>
              <a:rPr lang="zh-CN" altLang="zh-CN" sz="2400" dirty="0">
                <a:latin typeface="楷体" panose="02010609060101010101" charset="-122"/>
                <a:ea typeface="楷体" panose="02010609060101010101" charset="-122"/>
              </a:rPr>
              <a:t>的正弦波。</a:t>
            </a:r>
            <a:endParaRPr lang="zh-CN" altLang="zh-CN" sz="2400" dirty="0">
              <a:latin typeface="楷体" panose="02010609060101010101" charset="-122"/>
              <a:ea typeface="楷体" panose="02010609060101010101" charset="-122"/>
            </a:endParaRPr>
          </a:p>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利用双踪示波器直流耦合方式测量、比对半波整流电路输入输出信号的对应波形关系。</a:t>
            </a:r>
            <a:endParaRPr lang="zh-CN" altLang="zh-CN" sz="2400" dirty="0">
              <a:latin typeface="楷体" panose="02010609060101010101" charset="-122"/>
              <a:ea typeface="楷体" panose="02010609060101010101" charset="-122"/>
            </a:endParaRPr>
          </a:p>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描绘半波整流电路输入输出信号的对应波形关系。</a:t>
            </a:r>
            <a:endParaRPr lang="en-US" altLang="zh-CN" sz="2400" dirty="0">
              <a:latin typeface="楷体" panose="02010609060101010101" charset="-122"/>
              <a:ea typeface="楷体" panose="02010609060101010101" charset="-122"/>
            </a:endParaRPr>
          </a:p>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要求格式规范、参数准确。</a:t>
            </a:r>
            <a:endParaRPr lang="zh-CN" altLang="en-US" sz="2400" dirty="0">
              <a:latin typeface="楷体" panose="02010609060101010101" charset="-122"/>
              <a:ea typeface="楷体" panose="0201060906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ChangeArrowheads="1"/>
          </p:cNvSpPr>
          <p:nvPr>
            <p:ph type="title" idx="4294967295"/>
          </p:nvPr>
        </p:nvSpPr>
        <p:spPr>
          <a:xfrm>
            <a:off x="0" y="188913"/>
            <a:ext cx="8229600" cy="777875"/>
          </a:xfrm>
        </p:spPr>
        <p:txBody>
          <a:bodyPr lIns="91440" tIns="45720" rIns="91440" bIns="45720" rtlCol="0"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实验内容</a:t>
            </a:r>
            <a:r>
              <a:rPr kumimoji="0" lang="en-US" altLang="zh-CN"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2</a:t>
            </a:r>
            <a:r>
              <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 </a:t>
            </a:r>
            <a:r>
              <a:rPr kumimoji="0" lang="en-US" altLang="zh-CN"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RC</a:t>
            </a:r>
            <a:r>
              <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rPr>
              <a:t>移相网络</a:t>
            </a:r>
            <a:endParaRPr kumimoji="0" lang="zh-CN" altLang="en-US" sz="3600" b="0" i="0" u="none" strike="noStrike" kern="1200" cap="all" spc="-60" normalizeH="0" baseline="0" noProof="0" dirty="0">
              <a:ln>
                <a:noFill/>
              </a:ln>
              <a:solidFill>
                <a:schemeClr val="tx2"/>
              </a:solidFill>
              <a:effectLst/>
              <a:uLnTx/>
              <a:uFillTx/>
              <a:latin typeface="+mj-lt"/>
              <a:ea typeface="黑体" panose="02010609060101010101" pitchFamily="49" charset="-122"/>
              <a:cs typeface="+mj-cs"/>
              <a:sym typeface="Wingdings" panose="05000000000000000000" pitchFamily="2" charset="2"/>
            </a:endParaRPr>
          </a:p>
        </p:txBody>
      </p:sp>
      <p:sp>
        <p:nvSpPr>
          <p:cNvPr id="48131" name="Line 4"/>
          <p:cNvSpPr/>
          <p:nvPr/>
        </p:nvSpPr>
        <p:spPr>
          <a:xfrm>
            <a:off x="2339975" y="3571875"/>
            <a:ext cx="3598863" cy="0"/>
          </a:xfrm>
          <a:prstGeom prst="line">
            <a:avLst/>
          </a:prstGeom>
          <a:ln w="76200" cap="flat" cmpd="sng">
            <a:solidFill>
              <a:schemeClr val="tx1"/>
            </a:solidFill>
            <a:prstDash val="solid"/>
            <a:headEnd type="none" w="med" len="med"/>
            <a:tailEnd type="none" w="med" len="med"/>
          </a:ln>
        </p:spPr>
      </p:sp>
      <p:sp>
        <p:nvSpPr>
          <p:cNvPr id="48132" name="Oval 5"/>
          <p:cNvSpPr/>
          <p:nvPr/>
        </p:nvSpPr>
        <p:spPr>
          <a:xfrm>
            <a:off x="2195513" y="3500438"/>
            <a:ext cx="144462"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8133" name="Oval 6"/>
          <p:cNvSpPr/>
          <p:nvPr/>
        </p:nvSpPr>
        <p:spPr>
          <a:xfrm>
            <a:off x="5867400" y="3500438"/>
            <a:ext cx="144463"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8134" name="Line 7"/>
          <p:cNvSpPr/>
          <p:nvPr/>
        </p:nvSpPr>
        <p:spPr>
          <a:xfrm>
            <a:off x="2339975" y="2060575"/>
            <a:ext cx="3598863" cy="0"/>
          </a:xfrm>
          <a:prstGeom prst="line">
            <a:avLst/>
          </a:prstGeom>
          <a:ln w="76200" cap="flat" cmpd="sng">
            <a:solidFill>
              <a:schemeClr val="tx1"/>
            </a:solidFill>
            <a:prstDash val="solid"/>
            <a:headEnd type="none" w="med" len="med"/>
            <a:tailEnd type="none" w="med" len="med"/>
          </a:ln>
        </p:spPr>
      </p:sp>
      <p:sp>
        <p:nvSpPr>
          <p:cNvPr id="48135" name="Oval 8"/>
          <p:cNvSpPr/>
          <p:nvPr/>
        </p:nvSpPr>
        <p:spPr>
          <a:xfrm>
            <a:off x="2195513" y="1989138"/>
            <a:ext cx="144462"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8136" name="Oval 9"/>
          <p:cNvSpPr/>
          <p:nvPr/>
        </p:nvSpPr>
        <p:spPr>
          <a:xfrm>
            <a:off x="5867400" y="1989138"/>
            <a:ext cx="144463" cy="144462"/>
          </a:xfrm>
          <a:prstGeom prst="ellipse">
            <a:avLst/>
          </a:prstGeom>
          <a:solidFill>
            <a:schemeClr val="accent1"/>
          </a:solidFill>
          <a:ln w="381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8137" name="Text Box 10"/>
          <p:cNvSpPr txBox="1"/>
          <p:nvPr/>
        </p:nvSpPr>
        <p:spPr>
          <a:xfrm>
            <a:off x="1763713" y="2636838"/>
            <a:ext cx="431800" cy="366712"/>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v</a:t>
            </a:r>
            <a:r>
              <a:rPr lang="en-US" altLang="zh-CN" sz="1800" baseline="-25000" dirty="0">
                <a:ea typeface="宋体" panose="02010600030101010101" pitchFamily="2" charset="-122"/>
              </a:rPr>
              <a:t>i</a:t>
            </a:r>
            <a:endParaRPr lang="en-US" altLang="zh-CN" sz="1800" baseline="-25000" dirty="0">
              <a:ea typeface="宋体" panose="02010600030101010101" pitchFamily="2" charset="-122"/>
            </a:endParaRPr>
          </a:p>
        </p:txBody>
      </p:sp>
      <p:sp>
        <p:nvSpPr>
          <p:cNvPr id="48138" name="Line 14"/>
          <p:cNvSpPr/>
          <p:nvPr/>
        </p:nvSpPr>
        <p:spPr>
          <a:xfrm>
            <a:off x="4643438" y="2060575"/>
            <a:ext cx="0" cy="2160588"/>
          </a:xfrm>
          <a:prstGeom prst="line">
            <a:avLst/>
          </a:prstGeom>
          <a:ln w="76200" cap="flat" cmpd="sng">
            <a:solidFill>
              <a:schemeClr val="tx1"/>
            </a:solidFill>
            <a:prstDash val="solid"/>
            <a:headEnd type="none" w="med" len="med"/>
            <a:tailEnd type="none" w="med" len="med"/>
          </a:ln>
        </p:spPr>
      </p:sp>
      <p:sp>
        <p:nvSpPr>
          <p:cNvPr id="48139" name="Line 15"/>
          <p:cNvSpPr/>
          <p:nvPr/>
        </p:nvSpPr>
        <p:spPr>
          <a:xfrm>
            <a:off x="3708400" y="1882775"/>
            <a:ext cx="0" cy="360363"/>
          </a:xfrm>
          <a:prstGeom prst="line">
            <a:avLst/>
          </a:prstGeom>
          <a:ln w="38100" cap="flat" cmpd="sng">
            <a:solidFill>
              <a:schemeClr val="tx1"/>
            </a:solidFill>
            <a:prstDash val="solid"/>
            <a:headEnd type="none" w="med" len="med"/>
            <a:tailEnd type="none" w="med" len="med"/>
          </a:ln>
        </p:spPr>
      </p:sp>
      <p:sp>
        <p:nvSpPr>
          <p:cNvPr id="48140" name="Rectangle 17"/>
          <p:cNvSpPr/>
          <p:nvPr/>
        </p:nvSpPr>
        <p:spPr>
          <a:xfrm rot="-5400000">
            <a:off x="4310063" y="2709863"/>
            <a:ext cx="647700" cy="215900"/>
          </a:xfrm>
          <a:prstGeom prst="rect">
            <a:avLst/>
          </a:prstGeom>
          <a:solidFill>
            <a:schemeClr val="accent1"/>
          </a:solidFill>
          <a:ln w="38100"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8141" name="Text Box 18"/>
          <p:cNvSpPr txBox="1"/>
          <p:nvPr/>
        </p:nvSpPr>
        <p:spPr>
          <a:xfrm>
            <a:off x="6156325" y="2563813"/>
            <a:ext cx="431800" cy="366712"/>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v</a:t>
            </a:r>
            <a:r>
              <a:rPr lang="en-US" altLang="zh-CN" sz="1800" baseline="-25000" dirty="0">
                <a:ea typeface="宋体" panose="02010600030101010101" pitchFamily="2" charset="-122"/>
              </a:rPr>
              <a:t>o</a:t>
            </a:r>
            <a:endParaRPr lang="en-US" altLang="zh-CN" sz="1800" baseline="-25000" dirty="0">
              <a:ea typeface="宋体" panose="02010600030101010101" pitchFamily="2" charset="-122"/>
            </a:endParaRPr>
          </a:p>
        </p:txBody>
      </p:sp>
      <p:sp>
        <p:nvSpPr>
          <p:cNvPr id="48142" name="Text Box 19"/>
          <p:cNvSpPr txBox="1"/>
          <p:nvPr/>
        </p:nvSpPr>
        <p:spPr>
          <a:xfrm>
            <a:off x="1835150" y="18446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8143" name="Text Box 20"/>
          <p:cNvSpPr txBox="1"/>
          <p:nvPr/>
        </p:nvSpPr>
        <p:spPr>
          <a:xfrm>
            <a:off x="1836738" y="33559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8144" name="Line 23"/>
          <p:cNvSpPr/>
          <p:nvPr/>
        </p:nvSpPr>
        <p:spPr>
          <a:xfrm>
            <a:off x="4427538" y="4221163"/>
            <a:ext cx="431800" cy="0"/>
          </a:xfrm>
          <a:prstGeom prst="line">
            <a:avLst/>
          </a:prstGeom>
          <a:ln w="76200" cap="flat" cmpd="sng">
            <a:solidFill>
              <a:schemeClr val="tx1"/>
            </a:solidFill>
            <a:prstDash val="solid"/>
            <a:headEnd type="none" w="med" len="med"/>
            <a:tailEnd type="none" w="med" len="med"/>
          </a:ln>
        </p:spPr>
      </p:sp>
      <p:sp>
        <p:nvSpPr>
          <p:cNvPr id="48145" name="Text Box 24"/>
          <p:cNvSpPr txBox="1"/>
          <p:nvPr/>
        </p:nvSpPr>
        <p:spPr>
          <a:xfrm>
            <a:off x="6156325" y="18446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8146" name="Text Box 25"/>
          <p:cNvSpPr txBox="1"/>
          <p:nvPr/>
        </p:nvSpPr>
        <p:spPr>
          <a:xfrm>
            <a:off x="6156325" y="3355975"/>
            <a:ext cx="431800" cy="366713"/>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50000"/>
              </a:spcBef>
              <a:spcAft>
                <a:spcPct val="0"/>
              </a:spcAft>
              <a:buFontTx/>
              <a:buNone/>
            </a:pPr>
            <a:r>
              <a:rPr lang="en-US" altLang="zh-CN" sz="1800" dirty="0">
                <a:ea typeface="宋体" panose="02010600030101010101" pitchFamily="2" charset="-122"/>
              </a:rPr>
              <a:t>-</a:t>
            </a:r>
            <a:endParaRPr lang="en-US" altLang="zh-CN" sz="1800" baseline="-25000" dirty="0">
              <a:ea typeface="宋体" panose="02010600030101010101" pitchFamily="2" charset="-122"/>
            </a:endParaRPr>
          </a:p>
        </p:txBody>
      </p:sp>
      <p:sp>
        <p:nvSpPr>
          <p:cNvPr id="48147" name="Rectangle 17"/>
          <p:cNvSpPr/>
          <p:nvPr/>
        </p:nvSpPr>
        <p:spPr>
          <a:xfrm rot="-5400000">
            <a:off x="3263900" y="1919288"/>
            <a:ext cx="647700" cy="215900"/>
          </a:xfrm>
          <a:prstGeom prst="rect">
            <a:avLst/>
          </a:prstGeom>
          <a:solidFill>
            <a:srgbClr val="FFFFCC"/>
          </a:solidFill>
          <a:ln w="38100">
            <a:noFill/>
          </a:ln>
        </p:spPr>
        <p:txBody>
          <a:bodyPr vert="eaVert" wrap="none" anchor="ctr" anchorCtr="0"/>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spcBef>
                <a:spcPct val="0"/>
              </a:spcBef>
              <a:spcAft>
                <a:spcPct val="0"/>
              </a:spcAft>
              <a:buFontTx/>
              <a:buNone/>
            </a:pPr>
            <a:endParaRPr lang="zh-CN" altLang="en-US" sz="1800" b="0" dirty="0">
              <a:ea typeface="宋体" panose="02010600030101010101" pitchFamily="2" charset="-122"/>
            </a:endParaRPr>
          </a:p>
        </p:txBody>
      </p:sp>
      <p:sp>
        <p:nvSpPr>
          <p:cNvPr id="48148" name="Line 15"/>
          <p:cNvSpPr/>
          <p:nvPr/>
        </p:nvSpPr>
        <p:spPr>
          <a:xfrm>
            <a:off x="3479800" y="1882775"/>
            <a:ext cx="0" cy="360363"/>
          </a:xfrm>
          <a:prstGeom prst="line">
            <a:avLst/>
          </a:prstGeom>
          <a:ln w="38100" cap="flat" cmpd="sng">
            <a:solidFill>
              <a:schemeClr val="tx1"/>
            </a:solidFill>
            <a:prstDash val="solid"/>
            <a:headEnd type="none" w="med" len="med"/>
            <a:tailEnd type="none" w="med" len="med"/>
          </a:ln>
        </p:spPr>
      </p:sp>
      <p:sp>
        <p:nvSpPr>
          <p:cNvPr id="48149" name="TextBox 1"/>
          <p:cNvSpPr txBox="1"/>
          <p:nvPr/>
        </p:nvSpPr>
        <p:spPr>
          <a:xfrm>
            <a:off x="3255963" y="1490663"/>
            <a:ext cx="903287" cy="369887"/>
          </a:xfrm>
          <a:prstGeom prst="rect">
            <a:avLst/>
          </a:prstGeom>
          <a:noFill/>
          <a:ln w="9525">
            <a:noFill/>
          </a:ln>
        </p:spPr>
        <p:txBody>
          <a:bodyPr wrap="none">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spcAft>
                <a:spcPct val="0"/>
              </a:spcAft>
              <a:buFontTx/>
              <a:buNone/>
            </a:pPr>
            <a:r>
              <a:rPr lang="en-US" altLang="zh-CN" sz="1800" b="0" dirty="0">
                <a:ea typeface="宋体" panose="02010600030101010101" pitchFamily="2" charset="-122"/>
              </a:rPr>
              <a:t>0.01uF</a:t>
            </a:r>
            <a:endParaRPr lang="zh-CN" altLang="en-US" sz="1800" b="0" dirty="0">
              <a:ea typeface="宋体" panose="02010600030101010101" pitchFamily="2" charset="-122"/>
            </a:endParaRPr>
          </a:p>
        </p:txBody>
      </p:sp>
      <p:sp>
        <p:nvSpPr>
          <p:cNvPr id="48150" name="TextBox 24"/>
          <p:cNvSpPr txBox="1"/>
          <p:nvPr/>
        </p:nvSpPr>
        <p:spPr>
          <a:xfrm>
            <a:off x="4741863" y="2643188"/>
            <a:ext cx="557212" cy="369887"/>
          </a:xfrm>
          <a:prstGeom prst="rect">
            <a:avLst/>
          </a:prstGeom>
          <a:noFill/>
          <a:ln w="9525">
            <a:noFill/>
          </a:ln>
        </p:spPr>
        <p:txBody>
          <a:bodyPr wrap="none">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0" lvl="0" indent="0" eaLnBrk="1" hangingPunct="1">
              <a:spcBef>
                <a:spcPct val="0"/>
              </a:spcBef>
              <a:spcAft>
                <a:spcPct val="0"/>
              </a:spcAft>
              <a:buFontTx/>
              <a:buNone/>
            </a:pPr>
            <a:r>
              <a:rPr lang="en-US" altLang="zh-CN" sz="1800" b="0" dirty="0">
                <a:ea typeface="宋体" panose="02010600030101010101" pitchFamily="2" charset="-122"/>
              </a:rPr>
              <a:t>10k</a:t>
            </a:r>
            <a:endParaRPr lang="zh-CN" altLang="en-US" sz="1800" b="0" dirty="0">
              <a:ea typeface="宋体" panose="02010600030101010101" pitchFamily="2" charset="-122"/>
            </a:endParaRPr>
          </a:p>
        </p:txBody>
      </p:sp>
      <p:sp>
        <p:nvSpPr>
          <p:cNvPr id="48151" name="矩形 1"/>
          <p:cNvSpPr/>
          <p:nvPr/>
        </p:nvSpPr>
        <p:spPr>
          <a:xfrm>
            <a:off x="1331913" y="4492625"/>
            <a:ext cx="6719887" cy="2308225"/>
          </a:xfrm>
          <a:prstGeom prst="rect">
            <a:avLst/>
          </a:prstGeom>
          <a:noFill/>
          <a:ln w="9525">
            <a:noFill/>
          </a:ln>
        </p:spPr>
        <p:txBody>
          <a:bodyPr>
            <a:spAutoFit/>
          </a:bodyPr>
          <a:lst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stStyle>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输入信号为</a:t>
            </a:r>
            <a:r>
              <a:rPr lang="en-US" altLang="zh-CN" sz="2400" dirty="0">
                <a:latin typeface="楷体" panose="02010609060101010101" charset="-122"/>
                <a:ea typeface="楷体" panose="02010609060101010101" charset="-122"/>
              </a:rPr>
              <a:t>Vipp=4v</a:t>
            </a:r>
            <a:r>
              <a:rPr lang="zh-CN" altLang="zh-CN" sz="2400" dirty="0">
                <a:latin typeface="楷体" panose="02010609060101010101" charset="-122"/>
                <a:ea typeface="楷体" panose="02010609060101010101" charset="-122"/>
              </a:rPr>
              <a:t>，</a:t>
            </a:r>
            <a:r>
              <a:rPr lang="en-US" altLang="zh-CN" sz="2400" dirty="0">
                <a:latin typeface="楷体" panose="02010609060101010101" charset="-122"/>
                <a:ea typeface="楷体" panose="02010609060101010101" charset="-122"/>
              </a:rPr>
              <a:t>fi=2KHz</a:t>
            </a:r>
            <a:r>
              <a:rPr lang="zh-CN" altLang="zh-CN" sz="2400" dirty="0">
                <a:latin typeface="楷体" panose="02010609060101010101" charset="-122"/>
                <a:ea typeface="楷体" panose="02010609060101010101" charset="-122"/>
              </a:rPr>
              <a:t>的正弦波。</a:t>
            </a:r>
            <a:endParaRPr lang="zh-CN" altLang="zh-CN" sz="2400" dirty="0">
              <a:latin typeface="楷体" panose="02010609060101010101" charset="-122"/>
              <a:ea typeface="楷体" panose="02010609060101010101" charset="-122"/>
            </a:endParaRPr>
          </a:p>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利用双踪示波器交流耦合方式测量、比对</a:t>
            </a:r>
            <a:r>
              <a:rPr lang="en-US" altLang="zh-CN" sz="2400" dirty="0">
                <a:latin typeface="楷体" panose="02010609060101010101" charset="-122"/>
                <a:ea typeface="楷体" panose="02010609060101010101" charset="-122"/>
              </a:rPr>
              <a:t>RC</a:t>
            </a:r>
            <a:r>
              <a:rPr lang="zh-CN" altLang="zh-CN" sz="2400" dirty="0">
                <a:latin typeface="楷体" panose="02010609060101010101" charset="-122"/>
                <a:ea typeface="楷体" panose="02010609060101010101" charset="-122"/>
              </a:rPr>
              <a:t>移相网络输入输出信号对应波形的相位关系。</a:t>
            </a:r>
            <a:endParaRPr lang="zh-CN" altLang="zh-CN" sz="2400" dirty="0">
              <a:latin typeface="楷体" panose="02010609060101010101" charset="-122"/>
              <a:ea typeface="楷体" panose="02010609060101010101" charset="-122"/>
            </a:endParaRPr>
          </a:p>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描绘</a:t>
            </a:r>
            <a:r>
              <a:rPr lang="en-US" altLang="zh-CN" sz="2400" dirty="0">
                <a:latin typeface="楷体" panose="02010609060101010101" charset="-122"/>
                <a:ea typeface="楷体" panose="02010609060101010101" charset="-122"/>
              </a:rPr>
              <a:t>RC</a:t>
            </a:r>
            <a:r>
              <a:rPr lang="zh-CN" altLang="zh-CN" sz="2400" dirty="0">
                <a:latin typeface="楷体" panose="02010609060101010101" charset="-122"/>
                <a:ea typeface="楷体" panose="02010609060101010101" charset="-122"/>
              </a:rPr>
              <a:t>移相网络输入输出信号对应波形的相位关系。</a:t>
            </a:r>
            <a:endParaRPr lang="en-US" altLang="zh-CN" sz="2400" dirty="0">
              <a:latin typeface="楷体" panose="02010609060101010101" charset="-122"/>
              <a:ea typeface="楷体" panose="02010609060101010101" charset="-122"/>
            </a:endParaRPr>
          </a:p>
          <a:p>
            <a:pPr marL="285750" lvl="0" indent="-285750" eaLnBrk="1" hangingPunct="1">
              <a:spcBef>
                <a:spcPct val="0"/>
              </a:spcBef>
              <a:spcAft>
                <a:spcPct val="0"/>
              </a:spcAft>
              <a:buFont typeface="Arial" panose="020B0604020202020204" pitchFamily="34" charset="0"/>
              <a:buChar char="•"/>
            </a:pPr>
            <a:r>
              <a:rPr lang="zh-CN" altLang="zh-CN" sz="2400" dirty="0">
                <a:latin typeface="楷体" panose="02010609060101010101" charset="-122"/>
                <a:ea typeface="楷体" panose="02010609060101010101" charset="-122"/>
              </a:rPr>
              <a:t>要求格式规范、参数准确。</a:t>
            </a:r>
            <a:endParaRPr lang="zh-CN" altLang="en-US" sz="2400" dirty="0">
              <a:latin typeface="楷体" panose="02010609060101010101" charset="-122"/>
              <a:ea typeface="楷体" panose="02010609060101010101"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p:sp>
        <p:nvSpPr>
          <p:cNvPr id="6" name="文本框 5"/>
          <p:cNvSpPr txBox="1"/>
          <p:nvPr/>
        </p:nvSpPr>
        <p:spPr>
          <a:xfrm>
            <a:off x="3060065" y="2564765"/>
            <a:ext cx="1436370" cy="937260"/>
          </a:xfrm>
          <a:prstGeom prst="rect">
            <a:avLst/>
          </a:prstGeom>
          <a:noFill/>
        </p:spPr>
        <p:txBody>
          <a:bodyPr wrap="square" rtlCol="0">
            <a:spAutoFit/>
          </a:bodyPr>
          <a:p>
            <a:r>
              <a:rPr lang="zh-CN" altLang="en-US" sz="5500">
                <a:solidFill>
                  <a:srgbClr val="FF0000"/>
                </a:solidFill>
              </a:rPr>
              <a:t>完</a:t>
            </a:r>
            <a:endParaRPr lang="zh-CN" altLang="en-US" sz="5500">
              <a:solidFill>
                <a:srgbClr val="FF0000"/>
              </a:solidFill>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PLACING_PICTURE_USER_VIEWPORT" val="{&quot;height&quot;:6480,&quot;width&quot;:4858}"/>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UNIT_TABLE_BEAUTIFY" val="smartTable{27a1c8bb-9b72-4017-8d96-15bee7456171}"/>
  <p:tag name="TABLE_ENDDRAG_ORIGIN_RECT" val="329*107"/>
  <p:tag name="TABLE_ENDDRAG_RECT" val="147*421*329*107"/>
</p:tagLst>
</file>

<file path=ppt/tags/tag28.xml><?xml version="1.0" encoding="utf-8"?>
<p:tagLst xmlns:p="http://schemas.openxmlformats.org/presentationml/2006/main">
  <p:tag name="KSO_WM_UNIT_TABLE_BEAUTIFY" val="smartTable{002690d2-8602-438a-9804-4a40254cef11}"/>
</p:tagLst>
</file>

<file path=ppt/tags/tag29.xml><?xml version="1.0" encoding="utf-8"?>
<p:tagLst xmlns:p="http://schemas.openxmlformats.org/presentationml/2006/main">
  <p:tag name="KSO_WM_UNIT_TABLE_BEAUTIFY" val="smartTable{4671b40b-80e0-4e1f-8a73-73d241a7bbd0}"/>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UNIT_PLACING_PICTURE_USER_VIEWPORT" val="{&quot;height&quot;:7992,&quot;width&quot;:10836}"/>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PP_MARK_KEY" val="84b9c44e-3f8c-4691-836f-578e23a87a2d"/>
  <p:tag name="COMMONDATA" val="eyJoZGlkIjoiMDNmZGY2OGEzMzEyZTYzNzQyZDBmMjk5N2NjMThkM2EifQ=="/>
  <p:tag name="commondata" val="eyJoZGlkIjoiNDk2NTQzMGU3YzdhMTNkYzhlZWFhNDA0MjIwZDI1MGU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新魏"/>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38100" cap="flat" cmpd="sng">
          <a:solidFill>
            <a:schemeClr val="hlink"/>
          </a:solidFill>
          <a:prstDash val="solid"/>
          <a:round/>
          <a:headEnd type="none" w="med" len="med"/>
          <a:tailEnd type="none" w="med" len="med"/>
        </a:ln>
      </a:spPr>
      <a:body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7177</Words>
  <Application>WPS 演示</Application>
  <PresentationFormat>全屏显示(4:3)</PresentationFormat>
  <Paragraphs>787</Paragraphs>
  <Slides>70</Slides>
  <Notes>1</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11</vt:i4>
      </vt:variant>
      <vt:variant>
        <vt:lpstr>幻灯片标题</vt:lpstr>
      </vt:variant>
      <vt:variant>
        <vt:i4>70</vt:i4>
      </vt:variant>
    </vt:vector>
  </HeadingPairs>
  <TitlesOfParts>
    <vt:vector size="106" baseType="lpstr">
      <vt:lpstr>Arial</vt:lpstr>
      <vt:lpstr>宋体</vt:lpstr>
      <vt:lpstr>Wingdings</vt:lpstr>
      <vt:lpstr>Arial Narrow</vt:lpstr>
      <vt:lpstr>华文新魏</vt:lpstr>
      <vt:lpstr>黑体</vt:lpstr>
      <vt:lpstr>Tahoma</vt:lpstr>
      <vt:lpstr>仿宋_GB2312</vt:lpstr>
      <vt:lpstr>楷体_GB2312</vt:lpstr>
      <vt:lpstr>新宋体</vt:lpstr>
      <vt:lpstr>Times New Roman</vt:lpstr>
      <vt:lpstr>Wingdings</vt:lpstr>
      <vt:lpstr>Symbol</vt:lpstr>
      <vt:lpstr>Verdana</vt:lpstr>
      <vt:lpstr>楷体</vt:lpstr>
      <vt:lpstr>Arial Unicode MS</vt:lpstr>
      <vt:lpstr>微软雅黑</vt:lpstr>
      <vt:lpstr>Arial Unicode MS</vt:lpstr>
      <vt:lpstr>Calibri</vt:lpstr>
      <vt:lpstr>Wingdings 2</vt:lpstr>
      <vt:lpstr>隶书</vt:lpstr>
      <vt:lpstr>Calibri</vt:lpstr>
      <vt:lpstr>Times New Roman</vt:lpstr>
      <vt:lpstr>仿宋</vt:lpstr>
      <vt:lpstr>默认设计模板</vt:lpstr>
      <vt:lpstr>WPS.Doc.6</vt:lpstr>
      <vt:lpstr>PBrush</vt:lpstr>
      <vt:lpstr>Paint.Picture</vt:lpstr>
      <vt:lpstr>PBrush</vt:lpstr>
      <vt:lpstr>WPS.Doc.6</vt:lpstr>
      <vt:lpstr>WPS.Doc.6</vt:lpstr>
      <vt:lpstr>PBrush</vt:lpstr>
      <vt:lpstr>WPS.Doc.6</vt:lpstr>
      <vt:lpstr>Word.Picture.8</vt:lpstr>
      <vt:lpstr>PBrush</vt:lpstr>
      <vt:lpstr>PBrush</vt:lpstr>
      <vt:lpstr>PowerPoint 演示文稿</vt:lpstr>
      <vt:lpstr>一：常用元器件(教材附录) 二：常用仪器</vt:lpstr>
      <vt:lpstr>一：常用器件(教材附录)</vt:lpstr>
      <vt:lpstr> 电阻（教材附录D.1）</vt:lpstr>
      <vt:lpstr> 电阻（教材附录D.1）</vt:lpstr>
      <vt:lpstr>PowerPoint 演示文稿</vt:lpstr>
      <vt:lpstr>电阻（实际使用技巧）</vt:lpstr>
      <vt:lpstr>电位器（可变电阻）-精密多圈</vt:lpstr>
      <vt:lpstr>PowerPoint 演示文稿</vt:lpstr>
      <vt:lpstr>电容</vt:lpstr>
      <vt:lpstr>电容－标称容量</vt:lpstr>
      <vt:lpstr>二极管、发光二极管</vt:lpstr>
      <vt:lpstr>二极管极性分辨方法－万用表测</vt:lpstr>
      <vt:lpstr>二极管测量及正向导通电压</vt:lpstr>
      <vt:lpstr>发光二极管的使用</vt:lpstr>
      <vt:lpstr>三极管   塑封9018、90133DG6  NPN硅管</vt:lpstr>
      <vt:lpstr>集成电路芯片（双列直插封装DIP）</vt:lpstr>
      <vt:lpstr>二： 常用仪器的使用练习</vt:lpstr>
      <vt:lpstr>PowerPoint 演示文稿</vt:lpstr>
      <vt:lpstr>面包板</vt:lpstr>
      <vt:lpstr>面包板</vt:lpstr>
      <vt:lpstr>面包板</vt:lpstr>
      <vt:lpstr>面包板</vt:lpstr>
      <vt:lpstr>   集成芯片的使用插板</vt:lpstr>
      <vt:lpstr>面包板</vt:lpstr>
      <vt:lpstr>电路组装（实例）</vt:lpstr>
      <vt:lpstr>建立测试平台</vt:lpstr>
      <vt:lpstr>通常达到的效果</vt:lpstr>
      <vt:lpstr>和刚才同样的电原理图</vt:lpstr>
      <vt:lpstr>PowerPoint 演示文稿</vt:lpstr>
      <vt:lpstr>二  常用仪器的使用</vt:lpstr>
      <vt:lpstr>万用表</vt:lpstr>
      <vt:lpstr>万用表 SDM3055X-E基本测量功能</vt:lpstr>
      <vt:lpstr>PowerPoint 演示文稿</vt:lpstr>
      <vt:lpstr>万用表 SDM3055X-E基本测量功能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稳压电源-双路连续可调一路额定可调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实验内容－教材p74内容5－要记录</vt:lpstr>
      <vt:lpstr>实验内容－半波整流电路－要记录</vt:lpstr>
      <vt:lpstr>实验内容1：半波整流电路测量</vt:lpstr>
      <vt:lpstr>实验内容2： RC移相网络</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绪    论</dc:title>
  <dc:creator>lj</dc:creator>
  <cp:lastModifiedBy>麦芽糖</cp:lastModifiedBy>
  <cp:revision>371</cp:revision>
  <dcterms:created xsi:type="dcterms:W3CDTF">2005-06-04T01:30:00Z</dcterms:created>
  <dcterms:modified xsi:type="dcterms:W3CDTF">2025-02-20T05:18:45Z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3B5D78E840C34D5C86F4325549D61A5A</vt:lpwstr>
  </property>
  <property fmtid="{D5CDD505-2E9C-101B-9397-08002B2CF9AE}" pid="3" name="KSOProductBuildVer">
    <vt:lpwstr>2052-12.1.0.19770</vt:lpwstr>
  </property>
</Properties>
</file>