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handoutMasterIdLst>
    <p:handoutMasterId r:id="rId20"/>
  </p:handoutMasterIdLst>
  <p:sldIdLst>
    <p:sldId id="304" r:id="rId3"/>
    <p:sldId id="338" r:id="rId4"/>
    <p:sldId id="385" r:id="rId5"/>
    <p:sldId id="386" r:id="rId7"/>
    <p:sldId id="568" r:id="rId8"/>
    <p:sldId id="367" r:id="rId9"/>
    <p:sldId id="507" r:id="rId10"/>
    <p:sldId id="364" r:id="rId11"/>
    <p:sldId id="569" r:id="rId12"/>
    <p:sldId id="456" r:id="rId13"/>
    <p:sldId id="414" r:id="rId14"/>
    <p:sldId id="360" r:id="rId15"/>
    <p:sldId id="353" r:id="rId16"/>
    <p:sldId id="368" r:id="rId17"/>
    <p:sldId id="558" r:id="rId18"/>
    <p:sldId id="570" r:id="rId19"/>
  </p:sldIdLst>
  <p:sldSz cx="12192000" cy="6858000"/>
  <p:notesSz cx="6858000" cy="9144000"/>
  <p:custDataLst>
    <p:tags r:id="rId25"/>
  </p:custDataLst>
  <p:defaultTextStyle>
    <a:defPPr>
      <a:defRPr lang="zh-CN"/>
    </a:defPPr>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Verdana" panose="020B0604030504040204" pitchFamily="2"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Verdana" panose="020B0604030504040204" pitchFamily="2"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Verdana" panose="020B0604030504040204" pitchFamily="2"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Verdana" panose="020B0604030504040204" pitchFamily="2"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Verdana" panose="020B0604030504040204" pitchFamily="2"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Verdana" panose="020B0604030504040204" pitchFamily="2"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Verdana" panose="020B0604030504040204" pitchFamily="2"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Verdana" panose="020B0604030504040204" pitchFamily="2"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Verdana" panose="020B0604030504040204" pitchFamily="2" charset="0"/>
        <a:ea typeface="宋体" panose="02010600030101010101" pitchFamily="2" charset="-122"/>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p" initials="h"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0000FF"/>
    <a:srgbClr val="00FF00"/>
    <a:srgbClr val="0000CC"/>
    <a:srgbClr val="000099"/>
    <a:srgbClr val="CCFFFF"/>
    <a:srgbClr val="996633"/>
    <a:srgbClr val="CC3300"/>
    <a:srgbClr val="66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69" d="100"/>
          <a:sy n="69" d="100"/>
        </p:scale>
        <p:origin x="-138" y="-102"/>
      </p:cViewPr>
      <p:guideLst>
        <p:guide orient="horz" pos="2103"/>
        <p:guide pos="3897"/>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notesMaster" Target="notesMasters/notesMaster1.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5" Type="http://schemas.openxmlformats.org/officeDocument/2006/relationships/tags" Target="tags/tag2.xml"/><Relationship Id="rId24" Type="http://schemas.openxmlformats.org/officeDocument/2006/relationships/commentAuthors" Target="commentAuthors.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handoutMaster" Target="handoutMasters/handoutMaster1.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6" Type="http://schemas.openxmlformats.org/officeDocument/2006/relationships/image" Target="../media/image8.wmf"/><Relationship Id="rId5" Type="http://schemas.openxmlformats.org/officeDocument/2006/relationships/image" Target="../media/image7.wmf"/><Relationship Id="rId4" Type="http://schemas.openxmlformats.org/officeDocument/2006/relationships/image" Target="../media/image6.wmf"/><Relationship Id="rId3" Type="http://schemas.openxmlformats.org/officeDocument/2006/relationships/image" Target="../media/image5.wmf"/><Relationship Id="rId2" Type="http://schemas.openxmlformats.org/officeDocument/2006/relationships/image" Target="../media/image4.wmf"/><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4" Type="http://schemas.openxmlformats.org/officeDocument/2006/relationships/image" Target="../media/image12.wmf"/><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image" Target="../media/image9.wmf"/></Relationships>
</file>

<file path=ppt/drawings/_rels/vmlDrawing3.vml.rels><?xml version="1.0" encoding="UTF-8" standalone="yes"?>
<Relationships xmlns="http://schemas.openxmlformats.org/package/2006/relationships"><Relationship Id="rId9" Type="http://schemas.openxmlformats.org/officeDocument/2006/relationships/image" Target="../media/image21.wmf"/><Relationship Id="rId8" Type="http://schemas.openxmlformats.org/officeDocument/2006/relationships/image" Target="../media/image20.wmf"/><Relationship Id="rId7" Type="http://schemas.openxmlformats.org/officeDocument/2006/relationships/image" Target="../media/image19.wmf"/><Relationship Id="rId6" Type="http://schemas.openxmlformats.org/officeDocument/2006/relationships/image" Target="../media/image18.wmf"/><Relationship Id="rId5" Type="http://schemas.openxmlformats.org/officeDocument/2006/relationships/image" Target="../media/image17.wmf"/><Relationship Id="rId4" Type="http://schemas.openxmlformats.org/officeDocument/2006/relationships/image" Target="../media/image16.wmf"/><Relationship Id="rId3" Type="http://schemas.openxmlformats.org/officeDocument/2006/relationships/image" Target="../media/image15.wmf"/><Relationship Id="rId2" Type="http://schemas.openxmlformats.org/officeDocument/2006/relationships/image" Target="../media/image14.wmf"/><Relationship Id="rId14" Type="http://schemas.openxmlformats.org/officeDocument/2006/relationships/image" Target="../media/image26.wmf"/><Relationship Id="rId13" Type="http://schemas.openxmlformats.org/officeDocument/2006/relationships/image" Target="../media/image25.emf"/><Relationship Id="rId12" Type="http://schemas.openxmlformats.org/officeDocument/2006/relationships/image" Target="../media/image24.wmf"/><Relationship Id="rId11" Type="http://schemas.openxmlformats.org/officeDocument/2006/relationships/image" Target="../media/image23.wmf"/><Relationship Id="rId10" Type="http://schemas.openxmlformats.org/officeDocument/2006/relationships/image" Target="../media/image22.wmf"/><Relationship Id="rId1" Type="http://schemas.openxmlformats.org/officeDocument/2006/relationships/image" Target="../media/image13.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image" Target="../media/image17.wmf"/><Relationship Id="rId1" Type="http://schemas.openxmlformats.org/officeDocument/2006/relationships/image" Target="../media/image27.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fontAlgn="base"/>
            <a:endParaRPr lang="zh-CN" altLang="en-US" strike="noStrike" noProof="1"/>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fontAlgn="base"/>
            <a:fld id="{D2A48B96-639E-45A3-A0BA-2464DFDB1FAA}" type="datetimeFigureOut">
              <a:rPr lang="zh-CN" altLang="en-US" strike="noStrike" noProof="1" smtClean="0">
                <a:latin typeface="Verdana" panose="020B0604030504040204" pitchFamily="2" charset="0"/>
                <a:ea typeface="宋体" panose="02010600030101010101" pitchFamily="2" charset="-122"/>
                <a:cs typeface="+mn-cs"/>
              </a:rPr>
            </a:fld>
            <a:endParaRPr lang="zh-CN" altLang="en-US" strike="noStrike" noProof="1"/>
          </a:p>
        </p:txBody>
      </p:sp>
      <p:sp>
        <p:nvSpPr>
          <p:cNvPr id="6148" name="幻灯片图像占位符 3"/>
          <p:cNvSpPr>
            <a:spLocks noGrp="1" noRot="1" noChangeAspect="1"/>
          </p:cNvSpPr>
          <p:nvPr>
            <p:ph type="sldImg"/>
          </p:nvPr>
        </p:nvSpPr>
        <p:spPr>
          <a:xfrm>
            <a:off x="685800" y="1143000"/>
            <a:ext cx="5486400" cy="3086100"/>
          </a:xfrm>
          <a:prstGeom prst="rect">
            <a:avLst/>
          </a:prstGeom>
          <a:noFill/>
          <a:ln w="12700" cap="flat" cmpd="sng">
            <a:solidFill>
              <a:srgbClr val="000000"/>
            </a:solidFill>
            <a:prstDash val="solid"/>
            <a:round/>
            <a:headEnd type="none" w="med" len="med"/>
            <a:tailEnd type="none" w="med" len="med"/>
          </a:ln>
        </p:spPr>
      </p:sp>
      <p:sp>
        <p:nvSpPr>
          <p:cNvPr id="6149" name="备注占位符 4"/>
          <p:cNvSpPr>
            <a:spLocks noGrp="1"/>
          </p:cNvSpPr>
          <p:nvPr>
            <p:ph type="body" sz="quarter"/>
          </p:nvPr>
        </p:nvSpPr>
        <p:spPr>
          <a:xfrm>
            <a:off x="685800" y="4400550"/>
            <a:ext cx="5486400" cy="3600450"/>
          </a:xfrm>
          <a:prstGeom prst="rect">
            <a:avLst/>
          </a:prstGeom>
          <a:noFill/>
          <a:ln w="9525">
            <a:noFill/>
          </a:ln>
        </p:spPr>
        <p:txBody>
          <a:bodyPr lIns="91440" tIns="45720" rIns="91440" bIns="45720" anchor="t" anchorCtr="0"/>
          <a:p>
            <a:pPr lvl="0"/>
            <a:r>
              <a:rPr lang="zh-CN" altLang="en-US"/>
              <a:t>单击此处编辑母版文本样式</a:t>
            </a:r>
            <a:endParaRPr lang="zh-CN" altLang="en-US"/>
          </a:p>
          <a:p>
            <a:pPr lvl="1" indent="0"/>
            <a:r>
              <a:rPr lang="zh-CN" altLang="en-US"/>
              <a:t>第二级</a:t>
            </a:r>
            <a:endParaRPr lang="zh-CN" altLang="en-US"/>
          </a:p>
          <a:p>
            <a:pPr lvl="2" indent="0"/>
            <a:r>
              <a:rPr lang="zh-CN" altLang="en-US"/>
              <a:t>第三级</a:t>
            </a:r>
            <a:endParaRPr lang="zh-CN" altLang="en-US"/>
          </a:p>
          <a:p>
            <a:pPr lvl="3" indent="0"/>
            <a:r>
              <a:rPr lang="zh-CN" altLang="en-US"/>
              <a:t>第四级</a:t>
            </a:r>
            <a:endParaRPr lang="zh-CN" altLang="en-US"/>
          </a:p>
          <a:p>
            <a:pPr lvl="4" indent="0"/>
            <a:r>
              <a:rPr lang="zh-CN" altLang="en-US"/>
              <a:t>第五级</a:t>
            </a:r>
            <a:endParaRPr lang="zh-CN" altLang="en-US"/>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a:defRPr sz="1200"/>
            </a:lvl1pPr>
          </a:lstStyle>
          <a:p>
            <a:pPr fontAlgn="base"/>
            <a:endParaRPr lang="zh-CN" altLang="en-US" strike="noStrike" noProof="1"/>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lIns="91440" tIns="45720" rIns="91440" bIns="45720" rtlCol="0" anchor="b"/>
          <a:lstStyle>
            <a:lvl1pPr algn="r">
              <a:defRPr sz="1200"/>
            </a:lvl1pPr>
          </a:lstStyle>
          <a:p>
            <a:pPr fontAlgn="base"/>
            <a:fld id="{A6837353-30EB-4A48-80EB-173D804AEFBD}" type="slidenum">
              <a:rPr lang="zh-CN" altLang="en-US" strike="noStrike" noProof="1" smtClean="0">
                <a:latin typeface="Verdana" panose="020B0604030504040204" pitchFamily="2" charset="0"/>
                <a:ea typeface="宋体" panose="02010600030101010101" pitchFamily="2" charset="-122"/>
                <a:cs typeface="+mn-cs"/>
              </a:rPr>
            </a:fld>
            <a:endParaRPr lang="zh-CN" altLang="en-US" strike="noStrike" noProof="1"/>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p:nvPr>
        </p:nvSpPr>
        <p:spPr/>
        <p:txBody>
          <a:bodyPr/>
          <a:p>
            <a:r>
              <a:rPr lang="en-US" altLang="zh-CN"/>
              <a:t>xi=0</a:t>
            </a:r>
            <a:endParaRPr lang="en-US" altLang="zh-CN"/>
          </a:p>
          <a:p>
            <a:r>
              <a:rPr lang="zh-CN" altLang="en-US"/>
              <a:t>因为增益无穷大，所以不需要输入</a:t>
            </a:r>
            <a:r>
              <a:rPr lang="zh-CN" altLang="en-US"/>
              <a:t>信号</a:t>
            </a:r>
            <a:endParaRPr lang="zh-CN" altLang="en-US"/>
          </a:p>
          <a:p>
            <a:endParaRPr lang="zh-CN" altLang="en-US"/>
          </a:p>
          <a:p>
            <a:r>
              <a:rPr lang="zh-CN" altLang="en-US"/>
              <a:t>若</a:t>
            </a:r>
            <a:r>
              <a:rPr lang="en-US" altLang="zh-CN"/>
              <a:t>xa</a:t>
            </a:r>
            <a:r>
              <a:rPr lang="zh-CN" altLang="en-US"/>
              <a:t>是正弦</a:t>
            </a:r>
            <a:r>
              <a:rPr lang="zh-CN" altLang="en-US"/>
              <a:t>信号</a:t>
            </a:r>
            <a:endParaRPr lang="zh-CN" altLang="en-US"/>
          </a:p>
          <a:p>
            <a:r>
              <a:rPr lang="zh-CN" altLang="en-US"/>
              <a:t>在</a:t>
            </a:r>
            <a:r>
              <a:rPr lang="en-US" altLang="zh-CN"/>
              <a:t>xf</a:t>
            </a:r>
            <a:r>
              <a:rPr lang="zh-CN" altLang="en-US"/>
              <a:t>也是相同正弦</a:t>
            </a:r>
            <a:r>
              <a:rPr lang="zh-CN" altLang="en-US"/>
              <a:t>信号</a:t>
            </a:r>
            <a:endParaRPr lang="zh-CN" altLang="en-US"/>
          </a:p>
          <a:p>
            <a:endParaRPr lang="zh-CN" altLang="en-US"/>
          </a:p>
          <a:p>
            <a:r>
              <a:rPr lang="zh-CN" altLang="en-US"/>
              <a:t>系统是因果系统，</a:t>
            </a:r>
            <a:endParaRPr lang="zh-CN" altLang="en-US"/>
          </a:p>
          <a:p>
            <a:r>
              <a:rPr lang="zh-CN" altLang="en-US"/>
              <a:t>因此在</a:t>
            </a:r>
            <a:r>
              <a:rPr lang="en-US" altLang="zh-CN"/>
              <a:t>t=0</a:t>
            </a:r>
            <a:r>
              <a:rPr lang="zh-CN" altLang="en-US"/>
              <a:t>的起始</a:t>
            </a:r>
            <a:r>
              <a:rPr lang="zh-CN" altLang="en-US"/>
              <a:t>时刻必然有输入</a:t>
            </a:r>
            <a:r>
              <a:rPr lang="zh-CN" altLang="en-US"/>
              <a:t>信号</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5" name="幻灯片图像占位符 1"/>
          <p:cNvSpPr>
            <a:spLocks noGrp="1" noRot="1"/>
          </p:cNvSpPr>
          <p:nvPr>
            <p:ph type="sldImg"/>
          </p:nvPr>
        </p:nvSpPr>
        <p:spPr/>
      </p:sp>
      <p:sp>
        <p:nvSpPr>
          <p:cNvPr id="12290" name="文本占位符 2"/>
          <p:cNvSpPr>
            <a:spLocks noGrp="1"/>
          </p:cNvSpPr>
          <p:nvPr>
            <p:ph type="body"/>
          </p:nvPr>
        </p:nvSpPr>
        <p:spPr/>
        <p:txBody>
          <a:bodyPr lIns="91440" tIns="45720" rIns="91440" bIns="45720" anchor="t" anchorCtr="0"/>
          <a:p>
            <a:pPr lvl="0" fontAlgn="auto"/>
            <a:r>
              <a:rPr lang="zh-CN" altLang="en-US" b="1" strike="noStrike" noProof="1">
                <a:solidFill>
                  <a:srgbClr val="FF3300"/>
                </a:solidFill>
                <a:effectLst>
                  <a:outerShdw blurRad="38100" dist="38100" dir="2700000">
                    <a:srgbClr val="C0C0C0"/>
                  </a:outerShdw>
                </a:effectLst>
                <a:latin typeface="Times New Roman" panose="02020603050405020304" pitchFamily="2" charset="0"/>
                <a:ea typeface="宋体" panose="02010600030101010101" pitchFamily="2" charset="-122"/>
                <a:sym typeface="+mn-ea"/>
              </a:rPr>
              <a:t>无论输入信号</a:t>
            </a:r>
            <a:r>
              <a:rPr lang="en-US" altLang="zh-CN" b="1" strike="noStrike" noProof="1">
                <a:solidFill>
                  <a:srgbClr val="FF3300"/>
                </a:solidFill>
                <a:effectLst>
                  <a:outerShdw blurRad="38100" dist="38100" dir="2700000">
                    <a:srgbClr val="C0C0C0"/>
                  </a:outerShdw>
                </a:effectLst>
                <a:latin typeface="Times New Roman" panose="02020603050405020304" pitchFamily="2" charset="0"/>
                <a:ea typeface="宋体" panose="02010600030101010101" pitchFamily="2" charset="-122"/>
                <a:sym typeface="+mn-ea"/>
              </a:rPr>
              <a:t>Xi</a:t>
            </a:r>
            <a:r>
              <a:rPr lang="zh-CN" altLang="en-US" b="1" strike="noStrike" noProof="1">
                <a:solidFill>
                  <a:srgbClr val="FF3300"/>
                </a:solidFill>
                <a:effectLst>
                  <a:outerShdw blurRad="38100" dist="38100" dir="2700000">
                    <a:srgbClr val="C0C0C0"/>
                  </a:outerShdw>
                </a:effectLst>
                <a:latin typeface="Times New Roman" panose="02020603050405020304" pitchFamily="2" charset="0"/>
                <a:ea typeface="宋体" panose="02010600030101010101" pitchFamily="2" charset="-122"/>
                <a:sym typeface="+mn-ea"/>
              </a:rPr>
              <a:t>多么小，都会被无线放大。</a:t>
            </a:r>
            <a:r>
              <a:rPr lang="en-US" altLang="zh-CN" b="1" strike="noStrike" noProof="1">
                <a:solidFill>
                  <a:srgbClr val="FF3300"/>
                </a:solidFill>
                <a:effectLst>
                  <a:outerShdw blurRad="38100" dist="38100" dir="2700000">
                    <a:srgbClr val="C0C0C0"/>
                  </a:outerShdw>
                </a:effectLst>
                <a:latin typeface="Times New Roman" panose="02020603050405020304" pitchFamily="2" charset="0"/>
                <a:ea typeface="宋体" panose="02010600030101010101" pitchFamily="2" charset="-122"/>
                <a:sym typeface="+mn-ea"/>
              </a:rPr>
              <a:t>   </a:t>
            </a:r>
            <a:r>
              <a:rPr lang="en-US" altLang="zh-CN" b="1" strike="noStrike" noProof="1">
                <a:solidFill>
                  <a:schemeClr val="accent2"/>
                </a:solidFill>
                <a:effectLst>
                  <a:outerShdw blurRad="38100" dist="38100" dir="2700000">
                    <a:srgbClr val="C0C0C0"/>
                  </a:outerShdw>
                </a:effectLst>
                <a:latin typeface="Times New Roman" panose="02020603050405020304" pitchFamily="2" charset="0"/>
                <a:ea typeface="宋体" panose="02010600030101010101" pitchFamily="2" charset="-122"/>
                <a:sym typeface="+mn-ea"/>
              </a:rPr>
              <a:t> </a:t>
            </a:r>
            <a:endParaRPr lang="en-US" altLang="zh-CN" b="1" strike="noStrike" noProof="1">
              <a:solidFill>
                <a:schemeClr val="accent2"/>
              </a:solidFill>
              <a:effectLst>
                <a:outerShdw blurRad="38100" dist="38100" dir="2700000">
                  <a:srgbClr val="C0C0C0"/>
                </a:outerShdw>
              </a:effectLst>
              <a:latin typeface="Times New Roman" panose="02020603050405020304" pitchFamily="2" charset="0"/>
              <a:ea typeface="宋体" panose="02010600030101010101" pitchFamily="2" charset="-122"/>
              <a:sym typeface="+mn-ea"/>
            </a:endParaRPr>
          </a:p>
          <a:p>
            <a:pPr lvl="0" fontAlgn="auto"/>
            <a:r>
              <a:rPr lang="zh-CN" altLang="en-US" b="1" strike="noStrike" noProof="1">
                <a:solidFill>
                  <a:srgbClr val="FF3300"/>
                </a:solidFill>
                <a:effectLst>
                  <a:outerShdw blurRad="38100" dist="38100" dir="2700000">
                    <a:srgbClr val="C0C0C0"/>
                  </a:outerShdw>
                </a:effectLst>
                <a:latin typeface="Times New Roman" panose="02020603050405020304" pitchFamily="2" charset="0"/>
                <a:ea typeface="宋体" panose="02010600030101010101" pitchFamily="2" charset="-122"/>
                <a:sym typeface="+mn-ea"/>
              </a:rPr>
              <a:t>振荡电路是单口网络，无需输入信号就能起振，起振的信号源来自何处？</a:t>
            </a:r>
            <a:endParaRPr lang="zh-CN" altLang="en-US" b="1" strike="noStrike" noProof="1">
              <a:solidFill>
                <a:srgbClr val="FF3300"/>
              </a:solidFill>
              <a:effectLst>
                <a:outerShdw blurRad="38100" dist="38100" dir="2700000">
                  <a:srgbClr val="C0C0C0"/>
                </a:outerShdw>
              </a:effectLst>
            </a:endParaRPr>
          </a:p>
          <a:p>
            <a:pPr lvl="0" fontAlgn="auto"/>
            <a:endParaRPr lang="en-US" altLang="zh-CN" strike="noStrike" noProof="1"/>
          </a:p>
          <a:p>
            <a:pPr lvl="0" fontAlgn="auto"/>
            <a:r>
              <a:rPr lang="en-US" altLang="zh-CN" strike="noStrike" noProof="1"/>
              <a:t>1</a:t>
            </a:r>
            <a:r>
              <a:rPr lang="zh-CN" altLang="en-US" strike="noStrike" noProof="1"/>
              <a:t>：前面讲了可以震荡的条件，那如何让系统开始震荡了。</a:t>
            </a:r>
            <a:endParaRPr lang="zh-CN" altLang="en-US" strike="noStrike" noProof="1"/>
          </a:p>
          <a:p>
            <a:pPr lvl="0" fontAlgn="auto"/>
            <a:r>
              <a:rPr lang="en-US" altLang="zh-CN" strike="noStrike" noProof="1"/>
              <a:t>2</a:t>
            </a:r>
            <a:r>
              <a:rPr lang="zh-CN" altLang="en-US" strike="noStrike" noProof="1"/>
              <a:t>：从起震，回到正常的稳定的震荡状态。</a:t>
            </a:r>
            <a:endParaRPr lang="zh-CN" altLang="en-US" strike="noStrike" noProof="1"/>
          </a:p>
          <a:p>
            <a:pPr lvl="0" fontAlgn="auto"/>
            <a:endParaRPr lang="en-US" altLang="zh-CN" strike="noStrike" noProof="1"/>
          </a:p>
          <a:p>
            <a:pPr lvl="0" fontAlgn="auto"/>
            <a:endParaRPr lang="en-US" altLang="zh-CN" strike="noStrike" noProof="1"/>
          </a:p>
          <a:p>
            <a:pPr lvl="0" fontAlgn="auto"/>
            <a:r>
              <a:rPr lang="zh-CN" altLang="en-US" strike="noStrike" noProof="1"/>
              <a:t>实时时间系统是因果的，先有因，后有</a:t>
            </a:r>
            <a:r>
              <a:rPr lang="zh-CN" altLang="en-US" strike="noStrike" noProof="1"/>
              <a:t>果。</a:t>
            </a:r>
            <a:endParaRPr lang="zh-CN" altLang="en-US" strike="noStrike" noProof="1"/>
          </a:p>
          <a:p>
            <a:pPr lvl="0" fontAlgn="auto"/>
            <a:r>
              <a:rPr lang="zh-CN" altLang="en-US" strike="noStrike" noProof="1"/>
              <a:t>稳定系统：有限的输入，有限的</a:t>
            </a:r>
            <a:r>
              <a:rPr lang="zh-CN" altLang="en-US" strike="noStrike" noProof="1"/>
              <a:t>响应</a:t>
            </a:r>
            <a:endParaRPr lang="zh-CN" altLang="en-US" strike="noStrike" noProof="1"/>
          </a:p>
          <a:p>
            <a:pPr lvl="0" fontAlgn="auto"/>
            <a:r>
              <a:rPr lang="zh-CN" altLang="en-US" strike="noStrike" noProof="1"/>
              <a:t>不稳定系统：系统状态不可能稳定</a:t>
            </a:r>
            <a:r>
              <a:rPr lang="zh-CN" altLang="en-US" strike="noStrike" noProof="1"/>
              <a:t>保持。</a:t>
            </a:r>
            <a:endParaRPr lang="zh-CN" altLang="en-US" strike="noStrike" noProof="1"/>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7" name="幻灯片图像占位符 1"/>
          <p:cNvSpPr>
            <a:spLocks noGrp="1" noRot="1"/>
          </p:cNvSpPr>
          <p:nvPr>
            <p:ph type="sldImg"/>
          </p:nvPr>
        </p:nvSpPr>
        <p:spPr/>
      </p:sp>
      <p:sp>
        <p:nvSpPr>
          <p:cNvPr id="24578" name="文本占位符 2"/>
          <p:cNvSpPr>
            <a:spLocks noGrp="1"/>
          </p:cNvSpPr>
          <p:nvPr>
            <p:ph type="body"/>
          </p:nvPr>
        </p:nvSpPr>
        <p:spPr/>
        <p:txBody>
          <a:bodyPr lIns="91440" tIns="45720" rIns="91440" bIns="45720" anchor="t" anchorCtr="0"/>
          <a:p>
            <a:pPr lvl="0"/>
            <a:r>
              <a:rPr lang="zh-CN" altLang="en-US"/>
              <a:t>建议先将</a:t>
            </a:r>
            <a:r>
              <a:rPr lang="en-US" altLang="zh-CN"/>
              <a:t>RP</a:t>
            </a:r>
            <a:r>
              <a:rPr lang="zh-CN" altLang="en-US"/>
              <a:t>调整到是</a:t>
            </a:r>
            <a:r>
              <a:rPr lang="en-US" altLang="zh-CN"/>
              <a:t>AV</a:t>
            </a:r>
            <a:r>
              <a:rPr lang="zh-CN" altLang="en-US"/>
              <a:t>为</a:t>
            </a:r>
            <a:r>
              <a:rPr lang="en-US" altLang="zh-CN"/>
              <a:t>3</a:t>
            </a:r>
            <a:r>
              <a:rPr lang="zh-CN" altLang="en-US"/>
              <a:t>的时，的阻值。</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5" name="Rectangle 2"/>
          <p:cNvSpPr>
            <a:spLocks noGrp="1" noRot="1" noTextEdit="1"/>
          </p:cNvSpPr>
          <p:nvPr>
            <p:ph type="sldImg"/>
          </p:nvPr>
        </p:nvSpPr>
        <p:spPr/>
      </p:sp>
      <p:sp>
        <p:nvSpPr>
          <p:cNvPr id="26626" name="Rectangle 3"/>
          <p:cNvSpPr>
            <a:spLocks noGrp="1"/>
          </p:cNvSpPr>
          <p:nvPr>
            <p:ph type="body"/>
          </p:nvPr>
        </p:nvSpPr>
        <p:spPr/>
        <p:txBody>
          <a:bodyPr wrap="square" lIns="91440" tIns="45720" rIns="91440" bIns="45720" anchor="t" anchorCtr="0"/>
          <a:p>
            <a:pPr lvl="0"/>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p:nvPr>
        </p:nvSpPr>
        <p:spPr/>
        <p:txBody>
          <a:bodyPr/>
          <a:p>
            <a:r>
              <a:rPr lang="zh-CN" altLang="en-US"/>
              <a:t>测量方法与：</a:t>
            </a:r>
            <a:r>
              <a:rPr lang="en-US" altLang="zh-CN"/>
              <a:t>BJT</a:t>
            </a:r>
            <a:r>
              <a:rPr lang="zh-CN" altLang="en-US"/>
              <a:t>的频率特征方法</a:t>
            </a:r>
            <a:r>
              <a:rPr lang="zh-CN" altLang="en-US"/>
              <a:t>也一样</a:t>
            </a:r>
            <a:endParaRPr lang="zh-CN" altLang="en-US"/>
          </a:p>
          <a:p>
            <a:endParaRPr lang="zh-CN" altLang="en-US"/>
          </a:p>
          <a:p>
            <a:r>
              <a:rPr lang="zh-CN" altLang="en-US"/>
              <a:t>幅率特</a:t>
            </a:r>
            <a:r>
              <a:rPr lang="zh-CN" altLang="en-US"/>
              <a:t>性</a:t>
            </a:r>
            <a:endParaRPr lang="zh-CN" altLang="en-US"/>
          </a:p>
          <a:p>
            <a:r>
              <a:rPr lang="zh-CN" altLang="en-US"/>
              <a:t>相频</a:t>
            </a:r>
            <a:r>
              <a:rPr lang="zh-CN" altLang="en-US"/>
              <a:t>特性</a:t>
            </a:r>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p:nvPr>
        </p:nvSpPr>
        <p:spPr/>
        <p:txBody>
          <a:bodyPr/>
          <a:p>
            <a:r>
              <a:rPr lang="zh-CN" altLang="en-US"/>
              <a:t>半波整流电路是一种利用二极管的单向导通特性来进行整流的常见电路，除去半周、剩下半周的整流方法，叫半波整流。</a:t>
            </a: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1" name="Rectangle 2"/>
          <p:cNvSpPr>
            <a:spLocks noGrp="1" noRot="1" noTextEdit="1"/>
          </p:cNvSpPr>
          <p:nvPr>
            <p:ph type="sldImg"/>
          </p:nvPr>
        </p:nvSpPr>
        <p:spPr/>
      </p:sp>
      <p:sp>
        <p:nvSpPr>
          <p:cNvPr id="35842" name="Rectangle 3"/>
          <p:cNvSpPr>
            <a:spLocks noGrp="1"/>
          </p:cNvSpPr>
          <p:nvPr>
            <p:ph type="body"/>
          </p:nvPr>
        </p:nvSpPr>
        <p:spPr/>
        <p:txBody>
          <a:bodyPr wrap="square" lIns="91440" tIns="45720" rIns="91440" bIns="45720" anchor="t" anchorCtr="0"/>
          <a:p>
            <a:pPr lvl="0"/>
            <a:r>
              <a:rPr lang="en-US" altLang="zh-CN" dirty="0"/>
              <a:t>vo</a:t>
            </a:r>
            <a:r>
              <a:rPr lang="zh-CN" altLang="en-US" dirty="0"/>
              <a:t>是全波整流</a:t>
            </a:r>
            <a:endParaRPr lang="zh-CN" altLang="en-US" dirty="0"/>
          </a:p>
          <a:p>
            <a:pPr lvl="0"/>
            <a:r>
              <a:rPr lang="zh-CN" altLang="en-US" dirty="0"/>
              <a:t>单</a:t>
            </a:r>
            <a:r>
              <a:rPr lang="en-US" altLang="zh-CN" dirty="0"/>
              <a:t>vo1</a:t>
            </a:r>
            <a:r>
              <a:rPr lang="zh-CN" altLang="en-US" dirty="0"/>
              <a:t>不是半波整流</a:t>
            </a:r>
            <a:endParaRPr lang="zh-CN" altLang="en-US" dirty="0"/>
          </a:p>
          <a:p>
            <a:pPr lvl="0"/>
            <a:r>
              <a:rPr lang="zh-CN" altLang="en-US" dirty="0"/>
              <a:t>整流是将信号从双极性信号</a:t>
            </a:r>
            <a:r>
              <a:rPr lang="en-US" altLang="zh-CN" dirty="0"/>
              <a:t>,</a:t>
            </a:r>
            <a:r>
              <a:rPr lang="zh-CN" altLang="en-US" dirty="0"/>
              <a:t>变换成单极性的大于</a:t>
            </a:r>
            <a:r>
              <a:rPr lang="en-US" altLang="zh-CN" dirty="0"/>
              <a:t>0</a:t>
            </a:r>
            <a:r>
              <a:rPr lang="zh-CN" altLang="en-US" dirty="0"/>
              <a:t>的信号</a:t>
            </a:r>
            <a:endParaRPr lang="zh-CN" altLang="en-US" dirty="0"/>
          </a:p>
          <a:p>
            <a:pPr lvl="0"/>
            <a:endParaRPr lang="zh-CN" altLang="en-US" dirty="0"/>
          </a:p>
          <a:p>
            <a:pPr lvl="0"/>
            <a:r>
              <a:rPr lang="zh-CN" altLang="en-US" dirty="0"/>
              <a:t>电路分成两个部分</a:t>
            </a:r>
            <a:endParaRPr lang="zh-CN" altLang="en-US" dirty="0"/>
          </a:p>
          <a:p>
            <a:pPr lvl="0"/>
            <a:r>
              <a:rPr lang="en-US" altLang="zh-CN" dirty="0"/>
              <a:t>A2</a:t>
            </a:r>
            <a:r>
              <a:rPr lang="zh-CN" altLang="en-US" dirty="0"/>
              <a:t>：输出</a:t>
            </a:r>
            <a:r>
              <a:rPr lang="en-US" altLang="zh-CN" dirty="0"/>
              <a:t>vo</a:t>
            </a:r>
            <a:r>
              <a:rPr lang="zh-CN" altLang="en-US" dirty="0"/>
              <a:t>是一个反向加法电路</a:t>
            </a:r>
            <a:endParaRPr lang="zh-CN" altLang="en-US" dirty="0"/>
          </a:p>
          <a:p>
            <a:pPr lvl="0"/>
            <a:r>
              <a:rPr lang="en-US" altLang="zh-CN" dirty="0"/>
              <a:t>A1</a:t>
            </a:r>
            <a:r>
              <a:rPr lang="zh-CN" altLang="en-US" dirty="0"/>
              <a:t>：其输出</a:t>
            </a:r>
            <a:r>
              <a:rPr lang="en-US" altLang="zh-CN" dirty="0"/>
              <a:t>vo1</a:t>
            </a:r>
            <a:r>
              <a:rPr lang="zh-CN" altLang="en-US" dirty="0">
                <a:sym typeface="+mn-ea"/>
              </a:rPr>
              <a:t>作用等会再讲</a:t>
            </a:r>
            <a:endParaRPr lang="en-US" altLang="zh-CN" dirty="0"/>
          </a:p>
          <a:p>
            <a:pPr lvl="0"/>
            <a:endParaRPr lang="en-US" altLang="zh-CN" dirty="0"/>
          </a:p>
          <a:p>
            <a:pPr lvl="0"/>
            <a:r>
              <a:rPr lang="en-US" altLang="zh-CN" dirty="0"/>
              <a:t>//Vi</a:t>
            </a:r>
            <a:r>
              <a:rPr lang="zh-CN" altLang="en-US" dirty="0"/>
              <a:t>的输入信号可以是信号源的，也可以是自己产生的正弦信号，自己的信号幅度比较大，</a:t>
            </a:r>
            <a:r>
              <a:rPr lang="en-US" altLang="zh-CN" dirty="0"/>
              <a:t>VO1</a:t>
            </a:r>
            <a:r>
              <a:rPr lang="zh-CN" altLang="en-US" dirty="0"/>
              <a:t>放大后就会有失真</a:t>
            </a:r>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p:nvPr>
        </p:nvSpPr>
        <p:spPr/>
      </p:sp>
      <p:sp>
        <p:nvSpPr>
          <p:cNvPr id="3" name="文本占位符 2"/>
          <p:cNvSpPr/>
          <p:nvPr>
            <p:ph type="body"/>
          </p:nvPr>
        </p:nvSpPr>
        <p:spPr/>
        <p:txBody>
          <a:bodyPr/>
          <a:p>
            <a:r>
              <a:rPr lang="zh-CN" altLang="en-US"/>
              <a:t>首先实现</a:t>
            </a:r>
            <a:r>
              <a:rPr lang="en-US" altLang="zh-CN"/>
              <a:t>A1: </a:t>
            </a:r>
            <a:r>
              <a:rPr lang="zh-CN" altLang="en-US"/>
              <a:t>同时观察</a:t>
            </a:r>
            <a:r>
              <a:rPr lang="en-US" altLang="zh-CN"/>
              <a:t>vi</a:t>
            </a:r>
            <a:r>
              <a:rPr lang="zh-CN" altLang="en-US"/>
              <a:t>与</a:t>
            </a:r>
            <a:r>
              <a:rPr lang="en-US" altLang="zh-CN"/>
              <a:t>vo1</a:t>
            </a:r>
            <a:endParaRPr lang="en-US" altLang="zh-CN"/>
          </a:p>
          <a:p>
            <a:r>
              <a:rPr lang="zh-CN" altLang="en-US"/>
              <a:t>在实现</a:t>
            </a:r>
            <a:r>
              <a:rPr lang="en-US" altLang="zh-CN"/>
              <a:t>A2:</a:t>
            </a:r>
            <a:r>
              <a:rPr lang="zh-CN" altLang="en-US"/>
              <a:t>同时观察</a:t>
            </a:r>
            <a:r>
              <a:rPr lang="en-US" altLang="zh-CN"/>
              <a:t>vi</a:t>
            </a:r>
            <a:r>
              <a:rPr lang="zh-CN" altLang="en-US"/>
              <a:t>与</a:t>
            </a:r>
            <a:r>
              <a:rPr lang="en-US" altLang="zh-CN"/>
              <a:t>vo</a:t>
            </a:r>
            <a:endParaRPr lang="zh-CN" altLang="en-US"/>
          </a:p>
          <a:p>
            <a:endParaRPr lang="zh-CN" altLang="en-US"/>
          </a:p>
          <a:p>
            <a:r>
              <a:rPr lang="zh-CN" altLang="en-US"/>
              <a:t>三个波形有相位关系，建议示波器同时测试</a:t>
            </a:r>
            <a:r>
              <a:rPr lang="en-US" altLang="zh-CN"/>
              <a:t>V01</a:t>
            </a:r>
            <a:r>
              <a:rPr lang="zh-CN" altLang="en-US"/>
              <a:t>和</a:t>
            </a:r>
            <a:r>
              <a:rPr lang="en-US" altLang="zh-CN"/>
              <a:t>VI.VO</a:t>
            </a:r>
            <a:r>
              <a:rPr lang="zh-CN" altLang="en-US"/>
              <a:t>和</a:t>
            </a:r>
            <a:r>
              <a:rPr lang="en-US" altLang="zh-CN"/>
              <a:t>VI</a:t>
            </a:r>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1" name="幻灯片图像占位符 1"/>
          <p:cNvSpPr>
            <a:spLocks noGrp="1" noRot="1"/>
          </p:cNvSpPr>
          <p:nvPr>
            <p:ph type="sldImg"/>
          </p:nvPr>
        </p:nvSpPr>
        <p:spPr/>
      </p:sp>
      <p:sp>
        <p:nvSpPr>
          <p:cNvPr id="40962" name="文本占位符 2"/>
          <p:cNvSpPr>
            <a:spLocks noGrp="1"/>
          </p:cNvSpPr>
          <p:nvPr>
            <p:ph type="body"/>
          </p:nvPr>
        </p:nvSpPr>
        <p:spPr/>
        <p:txBody>
          <a:bodyPr lIns="91440" tIns="45720" rIns="91440" bIns="45720" anchor="t" anchorCtr="0"/>
          <a:p>
            <a:pPr lvl="0"/>
            <a:r>
              <a:rPr lang="en-US" altLang="zh-CN"/>
              <a:t>vi&gt;0</a:t>
            </a:r>
            <a:r>
              <a:rPr lang="zh-CN" altLang="en-US"/>
              <a:t>，时候</a:t>
            </a:r>
            <a:r>
              <a:rPr lang="en-US" altLang="zh-CN"/>
              <a:t>VO=VI</a:t>
            </a:r>
            <a:endParaRPr lang="en-US" altLang="zh-CN"/>
          </a:p>
          <a:p>
            <a:pPr lvl="0"/>
            <a:r>
              <a:rPr lang="en-US" altLang="zh-CN"/>
              <a:t>VI&lt;0</a:t>
            </a:r>
            <a:r>
              <a:rPr lang="zh-CN" altLang="en-US"/>
              <a:t>，时候</a:t>
            </a:r>
            <a:r>
              <a:rPr lang="en-US" altLang="zh-CN"/>
              <a:t>vo=-vi</a:t>
            </a:r>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3" name="幻灯片图像占位符 1"/>
          <p:cNvSpPr>
            <a:spLocks noGrp="1" noRot="1"/>
          </p:cNvSpPr>
          <p:nvPr>
            <p:ph type="sldImg"/>
          </p:nvPr>
        </p:nvSpPr>
        <p:spPr/>
      </p:sp>
      <p:sp>
        <p:nvSpPr>
          <p:cNvPr id="49154" name="文本占位符 2"/>
          <p:cNvSpPr>
            <a:spLocks noGrp="1"/>
          </p:cNvSpPr>
          <p:nvPr>
            <p:ph type="body"/>
          </p:nvPr>
        </p:nvSpPr>
        <p:spPr/>
        <p:txBody>
          <a:bodyPr lIns="91440" tIns="45720" rIns="91440" bIns="45720" anchor="t" anchorCtr="0"/>
          <a:p>
            <a:pPr marL="0" lvl="1" indent="457200"/>
            <a:r>
              <a:rPr lang="zh-CN" altLang="en-US" dirty="0"/>
              <a:t>表</a:t>
            </a:r>
            <a:r>
              <a:rPr lang="en-US" altLang="zh-CN" dirty="0"/>
              <a:t>4.9.1</a:t>
            </a:r>
            <a:r>
              <a:rPr lang="zh-CN" altLang="en-US" dirty="0"/>
              <a:t>测量结果和</a:t>
            </a:r>
            <a:r>
              <a:rPr lang="zh-CN" altLang="en-US" b="1" dirty="0"/>
              <a:t>表</a:t>
            </a:r>
            <a:r>
              <a:rPr lang="en-US" altLang="zh-CN" b="1" dirty="0"/>
              <a:t>4.11.1</a:t>
            </a:r>
            <a:r>
              <a:rPr lang="zh-CN" altLang="en-US" b="1" dirty="0"/>
              <a:t>测量结果；不用做。</a:t>
            </a:r>
            <a:endParaRPr lang="zh-CN" altLang="en-US" b="1"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5" name="幻灯片图像占位符 1"/>
          <p:cNvSpPr>
            <a:spLocks noGrp="1" noRot="1"/>
          </p:cNvSpPr>
          <p:nvPr>
            <p:ph type="sldImg"/>
          </p:nvPr>
        </p:nvSpPr>
        <p:spPr/>
      </p:sp>
      <p:sp>
        <p:nvSpPr>
          <p:cNvPr id="11266" name="文本占位符 2"/>
          <p:cNvSpPr>
            <a:spLocks noGrp="1"/>
          </p:cNvSpPr>
          <p:nvPr>
            <p:ph type="body"/>
          </p:nvPr>
        </p:nvSpPr>
        <p:spPr/>
        <p:txBody>
          <a:bodyPr lIns="91440" tIns="45720" rIns="91440" bIns="45720" anchor="t" anchorCtr="0"/>
          <a:p>
            <a:pPr lvl="0"/>
            <a:r>
              <a:rPr lang="en-US" altLang="zh-CN"/>
              <a:t>1</a:t>
            </a:r>
            <a:r>
              <a:rPr lang="zh-CN" altLang="en-US"/>
              <a:t>：有三个独立电源，两个可调的，每个都有正负极，负极就是参考地。</a:t>
            </a:r>
            <a:endParaRPr lang="zh-CN" altLang="en-US"/>
          </a:p>
          <a:p>
            <a:pPr lvl="0"/>
            <a:r>
              <a:rPr lang="en-US" altLang="zh-CN"/>
              <a:t>2</a:t>
            </a:r>
            <a:r>
              <a:rPr lang="zh-CN" altLang="en-US"/>
              <a:t>调整好正负电源后，断掉电源，然后再将电源接入到系统中。</a:t>
            </a:r>
            <a:endParaRPr lang="zh-CN" altLang="en-US"/>
          </a:p>
          <a:p>
            <a:pPr lvl="0"/>
            <a:r>
              <a:rPr lang="en-US" altLang="zh-CN"/>
              <a:t>2</a:t>
            </a:r>
            <a:r>
              <a:rPr lang="zh-CN" altLang="en-US"/>
              <a:t>：需要测试芯片的管脚对原理图中的地的电压。</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7" name="AutoShape 4"/>
          <p:cNvSpPr>
            <a:spLocks noChangeArrowheads="1"/>
          </p:cNvSpPr>
          <p:nvPr userDrawn="1"/>
        </p:nvSpPr>
        <p:spPr bwMode="auto">
          <a:xfrm>
            <a:off x="211855" y="529945"/>
            <a:ext cx="18368000" cy="0"/>
          </a:xfrm>
          <a:custGeom>
            <a:avLst/>
            <a:gdLst>
              <a:gd name="G0" fmla="+- 569 0 0"/>
              <a:gd name="T0" fmla="*/ 0 w 1000"/>
              <a:gd name="T1" fmla="*/ 0 h 1000"/>
              <a:gd name="T2" fmla="*/ 569 w 1000"/>
              <a:gd name="T3" fmla="*/ 0 h 1000"/>
              <a:gd name="T4" fmla="*/ 569 w 1000"/>
              <a:gd name="T5" fmla="*/ 1000 h 1000"/>
              <a:gd name="T6" fmla="*/ 0 w 1000"/>
              <a:gd name="T7" fmla="*/ 1000 h 1000"/>
              <a:gd name="T8" fmla="*/ 0 w 1000"/>
              <a:gd name="T9" fmla="*/ 0 h 1000"/>
              <a:gd name="T10" fmla="*/ 1000 w 1000"/>
              <a:gd name="T11" fmla="*/ 0 h 1000"/>
            </a:gdLst>
            <a:ahLst/>
            <a:cxnLst>
              <a:cxn ang="0">
                <a:pos x="T0" y="T1"/>
              </a:cxn>
              <a:cxn ang="0">
                <a:pos x="T2" y="T3"/>
              </a:cxn>
              <a:cxn ang="0">
                <a:pos x="T4" y="T5"/>
              </a:cxn>
              <a:cxn ang="0">
                <a:pos x="T6" y="T7"/>
              </a:cxn>
              <a:cxn ang="0">
                <a:pos x="T8" y="T9"/>
              </a:cxn>
              <a:cxn ang="0">
                <a:pos x="T10" y="T11"/>
              </a:cxn>
            </a:cxnLst>
            <a:rect l="0" t="0" r="r" b="b"/>
            <a:pathLst>
              <a:path w="1000" h="1000" stroke="0">
                <a:moveTo>
                  <a:pt x="0" y="0"/>
                </a:moveTo>
                <a:lnTo>
                  <a:pt x="569" y="0"/>
                </a:lnTo>
                <a:lnTo>
                  <a:pt x="569" y="1000"/>
                </a:lnTo>
                <a:lnTo>
                  <a:pt x="0" y="1000"/>
                </a:lnTo>
                <a:close/>
              </a:path>
              <a:path w="1000" h="1000">
                <a:moveTo>
                  <a:pt x="0" y="0"/>
                </a:moveTo>
                <a:lnTo>
                  <a:pt x="1000" y="0"/>
                </a:lnTo>
              </a:path>
            </a:pathLst>
          </a:custGeom>
          <a:solidFill>
            <a:srgbClr val="0099CC"/>
          </a:solidFill>
          <a:ln w="12700">
            <a:solidFill>
              <a:srgbClr val="0099CC"/>
            </a:solidFill>
            <a:round/>
          </a:ln>
        </p:spPr>
        <p:txBody>
          <a:bodyPr/>
          <a:lstStyle/>
          <a:p>
            <a:pPr algn="l"/>
            <a:endParaRPr lang="zh-CN" altLang="zh-CN" sz="2400" b="0">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marL="0" lvl="0" indent="0" algn="l" defTabSz="914400" eaLnBrk="0" fontAlgn="base" latinLnBrk="0" hangingPunct="0">
        <a:lnSpc>
          <a:spcPct val="100000"/>
        </a:lnSpc>
        <a:spcBef>
          <a:spcPct val="0"/>
        </a:spcBef>
        <a:spcAft>
          <a:spcPct val="0"/>
        </a:spcAft>
        <a:buNone/>
        <a:defRPr sz="3800" b="1" i="0" u="none" kern="1200" baseline="0">
          <a:solidFill>
            <a:schemeClr val="tx2"/>
          </a:solidFill>
          <a:latin typeface="+mj-lt"/>
          <a:ea typeface="+mj-ea"/>
          <a:cs typeface="+mj-cs"/>
        </a:defRPr>
      </a:lvl1pPr>
    </p:titleStyle>
    <p:bodyStyle>
      <a:lvl1pPr marL="469900" lvl="0" indent="-469900" algn="l" defTabSz="914400" eaLnBrk="0" fontAlgn="base" latinLnBrk="0" hangingPunct="0">
        <a:lnSpc>
          <a:spcPct val="100000"/>
        </a:lnSpc>
        <a:spcBef>
          <a:spcPct val="20000"/>
        </a:spcBef>
        <a:spcAft>
          <a:spcPct val="0"/>
        </a:spcAft>
        <a:buClr>
          <a:schemeClr val="accent2"/>
        </a:buClr>
        <a:buFont typeface="Wingdings" panose="05000000000000000000" pitchFamily="2" charset="2"/>
        <a:buChar char="o"/>
        <a:defRPr sz="3000" b="0" i="0" u="none" kern="1200" baseline="0">
          <a:solidFill>
            <a:schemeClr val="tx1"/>
          </a:solidFill>
          <a:latin typeface="+mn-lt"/>
          <a:ea typeface="+mn-ea"/>
          <a:cs typeface="+mn-cs"/>
        </a:defRPr>
      </a:lvl1pPr>
      <a:lvl2pPr marL="908050" lvl="1" indent="-436245" algn="l" defTabSz="914400" eaLnBrk="0" fontAlgn="base" latinLnBrk="0" hangingPunct="0">
        <a:lnSpc>
          <a:spcPct val="100000"/>
        </a:lnSpc>
        <a:spcBef>
          <a:spcPct val="20000"/>
        </a:spcBef>
        <a:spcAft>
          <a:spcPct val="0"/>
        </a:spcAft>
        <a:buClr>
          <a:schemeClr val="accent2"/>
        </a:buClr>
        <a:buFont typeface="Wingdings" panose="05000000000000000000" pitchFamily="2" charset="2"/>
        <a:buChar char="n"/>
        <a:defRPr sz="2600" b="0" i="0" u="none" kern="1200" baseline="0">
          <a:solidFill>
            <a:schemeClr val="tx1"/>
          </a:solidFill>
          <a:latin typeface="+mn-lt"/>
          <a:ea typeface="+mn-ea"/>
          <a:cs typeface="+mn-cs"/>
        </a:defRPr>
      </a:lvl2pPr>
      <a:lvl3pPr marL="1304925" lvl="2" indent="-394970" algn="l" defTabSz="914400" eaLnBrk="0" fontAlgn="base" latinLnBrk="0" hangingPunct="0">
        <a:lnSpc>
          <a:spcPct val="100000"/>
        </a:lnSpc>
        <a:spcBef>
          <a:spcPct val="20000"/>
        </a:spcBef>
        <a:spcAft>
          <a:spcPct val="0"/>
        </a:spcAft>
        <a:buClr>
          <a:schemeClr val="accent2"/>
        </a:buClr>
        <a:buFont typeface="Wingdings" panose="05000000000000000000" pitchFamily="2" charset="2"/>
        <a:buChar char="o"/>
        <a:defRPr sz="2300" b="0" i="0" u="none" kern="1200" baseline="0">
          <a:solidFill>
            <a:schemeClr val="tx1"/>
          </a:solidFill>
          <a:latin typeface="+mn-lt"/>
          <a:ea typeface="+mn-ea"/>
          <a:cs typeface="+mn-cs"/>
        </a:defRPr>
      </a:lvl3pPr>
      <a:lvl4pPr marL="1694180" lvl="3" indent="-387350" algn="l" defTabSz="914400" eaLnBrk="0" fontAlgn="base" latinLnBrk="0" hangingPunct="0">
        <a:lnSpc>
          <a:spcPct val="100000"/>
        </a:lnSpc>
        <a:spcBef>
          <a:spcPct val="20000"/>
        </a:spcBef>
        <a:spcAft>
          <a:spcPct val="0"/>
        </a:spcAft>
        <a:buClr>
          <a:schemeClr val="accent2"/>
        </a:buClr>
        <a:buFont typeface="Wingdings" panose="05000000000000000000" pitchFamily="2" charset="2"/>
        <a:buChar char="n"/>
        <a:defRPr sz="2000" b="0" i="0" u="none" kern="1200" baseline="0">
          <a:solidFill>
            <a:schemeClr val="tx1"/>
          </a:solidFill>
          <a:latin typeface="+mn-lt"/>
          <a:ea typeface="+mn-ea"/>
          <a:cs typeface="+mn-cs"/>
        </a:defRPr>
      </a:lvl4pPr>
      <a:lvl5pPr marL="2094230" lvl="4" indent="-398780" algn="l" defTabSz="914400" eaLnBrk="0" fontAlgn="base" latinLnBrk="0" hangingPunct="0">
        <a:lnSpc>
          <a:spcPct val="100000"/>
        </a:lnSpc>
        <a:spcBef>
          <a:spcPct val="25000"/>
        </a:spcBef>
        <a:spcAft>
          <a:spcPct val="0"/>
        </a:spcAft>
        <a:buClr>
          <a:schemeClr val="accent2"/>
        </a:buClr>
        <a:buFont typeface="Wingdings" panose="05000000000000000000" pitchFamily="2" charset="2"/>
        <a:buChar char="§"/>
        <a:defRPr sz="2000" b="0" i="0" u="none" kern="1200" baseline="0">
          <a:solidFill>
            <a:schemeClr val="tx1"/>
          </a:solidFill>
          <a:latin typeface="+mn-lt"/>
          <a:ea typeface="+mn-ea"/>
          <a:cs typeface="+mn-cs"/>
        </a:defRPr>
      </a:lvl5pPr>
      <a:lvl6pPr marL="2514600" lvl="5" indent="-228600" algn="l" defTabSz="914400" eaLnBrk="0" fontAlgn="base" latinLnBrk="0" hangingPunct="0">
        <a:lnSpc>
          <a:spcPct val="100000"/>
        </a:lnSpc>
        <a:spcBef>
          <a:spcPct val="25000"/>
        </a:spcBef>
        <a:spcAft>
          <a:spcPct val="0"/>
        </a:spcAft>
        <a:buClr>
          <a:schemeClr val="accent2"/>
        </a:buClr>
        <a:buFont typeface="Wingdings" panose="05000000000000000000" pitchFamily="2" charset="2"/>
        <a:buChar char="§"/>
        <a:defRPr sz="2000" b="0" i="0" u="none" kern="1200" baseline="0">
          <a:solidFill>
            <a:schemeClr val="tx1"/>
          </a:solidFill>
          <a:latin typeface="+mn-lt"/>
          <a:ea typeface="+mn-ea"/>
          <a:cs typeface="+mn-cs"/>
        </a:defRPr>
      </a:lvl6pPr>
      <a:lvl7pPr marL="2971800" lvl="6" indent="-228600" algn="l" defTabSz="914400" eaLnBrk="0" fontAlgn="base" latinLnBrk="0" hangingPunct="0">
        <a:lnSpc>
          <a:spcPct val="100000"/>
        </a:lnSpc>
        <a:spcBef>
          <a:spcPct val="25000"/>
        </a:spcBef>
        <a:spcAft>
          <a:spcPct val="0"/>
        </a:spcAft>
        <a:buClr>
          <a:schemeClr val="accent2"/>
        </a:buClr>
        <a:buFont typeface="Wingdings" panose="05000000000000000000" pitchFamily="2" charset="2"/>
        <a:buChar char="§"/>
        <a:defRPr sz="2000" b="0" i="0" u="none" kern="1200" baseline="0">
          <a:solidFill>
            <a:schemeClr val="tx1"/>
          </a:solidFill>
          <a:latin typeface="+mn-lt"/>
          <a:ea typeface="+mn-ea"/>
          <a:cs typeface="+mn-cs"/>
        </a:defRPr>
      </a:lvl7pPr>
      <a:lvl8pPr marL="3429000" lvl="7" indent="-228600" algn="l" defTabSz="914400" eaLnBrk="0" fontAlgn="base" latinLnBrk="0" hangingPunct="0">
        <a:lnSpc>
          <a:spcPct val="100000"/>
        </a:lnSpc>
        <a:spcBef>
          <a:spcPct val="25000"/>
        </a:spcBef>
        <a:spcAft>
          <a:spcPct val="0"/>
        </a:spcAft>
        <a:buClr>
          <a:schemeClr val="accent2"/>
        </a:buClr>
        <a:buFont typeface="Wingdings" panose="05000000000000000000" pitchFamily="2" charset="2"/>
        <a:buChar char="§"/>
        <a:defRPr sz="2000" b="0" i="0" u="none" kern="1200" baseline="0">
          <a:solidFill>
            <a:schemeClr val="tx1"/>
          </a:solidFill>
          <a:latin typeface="+mn-lt"/>
          <a:ea typeface="+mn-ea"/>
          <a:cs typeface="+mn-cs"/>
        </a:defRPr>
      </a:lvl8pPr>
      <a:lvl9pPr marL="3886200" lvl="8" indent="-228600" algn="l" defTabSz="914400" eaLnBrk="0" fontAlgn="base" latinLnBrk="0" hangingPunct="0">
        <a:lnSpc>
          <a:spcPct val="100000"/>
        </a:lnSpc>
        <a:spcBef>
          <a:spcPct val="25000"/>
        </a:spcBef>
        <a:spcAft>
          <a:spcPct val="0"/>
        </a:spcAft>
        <a:buClr>
          <a:schemeClr val="accent2"/>
        </a:buClr>
        <a:buFont typeface="Wingdings" panose="05000000000000000000" pitchFamily="2" charset="2"/>
        <a:buChar char="§"/>
        <a:defRPr sz="2000" b="0" i="0" u="none" kern="1200" baseline="0">
          <a:solidFill>
            <a:schemeClr val="tx1"/>
          </a:solidFill>
          <a:latin typeface="+mn-lt"/>
          <a:ea typeface="+mn-ea"/>
          <a:cs typeface="+mn-cs"/>
        </a:defRPr>
      </a:lvl9pPr>
    </p:bodyStyle>
    <p:otherStyle>
      <a:lvl1pPr marL="0" lvl="0"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Verdana" panose="020B0604030504040204" pitchFamily="2"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Verdana" panose="020B0604030504040204" pitchFamily="2"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Verdana" panose="020B0604030504040204" pitchFamily="2"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Verdana" panose="020B0604030504040204" pitchFamily="2"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Verdana" panose="020B0604030504040204" pitchFamily="2"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Verdana" panose="020B0604030504040204" pitchFamily="2"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Verdana" panose="020B0604030504040204" pitchFamily="2"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Verdana" panose="020B0604030504040204" pitchFamily="2" charset="0"/>
          <a:ea typeface="宋体" panose="02010600030101010101" pitchFamily="2" charset="-122"/>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9" Type="http://schemas.openxmlformats.org/officeDocument/2006/relationships/image" Target="../media/image5.wmf"/><Relationship Id="rId8" Type="http://schemas.openxmlformats.org/officeDocument/2006/relationships/oleObject" Target="../embeddings/oleObject3.bin"/><Relationship Id="rId7" Type="http://schemas.openxmlformats.org/officeDocument/2006/relationships/image" Target="../media/image4.wmf"/><Relationship Id="rId6" Type="http://schemas.openxmlformats.org/officeDocument/2006/relationships/oleObject" Target="../embeddings/oleObject2.bin"/><Relationship Id="rId5" Type="http://schemas.openxmlformats.org/officeDocument/2006/relationships/image" Target="../media/image3.wmf"/><Relationship Id="rId4" Type="http://schemas.openxmlformats.org/officeDocument/2006/relationships/oleObject" Target="../embeddings/oleObject1.bin"/><Relationship Id="rId3" Type="http://schemas.openxmlformats.org/officeDocument/2006/relationships/slide" Target="slide4.xml"/><Relationship Id="rId2" Type="http://schemas.openxmlformats.org/officeDocument/2006/relationships/image" Target="../media/image2.png"/><Relationship Id="rId19" Type="http://schemas.openxmlformats.org/officeDocument/2006/relationships/notesSlide" Target="../notesSlides/notesSlide1.xml"/><Relationship Id="rId18" Type="http://schemas.openxmlformats.org/officeDocument/2006/relationships/vmlDrawing" Target="../drawings/vmlDrawing1.vml"/><Relationship Id="rId17" Type="http://schemas.openxmlformats.org/officeDocument/2006/relationships/slideLayout" Target="../slideLayouts/slideLayout2.xml"/><Relationship Id="rId16" Type="http://schemas.openxmlformats.org/officeDocument/2006/relationships/tags" Target="../tags/tag1.xml"/><Relationship Id="rId15" Type="http://schemas.openxmlformats.org/officeDocument/2006/relationships/image" Target="../media/image8.wmf"/><Relationship Id="rId14" Type="http://schemas.openxmlformats.org/officeDocument/2006/relationships/oleObject" Target="../embeddings/oleObject6.bin"/><Relationship Id="rId13" Type="http://schemas.openxmlformats.org/officeDocument/2006/relationships/image" Target="../media/image7.wmf"/><Relationship Id="rId12" Type="http://schemas.openxmlformats.org/officeDocument/2006/relationships/oleObject" Target="../embeddings/oleObject5.bin"/><Relationship Id="rId11" Type="http://schemas.openxmlformats.org/officeDocument/2006/relationships/image" Target="../media/image6.wmf"/><Relationship Id="rId10" Type="http://schemas.openxmlformats.org/officeDocument/2006/relationships/oleObject" Target="../embeddings/oleObject4.bin"/><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9" Type="http://schemas.openxmlformats.org/officeDocument/2006/relationships/image" Target="../media/image12.wmf"/><Relationship Id="rId8" Type="http://schemas.openxmlformats.org/officeDocument/2006/relationships/oleObject" Target="../embeddings/oleObject10.bin"/><Relationship Id="rId7" Type="http://schemas.openxmlformats.org/officeDocument/2006/relationships/image" Target="../media/image11.wmf"/><Relationship Id="rId6" Type="http://schemas.openxmlformats.org/officeDocument/2006/relationships/oleObject" Target="../embeddings/oleObject9.bin"/><Relationship Id="rId5" Type="http://schemas.openxmlformats.org/officeDocument/2006/relationships/image" Target="../media/image10.wmf"/><Relationship Id="rId4" Type="http://schemas.openxmlformats.org/officeDocument/2006/relationships/oleObject" Target="../embeddings/oleObject8.bin"/><Relationship Id="rId3" Type="http://schemas.openxmlformats.org/officeDocument/2006/relationships/image" Target="../media/image9.wmf"/><Relationship Id="rId2" Type="http://schemas.openxmlformats.org/officeDocument/2006/relationships/oleObject" Target="../embeddings/oleObject7.bin"/><Relationship Id="rId13" Type="http://schemas.openxmlformats.org/officeDocument/2006/relationships/notesSlide" Target="../notesSlides/notesSlide2.xml"/><Relationship Id="rId12" Type="http://schemas.openxmlformats.org/officeDocument/2006/relationships/vmlDrawing" Target="../drawings/vmlDrawing2.vml"/><Relationship Id="rId11" Type="http://schemas.openxmlformats.org/officeDocument/2006/relationships/slideLayout" Target="../slideLayouts/slideLayout2.xml"/><Relationship Id="rId10" Type="http://schemas.openxmlformats.org/officeDocument/2006/relationships/image" Target="../media/image1.png"/><Relationship Id="rId1" Type="http://schemas.openxmlformats.org/officeDocument/2006/relationships/slide" Target="slide4.xml"/></Relationships>
</file>

<file path=ppt/slides/_rels/slide5.xml.rels><?xml version="1.0" encoding="UTF-8" standalone="yes"?>
<Relationships xmlns="http://schemas.openxmlformats.org/package/2006/relationships"><Relationship Id="rId9" Type="http://schemas.openxmlformats.org/officeDocument/2006/relationships/oleObject" Target="../embeddings/oleObject15.bin"/><Relationship Id="rId8" Type="http://schemas.openxmlformats.org/officeDocument/2006/relationships/image" Target="../media/image16.wmf"/><Relationship Id="rId7" Type="http://schemas.openxmlformats.org/officeDocument/2006/relationships/oleObject" Target="../embeddings/oleObject14.bin"/><Relationship Id="rId6" Type="http://schemas.openxmlformats.org/officeDocument/2006/relationships/image" Target="../media/image15.wmf"/><Relationship Id="rId5" Type="http://schemas.openxmlformats.org/officeDocument/2006/relationships/oleObject" Target="../embeddings/oleObject13.bin"/><Relationship Id="rId4" Type="http://schemas.openxmlformats.org/officeDocument/2006/relationships/image" Target="../media/image14.wmf"/><Relationship Id="rId30" Type="http://schemas.openxmlformats.org/officeDocument/2006/relationships/vmlDrawing" Target="../drawings/vmlDrawing3.vml"/><Relationship Id="rId3" Type="http://schemas.openxmlformats.org/officeDocument/2006/relationships/oleObject" Target="../embeddings/oleObject12.bin"/><Relationship Id="rId29" Type="http://schemas.openxmlformats.org/officeDocument/2006/relationships/slideLayout" Target="../slideLayouts/slideLayout2.xml"/><Relationship Id="rId28" Type="http://schemas.openxmlformats.org/officeDocument/2006/relationships/image" Target="../media/image26.wmf"/><Relationship Id="rId27" Type="http://schemas.openxmlformats.org/officeDocument/2006/relationships/oleObject" Target="../embeddings/oleObject24.bin"/><Relationship Id="rId26" Type="http://schemas.openxmlformats.org/officeDocument/2006/relationships/image" Target="../media/image25.emf"/><Relationship Id="rId25" Type="http://schemas.openxmlformats.org/officeDocument/2006/relationships/oleObject" Target="../embeddings/oleObject23.bin"/><Relationship Id="rId24" Type="http://schemas.openxmlformats.org/officeDocument/2006/relationships/image" Target="../media/image24.wmf"/><Relationship Id="rId23" Type="http://schemas.openxmlformats.org/officeDocument/2006/relationships/oleObject" Target="../embeddings/oleObject22.bin"/><Relationship Id="rId22" Type="http://schemas.openxmlformats.org/officeDocument/2006/relationships/image" Target="../media/image23.wmf"/><Relationship Id="rId21" Type="http://schemas.openxmlformats.org/officeDocument/2006/relationships/oleObject" Target="../embeddings/oleObject21.bin"/><Relationship Id="rId20" Type="http://schemas.openxmlformats.org/officeDocument/2006/relationships/image" Target="../media/image22.wmf"/><Relationship Id="rId2" Type="http://schemas.openxmlformats.org/officeDocument/2006/relationships/image" Target="../media/image13.wmf"/><Relationship Id="rId19" Type="http://schemas.openxmlformats.org/officeDocument/2006/relationships/oleObject" Target="../embeddings/oleObject20.bin"/><Relationship Id="rId18" Type="http://schemas.openxmlformats.org/officeDocument/2006/relationships/image" Target="../media/image21.wmf"/><Relationship Id="rId17" Type="http://schemas.openxmlformats.org/officeDocument/2006/relationships/oleObject" Target="../embeddings/oleObject19.bin"/><Relationship Id="rId16" Type="http://schemas.openxmlformats.org/officeDocument/2006/relationships/image" Target="../media/image20.wmf"/><Relationship Id="rId15" Type="http://schemas.openxmlformats.org/officeDocument/2006/relationships/oleObject" Target="../embeddings/oleObject18.bin"/><Relationship Id="rId14" Type="http://schemas.openxmlformats.org/officeDocument/2006/relationships/image" Target="../media/image19.wmf"/><Relationship Id="rId13" Type="http://schemas.openxmlformats.org/officeDocument/2006/relationships/oleObject" Target="../embeddings/oleObject17.bin"/><Relationship Id="rId12" Type="http://schemas.openxmlformats.org/officeDocument/2006/relationships/image" Target="../media/image18.wmf"/><Relationship Id="rId11" Type="http://schemas.openxmlformats.org/officeDocument/2006/relationships/oleObject" Target="../embeddings/oleObject16.bin"/><Relationship Id="rId10" Type="http://schemas.openxmlformats.org/officeDocument/2006/relationships/image" Target="../media/image17.wmf"/><Relationship Id="rId1" Type="http://schemas.openxmlformats.org/officeDocument/2006/relationships/oleObject" Target="../embeddings/oleObject11.bin"/></Relationships>
</file>

<file path=ppt/slides/_rels/slide6.xml.rels><?xml version="1.0" encoding="UTF-8" standalone="yes"?>
<Relationships xmlns="http://schemas.openxmlformats.org/package/2006/relationships"><Relationship Id="rId9" Type="http://schemas.openxmlformats.org/officeDocument/2006/relationships/notesSlide" Target="../notesSlides/notesSlide3.xml"/><Relationship Id="rId8" Type="http://schemas.openxmlformats.org/officeDocument/2006/relationships/vmlDrawing" Target="../drawings/vmlDrawing4.vml"/><Relationship Id="rId7" Type="http://schemas.openxmlformats.org/officeDocument/2006/relationships/slideLayout" Target="../slideLayouts/slideLayout1.xml"/><Relationship Id="rId6" Type="http://schemas.openxmlformats.org/officeDocument/2006/relationships/image" Target="../media/image25.emf"/><Relationship Id="rId5" Type="http://schemas.openxmlformats.org/officeDocument/2006/relationships/oleObject" Target="../embeddings/oleObject27.bin"/><Relationship Id="rId4" Type="http://schemas.openxmlformats.org/officeDocument/2006/relationships/image" Target="../media/image17.wmf"/><Relationship Id="rId3" Type="http://schemas.openxmlformats.org/officeDocument/2006/relationships/oleObject" Target="../embeddings/oleObject26.bin"/><Relationship Id="rId2" Type="http://schemas.openxmlformats.org/officeDocument/2006/relationships/image" Target="../media/image27.wmf"/><Relationship Id="rId1" Type="http://schemas.openxmlformats.org/officeDocument/2006/relationships/oleObject" Target="../embeddings/oleObject25.bin"/></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28.emf"/></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vmlDrawing" Target="../drawings/vmlDrawing5.vml"/><Relationship Id="rId4" Type="http://schemas.openxmlformats.org/officeDocument/2006/relationships/slideLayout" Target="../slideLayouts/slideLayout2.xml"/><Relationship Id="rId3" Type="http://schemas.openxmlformats.org/officeDocument/2006/relationships/image" Target="../media/image30.emf"/><Relationship Id="rId2" Type="http://schemas.openxmlformats.org/officeDocument/2006/relationships/oleObject" Target="../embeddings/oleObject28.bin"/><Relationship Id="rId1" Type="http://schemas.openxmlformats.org/officeDocument/2006/relationships/image" Target="../media/image2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7" Type="http://schemas.openxmlformats.org/officeDocument/2006/relationships/notesSlide" Target="../notesSlides/notesSlide11.xml"/><Relationship Id="rId6" Type="http://schemas.openxmlformats.org/officeDocument/2006/relationships/vmlDrawing" Target="../drawings/vmlDrawing6.vml"/><Relationship Id="rId5" Type="http://schemas.openxmlformats.org/officeDocument/2006/relationships/slideLayout" Target="../slideLayouts/slideLayout1.xml"/><Relationship Id="rId4" Type="http://schemas.openxmlformats.org/officeDocument/2006/relationships/image" Target="../media/image33.png"/><Relationship Id="rId3" Type="http://schemas.openxmlformats.org/officeDocument/2006/relationships/image" Target="../media/image32.wmf"/><Relationship Id="rId2" Type="http://schemas.openxmlformats.org/officeDocument/2006/relationships/oleObject" Target="../embeddings/oleObject29.bin"/><Relationship Id="rId1" Type="http://schemas.openxmlformats.org/officeDocument/2006/relationships/image" Target="../media/image31.jpeg"/></Relationships>
</file>

<file path=ppt/slides/_rels/slide1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36.png"/><Relationship Id="rId3" Type="http://schemas.openxmlformats.org/officeDocument/2006/relationships/image" Target="../media/image35.png"/><Relationship Id="rId2" Type="http://schemas.openxmlformats.org/officeDocument/2006/relationships/image" Target="../media/image33.png"/><Relationship Id="rId1"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050" name="Rectangle 5"/>
          <p:cNvSpPr>
            <a:spLocks noGrp="1" noChangeArrowheads="1"/>
          </p:cNvSpPr>
          <p:nvPr/>
        </p:nvSpPr>
        <p:spPr>
          <a:xfrm>
            <a:off x="1775460" y="1988503"/>
            <a:ext cx="7543800" cy="1711325"/>
          </a:xfrm>
          <a:prstGeom prst="rect">
            <a:avLst/>
          </a:prstGeom>
          <a:noFill/>
          <a:ln w="9525">
            <a:noFill/>
          </a:ln>
        </p:spPr>
        <p:txBody>
          <a:bodyPr vert="horz" lIns="91440" tIns="45720" rIns="91440" bIns="45720" rtlCol="0" anchor="b"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defRPr/>
            </a:pPr>
            <a:br>
              <a:rPr kumimoji="0" lang="zh-CN" altLang="en-US" sz="3200" b="1"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rPr>
            </a:br>
            <a:br>
              <a:rPr kumimoji="0" lang="zh-CN" altLang="en-US" sz="3200" b="1"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rPr>
            </a:br>
            <a:r>
              <a:rPr kumimoji="0" lang="zh-CN" altLang="en-US" sz="3200" b="1"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rPr>
              <a:t>实验</a:t>
            </a:r>
            <a:r>
              <a:rPr kumimoji="0" lang="en-US" altLang="zh-CN" sz="3200" b="1"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微软雅黑" panose="020B0503020204020204" charset="-122"/>
              </a:rPr>
              <a:t>9 </a:t>
            </a:r>
            <a:r>
              <a:rPr kumimoji="0" lang="en-US" altLang="zh-CN" sz="3200" b="1"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rPr>
              <a:t> </a:t>
            </a:r>
            <a:r>
              <a:rPr kumimoji="0" lang="zh-CN" altLang="en-US" sz="3200" b="1"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sym typeface="Wingdings 2" panose="05020102010507070707" pitchFamily="2" charset="2"/>
              </a:rPr>
              <a:t>正弦波产生电路  </a:t>
            </a:r>
            <a:br>
              <a:rPr kumimoji="0" lang="en-US" altLang="zh-CN" sz="3200" b="1"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sym typeface="Wingdings 2" panose="05020102010507070707" pitchFamily="2" charset="2"/>
              </a:rPr>
            </a:br>
            <a:br>
              <a:rPr kumimoji="0" lang="en-US" altLang="zh-CN" sz="3200" b="1"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rPr>
            </a:br>
            <a:r>
              <a:rPr kumimoji="0" lang="zh-CN" altLang="en-US" sz="3200" b="1"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rPr>
              <a:t>实验</a:t>
            </a:r>
            <a:r>
              <a:rPr kumimoji="0" lang="en-US" altLang="zh-CN" sz="3200" b="1"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微软雅黑" panose="020B0503020204020204" charset="-122"/>
              </a:rPr>
              <a:t>11</a:t>
            </a:r>
            <a:r>
              <a:rPr kumimoji="0" lang="en-US" altLang="zh-CN" sz="3200" b="1"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微软雅黑" panose="020B0503020204020204" charset="-122"/>
              </a:rPr>
              <a:t> </a:t>
            </a:r>
            <a:r>
              <a:rPr kumimoji="0" lang="en-US" altLang="zh-CN" sz="3200" b="1"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rPr>
              <a:t> </a:t>
            </a:r>
            <a:r>
              <a:rPr kumimoji="0" lang="zh-CN" altLang="en-US" sz="3200" b="1"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rPr>
              <a:t>精密全波整流电路</a:t>
            </a:r>
            <a:endParaRPr kumimoji="0" lang="zh-CN" altLang="en-US" sz="3200" b="1"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8195" name="Rectangle 4"/>
          <p:cNvSpPr/>
          <p:nvPr/>
        </p:nvSpPr>
        <p:spPr>
          <a:xfrm>
            <a:off x="2351405" y="2350135"/>
            <a:ext cx="7077075" cy="865505"/>
          </a:xfrm>
          <a:prstGeom prst="rect">
            <a:avLst/>
          </a:prstGeom>
          <a:noFill/>
          <a:ln w="9525">
            <a:noFill/>
          </a:ln>
        </p:spPr>
        <p:txBody>
          <a:bodyPr anchor="b" anchorCtr="0"/>
          <a:p>
            <a:r>
              <a:rPr lang="zh-CN" altLang="en-US" sz="4800" b="1" noProof="0" dirty="0">
                <a:ln>
                  <a:noFill/>
                </a:ln>
                <a:effectLst/>
                <a:uLnTx/>
                <a:uFillTx/>
                <a:latin typeface="微软雅黑" panose="020B0503020204020204" charset="-122"/>
                <a:ea typeface="微软雅黑" panose="020B0503020204020204" charset="-122"/>
                <a:cs typeface="微软雅黑" panose="020B0503020204020204" charset="-122"/>
                <a:sym typeface="+mn-ea"/>
              </a:rPr>
              <a:t>实验</a:t>
            </a:r>
            <a:r>
              <a:rPr lang="zh-CN" altLang="en-US" sz="4800" b="1" noProof="0" dirty="0">
                <a:ln>
                  <a:noFill/>
                </a:ln>
                <a:solidFill>
                  <a:srgbClr val="FF0000"/>
                </a:solidFill>
                <a:effectLst/>
                <a:uLnTx/>
                <a:uFillTx/>
                <a:latin typeface="微软雅黑" panose="020B0503020204020204" charset="-122"/>
                <a:ea typeface="微软雅黑" panose="020B0503020204020204" charset="-122"/>
                <a:cs typeface="微软雅黑" panose="020B0503020204020204" charset="-122"/>
                <a:sym typeface="+mn-ea"/>
              </a:rPr>
              <a:t>九</a:t>
            </a:r>
            <a:r>
              <a:rPr lang="en-US" altLang="zh-CN" sz="4800" b="1" noProof="0" dirty="0">
                <a:ln>
                  <a:noFill/>
                </a:ln>
                <a:solidFill>
                  <a:srgbClr val="FF0000"/>
                </a:solidFill>
                <a:effectLst/>
                <a:uLnTx/>
                <a:uFillTx/>
                <a:latin typeface="微软雅黑" panose="020B0503020204020204" charset="-122"/>
                <a:ea typeface="微软雅黑" panose="020B0503020204020204" charset="-122"/>
                <a:cs typeface="微软雅黑" panose="020B0503020204020204" charset="-122"/>
                <a:sym typeface="+mn-ea"/>
              </a:rPr>
              <a:t> </a:t>
            </a:r>
            <a:r>
              <a:rPr lang="zh-CN" altLang="en-US" sz="4800" b="1" dirty="0">
                <a:solidFill>
                  <a:schemeClr val="tx1"/>
                </a:solidFill>
                <a:latin typeface="微软雅黑" panose="020B0503020204020204" charset="-122"/>
                <a:ea typeface="微软雅黑" panose="020B0503020204020204" charset="-122"/>
              </a:rPr>
              <a:t>正弦波产生电路</a:t>
            </a:r>
            <a:endParaRPr lang="zh-CN" altLang="en-US" sz="4800" b="1" dirty="0">
              <a:solidFill>
                <a:schemeClr val="tx1"/>
              </a:solidFill>
              <a:latin typeface="微软雅黑" panose="020B0503020204020204" charset="-122"/>
              <a:ea typeface="微软雅黑" panose="020B0503020204020204" charset="-122"/>
            </a:endParaRPr>
          </a:p>
        </p:txBody>
      </p:sp>
      <p:sp>
        <p:nvSpPr>
          <p:cNvPr id="9242" name="文本框 1"/>
          <p:cNvSpPr txBox="1"/>
          <p:nvPr/>
        </p:nvSpPr>
        <p:spPr>
          <a:xfrm>
            <a:off x="4270693" y="3689985"/>
            <a:ext cx="5084445" cy="534035"/>
          </a:xfrm>
          <a:prstGeom prst="rect">
            <a:avLst/>
          </a:prstGeom>
          <a:noFill/>
          <a:ln w="9525">
            <a:noFill/>
          </a:ln>
        </p:spPr>
        <p:txBody>
          <a:bodyPr wrap="none" anchor="t" anchorCtr="0">
            <a:spAutoFit/>
          </a:bodyPr>
          <a:p>
            <a:pPr algn="ctr">
              <a:lnSpc>
                <a:spcPct val="90000"/>
              </a:lnSpc>
            </a:pPr>
            <a:r>
              <a:rPr lang="en-US" altLang="zh-CN" sz="3200" b="1">
                <a:solidFill>
                  <a:schemeClr val="tx1"/>
                </a:solidFill>
                <a:latin typeface="微软雅黑" panose="020B0503020204020204" charset="-122"/>
                <a:ea typeface="微软雅黑" panose="020B0503020204020204" charset="-122"/>
                <a:cs typeface="微软雅黑" panose="020B0503020204020204" charset="-122"/>
              </a:rPr>
              <a:t>———— </a:t>
            </a:r>
            <a:r>
              <a:rPr lang="zh-CN" altLang="en-US" sz="3200" b="1" dirty="0">
                <a:latin typeface="微软雅黑" panose="020B0503020204020204" charset="-122"/>
                <a:ea typeface="微软雅黑" panose="020B0503020204020204" charset="-122"/>
                <a:cs typeface="微软雅黑" panose="020B0503020204020204" charset="-122"/>
                <a:sym typeface="+mn-ea"/>
              </a:rPr>
              <a:t>桥式</a:t>
            </a:r>
            <a:r>
              <a:rPr lang="en-US" altLang="zh-CN" sz="3200" b="1" dirty="0">
                <a:latin typeface="Times New Roman" panose="02020603050405020304" pitchFamily="2" charset="0"/>
                <a:ea typeface="微软雅黑" panose="020B0503020204020204" charset="-122"/>
                <a:cs typeface="Times New Roman" panose="02020603050405020304" pitchFamily="2" charset="0"/>
                <a:sym typeface="+mn-ea"/>
              </a:rPr>
              <a:t>RC</a:t>
            </a:r>
            <a:r>
              <a:rPr lang="zh-CN" altLang="en-US" sz="3200" b="1" dirty="0">
                <a:latin typeface="微软雅黑" panose="020B0503020204020204" charset="-122"/>
                <a:ea typeface="微软雅黑" panose="020B0503020204020204" charset="-122"/>
                <a:cs typeface="微软雅黑" panose="020B0503020204020204" charset="-122"/>
                <a:sym typeface="+mn-ea"/>
              </a:rPr>
              <a:t>振荡电路</a:t>
            </a:r>
            <a:endParaRPr lang="zh-CN" altLang="en-US" sz="3200" b="1">
              <a:solidFill>
                <a:schemeClr val="tx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171" name="图片 7170" descr="未标题-1 拷贝"/>
          <p:cNvPicPr>
            <a:picLocks noChangeAspect="1"/>
          </p:cNvPicPr>
          <p:nvPr/>
        </p:nvPicPr>
        <p:blipFill>
          <a:blip r:embed="rId1"/>
          <a:stretch>
            <a:fillRect/>
          </a:stretch>
        </p:blipFill>
        <p:spPr>
          <a:xfrm>
            <a:off x="6456045" y="588645"/>
            <a:ext cx="3856038" cy="2292350"/>
          </a:xfrm>
          <a:prstGeom prst="rect">
            <a:avLst/>
          </a:prstGeom>
          <a:noFill/>
          <a:ln w="9525">
            <a:noFill/>
          </a:ln>
        </p:spPr>
      </p:pic>
      <p:pic>
        <p:nvPicPr>
          <p:cNvPr id="7170" name="图片 7169" descr="未标题-2 拷贝"/>
          <p:cNvPicPr>
            <a:picLocks noChangeAspect="1"/>
          </p:cNvPicPr>
          <p:nvPr/>
        </p:nvPicPr>
        <p:blipFill>
          <a:blip r:embed="rId2"/>
          <a:stretch>
            <a:fillRect/>
          </a:stretch>
        </p:blipFill>
        <p:spPr>
          <a:xfrm>
            <a:off x="7391400" y="3499803"/>
            <a:ext cx="2852738" cy="2952750"/>
          </a:xfrm>
          <a:prstGeom prst="rect">
            <a:avLst/>
          </a:prstGeom>
          <a:noFill/>
          <a:ln w="9525">
            <a:noFill/>
          </a:ln>
        </p:spPr>
      </p:pic>
      <p:sp>
        <p:nvSpPr>
          <p:cNvPr id="7174" name="矩形 7173"/>
          <p:cNvSpPr/>
          <p:nvPr/>
        </p:nvSpPr>
        <p:spPr>
          <a:xfrm>
            <a:off x="951865" y="1269365"/>
            <a:ext cx="3272790" cy="497205"/>
          </a:xfrm>
          <a:prstGeom prst="rect">
            <a:avLst/>
          </a:prstGeom>
          <a:noFill/>
          <a:ln w="9525">
            <a:noFill/>
          </a:ln>
        </p:spPr>
        <p:txBody>
          <a:bodyPr wrap="square" anchor="t" anchorCtr="0">
            <a:spAutoFit/>
          </a:bodyPr>
          <a:p>
            <a:pPr algn="just">
              <a:lnSpc>
                <a:spcPct val="110000"/>
              </a:lnSpc>
              <a:spcBef>
                <a:spcPct val="20000"/>
              </a:spcBef>
            </a:pPr>
            <a:r>
              <a:rPr lang="zh-CN" altLang="en-US" sz="2400" b="1">
                <a:solidFill>
                  <a:srgbClr val="000000"/>
                </a:solidFill>
                <a:latin typeface="微软雅黑" panose="020B0503020204020204" charset="-122"/>
                <a:ea typeface="微软雅黑" panose="020B0503020204020204" charset="-122"/>
              </a:rPr>
              <a:t>正反馈放大电路框图</a:t>
            </a:r>
            <a:endParaRPr lang="zh-CN" altLang="en-US" sz="2400" b="1">
              <a:solidFill>
                <a:srgbClr val="000000"/>
              </a:solidFill>
              <a:latin typeface="微软雅黑" panose="020B0503020204020204" charset="-122"/>
              <a:ea typeface="微软雅黑" panose="020B0503020204020204" charset="-122"/>
            </a:endParaRPr>
          </a:p>
        </p:txBody>
      </p:sp>
      <p:sp>
        <p:nvSpPr>
          <p:cNvPr id="9221" name="矩形 7174">
            <a:hlinkClick r:id="rId3" action="ppaction://hlinksldjump"/>
          </p:cNvPr>
          <p:cNvSpPr/>
          <p:nvPr/>
        </p:nvSpPr>
        <p:spPr>
          <a:xfrm>
            <a:off x="720725" y="689610"/>
            <a:ext cx="1990090" cy="476250"/>
          </a:xfrm>
          <a:prstGeom prst="rect">
            <a:avLst/>
          </a:prstGeom>
          <a:noFill/>
          <a:ln w="9525">
            <a:noFill/>
          </a:ln>
        </p:spPr>
        <p:txBody>
          <a:bodyPr wrap="square" lIns="0" tIns="0" rIns="0" anchor="ctr" anchorCtr="0">
            <a:spAutoFit/>
          </a:bodyPr>
          <a:p>
            <a:r>
              <a:rPr lang="en-US" altLang="zh-CN" sz="2800" b="1">
                <a:solidFill>
                  <a:schemeClr val="accent2"/>
                </a:solidFill>
                <a:latin typeface="+mn-ea"/>
                <a:ea typeface="+mn-ea"/>
                <a:cs typeface="+mn-ea"/>
              </a:rPr>
              <a:t>1 </a:t>
            </a:r>
            <a:r>
              <a:rPr lang="zh-CN" altLang="en-US" sz="2800" b="1">
                <a:solidFill>
                  <a:schemeClr val="accent2"/>
                </a:solidFill>
                <a:latin typeface="+mn-ea"/>
                <a:ea typeface="+mn-ea"/>
                <a:cs typeface="+mn-ea"/>
              </a:rPr>
              <a:t>振荡</a:t>
            </a:r>
            <a:endParaRPr lang="zh-CN" altLang="en-US" sz="2800">
              <a:solidFill>
                <a:schemeClr val="accent2"/>
              </a:solidFill>
              <a:latin typeface="+mn-ea"/>
              <a:ea typeface="+mn-ea"/>
              <a:cs typeface="+mn-ea"/>
            </a:endParaRPr>
          </a:p>
        </p:txBody>
      </p:sp>
      <p:graphicFrame>
        <p:nvGraphicFramePr>
          <p:cNvPr id="7176" name="对象 7175"/>
          <p:cNvGraphicFramePr>
            <a:graphicFrameLocks noChangeAspect="1"/>
          </p:cNvGraphicFramePr>
          <p:nvPr/>
        </p:nvGraphicFramePr>
        <p:xfrm>
          <a:off x="1278573" y="1790383"/>
          <a:ext cx="1635125" cy="431800"/>
        </p:xfrm>
        <a:graphic>
          <a:graphicData uri="http://schemas.openxmlformats.org/presentationml/2006/ole">
            <mc:AlternateContent xmlns:mc="http://schemas.openxmlformats.org/markup-compatibility/2006">
              <mc:Choice xmlns:v="urn:schemas-microsoft-com:vml" Requires="v">
                <p:oleObj spid="_x0000_s3077" name="" r:id="rId4" imgW="812800" imgH="215900" progId="Equation.3">
                  <p:embed/>
                </p:oleObj>
              </mc:Choice>
              <mc:Fallback>
                <p:oleObj name="" r:id="rId4" imgW="812800" imgH="215900" progId="Equation.3">
                  <p:embed/>
                  <p:pic>
                    <p:nvPicPr>
                      <p:cNvPr id="0" name="图片 3076"/>
                      <p:cNvPicPr/>
                      <p:nvPr/>
                    </p:nvPicPr>
                    <p:blipFill>
                      <a:blip r:embed="rId5"/>
                      <a:stretch>
                        <a:fillRect/>
                      </a:stretch>
                    </p:blipFill>
                    <p:spPr>
                      <a:xfrm>
                        <a:off x="1278573" y="1790383"/>
                        <a:ext cx="1635125" cy="431800"/>
                      </a:xfrm>
                      <a:prstGeom prst="rect">
                        <a:avLst/>
                      </a:prstGeom>
                      <a:noFill/>
                      <a:ln w="38100">
                        <a:noFill/>
                        <a:miter/>
                      </a:ln>
                    </p:spPr>
                  </p:pic>
                </p:oleObj>
              </mc:Fallback>
            </mc:AlternateContent>
          </a:graphicData>
        </a:graphic>
      </p:graphicFrame>
      <p:graphicFrame>
        <p:nvGraphicFramePr>
          <p:cNvPr id="7178" name="对象 7178"/>
          <p:cNvGraphicFramePr>
            <a:graphicFrameLocks noChangeAspect="1"/>
          </p:cNvGraphicFramePr>
          <p:nvPr/>
        </p:nvGraphicFramePr>
        <p:xfrm>
          <a:off x="951548" y="2304256"/>
          <a:ext cx="1200150" cy="433070"/>
        </p:xfrm>
        <a:graphic>
          <a:graphicData uri="http://schemas.openxmlformats.org/presentationml/2006/ole">
            <mc:AlternateContent xmlns:mc="http://schemas.openxmlformats.org/markup-compatibility/2006">
              <mc:Choice xmlns:v="urn:schemas-microsoft-com:vml" Requires="v">
                <p:oleObj spid="_x0000_s3082" name="" r:id="rId6" imgW="596900" imgH="215900" progId="Equation.3">
                  <p:embed/>
                </p:oleObj>
              </mc:Choice>
              <mc:Fallback>
                <p:oleObj name="" r:id="rId6" imgW="596900" imgH="215900" progId="Equation.3">
                  <p:embed/>
                  <p:pic>
                    <p:nvPicPr>
                      <p:cNvPr id="0" name="图片 3081"/>
                      <p:cNvPicPr/>
                      <p:nvPr/>
                    </p:nvPicPr>
                    <p:blipFill>
                      <a:blip r:embed="rId7"/>
                      <a:stretch>
                        <a:fillRect/>
                      </a:stretch>
                    </p:blipFill>
                    <p:spPr>
                      <a:xfrm>
                        <a:off x="951548" y="2304256"/>
                        <a:ext cx="1200150" cy="433070"/>
                      </a:xfrm>
                      <a:prstGeom prst="rect">
                        <a:avLst/>
                      </a:prstGeom>
                      <a:noFill/>
                      <a:ln w="38100">
                        <a:noFill/>
                        <a:miter/>
                      </a:ln>
                    </p:spPr>
                  </p:pic>
                </p:oleObj>
              </mc:Fallback>
            </mc:AlternateContent>
          </a:graphicData>
        </a:graphic>
      </p:graphicFrame>
      <p:grpSp>
        <p:nvGrpSpPr>
          <p:cNvPr id="7180" name="组合 7179"/>
          <p:cNvGrpSpPr/>
          <p:nvPr/>
        </p:nvGrpSpPr>
        <p:grpSpPr>
          <a:xfrm>
            <a:off x="2274888" y="2274252"/>
            <a:ext cx="2690813" cy="531813"/>
            <a:chOff x="45" y="-45"/>
            <a:chExt cx="1695" cy="335"/>
          </a:xfrm>
        </p:grpSpPr>
        <p:sp>
          <p:nvSpPr>
            <p:cNvPr id="9225" name="矩形 7180"/>
            <p:cNvSpPr/>
            <p:nvPr/>
          </p:nvSpPr>
          <p:spPr>
            <a:xfrm>
              <a:off x="45" y="-45"/>
              <a:ext cx="419" cy="313"/>
            </a:xfrm>
            <a:prstGeom prst="rect">
              <a:avLst/>
            </a:prstGeom>
            <a:noFill/>
            <a:ln w="9525">
              <a:noFill/>
            </a:ln>
          </p:spPr>
          <p:txBody>
            <a:bodyPr anchor="t" anchorCtr="0">
              <a:spAutoFit/>
            </a:bodyPr>
            <a:p>
              <a:pPr algn="just">
                <a:lnSpc>
                  <a:spcPct val="110000"/>
                </a:lnSpc>
                <a:spcBef>
                  <a:spcPct val="20000"/>
                </a:spcBef>
              </a:pPr>
              <a:r>
                <a:rPr lang="zh-CN" altLang="en-US" sz="2400" b="1">
                  <a:solidFill>
                    <a:srgbClr val="000000"/>
                  </a:solidFill>
                  <a:latin typeface="Times New Roman" panose="02020603050405020304" pitchFamily="2" charset="0"/>
                  <a:ea typeface="楷体_GB2312" pitchFamily="1" charset="-122"/>
                </a:rPr>
                <a:t>则</a:t>
              </a:r>
              <a:endParaRPr lang="zh-CN" altLang="en-US" sz="2400" b="1">
                <a:solidFill>
                  <a:srgbClr val="000000"/>
                </a:solidFill>
                <a:latin typeface="Times New Roman" panose="02020603050405020304" pitchFamily="2" charset="0"/>
                <a:ea typeface="楷体_GB2312" pitchFamily="1" charset="-122"/>
              </a:endParaRPr>
            </a:p>
          </p:txBody>
        </p:sp>
        <p:graphicFrame>
          <p:nvGraphicFramePr>
            <p:cNvPr id="9226" name="对象 7181"/>
            <p:cNvGraphicFramePr>
              <a:graphicFrameLocks noChangeAspect="1"/>
            </p:cNvGraphicFramePr>
            <p:nvPr/>
          </p:nvGraphicFramePr>
          <p:xfrm>
            <a:off x="305" y="-14"/>
            <a:ext cx="1435" cy="304"/>
          </p:xfrm>
          <a:graphic>
            <a:graphicData uri="http://schemas.openxmlformats.org/presentationml/2006/ole">
              <mc:AlternateContent xmlns:mc="http://schemas.openxmlformats.org/markup-compatibility/2006">
                <mc:Choice xmlns:v="urn:schemas-microsoft-com:vml" Requires="v">
                  <p:oleObj spid="_x0000_s3081" name="" r:id="rId8" imgW="1130300" imgH="241300" progId="Equation.3">
                    <p:embed/>
                  </p:oleObj>
                </mc:Choice>
                <mc:Fallback>
                  <p:oleObj name="" r:id="rId8" imgW="1130300" imgH="241300" progId="Equation.3">
                    <p:embed/>
                    <p:pic>
                      <p:nvPicPr>
                        <p:cNvPr id="0" name="图片 3080"/>
                        <p:cNvPicPr/>
                        <p:nvPr/>
                      </p:nvPicPr>
                      <p:blipFill>
                        <a:blip r:embed="rId9"/>
                        <a:stretch>
                          <a:fillRect/>
                        </a:stretch>
                      </p:blipFill>
                      <p:spPr>
                        <a:xfrm>
                          <a:off x="305" y="-14"/>
                          <a:ext cx="1435" cy="304"/>
                        </a:xfrm>
                        <a:prstGeom prst="rect">
                          <a:avLst/>
                        </a:prstGeom>
                        <a:noFill/>
                        <a:ln w="38100">
                          <a:noFill/>
                          <a:miter/>
                        </a:ln>
                      </p:spPr>
                    </p:pic>
                  </p:oleObj>
                </mc:Fallback>
              </mc:AlternateContent>
            </a:graphicData>
          </a:graphic>
        </p:graphicFrame>
      </p:grpSp>
      <p:sp>
        <p:nvSpPr>
          <p:cNvPr id="7191" name="矩形 7190"/>
          <p:cNvSpPr/>
          <p:nvPr/>
        </p:nvSpPr>
        <p:spPr>
          <a:xfrm>
            <a:off x="915035" y="3505835"/>
            <a:ext cx="1722120" cy="497205"/>
          </a:xfrm>
          <a:prstGeom prst="rect">
            <a:avLst/>
          </a:prstGeom>
          <a:noFill/>
          <a:ln w="9525">
            <a:noFill/>
          </a:ln>
        </p:spPr>
        <p:txBody>
          <a:bodyPr wrap="square" anchor="t" anchorCtr="0">
            <a:spAutoFit/>
          </a:bodyPr>
          <a:p>
            <a:pPr algn="just">
              <a:lnSpc>
                <a:spcPct val="110000"/>
              </a:lnSpc>
              <a:spcBef>
                <a:spcPct val="20000"/>
              </a:spcBef>
            </a:pPr>
            <a:r>
              <a:rPr lang="zh-CN" altLang="en-US" sz="2400" b="1">
                <a:solidFill>
                  <a:srgbClr val="000000"/>
                </a:solidFill>
                <a:latin typeface="微软雅黑" panose="020B0503020204020204" charset="-122"/>
                <a:ea typeface="微软雅黑" panose="020B0503020204020204" charset="-122"/>
              </a:rPr>
              <a:t>振荡条件：</a:t>
            </a:r>
            <a:endParaRPr lang="zh-CN" altLang="en-US" sz="2400" b="1">
              <a:solidFill>
                <a:srgbClr val="000000"/>
              </a:solidFill>
              <a:latin typeface="微软雅黑" panose="020B0503020204020204" charset="-122"/>
              <a:ea typeface="微软雅黑" panose="020B0503020204020204" charset="-122"/>
            </a:endParaRPr>
          </a:p>
        </p:txBody>
      </p:sp>
      <p:grpSp>
        <p:nvGrpSpPr>
          <p:cNvPr id="7192" name="组合 7191"/>
          <p:cNvGrpSpPr/>
          <p:nvPr/>
        </p:nvGrpSpPr>
        <p:grpSpPr>
          <a:xfrm>
            <a:off x="1219200" y="4080828"/>
            <a:ext cx="4624388" cy="496887"/>
            <a:chOff x="0" y="0"/>
            <a:chExt cx="2913" cy="313"/>
          </a:xfrm>
        </p:grpSpPr>
        <p:graphicFrame>
          <p:nvGraphicFramePr>
            <p:cNvPr id="9237" name="对象 7192"/>
            <p:cNvGraphicFramePr>
              <a:graphicFrameLocks noChangeAspect="1"/>
            </p:cNvGraphicFramePr>
            <p:nvPr/>
          </p:nvGraphicFramePr>
          <p:xfrm>
            <a:off x="0" y="68"/>
            <a:ext cx="1192" cy="241"/>
          </p:xfrm>
          <a:graphic>
            <a:graphicData uri="http://schemas.openxmlformats.org/presentationml/2006/ole">
              <mc:AlternateContent xmlns:mc="http://schemas.openxmlformats.org/markup-compatibility/2006">
                <mc:Choice xmlns:v="urn:schemas-microsoft-com:vml" Requires="v">
                  <p:oleObj spid="_x0000_s3079" name="" r:id="rId10" imgW="940435" imgH="190500" progId="Equation.3">
                    <p:embed/>
                  </p:oleObj>
                </mc:Choice>
                <mc:Fallback>
                  <p:oleObj name="" r:id="rId10" imgW="940435" imgH="190500" progId="Equation.3">
                    <p:embed/>
                    <p:pic>
                      <p:nvPicPr>
                        <p:cNvPr id="0" name="图片 3078"/>
                        <p:cNvPicPr/>
                        <p:nvPr/>
                      </p:nvPicPr>
                      <p:blipFill>
                        <a:blip r:embed="rId11"/>
                        <a:stretch>
                          <a:fillRect/>
                        </a:stretch>
                      </p:blipFill>
                      <p:spPr>
                        <a:xfrm>
                          <a:off x="0" y="68"/>
                          <a:ext cx="1192" cy="241"/>
                        </a:xfrm>
                        <a:prstGeom prst="rect">
                          <a:avLst/>
                        </a:prstGeom>
                        <a:noFill/>
                        <a:ln w="38100">
                          <a:noFill/>
                          <a:miter/>
                        </a:ln>
                      </p:spPr>
                    </p:pic>
                  </p:oleObj>
                </mc:Fallback>
              </mc:AlternateContent>
            </a:graphicData>
          </a:graphic>
        </p:graphicFrame>
        <p:sp>
          <p:nvSpPr>
            <p:cNvPr id="9238" name="矩形 7193"/>
            <p:cNvSpPr/>
            <p:nvPr/>
          </p:nvSpPr>
          <p:spPr>
            <a:xfrm>
              <a:off x="1296" y="0"/>
              <a:ext cx="1617" cy="313"/>
            </a:xfrm>
            <a:prstGeom prst="rect">
              <a:avLst/>
            </a:prstGeom>
            <a:noFill/>
            <a:ln w="9525">
              <a:noFill/>
            </a:ln>
          </p:spPr>
          <p:txBody>
            <a:bodyPr anchor="t" anchorCtr="0">
              <a:spAutoFit/>
            </a:bodyPr>
            <a:p>
              <a:pPr algn="just">
                <a:lnSpc>
                  <a:spcPct val="110000"/>
                </a:lnSpc>
                <a:spcBef>
                  <a:spcPct val="20000"/>
                </a:spcBef>
              </a:pPr>
              <a:r>
                <a:rPr lang="zh-CN" altLang="en-US" sz="2400" b="1">
                  <a:ln>
                    <a:noFill/>
                  </a:ln>
                  <a:solidFill>
                    <a:srgbClr val="FF0000"/>
                  </a:solidFill>
                  <a:latin typeface="微软雅黑" panose="020B0503020204020204" charset="-122"/>
                  <a:ea typeface="微软雅黑" panose="020B0503020204020204" charset="-122"/>
                </a:rPr>
                <a:t>振幅平衡</a:t>
              </a:r>
              <a:r>
                <a:rPr lang="zh-CN" altLang="en-US" sz="2400" b="1">
                  <a:ln>
                    <a:noFill/>
                  </a:ln>
                  <a:solidFill>
                    <a:schemeClr val="tx1"/>
                  </a:solidFill>
                  <a:latin typeface="微软雅黑" panose="020B0503020204020204" charset="-122"/>
                  <a:ea typeface="微软雅黑" panose="020B0503020204020204" charset="-122"/>
                </a:rPr>
                <a:t>条件</a:t>
              </a:r>
              <a:endParaRPr lang="zh-CN" altLang="en-US" sz="2400" b="1">
                <a:ln>
                  <a:noFill/>
                </a:ln>
                <a:solidFill>
                  <a:schemeClr val="tx1"/>
                </a:solidFill>
                <a:latin typeface="微软雅黑" panose="020B0503020204020204" charset="-122"/>
                <a:ea typeface="微软雅黑" panose="020B0503020204020204" charset="-122"/>
              </a:endParaRPr>
            </a:p>
          </p:txBody>
        </p:sp>
      </p:grpSp>
      <p:grpSp>
        <p:nvGrpSpPr>
          <p:cNvPr id="7195" name="组合 7194"/>
          <p:cNvGrpSpPr/>
          <p:nvPr/>
        </p:nvGrpSpPr>
        <p:grpSpPr>
          <a:xfrm>
            <a:off x="1190625" y="4726940"/>
            <a:ext cx="4827588" cy="514350"/>
            <a:chOff x="0" y="0"/>
            <a:chExt cx="3041" cy="324"/>
          </a:xfrm>
        </p:grpSpPr>
        <p:graphicFrame>
          <p:nvGraphicFramePr>
            <p:cNvPr id="9240" name="对象 7195"/>
            <p:cNvGraphicFramePr>
              <a:graphicFrameLocks noChangeAspect="1"/>
            </p:cNvGraphicFramePr>
            <p:nvPr/>
          </p:nvGraphicFramePr>
          <p:xfrm>
            <a:off x="0" y="36"/>
            <a:ext cx="1680" cy="288"/>
          </p:xfrm>
          <a:graphic>
            <a:graphicData uri="http://schemas.openxmlformats.org/presentationml/2006/ole">
              <mc:AlternateContent xmlns:mc="http://schemas.openxmlformats.org/markup-compatibility/2006">
                <mc:Choice xmlns:v="urn:schemas-microsoft-com:vml" Requires="v">
                  <p:oleObj spid="_x0000_s3084" name="" r:id="rId12" imgW="1322070" imgH="228600" progId="Equation.3">
                    <p:embed/>
                  </p:oleObj>
                </mc:Choice>
                <mc:Fallback>
                  <p:oleObj name="" r:id="rId12" imgW="1322070" imgH="228600" progId="Equation.3">
                    <p:embed/>
                    <p:pic>
                      <p:nvPicPr>
                        <p:cNvPr id="0" name="图片 3083"/>
                        <p:cNvPicPr/>
                        <p:nvPr/>
                      </p:nvPicPr>
                      <p:blipFill>
                        <a:blip r:embed="rId13"/>
                        <a:stretch>
                          <a:fillRect/>
                        </a:stretch>
                      </p:blipFill>
                      <p:spPr>
                        <a:xfrm>
                          <a:off x="0" y="36"/>
                          <a:ext cx="1680" cy="288"/>
                        </a:xfrm>
                        <a:prstGeom prst="rect">
                          <a:avLst/>
                        </a:prstGeom>
                        <a:noFill/>
                        <a:ln w="38100">
                          <a:noFill/>
                          <a:miter/>
                        </a:ln>
                      </p:spPr>
                    </p:pic>
                  </p:oleObj>
                </mc:Fallback>
              </mc:AlternateContent>
            </a:graphicData>
          </a:graphic>
        </p:graphicFrame>
        <p:sp>
          <p:nvSpPr>
            <p:cNvPr id="9241" name="矩形 7196"/>
            <p:cNvSpPr/>
            <p:nvPr/>
          </p:nvSpPr>
          <p:spPr>
            <a:xfrm>
              <a:off x="1769" y="0"/>
              <a:ext cx="1272" cy="313"/>
            </a:xfrm>
            <a:prstGeom prst="rect">
              <a:avLst/>
            </a:prstGeom>
            <a:noFill/>
            <a:ln w="9525">
              <a:noFill/>
            </a:ln>
          </p:spPr>
          <p:txBody>
            <a:bodyPr wrap="square" anchor="t" anchorCtr="0">
              <a:spAutoFit/>
            </a:bodyPr>
            <a:p>
              <a:pPr algn="just">
                <a:lnSpc>
                  <a:spcPct val="110000"/>
                </a:lnSpc>
                <a:spcBef>
                  <a:spcPct val="20000"/>
                </a:spcBef>
              </a:pPr>
              <a:r>
                <a:rPr lang="zh-CN" altLang="en-US" sz="2400" b="1">
                  <a:ln>
                    <a:noFill/>
                  </a:ln>
                  <a:solidFill>
                    <a:srgbClr val="FF0000"/>
                  </a:solidFill>
                  <a:latin typeface="微软雅黑" panose="020B0503020204020204" charset="-122"/>
                  <a:ea typeface="微软雅黑" panose="020B0503020204020204" charset="-122"/>
                  <a:sym typeface="+mn-ea"/>
                </a:rPr>
                <a:t>相位平衡</a:t>
              </a:r>
              <a:r>
                <a:rPr lang="zh-CN" altLang="en-US" sz="2400" b="1">
                  <a:ln>
                    <a:noFill/>
                  </a:ln>
                  <a:latin typeface="微软雅黑" panose="020B0503020204020204" charset="-122"/>
                  <a:ea typeface="微软雅黑" panose="020B0503020204020204" charset="-122"/>
                  <a:sym typeface="+mn-ea"/>
                </a:rPr>
                <a:t>条件</a:t>
              </a:r>
              <a:endParaRPr lang="zh-CN" altLang="en-US" sz="2400" b="1">
                <a:ln>
                  <a:noFill/>
                </a:ln>
                <a:solidFill>
                  <a:srgbClr val="CC0000"/>
                </a:solidFill>
                <a:latin typeface="微软雅黑" panose="020B0503020204020204" charset="-122"/>
                <a:ea typeface="微软雅黑" panose="020B0503020204020204" charset="-122"/>
                <a:sym typeface="+mn-ea"/>
              </a:endParaRPr>
            </a:p>
          </p:txBody>
        </p:sp>
      </p:grpSp>
      <p:sp>
        <p:nvSpPr>
          <p:cNvPr id="9242" name="文本框 1"/>
          <p:cNvSpPr txBox="1"/>
          <p:nvPr/>
        </p:nvSpPr>
        <p:spPr>
          <a:xfrm>
            <a:off x="2713038" y="30480"/>
            <a:ext cx="4899025" cy="534035"/>
          </a:xfrm>
          <a:prstGeom prst="rect">
            <a:avLst/>
          </a:prstGeom>
          <a:noFill/>
          <a:ln w="9525">
            <a:noFill/>
          </a:ln>
        </p:spPr>
        <p:txBody>
          <a:bodyPr wrap="none" anchor="t" anchorCtr="0">
            <a:spAutoFit/>
          </a:bodyPr>
          <a:p>
            <a:pPr algn="ctr">
              <a:lnSpc>
                <a:spcPct val="90000"/>
              </a:lnSpc>
            </a:pPr>
            <a:r>
              <a:rPr lang="zh-CN" altLang="en-US" sz="3200" b="1">
                <a:solidFill>
                  <a:schemeClr val="tx1"/>
                </a:solidFill>
                <a:latin typeface="微软雅黑" panose="020B0503020204020204" charset="-122"/>
                <a:ea typeface="微软雅黑" panose="020B0503020204020204" charset="-122"/>
                <a:cs typeface="微软雅黑" panose="020B0503020204020204" charset="-122"/>
              </a:rPr>
              <a:t>一</a:t>
            </a:r>
            <a:r>
              <a:rPr lang="en-US" altLang="zh-CN" sz="3200" b="1">
                <a:solidFill>
                  <a:schemeClr val="tx1"/>
                </a:solidFill>
                <a:latin typeface="微软雅黑" panose="020B0503020204020204" charset="-122"/>
                <a:ea typeface="微软雅黑" panose="020B0503020204020204" charset="-122"/>
                <a:cs typeface="微软雅黑" panose="020B0503020204020204" charset="-122"/>
              </a:rPr>
              <a:t> </a:t>
            </a:r>
            <a:r>
              <a:rPr lang="zh-CN" altLang="en-US" sz="3200" dirty="0">
                <a:latin typeface="微软雅黑" panose="020B0503020204020204" charset="-122"/>
                <a:ea typeface="微软雅黑" panose="020B0503020204020204" charset="-122"/>
                <a:cs typeface="微软雅黑" panose="020B0503020204020204" charset="-122"/>
                <a:sym typeface="+mn-ea"/>
              </a:rPr>
              <a:t>桥式</a:t>
            </a:r>
            <a:r>
              <a:rPr lang="en-US" altLang="zh-CN" sz="3200" dirty="0">
                <a:latin typeface="微软雅黑" panose="020B0503020204020204" charset="-122"/>
                <a:ea typeface="微软雅黑" panose="020B0503020204020204" charset="-122"/>
                <a:cs typeface="微软雅黑" panose="020B0503020204020204" charset="-122"/>
                <a:sym typeface="+mn-ea"/>
              </a:rPr>
              <a:t>RC</a:t>
            </a:r>
            <a:r>
              <a:rPr lang="zh-CN" altLang="en-US" sz="3200" dirty="0">
                <a:latin typeface="微软雅黑" panose="020B0503020204020204" charset="-122"/>
                <a:ea typeface="微软雅黑" panose="020B0503020204020204" charset="-122"/>
                <a:cs typeface="微软雅黑" panose="020B0503020204020204" charset="-122"/>
                <a:sym typeface="+mn-ea"/>
              </a:rPr>
              <a:t>振荡电路的原理</a:t>
            </a:r>
            <a:endParaRPr lang="zh-CN" altLang="en-US" sz="3200" b="1">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3" name="文本框 2"/>
          <p:cNvSpPr txBox="1"/>
          <p:nvPr/>
        </p:nvSpPr>
        <p:spPr>
          <a:xfrm>
            <a:off x="6762750" y="619760"/>
            <a:ext cx="480060" cy="368300"/>
          </a:xfrm>
          <a:prstGeom prst="rect">
            <a:avLst/>
          </a:prstGeom>
          <a:solidFill>
            <a:schemeClr val="bg1"/>
          </a:solidFill>
        </p:spPr>
        <p:txBody>
          <a:bodyPr wrap="square" rtlCol="0">
            <a:spAutoFit/>
          </a:bodyPr>
          <a:p>
            <a:r>
              <a:rPr lang="en-US" altLang="zh-CN"/>
              <a:t>    </a:t>
            </a:r>
            <a:endParaRPr lang="en-US" altLang="zh-CN"/>
          </a:p>
        </p:txBody>
      </p:sp>
      <p:graphicFrame>
        <p:nvGraphicFramePr>
          <p:cNvPr id="4" name="对象 3">
            <a:hlinkClick r:id="" action="ppaction://ole?verb="/>
          </p:cNvPr>
          <p:cNvGraphicFramePr>
            <a:graphicFrameLocks noChangeAspect="1"/>
          </p:cNvGraphicFramePr>
          <p:nvPr/>
        </p:nvGraphicFramePr>
        <p:xfrm>
          <a:off x="6762750" y="3289935"/>
          <a:ext cx="636905" cy="454025"/>
        </p:xfrm>
        <a:graphic>
          <a:graphicData uri="http://schemas.openxmlformats.org/presentationml/2006/ole">
            <mc:AlternateContent xmlns:mc="http://schemas.openxmlformats.org/markup-compatibility/2006">
              <mc:Choice xmlns:v="urn:schemas-microsoft-com:vml" Requires="v">
                <p:oleObj spid="_x0000_s1025" name="" r:id="rId14" imgW="444500" imgH="316865" progId="Equation.KSEE3">
                  <p:embed/>
                </p:oleObj>
              </mc:Choice>
              <mc:Fallback>
                <p:oleObj name="" r:id="rId14" imgW="444500" imgH="316865" progId="Equation.KSEE3">
                  <p:embed/>
                  <p:pic>
                    <p:nvPicPr>
                      <p:cNvPr id="0" name="图片 1024"/>
                      <p:cNvPicPr/>
                      <p:nvPr/>
                    </p:nvPicPr>
                    <p:blipFill>
                      <a:blip r:embed="rId15"/>
                      <a:stretch>
                        <a:fillRect/>
                      </a:stretch>
                    </p:blipFill>
                    <p:spPr>
                      <a:xfrm>
                        <a:off x="6762750" y="3289935"/>
                        <a:ext cx="636905" cy="454025"/>
                      </a:xfrm>
                      <a:prstGeom prst="rect">
                        <a:avLst/>
                      </a:prstGeom>
                      <a:ln>
                        <a:solidFill>
                          <a:srgbClr val="FF0000"/>
                        </a:solidFill>
                      </a:ln>
                    </p:spPr>
                  </p:pic>
                </p:oleObj>
              </mc:Fallback>
            </mc:AlternateContent>
          </a:graphicData>
        </a:graphic>
      </p:graphicFrame>
      <p:sp>
        <p:nvSpPr>
          <p:cNvPr id="5" name="文本框 4"/>
          <p:cNvSpPr txBox="1"/>
          <p:nvPr/>
        </p:nvSpPr>
        <p:spPr>
          <a:xfrm>
            <a:off x="5692140" y="1122045"/>
            <a:ext cx="1444625" cy="460375"/>
          </a:xfrm>
          <a:prstGeom prst="rect">
            <a:avLst/>
          </a:prstGeom>
          <a:noFill/>
        </p:spPr>
        <p:txBody>
          <a:bodyPr wrap="square" rtlCol="0">
            <a:spAutoFit/>
          </a:bodyPr>
          <a:p>
            <a:r>
              <a:rPr lang="zh-CN" altLang="en-US" sz="2400" b="1">
                <a:solidFill>
                  <a:srgbClr val="FF0000"/>
                </a:solidFill>
                <a:latin typeface="+mn-ea"/>
                <a:ea typeface="+mn-ea"/>
              </a:rPr>
              <a:t>输入信号</a:t>
            </a:r>
            <a:endParaRPr lang="zh-CN" altLang="en-US" sz="2400" b="1">
              <a:solidFill>
                <a:srgbClr val="FF0000"/>
              </a:solidFill>
              <a:latin typeface="+mn-ea"/>
              <a:ea typeface="+mn-ea"/>
            </a:endParaRPr>
          </a:p>
        </p:txBody>
      </p:sp>
      <p:sp>
        <p:nvSpPr>
          <p:cNvPr id="6" name="文本框 5"/>
          <p:cNvSpPr txBox="1"/>
          <p:nvPr/>
        </p:nvSpPr>
        <p:spPr>
          <a:xfrm>
            <a:off x="9996170" y="1177290"/>
            <a:ext cx="1792605" cy="460375"/>
          </a:xfrm>
          <a:prstGeom prst="rect">
            <a:avLst/>
          </a:prstGeom>
          <a:noFill/>
        </p:spPr>
        <p:txBody>
          <a:bodyPr wrap="square" rtlCol="0">
            <a:spAutoFit/>
          </a:bodyPr>
          <a:p>
            <a:r>
              <a:rPr lang="zh-CN" altLang="en-US" sz="2400" b="1">
                <a:solidFill>
                  <a:srgbClr val="FF0000"/>
                </a:solidFill>
                <a:latin typeface="微软雅黑" panose="020B0503020204020204" charset="-122"/>
                <a:ea typeface="微软雅黑" panose="020B0503020204020204" charset="-122"/>
              </a:rPr>
              <a:t>输出信号</a:t>
            </a:r>
            <a:endParaRPr lang="zh-CN" altLang="en-US" sz="2400" b="1">
              <a:solidFill>
                <a:srgbClr val="FF0000"/>
              </a:solidFill>
              <a:latin typeface="微软雅黑" panose="020B0503020204020204" charset="-122"/>
              <a:ea typeface="微软雅黑" panose="020B0503020204020204" charset="-122"/>
            </a:endParaRPr>
          </a:p>
        </p:txBody>
      </p:sp>
      <p:sp>
        <p:nvSpPr>
          <p:cNvPr id="7" name="左大括号 6"/>
          <p:cNvSpPr/>
          <p:nvPr/>
        </p:nvSpPr>
        <p:spPr>
          <a:xfrm>
            <a:off x="1047115" y="4396740"/>
            <a:ext cx="159385" cy="692785"/>
          </a:xfrm>
          <a:prstGeom prst="leftBrace">
            <a:avLst/>
          </a:prstGeom>
          <a:ln w="2222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cxnSp>
        <p:nvCxnSpPr>
          <p:cNvPr id="2" name="直接箭头连接符 1"/>
          <p:cNvCxnSpPr/>
          <p:nvPr/>
        </p:nvCxnSpPr>
        <p:spPr>
          <a:xfrm flipV="1">
            <a:off x="7670165" y="4375785"/>
            <a:ext cx="0" cy="1224000"/>
          </a:xfrm>
          <a:prstGeom prst="straightConnector1">
            <a:avLst/>
          </a:prstGeom>
          <a:ln w="28575">
            <a:solidFill>
              <a:srgbClr val="FF0000"/>
            </a:solidFill>
            <a:tailEnd type="arrow"/>
          </a:ln>
        </p:spPr>
        <p:style>
          <a:lnRef idx="2">
            <a:schemeClr val="accent1"/>
          </a:lnRef>
          <a:fillRef idx="0">
            <a:srgbClr val="FFFFFF"/>
          </a:fillRef>
          <a:effectRef idx="0">
            <a:srgbClr val="FFFFFF"/>
          </a:effectRef>
          <a:fontRef idx="minor">
            <a:schemeClr val="tx1"/>
          </a:fontRef>
        </p:style>
      </p:cxnSp>
      <p:sp>
        <p:nvSpPr>
          <p:cNvPr id="8" name="文本框 7"/>
          <p:cNvSpPr txBox="1"/>
          <p:nvPr/>
        </p:nvSpPr>
        <p:spPr>
          <a:xfrm>
            <a:off x="915035" y="2804160"/>
            <a:ext cx="4902200" cy="460375"/>
          </a:xfrm>
          <a:prstGeom prst="rect">
            <a:avLst/>
          </a:prstGeom>
          <a:noFill/>
        </p:spPr>
        <p:txBody>
          <a:bodyPr wrap="square" rtlCol="0">
            <a:spAutoFit/>
          </a:bodyPr>
          <a:p>
            <a:r>
              <a:rPr lang="zh-CN" altLang="en-US" sz="2400" b="1">
                <a:latin typeface="+mn-ea"/>
                <a:ea typeface="+mn-ea"/>
                <a:cs typeface="+mn-ea"/>
              </a:rPr>
              <a:t>放大电路增益</a:t>
            </a:r>
            <a:r>
              <a:rPr lang="zh-CN" altLang="en-US" sz="2400">
                <a:latin typeface="+mn-ea"/>
                <a:ea typeface="+mn-ea"/>
                <a:cs typeface="+mn-ea"/>
              </a:rPr>
              <a:t>：</a:t>
            </a:r>
            <a:r>
              <a:rPr lang="zh-CN" altLang="en-US" sz="2400" b="1">
                <a:latin typeface="+mn-ea"/>
                <a:ea typeface="+mn-ea"/>
                <a:cs typeface="+mn-ea"/>
              </a:rPr>
              <a:t>无穷大</a:t>
            </a:r>
            <a:r>
              <a:rPr lang="zh-CN" altLang="en-US" sz="2400">
                <a:latin typeface="+mn-ea"/>
                <a:ea typeface="+mn-ea"/>
                <a:cs typeface="+mn-ea"/>
              </a:rPr>
              <a:t>，</a:t>
            </a:r>
            <a:r>
              <a:rPr lang="zh-CN" altLang="en-US" sz="2400" b="1">
                <a:latin typeface="+mn-ea"/>
                <a:ea typeface="+mn-ea"/>
                <a:cs typeface="+mn-ea"/>
              </a:rPr>
              <a:t>则</a:t>
            </a:r>
            <a:r>
              <a:rPr lang="en-US" altLang="zh-CN" sz="2400" b="1" i="1">
                <a:solidFill>
                  <a:srgbClr val="FF0000"/>
                </a:solidFill>
                <a:latin typeface="+mn-lt"/>
                <a:ea typeface="+mn-ea"/>
                <a:cs typeface="+mn-lt"/>
              </a:rPr>
              <a:t>X</a:t>
            </a:r>
            <a:r>
              <a:rPr lang="en-US" altLang="zh-CN" sz="2400" b="1" baseline="-25000">
                <a:solidFill>
                  <a:srgbClr val="FF0000"/>
                </a:solidFill>
                <a:latin typeface="+mn-lt"/>
                <a:ea typeface="+mn-ea"/>
                <a:cs typeface="+mn-lt"/>
              </a:rPr>
              <a:t>i</a:t>
            </a:r>
            <a:r>
              <a:rPr lang="en-US" altLang="zh-CN" sz="2400" b="1">
                <a:solidFill>
                  <a:srgbClr val="FF0000"/>
                </a:solidFill>
                <a:latin typeface="+mn-lt"/>
                <a:ea typeface="+mn-ea"/>
                <a:cs typeface="+mn-lt"/>
              </a:rPr>
              <a:t> </a:t>
            </a:r>
            <a:r>
              <a:rPr lang="en-US" altLang="zh-CN" sz="2400" b="1">
                <a:solidFill>
                  <a:srgbClr val="FF0000"/>
                </a:solidFill>
                <a:latin typeface="Book Antiqua" panose="02040602050305030304" charset="0"/>
                <a:ea typeface="+mn-ea"/>
                <a:cs typeface="Book Antiqua" panose="02040602050305030304" charset="0"/>
              </a:rPr>
              <a:t>=</a:t>
            </a:r>
            <a:r>
              <a:rPr lang="en-US" altLang="zh-CN" sz="2400" b="1">
                <a:solidFill>
                  <a:srgbClr val="FF0000"/>
                </a:solidFill>
                <a:latin typeface="+mn-ea"/>
                <a:ea typeface="+mn-ea"/>
                <a:cs typeface="+mn-ea"/>
              </a:rPr>
              <a:t>0</a:t>
            </a:r>
            <a:endParaRPr lang="en-US" altLang="zh-CN" sz="2400" b="1">
              <a:solidFill>
                <a:srgbClr val="FF0000"/>
              </a:solidFill>
              <a:latin typeface="+mn-ea"/>
              <a:ea typeface="+mn-ea"/>
              <a:cs typeface="+mn-ea"/>
            </a:endParaRPr>
          </a:p>
        </p:txBody>
      </p:sp>
      <p:sp>
        <p:nvSpPr>
          <p:cNvPr id="34" name="Rectangle 5"/>
          <p:cNvSpPr>
            <a:spLocks noChangeArrowheads="1"/>
          </p:cNvSpPr>
          <p:nvPr>
            <p:custDataLst>
              <p:tags r:id="rId16"/>
            </p:custDataLst>
          </p:nvPr>
        </p:nvSpPr>
        <p:spPr bwMode="auto">
          <a:xfrm>
            <a:off x="6839585" y="2683510"/>
            <a:ext cx="4365625" cy="4298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just" eaLnBrk="1" hangingPunct="1">
              <a:lnSpc>
                <a:spcPct val="110000"/>
              </a:lnSpc>
              <a:buFont typeface="Wingdings" panose="05000000000000000000" pitchFamily="2" charset="2"/>
              <a:buNone/>
            </a:pPr>
            <a:r>
              <a:rPr lang="zh-CN" altLang="en-US" sz="2000" dirty="0">
                <a:solidFill>
                  <a:srgbClr val="FF0000"/>
                </a:solidFill>
                <a:latin typeface="微软雅黑" panose="020B0503020204020204" charset="-122"/>
                <a:ea typeface="微软雅黑" panose="020B0503020204020204" charset="-122"/>
              </a:rPr>
              <a:t>图：</a:t>
            </a:r>
            <a:r>
              <a:rPr lang="zh-CN" altLang="en-US" sz="2000" dirty="0">
                <a:solidFill>
                  <a:srgbClr val="0000FF"/>
                </a:solidFill>
                <a:latin typeface="微软雅黑" panose="020B0503020204020204" charset="-122"/>
                <a:ea typeface="微软雅黑" panose="020B0503020204020204" charset="-122"/>
              </a:rPr>
              <a:t>正反馈</a:t>
            </a:r>
            <a:r>
              <a:rPr lang="zh-CN" altLang="en-US" sz="2000" dirty="0">
                <a:solidFill>
                  <a:srgbClr val="FF0000"/>
                </a:solidFill>
                <a:latin typeface="微软雅黑" panose="020B0503020204020204" charset="-122"/>
                <a:ea typeface="微软雅黑" panose="020B0503020204020204" charset="-122"/>
                <a:sym typeface="+mn-ea"/>
              </a:rPr>
              <a:t>正弦波</a:t>
            </a:r>
            <a:r>
              <a:rPr lang="zh-CN" altLang="en-US" sz="2000" dirty="0">
                <a:solidFill>
                  <a:schemeClr val="tx1"/>
                </a:solidFill>
                <a:latin typeface="微软雅黑" panose="020B0503020204020204" charset="-122"/>
                <a:ea typeface="微软雅黑" panose="020B0503020204020204" charset="-122"/>
                <a:sym typeface="+mn-ea"/>
              </a:rPr>
              <a:t>振荡</a:t>
            </a:r>
            <a:r>
              <a:rPr lang="zh-CN" altLang="en-US" sz="2000" dirty="0">
                <a:solidFill>
                  <a:schemeClr val="tx1"/>
                </a:solidFill>
                <a:latin typeface="微软雅黑" panose="020B0503020204020204" charset="-122"/>
                <a:ea typeface="微软雅黑" panose="020B0503020204020204" charset="-122"/>
              </a:rPr>
              <a:t>放大电路框图</a:t>
            </a:r>
            <a:endParaRPr lang="zh-CN" altLang="en-US" sz="2000" dirty="0">
              <a:solidFill>
                <a:schemeClr val="tx1"/>
              </a:solidFill>
              <a:latin typeface="微软雅黑" panose="020B0503020204020204" charset="-122"/>
              <a:ea typeface="微软雅黑" panose="020B050302020402020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176"/>
                                        </p:tgtEl>
                                        <p:attrNameLst>
                                          <p:attrName>style.visibility</p:attrName>
                                        </p:attrNameLst>
                                      </p:cBhvr>
                                      <p:to>
                                        <p:strVal val="visible"/>
                                      </p:to>
                                    </p:set>
                                    <p:animEffect transition="in" filter="wipe(left)">
                                      <p:cBhvr>
                                        <p:cTn id="7" dur="500"/>
                                        <p:tgtEl>
                                          <p:spTgt spid="717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178"/>
                                        </p:tgtEl>
                                        <p:attrNameLst>
                                          <p:attrName>style.visibility</p:attrName>
                                        </p:attrNameLst>
                                      </p:cBhvr>
                                      <p:to>
                                        <p:strVal val="visible"/>
                                      </p:to>
                                    </p:set>
                                    <p:animEffect transition="in" filter="wipe(left)">
                                      <p:cBhvr>
                                        <p:cTn id="12" dur="500"/>
                                        <p:tgtEl>
                                          <p:spTgt spid="717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180"/>
                                        </p:tgtEl>
                                        <p:attrNameLst>
                                          <p:attrName>style.visibility</p:attrName>
                                        </p:attrNameLst>
                                      </p:cBhvr>
                                      <p:to>
                                        <p:strVal val="visible"/>
                                      </p:to>
                                    </p:set>
                                    <p:animEffect transition="in" filter="wipe(left)">
                                      <p:cBhvr>
                                        <p:cTn id="17" dur="500"/>
                                        <p:tgtEl>
                                          <p:spTgt spid="718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down)">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left)">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7170"/>
                                        </p:tgtEl>
                                        <p:attrNameLst>
                                          <p:attrName>style.visibility</p:attrName>
                                        </p:attrNameLst>
                                      </p:cBhvr>
                                      <p:to>
                                        <p:strVal val="visible"/>
                                      </p:to>
                                    </p:set>
                                    <p:animEffect transition="in" filter="wipe(left)">
                                      <p:cBhvr>
                                        <p:cTn id="32" dur="500"/>
                                        <p:tgtEl>
                                          <p:spTgt spid="717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wipe(down)">
                                      <p:cBhvr>
                                        <p:cTn id="37" dur="500"/>
                                        <p:tgtEl>
                                          <p:spTgt spid="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7191"/>
                                        </p:tgtEl>
                                        <p:attrNameLst>
                                          <p:attrName>style.visibility</p:attrName>
                                        </p:attrNameLst>
                                      </p:cBhvr>
                                      <p:to>
                                        <p:strVal val="visible"/>
                                      </p:to>
                                    </p:set>
                                    <p:animEffect transition="in" filter="wipe(left)">
                                      <p:cBhvr>
                                        <p:cTn id="42" dur="500"/>
                                        <p:tgtEl>
                                          <p:spTgt spid="719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7192"/>
                                        </p:tgtEl>
                                        <p:attrNameLst>
                                          <p:attrName>style.visibility</p:attrName>
                                        </p:attrNameLst>
                                      </p:cBhvr>
                                      <p:to>
                                        <p:strVal val="visible"/>
                                      </p:to>
                                    </p:set>
                                    <p:animEffect transition="in" filter="wipe(left)">
                                      <p:cBhvr>
                                        <p:cTn id="47" dur="500"/>
                                        <p:tgtEl>
                                          <p:spTgt spid="7192"/>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7"/>
                                        </p:tgtEl>
                                        <p:attrNameLst>
                                          <p:attrName>style.visibility</p:attrName>
                                        </p:attrNameLst>
                                      </p:cBhvr>
                                      <p:to>
                                        <p:strVal val="visible"/>
                                      </p:to>
                                    </p:set>
                                    <p:animEffect transition="in" filter="wipe(left)">
                                      <p:cBhvr>
                                        <p:cTn id="52" dur="500"/>
                                        <p:tgtEl>
                                          <p:spTgt spid="7"/>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7195"/>
                                        </p:tgtEl>
                                        <p:attrNameLst>
                                          <p:attrName>style.visibility</p:attrName>
                                        </p:attrNameLst>
                                      </p:cBhvr>
                                      <p:to>
                                        <p:strVal val="visible"/>
                                      </p:to>
                                    </p:set>
                                    <p:animEffect transition="in" filter="wipe(left)">
                                      <p:cBhvr>
                                        <p:cTn id="57" dur="500"/>
                                        <p:tgtEl>
                                          <p:spTgt spid="71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91" grpId="0"/>
      <p:bldP spid="7" grpId="0" bldLvl="0" animBg="1"/>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5" name="矩形 8194"/>
          <p:cNvSpPr/>
          <p:nvPr/>
        </p:nvSpPr>
        <p:spPr>
          <a:xfrm>
            <a:off x="1343660" y="1341120"/>
            <a:ext cx="422275" cy="565150"/>
          </a:xfrm>
          <a:prstGeom prst="rect">
            <a:avLst/>
          </a:prstGeom>
          <a:noFill/>
          <a:ln w="9525">
            <a:noFill/>
          </a:ln>
        </p:spPr>
        <p:txBody>
          <a:bodyPr wrap="square" anchor="t" anchorCtr="0">
            <a:spAutoFit/>
          </a:bodyPr>
          <a:p>
            <a:pPr algn="just">
              <a:lnSpc>
                <a:spcPct val="110000"/>
              </a:lnSpc>
              <a:spcBef>
                <a:spcPct val="20000"/>
              </a:spcBef>
            </a:pPr>
            <a:r>
              <a:rPr lang="zh-CN" altLang="en-US" sz="2800" b="1">
                <a:solidFill>
                  <a:srgbClr val="FF0000"/>
                </a:solidFill>
                <a:latin typeface="微软雅黑" panose="020B0503020204020204" charset="-122"/>
                <a:ea typeface="微软雅黑" panose="020B0503020204020204" charset="-122"/>
              </a:rPr>
              <a:t>若</a:t>
            </a:r>
            <a:endParaRPr lang="zh-CN" altLang="en-US" sz="2800" b="1">
              <a:solidFill>
                <a:srgbClr val="FF0000"/>
              </a:solidFill>
              <a:latin typeface="微软雅黑" panose="020B0503020204020204" charset="-122"/>
              <a:ea typeface="微软雅黑" panose="020B0503020204020204" charset="-122"/>
            </a:endParaRPr>
          </a:p>
        </p:txBody>
      </p:sp>
      <p:sp>
        <p:nvSpPr>
          <p:cNvPr id="10243" name="矩形 8195">
            <a:hlinkClick r:id="rId1" action="ppaction://hlinksldjump"/>
          </p:cNvPr>
          <p:cNvSpPr/>
          <p:nvPr/>
        </p:nvSpPr>
        <p:spPr>
          <a:xfrm>
            <a:off x="766763" y="620713"/>
            <a:ext cx="2903537" cy="476250"/>
          </a:xfrm>
          <a:prstGeom prst="rect">
            <a:avLst/>
          </a:prstGeom>
          <a:noFill/>
          <a:ln w="9525">
            <a:noFill/>
          </a:ln>
        </p:spPr>
        <p:txBody>
          <a:bodyPr wrap="square" lIns="0" tIns="0" rIns="0" anchor="ctr" anchorCtr="0">
            <a:spAutoFit/>
          </a:bodyPr>
          <a:p>
            <a:r>
              <a:rPr lang="en-US" altLang="zh-CN" sz="2800" b="1">
                <a:solidFill>
                  <a:schemeClr val="accent2"/>
                </a:solidFill>
                <a:latin typeface="微软雅黑" panose="020B0503020204020204" charset="-122"/>
                <a:ea typeface="微软雅黑" panose="020B0503020204020204" charset="-122"/>
                <a:cs typeface="微软雅黑" panose="020B0503020204020204" charset="-122"/>
              </a:rPr>
              <a:t>2  </a:t>
            </a:r>
            <a:r>
              <a:rPr lang="zh-CN" altLang="en-US" sz="2800" b="1">
                <a:solidFill>
                  <a:schemeClr val="accent2"/>
                </a:solidFill>
                <a:latin typeface="微软雅黑" panose="020B0503020204020204" charset="-122"/>
                <a:ea typeface="微软雅黑" panose="020B0503020204020204" charset="-122"/>
                <a:cs typeface="微软雅黑" panose="020B0503020204020204" charset="-122"/>
              </a:rPr>
              <a:t>起振</a:t>
            </a:r>
            <a:r>
              <a:rPr lang="zh-CN" altLang="en-US" sz="2800" b="1">
                <a:solidFill>
                  <a:schemeClr val="tx1"/>
                </a:solidFill>
                <a:latin typeface="微软雅黑" panose="020B0503020204020204" charset="-122"/>
                <a:ea typeface="微软雅黑" panose="020B0503020204020204" charset="-122"/>
                <a:cs typeface="微软雅黑" panose="020B0503020204020204" charset="-122"/>
              </a:rPr>
              <a:t>和</a:t>
            </a:r>
            <a:r>
              <a:rPr lang="zh-CN" altLang="en-US" sz="2800" b="1">
                <a:solidFill>
                  <a:schemeClr val="accent2"/>
                </a:solidFill>
                <a:latin typeface="微软雅黑" panose="020B0503020204020204" charset="-122"/>
                <a:ea typeface="微软雅黑" panose="020B0503020204020204" charset="-122"/>
                <a:cs typeface="微软雅黑" panose="020B0503020204020204" charset="-122"/>
              </a:rPr>
              <a:t>稳幅</a:t>
            </a:r>
            <a:endParaRPr lang="zh-CN" altLang="en-US" sz="2800">
              <a:solidFill>
                <a:schemeClr val="accent2"/>
              </a:solidFill>
              <a:latin typeface="微软雅黑" panose="020B0503020204020204" charset="-122"/>
              <a:ea typeface="微软雅黑" panose="020B0503020204020204" charset="-122"/>
              <a:cs typeface="微软雅黑" panose="020B0503020204020204" charset="-122"/>
            </a:endParaRPr>
          </a:p>
        </p:txBody>
      </p:sp>
      <p:sp>
        <p:nvSpPr>
          <p:cNvPr id="8197" name="矩形 8196"/>
          <p:cNvSpPr/>
          <p:nvPr/>
        </p:nvSpPr>
        <p:spPr>
          <a:xfrm>
            <a:off x="1015365" y="2395855"/>
            <a:ext cx="4062095" cy="497205"/>
          </a:xfrm>
          <a:prstGeom prst="rect">
            <a:avLst/>
          </a:prstGeom>
          <a:noFill/>
          <a:ln w="9525">
            <a:noFill/>
          </a:ln>
        </p:spPr>
        <p:txBody>
          <a:bodyPr wrap="square" anchor="t" anchorCtr="0">
            <a:spAutoFit/>
          </a:bodyPr>
          <a:p>
            <a:pPr algn="just">
              <a:lnSpc>
                <a:spcPct val="110000"/>
              </a:lnSpc>
              <a:spcBef>
                <a:spcPct val="20000"/>
              </a:spcBef>
            </a:pPr>
            <a:r>
              <a:rPr lang="en-US" altLang="zh-CN" sz="2400" b="1">
                <a:solidFill>
                  <a:srgbClr val="FF3300"/>
                </a:solidFill>
                <a:latin typeface="Times New Roman" panose="02020603050405020304" pitchFamily="2" charset="0"/>
                <a:ea typeface="宋体" panose="02010600030101010101" pitchFamily="2" charset="-122"/>
              </a:rPr>
              <a:t>  </a:t>
            </a:r>
            <a:r>
              <a:rPr lang="zh-CN" altLang="en-US" sz="2400" b="1">
                <a:solidFill>
                  <a:srgbClr val="FF3300"/>
                </a:solidFill>
                <a:latin typeface="Times New Roman" panose="02020603050405020304" pitchFamily="2" charset="0"/>
                <a:ea typeface="宋体" panose="02010600030101010101" pitchFamily="2" charset="-122"/>
              </a:rPr>
              <a:t>起振的</a:t>
            </a:r>
            <a:r>
              <a:rPr lang="zh-CN" altLang="en-US" sz="2400" b="1">
                <a:solidFill>
                  <a:srgbClr val="FF3300"/>
                </a:solidFill>
                <a:latin typeface="Times New Roman" panose="02020603050405020304" pitchFamily="2" charset="0"/>
                <a:ea typeface="宋体" panose="02010600030101010101" pitchFamily="2" charset="-122"/>
              </a:rPr>
              <a:t>输入信号源来自何处？</a:t>
            </a:r>
            <a:endParaRPr lang="zh-CN" altLang="en-US" sz="2400" b="1">
              <a:solidFill>
                <a:srgbClr val="FF3300"/>
              </a:solidFill>
              <a:latin typeface="Times New Roman" panose="02020603050405020304" pitchFamily="2" charset="0"/>
              <a:ea typeface="宋体" panose="02010600030101010101" pitchFamily="2" charset="-122"/>
            </a:endParaRPr>
          </a:p>
        </p:txBody>
      </p:sp>
      <p:sp>
        <p:nvSpPr>
          <p:cNvPr id="8198" name="矩形 8197"/>
          <p:cNvSpPr/>
          <p:nvPr/>
        </p:nvSpPr>
        <p:spPr>
          <a:xfrm>
            <a:off x="2280285" y="2887663"/>
            <a:ext cx="5494338" cy="497205"/>
          </a:xfrm>
          <a:prstGeom prst="rect">
            <a:avLst/>
          </a:prstGeom>
          <a:noFill/>
          <a:ln w="9525">
            <a:noFill/>
          </a:ln>
        </p:spPr>
        <p:txBody>
          <a:bodyPr anchor="t" anchorCtr="0">
            <a:spAutoFit/>
          </a:bodyPr>
          <a:p>
            <a:pPr algn="just">
              <a:lnSpc>
                <a:spcPct val="110000"/>
              </a:lnSpc>
              <a:spcBef>
                <a:spcPct val="20000"/>
              </a:spcBef>
            </a:pPr>
            <a:r>
              <a:rPr lang="zh-CN" altLang="en-US" sz="2400" b="1">
                <a:solidFill>
                  <a:srgbClr val="000000"/>
                </a:solidFill>
                <a:latin typeface="Times New Roman" panose="02020603050405020304" pitchFamily="2" charset="0"/>
                <a:ea typeface="楷体_GB2312" pitchFamily="1" charset="-122"/>
              </a:rPr>
              <a:t>电路器件内部噪声以及电源接通扰动</a:t>
            </a:r>
            <a:endParaRPr lang="zh-CN" altLang="en-US" sz="2400" b="1">
              <a:solidFill>
                <a:srgbClr val="000000"/>
              </a:solidFill>
              <a:latin typeface="Times New Roman" panose="02020603050405020304" pitchFamily="2" charset="0"/>
              <a:ea typeface="楷体_GB2312" pitchFamily="1" charset="-122"/>
            </a:endParaRPr>
          </a:p>
        </p:txBody>
      </p:sp>
      <p:sp>
        <p:nvSpPr>
          <p:cNvPr id="8199" name="左大括号 8198"/>
          <p:cNvSpPr/>
          <p:nvPr/>
        </p:nvSpPr>
        <p:spPr>
          <a:xfrm>
            <a:off x="1929130" y="1364933"/>
            <a:ext cx="122238" cy="706437"/>
          </a:xfrm>
          <a:prstGeom prst="leftBrace">
            <a:avLst>
              <a:gd name="adj1" fmla="val 47544"/>
              <a:gd name="adj2" fmla="val 50000"/>
            </a:avLst>
          </a:prstGeom>
          <a:noFill/>
          <a:ln w="15875" cap="flat" cmpd="sng">
            <a:solidFill>
              <a:schemeClr val="tx1"/>
            </a:solidFill>
            <a:prstDash val="solid"/>
            <a:round/>
            <a:headEnd type="none" w="med" len="med"/>
            <a:tailEnd type="none" w="med" len="med"/>
          </a:ln>
        </p:spPr>
        <p:txBody>
          <a:bodyPr anchor="t" anchorCtr="0"/>
          <a:p>
            <a:endParaRPr lang="zh-CN" altLang="en-US">
              <a:latin typeface="Verdana" panose="020B0604030504040204" pitchFamily="2" charset="0"/>
              <a:ea typeface="宋体" panose="02010600030101010101" pitchFamily="2" charset="-122"/>
            </a:endParaRPr>
          </a:p>
        </p:txBody>
      </p:sp>
      <p:graphicFrame>
        <p:nvGraphicFramePr>
          <p:cNvPr id="8200" name="对象 8199"/>
          <p:cNvGraphicFramePr>
            <a:graphicFrameLocks noChangeAspect="1"/>
          </p:cNvGraphicFramePr>
          <p:nvPr/>
        </p:nvGraphicFramePr>
        <p:xfrm>
          <a:off x="2178368" y="1276033"/>
          <a:ext cx="1893887" cy="382587"/>
        </p:xfrm>
        <a:graphic>
          <a:graphicData uri="http://schemas.openxmlformats.org/presentationml/2006/ole">
            <mc:AlternateContent xmlns:mc="http://schemas.openxmlformats.org/markup-compatibility/2006">
              <mc:Choice xmlns:v="urn:schemas-microsoft-com:vml" Requires="v">
                <p:oleObj spid="_x0000_s3086" name="" r:id="rId2" imgW="940435" imgH="190500" progId="Equation.3">
                  <p:embed/>
                </p:oleObj>
              </mc:Choice>
              <mc:Fallback>
                <p:oleObj name="" r:id="rId2" imgW="940435" imgH="190500" progId="Equation.3">
                  <p:embed/>
                  <p:pic>
                    <p:nvPicPr>
                      <p:cNvPr id="0" name="图片 3085"/>
                      <p:cNvPicPr/>
                      <p:nvPr/>
                    </p:nvPicPr>
                    <p:blipFill>
                      <a:blip r:embed="rId3"/>
                      <a:stretch>
                        <a:fillRect/>
                      </a:stretch>
                    </p:blipFill>
                    <p:spPr>
                      <a:xfrm>
                        <a:off x="2178368" y="1276033"/>
                        <a:ext cx="1893887" cy="382587"/>
                      </a:xfrm>
                      <a:prstGeom prst="rect">
                        <a:avLst/>
                      </a:prstGeom>
                      <a:noFill/>
                      <a:ln w="38100">
                        <a:noFill/>
                        <a:miter/>
                      </a:ln>
                    </p:spPr>
                  </p:pic>
                </p:oleObj>
              </mc:Fallback>
            </mc:AlternateContent>
          </a:graphicData>
        </a:graphic>
      </p:graphicFrame>
      <p:graphicFrame>
        <p:nvGraphicFramePr>
          <p:cNvPr id="8201" name="对象 8200"/>
          <p:cNvGraphicFramePr>
            <a:graphicFrameLocks noChangeAspect="1"/>
          </p:cNvGraphicFramePr>
          <p:nvPr/>
        </p:nvGraphicFramePr>
        <p:xfrm>
          <a:off x="2149793" y="1739583"/>
          <a:ext cx="2667000" cy="457200"/>
        </p:xfrm>
        <a:graphic>
          <a:graphicData uri="http://schemas.openxmlformats.org/presentationml/2006/ole">
            <mc:AlternateContent xmlns:mc="http://schemas.openxmlformats.org/markup-compatibility/2006">
              <mc:Choice xmlns:v="urn:schemas-microsoft-com:vml" Requires="v">
                <p:oleObj spid="_x0000_s3088" name="" r:id="rId4" imgW="1322070" imgH="228600" progId="Equation.3">
                  <p:embed/>
                </p:oleObj>
              </mc:Choice>
              <mc:Fallback>
                <p:oleObj name="" r:id="rId4" imgW="1322070" imgH="228600" progId="Equation.3">
                  <p:embed/>
                  <p:pic>
                    <p:nvPicPr>
                      <p:cNvPr id="0" name="图片 3087"/>
                      <p:cNvPicPr/>
                      <p:nvPr/>
                    </p:nvPicPr>
                    <p:blipFill>
                      <a:blip r:embed="rId5"/>
                      <a:stretch>
                        <a:fillRect/>
                      </a:stretch>
                    </p:blipFill>
                    <p:spPr>
                      <a:xfrm>
                        <a:off x="2149793" y="1739583"/>
                        <a:ext cx="2667000" cy="457200"/>
                      </a:xfrm>
                      <a:prstGeom prst="rect">
                        <a:avLst/>
                      </a:prstGeom>
                      <a:noFill/>
                      <a:ln w="38100">
                        <a:noFill/>
                        <a:miter/>
                      </a:ln>
                    </p:spPr>
                  </p:pic>
                </p:oleObj>
              </mc:Fallback>
            </mc:AlternateContent>
          </a:graphicData>
        </a:graphic>
      </p:graphicFrame>
      <p:sp>
        <p:nvSpPr>
          <p:cNvPr id="8202" name="矩形 8201"/>
          <p:cNvSpPr/>
          <p:nvPr/>
        </p:nvSpPr>
        <p:spPr>
          <a:xfrm>
            <a:off x="1084898" y="4240213"/>
            <a:ext cx="8229600" cy="977265"/>
          </a:xfrm>
          <a:prstGeom prst="rect">
            <a:avLst/>
          </a:prstGeom>
          <a:noFill/>
          <a:ln w="9525">
            <a:noFill/>
          </a:ln>
        </p:spPr>
        <p:txBody>
          <a:bodyPr anchor="t" anchorCtr="0">
            <a:spAutoFit/>
          </a:bodyPr>
          <a:p>
            <a:pPr marL="342900" indent="-342900" algn="just">
              <a:lnSpc>
                <a:spcPct val="120000"/>
              </a:lnSpc>
              <a:buFont typeface="Wingdings" panose="05000000000000000000" charset="0"/>
              <a:buChar char="u"/>
            </a:pPr>
            <a:r>
              <a:rPr lang="zh-CN" altLang="en-US" sz="2400" b="1">
                <a:solidFill>
                  <a:srgbClr val="FF0000"/>
                </a:solidFill>
                <a:latin typeface="楷体_GB2312" pitchFamily="1" charset="-122"/>
                <a:ea typeface="楷体_GB2312" pitchFamily="1" charset="-122"/>
              </a:rPr>
              <a:t>当输出信号</a:t>
            </a:r>
            <a:r>
              <a:rPr lang="zh-CN" altLang="en-US" sz="2400" b="1">
                <a:solidFill>
                  <a:srgbClr val="000000"/>
                </a:solidFill>
                <a:latin typeface="楷体_GB2312" pitchFamily="1" charset="-122"/>
                <a:ea typeface="楷体_GB2312" pitchFamily="1" charset="-122"/>
              </a:rPr>
              <a:t>幅值增加到一定程度时，就要限制它继续增加，否则波形将出现失真。</a:t>
            </a:r>
            <a:endParaRPr lang="zh-CN" altLang="en-US" sz="2400" b="1">
              <a:solidFill>
                <a:srgbClr val="000000"/>
              </a:solidFill>
              <a:latin typeface="楷体_GB2312" pitchFamily="1" charset="-122"/>
              <a:ea typeface="楷体_GB2312" pitchFamily="1" charset="-122"/>
            </a:endParaRPr>
          </a:p>
        </p:txBody>
      </p:sp>
      <p:sp>
        <p:nvSpPr>
          <p:cNvPr id="8203" name="矩形 8202"/>
          <p:cNvSpPr/>
          <p:nvPr/>
        </p:nvSpPr>
        <p:spPr>
          <a:xfrm>
            <a:off x="1049973" y="3346450"/>
            <a:ext cx="8213725" cy="902970"/>
          </a:xfrm>
          <a:prstGeom prst="rect">
            <a:avLst/>
          </a:prstGeom>
          <a:noFill/>
          <a:ln w="9525">
            <a:noFill/>
          </a:ln>
        </p:spPr>
        <p:txBody>
          <a:bodyPr anchor="t" anchorCtr="0">
            <a:spAutoFit/>
          </a:bodyPr>
          <a:p>
            <a:pPr marL="342900" indent="-342900" algn="just">
              <a:lnSpc>
                <a:spcPct val="110000"/>
              </a:lnSpc>
              <a:spcBef>
                <a:spcPct val="20000"/>
              </a:spcBef>
              <a:buFont typeface="Wingdings" panose="05000000000000000000" charset="0"/>
              <a:buChar char="u"/>
            </a:pPr>
            <a:r>
              <a:rPr lang="zh-CN" altLang="en-US" sz="2400" b="1" dirty="0">
                <a:solidFill>
                  <a:srgbClr val="FF0000"/>
                </a:solidFill>
                <a:latin typeface="楷体_GB2312" pitchFamily="1" charset="-122"/>
                <a:ea typeface="楷体_GB2312" pitchFamily="1" charset="-122"/>
              </a:rPr>
              <a:t>噪声中</a:t>
            </a:r>
            <a:r>
              <a:rPr lang="zh-CN" altLang="en-US" sz="2400" b="1" dirty="0">
                <a:solidFill>
                  <a:srgbClr val="000000"/>
                </a:solidFill>
                <a:latin typeface="楷体_GB2312" pitchFamily="1" charset="-122"/>
                <a:ea typeface="楷体_GB2312" pitchFamily="1" charset="-122"/>
              </a:rPr>
              <a:t>，满足</a:t>
            </a:r>
            <a:r>
              <a:rPr lang="zh-CN" altLang="en-US" sz="2400" b="1" dirty="0">
                <a:solidFill>
                  <a:srgbClr val="FF0000"/>
                </a:solidFill>
                <a:latin typeface="楷体_GB2312" pitchFamily="1" charset="-122"/>
                <a:ea typeface="楷体_GB2312" pitchFamily="1" charset="-122"/>
              </a:rPr>
              <a:t>上述条件</a:t>
            </a:r>
            <a:r>
              <a:rPr lang="zh-CN" altLang="en-US" sz="2400" b="1" dirty="0">
                <a:solidFill>
                  <a:srgbClr val="000000"/>
                </a:solidFill>
                <a:latin typeface="楷体_GB2312" pitchFamily="1" charset="-122"/>
                <a:ea typeface="楷体_GB2312" pitchFamily="1" charset="-122"/>
              </a:rPr>
              <a:t>的某一频率</a:t>
            </a:r>
            <a:r>
              <a:rPr lang="en-US" altLang="zh-CN" sz="2400" b="1" i="1" dirty="0">
                <a:solidFill>
                  <a:srgbClr val="FF0000"/>
                </a:solidFill>
                <a:latin typeface="楷体_GB2312" pitchFamily="1" charset="-122"/>
                <a:ea typeface="楷体_GB2312" pitchFamily="1" charset="-122"/>
                <a:sym typeface="Symbol" panose="05050102010706020507" pitchFamily="2" charset="2"/>
              </a:rPr>
              <a:t></a:t>
            </a:r>
            <a:r>
              <a:rPr lang="zh-CN" altLang="en-US" sz="2400" b="1" baseline="-25000" dirty="0">
                <a:solidFill>
                  <a:srgbClr val="FF0000"/>
                </a:solidFill>
                <a:latin typeface="楷体_GB2312" pitchFamily="1" charset="-122"/>
                <a:ea typeface="楷体_GB2312" pitchFamily="1" charset="-122"/>
              </a:rPr>
              <a:t>0</a:t>
            </a:r>
            <a:r>
              <a:rPr lang="zh-CN" altLang="en-US" sz="2400" b="1" dirty="0">
                <a:solidFill>
                  <a:srgbClr val="FF0000"/>
                </a:solidFill>
                <a:latin typeface="楷体_GB2312" pitchFamily="1" charset="-122"/>
                <a:ea typeface="楷体_GB2312" pitchFamily="1" charset="-122"/>
              </a:rPr>
              <a:t>的噪声信号</a:t>
            </a:r>
            <a:r>
              <a:rPr lang="zh-CN" altLang="en-US" sz="2400" b="1" dirty="0">
                <a:solidFill>
                  <a:srgbClr val="000000"/>
                </a:solidFill>
                <a:latin typeface="楷体_GB2312" pitchFamily="1" charset="-122"/>
                <a:ea typeface="楷体_GB2312" pitchFamily="1" charset="-122"/>
              </a:rPr>
              <a:t>被放大，成为振荡电路的输出信号。</a:t>
            </a:r>
            <a:endParaRPr lang="zh-CN" altLang="en-US" sz="2400" b="1" dirty="0">
              <a:solidFill>
                <a:srgbClr val="000000"/>
              </a:solidFill>
              <a:latin typeface="楷体_GB2312" pitchFamily="1" charset="-122"/>
              <a:ea typeface="楷体_GB2312" pitchFamily="1" charset="-122"/>
            </a:endParaRPr>
          </a:p>
        </p:txBody>
      </p:sp>
      <p:grpSp>
        <p:nvGrpSpPr>
          <p:cNvPr id="8204" name="组合 8203"/>
          <p:cNvGrpSpPr/>
          <p:nvPr/>
        </p:nvGrpSpPr>
        <p:grpSpPr>
          <a:xfrm>
            <a:off x="1081723" y="5205413"/>
            <a:ext cx="8126412" cy="977900"/>
            <a:chOff x="0" y="0"/>
            <a:chExt cx="5119" cy="616"/>
          </a:xfrm>
        </p:grpSpPr>
        <p:sp>
          <p:nvSpPr>
            <p:cNvPr id="10252" name="矩形 8204"/>
            <p:cNvSpPr/>
            <p:nvPr/>
          </p:nvSpPr>
          <p:spPr>
            <a:xfrm>
              <a:off x="0" y="0"/>
              <a:ext cx="5119" cy="616"/>
            </a:xfrm>
            <a:prstGeom prst="rect">
              <a:avLst/>
            </a:prstGeom>
            <a:noFill/>
            <a:ln w="9525">
              <a:noFill/>
            </a:ln>
          </p:spPr>
          <p:txBody>
            <a:bodyPr anchor="t" anchorCtr="0">
              <a:spAutoFit/>
            </a:bodyPr>
            <a:p>
              <a:pPr marL="342900" indent="-342900" algn="just">
                <a:lnSpc>
                  <a:spcPct val="120000"/>
                </a:lnSpc>
                <a:buFont typeface="Wingdings" panose="05000000000000000000" charset="0"/>
                <a:buChar char="u"/>
              </a:pPr>
              <a:r>
                <a:rPr lang="zh-CN" altLang="en-US" sz="2400" b="1">
                  <a:solidFill>
                    <a:srgbClr val="FF0000"/>
                  </a:solidFill>
                  <a:latin typeface="楷体_GB2312" pitchFamily="1" charset="-122"/>
                  <a:ea typeface="楷体_GB2312" pitchFamily="1" charset="-122"/>
                </a:rPr>
                <a:t>稳幅</a:t>
              </a:r>
              <a:r>
                <a:rPr lang="zh-CN" altLang="en-US" sz="2400" b="1">
                  <a:solidFill>
                    <a:srgbClr val="000000"/>
                  </a:solidFill>
                  <a:latin typeface="楷体_GB2312" pitchFamily="1" charset="-122"/>
                  <a:ea typeface="楷体_GB2312" pitchFamily="1" charset="-122"/>
                </a:rPr>
                <a:t>的作用就是，当输出信号幅值增加到一定程度时，使振幅平衡条件从      回到</a:t>
              </a:r>
              <a:endParaRPr lang="zh-CN" altLang="en-US" sz="2400" b="1">
                <a:solidFill>
                  <a:srgbClr val="000000"/>
                </a:solidFill>
                <a:latin typeface="楷体_GB2312" pitchFamily="1" charset="-122"/>
                <a:ea typeface="楷体_GB2312" pitchFamily="1" charset="-122"/>
              </a:endParaRPr>
            </a:p>
          </p:txBody>
        </p:sp>
        <p:graphicFrame>
          <p:nvGraphicFramePr>
            <p:cNvPr id="10253" name="对象 8205"/>
            <p:cNvGraphicFramePr>
              <a:graphicFrameLocks noChangeAspect="1"/>
            </p:cNvGraphicFramePr>
            <p:nvPr/>
          </p:nvGraphicFramePr>
          <p:xfrm>
            <a:off x="1798" y="366"/>
            <a:ext cx="581" cy="190"/>
          </p:xfrm>
          <a:graphic>
            <a:graphicData uri="http://schemas.openxmlformats.org/presentationml/2006/ole">
              <mc:AlternateContent xmlns:mc="http://schemas.openxmlformats.org/markup-compatibility/2006">
                <mc:Choice xmlns:v="urn:schemas-microsoft-com:vml" Requires="v">
                  <p:oleObj spid="_x0000_s3085" name="" r:id="rId6" imgW="457835" imgH="152400" progId="Equation.3">
                    <p:embed/>
                  </p:oleObj>
                </mc:Choice>
                <mc:Fallback>
                  <p:oleObj name="" r:id="rId6" imgW="457835" imgH="152400" progId="Equation.3">
                    <p:embed/>
                    <p:pic>
                      <p:nvPicPr>
                        <p:cNvPr id="0" name="图片 3084"/>
                        <p:cNvPicPr/>
                        <p:nvPr/>
                      </p:nvPicPr>
                      <p:blipFill>
                        <a:blip r:embed="rId7"/>
                        <a:stretch>
                          <a:fillRect/>
                        </a:stretch>
                      </p:blipFill>
                      <p:spPr>
                        <a:xfrm>
                          <a:off x="1798" y="366"/>
                          <a:ext cx="581" cy="190"/>
                        </a:xfrm>
                        <a:prstGeom prst="rect">
                          <a:avLst/>
                        </a:prstGeom>
                        <a:noFill/>
                        <a:ln w="38100">
                          <a:noFill/>
                          <a:miter/>
                        </a:ln>
                      </p:spPr>
                    </p:pic>
                  </p:oleObj>
                </mc:Fallback>
              </mc:AlternateContent>
            </a:graphicData>
          </a:graphic>
        </p:graphicFrame>
        <p:graphicFrame>
          <p:nvGraphicFramePr>
            <p:cNvPr id="10254" name="对象 8206"/>
            <p:cNvGraphicFramePr>
              <a:graphicFrameLocks noChangeAspect="1"/>
            </p:cNvGraphicFramePr>
            <p:nvPr/>
          </p:nvGraphicFramePr>
          <p:xfrm>
            <a:off x="2837" y="369"/>
            <a:ext cx="726" cy="206"/>
          </p:xfrm>
          <a:graphic>
            <a:graphicData uri="http://schemas.openxmlformats.org/presentationml/2006/ole">
              <mc:AlternateContent xmlns:mc="http://schemas.openxmlformats.org/markup-compatibility/2006">
                <mc:Choice xmlns:v="urn:schemas-microsoft-com:vml" Requires="v">
                  <p:oleObj spid="_x0000_s3087" name="" r:id="rId8" imgW="571500" imgH="165100" progId="Equation.3">
                    <p:embed/>
                  </p:oleObj>
                </mc:Choice>
                <mc:Fallback>
                  <p:oleObj name="" r:id="rId8" imgW="571500" imgH="165100" progId="Equation.3">
                    <p:embed/>
                    <p:pic>
                      <p:nvPicPr>
                        <p:cNvPr id="0" name="图片 3086"/>
                        <p:cNvPicPr/>
                        <p:nvPr/>
                      </p:nvPicPr>
                      <p:blipFill>
                        <a:blip r:embed="rId9"/>
                        <a:stretch>
                          <a:fillRect/>
                        </a:stretch>
                      </p:blipFill>
                      <p:spPr>
                        <a:xfrm>
                          <a:off x="2837" y="369"/>
                          <a:ext cx="726" cy="206"/>
                        </a:xfrm>
                        <a:prstGeom prst="rect">
                          <a:avLst/>
                        </a:prstGeom>
                        <a:noFill/>
                        <a:ln w="38100">
                          <a:noFill/>
                          <a:miter/>
                        </a:ln>
                      </p:spPr>
                    </p:pic>
                  </p:oleObj>
                </mc:Fallback>
              </mc:AlternateContent>
            </a:graphicData>
          </a:graphic>
        </p:graphicFrame>
      </p:grpSp>
      <p:pic>
        <p:nvPicPr>
          <p:cNvPr id="2" name="图片 1" descr="未标题-1 拷贝"/>
          <p:cNvPicPr>
            <a:picLocks noChangeAspect="1"/>
          </p:cNvPicPr>
          <p:nvPr/>
        </p:nvPicPr>
        <p:blipFill>
          <a:blip r:embed="rId10"/>
          <a:stretch>
            <a:fillRect/>
          </a:stretch>
        </p:blipFill>
        <p:spPr>
          <a:xfrm>
            <a:off x="6456045" y="690880"/>
            <a:ext cx="3856038" cy="2292350"/>
          </a:xfrm>
          <a:prstGeom prst="rect">
            <a:avLst/>
          </a:prstGeom>
          <a:noFill/>
          <a:ln w="9525">
            <a:noFill/>
          </a:ln>
        </p:spPr>
      </p:pic>
      <p:sp>
        <p:nvSpPr>
          <p:cNvPr id="3" name="文本框 2"/>
          <p:cNvSpPr txBox="1"/>
          <p:nvPr/>
        </p:nvSpPr>
        <p:spPr>
          <a:xfrm>
            <a:off x="6736080" y="739140"/>
            <a:ext cx="492125" cy="324485"/>
          </a:xfrm>
          <a:prstGeom prst="rect">
            <a:avLst/>
          </a:prstGeom>
          <a:solidFill>
            <a:schemeClr val="bg1"/>
          </a:solidFill>
        </p:spPr>
        <p:txBody>
          <a:bodyPr wrap="square" rtlCol="0">
            <a:noAutofit/>
          </a:bodyPr>
          <a:p>
            <a:r>
              <a:rPr lang="en-US" altLang="zh-CN" sz="2000" b="1">
                <a:solidFill>
                  <a:srgbClr val="FF0000"/>
                </a:solidFill>
                <a:latin typeface="Book Antiqua" panose="02040602050305030304" charset="0"/>
                <a:cs typeface="Book Antiqua" panose="02040602050305030304" charset="0"/>
              </a:rPr>
              <a:t>≈0   </a:t>
            </a:r>
            <a:endParaRPr lang="en-US" altLang="zh-CN" sz="2000" b="1">
              <a:solidFill>
                <a:srgbClr val="FF0000"/>
              </a:solidFill>
              <a:latin typeface="Book Antiqua" panose="02040602050305030304" charset="0"/>
              <a:cs typeface="Book Antiqua" panose="02040602050305030304" charset="0"/>
            </a:endParaRPr>
          </a:p>
        </p:txBody>
      </p:sp>
      <p:sp>
        <p:nvSpPr>
          <p:cNvPr id="4" name="文本框 1"/>
          <p:cNvSpPr txBox="1"/>
          <p:nvPr/>
        </p:nvSpPr>
        <p:spPr>
          <a:xfrm>
            <a:off x="2713038" y="30480"/>
            <a:ext cx="4899025" cy="534035"/>
          </a:xfrm>
          <a:prstGeom prst="rect">
            <a:avLst/>
          </a:prstGeom>
          <a:noFill/>
          <a:ln w="9525">
            <a:noFill/>
          </a:ln>
        </p:spPr>
        <p:txBody>
          <a:bodyPr wrap="none" anchor="t" anchorCtr="0">
            <a:spAutoFit/>
          </a:bodyPr>
          <a:p>
            <a:pPr algn="ctr">
              <a:lnSpc>
                <a:spcPct val="90000"/>
              </a:lnSpc>
            </a:pPr>
            <a:r>
              <a:rPr lang="zh-CN" altLang="en-US" sz="3200" b="1">
                <a:solidFill>
                  <a:schemeClr val="tx1"/>
                </a:solidFill>
                <a:latin typeface="微软雅黑" panose="020B0503020204020204" charset="-122"/>
                <a:ea typeface="微软雅黑" panose="020B0503020204020204" charset="-122"/>
                <a:cs typeface="微软雅黑" panose="020B0503020204020204" charset="-122"/>
              </a:rPr>
              <a:t>一</a:t>
            </a:r>
            <a:r>
              <a:rPr lang="en-US" altLang="zh-CN" sz="3200" b="1">
                <a:solidFill>
                  <a:schemeClr val="tx1"/>
                </a:solidFill>
                <a:latin typeface="微软雅黑" panose="020B0503020204020204" charset="-122"/>
                <a:ea typeface="微软雅黑" panose="020B0503020204020204" charset="-122"/>
                <a:cs typeface="微软雅黑" panose="020B0503020204020204" charset="-122"/>
              </a:rPr>
              <a:t> </a:t>
            </a:r>
            <a:r>
              <a:rPr lang="zh-CN" altLang="en-US" sz="3200" dirty="0">
                <a:latin typeface="微软雅黑" panose="020B0503020204020204" charset="-122"/>
                <a:ea typeface="微软雅黑" panose="020B0503020204020204" charset="-122"/>
                <a:cs typeface="微软雅黑" panose="020B0503020204020204" charset="-122"/>
                <a:sym typeface="+mn-ea"/>
              </a:rPr>
              <a:t>桥式</a:t>
            </a:r>
            <a:r>
              <a:rPr lang="en-US" altLang="zh-CN" sz="3200" dirty="0">
                <a:latin typeface="微软雅黑" panose="020B0503020204020204" charset="-122"/>
                <a:ea typeface="微软雅黑" panose="020B0503020204020204" charset="-122"/>
                <a:cs typeface="微软雅黑" panose="020B0503020204020204" charset="-122"/>
                <a:sym typeface="+mn-ea"/>
              </a:rPr>
              <a:t>RC</a:t>
            </a:r>
            <a:r>
              <a:rPr lang="zh-CN" altLang="en-US" sz="3200" dirty="0">
                <a:latin typeface="微软雅黑" panose="020B0503020204020204" charset="-122"/>
                <a:ea typeface="微软雅黑" panose="020B0503020204020204" charset="-122"/>
                <a:cs typeface="微软雅黑" panose="020B0503020204020204" charset="-122"/>
                <a:sym typeface="+mn-ea"/>
              </a:rPr>
              <a:t>振荡电路的原理</a:t>
            </a:r>
            <a:endParaRPr lang="zh-CN" altLang="en-US" sz="3200" b="1">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5" name="文本框 4"/>
          <p:cNvSpPr txBox="1"/>
          <p:nvPr/>
        </p:nvSpPr>
        <p:spPr>
          <a:xfrm>
            <a:off x="714375" y="1377315"/>
            <a:ext cx="779780" cy="521970"/>
          </a:xfrm>
          <a:prstGeom prst="rect">
            <a:avLst/>
          </a:prstGeom>
          <a:noFill/>
        </p:spPr>
        <p:txBody>
          <a:bodyPr wrap="square" rtlCol="0">
            <a:spAutoFit/>
          </a:bodyPr>
          <a:p>
            <a:r>
              <a:rPr lang="en-US" altLang="zh-CN" sz="2800" b="1">
                <a:solidFill>
                  <a:srgbClr val="FF0000"/>
                </a:solidFill>
                <a:latin typeface="Book Antiqua" panose="02040602050305030304" charset="0"/>
                <a:cs typeface="Book Antiqua" panose="02040602050305030304" charset="0"/>
              </a:rPr>
              <a:t>t=0</a:t>
            </a:r>
            <a:endParaRPr lang="en-US" altLang="zh-CN" sz="2800" b="1">
              <a:solidFill>
                <a:srgbClr val="FF0000"/>
              </a:solidFill>
              <a:latin typeface="Book Antiqua" panose="02040602050305030304" charset="0"/>
              <a:cs typeface="Book Antiqua" panose="0204060205030503030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8195"/>
                                        </p:tgtEl>
                                        <p:attrNameLst>
                                          <p:attrName>style.visibility</p:attrName>
                                        </p:attrNameLst>
                                      </p:cBhvr>
                                      <p:to>
                                        <p:strVal val="visible"/>
                                      </p:to>
                                    </p:set>
                                    <p:animEffect transition="in" filter="strips(downRight)">
                                      <p:cBhvr>
                                        <p:cTn id="17" dur="500"/>
                                        <p:tgtEl>
                                          <p:spTgt spid="8195"/>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nodeType="clickEffect">
                                  <p:stCondLst>
                                    <p:cond delay="0"/>
                                  </p:stCondLst>
                                  <p:childTnLst>
                                    <p:set>
                                      <p:cBhvr>
                                        <p:cTn id="21" dur="1" fill="hold">
                                          <p:stCondLst>
                                            <p:cond delay="0"/>
                                          </p:stCondLst>
                                        </p:cTn>
                                        <p:tgtEl>
                                          <p:spTgt spid="8199"/>
                                        </p:tgtEl>
                                        <p:attrNameLst>
                                          <p:attrName>style.visibility</p:attrName>
                                        </p:attrNameLst>
                                      </p:cBhvr>
                                      <p:to>
                                        <p:strVal val="visible"/>
                                      </p:to>
                                    </p:set>
                                    <p:animEffect transition="in" filter="strips(downRight)">
                                      <p:cBhvr>
                                        <p:cTn id="22" dur="500"/>
                                        <p:tgtEl>
                                          <p:spTgt spid="8199"/>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nodeType="clickEffect">
                                  <p:stCondLst>
                                    <p:cond delay="0"/>
                                  </p:stCondLst>
                                  <p:childTnLst>
                                    <p:set>
                                      <p:cBhvr>
                                        <p:cTn id="26" dur="1" fill="hold">
                                          <p:stCondLst>
                                            <p:cond delay="0"/>
                                          </p:stCondLst>
                                        </p:cTn>
                                        <p:tgtEl>
                                          <p:spTgt spid="8200"/>
                                        </p:tgtEl>
                                        <p:attrNameLst>
                                          <p:attrName>style.visibility</p:attrName>
                                        </p:attrNameLst>
                                      </p:cBhvr>
                                      <p:to>
                                        <p:strVal val="visible"/>
                                      </p:to>
                                    </p:set>
                                    <p:animEffect transition="in" filter="strips(downRight)">
                                      <p:cBhvr>
                                        <p:cTn id="27" dur="500"/>
                                        <p:tgtEl>
                                          <p:spTgt spid="8200"/>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6" fill="hold" nodeType="clickEffect">
                                  <p:stCondLst>
                                    <p:cond delay="0"/>
                                  </p:stCondLst>
                                  <p:childTnLst>
                                    <p:set>
                                      <p:cBhvr>
                                        <p:cTn id="31" dur="1" fill="hold">
                                          <p:stCondLst>
                                            <p:cond delay="0"/>
                                          </p:stCondLst>
                                        </p:cTn>
                                        <p:tgtEl>
                                          <p:spTgt spid="8201"/>
                                        </p:tgtEl>
                                        <p:attrNameLst>
                                          <p:attrName>style.visibility</p:attrName>
                                        </p:attrNameLst>
                                      </p:cBhvr>
                                      <p:to>
                                        <p:strVal val="visible"/>
                                      </p:to>
                                    </p:set>
                                    <p:animEffect transition="in" filter="strips(downRight)">
                                      <p:cBhvr>
                                        <p:cTn id="32" dur="500"/>
                                        <p:tgtEl>
                                          <p:spTgt spid="8201"/>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6" fill="hold" grpId="0" nodeType="clickEffect">
                                  <p:stCondLst>
                                    <p:cond delay="0"/>
                                  </p:stCondLst>
                                  <p:childTnLst>
                                    <p:set>
                                      <p:cBhvr>
                                        <p:cTn id="36" dur="1" fill="hold">
                                          <p:stCondLst>
                                            <p:cond delay="0"/>
                                          </p:stCondLst>
                                        </p:cTn>
                                        <p:tgtEl>
                                          <p:spTgt spid="8197"/>
                                        </p:tgtEl>
                                        <p:attrNameLst>
                                          <p:attrName>style.visibility</p:attrName>
                                        </p:attrNameLst>
                                      </p:cBhvr>
                                      <p:to>
                                        <p:strVal val="visible"/>
                                      </p:to>
                                    </p:set>
                                    <p:animEffect transition="in" filter="strips(downRight)">
                                      <p:cBhvr>
                                        <p:cTn id="37" dur="500"/>
                                        <p:tgtEl>
                                          <p:spTgt spid="8197"/>
                                        </p:tgtEl>
                                      </p:cBhvr>
                                    </p:animEffect>
                                  </p:childTnLst>
                                </p:cTn>
                              </p:par>
                            </p:childTnLst>
                          </p:cTn>
                        </p:par>
                      </p:childTnLst>
                    </p:cTn>
                  </p:par>
                  <p:par>
                    <p:cTn id="38" fill="hold">
                      <p:stCondLst>
                        <p:cond delay="indefinite"/>
                      </p:stCondLst>
                      <p:childTnLst>
                        <p:par>
                          <p:cTn id="39" fill="hold">
                            <p:stCondLst>
                              <p:cond delay="0"/>
                            </p:stCondLst>
                            <p:childTnLst>
                              <p:par>
                                <p:cTn id="40" presetID="18" presetClass="entr" presetSubtype="6" fill="hold" grpId="0" nodeType="clickEffect">
                                  <p:stCondLst>
                                    <p:cond delay="0"/>
                                  </p:stCondLst>
                                  <p:childTnLst>
                                    <p:set>
                                      <p:cBhvr>
                                        <p:cTn id="41" dur="1" fill="hold">
                                          <p:stCondLst>
                                            <p:cond delay="0"/>
                                          </p:stCondLst>
                                        </p:cTn>
                                        <p:tgtEl>
                                          <p:spTgt spid="8198"/>
                                        </p:tgtEl>
                                        <p:attrNameLst>
                                          <p:attrName>style.visibility</p:attrName>
                                        </p:attrNameLst>
                                      </p:cBhvr>
                                      <p:to>
                                        <p:strVal val="visible"/>
                                      </p:to>
                                    </p:set>
                                    <p:animEffect transition="in" filter="strips(downRight)">
                                      <p:cBhvr>
                                        <p:cTn id="42" dur="500"/>
                                        <p:tgtEl>
                                          <p:spTgt spid="8198"/>
                                        </p:tgtEl>
                                      </p:cBhvr>
                                    </p:animEffect>
                                  </p:childTnLst>
                                </p:cTn>
                              </p:par>
                            </p:childTnLst>
                          </p:cTn>
                        </p:par>
                      </p:childTnLst>
                    </p:cTn>
                  </p:par>
                  <p:par>
                    <p:cTn id="43" fill="hold">
                      <p:stCondLst>
                        <p:cond delay="indefinite"/>
                      </p:stCondLst>
                      <p:childTnLst>
                        <p:par>
                          <p:cTn id="44" fill="hold">
                            <p:stCondLst>
                              <p:cond delay="0"/>
                            </p:stCondLst>
                            <p:childTnLst>
                              <p:par>
                                <p:cTn id="45" presetID="18" presetClass="entr" presetSubtype="6" fill="hold" grpId="0" nodeType="clickEffect">
                                  <p:stCondLst>
                                    <p:cond delay="0"/>
                                  </p:stCondLst>
                                  <p:childTnLst>
                                    <p:set>
                                      <p:cBhvr>
                                        <p:cTn id="46" dur="1" fill="hold">
                                          <p:stCondLst>
                                            <p:cond delay="0"/>
                                          </p:stCondLst>
                                        </p:cTn>
                                        <p:tgtEl>
                                          <p:spTgt spid="8203"/>
                                        </p:tgtEl>
                                        <p:attrNameLst>
                                          <p:attrName>style.visibility</p:attrName>
                                        </p:attrNameLst>
                                      </p:cBhvr>
                                      <p:to>
                                        <p:strVal val="visible"/>
                                      </p:to>
                                    </p:set>
                                    <p:animEffect transition="in" filter="strips(downRight)">
                                      <p:cBhvr>
                                        <p:cTn id="47" dur="500"/>
                                        <p:tgtEl>
                                          <p:spTgt spid="8203"/>
                                        </p:tgtEl>
                                      </p:cBhvr>
                                    </p:animEffect>
                                  </p:childTnLst>
                                </p:cTn>
                              </p:par>
                            </p:childTnLst>
                          </p:cTn>
                        </p:par>
                      </p:childTnLst>
                    </p:cTn>
                  </p:par>
                  <p:par>
                    <p:cTn id="48" fill="hold">
                      <p:stCondLst>
                        <p:cond delay="indefinite"/>
                      </p:stCondLst>
                      <p:childTnLst>
                        <p:par>
                          <p:cTn id="49" fill="hold">
                            <p:stCondLst>
                              <p:cond delay="0"/>
                            </p:stCondLst>
                            <p:childTnLst>
                              <p:par>
                                <p:cTn id="50" presetID="18" presetClass="entr" presetSubtype="6" fill="hold" grpId="0" nodeType="clickEffect">
                                  <p:stCondLst>
                                    <p:cond delay="0"/>
                                  </p:stCondLst>
                                  <p:childTnLst>
                                    <p:set>
                                      <p:cBhvr>
                                        <p:cTn id="51" dur="1" fill="hold">
                                          <p:stCondLst>
                                            <p:cond delay="0"/>
                                          </p:stCondLst>
                                        </p:cTn>
                                        <p:tgtEl>
                                          <p:spTgt spid="8202"/>
                                        </p:tgtEl>
                                        <p:attrNameLst>
                                          <p:attrName>style.visibility</p:attrName>
                                        </p:attrNameLst>
                                      </p:cBhvr>
                                      <p:to>
                                        <p:strVal val="visible"/>
                                      </p:to>
                                    </p:set>
                                    <p:animEffect transition="in" filter="strips(downRight)">
                                      <p:cBhvr>
                                        <p:cTn id="52" dur="500"/>
                                        <p:tgtEl>
                                          <p:spTgt spid="8202"/>
                                        </p:tgtEl>
                                      </p:cBhvr>
                                    </p:animEffect>
                                  </p:childTnLst>
                                </p:cTn>
                              </p:par>
                            </p:childTnLst>
                          </p:cTn>
                        </p:par>
                      </p:childTnLst>
                    </p:cTn>
                  </p:par>
                  <p:par>
                    <p:cTn id="53" fill="hold">
                      <p:stCondLst>
                        <p:cond delay="indefinite"/>
                      </p:stCondLst>
                      <p:childTnLst>
                        <p:par>
                          <p:cTn id="54" fill="hold">
                            <p:stCondLst>
                              <p:cond delay="0"/>
                            </p:stCondLst>
                            <p:childTnLst>
                              <p:par>
                                <p:cTn id="55" presetID="18" presetClass="entr" presetSubtype="6" fill="hold" nodeType="clickEffect">
                                  <p:stCondLst>
                                    <p:cond delay="0"/>
                                  </p:stCondLst>
                                  <p:childTnLst>
                                    <p:set>
                                      <p:cBhvr>
                                        <p:cTn id="56" dur="1" fill="hold">
                                          <p:stCondLst>
                                            <p:cond delay="0"/>
                                          </p:stCondLst>
                                        </p:cTn>
                                        <p:tgtEl>
                                          <p:spTgt spid="8204"/>
                                        </p:tgtEl>
                                        <p:attrNameLst>
                                          <p:attrName>style.visibility</p:attrName>
                                        </p:attrNameLst>
                                      </p:cBhvr>
                                      <p:to>
                                        <p:strVal val="visible"/>
                                      </p:to>
                                    </p:set>
                                    <p:animEffect transition="in" filter="strips(downRight)">
                                      <p:cBhvr>
                                        <p:cTn id="57" dur="500"/>
                                        <p:tgtEl>
                                          <p:spTgt spid="82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p:bldP spid="8197" grpId="0"/>
      <p:bldP spid="8198" grpId="0"/>
      <p:bldP spid="8202" grpId="0"/>
      <p:bldP spid="8203" grpId="0"/>
      <p:bldP spid="3" grpId="0" bldLvl="0" animBg="1"/>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90" name="矩形 16389"/>
          <p:cNvSpPr/>
          <p:nvPr/>
        </p:nvSpPr>
        <p:spPr>
          <a:xfrm>
            <a:off x="738505" y="4603750"/>
            <a:ext cx="1303655" cy="534035"/>
          </a:xfrm>
          <a:prstGeom prst="rect">
            <a:avLst/>
          </a:prstGeom>
          <a:noFill/>
          <a:ln w="9525">
            <a:noFill/>
          </a:ln>
        </p:spPr>
        <p:txBody>
          <a:bodyPr wrap="square" anchor="t" anchorCtr="0">
            <a:spAutoFit/>
          </a:bodyPr>
          <a:p>
            <a:pPr marL="342900" indent="-342900" algn="just">
              <a:lnSpc>
                <a:spcPct val="120000"/>
              </a:lnSpc>
              <a:buFont typeface="Wingdings" panose="05000000000000000000" charset="0"/>
              <a:buChar char="u"/>
            </a:pPr>
            <a:r>
              <a:rPr lang="zh-CN" altLang="en-US" sz="2400" b="1">
                <a:solidFill>
                  <a:srgbClr val="000000"/>
                </a:solidFill>
                <a:latin typeface="Times New Roman" panose="02020603050405020304" pitchFamily="2" charset="0"/>
                <a:ea typeface="楷体_GB2312" pitchFamily="1" charset="-122"/>
              </a:rPr>
              <a:t>稳幅：</a:t>
            </a:r>
            <a:endParaRPr lang="zh-CN" altLang="en-US" sz="2400" b="1">
              <a:solidFill>
                <a:srgbClr val="000000"/>
              </a:solidFill>
              <a:latin typeface="Times New Roman" panose="02020603050405020304" pitchFamily="2" charset="0"/>
              <a:ea typeface="楷体_GB2312" pitchFamily="1" charset="-122"/>
            </a:endParaRPr>
          </a:p>
        </p:txBody>
      </p:sp>
      <p:graphicFrame>
        <p:nvGraphicFramePr>
          <p:cNvPr id="16391" name="对象 16390"/>
          <p:cNvGraphicFramePr>
            <a:graphicFrameLocks noChangeAspect="1"/>
          </p:cNvGraphicFramePr>
          <p:nvPr/>
        </p:nvGraphicFramePr>
        <p:xfrm>
          <a:off x="2175510" y="4672013"/>
          <a:ext cx="687388" cy="531812"/>
        </p:xfrm>
        <a:graphic>
          <a:graphicData uri="http://schemas.openxmlformats.org/presentationml/2006/ole">
            <mc:AlternateContent xmlns:mc="http://schemas.openxmlformats.org/markup-compatibility/2006">
              <mc:Choice xmlns:v="urn:schemas-microsoft-com:vml" Requires="v">
                <p:oleObj spid="_x0000_s3097" name="" r:id="rId1" imgW="343535" imgH="267335" progId="Equation.3">
                  <p:embed/>
                </p:oleObj>
              </mc:Choice>
              <mc:Fallback>
                <p:oleObj name="" r:id="rId1" imgW="343535" imgH="267335" progId="Equation.3">
                  <p:embed/>
                  <p:pic>
                    <p:nvPicPr>
                      <p:cNvPr id="0" name="图片 3096"/>
                      <p:cNvPicPr/>
                      <p:nvPr/>
                    </p:nvPicPr>
                    <p:blipFill>
                      <a:blip r:embed="rId2"/>
                      <a:stretch>
                        <a:fillRect/>
                      </a:stretch>
                    </p:blipFill>
                    <p:spPr>
                      <a:xfrm>
                        <a:off x="2175510" y="4672013"/>
                        <a:ext cx="687388" cy="531812"/>
                      </a:xfrm>
                      <a:prstGeom prst="rect">
                        <a:avLst/>
                      </a:prstGeom>
                      <a:noFill/>
                      <a:ln w="38100">
                        <a:noFill/>
                        <a:miter/>
                      </a:ln>
                    </p:spPr>
                  </p:pic>
                </p:oleObj>
              </mc:Fallback>
            </mc:AlternateContent>
          </a:graphicData>
        </a:graphic>
      </p:graphicFrame>
      <p:grpSp>
        <p:nvGrpSpPr>
          <p:cNvPr id="16392" name="组合 16391"/>
          <p:cNvGrpSpPr/>
          <p:nvPr/>
        </p:nvGrpSpPr>
        <p:grpSpPr>
          <a:xfrm>
            <a:off x="2244090" y="5432425"/>
            <a:ext cx="1414463" cy="404813"/>
            <a:chOff x="0" y="0"/>
            <a:chExt cx="891" cy="255"/>
          </a:xfrm>
        </p:grpSpPr>
        <p:graphicFrame>
          <p:nvGraphicFramePr>
            <p:cNvPr id="22534" name="对象 16392"/>
            <p:cNvGraphicFramePr>
              <a:graphicFrameLocks noChangeAspect="1"/>
            </p:cNvGraphicFramePr>
            <p:nvPr/>
          </p:nvGraphicFramePr>
          <p:xfrm>
            <a:off x="345" y="0"/>
            <a:ext cx="546" cy="255"/>
          </p:xfrm>
          <a:graphic>
            <a:graphicData uri="http://schemas.openxmlformats.org/presentationml/2006/ole">
              <mc:AlternateContent xmlns:mc="http://schemas.openxmlformats.org/markup-compatibility/2006">
                <mc:Choice xmlns:v="urn:schemas-microsoft-com:vml" Requires="v">
                  <p:oleObj spid="_x0000_s3090" name="" r:id="rId3" imgW="432435" imgH="203835" progId="Equation.3">
                    <p:embed/>
                  </p:oleObj>
                </mc:Choice>
                <mc:Fallback>
                  <p:oleObj name="" r:id="rId3" imgW="432435" imgH="203835" progId="Equation.3">
                    <p:embed/>
                    <p:pic>
                      <p:nvPicPr>
                        <p:cNvPr id="0" name="图片 3089"/>
                        <p:cNvPicPr/>
                        <p:nvPr/>
                      </p:nvPicPr>
                      <p:blipFill>
                        <a:blip r:embed="rId4"/>
                        <a:stretch>
                          <a:fillRect/>
                        </a:stretch>
                      </p:blipFill>
                      <p:spPr>
                        <a:xfrm>
                          <a:off x="345" y="0"/>
                          <a:ext cx="546" cy="255"/>
                        </a:xfrm>
                        <a:prstGeom prst="rect">
                          <a:avLst/>
                        </a:prstGeom>
                        <a:noFill/>
                        <a:ln w="38100">
                          <a:noFill/>
                          <a:miter/>
                        </a:ln>
                      </p:spPr>
                    </p:pic>
                  </p:oleObj>
                </mc:Fallback>
              </mc:AlternateContent>
            </a:graphicData>
          </a:graphic>
        </p:graphicFrame>
        <p:sp>
          <p:nvSpPr>
            <p:cNvPr id="22535" name="直接连接符 16393"/>
            <p:cNvSpPr/>
            <p:nvPr/>
          </p:nvSpPr>
          <p:spPr>
            <a:xfrm flipV="1">
              <a:off x="0" y="120"/>
              <a:ext cx="311" cy="0"/>
            </a:xfrm>
            <a:prstGeom prst="line">
              <a:avLst/>
            </a:prstGeom>
            <a:ln w="25400" cap="flat" cmpd="sng">
              <a:solidFill>
                <a:srgbClr val="FF00FF"/>
              </a:solidFill>
              <a:prstDash val="solid"/>
              <a:round/>
              <a:headEnd type="none" w="med" len="med"/>
              <a:tailEnd type="stealth" w="sm" len="lg"/>
            </a:ln>
          </p:spPr>
        </p:sp>
      </p:grpSp>
      <p:grpSp>
        <p:nvGrpSpPr>
          <p:cNvPr id="16395" name="组合 16394"/>
          <p:cNvGrpSpPr/>
          <p:nvPr/>
        </p:nvGrpSpPr>
        <p:grpSpPr>
          <a:xfrm>
            <a:off x="3890963" y="5336223"/>
            <a:ext cx="2784475" cy="533400"/>
            <a:chOff x="0" y="0"/>
            <a:chExt cx="1754" cy="336"/>
          </a:xfrm>
        </p:grpSpPr>
        <p:grpSp>
          <p:nvGrpSpPr>
            <p:cNvPr id="22537" name="组合 16395"/>
            <p:cNvGrpSpPr/>
            <p:nvPr/>
          </p:nvGrpSpPr>
          <p:grpSpPr>
            <a:xfrm>
              <a:off x="336" y="0"/>
              <a:ext cx="1418" cy="336"/>
              <a:chOff x="0" y="0"/>
              <a:chExt cx="1418" cy="336"/>
            </a:xfrm>
          </p:grpSpPr>
          <p:graphicFrame>
            <p:nvGraphicFramePr>
              <p:cNvPr id="22538" name="对象 16396"/>
              <p:cNvGraphicFramePr>
                <a:graphicFrameLocks noChangeAspect="1"/>
              </p:cNvGraphicFramePr>
              <p:nvPr/>
            </p:nvGraphicFramePr>
            <p:xfrm>
              <a:off x="0" y="80"/>
              <a:ext cx="725" cy="254"/>
            </p:xfrm>
            <a:graphic>
              <a:graphicData uri="http://schemas.openxmlformats.org/presentationml/2006/ole">
                <mc:AlternateContent xmlns:mc="http://schemas.openxmlformats.org/markup-compatibility/2006">
                  <mc:Choice xmlns:v="urn:schemas-microsoft-com:vml" Requires="v">
                    <p:oleObj spid="_x0000_s3098" name="" r:id="rId5" imgW="571500" imgH="203200" progId="Equation.3">
                      <p:embed/>
                    </p:oleObj>
                  </mc:Choice>
                  <mc:Fallback>
                    <p:oleObj name="" r:id="rId5" imgW="571500" imgH="203200" progId="Equation.3">
                      <p:embed/>
                      <p:pic>
                        <p:nvPicPr>
                          <p:cNvPr id="0" name="图片 3097"/>
                          <p:cNvPicPr/>
                          <p:nvPr/>
                        </p:nvPicPr>
                        <p:blipFill>
                          <a:blip r:embed="rId6"/>
                          <a:stretch>
                            <a:fillRect/>
                          </a:stretch>
                        </p:blipFill>
                        <p:spPr>
                          <a:xfrm>
                            <a:off x="0" y="80"/>
                            <a:ext cx="725" cy="254"/>
                          </a:xfrm>
                          <a:prstGeom prst="rect">
                            <a:avLst/>
                          </a:prstGeom>
                          <a:noFill/>
                          <a:ln w="38100">
                            <a:noFill/>
                            <a:miter/>
                          </a:ln>
                        </p:spPr>
                      </p:pic>
                    </p:oleObj>
                  </mc:Fallback>
                </mc:AlternateContent>
              </a:graphicData>
            </a:graphic>
          </p:graphicFrame>
          <p:sp>
            <p:nvSpPr>
              <p:cNvPr id="22539" name="矩形 16397"/>
              <p:cNvSpPr/>
              <p:nvPr/>
            </p:nvSpPr>
            <p:spPr>
              <a:xfrm>
                <a:off x="723" y="0"/>
                <a:ext cx="695" cy="336"/>
              </a:xfrm>
              <a:prstGeom prst="rect">
                <a:avLst/>
              </a:prstGeom>
              <a:noFill/>
              <a:ln w="9525">
                <a:noFill/>
              </a:ln>
            </p:spPr>
            <p:txBody>
              <a:bodyPr anchor="t" anchorCtr="0">
                <a:spAutoFit/>
              </a:bodyPr>
              <a:p>
                <a:pPr algn="just">
                  <a:lnSpc>
                    <a:spcPct val="120000"/>
                  </a:lnSpc>
                </a:pPr>
                <a:r>
                  <a:rPr lang="zh-CN" altLang="en-US" sz="2400" b="1">
                    <a:solidFill>
                      <a:srgbClr val="FF0000"/>
                    </a:solidFill>
                    <a:latin typeface="Times New Roman" panose="02020603050405020304" pitchFamily="2" charset="0"/>
                    <a:ea typeface="楷体_GB2312" pitchFamily="1" charset="-122"/>
                  </a:rPr>
                  <a:t>稳幅</a:t>
                </a:r>
                <a:endParaRPr lang="zh-CN" altLang="en-US" sz="2400" b="1">
                  <a:solidFill>
                    <a:srgbClr val="FF0000"/>
                  </a:solidFill>
                  <a:latin typeface="Times New Roman" panose="02020603050405020304" pitchFamily="2" charset="0"/>
                  <a:ea typeface="楷体_GB2312" pitchFamily="1" charset="-122"/>
                </a:endParaRPr>
              </a:p>
            </p:txBody>
          </p:sp>
        </p:grpSp>
        <p:sp>
          <p:nvSpPr>
            <p:cNvPr id="22540" name="直接连接符 16398"/>
            <p:cNvSpPr/>
            <p:nvPr/>
          </p:nvSpPr>
          <p:spPr>
            <a:xfrm flipV="1">
              <a:off x="0" y="192"/>
              <a:ext cx="311" cy="0"/>
            </a:xfrm>
            <a:prstGeom prst="line">
              <a:avLst/>
            </a:prstGeom>
            <a:ln w="25400" cap="flat" cmpd="sng">
              <a:solidFill>
                <a:srgbClr val="FF00FF"/>
              </a:solidFill>
              <a:prstDash val="solid"/>
              <a:round/>
              <a:headEnd type="none" w="med" len="med"/>
              <a:tailEnd type="stealth" w="sm" len="lg"/>
            </a:ln>
          </p:spPr>
        </p:sp>
      </p:grpSp>
      <p:grpSp>
        <p:nvGrpSpPr>
          <p:cNvPr id="16400" name="组合 16399"/>
          <p:cNvGrpSpPr/>
          <p:nvPr/>
        </p:nvGrpSpPr>
        <p:grpSpPr>
          <a:xfrm>
            <a:off x="4144963" y="4654550"/>
            <a:ext cx="1258887" cy="430213"/>
            <a:chOff x="0" y="0"/>
            <a:chExt cx="793" cy="271"/>
          </a:xfrm>
        </p:grpSpPr>
        <p:graphicFrame>
          <p:nvGraphicFramePr>
            <p:cNvPr id="22542" name="对象 16400"/>
            <p:cNvGraphicFramePr>
              <a:graphicFrameLocks noChangeAspect="1"/>
            </p:cNvGraphicFramePr>
            <p:nvPr/>
          </p:nvGraphicFramePr>
          <p:xfrm>
            <a:off x="374" y="0"/>
            <a:ext cx="419" cy="271"/>
          </p:xfrm>
          <a:graphic>
            <a:graphicData uri="http://schemas.openxmlformats.org/presentationml/2006/ole">
              <mc:AlternateContent xmlns:mc="http://schemas.openxmlformats.org/markup-compatibility/2006">
                <mc:Choice xmlns:v="urn:schemas-microsoft-com:vml" Requires="v">
                  <p:oleObj spid="_x0000_s3091" name="" r:id="rId7" imgW="330835" imgH="215900" progId="Equation.3">
                    <p:embed/>
                  </p:oleObj>
                </mc:Choice>
                <mc:Fallback>
                  <p:oleObj name="" r:id="rId7" imgW="330835" imgH="215900" progId="Equation.3">
                    <p:embed/>
                    <p:pic>
                      <p:nvPicPr>
                        <p:cNvPr id="0" name="图片 3090"/>
                        <p:cNvPicPr/>
                        <p:nvPr/>
                      </p:nvPicPr>
                      <p:blipFill>
                        <a:blip r:embed="rId8"/>
                        <a:stretch>
                          <a:fillRect/>
                        </a:stretch>
                      </p:blipFill>
                      <p:spPr>
                        <a:xfrm>
                          <a:off x="374" y="0"/>
                          <a:ext cx="419" cy="271"/>
                        </a:xfrm>
                        <a:prstGeom prst="rect">
                          <a:avLst/>
                        </a:prstGeom>
                        <a:noFill/>
                        <a:ln w="38100">
                          <a:noFill/>
                          <a:miter/>
                        </a:ln>
                      </p:spPr>
                    </p:pic>
                  </p:oleObj>
                </mc:Fallback>
              </mc:AlternateContent>
            </a:graphicData>
          </a:graphic>
        </p:graphicFrame>
        <p:sp>
          <p:nvSpPr>
            <p:cNvPr id="22543" name="直接连接符 16401"/>
            <p:cNvSpPr/>
            <p:nvPr/>
          </p:nvSpPr>
          <p:spPr>
            <a:xfrm flipV="1">
              <a:off x="0" y="136"/>
              <a:ext cx="311" cy="0"/>
            </a:xfrm>
            <a:prstGeom prst="line">
              <a:avLst/>
            </a:prstGeom>
            <a:ln w="25400" cap="flat" cmpd="sng">
              <a:solidFill>
                <a:srgbClr val="FF00FF"/>
              </a:solidFill>
              <a:prstDash val="solid"/>
              <a:round/>
              <a:headEnd type="none" w="med" len="med"/>
              <a:tailEnd type="stealth" w="sm" len="lg"/>
            </a:ln>
          </p:spPr>
        </p:sp>
      </p:grpSp>
      <p:graphicFrame>
        <p:nvGraphicFramePr>
          <p:cNvPr id="16406" name="对象 16405"/>
          <p:cNvGraphicFramePr>
            <a:graphicFrameLocks noChangeAspect="1"/>
          </p:cNvGraphicFramePr>
          <p:nvPr/>
        </p:nvGraphicFramePr>
        <p:xfrm>
          <a:off x="7163435" y="5517515"/>
          <a:ext cx="4194810" cy="1144270"/>
        </p:xfrm>
        <a:graphic>
          <a:graphicData uri="http://schemas.openxmlformats.org/presentationml/2006/ole">
            <mc:AlternateContent xmlns:mc="http://schemas.openxmlformats.org/markup-compatibility/2006">
              <mc:Choice xmlns:v="urn:schemas-microsoft-com:vml" Requires="v">
                <p:oleObj spid="_x0000_s3092" name="" r:id="rId9" imgW="1536700" imgH="457200" progId="Equation.3">
                  <p:embed/>
                </p:oleObj>
              </mc:Choice>
              <mc:Fallback>
                <p:oleObj name="" r:id="rId9" imgW="1536700" imgH="457200" progId="Equation.3">
                  <p:embed/>
                  <p:pic>
                    <p:nvPicPr>
                      <p:cNvPr id="0" name="图片 3091"/>
                      <p:cNvPicPr/>
                      <p:nvPr/>
                    </p:nvPicPr>
                    <p:blipFill>
                      <a:blip r:embed="rId10"/>
                      <a:stretch>
                        <a:fillRect/>
                      </a:stretch>
                    </p:blipFill>
                    <p:spPr>
                      <a:xfrm>
                        <a:off x="7163435" y="5517515"/>
                        <a:ext cx="4194810" cy="1144270"/>
                      </a:xfrm>
                      <a:prstGeom prst="rect">
                        <a:avLst/>
                      </a:prstGeom>
                      <a:noFill/>
                      <a:ln w="38100">
                        <a:noFill/>
                        <a:miter/>
                      </a:ln>
                    </p:spPr>
                  </p:pic>
                </p:oleObj>
              </mc:Fallback>
            </mc:AlternateContent>
          </a:graphicData>
        </a:graphic>
      </p:graphicFrame>
      <p:grpSp>
        <p:nvGrpSpPr>
          <p:cNvPr id="16407" name="组合 16406"/>
          <p:cNvGrpSpPr/>
          <p:nvPr/>
        </p:nvGrpSpPr>
        <p:grpSpPr>
          <a:xfrm>
            <a:off x="2895918" y="4664075"/>
            <a:ext cx="1208087" cy="454025"/>
            <a:chOff x="0" y="8"/>
            <a:chExt cx="761" cy="286"/>
          </a:xfrm>
        </p:grpSpPr>
        <p:sp>
          <p:nvSpPr>
            <p:cNvPr id="22549" name="直接连接符 16407"/>
            <p:cNvSpPr/>
            <p:nvPr/>
          </p:nvSpPr>
          <p:spPr>
            <a:xfrm flipV="1">
              <a:off x="0" y="159"/>
              <a:ext cx="311" cy="0"/>
            </a:xfrm>
            <a:prstGeom prst="line">
              <a:avLst/>
            </a:prstGeom>
            <a:ln w="25400" cap="flat" cmpd="sng">
              <a:solidFill>
                <a:srgbClr val="FF00FF"/>
              </a:solidFill>
              <a:prstDash val="solid"/>
              <a:round/>
              <a:headEnd type="none" w="med" len="med"/>
              <a:tailEnd type="stealth" w="sm" len="lg"/>
            </a:ln>
          </p:spPr>
        </p:sp>
        <p:graphicFrame>
          <p:nvGraphicFramePr>
            <p:cNvPr id="22550" name="对象 16408"/>
            <p:cNvGraphicFramePr>
              <a:graphicFrameLocks noChangeAspect="1"/>
            </p:cNvGraphicFramePr>
            <p:nvPr/>
          </p:nvGraphicFramePr>
          <p:xfrm>
            <a:off x="345" y="8"/>
            <a:ext cx="416" cy="286"/>
          </p:xfrm>
          <a:graphic>
            <a:graphicData uri="http://schemas.openxmlformats.org/presentationml/2006/ole">
              <mc:AlternateContent xmlns:mc="http://schemas.openxmlformats.org/markup-compatibility/2006">
                <mc:Choice xmlns:v="urn:schemas-microsoft-com:vml" Requires="v">
                  <p:oleObj spid="_x0000_s3096" name="" r:id="rId11" imgW="330200" imgH="228600" progId="Equation.3">
                    <p:embed/>
                  </p:oleObj>
                </mc:Choice>
                <mc:Fallback>
                  <p:oleObj name="" r:id="rId11" imgW="330200" imgH="228600" progId="Equation.3">
                    <p:embed/>
                    <p:pic>
                      <p:nvPicPr>
                        <p:cNvPr id="0" name="图片 3095"/>
                        <p:cNvPicPr/>
                        <p:nvPr/>
                      </p:nvPicPr>
                      <p:blipFill>
                        <a:blip r:embed="rId12"/>
                        <a:stretch>
                          <a:fillRect/>
                        </a:stretch>
                      </p:blipFill>
                      <p:spPr>
                        <a:xfrm>
                          <a:off x="345" y="8"/>
                          <a:ext cx="416" cy="286"/>
                        </a:xfrm>
                        <a:prstGeom prst="rect">
                          <a:avLst/>
                        </a:prstGeom>
                        <a:noFill/>
                        <a:ln w="38100">
                          <a:noFill/>
                          <a:miter/>
                        </a:ln>
                      </p:spPr>
                    </p:pic>
                  </p:oleObj>
                </mc:Fallback>
              </mc:AlternateContent>
            </a:graphicData>
          </a:graphic>
        </p:graphicFrame>
      </p:grpSp>
      <p:graphicFrame>
        <p:nvGraphicFramePr>
          <p:cNvPr id="11279" name="对象 11278"/>
          <p:cNvGraphicFramePr>
            <a:graphicFrameLocks noChangeAspect="1"/>
          </p:cNvGraphicFramePr>
          <p:nvPr/>
        </p:nvGraphicFramePr>
        <p:xfrm>
          <a:off x="2733358" y="787400"/>
          <a:ext cx="2344053" cy="1116000"/>
        </p:xfrm>
        <a:graphic>
          <a:graphicData uri="http://schemas.openxmlformats.org/presentationml/2006/ole">
            <mc:AlternateContent xmlns:mc="http://schemas.openxmlformats.org/markup-compatibility/2006">
              <mc:Choice xmlns:v="urn:schemas-microsoft-com:vml" Requires="v">
                <p:oleObj spid="_x0000_s2" name="" r:id="rId13" imgW="1220470" imgH="584835" progId="Equation.3">
                  <p:embed/>
                </p:oleObj>
              </mc:Choice>
              <mc:Fallback>
                <p:oleObj name="" r:id="rId13" imgW="1220470" imgH="584835" progId="Equation.3">
                  <p:embed/>
                  <p:pic>
                    <p:nvPicPr>
                      <p:cNvPr id="0" name="图片 3094"/>
                      <p:cNvPicPr/>
                      <p:nvPr/>
                    </p:nvPicPr>
                    <p:blipFill>
                      <a:blip r:embed="rId14"/>
                      <a:stretch>
                        <a:fillRect/>
                      </a:stretch>
                    </p:blipFill>
                    <p:spPr>
                      <a:xfrm>
                        <a:off x="2733358" y="787400"/>
                        <a:ext cx="2344053" cy="1116000"/>
                      </a:xfrm>
                      <a:prstGeom prst="rect">
                        <a:avLst/>
                      </a:prstGeom>
                      <a:noFill/>
                      <a:ln w="38100">
                        <a:noFill/>
                        <a:miter/>
                      </a:ln>
                    </p:spPr>
                  </p:pic>
                </p:oleObj>
              </mc:Fallback>
            </mc:AlternateContent>
          </a:graphicData>
        </a:graphic>
      </p:graphicFrame>
      <p:grpSp>
        <p:nvGrpSpPr>
          <p:cNvPr id="12296" name="组合 12295"/>
          <p:cNvGrpSpPr>
            <a:grpSpLocks noChangeAspect="1"/>
          </p:cNvGrpSpPr>
          <p:nvPr/>
        </p:nvGrpSpPr>
        <p:grpSpPr>
          <a:xfrm>
            <a:off x="2677478" y="1915478"/>
            <a:ext cx="4129748" cy="756000"/>
            <a:chOff x="0" y="0"/>
            <a:chExt cx="2704" cy="495"/>
          </a:xfrm>
          <a:solidFill>
            <a:schemeClr val="bg1"/>
          </a:solidFill>
        </p:grpSpPr>
        <p:sp>
          <p:nvSpPr>
            <p:cNvPr id="15368" name="圆角矩形 12296"/>
            <p:cNvSpPr/>
            <p:nvPr/>
          </p:nvSpPr>
          <p:spPr>
            <a:xfrm>
              <a:off x="37" y="39"/>
              <a:ext cx="2667" cy="456"/>
            </a:xfrm>
            <a:prstGeom prst="roundRect">
              <a:avLst>
                <a:gd name="adj" fmla="val 16667"/>
              </a:avLst>
            </a:prstGeom>
            <a:grpFill/>
            <a:ln w="9525">
              <a:noFill/>
            </a:ln>
          </p:spPr>
          <p:txBody>
            <a:bodyPr anchor="t" anchorCtr="0"/>
            <a:p>
              <a:endParaRPr lang="zh-CN" altLang="en-US">
                <a:latin typeface="Verdana" panose="020B0604030504040204" pitchFamily="2" charset="0"/>
                <a:ea typeface="宋体" panose="02010600030101010101" pitchFamily="2" charset="-122"/>
              </a:endParaRPr>
            </a:p>
          </p:txBody>
        </p:sp>
        <p:graphicFrame>
          <p:nvGraphicFramePr>
            <p:cNvPr id="15369" name="对象 12297"/>
            <p:cNvGraphicFramePr>
              <a:graphicFrameLocks noChangeAspect="1"/>
            </p:cNvGraphicFramePr>
            <p:nvPr/>
          </p:nvGraphicFramePr>
          <p:xfrm>
            <a:off x="0" y="0"/>
            <a:ext cx="2361" cy="431"/>
          </p:xfrm>
          <a:graphic>
            <a:graphicData uri="http://schemas.openxmlformats.org/presentationml/2006/ole">
              <mc:AlternateContent xmlns:mc="http://schemas.openxmlformats.org/markup-compatibility/2006">
                <mc:Choice xmlns:v="urn:schemas-microsoft-com:vml" Requires="v">
                  <p:oleObj spid="_x0000_s3" name="" r:id="rId15" imgW="2145665" imgH="393700" progId="Equation.3">
                    <p:embed/>
                  </p:oleObj>
                </mc:Choice>
                <mc:Fallback>
                  <p:oleObj name="" r:id="rId15" imgW="2145665" imgH="393700" progId="Equation.3">
                    <p:embed/>
                    <p:pic>
                      <p:nvPicPr>
                        <p:cNvPr id="0" name="图片 3097"/>
                        <p:cNvPicPr/>
                        <p:nvPr/>
                      </p:nvPicPr>
                      <p:blipFill>
                        <a:blip r:embed="rId16"/>
                        <a:stretch>
                          <a:fillRect/>
                        </a:stretch>
                      </p:blipFill>
                      <p:spPr>
                        <a:xfrm>
                          <a:off x="0" y="0"/>
                          <a:ext cx="2361" cy="431"/>
                        </a:xfrm>
                        <a:prstGeom prst="rect">
                          <a:avLst/>
                        </a:prstGeom>
                        <a:noFill/>
                        <a:ln w="38100">
                          <a:noFill/>
                          <a:miter/>
                        </a:ln>
                      </p:spPr>
                    </p:pic>
                  </p:oleObj>
                </mc:Fallback>
              </mc:AlternateContent>
            </a:graphicData>
          </a:graphic>
        </p:graphicFrame>
      </p:grpSp>
      <p:graphicFrame>
        <p:nvGraphicFramePr>
          <p:cNvPr id="12299" name="对象 12298"/>
          <p:cNvGraphicFramePr>
            <a:graphicFrameLocks noChangeAspect="1"/>
          </p:cNvGraphicFramePr>
          <p:nvPr/>
        </p:nvGraphicFramePr>
        <p:xfrm>
          <a:off x="3647758" y="2671128"/>
          <a:ext cx="1150937" cy="738187"/>
        </p:xfrm>
        <a:graphic>
          <a:graphicData uri="http://schemas.openxmlformats.org/presentationml/2006/ole">
            <mc:AlternateContent xmlns:mc="http://schemas.openxmlformats.org/markup-compatibility/2006">
              <mc:Choice xmlns:v="urn:schemas-microsoft-com:vml" Requires="v">
                <p:oleObj spid="_x0000_s4" name="" r:id="rId17" imgW="572135" imgH="368935" progId="Equation.3">
                  <p:embed/>
                </p:oleObj>
              </mc:Choice>
              <mc:Fallback>
                <p:oleObj name="" r:id="rId17" imgW="572135" imgH="368935" progId="Equation.3">
                  <p:embed/>
                  <p:pic>
                    <p:nvPicPr>
                      <p:cNvPr id="0" name="图片 3100"/>
                      <p:cNvPicPr/>
                      <p:nvPr/>
                    </p:nvPicPr>
                    <p:blipFill>
                      <a:blip r:embed="rId18"/>
                      <a:stretch>
                        <a:fillRect/>
                      </a:stretch>
                    </p:blipFill>
                    <p:spPr>
                      <a:xfrm>
                        <a:off x="3647758" y="2671128"/>
                        <a:ext cx="1150937" cy="738187"/>
                      </a:xfrm>
                      <a:prstGeom prst="rect">
                        <a:avLst/>
                      </a:prstGeom>
                      <a:noFill/>
                      <a:ln w="38100">
                        <a:noFill/>
                        <a:miter/>
                      </a:ln>
                    </p:spPr>
                  </p:pic>
                </p:oleObj>
              </mc:Fallback>
            </mc:AlternateContent>
          </a:graphicData>
        </a:graphic>
      </p:graphicFrame>
      <p:graphicFrame>
        <p:nvGraphicFramePr>
          <p:cNvPr id="12301" name="对象 12300"/>
          <p:cNvGraphicFramePr>
            <a:graphicFrameLocks noChangeAspect="1"/>
          </p:cNvGraphicFramePr>
          <p:nvPr/>
        </p:nvGraphicFramePr>
        <p:xfrm>
          <a:off x="2674938" y="2838450"/>
          <a:ext cx="788987" cy="403225"/>
        </p:xfrm>
        <a:graphic>
          <a:graphicData uri="http://schemas.openxmlformats.org/presentationml/2006/ole">
            <mc:AlternateContent xmlns:mc="http://schemas.openxmlformats.org/markup-compatibility/2006">
              <mc:Choice xmlns:v="urn:schemas-microsoft-com:vml" Requires="v">
                <p:oleObj spid="_x0000_s3106" name="" r:id="rId19" imgW="394335" imgH="203835" progId="Equation.3">
                  <p:embed/>
                </p:oleObj>
              </mc:Choice>
              <mc:Fallback>
                <p:oleObj name="" r:id="rId19" imgW="394335" imgH="203835" progId="Equation.3">
                  <p:embed/>
                  <p:pic>
                    <p:nvPicPr>
                      <p:cNvPr id="0" name="图片 3105"/>
                      <p:cNvPicPr/>
                      <p:nvPr/>
                    </p:nvPicPr>
                    <p:blipFill>
                      <a:blip r:embed="rId20"/>
                      <a:stretch>
                        <a:fillRect/>
                      </a:stretch>
                    </p:blipFill>
                    <p:spPr>
                      <a:xfrm>
                        <a:off x="2674938" y="2838450"/>
                        <a:ext cx="788987" cy="403225"/>
                      </a:xfrm>
                      <a:prstGeom prst="rect">
                        <a:avLst/>
                      </a:prstGeom>
                      <a:noFill/>
                      <a:ln w="38100">
                        <a:noFill/>
                        <a:miter/>
                      </a:ln>
                    </p:spPr>
                  </p:pic>
                </p:oleObj>
              </mc:Fallback>
            </mc:AlternateContent>
          </a:graphicData>
        </a:graphic>
      </p:graphicFrame>
      <p:grpSp>
        <p:nvGrpSpPr>
          <p:cNvPr id="5" name="组合 4"/>
          <p:cNvGrpSpPr/>
          <p:nvPr/>
        </p:nvGrpSpPr>
        <p:grpSpPr>
          <a:xfrm>
            <a:off x="766128" y="3562668"/>
            <a:ext cx="3781425" cy="885825"/>
            <a:chOff x="-434" y="-80"/>
            <a:chExt cx="2382" cy="558"/>
          </a:xfrm>
        </p:grpSpPr>
        <p:graphicFrame>
          <p:nvGraphicFramePr>
            <p:cNvPr id="6" name="对象 16403"/>
            <p:cNvGraphicFramePr>
              <a:graphicFrameLocks noChangeAspect="1"/>
            </p:cNvGraphicFramePr>
            <p:nvPr/>
          </p:nvGraphicFramePr>
          <p:xfrm>
            <a:off x="388" y="-80"/>
            <a:ext cx="1560" cy="558"/>
          </p:xfrm>
          <a:graphic>
            <a:graphicData uri="http://schemas.openxmlformats.org/presentationml/2006/ole">
              <mc:AlternateContent xmlns:mc="http://schemas.openxmlformats.org/markup-compatibility/2006">
                <mc:Choice xmlns:v="urn:schemas-microsoft-com:vml" Requires="v">
                  <p:oleObj spid="_x0000_s7" name="" r:id="rId21" imgW="1231265" imgH="444500" progId="Equation.3">
                    <p:embed/>
                  </p:oleObj>
                </mc:Choice>
                <mc:Fallback>
                  <p:oleObj name="" r:id="rId21" imgW="1231265" imgH="444500" progId="Equation.3">
                    <p:embed/>
                    <p:pic>
                      <p:nvPicPr>
                        <p:cNvPr id="0" name="图片 3094"/>
                        <p:cNvPicPr/>
                        <p:nvPr/>
                      </p:nvPicPr>
                      <p:blipFill>
                        <a:blip r:embed="rId22"/>
                        <a:stretch>
                          <a:fillRect/>
                        </a:stretch>
                      </p:blipFill>
                      <p:spPr>
                        <a:xfrm>
                          <a:off x="388" y="-80"/>
                          <a:ext cx="1560" cy="558"/>
                        </a:xfrm>
                        <a:prstGeom prst="rect">
                          <a:avLst/>
                        </a:prstGeom>
                        <a:noFill/>
                        <a:ln w="38100">
                          <a:noFill/>
                          <a:miter/>
                        </a:ln>
                      </p:spPr>
                    </p:pic>
                  </p:oleObj>
                </mc:Fallback>
              </mc:AlternateContent>
            </a:graphicData>
          </a:graphic>
        </p:graphicFrame>
        <p:sp>
          <p:nvSpPr>
            <p:cNvPr id="8" name="矩形 16404"/>
            <p:cNvSpPr/>
            <p:nvPr/>
          </p:nvSpPr>
          <p:spPr>
            <a:xfrm>
              <a:off x="-434" y="0"/>
              <a:ext cx="864" cy="336"/>
            </a:xfrm>
            <a:prstGeom prst="rect">
              <a:avLst/>
            </a:prstGeom>
            <a:noFill/>
            <a:ln w="9525">
              <a:noFill/>
            </a:ln>
          </p:spPr>
          <p:txBody>
            <a:bodyPr anchor="t" anchorCtr="0">
              <a:spAutoFit/>
            </a:bodyPr>
            <a:p>
              <a:pPr marL="342900" indent="-342900" algn="just">
                <a:lnSpc>
                  <a:spcPct val="120000"/>
                </a:lnSpc>
                <a:buFont typeface="Wingdings" panose="05000000000000000000" charset="0"/>
                <a:buChar char="u"/>
              </a:pPr>
              <a:r>
                <a:rPr lang="zh-CN" altLang="en-US" sz="2400" b="1">
                  <a:solidFill>
                    <a:srgbClr val="000000"/>
                  </a:solidFill>
                  <a:latin typeface="Times New Roman" panose="02020603050405020304" pitchFamily="2" charset="0"/>
                  <a:ea typeface="楷体_GB2312" pitchFamily="1" charset="-122"/>
                </a:rPr>
                <a:t>起振：</a:t>
              </a:r>
              <a:endParaRPr lang="zh-CN" altLang="en-US" sz="2400" b="1">
                <a:solidFill>
                  <a:srgbClr val="000000"/>
                </a:solidFill>
                <a:latin typeface="Times New Roman" panose="02020603050405020304" pitchFamily="2" charset="0"/>
                <a:ea typeface="楷体_GB2312" pitchFamily="1" charset="-122"/>
              </a:endParaRPr>
            </a:p>
          </p:txBody>
        </p:sp>
      </p:grpSp>
      <p:sp>
        <p:nvSpPr>
          <p:cNvPr id="9" name="椭圆形标注 16413"/>
          <p:cNvSpPr/>
          <p:nvPr/>
        </p:nvSpPr>
        <p:spPr>
          <a:xfrm>
            <a:off x="10655300" y="551377"/>
            <a:ext cx="1536700" cy="517766"/>
          </a:xfrm>
          <a:prstGeom prst="wedgeEllipseCallout">
            <a:avLst>
              <a:gd name="adj1" fmla="val -92768"/>
              <a:gd name="adj2" fmla="val 145123"/>
            </a:avLst>
          </a:prstGeom>
          <a:solidFill>
            <a:srgbClr val="CCFFCC"/>
          </a:solidFill>
          <a:ln w="6350" cap="flat" cmpd="sng">
            <a:solidFill>
              <a:schemeClr val="tx1"/>
            </a:solidFill>
            <a:prstDash val="solid"/>
            <a:miter/>
            <a:headEnd type="none" w="med" len="med"/>
            <a:tailEnd type="none" w="med" len="med"/>
          </a:ln>
        </p:spPr>
        <p:txBody>
          <a:bodyPr wrap="square" lIns="0" tIns="72000" rIns="0" bIns="72000" anchor="ctr" anchorCtr="0">
            <a:spAutoFit/>
          </a:bodyPr>
          <a:p>
            <a:pPr algn="ctr" eaLnBrk="0" hangingPunct="0">
              <a:lnSpc>
                <a:spcPct val="80000"/>
              </a:lnSpc>
              <a:spcBef>
                <a:spcPct val="50000"/>
              </a:spcBef>
            </a:pPr>
            <a:r>
              <a:rPr lang="zh-CN" altLang="en-US" b="1">
                <a:solidFill>
                  <a:srgbClr val="FF0000"/>
                </a:solidFill>
                <a:latin typeface="Verdana" panose="020B0604030504040204" pitchFamily="2" charset="0"/>
                <a:ea typeface="楷体_GB2312" pitchFamily="1" charset="-122"/>
              </a:rPr>
              <a:t>稳幅环节</a:t>
            </a:r>
            <a:endParaRPr lang="zh-CN" altLang="en-US" b="1">
              <a:solidFill>
                <a:srgbClr val="FF0000"/>
              </a:solidFill>
              <a:latin typeface="Verdana" panose="020B0604030504040204" pitchFamily="2" charset="0"/>
              <a:ea typeface="楷体_GB2312" pitchFamily="1" charset="-122"/>
            </a:endParaRPr>
          </a:p>
        </p:txBody>
      </p:sp>
      <p:sp>
        <p:nvSpPr>
          <p:cNvPr id="10" name="文本框 9"/>
          <p:cNvSpPr txBox="1"/>
          <p:nvPr/>
        </p:nvSpPr>
        <p:spPr>
          <a:xfrm>
            <a:off x="765175" y="916940"/>
            <a:ext cx="2037715" cy="460375"/>
          </a:xfrm>
          <a:prstGeom prst="rect">
            <a:avLst/>
          </a:prstGeom>
          <a:noFill/>
        </p:spPr>
        <p:txBody>
          <a:bodyPr wrap="none" rtlCol="0">
            <a:spAutoFit/>
          </a:bodyPr>
          <a:p>
            <a:pPr marL="342900" indent="-342900">
              <a:buFont typeface="Wingdings" panose="05000000000000000000" charset="0"/>
              <a:buChar char="u"/>
            </a:pPr>
            <a:r>
              <a:rPr lang="zh-CN" altLang="en-US" sz="2400" b="1"/>
              <a:t>反馈网络</a:t>
            </a:r>
            <a:r>
              <a:rPr lang="en-US" altLang="zh-CN" sz="2400" b="1">
                <a:latin typeface="+mn-lt"/>
                <a:cs typeface="+mn-lt"/>
              </a:rPr>
              <a:t>F:</a:t>
            </a:r>
            <a:endParaRPr lang="en-US" altLang="zh-CN" sz="2400" b="1">
              <a:latin typeface="+mn-lt"/>
              <a:cs typeface="+mn-lt"/>
            </a:endParaRPr>
          </a:p>
        </p:txBody>
      </p:sp>
      <p:grpSp>
        <p:nvGrpSpPr>
          <p:cNvPr id="20" name="组合 19"/>
          <p:cNvGrpSpPr/>
          <p:nvPr/>
        </p:nvGrpSpPr>
        <p:grpSpPr>
          <a:xfrm>
            <a:off x="4550410" y="3689985"/>
            <a:ext cx="1649095" cy="502285"/>
            <a:chOff x="7166" y="6263"/>
            <a:chExt cx="2597" cy="791"/>
          </a:xfrm>
        </p:grpSpPr>
        <p:graphicFrame>
          <p:nvGraphicFramePr>
            <p:cNvPr id="11" name="对象 16396"/>
            <p:cNvGraphicFramePr>
              <a:graphicFrameLocks noChangeAspect="1"/>
            </p:cNvGraphicFramePr>
            <p:nvPr/>
          </p:nvGraphicFramePr>
          <p:xfrm>
            <a:off x="7789" y="6340"/>
            <a:ext cx="1974" cy="715"/>
          </p:xfrm>
          <a:graphic>
            <a:graphicData uri="http://schemas.openxmlformats.org/presentationml/2006/ole">
              <mc:AlternateContent xmlns:mc="http://schemas.openxmlformats.org/markup-compatibility/2006">
                <mc:Choice xmlns:v="urn:schemas-microsoft-com:vml" Requires="v">
                  <p:oleObj spid="_x0000_s12" name="" r:id="rId23" imgW="622300" imgH="228600" progId="Equation.3">
                    <p:embed/>
                  </p:oleObj>
                </mc:Choice>
                <mc:Fallback>
                  <p:oleObj name="" r:id="rId23" imgW="622300" imgH="228600" progId="Equation.3">
                    <p:embed/>
                    <p:pic>
                      <p:nvPicPr>
                        <p:cNvPr id="0" name="图片 3097"/>
                        <p:cNvPicPr/>
                        <p:nvPr/>
                      </p:nvPicPr>
                      <p:blipFill>
                        <a:blip r:embed="rId24"/>
                        <a:stretch>
                          <a:fillRect/>
                        </a:stretch>
                      </p:blipFill>
                      <p:spPr>
                        <a:xfrm>
                          <a:off x="7789" y="6340"/>
                          <a:ext cx="1974" cy="715"/>
                        </a:xfrm>
                        <a:prstGeom prst="rect">
                          <a:avLst/>
                        </a:prstGeom>
                        <a:noFill/>
                        <a:ln w="38100">
                          <a:noFill/>
                          <a:miter/>
                        </a:ln>
                      </p:spPr>
                    </p:pic>
                  </p:oleObj>
                </mc:Fallback>
              </mc:AlternateContent>
            </a:graphicData>
          </a:graphic>
        </p:graphicFrame>
        <p:sp>
          <p:nvSpPr>
            <p:cNvPr id="13" name="文本框 12"/>
            <p:cNvSpPr txBox="1"/>
            <p:nvPr/>
          </p:nvSpPr>
          <p:spPr>
            <a:xfrm>
              <a:off x="7166" y="6263"/>
              <a:ext cx="768" cy="725"/>
            </a:xfrm>
            <a:prstGeom prst="rect">
              <a:avLst/>
            </a:prstGeom>
            <a:noFill/>
          </p:spPr>
          <p:txBody>
            <a:bodyPr wrap="none" rtlCol="0">
              <a:spAutoFit/>
            </a:bodyPr>
            <a:p>
              <a:r>
                <a:rPr lang="zh-CN" altLang="en-US" sz="2400" b="1">
                  <a:solidFill>
                    <a:srgbClr val="FF0000"/>
                  </a:solidFill>
                  <a:latin typeface="+mn-ea"/>
                  <a:ea typeface="+mn-ea"/>
                </a:rPr>
                <a:t>即</a:t>
              </a:r>
              <a:endParaRPr lang="zh-CN" altLang="en-US" sz="2400" b="1">
                <a:solidFill>
                  <a:srgbClr val="FF0000"/>
                </a:solidFill>
                <a:latin typeface="+mn-ea"/>
                <a:ea typeface="+mn-ea"/>
              </a:endParaRPr>
            </a:p>
          </p:txBody>
        </p:sp>
      </p:grpSp>
      <p:sp>
        <p:nvSpPr>
          <p:cNvPr id="14" name="矩形 16412"/>
          <p:cNvSpPr/>
          <p:nvPr/>
        </p:nvSpPr>
        <p:spPr>
          <a:xfrm>
            <a:off x="8313420" y="692150"/>
            <a:ext cx="1725295" cy="1369695"/>
          </a:xfrm>
          <a:prstGeom prst="rect">
            <a:avLst/>
          </a:prstGeom>
          <a:noFill/>
          <a:ln w="25400" cap="flat" cmpd="sng">
            <a:solidFill>
              <a:srgbClr val="FF0000"/>
            </a:solidFill>
            <a:prstDash val="dash"/>
            <a:miter/>
            <a:headEnd type="none" w="med" len="med"/>
            <a:tailEnd type="none" w="med" len="med"/>
          </a:ln>
        </p:spPr>
        <p:txBody>
          <a:bodyPr anchor="t" anchorCtr="0"/>
          <a:p>
            <a:endParaRPr lang="zh-CN" altLang="en-US">
              <a:latin typeface="Verdana" panose="020B0604030504040204" pitchFamily="2" charset="0"/>
              <a:ea typeface="宋体" panose="02010600030101010101" pitchFamily="2" charset="-122"/>
            </a:endParaRPr>
          </a:p>
        </p:txBody>
      </p:sp>
      <p:sp>
        <p:nvSpPr>
          <p:cNvPr id="15" name="圆角矩形 14"/>
          <p:cNvSpPr/>
          <p:nvPr/>
        </p:nvSpPr>
        <p:spPr>
          <a:xfrm>
            <a:off x="7311390" y="824230"/>
            <a:ext cx="890905" cy="2393315"/>
          </a:xfrm>
          <a:prstGeom prst="roundRect">
            <a:avLst/>
          </a:prstGeom>
          <a:noFill/>
          <a:ln w="12700" cmpd="sng">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16" name="圆角矩形 15"/>
          <p:cNvSpPr/>
          <p:nvPr/>
        </p:nvSpPr>
        <p:spPr>
          <a:xfrm>
            <a:off x="6941185" y="3265805"/>
            <a:ext cx="2007235" cy="2111375"/>
          </a:xfrm>
          <a:prstGeom prst="roundRect">
            <a:avLst/>
          </a:prstGeom>
          <a:noFill/>
          <a:ln w="12700" cmpd="sng">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23558" name="文本框 4"/>
          <p:cNvSpPr txBox="1"/>
          <p:nvPr/>
        </p:nvSpPr>
        <p:spPr>
          <a:xfrm>
            <a:off x="6599238" y="692150"/>
            <a:ext cx="586105" cy="583565"/>
          </a:xfrm>
          <a:prstGeom prst="rect">
            <a:avLst/>
          </a:prstGeom>
          <a:noFill/>
          <a:ln w="9525">
            <a:noFill/>
          </a:ln>
        </p:spPr>
        <p:txBody>
          <a:bodyPr wrap="none" anchor="t" anchorCtr="0">
            <a:spAutoFit/>
          </a:bodyPr>
          <a:p>
            <a:r>
              <a:rPr lang="en-US" altLang="zh-CN" sz="3200" b="1" dirty="0">
                <a:latin typeface="Times New Roman" panose="02020603050405020304" pitchFamily="2" charset="0"/>
                <a:ea typeface="宋体" panose="02010600030101010101" pitchFamily="2" charset="-122"/>
                <a:cs typeface="Times New Roman" panose="02020603050405020304" pitchFamily="2" charset="0"/>
              </a:rPr>
              <a:t>Z</a:t>
            </a:r>
            <a:r>
              <a:rPr lang="en-US" altLang="zh-CN" sz="3200" b="1" baseline="-25000" dirty="0">
                <a:latin typeface="Times New Roman" panose="02020603050405020304" pitchFamily="2" charset="0"/>
                <a:ea typeface="宋体" panose="02010600030101010101" pitchFamily="2" charset="-122"/>
                <a:cs typeface="Times New Roman" panose="02020603050405020304" pitchFamily="2" charset="0"/>
              </a:rPr>
              <a:t>1</a:t>
            </a:r>
            <a:endParaRPr lang="en-US" altLang="zh-CN" sz="3200" b="1" baseline="-25000" dirty="0">
              <a:latin typeface="Times New Roman" panose="02020603050405020304" pitchFamily="2" charset="0"/>
              <a:ea typeface="宋体" panose="02010600030101010101" pitchFamily="2" charset="-122"/>
              <a:cs typeface="Times New Roman" panose="02020603050405020304" pitchFamily="2" charset="0"/>
            </a:endParaRPr>
          </a:p>
        </p:txBody>
      </p:sp>
      <p:sp>
        <p:nvSpPr>
          <p:cNvPr id="23559" name="文本框 5"/>
          <p:cNvSpPr txBox="1"/>
          <p:nvPr/>
        </p:nvSpPr>
        <p:spPr>
          <a:xfrm>
            <a:off x="6456045" y="2924493"/>
            <a:ext cx="586105" cy="583565"/>
          </a:xfrm>
          <a:prstGeom prst="rect">
            <a:avLst/>
          </a:prstGeom>
          <a:noFill/>
          <a:ln w="9525">
            <a:noFill/>
          </a:ln>
        </p:spPr>
        <p:txBody>
          <a:bodyPr wrap="none" anchor="t" anchorCtr="0">
            <a:spAutoFit/>
          </a:bodyPr>
          <a:p>
            <a:r>
              <a:rPr lang="en-US" altLang="zh-CN" sz="3200" b="1" dirty="0">
                <a:latin typeface="Times New Roman" panose="02020603050405020304" pitchFamily="2" charset="0"/>
                <a:ea typeface="宋体" panose="02010600030101010101" pitchFamily="2" charset="-122"/>
                <a:cs typeface="Times New Roman" panose="02020603050405020304" pitchFamily="2" charset="0"/>
                <a:sym typeface="宋体" panose="02010600030101010101" pitchFamily="2" charset="-122"/>
              </a:rPr>
              <a:t>Z</a:t>
            </a:r>
            <a:r>
              <a:rPr lang="en-US" altLang="zh-CN" sz="3200" b="1" baseline="-25000" dirty="0">
                <a:latin typeface="Times New Roman" panose="02020603050405020304" pitchFamily="2" charset="0"/>
                <a:ea typeface="宋体" panose="02010600030101010101" pitchFamily="2" charset="-122"/>
                <a:cs typeface="Times New Roman" panose="02020603050405020304" pitchFamily="2" charset="0"/>
                <a:sym typeface="宋体" panose="02010600030101010101" pitchFamily="2" charset="-122"/>
              </a:rPr>
              <a:t>2</a:t>
            </a:r>
            <a:endParaRPr lang="en-US" altLang="zh-CN" sz="3200" b="1" baseline="-25000" dirty="0">
              <a:latin typeface="Times New Roman" panose="02020603050405020304" pitchFamily="2" charset="0"/>
              <a:ea typeface="宋体" panose="02010600030101010101" pitchFamily="2" charset="-122"/>
              <a:cs typeface="Times New Roman" panose="02020603050405020304" pitchFamily="2" charset="0"/>
              <a:sym typeface="宋体" panose="02010600030101010101" pitchFamily="2" charset="-122"/>
            </a:endParaRPr>
          </a:p>
        </p:txBody>
      </p:sp>
      <p:graphicFrame>
        <p:nvGraphicFramePr>
          <p:cNvPr id="17" name="内容占位符 17410"/>
          <p:cNvGraphicFramePr>
            <a:graphicFrameLocks noGrp="1" noChangeAspect="1"/>
          </p:cNvGraphicFramePr>
          <p:nvPr/>
        </p:nvGraphicFramePr>
        <p:xfrm>
          <a:off x="6683375" y="926465"/>
          <a:ext cx="5241925" cy="4356100"/>
        </p:xfrm>
        <a:graphic>
          <a:graphicData uri="http://schemas.openxmlformats.org/presentationml/2006/ole">
            <mc:AlternateContent xmlns:mc="http://schemas.openxmlformats.org/markup-compatibility/2006">
              <mc:Choice xmlns:v="urn:schemas-microsoft-com:vml" Requires="v">
                <p:oleObj spid="_x0000_s18" name="" r:id="rId25" imgW="2390775" imgH="1905000" progId="WPS.Doc.6">
                  <p:embed/>
                </p:oleObj>
              </mc:Choice>
              <mc:Fallback>
                <p:oleObj name="" r:id="rId25" imgW="2390775" imgH="1905000" progId="WPS.Doc.6">
                  <p:embed/>
                  <p:pic>
                    <p:nvPicPr>
                      <p:cNvPr id="0" name="图片 3100"/>
                      <p:cNvPicPr/>
                      <p:nvPr/>
                    </p:nvPicPr>
                    <p:blipFill>
                      <a:blip r:embed="rId26"/>
                      <a:stretch>
                        <a:fillRect/>
                      </a:stretch>
                    </p:blipFill>
                    <p:spPr>
                      <a:xfrm>
                        <a:off x="6683375" y="926465"/>
                        <a:ext cx="5241925" cy="4356100"/>
                      </a:xfrm>
                      <a:prstGeom prst="rect">
                        <a:avLst/>
                      </a:prstGeom>
                      <a:noFill/>
                      <a:ln w="38100">
                        <a:noFill/>
                        <a:miter/>
                      </a:ln>
                    </p:spPr>
                  </p:pic>
                </p:oleObj>
              </mc:Fallback>
            </mc:AlternateContent>
          </a:graphicData>
        </a:graphic>
      </p:graphicFrame>
      <p:sp>
        <p:nvSpPr>
          <p:cNvPr id="19" name="文本框 4"/>
          <p:cNvSpPr txBox="1"/>
          <p:nvPr/>
        </p:nvSpPr>
        <p:spPr>
          <a:xfrm>
            <a:off x="986155" y="1536700"/>
            <a:ext cx="1948815" cy="460375"/>
          </a:xfrm>
          <a:prstGeom prst="rect">
            <a:avLst/>
          </a:prstGeom>
          <a:noFill/>
          <a:ln w="9525">
            <a:noFill/>
          </a:ln>
        </p:spPr>
        <p:txBody>
          <a:bodyPr wrap="square" anchor="t" anchorCtr="0">
            <a:spAutoFit/>
          </a:bodyPr>
          <a:p>
            <a:pPr algn="l"/>
            <a:r>
              <a:rPr lang="en-US" altLang="zh-CN" sz="2400" b="1" dirty="0">
                <a:latin typeface="Times New Roman" panose="02020603050405020304" pitchFamily="2" charset="0"/>
                <a:ea typeface="宋体" panose="02010600030101010101" pitchFamily="2" charset="-122"/>
                <a:cs typeface="Times New Roman" panose="02020603050405020304" pitchFamily="2" charset="0"/>
              </a:rPr>
              <a:t>(Z</a:t>
            </a:r>
            <a:r>
              <a:rPr lang="en-US" altLang="zh-CN" sz="2400" b="1" baseline="-25000" dirty="0">
                <a:latin typeface="Times New Roman" panose="02020603050405020304" pitchFamily="2" charset="0"/>
                <a:ea typeface="宋体" panose="02010600030101010101" pitchFamily="2" charset="-122"/>
                <a:cs typeface="Times New Roman" panose="02020603050405020304" pitchFamily="2" charset="0"/>
              </a:rPr>
              <a:t>1</a:t>
            </a:r>
            <a:r>
              <a:rPr lang="zh-CN" altLang="en-US" sz="2400" b="1" dirty="0">
                <a:latin typeface="Times New Roman" panose="02020603050405020304" pitchFamily="2" charset="0"/>
                <a:ea typeface="宋体" panose="02010600030101010101" pitchFamily="2" charset="-122"/>
                <a:cs typeface="Times New Roman" panose="02020603050405020304" pitchFamily="2" charset="0"/>
              </a:rPr>
              <a:t>和</a:t>
            </a:r>
            <a:r>
              <a:rPr lang="en-US" altLang="zh-CN" sz="2400" b="1" dirty="0">
                <a:latin typeface="Times New Roman" panose="02020603050405020304" pitchFamily="2" charset="0"/>
                <a:cs typeface="Times New Roman" panose="02020603050405020304" pitchFamily="2" charset="0"/>
                <a:sym typeface="宋体" panose="02010600030101010101" pitchFamily="2" charset="-122"/>
              </a:rPr>
              <a:t>Z</a:t>
            </a:r>
            <a:r>
              <a:rPr lang="en-US" altLang="zh-CN" sz="2400" b="1" baseline="-25000" dirty="0">
                <a:latin typeface="Times New Roman" panose="02020603050405020304" pitchFamily="2" charset="0"/>
                <a:cs typeface="Times New Roman" panose="02020603050405020304" pitchFamily="2" charset="0"/>
                <a:sym typeface="宋体" panose="02010600030101010101" pitchFamily="2" charset="-122"/>
              </a:rPr>
              <a:t>2</a:t>
            </a:r>
            <a:r>
              <a:rPr lang="zh-CN" altLang="en-US" sz="2400" b="1" dirty="0">
                <a:latin typeface="Times New Roman" panose="02020603050405020304" pitchFamily="2" charset="0"/>
                <a:ea typeface="宋体" panose="02010600030101010101" pitchFamily="2" charset="-122"/>
                <a:cs typeface="Times New Roman" panose="02020603050405020304" pitchFamily="2" charset="0"/>
              </a:rPr>
              <a:t>串联</a:t>
            </a:r>
            <a:r>
              <a:rPr lang="en-US" altLang="zh-CN" sz="2400" b="1" dirty="0">
                <a:latin typeface="Times New Roman" panose="02020603050405020304" pitchFamily="2" charset="0"/>
                <a:ea typeface="宋体" panose="02010600030101010101" pitchFamily="2" charset="-122"/>
                <a:cs typeface="Times New Roman" panose="02020603050405020304" pitchFamily="2" charset="0"/>
              </a:rPr>
              <a:t>)</a:t>
            </a:r>
            <a:endParaRPr lang="en-US" altLang="zh-CN" sz="2400" b="1" dirty="0">
              <a:latin typeface="Times New Roman" panose="02020603050405020304" pitchFamily="2" charset="0"/>
              <a:ea typeface="宋体" panose="02010600030101010101" pitchFamily="2" charset="-122"/>
              <a:cs typeface="Times New Roman" panose="02020603050405020304" pitchFamily="2" charset="0"/>
            </a:endParaRPr>
          </a:p>
        </p:txBody>
      </p:sp>
      <p:sp>
        <p:nvSpPr>
          <p:cNvPr id="23553" name="标题 17409"/>
          <p:cNvSpPr>
            <a:spLocks noGrp="1"/>
          </p:cNvSpPr>
          <p:nvPr/>
        </p:nvSpPr>
        <p:spPr>
          <a:xfrm>
            <a:off x="648970" y="-167005"/>
            <a:ext cx="7228840" cy="751840"/>
          </a:xfrm>
        </p:spPr>
        <p:txBody>
          <a:bodyPr anchor="b" anchorCtr="0"/>
          <a:lstStyle>
            <a:lvl1pPr marL="0" lvl="0" indent="0" algn="l" defTabSz="914400" eaLnBrk="0" fontAlgn="base" latinLnBrk="0" hangingPunct="0">
              <a:lnSpc>
                <a:spcPct val="100000"/>
              </a:lnSpc>
              <a:spcBef>
                <a:spcPct val="0"/>
              </a:spcBef>
              <a:spcAft>
                <a:spcPct val="0"/>
              </a:spcAft>
              <a:buNone/>
              <a:defRPr sz="3800" b="1" i="0" u="none" kern="1200" baseline="0">
                <a:solidFill>
                  <a:schemeClr val="tx2"/>
                </a:solidFill>
                <a:latin typeface="+mj-lt"/>
                <a:ea typeface="+mj-ea"/>
                <a:cs typeface="+mj-cs"/>
              </a:defRPr>
            </a:lvl1pPr>
          </a:lstStyle>
          <a:p>
            <a:r>
              <a:rPr lang="zh-CN" altLang="en-US" sz="2800">
                <a:solidFill>
                  <a:schemeClr val="tx1"/>
                </a:solidFill>
              </a:rPr>
              <a:t>二</a:t>
            </a:r>
            <a:r>
              <a:rPr lang="en-US" altLang="zh-CN" sz="2800">
                <a:solidFill>
                  <a:schemeClr val="tx1"/>
                </a:solidFill>
              </a:rPr>
              <a:t> </a:t>
            </a:r>
            <a:r>
              <a:rPr lang="zh-CN" altLang="en-US" sz="2800">
                <a:solidFill>
                  <a:schemeClr val="tx1"/>
                </a:solidFill>
              </a:rPr>
              <a:t>实验内容</a:t>
            </a:r>
            <a:r>
              <a:rPr lang="en-US" altLang="zh-CN" sz="2800">
                <a:solidFill>
                  <a:schemeClr val="tx1"/>
                </a:solidFill>
              </a:rPr>
              <a:t>&lt;&lt;</a:t>
            </a:r>
            <a:r>
              <a:rPr lang="en-US" altLang="zh-CN" sz="2800">
                <a:solidFill>
                  <a:srgbClr val="FF0000"/>
                </a:solidFill>
                <a:sym typeface="+mn-ea"/>
              </a:rPr>
              <a:t> </a:t>
            </a:r>
            <a:r>
              <a:rPr lang="en-US" altLang="zh-CN" sz="3200">
                <a:solidFill>
                  <a:srgbClr val="FF0000"/>
                </a:solidFill>
                <a:sym typeface="+mn-ea"/>
              </a:rPr>
              <a:t> 1 </a:t>
            </a:r>
            <a:r>
              <a:rPr lang="zh-CN" altLang="en-US" sz="3200">
                <a:solidFill>
                  <a:srgbClr val="FF0000"/>
                </a:solidFill>
                <a:latin typeface="微软雅黑" panose="020B0503020204020204" charset="-122"/>
                <a:ea typeface="微软雅黑" panose="020B0503020204020204" charset="-122"/>
                <a:cs typeface="微软雅黑" panose="020B0503020204020204" charset="-122"/>
                <a:sym typeface="+mn-ea"/>
              </a:rPr>
              <a:t>电路结构</a:t>
            </a:r>
            <a:endParaRPr lang="zh-CN" altLang="en-US" sz="3200" dirty="0">
              <a:solidFill>
                <a:srgbClr val="FF0000"/>
              </a:solidFill>
              <a:latin typeface="微软雅黑" panose="020B0503020204020204" charset="-122"/>
              <a:ea typeface="微软雅黑" panose="020B0503020204020204" charset="-122"/>
              <a:cs typeface="微软雅黑" panose="020B0503020204020204" charset="-122"/>
              <a:sym typeface="+mn-ea"/>
            </a:endParaRPr>
          </a:p>
        </p:txBody>
      </p:sp>
      <p:graphicFrame>
        <p:nvGraphicFramePr>
          <p:cNvPr id="1060873" name="Object 9"/>
          <p:cNvGraphicFramePr>
            <a:graphicFrameLocks noChangeAspect="1"/>
          </p:cNvGraphicFramePr>
          <p:nvPr/>
        </p:nvGraphicFramePr>
        <p:xfrm>
          <a:off x="9984105" y="4292600"/>
          <a:ext cx="1195691" cy="648000"/>
        </p:xfrm>
        <a:graphic>
          <a:graphicData uri="http://schemas.openxmlformats.org/presentationml/2006/ole">
            <mc:AlternateContent xmlns:mc="http://schemas.openxmlformats.org/markup-compatibility/2006">
              <mc:Choice xmlns:v="urn:schemas-microsoft-com:vml" Requires="v">
                <p:oleObj spid="_x0000_s795685" name="" r:id="rId27" imgW="419100" imgH="228600" progId="Equation.DSMT4">
                  <p:embed/>
                </p:oleObj>
              </mc:Choice>
              <mc:Fallback>
                <p:oleObj name="" r:id="rId27" imgW="419100" imgH="228600" progId="Equation.DSMT4">
                  <p:embed/>
                  <p:pic>
                    <p:nvPicPr>
                      <p:cNvPr id="0" name="图片 3191"/>
                      <p:cNvPicPr/>
                      <p:nvPr/>
                    </p:nvPicPr>
                    <p:blipFill>
                      <a:blip r:embed="rId28"/>
                      <a:stretch>
                        <a:fillRect/>
                      </a:stretch>
                    </p:blipFill>
                    <p:spPr>
                      <a:xfrm>
                        <a:off x="9984105" y="4292600"/>
                        <a:ext cx="1195691" cy="648000"/>
                      </a:xfrm>
                      <a:prstGeom prst="rect">
                        <a:avLst/>
                      </a:prstGeom>
                      <a:solidFill>
                        <a:schemeClr val="accent2"/>
                      </a:solid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60873"/>
                                        </p:tgtEl>
                                        <p:attrNameLst>
                                          <p:attrName>style.visibility</p:attrName>
                                        </p:attrNameLst>
                                      </p:cBhvr>
                                      <p:to>
                                        <p:strVal val="visible"/>
                                      </p:to>
                                    </p:set>
                                    <p:animEffect transition="in" filter="wipe(left)">
                                      <p:cBhvr>
                                        <p:cTn id="7" dur="500"/>
                                        <p:tgtEl>
                                          <p:spTgt spid="1060873"/>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11279"/>
                                        </p:tgtEl>
                                        <p:attrNameLst>
                                          <p:attrName>style.visibility</p:attrName>
                                        </p:attrNameLst>
                                      </p:cBhvr>
                                      <p:to>
                                        <p:strVal val="visible"/>
                                      </p:to>
                                    </p:set>
                                    <p:animEffect transition="in" filter="strips(downRight)">
                                      <p:cBhvr>
                                        <p:cTn id="12" dur="500"/>
                                        <p:tgtEl>
                                          <p:spTgt spid="11279"/>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12296"/>
                                        </p:tgtEl>
                                        <p:attrNameLst>
                                          <p:attrName>style.visibility</p:attrName>
                                        </p:attrNameLst>
                                      </p:cBhvr>
                                      <p:to>
                                        <p:strVal val="visible"/>
                                      </p:to>
                                    </p:set>
                                    <p:animEffect transition="in" filter="strips(downRight)">
                                      <p:cBhvr>
                                        <p:cTn id="17" dur="500"/>
                                        <p:tgtEl>
                                          <p:spTgt spid="12296"/>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nodeType="clickEffect">
                                  <p:stCondLst>
                                    <p:cond delay="0"/>
                                  </p:stCondLst>
                                  <p:childTnLst>
                                    <p:set>
                                      <p:cBhvr>
                                        <p:cTn id="21" dur="1" fill="hold">
                                          <p:stCondLst>
                                            <p:cond delay="0"/>
                                          </p:stCondLst>
                                        </p:cTn>
                                        <p:tgtEl>
                                          <p:spTgt spid="12301"/>
                                        </p:tgtEl>
                                        <p:attrNameLst>
                                          <p:attrName>style.visibility</p:attrName>
                                        </p:attrNameLst>
                                      </p:cBhvr>
                                      <p:to>
                                        <p:strVal val="visible"/>
                                      </p:to>
                                    </p:set>
                                    <p:animEffect transition="in" filter="strips(downRight)">
                                      <p:cBhvr>
                                        <p:cTn id="22" dur="500"/>
                                        <p:tgtEl>
                                          <p:spTgt spid="12301"/>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nodeType="clickEffect">
                                  <p:stCondLst>
                                    <p:cond delay="0"/>
                                  </p:stCondLst>
                                  <p:childTnLst>
                                    <p:set>
                                      <p:cBhvr>
                                        <p:cTn id="26" dur="1" fill="hold">
                                          <p:stCondLst>
                                            <p:cond delay="0"/>
                                          </p:stCondLst>
                                        </p:cTn>
                                        <p:tgtEl>
                                          <p:spTgt spid="12299"/>
                                        </p:tgtEl>
                                        <p:attrNameLst>
                                          <p:attrName>style.visibility</p:attrName>
                                        </p:attrNameLst>
                                      </p:cBhvr>
                                      <p:to>
                                        <p:strVal val="visible"/>
                                      </p:to>
                                    </p:set>
                                    <p:animEffect transition="in" filter="strips(downRight)">
                                      <p:cBhvr>
                                        <p:cTn id="27" dur="500"/>
                                        <p:tgtEl>
                                          <p:spTgt spid="12299"/>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6"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strips(downRight)">
                                      <p:cBhvr>
                                        <p:cTn id="32" dur="500"/>
                                        <p:tgtEl>
                                          <p:spTgt spid="5"/>
                                        </p:tgtEl>
                                      </p:cBhvr>
                                    </p:animEffect>
                                  </p:childTnLst>
                                </p:cTn>
                              </p:par>
                              <p:par>
                                <p:cTn id="33" presetID="22" presetClass="entr" presetSubtype="4" fill="hold" nodeType="with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wipe(down)">
                                      <p:cBhvr>
                                        <p:cTn id="35" dur="500"/>
                                        <p:tgtEl>
                                          <p:spTgt spid="20"/>
                                        </p:tgtEl>
                                      </p:cBhvr>
                                    </p:animEffect>
                                  </p:childTnLst>
                                </p:cTn>
                              </p:par>
                            </p:childTnLst>
                          </p:cTn>
                        </p:par>
                      </p:childTnLst>
                    </p:cTn>
                  </p:par>
                  <p:par>
                    <p:cTn id="36" fill="hold">
                      <p:stCondLst>
                        <p:cond delay="indefinite"/>
                      </p:stCondLst>
                      <p:childTnLst>
                        <p:par>
                          <p:cTn id="37" fill="hold">
                            <p:stCondLst>
                              <p:cond delay="0"/>
                            </p:stCondLst>
                            <p:childTnLst>
                              <p:par>
                                <p:cTn id="38" presetID="18" presetClass="entr" presetSubtype="6" fill="hold" nodeType="clickEffect">
                                  <p:stCondLst>
                                    <p:cond delay="0"/>
                                  </p:stCondLst>
                                  <p:childTnLst>
                                    <p:set>
                                      <p:cBhvr>
                                        <p:cTn id="39" dur="1" fill="hold">
                                          <p:stCondLst>
                                            <p:cond delay="0"/>
                                          </p:stCondLst>
                                        </p:cTn>
                                        <p:tgtEl>
                                          <p:spTgt spid="16406"/>
                                        </p:tgtEl>
                                        <p:attrNameLst>
                                          <p:attrName>style.visibility</p:attrName>
                                        </p:attrNameLst>
                                      </p:cBhvr>
                                      <p:to>
                                        <p:strVal val="visible"/>
                                      </p:to>
                                    </p:set>
                                    <p:animEffect transition="in" filter="strips(downRight)">
                                      <p:cBhvr>
                                        <p:cTn id="40" dur="500"/>
                                        <p:tgtEl>
                                          <p:spTgt spid="16406"/>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grpId="0" nodeType="click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wipe(down)">
                                      <p:cBhvr>
                                        <p:cTn id="45" dur="500"/>
                                        <p:tgtEl>
                                          <p:spTgt spid="14"/>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4" fill="hold" grpId="0" nodeType="clickEffect">
                                  <p:stCondLst>
                                    <p:cond delay="0"/>
                                  </p:stCondLst>
                                  <p:childTnLst>
                                    <p:set>
                                      <p:cBhvr>
                                        <p:cTn id="49" dur="1" fill="hold">
                                          <p:stCondLst>
                                            <p:cond delay="0"/>
                                          </p:stCondLst>
                                        </p:cTn>
                                        <p:tgtEl>
                                          <p:spTgt spid="9"/>
                                        </p:tgtEl>
                                        <p:attrNameLst>
                                          <p:attrName>style.visibility</p:attrName>
                                        </p:attrNameLst>
                                      </p:cBhvr>
                                      <p:to>
                                        <p:strVal val="visible"/>
                                      </p:to>
                                    </p:set>
                                    <p:animEffect transition="in" filter="wipe(down)">
                                      <p:cBhvr>
                                        <p:cTn id="50" dur="500"/>
                                        <p:tgtEl>
                                          <p:spTgt spid="9"/>
                                        </p:tgtEl>
                                      </p:cBhvr>
                                    </p:animEffect>
                                  </p:childTnLst>
                                </p:cTn>
                              </p:par>
                            </p:childTnLst>
                          </p:cTn>
                        </p:par>
                      </p:childTnLst>
                    </p:cTn>
                  </p:par>
                  <p:par>
                    <p:cTn id="51" fill="hold">
                      <p:stCondLst>
                        <p:cond delay="indefinite"/>
                      </p:stCondLst>
                      <p:childTnLst>
                        <p:par>
                          <p:cTn id="52" fill="hold">
                            <p:stCondLst>
                              <p:cond delay="0"/>
                            </p:stCondLst>
                            <p:childTnLst>
                              <p:par>
                                <p:cTn id="53" presetID="18" presetClass="entr" presetSubtype="6" fill="hold" grpId="0" nodeType="clickEffect">
                                  <p:stCondLst>
                                    <p:cond delay="0"/>
                                  </p:stCondLst>
                                  <p:childTnLst>
                                    <p:set>
                                      <p:cBhvr>
                                        <p:cTn id="54" dur="1" fill="hold">
                                          <p:stCondLst>
                                            <p:cond delay="0"/>
                                          </p:stCondLst>
                                        </p:cTn>
                                        <p:tgtEl>
                                          <p:spTgt spid="16390"/>
                                        </p:tgtEl>
                                        <p:attrNameLst>
                                          <p:attrName>style.visibility</p:attrName>
                                        </p:attrNameLst>
                                      </p:cBhvr>
                                      <p:to>
                                        <p:strVal val="visible"/>
                                      </p:to>
                                    </p:set>
                                    <p:animEffect transition="in" filter="strips(downRight)">
                                      <p:cBhvr>
                                        <p:cTn id="55" dur="500"/>
                                        <p:tgtEl>
                                          <p:spTgt spid="16390"/>
                                        </p:tgtEl>
                                      </p:cBhvr>
                                    </p:animEffect>
                                  </p:childTnLst>
                                </p:cTn>
                              </p:par>
                            </p:childTnLst>
                          </p:cTn>
                        </p:par>
                      </p:childTnLst>
                    </p:cTn>
                  </p:par>
                  <p:par>
                    <p:cTn id="56" fill="hold">
                      <p:stCondLst>
                        <p:cond delay="indefinite"/>
                      </p:stCondLst>
                      <p:childTnLst>
                        <p:par>
                          <p:cTn id="57" fill="hold">
                            <p:stCondLst>
                              <p:cond delay="0"/>
                            </p:stCondLst>
                            <p:childTnLst>
                              <p:par>
                                <p:cTn id="58" presetID="18" presetClass="entr" presetSubtype="6" fill="hold" nodeType="clickEffect">
                                  <p:stCondLst>
                                    <p:cond delay="0"/>
                                  </p:stCondLst>
                                  <p:childTnLst>
                                    <p:set>
                                      <p:cBhvr>
                                        <p:cTn id="59" dur="1" fill="hold">
                                          <p:stCondLst>
                                            <p:cond delay="0"/>
                                          </p:stCondLst>
                                        </p:cTn>
                                        <p:tgtEl>
                                          <p:spTgt spid="16391"/>
                                        </p:tgtEl>
                                        <p:attrNameLst>
                                          <p:attrName>style.visibility</p:attrName>
                                        </p:attrNameLst>
                                      </p:cBhvr>
                                      <p:to>
                                        <p:strVal val="visible"/>
                                      </p:to>
                                    </p:set>
                                    <p:animEffect transition="in" filter="strips(downRight)">
                                      <p:cBhvr>
                                        <p:cTn id="60" dur="500"/>
                                        <p:tgtEl>
                                          <p:spTgt spid="16391"/>
                                        </p:tgtEl>
                                      </p:cBhvr>
                                    </p:animEffect>
                                  </p:childTnLst>
                                </p:cTn>
                              </p:par>
                            </p:childTnLst>
                          </p:cTn>
                        </p:par>
                      </p:childTnLst>
                    </p:cTn>
                  </p:par>
                  <p:par>
                    <p:cTn id="61" fill="hold">
                      <p:stCondLst>
                        <p:cond delay="indefinite"/>
                      </p:stCondLst>
                      <p:childTnLst>
                        <p:par>
                          <p:cTn id="62" fill="hold">
                            <p:stCondLst>
                              <p:cond delay="0"/>
                            </p:stCondLst>
                            <p:childTnLst>
                              <p:par>
                                <p:cTn id="63" presetID="18" presetClass="entr" presetSubtype="6" fill="hold" nodeType="clickEffect">
                                  <p:stCondLst>
                                    <p:cond delay="0"/>
                                  </p:stCondLst>
                                  <p:childTnLst>
                                    <p:set>
                                      <p:cBhvr>
                                        <p:cTn id="64" dur="1" fill="hold">
                                          <p:stCondLst>
                                            <p:cond delay="0"/>
                                          </p:stCondLst>
                                        </p:cTn>
                                        <p:tgtEl>
                                          <p:spTgt spid="16407"/>
                                        </p:tgtEl>
                                        <p:attrNameLst>
                                          <p:attrName>style.visibility</p:attrName>
                                        </p:attrNameLst>
                                      </p:cBhvr>
                                      <p:to>
                                        <p:strVal val="visible"/>
                                      </p:to>
                                    </p:set>
                                    <p:animEffect transition="in" filter="strips(downRight)">
                                      <p:cBhvr>
                                        <p:cTn id="65" dur="500"/>
                                        <p:tgtEl>
                                          <p:spTgt spid="16407"/>
                                        </p:tgtEl>
                                      </p:cBhvr>
                                    </p:animEffect>
                                  </p:childTnLst>
                                </p:cTn>
                              </p:par>
                            </p:childTnLst>
                          </p:cTn>
                        </p:par>
                      </p:childTnLst>
                    </p:cTn>
                  </p:par>
                  <p:par>
                    <p:cTn id="66" fill="hold">
                      <p:stCondLst>
                        <p:cond delay="indefinite"/>
                      </p:stCondLst>
                      <p:childTnLst>
                        <p:par>
                          <p:cTn id="67" fill="hold">
                            <p:stCondLst>
                              <p:cond delay="0"/>
                            </p:stCondLst>
                            <p:childTnLst>
                              <p:par>
                                <p:cTn id="68" presetID="18" presetClass="entr" presetSubtype="6" fill="hold" nodeType="clickEffect">
                                  <p:stCondLst>
                                    <p:cond delay="0"/>
                                  </p:stCondLst>
                                  <p:childTnLst>
                                    <p:set>
                                      <p:cBhvr>
                                        <p:cTn id="69" dur="1" fill="hold">
                                          <p:stCondLst>
                                            <p:cond delay="0"/>
                                          </p:stCondLst>
                                        </p:cTn>
                                        <p:tgtEl>
                                          <p:spTgt spid="16400"/>
                                        </p:tgtEl>
                                        <p:attrNameLst>
                                          <p:attrName>style.visibility</p:attrName>
                                        </p:attrNameLst>
                                      </p:cBhvr>
                                      <p:to>
                                        <p:strVal val="visible"/>
                                      </p:to>
                                    </p:set>
                                    <p:animEffect transition="in" filter="strips(downRight)">
                                      <p:cBhvr>
                                        <p:cTn id="70" dur="500"/>
                                        <p:tgtEl>
                                          <p:spTgt spid="16400"/>
                                        </p:tgtEl>
                                      </p:cBhvr>
                                    </p:animEffect>
                                  </p:childTnLst>
                                </p:cTn>
                              </p:par>
                            </p:childTnLst>
                          </p:cTn>
                        </p:par>
                      </p:childTnLst>
                    </p:cTn>
                  </p:par>
                  <p:par>
                    <p:cTn id="71" fill="hold">
                      <p:stCondLst>
                        <p:cond delay="indefinite"/>
                      </p:stCondLst>
                      <p:childTnLst>
                        <p:par>
                          <p:cTn id="72" fill="hold">
                            <p:stCondLst>
                              <p:cond delay="0"/>
                            </p:stCondLst>
                            <p:childTnLst>
                              <p:par>
                                <p:cTn id="73" presetID="18" presetClass="entr" presetSubtype="6" fill="hold" nodeType="clickEffect">
                                  <p:stCondLst>
                                    <p:cond delay="0"/>
                                  </p:stCondLst>
                                  <p:childTnLst>
                                    <p:set>
                                      <p:cBhvr>
                                        <p:cTn id="74" dur="1" fill="hold">
                                          <p:stCondLst>
                                            <p:cond delay="0"/>
                                          </p:stCondLst>
                                        </p:cTn>
                                        <p:tgtEl>
                                          <p:spTgt spid="16392"/>
                                        </p:tgtEl>
                                        <p:attrNameLst>
                                          <p:attrName>style.visibility</p:attrName>
                                        </p:attrNameLst>
                                      </p:cBhvr>
                                      <p:to>
                                        <p:strVal val="visible"/>
                                      </p:to>
                                    </p:set>
                                    <p:animEffect transition="in" filter="strips(downRight)">
                                      <p:cBhvr>
                                        <p:cTn id="75" dur="500"/>
                                        <p:tgtEl>
                                          <p:spTgt spid="16392"/>
                                        </p:tgtEl>
                                      </p:cBhvr>
                                    </p:animEffect>
                                  </p:childTnLst>
                                </p:cTn>
                              </p:par>
                            </p:childTnLst>
                          </p:cTn>
                        </p:par>
                      </p:childTnLst>
                    </p:cTn>
                  </p:par>
                  <p:par>
                    <p:cTn id="76" fill="hold">
                      <p:stCondLst>
                        <p:cond delay="indefinite"/>
                      </p:stCondLst>
                      <p:childTnLst>
                        <p:par>
                          <p:cTn id="77" fill="hold">
                            <p:stCondLst>
                              <p:cond delay="0"/>
                            </p:stCondLst>
                            <p:childTnLst>
                              <p:par>
                                <p:cTn id="78" presetID="18" presetClass="entr" presetSubtype="6" fill="hold" nodeType="clickEffect">
                                  <p:stCondLst>
                                    <p:cond delay="0"/>
                                  </p:stCondLst>
                                  <p:childTnLst>
                                    <p:set>
                                      <p:cBhvr>
                                        <p:cTn id="79" dur="1" fill="hold">
                                          <p:stCondLst>
                                            <p:cond delay="0"/>
                                          </p:stCondLst>
                                        </p:cTn>
                                        <p:tgtEl>
                                          <p:spTgt spid="16395"/>
                                        </p:tgtEl>
                                        <p:attrNameLst>
                                          <p:attrName>style.visibility</p:attrName>
                                        </p:attrNameLst>
                                      </p:cBhvr>
                                      <p:to>
                                        <p:strVal val="visible"/>
                                      </p:to>
                                    </p:set>
                                    <p:animEffect transition="in" filter="strips(downRight)">
                                      <p:cBhvr>
                                        <p:cTn id="80" dur="500"/>
                                        <p:tgtEl>
                                          <p:spTgt spid="163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90" grpId="0"/>
      <p:bldP spid="14" grpId="0" animBg="1"/>
      <p:bldP spid="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5" name="内容占位符 2"/>
          <p:cNvSpPr>
            <a:spLocks noGrp="1"/>
          </p:cNvSpPr>
          <p:nvPr>
            <p:ph idx="4294967295"/>
          </p:nvPr>
        </p:nvSpPr>
        <p:spPr>
          <a:xfrm>
            <a:off x="984885" y="982028"/>
            <a:ext cx="3797300" cy="3536950"/>
          </a:xfrm>
        </p:spPr>
        <p:txBody>
          <a:bodyPr wrap="square" anchor="t" anchorCtr="0"/>
          <a:p>
            <a:pPr indent="0">
              <a:lnSpc>
                <a:spcPct val="150000"/>
              </a:lnSpc>
              <a:spcBef>
                <a:spcPct val="0"/>
              </a:spcBef>
              <a:buNone/>
            </a:pPr>
            <a:r>
              <a:rPr lang="en-US" altLang="zh-CN" sz="2400" b="1" dirty="0"/>
              <a:t>  F</a:t>
            </a:r>
            <a:r>
              <a:rPr lang="en-US" altLang="zh-CN" sz="2400" b="1" baseline="-25000" dirty="0"/>
              <a:t>v</a:t>
            </a:r>
            <a:r>
              <a:rPr lang="en-US" altLang="zh-CN" sz="2400" b="1" dirty="0"/>
              <a:t>=Z</a:t>
            </a:r>
            <a:r>
              <a:rPr lang="en-US" altLang="zh-CN" sz="2400" b="1" baseline="-25000" dirty="0"/>
              <a:t>2</a:t>
            </a:r>
            <a:r>
              <a:rPr lang="en-US" altLang="zh-CN" sz="2400" b="1" dirty="0"/>
              <a:t>/(Z</a:t>
            </a:r>
            <a:r>
              <a:rPr lang="en-US" altLang="zh-CN" sz="2400" b="1" baseline="-25000" dirty="0"/>
              <a:t>1</a:t>
            </a:r>
            <a:r>
              <a:rPr lang="en-US" altLang="zh-CN" sz="2400" b="1" dirty="0"/>
              <a:t>+Z</a:t>
            </a:r>
            <a:r>
              <a:rPr lang="en-US" altLang="zh-CN" sz="2400" b="1" baseline="-25000" dirty="0"/>
              <a:t>2</a:t>
            </a:r>
            <a:r>
              <a:rPr lang="en-US" altLang="zh-CN" sz="2400" b="1" dirty="0"/>
              <a:t>)</a:t>
            </a:r>
            <a:endParaRPr lang="en-US" altLang="zh-CN" sz="2400" b="1" dirty="0"/>
          </a:p>
          <a:p>
            <a:pPr marL="812800" indent="-342900">
              <a:lnSpc>
                <a:spcPct val="150000"/>
              </a:lnSpc>
              <a:spcBef>
                <a:spcPct val="0"/>
              </a:spcBef>
              <a:buFont typeface="Wingdings" panose="05000000000000000000" charset="0"/>
              <a:buChar char="u"/>
            </a:pPr>
            <a:r>
              <a:rPr lang="zh-CN" altLang="en-US" sz="2400" b="1" dirty="0"/>
              <a:t>正反馈最大值为</a:t>
            </a:r>
            <a:r>
              <a:rPr lang="en-US" altLang="zh-CN" sz="2400" b="1" dirty="0"/>
              <a:t>1/3</a:t>
            </a:r>
            <a:endParaRPr lang="en-US" altLang="zh-CN" sz="2400" b="1" dirty="0"/>
          </a:p>
          <a:p>
            <a:pPr indent="0">
              <a:lnSpc>
                <a:spcPct val="150000"/>
              </a:lnSpc>
              <a:spcBef>
                <a:spcPct val="0"/>
              </a:spcBef>
            </a:pPr>
            <a:endParaRPr lang="en-US" altLang="zh-CN" sz="2400" b="1" dirty="0"/>
          </a:p>
          <a:p>
            <a:pPr marL="812800" indent="-342900">
              <a:lnSpc>
                <a:spcPct val="150000"/>
              </a:lnSpc>
              <a:spcBef>
                <a:spcPct val="0"/>
              </a:spcBef>
              <a:buFont typeface="Wingdings" panose="05000000000000000000" charset="0"/>
              <a:buChar char="u"/>
            </a:pPr>
            <a:r>
              <a:rPr lang="zh-CN" altLang="en-US" sz="2400" b="1" dirty="0"/>
              <a:t>电路平衡时应有</a:t>
            </a:r>
            <a:endParaRPr lang="zh-CN" altLang="en-US" sz="2400" b="1" dirty="0"/>
          </a:p>
          <a:p>
            <a:pPr indent="0">
              <a:lnSpc>
                <a:spcPct val="150000"/>
              </a:lnSpc>
              <a:spcBef>
                <a:spcPct val="0"/>
              </a:spcBef>
              <a:buNone/>
            </a:pPr>
            <a:r>
              <a:rPr lang="en-US" altLang="zh-CN" sz="2400" b="1" dirty="0"/>
              <a:t>      A</a:t>
            </a:r>
            <a:r>
              <a:rPr lang="en-US" altLang="zh-CN" sz="2400" b="1" baseline="-25000" dirty="0"/>
              <a:t>vf </a:t>
            </a:r>
            <a:r>
              <a:rPr lang="en-US" altLang="zh-CN" sz="2400" b="1" dirty="0"/>
              <a:t>F</a:t>
            </a:r>
            <a:r>
              <a:rPr lang="en-US" altLang="zh-CN" sz="2400" b="1" baseline="-25000" dirty="0"/>
              <a:t>v</a:t>
            </a:r>
            <a:r>
              <a:rPr lang="en-US" altLang="zh-CN" sz="2400" b="1" dirty="0"/>
              <a:t>=1</a:t>
            </a:r>
            <a:r>
              <a:rPr lang="zh-CN" altLang="en-US" sz="2400" b="1" dirty="0"/>
              <a:t>即</a:t>
            </a:r>
            <a:r>
              <a:rPr lang="en-US" altLang="zh-CN" sz="2400" b="1" dirty="0"/>
              <a:t>A</a:t>
            </a:r>
            <a:r>
              <a:rPr lang="en-US" altLang="zh-CN" sz="2400" b="1" baseline="-25000" dirty="0"/>
              <a:t>vf </a:t>
            </a:r>
            <a:r>
              <a:rPr lang="en-US" altLang="zh-CN" sz="2400" b="1" dirty="0"/>
              <a:t>=3</a:t>
            </a:r>
            <a:endParaRPr lang="en-US" altLang="zh-CN" sz="2400" b="1" dirty="0"/>
          </a:p>
          <a:p>
            <a:pPr indent="0">
              <a:lnSpc>
                <a:spcPct val="150000"/>
              </a:lnSpc>
              <a:spcBef>
                <a:spcPct val="0"/>
              </a:spcBef>
              <a:buNone/>
            </a:pPr>
            <a:r>
              <a:rPr lang="en-US" altLang="zh-CN" sz="2400" b="1" dirty="0"/>
              <a:t>      A</a:t>
            </a:r>
            <a:r>
              <a:rPr lang="en-US" altLang="zh-CN" sz="2400" b="1" baseline="-25000" dirty="0"/>
              <a:t>vf </a:t>
            </a:r>
            <a:r>
              <a:rPr lang="en-US" altLang="zh-CN" sz="2400" b="1" dirty="0"/>
              <a:t>=1+R</a:t>
            </a:r>
            <a:r>
              <a:rPr lang="en-US" altLang="zh-CN" sz="2400" b="1" baseline="-25000" dirty="0"/>
              <a:t>f</a:t>
            </a:r>
            <a:r>
              <a:rPr lang="en-US" altLang="zh-CN" sz="2400" b="1" dirty="0"/>
              <a:t>/R</a:t>
            </a:r>
            <a:r>
              <a:rPr lang="en-US" altLang="zh-CN" sz="2400" b="1" baseline="-25000" dirty="0"/>
              <a:t>1</a:t>
            </a:r>
            <a:endParaRPr lang="zh-CN" altLang="en-US" sz="2400" b="1" dirty="0"/>
          </a:p>
        </p:txBody>
      </p:sp>
      <p:graphicFrame>
        <p:nvGraphicFramePr>
          <p:cNvPr id="23560" name="对象 12297"/>
          <p:cNvGraphicFramePr>
            <a:graphicFrameLocks noChangeAspect="1"/>
          </p:cNvGraphicFramePr>
          <p:nvPr/>
        </p:nvGraphicFramePr>
        <p:xfrm>
          <a:off x="2019935" y="2068195"/>
          <a:ext cx="1357313" cy="788988"/>
        </p:xfrm>
        <a:graphic>
          <a:graphicData uri="http://schemas.openxmlformats.org/presentationml/2006/ole">
            <mc:AlternateContent xmlns:mc="http://schemas.openxmlformats.org/markup-compatibility/2006">
              <mc:Choice xmlns:v="urn:schemas-microsoft-com:vml" Requires="v">
                <p:oleObj spid="_x0000_s3100" name="" r:id="rId1" imgW="673100" imgH="393700" progId="Equation.3">
                  <p:embed/>
                </p:oleObj>
              </mc:Choice>
              <mc:Fallback>
                <p:oleObj name="" r:id="rId1" imgW="673100" imgH="393700" progId="Equation.3">
                  <p:embed/>
                  <p:pic>
                    <p:nvPicPr>
                      <p:cNvPr id="0" name="图片 3099"/>
                      <p:cNvPicPr/>
                      <p:nvPr/>
                    </p:nvPicPr>
                    <p:blipFill>
                      <a:blip r:embed="rId2"/>
                      <a:stretch>
                        <a:fillRect/>
                      </a:stretch>
                    </p:blipFill>
                    <p:spPr>
                      <a:xfrm>
                        <a:off x="2019935" y="2068195"/>
                        <a:ext cx="1357313" cy="788988"/>
                      </a:xfrm>
                      <a:prstGeom prst="rect">
                        <a:avLst/>
                      </a:prstGeom>
                      <a:noFill/>
                      <a:ln w="38100">
                        <a:noFill/>
                        <a:miter/>
                      </a:ln>
                    </p:spPr>
                  </p:pic>
                </p:oleObj>
              </mc:Fallback>
            </mc:AlternateContent>
          </a:graphicData>
        </a:graphic>
      </p:graphicFrame>
      <p:sp>
        <p:nvSpPr>
          <p:cNvPr id="23561" name="文本框 3"/>
          <p:cNvSpPr txBox="1"/>
          <p:nvPr/>
        </p:nvSpPr>
        <p:spPr>
          <a:xfrm>
            <a:off x="1299845" y="4465320"/>
            <a:ext cx="4799330" cy="1198880"/>
          </a:xfrm>
          <a:prstGeom prst="rect">
            <a:avLst/>
          </a:prstGeom>
          <a:noFill/>
          <a:ln w="9525">
            <a:noFill/>
          </a:ln>
        </p:spPr>
        <p:txBody>
          <a:bodyPr wrap="square" anchor="t" anchorCtr="0">
            <a:spAutoFit/>
          </a:bodyPr>
          <a:p>
            <a:r>
              <a:rPr lang="zh-CN" altLang="en-US" sz="3600" b="1">
                <a:solidFill>
                  <a:srgbClr val="FF0000"/>
                </a:solidFill>
                <a:latin typeface="微软雅黑" panose="020B0503020204020204" charset="-122"/>
                <a:ea typeface="微软雅黑" panose="020B0503020204020204" charset="-122"/>
                <a:sym typeface="+mn-ea"/>
              </a:rPr>
              <a:t>起振：</a:t>
            </a:r>
            <a:r>
              <a:rPr lang="zh-CN" altLang="en-US" sz="3600" b="1">
                <a:solidFill>
                  <a:schemeClr val="tx1"/>
                </a:solidFill>
                <a:latin typeface="微软雅黑" panose="020B0503020204020204" charset="-122"/>
                <a:ea typeface="微软雅黑" panose="020B0503020204020204" charset="-122"/>
                <a:sym typeface="+mn-ea"/>
              </a:rPr>
              <a:t>调节</a:t>
            </a:r>
            <a:r>
              <a:rPr lang="en-US" altLang="zh-CN" sz="3600" b="1" i="1" dirty="0">
                <a:solidFill>
                  <a:srgbClr val="FF0000"/>
                </a:solidFill>
                <a:latin typeface="Times New Roman" panose="02020603050405020304" pitchFamily="2" charset="0"/>
                <a:ea typeface="宋体" panose="02010600030101010101" pitchFamily="2" charset="-122"/>
                <a:cs typeface="Times New Roman" panose="02020603050405020304" pitchFamily="2" charset="0"/>
                <a:sym typeface="宋体" panose="02010600030101010101" pitchFamily="2" charset="-122"/>
              </a:rPr>
              <a:t>R</a:t>
            </a:r>
            <a:r>
              <a:rPr lang="en-US" altLang="zh-CN" sz="3600" b="1" baseline="-25000" dirty="0">
                <a:solidFill>
                  <a:srgbClr val="FF0000"/>
                </a:solidFill>
                <a:latin typeface="Times New Roman" panose="02020603050405020304" pitchFamily="2" charset="0"/>
                <a:ea typeface="宋体" panose="02010600030101010101" pitchFamily="2" charset="-122"/>
                <a:cs typeface="Times New Roman" panose="02020603050405020304" pitchFamily="2" charset="0"/>
                <a:sym typeface="宋体" panose="02010600030101010101" pitchFamily="2" charset="-122"/>
              </a:rPr>
              <a:t>f </a:t>
            </a:r>
            <a:r>
              <a:rPr lang="en-US" altLang="zh-CN" sz="3600" b="1">
                <a:solidFill>
                  <a:srgbClr val="FF0000"/>
                </a:solidFill>
                <a:latin typeface="Arial" panose="020B0604020202020204" pitchFamily="34" charset="0"/>
                <a:cs typeface="Arial" panose="020B0604020202020204" pitchFamily="34" charset="0"/>
                <a:sym typeface="+mn-ea"/>
              </a:rPr>
              <a:t>≈&gt;</a:t>
            </a:r>
            <a:r>
              <a:rPr lang="en-US" altLang="zh-CN" sz="3600" b="1" dirty="0">
                <a:solidFill>
                  <a:srgbClr val="FF0000"/>
                </a:solidFill>
                <a:latin typeface="Times New Roman" panose="02020603050405020304" pitchFamily="2" charset="0"/>
                <a:ea typeface="宋体" panose="02010600030101010101" pitchFamily="2" charset="-122"/>
                <a:cs typeface="Times New Roman" panose="02020603050405020304" pitchFamily="2" charset="0"/>
                <a:sym typeface="宋体" panose="02010600030101010101" pitchFamily="2" charset="-122"/>
              </a:rPr>
              <a:t>36K</a:t>
            </a:r>
            <a:endParaRPr lang="en-US" altLang="zh-CN" sz="3600" b="1" dirty="0">
              <a:solidFill>
                <a:srgbClr val="FF0000"/>
              </a:solidFill>
              <a:latin typeface="Verdana" panose="020B0604030504040204" pitchFamily="2" charset="0"/>
              <a:ea typeface="宋体" panose="02010600030101010101" pitchFamily="2" charset="-122"/>
              <a:sym typeface="宋体" panose="02010600030101010101" pitchFamily="2" charset="-122"/>
            </a:endParaRPr>
          </a:p>
          <a:p>
            <a:r>
              <a:rPr lang="zh-CN" altLang="en-US" sz="3600" b="1">
                <a:solidFill>
                  <a:schemeClr val="tx1"/>
                </a:solidFill>
                <a:latin typeface="微软雅黑" panose="020B0503020204020204" charset="-122"/>
                <a:ea typeface="微软雅黑" panose="020B0503020204020204" charset="-122"/>
                <a:cs typeface="Times New Roman" panose="02020603050405020304" pitchFamily="2" charset="0"/>
              </a:rPr>
              <a:t>即</a:t>
            </a:r>
            <a:r>
              <a:rPr lang="en-US" altLang="zh-CN" sz="3600" b="1" i="1">
                <a:solidFill>
                  <a:srgbClr val="FF0000"/>
                </a:solidFill>
                <a:latin typeface="Times New Roman" panose="02020603050405020304" pitchFamily="2" charset="0"/>
                <a:ea typeface="宋体" panose="02010600030101010101" pitchFamily="2" charset="-122"/>
                <a:cs typeface="Times New Roman" panose="02020603050405020304" pitchFamily="2" charset="0"/>
              </a:rPr>
              <a:t>R</a:t>
            </a:r>
            <a:r>
              <a:rPr lang="en-US" altLang="zh-CN" sz="3600" b="1" baseline="-25000">
                <a:solidFill>
                  <a:srgbClr val="FF0000"/>
                </a:solidFill>
                <a:latin typeface="Times New Roman" panose="02020603050405020304" pitchFamily="2" charset="0"/>
                <a:ea typeface="宋体" panose="02010600030101010101" pitchFamily="2" charset="-122"/>
                <a:cs typeface="Times New Roman" panose="02020603050405020304" pitchFamily="2" charset="0"/>
              </a:rPr>
              <a:t>p</a:t>
            </a:r>
            <a:r>
              <a:rPr lang="en-US" altLang="zh-CN" sz="3600" b="1">
                <a:solidFill>
                  <a:srgbClr val="FF0000"/>
                </a:solidFill>
                <a:latin typeface="Arial" panose="020B0604020202020204" pitchFamily="34" charset="0"/>
                <a:ea typeface="宋体" panose="02010600030101010101" pitchFamily="2" charset="-122"/>
                <a:cs typeface="Arial" panose="020B0604020202020204" pitchFamily="34" charset="0"/>
              </a:rPr>
              <a:t>≈</a:t>
            </a:r>
            <a:r>
              <a:rPr lang="en-US" altLang="zh-CN" sz="3600" b="1">
                <a:solidFill>
                  <a:srgbClr val="FF0000"/>
                </a:solidFill>
                <a:latin typeface="Arial" panose="020B0604020202020204" pitchFamily="34" charset="0"/>
                <a:cs typeface="Arial" panose="020B0604020202020204" pitchFamily="34" charset="0"/>
                <a:sym typeface="+mn-ea"/>
              </a:rPr>
              <a:t>&gt;</a:t>
            </a:r>
            <a:r>
              <a:rPr lang="en-US" altLang="zh-CN" sz="3600" b="1">
                <a:solidFill>
                  <a:srgbClr val="FF0000"/>
                </a:solidFill>
                <a:latin typeface="Times New Roman" panose="02020603050405020304" pitchFamily="2" charset="0"/>
                <a:ea typeface="宋体" panose="02010600030101010101" pitchFamily="2" charset="-122"/>
                <a:cs typeface="Times New Roman" panose="02020603050405020304" pitchFamily="2" charset="0"/>
              </a:rPr>
              <a:t>26k</a:t>
            </a:r>
            <a:r>
              <a:rPr lang="zh-CN" altLang="en-US" sz="3600" b="1">
                <a:solidFill>
                  <a:schemeClr val="tx1"/>
                </a:solidFill>
                <a:latin typeface="Times New Roman" panose="02020603050405020304" pitchFamily="2" charset="0"/>
                <a:ea typeface="宋体" panose="02010600030101010101" pitchFamily="2" charset="-122"/>
                <a:cs typeface="Times New Roman" panose="02020603050405020304" pitchFamily="2" charset="0"/>
              </a:rPr>
              <a:t>使</a:t>
            </a:r>
            <a:r>
              <a:rPr lang="en-US" altLang="zh-CN" sz="3600" b="1">
                <a:solidFill>
                  <a:srgbClr val="FF0000"/>
                </a:solidFill>
                <a:latin typeface="Times New Roman" panose="02020603050405020304" pitchFamily="2" charset="0"/>
                <a:ea typeface="宋体" panose="02010600030101010101" pitchFamily="2" charset="-122"/>
                <a:cs typeface="Times New Roman" panose="02020603050405020304" pitchFamily="2" charset="0"/>
              </a:rPr>
              <a:t>A</a:t>
            </a:r>
            <a:r>
              <a:rPr lang="en-US" altLang="zh-CN" sz="3600" b="1" baseline="-25000">
                <a:solidFill>
                  <a:srgbClr val="FF0000"/>
                </a:solidFill>
                <a:latin typeface="Times New Roman" panose="02020603050405020304" pitchFamily="2" charset="0"/>
                <a:ea typeface="宋体" panose="02010600030101010101" pitchFamily="2" charset="-122"/>
                <a:cs typeface="Times New Roman" panose="02020603050405020304" pitchFamily="2" charset="0"/>
              </a:rPr>
              <a:t>vf</a:t>
            </a:r>
            <a:r>
              <a:rPr lang="en-US" altLang="zh-CN" sz="3600" b="1">
                <a:solidFill>
                  <a:srgbClr val="FF0000"/>
                </a:solidFill>
                <a:latin typeface="Times New Roman" panose="02020603050405020304" pitchFamily="2" charset="0"/>
                <a:ea typeface="宋体" panose="02010600030101010101" pitchFamily="2" charset="-122"/>
                <a:cs typeface="Times New Roman" panose="02020603050405020304" pitchFamily="2" charset="0"/>
              </a:rPr>
              <a:t> &gt;3</a:t>
            </a:r>
            <a:endParaRPr lang="en-US" altLang="zh-CN" sz="3600" b="1">
              <a:solidFill>
                <a:srgbClr val="FF0000"/>
              </a:solidFill>
              <a:latin typeface="Times New Roman" panose="02020603050405020304" pitchFamily="2" charset="0"/>
              <a:ea typeface="宋体" panose="02010600030101010101" pitchFamily="2" charset="-122"/>
              <a:cs typeface="Times New Roman" panose="02020603050405020304" pitchFamily="2" charset="0"/>
            </a:endParaRPr>
          </a:p>
        </p:txBody>
      </p:sp>
      <p:graphicFrame>
        <p:nvGraphicFramePr>
          <p:cNvPr id="16406" name="对象 16405"/>
          <p:cNvGraphicFramePr>
            <a:graphicFrameLocks noChangeAspect="1"/>
          </p:cNvGraphicFramePr>
          <p:nvPr/>
        </p:nvGraphicFramePr>
        <p:xfrm>
          <a:off x="7034530" y="5433695"/>
          <a:ext cx="4613910" cy="1258570"/>
        </p:xfrm>
        <a:graphic>
          <a:graphicData uri="http://schemas.openxmlformats.org/presentationml/2006/ole">
            <mc:AlternateContent xmlns:mc="http://schemas.openxmlformats.org/markup-compatibility/2006">
              <mc:Choice xmlns:v="urn:schemas-microsoft-com:vml" Requires="v">
                <p:oleObj spid="_x0000_s3092" name="" r:id="rId3" imgW="1536700" imgH="457200" progId="Equation.3">
                  <p:embed/>
                </p:oleObj>
              </mc:Choice>
              <mc:Fallback>
                <p:oleObj name="" r:id="rId3" imgW="1536700" imgH="457200" progId="Equation.3">
                  <p:embed/>
                  <p:pic>
                    <p:nvPicPr>
                      <p:cNvPr id="0" name="图片 3091"/>
                      <p:cNvPicPr/>
                      <p:nvPr/>
                    </p:nvPicPr>
                    <p:blipFill>
                      <a:blip r:embed="rId4"/>
                      <a:stretch>
                        <a:fillRect/>
                      </a:stretch>
                    </p:blipFill>
                    <p:spPr>
                      <a:xfrm>
                        <a:off x="7034530" y="5433695"/>
                        <a:ext cx="4613910" cy="1258570"/>
                      </a:xfrm>
                      <a:prstGeom prst="rect">
                        <a:avLst/>
                      </a:prstGeom>
                      <a:noFill/>
                      <a:ln w="38100">
                        <a:noFill/>
                        <a:miter/>
                      </a:ln>
                    </p:spPr>
                  </p:pic>
                </p:oleObj>
              </mc:Fallback>
            </mc:AlternateContent>
          </a:graphicData>
        </a:graphic>
      </p:graphicFrame>
      <p:sp>
        <p:nvSpPr>
          <p:cNvPr id="9" name="椭圆形标注 16413"/>
          <p:cNvSpPr/>
          <p:nvPr/>
        </p:nvSpPr>
        <p:spPr>
          <a:xfrm>
            <a:off x="10655300" y="551377"/>
            <a:ext cx="1536700" cy="517766"/>
          </a:xfrm>
          <a:prstGeom prst="wedgeEllipseCallout">
            <a:avLst>
              <a:gd name="adj1" fmla="val -92768"/>
              <a:gd name="adj2" fmla="val 145123"/>
            </a:avLst>
          </a:prstGeom>
          <a:solidFill>
            <a:srgbClr val="CCFFCC"/>
          </a:solidFill>
          <a:ln w="6350" cap="flat" cmpd="sng">
            <a:solidFill>
              <a:schemeClr val="tx1"/>
            </a:solidFill>
            <a:prstDash val="solid"/>
            <a:miter/>
            <a:headEnd type="none" w="med" len="med"/>
            <a:tailEnd type="none" w="med" len="med"/>
          </a:ln>
        </p:spPr>
        <p:txBody>
          <a:bodyPr wrap="square" lIns="0" tIns="72000" rIns="0" bIns="72000" anchor="ctr" anchorCtr="0">
            <a:spAutoFit/>
          </a:bodyPr>
          <a:p>
            <a:pPr algn="ctr" eaLnBrk="0" hangingPunct="0">
              <a:lnSpc>
                <a:spcPct val="80000"/>
              </a:lnSpc>
              <a:spcBef>
                <a:spcPct val="50000"/>
              </a:spcBef>
            </a:pPr>
            <a:r>
              <a:rPr lang="zh-CN" altLang="en-US" b="1">
                <a:solidFill>
                  <a:srgbClr val="FF0000"/>
                </a:solidFill>
                <a:latin typeface="Verdana" panose="020B0604030504040204" pitchFamily="2" charset="0"/>
                <a:ea typeface="楷体_GB2312" pitchFamily="1" charset="-122"/>
              </a:rPr>
              <a:t>稳幅环节</a:t>
            </a:r>
            <a:endParaRPr lang="zh-CN" altLang="en-US" b="1">
              <a:solidFill>
                <a:srgbClr val="FF0000"/>
              </a:solidFill>
              <a:latin typeface="Verdana" panose="020B0604030504040204" pitchFamily="2" charset="0"/>
              <a:ea typeface="楷体_GB2312" pitchFamily="1" charset="-122"/>
            </a:endParaRPr>
          </a:p>
        </p:txBody>
      </p:sp>
      <p:sp>
        <p:nvSpPr>
          <p:cNvPr id="14" name="矩形 16412"/>
          <p:cNvSpPr/>
          <p:nvPr/>
        </p:nvSpPr>
        <p:spPr>
          <a:xfrm>
            <a:off x="8395970" y="692150"/>
            <a:ext cx="1589405" cy="1369695"/>
          </a:xfrm>
          <a:prstGeom prst="rect">
            <a:avLst/>
          </a:prstGeom>
          <a:noFill/>
          <a:ln w="25400" cap="flat" cmpd="sng">
            <a:solidFill>
              <a:srgbClr val="FF0000"/>
            </a:solidFill>
            <a:prstDash val="dash"/>
            <a:miter/>
            <a:headEnd type="none" w="med" len="med"/>
            <a:tailEnd type="none" w="med" len="med"/>
          </a:ln>
        </p:spPr>
        <p:txBody>
          <a:bodyPr anchor="t" anchorCtr="0"/>
          <a:p>
            <a:endParaRPr lang="zh-CN" altLang="en-US">
              <a:latin typeface="Verdana" panose="020B0604030504040204" pitchFamily="2" charset="0"/>
              <a:ea typeface="宋体" panose="02010600030101010101" pitchFamily="2" charset="-122"/>
            </a:endParaRPr>
          </a:p>
        </p:txBody>
      </p:sp>
      <p:sp>
        <p:nvSpPr>
          <p:cNvPr id="15" name="圆角矩形 14"/>
          <p:cNvSpPr/>
          <p:nvPr/>
        </p:nvSpPr>
        <p:spPr>
          <a:xfrm>
            <a:off x="7311390" y="824230"/>
            <a:ext cx="974725" cy="2393315"/>
          </a:xfrm>
          <a:prstGeom prst="roundRect">
            <a:avLst/>
          </a:prstGeom>
          <a:noFill/>
          <a:ln w="12700" cmpd="sng">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16" name="圆角矩形 15"/>
          <p:cNvSpPr/>
          <p:nvPr/>
        </p:nvSpPr>
        <p:spPr>
          <a:xfrm>
            <a:off x="6941185" y="3265805"/>
            <a:ext cx="2007235" cy="2111375"/>
          </a:xfrm>
          <a:prstGeom prst="roundRect">
            <a:avLst/>
          </a:prstGeom>
          <a:noFill/>
          <a:ln w="12700" cmpd="sng">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8" name="文本框 4"/>
          <p:cNvSpPr txBox="1"/>
          <p:nvPr/>
        </p:nvSpPr>
        <p:spPr>
          <a:xfrm>
            <a:off x="6599873" y="692150"/>
            <a:ext cx="586105" cy="583565"/>
          </a:xfrm>
          <a:prstGeom prst="rect">
            <a:avLst/>
          </a:prstGeom>
          <a:noFill/>
          <a:ln w="9525">
            <a:noFill/>
          </a:ln>
        </p:spPr>
        <p:txBody>
          <a:bodyPr wrap="none" anchor="t" anchorCtr="0">
            <a:spAutoFit/>
          </a:bodyPr>
          <a:p>
            <a:r>
              <a:rPr lang="en-US" altLang="zh-CN" sz="3200" b="1" dirty="0">
                <a:latin typeface="Times New Roman" panose="02020603050405020304" pitchFamily="2" charset="0"/>
                <a:ea typeface="宋体" panose="02010600030101010101" pitchFamily="2" charset="-122"/>
                <a:cs typeface="Times New Roman" panose="02020603050405020304" pitchFamily="2" charset="0"/>
              </a:rPr>
              <a:t>Z</a:t>
            </a:r>
            <a:r>
              <a:rPr lang="en-US" altLang="zh-CN" sz="3200" b="1" baseline="-25000" dirty="0">
                <a:latin typeface="Times New Roman" panose="02020603050405020304" pitchFamily="2" charset="0"/>
                <a:ea typeface="宋体" panose="02010600030101010101" pitchFamily="2" charset="-122"/>
                <a:cs typeface="Times New Roman" panose="02020603050405020304" pitchFamily="2" charset="0"/>
              </a:rPr>
              <a:t>1</a:t>
            </a:r>
            <a:endParaRPr lang="en-US" altLang="zh-CN" sz="3200" b="1" baseline="-25000" dirty="0">
              <a:latin typeface="Times New Roman" panose="02020603050405020304" pitchFamily="2" charset="0"/>
              <a:ea typeface="宋体" panose="02010600030101010101" pitchFamily="2" charset="-122"/>
              <a:cs typeface="Times New Roman" panose="02020603050405020304" pitchFamily="2" charset="0"/>
            </a:endParaRPr>
          </a:p>
        </p:txBody>
      </p:sp>
      <p:sp>
        <p:nvSpPr>
          <p:cNvPr id="10" name="文本框 5"/>
          <p:cNvSpPr txBox="1"/>
          <p:nvPr/>
        </p:nvSpPr>
        <p:spPr>
          <a:xfrm>
            <a:off x="6456045" y="2924493"/>
            <a:ext cx="586105" cy="583565"/>
          </a:xfrm>
          <a:prstGeom prst="rect">
            <a:avLst/>
          </a:prstGeom>
          <a:noFill/>
          <a:ln w="9525">
            <a:noFill/>
          </a:ln>
        </p:spPr>
        <p:txBody>
          <a:bodyPr wrap="none" anchor="t" anchorCtr="0">
            <a:spAutoFit/>
          </a:bodyPr>
          <a:p>
            <a:r>
              <a:rPr lang="en-US" altLang="zh-CN" sz="3200" b="1" dirty="0">
                <a:latin typeface="Times New Roman" panose="02020603050405020304" pitchFamily="2" charset="0"/>
                <a:ea typeface="宋体" panose="02010600030101010101" pitchFamily="2" charset="-122"/>
                <a:cs typeface="Times New Roman" panose="02020603050405020304" pitchFamily="2" charset="0"/>
                <a:sym typeface="宋体" panose="02010600030101010101" pitchFamily="2" charset="-122"/>
              </a:rPr>
              <a:t>Z</a:t>
            </a:r>
            <a:r>
              <a:rPr lang="en-US" altLang="zh-CN" sz="3200" b="1" baseline="-25000" dirty="0">
                <a:latin typeface="Times New Roman" panose="02020603050405020304" pitchFamily="2" charset="0"/>
                <a:ea typeface="宋体" panose="02010600030101010101" pitchFamily="2" charset="-122"/>
                <a:cs typeface="Times New Roman" panose="02020603050405020304" pitchFamily="2" charset="0"/>
                <a:sym typeface="宋体" panose="02010600030101010101" pitchFamily="2" charset="-122"/>
              </a:rPr>
              <a:t>2</a:t>
            </a:r>
            <a:endParaRPr lang="en-US" altLang="zh-CN" sz="3200" b="1" baseline="-25000" dirty="0">
              <a:latin typeface="Times New Roman" panose="02020603050405020304" pitchFamily="2" charset="0"/>
              <a:ea typeface="宋体" panose="02010600030101010101" pitchFamily="2" charset="-122"/>
              <a:cs typeface="Times New Roman" panose="02020603050405020304" pitchFamily="2" charset="0"/>
              <a:sym typeface="宋体" panose="02010600030101010101" pitchFamily="2" charset="-122"/>
            </a:endParaRPr>
          </a:p>
        </p:txBody>
      </p:sp>
      <p:graphicFrame>
        <p:nvGraphicFramePr>
          <p:cNvPr id="17" name="内容占位符 17410"/>
          <p:cNvGraphicFramePr>
            <a:graphicFrameLocks noGrp="1" noChangeAspect="1"/>
          </p:cNvGraphicFramePr>
          <p:nvPr/>
        </p:nvGraphicFramePr>
        <p:xfrm>
          <a:off x="6683375" y="926465"/>
          <a:ext cx="5241925" cy="4356100"/>
        </p:xfrm>
        <a:graphic>
          <a:graphicData uri="http://schemas.openxmlformats.org/presentationml/2006/ole">
            <mc:AlternateContent xmlns:mc="http://schemas.openxmlformats.org/markup-compatibility/2006">
              <mc:Choice xmlns:v="urn:schemas-microsoft-com:vml" Requires="v">
                <p:oleObj spid="_x0000_s18" name="" r:id="rId5" imgW="2390775" imgH="1905000" progId="WPS.Doc.6">
                  <p:embed/>
                </p:oleObj>
              </mc:Choice>
              <mc:Fallback>
                <p:oleObj name="" r:id="rId5" imgW="2390775" imgH="1905000" progId="WPS.Doc.6">
                  <p:embed/>
                  <p:pic>
                    <p:nvPicPr>
                      <p:cNvPr id="0" name="图片 3100"/>
                      <p:cNvPicPr/>
                      <p:nvPr/>
                    </p:nvPicPr>
                    <p:blipFill>
                      <a:blip r:embed="rId6"/>
                      <a:stretch>
                        <a:fillRect/>
                      </a:stretch>
                    </p:blipFill>
                    <p:spPr>
                      <a:xfrm>
                        <a:off x="6683375" y="926465"/>
                        <a:ext cx="5241925" cy="4356100"/>
                      </a:xfrm>
                      <a:prstGeom prst="rect">
                        <a:avLst/>
                      </a:prstGeom>
                      <a:noFill/>
                      <a:ln w="38100">
                        <a:noFill/>
                        <a:miter/>
                      </a:ln>
                    </p:spPr>
                  </p:pic>
                </p:oleObj>
              </mc:Fallback>
            </mc:AlternateContent>
          </a:graphicData>
        </a:graphic>
      </p:graphicFrame>
      <p:sp>
        <p:nvSpPr>
          <p:cNvPr id="2" name="标题 17409"/>
          <p:cNvSpPr>
            <a:spLocks noGrp="1"/>
          </p:cNvSpPr>
          <p:nvPr/>
        </p:nvSpPr>
        <p:spPr>
          <a:xfrm>
            <a:off x="648970" y="-167005"/>
            <a:ext cx="7228840" cy="751840"/>
          </a:xfrm>
        </p:spPr>
        <p:txBody>
          <a:bodyPr anchor="b" anchorCtr="0"/>
          <a:lstStyle>
            <a:lvl1pPr marL="0" lvl="0" indent="0" algn="l" defTabSz="914400" eaLnBrk="0" fontAlgn="base" latinLnBrk="0" hangingPunct="0">
              <a:lnSpc>
                <a:spcPct val="100000"/>
              </a:lnSpc>
              <a:spcBef>
                <a:spcPct val="0"/>
              </a:spcBef>
              <a:spcAft>
                <a:spcPct val="0"/>
              </a:spcAft>
              <a:buNone/>
              <a:defRPr sz="3800" b="1" i="0" u="none" kern="1200" baseline="0">
                <a:solidFill>
                  <a:schemeClr val="tx2"/>
                </a:solidFill>
                <a:latin typeface="+mj-lt"/>
                <a:ea typeface="+mj-ea"/>
                <a:cs typeface="+mj-cs"/>
              </a:defRPr>
            </a:lvl1pPr>
          </a:lstStyle>
          <a:p>
            <a:r>
              <a:rPr lang="zh-CN" altLang="en-US" sz="2800">
                <a:solidFill>
                  <a:schemeClr val="tx1"/>
                </a:solidFill>
              </a:rPr>
              <a:t>二</a:t>
            </a:r>
            <a:r>
              <a:rPr lang="en-US" altLang="zh-CN" sz="2800">
                <a:solidFill>
                  <a:schemeClr val="tx1"/>
                </a:solidFill>
              </a:rPr>
              <a:t> </a:t>
            </a:r>
            <a:r>
              <a:rPr lang="zh-CN" altLang="en-US" sz="2800">
                <a:solidFill>
                  <a:schemeClr val="tx1"/>
                </a:solidFill>
              </a:rPr>
              <a:t>实验内容</a:t>
            </a:r>
            <a:r>
              <a:rPr lang="en-US" altLang="zh-CN" sz="2800">
                <a:solidFill>
                  <a:srgbClr val="FF0000"/>
                </a:solidFill>
              </a:rPr>
              <a:t>&lt;&lt;</a:t>
            </a:r>
            <a:r>
              <a:rPr lang="en-US" altLang="zh-CN" sz="2800">
                <a:solidFill>
                  <a:srgbClr val="FF0000"/>
                </a:solidFill>
                <a:sym typeface="+mn-ea"/>
              </a:rPr>
              <a:t> </a:t>
            </a:r>
            <a:r>
              <a:rPr lang="en-US" altLang="zh-CN" sz="3200">
                <a:solidFill>
                  <a:srgbClr val="FF0000"/>
                </a:solidFill>
                <a:sym typeface="+mn-ea"/>
              </a:rPr>
              <a:t> 2 </a:t>
            </a:r>
            <a:r>
              <a:rPr lang="zh-CN" altLang="en-US" sz="3200">
                <a:solidFill>
                  <a:srgbClr val="FF0000"/>
                </a:solidFill>
              </a:rPr>
              <a:t>产生正弦信号</a:t>
            </a:r>
            <a:endParaRPr lang="zh-CN" altLang="en-US" sz="3200" dirty="0">
              <a:solidFill>
                <a:srgbClr val="FF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3561"/>
                                        </p:tgtEl>
                                        <p:attrNameLst>
                                          <p:attrName>style.visibility</p:attrName>
                                        </p:attrNameLst>
                                      </p:cBhvr>
                                      <p:to>
                                        <p:strVal val="visible"/>
                                      </p:to>
                                    </p:set>
                                    <p:animEffect transition="in" filter="wipe(down)">
                                      <p:cBhvr>
                                        <p:cTn id="7" dur="500"/>
                                        <p:tgtEl>
                                          <p:spTgt spid="235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6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内容占位符 2"/>
          <p:cNvSpPr>
            <a:spLocks noGrp="1"/>
          </p:cNvSpPr>
          <p:nvPr>
            <p:ph idx="4294967295"/>
          </p:nvPr>
        </p:nvSpPr>
        <p:spPr>
          <a:xfrm>
            <a:off x="1875790" y="2792095"/>
            <a:ext cx="8001000" cy="1878965"/>
          </a:xfrm>
        </p:spPr>
        <p:txBody>
          <a:bodyPr vert="horz" wrap="square" lIns="91440" tIns="45720" rIns="91440" bIns="45720" anchor="t" anchorCtr="0"/>
          <a:p>
            <a:pPr marL="0" indent="0">
              <a:lnSpc>
                <a:spcPct val="125000"/>
              </a:lnSpc>
              <a:spcBef>
                <a:spcPts val="0"/>
              </a:spcBef>
              <a:buFont typeface="Wingdings" panose="05000000000000000000" charset="0"/>
              <a:buNone/>
            </a:pPr>
            <a:r>
              <a:rPr lang="en-US" altLang="zh-CN" sz="2400" b="1" dirty="0">
                <a:solidFill>
                  <a:schemeClr val="tx2"/>
                </a:solidFill>
              </a:rPr>
              <a:t>(1)  C=0.033uf</a:t>
            </a:r>
            <a:r>
              <a:rPr lang="zh-CN" altLang="en-US" sz="2400" b="1" dirty="0">
                <a:solidFill>
                  <a:schemeClr val="tx2"/>
                </a:solidFill>
              </a:rPr>
              <a:t>，</a:t>
            </a:r>
            <a:r>
              <a:rPr lang="en-US" altLang="zh-CN" sz="2400" b="1" i="1" dirty="0">
                <a:solidFill>
                  <a:schemeClr val="tx2"/>
                </a:solidFill>
              </a:rPr>
              <a:t>f</a:t>
            </a:r>
            <a:r>
              <a:rPr lang="en-US" altLang="zh-CN" sz="2400" b="1" baseline="-25000" dirty="0">
                <a:solidFill>
                  <a:schemeClr val="tx2"/>
                </a:solidFill>
              </a:rPr>
              <a:t>o</a:t>
            </a:r>
            <a:r>
              <a:rPr lang="en-US" altLang="zh-CN" sz="2400" b="1" dirty="0">
                <a:solidFill>
                  <a:schemeClr val="tx2"/>
                </a:solidFill>
              </a:rPr>
              <a:t>=945Hz</a:t>
            </a:r>
            <a:r>
              <a:rPr lang="zh-CN" altLang="en-US" sz="2400" b="1" dirty="0">
                <a:solidFill>
                  <a:schemeClr val="tx2"/>
                </a:solidFill>
              </a:rPr>
              <a:t>，计算</a:t>
            </a:r>
            <a:r>
              <a:rPr lang="en-US" altLang="zh-CN" sz="2400" b="1" dirty="0">
                <a:solidFill>
                  <a:schemeClr val="tx2"/>
                </a:solidFill>
              </a:rPr>
              <a:t>R=5.1k</a:t>
            </a:r>
            <a:r>
              <a:rPr lang="zh-CN" altLang="en-US" sz="2400" b="1" dirty="0">
                <a:solidFill>
                  <a:schemeClr val="tx2"/>
                </a:solidFill>
              </a:rPr>
              <a:t>。</a:t>
            </a:r>
            <a:r>
              <a:rPr lang="zh-CN" altLang="en-US" sz="2400" b="1" dirty="0">
                <a:solidFill>
                  <a:srgbClr val="FF0000"/>
                </a:solidFill>
              </a:rPr>
              <a:t>验证</a:t>
            </a:r>
            <a:r>
              <a:rPr lang="en-US" altLang="zh-CN" sz="2400" b="1" dirty="0">
                <a:solidFill>
                  <a:srgbClr val="FF0000"/>
                </a:solidFill>
              </a:rPr>
              <a:t> </a:t>
            </a:r>
            <a:r>
              <a:rPr lang="en-US" altLang="zh-CN" sz="2400" b="1" i="1" dirty="0">
                <a:solidFill>
                  <a:srgbClr val="FF0000"/>
                </a:solidFill>
                <a:sym typeface="+mn-ea"/>
              </a:rPr>
              <a:t>f</a:t>
            </a:r>
            <a:r>
              <a:rPr lang="en-US" altLang="zh-CN" sz="2400" b="1" baseline="-25000" dirty="0">
                <a:solidFill>
                  <a:srgbClr val="FF0000"/>
                </a:solidFill>
                <a:sym typeface="+mn-ea"/>
              </a:rPr>
              <a:t>o</a:t>
            </a:r>
            <a:endParaRPr lang="en-US" altLang="zh-CN" sz="2400" b="1" dirty="0">
              <a:solidFill>
                <a:srgbClr val="FF0000"/>
              </a:solidFill>
            </a:endParaRPr>
          </a:p>
          <a:p>
            <a:pPr marL="0" indent="0">
              <a:lnSpc>
                <a:spcPct val="125000"/>
              </a:lnSpc>
              <a:spcBef>
                <a:spcPts val="0"/>
              </a:spcBef>
              <a:buFont typeface="Wingdings" panose="05000000000000000000" charset="0"/>
              <a:buNone/>
            </a:pPr>
            <a:r>
              <a:rPr lang="en-US" altLang="zh-CN" sz="2400" b="1" dirty="0">
                <a:solidFill>
                  <a:schemeClr val="tx2"/>
                </a:solidFill>
                <a:sym typeface="+mn-ea"/>
              </a:rPr>
              <a:t>(2) </a:t>
            </a:r>
            <a:r>
              <a:rPr lang="zh-CN" altLang="en-US" sz="2400" b="1" dirty="0"/>
              <a:t>调节</a:t>
            </a:r>
            <a:r>
              <a:rPr lang="en-US" altLang="zh-CN" sz="2400" b="1" i="1" dirty="0">
                <a:solidFill>
                  <a:srgbClr val="FF0000"/>
                </a:solidFill>
              </a:rPr>
              <a:t>R</a:t>
            </a:r>
            <a:r>
              <a:rPr lang="en-US" altLang="zh-CN" sz="2400" b="1" baseline="-25000" dirty="0">
                <a:solidFill>
                  <a:srgbClr val="FF0000"/>
                </a:solidFill>
              </a:rPr>
              <a:t>p</a:t>
            </a:r>
            <a:r>
              <a:rPr lang="zh-CN" altLang="en-US" sz="2400" b="1" dirty="0"/>
              <a:t>，使振荡稳定且输出不失真情况下，</a:t>
            </a:r>
            <a:endParaRPr lang="zh-CN" altLang="en-US" sz="2400" b="1" dirty="0"/>
          </a:p>
          <a:p>
            <a:pPr marL="0" indent="0">
              <a:lnSpc>
                <a:spcPct val="125000"/>
              </a:lnSpc>
              <a:spcBef>
                <a:spcPts val="0"/>
              </a:spcBef>
              <a:buFont typeface="Wingdings" panose="05000000000000000000" charset="0"/>
              <a:buNone/>
            </a:pPr>
            <a:r>
              <a:rPr lang="zh-CN" altLang="en-US" sz="2400" b="1" dirty="0"/>
              <a:t> </a:t>
            </a:r>
            <a:r>
              <a:rPr lang="en-US" altLang="zh-CN" sz="2400" b="1" dirty="0"/>
              <a:t>    </a:t>
            </a:r>
            <a:r>
              <a:rPr lang="zh-CN" altLang="en-US" sz="2400" b="1" dirty="0"/>
              <a:t>测量输出信号</a:t>
            </a:r>
            <a:r>
              <a:rPr lang="en-US" altLang="zh-CN" sz="2400" b="1" i="1" dirty="0"/>
              <a:t>V</a:t>
            </a:r>
            <a:r>
              <a:rPr lang="en-US" altLang="zh-CN" sz="2400" b="1" baseline="-25000" dirty="0"/>
              <a:t>o</a:t>
            </a:r>
            <a:r>
              <a:rPr lang="zh-CN" altLang="en-US" sz="3400" dirty="0">
                <a:latin typeface="宋体" panose="02010600030101010101" pitchFamily="2" charset="-122"/>
              </a:rPr>
              <a:t>，</a:t>
            </a:r>
            <a:r>
              <a:rPr lang="zh-CN" altLang="en-US" sz="2400" b="1" dirty="0">
                <a:latin typeface="宋体" panose="02010600030101010101" pitchFamily="2" charset="-122"/>
              </a:rPr>
              <a:t>完成</a:t>
            </a:r>
            <a:r>
              <a:rPr lang="zh-CN" altLang="en-US" sz="2400" b="1">
                <a:latin typeface="微软雅黑" panose="020B0503020204020204" charset="-122"/>
                <a:ea typeface="微软雅黑" panose="020B0503020204020204" charset="-122"/>
                <a:sym typeface="+mn-ea"/>
              </a:rPr>
              <a:t>实验数据表格</a:t>
            </a:r>
            <a:endParaRPr lang="zh-CN" altLang="en-US" sz="2400" b="1" dirty="0">
              <a:latin typeface="宋体" panose="02010600030101010101" pitchFamily="2" charset="-122"/>
            </a:endParaRPr>
          </a:p>
        </p:txBody>
      </p:sp>
      <p:pic>
        <p:nvPicPr>
          <p:cNvPr id="25603" name="Picture 96"/>
          <p:cNvPicPr>
            <a:picLocks noChangeAspect="1"/>
          </p:cNvPicPr>
          <p:nvPr/>
        </p:nvPicPr>
        <p:blipFill>
          <a:blip r:embed="rId1"/>
          <a:stretch>
            <a:fillRect/>
          </a:stretch>
        </p:blipFill>
        <p:spPr>
          <a:xfrm>
            <a:off x="1919288" y="1278573"/>
            <a:ext cx="8321675" cy="1593850"/>
          </a:xfrm>
          <a:prstGeom prst="rect">
            <a:avLst/>
          </a:prstGeom>
          <a:noFill/>
          <a:ln w="9525">
            <a:noFill/>
          </a:ln>
        </p:spPr>
      </p:pic>
      <p:sp>
        <p:nvSpPr>
          <p:cNvPr id="25604" name="文本框 1"/>
          <p:cNvSpPr txBox="1"/>
          <p:nvPr/>
        </p:nvSpPr>
        <p:spPr>
          <a:xfrm>
            <a:off x="1867535" y="4511040"/>
            <a:ext cx="7799388" cy="1014730"/>
          </a:xfrm>
          <a:prstGeom prst="rect">
            <a:avLst/>
          </a:prstGeom>
          <a:noFill/>
          <a:ln w="9525">
            <a:noFill/>
          </a:ln>
        </p:spPr>
        <p:txBody>
          <a:bodyPr wrap="square" anchor="t" anchorCtr="0">
            <a:spAutoFit/>
          </a:bodyPr>
          <a:p>
            <a:pPr>
              <a:lnSpc>
                <a:spcPct val="125000"/>
              </a:lnSpc>
              <a:buFont typeface="Wingdings" panose="05000000000000000000" charset="0"/>
            </a:pPr>
            <a:r>
              <a:rPr lang="en-US" altLang="zh-CN" sz="2400" b="1" dirty="0">
                <a:solidFill>
                  <a:schemeClr val="tx2"/>
                </a:solidFill>
                <a:latin typeface="微软雅黑" panose="020B0503020204020204" charset="-122"/>
                <a:ea typeface="微软雅黑" panose="020B0503020204020204" charset="-122"/>
                <a:cs typeface="微软雅黑" panose="020B0503020204020204" charset="-122"/>
                <a:sym typeface="+mn-ea"/>
              </a:rPr>
              <a:t>(3) </a:t>
            </a:r>
            <a:r>
              <a:rPr lang="zh-CN" altLang="en-US" sz="2400" b="1" dirty="0">
                <a:solidFill>
                  <a:srgbClr val="FF0000"/>
                </a:solidFill>
                <a:latin typeface="微软雅黑" panose="020B0503020204020204" charset="-122"/>
                <a:ea typeface="微软雅黑" panose="020B0503020204020204" charset="-122"/>
                <a:cs typeface="微软雅黑" panose="020B0503020204020204" charset="-122"/>
              </a:rPr>
              <a:t>调节</a:t>
            </a:r>
            <a:r>
              <a:rPr lang="en-US" altLang="zh-CN" sz="2400" b="1" i="1" dirty="0">
                <a:solidFill>
                  <a:srgbClr val="FF0000"/>
                </a:solidFill>
                <a:latin typeface="Times New Roman" panose="02020603050405020304" pitchFamily="2" charset="0"/>
                <a:ea typeface="微软雅黑" panose="020B0503020204020204" charset="-122"/>
                <a:cs typeface="Times New Roman" panose="02020603050405020304" pitchFamily="2" charset="0"/>
              </a:rPr>
              <a:t>R</a:t>
            </a:r>
            <a:r>
              <a:rPr lang="en-US" altLang="zh-CN" sz="2400" b="1" baseline="-25000" dirty="0">
                <a:solidFill>
                  <a:srgbClr val="FF0000"/>
                </a:solidFill>
                <a:latin typeface="Times New Roman" panose="02020603050405020304" pitchFamily="2" charset="0"/>
                <a:ea typeface="微软雅黑" panose="020B0503020204020204" charset="-122"/>
                <a:cs typeface="Times New Roman" panose="02020603050405020304" pitchFamily="2" charset="0"/>
              </a:rPr>
              <a:t>p</a:t>
            </a:r>
            <a:r>
              <a:rPr lang="zh-CN" altLang="en-US" sz="2400" b="1" dirty="0">
                <a:solidFill>
                  <a:srgbClr val="FF0000"/>
                </a:solidFill>
                <a:latin typeface="微软雅黑" panose="020B0503020204020204" charset="-122"/>
                <a:ea typeface="微软雅黑" panose="020B0503020204020204" charset="-122"/>
                <a:cs typeface="微软雅黑" panose="020B0503020204020204" charset="-122"/>
              </a:rPr>
              <a:t>为最大和最小时</a:t>
            </a:r>
            <a:r>
              <a:rPr lang="zh-CN" altLang="en-US" sz="2400" b="1" dirty="0">
                <a:latin typeface="微软雅黑" panose="020B0503020204020204" charset="-122"/>
                <a:ea typeface="微软雅黑" panose="020B0503020204020204" charset="-122"/>
                <a:cs typeface="微软雅黑" panose="020B0503020204020204" charset="-122"/>
              </a:rPr>
              <a:t>，观察</a:t>
            </a:r>
            <a:r>
              <a:rPr lang="zh-CN" altLang="en-US" sz="2400" b="1" dirty="0">
                <a:solidFill>
                  <a:srgbClr val="FF0000"/>
                </a:solidFill>
                <a:latin typeface="微软雅黑" panose="020B0503020204020204" charset="-122"/>
                <a:ea typeface="微软雅黑" panose="020B0503020204020204" charset="-122"/>
                <a:cs typeface="微软雅黑" panose="020B0503020204020204" charset="-122"/>
              </a:rPr>
              <a:t>负反馈</a:t>
            </a:r>
            <a:r>
              <a:rPr lang="zh-CN" altLang="en-US" sz="2400" b="1" dirty="0">
                <a:latin typeface="微软雅黑" panose="020B0503020204020204" charset="-122"/>
                <a:ea typeface="微软雅黑" panose="020B0503020204020204" charset="-122"/>
                <a:cs typeface="微软雅黑" panose="020B0503020204020204" charset="-122"/>
              </a:rPr>
              <a:t>强弱对</a:t>
            </a:r>
            <a:endParaRPr lang="zh-CN" altLang="en-US" sz="2400" b="1" dirty="0">
              <a:latin typeface="微软雅黑" panose="020B0503020204020204" charset="-122"/>
              <a:ea typeface="微软雅黑" panose="020B0503020204020204" charset="-122"/>
              <a:cs typeface="微软雅黑" panose="020B0503020204020204" charset="-122"/>
            </a:endParaRPr>
          </a:p>
          <a:p>
            <a:pPr>
              <a:lnSpc>
                <a:spcPct val="125000"/>
              </a:lnSpc>
              <a:buFont typeface="Wingdings" panose="05000000000000000000" charset="0"/>
            </a:pPr>
            <a:r>
              <a:rPr lang="zh-CN" altLang="en-US" sz="2400" b="1" dirty="0">
                <a:latin typeface="微软雅黑" panose="020B0503020204020204" charset="-122"/>
                <a:ea typeface="微软雅黑" panose="020B0503020204020204" charset="-122"/>
                <a:cs typeface="微软雅黑" panose="020B0503020204020204" charset="-122"/>
              </a:rPr>
              <a:t> </a:t>
            </a:r>
            <a:r>
              <a:rPr lang="en-US" altLang="zh-CN" sz="2400" b="1" dirty="0">
                <a:latin typeface="微软雅黑" panose="020B0503020204020204" charset="-122"/>
                <a:ea typeface="微软雅黑" panose="020B0503020204020204" charset="-122"/>
                <a:cs typeface="微软雅黑" panose="020B0503020204020204" charset="-122"/>
              </a:rPr>
              <a:t>    </a:t>
            </a:r>
            <a:r>
              <a:rPr lang="zh-CN" altLang="en-US" sz="2400" b="1" dirty="0">
                <a:latin typeface="微软雅黑" panose="020B0503020204020204" charset="-122"/>
                <a:ea typeface="微软雅黑" panose="020B0503020204020204" charset="-122"/>
                <a:cs typeface="微软雅黑" panose="020B0503020204020204" charset="-122"/>
              </a:rPr>
              <a:t>输出波形</a:t>
            </a:r>
            <a:r>
              <a:rPr lang="en-US" altLang="zh-CN" sz="2400" b="1" i="1" dirty="0">
                <a:latin typeface="Times New Roman" panose="02020603050405020304" pitchFamily="2" charset="0"/>
                <a:ea typeface="微软雅黑" panose="020B0503020204020204" charset="-122"/>
                <a:cs typeface="Times New Roman" panose="02020603050405020304" pitchFamily="2" charset="0"/>
              </a:rPr>
              <a:t>V</a:t>
            </a:r>
            <a:r>
              <a:rPr lang="en-US" altLang="zh-CN" sz="2400" b="1" baseline="-25000" dirty="0">
                <a:latin typeface="Times New Roman" panose="02020603050405020304" pitchFamily="2" charset="0"/>
                <a:ea typeface="微软雅黑" panose="020B0503020204020204" charset="-122"/>
                <a:cs typeface="Times New Roman" panose="02020603050405020304" pitchFamily="2" charset="0"/>
              </a:rPr>
              <a:t>o</a:t>
            </a:r>
            <a:r>
              <a:rPr lang="zh-CN" altLang="en-US" sz="2400" b="1" dirty="0">
                <a:latin typeface="微软雅黑" panose="020B0503020204020204" charset="-122"/>
                <a:ea typeface="微软雅黑" panose="020B0503020204020204" charset="-122"/>
                <a:cs typeface="微软雅黑" panose="020B0503020204020204" charset="-122"/>
              </a:rPr>
              <a:t>的影响。</a:t>
            </a:r>
            <a:endParaRPr lang="zh-CN" altLang="en-US" sz="2400">
              <a:latin typeface="微软雅黑" panose="020B0503020204020204" charset="-122"/>
              <a:ea typeface="微软雅黑" panose="020B0503020204020204" charset="-122"/>
              <a:cs typeface="微软雅黑" panose="020B0503020204020204" charset="-122"/>
            </a:endParaRPr>
          </a:p>
        </p:txBody>
      </p:sp>
      <p:sp>
        <p:nvSpPr>
          <p:cNvPr id="23553" name="标题 17409"/>
          <p:cNvSpPr>
            <a:spLocks noGrp="1"/>
          </p:cNvSpPr>
          <p:nvPr/>
        </p:nvSpPr>
        <p:spPr>
          <a:xfrm>
            <a:off x="648970" y="-167005"/>
            <a:ext cx="7228840" cy="751840"/>
          </a:xfrm>
        </p:spPr>
        <p:txBody>
          <a:bodyPr anchor="b" anchorCtr="0"/>
          <a:lstStyle>
            <a:lvl1pPr marL="0" lvl="0" indent="0" algn="l" defTabSz="914400" eaLnBrk="0" fontAlgn="base" latinLnBrk="0" hangingPunct="0">
              <a:lnSpc>
                <a:spcPct val="100000"/>
              </a:lnSpc>
              <a:spcBef>
                <a:spcPct val="0"/>
              </a:spcBef>
              <a:spcAft>
                <a:spcPct val="0"/>
              </a:spcAft>
              <a:buNone/>
              <a:defRPr sz="3800" b="1" i="0" u="none" kern="1200" baseline="0">
                <a:solidFill>
                  <a:schemeClr val="tx2"/>
                </a:solidFill>
                <a:latin typeface="+mj-lt"/>
                <a:ea typeface="+mj-ea"/>
                <a:cs typeface="+mj-cs"/>
              </a:defRPr>
            </a:lvl1pPr>
          </a:lstStyle>
          <a:p>
            <a:r>
              <a:rPr lang="zh-CN" altLang="en-US" sz="2800">
                <a:solidFill>
                  <a:schemeClr val="tx1"/>
                </a:solidFill>
              </a:rPr>
              <a:t>二</a:t>
            </a:r>
            <a:r>
              <a:rPr lang="en-US" altLang="zh-CN" sz="2800">
                <a:solidFill>
                  <a:schemeClr val="tx1"/>
                </a:solidFill>
              </a:rPr>
              <a:t> </a:t>
            </a:r>
            <a:r>
              <a:rPr lang="zh-CN" altLang="en-US" sz="2800">
                <a:solidFill>
                  <a:schemeClr val="tx1"/>
                </a:solidFill>
              </a:rPr>
              <a:t>实验内容</a:t>
            </a:r>
            <a:r>
              <a:rPr lang="en-US" altLang="zh-CN" sz="2800">
                <a:solidFill>
                  <a:srgbClr val="FF0000"/>
                </a:solidFill>
              </a:rPr>
              <a:t>&lt;&lt;</a:t>
            </a:r>
            <a:r>
              <a:rPr lang="en-US" altLang="zh-CN" sz="2800">
                <a:solidFill>
                  <a:srgbClr val="FF0000"/>
                </a:solidFill>
                <a:sym typeface="+mn-ea"/>
              </a:rPr>
              <a:t> </a:t>
            </a:r>
            <a:r>
              <a:rPr lang="en-US" altLang="zh-CN" sz="3200">
                <a:solidFill>
                  <a:srgbClr val="FF0000"/>
                </a:solidFill>
                <a:sym typeface="+mn-ea"/>
              </a:rPr>
              <a:t> 3 </a:t>
            </a:r>
            <a:r>
              <a:rPr lang="zh-CN" altLang="en-US" sz="3200">
                <a:solidFill>
                  <a:srgbClr val="FF0000"/>
                </a:solidFill>
                <a:sym typeface="+mn-ea"/>
              </a:rPr>
              <a:t>实验数据</a:t>
            </a:r>
            <a:endParaRPr lang="zh-CN" altLang="en-US" sz="3200">
              <a:solidFill>
                <a:srgbClr val="FF0000"/>
              </a:solidFill>
              <a:sym typeface="+mn-ea"/>
            </a:endParaRPr>
          </a:p>
        </p:txBody>
      </p:sp>
      <p:sp>
        <p:nvSpPr>
          <p:cNvPr id="2" name="文本框 1"/>
          <p:cNvSpPr txBox="1"/>
          <p:nvPr/>
        </p:nvSpPr>
        <p:spPr>
          <a:xfrm>
            <a:off x="1845945" y="692150"/>
            <a:ext cx="2600325" cy="521970"/>
          </a:xfrm>
          <a:prstGeom prst="rect">
            <a:avLst/>
          </a:prstGeom>
          <a:noFill/>
        </p:spPr>
        <p:txBody>
          <a:bodyPr wrap="square" rtlCol="0" anchor="t">
            <a:spAutoFit/>
          </a:bodyPr>
          <a:p>
            <a:r>
              <a:rPr lang="zh-CN" altLang="en-US" sz="2800" b="1">
                <a:solidFill>
                  <a:schemeClr val="tx1"/>
                </a:solidFill>
                <a:latin typeface="微软雅黑" panose="020B0503020204020204" charset="-122"/>
                <a:ea typeface="微软雅黑" panose="020B0503020204020204" charset="-122"/>
                <a:sym typeface="+mn-ea"/>
              </a:rPr>
              <a:t>实验数据表格</a:t>
            </a:r>
            <a:endParaRPr lang="zh-CN" altLang="en-US" sz="2800" b="1">
              <a:solidFill>
                <a:schemeClr val="tx1"/>
              </a:solidFill>
              <a:latin typeface="微软雅黑" panose="020B0503020204020204" charset="-122"/>
              <a:ea typeface="微软雅黑" panose="020B0503020204020204" charset="-122"/>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5602">
                                            <p:txEl>
                                              <p:pRg st="0" end="0"/>
                                            </p:txEl>
                                          </p:spTgt>
                                        </p:tgtEl>
                                        <p:attrNameLst>
                                          <p:attrName>style.visibility</p:attrName>
                                        </p:attrNameLst>
                                      </p:cBhvr>
                                      <p:to>
                                        <p:strVal val="visible"/>
                                      </p:to>
                                    </p:set>
                                    <p:animEffect transition="in" filter="wipe(down)">
                                      <p:cBhvr>
                                        <p:cTn id="7" dur="500"/>
                                        <p:tgtEl>
                                          <p:spTgt spid="2560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5602">
                                            <p:txEl>
                                              <p:pRg st="1" end="1"/>
                                            </p:txEl>
                                          </p:spTgt>
                                        </p:tgtEl>
                                        <p:attrNameLst>
                                          <p:attrName>style.visibility</p:attrName>
                                        </p:attrNameLst>
                                      </p:cBhvr>
                                      <p:to>
                                        <p:strVal val="visible"/>
                                      </p:to>
                                    </p:set>
                                    <p:animEffect transition="in" filter="wipe(down)">
                                      <p:cBhvr>
                                        <p:cTn id="12" dur="500"/>
                                        <p:tgtEl>
                                          <p:spTgt spid="2560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5602">
                                            <p:txEl>
                                              <p:pRg st="2" end="2"/>
                                            </p:txEl>
                                          </p:spTgt>
                                        </p:tgtEl>
                                        <p:attrNameLst>
                                          <p:attrName>style.visibility</p:attrName>
                                        </p:attrNameLst>
                                      </p:cBhvr>
                                      <p:to>
                                        <p:strVal val="visible"/>
                                      </p:to>
                                    </p:set>
                                    <p:animEffect transition="in" filter="wipe(down)">
                                      <p:cBhvr>
                                        <p:cTn id="17" dur="500"/>
                                        <p:tgtEl>
                                          <p:spTgt spid="2560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25604">
                                            <p:txEl>
                                              <p:pRg st="0" end="0"/>
                                            </p:txEl>
                                          </p:spTgt>
                                        </p:tgtEl>
                                        <p:attrNameLst>
                                          <p:attrName>style.visibility</p:attrName>
                                        </p:attrNameLst>
                                      </p:cBhvr>
                                      <p:to>
                                        <p:strVal val="visible"/>
                                      </p:to>
                                    </p:set>
                                    <p:animEffect transition="in" filter="wipe(down)">
                                      <p:cBhvr>
                                        <p:cTn id="22" dur="500"/>
                                        <p:tgtEl>
                                          <p:spTgt spid="25604">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25604">
                                            <p:txEl>
                                              <p:pRg st="1" end="1"/>
                                            </p:txEl>
                                          </p:spTgt>
                                        </p:tgtEl>
                                        <p:attrNameLst>
                                          <p:attrName>style.visibility</p:attrName>
                                        </p:attrNameLst>
                                      </p:cBhvr>
                                      <p:to>
                                        <p:strVal val="visible"/>
                                      </p:to>
                                    </p:set>
                                    <p:animEffect transition="in" filter="wipe(down)">
                                      <p:cBhvr>
                                        <p:cTn id="27" dur="500"/>
                                        <p:tgtEl>
                                          <p:spTgt spid="2560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29698" name="内容占位符 2"/>
          <p:cNvSpPr>
            <a:spLocks noGrp="1"/>
          </p:cNvSpPr>
          <p:nvPr>
            <p:ph idx="4294967295"/>
          </p:nvPr>
        </p:nvSpPr>
        <p:spPr>
          <a:xfrm>
            <a:off x="440055" y="640080"/>
            <a:ext cx="6451600" cy="1820545"/>
          </a:xfrm>
        </p:spPr>
        <p:txBody>
          <a:bodyPr wrap="square" anchor="t" anchorCtr="0"/>
          <a:p>
            <a:pPr marL="0" indent="0">
              <a:buNone/>
            </a:pPr>
            <a:r>
              <a:rPr lang="en-US" altLang="zh-CN" sz="2400" dirty="0"/>
              <a:t>   </a:t>
            </a:r>
            <a:r>
              <a:rPr lang="en-US" altLang="zh-CN" sz="2400" dirty="0">
                <a:solidFill>
                  <a:srgbClr val="FF0000"/>
                </a:solidFill>
              </a:rPr>
              <a:t>1)</a:t>
            </a:r>
            <a:r>
              <a:rPr lang="zh-CN" altLang="en-US" sz="2400" dirty="0"/>
              <a:t>波形发生器调节出</a:t>
            </a:r>
            <a:r>
              <a:rPr lang="en-US" altLang="zh-CN" sz="2400" b="1" i="1" dirty="0">
                <a:latin typeface="Book Antiqua" panose="02040602050305030304" charset="0"/>
                <a:cs typeface="Book Antiqua" panose="02040602050305030304" charset="0"/>
              </a:rPr>
              <a:t>v</a:t>
            </a:r>
            <a:r>
              <a:rPr lang="en-US" altLang="zh-CN" sz="2400" b="1" baseline="-25000" dirty="0"/>
              <a:t>i </a:t>
            </a:r>
            <a:r>
              <a:rPr lang="en-US" altLang="zh-CN" sz="2400" baseline="-25000" dirty="0">
                <a:latin typeface="Times New Roman" panose="02020603050405020304" pitchFamily="2" charset="0"/>
                <a:ea typeface="微软雅黑" panose="020B0503020204020204" charset="-122"/>
                <a:cs typeface="Times New Roman" panose="02020603050405020304" pitchFamily="2" charset="0"/>
              </a:rPr>
              <a:t>, </a:t>
            </a:r>
            <a:r>
              <a:rPr lang="zh-CN" altLang="en-US" sz="2400" dirty="0">
                <a:solidFill>
                  <a:srgbClr val="FF0000"/>
                </a:solidFill>
              </a:rPr>
              <a:t>与产生的正弦信号同</a:t>
            </a:r>
            <a:endParaRPr lang="zh-CN" altLang="en-US" sz="2400" dirty="0"/>
          </a:p>
          <a:p>
            <a:pPr marL="0" indent="0">
              <a:buNone/>
            </a:pPr>
            <a:r>
              <a:rPr lang="en-US" altLang="zh-CN" sz="2400" dirty="0"/>
              <a:t>   </a:t>
            </a:r>
            <a:r>
              <a:rPr lang="en-US" altLang="zh-CN" sz="2400" dirty="0">
                <a:solidFill>
                  <a:srgbClr val="FF0000"/>
                </a:solidFill>
              </a:rPr>
              <a:t>3)</a:t>
            </a:r>
            <a:r>
              <a:rPr lang="zh-CN" altLang="en-US" sz="2400" dirty="0"/>
              <a:t>保持</a:t>
            </a:r>
            <a:r>
              <a:rPr lang="en-US" altLang="zh-CN" sz="2400" b="1" i="1" dirty="0">
                <a:latin typeface="Book Antiqua" panose="02040602050305030304" charset="0"/>
                <a:cs typeface="Book Antiqua" panose="02040602050305030304" charset="0"/>
                <a:sym typeface="+mn-ea"/>
              </a:rPr>
              <a:t>v</a:t>
            </a:r>
            <a:r>
              <a:rPr lang="en-US" altLang="zh-CN" sz="2400" b="1" baseline="-25000" dirty="0">
                <a:sym typeface="+mn-ea"/>
              </a:rPr>
              <a:t>i </a:t>
            </a:r>
            <a:r>
              <a:rPr lang="zh-CN" altLang="en-US" sz="2400" dirty="0"/>
              <a:t>幅值不变，调节频率 </a:t>
            </a:r>
            <a:r>
              <a:rPr lang="zh-CN" altLang="en-US" sz="2400" dirty="0">
                <a:solidFill>
                  <a:srgbClr val="FF0000"/>
                </a:solidFill>
              </a:rPr>
              <a:t> </a:t>
            </a:r>
            <a:endParaRPr lang="zh-CN" altLang="en-US" sz="2400" dirty="0">
              <a:solidFill>
                <a:srgbClr val="FF0000"/>
              </a:solidFill>
            </a:endParaRPr>
          </a:p>
          <a:p>
            <a:pPr marL="0" indent="0">
              <a:buNone/>
            </a:pPr>
            <a:r>
              <a:rPr lang="zh-CN" altLang="en-US" sz="2400" dirty="0">
                <a:solidFill>
                  <a:srgbClr val="FF0000"/>
                </a:solidFill>
              </a:rPr>
              <a:t> </a:t>
            </a:r>
            <a:r>
              <a:rPr lang="en-US" altLang="zh-CN" sz="2400" dirty="0">
                <a:solidFill>
                  <a:srgbClr val="FF0000"/>
                </a:solidFill>
              </a:rPr>
              <a:t>  4)</a:t>
            </a:r>
            <a:r>
              <a:rPr lang="zh-CN" altLang="en-US" sz="2400" dirty="0"/>
              <a:t>测量</a:t>
            </a:r>
            <a:r>
              <a:rPr lang="zh-CN" altLang="en-US" sz="2400" dirty="0">
                <a:solidFill>
                  <a:srgbClr val="FF0000"/>
                </a:solidFill>
              </a:rPr>
              <a:t>各个频率</a:t>
            </a:r>
            <a:r>
              <a:rPr lang="en-US" altLang="zh-CN" sz="2400" dirty="0">
                <a:solidFill>
                  <a:srgbClr val="FF0000"/>
                </a:solidFill>
              </a:rPr>
              <a:t>: </a:t>
            </a:r>
            <a:r>
              <a:rPr lang="zh-CN" altLang="en-US" sz="2400" dirty="0">
                <a:solidFill>
                  <a:schemeClr val="tx1"/>
                </a:solidFill>
              </a:rPr>
              <a:t>输出的峰峰值</a:t>
            </a:r>
            <a:r>
              <a:rPr lang="en-US" altLang="zh-CN" sz="2400" dirty="0">
                <a:solidFill>
                  <a:srgbClr val="FF0000"/>
                </a:solidFill>
              </a:rPr>
              <a:t>-</a:t>
            </a:r>
            <a:r>
              <a:rPr lang="zh-CN" altLang="en-US" sz="2400">
                <a:sym typeface="+mn-ea"/>
              </a:rPr>
              <a:t>幅率特性</a:t>
            </a:r>
            <a:endParaRPr lang="zh-CN" altLang="en-US" sz="2400" dirty="0"/>
          </a:p>
          <a:p>
            <a:pPr marL="0" indent="0">
              <a:buNone/>
            </a:pPr>
            <a:r>
              <a:rPr lang="zh-CN" altLang="en-US" sz="2400" dirty="0"/>
              <a:t>   </a:t>
            </a:r>
            <a:r>
              <a:rPr lang="en-US" altLang="zh-CN" sz="2400" dirty="0">
                <a:solidFill>
                  <a:srgbClr val="FF0000"/>
                </a:solidFill>
              </a:rPr>
              <a:t>5)</a:t>
            </a:r>
            <a:r>
              <a:rPr lang="zh-CN" altLang="en-US" sz="2400" dirty="0"/>
              <a:t>测量各个频率</a:t>
            </a:r>
            <a:r>
              <a:rPr lang="en-US" altLang="zh-CN" sz="2400" dirty="0"/>
              <a:t>: </a:t>
            </a:r>
            <a:r>
              <a:rPr lang="en-US" altLang="zh-CN" sz="2400" b="1" i="1" dirty="0">
                <a:latin typeface="Book Antiqua" panose="02040602050305030304" charset="0"/>
                <a:cs typeface="Book Antiqua" panose="02040602050305030304" charset="0"/>
                <a:sym typeface="+mn-ea"/>
              </a:rPr>
              <a:t>v</a:t>
            </a:r>
            <a:r>
              <a:rPr lang="en-US" altLang="zh-CN" sz="2400" b="1" baseline="-25000" dirty="0">
                <a:sym typeface="+mn-ea"/>
              </a:rPr>
              <a:t>i </a:t>
            </a:r>
            <a:r>
              <a:rPr lang="en-US" altLang="zh-CN" sz="2400" baseline="-25000" dirty="0">
                <a:sym typeface="+mn-ea"/>
              </a:rPr>
              <a:t> </a:t>
            </a:r>
            <a:r>
              <a:rPr lang="zh-CN" altLang="en-US" sz="2400" dirty="0">
                <a:solidFill>
                  <a:schemeClr val="tx1"/>
                </a:solidFill>
              </a:rPr>
              <a:t>的</a:t>
            </a:r>
            <a:r>
              <a:rPr lang="en-US" altLang="zh-CN" sz="2400" b="1" i="1" dirty="0">
                <a:latin typeface="Book Antiqua" panose="02040602050305030304" charset="0"/>
                <a:cs typeface="Book Antiqua" panose="02040602050305030304" charset="0"/>
                <a:sym typeface="+mn-ea"/>
              </a:rPr>
              <a:t>v</a:t>
            </a:r>
            <a:r>
              <a:rPr lang="en-US" altLang="zh-CN" sz="2400" b="1" baseline="-25000" dirty="0">
                <a:sym typeface="+mn-ea"/>
              </a:rPr>
              <a:t>o</a:t>
            </a:r>
            <a:r>
              <a:rPr lang="en-US" altLang="zh-CN" sz="2400" b="1" baseline="-25000" dirty="0">
                <a:sym typeface="+mn-ea"/>
              </a:rPr>
              <a:t> </a:t>
            </a:r>
            <a:r>
              <a:rPr lang="en-US" altLang="zh-CN" sz="2400" baseline="-25000" dirty="0">
                <a:sym typeface="+mn-ea"/>
              </a:rPr>
              <a:t> </a:t>
            </a:r>
            <a:r>
              <a:rPr lang="zh-CN" altLang="en-US" sz="2400" dirty="0">
                <a:solidFill>
                  <a:schemeClr val="tx1"/>
                </a:solidFill>
              </a:rPr>
              <a:t>相位差</a:t>
            </a:r>
            <a:r>
              <a:rPr lang="zh-CN" altLang="en-US" sz="2400" dirty="0"/>
              <a:t> </a:t>
            </a:r>
            <a:r>
              <a:rPr lang="en-US" altLang="zh-CN" sz="2400" dirty="0"/>
              <a:t>-</a:t>
            </a:r>
            <a:r>
              <a:rPr lang="zh-CN" altLang="en-US" sz="2400">
                <a:sym typeface="+mn-ea"/>
              </a:rPr>
              <a:t>相频特性</a:t>
            </a:r>
            <a:endParaRPr lang="zh-CN" altLang="en-US" sz="2400"/>
          </a:p>
          <a:p>
            <a:pPr marL="0" indent="0">
              <a:buNone/>
            </a:pPr>
            <a:r>
              <a:rPr lang="zh-CN" altLang="en-US" sz="2400" dirty="0"/>
              <a:t>                       </a:t>
            </a:r>
            <a:endParaRPr lang="en-US" altLang="zh-CN" sz="2400" dirty="0"/>
          </a:p>
        </p:txBody>
      </p:sp>
      <p:pic>
        <p:nvPicPr>
          <p:cNvPr id="12290" name="图片 12289" descr="未标题-1 拷贝"/>
          <p:cNvPicPr>
            <a:picLocks noChangeAspect="1"/>
          </p:cNvPicPr>
          <p:nvPr/>
        </p:nvPicPr>
        <p:blipFill>
          <a:blip r:embed="rId1"/>
          <a:stretch>
            <a:fillRect/>
          </a:stretch>
        </p:blipFill>
        <p:spPr>
          <a:xfrm>
            <a:off x="1415098" y="2564765"/>
            <a:ext cx="4085569" cy="3888000"/>
          </a:xfrm>
          <a:prstGeom prst="rect">
            <a:avLst/>
          </a:prstGeom>
          <a:noFill/>
          <a:ln w="9525">
            <a:noFill/>
          </a:ln>
        </p:spPr>
      </p:pic>
      <p:sp>
        <p:nvSpPr>
          <p:cNvPr id="3" name="标题 17409"/>
          <p:cNvSpPr>
            <a:spLocks noGrp="1"/>
          </p:cNvSpPr>
          <p:nvPr/>
        </p:nvSpPr>
        <p:spPr>
          <a:xfrm>
            <a:off x="1797050" y="-95250"/>
            <a:ext cx="8424545" cy="751840"/>
          </a:xfrm>
        </p:spPr>
        <p:txBody>
          <a:bodyPr anchor="b" anchorCtr="0"/>
          <a:lstStyle>
            <a:lvl1pPr marL="0" lvl="0" indent="0" algn="l" defTabSz="914400" eaLnBrk="0" fontAlgn="base" latinLnBrk="0" hangingPunct="0">
              <a:lnSpc>
                <a:spcPct val="100000"/>
              </a:lnSpc>
              <a:spcBef>
                <a:spcPct val="0"/>
              </a:spcBef>
              <a:spcAft>
                <a:spcPct val="0"/>
              </a:spcAft>
              <a:buNone/>
              <a:defRPr sz="3800" b="1" i="0" u="none" kern="1200" baseline="0">
                <a:solidFill>
                  <a:schemeClr val="tx2"/>
                </a:solidFill>
                <a:latin typeface="+mj-lt"/>
                <a:ea typeface="+mj-ea"/>
                <a:cs typeface="+mj-cs"/>
              </a:defRPr>
            </a:lvl1pPr>
          </a:lstStyle>
          <a:p>
            <a:r>
              <a:rPr lang="zh-CN" altLang="en-US" sz="3200">
                <a:solidFill>
                  <a:schemeClr val="tx1"/>
                </a:solidFill>
              </a:rPr>
              <a:t>二</a:t>
            </a:r>
            <a:r>
              <a:rPr lang="en-US" altLang="zh-CN" sz="3200">
                <a:solidFill>
                  <a:schemeClr val="tx1"/>
                </a:solidFill>
              </a:rPr>
              <a:t> </a:t>
            </a:r>
            <a:r>
              <a:rPr lang="zh-CN" altLang="en-US" sz="3200">
                <a:solidFill>
                  <a:schemeClr val="tx1"/>
                </a:solidFill>
              </a:rPr>
              <a:t>实验内容</a:t>
            </a:r>
            <a:r>
              <a:rPr lang="en-US" altLang="zh-CN" sz="3200">
                <a:solidFill>
                  <a:srgbClr val="FF0000"/>
                </a:solidFill>
              </a:rPr>
              <a:t>&lt;&lt;</a:t>
            </a:r>
            <a:r>
              <a:rPr lang="en-US" altLang="zh-CN" sz="3200">
                <a:solidFill>
                  <a:srgbClr val="FF0000"/>
                </a:solidFill>
                <a:sym typeface="+mn-ea"/>
              </a:rPr>
              <a:t>2 </a:t>
            </a:r>
            <a:r>
              <a:rPr lang="zh-CN" altLang="en-US" sz="3200" dirty="0">
                <a:solidFill>
                  <a:schemeClr val="tx1"/>
                </a:solidFill>
                <a:sym typeface="+mn-ea"/>
              </a:rPr>
              <a:t>测量</a:t>
            </a:r>
            <a:r>
              <a:rPr lang="zh-CN" altLang="en-US" sz="3200" dirty="0">
                <a:solidFill>
                  <a:srgbClr val="FF0000"/>
                </a:solidFill>
                <a:sym typeface="+mn-ea"/>
              </a:rPr>
              <a:t>开环</a:t>
            </a:r>
            <a:r>
              <a:rPr lang="zh-CN" altLang="en-US" sz="3200" dirty="0">
                <a:solidFill>
                  <a:srgbClr val="0000FF"/>
                </a:solidFill>
                <a:sym typeface="+mn-ea"/>
              </a:rPr>
              <a:t>幅频</a:t>
            </a:r>
            <a:r>
              <a:rPr lang="zh-CN" altLang="en-US" sz="3200" dirty="0">
                <a:solidFill>
                  <a:schemeClr val="tx1"/>
                </a:solidFill>
                <a:sym typeface="+mn-ea"/>
              </a:rPr>
              <a:t>特性和</a:t>
            </a:r>
            <a:r>
              <a:rPr lang="zh-CN" altLang="en-US" sz="3200" dirty="0">
                <a:solidFill>
                  <a:srgbClr val="0000FF"/>
                </a:solidFill>
                <a:sym typeface="+mn-ea"/>
              </a:rPr>
              <a:t>相频</a:t>
            </a:r>
            <a:r>
              <a:rPr lang="zh-CN" altLang="en-US" sz="3200" dirty="0">
                <a:solidFill>
                  <a:schemeClr val="tx1"/>
                </a:solidFill>
                <a:sym typeface="+mn-ea"/>
              </a:rPr>
              <a:t>特性</a:t>
            </a:r>
            <a:endParaRPr lang="zh-CN" altLang="en-US" sz="3200" dirty="0">
              <a:solidFill>
                <a:schemeClr val="tx1"/>
              </a:solidFill>
              <a:sym typeface="+mn-ea"/>
            </a:endParaRPr>
          </a:p>
        </p:txBody>
      </p:sp>
      <p:graphicFrame>
        <p:nvGraphicFramePr>
          <p:cNvPr id="4" name="内容占位符 17410"/>
          <p:cNvGraphicFramePr>
            <a:graphicFrameLocks noGrp="1" noChangeAspect="1"/>
          </p:cNvGraphicFramePr>
          <p:nvPr/>
        </p:nvGraphicFramePr>
        <p:xfrm>
          <a:off x="6671945" y="1485265"/>
          <a:ext cx="5241925" cy="4356100"/>
        </p:xfrm>
        <a:graphic>
          <a:graphicData uri="http://schemas.openxmlformats.org/presentationml/2006/ole">
            <mc:AlternateContent xmlns:mc="http://schemas.openxmlformats.org/markup-compatibility/2006">
              <mc:Choice xmlns:v="urn:schemas-microsoft-com:vml" Requires="v">
                <p:oleObj spid="_x0000_s5" name="" r:id="rId2" imgW="2390775" imgH="1905000" progId="WPS.Doc.6">
                  <p:embed/>
                </p:oleObj>
              </mc:Choice>
              <mc:Fallback>
                <p:oleObj name="" r:id="rId2" imgW="2390775" imgH="1905000" progId="WPS.Doc.6">
                  <p:embed/>
                  <p:pic>
                    <p:nvPicPr>
                      <p:cNvPr id="0" name="图片 3100"/>
                      <p:cNvPicPr/>
                      <p:nvPr/>
                    </p:nvPicPr>
                    <p:blipFill>
                      <a:blip r:embed="rId3"/>
                      <a:stretch>
                        <a:fillRect/>
                      </a:stretch>
                    </p:blipFill>
                    <p:spPr>
                      <a:xfrm>
                        <a:off x="6671945" y="1485265"/>
                        <a:ext cx="5241925" cy="4356100"/>
                      </a:xfrm>
                      <a:prstGeom prst="rect">
                        <a:avLst/>
                      </a:prstGeom>
                      <a:noFill/>
                      <a:ln w="38100">
                        <a:noFill/>
                        <a:miter/>
                      </a:ln>
                    </p:spPr>
                  </p:pic>
                </p:oleObj>
              </mc:Fallback>
            </mc:AlternateContent>
          </a:graphicData>
        </a:graphic>
      </p:graphicFrame>
      <p:grpSp>
        <p:nvGrpSpPr>
          <p:cNvPr id="11" name="组合 10"/>
          <p:cNvGrpSpPr/>
          <p:nvPr/>
        </p:nvGrpSpPr>
        <p:grpSpPr>
          <a:xfrm>
            <a:off x="6310630" y="1419225"/>
            <a:ext cx="1712595" cy="4309110"/>
            <a:chOff x="9938" y="2235"/>
            <a:chExt cx="2697" cy="6786"/>
          </a:xfrm>
        </p:grpSpPr>
        <p:cxnSp>
          <p:nvCxnSpPr>
            <p:cNvPr id="7" name="直接连接符 6"/>
            <p:cNvCxnSpPr/>
            <p:nvPr/>
          </p:nvCxnSpPr>
          <p:spPr>
            <a:xfrm flipV="1">
              <a:off x="10186" y="2368"/>
              <a:ext cx="2362" cy="1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V="1">
              <a:off x="10273" y="9009"/>
              <a:ext cx="2362" cy="1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9938" y="2235"/>
              <a:ext cx="760" cy="6773"/>
            </a:xfrm>
            <a:prstGeom prst="rect">
              <a:avLst/>
            </a:prstGeom>
            <a:noFill/>
          </p:spPr>
          <p:txBody>
            <a:bodyPr wrap="none" rtlCol="0" anchor="t">
              <a:spAutoFit/>
            </a:bodyPr>
            <a:p>
              <a:r>
                <a:rPr lang="en-US" altLang="zh-CN" sz="3200" b="1" i="1" dirty="0">
                  <a:solidFill>
                    <a:srgbClr val="FF0000"/>
                  </a:solidFill>
                  <a:latin typeface="Book Antiqua" panose="02040602050305030304" charset="0"/>
                  <a:cs typeface="Book Antiqua" panose="02040602050305030304" charset="0"/>
                  <a:sym typeface="+mn-ea"/>
                </a:rPr>
                <a:t>+</a:t>
              </a:r>
              <a:endParaRPr lang="en-US" altLang="zh-CN" sz="3200" b="1" i="1" dirty="0">
                <a:solidFill>
                  <a:srgbClr val="FF0000"/>
                </a:solidFill>
                <a:latin typeface="Book Antiqua" panose="02040602050305030304" charset="0"/>
                <a:cs typeface="Book Antiqua" panose="02040602050305030304" charset="0"/>
                <a:sym typeface="+mn-ea"/>
              </a:endParaRPr>
            </a:p>
            <a:p>
              <a:endParaRPr lang="en-US" altLang="zh-CN" sz="3200" b="1" i="1" dirty="0">
                <a:solidFill>
                  <a:srgbClr val="FF0000"/>
                </a:solidFill>
                <a:latin typeface="Book Antiqua" panose="02040602050305030304" charset="0"/>
                <a:cs typeface="Book Antiqua" panose="02040602050305030304" charset="0"/>
                <a:sym typeface="+mn-ea"/>
              </a:endParaRPr>
            </a:p>
            <a:p>
              <a:endParaRPr lang="en-US" altLang="zh-CN" sz="3200" b="1" i="1" dirty="0">
                <a:solidFill>
                  <a:srgbClr val="FF0000"/>
                </a:solidFill>
                <a:latin typeface="Book Antiqua" panose="02040602050305030304" charset="0"/>
                <a:cs typeface="Book Antiqua" panose="02040602050305030304" charset="0"/>
                <a:sym typeface="+mn-ea"/>
              </a:endParaRPr>
            </a:p>
            <a:p>
              <a:r>
                <a:rPr lang="en-US" altLang="zh-CN" sz="3200" b="1" i="1" dirty="0">
                  <a:solidFill>
                    <a:srgbClr val="FF0000"/>
                  </a:solidFill>
                  <a:latin typeface="Book Antiqua" panose="02040602050305030304" charset="0"/>
                  <a:cs typeface="Book Antiqua" panose="02040602050305030304" charset="0"/>
                  <a:sym typeface="+mn-ea"/>
                </a:rPr>
                <a:t>v</a:t>
              </a:r>
              <a:r>
                <a:rPr lang="en-US" altLang="zh-CN" sz="3200" b="1" baseline="-25000" dirty="0">
                  <a:solidFill>
                    <a:srgbClr val="FF0000"/>
                  </a:solidFill>
                  <a:latin typeface="Times New Roman" panose="02020603050405020304" pitchFamily="2" charset="0"/>
                  <a:cs typeface="Times New Roman" panose="02020603050405020304" pitchFamily="2" charset="0"/>
                  <a:sym typeface="+mn-ea"/>
                </a:rPr>
                <a:t>i</a:t>
              </a:r>
              <a:endParaRPr lang="en-US" altLang="zh-CN" sz="3200" b="1" baseline="-25000" dirty="0">
                <a:solidFill>
                  <a:srgbClr val="FF0000"/>
                </a:solidFill>
                <a:latin typeface="Times New Roman" panose="02020603050405020304" pitchFamily="2" charset="0"/>
                <a:cs typeface="Times New Roman" panose="02020603050405020304" pitchFamily="2" charset="0"/>
                <a:sym typeface="+mn-ea"/>
              </a:endParaRPr>
            </a:p>
            <a:p>
              <a:endParaRPr lang="en-US" altLang="zh-CN" sz="3200" b="1" baseline="-25000" dirty="0">
                <a:solidFill>
                  <a:srgbClr val="FF0000"/>
                </a:solidFill>
                <a:latin typeface="Times New Roman" panose="02020603050405020304" pitchFamily="2" charset="0"/>
                <a:cs typeface="Times New Roman" panose="02020603050405020304" pitchFamily="2" charset="0"/>
                <a:sym typeface="+mn-ea"/>
              </a:endParaRPr>
            </a:p>
            <a:p>
              <a:endParaRPr lang="en-US" altLang="zh-CN" sz="3200" b="1" baseline="-25000" dirty="0">
                <a:solidFill>
                  <a:srgbClr val="FF0000"/>
                </a:solidFill>
                <a:latin typeface="Times New Roman" panose="02020603050405020304" pitchFamily="2" charset="0"/>
                <a:cs typeface="Times New Roman" panose="02020603050405020304" pitchFamily="2" charset="0"/>
                <a:sym typeface="+mn-ea"/>
              </a:endParaRPr>
            </a:p>
            <a:p>
              <a:endParaRPr lang="en-US" altLang="zh-CN" sz="3200" b="1" baseline="-25000" dirty="0">
                <a:solidFill>
                  <a:srgbClr val="FF0000"/>
                </a:solidFill>
                <a:latin typeface="Times New Roman" panose="02020603050405020304" pitchFamily="2" charset="0"/>
                <a:cs typeface="Times New Roman" panose="02020603050405020304" pitchFamily="2" charset="0"/>
                <a:sym typeface="+mn-ea"/>
              </a:endParaRPr>
            </a:p>
            <a:p>
              <a:endParaRPr lang="en-US" altLang="zh-CN" sz="3200" b="1" baseline="-25000" dirty="0">
                <a:solidFill>
                  <a:srgbClr val="FF0000"/>
                </a:solidFill>
                <a:latin typeface="Times New Roman" panose="02020603050405020304" pitchFamily="2" charset="0"/>
                <a:cs typeface="Times New Roman" panose="02020603050405020304" pitchFamily="2" charset="0"/>
                <a:sym typeface="+mn-ea"/>
              </a:endParaRPr>
            </a:p>
            <a:p>
              <a:endParaRPr lang="en-US" altLang="zh-CN" sz="3200" b="1" baseline="-25000" dirty="0">
                <a:solidFill>
                  <a:srgbClr val="FF0000"/>
                </a:solidFill>
                <a:latin typeface="Times New Roman" panose="02020603050405020304" pitchFamily="2" charset="0"/>
                <a:cs typeface="Times New Roman" panose="02020603050405020304" pitchFamily="2" charset="0"/>
                <a:sym typeface="+mn-ea"/>
              </a:endParaRPr>
            </a:p>
            <a:p>
              <a:endParaRPr lang="en-US" altLang="zh-CN" sz="3200" b="1" baseline="-25000" dirty="0">
                <a:solidFill>
                  <a:srgbClr val="FF0000"/>
                </a:solidFill>
                <a:latin typeface="Times New Roman" panose="02020603050405020304" pitchFamily="2" charset="0"/>
                <a:cs typeface="Times New Roman" panose="02020603050405020304" pitchFamily="2" charset="0"/>
                <a:sym typeface="+mn-ea"/>
              </a:endParaRPr>
            </a:p>
            <a:p>
              <a:r>
                <a:rPr lang="en-US" altLang="zh-CN" sz="3200" b="1" baseline="-25000" dirty="0">
                  <a:solidFill>
                    <a:srgbClr val="FF0000"/>
                  </a:solidFill>
                  <a:latin typeface="Times New Roman" panose="02020603050405020304" pitchFamily="2" charset="0"/>
                  <a:cs typeface="Times New Roman" panose="02020603050405020304" pitchFamily="2" charset="0"/>
                  <a:sym typeface="+mn-ea"/>
                </a:rPr>
                <a:t>-</a:t>
              </a:r>
              <a:endParaRPr lang="en-US" altLang="zh-CN" sz="3200" b="1" baseline="-25000" dirty="0">
                <a:solidFill>
                  <a:srgbClr val="FF0000"/>
                </a:solidFill>
                <a:latin typeface="Times New Roman" panose="02020603050405020304" pitchFamily="2" charset="0"/>
                <a:cs typeface="Times New Roman" panose="02020603050405020304" pitchFamily="2" charset="0"/>
                <a:sym typeface="+mn-ea"/>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2290"/>
                                        </p:tgtEl>
                                        <p:attrNameLst>
                                          <p:attrName>style.visibility</p:attrName>
                                        </p:attrNameLst>
                                      </p:cBhvr>
                                      <p:to>
                                        <p:strVal val="visible"/>
                                      </p:to>
                                    </p:set>
                                    <p:animEffect transition="in" filter="box(in)">
                                      <p:cBhvr>
                                        <p:cTn id="7" dur="500"/>
                                        <p:tgtEl>
                                          <p:spTgt spid="122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50177" name="Rectangle 2"/>
          <p:cNvSpPr>
            <a:spLocks noGrp="1"/>
          </p:cNvSpPr>
          <p:nvPr>
            <p:ph type="title" idx="4294967295"/>
          </p:nvPr>
        </p:nvSpPr>
        <p:spPr>
          <a:xfrm>
            <a:off x="2003425" y="41910"/>
            <a:ext cx="7793038" cy="579438"/>
          </a:xfrm>
        </p:spPr>
        <p:txBody>
          <a:bodyPr wrap="square" anchor="b" anchorCtr="0"/>
          <a:p>
            <a:pPr eaLnBrk="1" hangingPunct="1"/>
            <a:r>
              <a:rPr lang="zh-CN" altLang="en-US" dirty="0"/>
              <a:t>实验</a:t>
            </a:r>
            <a:r>
              <a:rPr lang="en-US" altLang="zh-CN" dirty="0"/>
              <a:t>9</a:t>
            </a:r>
            <a:r>
              <a:rPr lang="zh-CN" altLang="en-US" dirty="0"/>
              <a:t>报告要求</a:t>
            </a:r>
            <a:endParaRPr lang="zh-CN" altLang="en-US" dirty="0"/>
          </a:p>
        </p:txBody>
      </p:sp>
      <p:sp>
        <p:nvSpPr>
          <p:cNvPr id="50178" name="Rectangle 3"/>
          <p:cNvSpPr>
            <a:spLocks noGrp="1"/>
          </p:cNvSpPr>
          <p:nvPr>
            <p:ph type="body" idx="4294967295"/>
          </p:nvPr>
        </p:nvSpPr>
        <p:spPr>
          <a:xfrm>
            <a:off x="1992313" y="1190625"/>
            <a:ext cx="8351837" cy="5095240"/>
          </a:xfrm>
        </p:spPr>
        <p:txBody>
          <a:bodyPr wrap="square" anchor="t" anchorCtr="0">
            <a:spAutoFit/>
          </a:bodyPr>
          <a:p>
            <a:pPr algn="just" eaLnBrk="1" hangingPunct="1">
              <a:buNone/>
            </a:pPr>
            <a:r>
              <a:rPr lang="en-US" altLang="zh-CN" b="1" dirty="0">
                <a:latin typeface="楷体_GB2312" pitchFamily="1" charset="-122"/>
                <a:ea typeface="楷体_GB2312" pitchFamily="1" charset="-122"/>
              </a:rPr>
              <a:t>P100</a:t>
            </a:r>
            <a:endParaRPr lang="en-US" altLang="zh-CN" b="1" dirty="0">
              <a:latin typeface="楷体_GB2312" pitchFamily="1" charset="-122"/>
              <a:ea typeface="楷体_GB2312" pitchFamily="1" charset="-122"/>
            </a:endParaRPr>
          </a:p>
          <a:p>
            <a:pPr algn="just" eaLnBrk="1" hangingPunct="1">
              <a:buNone/>
            </a:pPr>
            <a:r>
              <a:rPr lang="en-US" altLang="zh-CN" b="1" dirty="0">
                <a:latin typeface="楷体_GB2312" pitchFamily="1" charset="-122"/>
                <a:ea typeface="楷体_GB2312" pitchFamily="1" charset="-122"/>
              </a:rPr>
              <a:t>1</a:t>
            </a:r>
            <a:r>
              <a:rPr lang="zh-CN" altLang="en-US" b="1" dirty="0">
                <a:latin typeface="楷体_GB2312" pitchFamily="1" charset="-122"/>
                <a:ea typeface="楷体_GB2312" pitchFamily="1" charset="-122"/>
              </a:rPr>
              <a:t>、总结负反馈对波形的影响</a:t>
            </a:r>
            <a:endParaRPr lang="en-US" altLang="zh-CN" b="1" dirty="0">
              <a:latin typeface="楷体_GB2312" pitchFamily="1" charset="-122"/>
              <a:ea typeface="楷体_GB2312" pitchFamily="1" charset="-122"/>
            </a:endParaRPr>
          </a:p>
          <a:p>
            <a:pPr algn="just" eaLnBrk="1" hangingPunct="1">
              <a:buNone/>
            </a:pPr>
            <a:r>
              <a:rPr lang="zh-CN" altLang="en-US" sz="2400" b="1" dirty="0">
                <a:latin typeface="楷体_GB2312" pitchFamily="1" charset="-122"/>
                <a:ea typeface="楷体_GB2312" pitchFamily="1" charset="-122"/>
              </a:rPr>
              <a:t>　　　</a:t>
            </a:r>
            <a:r>
              <a:rPr lang="zh-CN" altLang="en-US" sz="2400" b="1" dirty="0">
                <a:solidFill>
                  <a:srgbClr val="FF0000"/>
                </a:solidFill>
                <a:latin typeface="楷体_GB2312" pitchFamily="1" charset="-122"/>
                <a:ea typeface="楷体_GB2312" pitchFamily="1" charset="-122"/>
              </a:rPr>
              <a:t>调节</a:t>
            </a:r>
            <a:r>
              <a:rPr lang="en-US" altLang="zh-CN" sz="2400" b="1" dirty="0">
                <a:solidFill>
                  <a:srgbClr val="FF0000"/>
                </a:solidFill>
                <a:latin typeface="楷体_GB2312" pitchFamily="1" charset="-122"/>
                <a:ea typeface="楷体_GB2312" pitchFamily="1" charset="-122"/>
              </a:rPr>
              <a:t>Rp</a:t>
            </a:r>
            <a:r>
              <a:rPr lang="zh-CN" altLang="en-US" sz="2400" b="1" dirty="0">
                <a:solidFill>
                  <a:srgbClr val="FF0000"/>
                </a:solidFill>
                <a:latin typeface="楷体_GB2312" pitchFamily="1" charset="-122"/>
                <a:ea typeface="楷体_GB2312" pitchFamily="1" charset="-122"/>
              </a:rPr>
              <a:t>，观察</a:t>
            </a:r>
            <a:r>
              <a:rPr lang="en-US" altLang="zh-CN" sz="2400" b="1" dirty="0">
                <a:solidFill>
                  <a:srgbClr val="FF0000"/>
                </a:solidFill>
                <a:latin typeface="楷体_GB2312" pitchFamily="1" charset="-122"/>
                <a:ea typeface="楷体_GB2312" pitchFamily="1" charset="-122"/>
              </a:rPr>
              <a:t>Rp</a:t>
            </a:r>
            <a:r>
              <a:rPr lang="zh-CN" altLang="en-US" sz="2400" b="1" dirty="0">
                <a:solidFill>
                  <a:srgbClr val="FF0000"/>
                </a:solidFill>
                <a:latin typeface="楷体_GB2312" pitchFamily="1" charset="-122"/>
                <a:ea typeface="楷体_GB2312" pitchFamily="1" charset="-122"/>
              </a:rPr>
              <a:t>大小对输出波形的影响</a:t>
            </a:r>
            <a:endParaRPr lang="en-US" altLang="zh-CN" sz="2400" b="1" dirty="0">
              <a:latin typeface="楷体_GB2312" pitchFamily="1" charset="-122"/>
              <a:ea typeface="楷体_GB2312" pitchFamily="1" charset="-122"/>
            </a:endParaRPr>
          </a:p>
          <a:p>
            <a:pPr algn="just" eaLnBrk="1" hangingPunct="1">
              <a:buNone/>
            </a:pPr>
            <a:r>
              <a:rPr lang="en-US" altLang="zh-CN" b="1" dirty="0">
                <a:latin typeface="楷体_GB2312" pitchFamily="1" charset="-122"/>
                <a:ea typeface="楷体_GB2312" pitchFamily="1" charset="-122"/>
              </a:rPr>
              <a:t>2</a:t>
            </a:r>
            <a:r>
              <a:rPr lang="zh-CN" altLang="en-US" b="1" dirty="0">
                <a:latin typeface="楷体_GB2312" pitchFamily="1" charset="-122"/>
                <a:ea typeface="楷体_GB2312" pitchFamily="1" charset="-122"/>
              </a:rPr>
              <a:t>、记录不失真情况下</a:t>
            </a:r>
            <a:r>
              <a:rPr lang="en-US" altLang="zh-CN" b="1" dirty="0">
                <a:latin typeface="楷体_GB2312" pitchFamily="1" charset="-122"/>
                <a:ea typeface="楷体_GB2312" pitchFamily="1" charset="-122"/>
              </a:rPr>
              <a:t>Vo</a:t>
            </a:r>
            <a:r>
              <a:rPr lang="zh-CN" altLang="en-US" b="1" dirty="0">
                <a:latin typeface="楷体_GB2312" pitchFamily="1" charset="-122"/>
                <a:ea typeface="楷体_GB2312" pitchFamily="1" charset="-122"/>
              </a:rPr>
              <a:t>波形</a:t>
            </a:r>
            <a:endParaRPr lang="en-US" altLang="zh-CN" b="1" dirty="0">
              <a:latin typeface="楷体_GB2312" pitchFamily="1" charset="-122"/>
              <a:ea typeface="楷体_GB2312" pitchFamily="1" charset="-122"/>
            </a:endParaRPr>
          </a:p>
          <a:p>
            <a:pPr algn="just" eaLnBrk="1" hangingPunct="1">
              <a:buNone/>
            </a:pPr>
            <a:r>
              <a:rPr lang="en-US" altLang="zh-CN" b="1" dirty="0">
                <a:latin typeface="楷体_GB2312" pitchFamily="1" charset="-122"/>
                <a:ea typeface="楷体_GB2312" pitchFamily="1" charset="-122"/>
              </a:rPr>
              <a:t>    </a:t>
            </a:r>
            <a:r>
              <a:rPr lang="zh-CN" altLang="en-US" sz="2400" b="1" dirty="0">
                <a:solidFill>
                  <a:srgbClr val="FF0000"/>
                </a:solidFill>
                <a:latin typeface="楷体_GB2312" pitchFamily="1" charset="-122"/>
                <a:ea typeface="楷体_GB2312" pitchFamily="1" charset="-122"/>
              </a:rPr>
              <a:t>稳定振荡时测量峰峰值和频率</a:t>
            </a:r>
            <a:endParaRPr lang="en-US" altLang="zh-CN" sz="2400" b="1" dirty="0">
              <a:latin typeface="楷体_GB2312" pitchFamily="1" charset="-122"/>
              <a:ea typeface="楷体_GB2312" pitchFamily="1" charset="-122"/>
            </a:endParaRPr>
          </a:p>
          <a:p>
            <a:pPr algn="just" eaLnBrk="1" hangingPunct="1">
              <a:buNone/>
            </a:pPr>
            <a:r>
              <a:rPr lang="en-US" altLang="zh-CN" b="1" dirty="0">
                <a:latin typeface="楷体_GB2312" pitchFamily="1" charset="-122"/>
                <a:ea typeface="楷体_GB2312" pitchFamily="1" charset="-122"/>
              </a:rPr>
              <a:t>3</a:t>
            </a:r>
            <a:r>
              <a:rPr lang="zh-CN" altLang="en-US" b="1" dirty="0">
                <a:latin typeface="楷体_GB2312" pitchFamily="1" charset="-122"/>
                <a:ea typeface="楷体_GB2312" pitchFamily="1" charset="-122"/>
              </a:rPr>
              <a:t>、测量开环幅频和相频特性，记录到表</a:t>
            </a:r>
            <a:r>
              <a:rPr lang="en-US" altLang="zh-CN" b="1" dirty="0">
                <a:latin typeface="楷体_GB2312" pitchFamily="1" charset="-122"/>
                <a:ea typeface="楷体_GB2312" pitchFamily="1" charset="-122"/>
              </a:rPr>
              <a:t>4.9.1</a:t>
            </a:r>
            <a:endParaRPr lang="en-US" altLang="zh-CN" b="1" dirty="0">
              <a:latin typeface="楷体_GB2312" pitchFamily="1" charset="-122"/>
              <a:ea typeface="楷体_GB2312" pitchFamily="1" charset="-122"/>
            </a:endParaRPr>
          </a:p>
          <a:p>
            <a:pPr algn="just" eaLnBrk="1" hangingPunct="1">
              <a:buNone/>
            </a:pPr>
            <a:r>
              <a:rPr lang="zh-CN" altLang="en-US" sz="2400" b="1" dirty="0">
                <a:solidFill>
                  <a:srgbClr val="FF0000"/>
                </a:solidFill>
                <a:latin typeface="楷体_GB2312" pitchFamily="1" charset="-122"/>
                <a:ea typeface="楷体_GB2312" pitchFamily="1" charset="-122"/>
              </a:rPr>
              <a:t>　　　断开ａ点，调节输入信号的频率　　　</a:t>
            </a:r>
            <a:endParaRPr lang="en-US" altLang="zh-CN" sz="2400" b="1" dirty="0">
              <a:solidFill>
                <a:srgbClr val="FF0000"/>
              </a:solidFill>
              <a:latin typeface="楷体_GB2312" pitchFamily="1" charset="-122"/>
              <a:ea typeface="楷体_GB2312" pitchFamily="1" charset="-122"/>
            </a:endParaRPr>
          </a:p>
          <a:p>
            <a:pPr algn="just" eaLnBrk="1" hangingPunct="1">
              <a:buNone/>
            </a:pPr>
            <a:r>
              <a:rPr lang="zh-CN" altLang="en-US" sz="2400" b="1" dirty="0">
                <a:solidFill>
                  <a:srgbClr val="FF0000"/>
                </a:solidFill>
                <a:latin typeface="楷体_GB2312" pitchFamily="1" charset="-122"/>
                <a:ea typeface="楷体_GB2312" pitchFamily="1" charset="-122"/>
              </a:rPr>
              <a:t>　　　此时输入的信号幅度保持和步骤</a:t>
            </a:r>
            <a:r>
              <a:rPr lang="en-US" altLang="zh-CN" sz="2400" b="1" dirty="0">
                <a:solidFill>
                  <a:srgbClr val="FF0000"/>
                </a:solidFill>
                <a:latin typeface="楷体_GB2312" pitchFamily="1" charset="-122"/>
                <a:ea typeface="楷体_GB2312" pitchFamily="1" charset="-122"/>
              </a:rPr>
              <a:t>2</a:t>
            </a:r>
            <a:r>
              <a:rPr lang="zh-CN" altLang="en-US" sz="2400" b="1" dirty="0">
                <a:solidFill>
                  <a:srgbClr val="FF0000"/>
                </a:solidFill>
                <a:latin typeface="楷体_GB2312" pitchFamily="1" charset="-122"/>
                <a:ea typeface="楷体_GB2312" pitchFamily="1" charset="-122"/>
              </a:rPr>
              <a:t>测量结果一致</a:t>
            </a:r>
            <a:endParaRPr lang="en-US" altLang="zh-CN" sz="2400" b="1" dirty="0">
              <a:solidFill>
                <a:srgbClr val="FF0000"/>
              </a:solidFill>
              <a:latin typeface="楷体_GB2312" pitchFamily="1" charset="-122"/>
              <a:ea typeface="楷体_GB2312" pitchFamily="1" charset="-122"/>
            </a:endParaRPr>
          </a:p>
          <a:p>
            <a:pPr algn="just" eaLnBrk="1" hangingPunct="1">
              <a:buNone/>
            </a:pPr>
            <a:r>
              <a:rPr lang="zh-CN" altLang="en-US" sz="2400" b="1" dirty="0">
                <a:solidFill>
                  <a:srgbClr val="FF0000"/>
                </a:solidFill>
                <a:latin typeface="楷体_GB2312" pitchFamily="1" charset="-122"/>
                <a:ea typeface="楷体_GB2312" pitchFamily="1" charset="-122"/>
              </a:rPr>
              <a:t>　　　用</a:t>
            </a:r>
            <a:r>
              <a:rPr lang="en-US" altLang="zh-CN" sz="2400" b="1" dirty="0">
                <a:solidFill>
                  <a:srgbClr val="FF0000"/>
                </a:solidFill>
                <a:latin typeface="楷体_GB2312" pitchFamily="1" charset="-122"/>
                <a:ea typeface="楷体_GB2312" pitchFamily="1" charset="-122"/>
              </a:rPr>
              <a:t>cursor</a:t>
            </a:r>
            <a:r>
              <a:rPr lang="zh-CN" altLang="en-US" sz="2400" b="1" dirty="0">
                <a:solidFill>
                  <a:srgbClr val="FF0000"/>
                </a:solidFill>
                <a:latin typeface="楷体_GB2312" pitchFamily="1" charset="-122"/>
                <a:ea typeface="楷体_GB2312" pitchFamily="1" charset="-122"/>
              </a:rPr>
              <a:t>功能测量时间差，换算为相差</a:t>
            </a:r>
            <a:endParaRPr lang="zh-CN" altLang="en-US" sz="2400" b="1" dirty="0">
              <a:solidFill>
                <a:srgbClr val="FF0000"/>
              </a:solidFill>
              <a:latin typeface="楷体_GB2312" pitchFamily="1" charset="-122"/>
              <a:ea typeface="楷体_GB2312" pitchFamily="1" charset="-122"/>
            </a:endParaRPr>
          </a:p>
          <a:p>
            <a:pPr algn="just" eaLnBrk="1" hangingPunct="1">
              <a:buNone/>
            </a:pPr>
            <a:r>
              <a:rPr lang="en-US" altLang="zh-CN" b="1" dirty="0">
                <a:latin typeface="楷体_GB2312" pitchFamily="1" charset="-122"/>
                <a:ea typeface="楷体_GB2312" pitchFamily="1" charset="-122"/>
              </a:rPr>
              <a:t>4.  </a:t>
            </a:r>
            <a:r>
              <a:rPr lang="zh-CN" altLang="en-US" b="1" dirty="0">
                <a:latin typeface="楷体_GB2312" pitchFamily="1" charset="-122"/>
                <a:ea typeface="楷体_GB2312" pitchFamily="1" charset="-122"/>
              </a:rPr>
              <a:t>思考题</a:t>
            </a:r>
            <a:endParaRPr lang="zh-CN" altLang="en-US" b="1" dirty="0">
              <a:latin typeface="楷体_GB2312" pitchFamily="1" charset="-122"/>
              <a:ea typeface="楷体_GB2312" pitchFamily="1" charset="-122"/>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33793" name="Rectangle 86"/>
          <p:cNvSpPr>
            <a:spLocks noGrp="1"/>
          </p:cNvSpPr>
          <p:nvPr/>
        </p:nvSpPr>
        <p:spPr>
          <a:xfrm>
            <a:off x="2135505" y="2778125"/>
            <a:ext cx="8001000" cy="755650"/>
          </a:xfrm>
          <a:prstGeom prst="rect">
            <a:avLst/>
          </a:prstGeom>
          <a:noFill/>
          <a:ln w="9525">
            <a:noFill/>
          </a:ln>
        </p:spPr>
        <p:txBody>
          <a:bodyPr wrap="square" lIns="91440" tIns="45720" rIns="91440" bIns="45720" anchor="b" anchorCtr="0"/>
          <a:p>
            <a:r>
              <a:rPr lang="zh-CN" altLang="en-US" sz="4400" b="1" dirty="0">
                <a:solidFill>
                  <a:schemeClr val="tx1"/>
                </a:solidFill>
                <a:latin typeface="+mn-ea"/>
                <a:ea typeface="+mn-ea"/>
                <a:cs typeface="+mn-ea"/>
              </a:rPr>
              <a:t>实验</a:t>
            </a:r>
            <a:r>
              <a:rPr lang="zh-CN" altLang="en-US" sz="4400" b="1" dirty="0">
                <a:solidFill>
                  <a:srgbClr val="FF0000"/>
                </a:solidFill>
                <a:latin typeface="+mn-ea"/>
                <a:ea typeface="+mn-ea"/>
                <a:cs typeface="+mn-ea"/>
              </a:rPr>
              <a:t>十一</a:t>
            </a:r>
            <a:r>
              <a:rPr lang="en-US" altLang="zh-CN" sz="4400" b="1" dirty="0">
                <a:solidFill>
                  <a:schemeClr val="tx1"/>
                </a:solidFill>
                <a:latin typeface="+mn-ea"/>
                <a:ea typeface="+mn-ea"/>
                <a:cs typeface="+mn-ea"/>
              </a:rPr>
              <a:t>  </a:t>
            </a:r>
            <a:r>
              <a:rPr lang="zh-CN" altLang="en-US" sz="4400" b="1" dirty="0">
                <a:solidFill>
                  <a:schemeClr val="tx1"/>
                </a:solidFill>
                <a:latin typeface="+mn-ea"/>
                <a:ea typeface="+mn-ea"/>
                <a:cs typeface="+mn-ea"/>
              </a:rPr>
              <a:t>精密</a:t>
            </a:r>
            <a:r>
              <a:rPr lang="zh-CN" altLang="en-US" sz="4400" b="1" dirty="0">
                <a:solidFill>
                  <a:srgbClr val="FF0000"/>
                </a:solidFill>
                <a:latin typeface="+mn-ea"/>
                <a:ea typeface="+mn-ea"/>
                <a:cs typeface="+mn-ea"/>
              </a:rPr>
              <a:t>全波</a:t>
            </a:r>
            <a:r>
              <a:rPr lang="zh-CN" altLang="en-US" sz="4400" b="1" dirty="0">
                <a:solidFill>
                  <a:schemeClr val="tx1"/>
                </a:solidFill>
                <a:latin typeface="+mn-ea"/>
                <a:ea typeface="+mn-ea"/>
                <a:cs typeface="+mn-ea"/>
              </a:rPr>
              <a:t>整流电路</a:t>
            </a:r>
            <a:endParaRPr lang="zh-CN" altLang="en-US" sz="4400" b="1" dirty="0">
              <a:solidFill>
                <a:schemeClr val="tx1"/>
              </a:solidFill>
              <a:latin typeface="+mn-ea"/>
              <a:ea typeface="+mn-ea"/>
              <a:cs typeface="+mn-ea"/>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914" name="Rectangle 101"/>
          <p:cNvSpPr/>
          <p:nvPr/>
        </p:nvSpPr>
        <p:spPr>
          <a:xfrm>
            <a:off x="852805" y="979805"/>
            <a:ext cx="1857375" cy="1219835"/>
          </a:xfrm>
          <a:prstGeom prst="rect">
            <a:avLst/>
          </a:prstGeom>
          <a:solidFill>
            <a:srgbClr val="FFFFFF"/>
          </a:solidFill>
          <a:ln w="9525" cap="flat" cmpd="sng">
            <a:solidFill>
              <a:schemeClr val="tx1"/>
            </a:solidFill>
            <a:prstDash val="solid"/>
            <a:miter/>
            <a:headEnd type="none" w="med" len="med"/>
            <a:tailEnd type="none" w="med" len="med"/>
          </a:ln>
        </p:spPr>
        <p:txBody>
          <a:bodyPr wrap="none" anchor="ctr" anchorCtr="0"/>
          <a:p>
            <a:pPr>
              <a:buFont typeface="Wingdings" panose="05000000000000000000" pitchFamily="2" charset="2"/>
            </a:pPr>
            <a:r>
              <a:rPr lang="zh-CN" altLang="en-US" sz="2400" b="1" dirty="0">
                <a:solidFill>
                  <a:schemeClr val="tx1"/>
                </a:solidFill>
                <a:latin typeface="+mn-ea"/>
                <a:ea typeface="+mn-ea"/>
              </a:rPr>
              <a:t>函数发生器</a:t>
            </a:r>
            <a:endParaRPr lang="en-US" altLang="zh-CN" sz="2400" b="1" dirty="0">
              <a:solidFill>
                <a:schemeClr val="tx1"/>
              </a:solidFill>
              <a:latin typeface="宋体" panose="02010600030101010101" pitchFamily="2" charset="-122"/>
              <a:ea typeface="宋体" panose="02010600030101010101" pitchFamily="2" charset="-122"/>
            </a:endParaRPr>
          </a:p>
          <a:p>
            <a:pPr>
              <a:buFont typeface="Wingdings" panose="05000000000000000000" pitchFamily="2" charset="2"/>
            </a:pPr>
            <a:r>
              <a:rPr lang="en-US" altLang="zh-CN" sz="2400" b="1" i="1" dirty="0">
                <a:solidFill>
                  <a:srgbClr val="FF0000"/>
                </a:solidFill>
                <a:latin typeface="+mn-lt"/>
                <a:ea typeface="宋体" panose="02010600030101010101" pitchFamily="2" charset="-122"/>
                <a:cs typeface="+mn-lt"/>
              </a:rPr>
              <a:t>V</a:t>
            </a:r>
            <a:r>
              <a:rPr lang="en-US" altLang="zh-CN" sz="2400" b="1" baseline="-25000" dirty="0">
                <a:solidFill>
                  <a:srgbClr val="FF0000"/>
                </a:solidFill>
                <a:latin typeface="+mn-lt"/>
                <a:ea typeface="宋体" panose="02010600030101010101" pitchFamily="2" charset="-122"/>
                <a:cs typeface="+mn-lt"/>
              </a:rPr>
              <a:t>ip-p</a:t>
            </a:r>
            <a:r>
              <a:rPr lang="en-US" altLang="zh-CN" sz="2400" b="1" dirty="0">
                <a:solidFill>
                  <a:srgbClr val="FF0000"/>
                </a:solidFill>
                <a:latin typeface="+mn-lt"/>
                <a:ea typeface="宋体" panose="02010600030101010101" pitchFamily="2" charset="-122"/>
                <a:cs typeface="+mn-lt"/>
              </a:rPr>
              <a:t>=1V</a:t>
            </a:r>
            <a:endParaRPr lang="en-US" altLang="zh-CN" sz="2400" b="1" dirty="0">
              <a:solidFill>
                <a:srgbClr val="FF0000"/>
              </a:solidFill>
              <a:latin typeface="+mn-lt"/>
              <a:ea typeface="宋体" panose="02010600030101010101" pitchFamily="2" charset="-122"/>
              <a:cs typeface="+mn-lt"/>
            </a:endParaRPr>
          </a:p>
          <a:p>
            <a:pPr>
              <a:buFont typeface="Wingdings" panose="05000000000000000000" pitchFamily="2" charset="2"/>
            </a:pPr>
            <a:r>
              <a:rPr lang="en-US" altLang="zh-CN" sz="2400" b="1" dirty="0">
                <a:solidFill>
                  <a:srgbClr val="FF0000"/>
                </a:solidFill>
                <a:latin typeface="+mn-lt"/>
                <a:ea typeface="宋体" panose="02010600030101010101" pitchFamily="2" charset="-122"/>
                <a:cs typeface="+mn-lt"/>
              </a:rPr>
              <a:t>f =1</a:t>
            </a:r>
            <a:r>
              <a:rPr lang="en-US" altLang="zh-CN" sz="2400" b="1" dirty="0">
                <a:solidFill>
                  <a:srgbClr val="FF0000"/>
                </a:solidFill>
                <a:latin typeface="+mn-lt"/>
                <a:ea typeface="宋体" panose="02010600030101010101" pitchFamily="2" charset="-122"/>
                <a:cs typeface="+mn-lt"/>
              </a:rPr>
              <a:t>kHz</a:t>
            </a:r>
            <a:endParaRPr lang="en-US" altLang="zh-CN" sz="2400" b="1" dirty="0">
              <a:solidFill>
                <a:srgbClr val="FF0000"/>
              </a:solidFill>
              <a:latin typeface="+mn-lt"/>
              <a:ea typeface="宋体" panose="02010600030101010101" pitchFamily="2" charset="-122"/>
              <a:cs typeface="+mn-lt"/>
            </a:endParaRPr>
          </a:p>
        </p:txBody>
      </p:sp>
      <p:sp>
        <p:nvSpPr>
          <p:cNvPr id="34817" name="Text Box 3"/>
          <p:cNvSpPr txBox="1"/>
          <p:nvPr/>
        </p:nvSpPr>
        <p:spPr>
          <a:xfrm>
            <a:off x="2407285" y="2797175"/>
            <a:ext cx="685800" cy="460375"/>
          </a:xfrm>
          <a:prstGeom prst="rect">
            <a:avLst/>
          </a:prstGeom>
          <a:noFill/>
          <a:ln w="9525">
            <a:noFill/>
          </a:ln>
        </p:spPr>
        <p:txBody>
          <a:bodyPr anchor="t" anchorCtr="0">
            <a:spAutoFit/>
          </a:bodyPr>
          <a:p>
            <a:pPr>
              <a:spcBef>
                <a:spcPct val="50000"/>
              </a:spcBef>
              <a:buFont typeface="Wingdings" panose="05000000000000000000" pitchFamily="2" charset="2"/>
            </a:pPr>
            <a:r>
              <a:rPr lang="en-US" altLang="zh-CN" sz="2400" b="1" i="1" dirty="0">
                <a:solidFill>
                  <a:srgbClr val="FF0000"/>
                </a:solidFill>
                <a:latin typeface="+mn-lt"/>
                <a:ea typeface="宋体" panose="02010600030101010101" pitchFamily="2" charset="-122"/>
                <a:cs typeface="+mn-lt"/>
              </a:rPr>
              <a:t>V</a:t>
            </a:r>
            <a:r>
              <a:rPr lang="en-US" altLang="zh-CN" sz="2400" b="1" baseline="-25000" dirty="0">
                <a:solidFill>
                  <a:srgbClr val="FF0000"/>
                </a:solidFill>
                <a:latin typeface="+mn-lt"/>
                <a:ea typeface="宋体" panose="02010600030101010101" pitchFamily="2" charset="-122"/>
                <a:cs typeface="+mn-lt"/>
              </a:rPr>
              <a:t>i</a:t>
            </a:r>
            <a:endParaRPr lang="en-US" altLang="zh-CN" sz="2400" b="1" baseline="-25000" dirty="0">
              <a:solidFill>
                <a:srgbClr val="FF0000"/>
              </a:solidFill>
              <a:latin typeface="+mn-lt"/>
              <a:ea typeface="宋体" panose="02010600030101010101" pitchFamily="2" charset="-122"/>
              <a:cs typeface="+mn-lt"/>
            </a:endParaRPr>
          </a:p>
        </p:txBody>
      </p:sp>
      <p:sp>
        <p:nvSpPr>
          <p:cNvPr id="34818" name="Text Box 4"/>
          <p:cNvSpPr txBox="1"/>
          <p:nvPr/>
        </p:nvSpPr>
        <p:spPr>
          <a:xfrm>
            <a:off x="9191625" y="3258820"/>
            <a:ext cx="762000" cy="460375"/>
          </a:xfrm>
          <a:prstGeom prst="rect">
            <a:avLst/>
          </a:prstGeom>
          <a:noFill/>
          <a:ln w="9525">
            <a:noFill/>
          </a:ln>
        </p:spPr>
        <p:txBody>
          <a:bodyPr anchor="t" anchorCtr="0">
            <a:spAutoFit/>
          </a:bodyPr>
          <a:p>
            <a:pPr>
              <a:spcBef>
                <a:spcPct val="50000"/>
              </a:spcBef>
              <a:buFont typeface="Wingdings" panose="05000000000000000000" pitchFamily="2" charset="2"/>
            </a:pPr>
            <a:r>
              <a:rPr lang="en-US" altLang="zh-CN" sz="2400" b="1" i="1" dirty="0">
                <a:solidFill>
                  <a:srgbClr val="FF0000"/>
                </a:solidFill>
                <a:latin typeface="+mn-lt"/>
                <a:ea typeface="宋体" panose="02010600030101010101" pitchFamily="2" charset="-122"/>
                <a:cs typeface="+mn-lt"/>
              </a:rPr>
              <a:t>V</a:t>
            </a:r>
            <a:r>
              <a:rPr lang="en-US" altLang="zh-CN" sz="2400" b="1" baseline="-25000" dirty="0">
                <a:solidFill>
                  <a:srgbClr val="FF0000"/>
                </a:solidFill>
                <a:latin typeface="+mn-lt"/>
                <a:ea typeface="宋体" panose="02010600030101010101" pitchFamily="2" charset="-122"/>
                <a:cs typeface="+mn-lt"/>
              </a:rPr>
              <a:t>o</a:t>
            </a:r>
            <a:endParaRPr lang="en-US" altLang="zh-CN" sz="2400" b="1" baseline="-25000" dirty="0">
              <a:solidFill>
                <a:srgbClr val="FF0000"/>
              </a:solidFill>
              <a:latin typeface="+mn-lt"/>
              <a:ea typeface="宋体" panose="02010600030101010101" pitchFamily="2" charset="-122"/>
              <a:cs typeface="+mn-lt"/>
            </a:endParaRPr>
          </a:p>
        </p:txBody>
      </p:sp>
      <p:grpSp>
        <p:nvGrpSpPr>
          <p:cNvPr id="4" name="组合 3"/>
          <p:cNvGrpSpPr/>
          <p:nvPr/>
        </p:nvGrpSpPr>
        <p:grpSpPr>
          <a:xfrm>
            <a:off x="6268085" y="2087245"/>
            <a:ext cx="906145" cy="889635"/>
            <a:chOff x="9521" y="3913"/>
            <a:chExt cx="1427" cy="1401"/>
          </a:xfrm>
        </p:grpSpPr>
        <p:sp>
          <p:nvSpPr>
            <p:cNvPr id="34853" name="Text Box 39"/>
            <p:cNvSpPr txBox="1"/>
            <p:nvPr/>
          </p:nvSpPr>
          <p:spPr>
            <a:xfrm>
              <a:off x="9628" y="3913"/>
              <a:ext cx="1320" cy="725"/>
            </a:xfrm>
            <a:prstGeom prst="rect">
              <a:avLst/>
            </a:prstGeom>
            <a:noFill/>
            <a:ln w="9525">
              <a:noFill/>
            </a:ln>
          </p:spPr>
          <p:txBody>
            <a:bodyPr anchor="t" anchorCtr="0">
              <a:spAutoFit/>
            </a:bodyPr>
            <a:p>
              <a:pPr>
                <a:spcBef>
                  <a:spcPct val="50000"/>
                </a:spcBef>
                <a:buFont typeface="Wingdings" panose="05000000000000000000" pitchFamily="2" charset="2"/>
              </a:pPr>
              <a:r>
                <a:rPr lang="en-US" altLang="zh-CN" sz="2400" b="1" i="1" dirty="0">
                  <a:solidFill>
                    <a:srgbClr val="FF0000"/>
                  </a:solidFill>
                  <a:latin typeface="Times New Roman" panose="02020603050405020304" pitchFamily="2" charset="0"/>
                  <a:ea typeface="宋体" panose="02010600030101010101" pitchFamily="2" charset="-122"/>
                  <a:cs typeface="Times New Roman" panose="02020603050405020304" pitchFamily="2" charset="0"/>
                </a:rPr>
                <a:t>V</a:t>
              </a:r>
              <a:r>
                <a:rPr lang="en-US" altLang="zh-CN" sz="2400" b="1" baseline="-25000" dirty="0">
                  <a:solidFill>
                    <a:srgbClr val="FF0000"/>
                  </a:solidFill>
                  <a:latin typeface="Times New Roman" panose="02020603050405020304" pitchFamily="2" charset="0"/>
                  <a:ea typeface="宋体" panose="02010600030101010101" pitchFamily="2" charset="-122"/>
                  <a:cs typeface="Times New Roman" panose="02020603050405020304" pitchFamily="2" charset="0"/>
                </a:rPr>
                <a:t>o1</a:t>
              </a:r>
              <a:endParaRPr lang="en-US" altLang="zh-CN" sz="2400" b="1" baseline="-25000" dirty="0">
                <a:solidFill>
                  <a:srgbClr val="FF0000"/>
                </a:solidFill>
                <a:latin typeface="Times New Roman" panose="02020603050405020304" pitchFamily="2" charset="0"/>
                <a:ea typeface="宋体" panose="02010600030101010101" pitchFamily="2" charset="-122"/>
                <a:cs typeface="Times New Roman" panose="02020603050405020304" pitchFamily="2" charset="0"/>
              </a:endParaRPr>
            </a:p>
          </p:txBody>
        </p:sp>
        <p:sp>
          <p:nvSpPr>
            <p:cNvPr id="34896" name="Line 82"/>
            <p:cNvSpPr/>
            <p:nvPr/>
          </p:nvSpPr>
          <p:spPr>
            <a:xfrm flipV="1">
              <a:off x="9521" y="4548"/>
              <a:ext cx="559" cy="766"/>
            </a:xfrm>
            <a:prstGeom prst="line">
              <a:avLst/>
            </a:prstGeom>
            <a:ln w="38100" cap="flat" cmpd="sng">
              <a:solidFill>
                <a:srgbClr val="FF0000"/>
              </a:solidFill>
              <a:prstDash val="solid"/>
              <a:round/>
              <a:headEnd type="none" w="med" len="med"/>
              <a:tailEnd type="triangle" w="med" len="med"/>
            </a:ln>
          </p:spPr>
        </p:sp>
      </p:grpSp>
      <p:sp>
        <p:nvSpPr>
          <p:cNvPr id="34897" name="Rectangle 84"/>
          <p:cNvSpPr/>
          <p:nvPr/>
        </p:nvSpPr>
        <p:spPr>
          <a:xfrm>
            <a:off x="2351088" y="7167563"/>
            <a:ext cx="7354887" cy="607695"/>
          </a:xfrm>
          <a:prstGeom prst="rect">
            <a:avLst/>
          </a:prstGeom>
          <a:noFill/>
          <a:ln w="9525">
            <a:noFill/>
          </a:ln>
        </p:spPr>
        <p:txBody>
          <a:bodyPr anchor="t" anchorCtr="0">
            <a:spAutoFit/>
          </a:bodyPr>
          <a:p>
            <a:pPr marL="342900" indent="-342900">
              <a:lnSpc>
                <a:spcPct val="120000"/>
              </a:lnSpc>
              <a:buClr>
                <a:schemeClr val="folHlink"/>
              </a:buClr>
              <a:buSzPct val="60000"/>
              <a:buFont typeface="Wingdings" panose="05000000000000000000" pitchFamily="2" charset="2"/>
            </a:pPr>
            <a:r>
              <a:rPr lang="zh-CN" altLang="en-US" sz="2800" b="1" dirty="0">
                <a:solidFill>
                  <a:schemeClr val="tx1"/>
                </a:solidFill>
                <a:latin typeface="楷体_GB2312" pitchFamily="1" charset="-122"/>
                <a:ea typeface="楷体_GB2312" pitchFamily="1" charset="-122"/>
              </a:rPr>
              <a:t>使用两片</a:t>
            </a:r>
            <a:r>
              <a:rPr lang="en-US" altLang="zh-CN" sz="2800" b="1" dirty="0">
                <a:solidFill>
                  <a:schemeClr val="tx1"/>
                </a:solidFill>
                <a:latin typeface="楷体_GB2312" pitchFamily="1" charset="-122"/>
                <a:ea typeface="楷体_GB2312" pitchFamily="1" charset="-122"/>
              </a:rPr>
              <a:t>uA741</a:t>
            </a:r>
            <a:r>
              <a:rPr lang="zh-CN" altLang="en-US" sz="2800" b="1" dirty="0">
                <a:solidFill>
                  <a:schemeClr val="tx1"/>
                </a:solidFill>
                <a:latin typeface="楷体_GB2312" pitchFamily="1" charset="-122"/>
                <a:ea typeface="楷体_GB2312" pitchFamily="1" charset="-122"/>
              </a:rPr>
              <a:t>或</a:t>
            </a:r>
            <a:r>
              <a:rPr lang="en-US" altLang="zh-CN" sz="2800" b="1" dirty="0">
                <a:solidFill>
                  <a:schemeClr val="tx1"/>
                </a:solidFill>
                <a:latin typeface="楷体_GB2312" pitchFamily="1" charset="-122"/>
                <a:ea typeface="楷体_GB2312" pitchFamily="1" charset="-122"/>
              </a:rPr>
              <a:t>1</a:t>
            </a:r>
            <a:r>
              <a:rPr lang="zh-CN" altLang="en-US" sz="2800" b="1" dirty="0">
                <a:solidFill>
                  <a:schemeClr val="tx1"/>
                </a:solidFill>
                <a:latin typeface="楷体_GB2312" pitchFamily="1" charset="-122"/>
                <a:ea typeface="楷体_GB2312" pitchFamily="1" charset="-122"/>
              </a:rPr>
              <a:t>片</a:t>
            </a:r>
            <a:r>
              <a:rPr lang="en-US" altLang="zh-CN" sz="2800" b="1" dirty="0">
                <a:solidFill>
                  <a:schemeClr val="tx1"/>
                </a:solidFill>
                <a:latin typeface="楷体_GB2312" pitchFamily="1" charset="-122"/>
                <a:ea typeface="楷体_GB2312" pitchFamily="1" charset="-122"/>
              </a:rPr>
              <a:t>LM324</a:t>
            </a:r>
            <a:r>
              <a:rPr lang="zh-CN" altLang="en-US" sz="2800" b="1" dirty="0">
                <a:solidFill>
                  <a:schemeClr val="tx1"/>
                </a:solidFill>
                <a:latin typeface="楷体_GB2312" pitchFamily="1" charset="-122"/>
                <a:ea typeface="楷体_GB2312" pitchFamily="1" charset="-122"/>
              </a:rPr>
              <a:t>集成运算放大器</a:t>
            </a:r>
            <a:endParaRPr lang="zh-CN" altLang="en-US" sz="2800" b="1" dirty="0">
              <a:solidFill>
                <a:schemeClr val="tx1"/>
              </a:solidFill>
              <a:latin typeface="楷体_GB2312" pitchFamily="1" charset="-122"/>
              <a:ea typeface="楷体_GB2312" pitchFamily="1" charset="-122"/>
            </a:endParaRPr>
          </a:p>
        </p:txBody>
      </p:sp>
      <p:grpSp>
        <p:nvGrpSpPr>
          <p:cNvPr id="34898" name="Group 106"/>
          <p:cNvGrpSpPr/>
          <p:nvPr/>
        </p:nvGrpSpPr>
        <p:grpSpPr>
          <a:xfrm>
            <a:off x="972188" y="2218690"/>
            <a:ext cx="1334879" cy="1207770"/>
            <a:chOff x="101" y="1752"/>
            <a:chExt cx="476" cy="589"/>
          </a:xfrm>
        </p:grpSpPr>
        <p:grpSp>
          <p:nvGrpSpPr>
            <p:cNvPr id="34899" name="Group 95"/>
            <p:cNvGrpSpPr/>
            <p:nvPr/>
          </p:nvGrpSpPr>
          <p:grpSpPr>
            <a:xfrm>
              <a:off x="113" y="1979"/>
              <a:ext cx="348" cy="272"/>
              <a:chOff x="763" y="2296"/>
              <a:chExt cx="1813" cy="454"/>
            </a:xfrm>
          </p:grpSpPr>
          <p:sp>
            <p:nvSpPr>
              <p:cNvPr id="34900" name="Freeform 88"/>
              <p:cNvSpPr/>
              <p:nvPr/>
            </p:nvSpPr>
            <p:spPr>
              <a:xfrm>
                <a:off x="763" y="2296"/>
                <a:ext cx="453" cy="227"/>
              </a:xfrm>
              <a:custGeom>
                <a:avLst/>
                <a:gdLst/>
                <a:ahLst/>
                <a:cxnLst>
                  <a:cxn ang="0">
                    <a:pos x="0" y="8"/>
                  </a:cxn>
                  <a:cxn ang="0">
                    <a:pos x="226" y="0"/>
                  </a:cxn>
                  <a:cxn ang="0">
                    <a:pos x="453" y="8"/>
                  </a:cxn>
                </a:cxnLst>
                <a:pathLst>
                  <a:path w="453" h="454">
                    <a:moveTo>
                      <a:pt x="0" y="454"/>
                    </a:moveTo>
                    <a:cubicBezTo>
                      <a:pt x="75" y="227"/>
                      <a:pt x="151" y="0"/>
                      <a:pt x="226" y="0"/>
                    </a:cubicBezTo>
                    <a:cubicBezTo>
                      <a:pt x="301" y="0"/>
                      <a:pt x="377" y="227"/>
                      <a:pt x="453" y="454"/>
                    </a:cubicBezTo>
                  </a:path>
                </a:pathLst>
              </a:custGeom>
              <a:noFill/>
              <a:ln w="9525" cap="flat" cmpd="sng">
                <a:solidFill>
                  <a:srgbClr val="FF0000"/>
                </a:solidFill>
                <a:prstDash val="solid"/>
                <a:round/>
                <a:headEnd type="none" w="med" len="med"/>
                <a:tailEnd type="none" w="med" len="med"/>
              </a:ln>
            </p:spPr>
            <p:txBody>
              <a:bodyPr/>
              <a:p>
                <a:endParaRPr lang="zh-CN" altLang="en-US"/>
              </a:p>
            </p:txBody>
          </p:sp>
          <p:sp>
            <p:nvSpPr>
              <p:cNvPr id="34901" name="Freeform 89"/>
              <p:cNvSpPr/>
              <p:nvPr/>
            </p:nvSpPr>
            <p:spPr>
              <a:xfrm flipV="1">
                <a:off x="1216" y="2523"/>
                <a:ext cx="453" cy="227"/>
              </a:xfrm>
              <a:custGeom>
                <a:avLst/>
                <a:gdLst/>
                <a:ahLst/>
                <a:cxnLst>
                  <a:cxn ang="0">
                    <a:pos x="0" y="8"/>
                  </a:cxn>
                  <a:cxn ang="0">
                    <a:pos x="226" y="0"/>
                  </a:cxn>
                  <a:cxn ang="0">
                    <a:pos x="453" y="8"/>
                  </a:cxn>
                </a:cxnLst>
                <a:pathLst>
                  <a:path w="453" h="454">
                    <a:moveTo>
                      <a:pt x="0" y="454"/>
                    </a:moveTo>
                    <a:cubicBezTo>
                      <a:pt x="75" y="227"/>
                      <a:pt x="151" y="0"/>
                      <a:pt x="226" y="0"/>
                    </a:cubicBezTo>
                    <a:cubicBezTo>
                      <a:pt x="301" y="0"/>
                      <a:pt x="377" y="227"/>
                      <a:pt x="453" y="454"/>
                    </a:cubicBezTo>
                  </a:path>
                </a:pathLst>
              </a:custGeom>
              <a:noFill/>
              <a:ln w="9525" cap="flat" cmpd="sng">
                <a:solidFill>
                  <a:srgbClr val="FF0000"/>
                </a:solidFill>
                <a:prstDash val="solid"/>
                <a:round/>
                <a:headEnd type="none" w="med" len="med"/>
                <a:tailEnd type="none" w="med" len="med"/>
              </a:ln>
            </p:spPr>
            <p:txBody>
              <a:bodyPr/>
              <a:p>
                <a:endParaRPr lang="zh-CN" altLang="en-US"/>
              </a:p>
            </p:txBody>
          </p:sp>
          <p:sp>
            <p:nvSpPr>
              <p:cNvPr id="34902" name="Freeform 90"/>
              <p:cNvSpPr/>
              <p:nvPr/>
            </p:nvSpPr>
            <p:spPr>
              <a:xfrm>
                <a:off x="1670" y="2296"/>
                <a:ext cx="453" cy="227"/>
              </a:xfrm>
              <a:custGeom>
                <a:avLst/>
                <a:gdLst/>
                <a:ahLst/>
                <a:cxnLst>
                  <a:cxn ang="0">
                    <a:pos x="0" y="8"/>
                  </a:cxn>
                  <a:cxn ang="0">
                    <a:pos x="226" y="0"/>
                  </a:cxn>
                  <a:cxn ang="0">
                    <a:pos x="453" y="8"/>
                  </a:cxn>
                </a:cxnLst>
                <a:pathLst>
                  <a:path w="453" h="454">
                    <a:moveTo>
                      <a:pt x="0" y="454"/>
                    </a:moveTo>
                    <a:cubicBezTo>
                      <a:pt x="75" y="227"/>
                      <a:pt x="151" y="0"/>
                      <a:pt x="226" y="0"/>
                    </a:cubicBezTo>
                    <a:cubicBezTo>
                      <a:pt x="301" y="0"/>
                      <a:pt x="377" y="227"/>
                      <a:pt x="453" y="454"/>
                    </a:cubicBezTo>
                  </a:path>
                </a:pathLst>
              </a:custGeom>
              <a:noFill/>
              <a:ln w="9525" cap="flat" cmpd="sng">
                <a:solidFill>
                  <a:srgbClr val="FF0000"/>
                </a:solidFill>
                <a:prstDash val="solid"/>
                <a:round/>
                <a:headEnd type="none" w="med" len="med"/>
                <a:tailEnd type="none" w="med" len="med"/>
              </a:ln>
            </p:spPr>
            <p:txBody>
              <a:bodyPr/>
              <a:p>
                <a:endParaRPr lang="zh-CN" altLang="en-US"/>
              </a:p>
            </p:txBody>
          </p:sp>
          <p:sp>
            <p:nvSpPr>
              <p:cNvPr id="34903" name="Freeform 91"/>
              <p:cNvSpPr/>
              <p:nvPr/>
            </p:nvSpPr>
            <p:spPr>
              <a:xfrm flipV="1">
                <a:off x="2123" y="2523"/>
                <a:ext cx="453" cy="227"/>
              </a:xfrm>
              <a:custGeom>
                <a:avLst/>
                <a:gdLst/>
                <a:ahLst/>
                <a:cxnLst>
                  <a:cxn ang="0">
                    <a:pos x="0" y="8"/>
                  </a:cxn>
                  <a:cxn ang="0">
                    <a:pos x="226" y="0"/>
                  </a:cxn>
                  <a:cxn ang="0">
                    <a:pos x="453" y="8"/>
                  </a:cxn>
                </a:cxnLst>
                <a:pathLst>
                  <a:path w="453" h="454">
                    <a:moveTo>
                      <a:pt x="0" y="454"/>
                    </a:moveTo>
                    <a:cubicBezTo>
                      <a:pt x="75" y="227"/>
                      <a:pt x="151" y="0"/>
                      <a:pt x="226" y="0"/>
                    </a:cubicBezTo>
                    <a:cubicBezTo>
                      <a:pt x="301" y="0"/>
                      <a:pt x="377" y="227"/>
                      <a:pt x="453" y="454"/>
                    </a:cubicBezTo>
                  </a:path>
                </a:pathLst>
              </a:custGeom>
              <a:noFill/>
              <a:ln w="9525" cap="flat" cmpd="sng">
                <a:solidFill>
                  <a:srgbClr val="FF0000"/>
                </a:solidFill>
                <a:prstDash val="solid"/>
                <a:round/>
                <a:headEnd type="none" w="med" len="med"/>
                <a:tailEnd type="none" w="med" len="med"/>
              </a:ln>
            </p:spPr>
            <p:txBody>
              <a:bodyPr/>
              <a:p>
                <a:endParaRPr lang="zh-CN" altLang="en-US"/>
              </a:p>
            </p:txBody>
          </p:sp>
        </p:grpSp>
        <p:sp>
          <p:nvSpPr>
            <p:cNvPr id="34904" name="Line 104"/>
            <p:cNvSpPr/>
            <p:nvPr/>
          </p:nvSpPr>
          <p:spPr>
            <a:xfrm>
              <a:off x="101" y="2115"/>
              <a:ext cx="476" cy="0"/>
            </a:xfrm>
            <a:prstGeom prst="line">
              <a:avLst/>
            </a:prstGeom>
            <a:ln w="19050" cap="flat" cmpd="sng">
              <a:solidFill>
                <a:schemeClr val="tx1"/>
              </a:solidFill>
              <a:prstDash val="solid"/>
              <a:round/>
              <a:headEnd type="none" w="med" len="med"/>
              <a:tailEnd type="arrow" w="med" len="med"/>
            </a:ln>
          </p:spPr>
        </p:sp>
        <p:sp>
          <p:nvSpPr>
            <p:cNvPr id="34905" name="Line 105"/>
            <p:cNvSpPr/>
            <p:nvPr/>
          </p:nvSpPr>
          <p:spPr>
            <a:xfrm flipV="1">
              <a:off x="113" y="1752"/>
              <a:ext cx="0" cy="589"/>
            </a:xfrm>
            <a:prstGeom prst="line">
              <a:avLst/>
            </a:prstGeom>
            <a:ln w="19050" cap="flat" cmpd="sng">
              <a:solidFill>
                <a:schemeClr val="tx1"/>
              </a:solidFill>
              <a:prstDash val="solid"/>
              <a:round/>
              <a:headEnd type="none" w="med" len="med"/>
              <a:tailEnd type="arrow" w="med" len="med"/>
            </a:ln>
          </p:spPr>
        </p:sp>
      </p:grpSp>
      <p:grpSp>
        <p:nvGrpSpPr>
          <p:cNvPr id="34906" name="Group 109"/>
          <p:cNvGrpSpPr/>
          <p:nvPr/>
        </p:nvGrpSpPr>
        <p:grpSpPr>
          <a:xfrm>
            <a:off x="9930765" y="2280285"/>
            <a:ext cx="1689735" cy="1268095"/>
            <a:chOff x="4921" y="2704"/>
            <a:chExt cx="544" cy="454"/>
          </a:xfrm>
        </p:grpSpPr>
        <p:grpSp>
          <p:nvGrpSpPr>
            <p:cNvPr id="34907" name="Group 103"/>
            <p:cNvGrpSpPr/>
            <p:nvPr/>
          </p:nvGrpSpPr>
          <p:grpSpPr>
            <a:xfrm>
              <a:off x="4967" y="2886"/>
              <a:ext cx="351" cy="136"/>
              <a:chOff x="4967" y="2886"/>
              <a:chExt cx="351" cy="136"/>
            </a:xfrm>
          </p:grpSpPr>
          <p:sp>
            <p:nvSpPr>
              <p:cNvPr id="34908" name="Freeform 97"/>
              <p:cNvSpPr/>
              <p:nvPr/>
            </p:nvSpPr>
            <p:spPr>
              <a:xfrm>
                <a:off x="4967" y="2886"/>
                <a:ext cx="87" cy="136"/>
              </a:xfrm>
              <a:custGeom>
                <a:avLst/>
                <a:gdLst/>
                <a:ahLst/>
                <a:cxnLst>
                  <a:cxn ang="0">
                    <a:pos x="0" y="0"/>
                  </a:cxn>
                  <a:cxn ang="0">
                    <a:pos x="0" y="0"/>
                  </a:cxn>
                  <a:cxn ang="0">
                    <a:pos x="0" y="0"/>
                  </a:cxn>
                </a:cxnLst>
                <a:pathLst>
                  <a:path w="453" h="454">
                    <a:moveTo>
                      <a:pt x="0" y="454"/>
                    </a:moveTo>
                    <a:cubicBezTo>
                      <a:pt x="75" y="227"/>
                      <a:pt x="151" y="0"/>
                      <a:pt x="226" y="0"/>
                    </a:cubicBezTo>
                    <a:cubicBezTo>
                      <a:pt x="301" y="0"/>
                      <a:pt x="377" y="227"/>
                      <a:pt x="453" y="454"/>
                    </a:cubicBezTo>
                  </a:path>
                </a:pathLst>
              </a:custGeom>
              <a:noFill/>
              <a:ln w="9525" cap="flat" cmpd="sng">
                <a:solidFill>
                  <a:srgbClr val="FF0000"/>
                </a:solidFill>
                <a:prstDash val="solid"/>
                <a:round/>
                <a:headEnd type="none" w="med" len="med"/>
                <a:tailEnd type="none" w="med" len="med"/>
              </a:ln>
            </p:spPr>
            <p:txBody>
              <a:bodyPr/>
              <a:p>
                <a:endParaRPr lang="zh-CN" altLang="en-US"/>
              </a:p>
            </p:txBody>
          </p:sp>
          <p:sp>
            <p:nvSpPr>
              <p:cNvPr id="34909" name="Freeform 99"/>
              <p:cNvSpPr/>
              <p:nvPr/>
            </p:nvSpPr>
            <p:spPr>
              <a:xfrm>
                <a:off x="5141" y="2886"/>
                <a:ext cx="87" cy="136"/>
              </a:xfrm>
              <a:custGeom>
                <a:avLst/>
                <a:gdLst/>
                <a:ahLst/>
                <a:cxnLst>
                  <a:cxn ang="0">
                    <a:pos x="0" y="0"/>
                  </a:cxn>
                  <a:cxn ang="0">
                    <a:pos x="0" y="0"/>
                  </a:cxn>
                  <a:cxn ang="0">
                    <a:pos x="0" y="0"/>
                  </a:cxn>
                </a:cxnLst>
                <a:pathLst>
                  <a:path w="453" h="454">
                    <a:moveTo>
                      <a:pt x="0" y="454"/>
                    </a:moveTo>
                    <a:cubicBezTo>
                      <a:pt x="75" y="227"/>
                      <a:pt x="151" y="0"/>
                      <a:pt x="226" y="0"/>
                    </a:cubicBezTo>
                    <a:cubicBezTo>
                      <a:pt x="301" y="0"/>
                      <a:pt x="377" y="227"/>
                      <a:pt x="453" y="454"/>
                    </a:cubicBezTo>
                  </a:path>
                </a:pathLst>
              </a:custGeom>
              <a:noFill/>
              <a:ln w="9525" cap="flat" cmpd="sng">
                <a:solidFill>
                  <a:srgbClr val="FF0000"/>
                </a:solidFill>
                <a:prstDash val="solid"/>
                <a:round/>
                <a:headEnd type="none" w="med" len="med"/>
                <a:tailEnd type="none" w="med" len="med"/>
              </a:ln>
            </p:spPr>
            <p:txBody>
              <a:bodyPr/>
              <a:p>
                <a:endParaRPr lang="zh-CN" altLang="en-US"/>
              </a:p>
            </p:txBody>
          </p:sp>
          <p:sp>
            <p:nvSpPr>
              <p:cNvPr id="34910" name="Freeform 101"/>
              <p:cNvSpPr/>
              <p:nvPr/>
            </p:nvSpPr>
            <p:spPr>
              <a:xfrm>
                <a:off x="5057" y="2886"/>
                <a:ext cx="87" cy="136"/>
              </a:xfrm>
              <a:custGeom>
                <a:avLst/>
                <a:gdLst/>
                <a:ahLst/>
                <a:cxnLst>
                  <a:cxn ang="0">
                    <a:pos x="0" y="0"/>
                  </a:cxn>
                  <a:cxn ang="0">
                    <a:pos x="0" y="0"/>
                  </a:cxn>
                  <a:cxn ang="0">
                    <a:pos x="0" y="0"/>
                  </a:cxn>
                </a:cxnLst>
                <a:pathLst>
                  <a:path w="453" h="454">
                    <a:moveTo>
                      <a:pt x="0" y="454"/>
                    </a:moveTo>
                    <a:cubicBezTo>
                      <a:pt x="75" y="227"/>
                      <a:pt x="151" y="0"/>
                      <a:pt x="226" y="0"/>
                    </a:cubicBezTo>
                    <a:cubicBezTo>
                      <a:pt x="301" y="0"/>
                      <a:pt x="377" y="227"/>
                      <a:pt x="453" y="454"/>
                    </a:cubicBezTo>
                  </a:path>
                </a:pathLst>
              </a:custGeom>
              <a:noFill/>
              <a:ln w="9525" cap="flat" cmpd="sng">
                <a:solidFill>
                  <a:srgbClr val="FF0000"/>
                </a:solidFill>
                <a:prstDash val="solid"/>
                <a:round/>
                <a:headEnd type="none" w="med" len="med"/>
                <a:tailEnd type="none" w="med" len="med"/>
              </a:ln>
            </p:spPr>
            <p:txBody>
              <a:bodyPr/>
              <a:p>
                <a:endParaRPr lang="zh-CN" altLang="en-US"/>
              </a:p>
            </p:txBody>
          </p:sp>
          <p:sp>
            <p:nvSpPr>
              <p:cNvPr id="34911" name="Freeform 102"/>
              <p:cNvSpPr/>
              <p:nvPr/>
            </p:nvSpPr>
            <p:spPr>
              <a:xfrm>
                <a:off x="5231" y="2886"/>
                <a:ext cx="87" cy="136"/>
              </a:xfrm>
              <a:custGeom>
                <a:avLst/>
                <a:gdLst/>
                <a:ahLst/>
                <a:cxnLst>
                  <a:cxn ang="0">
                    <a:pos x="0" y="0"/>
                  </a:cxn>
                  <a:cxn ang="0">
                    <a:pos x="0" y="0"/>
                  </a:cxn>
                  <a:cxn ang="0">
                    <a:pos x="0" y="0"/>
                  </a:cxn>
                </a:cxnLst>
                <a:pathLst>
                  <a:path w="453" h="454">
                    <a:moveTo>
                      <a:pt x="0" y="454"/>
                    </a:moveTo>
                    <a:cubicBezTo>
                      <a:pt x="75" y="227"/>
                      <a:pt x="151" y="0"/>
                      <a:pt x="226" y="0"/>
                    </a:cubicBezTo>
                    <a:cubicBezTo>
                      <a:pt x="301" y="0"/>
                      <a:pt x="377" y="227"/>
                      <a:pt x="453" y="454"/>
                    </a:cubicBezTo>
                  </a:path>
                </a:pathLst>
              </a:custGeom>
              <a:noFill/>
              <a:ln w="9525" cap="flat" cmpd="sng">
                <a:solidFill>
                  <a:srgbClr val="FF0000"/>
                </a:solidFill>
                <a:prstDash val="solid"/>
                <a:round/>
                <a:headEnd type="none" w="med" len="med"/>
                <a:tailEnd type="none" w="med" len="med"/>
              </a:ln>
            </p:spPr>
            <p:txBody>
              <a:bodyPr/>
              <a:p>
                <a:endParaRPr lang="zh-CN" altLang="en-US"/>
              </a:p>
            </p:txBody>
          </p:sp>
        </p:grpSp>
        <p:sp>
          <p:nvSpPr>
            <p:cNvPr id="34912" name="Line 107"/>
            <p:cNvSpPr/>
            <p:nvPr/>
          </p:nvSpPr>
          <p:spPr>
            <a:xfrm>
              <a:off x="4921" y="3022"/>
              <a:ext cx="544" cy="0"/>
            </a:xfrm>
            <a:prstGeom prst="line">
              <a:avLst/>
            </a:prstGeom>
            <a:ln w="19050" cap="flat" cmpd="sng">
              <a:solidFill>
                <a:schemeClr val="tx1"/>
              </a:solidFill>
              <a:prstDash val="solid"/>
              <a:round/>
              <a:headEnd type="none" w="med" len="med"/>
              <a:tailEnd type="arrow" w="med" len="med"/>
            </a:ln>
          </p:spPr>
        </p:sp>
        <p:sp>
          <p:nvSpPr>
            <p:cNvPr id="34913" name="Line 108"/>
            <p:cNvSpPr/>
            <p:nvPr/>
          </p:nvSpPr>
          <p:spPr>
            <a:xfrm flipV="1">
              <a:off x="4967" y="2704"/>
              <a:ext cx="0" cy="454"/>
            </a:xfrm>
            <a:prstGeom prst="line">
              <a:avLst/>
            </a:prstGeom>
            <a:ln w="19050" cap="flat" cmpd="sng">
              <a:solidFill>
                <a:schemeClr val="tx1"/>
              </a:solidFill>
              <a:prstDash val="solid"/>
              <a:round/>
              <a:headEnd type="none" w="med" len="med"/>
              <a:tailEnd type="arrow" w="med" len="med"/>
            </a:ln>
          </p:spPr>
        </p:sp>
      </p:grpSp>
      <p:grpSp>
        <p:nvGrpSpPr>
          <p:cNvPr id="3" name="组合 2"/>
          <p:cNvGrpSpPr/>
          <p:nvPr/>
        </p:nvGrpSpPr>
        <p:grpSpPr>
          <a:xfrm>
            <a:off x="6525800" y="640080"/>
            <a:ext cx="1763670" cy="1294765"/>
            <a:chOff x="9706" y="977"/>
            <a:chExt cx="2777" cy="2039"/>
          </a:xfrm>
        </p:grpSpPr>
        <p:grpSp>
          <p:nvGrpSpPr>
            <p:cNvPr id="23572" name="组合 23571"/>
            <p:cNvGrpSpPr/>
            <p:nvPr/>
          </p:nvGrpSpPr>
          <p:grpSpPr>
            <a:xfrm>
              <a:off x="9706" y="1881"/>
              <a:ext cx="2777" cy="1135"/>
              <a:chOff x="423" y="181"/>
              <a:chExt cx="1718" cy="454"/>
            </a:xfrm>
          </p:grpSpPr>
          <p:sp>
            <p:nvSpPr>
              <p:cNvPr id="38932" name="Line 8"/>
              <p:cNvSpPr/>
              <p:nvPr/>
            </p:nvSpPr>
            <p:spPr>
              <a:xfrm>
                <a:off x="423" y="182"/>
                <a:ext cx="1718" cy="0"/>
              </a:xfrm>
              <a:prstGeom prst="line">
                <a:avLst/>
              </a:prstGeom>
              <a:ln w="19050" cap="flat" cmpd="sng">
                <a:solidFill>
                  <a:schemeClr val="tx1"/>
                </a:solidFill>
                <a:prstDash val="solid"/>
                <a:round/>
                <a:headEnd type="none" w="med" len="med"/>
                <a:tailEnd type="arrow" w="med" len="med"/>
              </a:ln>
            </p:spPr>
          </p:sp>
          <p:sp>
            <p:nvSpPr>
              <p:cNvPr id="38934" name="Freeform 15"/>
              <p:cNvSpPr/>
              <p:nvPr/>
            </p:nvSpPr>
            <p:spPr>
              <a:xfrm flipV="1">
                <a:off x="423" y="181"/>
                <a:ext cx="453" cy="454"/>
              </a:xfrm>
              <a:custGeom>
                <a:avLst/>
                <a:gdLst/>
                <a:ahLst/>
                <a:cxnLst>
                  <a:cxn ang="0">
                    <a:pos x="0" y="454"/>
                  </a:cxn>
                  <a:cxn ang="0">
                    <a:pos x="226" y="0"/>
                  </a:cxn>
                  <a:cxn ang="0">
                    <a:pos x="453" y="454"/>
                  </a:cxn>
                </a:cxnLst>
                <a:pathLst>
                  <a:path w="453" h="454">
                    <a:moveTo>
                      <a:pt x="0" y="454"/>
                    </a:moveTo>
                    <a:cubicBezTo>
                      <a:pt x="75" y="227"/>
                      <a:pt x="151" y="0"/>
                      <a:pt x="226" y="0"/>
                    </a:cubicBezTo>
                    <a:cubicBezTo>
                      <a:pt x="301" y="0"/>
                      <a:pt x="377" y="227"/>
                      <a:pt x="453" y="454"/>
                    </a:cubicBezTo>
                  </a:path>
                </a:pathLst>
              </a:custGeom>
              <a:noFill/>
              <a:ln w="9525" cap="flat" cmpd="sng">
                <a:solidFill>
                  <a:srgbClr val="FF0000"/>
                </a:solidFill>
                <a:prstDash val="solid"/>
                <a:miter/>
                <a:headEnd type="none" w="med" len="med"/>
                <a:tailEnd type="none" w="med" len="med"/>
              </a:ln>
            </p:spPr>
            <p:txBody>
              <a:bodyPr/>
              <a:p>
                <a:endParaRPr lang="zh-CN" altLang="en-US"/>
              </a:p>
            </p:txBody>
          </p:sp>
          <p:sp>
            <p:nvSpPr>
              <p:cNvPr id="38935" name="Freeform 38"/>
              <p:cNvSpPr/>
              <p:nvPr/>
            </p:nvSpPr>
            <p:spPr>
              <a:xfrm flipV="1">
                <a:off x="1330" y="181"/>
                <a:ext cx="453" cy="454"/>
              </a:xfrm>
              <a:custGeom>
                <a:avLst/>
                <a:gdLst/>
                <a:ahLst/>
                <a:cxnLst>
                  <a:cxn ang="0">
                    <a:pos x="0" y="454"/>
                  </a:cxn>
                  <a:cxn ang="0">
                    <a:pos x="226" y="0"/>
                  </a:cxn>
                  <a:cxn ang="0">
                    <a:pos x="453" y="454"/>
                  </a:cxn>
                </a:cxnLst>
                <a:pathLst>
                  <a:path w="453" h="454">
                    <a:moveTo>
                      <a:pt x="0" y="454"/>
                    </a:moveTo>
                    <a:cubicBezTo>
                      <a:pt x="75" y="227"/>
                      <a:pt x="151" y="0"/>
                      <a:pt x="226" y="0"/>
                    </a:cubicBezTo>
                    <a:cubicBezTo>
                      <a:pt x="301" y="0"/>
                      <a:pt x="377" y="227"/>
                      <a:pt x="453" y="454"/>
                    </a:cubicBezTo>
                  </a:path>
                </a:pathLst>
              </a:custGeom>
              <a:noFill/>
              <a:ln w="9525" cap="flat" cmpd="sng">
                <a:solidFill>
                  <a:srgbClr val="FF0000"/>
                </a:solidFill>
                <a:prstDash val="solid"/>
                <a:miter/>
                <a:headEnd type="none" w="med" len="med"/>
                <a:tailEnd type="none" w="med" len="med"/>
              </a:ln>
            </p:spPr>
            <p:txBody>
              <a:bodyPr/>
              <a:p>
                <a:endParaRPr lang="zh-CN" altLang="en-US"/>
              </a:p>
            </p:txBody>
          </p:sp>
        </p:grpSp>
        <p:cxnSp>
          <p:nvCxnSpPr>
            <p:cNvPr id="2" name="直接箭头连接符 1"/>
            <p:cNvCxnSpPr>
              <a:stCxn id="38934" idx="2"/>
            </p:cNvCxnSpPr>
            <p:nvPr/>
          </p:nvCxnSpPr>
          <p:spPr>
            <a:xfrm flipV="1">
              <a:off x="9707" y="977"/>
              <a:ext cx="7" cy="2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36865" name="Rectangle 2"/>
          <p:cNvSpPr>
            <a:spLocks noGrp="1"/>
          </p:cNvSpPr>
          <p:nvPr/>
        </p:nvSpPr>
        <p:spPr>
          <a:xfrm>
            <a:off x="493395" y="27940"/>
            <a:ext cx="5026660" cy="583565"/>
          </a:xfrm>
          <a:ln>
            <a:solidFill>
              <a:schemeClr val="bg1"/>
            </a:solidFill>
            <a:miter/>
          </a:ln>
        </p:spPr>
        <p:txBody>
          <a:bodyPr wrap="square" anchor="b" anchorCtr="0">
            <a:spAutoFit/>
          </a:bodyPr>
          <a:lstStyle>
            <a:lvl1pPr marL="0" lvl="0" indent="0" algn="l" defTabSz="914400" eaLnBrk="0" fontAlgn="base" latinLnBrk="0" hangingPunct="0">
              <a:lnSpc>
                <a:spcPct val="100000"/>
              </a:lnSpc>
              <a:spcBef>
                <a:spcPct val="0"/>
              </a:spcBef>
              <a:spcAft>
                <a:spcPct val="0"/>
              </a:spcAft>
              <a:buNone/>
              <a:defRPr sz="3800" b="1" i="0" u="none" kern="1200" baseline="0">
                <a:solidFill>
                  <a:schemeClr val="tx2"/>
                </a:solidFill>
                <a:latin typeface="+mj-lt"/>
                <a:ea typeface="+mj-ea"/>
                <a:cs typeface="+mj-cs"/>
              </a:defRPr>
            </a:lvl1pPr>
          </a:lstStyle>
          <a:p>
            <a:pPr eaLnBrk="1" hangingPunct="1"/>
            <a:r>
              <a:rPr lang="zh-CN" altLang="en-US" sz="3200" dirty="0">
                <a:solidFill>
                  <a:schemeClr val="tx1"/>
                </a:solidFill>
                <a:latin typeface="宋体" panose="02010600030101010101" pitchFamily="2" charset="-122"/>
              </a:rPr>
              <a:t>一</a:t>
            </a:r>
            <a:r>
              <a:rPr lang="en-US" altLang="zh-CN" sz="3200" dirty="0">
                <a:solidFill>
                  <a:schemeClr val="tx1"/>
                </a:solidFill>
                <a:latin typeface="宋体" panose="02010600030101010101" pitchFamily="2" charset="-122"/>
              </a:rPr>
              <a:t> </a:t>
            </a:r>
            <a:r>
              <a:rPr lang="zh-CN" altLang="en-US" sz="3200" dirty="0">
                <a:solidFill>
                  <a:schemeClr val="tx1"/>
                </a:solidFill>
                <a:latin typeface="宋体" panose="02010600030101010101" pitchFamily="2" charset="-122"/>
              </a:rPr>
              <a:t>实验</a:t>
            </a:r>
            <a:r>
              <a:rPr lang="zh-CN" altLang="en-US" sz="3200" dirty="0">
                <a:solidFill>
                  <a:srgbClr val="FF0000"/>
                </a:solidFill>
                <a:latin typeface="宋体" panose="02010600030101010101" pitchFamily="2" charset="-122"/>
              </a:rPr>
              <a:t>电路</a:t>
            </a:r>
            <a:r>
              <a:rPr lang="zh-CN" altLang="en-US" sz="3200" dirty="0">
                <a:solidFill>
                  <a:schemeClr val="tx1"/>
                </a:solidFill>
                <a:latin typeface="宋体" panose="02010600030101010101" pitchFamily="2" charset="-122"/>
              </a:rPr>
              <a:t>与工作</a:t>
            </a:r>
            <a:r>
              <a:rPr lang="zh-CN" altLang="en-US" sz="3200" dirty="0">
                <a:solidFill>
                  <a:srgbClr val="FF0000"/>
                </a:solidFill>
                <a:latin typeface="宋体" panose="02010600030101010101" pitchFamily="2" charset="-122"/>
              </a:rPr>
              <a:t>原理</a:t>
            </a:r>
            <a:endParaRPr lang="zh-CN" altLang="en-US" sz="3200" dirty="0">
              <a:solidFill>
                <a:srgbClr val="FF0000"/>
              </a:solidFill>
              <a:latin typeface="宋体" panose="02010600030101010101" pitchFamily="2" charset="-122"/>
            </a:endParaRPr>
          </a:p>
        </p:txBody>
      </p:sp>
      <p:sp>
        <p:nvSpPr>
          <p:cNvPr id="36950" name="Text Box 88"/>
          <p:cNvSpPr txBox="1"/>
          <p:nvPr/>
        </p:nvSpPr>
        <p:spPr>
          <a:xfrm>
            <a:off x="5085715" y="2977186"/>
            <a:ext cx="647700" cy="460375"/>
          </a:xfrm>
          <a:prstGeom prst="rect">
            <a:avLst/>
          </a:prstGeom>
          <a:noFill/>
          <a:ln w="9525">
            <a:noFill/>
          </a:ln>
        </p:spPr>
        <p:txBody>
          <a:bodyPr anchor="t" anchorCtr="0">
            <a:spAutoFit/>
          </a:bodyPr>
          <a:p>
            <a:pPr>
              <a:spcBef>
                <a:spcPct val="50000"/>
              </a:spcBef>
              <a:buFont typeface="Wingdings" panose="05000000000000000000" pitchFamily="2" charset="2"/>
            </a:pPr>
            <a:r>
              <a:rPr lang="en-US" altLang="zh-CN" sz="2400" b="1" i="1" dirty="0">
                <a:solidFill>
                  <a:srgbClr val="FF0000"/>
                </a:solidFill>
                <a:latin typeface="Times New Roman" panose="02020603050405020304" pitchFamily="2" charset="0"/>
                <a:ea typeface="宋体" panose="02010600030101010101" pitchFamily="2" charset="-122"/>
                <a:cs typeface="Times New Roman" panose="02020603050405020304" pitchFamily="2" charset="0"/>
              </a:rPr>
              <a:t>V</a:t>
            </a:r>
            <a:r>
              <a:rPr lang="en-US" altLang="zh-CN" sz="2400" b="1" baseline="-25000" dirty="0">
                <a:solidFill>
                  <a:srgbClr val="FF0000"/>
                </a:solidFill>
                <a:latin typeface="Times New Roman" panose="02020603050405020304" pitchFamily="2" charset="0"/>
                <a:ea typeface="宋体" panose="02010600030101010101" pitchFamily="2" charset="-122"/>
                <a:cs typeface="Times New Roman" panose="02020603050405020304" pitchFamily="2" charset="0"/>
              </a:rPr>
              <a:t>a</a:t>
            </a:r>
            <a:endParaRPr lang="en-US" altLang="zh-CN" sz="2400" b="1" baseline="-25000" dirty="0">
              <a:solidFill>
                <a:srgbClr val="FF0000"/>
              </a:solidFill>
              <a:latin typeface="Times New Roman" panose="02020603050405020304" pitchFamily="2" charset="0"/>
              <a:ea typeface="宋体" panose="02010600030101010101" pitchFamily="2" charset="-122"/>
              <a:cs typeface="Times New Roman" panose="02020603050405020304" pitchFamily="2" charset="0"/>
            </a:endParaRPr>
          </a:p>
        </p:txBody>
      </p:sp>
      <p:sp>
        <p:nvSpPr>
          <p:cNvPr id="22531" name="Rectangle 3"/>
          <p:cNvSpPr>
            <a:spLocks noGrp="1"/>
          </p:cNvSpPr>
          <p:nvPr/>
        </p:nvSpPr>
        <p:spPr>
          <a:xfrm>
            <a:off x="2495550" y="4780915"/>
            <a:ext cx="8668385" cy="1651000"/>
          </a:xfrm>
        </p:spPr>
        <p:txBody>
          <a:bodyPr wrap="square" anchor="t" anchorCtr="0">
            <a:spAutoFit/>
          </a:bodyPr>
          <a:lstStyle>
            <a:lvl1pPr marL="469900" lvl="0" indent="-469900" algn="l" defTabSz="914400" eaLnBrk="0" fontAlgn="base" latinLnBrk="0" hangingPunct="0">
              <a:lnSpc>
                <a:spcPct val="100000"/>
              </a:lnSpc>
              <a:spcBef>
                <a:spcPct val="20000"/>
              </a:spcBef>
              <a:spcAft>
                <a:spcPct val="0"/>
              </a:spcAft>
              <a:buClr>
                <a:schemeClr val="accent2"/>
              </a:buClr>
              <a:buFont typeface="Wingdings" panose="05000000000000000000" pitchFamily="2" charset="2"/>
              <a:buChar char="o"/>
              <a:defRPr sz="3000" b="0" i="0" u="none" kern="1200" baseline="0">
                <a:solidFill>
                  <a:schemeClr val="tx1"/>
                </a:solidFill>
                <a:latin typeface="+mn-lt"/>
                <a:ea typeface="+mn-ea"/>
                <a:cs typeface="+mn-cs"/>
              </a:defRPr>
            </a:lvl1pPr>
            <a:lvl2pPr marL="908050" lvl="1" indent="-436245" algn="l" defTabSz="914400" eaLnBrk="0" fontAlgn="base" latinLnBrk="0" hangingPunct="0">
              <a:lnSpc>
                <a:spcPct val="100000"/>
              </a:lnSpc>
              <a:spcBef>
                <a:spcPct val="20000"/>
              </a:spcBef>
              <a:spcAft>
                <a:spcPct val="0"/>
              </a:spcAft>
              <a:buClr>
                <a:schemeClr val="accent2"/>
              </a:buClr>
              <a:buFont typeface="Wingdings" panose="05000000000000000000" pitchFamily="2" charset="2"/>
              <a:buChar char="n"/>
              <a:defRPr sz="2600" b="0" i="0" u="none" kern="1200" baseline="0">
                <a:solidFill>
                  <a:schemeClr val="tx1"/>
                </a:solidFill>
                <a:latin typeface="+mn-lt"/>
                <a:ea typeface="+mn-ea"/>
                <a:cs typeface="+mn-cs"/>
              </a:defRPr>
            </a:lvl2pPr>
            <a:lvl3pPr marL="1304925" lvl="2" indent="-394970" algn="l" defTabSz="914400" eaLnBrk="0" fontAlgn="base" latinLnBrk="0" hangingPunct="0">
              <a:lnSpc>
                <a:spcPct val="100000"/>
              </a:lnSpc>
              <a:spcBef>
                <a:spcPct val="20000"/>
              </a:spcBef>
              <a:spcAft>
                <a:spcPct val="0"/>
              </a:spcAft>
              <a:buClr>
                <a:schemeClr val="accent2"/>
              </a:buClr>
              <a:buFont typeface="Wingdings" panose="05000000000000000000" pitchFamily="2" charset="2"/>
              <a:buChar char="o"/>
              <a:defRPr sz="2300" b="0" i="0" u="none" kern="1200" baseline="0">
                <a:solidFill>
                  <a:schemeClr val="tx1"/>
                </a:solidFill>
                <a:latin typeface="+mn-lt"/>
                <a:ea typeface="+mn-ea"/>
                <a:cs typeface="+mn-cs"/>
              </a:defRPr>
            </a:lvl3pPr>
            <a:lvl4pPr marL="1694180" lvl="3" indent="-387350" algn="l" defTabSz="914400" eaLnBrk="0" fontAlgn="base" latinLnBrk="0" hangingPunct="0">
              <a:lnSpc>
                <a:spcPct val="100000"/>
              </a:lnSpc>
              <a:spcBef>
                <a:spcPct val="20000"/>
              </a:spcBef>
              <a:spcAft>
                <a:spcPct val="0"/>
              </a:spcAft>
              <a:buClr>
                <a:schemeClr val="accent2"/>
              </a:buClr>
              <a:buFont typeface="Wingdings" panose="05000000000000000000" pitchFamily="2" charset="2"/>
              <a:buChar char="n"/>
              <a:defRPr sz="2000" b="0" i="0" u="none" kern="1200" baseline="0">
                <a:solidFill>
                  <a:schemeClr val="tx1"/>
                </a:solidFill>
                <a:latin typeface="+mn-lt"/>
                <a:ea typeface="+mn-ea"/>
                <a:cs typeface="+mn-cs"/>
              </a:defRPr>
            </a:lvl4pPr>
            <a:lvl5pPr marL="2094230" lvl="4" indent="-398780" algn="l" defTabSz="914400" eaLnBrk="0" fontAlgn="base" latinLnBrk="0" hangingPunct="0">
              <a:lnSpc>
                <a:spcPct val="100000"/>
              </a:lnSpc>
              <a:spcBef>
                <a:spcPct val="25000"/>
              </a:spcBef>
              <a:spcAft>
                <a:spcPct val="0"/>
              </a:spcAft>
              <a:buClr>
                <a:schemeClr val="accent2"/>
              </a:buClr>
              <a:buFont typeface="Wingdings" panose="05000000000000000000" pitchFamily="2" charset="2"/>
              <a:buChar char="§"/>
              <a:defRPr sz="2000" b="0" i="0" u="none" kern="1200" baseline="0">
                <a:solidFill>
                  <a:schemeClr val="tx1"/>
                </a:solidFill>
                <a:latin typeface="+mn-lt"/>
                <a:ea typeface="+mn-ea"/>
                <a:cs typeface="+mn-cs"/>
              </a:defRPr>
            </a:lvl5pPr>
            <a:lvl6pPr marL="2514600" lvl="5" indent="-228600" algn="l" defTabSz="914400" eaLnBrk="0" fontAlgn="base" latinLnBrk="0" hangingPunct="0">
              <a:lnSpc>
                <a:spcPct val="100000"/>
              </a:lnSpc>
              <a:spcBef>
                <a:spcPct val="25000"/>
              </a:spcBef>
              <a:spcAft>
                <a:spcPct val="0"/>
              </a:spcAft>
              <a:buClr>
                <a:schemeClr val="accent2"/>
              </a:buClr>
              <a:buFont typeface="Wingdings" panose="05000000000000000000" pitchFamily="2" charset="2"/>
              <a:buChar char="§"/>
              <a:defRPr sz="2000" b="0" i="0" u="none" kern="1200" baseline="0">
                <a:solidFill>
                  <a:schemeClr val="tx1"/>
                </a:solidFill>
                <a:latin typeface="+mn-lt"/>
                <a:ea typeface="+mn-ea"/>
                <a:cs typeface="+mn-cs"/>
              </a:defRPr>
            </a:lvl6pPr>
            <a:lvl7pPr marL="2971800" lvl="6" indent="-228600" algn="l" defTabSz="914400" eaLnBrk="0" fontAlgn="base" latinLnBrk="0" hangingPunct="0">
              <a:lnSpc>
                <a:spcPct val="100000"/>
              </a:lnSpc>
              <a:spcBef>
                <a:spcPct val="25000"/>
              </a:spcBef>
              <a:spcAft>
                <a:spcPct val="0"/>
              </a:spcAft>
              <a:buClr>
                <a:schemeClr val="accent2"/>
              </a:buClr>
              <a:buFont typeface="Wingdings" panose="05000000000000000000" pitchFamily="2" charset="2"/>
              <a:buChar char="§"/>
              <a:defRPr sz="2000" b="0" i="0" u="none" kern="1200" baseline="0">
                <a:solidFill>
                  <a:schemeClr val="tx1"/>
                </a:solidFill>
                <a:latin typeface="+mn-lt"/>
                <a:ea typeface="+mn-ea"/>
                <a:cs typeface="+mn-cs"/>
              </a:defRPr>
            </a:lvl7pPr>
            <a:lvl8pPr marL="3429000" lvl="7" indent="-228600" algn="l" defTabSz="914400" eaLnBrk="0" fontAlgn="base" latinLnBrk="0" hangingPunct="0">
              <a:lnSpc>
                <a:spcPct val="100000"/>
              </a:lnSpc>
              <a:spcBef>
                <a:spcPct val="25000"/>
              </a:spcBef>
              <a:spcAft>
                <a:spcPct val="0"/>
              </a:spcAft>
              <a:buClr>
                <a:schemeClr val="accent2"/>
              </a:buClr>
              <a:buFont typeface="Wingdings" panose="05000000000000000000" pitchFamily="2" charset="2"/>
              <a:buChar char="§"/>
              <a:defRPr sz="2000" b="0" i="0" u="none" kern="1200" baseline="0">
                <a:solidFill>
                  <a:schemeClr val="tx1"/>
                </a:solidFill>
                <a:latin typeface="+mn-lt"/>
                <a:ea typeface="+mn-ea"/>
                <a:cs typeface="+mn-cs"/>
              </a:defRPr>
            </a:lvl8pPr>
            <a:lvl9pPr marL="3886200" lvl="8" indent="-228600" algn="l" defTabSz="914400" eaLnBrk="0" fontAlgn="base" latinLnBrk="0" hangingPunct="0">
              <a:lnSpc>
                <a:spcPct val="100000"/>
              </a:lnSpc>
              <a:spcBef>
                <a:spcPct val="25000"/>
              </a:spcBef>
              <a:spcAft>
                <a:spcPct val="0"/>
              </a:spcAft>
              <a:buClr>
                <a:schemeClr val="accent2"/>
              </a:buClr>
              <a:buFont typeface="Wingdings" panose="05000000000000000000" pitchFamily="2" charset="2"/>
              <a:buChar char="§"/>
              <a:defRPr sz="2000" b="0" i="0" u="none" kern="1200" baseline="0">
                <a:solidFill>
                  <a:schemeClr val="tx1"/>
                </a:solidFill>
                <a:latin typeface="+mn-lt"/>
                <a:ea typeface="+mn-ea"/>
                <a:cs typeface="+mn-cs"/>
              </a:defRPr>
            </a:lvl9pPr>
          </a:lstStyle>
          <a:p>
            <a:pPr algn="just" eaLnBrk="1" hangingPunct="1">
              <a:lnSpc>
                <a:spcPct val="130000"/>
              </a:lnSpc>
              <a:spcBef>
                <a:spcPts val="0"/>
              </a:spcBef>
              <a:buFont typeface="Wingdings" panose="05000000000000000000" charset="0"/>
              <a:buChar char="u"/>
            </a:pPr>
            <a:r>
              <a:rPr lang="en-US" altLang="zh-CN" sz="2600" b="1" i="1" dirty="0">
                <a:ea typeface="楷体_GB2312" pitchFamily="1" charset="-122"/>
                <a:cs typeface="+mn-lt"/>
              </a:rPr>
              <a:t>V</a:t>
            </a:r>
            <a:r>
              <a:rPr lang="en-US" altLang="zh-CN" sz="2600" b="1" baseline="-25000" dirty="0">
                <a:ea typeface="楷体_GB2312" pitchFamily="1" charset="-122"/>
                <a:cs typeface="+mn-lt"/>
              </a:rPr>
              <a:t>i </a:t>
            </a:r>
            <a:r>
              <a:rPr lang="en-US" altLang="zh-CN" sz="2600" b="1" dirty="0">
                <a:ea typeface="楷体_GB2312" pitchFamily="1" charset="-122"/>
                <a:cs typeface="+mn-lt"/>
              </a:rPr>
              <a:t>&gt;0</a:t>
            </a:r>
            <a:r>
              <a:rPr lang="zh-CN" altLang="en-US" sz="2600" b="1" dirty="0">
                <a:latin typeface="微软雅黑" panose="020B0503020204020204" charset="-122"/>
                <a:ea typeface="微软雅黑" panose="020B0503020204020204" charset="-122"/>
                <a:cs typeface="+mn-lt"/>
              </a:rPr>
              <a:t>时</a:t>
            </a:r>
            <a:r>
              <a:rPr lang="en-US" altLang="zh-CN" sz="2600" b="1" dirty="0">
                <a:ea typeface="楷体_GB2312" pitchFamily="1" charset="-122"/>
                <a:cs typeface="+mn-lt"/>
              </a:rPr>
              <a:t>: </a:t>
            </a:r>
            <a:r>
              <a:rPr lang="en-US" altLang="zh-CN" sz="2600" b="1" i="1" dirty="0">
                <a:ea typeface="楷体_GB2312" pitchFamily="1" charset="-122"/>
                <a:cs typeface="+mn-lt"/>
              </a:rPr>
              <a:t>V</a:t>
            </a:r>
            <a:r>
              <a:rPr lang="en-US" altLang="zh-CN" sz="2600" b="1" baseline="-25000" dirty="0">
                <a:ea typeface="楷体_GB2312" pitchFamily="1" charset="-122"/>
                <a:cs typeface="+mn-lt"/>
              </a:rPr>
              <a:t>a</a:t>
            </a:r>
            <a:r>
              <a:rPr lang="en-US" altLang="zh-CN" sz="2600" b="1" dirty="0">
                <a:ea typeface="楷体_GB2312" pitchFamily="1" charset="-122"/>
                <a:cs typeface="+mn-lt"/>
              </a:rPr>
              <a:t>&lt;0</a:t>
            </a:r>
            <a:r>
              <a:rPr lang="zh-CN" altLang="en-US" sz="2600" b="1" dirty="0">
                <a:latin typeface="楷体_GB2312" pitchFamily="1" charset="-122"/>
                <a:ea typeface="楷体_GB2312" pitchFamily="1" charset="-122"/>
              </a:rPr>
              <a:t>，</a:t>
            </a:r>
            <a:r>
              <a:rPr lang="en-US" altLang="zh-CN" sz="2600" b="1" dirty="0">
                <a:latin typeface="Times New Roman" panose="02020603050405020304" pitchFamily="2" charset="0"/>
                <a:ea typeface="楷体_GB2312" pitchFamily="1" charset="-122"/>
                <a:cs typeface="Times New Roman" panose="02020603050405020304" pitchFamily="2" charset="0"/>
              </a:rPr>
              <a:t>D1</a:t>
            </a:r>
            <a:r>
              <a:rPr lang="zh-CN" altLang="en-US" sz="2600" b="1" dirty="0">
                <a:solidFill>
                  <a:srgbClr val="FF0000"/>
                </a:solidFill>
                <a:latin typeface="微软雅黑" panose="020B0503020204020204" charset="-122"/>
                <a:ea typeface="微软雅黑" panose="020B0503020204020204" charset="-122"/>
              </a:rPr>
              <a:t>止</a:t>
            </a:r>
            <a:r>
              <a:rPr lang="zh-CN" altLang="en-US" sz="2600" b="1" dirty="0">
                <a:latin typeface="楷体_GB2312" pitchFamily="1" charset="-122"/>
                <a:ea typeface="楷体_GB2312" pitchFamily="1" charset="-122"/>
              </a:rPr>
              <a:t>，</a:t>
            </a:r>
            <a:r>
              <a:rPr lang="en-US" altLang="zh-CN" sz="2600" b="1" dirty="0">
                <a:latin typeface="Times New Roman" panose="02020603050405020304" pitchFamily="2" charset="0"/>
                <a:ea typeface="楷体_GB2312" pitchFamily="1" charset="-122"/>
                <a:cs typeface="Times New Roman" panose="02020603050405020304" pitchFamily="2" charset="0"/>
              </a:rPr>
              <a:t>D2</a:t>
            </a:r>
            <a:r>
              <a:rPr lang="zh-CN" altLang="en-US" sz="2600" b="1" dirty="0">
                <a:solidFill>
                  <a:srgbClr val="FF0000"/>
                </a:solidFill>
                <a:latin typeface="微软雅黑" panose="020B0503020204020204" charset="-122"/>
                <a:ea typeface="微软雅黑" panose="020B0503020204020204" charset="-122"/>
              </a:rPr>
              <a:t>通</a:t>
            </a:r>
            <a:r>
              <a:rPr lang="zh-CN" altLang="en-US" sz="2600" b="1" dirty="0">
                <a:latin typeface="楷体_GB2312" pitchFamily="1" charset="-122"/>
                <a:ea typeface="楷体_GB2312" pitchFamily="1" charset="-122"/>
                <a:sym typeface="+mn-ea"/>
              </a:rPr>
              <a:t>，</a:t>
            </a:r>
            <a:r>
              <a:rPr lang="en-US" altLang="zh-CN" sz="2600" b="1" dirty="0">
                <a:latin typeface="Times New Roman" panose="02020603050405020304" pitchFamily="2" charset="0"/>
                <a:ea typeface="楷体_GB2312" pitchFamily="1" charset="-122"/>
                <a:cs typeface="Times New Roman" panose="02020603050405020304" pitchFamily="2" charset="0"/>
                <a:sym typeface="+mn-ea"/>
              </a:rPr>
              <a:t>A1</a:t>
            </a:r>
            <a:r>
              <a:rPr lang="zh-CN" altLang="en-US" sz="2600" b="1" dirty="0">
                <a:solidFill>
                  <a:srgbClr val="FF0000"/>
                </a:solidFill>
                <a:latin typeface="微软雅黑" panose="020B0503020204020204" charset="-122"/>
                <a:ea typeface="微软雅黑" panose="020B0503020204020204" charset="-122"/>
                <a:cs typeface="Times New Roman" panose="02020603050405020304" pitchFamily="2" charset="0"/>
                <a:sym typeface="+mn-ea"/>
              </a:rPr>
              <a:t>反相</a:t>
            </a:r>
            <a:r>
              <a:rPr lang="zh-CN" altLang="en-US" sz="2600" b="1" dirty="0">
                <a:latin typeface="微软雅黑" panose="020B0503020204020204" charset="-122"/>
                <a:ea typeface="微软雅黑" panose="020B0503020204020204" charset="-122"/>
                <a:cs typeface="Times New Roman" panose="02020603050405020304" pitchFamily="2" charset="0"/>
                <a:sym typeface="+mn-ea"/>
              </a:rPr>
              <a:t>比例</a:t>
            </a:r>
            <a:r>
              <a:rPr lang="zh-CN" altLang="en-US" sz="2600" b="1" dirty="0">
                <a:latin typeface="楷体_GB2312" pitchFamily="1" charset="-122"/>
                <a:ea typeface="楷体_GB2312" pitchFamily="1" charset="-122"/>
              </a:rPr>
              <a:t>，</a:t>
            </a:r>
            <a:r>
              <a:rPr lang="en-US" altLang="zh-CN" sz="2600" b="1" i="1" dirty="0">
                <a:latin typeface="Times New Roman" panose="02020603050405020304" pitchFamily="2" charset="0"/>
                <a:ea typeface="楷体_GB2312" pitchFamily="1" charset="-122"/>
                <a:cs typeface="Times New Roman" panose="02020603050405020304" pitchFamily="2" charset="0"/>
              </a:rPr>
              <a:t>V</a:t>
            </a:r>
            <a:r>
              <a:rPr lang="en-US" altLang="zh-CN" sz="2600" b="1" baseline="-25000" dirty="0">
                <a:latin typeface="Times New Roman" panose="02020603050405020304" pitchFamily="2" charset="0"/>
                <a:ea typeface="楷体_GB2312" pitchFamily="1" charset="-122"/>
                <a:cs typeface="Times New Roman" panose="02020603050405020304" pitchFamily="2" charset="0"/>
              </a:rPr>
              <a:t>o1</a:t>
            </a:r>
            <a:r>
              <a:rPr lang="en-US" altLang="zh-CN" sz="2600" b="1" dirty="0">
                <a:latin typeface="Book Antiqua" panose="02040602050305030304" charset="0"/>
                <a:ea typeface="楷体_GB2312" pitchFamily="1" charset="-122"/>
                <a:cs typeface="Book Antiqua" panose="02040602050305030304" charset="0"/>
              </a:rPr>
              <a:t>=</a:t>
            </a:r>
            <a:r>
              <a:rPr lang="en-US" altLang="zh-CN" sz="2600" b="1" dirty="0">
                <a:latin typeface="Times New Roman" panose="02020603050405020304" pitchFamily="2" charset="0"/>
                <a:ea typeface="楷体_GB2312" pitchFamily="1" charset="-122"/>
                <a:cs typeface="Times New Roman" panose="02020603050405020304" pitchFamily="2" charset="0"/>
              </a:rPr>
              <a:t> -2</a:t>
            </a:r>
            <a:r>
              <a:rPr lang="en-US" altLang="zh-CN" sz="2600" b="1" i="1" dirty="0">
                <a:latin typeface="Times New Roman" panose="02020603050405020304" pitchFamily="2" charset="0"/>
                <a:ea typeface="楷体_GB2312" pitchFamily="1" charset="-122"/>
                <a:cs typeface="Times New Roman" panose="02020603050405020304" pitchFamily="2" charset="0"/>
              </a:rPr>
              <a:t>V</a:t>
            </a:r>
            <a:r>
              <a:rPr lang="en-US" altLang="zh-CN" sz="2600" b="1" baseline="-25000" dirty="0">
                <a:latin typeface="Times New Roman" panose="02020603050405020304" pitchFamily="2" charset="0"/>
                <a:ea typeface="楷体_GB2312" pitchFamily="1" charset="-122"/>
                <a:cs typeface="Times New Roman" panose="02020603050405020304" pitchFamily="2" charset="0"/>
              </a:rPr>
              <a:t>i</a:t>
            </a:r>
            <a:endParaRPr lang="en-US" altLang="zh-CN" sz="2600" b="1" dirty="0">
              <a:latin typeface="楷体_GB2312" pitchFamily="1" charset="-122"/>
              <a:ea typeface="楷体_GB2312" pitchFamily="1" charset="-122"/>
            </a:endParaRPr>
          </a:p>
          <a:p>
            <a:pPr algn="just" eaLnBrk="1" hangingPunct="1">
              <a:lnSpc>
                <a:spcPct val="130000"/>
              </a:lnSpc>
              <a:spcBef>
                <a:spcPts val="0"/>
              </a:spcBef>
              <a:buFont typeface="Wingdings" panose="05000000000000000000" charset="0"/>
              <a:buChar char="u"/>
            </a:pPr>
            <a:r>
              <a:rPr lang="en-US" altLang="zh-CN" sz="2600" b="1" i="1" dirty="0">
                <a:latin typeface="Times New Roman" panose="02020603050405020304" pitchFamily="2" charset="0"/>
                <a:ea typeface="楷体_GB2312" pitchFamily="1" charset="-122"/>
                <a:cs typeface="Times New Roman" panose="02020603050405020304" pitchFamily="2" charset="0"/>
              </a:rPr>
              <a:t>V</a:t>
            </a:r>
            <a:r>
              <a:rPr lang="en-US" altLang="zh-CN" sz="2600" b="1" baseline="-25000" dirty="0">
                <a:latin typeface="Times New Roman" panose="02020603050405020304" pitchFamily="2" charset="0"/>
                <a:ea typeface="楷体_GB2312" pitchFamily="1" charset="-122"/>
                <a:cs typeface="Times New Roman" panose="02020603050405020304" pitchFamily="2" charset="0"/>
              </a:rPr>
              <a:t>i </a:t>
            </a:r>
            <a:r>
              <a:rPr lang="en-US" altLang="zh-CN" sz="2600" b="1" dirty="0">
                <a:latin typeface="Times New Roman" panose="02020603050405020304" pitchFamily="2" charset="0"/>
                <a:ea typeface="楷体_GB2312" pitchFamily="1" charset="-122"/>
                <a:cs typeface="Times New Roman" panose="02020603050405020304" pitchFamily="2" charset="0"/>
              </a:rPr>
              <a:t>&lt;0</a:t>
            </a:r>
            <a:r>
              <a:rPr lang="zh-CN" altLang="en-US" sz="2600" b="1" dirty="0">
                <a:latin typeface="微软雅黑" panose="020B0503020204020204" charset="-122"/>
                <a:ea typeface="微软雅黑" panose="020B0503020204020204" charset="-122"/>
                <a:cs typeface="+mn-lt"/>
                <a:sym typeface="+mn-ea"/>
              </a:rPr>
              <a:t>时</a:t>
            </a:r>
            <a:r>
              <a:rPr lang="en-US" altLang="zh-CN" sz="2600" b="1" dirty="0">
                <a:ea typeface="楷体_GB2312" pitchFamily="1" charset="-122"/>
                <a:cs typeface="+mn-lt"/>
                <a:sym typeface="+mn-ea"/>
              </a:rPr>
              <a:t>: </a:t>
            </a:r>
            <a:r>
              <a:rPr lang="en-US" altLang="zh-CN" sz="2600" b="1" i="1" dirty="0">
                <a:latin typeface="Times New Roman" panose="02020603050405020304" pitchFamily="2" charset="0"/>
                <a:ea typeface="楷体_GB2312" pitchFamily="1" charset="-122"/>
                <a:cs typeface="Times New Roman" panose="02020603050405020304" pitchFamily="2" charset="0"/>
              </a:rPr>
              <a:t>V</a:t>
            </a:r>
            <a:r>
              <a:rPr lang="en-US" altLang="zh-CN" sz="2600" b="1" baseline="-25000" dirty="0">
                <a:latin typeface="Times New Roman" panose="02020603050405020304" pitchFamily="2" charset="0"/>
                <a:ea typeface="楷体_GB2312" pitchFamily="1" charset="-122"/>
                <a:cs typeface="Times New Roman" panose="02020603050405020304" pitchFamily="2" charset="0"/>
              </a:rPr>
              <a:t>a</a:t>
            </a:r>
            <a:r>
              <a:rPr lang="en-US" altLang="zh-CN" sz="2600" b="1" dirty="0">
                <a:latin typeface="Times New Roman" panose="02020603050405020304" pitchFamily="2" charset="0"/>
                <a:ea typeface="楷体_GB2312" pitchFamily="1" charset="-122"/>
                <a:cs typeface="Times New Roman" panose="02020603050405020304" pitchFamily="2" charset="0"/>
              </a:rPr>
              <a:t>&gt;0</a:t>
            </a:r>
            <a:r>
              <a:rPr lang="zh-CN" altLang="en-US" sz="2600" b="1" dirty="0">
                <a:latin typeface="楷体_GB2312" pitchFamily="1" charset="-122"/>
                <a:ea typeface="楷体_GB2312" pitchFamily="1" charset="-122"/>
              </a:rPr>
              <a:t>，</a:t>
            </a:r>
            <a:r>
              <a:rPr lang="en-US" altLang="zh-CN" sz="2600" b="1" dirty="0">
                <a:latin typeface="Times New Roman" panose="02020603050405020304" pitchFamily="2" charset="0"/>
                <a:ea typeface="楷体_GB2312" pitchFamily="1" charset="-122"/>
                <a:cs typeface="Times New Roman" panose="02020603050405020304" pitchFamily="2" charset="0"/>
              </a:rPr>
              <a:t>D1</a:t>
            </a:r>
            <a:r>
              <a:rPr lang="zh-CN" altLang="en-US" sz="2600" b="1" dirty="0">
                <a:solidFill>
                  <a:srgbClr val="FF0000"/>
                </a:solidFill>
                <a:latin typeface="微软雅黑" panose="020B0503020204020204" charset="-122"/>
                <a:ea typeface="微软雅黑" panose="020B0503020204020204" charset="-122"/>
              </a:rPr>
              <a:t>通</a:t>
            </a:r>
            <a:r>
              <a:rPr lang="zh-CN" altLang="en-US" sz="2600" b="1" dirty="0">
                <a:latin typeface="楷体_GB2312" pitchFamily="1" charset="-122"/>
                <a:ea typeface="楷体_GB2312" pitchFamily="1" charset="-122"/>
              </a:rPr>
              <a:t>，</a:t>
            </a:r>
            <a:r>
              <a:rPr lang="en-US" altLang="zh-CN" sz="2600" b="1" dirty="0">
                <a:latin typeface="Times New Roman" panose="02020603050405020304" pitchFamily="2" charset="0"/>
                <a:ea typeface="楷体_GB2312" pitchFamily="1" charset="-122"/>
                <a:cs typeface="Times New Roman" panose="02020603050405020304" pitchFamily="2" charset="0"/>
              </a:rPr>
              <a:t>D2</a:t>
            </a:r>
            <a:r>
              <a:rPr lang="zh-CN" altLang="en-US" sz="2600" b="1" dirty="0">
                <a:solidFill>
                  <a:srgbClr val="FF0000"/>
                </a:solidFill>
                <a:latin typeface="微软雅黑" panose="020B0503020204020204" charset="-122"/>
                <a:ea typeface="微软雅黑" panose="020B0503020204020204" charset="-122"/>
              </a:rPr>
              <a:t>止</a:t>
            </a:r>
            <a:r>
              <a:rPr lang="zh-CN" altLang="en-US" sz="2600" b="1" dirty="0">
                <a:latin typeface="楷体_GB2312" pitchFamily="1" charset="-122"/>
                <a:ea typeface="楷体_GB2312" pitchFamily="1" charset="-122"/>
              </a:rPr>
              <a:t>，</a:t>
            </a:r>
            <a:r>
              <a:rPr lang="en-US" altLang="zh-CN" sz="2600" b="1" i="1" dirty="0">
                <a:latin typeface="Times New Roman" panose="02020603050405020304" pitchFamily="2" charset="0"/>
                <a:ea typeface="楷体_GB2312" pitchFamily="1" charset="-122"/>
                <a:cs typeface="Times New Roman" panose="02020603050405020304" pitchFamily="2" charset="0"/>
              </a:rPr>
              <a:t>V</a:t>
            </a:r>
            <a:r>
              <a:rPr lang="en-US" altLang="zh-CN" sz="2600" b="1" baseline="-25000" dirty="0">
                <a:latin typeface="Times New Roman" panose="02020603050405020304" pitchFamily="2" charset="0"/>
                <a:ea typeface="楷体_GB2312" pitchFamily="1" charset="-122"/>
                <a:cs typeface="Times New Roman" panose="02020603050405020304" pitchFamily="2" charset="0"/>
              </a:rPr>
              <a:t>o1</a:t>
            </a:r>
            <a:r>
              <a:rPr lang="en-US" altLang="zh-CN" sz="2600" b="1" dirty="0">
                <a:latin typeface="Book Antiqua" panose="02040602050305030304" charset="0"/>
                <a:ea typeface="楷体_GB2312" pitchFamily="1" charset="-122"/>
                <a:cs typeface="Book Antiqua" panose="02040602050305030304" charset="0"/>
              </a:rPr>
              <a:t>=0</a:t>
            </a:r>
            <a:endParaRPr lang="en-US" altLang="zh-CN" sz="2600" b="1" dirty="0">
              <a:latin typeface="楷体_GB2312" pitchFamily="1" charset="-122"/>
              <a:ea typeface="楷体_GB2312" pitchFamily="1" charset="-122"/>
            </a:endParaRPr>
          </a:p>
          <a:p>
            <a:pPr algn="just" eaLnBrk="1" hangingPunct="1">
              <a:lnSpc>
                <a:spcPct val="130000"/>
              </a:lnSpc>
              <a:spcBef>
                <a:spcPts val="0"/>
              </a:spcBef>
              <a:buFont typeface="Wingdings" panose="05000000000000000000" charset="0"/>
              <a:buChar char="u"/>
            </a:pPr>
            <a:r>
              <a:rPr lang="en-US" altLang="zh-CN" sz="2600" b="1" dirty="0">
                <a:latin typeface="Times New Roman" panose="02020603050405020304" pitchFamily="2" charset="0"/>
                <a:ea typeface="楷体_GB2312" pitchFamily="1" charset="-122"/>
                <a:cs typeface="Times New Roman" panose="02020603050405020304" pitchFamily="2" charset="0"/>
              </a:rPr>
              <a:t>A2</a:t>
            </a:r>
            <a:r>
              <a:rPr lang="zh-CN" altLang="en-US" sz="2600" b="1" dirty="0">
                <a:solidFill>
                  <a:srgbClr val="FF0000"/>
                </a:solidFill>
                <a:latin typeface="微软雅黑" panose="020B0503020204020204" charset="-122"/>
                <a:ea typeface="微软雅黑" panose="020B0503020204020204" charset="-122"/>
              </a:rPr>
              <a:t>反相</a:t>
            </a:r>
            <a:r>
              <a:rPr lang="zh-CN" altLang="en-US" sz="2600" b="1" dirty="0">
                <a:latin typeface="微软雅黑" panose="020B0503020204020204" charset="-122"/>
                <a:ea typeface="微软雅黑" panose="020B0503020204020204" charset="-122"/>
              </a:rPr>
              <a:t>加法</a:t>
            </a:r>
            <a:r>
              <a:rPr lang="zh-CN" altLang="en-US" sz="2600" b="1" dirty="0">
                <a:latin typeface="楷体_GB2312" pitchFamily="1" charset="-122"/>
                <a:ea typeface="楷体_GB2312" pitchFamily="1" charset="-122"/>
              </a:rPr>
              <a:t>：</a:t>
            </a:r>
            <a:r>
              <a:rPr lang="en-US" altLang="zh-CN" sz="2600" b="1" i="1" dirty="0">
                <a:latin typeface="Times New Roman" panose="02020603050405020304" pitchFamily="2" charset="0"/>
                <a:ea typeface="楷体_GB2312" pitchFamily="1" charset="-122"/>
                <a:cs typeface="Times New Roman" panose="02020603050405020304" pitchFamily="2" charset="0"/>
              </a:rPr>
              <a:t>V</a:t>
            </a:r>
            <a:r>
              <a:rPr lang="en-US" altLang="zh-CN" sz="2600" b="1" baseline="-25000" dirty="0">
                <a:latin typeface="Times New Roman" panose="02020603050405020304" pitchFamily="2" charset="0"/>
                <a:ea typeface="楷体_GB2312" pitchFamily="1" charset="-122"/>
                <a:cs typeface="Times New Roman" panose="02020603050405020304" pitchFamily="2" charset="0"/>
              </a:rPr>
              <a:t>o</a:t>
            </a:r>
            <a:r>
              <a:rPr lang="en-US" altLang="zh-CN" sz="2600" b="1" dirty="0">
                <a:latin typeface="Book Antiqua" panose="02040602050305030304" charset="0"/>
                <a:ea typeface="楷体_GB2312" pitchFamily="1" charset="-122"/>
                <a:cs typeface="Book Antiqua" panose="02040602050305030304" charset="0"/>
              </a:rPr>
              <a:t>=</a:t>
            </a:r>
            <a:r>
              <a:rPr lang="en-US" altLang="zh-CN" sz="2600" b="1" dirty="0">
                <a:latin typeface="Times New Roman" panose="02020603050405020304" pitchFamily="2" charset="0"/>
                <a:ea typeface="楷体_GB2312" pitchFamily="1" charset="-122"/>
                <a:cs typeface="Times New Roman" panose="02020603050405020304" pitchFamily="2" charset="0"/>
              </a:rPr>
              <a:t> </a:t>
            </a:r>
            <a:r>
              <a:rPr lang="en-US" altLang="zh-CN" sz="2600" b="1" dirty="0">
                <a:solidFill>
                  <a:srgbClr val="FF0000"/>
                </a:solidFill>
                <a:latin typeface="Times New Roman" panose="02020603050405020304" pitchFamily="2" charset="0"/>
                <a:ea typeface="楷体_GB2312" pitchFamily="1" charset="-122"/>
                <a:cs typeface="Times New Roman" panose="02020603050405020304" pitchFamily="2" charset="0"/>
              </a:rPr>
              <a:t>-</a:t>
            </a:r>
            <a:r>
              <a:rPr lang="en-US" altLang="zh-CN" sz="2600" b="1" dirty="0">
                <a:latin typeface="Times New Roman" panose="02020603050405020304" pitchFamily="2" charset="0"/>
                <a:ea typeface="楷体_GB2312" pitchFamily="1" charset="-122"/>
                <a:cs typeface="Times New Roman" panose="02020603050405020304" pitchFamily="2" charset="0"/>
              </a:rPr>
              <a:t>(</a:t>
            </a:r>
            <a:r>
              <a:rPr lang="en-US" altLang="zh-CN" sz="2600" b="1" i="1" dirty="0">
                <a:latin typeface="Times New Roman" panose="02020603050405020304" pitchFamily="2" charset="0"/>
                <a:ea typeface="楷体_GB2312" pitchFamily="1" charset="-122"/>
                <a:cs typeface="Times New Roman" panose="02020603050405020304" pitchFamily="2" charset="0"/>
              </a:rPr>
              <a:t>V</a:t>
            </a:r>
            <a:r>
              <a:rPr lang="en-US" altLang="zh-CN" sz="2600" b="1" baseline="-25000" dirty="0">
                <a:latin typeface="Times New Roman" panose="02020603050405020304" pitchFamily="2" charset="0"/>
                <a:ea typeface="楷体_GB2312" pitchFamily="1" charset="-122"/>
                <a:cs typeface="Times New Roman" panose="02020603050405020304" pitchFamily="2" charset="0"/>
              </a:rPr>
              <a:t>i</a:t>
            </a:r>
            <a:r>
              <a:rPr lang="en-US" altLang="zh-CN" sz="2600" b="1" dirty="0">
                <a:latin typeface="Times New Roman" panose="02020603050405020304" pitchFamily="2" charset="0"/>
                <a:ea typeface="楷体_GB2312" pitchFamily="1" charset="-122"/>
                <a:cs typeface="Times New Roman" panose="02020603050405020304" pitchFamily="2" charset="0"/>
              </a:rPr>
              <a:t>+</a:t>
            </a:r>
            <a:r>
              <a:rPr lang="en-US" altLang="zh-CN" sz="2600" b="1" i="1" dirty="0">
                <a:latin typeface="Times New Roman" panose="02020603050405020304" pitchFamily="2" charset="0"/>
                <a:ea typeface="楷体_GB2312" pitchFamily="1" charset="-122"/>
                <a:cs typeface="Times New Roman" panose="02020603050405020304" pitchFamily="2" charset="0"/>
              </a:rPr>
              <a:t>V</a:t>
            </a:r>
            <a:r>
              <a:rPr lang="en-US" altLang="zh-CN" sz="2600" b="1" baseline="-25000" dirty="0">
                <a:latin typeface="Times New Roman" panose="02020603050405020304" pitchFamily="2" charset="0"/>
                <a:ea typeface="楷体_GB2312" pitchFamily="1" charset="-122"/>
                <a:cs typeface="Times New Roman" panose="02020603050405020304" pitchFamily="2" charset="0"/>
              </a:rPr>
              <a:t>o1</a:t>
            </a:r>
            <a:r>
              <a:rPr lang="en-US" altLang="zh-CN" sz="2600" b="1" dirty="0">
                <a:latin typeface="Times New Roman" panose="02020603050405020304" pitchFamily="2" charset="0"/>
                <a:ea typeface="楷体_GB2312" pitchFamily="1" charset="-122"/>
                <a:cs typeface="Times New Roman" panose="02020603050405020304" pitchFamily="2" charset="0"/>
              </a:rPr>
              <a:t>)</a:t>
            </a:r>
            <a:endParaRPr lang="zh-CN" altLang="en-US" sz="2600" b="1" dirty="0">
              <a:solidFill>
                <a:srgbClr val="FF0000"/>
              </a:solidFill>
              <a:latin typeface="Times New Roman" panose="02020603050405020304" pitchFamily="2" charset="0"/>
              <a:ea typeface="楷体_GB2312" pitchFamily="1" charset="-122"/>
              <a:cs typeface="Times New Roman" panose="02020603050405020304" pitchFamily="2" charset="0"/>
            </a:endParaRPr>
          </a:p>
        </p:txBody>
      </p:sp>
      <p:grpSp>
        <p:nvGrpSpPr>
          <p:cNvPr id="10" name="组合 9"/>
          <p:cNvGrpSpPr/>
          <p:nvPr/>
        </p:nvGrpSpPr>
        <p:grpSpPr>
          <a:xfrm>
            <a:off x="2555240" y="1362710"/>
            <a:ext cx="7077710" cy="3333750"/>
            <a:chOff x="3459" y="1468"/>
            <a:chExt cx="11146" cy="5250"/>
          </a:xfrm>
        </p:grpSpPr>
        <p:grpSp>
          <p:nvGrpSpPr>
            <p:cNvPr id="7" name="组合 6"/>
            <p:cNvGrpSpPr/>
            <p:nvPr/>
          </p:nvGrpSpPr>
          <p:grpSpPr>
            <a:xfrm>
              <a:off x="3459" y="1468"/>
              <a:ext cx="11146" cy="5251"/>
              <a:chOff x="3120" y="1895"/>
              <a:chExt cx="12480" cy="6745"/>
            </a:xfrm>
          </p:grpSpPr>
          <p:sp>
            <p:nvSpPr>
              <p:cNvPr id="34869" name="Line 55"/>
              <p:cNvSpPr/>
              <p:nvPr/>
            </p:nvSpPr>
            <p:spPr>
              <a:xfrm rot="-5400000" flipV="1">
                <a:off x="8398" y="5925"/>
                <a:ext cx="4952" cy="0"/>
              </a:xfrm>
              <a:prstGeom prst="line">
                <a:avLst/>
              </a:prstGeom>
              <a:ln w="28575" cap="flat" cmpd="sng">
                <a:solidFill>
                  <a:schemeClr val="tx1"/>
                </a:solidFill>
                <a:prstDash val="solid"/>
                <a:miter/>
                <a:headEnd type="none" w="med" len="med"/>
                <a:tailEnd type="none" w="med" len="med"/>
              </a:ln>
            </p:spPr>
          </p:sp>
          <p:sp>
            <p:nvSpPr>
              <p:cNvPr id="34819" name="Line 5"/>
              <p:cNvSpPr/>
              <p:nvPr/>
            </p:nvSpPr>
            <p:spPr>
              <a:xfrm>
                <a:off x="10800" y="5228"/>
                <a:ext cx="1035" cy="0"/>
              </a:xfrm>
              <a:prstGeom prst="line">
                <a:avLst/>
              </a:prstGeom>
              <a:ln w="28575" cap="flat" cmpd="sng">
                <a:solidFill>
                  <a:schemeClr val="tx1"/>
                </a:solidFill>
                <a:prstDash val="solid"/>
                <a:miter/>
                <a:headEnd type="none" w="med" len="med"/>
                <a:tailEnd type="none" w="med" len="med"/>
              </a:ln>
            </p:spPr>
          </p:sp>
          <p:sp>
            <p:nvSpPr>
              <p:cNvPr id="34820" name="Line 6"/>
              <p:cNvSpPr/>
              <p:nvPr/>
            </p:nvSpPr>
            <p:spPr>
              <a:xfrm>
                <a:off x="11400" y="6240"/>
                <a:ext cx="420" cy="0"/>
              </a:xfrm>
              <a:prstGeom prst="line">
                <a:avLst/>
              </a:prstGeom>
              <a:ln w="38100" cap="flat" cmpd="sng">
                <a:solidFill>
                  <a:schemeClr val="tx1"/>
                </a:solidFill>
                <a:prstDash val="solid"/>
                <a:miter/>
                <a:headEnd type="none" w="med" len="med"/>
                <a:tailEnd type="none" w="med" len="med"/>
              </a:ln>
            </p:spPr>
          </p:sp>
          <p:sp>
            <p:nvSpPr>
              <p:cNvPr id="34822" name="AutoShape 8"/>
              <p:cNvSpPr/>
              <p:nvPr/>
            </p:nvSpPr>
            <p:spPr>
              <a:xfrm rot="5400000">
                <a:off x="11970" y="4650"/>
                <a:ext cx="1800" cy="2100"/>
              </a:xfrm>
              <a:prstGeom prst="triangle">
                <a:avLst>
                  <a:gd name="adj" fmla="val 50000"/>
                </a:avLst>
              </a:prstGeom>
              <a:noFill/>
              <a:ln w="38100" cap="flat" cmpd="sng">
                <a:solidFill>
                  <a:schemeClr val="tx1"/>
                </a:solidFill>
                <a:prstDash val="solid"/>
                <a:miter/>
                <a:headEnd type="none" w="med" len="med"/>
                <a:tailEnd type="none" w="med" len="med"/>
              </a:ln>
            </p:spPr>
            <p:txBody>
              <a:bodyPr wrap="none" anchor="ctr" anchorCtr="0"/>
              <a:p>
                <a:pPr>
                  <a:buFont typeface="Wingdings" panose="05000000000000000000" pitchFamily="2" charset="2"/>
                </a:pPr>
                <a:endParaRPr lang="zh-CN" altLang="en-US" dirty="0">
                  <a:solidFill>
                    <a:schemeClr val="tx1"/>
                  </a:solidFill>
                  <a:latin typeface="Verdana" panose="020B0604030504040204" pitchFamily="2" charset="0"/>
                  <a:ea typeface="宋体" panose="02010600030101010101" pitchFamily="2" charset="-122"/>
                </a:endParaRPr>
              </a:p>
            </p:txBody>
          </p:sp>
          <p:sp>
            <p:nvSpPr>
              <p:cNvPr id="34828" name="Text Box 14"/>
              <p:cNvSpPr txBox="1"/>
              <p:nvPr/>
            </p:nvSpPr>
            <p:spPr>
              <a:xfrm>
                <a:off x="11760" y="5602"/>
                <a:ext cx="840" cy="931"/>
              </a:xfrm>
              <a:prstGeom prst="rect">
                <a:avLst/>
              </a:prstGeom>
              <a:noFill/>
              <a:ln w="9525">
                <a:noFill/>
              </a:ln>
            </p:spPr>
            <p:txBody>
              <a:bodyPr anchor="t" anchorCtr="0">
                <a:spAutoFit/>
              </a:bodyPr>
              <a:p>
                <a:pPr>
                  <a:spcBef>
                    <a:spcPct val="50000"/>
                  </a:spcBef>
                  <a:buFont typeface="Wingdings" panose="05000000000000000000" pitchFamily="2" charset="2"/>
                </a:pPr>
                <a:r>
                  <a:rPr lang="en-US" altLang="zh-CN" sz="2400" dirty="0">
                    <a:solidFill>
                      <a:schemeClr val="tx1"/>
                    </a:solidFill>
                    <a:latin typeface="Tahoma" panose="020B0604030504040204" pitchFamily="2" charset="0"/>
                    <a:ea typeface="宋体" panose="02010600030101010101" pitchFamily="2" charset="-122"/>
                  </a:rPr>
                  <a:t>+</a:t>
                </a:r>
                <a:endParaRPr lang="en-US" altLang="zh-CN" sz="2400" dirty="0">
                  <a:solidFill>
                    <a:schemeClr val="tx1"/>
                  </a:solidFill>
                  <a:latin typeface="Tahoma" panose="020B0604030504040204" pitchFamily="2" charset="0"/>
                  <a:ea typeface="宋体" panose="02010600030101010101" pitchFamily="2" charset="-122"/>
                </a:endParaRPr>
              </a:p>
            </p:txBody>
          </p:sp>
          <p:sp>
            <p:nvSpPr>
              <p:cNvPr id="34829" name="Text Box 15"/>
              <p:cNvSpPr txBox="1"/>
              <p:nvPr/>
            </p:nvSpPr>
            <p:spPr>
              <a:xfrm>
                <a:off x="11805" y="4800"/>
                <a:ext cx="840" cy="931"/>
              </a:xfrm>
              <a:prstGeom prst="rect">
                <a:avLst/>
              </a:prstGeom>
              <a:noFill/>
              <a:ln w="9525">
                <a:noFill/>
              </a:ln>
            </p:spPr>
            <p:txBody>
              <a:bodyPr anchor="t" anchorCtr="0">
                <a:spAutoFit/>
              </a:bodyPr>
              <a:p>
                <a:pPr>
                  <a:spcBef>
                    <a:spcPct val="50000"/>
                  </a:spcBef>
                  <a:buFont typeface="Wingdings" panose="05000000000000000000" pitchFamily="2" charset="2"/>
                </a:pPr>
                <a:r>
                  <a:rPr lang="en-US" altLang="zh-CN" sz="2400" b="1" dirty="0">
                    <a:solidFill>
                      <a:schemeClr val="tx1"/>
                    </a:solidFill>
                    <a:latin typeface="Times New Roman" panose="02020603050405020304" pitchFamily="2" charset="0"/>
                    <a:ea typeface="宋体" panose="02010600030101010101" pitchFamily="2" charset="-122"/>
                  </a:rPr>
                  <a:t>–</a:t>
                </a:r>
                <a:endParaRPr lang="en-US" altLang="zh-CN" sz="2400" b="1" dirty="0">
                  <a:solidFill>
                    <a:schemeClr val="tx1"/>
                  </a:solidFill>
                  <a:latin typeface="Times New Roman" panose="02020603050405020304" pitchFamily="2" charset="0"/>
                  <a:ea typeface="宋体" panose="02010600030101010101" pitchFamily="2" charset="-122"/>
                </a:endParaRPr>
              </a:p>
            </p:txBody>
          </p:sp>
          <p:sp>
            <p:nvSpPr>
              <p:cNvPr id="34832" name="Rectangle 18"/>
              <p:cNvSpPr/>
              <p:nvPr/>
            </p:nvSpPr>
            <p:spPr>
              <a:xfrm rot="-5400000">
                <a:off x="4800" y="6480"/>
                <a:ext cx="720" cy="240"/>
              </a:xfrm>
              <a:prstGeom prst="rect">
                <a:avLst/>
              </a:prstGeom>
              <a:noFill/>
              <a:ln w="38100" cap="flat" cmpd="sng">
                <a:solidFill>
                  <a:schemeClr val="tx1"/>
                </a:solidFill>
                <a:prstDash val="solid"/>
                <a:miter/>
                <a:headEnd type="none" w="med" len="med"/>
                <a:tailEnd type="none" w="med" len="med"/>
              </a:ln>
            </p:spPr>
            <p:txBody>
              <a:bodyPr wrap="none" anchor="ctr" anchorCtr="0"/>
              <a:p>
                <a:pPr>
                  <a:buFont typeface="Wingdings" panose="05000000000000000000" pitchFamily="2" charset="2"/>
                </a:pPr>
                <a:endParaRPr lang="zh-CN" altLang="en-US" dirty="0">
                  <a:solidFill>
                    <a:schemeClr val="tx1"/>
                  </a:solidFill>
                  <a:latin typeface="Verdana" panose="020B0604030504040204" pitchFamily="2" charset="0"/>
                  <a:ea typeface="宋体" panose="02010600030101010101" pitchFamily="2" charset="-122"/>
                </a:endParaRPr>
              </a:p>
            </p:txBody>
          </p:sp>
          <p:sp>
            <p:nvSpPr>
              <p:cNvPr id="34833" name="Line 19"/>
              <p:cNvSpPr/>
              <p:nvPr/>
            </p:nvSpPr>
            <p:spPr>
              <a:xfrm>
                <a:off x="7590" y="5228"/>
                <a:ext cx="4190" cy="0"/>
              </a:xfrm>
              <a:prstGeom prst="line">
                <a:avLst/>
              </a:prstGeom>
              <a:ln w="28575" cap="flat" cmpd="sng">
                <a:solidFill>
                  <a:schemeClr val="tx1"/>
                </a:solidFill>
                <a:prstDash val="solid"/>
                <a:miter/>
                <a:headEnd type="none" w="med" len="med"/>
                <a:tailEnd type="none" w="med" len="med"/>
              </a:ln>
            </p:spPr>
          </p:sp>
          <p:sp>
            <p:nvSpPr>
              <p:cNvPr id="34834" name="Rectangle 20"/>
              <p:cNvSpPr/>
              <p:nvPr/>
            </p:nvSpPr>
            <p:spPr>
              <a:xfrm rot="-5400000">
                <a:off x="11040" y="7320"/>
                <a:ext cx="720" cy="240"/>
              </a:xfrm>
              <a:prstGeom prst="rect">
                <a:avLst/>
              </a:prstGeom>
              <a:noFill/>
              <a:ln w="38100" cap="flat" cmpd="sng">
                <a:solidFill>
                  <a:schemeClr val="tx1"/>
                </a:solidFill>
                <a:prstDash val="solid"/>
                <a:miter/>
                <a:headEnd type="none" w="med" len="med"/>
                <a:tailEnd type="none" w="med" len="med"/>
              </a:ln>
            </p:spPr>
            <p:txBody>
              <a:bodyPr wrap="none" anchor="ctr" anchorCtr="0"/>
              <a:p>
                <a:pPr>
                  <a:buFont typeface="Wingdings" panose="05000000000000000000" pitchFamily="2" charset="2"/>
                </a:pPr>
                <a:endParaRPr lang="zh-CN" altLang="en-US" dirty="0">
                  <a:solidFill>
                    <a:schemeClr val="tx1"/>
                  </a:solidFill>
                  <a:latin typeface="Verdana" panose="020B0604030504040204" pitchFamily="2" charset="0"/>
                  <a:ea typeface="宋体" panose="02010600030101010101" pitchFamily="2" charset="-122"/>
                </a:endParaRPr>
              </a:p>
            </p:txBody>
          </p:sp>
          <p:sp>
            <p:nvSpPr>
              <p:cNvPr id="34835" name="Line 21"/>
              <p:cNvSpPr/>
              <p:nvPr/>
            </p:nvSpPr>
            <p:spPr>
              <a:xfrm rot="-5400000">
                <a:off x="10980" y="6660"/>
                <a:ext cx="840" cy="0"/>
              </a:xfrm>
              <a:prstGeom prst="line">
                <a:avLst/>
              </a:prstGeom>
              <a:ln w="28575" cap="flat" cmpd="sng">
                <a:solidFill>
                  <a:schemeClr val="tx1"/>
                </a:solidFill>
                <a:prstDash val="solid"/>
                <a:miter/>
                <a:headEnd type="none" w="med" len="med"/>
                <a:tailEnd type="none" w="med" len="med"/>
              </a:ln>
            </p:spPr>
          </p:sp>
          <p:sp>
            <p:nvSpPr>
              <p:cNvPr id="34838" name="Line 24"/>
              <p:cNvSpPr/>
              <p:nvPr/>
            </p:nvSpPr>
            <p:spPr>
              <a:xfrm rot="-5400000">
                <a:off x="13980" y="4620"/>
                <a:ext cx="2280" cy="0"/>
              </a:xfrm>
              <a:prstGeom prst="line">
                <a:avLst/>
              </a:prstGeom>
              <a:ln w="28575" cap="flat" cmpd="sng">
                <a:solidFill>
                  <a:schemeClr val="tx1"/>
                </a:solidFill>
                <a:prstDash val="solid"/>
                <a:miter/>
                <a:headEnd type="none" w="med" len="med"/>
                <a:tailEnd type="none" w="med" len="med"/>
              </a:ln>
            </p:spPr>
          </p:sp>
          <p:sp>
            <p:nvSpPr>
              <p:cNvPr id="34839" name="Oval 25"/>
              <p:cNvSpPr/>
              <p:nvPr/>
            </p:nvSpPr>
            <p:spPr>
              <a:xfrm>
                <a:off x="3660" y="4598"/>
                <a:ext cx="120" cy="120"/>
              </a:xfrm>
              <a:prstGeom prst="ellipse">
                <a:avLst/>
              </a:prstGeom>
              <a:solidFill>
                <a:schemeClr val="tx1"/>
              </a:solidFill>
              <a:ln w="9525" cap="flat" cmpd="sng">
                <a:solidFill>
                  <a:schemeClr val="tx1"/>
                </a:solidFill>
                <a:prstDash val="solid"/>
                <a:miter/>
                <a:headEnd type="none" w="med" len="med"/>
                <a:tailEnd type="none" w="med" len="med"/>
              </a:ln>
            </p:spPr>
            <p:txBody>
              <a:bodyPr wrap="none" anchor="ctr" anchorCtr="0"/>
              <a:p>
                <a:pPr>
                  <a:buFont typeface="Wingdings" panose="05000000000000000000" pitchFamily="2" charset="2"/>
                </a:pPr>
                <a:endParaRPr lang="zh-CN" altLang="en-US" dirty="0">
                  <a:solidFill>
                    <a:schemeClr val="tx1"/>
                  </a:solidFill>
                  <a:latin typeface="Verdana" panose="020B0604030504040204" pitchFamily="2" charset="0"/>
                  <a:ea typeface="宋体" panose="02010600030101010101" pitchFamily="2" charset="-122"/>
                </a:endParaRPr>
              </a:p>
            </p:txBody>
          </p:sp>
          <p:sp>
            <p:nvSpPr>
              <p:cNvPr id="34840" name="Oval 26"/>
              <p:cNvSpPr/>
              <p:nvPr/>
            </p:nvSpPr>
            <p:spPr>
              <a:xfrm>
                <a:off x="10777" y="5109"/>
                <a:ext cx="190" cy="218"/>
              </a:xfrm>
              <a:prstGeom prst="ellipse">
                <a:avLst/>
              </a:prstGeom>
              <a:solidFill>
                <a:srgbClr val="FF0000"/>
              </a:solidFill>
              <a:ln w="9525" cap="flat" cmpd="sng">
                <a:solidFill>
                  <a:srgbClr val="FF0000"/>
                </a:solidFill>
                <a:prstDash val="solid"/>
                <a:miter/>
                <a:headEnd type="none" w="med" len="med"/>
                <a:tailEnd type="none" w="med" len="med"/>
              </a:ln>
            </p:spPr>
            <p:txBody>
              <a:bodyPr wrap="none" anchor="ctr" anchorCtr="0"/>
              <a:p>
                <a:pPr>
                  <a:buFont typeface="Wingdings" panose="05000000000000000000" pitchFamily="2" charset="2"/>
                </a:pPr>
                <a:endParaRPr lang="zh-CN" altLang="en-US" dirty="0">
                  <a:solidFill>
                    <a:schemeClr val="tx1"/>
                  </a:solidFill>
                  <a:latin typeface="Verdana" panose="020B0604030504040204" pitchFamily="2" charset="0"/>
                  <a:ea typeface="宋体" panose="02010600030101010101" pitchFamily="2" charset="-122"/>
                </a:endParaRPr>
              </a:p>
            </p:txBody>
          </p:sp>
          <p:sp>
            <p:nvSpPr>
              <p:cNvPr id="34843" name="Line 29"/>
              <p:cNvSpPr/>
              <p:nvPr/>
            </p:nvSpPr>
            <p:spPr>
              <a:xfrm rot="-5400000">
                <a:off x="4920" y="6000"/>
                <a:ext cx="480" cy="0"/>
              </a:xfrm>
              <a:prstGeom prst="line">
                <a:avLst/>
              </a:prstGeom>
              <a:ln w="28575" cap="flat" cmpd="sng">
                <a:solidFill>
                  <a:schemeClr val="tx1"/>
                </a:solidFill>
                <a:prstDash val="solid"/>
                <a:miter/>
                <a:headEnd type="none" w="med" len="med"/>
                <a:tailEnd type="none" w="med" len="med"/>
              </a:ln>
            </p:spPr>
          </p:sp>
          <p:sp>
            <p:nvSpPr>
              <p:cNvPr id="34844" name="Oval 30"/>
              <p:cNvSpPr/>
              <p:nvPr/>
            </p:nvSpPr>
            <p:spPr>
              <a:xfrm>
                <a:off x="7973" y="5145"/>
                <a:ext cx="120" cy="120"/>
              </a:xfrm>
              <a:prstGeom prst="ellipse">
                <a:avLst/>
              </a:prstGeom>
              <a:solidFill>
                <a:schemeClr val="tx1"/>
              </a:solidFill>
              <a:ln w="9525" cap="flat" cmpd="sng">
                <a:solidFill>
                  <a:schemeClr val="tx1"/>
                </a:solidFill>
                <a:prstDash val="solid"/>
                <a:miter/>
                <a:headEnd type="none" w="med" len="med"/>
                <a:tailEnd type="none" w="med" len="med"/>
              </a:ln>
            </p:spPr>
            <p:txBody>
              <a:bodyPr wrap="none" anchor="ctr" anchorCtr="0"/>
              <a:p>
                <a:pPr>
                  <a:buFont typeface="Wingdings" panose="05000000000000000000" pitchFamily="2" charset="2"/>
                </a:pPr>
                <a:endParaRPr lang="zh-CN" altLang="en-US" dirty="0">
                  <a:solidFill>
                    <a:schemeClr val="tx1"/>
                  </a:solidFill>
                  <a:latin typeface="Verdana" panose="020B0604030504040204" pitchFamily="2" charset="0"/>
                  <a:ea typeface="宋体" panose="02010600030101010101" pitchFamily="2" charset="-122"/>
                </a:endParaRPr>
              </a:p>
            </p:txBody>
          </p:sp>
          <p:sp>
            <p:nvSpPr>
              <p:cNvPr id="34845" name="Line 31"/>
              <p:cNvSpPr/>
              <p:nvPr/>
            </p:nvSpPr>
            <p:spPr>
              <a:xfrm>
                <a:off x="5160" y="6960"/>
                <a:ext cx="0" cy="600"/>
              </a:xfrm>
              <a:prstGeom prst="line">
                <a:avLst/>
              </a:prstGeom>
              <a:ln w="28575" cap="flat" cmpd="sng">
                <a:solidFill>
                  <a:schemeClr val="tx1"/>
                </a:solidFill>
                <a:prstDash val="solid"/>
                <a:miter/>
                <a:headEnd type="none" w="med" len="med"/>
                <a:tailEnd type="none" w="med" len="med"/>
              </a:ln>
            </p:spPr>
          </p:sp>
          <p:sp>
            <p:nvSpPr>
              <p:cNvPr id="34846" name="Line 32"/>
              <p:cNvSpPr/>
              <p:nvPr/>
            </p:nvSpPr>
            <p:spPr>
              <a:xfrm>
                <a:off x="11400" y="7800"/>
                <a:ext cx="0" cy="840"/>
              </a:xfrm>
              <a:prstGeom prst="line">
                <a:avLst/>
              </a:prstGeom>
              <a:ln w="28575" cap="flat" cmpd="sng">
                <a:solidFill>
                  <a:schemeClr val="tx1"/>
                </a:solidFill>
                <a:prstDash val="solid"/>
                <a:miter/>
                <a:headEnd type="none" w="med" len="med"/>
                <a:tailEnd type="none" w="med" len="med"/>
              </a:ln>
            </p:spPr>
          </p:sp>
          <p:sp>
            <p:nvSpPr>
              <p:cNvPr id="34848" name="Line 34"/>
              <p:cNvSpPr/>
              <p:nvPr/>
            </p:nvSpPr>
            <p:spPr>
              <a:xfrm flipV="1">
                <a:off x="10894" y="3452"/>
                <a:ext cx="4227" cy="0"/>
              </a:xfrm>
              <a:prstGeom prst="line">
                <a:avLst/>
              </a:prstGeom>
              <a:ln w="28575" cap="flat" cmpd="sng">
                <a:solidFill>
                  <a:schemeClr val="tx1"/>
                </a:solidFill>
                <a:prstDash val="solid"/>
                <a:miter/>
                <a:headEnd type="none" w="med" len="med"/>
                <a:tailEnd type="none" w="med" len="med"/>
              </a:ln>
            </p:spPr>
          </p:sp>
          <p:sp>
            <p:nvSpPr>
              <p:cNvPr id="34849" name="Line 35"/>
              <p:cNvSpPr/>
              <p:nvPr/>
            </p:nvSpPr>
            <p:spPr>
              <a:xfrm>
                <a:off x="13920" y="5700"/>
                <a:ext cx="1680" cy="0"/>
              </a:xfrm>
              <a:prstGeom prst="line">
                <a:avLst/>
              </a:prstGeom>
              <a:ln w="28575" cap="flat" cmpd="sng">
                <a:solidFill>
                  <a:schemeClr val="tx1"/>
                </a:solidFill>
                <a:prstDash val="solid"/>
                <a:miter/>
                <a:headEnd type="none" w="med" len="med"/>
                <a:tailEnd type="none" w="med" len="med"/>
              </a:ln>
            </p:spPr>
          </p:sp>
          <p:sp>
            <p:nvSpPr>
              <p:cNvPr id="34850" name="Oval 36"/>
              <p:cNvSpPr/>
              <p:nvPr/>
            </p:nvSpPr>
            <p:spPr>
              <a:xfrm>
                <a:off x="15060" y="5640"/>
                <a:ext cx="120" cy="120"/>
              </a:xfrm>
              <a:prstGeom prst="ellipse">
                <a:avLst/>
              </a:prstGeom>
              <a:solidFill>
                <a:schemeClr val="tx1"/>
              </a:solidFill>
              <a:ln w="9525" cap="flat" cmpd="sng">
                <a:solidFill>
                  <a:schemeClr val="tx1"/>
                </a:solidFill>
                <a:prstDash val="solid"/>
                <a:miter/>
                <a:headEnd type="none" w="med" len="med"/>
                <a:tailEnd type="none" w="med" len="med"/>
              </a:ln>
            </p:spPr>
            <p:txBody>
              <a:bodyPr wrap="none" anchor="ctr" anchorCtr="0"/>
              <a:p>
                <a:pPr>
                  <a:buFont typeface="Wingdings" panose="05000000000000000000" pitchFamily="2" charset="2"/>
                </a:pPr>
                <a:endParaRPr lang="zh-CN" altLang="en-US" dirty="0">
                  <a:solidFill>
                    <a:schemeClr val="tx1"/>
                  </a:solidFill>
                  <a:latin typeface="Verdana" panose="020B0604030504040204" pitchFamily="2" charset="0"/>
                  <a:ea typeface="宋体" panose="02010600030101010101" pitchFamily="2" charset="-122"/>
                </a:endParaRPr>
              </a:p>
            </p:txBody>
          </p:sp>
          <p:sp>
            <p:nvSpPr>
              <p:cNvPr id="34851" name="Line 37"/>
              <p:cNvSpPr/>
              <p:nvPr/>
            </p:nvSpPr>
            <p:spPr>
              <a:xfrm>
                <a:off x="4984" y="7565"/>
                <a:ext cx="360" cy="0"/>
              </a:xfrm>
              <a:prstGeom prst="line">
                <a:avLst/>
              </a:prstGeom>
              <a:ln w="38100" cap="flat" cmpd="sng">
                <a:solidFill>
                  <a:schemeClr val="tx1"/>
                </a:solidFill>
                <a:prstDash val="solid"/>
                <a:miter/>
                <a:headEnd type="none" w="med" len="med"/>
                <a:tailEnd type="none" w="med" len="med"/>
              </a:ln>
            </p:spPr>
          </p:sp>
          <p:sp>
            <p:nvSpPr>
              <p:cNvPr id="34852" name="Line 38"/>
              <p:cNvSpPr/>
              <p:nvPr/>
            </p:nvSpPr>
            <p:spPr>
              <a:xfrm>
                <a:off x="11213" y="8640"/>
                <a:ext cx="360" cy="0"/>
              </a:xfrm>
              <a:prstGeom prst="line">
                <a:avLst/>
              </a:prstGeom>
              <a:ln w="57150" cap="flat" cmpd="sng">
                <a:solidFill>
                  <a:schemeClr val="tx1"/>
                </a:solidFill>
                <a:prstDash val="solid"/>
                <a:miter/>
                <a:headEnd type="none" w="med" len="med"/>
                <a:tailEnd type="none" w="med" len="med"/>
              </a:ln>
            </p:spPr>
          </p:sp>
          <p:sp>
            <p:nvSpPr>
              <p:cNvPr id="34854" name="Text Box 40"/>
              <p:cNvSpPr txBox="1"/>
              <p:nvPr/>
            </p:nvSpPr>
            <p:spPr>
              <a:xfrm>
                <a:off x="12960" y="2495"/>
                <a:ext cx="1560" cy="931"/>
              </a:xfrm>
              <a:prstGeom prst="rect">
                <a:avLst/>
              </a:prstGeom>
              <a:noFill/>
              <a:ln w="9525">
                <a:noFill/>
              </a:ln>
            </p:spPr>
            <p:txBody>
              <a:bodyPr anchor="t" anchorCtr="0">
                <a:spAutoFit/>
              </a:bodyPr>
              <a:p>
                <a:pPr>
                  <a:spcBef>
                    <a:spcPct val="50000"/>
                  </a:spcBef>
                  <a:buFont typeface="Wingdings" panose="05000000000000000000" pitchFamily="2" charset="2"/>
                </a:pPr>
                <a:r>
                  <a:rPr lang="en-US" altLang="zh-CN" sz="2400" b="1" dirty="0">
                    <a:solidFill>
                      <a:schemeClr val="tx1"/>
                    </a:solidFill>
                    <a:latin typeface="Times New Roman" panose="02020603050405020304" pitchFamily="2" charset="0"/>
                    <a:ea typeface="宋体" panose="02010600030101010101" pitchFamily="2" charset="-122"/>
                    <a:cs typeface="Times New Roman" panose="02020603050405020304" pitchFamily="2" charset="0"/>
                  </a:rPr>
                  <a:t>10k</a:t>
                </a:r>
                <a:endParaRPr lang="en-US" altLang="zh-CN" sz="2400" b="1" dirty="0">
                  <a:solidFill>
                    <a:schemeClr val="tx1"/>
                  </a:solidFill>
                  <a:latin typeface="Times New Roman" panose="02020603050405020304" pitchFamily="2" charset="0"/>
                  <a:ea typeface="宋体" panose="02010600030101010101" pitchFamily="2" charset="-122"/>
                  <a:cs typeface="Times New Roman" panose="02020603050405020304" pitchFamily="2" charset="0"/>
                </a:endParaRPr>
              </a:p>
            </p:txBody>
          </p:sp>
          <p:sp>
            <p:nvSpPr>
              <p:cNvPr id="34855" name="Text Box 41"/>
              <p:cNvSpPr txBox="1"/>
              <p:nvPr/>
            </p:nvSpPr>
            <p:spPr>
              <a:xfrm>
                <a:off x="6579" y="1895"/>
                <a:ext cx="1560" cy="931"/>
              </a:xfrm>
              <a:prstGeom prst="rect">
                <a:avLst/>
              </a:prstGeom>
              <a:noFill/>
              <a:ln w="9525">
                <a:noFill/>
              </a:ln>
            </p:spPr>
            <p:txBody>
              <a:bodyPr anchor="t" anchorCtr="0">
                <a:spAutoFit/>
              </a:bodyPr>
              <a:p>
                <a:pPr>
                  <a:spcBef>
                    <a:spcPct val="50000"/>
                  </a:spcBef>
                  <a:buFont typeface="Wingdings" panose="05000000000000000000" pitchFamily="2" charset="2"/>
                </a:pPr>
                <a:r>
                  <a:rPr lang="en-US" altLang="zh-CN" sz="2400" b="1" dirty="0">
                    <a:solidFill>
                      <a:schemeClr val="tx1"/>
                    </a:solidFill>
                    <a:latin typeface="Times New Roman" panose="02020603050405020304" pitchFamily="2" charset="0"/>
                    <a:ea typeface="宋体" panose="02010600030101010101" pitchFamily="2" charset="-122"/>
                    <a:cs typeface="Times New Roman" panose="02020603050405020304" pitchFamily="2" charset="0"/>
                  </a:rPr>
                  <a:t>20k</a:t>
                </a:r>
                <a:endParaRPr lang="en-US" altLang="zh-CN" sz="2400" b="1" dirty="0">
                  <a:solidFill>
                    <a:schemeClr val="tx1"/>
                  </a:solidFill>
                  <a:latin typeface="Times New Roman" panose="02020603050405020304" pitchFamily="2" charset="0"/>
                  <a:ea typeface="宋体" panose="02010600030101010101" pitchFamily="2" charset="-122"/>
                  <a:cs typeface="Times New Roman" panose="02020603050405020304" pitchFamily="2" charset="0"/>
                </a:endParaRPr>
              </a:p>
            </p:txBody>
          </p:sp>
          <p:sp>
            <p:nvSpPr>
              <p:cNvPr id="34856" name="Text Box 42"/>
              <p:cNvSpPr txBox="1"/>
              <p:nvPr/>
            </p:nvSpPr>
            <p:spPr>
              <a:xfrm>
                <a:off x="9367" y="5280"/>
                <a:ext cx="1560" cy="931"/>
              </a:xfrm>
              <a:prstGeom prst="rect">
                <a:avLst/>
              </a:prstGeom>
              <a:noFill/>
              <a:ln w="9525">
                <a:noFill/>
              </a:ln>
            </p:spPr>
            <p:txBody>
              <a:bodyPr anchor="t" anchorCtr="0">
                <a:spAutoFit/>
              </a:bodyPr>
              <a:p>
                <a:pPr>
                  <a:spcBef>
                    <a:spcPct val="50000"/>
                  </a:spcBef>
                  <a:buFont typeface="Wingdings" panose="05000000000000000000" pitchFamily="2" charset="2"/>
                </a:pPr>
                <a:r>
                  <a:rPr lang="en-US" altLang="zh-CN" sz="2400" b="1" dirty="0">
                    <a:solidFill>
                      <a:schemeClr val="tx1"/>
                    </a:solidFill>
                    <a:latin typeface="Times New Roman" panose="02020603050405020304" pitchFamily="2" charset="0"/>
                    <a:ea typeface="宋体" panose="02010600030101010101" pitchFamily="2" charset="-122"/>
                    <a:cs typeface="Times New Roman" panose="02020603050405020304" pitchFamily="2" charset="0"/>
                  </a:rPr>
                  <a:t>10k</a:t>
                </a:r>
                <a:endParaRPr lang="en-US" altLang="zh-CN" sz="2400" b="1" dirty="0">
                  <a:solidFill>
                    <a:schemeClr val="tx1"/>
                  </a:solidFill>
                  <a:latin typeface="Times New Roman" panose="02020603050405020304" pitchFamily="2" charset="0"/>
                  <a:ea typeface="宋体" panose="02010600030101010101" pitchFamily="2" charset="-122"/>
                  <a:cs typeface="Times New Roman" panose="02020603050405020304" pitchFamily="2" charset="0"/>
                </a:endParaRPr>
              </a:p>
            </p:txBody>
          </p:sp>
          <p:sp>
            <p:nvSpPr>
              <p:cNvPr id="34857" name="Text Box 43"/>
              <p:cNvSpPr txBox="1"/>
              <p:nvPr/>
            </p:nvSpPr>
            <p:spPr>
              <a:xfrm>
                <a:off x="8259" y="3950"/>
                <a:ext cx="1080" cy="931"/>
              </a:xfrm>
              <a:prstGeom prst="rect">
                <a:avLst/>
              </a:prstGeom>
              <a:noFill/>
              <a:ln w="9525">
                <a:noFill/>
              </a:ln>
            </p:spPr>
            <p:txBody>
              <a:bodyPr anchor="t" anchorCtr="0">
                <a:spAutoFit/>
              </a:bodyPr>
              <a:p>
                <a:pPr>
                  <a:spcBef>
                    <a:spcPct val="50000"/>
                  </a:spcBef>
                  <a:buFont typeface="Wingdings" panose="05000000000000000000" pitchFamily="2" charset="2"/>
                </a:pPr>
                <a:r>
                  <a:rPr lang="en-US" altLang="zh-CN" sz="2400" b="1" dirty="0">
                    <a:solidFill>
                      <a:schemeClr val="tx1"/>
                    </a:solidFill>
                    <a:latin typeface="Times New Roman" panose="02020603050405020304" pitchFamily="2" charset="0"/>
                    <a:ea typeface="宋体" panose="02010600030101010101" pitchFamily="2" charset="-122"/>
                    <a:cs typeface="Times New Roman" panose="02020603050405020304" pitchFamily="2" charset="0"/>
                  </a:rPr>
                  <a:t>D2</a:t>
                </a:r>
                <a:endParaRPr lang="en-US" altLang="zh-CN" sz="2400" b="1" dirty="0">
                  <a:solidFill>
                    <a:schemeClr val="tx1"/>
                  </a:solidFill>
                  <a:latin typeface="Times New Roman" panose="02020603050405020304" pitchFamily="2" charset="0"/>
                  <a:ea typeface="宋体" panose="02010600030101010101" pitchFamily="2" charset="-122"/>
                  <a:cs typeface="Times New Roman" panose="02020603050405020304" pitchFamily="2" charset="0"/>
                </a:endParaRPr>
              </a:p>
            </p:txBody>
          </p:sp>
          <p:sp>
            <p:nvSpPr>
              <p:cNvPr id="34858" name="Text Box 44"/>
              <p:cNvSpPr txBox="1"/>
              <p:nvPr/>
            </p:nvSpPr>
            <p:spPr>
              <a:xfrm>
                <a:off x="11513" y="7005"/>
                <a:ext cx="1560" cy="931"/>
              </a:xfrm>
              <a:prstGeom prst="rect">
                <a:avLst/>
              </a:prstGeom>
              <a:noFill/>
              <a:ln w="9525">
                <a:noFill/>
              </a:ln>
            </p:spPr>
            <p:txBody>
              <a:bodyPr anchor="t" anchorCtr="0">
                <a:spAutoFit/>
              </a:bodyPr>
              <a:p>
                <a:pPr>
                  <a:spcBef>
                    <a:spcPct val="50000"/>
                  </a:spcBef>
                  <a:buFont typeface="Wingdings" panose="05000000000000000000" pitchFamily="2" charset="2"/>
                </a:pPr>
                <a:r>
                  <a:rPr lang="en-US" altLang="zh-CN" sz="2400" b="1" dirty="0">
                    <a:solidFill>
                      <a:schemeClr val="tx1"/>
                    </a:solidFill>
                    <a:latin typeface="Times New Roman" panose="02020603050405020304" pitchFamily="2" charset="0"/>
                    <a:ea typeface="宋体" panose="02010600030101010101" pitchFamily="2" charset="-122"/>
                    <a:cs typeface="Times New Roman" panose="02020603050405020304" pitchFamily="2" charset="0"/>
                  </a:rPr>
                  <a:t>3.3k</a:t>
                </a:r>
                <a:endParaRPr lang="en-US" altLang="zh-CN" sz="2400" b="1" dirty="0">
                  <a:solidFill>
                    <a:schemeClr val="tx1"/>
                  </a:solidFill>
                  <a:latin typeface="Times New Roman" panose="02020603050405020304" pitchFamily="2" charset="0"/>
                  <a:ea typeface="宋体" panose="02010600030101010101" pitchFamily="2" charset="-122"/>
                  <a:cs typeface="Times New Roman" panose="02020603050405020304" pitchFamily="2" charset="0"/>
                </a:endParaRPr>
              </a:p>
            </p:txBody>
          </p:sp>
          <p:sp>
            <p:nvSpPr>
              <p:cNvPr id="34860" name="AutoShape 46"/>
              <p:cNvSpPr/>
              <p:nvPr/>
            </p:nvSpPr>
            <p:spPr>
              <a:xfrm rot="5400000">
                <a:off x="5670" y="4170"/>
                <a:ext cx="1800" cy="2100"/>
              </a:xfrm>
              <a:prstGeom prst="triangle">
                <a:avLst>
                  <a:gd name="adj" fmla="val 50000"/>
                </a:avLst>
              </a:prstGeom>
              <a:noFill/>
              <a:ln w="38100" cap="flat" cmpd="sng">
                <a:solidFill>
                  <a:schemeClr val="tx1"/>
                </a:solidFill>
                <a:prstDash val="solid"/>
                <a:miter/>
                <a:headEnd type="none" w="med" len="med"/>
                <a:tailEnd type="none" w="med" len="med"/>
              </a:ln>
            </p:spPr>
            <p:txBody>
              <a:bodyPr rot="10800000" vert="eaVert" wrap="none" anchor="ctr" anchorCtr="0"/>
              <a:p>
                <a:pPr algn="ctr">
                  <a:buFont typeface="Wingdings" panose="05000000000000000000" pitchFamily="2" charset="2"/>
                </a:pPr>
                <a:endParaRPr lang="zh-CN" altLang="zh-CN" sz="2400" dirty="0">
                  <a:solidFill>
                    <a:schemeClr val="tx1"/>
                  </a:solidFill>
                  <a:latin typeface="Tahoma" panose="020B0604030504040204" pitchFamily="2" charset="0"/>
                  <a:ea typeface="宋体" panose="02010600030101010101" pitchFamily="2" charset="-122"/>
                </a:endParaRPr>
              </a:p>
            </p:txBody>
          </p:sp>
          <p:sp>
            <p:nvSpPr>
              <p:cNvPr id="34866" name="Text Box 52"/>
              <p:cNvSpPr txBox="1"/>
              <p:nvPr/>
            </p:nvSpPr>
            <p:spPr>
              <a:xfrm>
                <a:off x="5460" y="5122"/>
                <a:ext cx="840" cy="931"/>
              </a:xfrm>
              <a:prstGeom prst="rect">
                <a:avLst/>
              </a:prstGeom>
              <a:noFill/>
              <a:ln w="9525">
                <a:noFill/>
              </a:ln>
            </p:spPr>
            <p:txBody>
              <a:bodyPr anchor="t" anchorCtr="0">
                <a:spAutoFit/>
              </a:bodyPr>
              <a:p>
                <a:pPr>
                  <a:spcBef>
                    <a:spcPct val="50000"/>
                  </a:spcBef>
                  <a:buFont typeface="Wingdings" panose="05000000000000000000" pitchFamily="2" charset="2"/>
                </a:pPr>
                <a:r>
                  <a:rPr lang="en-US" altLang="zh-CN" sz="2400" dirty="0">
                    <a:solidFill>
                      <a:schemeClr val="tx1"/>
                    </a:solidFill>
                    <a:latin typeface="Tahoma" panose="020B0604030504040204" pitchFamily="2" charset="0"/>
                    <a:ea typeface="宋体" panose="02010600030101010101" pitchFamily="2" charset="-122"/>
                  </a:rPr>
                  <a:t>+</a:t>
                </a:r>
                <a:endParaRPr lang="en-US" altLang="zh-CN" sz="2400" dirty="0">
                  <a:solidFill>
                    <a:schemeClr val="tx1"/>
                  </a:solidFill>
                  <a:latin typeface="Tahoma" panose="020B0604030504040204" pitchFamily="2" charset="0"/>
                  <a:ea typeface="宋体" panose="02010600030101010101" pitchFamily="2" charset="-122"/>
                </a:endParaRPr>
              </a:p>
            </p:txBody>
          </p:sp>
          <p:sp>
            <p:nvSpPr>
              <p:cNvPr id="34867" name="Text Box 53"/>
              <p:cNvSpPr txBox="1"/>
              <p:nvPr/>
            </p:nvSpPr>
            <p:spPr>
              <a:xfrm>
                <a:off x="5475" y="4320"/>
                <a:ext cx="840" cy="931"/>
              </a:xfrm>
              <a:prstGeom prst="rect">
                <a:avLst/>
              </a:prstGeom>
              <a:noFill/>
              <a:ln w="9525">
                <a:noFill/>
              </a:ln>
            </p:spPr>
            <p:txBody>
              <a:bodyPr anchor="t" anchorCtr="0">
                <a:spAutoFit/>
              </a:bodyPr>
              <a:p>
                <a:pPr>
                  <a:spcBef>
                    <a:spcPct val="50000"/>
                  </a:spcBef>
                  <a:buFont typeface="Wingdings" panose="05000000000000000000" pitchFamily="2" charset="2"/>
                </a:pPr>
                <a:r>
                  <a:rPr lang="en-US" altLang="zh-CN" sz="2400" b="1" dirty="0">
                    <a:solidFill>
                      <a:schemeClr val="tx1"/>
                    </a:solidFill>
                    <a:latin typeface="Times New Roman" panose="02020603050405020304" pitchFamily="2" charset="0"/>
                    <a:ea typeface="宋体" panose="02010600030101010101" pitchFamily="2" charset="-122"/>
                  </a:rPr>
                  <a:t>–</a:t>
                </a:r>
                <a:endParaRPr lang="en-US" altLang="zh-CN" sz="2400" b="1" dirty="0">
                  <a:solidFill>
                    <a:schemeClr val="tx1"/>
                  </a:solidFill>
                  <a:latin typeface="Times New Roman" panose="02020603050405020304" pitchFamily="2" charset="0"/>
                  <a:ea typeface="宋体" panose="02010600030101010101" pitchFamily="2" charset="-122"/>
                </a:endParaRPr>
              </a:p>
            </p:txBody>
          </p:sp>
          <p:sp>
            <p:nvSpPr>
              <p:cNvPr id="34868" name="Oval 54"/>
              <p:cNvSpPr/>
              <p:nvPr/>
            </p:nvSpPr>
            <p:spPr>
              <a:xfrm>
                <a:off x="5100" y="3518"/>
                <a:ext cx="120" cy="120"/>
              </a:xfrm>
              <a:prstGeom prst="ellipse">
                <a:avLst/>
              </a:prstGeom>
              <a:solidFill>
                <a:schemeClr val="tx1"/>
              </a:solidFill>
              <a:ln w="9525" cap="flat" cmpd="sng">
                <a:solidFill>
                  <a:schemeClr val="tx1"/>
                </a:solidFill>
                <a:prstDash val="solid"/>
                <a:miter/>
                <a:headEnd type="none" w="med" len="med"/>
                <a:tailEnd type="none" w="med" len="med"/>
              </a:ln>
            </p:spPr>
            <p:txBody>
              <a:bodyPr wrap="none" anchor="ctr" anchorCtr="0"/>
              <a:p>
                <a:pPr>
                  <a:buFont typeface="Wingdings" panose="05000000000000000000" pitchFamily="2" charset="2"/>
                </a:pPr>
                <a:endParaRPr lang="zh-CN" altLang="en-US" dirty="0">
                  <a:solidFill>
                    <a:schemeClr val="tx1"/>
                  </a:solidFill>
                  <a:latin typeface="Verdana" panose="020B0604030504040204" pitchFamily="2" charset="0"/>
                  <a:ea typeface="宋体" panose="02010600030101010101" pitchFamily="2" charset="-122"/>
                </a:endParaRPr>
              </a:p>
            </p:txBody>
          </p:sp>
          <p:sp>
            <p:nvSpPr>
              <p:cNvPr id="34870" name="Line 56"/>
              <p:cNvSpPr/>
              <p:nvPr/>
            </p:nvSpPr>
            <p:spPr>
              <a:xfrm>
                <a:off x="5160" y="5760"/>
                <a:ext cx="360" cy="0"/>
              </a:xfrm>
              <a:prstGeom prst="line">
                <a:avLst/>
              </a:prstGeom>
              <a:ln w="28575" cap="flat" cmpd="sng">
                <a:solidFill>
                  <a:schemeClr val="tx1"/>
                </a:solidFill>
                <a:prstDash val="solid"/>
                <a:miter/>
                <a:headEnd type="none" w="med" len="med"/>
                <a:tailEnd type="none" w="med" len="med"/>
              </a:ln>
            </p:spPr>
          </p:sp>
          <p:sp>
            <p:nvSpPr>
              <p:cNvPr id="34871" name="Line 57"/>
              <p:cNvSpPr/>
              <p:nvPr/>
            </p:nvSpPr>
            <p:spPr>
              <a:xfrm>
                <a:off x="3720" y="8400"/>
                <a:ext cx="7173" cy="1"/>
              </a:xfrm>
              <a:prstGeom prst="line">
                <a:avLst/>
              </a:prstGeom>
              <a:ln w="28575" cap="flat" cmpd="sng">
                <a:solidFill>
                  <a:schemeClr val="tx1"/>
                </a:solidFill>
                <a:prstDash val="solid"/>
                <a:miter/>
                <a:headEnd type="none" w="med" len="med"/>
                <a:tailEnd type="none" w="med" len="med"/>
              </a:ln>
            </p:spPr>
          </p:sp>
          <p:grpSp>
            <p:nvGrpSpPr>
              <p:cNvPr id="34872" name="Group 58"/>
              <p:cNvGrpSpPr/>
              <p:nvPr/>
            </p:nvGrpSpPr>
            <p:grpSpPr>
              <a:xfrm>
                <a:off x="8520" y="4958"/>
                <a:ext cx="600" cy="600"/>
                <a:chOff x="624" y="3696"/>
                <a:chExt cx="240" cy="240"/>
              </a:xfrm>
            </p:grpSpPr>
            <p:sp>
              <p:nvSpPr>
                <p:cNvPr id="34873" name="AutoShape 59"/>
                <p:cNvSpPr/>
                <p:nvPr/>
              </p:nvSpPr>
              <p:spPr>
                <a:xfrm rot="-5400000">
                  <a:off x="675" y="3693"/>
                  <a:ext cx="162" cy="216"/>
                </a:xfrm>
                <a:prstGeom prst="triangle">
                  <a:avLst>
                    <a:gd name="adj" fmla="val 50000"/>
                  </a:avLst>
                </a:prstGeom>
                <a:noFill/>
                <a:ln w="38100" cap="flat" cmpd="sng">
                  <a:solidFill>
                    <a:schemeClr val="tx1"/>
                  </a:solidFill>
                  <a:prstDash val="solid"/>
                  <a:miter/>
                  <a:headEnd type="none" w="med" len="med"/>
                  <a:tailEnd type="none" w="med" len="med"/>
                </a:ln>
              </p:spPr>
              <p:txBody>
                <a:bodyPr wrap="none" anchor="ctr" anchorCtr="0"/>
                <a:p>
                  <a:pPr>
                    <a:buFont typeface="Wingdings" panose="05000000000000000000" pitchFamily="2" charset="2"/>
                  </a:pPr>
                  <a:endParaRPr lang="zh-CN" altLang="en-US" dirty="0">
                    <a:solidFill>
                      <a:schemeClr val="tx1"/>
                    </a:solidFill>
                    <a:latin typeface="Verdana" panose="020B0604030504040204" pitchFamily="2" charset="0"/>
                    <a:ea typeface="宋体" panose="02010600030101010101" pitchFamily="2" charset="-122"/>
                  </a:endParaRPr>
                </a:p>
              </p:txBody>
            </p:sp>
            <p:sp>
              <p:nvSpPr>
                <p:cNvPr id="34874" name="Line 60"/>
                <p:cNvSpPr/>
                <p:nvPr/>
              </p:nvSpPr>
              <p:spPr>
                <a:xfrm>
                  <a:off x="624" y="3696"/>
                  <a:ext cx="0" cy="240"/>
                </a:xfrm>
                <a:prstGeom prst="line">
                  <a:avLst/>
                </a:prstGeom>
                <a:ln w="38100" cap="flat" cmpd="sng">
                  <a:solidFill>
                    <a:schemeClr val="tx1"/>
                  </a:solidFill>
                  <a:prstDash val="solid"/>
                  <a:miter/>
                  <a:headEnd type="none" w="med" len="med"/>
                  <a:tailEnd type="none" w="med" len="med"/>
                </a:ln>
              </p:spPr>
            </p:sp>
          </p:grpSp>
          <p:sp>
            <p:nvSpPr>
              <p:cNvPr id="34875" name="Line 61"/>
              <p:cNvSpPr/>
              <p:nvPr/>
            </p:nvSpPr>
            <p:spPr>
              <a:xfrm>
                <a:off x="4800" y="4680"/>
                <a:ext cx="720" cy="0"/>
              </a:xfrm>
              <a:prstGeom prst="line">
                <a:avLst/>
              </a:prstGeom>
              <a:ln w="28575" cap="flat" cmpd="sng">
                <a:solidFill>
                  <a:schemeClr val="tx1"/>
                </a:solidFill>
                <a:prstDash val="solid"/>
                <a:miter/>
                <a:headEnd type="none" w="med" len="med"/>
                <a:tailEnd type="none" w="med" len="med"/>
              </a:ln>
            </p:spPr>
          </p:sp>
          <p:sp>
            <p:nvSpPr>
              <p:cNvPr id="34876" name="Rectangle 62"/>
              <p:cNvSpPr/>
              <p:nvPr/>
            </p:nvSpPr>
            <p:spPr>
              <a:xfrm>
                <a:off x="4080" y="4560"/>
                <a:ext cx="720" cy="240"/>
              </a:xfrm>
              <a:prstGeom prst="rect">
                <a:avLst/>
              </a:prstGeom>
              <a:noFill/>
              <a:ln w="38100" cap="flat" cmpd="sng">
                <a:solidFill>
                  <a:schemeClr val="tx1"/>
                </a:solidFill>
                <a:prstDash val="solid"/>
                <a:miter/>
                <a:headEnd type="none" w="med" len="med"/>
                <a:tailEnd type="none" w="med" len="med"/>
              </a:ln>
            </p:spPr>
            <p:txBody>
              <a:bodyPr wrap="none" anchor="ctr" anchorCtr="0"/>
              <a:p>
                <a:pPr>
                  <a:buFont typeface="Wingdings" panose="05000000000000000000" pitchFamily="2" charset="2"/>
                </a:pPr>
                <a:endParaRPr lang="zh-CN" altLang="en-US" dirty="0">
                  <a:solidFill>
                    <a:schemeClr val="tx1"/>
                  </a:solidFill>
                  <a:latin typeface="Verdana" panose="020B0604030504040204" pitchFamily="2" charset="0"/>
                  <a:ea typeface="宋体" panose="02010600030101010101" pitchFamily="2" charset="-122"/>
                </a:endParaRPr>
              </a:p>
            </p:txBody>
          </p:sp>
          <p:sp>
            <p:nvSpPr>
              <p:cNvPr id="34877" name="Line 63"/>
              <p:cNvSpPr/>
              <p:nvPr/>
            </p:nvSpPr>
            <p:spPr>
              <a:xfrm>
                <a:off x="5130" y="3600"/>
                <a:ext cx="2910" cy="0"/>
              </a:xfrm>
              <a:prstGeom prst="line">
                <a:avLst/>
              </a:prstGeom>
              <a:ln w="28575" cap="flat" cmpd="sng">
                <a:solidFill>
                  <a:schemeClr val="tx1"/>
                </a:solidFill>
                <a:prstDash val="solid"/>
                <a:miter/>
                <a:headEnd type="none" w="med" len="med"/>
                <a:tailEnd type="none" w="med" len="med"/>
              </a:ln>
            </p:spPr>
          </p:sp>
          <p:sp>
            <p:nvSpPr>
              <p:cNvPr id="34878" name="Oval 64"/>
              <p:cNvSpPr/>
              <p:nvPr/>
            </p:nvSpPr>
            <p:spPr>
              <a:xfrm>
                <a:off x="5085" y="4605"/>
                <a:ext cx="120" cy="120"/>
              </a:xfrm>
              <a:prstGeom prst="ellipse">
                <a:avLst/>
              </a:prstGeom>
              <a:solidFill>
                <a:schemeClr val="tx1"/>
              </a:solidFill>
              <a:ln w="9525" cap="flat" cmpd="sng">
                <a:solidFill>
                  <a:schemeClr val="tx1"/>
                </a:solidFill>
                <a:prstDash val="solid"/>
                <a:miter/>
                <a:headEnd type="none" w="med" len="med"/>
                <a:tailEnd type="none" w="med" len="med"/>
              </a:ln>
            </p:spPr>
            <p:txBody>
              <a:bodyPr wrap="none" anchor="ctr" anchorCtr="0"/>
              <a:p>
                <a:pPr>
                  <a:buFont typeface="Wingdings" panose="05000000000000000000" pitchFamily="2" charset="2"/>
                </a:pPr>
                <a:endParaRPr lang="zh-CN" altLang="en-US" dirty="0">
                  <a:solidFill>
                    <a:schemeClr val="tx1"/>
                  </a:solidFill>
                  <a:latin typeface="Verdana" panose="020B0604030504040204" pitchFamily="2" charset="0"/>
                  <a:ea typeface="宋体" panose="02010600030101010101" pitchFamily="2" charset="-122"/>
                </a:endParaRPr>
              </a:p>
            </p:txBody>
          </p:sp>
          <p:sp>
            <p:nvSpPr>
              <p:cNvPr id="34879" name="Line 65"/>
              <p:cNvSpPr/>
              <p:nvPr/>
            </p:nvSpPr>
            <p:spPr>
              <a:xfrm>
                <a:off x="5160" y="2880"/>
                <a:ext cx="4440" cy="1"/>
              </a:xfrm>
              <a:prstGeom prst="line">
                <a:avLst/>
              </a:prstGeom>
              <a:ln w="28575" cap="flat" cmpd="sng">
                <a:solidFill>
                  <a:schemeClr val="tx1"/>
                </a:solidFill>
                <a:prstDash val="solid"/>
                <a:miter/>
                <a:headEnd type="none" w="med" len="med"/>
                <a:tailEnd type="none" w="med" len="med"/>
              </a:ln>
            </p:spPr>
          </p:sp>
          <p:sp>
            <p:nvSpPr>
              <p:cNvPr id="34880" name="Line 66"/>
              <p:cNvSpPr/>
              <p:nvPr/>
            </p:nvSpPr>
            <p:spPr>
              <a:xfrm rot="-5400000">
                <a:off x="4260" y="3780"/>
                <a:ext cx="1800" cy="0"/>
              </a:xfrm>
              <a:prstGeom prst="line">
                <a:avLst/>
              </a:prstGeom>
              <a:ln w="28575" cap="flat" cmpd="sng">
                <a:solidFill>
                  <a:schemeClr val="tx1"/>
                </a:solidFill>
                <a:prstDash val="solid"/>
                <a:miter/>
                <a:headEnd type="none" w="med" len="med"/>
                <a:tailEnd type="none" w="med" len="med"/>
              </a:ln>
            </p:spPr>
          </p:sp>
          <p:grpSp>
            <p:nvGrpSpPr>
              <p:cNvPr id="34881" name="Group 67"/>
              <p:cNvGrpSpPr/>
              <p:nvPr/>
            </p:nvGrpSpPr>
            <p:grpSpPr>
              <a:xfrm>
                <a:off x="6000" y="3330"/>
                <a:ext cx="600" cy="600"/>
                <a:chOff x="624" y="3696"/>
                <a:chExt cx="240" cy="240"/>
              </a:xfrm>
            </p:grpSpPr>
            <p:sp>
              <p:nvSpPr>
                <p:cNvPr id="34882" name="AutoShape 68"/>
                <p:cNvSpPr/>
                <p:nvPr/>
              </p:nvSpPr>
              <p:spPr>
                <a:xfrm rot="-5400000">
                  <a:off x="675" y="3693"/>
                  <a:ext cx="162" cy="216"/>
                </a:xfrm>
                <a:prstGeom prst="triangle">
                  <a:avLst>
                    <a:gd name="adj" fmla="val 50000"/>
                  </a:avLst>
                </a:prstGeom>
                <a:noFill/>
                <a:ln w="38100" cap="flat" cmpd="sng">
                  <a:solidFill>
                    <a:schemeClr val="tx1"/>
                  </a:solidFill>
                  <a:prstDash val="solid"/>
                  <a:miter/>
                  <a:headEnd type="none" w="med" len="med"/>
                  <a:tailEnd type="none" w="med" len="med"/>
                </a:ln>
              </p:spPr>
              <p:txBody>
                <a:bodyPr wrap="none" anchor="ctr" anchorCtr="0"/>
                <a:p>
                  <a:pPr>
                    <a:buFont typeface="Wingdings" panose="05000000000000000000" pitchFamily="2" charset="2"/>
                  </a:pPr>
                  <a:endParaRPr lang="zh-CN" altLang="en-US" dirty="0">
                    <a:solidFill>
                      <a:schemeClr val="tx1"/>
                    </a:solidFill>
                    <a:latin typeface="Verdana" panose="020B0604030504040204" pitchFamily="2" charset="0"/>
                    <a:ea typeface="宋体" panose="02010600030101010101" pitchFamily="2" charset="-122"/>
                  </a:endParaRPr>
                </a:p>
              </p:txBody>
            </p:sp>
            <p:sp>
              <p:nvSpPr>
                <p:cNvPr id="34883" name="Line 69"/>
                <p:cNvSpPr/>
                <p:nvPr/>
              </p:nvSpPr>
              <p:spPr>
                <a:xfrm>
                  <a:off x="624" y="3696"/>
                  <a:ext cx="0" cy="240"/>
                </a:xfrm>
                <a:prstGeom prst="line">
                  <a:avLst/>
                </a:prstGeom>
                <a:ln w="38100" cap="flat" cmpd="sng">
                  <a:solidFill>
                    <a:schemeClr val="tx1"/>
                  </a:solidFill>
                  <a:prstDash val="solid"/>
                  <a:miter/>
                  <a:headEnd type="none" w="med" len="med"/>
                  <a:tailEnd type="none" w="med" len="med"/>
                </a:ln>
              </p:spPr>
            </p:sp>
          </p:grpSp>
          <p:sp>
            <p:nvSpPr>
              <p:cNvPr id="34884" name="Rectangle 70"/>
              <p:cNvSpPr/>
              <p:nvPr/>
            </p:nvSpPr>
            <p:spPr>
              <a:xfrm>
                <a:off x="6925" y="2760"/>
                <a:ext cx="720" cy="240"/>
              </a:xfrm>
              <a:prstGeom prst="rect">
                <a:avLst/>
              </a:prstGeom>
              <a:solidFill>
                <a:schemeClr val="bg1"/>
              </a:solidFill>
              <a:ln w="38100" cap="flat" cmpd="sng">
                <a:solidFill>
                  <a:schemeClr val="tx1"/>
                </a:solidFill>
                <a:prstDash val="solid"/>
                <a:miter/>
                <a:headEnd type="none" w="med" len="med"/>
                <a:tailEnd type="none" w="med" len="med"/>
              </a:ln>
            </p:spPr>
            <p:txBody>
              <a:bodyPr wrap="none" anchor="ctr" anchorCtr="0"/>
              <a:p>
                <a:pPr>
                  <a:buFont typeface="Wingdings" panose="05000000000000000000" pitchFamily="2" charset="2"/>
                </a:pPr>
                <a:endParaRPr lang="zh-CN" altLang="en-US" dirty="0">
                  <a:solidFill>
                    <a:schemeClr val="tx1"/>
                  </a:solidFill>
                  <a:latin typeface="Verdana" panose="020B0604030504040204" pitchFamily="2" charset="0"/>
                  <a:ea typeface="宋体" panose="02010600030101010101" pitchFamily="2" charset="-122"/>
                </a:endParaRPr>
              </a:p>
            </p:txBody>
          </p:sp>
          <p:sp>
            <p:nvSpPr>
              <p:cNvPr id="34885" name="Line 71"/>
              <p:cNvSpPr/>
              <p:nvPr/>
            </p:nvSpPr>
            <p:spPr>
              <a:xfrm rot="-5400000">
                <a:off x="7238" y="4403"/>
                <a:ext cx="1605" cy="0"/>
              </a:xfrm>
              <a:prstGeom prst="line">
                <a:avLst/>
              </a:prstGeom>
              <a:ln w="28575" cap="flat" cmpd="sng">
                <a:solidFill>
                  <a:schemeClr val="tx1"/>
                </a:solidFill>
                <a:prstDash val="solid"/>
                <a:miter/>
                <a:headEnd type="none" w="med" len="med"/>
                <a:tailEnd type="none" w="med" len="med"/>
              </a:ln>
            </p:spPr>
          </p:sp>
          <p:sp>
            <p:nvSpPr>
              <p:cNvPr id="34886" name="Line 72"/>
              <p:cNvSpPr/>
              <p:nvPr/>
            </p:nvSpPr>
            <p:spPr>
              <a:xfrm rot="-5400000">
                <a:off x="8415" y="4065"/>
                <a:ext cx="2370" cy="0"/>
              </a:xfrm>
              <a:prstGeom prst="line">
                <a:avLst/>
              </a:prstGeom>
              <a:ln w="28575" cap="flat" cmpd="sng">
                <a:solidFill>
                  <a:schemeClr val="tx1"/>
                </a:solidFill>
                <a:prstDash val="solid"/>
                <a:miter/>
                <a:headEnd type="none" w="med" len="med"/>
                <a:tailEnd type="none" w="med" len="med"/>
              </a:ln>
            </p:spPr>
          </p:sp>
          <p:sp>
            <p:nvSpPr>
              <p:cNvPr id="34888" name="Line 74"/>
              <p:cNvSpPr/>
              <p:nvPr/>
            </p:nvSpPr>
            <p:spPr>
              <a:xfrm>
                <a:off x="3120" y="4680"/>
                <a:ext cx="960" cy="0"/>
              </a:xfrm>
              <a:prstGeom prst="line">
                <a:avLst/>
              </a:prstGeom>
              <a:ln w="28575" cap="flat" cmpd="sng">
                <a:solidFill>
                  <a:schemeClr val="tx1"/>
                </a:solidFill>
                <a:prstDash val="solid"/>
                <a:miter/>
                <a:headEnd type="none" w="med" len="med"/>
                <a:tailEnd type="none" w="med" len="med"/>
              </a:ln>
            </p:spPr>
          </p:sp>
          <p:sp>
            <p:nvSpPr>
              <p:cNvPr id="34889" name="Line 75"/>
              <p:cNvSpPr/>
              <p:nvPr/>
            </p:nvSpPr>
            <p:spPr>
              <a:xfrm rot="-5400000">
                <a:off x="1838" y="6518"/>
                <a:ext cx="3765" cy="0"/>
              </a:xfrm>
              <a:prstGeom prst="line">
                <a:avLst/>
              </a:prstGeom>
              <a:ln w="28575" cap="flat" cmpd="sng">
                <a:solidFill>
                  <a:schemeClr val="tx1"/>
                </a:solidFill>
                <a:prstDash val="solid"/>
                <a:miter/>
                <a:headEnd type="none" w="med" len="med"/>
                <a:tailEnd type="none" w="med" len="med"/>
              </a:ln>
            </p:spPr>
          </p:sp>
          <p:sp>
            <p:nvSpPr>
              <p:cNvPr id="34891" name="Text Box 77"/>
              <p:cNvSpPr txBox="1"/>
              <p:nvPr/>
            </p:nvSpPr>
            <p:spPr>
              <a:xfrm>
                <a:off x="5901" y="3775"/>
                <a:ext cx="1080" cy="931"/>
              </a:xfrm>
              <a:prstGeom prst="rect">
                <a:avLst/>
              </a:prstGeom>
              <a:noFill/>
              <a:ln w="9525">
                <a:noFill/>
              </a:ln>
            </p:spPr>
            <p:txBody>
              <a:bodyPr anchor="t" anchorCtr="0">
                <a:spAutoFit/>
              </a:bodyPr>
              <a:p>
                <a:pPr>
                  <a:spcBef>
                    <a:spcPct val="50000"/>
                  </a:spcBef>
                  <a:buFont typeface="Wingdings" panose="05000000000000000000" pitchFamily="2" charset="2"/>
                </a:pPr>
                <a:r>
                  <a:rPr lang="en-US" altLang="zh-CN" sz="2400" b="1" dirty="0">
                    <a:solidFill>
                      <a:schemeClr val="tx1"/>
                    </a:solidFill>
                    <a:latin typeface="Times New Roman" panose="02020603050405020304" pitchFamily="2" charset="0"/>
                    <a:ea typeface="宋体" panose="02010600030101010101" pitchFamily="2" charset="-122"/>
                    <a:cs typeface="Times New Roman" panose="02020603050405020304" pitchFamily="2" charset="0"/>
                  </a:rPr>
                  <a:t>D1</a:t>
                </a:r>
                <a:endParaRPr lang="en-US" altLang="zh-CN" sz="2400" b="1" dirty="0">
                  <a:solidFill>
                    <a:schemeClr val="tx1"/>
                  </a:solidFill>
                  <a:latin typeface="Times New Roman" panose="02020603050405020304" pitchFamily="2" charset="0"/>
                  <a:ea typeface="宋体" panose="02010600030101010101" pitchFamily="2" charset="-122"/>
                  <a:cs typeface="Times New Roman" panose="02020603050405020304" pitchFamily="2" charset="0"/>
                </a:endParaRPr>
              </a:p>
            </p:txBody>
          </p:sp>
          <p:sp>
            <p:nvSpPr>
              <p:cNvPr id="34892" name="Text Box 78"/>
              <p:cNvSpPr txBox="1"/>
              <p:nvPr/>
            </p:nvSpPr>
            <p:spPr>
              <a:xfrm>
                <a:off x="5160" y="6480"/>
                <a:ext cx="1560" cy="931"/>
              </a:xfrm>
              <a:prstGeom prst="rect">
                <a:avLst/>
              </a:prstGeom>
              <a:noFill/>
              <a:ln w="9525">
                <a:noFill/>
              </a:ln>
            </p:spPr>
            <p:txBody>
              <a:bodyPr anchor="t" anchorCtr="0">
                <a:spAutoFit/>
              </a:bodyPr>
              <a:p>
                <a:pPr>
                  <a:spcBef>
                    <a:spcPct val="50000"/>
                  </a:spcBef>
                  <a:buFont typeface="Wingdings" panose="05000000000000000000" pitchFamily="2" charset="2"/>
                </a:pPr>
                <a:r>
                  <a:rPr lang="en-US" altLang="zh-CN" sz="2400" b="1" dirty="0">
                    <a:solidFill>
                      <a:schemeClr val="tx1"/>
                    </a:solidFill>
                    <a:latin typeface="Times New Roman" panose="02020603050405020304" pitchFamily="2" charset="0"/>
                    <a:ea typeface="宋体" panose="02010600030101010101" pitchFamily="2" charset="-122"/>
                    <a:cs typeface="Times New Roman" panose="02020603050405020304" pitchFamily="2" charset="0"/>
                  </a:rPr>
                  <a:t>10k</a:t>
                </a:r>
                <a:endParaRPr lang="en-US" altLang="zh-CN" sz="2400" b="1" dirty="0">
                  <a:solidFill>
                    <a:schemeClr val="tx1"/>
                  </a:solidFill>
                  <a:latin typeface="Times New Roman" panose="02020603050405020304" pitchFamily="2" charset="0"/>
                  <a:ea typeface="宋体" panose="02010600030101010101" pitchFamily="2" charset="-122"/>
                  <a:cs typeface="Times New Roman" panose="02020603050405020304" pitchFamily="2" charset="0"/>
                </a:endParaRPr>
              </a:p>
            </p:txBody>
          </p:sp>
          <p:sp>
            <p:nvSpPr>
              <p:cNvPr id="34893" name="Text Box 79"/>
              <p:cNvSpPr txBox="1"/>
              <p:nvPr/>
            </p:nvSpPr>
            <p:spPr>
              <a:xfrm>
                <a:off x="3960" y="4799"/>
                <a:ext cx="1384" cy="931"/>
              </a:xfrm>
              <a:prstGeom prst="rect">
                <a:avLst/>
              </a:prstGeom>
              <a:noFill/>
              <a:ln w="9525">
                <a:noFill/>
              </a:ln>
            </p:spPr>
            <p:txBody>
              <a:bodyPr wrap="square" anchor="t" anchorCtr="0">
                <a:spAutoFit/>
              </a:bodyPr>
              <a:p>
                <a:pPr>
                  <a:spcBef>
                    <a:spcPct val="50000"/>
                  </a:spcBef>
                  <a:buFont typeface="Wingdings" panose="05000000000000000000" pitchFamily="2" charset="2"/>
                </a:pPr>
                <a:r>
                  <a:rPr lang="en-US" altLang="zh-CN" sz="2400" b="1" dirty="0">
                    <a:solidFill>
                      <a:schemeClr val="tx1"/>
                    </a:solidFill>
                    <a:latin typeface="Times New Roman" panose="02020603050405020304" pitchFamily="2" charset="0"/>
                    <a:ea typeface="宋体" panose="02010600030101010101" pitchFamily="2" charset="-122"/>
                    <a:cs typeface="Times New Roman" panose="02020603050405020304" pitchFamily="2" charset="0"/>
                  </a:rPr>
                  <a:t>10k</a:t>
                </a:r>
                <a:endParaRPr lang="en-US" altLang="zh-CN" sz="2400" b="1" dirty="0">
                  <a:solidFill>
                    <a:schemeClr val="tx1"/>
                  </a:solidFill>
                  <a:latin typeface="Times New Roman" panose="02020603050405020304" pitchFamily="2" charset="0"/>
                  <a:ea typeface="宋体" panose="02010600030101010101" pitchFamily="2" charset="-122"/>
                  <a:cs typeface="Times New Roman" panose="02020603050405020304" pitchFamily="2" charset="0"/>
                </a:endParaRPr>
              </a:p>
            </p:txBody>
          </p:sp>
          <p:sp>
            <p:nvSpPr>
              <p:cNvPr id="34894" name="Text Box 80"/>
              <p:cNvSpPr txBox="1"/>
              <p:nvPr/>
            </p:nvSpPr>
            <p:spPr>
              <a:xfrm>
                <a:off x="9211" y="7270"/>
                <a:ext cx="1560" cy="931"/>
              </a:xfrm>
              <a:prstGeom prst="rect">
                <a:avLst/>
              </a:prstGeom>
              <a:noFill/>
              <a:ln w="9525">
                <a:noFill/>
              </a:ln>
            </p:spPr>
            <p:txBody>
              <a:bodyPr anchor="t" anchorCtr="0">
                <a:spAutoFit/>
              </a:bodyPr>
              <a:p>
                <a:pPr>
                  <a:spcBef>
                    <a:spcPct val="50000"/>
                  </a:spcBef>
                  <a:buFont typeface="Wingdings" panose="05000000000000000000" pitchFamily="2" charset="2"/>
                </a:pPr>
                <a:r>
                  <a:rPr lang="en-US" altLang="zh-CN" sz="2400" b="1" dirty="0">
                    <a:solidFill>
                      <a:schemeClr val="tx1"/>
                    </a:solidFill>
                    <a:latin typeface="Times New Roman" panose="02020603050405020304" pitchFamily="2" charset="0"/>
                    <a:ea typeface="宋体" panose="02010600030101010101" pitchFamily="2" charset="-122"/>
                    <a:cs typeface="Times New Roman" panose="02020603050405020304" pitchFamily="2" charset="0"/>
                  </a:rPr>
                  <a:t>10k</a:t>
                </a:r>
                <a:endParaRPr lang="en-US" altLang="zh-CN" sz="2400" b="1" dirty="0">
                  <a:solidFill>
                    <a:schemeClr val="tx1"/>
                  </a:solidFill>
                  <a:latin typeface="Times New Roman" panose="02020603050405020304" pitchFamily="2" charset="0"/>
                  <a:ea typeface="宋体" panose="02010600030101010101" pitchFamily="2" charset="-122"/>
                  <a:cs typeface="Times New Roman" panose="02020603050405020304" pitchFamily="2" charset="0"/>
                </a:endParaRPr>
              </a:p>
            </p:txBody>
          </p:sp>
          <p:sp>
            <p:nvSpPr>
              <p:cNvPr id="34895" name="Oval 81"/>
              <p:cNvSpPr/>
              <p:nvPr/>
            </p:nvSpPr>
            <p:spPr>
              <a:xfrm>
                <a:off x="9540" y="5160"/>
                <a:ext cx="120" cy="120"/>
              </a:xfrm>
              <a:prstGeom prst="ellipse">
                <a:avLst/>
              </a:prstGeom>
              <a:solidFill>
                <a:schemeClr val="tx1"/>
              </a:solidFill>
              <a:ln w="9525" cap="flat" cmpd="sng">
                <a:solidFill>
                  <a:schemeClr val="tx1"/>
                </a:solidFill>
                <a:prstDash val="solid"/>
                <a:miter/>
                <a:headEnd type="none" w="med" len="med"/>
                <a:tailEnd type="none" w="med" len="med"/>
              </a:ln>
            </p:spPr>
            <p:txBody>
              <a:bodyPr wrap="none" anchor="ctr" anchorCtr="0"/>
              <a:p>
                <a:pPr>
                  <a:buFont typeface="Wingdings" panose="05000000000000000000" pitchFamily="2" charset="2"/>
                </a:pPr>
                <a:endParaRPr lang="zh-CN" altLang="en-US" dirty="0">
                  <a:solidFill>
                    <a:schemeClr val="tx1"/>
                  </a:solidFill>
                  <a:latin typeface="Verdana" panose="020B0604030504040204" pitchFamily="2" charset="0"/>
                  <a:ea typeface="宋体" panose="02010600030101010101" pitchFamily="2" charset="-122"/>
                </a:endParaRPr>
              </a:p>
            </p:txBody>
          </p:sp>
          <p:sp>
            <p:nvSpPr>
              <p:cNvPr id="34830" name="Rectangle 16"/>
              <p:cNvSpPr/>
              <p:nvPr/>
            </p:nvSpPr>
            <p:spPr>
              <a:xfrm>
                <a:off x="9826" y="5108"/>
                <a:ext cx="720" cy="240"/>
              </a:xfrm>
              <a:prstGeom prst="rect">
                <a:avLst/>
              </a:prstGeom>
              <a:solidFill>
                <a:schemeClr val="bg1"/>
              </a:solidFill>
              <a:ln w="38100" cap="flat" cmpd="sng">
                <a:solidFill>
                  <a:schemeClr val="tx1"/>
                </a:solidFill>
                <a:prstDash val="solid"/>
                <a:miter/>
                <a:headEnd type="none" w="med" len="med"/>
                <a:tailEnd type="none" w="med" len="med"/>
              </a:ln>
            </p:spPr>
            <p:txBody>
              <a:bodyPr wrap="none" anchor="ctr" anchorCtr="0"/>
              <a:p>
                <a:pPr>
                  <a:buFont typeface="Wingdings" panose="05000000000000000000" pitchFamily="2" charset="2"/>
                </a:pPr>
                <a:endParaRPr lang="zh-CN" altLang="en-US" dirty="0">
                  <a:solidFill>
                    <a:schemeClr val="tx1"/>
                  </a:solidFill>
                  <a:latin typeface="Verdana" panose="020B0604030504040204" pitchFamily="2" charset="0"/>
                  <a:ea typeface="宋体" panose="02010600030101010101" pitchFamily="2" charset="-122"/>
                </a:endParaRPr>
              </a:p>
            </p:txBody>
          </p:sp>
          <p:sp>
            <p:nvSpPr>
              <p:cNvPr id="34836" name="Rectangle 22"/>
              <p:cNvSpPr/>
              <p:nvPr/>
            </p:nvSpPr>
            <p:spPr>
              <a:xfrm rot="10800000">
                <a:off x="13200" y="3360"/>
                <a:ext cx="720" cy="240"/>
              </a:xfrm>
              <a:prstGeom prst="rect">
                <a:avLst/>
              </a:prstGeom>
              <a:solidFill>
                <a:schemeClr val="bg1"/>
              </a:solidFill>
              <a:ln w="38100" cap="flat" cmpd="sng">
                <a:solidFill>
                  <a:schemeClr val="tx1"/>
                </a:solidFill>
                <a:prstDash val="solid"/>
                <a:miter/>
                <a:headEnd type="none" w="med" len="med"/>
                <a:tailEnd type="none" w="med" len="med"/>
              </a:ln>
            </p:spPr>
            <p:txBody>
              <a:bodyPr wrap="none" anchor="ctr" anchorCtr="0"/>
              <a:p>
                <a:pPr>
                  <a:buFont typeface="Wingdings" panose="05000000000000000000" pitchFamily="2" charset="2"/>
                </a:pPr>
                <a:endParaRPr lang="zh-CN" altLang="en-US" dirty="0">
                  <a:solidFill>
                    <a:schemeClr val="tx1"/>
                  </a:solidFill>
                  <a:latin typeface="Verdana" panose="020B0604030504040204" pitchFamily="2" charset="0"/>
                  <a:ea typeface="宋体" panose="02010600030101010101" pitchFamily="2" charset="-122"/>
                </a:endParaRPr>
              </a:p>
            </p:txBody>
          </p:sp>
          <p:sp>
            <p:nvSpPr>
              <p:cNvPr id="34831" name="Rectangle 17"/>
              <p:cNvSpPr/>
              <p:nvPr/>
            </p:nvSpPr>
            <p:spPr>
              <a:xfrm>
                <a:off x="9324" y="8280"/>
                <a:ext cx="720" cy="240"/>
              </a:xfrm>
              <a:prstGeom prst="rect">
                <a:avLst/>
              </a:prstGeom>
              <a:solidFill>
                <a:schemeClr val="bg1"/>
              </a:solidFill>
              <a:ln w="38100" cap="flat" cmpd="sng">
                <a:solidFill>
                  <a:schemeClr val="tx1"/>
                </a:solidFill>
                <a:prstDash val="solid"/>
                <a:miter/>
                <a:headEnd type="none" w="med" len="med"/>
                <a:tailEnd type="none" w="med" len="med"/>
              </a:ln>
            </p:spPr>
            <p:txBody>
              <a:bodyPr wrap="none" anchor="ctr" anchorCtr="0"/>
              <a:p>
                <a:pPr>
                  <a:buFont typeface="Wingdings" panose="05000000000000000000" pitchFamily="2" charset="2"/>
                </a:pPr>
                <a:endParaRPr lang="zh-CN" altLang="en-US" dirty="0">
                  <a:solidFill>
                    <a:schemeClr val="tx1"/>
                  </a:solidFill>
                  <a:latin typeface="Verdana" panose="020B0604030504040204" pitchFamily="2" charset="0"/>
                  <a:ea typeface="宋体" panose="02010600030101010101" pitchFamily="2" charset="-122"/>
                </a:endParaRPr>
              </a:p>
            </p:txBody>
          </p:sp>
        </p:grpSp>
        <p:sp>
          <p:nvSpPr>
            <p:cNvPr id="8" name="文本框 7"/>
            <p:cNvSpPr txBox="1"/>
            <p:nvPr/>
          </p:nvSpPr>
          <p:spPr>
            <a:xfrm>
              <a:off x="5908" y="3681"/>
              <a:ext cx="1260" cy="725"/>
            </a:xfrm>
            <a:prstGeom prst="rect">
              <a:avLst/>
            </a:prstGeom>
            <a:noFill/>
          </p:spPr>
          <p:txBody>
            <a:bodyPr wrap="square" rtlCol="0">
              <a:spAutoFit/>
            </a:bodyPr>
            <a:p>
              <a:r>
                <a:rPr lang="en-US" altLang="zh-CN" sz="2400" b="1">
                  <a:solidFill>
                    <a:srgbClr val="FF0000"/>
                  </a:solidFill>
                  <a:latin typeface="Times New Roman" panose="02020603050405020304" pitchFamily="2" charset="0"/>
                  <a:cs typeface="Times New Roman" panose="02020603050405020304" pitchFamily="2" charset="0"/>
                </a:rPr>
                <a:t>A1</a:t>
              </a:r>
              <a:endParaRPr lang="en-US" altLang="zh-CN" sz="2400" b="1">
                <a:solidFill>
                  <a:srgbClr val="FF0000"/>
                </a:solidFill>
                <a:latin typeface="Times New Roman" panose="02020603050405020304" pitchFamily="2" charset="0"/>
                <a:cs typeface="Times New Roman" panose="02020603050405020304" pitchFamily="2" charset="0"/>
              </a:endParaRPr>
            </a:p>
          </p:txBody>
        </p:sp>
        <p:sp>
          <p:nvSpPr>
            <p:cNvPr id="9" name="文本框 8"/>
            <p:cNvSpPr txBox="1"/>
            <p:nvPr/>
          </p:nvSpPr>
          <p:spPr>
            <a:xfrm>
              <a:off x="11419" y="4022"/>
              <a:ext cx="1260" cy="725"/>
            </a:xfrm>
            <a:prstGeom prst="rect">
              <a:avLst/>
            </a:prstGeom>
            <a:noFill/>
          </p:spPr>
          <p:txBody>
            <a:bodyPr wrap="square" rtlCol="0">
              <a:spAutoFit/>
            </a:bodyPr>
            <a:p>
              <a:r>
                <a:rPr lang="en-US" altLang="zh-CN" sz="2400" b="1">
                  <a:solidFill>
                    <a:srgbClr val="FF0000"/>
                  </a:solidFill>
                  <a:latin typeface="Times New Roman" panose="02020603050405020304" pitchFamily="2" charset="0"/>
                  <a:cs typeface="Times New Roman" panose="02020603050405020304" pitchFamily="2" charset="0"/>
                </a:rPr>
                <a:t>A2</a:t>
              </a:r>
              <a:endParaRPr lang="en-US" altLang="zh-CN" sz="2400" b="1">
                <a:solidFill>
                  <a:srgbClr val="FF0000"/>
                </a:solidFill>
                <a:latin typeface="Times New Roman" panose="02020603050405020304" pitchFamily="2" charset="0"/>
                <a:cs typeface="Times New Roman" panose="02020603050405020304" pitchFamily="2" charset="0"/>
              </a:endParaRPr>
            </a:p>
          </p:txBody>
        </p:sp>
      </p:grpSp>
      <p:sp>
        <p:nvSpPr>
          <p:cNvPr id="5" name="文本框 4"/>
          <p:cNvSpPr txBox="1"/>
          <p:nvPr/>
        </p:nvSpPr>
        <p:spPr>
          <a:xfrm>
            <a:off x="3286760" y="2195195"/>
            <a:ext cx="433070" cy="521970"/>
          </a:xfrm>
          <a:prstGeom prst="rect">
            <a:avLst/>
          </a:prstGeom>
          <a:noFill/>
        </p:spPr>
        <p:txBody>
          <a:bodyPr wrap="square" rtlCol="0">
            <a:spAutoFit/>
          </a:bodyPr>
          <a:p>
            <a:r>
              <a:rPr lang="en-US" altLang="zh-CN" sz="2800" b="1">
                <a:solidFill>
                  <a:srgbClr val="0000FF"/>
                </a:solidFill>
              </a:rPr>
              <a:t>+</a:t>
            </a:r>
            <a:endParaRPr lang="en-US" altLang="zh-CN" sz="2800" b="1">
              <a:solidFill>
                <a:srgbClr val="0000FF"/>
              </a:solidFill>
            </a:endParaRPr>
          </a:p>
        </p:txBody>
      </p:sp>
      <p:sp>
        <p:nvSpPr>
          <p:cNvPr id="6" name="文本框 5"/>
          <p:cNvSpPr txBox="1"/>
          <p:nvPr/>
        </p:nvSpPr>
        <p:spPr>
          <a:xfrm>
            <a:off x="5028565" y="2527300"/>
            <a:ext cx="433070" cy="521970"/>
          </a:xfrm>
          <a:prstGeom prst="rect">
            <a:avLst/>
          </a:prstGeom>
          <a:noFill/>
        </p:spPr>
        <p:txBody>
          <a:bodyPr wrap="square" rtlCol="0">
            <a:spAutoFit/>
          </a:bodyPr>
          <a:p>
            <a:r>
              <a:rPr lang="en-US" altLang="zh-CN" sz="2800" b="1">
                <a:solidFill>
                  <a:srgbClr val="0000FF"/>
                </a:solidFill>
              </a:rPr>
              <a:t>-</a:t>
            </a:r>
            <a:endParaRPr lang="en-US" altLang="zh-CN" sz="2800" b="1">
              <a:solidFill>
                <a:srgbClr val="0000FF"/>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4914"/>
                                        </p:tgtEl>
                                        <p:attrNameLst>
                                          <p:attrName>style.visibility</p:attrName>
                                        </p:attrNameLst>
                                      </p:cBhvr>
                                      <p:to>
                                        <p:strVal val="visible"/>
                                      </p:to>
                                    </p:set>
                                    <p:animEffect transition="in" filter="wipe(down)">
                                      <p:cBhvr>
                                        <p:cTn id="7" dur="500"/>
                                        <p:tgtEl>
                                          <p:spTgt spid="3491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4898"/>
                                        </p:tgtEl>
                                        <p:attrNameLst>
                                          <p:attrName>style.visibility</p:attrName>
                                        </p:attrNameLst>
                                      </p:cBhvr>
                                      <p:to>
                                        <p:strVal val="visible"/>
                                      </p:to>
                                    </p:set>
                                    <p:animEffect transition="in" filter="wipe(down)">
                                      <p:cBhvr>
                                        <p:cTn id="12" dur="500"/>
                                        <p:tgtEl>
                                          <p:spTgt spid="3489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4906"/>
                                        </p:tgtEl>
                                        <p:attrNameLst>
                                          <p:attrName>style.visibility</p:attrName>
                                        </p:attrNameLst>
                                      </p:cBhvr>
                                      <p:to>
                                        <p:strVal val="visible"/>
                                      </p:to>
                                    </p:set>
                                    <p:animEffect transition="in" filter="wipe(down)">
                                      <p:cBhvr>
                                        <p:cTn id="17" dur="500"/>
                                        <p:tgtEl>
                                          <p:spTgt spid="3490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down)">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6950"/>
                                        </p:tgtEl>
                                        <p:attrNameLst>
                                          <p:attrName>style.visibility</p:attrName>
                                        </p:attrNameLst>
                                      </p:cBhvr>
                                      <p:to>
                                        <p:strVal val="visible"/>
                                      </p:to>
                                    </p:set>
                                    <p:animEffect transition="in" filter="wipe(down)">
                                      <p:cBhvr>
                                        <p:cTn id="27" dur="500"/>
                                        <p:tgtEl>
                                          <p:spTgt spid="3695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22531">
                                            <p:txEl>
                                              <p:pRg st="0" end="0"/>
                                            </p:txEl>
                                          </p:spTgt>
                                        </p:tgtEl>
                                        <p:attrNameLst>
                                          <p:attrName>style.visibility</p:attrName>
                                        </p:attrNameLst>
                                      </p:cBhvr>
                                      <p:to>
                                        <p:strVal val="visible"/>
                                      </p:to>
                                    </p:set>
                                    <p:animEffect transition="in" filter="wipe(down)">
                                      <p:cBhvr>
                                        <p:cTn id="32" dur="500"/>
                                        <p:tgtEl>
                                          <p:spTgt spid="22531">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wipe(down)">
                                      <p:cBhvr>
                                        <p:cTn id="37" dur="500"/>
                                        <p:tgtEl>
                                          <p:spTgt spid="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wipe(down)">
                                      <p:cBhvr>
                                        <p:cTn id="42" dur="500"/>
                                        <p:tgtEl>
                                          <p:spTgt spid="6"/>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22531">
                                            <p:txEl>
                                              <p:pRg st="1" end="1"/>
                                            </p:txEl>
                                          </p:spTgt>
                                        </p:tgtEl>
                                        <p:attrNameLst>
                                          <p:attrName>style.visibility</p:attrName>
                                        </p:attrNameLst>
                                      </p:cBhvr>
                                      <p:to>
                                        <p:strVal val="visible"/>
                                      </p:to>
                                    </p:set>
                                    <p:animEffect transition="in" filter="wipe(down)">
                                      <p:cBhvr>
                                        <p:cTn id="47" dur="500"/>
                                        <p:tgtEl>
                                          <p:spTgt spid="22531">
                                            <p:txEl>
                                              <p:pRg st="1" end="1"/>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3"/>
                                        </p:tgtEl>
                                        <p:attrNameLst>
                                          <p:attrName>style.visibility</p:attrName>
                                        </p:attrNameLst>
                                      </p:cBhvr>
                                      <p:to>
                                        <p:strVal val="visible"/>
                                      </p:to>
                                    </p:set>
                                    <p:animEffect transition="in" filter="wipe(down)">
                                      <p:cBhvr>
                                        <p:cTn id="52" dur="500"/>
                                        <p:tgtEl>
                                          <p:spTgt spid="3"/>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nodeType="clickEffect">
                                  <p:stCondLst>
                                    <p:cond delay="0"/>
                                  </p:stCondLst>
                                  <p:childTnLst>
                                    <p:set>
                                      <p:cBhvr>
                                        <p:cTn id="56" dur="1" fill="hold">
                                          <p:stCondLst>
                                            <p:cond delay="0"/>
                                          </p:stCondLst>
                                        </p:cTn>
                                        <p:tgtEl>
                                          <p:spTgt spid="22531">
                                            <p:txEl>
                                              <p:pRg st="2" end="2"/>
                                            </p:txEl>
                                          </p:spTgt>
                                        </p:tgtEl>
                                        <p:attrNameLst>
                                          <p:attrName>style.visibility</p:attrName>
                                        </p:attrNameLst>
                                      </p:cBhvr>
                                      <p:to>
                                        <p:strVal val="visible"/>
                                      </p:to>
                                    </p:set>
                                    <p:animEffect transition="in" filter="wipe(down)">
                                      <p:cBhvr>
                                        <p:cTn id="57" dur="500"/>
                                        <p:tgtEl>
                                          <p:spTgt spid="2253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950" grpId="0"/>
      <p:bldP spid="22531" grpId="0" build="p"/>
      <p:bldP spid="34914" grpId="0" bldLvl="0" animBg="1"/>
      <p:bldP spid="5" grpId="0"/>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Line 9"/>
          <p:cNvSpPr/>
          <p:nvPr/>
        </p:nvSpPr>
        <p:spPr>
          <a:xfrm>
            <a:off x="2161223" y="3789998"/>
            <a:ext cx="5329237" cy="0"/>
          </a:xfrm>
          <a:prstGeom prst="line">
            <a:avLst/>
          </a:prstGeom>
          <a:ln w="19050" cap="flat" cmpd="sng">
            <a:solidFill>
              <a:schemeClr val="tx1"/>
            </a:solidFill>
            <a:prstDash val="solid"/>
            <a:round/>
            <a:headEnd type="none" w="med" len="med"/>
            <a:tailEnd type="arrow" w="med" len="med"/>
          </a:ln>
        </p:spPr>
      </p:sp>
      <p:sp>
        <p:nvSpPr>
          <p:cNvPr id="38915" name="Line 11"/>
          <p:cNvSpPr/>
          <p:nvPr/>
        </p:nvSpPr>
        <p:spPr>
          <a:xfrm flipV="1">
            <a:off x="2161223" y="1342073"/>
            <a:ext cx="0" cy="1584000"/>
          </a:xfrm>
          <a:prstGeom prst="line">
            <a:avLst/>
          </a:prstGeom>
          <a:ln w="22225" cap="flat" cmpd="sng">
            <a:solidFill>
              <a:schemeClr val="tx1"/>
            </a:solidFill>
            <a:prstDash val="solid"/>
            <a:round/>
            <a:headEnd type="none" w="med" len="med"/>
            <a:tailEnd type="arrow" w="med" len="med"/>
          </a:ln>
        </p:spPr>
      </p:sp>
      <p:sp>
        <p:nvSpPr>
          <p:cNvPr id="38916" name="Text Box 13"/>
          <p:cNvSpPr txBox="1"/>
          <p:nvPr/>
        </p:nvSpPr>
        <p:spPr>
          <a:xfrm>
            <a:off x="1560195" y="2928303"/>
            <a:ext cx="600075" cy="460375"/>
          </a:xfrm>
          <a:prstGeom prst="rect">
            <a:avLst/>
          </a:prstGeom>
          <a:noFill/>
          <a:ln w="9525">
            <a:noFill/>
          </a:ln>
        </p:spPr>
        <p:txBody>
          <a:bodyPr anchor="t" anchorCtr="0">
            <a:spAutoFit/>
          </a:bodyPr>
          <a:p>
            <a:pPr>
              <a:spcBef>
                <a:spcPct val="50000"/>
              </a:spcBef>
            </a:pPr>
            <a:r>
              <a:rPr lang="en-US" altLang="zh-CN" sz="2400" b="1" i="1" dirty="0">
                <a:solidFill>
                  <a:srgbClr val="FF0000"/>
                </a:solidFill>
                <a:latin typeface="Times New Roman" panose="02020603050405020304" pitchFamily="2" charset="0"/>
                <a:ea typeface="宋体" panose="02010600030101010101" pitchFamily="2" charset="-122"/>
                <a:cs typeface="Times New Roman" panose="02020603050405020304" pitchFamily="2" charset="0"/>
              </a:rPr>
              <a:t>V</a:t>
            </a:r>
            <a:r>
              <a:rPr lang="en-US" altLang="zh-CN" sz="2400" b="1" baseline="-25000" dirty="0">
                <a:solidFill>
                  <a:srgbClr val="FF0000"/>
                </a:solidFill>
                <a:latin typeface="Times New Roman" panose="02020603050405020304" pitchFamily="2" charset="0"/>
                <a:ea typeface="宋体" panose="02010600030101010101" pitchFamily="2" charset="-122"/>
                <a:cs typeface="Times New Roman" panose="02020603050405020304" pitchFamily="2" charset="0"/>
              </a:rPr>
              <a:t>i</a:t>
            </a:r>
            <a:endParaRPr lang="en-US" altLang="zh-CN" sz="2400" b="1" baseline="-25000" dirty="0">
              <a:solidFill>
                <a:srgbClr val="FF0000"/>
              </a:solidFill>
              <a:latin typeface="Times New Roman" panose="02020603050405020304" pitchFamily="2" charset="0"/>
              <a:ea typeface="宋体" panose="02010600030101010101" pitchFamily="2" charset="-122"/>
              <a:cs typeface="Times New Roman" panose="02020603050405020304" pitchFamily="2" charset="0"/>
            </a:endParaRPr>
          </a:p>
        </p:txBody>
      </p:sp>
      <p:sp>
        <p:nvSpPr>
          <p:cNvPr id="38917" name="Freeform 22"/>
          <p:cNvSpPr/>
          <p:nvPr/>
        </p:nvSpPr>
        <p:spPr>
          <a:xfrm>
            <a:off x="2161223" y="3429635"/>
            <a:ext cx="719137" cy="360363"/>
          </a:xfrm>
          <a:custGeom>
            <a:avLst/>
            <a:gdLst/>
            <a:ahLst/>
            <a:cxnLst>
              <a:cxn ang="0">
                <a:pos x="0" y="286038550"/>
              </a:cxn>
              <a:cxn ang="0">
                <a:pos x="569554961" y="0"/>
              </a:cxn>
              <a:cxn ang="0">
                <a:pos x="1141629283" y="286038550"/>
              </a:cxn>
            </a:cxnLst>
            <a:pathLst>
              <a:path w="453" h="454">
                <a:moveTo>
                  <a:pt x="0" y="454"/>
                </a:moveTo>
                <a:cubicBezTo>
                  <a:pt x="75" y="227"/>
                  <a:pt x="151" y="0"/>
                  <a:pt x="226" y="0"/>
                </a:cubicBezTo>
                <a:cubicBezTo>
                  <a:pt x="301" y="0"/>
                  <a:pt x="377" y="227"/>
                  <a:pt x="453" y="454"/>
                </a:cubicBezTo>
              </a:path>
            </a:pathLst>
          </a:custGeom>
          <a:noFill/>
          <a:ln w="12700" cap="flat" cmpd="sng">
            <a:solidFill>
              <a:srgbClr val="FF0000"/>
            </a:solidFill>
            <a:prstDash val="solid"/>
            <a:miter/>
            <a:headEnd type="none" w="med" len="med"/>
            <a:tailEnd type="none" w="med" len="med"/>
          </a:ln>
        </p:spPr>
        <p:txBody>
          <a:bodyPr/>
          <a:p>
            <a:endParaRPr lang="zh-CN" altLang="en-US"/>
          </a:p>
        </p:txBody>
      </p:sp>
      <p:sp>
        <p:nvSpPr>
          <p:cNvPr id="38918" name="Freeform 23"/>
          <p:cNvSpPr/>
          <p:nvPr/>
        </p:nvSpPr>
        <p:spPr>
          <a:xfrm flipV="1">
            <a:off x="2880360" y="3789998"/>
            <a:ext cx="719138" cy="360362"/>
          </a:xfrm>
          <a:custGeom>
            <a:avLst/>
            <a:gdLst/>
            <a:ahLst/>
            <a:cxnLst>
              <a:cxn ang="0">
                <a:pos x="0" y="286036963"/>
              </a:cxn>
              <a:cxn ang="0">
                <a:pos x="569555753" y="0"/>
              </a:cxn>
              <a:cxn ang="0">
                <a:pos x="1141632458" y="286036963"/>
              </a:cxn>
            </a:cxnLst>
            <a:pathLst>
              <a:path w="453" h="454">
                <a:moveTo>
                  <a:pt x="0" y="454"/>
                </a:moveTo>
                <a:cubicBezTo>
                  <a:pt x="75" y="227"/>
                  <a:pt x="151" y="0"/>
                  <a:pt x="226" y="0"/>
                </a:cubicBezTo>
                <a:cubicBezTo>
                  <a:pt x="301" y="0"/>
                  <a:pt x="377" y="227"/>
                  <a:pt x="453" y="454"/>
                </a:cubicBezTo>
              </a:path>
            </a:pathLst>
          </a:custGeom>
          <a:noFill/>
          <a:ln w="15875" cap="flat" cmpd="sng">
            <a:solidFill>
              <a:srgbClr val="FF0000"/>
            </a:solidFill>
            <a:prstDash val="solid"/>
            <a:miter/>
            <a:headEnd type="none" w="med" len="med"/>
            <a:tailEnd type="none" w="med" len="med"/>
          </a:ln>
        </p:spPr>
        <p:txBody>
          <a:bodyPr/>
          <a:p>
            <a:endParaRPr lang="zh-CN" altLang="en-US"/>
          </a:p>
        </p:txBody>
      </p:sp>
      <p:sp>
        <p:nvSpPr>
          <p:cNvPr id="38919" name="Freeform 24"/>
          <p:cNvSpPr/>
          <p:nvPr/>
        </p:nvSpPr>
        <p:spPr>
          <a:xfrm>
            <a:off x="3601085" y="3429635"/>
            <a:ext cx="719138" cy="360363"/>
          </a:xfrm>
          <a:custGeom>
            <a:avLst/>
            <a:gdLst/>
            <a:ahLst/>
            <a:cxnLst>
              <a:cxn ang="0">
                <a:pos x="0" y="286038550"/>
              </a:cxn>
              <a:cxn ang="0">
                <a:pos x="569555753" y="0"/>
              </a:cxn>
              <a:cxn ang="0">
                <a:pos x="1141632458" y="286038550"/>
              </a:cxn>
            </a:cxnLst>
            <a:pathLst>
              <a:path w="453" h="454">
                <a:moveTo>
                  <a:pt x="0" y="454"/>
                </a:moveTo>
                <a:cubicBezTo>
                  <a:pt x="75" y="227"/>
                  <a:pt x="151" y="0"/>
                  <a:pt x="226" y="0"/>
                </a:cubicBezTo>
                <a:cubicBezTo>
                  <a:pt x="301" y="0"/>
                  <a:pt x="377" y="227"/>
                  <a:pt x="453" y="454"/>
                </a:cubicBezTo>
              </a:path>
            </a:pathLst>
          </a:custGeom>
          <a:noFill/>
          <a:ln w="15875" cap="flat" cmpd="sng">
            <a:solidFill>
              <a:srgbClr val="FF0000"/>
            </a:solidFill>
            <a:prstDash val="solid"/>
            <a:miter/>
            <a:headEnd type="none" w="med" len="med"/>
            <a:tailEnd type="none" w="med" len="med"/>
          </a:ln>
        </p:spPr>
        <p:txBody>
          <a:bodyPr/>
          <a:p>
            <a:endParaRPr lang="zh-CN" altLang="en-US"/>
          </a:p>
        </p:txBody>
      </p:sp>
      <p:sp>
        <p:nvSpPr>
          <p:cNvPr id="38920" name="Freeform 25"/>
          <p:cNvSpPr/>
          <p:nvPr/>
        </p:nvSpPr>
        <p:spPr>
          <a:xfrm flipV="1">
            <a:off x="4320223" y="3789998"/>
            <a:ext cx="719137" cy="360362"/>
          </a:xfrm>
          <a:custGeom>
            <a:avLst/>
            <a:gdLst/>
            <a:ahLst/>
            <a:cxnLst>
              <a:cxn ang="0">
                <a:pos x="0" y="286036963"/>
              </a:cxn>
              <a:cxn ang="0">
                <a:pos x="569554961" y="0"/>
              </a:cxn>
              <a:cxn ang="0">
                <a:pos x="1141629283" y="286036963"/>
              </a:cxn>
            </a:cxnLst>
            <a:pathLst>
              <a:path w="453" h="454">
                <a:moveTo>
                  <a:pt x="0" y="454"/>
                </a:moveTo>
                <a:cubicBezTo>
                  <a:pt x="75" y="227"/>
                  <a:pt x="151" y="0"/>
                  <a:pt x="226" y="0"/>
                </a:cubicBezTo>
                <a:cubicBezTo>
                  <a:pt x="301" y="0"/>
                  <a:pt x="377" y="227"/>
                  <a:pt x="453" y="454"/>
                </a:cubicBezTo>
              </a:path>
            </a:pathLst>
          </a:custGeom>
          <a:noFill/>
          <a:ln w="15875" cap="flat" cmpd="sng">
            <a:solidFill>
              <a:srgbClr val="FF0000"/>
            </a:solidFill>
            <a:prstDash val="solid"/>
            <a:miter/>
            <a:headEnd type="none" w="med" len="med"/>
            <a:tailEnd type="none" w="med" len="med"/>
          </a:ln>
        </p:spPr>
        <p:txBody>
          <a:bodyPr/>
          <a:p>
            <a:endParaRPr lang="zh-CN" altLang="en-US"/>
          </a:p>
        </p:txBody>
      </p:sp>
      <p:sp>
        <p:nvSpPr>
          <p:cNvPr id="38921" name="Freeform 26"/>
          <p:cNvSpPr/>
          <p:nvPr/>
        </p:nvSpPr>
        <p:spPr>
          <a:xfrm>
            <a:off x="5040948" y="3429635"/>
            <a:ext cx="719137" cy="360363"/>
          </a:xfrm>
          <a:custGeom>
            <a:avLst/>
            <a:gdLst/>
            <a:ahLst/>
            <a:cxnLst>
              <a:cxn ang="0">
                <a:pos x="0" y="286038550"/>
              </a:cxn>
              <a:cxn ang="0">
                <a:pos x="569554961" y="0"/>
              </a:cxn>
              <a:cxn ang="0">
                <a:pos x="1141629283" y="286038550"/>
              </a:cxn>
            </a:cxnLst>
            <a:pathLst>
              <a:path w="453" h="454">
                <a:moveTo>
                  <a:pt x="0" y="454"/>
                </a:moveTo>
                <a:cubicBezTo>
                  <a:pt x="75" y="227"/>
                  <a:pt x="151" y="0"/>
                  <a:pt x="226" y="0"/>
                </a:cubicBezTo>
                <a:cubicBezTo>
                  <a:pt x="301" y="0"/>
                  <a:pt x="377" y="227"/>
                  <a:pt x="453" y="454"/>
                </a:cubicBezTo>
              </a:path>
            </a:pathLst>
          </a:custGeom>
          <a:noFill/>
          <a:ln w="15875" cap="flat" cmpd="sng">
            <a:solidFill>
              <a:srgbClr val="FF0000"/>
            </a:solidFill>
            <a:prstDash val="solid"/>
            <a:miter/>
            <a:headEnd type="none" w="med" len="med"/>
            <a:tailEnd type="none" w="med" len="med"/>
          </a:ln>
        </p:spPr>
        <p:txBody>
          <a:bodyPr/>
          <a:p>
            <a:endParaRPr lang="zh-CN" altLang="en-US"/>
          </a:p>
        </p:txBody>
      </p:sp>
      <p:sp>
        <p:nvSpPr>
          <p:cNvPr id="38922" name="Freeform 27"/>
          <p:cNvSpPr/>
          <p:nvPr/>
        </p:nvSpPr>
        <p:spPr>
          <a:xfrm flipV="1">
            <a:off x="5760085" y="3789998"/>
            <a:ext cx="719138" cy="360362"/>
          </a:xfrm>
          <a:custGeom>
            <a:avLst/>
            <a:gdLst/>
            <a:ahLst/>
            <a:cxnLst>
              <a:cxn ang="0">
                <a:pos x="0" y="286036963"/>
              </a:cxn>
              <a:cxn ang="0">
                <a:pos x="569555753" y="0"/>
              </a:cxn>
              <a:cxn ang="0">
                <a:pos x="1141632458" y="286036963"/>
              </a:cxn>
            </a:cxnLst>
            <a:pathLst>
              <a:path w="453" h="454">
                <a:moveTo>
                  <a:pt x="0" y="454"/>
                </a:moveTo>
                <a:cubicBezTo>
                  <a:pt x="75" y="227"/>
                  <a:pt x="151" y="0"/>
                  <a:pt x="226" y="0"/>
                </a:cubicBezTo>
                <a:cubicBezTo>
                  <a:pt x="301" y="0"/>
                  <a:pt x="377" y="227"/>
                  <a:pt x="453" y="454"/>
                </a:cubicBezTo>
              </a:path>
            </a:pathLst>
          </a:custGeom>
          <a:noFill/>
          <a:ln w="15875" cap="flat" cmpd="sng">
            <a:solidFill>
              <a:srgbClr val="FF0000"/>
            </a:solidFill>
            <a:prstDash val="solid"/>
            <a:miter/>
            <a:headEnd type="none" w="med" len="med"/>
            <a:tailEnd type="none" w="med" len="med"/>
          </a:ln>
        </p:spPr>
        <p:txBody>
          <a:bodyPr/>
          <a:p>
            <a:endParaRPr lang="zh-CN" altLang="en-US"/>
          </a:p>
        </p:txBody>
      </p:sp>
      <p:sp>
        <p:nvSpPr>
          <p:cNvPr id="38923" name="Line 28"/>
          <p:cNvSpPr/>
          <p:nvPr/>
        </p:nvSpPr>
        <p:spPr>
          <a:xfrm>
            <a:off x="2880360" y="1557973"/>
            <a:ext cx="0" cy="3887787"/>
          </a:xfrm>
          <a:prstGeom prst="line">
            <a:avLst/>
          </a:prstGeom>
          <a:ln w="9525" cap="flat" cmpd="sng">
            <a:solidFill>
              <a:schemeClr val="tx1"/>
            </a:solidFill>
            <a:prstDash val="dashDot"/>
            <a:round/>
            <a:headEnd type="none" w="med" len="med"/>
            <a:tailEnd type="none" w="med" len="med"/>
          </a:ln>
        </p:spPr>
      </p:sp>
      <p:sp>
        <p:nvSpPr>
          <p:cNvPr id="38924" name="Line 31"/>
          <p:cNvSpPr/>
          <p:nvPr/>
        </p:nvSpPr>
        <p:spPr>
          <a:xfrm>
            <a:off x="3601085" y="1557973"/>
            <a:ext cx="0" cy="3887787"/>
          </a:xfrm>
          <a:prstGeom prst="line">
            <a:avLst/>
          </a:prstGeom>
          <a:ln w="9525" cap="flat" cmpd="sng">
            <a:solidFill>
              <a:schemeClr val="tx1"/>
            </a:solidFill>
            <a:prstDash val="dashDot"/>
            <a:round/>
            <a:headEnd type="none" w="med" len="med"/>
            <a:tailEnd type="none" w="med" len="med"/>
          </a:ln>
        </p:spPr>
      </p:sp>
      <p:sp>
        <p:nvSpPr>
          <p:cNvPr id="38925" name="Line 32"/>
          <p:cNvSpPr/>
          <p:nvPr/>
        </p:nvSpPr>
        <p:spPr>
          <a:xfrm>
            <a:off x="4320223" y="1557973"/>
            <a:ext cx="0" cy="3887787"/>
          </a:xfrm>
          <a:prstGeom prst="line">
            <a:avLst/>
          </a:prstGeom>
          <a:ln w="9525" cap="flat" cmpd="sng">
            <a:solidFill>
              <a:schemeClr val="tx1"/>
            </a:solidFill>
            <a:prstDash val="dashDot"/>
            <a:round/>
            <a:headEnd type="none" w="med" len="med"/>
            <a:tailEnd type="none" w="med" len="med"/>
          </a:ln>
        </p:spPr>
      </p:sp>
      <p:sp>
        <p:nvSpPr>
          <p:cNvPr id="38926" name="Line 33"/>
          <p:cNvSpPr/>
          <p:nvPr/>
        </p:nvSpPr>
        <p:spPr>
          <a:xfrm>
            <a:off x="5040948" y="1557973"/>
            <a:ext cx="0" cy="3887787"/>
          </a:xfrm>
          <a:prstGeom prst="line">
            <a:avLst/>
          </a:prstGeom>
          <a:ln w="9525" cap="flat" cmpd="sng">
            <a:solidFill>
              <a:schemeClr val="tx1"/>
            </a:solidFill>
            <a:prstDash val="dashDot"/>
            <a:round/>
            <a:headEnd type="none" w="med" len="med"/>
            <a:tailEnd type="none" w="med" len="med"/>
          </a:ln>
        </p:spPr>
      </p:sp>
      <p:sp>
        <p:nvSpPr>
          <p:cNvPr id="38927" name="Line 34"/>
          <p:cNvSpPr/>
          <p:nvPr/>
        </p:nvSpPr>
        <p:spPr>
          <a:xfrm>
            <a:off x="5761673" y="1629410"/>
            <a:ext cx="0" cy="3887788"/>
          </a:xfrm>
          <a:prstGeom prst="line">
            <a:avLst/>
          </a:prstGeom>
          <a:ln w="9525" cap="flat" cmpd="sng">
            <a:solidFill>
              <a:schemeClr val="tx1"/>
            </a:solidFill>
            <a:prstDash val="dashDot"/>
            <a:round/>
            <a:headEnd type="none" w="med" len="med"/>
            <a:tailEnd type="none" w="med" len="med"/>
          </a:ln>
        </p:spPr>
      </p:sp>
      <p:sp>
        <p:nvSpPr>
          <p:cNvPr id="38928" name="Line 35"/>
          <p:cNvSpPr/>
          <p:nvPr/>
        </p:nvSpPr>
        <p:spPr>
          <a:xfrm>
            <a:off x="6480810" y="1629410"/>
            <a:ext cx="0" cy="3887788"/>
          </a:xfrm>
          <a:prstGeom prst="line">
            <a:avLst/>
          </a:prstGeom>
          <a:ln w="9525" cap="flat" cmpd="sng">
            <a:solidFill>
              <a:schemeClr val="tx1"/>
            </a:solidFill>
            <a:prstDash val="dashDot"/>
            <a:round/>
            <a:headEnd type="none" w="med" len="med"/>
            <a:tailEnd type="none" w="med" len="med"/>
          </a:ln>
        </p:spPr>
      </p:sp>
      <p:sp>
        <p:nvSpPr>
          <p:cNvPr id="38929" name="Line 36"/>
          <p:cNvSpPr/>
          <p:nvPr/>
        </p:nvSpPr>
        <p:spPr>
          <a:xfrm>
            <a:off x="7201535" y="1629410"/>
            <a:ext cx="0" cy="3887788"/>
          </a:xfrm>
          <a:prstGeom prst="line">
            <a:avLst/>
          </a:prstGeom>
          <a:ln w="9525" cap="flat" cmpd="sng">
            <a:solidFill>
              <a:schemeClr val="tx1"/>
            </a:solidFill>
            <a:prstDash val="dashDot"/>
            <a:round/>
            <a:headEnd type="none" w="med" len="med"/>
            <a:tailEnd type="none" w="med" len="med"/>
          </a:ln>
        </p:spPr>
      </p:sp>
      <p:sp>
        <p:nvSpPr>
          <p:cNvPr id="38930" name="Freeform 37"/>
          <p:cNvSpPr/>
          <p:nvPr/>
        </p:nvSpPr>
        <p:spPr>
          <a:xfrm>
            <a:off x="6480810" y="3429635"/>
            <a:ext cx="719138" cy="360363"/>
          </a:xfrm>
          <a:custGeom>
            <a:avLst/>
            <a:gdLst/>
            <a:ahLst/>
            <a:cxnLst>
              <a:cxn ang="0">
                <a:pos x="0" y="286038550"/>
              </a:cxn>
              <a:cxn ang="0">
                <a:pos x="569555753" y="0"/>
              </a:cxn>
              <a:cxn ang="0">
                <a:pos x="1141632458" y="286038550"/>
              </a:cxn>
            </a:cxnLst>
            <a:pathLst>
              <a:path w="453" h="454">
                <a:moveTo>
                  <a:pt x="0" y="454"/>
                </a:moveTo>
                <a:cubicBezTo>
                  <a:pt x="75" y="227"/>
                  <a:pt x="151" y="0"/>
                  <a:pt x="226" y="0"/>
                </a:cubicBezTo>
                <a:cubicBezTo>
                  <a:pt x="301" y="0"/>
                  <a:pt x="377" y="227"/>
                  <a:pt x="453" y="454"/>
                </a:cubicBezTo>
              </a:path>
            </a:pathLst>
          </a:custGeom>
          <a:noFill/>
          <a:ln w="15875" cap="flat" cmpd="sng">
            <a:solidFill>
              <a:srgbClr val="FF0000"/>
            </a:solidFill>
            <a:prstDash val="solid"/>
            <a:miter/>
            <a:headEnd type="none" w="med" len="med"/>
            <a:tailEnd type="none" w="med" len="med"/>
          </a:ln>
        </p:spPr>
        <p:txBody>
          <a:bodyPr/>
          <a:p>
            <a:endParaRPr lang="zh-CN" altLang="en-US"/>
          </a:p>
        </p:txBody>
      </p:sp>
      <p:grpSp>
        <p:nvGrpSpPr>
          <p:cNvPr id="23572" name="组合 23571"/>
          <p:cNvGrpSpPr/>
          <p:nvPr/>
        </p:nvGrpSpPr>
        <p:grpSpPr>
          <a:xfrm>
            <a:off x="1561148" y="1203961"/>
            <a:ext cx="5929313" cy="1793874"/>
            <a:chOff x="45" y="-495"/>
            <a:chExt cx="3735" cy="1130"/>
          </a:xfrm>
        </p:grpSpPr>
        <p:sp>
          <p:nvSpPr>
            <p:cNvPr id="38932" name="Line 8"/>
            <p:cNvSpPr/>
            <p:nvPr/>
          </p:nvSpPr>
          <p:spPr>
            <a:xfrm>
              <a:off x="423" y="182"/>
              <a:ext cx="3357" cy="0"/>
            </a:xfrm>
            <a:prstGeom prst="line">
              <a:avLst/>
            </a:prstGeom>
            <a:ln w="25400" cap="flat" cmpd="sng">
              <a:solidFill>
                <a:schemeClr val="tx1"/>
              </a:solidFill>
              <a:prstDash val="solid"/>
              <a:round/>
              <a:headEnd type="none" w="med" len="med"/>
              <a:tailEnd type="arrow" w="med" len="med"/>
            </a:ln>
          </p:spPr>
        </p:sp>
        <p:sp>
          <p:nvSpPr>
            <p:cNvPr id="38933" name="Text Box 12"/>
            <p:cNvSpPr txBox="1"/>
            <p:nvPr/>
          </p:nvSpPr>
          <p:spPr>
            <a:xfrm>
              <a:off x="45" y="-495"/>
              <a:ext cx="468" cy="290"/>
            </a:xfrm>
            <a:prstGeom prst="rect">
              <a:avLst/>
            </a:prstGeom>
            <a:noFill/>
            <a:ln w="9525">
              <a:noFill/>
            </a:ln>
          </p:spPr>
          <p:txBody>
            <a:bodyPr anchor="t" anchorCtr="0">
              <a:spAutoFit/>
            </a:bodyPr>
            <a:p>
              <a:pPr>
                <a:spcBef>
                  <a:spcPct val="50000"/>
                </a:spcBef>
              </a:pPr>
              <a:r>
                <a:rPr lang="en-US" altLang="zh-CN" sz="2400" b="1" i="1" dirty="0">
                  <a:solidFill>
                    <a:srgbClr val="FF0000"/>
                  </a:solidFill>
                  <a:latin typeface="Times New Roman" panose="02020603050405020304" pitchFamily="2" charset="0"/>
                  <a:ea typeface="宋体" panose="02010600030101010101" pitchFamily="2" charset="-122"/>
                  <a:cs typeface="Times New Roman" panose="02020603050405020304" pitchFamily="2" charset="0"/>
                </a:rPr>
                <a:t>V</a:t>
              </a:r>
              <a:r>
                <a:rPr lang="en-US" altLang="zh-CN" sz="2400" b="1" baseline="-25000" dirty="0">
                  <a:solidFill>
                    <a:srgbClr val="FF0000"/>
                  </a:solidFill>
                  <a:latin typeface="Times New Roman" panose="02020603050405020304" pitchFamily="2" charset="0"/>
                  <a:ea typeface="宋体" panose="02010600030101010101" pitchFamily="2" charset="-122"/>
                  <a:cs typeface="Times New Roman" panose="02020603050405020304" pitchFamily="2" charset="0"/>
                </a:rPr>
                <a:t>o1</a:t>
              </a:r>
              <a:endParaRPr lang="en-US" altLang="zh-CN" sz="2400" b="1" baseline="-25000" dirty="0">
                <a:solidFill>
                  <a:srgbClr val="FF0000"/>
                </a:solidFill>
                <a:latin typeface="Times New Roman" panose="02020603050405020304" pitchFamily="2" charset="0"/>
                <a:ea typeface="宋体" panose="02010600030101010101" pitchFamily="2" charset="-122"/>
                <a:cs typeface="Times New Roman" panose="02020603050405020304" pitchFamily="2" charset="0"/>
              </a:endParaRPr>
            </a:p>
          </p:txBody>
        </p:sp>
        <p:sp>
          <p:nvSpPr>
            <p:cNvPr id="38934" name="Freeform 15"/>
            <p:cNvSpPr/>
            <p:nvPr/>
          </p:nvSpPr>
          <p:spPr>
            <a:xfrm flipV="1">
              <a:off x="423" y="181"/>
              <a:ext cx="453" cy="454"/>
            </a:xfrm>
            <a:custGeom>
              <a:avLst/>
              <a:gdLst/>
              <a:ahLst/>
              <a:cxnLst>
                <a:cxn ang="0">
                  <a:pos x="0" y="454"/>
                </a:cxn>
                <a:cxn ang="0">
                  <a:pos x="226" y="0"/>
                </a:cxn>
                <a:cxn ang="0">
                  <a:pos x="453" y="454"/>
                </a:cxn>
              </a:cxnLst>
              <a:pathLst>
                <a:path w="453" h="454">
                  <a:moveTo>
                    <a:pt x="0" y="454"/>
                  </a:moveTo>
                  <a:cubicBezTo>
                    <a:pt x="75" y="227"/>
                    <a:pt x="151" y="0"/>
                    <a:pt x="226" y="0"/>
                  </a:cubicBezTo>
                  <a:cubicBezTo>
                    <a:pt x="301" y="0"/>
                    <a:pt x="377" y="227"/>
                    <a:pt x="453" y="454"/>
                  </a:cubicBezTo>
                </a:path>
              </a:pathLst>
            </a:custGeom>
            <a:noFill/>
            <a:ln w="12700" cap="flat" cmpd="sng">
              <a:solidFill>
                <a:srgbClr val="FF0000"/>
              </a:solidFill>
              <a:prstDash val="solid"/>
              <a:miter/>
              <a:headEnd type="none" w="med" len="med"/>
              <a:tailEnd type="none" w="med" len="med"/>
            </a:ln>
          </p:spPr>
          <p:txBody>
            <a:bodyPr/>
            <a:p>
              <a:endParaRPr lang="zh-CN" altLang="en-US"/>
            </a:p>
          </p:txBody>
        </p:sp>
        <p:sp>
          <p:nvSpPr>
            <p:cNvPr id="38935" name="Freeform 38"/>
            <p:cNvSpPr/>
            <p:nvPr/>
          </p:nvSpPr>
          <p:spPr>
            <a:xfrm flipV="1">
              <a:off x="1330" y="181"/>
              <a:ext cx="453" cy="454"/>
            </a:xfrm>
            <a:custGeom>
              <a:avLst/>
              <a:gdLst/>
              <a:ahLst/>
              <a:cxnLst>
                <a:cxn ang="0">
                  <a:pos x="0" y="454"/>
                </a:cxn>
                <a:cxn ang="0">
                  <a:pos x="226" y="0"/>
                </a:cxn>
                <a:cxn ang="0">
                  <a:pos x="453" y="454"/>
                </a:cxn>
              </a:cxnLst>
              <a:pathLst>
                <a:path w="453" h="454">
                  <a:moveTo>
                    <a:pt x="0" y="454"/>
                  </a:moveTo>
                  <a:cubicBezTo>
                    <a:pt x="75" y="227"/>
                    <a:pt x="151" y="0"/>
                    <a:pt x="226" y="0"/>
                  </a:cubicBezTo>
                  <a:cubicBezTo>
                    <a:pt x="301" y="0"/>
                    <a:pt x="377" y="227"/>
                    <a:pt x="453" y="454"/>
                  </a:cubicBezTo>
                </a:path>
              </a:pathLst>
            </a:custGeom>
            <a:noFill/>
            <a:ln w="12700" cap="flat" cmpd="sng">
              <a:solidFill>
                <a:srgbClr val="FF0000"/>
              </a:solidFill>
              <a:prstDash val="solid"/>
              <a:miter/>
              <a:headEnd type="none" w="med" len="med"/>
              <a:tailEnd type="none" w="med" len="med"/>
            </a:ln>
          </p:spPr>
          <p:txBody>
            <a:bodyPr/>
            <a:p>
              <a:endParaRPr lang="zh-CN" altLang="en-US"/>
            </a:p>
          </p:txBody>
        </p:sp>
        <p:sp>
          <p:nvSpPr>
            <p:cNvPr id="38936" name="Freeform 39"/>
            <p:cNvSpPr/>
            <p:nvPr/>
          </p:nvSpPr>
          <p:spPr>
            <a:xfrm flipV="1">
              <a:off x="2237" y="181"/>
              <a:ext cx="453" cy="454"/>
            </a:xfrm>
            <a:custGeom>
              <a:avLst/>
              <a:gdLst/>
              <a:ahLst/>
              <a:cxnLst>
                <a:cxn ang="0">
                  <a:pos x="0" y="454"/>
                </a:cxn>
                <a:cxn ang="0">
                  <a:pos x="226" y="0"/>
                </a:cxn>
                <a:cxn ang="0">
                  <a:pos x="453" y="454"/>
                </a:cxn>
              </a:cxnLst>
              <a:pathLst>
                <a:path w="453" h="454">
                  <a:moveTo>
                    <a:pt x="0" y="454"/>
                  </a:moveTo>
                  <a:cubicBezTo>
                    <a:pt x="75" y="227"/>
                    <a:pt x="151" y="0"/>
                    <a:pt x="226" y="0"/>
                  </a:cubicBezTo>
                  <a:cubicBezTo>
                    <a:pt x="301" y="0"/>
                    <a:pt x="377" y="227"/>
                    <a:pt x="453" y="454"/>
                  </a:cubicBezTo>
                </a:path>
              </a:pathLst>
            </a:custGeom>
            <a:noFill/>
            <a:ln w="12700" cap="flat" cmpd="sng">
              <a:solidFill>
                <a:srgbClr val="FF0000"/>
              </a:solidFill>
              <a:prstDash val="solid"/>
              <a:miter/>
              <a:headEnd type="none" w="med" len="med"/>
              <a:tailEnd type="none" w="med" len="med"/>
            </a:ln>
          </p:spPr>
          <p:txBody>
            <a:bodyPr/>
            <a:p>
              <a:endParaRPr lang="zh-CN" altLang="en-US"/>
            </a:p>
          </p:txBody>
        </p:sp>
        <p:sp>
          <p:nvSpPr>
            <p:cNvPr id="38937" name="Freeform 40"/>
            <p:cNvSpPr/>
            <p:nvPr/>
          </p:nvSpPr>
          <p:spPr>
            <a:xfrm flipV="1">
              <a:off x="3144" y="181"/>
              <a:ext cx="453" cy="454"/>
            </a:xfrm>
            <a:custGeom>
              <a:avLst/>
              <a:gdLst/>
              <a:ahLst/>
              <a:cxnLst>
                <a:cxn ang="0">
                  <a:pos x="0" y="454"/>
                </a:cxn>
                <a:cxn ang="0">
                  <a:pos x="226" y="0"/>
                </a:cxn>
                <a:cxn ang="0">
                  <a:pos x="453" y="454"/>
                </a:cxn>
              </a:cxnLst>
              <a:pathLst>
                <a:path w="453" h="454">
                  <a:moveTo>
                    <a:pt x="0" y="454"/>
                  </a:moveTo>
                  <a:cubicBezTo>
                    <a:pt x="75" y="227"/>
                    <a:pt x="151" y="0"/>
                    <a:pt x="226" y="0"/>
                  </a:cubicBezTo>
                  <a:cubicBezTo>
                    <a:pt x="301" y="0"/>
                    <a:pt x="377" y="227"/>
                    <a:pt x="453" y="454"/>
                  </a:cubicBezTo>
                </a:path>
              </a:pathLst>
            </a:custGeom>
            <a:noFill/>
            <a:ln w="12700" cap="flat" cmpd="sng">
              <a:solidFill>
                <a:srgbClr val="FF0000"/>
              </a:solidFill>
              <a:prstDash val="solid"/>
              <a:miter/>
              <a:headEnd type="none" w="med" len="med"/>
              <a:tailEnd type="none" w="med" len="med"/>
            </a:ln>
          </p:spPr>
          <p:txBody>
            <a:bodyPr/>
            <a:p>
              <a:endParaRPr lang="zh-CN" altLang="en-US"/>
            </a:p>
          </p:txBody>
        </p:sp>
      </p:grpSp>
      <p:grpSp>
        <p:nvGrpSpPr>
          <p:cNvPr id="23579" name="组合 23578"/>
          <p:cNvGrpSpPr/>
          <p:nvPr/>
        </p:nvGrpSpPr>
        <p:grpSpPr>
          <a:xfrm>
            <a:off x="1562735" y="4727575"/>
            <a:ext cx="5927725" cy="646113"/>
            <a:chOff x="-45" y="-180"/>
            <a:chExt cx="3734" cy="407"/>
          </a:xfrm>
        </p:grpSpPr>
        <p:sp>
          <p:nvSpPr>
            <p:cNvPr id="38939" name="Line 10"/>
            <p:cNvSpPr/>
            <p:nvPr/>
          </p:nvSpPr>
          <p:spPr>
            <a:xfrm>
              <a:off x="332" y="227"/>
              <a:ext cx="3357" cy="0"/>
            </a:xfrm>
            <a:prstGeom prst="line">
              <a:avLst/>
            </a:prstGeom>
            <a:ln w="19050" cap="flat" cmpd="sng">
              <a:solidFill>
                <a:schemeClr val="tx1"/>
              </a:solidFill>
              <a:prstDash val="solid"/>
              <a:round/>
              <a:headEnd type="none" w="med" len="med"/>
              <a:tailEnd type="arrow" w="med" len="med"/>
            </a:ln>
          </p:spPr>
        </p:sp>
        <p:sp>
          <p:nvSpPr>
            <p:cNvPr id="38940" name="Text Box 14"/>
            <p:cNvSpPr txBox="1"/>
            <p:nvPr/>
          </p:nvSpPr>
          <p:spPr>
            <a:xfrm>
              <a:off x="-45" y="-180"/>
              <a:ext cx="468" cy="290"/>
            </a:xfrm>
            <a:prstGeom prst="rect">
              <a:avLst/>
            </a:prstGeom>
            <a:noFill/>
            <a:ln w="9525">
              <a:noFill/>
            </a:ln>
          </p:spPr>
          <p:txBody>
            <a:bodyPr anchor="t" anchorCtr="0">
              <a:spAutoFit/>
            </a:bodyPr>
            <a:p>
              <a:pPr>
                <a:spcBef>
                  <a:spcPct val="50000"/>
                </a:spcBef>
              </a:pPr>
              <a:r>
                <a:rPr lang="en-US" altLang="zh-CN" sz="2400" b="1" i="1" dirty="0">
                  <a:solidFill>
                    <a:srgbClr val="FF0000"/>
                  </a:solidFill>
                  <a:latin typeface="Times New Roman" panose="02020603050405020304" pitchFamily="2" charset="0"/>
                  <a:ea typeface="宋体" panose="02010600030101010101" pitchFamily="2" charset="-122"/>
                  <a:cs typeface="Times New Roman" panose="02020603050405020304" pitchFamily="2" charset="0"/>
                </a:rPr>
                <a:t>V</a:t>
              </a:r>
              <a:r>
                <a:rPr lang="en-US" altLang="zh-CN" sz="2400" b="1" baseline="-25000" dirty="0">
                  <a:solidFill>
                    <a:srgbClr val="FF0000"/>
                  </a:solidFill>
                  <a:latin typeface="Times New Roman" panose="02020603050405020304" pitchFamily="2" charset="0"/>
                  <a:ea typeface="宋体" panose="02010600030101010101" pitchFamily="2" charset="-122"/>
                  <a:cs typeface="Times New Roman" panose="02020603050405020304" pitchFamily="2" charset="0"/>
                </a:rPr>
                <a:t>o</a:t>
              </a:r>
              <a:endParaRPr lang="en-US" altLang="zh-CN" sz="2400" b="1" baseline="-25000" dirty="0">
                <a:solidFill>
                  <a:srgbClr val="FF0000"/>
                </a:solidFill>
                <a:latin typeface="Times New Roman" panose="02020603050405020304" pitchFamily="2" charset="0"/>
                <a:ea typeface="宋体" panose="02010600030101010101" pitchFamily="2" charset="-122"/>
                <a:cs typeface="Times New Roman" panose="02020603050405020304" pitchFamily="2" charset="0"/>
              </a:endParaRPr>
            </a:p>
          </p:txBody>
        </p:sp>
        <p:sp>
          <p:nvSpPr>
            <p:cNvPr id="38941" name="Freeform 41"/>
            <p:cNvSpPr/>
            <p:nvPr/>
          </p:nvSpPr>
          <p:spPr>
            <a:xfrm>
              <a:off x="332" y="0"/>
              <a:ext cx="453" cy="227"/>
            </a:xfrm>
            <a:custGeom>
              <a:avLst/>
              <a:gdLst/>
              <a:ahLst/>
              <a:cxnLst>
                <a:cxn ang="0">
                  <a:pos x="0" y="114"/>
                </a:cxn>
                <a:cxn ang="0">
                  <a:pos x="226" y="0"/>
                </a:cxn>
                <a:cxn ang="0">
                  <a:pos x="453" y="114"/>
                </a:cxn>
              </a:cxnLst>
              <a:pathLst>
                <a:path w="453" h="454">
                  <a:moveTo>
                    <a:pt x="0" y="454"/>
                  </a:moveTo>
                  <a:cubicBezTo>
                    <a:pt x="75" y="227"/>
                    <a:pt x="151" y="0"/>
                    <a:pt x="226" y="0"/>
                  </a:cubicBezTo>
                  <a:cubicBezTo>
                    <a:pt x="301" y="0"/>
                    <a:pt x="377" y="227"/>
                    <a:pt x="453" y="454"/>
                  </a:cubicBezTo>
                </a:path>
              </a:pathLst>
            </a:custGeom>
            <a:noFill/>
            <a:ln w="15875" cap="flat" cmpd="sng">
              <a:solidFill>
                <a:srgbClr val="FF0000"/>
              </a:solidFill>
              <a:prstDash val="solid"/>
              <a:miter/>
              <a:headEnd type="none" w="med" len="med"/>
              <a:tailEnd type="none" w="med" len="med"/>
            </a:ln>
          </p:spPr>
          <p:txBody>
            <a:bodyPr/>
            <a:p>
              <a:endParaRPr lang="zh-CN" altLang="en-US"/>
            </a:p>
          </p:txBody>
        </p:sp>
        <p:sp>
          <p:nvSpPr>
            <p:cNvPr id="38942" name="Freeform 42"/>
            <p:cNvSpPr/>
            <p:nvPr/>
          </p:nvSpPr>
          <p:spPr>
            <a:xfrm>
              <a:off x="785" y="0"/>
              <a:ext cx="453" cy="227"/>
            </a:xfrm>
            <a:custGeom>
              <a:avLst/>
              <a:gdLst/>
              <a:ahLst/>
              <a:cxnLst>
                <a:cxn ang="0">
                  <a:pos x="0" y="114"/>
                </a:cxn>
                <a:cxn ang="0">
                  <a:pos x="226" y="0"/>
                </a:cxn>
                <a:cxn ang="0">
                  <a:pos x="453" y="114"/>
                </a:cxn>
              </a:cxnLst>
              <a:pathLst>
                <a:path w="453" h="454">
                  <a:moveTo>
                    <a:pt x="0" y="454"/>
                  </a:moveTo>
                  <a:cubicBezTo>
                    <a:pt x="75" y="227"/>
                    <a:pt x="151" y="0"/>
                    <a:pt x="226" y="0"/>
                  </a:cubicBezTo>
                  <a:cubicBezTo>
                    <a:pt x="301" y="0"/>
                    <a:pt x="377" y="227"/>
                    <a:pt x="453" y="454"/>
                  </a:cubicBezTo>
                </a:path>
              </a:pathLst>
            </a:custGeom>
            <a:noFill/>
            <a:ln w="15875" cap="flat" cmpd="sng">
              <a:solidFill>
                <a:srgbClr val="FF0000"/>
              </a:solidFill>
              <a:prstDash val="solid"/>
              <a:miter/>
              <a:headEnd type="none" w="med" len="med"/>
              <a:tailEnd type="none" w="med" len="med"/>
            </a:ln>
          </p:spPr>
          <p:txBody>
            <a:bodyPr/>
            <a:p>
              <a:endParaRPr lang="zh-CN" altLang="en-US"/>
            </a:p>
          </p:txBody>
        </p:sp>
        <p:sp>
          <p:nvSpPr>
            <p:cNvPr id="38943" name="Freeform 43"/>
            <p:cNvSpPr/>
            <p:nvPr/>
          </p:nvSpPr>
          <p:spPr>
            <a:xfrm>
              <a:off x="1239" y="0"/>
              <a:ext cx="453" cy="227"/>
            </a:xfrm>
            <a:custGeom>
              <a:avLst/>
              <a:gdLst/>
              <a:ahLst/>
              <a:cxnLst>
                <a:cxn ang="0">
                  <a:pos x="0" y="114"/>
                </a:cxn>
                <a:cxn ang="0">
                  <a:pos x="226" y="0"/>
                </a:cxn>
                <a:cxn ang="0">
                  <a:pos x="453" y="114"/>
                </a:cxn>
              </a:cxnLst>
              <a:pathLst>
                <a:path w="453" h="454">
                  <a:moveTo>
                    <a:pt x="0" y="454"/>
                  </a:moveTo>
                  <a:cubicBezTo>
                    <a:pt x="75" y="227"/>
                    <a:pt x="151" y="0"/>
                    <a:pt x="226" y="0"/>
                  </a:cubicBezTo>
                  <a:cubicBezTo>
                    <a:pt x="301" y="0"/>
                    <a:pt x="377" y="227"/>
                    <a:pt x="453" y="454"/>
                  </a:cubicBezTo>
                </a:path>
              </a:pathLst>
            </a:custGeom>
            <a:noFill/>
            <a:ln w="15875" cap="flat" cmpd="sng">
              <a:solidFill>
                <a:srgbClr val="FF0000"/>
              </a:solidFill>
              <a:prstDash val="solid"/>
              <a:miter/>
              <a:headEnd type="none" w="med" len="med"/>
              <a:tailEnd type="none" w="med" len="med"/>
            </a:ln>
          </p:spPr>
          <p:txBody>
            <a:bodyPr/>
            <a:p>
              <a:endParaRPr lang="zh-CN" altLang="en-US"/>
            </a:p>
          </p:txBody>
        </p:sp>
        <p:sp>
          <p:nvSpPr>
            <p:cNvPr id="38944" name="Freeform 44"/>
            <p:cNvSpPr/>
            <p:nvPr/>
          </p:nvSpPr>
          <p:spPr>
            <a:xfrm>
              <a:off x="1692" y="0"/>
              <a:ext cx="453" cy="227"/>
            </a:xfrm>
            <a:custGeom>
              <a:avLst/>
              <a:gdLst/>
              <a:ahLst/>
              <a:cxnLst>
                <a:cxn ang="0">
                  <a:pos x="0" y="114"/>
                </a:cxn>
                <a:cxn ang="0">
                  <a:pos x="226" y="0"/>
                </a:cxn>
                <a:cxn ang="0">
                  <a:pos x="453" y="114"/>
                </a:cxn>
              </a:cxnLst>
              <a:pathLst>
                <a:path w="453" h="454">
                  <a:moveTo>
                    <a:pt x="0" y="454"/>
                  </a:moveTo>
                  <a:cubicBezTo>
                    <a:pt x="75" y="227"/>
                    <a:pt x="151" y="0"/>
                    <a:pt x="226" y="0"/>
                  </a:cubicBezTo>
                  <a:cubicBezTo>
                    <a:pt x="301" y="0"/>
                    <a:pt x="377" y="227"/>
                    <a:pt x="453" y="454"/>
                  </a:cubicBezTo>
                </a:path>
              </a:pathLst>
            </a:custGeom>
            <a:noFill/>
            <a:ln w="15875" cap="flat" cmpd="sng">
              <a:solidFill>
                <a:srgbClr val="FF0000"/>
              </a:solidFill>
              <a:prstDash val="solid"/>
              <a:miter/>
              <a:headEnd type="none" w="med" len="med"/>
              <a:tailEnd type="none" w="med" len="med"/>
            </a:ln>
          </p:spPr>
          <p:txBody>
            <a:bodyPr/>
            <a:p>
              <a:endParaRPr lang="zh-CN" altLang="en-US"/>
            </a:p>
          </p:txBody>
        </p:sp>
        <p:sp>
          <p:nvSpPr>
            <p:cNvPr id="38945" name="Freeform 45"/>
            <p:cNvSpPr/>
            <p:nvPr/>
          </p:nvSpPr>
          <p:spPr>
            <a:xfrm>
              <a:off x="2147" y="0"/>
              <a:ext cx="453" cy="227"/>
            </a:xfrm>
            <a:custGeom>
              <a:avLst/>
              <a:gdLst/>
              <a:ahLst/>
              <a:cxnLst>
                <a:cxn ang="0">
                  <a:pos x="0" y="114"/>
                </a:cxn>
                <a:cxn ang="0">
                  <a:pos x="226" y="0"/>
                </a:cxn>
                <a:cxn ang="0">
                  <a:pos x="453" y="114"/>
                </a:cxn>
              </a:cxnLst>
              <a:pathLst>
                <a:path w="453" h="454">
                  <a:moveTo>
                    <a:pt x="0" y="454"/>
                  </a:moveTo>
                  <a:cubicBezTo>
                    <a:pt x="75" y="227"/>
                    <a:pt x="151" y="0"/>
                    <a:pt x="226" y="0"/>
                  </a:cubicBezTo>
                  <a:cubicBezTo>
                    <a:pt x="301" y="0"/>
                    <a:pt x="377" y="227"/>
                    <a:pt x="453" y="454"/>
                  </a:cubicBezTo>
                </a:path>
              </a:pathLst>
            </a:custGeom>
            <a:noFill/>
            <a:ln w="15875" cap="flat" cmpd="sng">
              <a:solidFill>
                <a:srgbClr val="FF0000"/>
              </a:solidFill>
              <a:prstDash val="solid"/>
              <a:miter/>
              <a:headEnd type="none" w="med" len="med"/>
              <a:tailEnd type="none" w="med" len="med"/>
            </a:ln>
          </p:spPr>
          <p:txBody>
            <a:bodyPr/>
            <a:p>
              <a:endParaRPr lang="zh-CN" altLang="en-US"/>
            </a:p>
          </p:txBody>
        </p:sp>
        <p:sp>
          <p:nvSpPr>
            <p:cNvPr id="38946" name="Freeform 46"/>
            <p:cNvSpPr/>
            <p:nvPr/>
          </p:nvSpPr>
          <p:spPr>
            <a:xfrm>
              <a:off x="2600" y="0"/>
              <a:ext cx="453" cy="227"/>
            </a:xfrm>
            <a:custGeom>
              <a:avLst/>
              <a:gdLst/>
              <a:ahLst/>
              <a:cxnLst>
                <a:cxn ang="0">
                  <a:pos x="0" y="114"/>
                </a:cxn>
                <a:cxn ang="0">
                  <a:pos x="226" y="0"/>
                </a:cxn>
                <a:cxn ang="0">
                  <a:pos x="453" y="114"/>
                </a:cxn>
              </a:cxnLst>
              <a:pathLst>
                <a:path w="453" h="454">
                  <a:moveTo>
                    <a:pt x="0" y="454"/>
                  </a:moveTo>
                  <a:cubicBezTo>
                    <a:pt x="75" y="227"/>
                    <a:pt x="151" y="0"/>
                    <a:pt x="226" y="0"/>
                  </a:cubicBezTo>
                  <a:cubicBezTo>
                    <a:pt x="301" y="0"/>
                    <a:pt x="377" y="227"/>
                    <a:pt x="453" y="454"/>
                  </a:cubicBezTo>
                </a:path>
              </a:pathLst>
            </a:custGeom>
            <a:noFill/>
            <a:ln w="15875" cap="flat" cmpd="sng">
              <a:solidFill>
                <a:srgbClr val="FF0000"/>
              </a:solidFill>
              <a:prstDash val="solid"/>
              <a:miter/>
              <a:headEnd type="none" w="med" len="med"/>
              <a:tailEnd type="none" w="med" len="med"/>
            </a:ln>
          </p:spPr>
          <p:txBody>
            <a:bodyPr/>
            <a:p>
              <a:endParaRPr lang="zh-CN" altLang="en-US"/>
            </a:p>
          </p:txBody>
        </p:sp>
        <p:sp>
          <p:nvSpPr>
            <p:cNvPr id="38947" name="Freeform 47"/>
            <p:cNvSpPr/>
            <p:nvPr/>
          </p:nvSpPr>
          <p:spPr>
            <a:xfrm>
              <a:off x="3054" y="0"/>
              <a:ext cx="453" cy="227"/>
            </a:xfrm>
            <a:custGeom>
              <a:avLst/>
              <a:gdLst/>
              <a:ahLst/>
              <a:cxnLst>
                <a:cxn ang="0">
                  <a:pos x="0" y="114"/>
                </a:cxn>
                <a:cxn ang="0">
                  <a:pos x="226" y="0"/>
                </a:cxn>
                <a:cxn ang="0">
                  <a:pos x="453" y="114"/>
                </a:cxn>
              </a:cxnLst>
              <a:pathLst>
                <a:path w="453" h="454">
                  <a:moveTo>
                    <a:pt x="0" y="454"/>
                  </a:moveTo>
                  <a:cubicBezTo>
                    <a:pt x="75" y="227"/>
                    <a:pt x="151" y="0"/>
                    <a:pt x="226" y="0"/>
                  </a:cubicBezTo>
                  <a:cubicBezTo>
                    <a:pt x="301" y="0"/>
                    <a:pt x="377" y="227"/>
                    <a:pt x="453" y="454"/>
                  </a:cubicBezTo>
                </a:path>
              </a:pathLst>
            </a:custGeom>
            <a:noFill/>
            <a:ln w="15875" cap="flat" cmpd="sng">
              <a:solidFill>
                <a:srgbClr val="FF0000"/>
              </a:solidFill>
              <a:prstDash val="solid"/>
              <a:miter/>
              <a:headEnd type="none" w="med" len="med"/>
              <a:tailEnd type="none" w="med" len="med"/>
            </a:ln>
          </p:spPr>
          <p:txBody>
            <a:bodyPr/>
            <a:p>
              <a:endParaRPr lang="zh-CN" altLang="en-US"/>
            </a:p>
          </p:txBody>
        </p:sp>
      </p:grpSp>
      <p:sp>
        <p:nvSpPr>
          <p:cNvPr id="23589" name="Rectangle 49"/>
          <p:cNvSpPr/>
          <p:nvPr/>
        </p:nvSpPr>
        <p:spPr>
          <a:xfrm>
            <a:off x="7753668" y="1988820"/>
            <a:ext cx="2629535" cy="1014730"/>
          </a:xfrm>
          <a:prstGeom prst="rect">
            <a:avLst/>
          </a:prstGeom>
          <a:noFill/>
          <a:ln w="9525">
            <a:noFill/>
          </a:ln>
        </p:spPr>
        <p:txBody>
          <a:bodyPr wrap="none" anchor="t" anchorCtr="0">
            <a:spAutoFit/>
          </a:bodyPr>
          <a:p>
            <a:pPr algn="l">
              <a:lnSpc>
                <a:spcPct val="125000"/>
              </a:lnSpc>
            </a:pPr>
            <a:r>
              <a:rPr lang="en-US" altLang="zh-CN" sz="2400" b="1" i="1" dirty="0">
                <a:latin typeface="Times New Roman" panose="02020603050405020304" pitchFamily="2" charset="0"/>
                <a:ea typeface="宋体" panose="02010600030101010101" pitchFamily="2" charset="-122"/>
                <a:cs typeface="Times New Roman" panose="02020603050405020304" pitchFamily="2" charset="0"/>
              </a:rPr>
              <a:t>V</a:t>
            </a:r>
            <a:r>
              <a:rPr lang="en-US" altLang="zh-CN" sz="2400" b="1" baseline="-25000" dirty="0">
                <a:solidFill>
                  <a:schemeClr val="tx1"/>
                </a:solidFill>
                <a:latin typeface="Times New Roman" panose="02020603050405020304" pitchFamily="2" charset="0"/>
                <a:ea typeface="宋体" panose="02010600030101010101" pitchFamily="2" charset="-122"/>
                <a:cs typeface="Times New Roman" panose="02020603050405020304" pitchFamily="2" charset="0"/>
              </a:rPr>
              <a:t>i</a:t>
            </a:r>
            <a:r>
              <a:rPr lang="en-US" altLang="zh-CN" sz="2400" b="1" dirty="0">
                <a:latin typeface="Verdana" panose="020B0604030504040204" pitchFamily="2" charset="0"/>
                <a:ea typeface="宋体" panose="02010600030101010101" pitchFamily="2" charset="-122"/>
              </a:rPr>
              <a:t>&gt;0</a:t>
            </a:r>
            <a:r>
              <a:rPr lang="zh-CN" altLang="en-US" sz="2400" b="1" dirty="0">
                <a:latin typeface="Verdana" panose="020B0604030504040204" pitchFamily="2" charset="0"/>
                <a:ea typeface="宋体" panose="02010600030101010101" pitchFamily="2" charset="-122"/>
              </a:rPr>
              <a:t>时</a:t>
            </a:r>
            <a:r>
              <a:rPr lang="en-US" altLang="zh-CN" sz="2400" b="1" dirty="0">
                <a:latin typeface="Verdana" panose="020B0604030504040204" pitchFamily="2" charset="0"/>
                <a:ea typeface="宋体" panose="02010600030101010101" pitchFamily="2" charset="-122"/>
              </a:rPr>
              <a:t>: </a:t>
            </a:r>
            <a:r>
              <a:rPr lang="en-US" altLang="zh-CN" sz="2400" b="1" i="1" dirty="0">
                <a:latin typeface="Times New Roman" panose="02020603050405020304" pitchFamily="2" charset="0"/>
                <a:ea typeface="宋体" panose="02010600030101010101" pitchFamily="2" charset="-122"/>
                <a:cs typeface="Times New Roman" panose="02020603050405020304" pitchFamily="2" charset="0"/>
              </a:rPr>
              <a:t>V</a:t>
            </a:r>
            <a:r>
              <a:rPr lang="en-US" altLang="zh-CN" sz="2400" b="1" baseline="-25000" dirty="0">
                <a:latin typeface="Times New Roman" panose="02020603050405020304" pitchFamily="2" charset="0"/>
                <a:ea typeface="宋体" panose="02010600030101010101" pitchFamily="2" charset="-122"/>
                <a:cs typeface="Times New Roman" panose="02020603050405020304" pitchFamily="2" charset="0"/>
              </a:rPr>
              <a:t>o1</a:t>
            </a:r>
            <a:r>
              <a:rPr lang="en-US" altLang="zh-CN" sz="2400" b="1" dirty="0">
                <a:latin typeface="Book Antiqua" panose="02040602050305030304" charset="0"/>
                <a:ea typeface="宋体" panose="02010600030101010101" pitchFamily="2" charset="-122"/>
                <a:cs typeface="Book Antiqua" panose="02040602050305030304" charset="0"/>
              </a:rPr>
              <a:t>=</a:t>
            </a:r>
            <a:r>
              <a:rPr lang="en-US" altLang="zh-CN" sz="2400" b="1" dirty="0">
                <a:latin typeface="Times New Roman" panose="02020603050405020304" pitchFamily="2" charset="0"/>
                <a:ea typeface="宋体" panose="02010600030101010101" pitchFamily="2" charset="-122"/>
                <a:cs typeface="Times New Roman" panose="02020603050405020304" pitchFamily="2" charset="0"/>
              </a:rPr>
              <a:t> </a:t>
            </a:r>
            <a:r>
              <a:rPr lang="en-US" altLang="zh-CN" sz="2400" b="1" dirty="0">
                <a:solidFill>
                  <a:srgbClr val="FF0000"/>
                </a:solidFill>
                <a:latin typeface="Times New Roman" panose="02020603050405020304" pitchFamily="2" charset="0"/>
                <a:ea typeface="宋体" panose="02010600030101010101" pitchFamily="2" charset="-122"/>
                <a:cs typeface="Times New Roman" panose="02020603050405020304" pitchFamily="2" charset="0"/>
              </a:rPr>
              <a:t>-2</a:t>
            </a:r>
            <a:r>
              <a:rPr lang="en-US" altLang="zh-CN" sz="2400" b="1" i="1" dirty="0">
                <a:solidFill>
                  <a:srgbClr val="FF0000"/>
                </a:solidFill>
                <a:latin typeface="Times New Roman" panose="02020603050405020304" pitchFamily="2" charset="0"/>
                <a:ea typeface="宋体" panose="02010600030101010101" pitchFamily="2" charset="-122"/>
                <a:cs typeface="Times New Roman" panose="02020603050405020304" pitchFamily="2" charset="0"/>
              </a:rPr>
              <a:t>V</a:t>
            </a:r>
            <a:r>
              <a:rPr lang="en-US" altLang="zh-CN" sz="2400" b="1" baseline="-25000" dirty="0">
                <a:solidFill>
                  <a:srgbClr val="FF0000"/>
                </a:solidFill>
                <a:latin typeface="Times New Roman" panose="02020603050405020304" pitchFamily="2" charset="0"/>
                <a:ea typeface="宋体" panose="02010600030101010101" pitchFamily="2" charset="-122"/>
                <a:cs typeface="Times New Roman" panose="02020603050405020304" pitchFamily="2" charset="0"/>
              </a:rPr>
              <a:t>i</a:t>
            </a:r>
            <a:endParaRPr lang="en-US" altLang="zh-CN" sz="2400" b="1" dirty="0">
              <a:latin typeface="Times New Roman" panose="02020603050405020304" pitchFamily="2" charset="0"/>
              <a:ea typeface="宋体" panose="02010600030101010101" pitchFamily="2" charset="-122"/>
              <a:cs typeface="Times New Roman" panose="02020603050405020304" pitchFamily="2" charset="0"/>
            </a:endParaRPr>
          </a:p>
          <a:p>
            <a:pPr algn="l">
              <a:lnSpc>
                <a:spcPct val="125000"/>
              </a:lnSpc>
            </a:pPr>
            <a:r>
              <a:rPr lang="en-US" altLang="zh-CN" sz="2400" b="1" i="1" dirty="0">
                <a:latin typeface="Times New Roman" panose="02020603050405020304" pitchFamily="2" charset="0"/>
                <a:cs typeface="Times New Roman" panose="02020603050405020304" pitchFamily="2" charset="0"/>
                <a:sym typeface="+mn-ea"/>
              </a:rPr>
              <a:t>V</a:t>
            </a:r>
            <a:r>
              <a:rPr lang="en-US" altLang="zh-CN" sz="2400" b="1" baseline="-25000" dirty="0">
                <a:latin typeface="Times New Roman" panose="02020603050405020304" pitchFamily="2" charset="0"/>
                <a:cs typeface="Times New Roman" panose="02020603050405020304" pitchFamily="2" charset="0"/>
                <a:sym typeface="+mn-ea"/>
              </a:rPr>
              <a:t>i</a:t>
            </a:r>
            <a:r>
              <a:rPr lang="en-US" altLang="zh-CN" sz="2400" b="1" dirty="0">
                <a:latin typeface="Verdana" panose="020B0604030504040204" pitchFamily="2" charset="0"/>
                <a:ea typeface="宋体" panose="02010600030101010101" pitchFamily="2" charset="-122"/>
              </a:rPr>
              <a:t>&lt;0</a:t>
            </a:r>
            <a:r>
              <a:rPr lang="zh-CN" altLang="en-US" sz="2400" b="1" dirty="0">
                <a:latin typeface="Verdana" panose="020B0604030504040204" pitchFamily="2" charset="0"/>
                <a:ea typeface="宋体" panose="02010600030101010101" pitchFamily="2" charset="-122"/>
              </a:rPr>
              <a:t>时</a:t>
            </a:r>
            <a:r>
              <a:rPr lang="en-US" altLang="zh-CN" sz="2400" b="1" dirty="0">
                <a:latin typeface="Verdana" panose="020B0604030504040204" pitchFamily="2" charset="0"/>
                <a:ea typeface="宋体" panose="02010600030101010101" pitchFamily="2" charset="-122"/>
              </a:rPr>
              <a:t>: </a:t>
            </a:r>
            <a:r>
              <a:rPr lang="en-US" altLang="zh-CN" sz="2400" b="1" i="1" dirty="0">
                <a:latin typeface="Times New Roman" panose="02020603050405020304" pitchFamily="2" charset="0"/>
                <a:ea typeface="宋体" panose="02010600030101010101" pitchFamily="2" charset="-122"/>
                <a:cs typeface="Times New Roman" panose="02020603050405020304" pitchFamily="2" charset="0"/>
              </a:rPr>
              <a:t>V</a:t>
            </a:r>
            <a:r>
              <a:rPr lang="en-US" altLang="zh-CN" sz="2400" b="1" baseline="-25000" dirty="0">
                <a:latin typeface="Times New Roman" panose="02020603050405020304" pitchFamily="2" charset="0"/>
                <a:ea typeface="宋体" panose="02010600030101010101" pitchFamily="2" charset="-122"/>
                <a:cs typeface="Times New Roman" panose="02020603050405020304" pitchFamily="2" charset="0"/>
              </a:rPr>
              <a:t>o1</a:t>
            </a:r>
            <a:r>
              <a:rPr lang="en-US" altLang="zh-CN" sz="2400" b="1" dirty="0">
                <a:latin typeface="Book Antiqua" panose="02040602050305030304" charset="0"/>
                <a:ea typeface="宋体" panose="02010600030101010101" pitchFamily="2" charset="-122"/>
                <a:cs typeface="Book Antiqua" panose="02040602050305030304" charset="0"/>
              </a:rPr>
              <a:t>=</a:t>
            </a:r>
            <a:r>
              <a:rPr lang="en-US" altLang="zh-CN" sz="2400" b="1" dirty="0">
                <a:latin typeface="Times New Roman" panose="02020603050405020304" pitchFamily="2" charset="0"/>
                <a:ea typeface="宋体" panose="02010600030101010101" pitchFamily="2" charset="-122"/>
                <a:cs typeface="Times New Roman" panose="02020603050405020304" pitchFamily="2" charset="0"/>
              </a:rPr>
              <a:t> 0</a:t>
            </a:r>
            <a:endParaRPr lang="en-US" altLang="zh-CN" sz="2400" b="1" dirty="0">
              <a:latin typeface="Times New Roman" panose="02020603050405020304" pitchFamily="2" charset="0"/>
              <a:ea typeface="宋体" panose="02010600030101010101" pitchFamily="2" charset="-122"/>
              <a:cs typeface="Times New Roman" panose="02020603050405020304" pitchFamily="2" charset="0"/>
            </a:endParaRPr>
          </a:p>
        </p:txBody>
      </p:sp>
      <p:sp>
        <p:nvSpPr>
          <p:cNvPr id="23590" name="Rectangle 50"/>
          <p:cNvSpPr/>
          <p:nvPr/>
        </p:nvSpPr>
        <p:spPr>
          <a:xfrm>
            <a:off x="7682548" y="4869498"/>
            <a:ext cx="1950085" cy="460375"/>
          </a:xfrm>
          <a:prstGeom prst="rect">
            <a:avLst/>
          </a:prstGeom>
          <a:noFill/>
          <a:ln w="9525">
            <a:noFill/>
          </a:ln>
        </p:spPr>
        <p:txBody>
          <a:bodyPr wrap="none" anchor="t" anchorCtr="0">
            <a:spAutoFit/>
          </a:bodyPr>
          <a:p>
            <a:r>
              <a:rPr lang="en-US" altLang="zh-CN" sz="2400" b="1" i="1" dirty="0">
                <a:latin typeface="Times New Roman" panose="02020603050405020304" pitchFamily="2" charset="0"/>
                <a:ea typeface="宋体" panose="02010600030101010101" pitchFamily="2" charset="-122"/>
                <a:cs typeface="Times New Roman" panose="02020603050405020304" pitchFamily="2" charset="0"/>
              </a:rPr>
              <a:t>V</a:t>
            </a:r>
            <a:r>
              <a:rPr lang="en-US" altLang="zh-CN" sz="2400" b="1" baseline="-25000" dirty="0">
                <a:latin typeface="Times New Roman" panose="02020603050405020304" pitchFamily="2" charset="0"/>
                <a:ea typeface="宋体" panose="02010600030101010101" pitchFamily="2" charset="-122"/>
                <a:cs typeface="Times New Roman" panose="02020603050405020304" pitchFamily="2" charset="0"/>
              </a:rPr>
              <a:t>o</a:t>
            </a:r>
            <a:r>
              <a:rPr lang="en-US" altLang="zh-CN" sz="2400" b="1" dirty="0">
                <a:latin typeface="Times New Roman" panose="02020603050405020304" pitchFamily="2" charset="0"/>
                <a:ea typeface="宋体" panose="02010600030101010101" pitchFamily="2" charset="-122"/>
                <a:cs typeface="Times New Roman" panose="02020603050405020304" pitchFamily="2" charset="0"/>
              </a:rPr>
              <a:t> = -(</a:t>
            </a:r>
            <a:r>
              <a:rPr lang="en-US" altLang="zh-CN" sz="2400" b="1" i="1" dirty="0">
                <a:latin typeface="Times New Roman" panose="02020603050405020304" pitchFamily="2" charset="0"/>
                <a:ea typeface="宋体" panose="02010600030101010101" pitchFamily="2" charset="-122"/>
                <a:cs typeface="Times New Roman" panose="02020603050405020304" pitchFamily="2" charset="0"/>
              </a:rPr>
              <a:t>V</a:t>
            </a:r>
            <a:r>
              <a:rPr lang="en-US" altLang="zh-CN" sz="2400" b="1" baseline="-25000" dirty="0">
                <a:latin typeface="Times New Roman" panose="02020603050405020304" pitchFamily="2" charset="0"/>
                <a:ea typeface="宋体" panose="02010600030101010101" pitchFamily="2" charset="-122"/>
                <a:cs typeface="Times New Roman" panose="02020603050405020304" pitchFamily="2" charset="0"/>
              </a:rPr>
              <a:t>o1</a:t>
            </a:r>
            <a:r>
              <a:rPr lang="en-US" altLang="zh-CN" sz="2400" b="1" dirty="0">
                <a:latin typeface="Times New Roman" panose="02020603050405020304" pitchFamily="2" charset="0"/>
                <a:ea typeface="宋体" panose="02010600030101010101" pitchFamily="2" charset="-122"/>
                <a:cs typeface="Times New Roman" panose="02020603050405020304" pitchFamily="2" charset="0"/>
              </a:rPr>
              <a:t>+</a:t>
            </a:r>
            <a:r>
              <a:rPr lang="en-US" altLang="zh-CN" sz="2400" b="1" i="1" dirty="0">
                <a:latin typeface="Times New Roman" panose="02020603050405020304" pitchFamily="2" charset="0"/>
                <a:ea typeface="宋体" panose="02010600030101010101" pitchFamily="2" charset="-122"/>
                <a:cs typeface="Times New Roman" panose="02020603050405020304" pitchFamily="2" charset="0"/>
              </a:rPr>
              <a:t>V</a:t>
            </a:r>
            <a:r>
              <a:rPr lang="en-US" altLang="zh-CN" sz="2400" b="1" baseline="-25000" dirty="0">
                <a:latin typeface="Times New Roman" panose="02020603050405020304" pitchFamily="2" charset="0"/>
                <a:ea typeface="宋体" panose="02010600030101010101" pitchFamily="2" charset="-122"/>
                <a:cs typeface="Times New Roman" panose="02020603050405020304" pitchFamily="2" charset="0"/>
              </a:rPr>
              <a:t>i</a:t>
            </a:r>
            <a:r>
              <a:rPr lang="en-US" altLang="zh-CN" sz="2400" b="1" dirty="0">
                <a:latin typeface="Times New Roman" panose="02020603050405020304" pitchFamily="2" charset="0"/>
                <a:ea typeface="宋体" panose="02010600030101010101" pitchFamily="2" charset="-122"/>
                <a:cs typeface="Times New Roman" panose="02020603050405020304" pitchFamily="2" charset="0"/>
              </a:rPr>
              <a:t>)</a:t>
            </a:r>
            <a:endParaRPr lang="en-US" altLang="zh-CN" sz="2400" b="1" dirty="0">
              <a:latin typeface="Times New Roman" panose="02020603050405020304" pitchFamily="2" charset="0"/>
              <a:ea typeface="宋体" panose="02010600030101010101" pitchFamily="2" charset="-122"/>
              <a:cs typeface="Times New Roman" panose="02020603050405020304" pitchFamily="2" charset="0"/>
            </a:endParaRPr>
          </a:p>
        </p:txBody>
      </p:sp>
      <p:sp>
        <p:nvSpPr>
          <p:cNvPr id="38950" name="Rectangle 6"/>
          <p:cNvSpPr/>
          <p:nvPr/>
        </p:nvSpPr>
        <p:spPr>
          <a:xfrm>
            <a:off x="1957070" y="575945"/>
            <a:ext cx="6273165" cy="506095"/>
          </a:xfrm>
          <a:prstGeom prst="rect">
            <a:avLst/>
          </a:prstGeom>
          <a:noFill/>
          <a:ln w="9525">
            <a:noFill/>
          </a:ln>
        </p:spPr>
        <p:txBody>
          <a:bodyPr anchor="t" anchorCtr="0">
            <a:noAutofit/>
          </a:bodyPr>
          <a:p>
            <a:pPr marL="342900" indent="-342900">
              <a:lnSpc>
                <a:spcPct val="120000"/>
              </a:lnSpc>
              <a:buClr>
                <a:schemeClr val="folHlink"/>
              </a:buClr>
              <a:buSzPct val="60000"/>
              <a:buFont typeface="Wingdings" panose="05000000000000000000" pitchFamily="2" charset="2"/>
            </a:pPr>
            <a:r>
              <a:rPr lang="zh-CN" altLang="en-US" sz="2400" b="1" dirty="0">
                <a:solidFill>
                  <a:srgbClr val="FF0000"/>
                </a:solidFill>
                <a:latin typeface="微软雅黑" panose="020B0503020204020204" charset="-122"/>
                <a:ea typeface="微软雅黑" panose="020B0503020204020204" charset="-122"/>
              </a:rPr>
              <a:t>示波器</a:t>
            </a:r>
            <a:r>
              <a:rPr lang="zh-CN" altLang="en-US" sz="2400" b="1" dirty="0">
                <a:solidFill>
                  <a:schemeClr val="tx1"/>
                </a:solidFill>
                <a:latin typeface="微软雅黑" panose="020B0503020204020204" charset="-122"/>
                <a:ea typeface="微软雅黑" panose="020B0503020204020204" charset="-122"/>
              </a:rPr>
              <a:t>通道</a:t>
            </a:r>
            <a:r>
              <a:rPr lang="zh-CN" altLang="en-US" sz="2400" b="1" dirty="0">
                <a:solidFill>
                  <a:srgbClr val="FF0000"/>
                </a:solidFill>
                <a:latin typeface="微软雅黑" panose="020B0503020204020204" charset="-122"/>
                <a:ea typeface="微软雅黑" panose="020B0503020204020204" charset="-122"/>
              </a:rPr>
              <a:t>耦合</a:t>
            </a:r>
            <a:r>
              <a:rPr lang="zh-CN" altLang="en-US" sz="2400" b="1" dirty="0">
                <a:solidFill>
                  <a:schemeClr val="tx1"/>
                </a:solidFill>
                <a:latin typeface="微软雅黑" panose="020B0503020204020204" charset="-122"/>
                <a:ea typeface="微软雅黑" panose="020B0503020204020204" charset="-122"/>
              </a:rPr>
              <a:t>方式如何选择？</a:t>
            </a:r>
            <a:r>
              <a:rPr lang="zh-CN" altLang="en-US" sz="2400" b="1" dirty="0">
                <a:solidFill>
                  <a:srgbClr val="FF0000"/>
                </a:solidFill>
                <a:latin typeface="微软雅黑" panose="020B0503020204020204" charset="-122"/>
                <a:ea typeface="微软雅黑" panose="020B0503020204020204" charset="-122"/>
              </a:rPr>
              <a:t>直流</a:t>
            </a:r>
            <a:r>
              <a:rPr lang="zh-CN" altLang="en-US" sz="2400" b="1" dirty="0">
                <a:solidFill>
                  <a:schemeClr val="tx1"/>
                </a:solidFill>
                <a:latin typeface="微软雅黑" panose="020B0503020204020204" charset="-122"/>
                <a:ea typeface="微软雅黑" panose="020B0503020204020204" charset="-122"/>
              </a:rPr>
              <a:t>耦合</a:t>
            </a:r>
            <a:endParaRPr lang="zh-CN" altLang="en-US" sz="2400" b="1" dirty="0">
              <a:solidFill>
                <a:schemeClr val="tx1"/>
              </a:solidFill>
              <a:latin typeface="微软雅黑" panose="020B0503020204020204" charset="-122"/>
              <a:ea typeface="微软雅黑" panose="020B0503020204020204" charset="-122"/>
            </a:endParaRPr>
          </a:p>
        </p:txBody>
      </p:sp>
      <p:sp>
        <p:nvSpPr>
          <p:cNvPr id="2" name="Line 11"/>
          <p:cNvSpPr/>
          <p:nvPr/>
        </p:nvSpPr>
        <p:spPr>
          <a:xfrm flipV="1">
            <a:off x="2144713" y="2975928"/>
            <a:ext cx="0" cy="1584000"/>
          </a:xfrm>
          <a:prstGeom prst="line">
            <a:avLst/>
          </a:prstGeom>
          <a:ln w="19050" cap="flat" cmpd="sng">
            <a:solidFill>
              <a:schemeClr val="tx1"/>
            </a:solidFill>
            <a:prstDash val="solid"/>
            <a:round/>
            <a:headEnd type="none" w="med" len="med"/>
            <a:tailEnd type="arrow" w="med" len="med"/>
          </a:ln>
        </p:spPr>
      </p:sp>
      <p:sp>
        <p:nvSpPr>
          <p:cNvPr id="3" name="Line 11"/>
          <p:cNvSpPr/>
          <p:nvPr/>
        </p:nvSpPr>
        <p:spPr>
          <a:xfrm flipV="1">
            <a:off x="2144713" y="4626293"/>
            <a:ext cx="0" cy="1584000"/>
          </a:xfrm>
          <a:prstGeom prst="line">
            <a:avLst/>
          </a:prstGeom>
          <a:ln w="19050" cap="flat" cmpd="sng">
            <a:solidFill>
              <a:schemeClr val="tx1"/>
            </a:solidFill>
            <a:prstDash val="solid"/>
            <a:round/>
            <a:headEnd type="none" w="med" len="med"/>
            <a:tailEnd type="arrow" w="med" len="med"/>
          </a:ln>
        </p:spPr>
      </p:sp>
      <p:sp>
        <p:nvSpPr>
          <p:cNvPr id="4" name="文本框 3"/>
          <p:cNvSpPr txBox="1"/>
          <p:nvPr/>
        </p:nvSpPr>
        <p:spPr>
          <a:xfrm>
            <a:off x="1809750" y="2238375"/>
            <a:ext cx="6645910" cy="460375"/>
          </a:xfrm>
          <a:prstGeom prst="rect">
            <a:avLst/>
          </a:prstGeom>
          <a:noFill/>
        </p:spPr>
        <p:txBody>
          <a:bodyPr wrap="square" rtlCol="0">
            <a:spAutoFit/>
          </a:bodyPr>
          <a:p>
            <a:r>
              <a:rPr lang="en-US" altLang="zh-CN" sz="2400" b="1">
                <a:solidFill>
                  <a:srgbClr val="FF0000"/>
                </a:solidFill>
                <a:latin typeface="Times New Roman" panose="02020603050405020304" pitchFamily="2" charset="0"/>
                <a:cs typeface="Times New Roman" panose="02020603050405020304" pitchFamily="2" charset="0"/>
              </a:rPr>
              <a:t>0                                                                     t</a:t>
            </a:r>
            <a:endParaRPr lang="en-US" altLang="zh-CN" sz="2400" b="1">
              <a:solidFill>
                <a:srgbClr val="FF0000"/>
              </a:solidFill>
              <a:latin typeface="Times New Roman" panose="02020603050405020304" pitchFamily="2" charset="0"/>
              <a:cs typeface="Times New Roman" panose="02020603050405020304" pitchFamily="2" charset="0"/>
            </a:endParaRPr>
          </a:p>
        </p:txBody>
      </p:sp>
      <p:sp>
        <p:nvSpPr>
          <p:cNvPr id="5" name="文本框 4"/>
          <p:cNvSpPr txBox="1"/>
          <p:nvPr/>
        </p:nvSpPr>
        <p:spPr>
          <a:xfrm>
            <a:off x="1864995" y="3728720"/>
            <a:ext cx="6645910" cy="460375"/>
          </a:xfrm>
          <a:prstGeom prst="rect">
            <a:avLst/>
          </a:prstGeom>
          <a:noFill/>
        </p:spPr>
        <p:txBody>
          <a:bodyPr wrap="square" rtlCol="0">
            <a:spAutoFit/>
          </a:bodyPr>
          <a:p>
            <a:r>
              <a:rPr lang="en-US" altLang="zh-CN" sz="2400" b="1">
                <a:solidFill>
                  <a:srgbClr val="FF0000"/>
                </a:solidFill>
                <a:latin typeface="Times New Roman" panose="02020603050405020304" pitchFamily="2" charset="0"/>
                <a:cs typeface="Times New Roman" panose="02020603050405020304" pitchFamily="2" charset="0"/>
              </a:rPr>
              <a:t>0                                                                     t</a:t>
            </a:r>
            <a:endParaRPr lang="en-US" altLang="zh-CN" sz="2400" b="1">
              <a:solidFill>
                <a:srgbClr val="FF0000"/>
              </a:solidFill>
              <a:latin typeface="Times New Roman" panose="02020603050405020304" pitchFamily="2" charset="0"/>
              <a:cs typeface="Times New Roman" panose="02020603050405020304" pitchFamily="2" charset="0"/>
            </a:endParaRPr>
          </a:p>
        </p:txBody>
      </p:sp>
      <p:sp>
        <p:nvSpPr>
          <p:cNvPr id="6" name="文本框 5"/>
          <p:cNvSpPr txBox="1"/>
          <p:nvPr/>
        </p:nvSpPr>
        <p:spPr>
          <a:xfrm>
            <a:off x="1848485" y="5290820"/>
            <a:ext cx="6645910" cy="460375"/>
          </a:xfrm>
          <a:prstGeom prst="rect">
            <a:avLst/>
          </a:prstGeom>
          <a:noFill/>
        </p:spPr>
        <p:txBody>
          <a:bodyPr wrap="square" rtlCol="0">
            <a:spAutoFit/>
          </a:bodyPr>
          <a:p>
            <a:r>
              <a:rPr lang="en-US" altLang="zh-CN" sz="2400" b="1">
                <a:solidFill>
                  <a:srgbClr val="FF0000"/>
                </a:solidFill>
                <a:latin typeface="Times New Roman" panose="02020603050405020304" pitchFamily="2" charset="0"/>
                <a:cs typeface="Times New Roman" panose="02020603050405020304" pitchFamily="2" charset="0"/>
              </a:rPr>
              <a:t>0                                                                     t</a:t>
            </a:r>
            <a:endParaRPr lang="en-US" altLang="zh-CN" sz="2400" b="1">
              <a:solidFill>
                <a:srgbClr val="FF0000"/>
              </a:solidFill>
              <a:latin typeface="Times New Roman" panose="02020603050405020304" pitchFamily="2" charset="0"/>
              <a:cs typeface="Times New Roman" panose="02020603050405020304" pitchFamily="2" charset="0"/>
            </a:endParaRPr>
          </a:p>
        </p:txBody>
      </p:sp>
      <p:sp>
        <p:nvSpPr>
          <p:cNvPr id="8" name="Rectangle 2"/>
          <p:cNvSpPr>
            <a:spLocks noGrp="1"/>
          </p:cNvSpPr>
          <p:nvPr/>
        </p:nvSpPr>
        <p:spPr>
          <a:xfrm>
            <a:off x="493395" y="27940"/>
            <a:ext cx="8544560" cy="583565"/>
          </a:xfrm>
          <a:ln>
            <a:solidFill>
              <a:schemeClr val="bg1"/>
            </a:solidFill>
            <a:miter/>
          </a:ln>
        </p:spPr>
        <p:txBody>
          <a:bodyPr wrap="square" anchor="b" anchorCtr="0">
            <a:spAutoFit/>
          </a:bodyPr>
          <a:lstStyle>
            <a:lvl1pPr marL="0" lvl="0" indent="0" algn="l" defTabSz="914400" eaLnBrk="0" fontAlgn="base" latinLnBrk="0" hangingPunct="0">
              <a:lnSpc>
                <a:spcPct val="100000"/>
              </a:lnSpc>
              <a:spcBef>
                <a:spcPct val="0"/>
              </a:spcBef>
              <a:spcAft>
                <a:spcPct val="0"/>
              </a:spcAft>
              <a:buNone/>
              <a:defRPr sz="3800" b="1" i="0" u="none" kern="1200" baseline="0">
                <a:solidFill>
                  <a:schemeClr val="tx2"/>
                </a:solidFill>
                <a:latin typeface="+mj-lt"/>
                <a:ea typeface="+mj-ea"/>
                <a:cs typeface="+mj-cs"/>
              </a:defRPr>
            </a:lvl1pPr>
          </a:lstStyle>
          <a:p>
            <a:pPr eaLnBrk="1" hangingPunct="1"/>
            <a:r>
              <a:rPr lang="zh-CN" altLang="en-US" sz="2800" dirty="0">
                <a:solidFill>
                  <a:schemeClr val="tx1"/>
                </a:solidFill>
                <a:latin typeface="宋体" panose="02010600030101010101" pitchFamily="2" charset="-122"/>
              </a:rPr>
              <a:t>二</a:t>
            </a:r>
            <a:r>
              <a:rPr lang="en-US" altLang="zh-CN" sz="2800" dirty="0">
                <a:solidFill>
                  <a:schemeClr val="tx1"/>
                </a:solidFill>
                <a:latin typeface="宋体" panose="02010600030101010101" pitchFamily="2" charset="-122"/>
              </a:rPr>
              <a:t> </a:t>
            </a:r>
            <a:r>
              <a:rPr lang="zh-CN" altLang="en-US" sz="2800" dirty="0">
                <a:solidFill>
                  <a:schemeClr val="tx1"/>
                </a:solidFill>
                <a:latin typeface="宋体" panose="02010600030101010101" pitchFamily="2" charset="-122"/>
              </a:rPr>
              <a:t>实验数据</a:t>
            </a:r>
            <a:r>
              <a:rPr lang="en-US" altLang="zh-CN" sz="2800" dirty="0">
                <a:solidFill>
                  <a:srgbClr val="FF0000"/>
                </a:solidFill>
                <a:cs typeface="+mj-lt"/>
              </a:rPr>
              <a:t>&lt;&lt;</a:t>
            </a:r>
            <a:r>
              <a:rPr lang="en-US" altLang="zh-CN" sz="3200" dirty="0">
                <a:solidFill>
                  <a:srgbClr val="FF0000"/>
                </a:solidFill>
                <a:cs typeface="+mj-lt"/>
              </a:rPr>
              <a:t> 1 </a:t>
            </a:r>
            <a:r>
              <a:rPr lang="zh-CN" altLang="en-US" sz="3200" dirty="0">
                <a:solidFill>
                  <a:schemeClr val="tx1"/>
                </a:solidFill>
                <a:cs typeface="+mj-lt"/>
              </a:rPr>
              <a:t>信号</a:t>
            </a:r>
            <a:r>
              <a:rPr lang="zh-CN" altLang="en-US" sz="3200" dirty="0">
                <a:solidFill>
                  <a:srgbClr val="FF0000"/>
                </a:solidFill>
                <a:cs typeface="+mj-lt"/>
              </a:rPr>
              <a:t>波形</a:t>
            </a:r>
            <a:endParaRPr lang="zh-CN" altLang="en-US" sz="3200" dirty="0">
              <a:solidFill>
                <a:srgbClr val="FF0000"/>
              </a:solidFill>
              <a:cs typeface="+mj-lt"/>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3589"/>
                                        </p:tgtEl>
                                        <p:attrNameLst>
                                          <p:attrName>style.visibility</p:attrName>
                                        </p:attrNameLst>
                                      </p:cBhvr>
                                      <p:to>
                                        <p:strVal val="visible"/>
                                      </p:to>
                                    </p:set>
                                    <p:animEffect transition="in" filter="blinds(horizontal)">
                                      <p:cBhvr>
                                        <p:cTn id="7" dur="500"/>
                                        <p:tgtEl>
                                          <p:spTgt spid="23589"/>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8915"/>
                                        </p:tgtEl>
                                        <p:attrNameLst>
                                          <p:attrName>style.visibility</p:attrName>
                                        </p:attrNameLst>
                                      </p:cBhvr>
                                      <p:to>
                                        <p:strVal val="visible"/>
                                      </p:to>
                                    </p:set>
                                    <p:anim calcmode="lin" valueType="num">
                                      <p:cBhvr additive="base">
                                        <p:cTn id="12" dur="500" fill="hold"/>
                                        <p:tgtEl>
                                          <p:spTgt spid="38915"/>
                                        </p:tgtEl>
                                        <p:attrNameLst>
                                          <p:attrName>ppt_x</p:attrName>
                                        </p:attrNameLst>
                                      </p:cBhvr>
                                      <p:tavLst>
                                        <p:tav tm="0">
                                          <p:val>
                                            <p:strVal val="#ppt_x"/>
                                          </p:val>
                                        </p:tav>
                                        <p:tav tm="100000">
                                          <p:val>
                                            <p:strVal val="#ppt_x"/>
                                          </p:val>
                                        </p:tav>
                                      </p:tavLst>
                                    </p:anim>
                                    <p:anim calcmode="lin" valueType="num">
                                      <p:cBhvr additive="base">
                                        <p:cTn id="13" dur="500" fill="hold"/>
                                        <p:tgtEl>
                                          <p:spTgt spid="38915"/>
                                        </p:tgtEl>
                                        <p:attrNameLst>
                                          <p:attrName>ppt_y</p:attrName>
                                        </p:attrNameLst>
                                      </p:cBhvr>
                                      <p:tavLst>
                                        <p:tav tm="0">
                                          <p:val>
                                            <p:strVal val="1+#ppt_h/2"/>
                                          </p:val>
                                        </p:tav>
                                        <p:tav tm="100000">
                                          <p:val>
                                            <p:strVal val="#ppt_y"/>
                                          </p:val>
                                        </p:tav>
                                      </p:tavLst>
                                    </p:anim>
                                  </p:childTnLst>
                                </p:cTn>
                              </p:par>
                              <p:par>
                                <p:cTn id="14" presetID="22" presetClass="entr" presetSubtype="4"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down)">
                                      <p:cBhvr>
                                        <p:cTn id="16" dur="500"/>
                                        <p:tgtEl>
                                          <p:spTgt spid="4"/>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23572"/>
                                        </p:tgtEl>
                                        <p:attrNameLst>
                                          <p:attrName>style.visibility</p:attrName>
                                        </p:attrNameLst>
                                      </p:cBhvr>
                                      <p:to>
                                        <p:strVal val="visible"/>
                                      </p:to>
                                    </p:set>
                                    <p:animEffect transition="in" filter="wipe(left)">
                                      <p:cBhvr>
                                        <p:cTn id="20" dur="2000"/>
                                        <p:tgtEl>
                                          <p:spTgt spid="23572"/>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23590"/>
                                        </p:tgtEl>
                                        <p:attrNameLst>
                                          <p:attrName>style.visibility</p:attrName>
                                        </p:attrNameLst>
                                      </p:cBhvr>
                                      <p:to>
                                        <p:strVal val="visible"/>
                                      </p:to>
                                    </p:set>
                                    <p:animEffect transition="in" filter="wipe(down)">
                                      <p:cBhvr>
                                        <p:cTn id="25" dur="500"/>
                                        <p:tgtEl>
                                          <p:spTgt spid="23590"/>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3"/>
                                        </p:tgtEl>
                                        <p:attrNameLst>
                                          <p:attrName>style.visibility</p:attrName>
                                        </p:attrNameLst>
                                      </p:cBhvr>
                                      <p:to>
                                        <p:strVal val="visible"/>
                                      </p:to>
                                    </p:set>
                                    <p:anim calcmode="lin" valueType="num">
                                      <p:cBhvr additive="base">
                                        <p:cTn id="30" dur="500" fill="hold"/>
                                        <p:tgtEl>
                                          <p:spTgt spid="3"/>
                                        </p:tgtEl>
                                        <p:attrNameLst>
                                          <p:attrName>ppt_x</p:attrName>
                                        </p:attrNameLst>
                                      </p:cBhvr>
                                      <p:tavLst>
                                        <p:tav tm="0">
                                          <p:val>
                                            <p:strVal val="#ppt_x"/>
                                          </p:val>
                                        </p:tav>
                                        <p:tav tm="100000">
                                          <p:val>
                                            <p:strVal val="#ppt_x"/>
                                          </p:val>
                                        </p:tav>
                                      </p:tavLst>
                                    </p:anim>
                                    <p:anim calcmode="lin" valueType="num">
                                      <p:cBhvr additive="base">
                                        <p:cTn id="31" dur="500" fill="hold"/>
                                        <p:tgtEl>
                                          <p:spTgt spid="3"/>
                                        </p:tgtEl>
                                        <p:attrNameLst>
                                          <p:attrName>ppt_y</p:attrName>
                                        </p:attrNameLst>
                                      </p:cBhvr>
                                      <p:tavLst>
                                        <p:tav tm="0">
                                          <p:val>
                                            <p:strVal val="1+#ppt_h/2"/>
                                          </p:val>
                                        </p:tav>
                                        <p:tav tm="100000">
                                          <p:val>
                                            <p:strVal val="#ppt_y"/>
                                          </p:val>
                                        </p:tav>
                                      </p:tavLst>
                                    </p:anim>
                                  </p:childTnLst>
                                </p:cTn>
                              </p:par>
                              <p:par>
                                <p:cTn id="32" presetID="22" presetClass="entr" presetSubtype="4" fill="hold" grpId="0" nodeType="with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wipe(down)">
                                      <p:cBhvr>
                                        <p:cTn id="34" dur="500"/>
                                        <p:tgtEl>
                                          <p:spTgt spid="6"/>
                                        </p:tgtEl>
                                      </p:cBhvr>
                                    </p:animEffect>
                                  </p:childTnLst>
                                </p:cTn>
                              </p:par>
                            </p:childTnLst>
                          </p:cTn>
                        </p:par>
                        <p:par>
                          <p:cTn id="35" fill="hold">
                            <p:stCondLst>
                              <p:cond delay="500"/>
                            </p:stCondLst>
                            <p:childTnLst>
                              <p:par>
                                <p:cTn id="36" presetID="22" presetClass="entr" presetSubtype="8" fill="hold" nodeType="afterEffect">
                                  <p:stCondLst>
                                    <p:cond delay="0"/>
                                  </p:stCondLst>
                                  <p:childTnLst>
                                    <p:set>
                                      <p:cBhvr>
                                        <p:cTn id="37" dur="1" fill="hold">
                                          <p:stCondLst>
                                            <p:cond delay="0"/>
                                          </p:stCondLst>
                                        </p:cTn>
                                        <p:tgtEl>
                                          <p:spTgt spid="23579"/>
                                        </p:tgtEl>
                                        <p:attrNameLst>
                                          <p:attrName>style.visibility</p:attrName>
                                        </p:attrNameLst>
                                      </p:cBhvr>
                                      <p:to>
                                        <p:strVal val="visible"/>
                                      </p:to>
                                    </p:set>
                                    <p:animEffect transition="in" filter="wipe(left)">
                                      <p:cBhvr>
                                        <p:cTn id="38" dur="2000"/>
                                        <p:tgtEl>
                                          <p:spTgt spid="23579"/>
                                        </p:tgtEl>
                                      </p:cBhvr>
                                    </p:animEffect>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8950"/>
                                        </p:tgtEl>
                                        <p:attrNameLst>
                                          <p:attrName>style.visibility</p:attrName>
                                        </p:attrNameLst>
                                      </p:cBhvr>
                                      <p:to>
                                        <p:strVal val="visible"/>
                                      </p:to>
                                    </p:set>
                                    <p:anim calcmode="lin" valueType="num">
                                      <p:cBhvr additive="base">
                                        <p:cTn id="43" dur="500" fill="hold"/>
                                        <p:tgtEl>
                                          <p:spTgt spid="38950"/>
                                        </p:tgtEl>
                                        <p:attrNameLst>
                                          <p:attrName>ppt_x</p:attrName>
                                        </p:attrNameLst>
                                      </p:cBhvr>
                                      <p:tavLst>
                                        <p:tav tm="0">
                                          <p:val>
                                            <p:strVal val="#ppt_x"/>
                                          </p:val>
                                        </p:tav>
                                        <p:tav tm="100000">
                                          <p:val>
                                            <p:strVal val="#ppt_x"/>
                                          </p:val>
                                        </p:tav>
                                      </p:tavLst>
                                    </p:anim>
                                    <p:anim calcmode="lin" valueType="num">
                                      <p:cBhvr additive="base">
                                        <p:cTn id="44" dur="500" fill="hold"/>
                                        <p:tgtEl>
                                          <p:spTgt spid="3895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89" grpId="0"/>
      <p:bldP spid="23590" grpId="0"/>
      <p:bldP spid="38950" grpId="0"/>
      <p:bldP spid="4" grpId="0"/>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7" name="Rectangle 5"/>
          <p:cNvSpPr>
            <a:spLocks noGrp="1"/>
          </p:cNvSpPr>
          <p:nvPr>
            <p:ph type="title" idx="4294967295"/>
          </p:nvPr>
        </p:nvSpPr>
        <p:spPr>
          <a:xfrm>
            <a:off x="-24765" y="-4419600"/>
            <a:ext cx="8053070" cy="3683635"/>
          </a:xfrm>
        </p:spPr>
        <p:txBody>
          <a:bodyPr wrap="square" anchor="b" anchorCtr="0"/>
          <a:p>
            <a:pPr eaLnBrk="1" hangingPunct="1"/>
            <a:r>
              <a:rPr lang="en-US" altLang="zh-CN" dirty="0">
                <a:solidFill>
                  <a:schemeClr val="tx1"/>
                </a:solidFill>
              </a:rPr>
              <a:t>4</a:t>
            </a:r>
            <a:r>
              <a:rPr lang="zh-CN" altLang="en-US" dirty="0">
                <a:solidFill>
                  <a:schemeClr val="tx1"/>
                </a:solidFill>
              </a:rPr>
              <a:t>、电压传输特性</a:t>
            </a:r>
            <a:r>
              <a:rPr lang="en-US" altLang="zh-CN" dirty="0">
                <a:solidFill>
                  <a:schemeClr val="tx1"/>
                </a:solidFill>
              </a:rPr>
              <a:t>---</a:t>
            </a:r>
            <a:r>
              <a:rPr lang="zh-CN" altLang="en-US" dirty="0">
                <a:solidFill>
                  <a:srgbClr val="FF0000"/>
                </a:solidFill>
              </a:rPr>
              <a:t>测量方法！</a:t>
            </a:r>
            <a:endParaRPr lang="zh-CN" altLang="en-US" dirty="0">
              <a:solidFill>
                <a:srgbClr val="FF0000"/>
              </a:solidFill>
            </a:endParaRPr>
          </a:p>
        </p:txBody>
      </p:sp>
      <p:sp>
        <p:nvSpPr>
          <p:cNvPr id="39938" name="Rectangle 6"/>
          <p:cNvSpPr/>
          <p:nvPr/>
        </p:nvSpPr>
        <p:spPr>
          <a:xfrm>
            <a:off x="1156970" y="3864610"/>
            <a:ext cx="8507730" cy="1124585"/>
          </a:xfrm>
          <a:prstGeom prst="rect">
            <a:avLst/>
          </a:prstGeom>
          <a:noFill/>
          <a:ln w="9525">
            <a:noFill/>
          </a:ln>
        </p:spPr>
        <p:txBody>
          <a:bodyPr wrap="square" anchor="t" anchorCtr="0">
            <a:spAutoFit/>
          </a:bodyPr>
          <a:p>
            <a:pPr marL="342900" indent="-342900">
              <a:lnSpc>
                <a:spcPct val="140000"/>
              </a:lnSpc>
              <a:buClr>
                <a:schemeClr val="folHlink"/>
              </a:buClr>
              <a:buSzPct val="60000"/>
              <a:buFont typeface="Wingdings" panose="05000000000000000000" pitchFamily="2" charset="2"/>
            </a:pPr>
            <a:r>
              <a:rPr lang="zh-CN" altLang="en-US" sz="2400" b="1" dirty="0">
                <a:latin typeface="+mn-ea"/>
                <a:ea typeface="+mn-ea"/>
                <a:cs typeface="+mn-ea"/>
              </a:rPr>
              <a:t>电压传输特性：</a:t>
            </a:r>
            <a:r>
              <a:rPr lang="en-US" altLang="zh-CN" sz="2400" b="1" i="1" dirty="0">
                <a:solidFill>
                  <a:srgbClr val="FF0000"/>
                </a:solidFill>
                <a:latin typeface="+mn-lt"/>
                <a:ea typeface="+mn-ea"/>
                <a:cs typeface="+mn-lt"/>
              </a:rPr>
              <a:t>V</a:t>
            </a:r>
            <a:r>
              <a:rPr lang="en-US" altLang="zh-CN" sz="2400" b="1" baseline="-25000" dirty="0">
                <a:solidFill>
                  <a:srgbClr val="FF0000"/>
                </a:solidFill>
                <a:latin typeface="+mn-lt"/>
                <a:ea typeface="+mn-ea"/>
                <a:cs typeface="+mn-lt"/>
              </a:rPr>
              <a:t>o</a:t>
            </a:r>
            <a:r>
              <a:rPr lang="zh-CN" altLang="en-US" sz="2400" b="1" dirty="0">
                <a:latin typeface="+mn-ea"/>
                <a:ea typeface="+mn-ea"/>
                <a:cs typeface="+mn-ea"/>
              </a:rPr>
              <a:t>与</a:t>
            </a:r>
            <a:r>
              <a:rPr lang="en-US" altLang="zh-CN" sz="2400" b="1" i="1" dirty="0">
                <a:solidFill>
                  <a:srgbClr val="FF0000"/>
                </a:solidFill>
                <a:latin typeface="+mn-lt"/>
                <a:ea typeface="+mn-ea"/>
                <a:cs typeface="+mn-lt"/>
              </a:rPr>
              <a:t>V</a:t>
            </a:r>
            <a:r>
              <a:rPr lang="en-US" altLang="zh-CN" sz="2400" b="1" baseline="-25000" dirty="0">
                <a:solidFill>
                  <a:srgbClr val="FF0000"/>
                </a:solidFill>
                <a:latin typeface="+mn-lt"/>
                <a:ea typeface="+mn-ea"/>
                <a:cs typeface="+mn-lt"/>
              </a:rPr>
              <a:t>i</a:t>
            </a:r>
            <a:r>
              <a:rPr lang="zh-CN" altLang="en-US" sz="2400" b="1" dirty="0">
                <a:latin typeface="+mn-ea"/>
                <a:ea typeface="+mn-ea"/>
                <a:cs typeface="+mn-ea"/>
              </a:rPr>
              <a:t>关系</a:t>
            </a:r>
            <a:r>
              <a:rPr lang="zh-CN" altLang="en-US" sz="2400" b="1" dirty="0">
                <a:latin typeface="+mn-ea"/>
                <a:ea typeface="+mn-ea"/>
                <a:cs typeface="+mn-ea"/>
              </a:rPr>
              <a:t>曲线：</a:t>
            </a:r>
            <a:endParaRPr lang="zh-CN" altLang="en-US" sz="2400" b="1" dirty="0">
              <a:latin typeface="+mn-ea"/>
              <a:ea typeface="+mn-ea"/>
              <a:cs typeface="+mn-ea"/>
            </a:endParaRPr>
          </a:p>
          <a:p>
            <a:pPr marL="342900" indent="-342900">
              <a:lnSpc>
                <a:spcPct val="140000"/>
              </a:lnSpc>
              <a:buClr>
                <a:schemeClr val="folHlink"/>
              </a:buClr>
              <a:buSzPct val="60000"/>
              <a:buFont typeface="Wingdings" panose="05000000000000000000" pitchFamily="2" charset="2"/>
            </a:pPr>
            <a:r>
              <a:rPr lang="en-US" altLang="zh-CN" sz="2400" b="1" dirty="0">
                <a:solidFill>
                  <a:srgbClr val="FF0000"/>
                </a:solidFill>
                <a:latin typeface="+mn-ea"/>
                <a:ea typeface="+mn-ea"/>
                <a:cs typeface="+mn-ea"/>
              </a:rPr>
              <a:t>1</a:t>
            </a:r>
            <a:r>
              <a:rPr lang="zh-CN" altLang="en-US" sz="2400" b="1" dirty="0">
                <a:solidFill>
                  <a:srgbClr val="FF0000"/>
                </a:solidFill>
                <a:latin typeface="+mn-ea"/>
                <a:ea typeface="+mn-ea"/>
                <a:cs typeface="+mn-ea"/>
              </a:rPr>
              <a:t>）</a:t>
            </a:r>
            <a:r>
              <a:rPr lang="zh-CN" altLang="en-US" sz="2400" b="1" dirty="0">
                <a:solidFill>
                  <a:schemeClr val="tx1"/>
                </a:solidFill>
                <a:latin typeface="+mn-ea"/>
                <a:ea typeface="+mn-ea"/>
                <a:cs typeface="+mn-ea"/>
              </a:rPr>
              <a:t>示波器</a:t>
            </a:r>
            <a:r>
              <a:rPr lang="zh-CN" altLang="en-US" sz="2400" b="1" dirty="0">
                <a:solidFill>
                  <a:srgbClr val="FF0000"/>
                </a:solidFill>
                <a:latin typeface="+mn-ea"/>
                <a:ea typeface="+mn-ea"/>
                <a:cs typeface="+mn-ea"/>
              </a:rPr>
              <a:t>“</a:t>
            </a:r>
            <a:r>
              <a:rPr lang="en-US" altLang="zh-CN" sz="2400" b="1" dirty="0">
                <a:solidFill>
                  <a:srgbClr val="FF0000"/>
                </a:solidFill>
                <a:latin typeface="+mn-ea"/>
                <a:ea typeface="+mn-ea"/>
                <a:cs typeface="+mn-ea"/>
              </a:rPr>
              <a:t>XY”</a:t>
            </a:r>
            <a:r>
              <a:rPr lang="zh-CN" altLang="en-US" sz="2400" b="1" dirty="0">
                <a:solidFill>
                  <a:schemeClr val="tx1"/>
                </a:solidFill>
                <a:latin typeface="+mn-ea"/>
                <a:ea typeface="+mn-ea"/>
                <a:cs typeface="+mn-ea"/>
              </a:rPr>
              <a:t>显示方式，直接显示</a:t>
            </a:r>
            <a:r>
              <a:rPr lang="zh-CN" altLang="en-US" sz="2400" b="1" dirty="0">
                <a:solidFill>
                  <a:srgbClr val="FF0000"/>
                </a:solidFill>
                <a:latin typeface="+mn-ea"/>
                <a:ea typeface="+mn-ea"/>
                <a:cs typeface="+mn-ea"/>
              </a:rPr>
              <a:t>传输特性曲线</a:t>
            </a:r>
            <a:endParaRPr lang="zh-CN" altLang="en-US" sz="2400" b="1" dirty="0">
              <a:solidFill>
                <a:srgbClr val="FF0000"/>
              </a:solidFill>
              <a:latin typeface="+mn-ea"/>
              <a:ea typeface="+mn-ea"/>
              <a:cs typeface="+mn-ea"/>
            </a:endParaRPr>
          </a:p>
        </p:txBody>
      </p:sp>
      <p:grpSp>
        <p:nvGrpSpPr>
          <p:cNvPr id="39939" name="组合 24579"/>
          <p:cNvGrpSpPr/>
          <p:nvPr/>
        </p:nvGrpSpPr>
        <p:grpSpPr>
          <a:xfrm>
            <a:off x="915353" y="838518"/>
            <a:ext cx="4591050" cy="2981325"/>
            <a:chOff x="0" y="0"/>
            <a:chExt cx="3649" cy="2277"/>
          </a:xfrm>
        </p:grpSpPr>
        <p:sp>
          <p:nvSpPr>
            <p:cNvPr id="39940" name="Line 9"/>
            <p:cNvSpPr/>
            <p:nvPr/>
          </p:nvSpPr>
          <p:spPr>
            <a:xfrm>
              <a:off x="0" y="1909"/>
              <a:ext cx="3436" cy="1"/>
            </a:xfrm>
            <a:prstGeom prst="line">
              <a:avLst/>
            </a:prstGeom>
            <a:ln w="44450" cap="flat" cmpd="sng">
              <a:solidFill>
                <a:srgbClr val="000000"/>
              </a:solidFill>
              <a:prstDash val="solid"/>
              <a:round/>
              <a:headEnd type="none" w="med" len="med"/>
              <a:tailEnd type="none" w="med" len="med"/>
            </a:ln>
          </p:spPr>
        </p:sp>
        <p:sp>
          <p:nvSpPr>
            <p:cNvPr id="39941" name="Freeform 10"/>
            <p:cNvSpPr/>
            <p:nvPr/>
          </p:nvSpPr>
          <p:spPr>
            <a:xfrm>
              <a:off x="3420" y="1847"/>
              <a:ext cx="188" cy="125"/>
            </a:xfrm>
            <a:custGeom>
              <a:avLst/>
              <a:gdLst/>
              <a:ahLst/>
              <a:cxnLst>
                <a:cxn ang="0">
                  <a:pos x="0" y="0"/>
                </a:cxn>
                <a:cxn ang="0">
                  <a:pos x="473789420" y="156249305"/>
                </a:cxn>
                <a:cxn ang="0">
                  <a:pos x="0" y="315017966"/>
                </a:cxn>
                <a:cxn ang="0">
                  <a:pos x="0" y="0"/>
                </a:cxn>
              </a:cxnLst>
              <a:pathLst>
                <a:path w="188" h="125">
                  <a:moveTo>
                    <a:pt x="0" y="0"/>
                  </a:moveTo>
                  <a:lnTo>
                    <a:pt x="188" y="62"/>
                  </a:lnTo>
                  <a:lnTo>
                    <a:pt x="0" y="125"/>
                  </a:lnTo>
                  <a:lnTo>
                    <a:pt x="0" y="0"/>
                  </a:lnTo>
                  <a:close/>
                </a:path>
              </a:pathLst>
            </a:custGeom>
            <a:solidFill>
              <a:srgbClr val="000000"/>
            </a:solidFill>
            <a:ln w="9525">
              <a:noFill/>
            </a:ln>
          </p:spPr>
          <p:txBody>
            <a:bodyPr/>
            <a:p>
              <a:endParaRPr lang="zh-CN" altLang="en-US"/>
            </a:p>
          </p:txBody>
        </p:sp>
        <p:sp>
          <p:nvSpPr>
            <p:cNvPr id="39942" name="Line 11"/>
            <p:cNvSpPr/>
            <p:nvPr/>
          </p:nvSpPr>
          <p:spPr>
            <a:xfrm flipV="1">
              <a:off x="1823" y="183"/>
              <a:ext cx="1" cy="1916"/>
            </a:xfrm>
            <a:prstGeom prst="line">
              <a:avLst/>
            </a:prstGeom>
            <a:ln w="44450" cap="flat" cmpd="sng">
              <a:solidFill>
                <a:srgbClr val="000000"/>
              </a:solidFill>
              <a:prstDash val="solid"/>
              <a:round/>
              <a:headEnd type="none" w="med" len="med"/>
              <a:tailEnd type="none" w="med" len="med"/>
            </a:ln>
          </p:spPr>
        </p:sp>
        <p:sp>
          <p:nvSpPr>
            <p:cNvPr id="39943" name="Freeform 12"/>
            <p:cNvSpPr/>
            <p:nvPr/>
          </p:nvSpPr>
          <p:spPr>
            <a:xfrm>
              <a:off x="1760" y="10"/>
              <a:ext cx="126" cy="188"/>
            </a:xfrm>
            <a:custGeom>
              <a:avLst/>
              <a:gdLst/>
              <a:ahLst/>
              <a:cxnLst>
                <a:cxn ang="0">
                  <a:pos x="0" y="473789420"/>
                </a:cxn>
                <a:cxn ang="0">
                  <a:pos x="158770649" y="0"/>
                </a:cxn>
                <a:cxn ang="0">
                  <a:pos x="317539710" y="473789420"/>
                </a:cxn>
                <a:cxn ang="0">
                  <a:pos x="0" y="473789420"/>
                </a:cxn>
              </a:cxnLst>
              <a:pathLst>
                <a:path w="126" h="188">
                  <a:moveTo>
                    <a:pt x="0" y="188"/>
                  </a:moveTo>
                  <a:lnTo>
                    <a:pt x="63" y="0"/>
                  </a:lnTo>
                  <a:lnTo>
                    <a:pt x="126" y="188"/>
                  </a:lnTo>
                  <a:lnTo>
                    <a:pt x="0" y="188"/>
                  </a:lnTo>
                  <a:close/>
                </a:path>
              </a:pathLst>
            </a:custGeom>
            <a:solidFill>
              <a:srgbClr val="000000"/>
            </a:solidFill>
            <a:ln w="9525">
              <a:noFill/>
            </a:ln>
          </p:spPr>
          <p:txBody>
            <a:bodyPr/>
            <a:p>
              <a:endParaRPr lang="zh-CN" altLang="en-US"/>
            </a:p>
          </p:txBody>
        </p:sp>
        <p:sp>
          <p:nvSpPr>
            <p:cNvPr id="39944" name="Freeform 13"/>
            <p:cNvSpPr/>
            <p:nvPr/>
          </p:nvSpPr>
          <p:spPr>
            <a:xfrm>
              <a:off x="303" y="368"/>
              <a:ext cx="3038" cy="1520"/>
            </a:xfrm>
            <a:custGeom>
              <a:avLst/>
              <a:gdLst/>
              <a:ahLst/>
              <a:cxnLst>
                <a:cxn ang="0">
                  <a:pos x="2147483647" y="0"/>
                </a:cxn>
                <a:cxn ang="0">
                  <a:pos x="2147483647" y="2147483647"/>
                </a:cxn>
                <a:cxn ang="0">
                  <a:pos x="0" y="0"/>
                </a:cxn>
              </a:cxnLst>
              <a:pathLst>
                <a:path w="3038" h="1520">
                  <a:moveTo>
                    <a:pt x="3038" y="0"/>
                  </a:moveTo>
                  <a:lnTo>
                    <a:pt x="1519" y="1520"/>
                  </a:lnTo>
                  <a:lnTo>
                    <a:pt x="0" y="0"/>
                  </a:lnTo>
                </a:path>
              </a:pathLst>
            </a:custGeom>
            <a:noFill/>
            <a:ln w="44450" cap="flat" cmpd="sng">
              <a:solidFill>
                <a:srgbClr val="0000FF"/>
              </a:solidFill>
              <a:prstDash val="solid"/>
              <a:miter/>
              <a:headEnd type="none" w="med" len="med"/>
              <a:tailEnd type="none" w="med" len="med"/>
            </a:ln>
          </p:spPr>
          <p:txBody>
            <a:bodyPr/>
            <a:p>
              <a:endParaRPr lang="zh-CN" altLang="en-US"/>
            </a:p>
          </p:txBody>
        </p:sp>
        <p:sp>
          <p:nvSpPr>
            <p:cNvPr id="39945" name="Rectangle 14"/>
            <p:cNvSpPr/>
            <p:nvPr/>
          </p:nvSpPr>
          <p:spPr>
            <a:xfrm>
              <a:off x="2847" y="1995"/>
              <a:ext cx="802" cy="282"/>
            </a:xfrm>
            <a:prstGeom prst="rect">
              <a:avLst/>
            </a:prstGeom>
            <a:noFill/>
            <a:ln w="9525">
              <a:noFill/>
            </a:ln>
          </p:spPr>
          <p:txBody>
            <a:bodyPr wrap="square" lIns="0" tIns="0" rIns="0" bIns="0" anchor="t" anchorCtr="0">
              <a:spAutoFit/>
            </a:bodyPr>
            <a:p>
              <a:r>
                <a:rPr lang="en-US" altLang="zh-CN" sz="2400" b="1" i="1" dirty="0">
                  <a:solidFill>
                    <a:srgbClr val="FF0000"/>
                  </a:solidFill>
                  <a:latin typeface="+mn-lt"/>
                  <a:ea typeface="宋体" panose="02010600030101010101" pitchFamily="2" charset="-122"/>
                  <a:cs typeface="+mn-lt"/>
                </a:rPr>
                <a:t>V</a:t>
              </a:r>
              <a:r>
                <a:rPr lang="en-US" altLang="zh-CN" sz="2400" b="1" baseline="-25000" dirty="0">
                  <a:solidFill>
                    <a:srgbClr val="FF0000"/>
                  </a:solidFill>
                  <a:latin typeface="+mn-lt"/>
                  <a:ea typeface="宋体" panose="02010600030101010101" pitchFamily="2" charset="-122"/>
                  <a:cs typeface="+mn-lt"/>
                </a:rPr>
                <a:t>i</a:t>
              </a:r>
              <a:r>
                <a:rPr lang="zh-CN" altLang="en-US" sz="2400" b="1" dirty="0">
                  <a:solidFill>
                    <a:srgbClr val="FF0000"/>
                  </a:solidFill>
                  <a:latin typeface="+mn-lt"/>
                  <a:ea typeface="宋体" panose="02010600030101010101" pitchFamily="2" charset="-122"/>
                  <a:cs typeface="+mn-lt"/>
                </a:rPr>
                <a:t>（</a:t>
              </a:r>
              <a:r>
                <a:rPr lang="en-US" altLang="zh-CN" sz="2400" b="1" dirty="0">
                  <a:solidFill>
                    <a:srgbClr val="FF0000"/>
                  </a:solidFill>
                  <a:latin typeface="+mn-lt"/>
                  <a:ea typeface="宋体" panose="02010600030101010101" pitchFamily="2" charset="-122"/>
                  <a:cs typeface="+mn-lt"/>
                </a:rPr>
                <a:t>X</a:t>
              </a:r>
              <a:r>
                <a:rPr lang="zh-CN" altLang="en-US" sz="2400" b="1" dirty="0">
                  <a:solidFill>
                    <a:srgbClr val="FF0000"/>
                  </a:solidFill>
                  <a:latin typeface="+mn-lt"/>
                  <a:ea typeface="宋体" panose="02010600030101010101" pitchFamily="2" charset="-122"/>
                  <a:cs typeface="+mn-lt"/>
                </a:rPr>
                <a:t>）</a:t>
              </a:r>
              <a:endParaRPr lang="zh-CN" altLang="en-US" sz="2400" b="1" dirty="0">
                <a:solidFill>
                  <a:srgbClr val="FF0000"/>
                </a:solidFill>
                <a:latin typeface="+mn-lt"/>
                <a:ea typeface="宋体" panose="02010600030101010101" pitchFamily="2" charset="-122"/>
                <a:cs typeface="+mn-lt"/>
              </a:endParaRPr>
            </a:p>
          </p:txBody>
        </p:sp>
        <p:sp>
          <p:nvSpPr>
            <p:cNvPr id="39946" name="Rectangle 15"/>
            <p:cNvSpPr/>
            <p:nvPr/>
          </p:nvSpPr>
          <p:spPr>
            <a:xfrm>
              <a:off x="1934" y="0"/>
              <a:ext cx="651" cy="282"/>
            </a:xfrm>
            <a:prstGeom prst="rect">
              <a:avLst/>
            </a:prstGeom>
            <a:noFill/>
            <a:ln w="9525">
              <a:noFill/>
            </a:ln>
          </p:spPr>
          <p:txBody>
            <a:bodyPr wrap="square" lIns="0" tIns="0" rIns="0" bIns="0" anchor="t" anchorCtr="0">
              <a:spAutoFit/>
            </a:bodyPr>
            <a:p>
              <a:r>
                <a:rPr lang="en-US" altLang="zh-CN" sz="2400" b="1" i="1" dirty="0">
                  <a:solidFill>
                    <a:srgbClr val="FF0000"/>
                  </a:solidFill>
                  <a:latin typeface="+mn-lt"/>
                  <a:ea typeface="宋体" panose="02010600030101010101" pitchFamily="2" charset="-122"/>
                  <a:cs typeface="+mn-lt"/>
                </a:rPr>
                <a:t>V</a:t>
              </a:r>
              <a:r>
                <a:rPr lang="en-US" altLang="zh-CN" sz="2400" b="1" baseline="-25000" dirty="0">
                  <a:solidFill>
                    <a:srgbClr val="FF0000"/>
                  </a:solidFill>
                  <a:latin typeface="+mn-lt"/>
                  <a:ea typeface="宋体" panose="02010600030101010101" pitchFamily="2" charset="-122"/>
                  <a:cs typeface="+mn-lt"/>
                </a:rPr>
                <a:t>o</a:t>
              </a:r>
              <a:r>
                <a:rPr lang="en-US" altLang="zh-CN" sz="2400" b="1" dirty="0">
                  <a:solidFill>
                    <a:srgbClr val="FF0000"/>
                  </a:solidFill>
                  <a:latin typeface="+mn-lt"/>
                  <a:ea typeface="宋体" panose="02010600030101010101" pitchFamily="2" charset="-122"/>
                  <a:cs typeface="+mn-lt"/>
                </a:rPr>
                <a:t>(Y)</a:t>
              </a:r>
              <a:endParaRPr lang="en-US" altLang="zh-CN" sz="2400" b="1" dirty="0">
                <a:solidFill>
                  <a:srgbClr val="FF0000"/>
                </a:solidFill>
                <a:latin typeface="+mn-lt"/>
                <a:ea typeface="宋体" panose="02010600030101010101" pitchFamily="2" charset="-122"/>
                <a:cs typeface="+mn-lt"/>
              </a:endParaRPr>
            </a:p>
          </p:txBody>
        </p:sp>
      </p:grpSp>
      <p:sp>
        <p:nvSpPr>
          <p:cNvPr id="39947" name="矩形 24587"/>
          <p:cNvSpPr/>
          <p:nvPr/>
        </p:nvSpPr>
        <p:spPr>
          <a:xfrm>
            <a:off x="5576570" y="911225"/>
            <a:ext cx="6109970" cy="2399665"/>
          </a:xfrm>
          <a:prstGeom prst="rect">
            <a:avLst/>
          </a:prstGeom>
          <a:noFill/>
          <a:ln w="9525">
            <a:noFill/>
          </a:ln>
        </p:spPr>
        <p:txBody>
          <a:bodyPr wrap="square" anchor="t" anchorCtr="0">
            <a:spAutoFit/>
          </a:bodyPr>
          <a:p>
            <a:pPr marL="342900" indent="-342900">
              <a:lnSpc>
                <a:spcPct val="125000"/>
              </a:lnSpc>
              <a:buFont typeface="Wingdings" panose="05000000000000000000" charset="0"/>
              <a:buChar char="u"/>
            </a:pPr>
            <a:r>
              <a:rPr lang="zh-CN" altLang="en-US" sz="2400" b="1" dirty="0">
                <a:solidFill>
                  <a:schemeClr val="tx1"/>
                </a:solidFill>
                <a:latin typeface="微软雅黑" panose="020B0503020204020204" charset="-122"/>
                <a:ea typeface="微软雅黑" panose="020B0503020204020204" charset="-122"/>
                <a:cs typeface="微软雅黑" panose="020B0503020204020204" charset="-122"/>
              </a:rPr>
              <a:t>示波器</a:t>
            </a:r>
            <a:r>
              <a:rPr lang="zh-CN" altLang="en-US" sz="2400" b="1" dirty="0">
                <a:solidFill>
                  <a:srgbClr val="FF0000"/>
                </a:solidFill>
                <a:latin typeface="+mn-ea"/>
                <a:ea typeface="+mn-ea"/>
                <a:cs typeface="+mn-ea"/>
                <a:sym typeface="+mn-ea"/>
              </a:rPr>
              <a:t>“</a:t>
            </a:r>
            <a:r>
              <a:rPr lang="en-US" altLang="zh-CN" sz="2400" b="1" dirty="0">
                <a:solidFill>
                  <a:srgbClr val="FF0000"/>
                </a:solidFill>
                <a:latin typeface="+mn-ea"/>
                <a:ea typeface="+mn-ea"/>
                <a:cs typeface="+mn-ea"/>
                <a:sym typeface="+mn-ea"/>
              </a:rPr>
              <a:t>XY”</a:t>
            </a:r>
            <a:r>
              <a:rPr lang="zh-CN" altLang="en-US" sz="2400" b="1" dirty="0">
                <a:solidFill>
                  <a:schemeClr val="tx1"/>
                </a:solidFill>
                <a:latin typeface="微软雅黑" panose="020B0503020204020204" charset="-122"/>
                <a:ea typeface="微软雅黑" panose="020B0503020204020204" charset="-122"/>
                <a:cs typeface="微软雅黑" panose="020B0503020204020204" charset="-122"/>
              </a:rPr>
              <a:t>方式</a:t>
            </a:r>
            <a:r>
              <a:rPr lang="zh-CN" altLang="en-US" sz="2400" b="1" dirty="0">
                <a:solidFill>
                  <a:srgbClr val="FF0000"/>
                </a:solidFill>
                <a:latin typeface="微软雅黑" panose="020B0503020204020204" charset="-122"/>
                <a:ea typeface="微软雅黑" panose="020B0503020204020204" charset="-122"/>
                <a:cs typeface="微软雅黑" panose="020B0503020204020204" charset="-122"/>
              </a:rPr>
              <a:t>设置</a:t>
            </a:r>
            <a:r>
              <a:rPr lang="zh-CN" altLang="en-US" sz="2400" b="1" dirty="0">
                <a:latin typeface="微软雅黑" panose="020B0503020204020204" charset="-122"/>
                <a:ea typeface="微软雅黑" panose="020B0503020204020204" charset="-122"/>
                <a:cs typeface="微软雅黑" panose="020B0503020204020204" charset="-122"/>
              </a:rPr>
              <a:t>：</a:t>
            </a:r>
            <a:endParaRPr lang="zh-CN" altLang="en-US" sz="2400" b="1" dirty="0">
              <a:latin typeface="微软雅黑" panose="020B0503020204020204" charset="-122"/>
              <a:ea typeface="微软雅黑" panose="020B0503020204020204" charset="-122"/>
              <a:cs typeface="微软雅黑" panose="020B0503020204020204" charset="-122"/>
            </a:endParaRPr>
          </a:p>
          <a:p>
            <a:pPr>
              <a:lnSpc>
                <a:spcPct val="125000"/>
              </a:lnSpc>
              <a:buFont typeface="Wingdings" panose="05000000000000000000" charset="0"/>
              <a:buChar char="l"/>
            </a:pPr>
            <a:r>
              <a:rPr lang="zh-CN" altLang="en-US" sz="2400" b="1" dirty="0">
                <a:latin typeface="微软雅黑" panose="020B0503020204020204" charset="-122"/>
                <a:ea typeface="微软雅黑" panose="020B0503020204020204" charset="-122"/>
                <a:cs typeface="微软雅黑" panose="020B0503020204020204" charset="-122"/>
              </a:rPr>
              <a:t>按钮</a:t>
            </a:r>
            <a:r>
              <a:rPr lang="zh-CN" altLang="en-US" sz="2400" b="1" dirty="0">
                <a:solidFill>
                  <a:srgbClr val="FF0000"/>
                </a:solidFill>
                <a:latin typeface="微软雅黑" panose="020B0503020204020204" charset="-122"/>
                <a:ea typeface="微软雅黑" panose="020B0503020204020204" charset="-122"/>
                <a:cs typeface="微软雅黑" panose="020B0503020204020204" charset="-122"/>
              </a:rPr>
              <a:t>cursor</a:t>
            </a:r>
            <a:r>
              <a:rPr lang="en-US" altLang="zh-CN" sz="2400" b="1" dirty="0">
                <a:latin typeface="微软雅黑" panose="020B0503020204020204" charset="-122"/>
                <a:ea typeface="微软雅黑" panose="020B0503020204020204" charset="-122"/>
                <a:cs typeface="微软雅黑" panose="020B0503020204020204" charset="-122"/>
                <a:sym typeface="Symbol" panose="05050102010706020507" pitchFamily="2" charset="2"/>
              </a:rPr>
              <a:t></a:t>
            </a:r>
            <a:r>
              <a:rPr lang="zh-CN" altLang="en-US" sz="2400" b="1" dirty="0">
                <a:latin typeface="微软雅黑" panose="020B0503020204020204" charset="-122"/>
                <a:ea typeface="微软雅黑" panose="020B0503020204020204" charset="-122"/>
                <a:cs typeface="微软雅黑" panose="020B0503020204020204" charset="-122"/>
                <a:sym typeface="Symbol" panose="05050102010706020507" pitchFamily="2" charset="2"/>
              </a:rPr>
              <a:t>菜单</a:t>
            </a:r>
            <a:r>
              <a:rPr lang="en-US" altLang="zh-CN" sz="2400" b="1" dirty="0">
                <a:latin typeface="微软雅黑" panose="020B0503020204020204" charset="-122"/>
                <a:ea typeface="微软雅黑" panose="020B0503020204020204" charset="-122"/>
                <a:cs typeface="微软雅黑" panose="020B0503020204020204" charset="-122"/>
                <a:sym typeface="Symbol" panose="05050102010706020507" pitchFamily="2" charset="2"/>
              </a:rPr>
              <a:t>(</a:t>
            </a:r>
            <a:r>
              <a:rPr lang="zh-CN" altLang="en-US" sz="2400" b="1" dirty="0">
                <a:latin typeface="微软雅黑" panose="020B0503020204020204" charset="-122"/>
                <a:ea typeface="微软雅黑" panose="020B0503020204020204" charset="-122"/>
                <a:cs typeface="微软雅黑" panose="020B0503020204020204" charset="-122"/>
                <a:sym typeface="Symbol" panose="05050102010706020507" pitchFamily="2" charset="2"/>
              </a:rPr>
              <a:t>或</a:t>
            </a:r>
            <a:r>
              <a:rPr lang="zh-CN" altLang="en-US" sz="2400" b="1" dirty="0">
                <a:solidFill>
                  <a:srgbClr val="FF0000"/>
                </a:solidFill>
                <a:latin typeface="微软雅黑" panose="020B0503020204020204" charset="-122"/>
                <a:ea typeface="微软雅黑" panose="020B0503020204020204" charset="-122"/>
                <a:cs typeface="微软雅黑" panose="020B0503020204020204" charset="-122"/>
                <a:sym typeface="Symbol" panose="05050102010706020507" pitchFamily="2" charset="2"/>
              </a:rPr>
              <a:t>横轴</a:t>
            </a:r>
            <a:r>
              <a:rPr lang="zh-CN" altLang="en-US" sz="2400" b="1" dirty="0">
                <a:latin typeface="微软雅黑" panose="020B0503020204020204" charset="-122"/>
                <a:ea typeface="微软雅黑" panose="020B0503020204020204" charset="-122"/>
                <a:cs typeface="微软雅黑" panose="020B0503020204020204" charset="-122"/>
                <a:sym typeface="Symbol" panose="05050102010706020507" pitchFamily="2" charset="2"/>
              </a:rPr>
              <a:t>的</a:t>
            </a:r>
            <a:r>
              <a:rPr lang="en-US" altLang="zh-CN" sz="2400" b="1" dirty="0">
                <a:latin typeface="微软雅黑" panose="020B0503020204020204" charset="-122"/>
                <a:ea typeface="微软雅黑" panose="020B0503020204020204" charset="-122"/>
                <a:cs typeface="微软雅黑" panose="020B0503020204020204" charset="-122"/>
                <a:sym typeface="Symbol" panose="05050102010706020507" pitchFamily="2" charset="2"/>
              </a:rPr>
              <a:t>menu</a:t>
            </a:r>
            <a:r>
              <a:rPr lang="zh-CN" altLang="en-US" sz="2400" b="1" dirty="0">
                <a:latin typeface="微软雅黑" panose="020B0503020204020204" charset="-122"/>
                <a:ea typeface="微软雅黑" panose="020B0503020204020204" charset="-122"/>
                <a:cs typeface="微软雅黑" panose="020B0503020204020204" charset="-122"/>
                <a:sym typeface="Symbol" panose="05050102010706020507" pitchFamily="2" charset="2"/>
              </a:rPr>
              <a:t>）</a:t>
            </a:r>
            <a:endParaRPr lang="zh-CN" altLang="en-US" sz="2400" b="1" dirty="0">
              <a:latin typeface="微软雅黑" panose="020B0503020204020204" charset="-122"/>
              <a:ea typeface="微软雅黑" panose="020B0503020204020204" charset="-122"/>
              <a:cs typeface="微软雅黑" panose="020B0503020204020204" charset="-122"/>
              <a:sym typeface="Symbol" panose="05050102010706020507" pitchFamily="2" charset="2"/>
            </a:endParaRPr>
          </a:p>
          <a:p>
            <a:pPr>
              <a:lnSpc>
                <a:spcPct val="125000"/>
              </a:lnSpc>
              <a:buFont typeface="Wingdings" panose="05000000000000000000" charset="0"/>
              <a:buChar char="l"/>
            </a:pPr>
            <a:r>
              <a:rPr lang="zh-CN" altLang="en-US" sz="2400" b="1" dirty="0">
                <a:latin typeface="微软雅黑" panose="020B0503020204020204" charset="-122"/>
                <a:ea typeface="微软雅黑" panose="020B0503020204020204" charset="-122"/>
                <a:cs typeface="微软雅黑" panose="020B0503020204020204" charset="-122"/>
                <a:sym typeface="Symbol" panose="05050102010706020507" pitchFamily="2" charset="2"/>
              </a:rPr>
              <a:t>将“格式”置</a:t>
            </a:r>
            <a:r>
              <a:rPr lang="en-US" altLang="zh-CN" sz="2400" b="1" dirty="0">
                <a:latin typeface="微软雅黑" panose="020B0503020204020204" charset="-122"/>
                <a:ea typeface="微软雅黑" panose="020B0503020204020204" charset="-122"/>
                <a:cs typeface="微软雅黑" panose="020B0503020204020204" charset="-122"/>
                <a:sym typeface="Symbol" panose="05050102010706020507" pitchFamily="2" charset="2"/>
              </a:rPr>
              <a:t>XY</a:t>
            </a:r>
            <a:r>
              <a:rPr lang="zh-CN" altLang="en-US" sz="2400" b="1" dirty="0">
                <a:latin typeface="微软雅黑" panose="020B0503020204020204" charset="-122"/>
                <a:ea typeface="微软雅黑" panose="020B0503020204020204" charset="-122"/>
                <a:cs typeface="微软雅黑" panose="020B0503020204020204" charset="-122"/>
                <a:sym typeface="Symbol" panose="05050102010706020507" pitchFamily="2" charset="2"/>
              </a:rPr>
              <a:t>方式</a:t>
            </a:r>
            <a:endParaRPr lang="zh-CN" altLang="en-US" sz="2400" b="1" dirty="0">
              <a:latin typeface="微软雅黑" panose="020B0503020204020204" charset="-122"/>
              <a:ea typeface="微软雅黑" panose="020B0503020204020204" charset="-122"/>
              <a:cs typeface="微软雅黑" panose="020B0503020204020204" charset="-122"/>
              <a:sym typeface="Symbol" panose="05050102010706020507" pitchFamily="2" charset="2"/>
            </a:endParaRPr>
          </a:p>
          <a:p>
            <a:pPr>
              <a:lnSpc>
                <a:spcPct val="125000"/>
              </a:lnSpc>
            </a:pPr>
            <a:r>
              <a:rPr lang="en-US" altLang="zh-CN" sz="2400" b="1" dirty="0">
                <a:latin typeface="微软雅黑" panose="020B0503020204020204" charset="-122"/>
                <a:ea typeface="微软雅黑" panose="020B0503020204020204" charset="-122"/>
                <a:cs typeface="微软雅黑" panose="020B0503020204020204" charset="-122"/>
              </a:rPr>
              <a:t>   CH1</a:t>
            </a:r>
            <a:r>
              <a:rPr lang="zh-CN" altLang="en-US" sz="2400" b="1" dirty="0">
                <a:latin typeface="微软雅黑" panose="020B0503020204020204" charset="-122"/>
                <a:ea typeface="微软雅黑" panose="020B0503020204020204" charset="-122"/>
                <a:cs typeface="微软雅黑" panose="020B0503020204020204" charset="-122"/>
              </a:rPr>
              <a:t>通道：</a:t>
            </a:r>
            <a:r>
              <a:rPr lang="en-US" altLang="zh-CN" sz="2400" b="1" dirty="0">
                <a:latin typeface="微软雅黑" panose="020B0503020204020204" charset="-122"/>
                <a:ea typeface="微软雅黑" panose="020B0503020204020204" charset="-122"/>
                <a:cs typeface="微软雅黑" panose="020B0503020204020204" charset="-122"/>
              </a:rPr>
              <a:t>X;  CH2</a:t>
            </a:r>
            <a:r>
              <a:rPr lang="zh-CN" altLang="en-US" sz="2400" b="1" dirty="0">
                <a:latin typeface="微软雅黑" panose="020B0503020204020204" charset="-122"/>
                <a:ea typeface="微软雅黑" panose="020B0503020204020204" charset="-122"/>
                <a:cs typeface="微软雅黑" panose="020B0503020204020204" charset="-122"/>
              </a:rPr>
              <a:t>通道：</a:t>
            </a:r>
            <a:r>
              <a:rPr lang="en-US" altLang="zh-CN" sz="2400" b="1" dirty="0">
                <a:latin typeface="微软雅黑" panose="020B0503020204020204" charset="-122"/>
                <a:ea typeface="微软雅黑" panose="020B0503020204020204" charset="-122"/>
                <a:cs typeface="微软雅黑" panose="020B0503020204020204" charset="-122"/>
              </a:rPr>
              <a:t>Y</a:t>
            </a:r>
            <a:endParaRPr lang="zh-CN" altLang="en-US" sz="2400" b="1" dirty="0">
              <a:latin typeface="微软雅黑" panose="020B0503020204020204" charset="-122"/>
              <a:ea typeface="微软雅黑" panose="020B0503020204020204" charset="-122"/>
              <a:cs typeface="微软雅黑" panose="020B0503020204020204" charset="-122"/>
            </a:endParaRPr>
          </a:p>
          <a:p>
            <a:pPr marL="342900" indent="-342900">
              <a:lnSpc>
                <a:spcPct val="125000"/>
              </a:lnSpc>
              <a:buFont typeface="Wingdings" panose="05000000000000000000" charset="0"/>
              <a:buChar char="u"/>
            </a:pPr>
            <a:r>
              <a:rPr lang="zh-CN" altLang="en-US" sz="2400" b="1" dirty="0">
                <a:solidFill>
                  <a:srgbClr val="FF0000"/>
                </a:solidFill>
                <a:latin typeface="微软雅黑" panose="020B0503020204020204" charset="-122"/>
                <a:ea typeface="微软雅黑" panose="020B0503020204020204" charset="-122"/>
                <a:cs typeface="微软雅黑" panose="020B0503020204020204" charset="-122"/>
                <a:sym typeface="+mn-ea"/>
              </a:rPr>
              <a:t>原点</a:t>
            </a:r>
            <a:r>
              <a:rPr lang="zh-CN" altLang="en-US" sz="2400" b="1" dirty="0">
                <a:latin typeface="微软雅黑" panose="020B0503020204020204" charset="-122"/>
                <a:ea typeface="微软雅黑" panose="020B0503020204020204" charset="-122"/>
                <a:cs typeface="微软雅黑" panose="020B0503020204020204" charset="-122"/>
                <a:sym typeface="+mn-ea"/>
              </a:rPr>
              <a:t>在屏幕中央</a:t>
            </a:r>
            <a:r>
              <a:rPr lang="en-US" altLang="zh-CN" sz="2400" b="1" dirty="0">
                <a:latin typeface="微软雅黑" panose="020B0503020204020204" charset="-122"/>
                <a:ea typeface="微软雅黑" panose="020B0503020204020204" charset="-122"/>
                <a:cs typeface="微软雅黑" panose="020B0503020204020204" charset="-122"/>
                <a:sym typeface="+mn-ea"/>
              </a:rPr>
              <a:t>: </a:t>
            </a:r>
            <a:r>
              <a:rPr lang="zh-CN" altLang="en-US" sz="2400" b="1" dirty="0">
                <a:latin typeface="微软雅黑" panose="020B0503020204020204" charset="-122"/>
                <a:ea typeface="微软雅黑" panose="020B0503020204020204" charset="-122"/>
                <a:cs typeface="微软雅黑" panose="020B0503020204020204" charset="-122"/>
              </a:rPr>
              <a:t>调整</a:t>
            </a:r>
            <a:r>
              <a:rPr lang="zh-CN" altLang="en-US" sz="2400" b="1" dirty="0">
                <a:solidFill>
                  <a:srgbClr val="FF0000"/>
                </a:solidFill>
                <a:latin typeface="微软雅黑" panose="020B0503020204020204" charset="-122"/>
                <a:ea typeface="微软雅黑" panose="020B0503020204020204" charset="-122"/>
                <a:cs typeface="微软雅黑" panose="020B0503020204020204" charset="-122"/>
              </a:rPr>
              <a:t>灵敏度</a:t>
            </a:r>
            <a:r>
              <a:rPr lang="zh-CN" altLang="en-US" sz="2400" b="1" dirty="0">
                <a:latin typeface="微软雅黑" panose="020B0503020204020204" charset="-122"/>
                <a:ea typeface="微软雅黑" panose="020B0503020204020204" charset="-122"/>
                <a:cs typeface="微软雅黑" panose="020B0503020204020204" charset="-122"/>
              </a:rPr>
              <a:t>和</a:t>
            </a:r>
            <a:r>
              <a:rPr lang="zh-CN" altLang="en-US" sz="2400" b="1" dirty="0">
                <a:solidFill>
                  <a:srgbClr val="FF0000"/>
                </a:solidFill>
                <a:latin typeface="微软雅黑" panose="020B0503020204020204" charset="-122"/>
                <a:ea typeface="微软雅黑" panose="020B0503020204020204" charset="-122"/>
                <a:cs typeface="微软雅黑" panose="020B0503020204020204" charset="-122"/>
              </a:rPr>
              <a:t>位移</a:t>
            </a:r>
            <a:r>
              <a:rPr lang="zh-CN" altLang="en-US" sz="2400" b="1" dirty="0">
                <a:latin typeface="微软雅黑" panose="020B0503020204020204" charset="-122"/>
                <a:ea typeface="微软雅黑" panose="020B0503020204020204" charset="-122"/>
                <a:cs typeface="微软雅黑" panose="020B0503020204020204" charset="-122"/>
              </a:rPr>
              <a:t>旋钮</a:t>
            </a:r>
            <a:endParaRPr lang="zh-CN" altLang="en-US" sz="2400" b="1" dirty="0">
              <a:latin typeface="微软雅黑" panose="020B0503020204020204" charset="-122"/>
              <a:ea typeface="微软雅黑" panose="020B0503020204020204" charset="-122"/>
              <a:cs typeface="微软雅黑" panose="020B0503020204020204" charset="-122"/>
            </a:endParaRPr>
          </a:p>
        </p:txBody>
      </p:sp>
      <p:sp>
        <p:nvSpPr>
          <p:cNvPr id="24589" name="AutoShape 10"/>
          <p:cNvSpPr/>
          <p:nvPr/>
        </p:nvSpPr>
        <p:spPr>
          <a:xfrm>
            <a:off x="12216765" y="4797108"/>
            <a:ext cx="2971800" cy="1524000"/>
          </a:xfrm>
          <a:prstGeom prst="cloudCallout">
            <a:avLst>
              <a:gd name="adj1" fmla="val -4435"/>
              <a:gd name="adj2" fmla="val 87398"/>
            </a:avLst>
          </a:prstGeom>
          <a:solidFill>
            <a:srgbClr val="CCFFFF"/>
          </a:solidFill>
          <a:ln w="9525" cap="flat" cmpd="sng">
            <a:solidFill>
              <a:schemeClr val="tx1"/>
            </a:solidFill>
            <a:prstDash val="solid"/>
            <a:round/>
            <a:headEnd type="none" w="med" len="med"/>
            <a:tailEnd type="none" w="med" len="med"/>
          </a:ln>
        </p:spPr>
        <p:txBody>
          <a:bodyPr anchor="t" anchorCtr="0"/>
          <a:p>
            <a:pPr algn="ctr"/>
            <a:r>
              <a:rPr lang="zh-CN" altLang="en-US" sz="2400" b="1" dirty="0">
                <a:solidFill>
                  <a:srgbClr val="0000CC"/>
                </a:solidFill>
                <a:latin typeface="楷体_GB2312" pitchFamily="1" charset="-122"/>
                <a:ea typeface="楷体_GB2312" pitchFamily="1" charset="-122"/>
              </a:rPr>
              <a:t>如何确定坐标原点？</a:t>
            </a:r>
            <a:endParaRPr lang="zh-CN" altLang="en-US" sz="2400" b="1" dirty="0">
              <a:solidFill>
                <a:srgbClr val="0000CC"/>
              </a:solidFill>
              <a:latin typeface="楷体_GB2312" pitchFamily="1" charset="-122"/>
              <a:ea typeface="楷体_GB2312" pitchFamily="1" charset="-122"/>
            </a:endParaRPr>
          </a:p>
        </p:txBody>
      </p:sp>
      <p:sp>
        <p:nvSpPr>
          <p:cNvPr id="36865" name="Rectangle 2"/>
          <p:cNvSpPr>
            <a:spLocks noGrp="1"/>
          </p:cNvSpPr>
          <p:nvPr/>
        </p:nvSpPr>
        <p:spPr>
          <a:xfrm>
            <a:off x="493395" y="27940"/>
            <a:ext cx="8544560" cy="583565"/>
          </a:xfrm>
          <a:ln>
            <a:solidFill>
              <a:schemeClr val="bg1"/>
            </a:solidFill>
            <a:miter/>
          </a:ln>
        </p:spPr>
        <p:txBody>
          <a:bodyPr wrap="square" anchor="b" anchorCtr="0">
            <a:spAutoFit/>
          </a:bodyPr>
          <a:lstStyle>
            <a:lvl1pPr marL="0" lvl="0" indent="0" algn="l" defTabSz="914400" eaLnBrk="0" fontAlgn="base" latinLnBrk="0" hangingPunct="0">
              <a:lnSpc>
                <a:spcPct val="100000"/>
              </a:lnSpc>
              <a:spcBef>
                <a:spcPct val="0"/>
              </a:spcBef>
              <a:spcAft>
                <a:spcPct val="0"/>
              </a:spcAft>
              <a:buNone/>
              <a:defRPr sz="3800" b="1" i="0" u="none" kern="1200" baseline="0">
                <a:solidFill>
                  <a:schemeClr val="tx2"/>
                </a:solidFill>
                <a:latin typeface="+mj-lt"/>
                <a:ea typeface="+mj-ea"/>
                <a:cs typeface="+mj-cs"/>
              </a:defRPr>
            </a:lvl1pPr>
          </a:lstStyle>
          <a:p>
            <a:pPr eaLnBrk="1" hangingPunct="1"/>
            <a:r>
              <a:rPr lang="zh-CN" altLang="en-US" sz="2800" dirty="0">
                <a:solidFill>
                  <a:schemeClr val="tx1"/>
                </a:solidFill>
                <a:latin typeface="宋体" panose="02010600030101010101" pitchFamily="2" charset="-122"/>
              </a:rPr>
              <a:t>二</a:t>
            </a:r>
            <a:r>
              <a:rPr lang="en-US" altLang="zh-CN" sz="2800" dirty="0">
                <a:solidFill>
                  <a:schemeClr val="tx1"/>
                </a:solidFill>
                <a:latin typeface="宋体" panose="02010600030101010101" pitchFamily="2" charset="-122"/>
              </a:rPr>
              <a:t> </a:t>
            </a:r>
            <a:r>
              <a:rPr lang="zh-CN" altLang="en-US" sz="2800" dirty="0">
                <a:solidFill>
                  <a:schemeClr val="tx1"/>
                </a:solidFill>
                <a:latin typeface="宋体" panose="02010600030101010101" pitchFamily="2" charset="-122"/>
              </a:rPr>
              <a:t>实验数据</a:t>
            </a:r>
            <a:r>
              <a:rPr lang="en-US" altLang="zh-CN" sz="2800" dirty="0">
                <a:solidFill>
                  <a:srgbClr val="FF0000"/>
                </a:solidFill>
                <a:cs typeface="+mj-lt"/>
              </a:rPr>
              <a:t>&lt;&lt; </a:t>
            </a:r>
            <a:r>
              <a:rPr lang="en-US" altLang="zh-CN" sz="3200" dirty="0">
                <a:solidFill>
                  <a:srgbClr val="FF0000"/>
                </a:solidFill>
                <a:cs typeface="+mj-lt"/>
              </a:rPr>
              <a:t>2 </a:t>
            </a:r>
            <a:r>
              <a:rPr lang="zh-CN" altLang="en-US" sz="3200" dirty="0">
                <a:solidFill>
                  <a:schemeClr val="tx1"/>
                </a:solidFill>
                <a:sym typeface="+mn-ea"/>
              </a:rPr>
              <a:t>电压</a:t>
            </a:r>
            <a:r>
              <a:rPr lang="zh-CN" altLang="en-US" sz="3200" dirty="0">
                <a:solidFill>
                  <a:srgbClr val="FF0000"/>
                </a:solidFill>
                <a:sym typeface="+mn-ea"/>
              </a:rPr>
              <a:t>传输特性</a:t>
            </a:r>
            <a:endParaRPr lang="zh-CN" altLang="en-US" sz="3200" dirty="0">
              <a:solidFill>
                <a:srgbClr val="FF0000"/>
              </a:solidFill>
              <a:latin typeface="宋体" panose="02010600030101010101" pitchFamily="2" charset="-122"/>
              <a:sym typeface="+mn-ea"/>
            </a:endParaRPr>
          </a:p>
        </p:txBody>
      </p:sp>
      <p:sp>
        <p:nvSpPr>
          <p:cNvPr id="2" name="文本框 1"/>
          <p:cNvSpPr txBox="1"/>
          <p:nvPr/>
        </p:nvSpPr>
        <p:spPr>
          <a:xfrm>
            <a:off x="839470" y="2321560"/>
            <a:ext cx="1782445" cy="977265"/>
          </a:xfrm>
          <a:prstGeom prst="rect">
            <a:avLst/>
          </a:prstGeom>
          <a:noFill/>
        </p:spPr>
        <p:txBody>
          <a:bodyPr wrap="square" rtlCol="0" anchor="t">
            <a:spAutoFit/>
          </a:bodyPr>
          <a:p>
            <a:pPr marL="342900" indent="-342900" algn="l">
              <a:lnSpc>
                <a:spcPct val="120000"/>
              </a:lnSpc>
              <a:buClr>
                <a:schemeClr val="folHlink"/>
              </a:buClr>
              <a:buSzPct val="60000"/>
              <a:buFont typeface="Wingdings" panose="05000000000000000000" pitchFamily="2" charset="2"/>
            </a:pPr>
            <a:r>
              <a:rPr lang="en-US" altLang="zh-CN" sz="2400" b="1" dirty="0">
                <a:solidFill>
                  <a:srgbClr val="FF0000"/>
                </a:solidFill>
                <a:latin typeface="+mn-lt"/>
                <a:ea typeface="+mn-ea"/>
                <a:cs typeface="+mn-lt"/>
                <a:sym typeface="+mn-ea"/>
              </a:rPr>
              <a:t>X&gt;0, Y=X</a:t>
            </a:r>
            <a:endParaRPr lang="en-US" altLang="zh-CN" sz="2400" b="1" dirty="0">
              <a:solidFill>
                <a:srgbClr val="FF0000"/>
              </a:solidFill>
              <a:latin typeface="+mn-ea"/>
              <a:ea typeface="+mn-ea"/>
              <a:cs typeface="+mn-ea"/>
            </a:endParaRPr>
          </a:p>
          <a:p>
            <a:pPr marL="342900" indent="-342900" algn="l">
              <a:lnSpc>
                <a:spcPct val="120000"/>
              </a:lnSpc>
              <a:buClr>
                <a:schemeClr val="folHlink"/>
              </a:buClr>
              <a:buSzPct val="60000"/>
              <a:buFont typeface="Wingdings" panose="05000000000000000000" pitchFamily="2" charset="2"/>
            </a:pPr>
            <a:r>
              <a:rPr lang="en-US" altLang="zh-CN" sz="2400" b="1" dirty="0">
                <a:solidFill>
                  <a:srgbClr val="FF0000"/>
                </a:solidFill>
                <a:latin typeface="+mn-lt"/>
                <a:ea typeface="+mn-ea"/>
                <a:cs typeface="+mn-lt"/>
                <a:sym typeface="+mn-ea"/>
              </a:rPr>
              <a:t>X&lt;0, Y= -X</a:t>
            </a:r>
            <a:endParaRPr lang="en-US" altLang="zh-CN" sz="2400" b="1" dirty="0">
              <a:solidFill>
                <a:srgbClr val="FF0000"/>
              </a:solidFill>
              <a:latin typeface="+mn-lt"/>
              <a:ea typeface="+mn-ea"/>
              <a:cs typeface="+mn-lt"/>
              <a:sym typeface="+mn-ea"/>
            </a:endParaRPr>
          </a:p>
        </p:txBody>
      </p:sp>
      <p:sp>
        <p:nvSpPr>
          <p:cNvPr id="3" name="文本框 2"/>
          <p:cNvSpPr txBox="1"/>
          <p:nvPr/>
        </p:nvSpPr>
        <p:spPr>
          <a:xfrm>
            <a:off x="1110615" y="5166360"/>
            <a:ext cx="7963535" cy="460375"/>
          </a:xfrm>
          <a:prstGeom prst="rect">
            <a:avLst/>
          </a:prstGeom>
          <a:noFill/>
        </p:spPr>
        <p:txBody>
          <a:bodyPr wrap="square" rtlCol="0" anchor="t">
            <a:spAutoFit/>
          </a:bodyPr>
          <a:p>
            <a:r>
              <a:rPr lang="en-US" altLang="zh-CN" sz="2400" b="1" dirty="0">
                <a:solidFill>
                  <a:srgbClr val="FF0000"/>
                </a:solidFill>
                <a:latin typeface="+mn-ea"/>
                <a:ea typeface="+mn-ea"/>
                <a:cs typeface="+mn-ea"/>
                <a:sym typeface="+mn-ea"/>
              </a:rPr>
              <a:t>2</a:t>
            </a:r>
            <a:r>
              <a:rPr lang="zh-CN" altLang="en-US" sz="2400" b="1" dirty="0">
                <a:solidFill>
                  <a:srgbClr val="FF0000"/>
                </a:solidFill>
                <a:latin typeface="+mn-ea"/>
                <a:ea typeface="+mn-ea"/>
                <a:cs typeface="+mn-ea"/>
                <a:sym typeface="+mn-ea"/>
              </a:rPr>
              <a:t>）</a:t>
            </a:r>
            <a:r>
              <a:rPr lang="zh-CN" altLang="en-US" sz="2400" b="1" dirty="0">
                <a:latin typeface="+mn-ea"/>
                <a:ea typeface="+mn-ea"/>
                <a:cs typeface="+mn-ea"/>
                <a:sym typeface="+mn-ea"/>
              </a:rPr>
              <a:t>“逐点法”取不同</a:t>
            </a:r>
            <a:r>
              <a:rPr lang="en-US" altLang="zh-CN" sz="2400" b="1" i="1" dirty="0">
                <a:solidFill>
                  <a:srgbClr val="FF0000"/>
                </a:solidFill>
                <a:latin typeface="+mn-lt"/>
                <a:ea typeface="+mn-ea"/>
                <a:cs typeface="+mn-lt"/>
                <a:sym typeface="+mn-ea"/>
              </a:rPr>
              <a:t>V</a:t>
            </a:r>
            <a:r>
              <a:rPr lang="en-US" altLang="zh-CN" sz="2400" b="1" baseline="-25000" dirty="0">
                <a:solidFill>
                  <a:srgbClr val="FF0000"/>
                </a:solidFill>
                <a:latin typeface="+mn-lt"/>
                <a:ea typeface="+mn-ea"/>
                <a:cs typeface="+mn-lt"/>
                <a:sym typeface="+mn-ea"/>
              </a:rPr>
              <a:t>i</a:t>
            </a:r>
            <a:r>
              <a:rPr lang="zh-CN" altLang="en-US" sz="2400" b="1" dirty="0">
                <a:latin typeface="+mn-ea"/>
                <a:ea typeface="+mn-ea"/>
                <a:cs typeface="+mn-ea"/>
                <a:sym typeface="+mn-ea"/>
              </a:rPr>
              <a:t>时测量</a:t>
            </a:r>
            <a:r>
              <a:rPr lang="en-US" altLang="zh-CN" sz="2400" b="1" i="1" dirty="0">
                <a:solidFill>
                  <a:srgbClr val="FF0000"/>
                </a:solidFill>
                <a:latin typeface="+mn-lt"/>
                <a:ea typeface="+mn-ea"/>
                <a:cs typeface="+mn-lt"/>
                <a:sym typeface="+mn-ea"/>
              </a:rPr>
              <a:t>V</a:t>
            </a:r>
            <a:r>
              <a:rPr lang="en-US" altLang="zh-CN" sz="2400" b="1" baseline="-25000" dirty="0">
                <a:solidFill>
                  <a:srgbClr val="FF0000"/>
                </a:solidFill>
                <a:latin typeface="+mn-lt"/>
                <a:ea typeface="+mn-ea"/>
                <a:cs typeface="+mn-lt"/>
                <a:sym typeface="+mn-ea"/>
              </a:rPr>
              <a:t>o</a:t>
            </a:r>
            <a:r>
              <a:rPr lang="zh-CN" altLang="en-US" sz="2400" b="1" dirty="0">
                <a:latin typeface="+mn-ea"/>
                <a:ea typeface="+mn-ea"/>
                <a:cs typeface="+mn-ea"/>
                <a:sym typeface="+mn-ea"/>
              </a:rPr>
              <a:t>，逐点描出曲线</a:t>
            </a:r>
            <a:r>
              <a:rPr lang="zh-CN" altLang="en-US" sz="2400" b="1" dirty="0">
                <a:solidFill>
                  <a:srgbClr val="FF0000"/>
                </a:solidFill>
                <a:latin typeface="+mn-ea"/>
                <a:ea typeface="+mn-ea"/>
                <a:cs typeface="+mn-ea"/>
                <a:sym typeface="+mn-ea"/>
              </a:rPr>
              <a:t>（不做）</a:t>
            </a:r>
            <a:endParaRPr lang="zh-CN" altLang="en-US" sz="2400" b="1" dirty="0">
              <a:solidFill>
                <a:srgbClr val="FF0000"/>
              </a:solidFill>
              <a:latin typeface="+mn-ea"/>
              <a:ea typeface="+mn-ea"/>
              <a:cs typeface="+mn-ea"/>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9938">
                                            <p:txEl>
                                              <p:pRg st="0" end="0"/>
                                            </p:txEl>
                                          </p:spTgt>
                                        </p:tgtEl>
                                        <p:attrNameLst>
                                          <p:attrName>style.visibility</p:attrName>
                                        </p:attrNameLst>
                                      </p:cBhvr>
                                      <p:to>
                                        <p:strVal val="visible"/>
                                      </p:to>
                                    </p:set>
                                    <p:animEffect transition="in" filter="wipe(down)">
                                      <p:cBhvr>
                                        <p:cTn id="7" dur="500"/>
                                        <p:tgtEl>
                                          <p:spTgt spid="3993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9938">
                                            <p:txEl>
                                              <p:pRg st="1" end="1"/>
                                            </p:txEl>
                                          </p:spTgt>
                                        </p:tgtEl>
                                        <p:attrNameLst>
                                          <p:attrName>style.visibility</p:attrName>
                                        </p:attrNameLst>
                                      </p:cBhvr>
                                      <p:to>
                                        <p:strVal val="visible"/>
                                      </p:to>
                                    </p:set>
                                    <p:animEffect transition="in" filter="wipe(down)">
                                      <p:cBhvr>
                                        <p:cTn id="17" dur="500"/>
                                        <p:tgtEl>
                                          <p:spTgt spid="39938">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9947">
                                            <p:txEl>
                                              <p:pRg st="0" end="0"/>
                                            </p:txEl>
                                          </p:spTgt>
                                        </p:tgtEl>
                                        <p:attrNameLst>
                                          <p:attrName>style.visibility</p:attrName>
                                        </p:attrNameLst>
                                      </p:cBhvr>
                                      <p:to>
                                        <p:strVal val="visible"/>
                                      </p:to>
                                    </p:set>
                                    <p:animEffect transition="in" filter="wipe(down)">
                                      <p:cBhvr>
                                        <p:cTn id="22" dur="500"/>
                                        <p:tgtEl>
                                          <p:spTgt spid="39947">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39947">
                                            <p:txEl>
                                              <p:pRg st="1" end="1"/>
                                            </p:txEl>
                                          </p:spTgt>
                                        </p:tgtEl>
                                        <p:attrNameLst>
                                          <p:attrName>style.visibility</p:attrName>
                                        </p:attrNameLst>
                                      </p:cBhvr>
                                      <p:to>
                                        <p:strVal val="visible"/>
                                      </p:to>
                                    </p:set>
                                    <p:animEffect transition="in" filter="wipe(down)">
                                      <p:cBhvr>
                                        <p:cTn id="27" dur="500"/>
                                        <p:tgtEl>
                                          <p:spTgt spid="39947">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39947">
                                            <p:txEl>
                                              <p:pRg st="2" end="2"/>
                                            </p:txEl>
                                          </p:spTgt>
                                        </p:tgtEl>
                                        <p:attrNameLst>
                                          <p:attrName>style.visibility</p:attrName>
                                        </p:attrNameLst>
                                      </p:cBhvr>
                                      <p:to>
                                        <p:strVal val="visible"/>
                                      </p:to>
                                    </p:set>
                                    <p:animEffect transition="in" filter="wipe(down)">
                                      <p:cBhvr>
                                        <p:cTn id="32" dur="500"/>
                                        <p:tgtEl>
                                          <p:spTgt spid="39947">
                                            <p:txEl>
                                              <p:pRg st="2" end="2"/>
                                            </p:txEl>
                                          </p:spTgt>
                                        </p:tgtEl>
                                      </p:cBhvr>
                                    </p:animEffect>
                                  </p:childTnLst>
                                </p:cTn>
                              </p:par>
                              <p:par>
                                <p:cTn id="33" presetID="22" presetClass="entr" presetSubtype="4" fill="hold" nodeType="withEffect">
                                  <p:stCondLst>
                                    <p:cond delay="0"/>
                                  </p:stCondLst>
                                  <p:childTnLst>
                                    <p:set>
                                      <p:cBhvr>
                                        <p:cTn id="34" dur="1" fill="hold">
                                          <p:stCondLst>
                                            <p:cond delay="0"/>
                                          </p:stCondLst>
                                        </p:cTn>
                                        <p:tgtEl>
                                          <p:spTgt spid="39947">
                                            <p:txEl>
                                              <p:pRg st="3" end="3"/>
                                            </p:txEl>
                                          </p:spTgt>
                                        </p:tgtEl>
                                        <p:attrNameLst>
                                          <p:attrName>style.visibility</p:attrName>
                                        </p:attrNameLst>
                                      </p:cBhvr>
                                      <p:to>
                                        <p:strVal val="visible"/>
                                      </p:to>
                                    </p:set>
                                    <p:animEffect transition="in" filter="wipe(down)">
                                      <p:cBhvr>
                                        <p:cTn id="35" dur="500"/>
                                        <p:tgtEl>
                                          <p:spTgt spid="39947">
                                            <p:txEl>
                                              <p:pRg st="3" end="3"/>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nodeType="clickEffect">
                                  <p:stCondLst>
                                    <p:cond delay="0"/>
                                  </p:stCondLst>
                                  <p:childTnLst>
                                    <p:set>
                                      <p:cBhvr>
                                        <p:cTn id="39" dur="1" fill="hold">
                                          <p:stCondLst>
                                            <p:cond delay="0"/>
                                          </p:stCondLst>
                                        </p:cTn>
                                        <p:tgtEl>
                                          <p:spTgt spid="39947">
                                            <p:txEl>
                                              <p:pRg st="4" end="4"/>
                                            </p:txEl>
                                          </p:spTgt>
                                        </p:tgtEl>
                                        <p:attrNameLst>
                                          <p:attrName>style.visibility</p:attrName>
                                        </p:attrNameLst>
                                      </p:cBhvr>
                                      <p:to>
                                        <p:strVal val="visible"/>
                                      </p:to>
                                    </p:set>
                                    <p:animEffect transition="in" filter="wipe(down)">
                                      <p:cBhvr>
                                        <p:cTn id="40" dur="500"/>
                                        <p:tgtEl>
                                          <p:spTgt spid="39947">
                                            <p:txEl>
                                              <p:pRg st="4" end="4"/>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3"/>
                                        </p:tgtEl>
                                        <p:attrNameLst>
                                          <p:attrName>style.visibility</p:attrName>
                                        </p:attrNameLst>
                                      </p:cBhvr>
                                      <p:to>
                                        <p:strVal val="visible"/>
                                      </p:to>
                                    </p:set>
                                    <p:animEffect transition="in" filter="wipe(left)">
                                      <p:cBhvr>
                                        <p:cTn id="4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47" grpId="1"/>
      <p:bldP spid="2" grpId="0"/>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29" name="标题 27649"/>
          <p:cNvSpPr>
            <a:spLocks noGrp="1"/>
          </p:cNvSpPr>
          <p:nvPr>
            <p:ph type="title" idx="4294967295"/>
          </p:nvPr>
        </p:nvSpPr>
        <p:spPr>
          <a:xfrm>
            <a:off x="947420" y="-136525"/>
            <a:ext cx="7286625" cy="755650"/>
          </a:xfrm>
        </p:spPr>
        <p:txBody>
          <a:bodyPr anchor="b" anchorCtr="0"/>
          <a:p>
            <a:pPr algn="ctr"/>
            <a:r>
              <a:rPr lang="en-US" altLang="zh-CN" sz="3200">
                <a:solidFill>
                  <a:schemeClr val="tx1"/>
                </a:solidFill>
                <a:latin typeface="微软雅黑" panose="020B0503020204020204" charset="-122"/>
                <a:ea typeface="微软雅黑" panose="020B0503020204020204" charset="-122"/>
              </a:rPr>
              <a:t> </a:t>
            </a:r>
            <a:r>
              <a:rPr lang="zh-CN" altLang="en-US" sz="3200">
                <a:solidFill>
                  <a:schemeClr val="tx1"/>
                </a:solidFill>
                <a:latin typeface="微软雅黑" panose="020B0503020204020204" charset="-122"/>
                <a:ea typeface="微软雅黑" panose="020B0503020204020204" charset="-122"/>
              </a:rPr>
              <a:t>验收要求</a:t>
            </a:r>
            <a:endParaRPr lang="zh-CN" altLang="en-US" sz="3200">
              <a:solidFill>
                <a:schemeClr val="tx1"/>
              </a:solidFill>
              <a:latin typeface="微软雅黑" panose="020B0503020204020204" charset="-122"/>
              <a:ea typeface="微软雅黑" panose="020B0503020204020204" charset="-122"/>
            </a:endParaRPr>
          </a:p>
        </p:txBody>
      </p:sp>
      <p:sp>
        <p:nvSpPr>
          <p:cNvPr id="48130" name="文本占位符 27650"/>
          <p:cNvSpPr>
            <a:spLocks noGrp="1"/>
          </p:cNvSpPr>
          <p:nvPr>
            <p:ph idx="4294967295"/>
          </p:nvPr>
        </p:nvSpPr>
        <p:spPr>
          <a:xfrm>
            <a:off x="1301750" y="838835"/>
            <a:ext cx="8001000" cy="4516755"/>
          </a:xfrm>
        </p:spPr>
        <p:txBody>
          <a:bodyPr anchor="t" anchorCtr="0"/>
          <a:p>
            <a:pPr marL="0" indent="0">
              <a:lnSpc>
                <a:spcPct val="145000"/>
              </a:lnSpc>
              <a:spcBef>
                <a:spcPts val="0"/>
              </a:spcBef>
              <a:buFont typeface="Wingdings" panose="05000000000000000000" charset="0"/>
              <a:buNone/>
            </a:pPr>
            <a:r>
              <a:rPr lang="en-US" altLang="zh-CN" sz="2800" b="1" dirty="0">
                <a:latin typeface="楷体_GB2312" pitchFamily="1" charset="-122"/>
                <a:sym typeface="Wingdings 2" panose="05020102010507070707" pitchFamily="2" charset="2"/>
              </a:rPr>
              <a:t>1</a:t>
            </a:r>
            <a:r>
              <a:rPr lang="zh-CN" altLang="en-US" sz="2800" b="1" dirty="0">
                <a:latin typeface="楷体_GB2312" pitchFamily="1" charset="-122"/>
                <a:sym typeface="Wingdings 2" panose="05020102010507070707" pitchFamily="2" charset="2"/>
              </a:rPr>
              <a:t>）</a:t>
            </a:r>
            <a:r>
              <a:rPr lang="zh-CN" altLang="en-US" sz="2800" b="1" dirty="0">
                <a:latin typeface="楷体_GB2312" pitchFamily="1" charset="-122"/>
                <a:sym typeface="Wingdings 2" panose="05020102010507070707" pitchFamily="2" charset="2"/>
              </a:rPr>
              <a:t>正弦波产生</a:t>
            </a:r>
            <a:r>
              <a:rPr lang="zh-CN" altLang="en-US" sz="2800" b="1" dirty="0">
                <a:sym typeface="Wingdings 2" panose="05020102010507070707" pitchFamily="2" charset="2"/>
              </a:rPr>
              <a:t>电路</a:t>
            </a:r>
            <a:endParaRPr lang="zh-CN" altLang="en-US" sz="2800" b="1" dirty="0">
              <a:sym typeface="Wingdings 2" panose="05020102010507070707" pitchFamily="2" charset="2"/>
            </a:endParaRPr>
          </a:p>
          <a:p>
            <a:pPr lvl="1">
              <a:lnSpc>
                <a:spcPct val="145000"/>
              </a:lnSpc>
              <a:spcBef>
                <a:spcPts val="0"/>
              </a:spcBef>
              <a:buFont typeface="Wingdings" panose="05000000000000000000" charset="0"/>
              <a:buChar char="u"/>
            </a:pPr>
            <a:r>
              <a:rPr lang="zh-CN" altLang="en-US" sz="2800" b="1" dirty="0"/>
              <a:t>输出信号</a:t>
            </a:r>
            <a:r>
              <a:rPr lang="en-US" altLang="zh-CN" sz="2800" b="1" i="1" dirty="0"/>
              <a:t>V</a:t>
            </a:r>
            <a:r>
              <a:rPr lang="en-US" altLang="zh-CN" sz="2800" b="1" baseline="-25000" dirty="0"/>
              <a:t>o</a:t>
            </a:r>
            <a:r>
              <a:rPr lang="zh-CN" altLang="en-US" sz="2800" b="1" dirty="0"/>
              <a:t>测量结果</a:t>
            </a:r>
            <a:endParaRPr lang="zh-CN" altLang="en-US" sz="2800" b="1" dirty="0"/>
          </a:p>
          <a:p>
            <a:pPr marL="471805" lvl="1" indent="0">
              <a:lnSpc>
                <a:spcPct val="145000"/>
              </a:lnSpc>
              <a:spcBef>
                <a:spcPts val="0"/>
              </a:spcBef>
              <a:buFont typeface="Wingdings" panose="05000000000000000000" charset="0"/>
              <a:buNone/>
            </a:pPr>
            <a:r>
              <a:rPr lang="en-US" altLang="zh-CN" sz="2800" b="1" dirty="0"/>
              <a:t>     f=??;</a:t>
            </a:r>
            <a:r>
              <a:rPr lang="en-US" altLang="zh-CN" sz="2800" b="1" i="1" dirty="0"/>
              <a:t>V</a:t>
            </a:r>
            <a:r>
              <a:rPr lang="en-US" altLang="zh-CN" sz="2800" b="1" dirty="0"/>
              <a:t>opp=?</a:t>
            </a:r>
            <a:r>
              <a:rPr lang="zh-CN" altLang="en-US" sz="2800" b="1" dirty="0"/>
              <a:t>失真？</a:t>
            </a:r>
            <a:endParaRPr lang="zh-CN" altLang="en-US" sz="2800" b="1" dirty="0"/>
          </a:p>
          <a:p>
            <a:pPr lvl="1">
              <a:lnSpc>
                <a:spcPct val="145000"/>
              </a:lnSpc>
              <a:spcBef>
                <a:spcPts val="0"/>
              </a:spcBef>
              <a:buFont typeface="Wingdings" panose="05000000000000000000" charset="0"/>
              <a:buChar char="u"/>
            </a:pPr>
            <a:r>
              <a:rPr lang="zh-CN" altLang="en-US" sz="2800" b="1" dirty="0"/>
              <a:t>表</a:t>
            </a:r>
            <a:r>
              <a:rPr lang="en-US" altLang="zh-CN" sz="2800" b="1" dirty="0"/>
              <a:t>4.9.1</a:t>
            </a:r>
            <a:r>
              <a:rPr lang="zh-CN" altLang="en-US" sz="2800" b="1" dirty="0"/>
              <a:t>测量结果</a:t>
            </a:r>
            <a:endParaRPr lang="zh-CN" altLang="en-US" sz="2800" b="1" dirty="0"/>
          </a:p>
          <a:p>
            <a:pPr marL="0" indent="0">
              <a:lnSpc>
                <a:spcPct val="145000"/>
              </a:lnSpc>
              <a:spcBef>
                <a:spcPts val="0"/>
              </a:spcBef>
              <a:buFont typeface="Wingdings" panose="05000000000000000000" charset="0"/>
              <a:buNone/>
            </a:pPr>
            <a:r>
              <a:rPr lang="en-US" altLang="zh-CN" sz="2800" b="1" dirty="0"/>
              <a:t>2</a:t>
            </a:r>
            <a:r>
              <a:rPr lang="zh-CN" altLang="en-US" sz="2800" b="1" dirty="0"/>
              <a:t>）</a:t>
            </a:r>
            <a:r>
              <a:rPr lang="zh-CN" altLang="en-US" sz="2800" b="1" dirty="0">
                <a:solidFill>
                  <a:srgbClr val="FF0000"/>
                </a:solidFill>
              </a:rPr>
              <a:t>全波</a:t>
            </a:r>
            <a:r>
              <a:rPr lang="zh-CN" altLang="en-US" sz="2800" b="1" dirty="0"/>
              <a:t>整流信号与</a:t>
            </a:r>
            <a:r>
              <a:rPr lang="zh-CN" altLang="en-US" sz="2800" b="1" dirty="0">
                <a:solidFill>
                  <a:srgbClr val="FF0000"/>
                </a:solidFill>
              </a:rPr>
              <a:t>电压传输特性</a:t>
            </a:r>
            <a:r>
              <a:rPr lang="zh-CN" altLang="en-US" sz="2800" b="1" dirty="0"/>
              <a:t>测量曲线</a:t>
            </a:r>
            <a:endParaRPr lang="zh-CN" altLang="en-US" sz="2800" b="1" dirty="0"/>
          </a:p>
          <a:p>
            <a:pPr lvl="1">
              <a:lnSpc>
                <a:spcPct val="145000"/>
              </a:lnSpc>
              <a:spcBef>
                <a:spcPts val="0"/>
              </a:spcBef>
              <a:buFont typeface="Wingdings" panose="05000000000000000000" charset="0"/>
              <a:buChar char="u"/>
            </a:pPr>
            <a:r>
              <a:rPr lang="en-US" altLang="zh-CN" sz="2800" b="1" i="1" dirty="0">
                <a:latin typeface="Times New Roman" panose="02020603050405020304" pitchFamily="2" charset="0"/>
                <a:cs typeface="Times New Roman" panose="02020603050405020304" pitchFamily="2" charset="0"/>
              </a:rPr>
              <a:t>V</a:t>
            </a:r>
            <a:r>
              <a:rPr lang="en-US" altLang="zh-CN" sz="2800" b="1" baseline="-25000" dirty="0">
                <a:latin typeface="Times New Roman" panose="02020603050405020304" pitchFamily="2" charset="0"/>
                <a:cs typeface="Times New Roman" panose="02020603050405020304" pitchFamily="2" charset="0"/>
              </a:rPr>
              <a:t>i</a:t>
            </a:r>
            <a:r>
              <a:rPr lang="zh-CN" altLang="en-US" sz="2800" b="1" dirty="0">
                <a:latin typeface="Times New Roman" panose="02020603050405020304" pitchFamily="2" charset="0"/>
                <a:cs typeface="Times New Roman" panose="02020603050405020304" pitchFamily="2" charset="0"/>
              </a:rPr>
              <a:t>，</a:t>
            </a:r>
            <a:r>
              <a:rPr lang="en-US" altLang="zh-CN" sz="2800" b="1" i="1" dirty="0">
                <a:latin typeface="Times New Roman" panose="02020603050405020304" pitchFamily="2" charset="0"/>
                <a:ea typeface="楷体_GB2312" pitchFamily="1" charset="-122"/>
                <a:cs typeface="Times New Roman" panose="02020603050405020304" pitchFamily="2" charset="0"/>
              </a:rPr>
              <a:t>V</a:t>
            </a:r>
            <a:r>
              <a:rPr lang="en-US" altLang="zh-CN" sz="2800" b="1" baseline="-25000" dirty="0">
                <a:latin typeface="Times New Roman" panose="02020603050405020304" pitchFamily="2" charset="0"/>
                <a:ea typeface="楷体_GB2312" pitchFamily="1" charset="-122"/>
                <a:cs typeface="Times New Roman" panose="02020603050405020304" pitchFamily="2" charset="0"/>
              </a:rPr>
              <a:t>o1</a:t>
            </a:r>
            <a:r>
              <a:rPr lang="zh-CN" altLang="en-US" sz="2800" b="1" dirty="0">
                <a:latin typeface="Times New Roman" panose="02020603050405020304" pitchFamily="2" charset="0"/>
                <a:cs typeface="Times New Roman" panose="02020603050405020304" pitchFamily="2" charset="0"/>
              </a:rPr>
              <a:t>，</a:t>
            </a:r>
            <a:r>
              <a:rPr lang="en-US" altLang="zh-CN" sz="2800" b="1" i="1" dirty="0">
                <a:latin typeface="Times New Roman" panose="02020603050405020304" pitchFamily="2" charset="0"/>
                <a:cs typeface="Times New Roman" panose="02020603050405020304" pitchFamily="2" charset="0"/>
              </a:rPr>
              <a:t>V</a:t>
            </a:r>
            <a:r>
              <a:rPr lang="en-US" altLang="zh-CN" sz="2800" b="1" baseline="-25000" dirty="0">
                <a:latin typeface="Times New Roman" panose="02020603050405020304" pitchFamily="2" charset="0"/>
                <a:cs typeface="Times New Roman" panose="02020603050405020304" pitchFamily="2" charset="0"/>
              </a:rPr>
              <a:t>o</a:t>
            </a:r>
            <a:r>
              <a:rPr lang="zh-CN" altLang="en-US" sz="2800" b="1" dirty="0"/>
              <a:t>波形</a:t>
            </a:r>
            <a:endParaRPr lang="zh-CN" altLang="en-US" sz="2800" b="1" dirty="0"/>
          </a:p>
          <a:p>
            <a:pPr lvl="1">
              <a:lnSpc>
                <a:spcPct val="145000"/>
              </a:lnSpc>
              <a:spcBef>
                <a:spcPts val="0"/>
              </a:spcBef>
              <a:buFont typeface="Wingdings" panose="05000000000000000000" charset="0"/>
              <a:buChar char="u"/>
            </a:pPr>
            <a:r>
              <a:rPr lang="zh-CN" altLang="en-US" sz="2800" b="1" dirty="0"/>
              <a:t>电压传输特性曲线测量结果</a:t>
            </a:r>
            <a:endParaRPr lang="zh-CN" altLang="en-US" sz="2800" b="1" dirty="0"/>
          </a:p>
          <a:p>
            <a:pPr lvl="1"/>
            <a:endParaRPr lang="zh-CN" altLang="en-US" sz="2800" b="1" dirty="0"/>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object 7"/>
          <p:cNvSpPr/>
          <p:nvPr/>
        </p:nvSpPr>
        <p:spPr>
          <a:xfrm>
            <a:off x="2035810" y="1270635"/>
            <a:ext cx="4753610" cy="1622425"/>
          </a:xfrm>
          <a:prstGeom prst="rect">
            <a:avLst/>
          </a:prstGeom>
          <a:blipFill>
            <a:blip r:embed="rId1" cstate="print"/>
            <a:stretch>
              <a:fillRect/>
            </a:stretch>
          </a:blipFill>
        </p:spPr>
        <p:txBody>
          <a:bodyPr wrap="square" lIns="0" tIns="0" rIns="0" bIns="0" rtlCol="0"/>
          <a:p/>
        </p:txBody>
      </p:sp>
      <p:sp>
        <p:nvSpPr>
          <p:cNvPr id="118786" name="矩形 118785"/>
          <p:cNvSpPr/>
          <p:nvPr/>
        </p:nvSpPr>
        <p:spPr>
          <a:xfrm>
            <a:off x="2400300" y="3593148"/>
            <a:ext cx="387350" cy="630237"/>
          </a:xfrm>
          <a:prstGeom prst="rect">
            <a:avLst/>
          </a:prstGeom>
          <a:solidFill>
            <a:srgbClr val="0099FF"/>
          </a:solidFill>
          <a:ln w="9525">
            <a:noFill/>
          </a:ln>
        </p:spPr>
        <p:txBody>
          <a:bodyPr anchor="t" anchorCtr="0"/>
          <a:p>
            <a:endParaRPr lang="zh-CN" altLang="en-US">
              <a:latin typeface="Verdana" panose="020B0604030504040204" pitchFamily="2" charset="0"/>
              <a:ea typeface="宋体" panose="02010600030101010101" pitchFamily="2" charset="-122"/>
            </a:endParaRPr>
          </a:p>
        </p:txBody>
      </p:sp>
      <p:sp>
        <p:nvSpPr>
          <p:cNvPr id="118787" name="矩形 118786"/>
          <p:cNvSpPr/>
          <p:nvPr/>
        </p:nvSpPr>
        <p:spPr>
          <a:xfrm>
            <a:off x="2395538" y="4842510"/>
            <a:ext cx="387350" cy="630238"/>
          </a:xfrm>
          <a:prstGeom prst="rect">
            <a:avLst/>
          </a:prstGeom>
          <a:solidFill>
            <a:schemeClr val="hlink"/>
          </a:solidFill>
          <a:ln w="9525">
            <a:noFill/>
          </a:ln>
        </p:spPr>
        <p:txBody>
          <a:bodyPr anchor="t" anchorCtr="0"/>
          <a:p>
            <a:endParaRPr lang="zh-CN" altLang="en-US">
              <a:latin typeface="Verdana" panose="020B0604030504040204" pitchFamily="2" charset="0"/>
              <a:ea typeface="宋体" panose="02010600030101010101" pitchFamily="2" charset="-122"/>
            </a:endParaRPr>
          </a:p>
        </p:txBody>
      </p:sp>
      <p:sp>
        <p:nvSpPr>
          <p:cNvPr id="10243" name="标题 118787"/>
          <p:cNvSpPr>
            <a:spLocks noGrp="1"/>
          </p:cNvSpPr>
          <p:nvPr>
            <p:ph type="title" idx="4294967295"/>
          </p:nvPr>
        </p:nvSpPr>
        <p:spPr>
          <a:xfrm>
            <a:off x="2932430" y="116205"/>
            <a:ext cx="2378710" cy="518795"/>
          </a:xfrm>
        </p:spPr>
        <p:txBody>
          <a:bodyPr anchor="b" anchorCtr="0"/>
          <a:p>
            <a:r>
              <a:rPr lang="zh-CN" altLang="en-US" sz="3200" dirty="0">
                <a:solidFill>
                  <a:srgbClr val="FF0000"/>
                </a:solidFill>
                <a:latin typeface="微软雅黑" panose="020B0503020204020204" charset="-122"/>
                <a:ea typeface="微软雅黑" panose="020B0503020204020204" charset="-122"/>
                <a:cs typeface="微软雅黑" panose="020B0503020204020204" charset="-122"/>
              </a:rPr>
              <a:t>注意事项</a:t>
            </a:r>
            <a:endParaRPr lang="zh-CN" altLang="en-US" sz="3200" dirty="0">
              <a:solidFill>
                <a:srgbClr val="FF0000"/>
              </a:solidFill>
              <a:latin typeface="微软雅黑" panose="020B0503020204020204" charset="-122"/>
              <a:ea typeface="微软雅黑" panose="020B0503020204020204" charset="-122"/>
              <a:cs typeface="微软雅黑" panose="020B0503020204020204" charset="-122"/>
            </a:endParaRPr>
          </a:p>
        </p:txBody>
      </p:sp>
      <p:graphicFrame>
        <p:nvGraphicFramePr>
          <p:cNvPr id="10244" name="对象 118788"/>
          <p:cNvGraphicFramePr/>
          <p:nvPr/>
        </p:nvGraphicFramePr>
        <p:xfrm>
          <a:off x="187325" y="3550285"/>
          <a:ext cx="4724400" cy="1920875"/>
        </p:xfrm>
        <a:graphic>
          <a:graphicData uri="http://schemas.openxmlformats.org/presentationml/2006/ole">
            <mc:AlternateContent xmlns:mc="http://schemas.openxmlformats.org/markup-compatibility/2006">
              <mc:Choice xmlns:v="urn:schemas-microsoft-com:vml" Requires="v">
                <p:oleObj spid="_x0000_s3077" name="" r:id="rId2" imgW="2077720" imgH="828040" progId="Word.Picture.8">
                  <p:embed/>
                </p:oleObj>
              </mc:Choice>
              <mc:Fallback>
                <p:oleObj name="" r:id="rId2" imgW="2077720" imgH="828040" progId="Word.Picture.8">
                  <p:embed/>
                  <p:pic>
                    <p:nvPicPr>
                      <p:cNvPr id="0" name="图片 3076"/>
                      <p:cNvPicPr/>
                      <p:nvPr/>
                    </p:nvPicPr>
                    <p:blipFill>
                      <a:blip r:embed="rId3"/>
                      <a:srcRect l="3044" r="-1378"/>
                      <a:stretch>
                        <a:fillRect/>
                      </a:stretch>
                    </p:blipFill>
                    <p:spPr>
                      <a:xfrm>
                        <a:off x="187325" y="3550285"/>
                        <a:ext cx="4724400" cy="1920875"/>
                      </a:xfrm>
                      <a:prstGeom prst="rect">
                        <a:avLst/>
                      </a:prstGeom>
                      <a:noFill/>
                      <a:ln w="38100">
                        <a:noFill/>
                        <a:miter/>
                      </a:ln>
                    </p:spPr>
                  </p:pic>
                </p:oleObj>
              </mc:Fallback>
            </mc:AlternateContent>
          </a:graphicData>
        </a:graphic>
      </p:graphicFrame>
      <p:sp>
        <p:nvSpPr>
          <p:cNvPr id="10251" name="文本框 118795"/>
          <p:cNvSpPr txBox="1"/>
          <p:nvPr/>
        </p:nvSpPr>
        <p:spPr>
          <a:xfrm>
            <a:off x="6297930" y="2435860"/>
            <a:ext cx="1139190" cy="583565"/>
          </a:xfrm>
          <a:prstGeom prst="rect">
            <a:avLst/>
          </a:prstGeom>
          <a:noFill/>
          <a:ln w="9525">
            <a:noFill/>
          </a:ln>
        </p:spPr>
        <p:txBody>
          <a:bodyPr wrap="square" anchor="t" anchorCtr="0">
            <a:spAutoFit/>
          </a:bodyPr>
          <a:p>
            <a:pPr algn="ctr">
              <a:spcBef>
                <a:spcPct val="50000"/>
              </a:spcBef>
            </a:pPr>
            <a:r>
              <a:rPr lang="en-US" altLang="zh-CN" sz="3200" b="1">
                <a:solidFill>
                  <a:srgbClr val="FF0000"/>
                </a:solidFill>
                <a:latin typeface="Times New Roman" panose="02020603050405020304" pitchFamily="2" charset="0"/>
                <a:ea typeface="宋体" panose="02010600030101010101" pitchFamily="2" charset="-122"/>
              </a:rPr>
              <a:t>+12V</a:t>
            </a:r>
            <a:endParaRPr lang="en-US" altLang="zh-CN" sz="3200" b="1">
              <a:solidFill>
                <a:srgbClr val="FF0000"/>
              </a:solidFill>
              <a:latin typeface="Times New Roman" panose="02020603050405020304" pitchFamily="2" charset="0"/>
              <a:ea typeface="宋体" panose="02010600030101010101" pitchFamily="2" charset="-122"/>
            </a:endParaRPr>
          </a:p>
        </p:txBody>
      </p:sp>
      <p:sp>
        <p:nvSpPr>
          <p:cNvPr id="118807" name="文本框 118806"/>
          <p:cNvSpPr txBox="1"/>
          <p:nvPr/>
        </p:nvSpPr>
        <p:spPr>
          <a:xfrm>
            <a:off x="1234440" y="2502218"/>
            <a:ext cx="1524000" cy="583565"/>
          </a:xfrm>
          <a:prstGeom prst="rect">
            <a:avLst/>
          </a:prstGeom>
          <a:noFill/>
          <a:ln w="9525">
            <a:noFill/>
          </a:ln>
        </p:spPr>
        <p:txBody>
          <a:bodyPr anchor="t" anchorCtr="0">
            <a:spAutoFit/>
          </a:bodyPr>
          <a:p>
            <a:pPr algn="ctr">
              <a:spcBef>
                <a:spcPct val="50000"/>
              </a:spcBef>
            </a:pPr>
            <a:r>
              <a:rPr lang="en-US" altLang="zh-CN" sz="3200" b="1">
                <a:solidFill>
                  <a:srgbClr val="FF0000"/>
                </a:solidFill>
                <a:latin typeface="Times New Roman" panose="02020603050405020304" pitchFamily="2" charset="0"/>
                <a:ea typeface="黑体" panose="02010609060101010101" pitchFamily="2" charset="-122"/>
                <a:cs typeface="Times New Roman" panose="02020603050405020304" pitchFamily="2" charset="0"/>
              </a:rPr>
              <a:t>-</a:t>
            </a:r>
            <a:r>
              <a:rPr lang="en-US" altLang="zh-CN" sz="3200" b="1">
                <a:solidFill>
                  <a:srgbClr val="FF0000"/>
                </a:solidFill>
                <a:latin typeface="Times New Roman" panose="02020603050405020304" pitchFamily="2" charset="0"/>
                <a:ea typeface="宋体" panose="02010600030101010101" pitchFamily="2" charset="-122"/>
                <a:cs typeface="Times New Roman" panose="02020603050405020304" pitchFamily="2" charset="0"/>
              </a:rPr>
              <a:t>12V</a:t>
            </a:r>
            <a:endParaRPr lang="en-US" altLang="zh-CN" sz="3200" b="1">
              <a:solidFill>
                <a:srgbClr val="FF0000"/>
              </a:solidFill>
              <a:latin typeface="Times New Roman" panose="02020603050405020304" pitchFamily="2" charset="0"/>
              <a:ea typeface="宋体" panose="02010600030101010101" pitchFamily="2" charset="-122"/>
              <a:cs typeface="Times New Roman" panose="02020603050405020304" pitchFamily="2" charset="0"/>
            </a:endParaRPr>
          </a:p>
        </p:txBody>
      </p:sp>
      <p:sp>
        <p:nvSpPr>
          <p:cNvPr id="118808" name="文本框 118807"/>
          <p:cNvSpPr txBox="1"/>
          <p:nvPr/>
        </p:nvSpPr>
        <p:spPr>
          <a:xfrm>
            <a:off x="1210628" y="5473065"/>
            <a:ext cx="1524000" cy="521970"/>
          </a:xfrm>
          <a:prstGeom prst="rect">
            <a:avLst/>
          </a:prstGeom>
          <a:noFill/>
          <a:ln w="9525">
            <a:noFill/>
          </a:ln>
        </p:spPr>
        <p:txBody>
          <a:bodyPr anchor="t" anchorCtr="0">
            <a:spAutoFit/>
          </a:bodyPr>
          <a:p>
            <a:pPr algn="ctr">
              <a:spcBef>
                <a:spcPct val="50000"/>
              </a:spcBef>
            </a:pPr>
            <a:r>
              <a:rPr lang="en-US" altLang="zh-CN" sz="2800" b="1">
                <a:solidFill>
                  <a:srgbClr val="FF0000"/>
                </a:solidFill>
                <a:latin typeface="Tahoma" panose="020B0604030504040204" pitchFamily="2" charset="0"/>
                <a:ea typeface="宋体" panose="02010600030101010101" pitchFamily="2" charset="-122"/>
              </a:rPr>
              <a:t>+12V</a:t>
            </a:r>
            <a:endParaRPr lang="en-US" altLang="zh-CN" sz="2800" b="1">
              <a:solidFill>
                <a:srgbClr val="FF0000"/>
              </a:solidFill>
              <a:latin typeface="Tahoma" panose="020B0604030504040204" pitchFamily="2" charset="0"/>
              <a:ea typeface="宋体" panose="02010600030101010101" pitchFamily="2" charset="-122"/>
            </a:endParaRPr>
          </a:p>
        </p:txBody>
      </p:sp>
      <p:grpSp>
        <p:nvGrpSpPr>
          <p:cNvPr id="118809" name="组合 118808"/>
          <p:cNvGrpSpPr/>
          <p:nvPr/>
        </p:nvGrpSpPr>
        <p:grpSpPr>
          <a:xfrm>
            <a:off x="2549525" y="5441315"/>
            <a:ext cx="3672000" cy="369570"/>
            <a:chOff x="1776" y="3111"/>
            <a:chExt cx="3456" cy="192"/>
          </a:xfrm>
        </p:grpSpPr>
        <p:sp>
          <p:nvSpPr>
            <p:cNvPr id="10265" name="直接连接符 118809"/>
            <p:cNvSpPr/>
            <p:nvPr/>
          </p:nvSpPr>
          <p:spPr>
            <a:xfrm flipH="1">
              <a:off x="1776" y="3297"/>
              <a:ext cx="3456" cy="0"/>
            </a:xfrm>
            <a:prstGeom prst="line">
              <a:avLst/>
            </a:prstGeom>
            <a:ln w="57150" cap="flat" cmpd="sng">
              <a:solidFill>
                <a:srgbClr val="FF0000"/>
              </a:solidFill>
              <a:prstDash val="solid"/>
              <a:miter/>
              <a:headEnd type="none" w="med" len="med"/>
              <a:tailEnd type="none" w="med" len="med"/>
            </a:ln>
          </p:spPr>
        </p:sp>
        <p:sp>
          <p:nvSpPr>
            <p:cNvPr id="10266" name="直接连接符 118810"/>
            <p:cNvSpPr/>
            <p:nvPr/>
          </p:nvSpPr>
          <p:spPr>
            <a:xfrm flipV="1">
              <a:off x="1776" y="3111"/>
              <a:ext cx="0" cy="192"/>
            </a:xfrm>
            <a:prstGeom prst="line">
              <a:avLst/>
            </a:prstGeom>
            <a:ln w="38100" cap="flat" cmpd="sng">
              <a:solidFill>
                <a:srgbClr val="FF0000"/>
              </a:solidFill>
              <a:prstDash val="solid"/>
              <a:round/>
              <a:headEnd type="none" w="med" len="med"/>
              <a:tailEnd type="arrow" w="med" len="med"/>
            </a:ln>
          </p:spPr>
        </p:sp>
      </p:grpSp>
      <p:sp>
        <p:nvSpPr>
          <p:cNvPr id="118817" name="文本框 118816"/>
          <p:cNvSpPr txBox="1"/>
          <p:nvPr/>
        </p:nvSpPr>
        <p:spPr>
          <a:xfrm>
            <a:off x="407035" y="600075"/>
            <a:ext cx="3604260" cy="491490"/>
          </a:xfrm>
          <a:prstGeom prst="rect">
            <a:avLst/>
          </a:prstGeom>
          <a:noFill/>
          <a:ln w="9525">
            <a:noFill/>
          </a:ln>
        </p:spPr>
        <p:txBody>
          <a:bodyPr wrap="square" anchor="t" anchorCtr="0">
            <a:spAutoFit/>
          </a:bodyPr>
          <a:p>
            <a:pPr algn="ctr">
              <a:spcBef>
                <a:spcPct val="50000"/>
              </a:spcBef>
            </a:pPr>
            <a:r>
              <a:rPr lang="zh-CN" altLang="en-US" sz="2600" b="1" dirty="0">
                <a:solidFill>
                  <a:srgbClr val="FF0000"/>
                </a:solidFill>
                <a:latin typeface="微软雅黑" panose="020B0503020204020204" charset="-122"/>
                <a:ea typeface="微软雅黑" panose="020B0503020204020204" charset="-122"/>
              </a:rPr>
              <a:t>双电源</a:t>
            </a:r>
            <a:r>
              <a:rPr lang="zh-CN" altLang="en-US" sz="2600" b="1" dirty="0">
                <a:solidFill>
                  <a:schemeClr val="tx1"/>
                </a:solidFill>
                <a:latin typeface="微软雅黑" panose="020B0503020204020204" charset="-122"/>
                <a:ea typeface="微软雅黑" panose="020B0503020204020204" charset="-122"/>
              </a:rPr>
              <a:t>连接</a:t>
            </a:r>
            <a:r>
              <a:rPr lang="en-US" altLang="zh-CN" sz="2600" b="1" dirty="0">
                <a:solidFill>
                  <a:schemeClr val="tx1"/>
                </a:solidFill>
                <a:latin typeface="微软雅黑" panose="020B0503020204020204" charset="-122"/>
                <a:ea typeface="微软雅黑" panose="020B0503020204020204" charset="-122"/>
              </a:rPr>
              <a:t>: </a:t>
            </a:r>
            <a:r>
              <a:rPr lang="zh-CN" altLang="en-US" sz="2600" b="1" dirty="0">
                <a:solidFill>
                  <a:srgbClr val="FF0000"/>
                </a:solidFill>
                <a:latin typeface="微软雅黑" panose="020B0503020204020204" charset="-122"/>
                <a:ea typeface="微软雅黑" panose="020B0503020204020204" charset="-122"/>
                <a:sym typeface="+mn-ea"/>
              </a:rPr>
              <a:t>串联</a:t>
            </a:r>
            <a:r>
              <a:rPr lang="zh-CN" altLang="en-US" sz="2600" b="1" dirty="0">
                <a:latin typeface="微软雅黑" panose="020B0503020204020204" charset="-122"/>
                <a:ea typeface="微软雅黑" panose="020B0503020204020204" charset="-122"/>
                <a:sym typeface="+mn-ea"/>
              </a:rPr>
              <a:t>模式</a:t>
            </a:r>
            <a:endParaRPr lang="en-US" altLang="zh-CN" sz="2600" b="1" dirty="0">
              <a:solidFill>
                <a:schemeClr val="tx1"/>
              </a:solidFill>
              <a:latin typeface="微软雅黑" panose="020B0503020204020204" charset="-122"/>
              <a:ea typeface="微软雅黑" panose="020B0503020204020204" charset="-122"/>
            </a:endParaRPr>
          </a:p>
        </p:txBody>
      </p:sp>
      <p:sp>
        <p:nvSpPr>
          <p:cNvPr id="118819" name="矩形 118818"/>
          <p:cNvSpPr/>
          <p:nvPr/>
        </p:nvSpPr>
        <p:spPr>
          <a:xfrm>
            <a:off x="503238" y="4764723"/>
            <a:ext cx="1778000" cy="760412"/>
          </a:xfrm>
          <a:prstGeom prst="rect">
            <a:avLst/>
          </a:prstGeom>
          <a:noFill/>
          <a:ln w="38100" cap="flat" cmpd="sng">
            <a:solidFill>
              <a:schemeClr val="folHlink"/>
            </a:solidFill>
            <a:prstDash val="solid"/>
            <a:miter/>
            <a:headEnd type="none" w="med" len="med"/>
            <a:tailEnd type="none" w="med" len="med"/>
          </a:ln>
        </p:spPr>
        <p:txBody>
          <a:bodyPr anchor="t" anchorCtr="0"/>
          <a:p>
            <a:endParaRPr lang="zh-CN" altLang="en-US">
              <a:latin typeface="Verdana" panose="020B0604030504040204" pitchFamily="2" charset="0"/>
              <a:ea typeface="宋体" panose="02010600030101010101" pitchFamily="2" charset="-122"/>
            </a:endParaRPr>
          </a:p>
        </p:txBody>
      </p:sp>
      <p:sp>
        <p:nvSpPr>
          <p:cNvPr id="118820" name="矩形 118819"/>
          <p:cNvSpPr/>
          <p:nvPr/>
        </p:nvSpPr>
        <p:spPr>
          <a:xfrm>
            <a:off x="2924175" y="4777423"/>
            <a:ext cx="1778000" cy="760412"/>
          </a:xfrm>
          <a:prstGeom prst="rect">
            <a:avLst/>
          </a:prstGeom>
          <a:noFill/>
          <a:ln w="38100" cap="flat" cmpd="sng">
            <a:solidFill>
              <a:schemeClr val="folHlink"/>
            </a:solidFill>
            <a:prstDash val="solid"/>
            <a:miter/>
            <a:headEnd type="none" w="med" len="med"/>
            <a:tailEnd type="none" w="med" len="med"/>
          </a:ln>
        </p:spPr>
        <p:txBody>
          <a:bodyPr anchor="t" anchorCtr="0"/>
          <a:p>
            <a:endParaRPr lang="zh-CN" altLang="en-US">
              <a:latin typeface="Verdana" panose="020B0604030504040204" pitchFamily="2" charset="0"/>
              <a:ea typeface="宋体" panose="02010600030101010101" pitchFamily="2" charset="-122"/>
            </a:endParaRPr>
          </a:p>
        </p:txBody>
      </p:sp>
      <p:sp>
        <p:nvSpPr>
          <p:cNvPr id="118821" name="矩形 118820"/>
          <p:cNvSpPr/>
          <p:nvPr/>
        </p:nvSpPr>
        <p:spPr>
          <a:xfrm>
            <a:off x="2924175" y="3475673"/>
            <a:ext cx="1778000" cy="760412"/>
          </a:xfrm>
          <a:prstGeom prst="rect">
            <a:avLst/>
          </a:prstGeom>
          <a:noFill/>
          <a:ln w="38100" cap="flat" cmpd="sng">
            <a:solidFill>
              <a:schemeClr val="folHlink"/>
            </a:solidFill>
            <a:prstDash val="solid"/>
            <a:miter/>
            <a:headEnd type="none" w="med" len="med"/>
            <a:tailEnd type="none" w="med" len="med"/>
          </a:ln>
        </p:spPr>
        <p:txBody>
          <a:bodyPr anchor="t" anchorCtr="0"/>
          <a:p>
            <a:endParaRPr lang="zh-CN" altLang="en-US">
              <a:latin typeface="Verdana" panose="020B0604030504040204" pitchFamily="2" charset="0"/>
              <a:ea typeface="宋体" panose="02010600030101010101" pitchFamily="2" charset="-122"/>
            </a:endParaRPr>
          </a:p>
        </p:txBody>
      </p:sp>
      <p:sp>
        <p:nvSpPr>
          <p:cNvPr id="118822" name="矩形 118821"/>
          <p:cNvSpPr/>
          <p:nvPr/>
        </p:nvSpPr>
        <p:spPr>
          <a:xfrm>
            <a:off x="438150" y="3462973"/>
            <a:ext cx="1778000" cy="760412"/>
          </a:xfrm>
          <a:prstGeom prst="rect">
            <a:avLst/>
          </a:prstGeom>
          <a:noFill/>
          <a:ln w="38100" cap="flat" cmpd="sng">
            <a:solidFill>
              <a:schemeClr val="folHlink"/>
            </a:solidFill>
            <a:prstDash val="solid"/>
            <a:miter/>
            <a:headEnd type="none" w="med" len="med"/>
            <a:tailEnd type="none" w="med" len="med"/>
          </a:ln>
        </p:spPr>
        <p:txBody>
          <a:bodyPr anchor="t" anchorCtr="0"/>
          <a:p>
            <a:endParaRPr lang="zh-CN" altLang="en-US">
              <a:latin typeface="Verdana" panose="020B0604030504040204" pitchFamily="2" charset="0"/>
              <a:ea typeface="宋体" panose="02010600030101010101" pitchFamily="2" charset="-122"/>
            </a:endParaRPr>
          </a:p>
        </p:txBody>
      </p:sp>
      <p:sp>
        <p:nvSpPr>
          <p:cNvPr id="118823" name="文本框 118822"/>
          <p:cNvSpPr txBox="1"/>
          <p:nvPr/>
        </p:nvSpPr>
        <p:spPr>
          <a:xfrm>
            <a:off x="2871788" y="4288473"/>
            <a:ext cx="1584325" cy="460375"/>
          </a:xfrm>
          <a:prstGeom prst="rect">
            <a:avLst/>
          </a:prstGeom>
          <a:noFill/>
          <a:ln w="9525">
            <a:noFill/>
          </a:ln>
        </p:spPr>
        <p:txBody>
          <a:bodyPr anchor="t" anchorCtr="0">
            <a:spAutoFit/>
          </a:bodyPr>
          <a:p>
            <a:pPr algn="ctr">
              <a:spcBef>
                <a:spcPct val="50000"/>
              </a:spcBef>
            </a:pPr>
            <a:r>
              <a:rPr lang="en-US" altLang="zh-CN" sz="2400" b="1" dirty="0">
                <a:solidFill>
                  <a:srgbClr val="CC0000"/>
                </a:solidFill>
                <a:latin typeface="Times New Roman" panose="02020603050405020304" pitchFamily="2" charset="0"/>
                <a:ea typeface="楷体_GB2312" pitchFamily="1" charset="-122"/>
              </a:rPr>
              <a:t>4</a:t>
            </a:r>
            <a:r>
              <a:rPr lang="zh-CN" altLang="en-US" sz="2400" b="1" dirty="0">
                <a:solidFill>
                  <a:srgbClr val="CC0000"/>
                </a:solidFill>
                <a:latin typeface="Times New Roman" panose="02020603050405020304" pitchFamily="2" charset="0"/>
                <a:ea typeface="楷体_GB2312" pitchFamily="1" charset="-122"/>
              </a:rPr>
              <a:t>个运放</a:t>
            </a:r>
            <a:endParaRPr lang="zh-CN" altLang="en-US" sz="2400" b="1">
              <a:solidFill>
                <a:srgbClr val="CC0000"/>
              </a:solidFill>
              <a:latin typeface="Times New Roman" panose="02020603050405020304" pitchFamily="2" charset="0"/>
              <a:ea typeface="楷体_GB2312" pitchFamily="1" charset="-122"/>
            </a:endParaRPr>
          </a:p>
        </p:txBody>
      </p:sp>
      <p:grpSp>
        <p:nvGrpSpPr>
          <p:cNvPr id="3" name="组合 2"/>
          <p:cNvGrpSpPr/>
          <p:nvPr/>
        </p:nvGrpSpPr>
        <p:grpSpPr>
          <a:xfrm>
            <a:off x="5083810" y="2064385"/>
            <a:ext cx="455930" cy="4029710"/>
            <a:chOff x="10117" y="3839"/>
            <a:chExt cx="519" cy="5318"/>
          </a:xfrm>
        </p:grpSpPr>
        <p:sp>
          <p:nvSpPr>
            <p:cNvPr id="10277" name="直接连接符 118827"/>
            <p:cNvSpPr/>
            <p:nvPr/>
          </p:nvSpPr>
          <p:spPr>
            <a:xfrm>
              <a:off x="10117" y="9142"/>
              <a:ext cx="519" cy="0"/>
            </a:xfrm>
            <a:prstGeom prst="line">
              <a:avLst/>
            </a:prstGeom>
            <a:ln w="92075" cap="flat" cmpd="sng">
              <a:solidFill>
                <a:schemeClr val="tx1"/>
              </a:solidFill>
              <a:prstDash val="solid"/>
              <a:round/>
              <a:headEnd type="none" w="med" len="med"/>
              <a:tailEnd type="none" w="med" len="med"/>
            </a:ln>
          </p:spPr>
        </p:sp>
        <p:sp>
          <p:nvSpPr>
            <p:cNvPr id="10280" name="直接连接符 118824"/>
            <p:cNvSpPr/>
            <p:nvPr/>
          </p:nvSpPr>
          <p:spPr>
            <a:xfrm>
              <a:off x="10376" y="3839"/>
              <a:ext cx="0" cy="5318"/>
            </a:xfrm>
            <a:prstGeom prst="line">
              <a:avLst/>
            </a:prstGeom>
            <a:ln w="57150" cap="flat" cmpd="sng">
              <a:solidFill>
                <a:schemeClr val="tx1"/>
              </a:solidFill>
              <a:prstDash val="solid"/>
              <a:miter/>
              <a:headEnd type="none" w="med" len="med"/>
              <a:tailEnd type="none" w="med" len="med"/>
            </a:ln>
          </p:spPr>
        </p:sp>
      </p:grpSp>
      <p:sp>
        <p:nvSpPr>
          <p:cNvPr id="118790" name="直接连接符 118789"/>
          <p:cNvSpPr/>
          <p:nvPr/>
        </p:nvSpPr>
        <p:spPr>
          <a:xfrm>
            <a:off x="6191250" y="2064385"/>
            <a:ext cx="0" cy="3780000"/>
          </a:xfrm>
          <a:prstGeom prst="line">
            <a:avLst/>
          </a:prstGeom>
          <a:ln w="57150" cap="flat" cmpd="sng">
            <a:solidFill>
              <a:srgbClr val="FF0000"/>
            </a:solidFill>
            <a:prstDash val="solid"/>
            <a:miter/>
            <a:headEnd type="none" w="med" len="med"/>
            <a:tailEnd type="none" w="med" len="med"/>
          </a:ln>
        </p:spPr>
      </p:sp>
      <p:sp>
        <p:nvSpPr>
          <p:cNvPr id="10" name="文本框 9"/>
          <p:cNvSpPr txBox="1"/>
          <p:nvPr/>
        </p:nvSpPr>
        <p:spPr>
          <a:xfrm>
            <a:off x="323850" y="6022975"/>
            <a:ext cx="4145280" cy="491490"/>
          </a:xfrm>
          <a:prstGeom prst="rect">
            <a:avLst/>
          </a:prstGeom>
          <a:noFill/>
        </p:spPr>
        <p:txBody>
          <a:bodyPr wrap="none" rtlCol="0">
            <a:spAutoFit/>
          </a:bodyPr>
          <a:p>
            <a:r>
              <a:rPr lang="zh-CN" altLang="en-US" sz="2600" b="1">
                <a:solidFill>
                  <a:schemeClr val="tx1"/>
                </a:solidFill>
                <a:latin typeface="+mn-ea"/>
                <a:ea typeface="+mn-ea"/>
              </a:rPr>
              <a:t>等同于</a:t>
            </a:r>
            <a:r>
              <a:rPr lang="zh-CN" altLang="en-US" sz="2600" b="1">
                <a:solidFill>
                  <a:srgbClr val="FF0000"/>
                </a:solidFill>
                <a:latin typeface="+mn-ea"/>
                <a:ea typeface="+mn-ea"/>
              </a:rPr>
              <a:t>每个运放</a:t>
            </a:r>
            <a:r>
              <a:rPr lang="zh-CN" altLang="en-US" sz="2600" b="1">
                <a:solidFill>
                  <a:schemeClr val="tx1"/>
                </a:solidFill>
                <a:latin typeface="+mn-ea"/>
                <a:ea typeface="+mn-ea"/>
              </a:rPr>
              <a:t>接了</a:t>
            </a:r>
            <a:r>
              <a:rPr lang="zh-CN" altLang="en-US" sz="2600" b="1">
                <a:solidFill>
                  <a:srgbClr val="FF0000"/>
                </a:solidFill>
                <a:latin typeface="+mn-ea"/>
                <a:ea typeface="+mn-ea"/>
              </a:rPr>
              <a:t>双电源</a:t>
            </a:r>
            <a:endParaRPr lang="zh-CN" altLang="en-US" sz="2600" b="1">
              <a:solidFill>
                <a:srgbClr val="FF0000"/>
              </a:solidFill>
              <a:latin typeface="+mn-ea"/>
              <a:ea typeface="+mn-ea"/>
            </a:endParaRPr>
          </a:p>
        </p:txBody>
      </p:sp>
      <p:sp>
        <p:nvSpPr>
          <p:cNvPr id="11" name="文本框 10"/>
          <p:cNvSpPr txBox="1"/>
          <p:nvPr/>
        </p:nvSpPr>
        <p:spPr>
          <a:xfrm>
            <a:off x="4663440" y="6093460"/>
            <a:ext cx="2494280" cy="491490"/>
          </a:xfrm>
          <a:prstGeom prst="rect">
            <a:avLst/>
          </a:prstGeom>
          <a:noFill/>
        </p:spPr>
        <p:txBody>
          <a:bodyPr wrap="none" rtlCol="0">
            <a:spAutoFit/>
          </a:bodyPr>
          <a:p>
            <a:pPr algn="l"/>
            <a:r>
              <a:rPr lang="zh-CN" altLang="en-US" sz="2600" b="1">
                <a:latin typeface="+mn-ea"/>
                <a:ea typeface="+mn-ea"/>
                <a:sym typeface="+mn-ea"/>
              </a:rPr>
              <a:t>连接</a:t>
            </a:r>
            <a:r>
              <a:rPr lang="zh-CN" altLang="en-US" sz="2600" b="1">
                <a:solidFill>
                  <a:srgbClr val="FF0000"/>
                </a:solidFill>
                <a:latin typeface="+mn-ea"/>
                <a:ea typeface="+mn-ea"/>
              </a:rPr>
              <a:t>原理图</a:t>
            </a:r>
            <a:r>
              <a:rPr lang="zh-CN" altLang="en-US" sz="2600" b="1">
                <a:solidFill>
                  <a:schemeClr val="tx1"/>
                </a:solidFill>
                <a:latin typeface="+mn-ea"/>
                <a:ea typeface="+mn-ea"/>
              </a:rPr>
              <a:t>中</a:t>
            </a:r>
            <a:r>
              <a:rPr lang="zh-CN" altLang="en-US" sz="2600" b="1">
                <a:solidFill>
                  <a:srgbClr val="FF0000"/>
                </a:solidFill>
                <a:latin typeface="+mn-ea"/>
                <a:ea typeface="+mn-ea"/>
              </a:rPr>
              <a:t>地</a:t>
            </a:r>
            <a:endParaRPr lang="zh-CN" altLang="en-US" sz="2600" b="1">
              <a:solidFill>
                <a:schemeClr val="tx1"/>
              </a:solidFill>
              <a:latin typeface="+mn-ea"/>
              <a:ea typeface="+mn-ea"/>
            </a:endParaRPr>
          </a:p>
        </p:txBody>
      </p:sp>
      <p:sp>
        <p:nvSpPr>
          <p:cNvPr id="14" name="禁止符 13"/>
          <p:cNvSpPr/>
          <p:nvPr/>
        </p:nvSpPr>
        <p:spPr>
          <a:xfrm>
            <a:off x="4107815" y="1569085"/>
            <a:ext cx="594360" cy="571500"/>
          </a:xfrm>
          <a:prstGeom prst="noSmoking">
            <a:avLst/>
          </a:prstGeom>
          <a:scene3d>
            <a:camera prst="orthographicFront"/>
            <a:lightRig rig="threePt" dir="t"/>
          </a:scene3d>
          <a:sp3d>
            <a:bevelT/>
          </a:sp3d>
        </p:spPr>
        <p:style>
          <a:lnRef idx="3">
            <a:schemeClr val="lt1"/>
          </a:lnRef>
          <a:fillRef idx="1">
            <a:schemeClr val="accent2"/>
          </a:fillRef>
          <a:effectRef idx="1">
            <a:schemeClr val="accent2"/>
          </a:effectRef>
          <a:fontRef idx="minor">
            <a:schemeClr val="lt1"/>
          </a:fontRef>
        </p:style>
        <p:txBody>
          <a:bodyPr rtlCol="0" anchor="ctr"/>
          <a:p>
            <a:pPr algn="ctr"/>
            <a:endParaRPr lang="zh-CN" altLang="en-US">
              <a:solidFill>
                <a:schemeClr val="tx1"/>
              </a:solidFill>
            </a:endParaRPr>
          </a:p>
        </p:txBody>
      </p:sp>
      <p:sp>
        <p:nvSpPr>
          <p:cNvPr id="13" name="圆角矩形标注 6"/>
          <p:cNvSpPr>
            <a:spLocks noChangeArrowheads="1"/>
          </p:cNvSpPr>
          <p:nvPr/>
        </p:nvSpPr>
        <p:spPr bwMode="auto">
          <a:xfrm>
            <a:off x="3862705" y="544830"/>
            <a:ext cx="2947035" cy="730885"/>
          </a:xfrm>
          <a:prstGeom prst="wedgeRoundRectCallout">
            <a:avLst>
              <a:gd name="adj1" fmla="val -39765"/>
              <a:gd name="adj2" fmla="val 223414"/>
              <a:gd name="adj3" fmla="val 16667"/>
            </a:avLst>
          </a:prstGeom>
          <a:noFill/>
          <a:ln w="25400">
            <a:solidFill>
              <a:srgbClr val="C00000"/>
            </a:solidFill>
            <a:round/>
          </a:ln>
          <a:extLst>
            <a:ext uri="{909E8E84-426E-40DD-AFC4-6F175D3DCCD1}">
              <a14:hiddenFill xmlns:a14="http://schemas.microsoft.com/office/drawing/2010/main">
                <a:solidFill>
                  <a:srgbClr val="FFFFFF"/>
                </a:solidFill>
              </a14:hiddenFill>
            </a:ext>
          </a:extLst>
        </p:spPr>
        <p:txBody>
          <a:bodyPr wrap="none"/>
          <a:lstStyle>
            <a:lvl1pPr>
              <a:defRPr b="1">
                <a:solidFill>
                  <a:schemeClr val="tx1"/>
                </a:solidFill>
                <a:latin typeface="Verdana" panose="020B0604030504040204" pitchFamily="2" charset="0"/>
                <a:ea typeface="宋体" panose="02010600030101010101" pitchFamily="2" charset="-122"/>
              </a:defRPr>
            </a:lvl1pPr>
            <a:lvl2pPr marL="742950" indent="-285750">
              <a:defRPr b="1">
                <a:solidFill>
                  <a:schemeClr val="tx1"/>
                </a:solidFill>
                <a:latin typeface="Verdana" panose="020B0604030504040204" pitchFamily="2" charset="0"/>
                <a:ea typeface="宋体" panose="02010600030101010101" pitchFamily="2" charset="-122"/>
              </a:defRPr>
            </a:lvl2pPr>
            <a:lvl3pPr marL="1143000" indent="-228600">
              <a:defRPr b="1">
                <a:solidFill>
                  <a:schemeClr val="tx1"/>
                </a:solidFill>
                <a:latin typeface="Verdana" panose="020B0604030504040204" pitchFamily="2" charset="0"/>
                <a:ea typeface="宋体" panose="02010600030101010101" pitchFamily="2" charset="-122"/>
              </a:defRPr>
            </a:lvl3pPr>
            <a:lvl4pPr marL="1600200" indent="-228600">
              <a:defRPr b="1">
                <a:solidFill>
                  <a:schemeClr val="tx1"/>
                </a:solidFill>
                <a:latin typeface="Verdana" panose="020B0604030504040204" pitchFamily="2" charset="0"/>
                <a:ea typeface="宋体" panose="02010600030101010101" pitchFamily="2" charset="-122"/>
              </a:defRPr>
            </a:lvl4pPr>
            <a:lvl5pPr marL="2057400" indent="-228600">
              <a:defRPr b="1">
                <a:solidFill>
                  <a:schemeClr val="tx1"/>
                </a:solidFill>
                <a:latin typeface="Verdana" panose="020B0604030504040204" pitchFamily="2"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2"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2"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2"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2" charset="0"/>
                <a:ea typeface="宋体" panose="02010600030101010101" pitchFamily="2" charset="-122"/>
              </a:defRPr>
            </a:lvl9pPr>
          </a:lstStyle>
          <a:p>
            <a:pPr eaLnBrk="1" hangingPunct="1"/>
            <a:r>
              <a:rPr lang="zh-CN" altLang="en-US" sz="2200" dirty="0">
                <a:solidFill>
                  <a:srgbClr val="FF0000"/>
                </a:solidFill>
                <a:latin typeface="微软雅黑" panose="020B0503020204020204" charset="-122"/>
                <a:ea typeface="微软雅黑" panose="020B0503020204020204" charset="-122"/>
              </a:rPr>
              <a:t>串联</a:t>
            </a:r>
            <a:r>
              <a:rPr lang="zh-CN" altLang="en-US" sz="2200" dirty="0">
                <a:solidFill>
                  <a:schemeClr val="tx1"/>
                </a:solidFill>
                <a:latin typeface="微软雅黑" panose="020B0503020204020204" charset="-122"/>
                <a:ea typeface="微软雅黑" panose="020B0503020204020204" charset="-122"/>
              </a:rPr>
              <a:t>模式：参考地</a:t>
            </a:r>
            <a:endParaRPr lang="zh-CN" altLang="en-US" sz="2200" dirty="0">
              <a:solidFill>
                <a:schemeClr val="tx1"/>
              </a:solidFill>
              <a:latin typeface="微软雅黑" panose="020B0503020204020204" charset="-122"/>
              <a:ea typeface="微软雅黑" panose="020B0503020204020204" charset="-122"/>
            </a:endParaRPr>
          </a:p>
          <a:p>
            <a:pPr eaLnBrk="1" hangingPunct="1"/>
            <a:r>
              <a:rPr lang="zh-CN" altLang="en-US" sz="2200" dirty="0">
                <a:solidFill>
                  <a:schemeClr val="tx1"/>
                </a:solidFill>
                <a:latin typeface="微软雅黑" panose="020B0503020204020204" charset="-122"/>
                <a:ea typeface="微软雅黑" panose="020B0503020204020204" charset="-122"/>
              </a:rPr>
              <a:t>仪器内部已连接好</a:t>
            </a:r>
            <a:endParaRPr lang="zh-CN" altLang="en-US" sz="2200" dirty="0">
              <a:solidFill>
                <a:schemeClr val="tx1"/>
              </a:solidFill>
              <a:latin typeface="微软雅黑" panose="020B0503020204020204" charset="-122"/>
              <a:ea typeface="微软雅黑" panose="020B0503020204020204" charset="-122"/>
            </a:endParaRPr>
          </a:p>
        </p:txBody>
      </p:sp>
      <p:pic>
        <p:nvPicPr>
          <p:cNvPr id="29701" name="Picture 12"/>
          <p:cNvPicPr>
            <a:picLocks noChangeAspect="1"/>
          </p:cNvPicPr>
          <p:nvPr/>
        </p:nvPicPr>
        <p:blipFill>
          <a:blip r:embed="rId4"/>
          <a:stretch>
            <a:fillRect/>
          </a:stretch>
        </p:blipFill>
        <p:spPr>
          <a:xfrm>
            <a:off x="7968615" y="834390"/>
            <a:ext cx="4113530" cy="4319905"/>
          </a:xfrm>
          <a:prstGeom prst="rect">
            <a:avLst/>
          </a:prstGeom>
          <a:noFill/>
          <a:ln w="9525">
            <a:noFill/>
          </a:ln>
        </p:spPr>
      </p:pic>
      <p:sp>
        <p:nvSpPr>
          <p:cNvPr id="29700" name="Text Box 9"/>
          <p:cNvSpPr txBox="1"/>
          <p:nvPr/>
        </p:nvSpPr>
        <p:spPr>
          <a:xfrm>
            <a:off x="7752080" y="5372735"/>
            <a:ext cx="2750820" cy="1198880"/>
          </a:xfrm>
          <a:prstGeom prst="rect">
            <a:avLst/>
          </a:prstGeom>
          <a:solidFill>
            <a:srgbClr val="CCFFCC"/>
          </a:solidFill>
          <a:ln w="38100" cap="flat" cmpd="sng">
            <a:solidFill>
              <a:srgbClr val="FF0000"/>
            </a:solidFill>
            <a:prstDash val="solid"/>
            <a:miter/>
            <a:headEnd type="none" w="med" len="med"/>
            <a:tailEnd type="none" w="med" len="med"/>
          </a:ln>
        </p:spPr>
        <p:txBody>
          <a:bodyPr wrap="square" anchor="t" anchorCtr="0">
            <a:spAutoFit/>
          </a:bodyPr>
          <a:p>
            <a:pPr algn="ctr"/>
            <a:r>
              <a:rPr lang="zh-CN" altLang="en-US" sz="2400" b="1" dirty="0">
                <a:latin typeface="微软雅黑" panose="020B0503020204020204" charset="-122"/>
                <a:ea typeface="微软雅黑" panose="020B0503020204020204" charset="-122"/>
                <a:cs typeface="微软雅黑" panose="020B0503020204020204" charset="-122"/>
              </a:rPr>
              <a:t>实验</a:t>
            </a:r>
            <a:r>
              <a:rPr lang="en-US" altLang="zh-CN" sz="2400" b="1" dirty="0">
                <a:latin typeface="微软雅黑" panose="020B0503020204020204" charset="-122"/>
                <a:ea typeface="微软雅黑" panose="020B0503020204020204" charset="-122"/>
                <a:cs typeface="微软雅黑" panose="020B0503020204020204" charset="-122"/>
              </a:rPr>
              <a:t>9,11</a:t>
            </a:r>
            <a:r>
              <a:rPr lang="zh-CN" altLang="en-US" sz="2400" b="1" dirty="0">
                <a:latin typeface="微软雅黑" panose="020B0503020204020204" charset="-122"/>
                <a:ea typeface="微软雅黑" panose="020B0503020204020204" charset="-122"/>
                <a:cs typeface="微软雅黑" panose="020B0503020204020204" charset="-122"/>
              </a:rPr>
              <a:t>类型</a:t>
            </a:r>
            <a:endParaRPr lang="en-US" altLang="zh-CN" sz="2400" b="1" dirty="0">
              <a:latin typeface="微软雅黑" panose="020B0503020204020204" charset="-122"/>
              <a:ea typeface="微软雅黑" panose="020B0503020204020204" charset="-122"/>
              <a:cs typeface="微软雅黑" panose="020B0503020204020204" charset="-122"/>
            </a:endParaRPr>
          </a:p>
          <a:p>
            <a:pPr algn="ctr"/>
            <a:r>
              <a:rPr lang="zh-CN" altLang="en-US" sz="2400" b="1" dirty="0">
                <a:latin typeface="微软雅黑" panose="020B0503020204020204" charset="-122"/>
                <a:ea typeface="微软雅黑" panose="020B0503020204020204" charset="-122"/>
                <a:cs typeface="微软雅黑" panose="020B0503020204020204" charset="-122"/>
              </a:rPr>
              <a:t>（实发型号</a:t>
            </a:r>
            <a:r>
              <a:rPr lang="en-US" altLang="zh-CN" sz="2400" b="1" dirty="0">
                <a:latin typeface="微软雅黑" panose="020B0503020204020204" charset="-122"/>
                <a:ea typeface="微软雅黑" panose="020B0503020204020204" charset="-122"/>
                <a:cs typeface="微软雅黑" panose="020B0503020204020204" charset="-122"/>
              </a:rPr>
              <a:t>-</a:t>
            </a:r>
            <a:r>
              <a:rPr lang="zh-CN" altLang="en-US" sz="2400" b="1" dirty="0">
                <a:latin typeface="微软雅黑" panose="020B0503020204020204" charset="-122"/>
                <a:ea typeface="微软雅黑" panose="020B0503020204020204" charset="-122"/>
                <a:cs typeface="微软雅黑" panose="020B0503020204020204" charset="-122"/>
              </a:rPr>
              <a:t>开关二极管</a:t>
            </a:r>
            <a:r>
              <a:rPr lang="en-US" altLang="zh-CN" sz="2400" b="1" dirty="0">
                <a:latin typeface="微软雅黑" panose="020B0503020204020204" charset="-122"/>
                <a:ea typeface="微软雅黑" panose="020B0503020204020204" charset="-122"/>
                <a:cs typeface="微软雅黑" panose="020B0503020204020204" charset="-122"/>
              </a:rPr>
              <a:t>1N4148 </a:t>
            </a:r>
            <a:r>
              <a:rPr lang="zh-CN" altLang="en-US" sz="2400" b="1" dirty="0">
                <a:latin typeface="微软雅黑" panose="020B0503020204020204" charset="-122"/>
                <a:ea typeface="微软雅黑" panose="020B0503020204020204" charset="-122"/>
                <a:cs typeface="微软雅黑" panose="020B0503020204020204" charset="-122"/>
              </a:rPr>
              <a:t>）</a:t>
            </a:r>
            <a:endParaRPr lang="zh-CN" altLang="en-US" sz="2400" b="1" dirty="0">
              <a:latin typeface="微软雅黑" panose="020B0503020204020204" charset="-122"/>
              <a:ea typeface="微软雅黑" panose="020B0503020204020204" charset="-122"/>
              <a:cs typeface="微软雅黑" panose="020B0503020204020204" charset="-122"/>
            </a:endParaRPr>
          </a:p>
        </p:txBody>
      </p:sp>
      <p:cxnSp>
        <p:nvCxnSpPr>
          <p:cNvPr id="2" name="直接箭头连接符 1"/>
          <p:cNvCxnSpPr/>
          <p:nvPr/>
        </p:nvCxnSpPr>
        <p:spPr>
          <a:xfrm flipV="1">
            <a:off x="8688070" y="3536950"/>
            <a:ext cx="0" cy="1836000"/>
          </a:xfrm>
          <a:prstGeom prst="straightConnector1">
            <a:avLst/>
          </a:prstGeom>
          <a:ln w="53975">
            <a:solidFill>
              <a:srgbClr val="FF0000"/>
            </a:solidFill>
            <a:tailEnd type="arrow"/>
          </a:ln>
        </p:spPr>
        <p:style>
          <a:lnRef idx="2">
            <a:schemeClr val="accent1"/>
          </a:lnRef>
          <a:fillRef idx="0">
            <a:srgbClr val="FFFFFF"/>
          </a:fillRef>
          <a:effectRef idx="0">
            <a:srgbClr val="FFFFFF"/>
          </a:effectRef>
          <a:fontRef idx="minor">
            <a:schemeClr val="tx1"/>
          </a:fontRef>
        </p:style>
      </p:cxnSp>
      <p:sp>
        <p:nvSpPr>
          <p:cNvPr id="4" name="文本框 3"/>
          <p:cNvSpPr txBox="1"/>
          <p:nvPr/>
        </p:nvSpPr>
        <p:spPr>
          <a:xfrm>
            <a:off x="9912350" y="3521075"/>
            <a:ext cx="1355090" cy="460375"/>
          </a:xfrm>
          <a:prstGeom prst="rect">
            <a:avLst/>
          </a:prstGeom>
          <a:solidFill>
            <a:schemeClr val="bg1"/>
          </a:solidFill>
        </p:spPr>
        <p:txBody>
          <a:bodyPr wrap="square" rtlCol="0" anchor="t">
            <a:spAutoFit/>
          </a:bodyPr>
          <a:p>
            <a:r>
              <a:rPr lang="zh-CN" altLang="en-US" sz="2400" b="1" dirty="0">
                <a:solidFill>
                  <a:srgbClr val="FF0000"/>
                </a:solidFill>
                <a:latin typeface="微软雅黑" panose="020B0503020204020204" charset="-122"/>
                <a:ea typeface="微软雅黑" panose="020B0503020204020204" charset="-122"/>
                <a:cs typeface="微软雅黑" panose="020B0503020204020204" charset="-122"/>
                <a:sym typeface="+mn-ea"/>
              </a:rPr>
              <a:t>稳压管</a:t>
            </a:r>
            <a:endParaRPr lang="zh-CN" altLang="en-US" sz="2400" b="1" dirty="0">
              <a:solidFill>
                <a:srgbClr val="FF0000"/>
              </a:solidFill>
              <a:latin typeface="微软雅黑" panose="020B0503020204020204" charset="-122"/>
              <a:ea typeface="微软雅黑" panose="020B0503020204020204" charset="-122"/>
              <a:cs typeface="微软雅黑" panose="020B0503020204020204" charset="-122"/>
              <a:sym typeface="+mn-ea"/>
            </a:endParaRPr>
          </a:p>
        </p:txBody>
      </p:sp>
      <p:grpSp>
        <p:nvGrpSpPr>
          <p:cNvPr id="5" name="组合 4"/>
          <p:cNvGrpSpPr/>
          <p:nvPr/>
        </p:nvGrpSpPr>
        <p:grpSpPr>
          <a:xfrm>
            <a:off x="3361690" y="2064385"/>
            <a:ext cx="1897380" cy="791210"/>
            <a:chOff x="10621" y="4720"/>
            <a:chExt cx="2210" cy="1246"/>
          </a:xfrm>
        </p:grpSpPr>
        <p:sp>
          <p:nvSpPr>
            <p:cNvPr id="17" name="任意多边形 16"/>
            <p:cNvSpPr/>
            <p:nvPr/>
          </p:nvSpPr>
          <p:spPr>
            <a:xfrm>
              <a:off x="10621" y="4720"/>
              <a:ext cx="2211" cy="903"/>
            </a:xfrm>
            <a:custGeom>
              <a:avLst/>
              <a:gdLst>
                <a:gd name="connisteX0" fmla="*/ 0 w 1403985"/>
                <a:gd name="connsiteY0" fmla="*/ 12065 h 414670"/>
                <a:gd name="connisteX1" fmla="*/ 592455 w 1403985"/>
                <a:gd name="connsiteY1" fmla="*/ 414655 h 414670"/>
                <a:gd name="connisteX2" fmla="*/ 1403985 w 1403985"/>
                <a:gd name="connsiteY2" fmla="*/ 0 h 414670"/>
              </a:gdLst>
              <a:ahLst/>
              <a:cxnLst>
                <a:cxn ang="0">
                  <a:pos x="connisteX0" y="connsiteY0"/>
                </a:cxn>
                <a:cxn ang="0">
                  <a:pos x="connisteX1" y="connsiteY1"/>
                </a:cxn>
                <a:cxn ang="0">
                  <a:pos x="connisteX2" y="connsiteY2"/>
                </a:cxn>
              </a:cxnLst>
              <a:rect l="l" t="t" r="r" b="b"/>
              <a:pathLst>
                <a:path w="1403985" h="414670">
                  <a:moveTo>
                    <a:pt x="0" y="12065"/>
                  </a:moveTo>
                  <a:cubicBezTo>
                    <a:pt x="102235" y="100965"/>
                    <a:pt x="311785" y="417195"/>
                    <a:pt x="592455" y="414655"/>
                  </a:cubicBezTo>
                  <a:cubicBezTo>
                    <a:pt x="873125" y="412115"/>
                    <a:pt x="1253490" y="90805"/>
                    <a:pt x="1403985" y="0"/>
                  </a:cubicBezTo>
                </a:path>
              </a:pathLst>
            </a:cu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nvGrpSpPr>
            <p:cNvPr id="16" name="组合 15"/>
            <p:cNvGrpSpPr/>
            <p:nvPr/>
          </p:nvGrpSpPr>
          <p:grpSpPr>
            <a:xfrm>
              <a:off x="11415" y="5624"/>
              <a:ext cx="226" cy="342"/>
              <a:chOff x="7167" y="4831"/>
              <a:chExt cx="226" cy="342"/>
            </a:xfrm>
          </p:grpSpPr>
          <p:cxnSp>
            <p:nvCxnSpPr>
              <p:cNvPr id="6" name="直接连接符 5"/>
              <p:cNvCxnSpPr/>
              <p:nvPr/>
            </p:nvCxnSpPr>
            <p:spPr>
              <a:xfrm>
                <a:off x="7276" y="4831"/>
                <a:ext cx="0" cy="343"/>
              </a:xfrm>
              <a:prstGeom prst="line">
                <a:avLst/>
              </a:prstGeom>
              <a:ln w="38100" cap="flat" cmpd="sng">
                <a:solidFill>
                  <a:schemeClr val="tx1"/>
                </a:solidFill>
                <a:prstDash val="solid"/>
                <a:round/>
                <a:headEnd type="none" w="med" len="med"/>
                <a:tailEnd type="none" w="med" len="med"/>
              </a:ln>
            </p:spPr>
          </p:cxnSp>
          <p:cxnSp>
            <p:nvCxnSpPr>
              <p:cNvPr id="15" name="直接连接符 14"/>
              <p:cNvCxnSpPr/>
              <p:nvPr/>
            </p:nvCxnSpPr>
            <p:spPr>
              <a:xfrm>
                <a:off x="7167" y="5144"/>
                <a:ext cx="227" cy="0"/>
              </a:xfrm>
              <a:prstGeom prst="line">
                <a:avLst/>
              </a:prstGeom>
              <a:ln w="73025" cap="flat" cmpd="sng">
                <a:solidFill>
                  <a:schemeClr val="tx1"/>
                </a:solidFill>
                <a:prstDash val="solid"/>
                <a:round/>
                <a:headEnd type="none" w="med" len="med"/>
                <a:tailEnd type="none" w="med" len="med"/>
              </a:ln>
            </p:spPr>
          </p:cxnSp>
        </p:grpSp>
      </p:grpSp>
      <p:sp>
        <p:nvSpPr>
          <p:cNvPr id="10248" name="直接连接符 118792"/>
          <p:cNvSpPr/>
          <p:nvPr/>
        </p:nvSpPr>
        <p:spPr>
          <a:xfrm flipH="1">
            <a:off x="2607945" y="1971675"/>
            <a:ext cx="0" cy="1656000"/>
          </a:xfrm>
          <a:prstGeom prst="line">
            <a:avLst/>
          </a:prstGeom>
          <a:ln w="57150" cap="flat" cmpd="sng">
            <a:solidFill>
              <a:srgbClr val="0000FF"/>
            </a:solidFill>
            <a:prstDash val="solid"/>
            <a:miter/>
            <a:headEnd type="none" w="med" len="med"/>
            <a:tailEnd type="arrow" w="med" len="med"/>
          </a:ln>
        </p:spPr>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down)">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xit" presetSubtype="4" fill="hold" nodeType="clickEffect">
                                  <p:stCondLst>
                                    <p:cond delay="0"/>
                                  </p:stCondLst>
                                  <p:childTnLst>
                                    <p:animEffect transition="out" filter="wipe(down)">
                                      <p:cBhvr>
                                        <p:cTn id="16" dur="500"/>
                                        <p:tgtEl>
                                          <p:spTgt spid="5"/>
                                        </p:tgtEl>
                                      </p:cBhvr>
                                    </p:animEffect>
                                    <p:set>
                                      <p:cBhvr>
                                        <p:cTn id="17" dur="1" fill="hold">
                                          <p:stCondLst>
                                            <p:cond delay="499"/>
                                          </p:stCondLst>
                                        </p:cTn>
                                        <p:tgtEl>
                                          <p:spTgt spid="5"/>
                                        </p:tgtEl>
                                        <p:attrNameLst>
                                          <p:attrName>style.visibility</p:attrName>
                                        </p:attrNameLst>
                                      </p:cBhvr>
                                      <p:to>
                                        <p:strVal val="hidden"/>
                                      </p:to>
                                    </p:set>
                                  </p:childTnLst>
                                </p:cTn>
                              </p:par>
                              <p:par>
                                <p:cTn id="18" presetID="22" presetClass="exit" presetSubtype="4" fill="hold" grpId="1" nodeType="withEffect">
                                  <p:stCondLst>
                                    <p:cond delay="0"/>
                                  </p:stCondLst>
                                  <p:childTnLst>
                                    <p:animEffect transition="out" filter="wipe(down)">
                                      <p:cBhvr>
                                        <p:cTn id="19" dur="500"/>
                                        <p:tgtEl>
                                          <p:spTgt spid="13"/>
                                        </p:tgtEl>
                                      </p:cBhvr>
                                    </p:animEffect>
                                    <p:set>
                                      <p:cBhvr>
                                        <p:cTn id="20" dur="1" fill="hold">
                                          <p:stCondLst>
                                            <p:cond delay="499"/>
                                          </p:stCondLst>
                                        </p:cTn>
                                        <p:tgtEl>
                                          <p:spTgt spid="13"/>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wipe(down)">
                                      <p:cBhvr>
                                        <p:cTn id="25" dur="500"/>
                                        <p:tgtEl>
                                          <p:spTgt spid="14"/>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18807"/>
                                        </p:tgtEl>
                                        <p:attrNameLst>
                                          <p:attrName>style.visibility</p:attrName>
                                        </p:attrNameLst>
                                      </p:cBhvr>
                                      <p:to>
                                        <p:strVal val="visible"/>
                                      </p:to>
                                    </p:set>
                                    <p:anim calcmode="lin" valueType="num">
                                      <p:cBhvr>
                                        <p:cTn id="30" dur="500" fill="hold"/>
                                        <p:tgtEl>
                                          <p:spTgt spid="118807"/>
                                        </p:tgtEl>
                                        <p:attrNameLst>
                                          <p:attrName>ppt_w</p:attrName>
                                        </p:attrNameLst>
                                      </p:cBhvr>
                                      <p:tavLst>
                                        <p:tav tm="0">
                                          <p:val>
                                            <p:fltVal val="0.000000"/>
                                          </p:val>
                                        </p:tav>
                                        <p:tav tm="100000">
                                          <p:val>
                                            <p:strVal val="#ppt_w"/>
                                          </p:val>
                                        </p:tav>
                                      </p:tavLst>
                                    </p:anim>
                                    <p:anim calcmode="lin" valueType="num">
                                      <p:cBhvr>
                                        <p:cTn id="31" dur="500" fill="hold"/>
                                        <p:tgtEl>
                                          <p:spTgt spid="118807"/>
                                        </p:tgtEl>
                                        <p:attrNameLst>
                                          <p:attrName>ppt_h</p:attrName>
                                        </p:attrNameLst>
                                      </p:cBhvr>
                                      <p:tavLst>
                                        <p:tav tm="0">
                                          <p:val>
                                            <p:fltVal val="0.000000"/>
                                          </p:val>
                                        </p:tav>
                                        <p:tav tm="100000">
                                          <p:val>
                                            <p:strVal val="#ppt_h"/>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10251"/>
                                        </p:tgtEl>
                                        <p:attrNameLst>
                                          <p:attrName>style.visibility</p:attrName>
                                        </p:attrNameLst>
                                      </p:cBhvr>
                                      <p:to>
                                        <p:strVal val="visible"/>
                                      </p:to>
                                    </p:set>
                                    <p:anim calcmode="lin" valueType="num">
                                      <p:cBhvr additive="base">
                                        <p:cTn id="36" dur="500" fill="hold"/>
                                        <p:tgtEl>
                                          <p:spTgt spid="10251"/>
                                        </p:tgtEl>
                                        <p:attrNameLst>
                                          <p:attrName>ppt_x</p:attrName>
                                        </p:attrNameLst>
                                      </p:cBhvr>
                                      <p:tavLst>
                                        <p:tav tm="0">
                                          <p:val>
                                            <p:strVal val="#ppt_x"/>
                                          </p:val>
                                        </p:tav>
                                        <p:tav tm="100000">
                                          <p:val>
                                            <p:strVal val="#ppt_x"/>
                                          </p:val>
                                        </p:tav>
                                      </p:tavLst>
                                    </p:anim>
                                    <p:anim calcmode="lin" valueType="num">
                                      <p:cBhvr additive="base">
                                        <p:cTn id="37" dur="500" fill="hold"/>
                                        <p:tgtEl>
                                          <p:spTgt spid="10251"/>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118819"/>
                                        </p:tgtEl>
                                        <p:attrNameLst>
                                          <p:attrName>style.visibility</p:attrName>
                                        </p:attrNameLst>
                                      </p:cBhvr>
                                      <p:to>
                                        <p:strVal val="visible"/>
                                      </p:to>
                                    </p:set>
                                    <p:animEffect transition="in" filter="wipe(up)">
                                      <p:cBhvr>
                                        <p:cTn id="42" dur="500"/>
                                        <p:tgtEl>
                                          <p:spTgt spid="118819"/>
                                        </p:tgtEl>
                                      </p:cBhvr>
                                    </p:animEffect>
                                  </p:childTnLst>
                                </p:cTn>
                              </p:par>
                            </p:childTnLst>
                          </p:cTn>
                        </p:par>
                        <p:par>
                          <p:cTn id="43" fill="hold">
                            <p:stCondLst>
                              <p:cond delay="500"/>
                            </p:stCondLst>
                            <p:childTnLst>
                              <p:par>
                                <p:cTn id="44" presetID="22" presetClass="entr" presetSubtype="1" fill="hold" nodeType="afterEffect">
                                  <p:stCondLst>
                                    <p:cond delay="0"/>
                                  </p:stCondLst>
                                  <p:childTnLst>
                                    <p:set>
                                      <p:cBhvr>
                                        <p:cTn id="45" dur="1" fill="hold">
                                          <p:stCondLst>
                                            <p:cond delay="0"/>
                                          </p:stCondLst>
                                        </p:cTn>
                                        <p:tgtEl>
                                          <p:spTgt spid="118820"/>
                                        </p:tgtEl>
                                        <p:attrNameLst>
                                          <p:attrName>style.visibility</p:attrName>
                                        </p:attrNameLst>
                                      </p:cBhvr>
                                      <p:to>
                                        <p:strVal val="visible"/>
                                      </p:to>
                                    </p:set>
                                    <p:animEffect transition="in" filter="wipe(up)">
                                      <p:cBhvr>
                                        <p:cTn id="46" dur="500"/>
                                        <p:tgtEl>
                                          <p:spTgt spid="118820"/>
                                        </p:tgtEl>
                                      </p:cBhvr>
                                    </p:animEffect>
                                  </p:childTnLst>
                                </p:cTn>
                              </p:par>
                            </p:childTnLst>
                          </p:cTn>
                        </p:par>
                        <p:par>
                          <p:cTn id="47" fill="hold">
                            <p:stCondLst>
                              <p:cond delay="1000"/>
                            </p:stCondLst>
                            <p:childTnLst>
                              <p:par>
                                <p:cTn id="48" presetID="22" presetClass="entr" presetSubtype="1" fill="hold" nodeType="afterEffect">
                                  <p:stCondLst>
                                    <p:cond delay="0"/>
                                  </p:stCondLst>
                                  <p:childTnLst>
                                    <p:set>
                                      <p:cBhvr>
                                        <p:cTn id="49" dur="1" fill="hold">
                                          <p:stCondLst>
                                            <p:cond delay="0"/>
                                          </p:stCondLst>
                                        </p:cTn>
                                        <p:tgtEl>
                                          <p:spTgt spid="118821"/>
                                        </p:tgtEl>
                                        <p:attrNameLst>
                                          <p:attrName>style.visibility</p:attrName>
                                        </p:attrNameLst>
                                      </p:cBhvr>
                                      <p:to>
                                        <p:strVal val="visible"/>
                                      </p:to>
                                    </p:set>
                                    <p:animEffect transition="in" filter="wipe(up)">
                                      <p:cBhvr>
                                        <p:cTn id="50" dur="500"/>
                                        <p:tgtEl>
                                          <p:spTgt spid="118821"/>
                                        </p:tgtEl>
                                      </p:cBhvr>
                                    </p:animEffect>
                                  </p:childTnLst>
                                </p:cTn>
                              </p:par>
                            </p:childTnLst>
                          </p:cTn>
                        </p:par>
                        <p:par>
                          <p:cTn id="51" fill="hold">
                            <p:stCondLst>
                              <p:cond delay="1500"/>
                            </p:stCondLst>
                            <p:childTnLst>
                              <p:par>
                                <p:cTn id="52" presetID="22" presetClass="entr" presetSubtype="1" fill="hold" nodeType="afterEffect">
                                  <p:stCondLst>
                                    <p:cond delay="0"/>
                                  </p:stCondLst>
                                  <p:childTnLst>
                                    <p:set>
                                      <p:cBhvr>
                                        <p:cTn id="53" dur="1" fill="hold">
                                          <p:stCondLst>
                                            <p:cond delay="0"/>
                                          </p:stCondLst>
                                        </p:cTn>
                                        <p:tgtEl>
                                          <p:spTgt spid="118822"/>
                                        </p:tgtEl>
                                        <p:attrNameLst>
                                          <p:attrName>style.visibility</p:attrName>
                                        </p:attrNameLst>
                                      </p:cBhvr>
                                      <p:to>
                                        <p:strVal val="visible"/>
                                      </p:to>
                                    </p:set>
                                    <p:animEffect transition="in" filter="wipe(up)">
                                      <p:cBhvr>
                                        <p:cTn id="54" dur="500"/>
                                        <p:tgtEl>
                                          <p:spTgt spid="118822"/>
                                        </p:tgtEl>
                                      </p:cBhvr>
                                    </p:animEffect>
                                  </p:childTnLst>
                                </p:cTn>
                              </p:par>
                            </p:childTnLst>
                          </p:cTn>
                        </p:par>
                        <p:par>
                          <p:cTn id="55" fill="hold">
                            <p:stCondLst>
                              <p:cond delay="2000"/>
                            </p:stCondLst>
                            <p:childTnLst>
                              <p:par>
                                <p:cTn id="56" presetID="5" presetClass="entr" presetSubtype="5" fill="hold" grpId="0" nodeType="afterEffect">
                                  <p:stCondLst>
                                    <p:cond delay="0"/>
                                  </p:stCondLst>
                                  <p:childTnLst>
                                    <p:set>
                                      <p:cBhvr>
                                        <p:cTn id="57" dur="1" fill="hold">
                                          <p:stCondLst>
                                            <p:cond delay="0"/>
                                          </p:stCondLst>
                                        </p:cTn>
                                        <p:tgtEl>
                                          <p:spTgt spid="118823"/>
                                        </p:tgtEl>
                                        <p:attrNameLst>
                                          <p:attrName>style.visibility</p:attrName>
                                        </p:attrNameLst>
                                      </p:cBhvr>
                                      <p:to>
                                        <p:strVal val="visible"/>
                                      </p:to>
                                    </p:set>
                                    <p:animEffect transition="in" filter="checkerboard(down)">
                                      <p:cBhvr>
                                        <p:cTn id="58" dur="500"/>
                                        <p:tgtEl>
                                          <p:spTgt spid="118823"/>
                                        </p:tgtEl>
                                      </p:cBhvr>
                                    </p:animEffect>
                                  </p:childTnLst>
                                </p:cTn>
                              </p:par>
                            </p:childTnLst>
                          </p:cTn>
                        </p:par>
                      </p:childTnLst>
                    </p:cTn>
                  </p:par>
                  <p:par>
                    <p:cTn id="59" fill="hold">
                      <p:stCondLst>
                        <p:cond delay="indefinite"/>
                      </p:stCondLst>
                      <p:childTnLst>
                        <p:par>
                          <p:cTn id="60" fill="hold">
                            <p:stCondLst>
                              <p:cond delay="0"/>
                            </p:stCondLst>
                            <p:childTnLst>
                              <p:par>
                                <p:cTn id="61" presetID="9" presetClass="entr" presetSubtype="0" fill="hold" nodeType="clickEffect">
                                  <p:stCondLst>
                                    <p:cond delay="0"/>
                                  </p:stCondLst>
                                  <p:childTnLst>
                                    <p:set>
                                      <p:cBhvr>
                                        <p:cTn id="62" dur="1" fill="hold">
                                          <p:stCondLst>
                                            <p:cond delay="0"/>
                                          </p:stCondLst>
                                        </p:cTn>
                                        <p:tgtEl>
                                          <p:spTgt spid="118787"/>
                                        </p:tgtEl>
                                        <p:attrNameLst>
                                          <p:attrName>style.visibility</p:attrName>
                                        </p:attrNameLst>
                                      </p:cBhvr>
                                      <p:to>
                                        <p:strVal val="visible"/>
                                      </p:to>
                                    </p:set>
                                    <p:animEffect transition="in" filter="dissolve">
                                      <p:cBhvr>
                                        <p:cTn id="63" dur="500"/>
                                        <p:tgtEl>
                                          <p:spTgt spid="118787"/>
                                        </p:tgtEl>
                                      </p:cBhvr>
                                    </p:animEffect>
                                  </p:childTnLst>
                                </p:cTn>
                              </p:par>
                            </p:childTnLst>
                          </p:cTn>
                        </p:par>
                        <p:par>
                          <p:cTn id="64" fill="hold">
                            <p:stCondLst>
                              <p:cond delay="500"/>
                            </p:stCondLst>
                            <p:childTnLst>
                              <p:par>
                                <p:cTn id="65" presetID="9" presetClass="entr" presetSubtype="0" fill="hold" nodeType="afterEffect">
                                  <p:stCondLst>
                                    <p:cond delay="0"/>
                                  </p:stCondLst>
                                  <p:childTnLst>
                                    <p:set>
                                      <p:cBhvr>
                                        <p:cTn id="66" dur="1" fill="hold">
                                          <p:stCondLst>
                                            <p:cond delay="0"/>
                                          </p:stCondLst>
                                        </p:cTn>
                                        <p:tgtEl>
                                          <p:spTgt spid="118786"/>
                                        </p:tgtEl>
                                        <p:attrNameLst>
                                          <p:attrName>style.visibility</p:attrName>
                                        </p:attrNameLst>
                                      </p:cBhvr>
                                      <p:to>
                                        <p:strVal val="visible"/>
                                      </p:to>
                                    </p:set>
                                    <p:animEffect transition="in" filter="dissolve">
                                      <p:cBhvr>
                                        <p:cTn id="67" dur="500"/>
                                        <p:tgtEl>
                                          <p:spTgt spid="118786"/>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4" fill="hold" nodeType="clickEffect">
                                  <p:stCondLst>
                                    <p:cond delay="0"/>
                                  </p:stCondLst>
                                  <p:childTnLst>
                                    <p:set>
                                      <p:cBhvr>
                                        <p:cTn id="71" dur="1" fill="hold">
                                          <p:stCondLst>
                                            <p:cond delay="0"/>
                                          </p:stCondLst>
                                        </p:cTn>
                                        <p:tgtEl>
                                          <p:spTgt spid="10248"/>
                                        </p:tgtEl>
                                        <p:attrNameLst>
                                          <p:attrName>style.visibility</p:attrName>
                                        </p:attrNameLst>
                                      </p:cBhvr>
                                      <p:to>
                                        <p:strVal val="visible"/>
                                      </p:to>
                                    </p:set>
                                    <p:animEffect transition="in" filter="wipe(down)">
                                      <p:cBhvr>
                                        <p:cTn id="72" dur="500"/>
                                        <p:tgtEl>
                                          <p:spTgt spid="10248"/>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1" fill="hold" nodeType="clickEffect">
                                  <p:stCondLst>
                                    <p:cond delay="0"/>
                                  </p:stCondLst>
                                  <p:childTnLst>
                                    <p:set>
                                      <p:cBhvr>
                                        <p:cTn id="76" dur="1" fill="hold">
                                          <p:stCondLst>
                                            <p:cond delay="0"/>
                                          </p:stCondLst>
                                        </p:cTn>
                                        <p:tgtEl>
                                          <p:spTgt spid="118790"/>
                                        </p:tgtEl>
                                        <p:attrNameLst>
                                          <p:attrName>style.visibility</p:attrName>
                                        </p:attrNameLst>
                                      </p:cBhvr>
                                      <p:to>
                                        <p:strVal val="visible"/>
                                      </p:to>
                                    </p:set>
                                    <p:animEffect transition="in" filter="wipe(up)">
                                      <p:cBhvr>
                                        <p:cTn id="77" dur="500"/>
                                        <p:tgtEl>
                                          <p:spTgt spid="118790"/>
                                        </p:tgtEl>
                                      </p:cBhvr>
                                    </p:animEffect>
                                  </p:childTnLst>
                                </p:cTn>
                              </p:par>
                            </p:childTnLst>
                          </p:cTn>
                        </p:par>
                        <p:par>
                          <p:cTn id="78" fill="hold">
                            <p:stCondLst>
                              <p:cond delay="500"/>
                            </p:stCondLst>
                            <p:childTnLst>
                              <p:par>
                                <p:cTn id="79" presetID="18" presetClass="entr" presetSubtype="9" fill="hold" nodeType="afterEffect">
                                  <p:stCondLst>
                                    <p:cond delay="0"/>
                                  </p:stCondLst>
                                  <p:childTnLst>
                                    <p:set>
                                      <p:cBhvr>
                                        <p:cTn id="80" dur="1" fill="hold">
                                          <p:stCondLst>
                                            <p:cond delay="0"/>
                                          </p:stCondLst>
                                        </p:cTn>
                                        <p:tgtEl>
                                          <p:spTgt spid="118809"/>
                                        </p:tgtEl>
                                        <p:attrNameLst>
                                          <p:attrName>style.visibility</p:attrName>
                                        </p:attrNameLst>
                                      </p:cBhvr>
                                      <p:to>
                                        <p:strVal val="visible"/>
                                      </p:to>
                                    </p:set>
                                    <p:animEffect transition="in" filter="strips(upLeft)">
                                      <p:cBhvr>
                                        <p:cTn id="81" dur="500"/>
                                        <p:tgtEl>
                                          <p:spTgt spid="118809"/>
                                        </p:tgtEl>
                                      </p:cBhvr>
                                    </p:animEffect>
                                  </p:childTnLst>
                                </p:cTn>
                              </p:par>
                            </p:childTnLst>
                          </p:cTn>
                        </p:par>
                        <p:par>
                          <p:cTn id="82" fill="hold">
                            <p:stCondLst>
                              <p:cond delay="1000"/>
                            </p:stCondLst>
                            <p:childTnLst>
                              <p:par>
                                <p:cTn id="83" presetID="23" presetClass="entr" presetSubtype="16" fill="hold" grpId="0" nodeType="afterEffect">
                                  <p:stCondLst>
                                    <p:cond delay="0"/>
                                  </p:stCondLst>
                                  <p:childTnLst>
                                    <p:set>
                                      <p:cBhvr>
                                        <p:cTn id="84" dur="1" fill="hold">
                                          <p:stCondLst>
                                            <p:cond delay="0"/>
                                          </p:stCondLst>
                                        </p:cTn>
                                        <p:tgtEl>
                                          <p:spTgt spid="118808"/>
                                        </p:tgtEl>
                                        <p:attrNameLst>
                                          <p:attrName>style.visibility</p:attrName>
                                        </p:attrNameLst>
                                      </p:cBhvr>
                                      <p:to>
                                        <p:strVal val="visible"/>
                                      </p:to>
                                    </p:set>
                                    <p:anim calcmode="lin" valueType="num">
                                      <p:cBhvr>
                                        <p:cTn id="85" dur="500" fill="hold"/>
                                        <p:tgtEl>
                                          <p:spTgt spid="118808"/>
                                        </p:tgtEl>
                                        <p:attrNameLst>
                                          <p:attrName>ppt_w</p:attrName>
                                        </p:attrNameLst>
                                      </p:cBhvr>
                                      <p:tavLst>
                                        <p:tav tm="0">
                                          <p:val>
                                            <p:fltVal val="0.000000"/>
                                          </p:val>
                                        </p:tav>
                                        <p:tav tm="100000">
                                          <p:val>
                                            <p:strVal val="#ppt_w"/>
                                          </p:val>
                                        </p:tav>
                                      </p:tavLst>
                                    </p:anim>
                                    <p:anim calcmode="lin" valueType="num">
                                      <p:cBhvr>
                                        <p:cTn id="86" dur="500" fill="hold"/>
                                        <p:tgtEl>
                                          <p:spTgt spid="118808"/>
                                        </p:tgtEl>
                                        <p:attrNameLst>
                                          <p:attrName>ppt_h</p:attrName>
                                        </p:attrNameLst>
                                      </p:cBhvr>
                                      <p:tavLst>
                                        <p:tav tm="0">
                                          <p:val>
                                            <p:fltVal val="0.000000"/>
                                          </p:val>
                                        </p:tav>
                                        <p:tav tm="100000">
                                          <p:val>
                                            <p:strVal val="#ppt_h"/>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grpId="0" nodeType="clickEffect">
                                  <p:stCondLst>
                                    <p:cond delay="0"/>
                                  </p:stCondLst>
                                  <p:childTnLst>
                                    <p:set>
                                      <p:cBhvr>
                                        <p:cTn id="90" dur="1" fill="hold">
                                          <p:stCondLst>
                                            <p:cond delay="0"/>
                                          </p:stCondLst>
                                        </p:cTn>
                                        <p:tgtEl>
                                          <p:spTgt spid="10"/>
                                        </p:tgtEl>
                                        <p:attrNameLst>
                                          <p:attrName>style.visibility</p:attrName>
                                        </p:attrNameLst>
                                      </p:cBhvr>
                                      <p:to>
                                        <p:strVal val="visible"/>
                                      </p:to>
                                    </p:set>
                                    <p:anim calcmode="lin" valueType="num">
                                      <p:cBhvr additive="base">
                                        <p:cTn id="91" dur="500" fill="hold"/>
                                        <p:tgtEl>
                                          <p:spTgt spid="10"/>
                                        </p:tgtEl>
                                        <p:attrNameLst>
                                          <p:attrName>ppt_x</p:attrName>
                                        </p:attrNameLst>
                                      </p:cBhvr>
                                      <p:tavLst>
                                        <p:tav tm="0">
                                          <p:val>
                                            <p:strVal val="#ppt_x"/>
                                          </p:val>
                                        </p:tav>
                                        <p:tav tm="100000">
                                          <p:val>
                                            <p:strVal val="#ppt_x"/>
                                          </p:val>
                                        </p:tav>
                                      </p:tavLst>
                                    </p:anim>
                                    <p:anim calcmode="lin" valueType="num">
                                      <p:cBhvr additive="base">
                                        <p:cTn id="9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nodeType="clickEffect">
                                  <p:stCondLst>
                                    <p:cond delay="0"/>
                                  </p:stCondLst>
                                  <p:childTnLst>
                                    <p:set>
                                      <p:cBhvr>
                                        <p:cTn id="96" dur="1" fill="hold">
                                          <p:stCondLst>
                                            <p:cond delay="0"/>
                                          </p:stCondLst>
                                        </p:cTn>
                                        <p:tgtEl>
                                          <p:spTgt spid="3"/>
                                        </p:tgtEl>
                                        <p:attrNameLst>
                                          <p:attrName>style.visibility</p:attrName>
                                        </p:attrNameLst>
                                      </p:cBhvr>
                                      <p:to>
                                        <p:strVal val="visible"/>
                                      </p:to>
                                    </p:set>
                                    <p:anim calcmode="lin" valueType="num">
                                      <p:cBhvr additive="base">
                                        <p:cTn id="97" dur="500" fill="hold"/>
                                        <p:tgtEl>
                                          <p:spTgt spid="3"/>
                                        </p:tgtEl>
                                        <p:attrNameLst>
                                          <p:attrName>ppt_x</p:attrName>
                                        </p:attrNameLst>
                                      </p:cBhvr>
                                      <p:tavLst>
                                        <p:tav tm="0">
                                          <p:val>
                                            <p:strVal val="#ppt_x"/>
                                          </p:val>
                                        </p:tav>
                                        <p:tav tm="100000">
                                          <p:val>
                                            <p:strVal val="#ppt_x"/>
                                          </p:val>
                                        </p:tav>
                                      </p:tavLst>
                                    </p:anim>
                                    <p:anim calcmode="lin" valueType="num">
                                      <p:cBhvr additive="base">
                                        <p:cTn id="9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grpId="0" nodeType="clickEffect">
                                  <p:stCondLst>
                                    <p:cond delay="0"/>
                                  </p:stCondLst>
                                  <p:childTnLst>
                                    <p:set>
                                      <p:cBhvr>
                                        <p:cTn id="102" dur="1" fill="hold">
                                          <p:stCondLst>
                                            <p:cond delay="0"/>
                                          </p:stCondLst>
                                        </p:cTn>
                                        <p:tgtEl>
                                          <p:spTgt spid="11"/>
                                        </p:tgtEl>
                                        <p:attrNameLst>
                                          <p:attrName>style.visibility</p:attrName>
                                        </p:attrNameLst>
                                      </p:cBhvr>
                                      <p:to>
                                        <p:strVal val="visible"/>
                                      </p:to>
                                    </p:set>
                                    <p:anim calcmode="lin" valueType="num">
                                      <p:cBhvr additive="base">
                                        <p:cTn id="103" dur="500" fill="hold"/>
                                        <p:tgtEl>
                                          <p:spTgt spid="11"/>
                                        </p:tgtEl>
                                        <p:attrNameLst>
                                          <p:attrName>ppt_x</p:attrName>
                                        </p:attrNameLst>
                                      </p:cBhvr>
                                      <p:tavLst>
                                        <p:tav tm="0">
                                          <p:val>
                                            <p:strVal val="#ppt_x"/>
                                          </p:val>
                                        </p:tav>
                                        <p:tav tm="100000">
                                          <p:val>
                                            <p:strVal val="#ppt_x"/>
                                          </p:val>
                                        </p:tav>
                                      </p:tavLst>
                                    </p:anim>
                                    <p:anim calcmode="lin" valueType="num">
                                      <p:cBhvr additive="base">
                                        <p:cTn id="10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10" presetClass="entr" presetSubtype="0" fill="hold" nodeType="clickEffect">
                                  <p:stCondLst>
                                    <p:cond delay="0"/>
                                  </p:stCondLst>
                                  <p:childTnLst>
                                    <p:set>
                                      <p:cBhvr>
                                        <p:cTn id="108" dur="1" fill="hold">
                                          <p:stCondLst>
                                            <p:cond delay="0"/>
                                          </p:stCondLst>
                                        </p:cTn>
                                        <p:tgtEl>
                                          <p:spTgt spid="29701"/>
                                        </p:tgtEl>
                                        <p:attrNameLst>
                                          <p:attrName>style.visibility</p:attrName>
                                        </p:attrNameLst>
                                      </p:cBhvr>
                                      <p:to>
                                        <p:strVal val="visible"/>
                                      </p:to>
                                    </p:set>
                                    <p:animEffect transition="in" filter="fade">
                                      <p:cBhvr>
                                        <p:cTn id="109" dur="500"/>
                                        <p:tgtEl>
                                          <p:spTgt spid="29701"/>
                                        </p:tgtEl>
                                      </p:cBhvr>
                                    </p:animEffect>
                                  </p:childTnLst>
                                </p:cTn>
                              </p:par>
                              <p:par>
                                <p:cTn id="110" presetID="22" presetClass="entr" presetSubtype="4" fill="hold" grpId="0" nodeType="withEffect">
                                  <p:stCondLst>
                                    <p:cond delay="0"/>
                                  </p:stCondLst>
                                  <p:childTnLst>
                                    <p:set>
                                      <p:cBhvr>
                                        <p:cTn id="111" dur="1" fill="hold">
                                          <p:stCondLst>
                                            <p:cond delay="0"/>
                                          </p:stCondLst>
                                        </p:cTn>
                                        <p:tgtEl>
                                          <p:spTgt spid="4"/>
                                        </p:tgtEl>
                                        <p:attrNameLst>
                                          <p:attrName>style.visibility</p:attrName>
                                        </p:attrNameLst>
                                      </p:cBhvr>
                                      <p:to>
                                        <p:strVal val="visible"/>
                                      </p:to>
                                    </p:set>
                                    <p:animEffect transition="in" filter="wipe(down)">
                                      <p:cBhvr>
                                        <p:cTn id="112" dur="500"/>
                                        <p:tgtEl>
                                          <p:spTgt spid="4"/>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8" fill="hold" grpId="0" nodeType="clickEffect">
                                  <p:stCondLst>
                                    <p:cond delay="0"/>
                                  </p:stCondLst>
                                  <p:childTnLst>
                                    <p:set>
                                      <p:cBhvr>
                                        <p:cTn id="116" dur="1" fill="hold">
                                          <p:stCondLst>
                                            <p:cond delay="0"/>
                                          </p:stCondLst>
                                        </p:cTn>
                                        <p:tgtEl>
                                          <p:spTgt spid="29700"/>
                                        </p:tgtEl>
                                        <p:attrNameLst>
                                          <p:attrName>style.visibility</p:attrName>
                                        </p:attrNameLst>
                                      </p:cBhvr>
                                      <p:to>
                                        <p:strVal val="visible"/>
                                      </p:to>
                                    </p:set>
                                    <p:animEffect transition="in" filter="wipe(left)">
                                      <p:cBhvr>
                                        <p:cTn id="117" dur="500"/>
                                        <p:tgtEl>
                                          <p:spTgt spid="29700"/>
                                        </p:tgtEl>
                                      </p:cBhvr>
                                    </p:animEffect>
                                  </p:childTnLst>
                                </p:cTn>
                              </p:par>
                              <p:par>
                                <p:cTn id="118" presetID="22" presetClass="entr" presetSubtype="4" fill="hold" nodeType="withEffect">
                                  <p:stCondLst>
                                    <p:cond delay="0"/>
                                  </p:stCondLst>
                                  <p:childTnLst>
                                    <p:set>
                                      <p:cBhvr>
                                        <p:cTn id="119" dur="1" fill="hold">
                                          <p:stCondLst>
                                            <p:cond delay="0"/>
                                          </p:stCondLst>
                                        </p:cTn>
                                        <p:tgtEl>
                                          <p:spTgt spid="2"/>
                                        </p:tgtEl>
                                        <p:attrNameLst>
                                          <p:attrName>style.visibility</p:attrName>
                                        </p:attrNameLst>
                                      </p:cBhvr>
                                      <p:to>
                                        <p:strVal val="visible"/>
                                      </p:to>
                                    </p:set>
                                    <p:animEffect transition="in" filter="wipe(down)">
                                      <p:cBhvr>
                                        <p:cTn id="12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807" grpId="0"/>
      <p:bldP spid="118808" grpId="0"/>
      <p:bldP spid="118823" grpId="0"/>
      <p:bldP spid="10" grpId="0"/>
      <p:bldP spid="10" grpId="1"/>
      <p:bldP spid="10251" grpId="0"/>
      <p:bldP spid="11" grpId="0"/>
      <p:bldP spid="13" grpId="0" bldLvl="0" animBg="1"/>
      <p:bldP spid="14" grpId="0" bldLvl="0" animBg="1"/>
      <p:bldP spid="29700" grpId="0" bldLvl="0" animBg="1"/>
      <p:bldP spid="4" grpId="0" bldLvl="0" animBg="1"/>
      <p:bldP spid="13" grpId="1" animBg="1"/>
    </p:bld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29698" name="Rectangle 3"/>
          <p:cNvSpPr>
            <a:spLocks noGrp="1"/>
          </p:cNvSpPr>
          <p:nvPr>
            <p:ph type="title" idx="4294967295"/>
          </p:nvPr>
        </p:nvSpPr>
        <p:spPr>
          <a:xfrm>
            <a:off x="8758238" y="609283"/>
            <a:ext cx="2376487" cy="1153160"/>
          </a:xfrm>
          <a:solidFill>
            <a:srgbClr val="9ED3D7"/>
          </a:solidFill>
        </p:spPr>
        <p:txBody>
          <a:bodyPr wrap="square" tIns="0" anchor="b" anchorCtr="0">
            <a:spAutoFit/>
          </a:bodyPr>
          <a:p>
            <a:pPr eaLnBrk="1" hangingPunct="1">
              <a:spcBef>
                <a:spcPts val="1200"/>
              </a:spcBef>
            </a:pPr>
            <a:r>
              <a:rPr lang="zh-CN" altLang="en-US" sz="4000" dirty="0">
                <a:solidFill>
                  <a:srgbClr val="C00000"/>
                </a:solidFill>
                <a:ea typeface="楷体_GB2312" pitchFamily="1" charset="-122"/>
              </a:rPr>
              <a:t>二极管</a:t>
            </a:r>
            <a:br>
              <a:rPr lang="zh-CN" altLang="en-US" sz="4000" dirty="0">
                <a:solidFill>
                  <a:srgbClr val="C00000"/>
                </a:solidFill>
                <a:ea typeface="楷体_GB2312" pitchFamily="1" charset="-122"/>
              </a:rPr>
            </a:br>
            <a:r>
              <a:rPr lang="en-US" altLang="zh-CN" sz="3200" dirty="0">
                <a:solidFill>
                  <a:schemeClr val="tx1"/>
                </a:solidFill>
                <a:ea typeface="楷体_GB2312" pitchFamily="1" charset="-122"/>
              </a:rPr>
              <a:t>p327</a:t>
            </a:r>
            <a:r>
              <a:rPr lang="zh-CN" altLang="en-US" sz="3200" dirty="0">
                <a:solidFill>
                  <a:schemeClr val="tx1"/>
                </a:solidFill>
                <a:ea typeface="楷体_GB2312" pitchFamily="1" charset="-122"/>
              </a:rPr>
              <a:t>附录</a:t>
            </a:r>
            <a:endParaRPr lang="en-US" altLang="zh-CN" sz="2400" dirty="0">
              <a:solidFill>
                <a:schemeClr val="tx1"/>
              </a:solidFill>
              <a:ea typeface="楷体_GB2312" pitchFamily="1" charset="-122"/>
            </a:endParaRPr>
          </a:p>
        </p:txBody>
      </p:sp>
      <p:pic>
        <p:nvPicPr>
          <p:cNvPr id="29699" name="Picture 7" descr="led"/>
          <p:cNvPicPr>
            <a:picLocks noChangeAspect="1"/>
          </p:cNvPicPr>
          <p:nvPr/>
        </p:nvPicPr>
        <p:blipFill>
          <a:blip r:embed="rId1"/>
          <a:stretch>
            <a:fillRect/>
          </a:stretch>
        </p:blipFill>
        <p:spPr>
          <a:xfrm>
            <a:off x="8755063" y="2203768"/>
            <a:ext cx="2425700" cy="2352675"/>
          </a:xfrm>
          <a:prstGeom prst="rect">
            <a:avLst/>
          </a:prstGeom>
          <a:noFill/>
          <a:ln w="9525">
            <a:noFill/>
          </a:ln>
        </p:spPr>
      </p:pic>
      <p:sp>
        <p:nvSpPr>
          <p:cNvPr id="29700" name="Text Box 9"/>
          <p:cNvSpPr txBox="1"/>
          <p:nvPr/>
        </p:nvSpPr>
        <p:spPr>
          <a:xfrm>
            <a:off x="90805" y="1626235"/>
            <a:ext cx="2750820" cy="1198880"/>
          </a:xfrm>
          <a:prstGeom prst="rect">
            <a:avLst/>
          </a:prstGeom>
          <a:solidFill>
            <a:srgbClr val="CCFFCC"/>
          </a:solidFill>
          <a:ln w="38100" cap="flat" cmpd="sng">
            <a:solidFill>
              <a:srgbClr val="FF0000"/>
            </a:solidFill>
            <a:prstDash val="solid"/>
            <a:miter/>
            <a:headEnd type="none" w="med" len="med"/>
            <a:tailEnd type="none" w="med" len="med"/>
          </a:ln>
        </p:spPr>
        <p:txBody>
          <a:bodyPr wrap="square" anchor="t" anchorCtr="0">
            <a:spAutoFit/>
          </a:bodyPr>
          <a:p>
            <a:pPr algn="ctr"/>
            <a:r>
              <a:rPr lang="zh-CN" altLang="en-US" sz="2400" b="1" dirty="0">
                <a:latin typeface="微软雅黑" panose="020B0503020204020204" charset="-122"/>
                <a:ea typeface="微软雅黑" panose="020B0503020204020204" charset="-122"/>
                <a:cs typeface="微软雅黑" panose="020B0503020204020204" charset="-122"/>
              </a:rPr>
              <a:t>实验</a:t>
            </a:r>
            <a:r>
              <a:rPr lang="en-US" altLang="zh-CN" sz="2400" b="1" dirty="0">
                <a:latin typeface="微软雅黑" panose="020B0503020204020204" charset="-122"/>
                <a:ea typeface="微软雅黑" panose="020B0503020204020204" charset="-122"/>
                <a:cs typeface="微软雅黑" panose="020B0503020204020204" charset="-122"/>
              </a:rPr>
              <a:t>9,11</a:t>
            </a:r>
            <a:r>
              <a:rPr lang="zh-CN" altLang="en-US" sz="2400" b="1" dirty="0">
                <a:latin typeface="微软雅黑" panose="020B0503020204020204" charset="-122"/>
                <a:ea typeface="微软雅黑" panose="020B0503020204020204" charset="-122"/>
                <a:cs typeface="微软雅黑" panose="020B0503020204020204" charset="-122"/>
              </a:rPr>
              <a:t>类型</a:t>
            </a:r>
            <a:endParaRPr lang="en-US" altLang="zh-CN" sz="2400" b="1" dirty="0">
              <a:latin typeface="微软雅黑" panose="020B0503020204020204" charset="-122"/>
              <a:ea typeface="微软雅黑" panose="020B0503020204020204" charset="-122"/>
              <a:cs typeface="微软雅黑" panose="020B0503020204020204" charset="-122"/>
            </a:endParaRPr>
          </a:p>
          <a:p>
            <a:pPr algn="ctr"/>
            <a:r>
              <a:rPr lang="zh-CN" altLang="en-US" sz="2400" b="1" dirty="0">
                <a:latin typeface="微软雅黑" panose="020B0503020204020204" charset="-122"/>
                <a:ea typeface="微软雅黑" panose="020B0503020204020204" charset="-122"/>
                <a:cs typeface="微软雅黑" panose="020B0503020204020204" charset="-122"/>
              </a:rPr>
              <a:t>（实发型号</a:t>
            </a:r>
            <a:r>
              <a:rPr lang="en-US" altLang="zh-CN" sz="2400" b="1" dirty="0">
                <a:latin typeface="微软雅黑" panose="020B0503020204020204" charset="-122"/>
                <a:ea typeface="微软雅黑" panose="020B0503020204020204" charset="-122"/>
                <a:cs typeface="微软雅黑" panose="020B0503020204020204" charset="-122"/>
              </a:rPr>
              <a:t>-</a:t>
            </a:r>
            <a:r>
              <a:rPr lang="zh-CN" altLang="en-US" sz="2400" b="1" dirty="0">
                <a:latin typeface="微软雅黑" panose="020B0503020204020204" charset="-122"/>
                <a:ea typeface="微软雅黑" panose="020B0503020204020204" charset="-122"/>
                <a:cs typeface="微软雅黑" panose="020B0503020204020204" charset="-122"/>
              </a:rPr>
              <a:t>开关二极管</a:t>
            </a:r>
            <a:r>
              <a:rPr lang="en-US" altLang="zh-CN" sz="2400" b="1" dirty="0">
                <a:latin typeface="微软雅黑" panose="020B0503020204020204" charset="-122"/>
                <a:ea typeface="微软雅黑" panose="020B0503020204020204" charset="-122"/>
                <a:cs typeface="微软雅黑" panose="020B0503020204020204" charset="-122"/>
              </a:rPr>
              <a:t>1N4148 </a:t>
            </a:r>
            <a:r>
              <a:rPr lang="zh-CN" altLang="en-US" sz="2400" b="1" dirty="0">
                <a:latin typeface="微软雅黑" panose="020B0503020204020204" charset="-122"/>
                <a:ea typeface="微软雅黑" panose="020B0503020204020204" charset="-122"/>
                <a:cs typeface="微软雅黑" panose="020B0503020204020204" charset="-122"/>
              </a:rPr>
              <a:t>）</a:t>
            </a:r>
            <a:endParaRPr lang="zh-CN" altLang="en-US" sz="2400" b="1" dirty="0">
              <a:latin typeface="微软雅黑" panose="020B0503020204020204" charset="-122"/>
              <a:ea typeface="微软雅黑" panose="020B0503020204020204" charset="-122"/>
              <a:cs typeface="微软雅黑" panose="020B0503020204020204" charset="-122"/>
            </a:endParaRPr>
          </a:p>
        </p:txBody>
      </p:sp>
      <p:pic>
        <p:nvPicPr>
          <p:cNvPr id="29701" name="Picture 12"/>
          <p:cNvPicPr>
            <a:picLocks noChangeAspect="1"/>
          </p:cNvPicPr>
          <p:nvPr/>
        </p:nvPicPr>
        <p:blipFill>
          <a:blip r:embed="rId2"/>
          <a:stretch>
            <a:fillRect/>
          </a:stretch>
        </p:blipFill>
        <p:spPr>
          <a:xfrm>
            <a:off x="2927033" y="613728"/>
            <a:ext cx="3917082" cy="4320000"/>
          </a:xfrm>
          <a:prstGeom prst="rect">
            <a:avLst/>
          </a:prstGeom>
          <a:noFill/>
          <a:ln w="9525">
            <a:noFill/>
          </a:ln>
        </p:spPr>
      </p:pic>
      <p:pic>
        <p:nvPicPr>
          <p:cNvPr id="29702" name="Picture 13"/>
          <p:cNvPicPr>
            <a:picLocks noChangeAspect="1"/>
          </p:cNvPicPr>
          <p:nvPr/>
        </p:nvPicPr>
        <p:blipFill>
          <a:blip r:embed="rId3"/>
          <a:stretch>
            <a:fillRect/>
          </a:stretch>
        </p:blipFill>
        <p:spPr>
          <a:xfrm>
            <a:off x="3359468" y="5013325"/>
            <a:ext cx="2476500" cy="1438275"/>
          </a:xfrm>
          <a:prstGeom prst="rect">
            <a:avLst/>
          </a:prstGeom>
          <a:noFill/>
          <a:ln w="9525">
            <a:noFill/>
          </a:ln>
        </p:spPr>
      </p:pic>
      <p:pic>
        <p:nvPicPr>
          <p:cNvPr id="29703" name="Picture 14"/>
          <p:cNvPicPr>
            <a:picLocks noChangeAspect="1"/>
          </p:cNvPicPr>
          <p:nvPr/>
        </p:nvPicPr>
        <p:blipFill>
          <a:blip r:embed="rId4"/>
          <a:stretch>
            <a:fillRect/>
          </a:stretch>
        </p:blipFill>
        <p:spPr>
          <a:xfrm>
            <a:off x="9632950" y="4691380"/>
            <a:ext cx="923925" cy="1466850"/>
          </a:xfrm>
          <a:prstGeom prst="rect">
            <a:avLst/>
          </a:prstGeom>
          <a:noFill/>
          <a:ln w="9525">
            <a:noFill/>
          </a:ln>
        </p:spPr>
      </p:pic>
      <p:sp>
        <p:nvSpPr>
          <p:cNvPr id="29704" name="矩形 16"/>
          <p:cNvSpPr/>
          <p:nvPr/>
        </p:nvSpPr>
        <p:spPr>
          <a:xfrm>
            <a:off x="1228090" y="5085715"/>
            <a:ext cx="2139950" cy="891540"/>
          </a:xfrm>
          <a:prstGeom prst="rect">
            <a:avLst/>
          </a:prstGeom>
          <a:noFill/>
          <a:ln w="9525">
            <a:noFill/>
          </a:ln>
        </p:spPr>
        <p:txBody>
          <a:bodyPr wrap="square" anchor="t" anchorCtr="0">
            <a:spAutoFit/>
          </a:bodyPr>
          <a:p>
            <a:pPr algn="ctr"/>
            <a:r>
              <a:rPr lang="zh-CN" altLang="en-US" sz="2800" b="1" dirty="0">
                <a:latin typeface="Tahoma" panose="020B0604030504040204" pitchFamily="2" charset="0"/>
                <a:ea typeface="宋体" panose="02010600030101010101" pitchFamily="2" charset="-122"/>
              </a:rPr>
              <a:t>普通二极管</a:t>
            </a:r>
            <a:r>
              <a:rPr lang="zh-CN" altLang="en-US" sz="2400" b="1" dirty="0">
                <a:latin typeface="Tahoma" panose="020B0604030504040204" pitchFamily="2" charset="0"/>
                <a:ea typeface="宋体" panose="02010600030101010101" pitchFamily="2" charset="-122"/>
              </a:rPr>
              <a:t>（单向导电性）</a:t>
            </a:r>
            <a:endParaRPr lang="zh-CN" altLang="en-US" sz="2400" b="1" dirty="0">
              <a:latin typeface="Tahoma" panose="020B0604030504040204" pitchFamily="2" charset="0"/>
              <a:ea typeface="宋体" panose="02010600030101010101" pitchFamily="2" charset="-122"/>
            </a:endParaRPr>
          </a:p>
        </p:txBody>
      </p:sp>
      <p:sp>
        <p:nvSpPr>
          <p:cNvPr id="29705" name="矩形 17"/>
          <p:cNvSpPr/>
          <p:nvPr/>
        </p:nvSpPr>
        <p:spPr>
          <a:xfrm>
            <a:off x="9042400" y="6128068"/>
            <a:ext cx="2141538" cy="521970"/>
          </a:xfrm>
          <a:prstGeom prst="rect">
            <a:avLst/>
          </a:prstGeom>
          <a:noFill/>
          <a:ln w="9525">
            <a:noFill/>
          </a:ln>
        </p:spPr>
        <p:txBody>
          <a:bodyPr anchor="t" anchorCtr="0">
            <a:spAutoFit/>
          </a:bodyPr>
          <a:p>
            <a:pPr algn="ctr"/>
            <a:r>
              <a:rPr lang="zh-CN" altLang="en-US" sz="2800" b="1" dirty="0">
                <a:latin typeface="Tahoma" panose="020B0604030504040204" pitchFamily="2" charset="0"/>
                <a:ea typeface="宋体" panose="02010600030101010101" pitchFamily="2" charset="-122"/>
              </a:rPr>
              <a:t>发光二极管</a:t>
            </a:r>
            <a:endParaRPr lang="zh-CN" altLang="en-US" sz="2800" b="1" dirty="0">
              <a:latin typeface="Tahoma" panose="020B0604030504040204" pitchFamily="2" charset="0"/>
              <a:ea typeface="宋体" panose="02010600030101010101" pitchFamily="2" charset="-122"/>
            </a:endParaRPr>
          </a:p>
        </p:txBody>
      </p:sp>
      <p:sp>
        <p:nvSpPr>
          <p:cNvPr id="29706" name="矩形 18"/>
          <p:cNvSpPr/>
          <p:nvPr/>
        </p:nvSpPr>
        <p:spPr>
          <a:xfrm>
            <a:off x="5548630" y="5292725"/>
            <a:ext cx="2740660" cy="521970"/>
          </a:xfrm>
          <a:prstGeom prst="rect">
            <a:avLst/>
          </a:prstGeom>
          <a:noFill/>
          <a:ln w="9525">
            <a:noFill/>
          </a:ln>
        </p:spPr>
        <p:txBody>
          <a:bodyPr wrap="square" anchor="t" anchorCtr="0">
            <a:spAutoFit/>
          </a:bodyPr>
          <a:p>
            <a:pPr algn="ctr"/>
            <a:r>
              <a:rPr lang="zh-CN" altLang="en-US" sz="2800" b="1" dirty="0">
                <a:latin typeface="Tahoma" panose="020B0604030504040204" pitchFamily="2" charset="0"/>
                <a:ea typeface="宋体" panose="02010600030101010101" pitchFamily="2" charset="-122"/>
              </a:rPr>
              <a:t>稳压（二极）管</a:t>
            </a:r>
            <a:endParaRPr lang="zh-CN" altLang="en-US" sz="2800" b="1" dirty="0">
              <a:latin typeface="Tahoma" panose="020B0604030504040204" pitchFamily="2" charset="0"/>
              <a:ea typeface="宋体" panose="02010600030101010101" pitchFamily="2" charset="-122"/>
            </a:endParaRPr>
          </a:p>
        </p:txBody>
      </p:sp>
      <p:cxnSp>
        <p:nvCxnSpPr>
          <p:cNvPr id="29707" name="直接箭头连接符 4"/>
          <p:cNvCxnSpPr/>
          <p:nvPr/>
        </p:nvCxnSpPr>
        <p:spPr>
          <a:xfrm>
            <a:off x="2713038" y="2339975"/>
            <a:ext cx="376237" cy="144463"/>
          </a:xfrm>
          <a:prstGeom prst="straightConnector1">
            <a:avLst/>
          </a:prstGeom>
          <a:ln w="31750" cap="flat" cmpd="sng">
            <a:solidFill>
              <a:srgbClr val="C00000"/>
            </a:solidFill>
            <a:prstDash val="solid"/>
            <a:round/>
            <a:headEnd type="none" w="med" len="med"/>
            <a:tailEnd type="arrow" w="med" len="med"/>
          </a:ln>
        </p:spPr>
      </p:cxnSp>
      <p:sp>
        <p:nvSpPr>
          <p:cNvPr id="29708" name="Text Box 9"/>
          <p:cNvSpPr txBox="1"/>
          <p:nvPr/>
        </p:nvSpPr>
        <p:spPr>
          <a:xfrm>
            <a:off x="6005830" y="1256665"/>
            <a:ext cx="2689225" cy="1938020"/>
          </a:xfrm>
          <a:prstGeom prst="rect">
            <a:avLst/>
          </a:prstGeom>
          <a:noFill/>
          <a:ln w="38100" cap="flat" cmpd="sng">
            <a:solidFill>
              <a:srgbClr val="00B050"/>
            </a:solidFill>
            <a:prstDash val="solid"/>
            <a:miter/>
            <a:headEnd type="none" w="med" len="med"/>
            <a:tailEnd type="none" w="med" len="med"/>
          </a:ln>
        </p:spPr>
        <p:txBody>
          <a:bodyPr wrap="square" anchor="t" anchorCtr="0">
            <a:spAutoFit/>
          </a:bodyPr>
          <a:p>
            <a:r>
              <a:rPr lang="zh-CN" altLang="en-US" sz="2400" b="1" dirty="0">
                <a:latin typeface="微软雅黑" panose="020B0503020204020204" charset="-122"/>
                <a:ea typeface="微软雅黑" panose="020B0503020204020204" charset="-122"/>
                <a:cs typeface="微软雅黑" panose="020B0503020204020204" charset="-122"/>
              </a:rPr>
              <a:t>实验</a:t>
            </a:r>
            <a:r>
              <a:rPr lang="en-US" altLang="zh-CN" sz="2400" b="1" dirty="0">
                <a:latin typeface="微软雅黑" panose="020B0503020204020204" charset="-122"/>
                <a:ea typeface="微软雅黑" panose="020B0503020204020204" charset="-122"/>
                <a:cs typeface="微软雅黑" panose="020B0503020204020204" charset="-122"/>
              </a:rPr>
              <a:t>10</a:t>
            </a:r>
            <a:r>
              <a:rPr lang="zh-CN" altLang="en-US" sz="2400" b="1" dirty="0">
                <a:latin typeface="微软雅黑" panose="020B0503020204020204" charset="-122"/>
                <a:ea typeface="微软雅黑" panose="020B0503020204020204" charset="-122"/>
                <a:cs typeface="微软雅黑" panose="020B0503020204020204" charset="-122"/>
              </a:rPr>
              <a:t>用稳压管</a:t>
            </a:r>
            <a:endParaRPr lang="en-US" altLang="zh-CN" sz="2400" b="1" dirty="0">
              <a:latin typeface="微软雅黑" panose="020B0503020204020204" charset="-122"/>
              <a:ea typeface="微软雅黑" panose="020B0503020204020204" charset="-122"/>
              <a:cs typeface="微软雅黑" panose="020B0503020204020204" charset="-122"/>
            </a:endParaRPr>
          </a:p>
          <a:p>
            <a:r>
              <a:rPr lang="zh-CN" altLang="en-US" sz="2400" b="1" dirty="0">
                <a:latin typeface="微软雅黑" panose="020B0503020204020204" charset="-122"/>
                <a:ea typeface="微软雅黑" panose="020B0503020204020204" charset="-122"/>
                <a:cs typeface="微软雅黑" panose="020B0503020204020204" charset="-122"/>
              </a:rPr>
              <a:t>（某种型号</a:t>
            </a:r>
            <a:r>
              <a:rPr lang="en-US" altLang="zh-CN" sz="2400" b="1" dirty="0">
                <a:latin typeface="微软雅黑" panose="020B0503020204020204" charset="-122"/>
                <a:ea typeface="微软雅黑" panose="020B0503020204020204" charset="-122"/>
                <a:cs typeface="微软雅黑" panose="020B0503020204020204" charset="-122"/>
              </a:rPr>
              <a:t>--2CW7   </a:t>
            </a:r>
            <a:endParaRPr lang="en-US" altLang="zh-CN" sz="2400" b="1" dirty="0">
              <a:latin typeface="微软雅黑" panose="020B0503020204020204" charset="-122"/>
              <a:ea typeface="微软雅黑" panose="020B0503020204020204" charset="-122"/>
              <a:cs typeface="微软雅黑" panose="020B0503020204020204" charset="-122"/>
            </a:endParaRPr>
          </a:p>
          <a:p>
            <a:r>
              <a:rPr lang="zh-CN" altLang="en-US" sz="2400" b="1" dirty="0">
                <a:latin typeface="微软雅黑" panose="020B0503020204020204" charset="-122"/>
                <a:ea typeface="微软雅黑" panose="020B0503020204020204" charset="-122"/>
                <a:cs typeface="微软雅黑" panose="020B0503020204020204" charset="-122"/>
              </a:rPr>
              <a:t>貌似同但个头稍</a:t>
            </a:r>
            <a:r>
              <a:rPr lang="zh-CN" altLang="en-US" sz="2400" b="1" dirty="0">
                <a:solidFill>
                  <a:srgbClr val="C00000"/>
                </a:solidFill>
                <a:latin typeface="微软雅黑" panose="020B0503020204020204" charset="-122"/>
                <a:ea typeface="微软雅黑" panose="020B0503020204020204" charset="-122"/>
                <a:cs typeface="微软雅黑" panose="020B0503020204020204" charset="-122"/>
              </a:rPr>
              <a:t>大</a:t>
            </a:r>
            <a:endParaRPr lang="zh-CN" altLang="en-US" sz="2400" b="1" dirty="0">
              <a:solidFill>
                <a:srgbClr val="C00000"/>
              </a:solidFill>
              <a:latin typeface="微软雅黑" panose="020B0503020204020204" charset="-122"/>
              <a:ea typeface="微软雅黑" panose="020B0503020204020204" charset="-122"/>
              <a:cs typeface="微软雅黑" panose="020B0503020204020204" charset="-122"/>
            </a:endParaRPr>
          </a:p>
          <a:p>
            <a:r>
              <a:rPr lang="zh-CN" altLang="en-US" sz="2400" b="1" dirty="0">
                <a:solidFill>
                  <a:srgbClr val="FF0000"/>
                </a:solidFill>
                <a:latin typeface="微软雅黑" panose="020B0503020204020204" charset="-122"/>
                <a:ea typeface="微软雅黑" panose="020B0503020204020204" charset="-122"/>
                <a:cs typeface="微软雅黑" panose="020B0503020204020204" charset="-122"/>
              </a:rPr>
              <a:t>勿随意混用杂用</a:t>
            </a:r>
            <a:r>
              <a:rPr lang="zh-CN" altLang="en-US" sz="2400" b="1" dirty="0">
                <a:latin typeface="微软雅黑" panose="020B0503020204020204" charset="-122"/>
                <a:ea typeface="微软雅黑" panose="020B0503020204020204" charset="-122"/>
                <a:cs typeface="微软雅黑" panose="020B0503020204020204" charset="-122"/>
              </a:rPr>
              <a:t>）</a:t>
            </a:r>
            <a:endParaRPr lang="zh-CN" altLang="en-US" sz="2400" b="1"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69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29701"/>
                                        </p:tgtEl>
                                        <p:attrNameLst>
                                          <p:attrName>style.visibility</p:attrName>
                                        </p:attrNameLst>
                                      </p:cBhvr>
                                      <p:to>
                                        <p:strVal val="visible"/>
                                      </p:to>
                                    </p:set>
                                    <p:animEffect transition="in" filter="fade">
                                      <p:cBhvr>
                                        <p:cTn id="11" dur="500"/>
                                        <p:tgtEl>
                                          <p:spTgt spid="29701"/>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nodeType="clickEffect">
                                  <p:stCondLst>
                                    <p:cond delay="0"/>
                                  </p:stCondLst>
                                  <p:childTnLst>
                                    <p:set>
                                      <p:cBhvr>
                                        <p:cTn id="15" dur="1" fill="hold">
                                          <p:stCondLst>
                                            <p:cond delay="0"/>
                                          </p:stCondLst>
                                        </p:cTn>
                                        <p:tgtEl>
                                          <p:spTgt spid="29702"/>
                                        </p:tgtEl>
                                        <p:attrNameLst>
                                          <p:attrName>style.visibility</p:attrName>
                                        </p:attrNameLst>
                                      </p:cBhvr>
                                      <p:to>
                                        <p:strVal val="visible"/>
                                      </p:to>
                                    </p:set>
                                    <p:anim calcmode="lin" valueType="num">
                                      <p:cBhvr additive="base">
                                        <p:cTn id="16" dur="500" fill="hold"/>
                                        <p:tgtEl>
                                          <p:spTgt spid="29702"/>
                                        </p:tgtEl>
                                        <p:attrNameLst>
                                          <p:attrName>ppt_x</p:attrName>
                                        </p:attrNameLst>
                                      </p:cBhvr>
                                      <p:tavLst>
                                        <p:tav tm="0">
                                          <p:val>
                                            <p:strVal val="#ppt_x"/>
                                          </p:val>
                                        </p:tav>
                                        <p:tav tm="100000">
                                          <p:val>
                                            <p:strVal val="#ppt_x"/>
                                          </p:val>
                                        </p:tav>
                                      </p:tavLst>
                                    </p:anim>
                                    <p:anim calcmode="lin" valueType="num">
                                      <p:cBhvr additive="base">
                                        <p:cTn id="17" dur="500" fill="hold"/>
                                        <p:tgtEl>
                                          <p:spTgt spid="29702"/>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29704"/>
                                        </p:tgtEl>
                                        <p:attrNameLst>
                                          <p:attrName>style.visibility</p:attrName>
                                        </p:attrNameLst>
                                      </p:cBhvr>
                                      <p:to>
                                        <p:strVal val="visible"/>
                                      </p:to>
                                    </p:set>
                                    <p:anim calcmode="lin" valueType="num">
                                      <p:cBhvr additive="base">
                                        <p:cTn id="22" dur="500" fill="hold"/>
                                        <p:tgtEl>
                                          <p:spTgt spid="29704"/>
                                        </p:tgtEl>
                                        <p:attrNameLst>
                                          <p:attrName>ppt_x</p:attrName>
                                        </p:attrNameLst>
                                      </p:cBhvr>
                                      <p:tavLst>
                                        <p:tav tm="0">
                                          <p:val>
                                            <p:strVal val="#ppt_x"/>
                                          </p:val>
                                        </p:tav>
                                        <p:tav tm="100000">
                                          <p:val>
                                            <p:strVal val="#ppt_x"/>
                                          </p:val>
                                        </p:tav>
                                      </p:tavLst>
                                    </p:anim>
                                    <p:anim calcmode="lin" valueType="num">
                                      <p:cBhvr additive="base">
                                        <p:cTn id="23" dur="500" fill="hold"/>
                                        <p:tgtEl>
                                          <p:spTgt spid="29704"/>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29706"/>
                                        </p:tgtEl>
                                        <p:attrNameLst>
                                          <p:attrName>style.visibility</p:attrName>
                                        </p:attrNameLst>
                                      </p:cBhvr>
                                      <p:to>
                                        <p:strVal val="visible"/>
                                      </p:to>
                                    </p:set>
                                    <p:anim calcmode="lin" valueType="num">
                                      <p:cBhvr additive="base">
                                        <p:cTn id="28" dur="500" fill="hold"/>
                                        <p:tgtEl>
                                          <p:spTgt spid="29706"/>
                                        </p:tgtEl>
                                        <p:attrNameLst>
                                          <p:attrName>ppt_x</p:attrName>
                                        </p:attrNameLst>
                                      </p:cBhvr>
                                      <p:tavLst>
                                        <p:tav tm="0">
                                          <p:val>
                                            <p:strVal val="#ppt_x"/>
                                          </p:val>
                                        </p:tav>
                                        <p:tav tm="100000">
                                          <p:val>
                                            <p:strVal val="#ppt_x"/>
                                          </p:val>
                                        </p:tav>
                                      </p:tavLst>
                                    </p:anim>
                                    <p:anim calcmode="lin" valueType="num">
                                      <p:cBhvr additive="base">
                                        <p:cTn id="29" dur="500" fill="hold"/>
                                        <p:tgtEl>
                                          <p:spTgt spid="29706"/>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8" fill="hold" grpId="0" nodeType="clickEffect">
                                  <p:stCondLst>
                                    <p:cond delay="0"/>
                                  </p:stCondLst>
                                  <p:childTnLst>
                                    <p:set>
                                      <p:cBhvr>
                                        <p:cTn id="33" dur="1" fill="hold">
                                          <p:stCondLst>
                                            <p:cond delay="0"/>
                                          </p:stCondLst>
                                        </p:cTn>
                                        <p:tgtEl>
                                          <p:spTgt spid="29700"/>
                                        </p:tgtEl>
                                        <p:attrNameLst>
                                          <p:attrName>style.visibility</p:attrName>
                                        </p:attrNameLst>
                                      </p:cBhvr>
                                      <p:to>
                                        <p:strVal val="visible"/>
                                      </p:to>
                                    </p:set>
                                    <p:anim calcmode="lin" valueType="num">
                                      <p:cBhvr additive="base">
                                        <p:cTn id="34" dur="500" fill="hold"/>
                                        <p:tgtEl>
                                          <p:spTgt spid="29700"/>
                                        </p:tgtEl>
                                        <p:attrNameLst>
                                          <p:attrName>ppt_x</p:attrName>
                                        </p:attrNameLst>
                                      </p:cBhvr>
                                      <p:tavLst>
                                        <p:tav tm="0">
                                          <p:val>
                                            <p:strVal val="0-#ppt_w/2"/>
                                          </p:val>
                                        </p:tav>
                                        <p:tav tm="100000">
                                          <p:val>
                                            <p:strVal val="#ppt_x"/>
                                          </p:val>
                                        </p:tav>
                                      </p:tavLst>
                                    </p:anim>
                                    <p:anim calcmode="lin" valueType="num">
                                      <p:cBhvr additive="base">
                                        <p:cTn id="35" dur="500" fill="hold"/>
                                        <p:tgtEl>
                                          <p:spTgt spid="29700"/>
                                        </p:tgtEl>
                                        <p:attrNameLst>
                                          <p:attrName>ppt_y</p:attrName>
                                        </p:attrNameLst>
                                      </p:cBhvr>
                                      <p:tavLst>
                                        <p:tav tm="0">
                                          <p:val>
                                            <p:strVal val="#ppt_y"/>
                                          </p:val>
                                        </p:tav>
                                        <p:tav tm="100000">
                                          <p:val>
                                            <p:strVal val="#ppt_y"/>
                                          </p:val>
                                        </p:tav>
                                      </p:tavLst>
                                    </p:anim>
                                  </p:childTnLst>
                                </p:cTn>
                              </p:par>
                              <p:par>
                                <p:cTn id="36" presetID="22" presetClass="entr" presetSubtype="8" fill="hold" nodeType="withEffect">
                                  <p:stCondLst>
                                    <p:cond delay="0"/>
                                  </p:stCondLst>
                                  <p:childTnLst>
                                    <p:set>
                                      <p:cBhvr>
                                        <p:cTn id="37" dur="1" fill="hold">
                                          <p:stCondLst>
                                            <p:cond delay="0"/>
                                          </p:stCondLst>
                                        </p:cTn>
                                        <p:tgtEl>
                                          <p:spTgt spid="29707"/>
                                        </p:tgtEl>
                                        <p:attrNameLst>
                                          <p:attrName>style.visibility</p:attrName>
                                        </p:attrNameLst>
                                      </p:cBhvr>
                                      <p:to>
                                        <p:strVal val="visible"/>
                                      </p:to>
                                    </p:set>
                                    <p:animEffect transition="in" filter="wipe(left)">
                                      <p:cBhvr>
                                        <p:cTn id="38" dur="500"/>
                                        <p:tgtEl>
                                          <p:spTgt spid="29707"/>
                                        </p:tgtEl>
                                      </p:cBhvr>
                                    </p:animEffect>
                                  </p:childTnLst>
                                </p:cTn>
                              </p:par>
                            </p:childTnLst>
                          </p:cTn>
                        </p:par>
                      </p:childTnLst>
                    </p:cTn>
                  </p:par>
                  <p:par>
                    <p:cTn id="39" fill="hold">
                      <p:stCondLst>
                        <p:cond delay="indefinite"/>
                      </p:stCondLst>
                      <p:childTnLst>
                        <p:par>
                          <p:cTn id="40" fill="hold">
                            <p:stCondLst>
                              <p:cond delay="0"/>
                            </p:stCondLst>
                            <p:childTnLst>
                              <p:par>
                                <p:cTn id="41" presetID="2" presetClass="entr" presetSubtype="1" fill="hold" grpId="0" nodeType="clickEffect">
                                  <p:stCondLst>
                                    <p:cond delay="0"/>
                                  </p:stCondLst>
                                  <p:childTnLst>
                                    <p:set>
                                      <p:cBhvr>
                                        <p:cTn id="42" dur="1" fill="hold">
                                          <p:stCondLst>
                                            <p:cond delay="0"/>
                                          </p:stCondLst>
                                        </p:cTn>
                                        <p:tgtEl>
                                          <p:spTgt spid="29708"/>
                                        </p:tgtEl>
                                        <p:attrNameLst>
                                          <p:attrName>style.visibility</p:attrName>
                                        </p:attrNameLst>
                                      </p:cBhvr>
                                      <p:to>
                                        <p:strVal val="visible"/>
                                      </p:to>
                                    </p:set>
                                    <p:anim calcmode="lin" valueType="num">
                                      <p:cBhvr additive="base">
                                        <p:cTn id="43" dur="500" fill="hold"/>
                                        <p:tgtEl>
                                          <p:spTgt spid="29708"/>
                                        </p:tgtEl>
                                        <p:attrNameLst>
                                          <p:attrName>ppt_x</p:attrName>
                                        </p:attrNameLst>
                                      </p:cBhvr>
                                      <p:tavLst>
                                        <p:tav tm="0">
                                          <p:val>
                                            <p:strVal val="#ppt_x"/>
                                          </p:val>
                                        </p:tav>
                                        <p:tav tm="100000">
                                          <p:val>
                                            <p:strVal val="#ppt_x"/>
                                          </p:val>
                                        </p:tav>
                                      </p:tavLst>
                                    </p:anim>
                                    <p:anim calcmode="lin" valueType="num">
                                      <p:cBhvr additive="base">
                                        <p:cTn id="44" dur="500" fill="hold"/>
                                        <p:tgtEl>
                                          <p:spTgt spid="29708"/>
                                        </p:tgtEl>
                                        <p:attrNameLst>
                                          <p:attrName>ppt_y</p:attrName>
                                        </p:attrNameLst>
                                      </p:cBhvr>
                                      <p:tavLst>
                                        <p:tav tm="0">
                                          <p:val>
                                            <p:strVal val="0-#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29699"/>
                                        </p:tgtEl>
                                        <p:attrNameLst>
                                          <p:attrName>style.visibility</p:attrName>
                                        </p:attrNameLst>
                                      </p:cBhvr>
                                      <p:to>
                                        <p:strVal val="visible"/>
                                      </p:to>
                                    </p:set>
                                    <p:animEffect transition="in" filter="fade">
                                      <p:cBhvr>
                                        <p:cTn id="49" dur="500"/>
                                        <p:tgtEl>
                                          <p:spTgt spid="29699"/>
                                        </p:tgtEl>
                                      </p:cBhvr>
                                    </p:animEffect>
                                  </p:childTnLst>
                                </p:cTn>
                              </p:par>
                              <p:par>
                                <p:cTn id="50" presetID="2" presetClass="entr" presetSubtype="2" fill="hold" nodeType="withEffect">
                                  <p:stCondLst>
                                    <p:cond delay="0"/>
                                  </p:stCondLst>
                                  <p:childTnLst>
                                    <p:set>
                                      <p:cBhvr>
                                        <p:cTn id="51" dur="1" fill="hold">
                                          <p:stCondLst>
                                            <p:cond delay="0"/>
                                          </p:stCondLst>
                                        </p:cTn>
                                        <p:tgtEl>
                                          <p:spTgt spid="29703"/>
                                        </p:tgtEl>
                                        <p:attrNameLst>
                                          <p:attrName>style.visibility</p:attrName>
                                        </p:attrNameLst>
                                      </p:cBhvr>
                                      <p:to>
                                        <p:strVal val="visible"/>
                                      </p:to>
                                    </p:set>
                                    <p:anim calcmode="lin" valueType="num">
                                      <p:cBhvr additive="base">
                                        <p:cTn id="52" dur="500" fill="hold"/>
                                        <p:tgtEl>
                                          <p:spTgt spid="29703"/>
                                        </p:tgtEl>
                                        <p:attrNameLst>
                                          <p:attrName>ppt_x</p:attrName>
                                        </p:attrNameLst>
                                      </p:cBhvr>
                                      <p:tavLst>
                                        <p:tav tm="0">
                                          <p:val>
                                            <p:strVal val="1+#ppt_w/2"/>
                                          </p:val>
                                        </p:tav>
                                        <p:tav tm="100000">
                                          <p:val>
                                            <p:strVal val="#ppt_x"/>
                                          </p:val>
                                        </p:tav>
                                      </p:tavLst>
                                    </p:anim>
                                    <p:anim calcmode="lin" valueType="num">
                                      <p:cBhvr additive="base">
                                        <p:cTn id="53" dur="500" fill="hold"/>
                                        <p:tgtEl>
                                          <p:spTgt spid="29703"/>
                                        </p:tgtEl>
                                        <p:attrNameLst>
                                          <p:attrName>ppt_y</p:attrName>
                                        </p:attrNameLst>
                                      </p:cBhvr>
                                      <p:tavLst>
                                        <p:tav tm="0">
                                          <p:val>
                                            <p:strVal val="#ppt_y"/>
                                          </p:val>
                                        </p:tav>
                                        <p:tav tm="100000">
                                          <p:val>
                                            <p:strVal val="#ppt_y"/>
                                          </p:val>
                                        </p:tav>
                                      </p:tavLst>
                                    </p:anim>
                                  </p:childTnLst>
                                </p:cTn>
                              </p:par>
                              <p:par>
                                <p:cTn id="54" presetID="47" presetClass="entr" presetSubtype="0" fill="hold" grpId="0" nodeType="withEffect">
                                  <p:stCondLst>
                                    <p:cond delay="0"/>
                                  </p:stCondLst>
                                  <p:childTnLst>
                                    <p:set>
                                      <p:cBhvr>
                                        <p:cTn id="55" dur="1" fill="hold">
                                          <p:stCondLst>
                                            <p:cond delay="0"/>
                                          </p:stCondLst>
                                        </p:cTn>
                                        <p:tgtEl>
                                          <p:spTgt spid="29705"/>
                                        </p:tgtEl>
                                        <p:attrNameLst>
                                          <p:attrName>style.visibility</p:attrName>
                                        </p:attrNameLst>
                                      </p:cBhvr>
                                      <p:to>
                                        <p:strVal val="visible"/>
                                      </p:to>
                                    </p:set>
                                    <p:animEffect transition="in" filter="fade">
                                      <p:cBhvr>
                                        <p:cTn id="56" dur="1000"/>
                                        <p:tgtEl>
                                          <p:spTgt spid="29705"/>
                                        </p:tgtEl>
                                      </p:cBhvr>
                                    </p:animEffect>
                                    <p:anim calcmode="lin" valueType="num">
                                      <p:cBhvr>
                                        <p:cTn id="57" dur="1000" fill="hold"/>
                                        <p:tgtEl>
                                          <p:spTgt spid="29705"/>
                                        </p:tgtEl>
                                        <p:attrNameLst>
                                          <p:attrName>ppt_x</p:attrName>
                                        </p:attrNameLst>
                                      </p:cBhvr>
                                      <p:tavLst>
                                        <p:tav tm="0">
                                          <p:val>
                                            <p:strVal val="#ppt_x"/>
                                          </p:val>
                                        </p:tav>
                                        <p:tav tm="100000">
                                          <p:val>
                                            <p:strVal val="#ppt_x"/>
                                          </p:val>
                                        </p:tav>
                                      </p:tavLst>
                                    </p:anim>
                                    <p:anim calcmode="lin" valueType="num">
                                      <p:cBhvr>
                                        <p:cTn id="58" dur="1000" fill="hold"/>
                                        <p:tgtEl>
                                          <p:spTgt spid="2970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8" grpId="0" bldLvl="0" animBg="1"/>
      <p:bldP spid="29700" grpId="0" bldLvl="0" animBg="1"/>
      <p:bldP spid="29704" grpId="0"/>
      <p:bldP spid="29705" grpId="0"/>
      <p:bldP spid="29706" grpId="0"/>
      <p:bldP spid="29708" grpId="0" bldLvl="0" animBg="1"/>
    </p:bld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PP_MARK_KEY" val="69ffa281-57ef-4e9f-a443-d10dec5588cc"/>
  <p:tag name="COMMONDATA" val="eyJoZGlkIjoiZDhhNTdjMjE5Mzc3ZjFjOGU2ZWJlNGQ4MGVmZmM0ZTgifQ=="/>
  <p:tag name="commondata" val="eyJoZGlkIjoiNDk2NTQzMGU3YzdhMTNkYzhlZWFhNDA0MjIwZDI1MGUifQ=="/>
</p:tagLst>
</file>

<file path=ppt/theme/theme1.xml><?xml version="1.0" encoding="utf-8"?>
<a:theme xmlns:a="http://schemas.openxmlformats.org/drawingml/2006/main" name="Profile">
  <a:themeElements>
    <a:clrScheme name="">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C"/>
      </a:accent5>
      <a:accent6>
        <a:srgbClr val="B70000"/>
      </a:accent6>
      <a:hlink>
        <a:srgbClr val="336699"/>
      </a:hlink>
      <a:folHlink>
        <a:srgbClr val="003366"/>
      </a:folHlink>
    </a:clrScheme>
    <a:fontScheme name="自定义 1">
      <a:majorFont>
        <a:latin typeface="Book Antiqua"/>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FFFFFF"/>
        </a:dk1>
        <a:lt1>
          <a:srgbClr val="800000"/>
        </a:lt1>
        <a:dk2>
          <a:srgbClr val="FFFFFF"/>
        </a:dk2>
        <a:lt2>
          <a:srgbClr val="A50021"/>
        </a:lt2>
        <a:accent1>
          <a:srgbClr val="FF9900"/>
        </a:accent1>
        <a:accent2>
          <a:srgbClr val="FF3300"/>
        </a:accent2>
        <a:accent3>
          <a:srgbClr val="C1AAAA"/>
        </a:accent3>
        <a:accent4>
          <a:srgbClr val="DCDCDC"/>
        </a:accent4>
        <a:accent5>
          <a:srgbClr val="FFCAAA"/>
        </a:accent5>
        <a:accent6>
          <a:srgbClr val="E52D00"/>
        </a:accent6>
        <a:hlink>
          <a:srgbClr val="FFFFCC"/>
        </a:hlink>
        <a:folHlink>
          <a:srgbClr val="FFCC99"/>
        </a:folHlink>
      </a:clrScheme>
      <a:clrMap bg1="lt1" tx1="dk1" bg2="lt2" tx2="dk2" accent1="accent1" accent2="accent2" accent3="accent3" accent4="accent4" accent5="accent5" accent6="accent6" hlink="hlink" folHlink="folHlink"/>
    </a:extraClrScheme>
    <a:extraClrScheme>
      <a:clrScheme name="">
        <a:dk1>
          <a:srgbClr val="FFFFFF"/>
        </a:dk1>
        <a:lt1>
          <a:srgbClr val="51072E"/>
        </a:lt1>
        <a:dk2>
          <a:srgbClr val="FFFFFF"/>
        </a:dk2>
        <a:lt2>
          <a:srgbClr val="3C001E"/>
        </a:lt2>
        <a:accent1>
          <a:srgbClr val="89A38F"/>
        </a:accent1>
        <a:accent2>
          <a:srgbClr val="666699"/>
        </a:accent2>
        <a:accent3>
          <a:srgbClr val="B3AAAC"/>
        </a:accent3>
        <a:accent4>
          <a:srgbClr val="DCDCDC"/>
        </a:accent4>
        <a:accent5>
          <a:srgbClr val="C4CEC6"/>
        </a:accent5>
        <a:accent6>
          <a:srgbClr val="5B5B89"/>
        </a:accent6>
        <a:hlink>
          <a:srgbClr val="808000"/>
        </a:hlink>
        <a:folHlink>
          <a:srgbClr val="666633"/>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FFFFFF"/>
        </a:dk2>
        <a:lt2>
          <a:srgbClr val="333333"/>
        </a:lt2>
        <a:accent1>
          <a:srgbClr val="3399FF"/>
        </a:accent1>
        <a:accent2>
          <a:srgbClr val="CC0000"/>
        </a:accent2>
        <a:accent3>
          <a:srgbClr val="AAAAAA"/>
        </a:accent3>
        <a:accent4>
          <a:srgbClr val="DCDCDC"/>
        </a:accent4>
        <a:accent5>
          <a:srgbClr val="ADCAFF"/>
        </a:accent5>
        <a:accent6>
          <a:srgbClr val="B70000"/>
        </a:accent6>
        <a:hlink>
          <a:srgbClr val="666699"/>
        </a:hlink>
        <a:folHlink>
          <a:srgbClr val="6600CC"/>
        </a:folHlink>
      </a:clrScheme>
      <a:clrMap bg1="lt1" tx1="dk1" bg2="lt2" tx2="dk2" accent1="accent1" accent2="accent2" accent3="accent3" accent4="accent4" accent5="accent5" accent6="accent6" hlink="hlink" folHlink="folHlink"/>
    </a:extraClrScheme>
    <a:extraClrScheme>
      <a:clrScheme name="">
        <a:dk1>
          <a:srgbClr val="FFFFFF"/>
        </a:dk1>
        <a:lt1>
          <a:srgbClr val="330000"/>
        </a:lt1>
        <a:dk2>
          <a:srgbClr val="FFFFFF"/>
        </a:dk2>
        <a:lt2>
          <a:srgbClr val="4B3D1B"/>
        </a:lt2>
        <a:accent1>
          <a:srgbClr val="CC9900"/>
        </a:accent1>
        <a:accent2>
          <a:srgbClr val="CC6600"/>
        </a:accent2>
        <a:accent3>
          <a:srgbClr val="ADAAAA"/>
        </a:accent3>
        <a:accent4>
          <a:srgbClr val="DCDCDC"/>
        </a:accent4>
        <a:accent5>
          <a:srgbClr val="E2CAAA"/>
        </a:accent5>
        <a:accent6>
          <a:srgbClr val="B75B00"/>
        </a:accent6>
        <a:hlink>
          <a:srgbClr val="666699"/>
        </a:hlink>
        <a:folHlink>
          <a:srgbClr val="CCCC00"/>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FFFFFF"/>
        </a:dk2>
        <a:lt2>
          <a:srgbClr val="006666"/>
        </a:lt2>
        <a:accent1>
          <a:srgbClr val="0099CC"/>
        </a:accent1>
        <a:accent2>
          <a:srgbClr val="6666FF"/>
        </a:accent2>
        <a:accent3>
          <a:srgbClr val="AAADB9"/>
        </a:accent3>
        <a:accent4>
          <a:srgbClr val="DCDCDC"/>
        </a:accent4>
        <a:accent5>
          <a:srgbClr val="AACAE2"/>
        </a:accent5>
        <a:accent6>
          <a:srgbClr val="5B5BE5"/>
        </a:accent6>
        <a:hlink>
          <a:srgbClr val="FFFFCC"/>
        </a:hlink>
        <a:folHlink>
          <a:srgbClr val="FFCC00"/>
        </a:folHlink>
      </a:clrScheme>
      <a:clrMap bg1="lt1" tx1="dk1" bg2="lt2" tx2="dk2" accent1="accent1" accent2="accent2" accent3="accent3" accent4="accent4" accent5="accent5" accent6="accent6" hlink="hlink" folHlink="folHlink"/>
    </a:extraClrScheme>
    <a:extraClrScheme>
      <a:clrScheme name="">
        <a:dk1>
          <a:srgbClr val="FFFFFF"/>
        </a:dk1>
        <a:lt1>
          <a:srgbClr val="006666"/>
        </a:lt1>
        <a:dk2>
          <a:srgbClr val="FFFFFF"/>
        </a:dk2>
        <a:lt2>
          <a:srgbClr val="003366"/>
        </a:lt2>
        <a:accent1>
          <a:srgbClr val="6699FF"/>
        </a:accent1>
        <a:accent2>
          <a:srgbClr val="00CCFF"/>
        </a:accent2>
        <a:accent3>
          <a:srgbClr val="AAB9B9"/>
        </a:accent3>
        <a:accent4>
          <a:srgbClr val="DCDCDC"/>
        </a:accent4>
        <a:accent5>
          <a:srgbClr val="B9CAFF"/>
        </a:accent5>
        <a:accent6>
          <a:srgbClr val="00B7E5"/>
        </a:accent6>
        <a:hlink>
          <a:srgbClr val="FFFFCC"/>
        </a:hlink>
        <a:folHlink>
          <a:srgbClr val="33CCCC"/>
        </a:folHlink>
      </a:clrScheme>
      <a:clrMap bg1="lt1" tx1="dk1" bg2="lt2" tx2="dk2" accent1="accent1" accent2="accent2" accent3="accent3" accent4="accent4" accent5="accent5" accent6="accent6" hlink="hlink" folHlink="folHlink"/>
    </a:extraClrScheme>
    <a:extraClrScheme>
      <a:clrScheme name="">
        <a:dk1>
          <a:srgbClr val="000000"/>
        </a:dk1>
        <a:lt1>
          <a:srgbClr val="619CB1"/>
        </a:lt1>
        <a:dk2>
          <a:srgbClr val="FFFFFF"/>
        </a:dk2>
        <a:lt2>
          <a:srgbClr val="4E899E"/>
        </a:lt2>
        <a:accent1>
          <a:srgbClr val="FFCC00"/>
        </a:accent1>
        <a:accent2>
          <a:srgbClr val="B6523E"/>
        </a:accent2>
        <a:accent3>
          <a:srgbClr val="B7CBD4"/>
        </a:accent3>
        <a:accent4>
          <a:srgbClr val="000000"/>
        </a:accent4>
        <a:accent5>
          <a:srgbClr val="FFE2AA"/>
        </a:accent5>
        <a:accent6>
          <a:srgbClr val="A3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
        <a:dk1>
          <a:srgbClr val="FFFFFF"/>
        </a:dk1>
        <a:lt1>
          <a:srgbClr val="336600"/>
        </a:lt1>
        <a:dk2>
          <a:srgbClr val="FFFFFF"/>
        </a:dk2>
        <a:lt2>
          <a:srgbClr val="598600"/>
        </a:lt2>
        <a:accent1>
          <a:srgbClr val="33CC33"/>
        </a:accent1>
        <a:accent2>
          <a:srgbClr val="99CC00"/>
        </a:accent2>
        <a:accent3>
          <a:srgbClr val="ADB9AA"/>
        </a:accent3>
        <a:accent4>
          <a:srgbClr val="DCDCDC"/>
        </a:accent4>
        <a:accent5>
          <a:srgbClr val="ADE2AD"/>
        </a:accent5>
        <a:accent6>
          <a:srgbClr val="89B700"/>
        </a:accent6>
        <a:hlink>
          <a:srgbClr val="FFCC00"/>
        </a:hlink>
        <a:folHlink>
          <a:srgbClr val="FFFF99"/>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C"/>
        </a:accent5>
        <a:accent6>
          <a:srgbClr val="B7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1969</Words>
  <Application>WPS 演示</Application>
  <PresentationFormat>在屏幕上显示</PresentationFormat>
  <Paragraphs>284</Paragraphs>
  <Slides>16</Slides>
  <Notes>0</Notes>
  <HiddenSlides>0</HiddenSlides>
  <MMClips>0</MMClips>
  <ScaleCrop>false</ScaleCrop>
  <HeadingPairs>
    <vt:vector size="8" baseType="variant">
      <vt:variant>
        <vt:lpstr>已用的字体</vt:lpstr>
      </vt:variant>
      <vt:variant>
        <vt:i4>18</vt:i4>
      </vt:variant>
      <vt:variant>
        <vt:lpstr>主题</vt:lpstr>
      </vt:variant>
      <vt:variant>
        <vt:i4>1</vt:i4>
      </vt:variant>
      <vt:variant>
        <vt:lpstr>嵌入 OLE 服务器</vt:lpstr>
      </vt:variant>
      <vt:variant>
        <vt:i4>29</vt:i4>
      </vt:variant>
      <vt:variant>
        <vt:lpstr>幻灯片标题</vt:lpstr>
      </vt:variant>
      <vt:variant>
        <vt:i4>16</vt:i4>
      </vt:variant>
    </vt:vector>
  </HeadingPairs>
  <TitlesOfParts>
    <vt:vector size="64" baseType="lpstr">
      <vt:lpstr>Arial</vt:lpstr>
      <vt:lpstr>宋体</vt:lpstr>
      <vt:lpstr>Wingdings</vt:lpstr>
      <vt:lpstr>Verdana</vt:lpstr>
      <vt:lpstr>微软雅黑</vt:lpstr>
      <vt:lpstr>Wingdings 2</vt:lpstr>
      <vt:lpstr>Times New Roman</vt:lpstr>
      <vt:lpstr>楷体_GB2312</vt:lpstr>
      <vt:lpstr>新宋体</vt:lpstr>
      <vt:lpstr>Book Antiqua</vt:lpstr>
      <vt:lpstr>Arial Narrow</vt:lpstr>
      <vt:lpstr>楷体_GB2312</vt:lpstr>
      <vt:lpstr>Wingdings</vt:lpstr>
      <vt:lpstr>Symbol</vt:lpstr>
      <vt:lpstr>Tahoma</vt:lpstr>
      <vt:lpstr>黑体</vt:lpstr>
      <vt:lpstr>Arial Unicode MS</vt:lpstr>
      <vt:lpstr>Calibri</vt:lpstr>
      <vt:lpstr>Profile</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WPS.Doc.6</vt:lpstr>
      <vt:lpstr>Equation.DSMT4</vt:lpstr>
      <vt:lpstr>Equation.3</vt:lpstr>
      <vt:lpstr>Equation.3</vt:lpstr>
      <vt:lpstr>WPS.Doc.6</vt:lpstr>
      <vt:lpstr>WPS.Doc.6</vt:lpstr>
      <vt:lpstr>Word.Picture.8</vt:lpstr>
      <vt:lpstr>Equation.3</vt:lpstr>
      <vt:lpstr>Equation.3</vt:lpstr>
      <vt:lpstr>Equation.3</vt:lpstr>
      <vt:lpstr>Equation.KSEE3</vt:lpstr>
      <vt:lpstr>Equation.3</vt:lpstr>
      <vt:lpstr>Equation.3</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实验9报告要求</vt:lpstr>
      <vt:lpstr>PowerPoint 演示文稿</vt:lpstr>
      <vt:lpstr>PowerPoint 演示文稿</vt:lpstr>
      <vt:lpstr>PowerPoint 演示文稿</vt:lpstr>
      <vt:lpstr>4、电压传输特性---测量方法！</vt:lpstr>
      <vt:lpstr> 验收要求</vt:lpstr>
      <vt:lpstr>注意事项</vt:lpstr>
      <vt:lpstr>二极管 p327附录</vt:lpstr>
    </vt:vector>
  </TitlesOfParts>
  <Company>HUST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wxy</dc:creator>
  <cp:lastModifiedBy>Administrator</cp:lastModifiedBy>
  <cp:revision>555</cp:revision>
  <dcterms:created xsi:type="dcterms:W3CDTF">2004-08-29T02:51:00Z</dcterms:created>
  <dcterms:modified xsi:type="dcterms:W3CDTF">2025-11-26T10:51:36Z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2052-11.8.2.11718</vt:lpwstr>
  </property>
  <property fmtid="{D5CDD505-2E9C-101B-9397-08002B2CF9AE}" pid="3" name="ICV">
    <vt:lpwstr>BCEA118E06AE4F88A8607DB3B054F3D0</vt:lpwstr>
  </property>
</Properties>
</file>