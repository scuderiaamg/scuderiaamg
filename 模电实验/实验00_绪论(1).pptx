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6" r:id="rId4"/>
    <p:sldId id="672" r:id="rId5"/>
    <p:sldId id="674" r:id="rId7"/>
    <p:sldId id="673" r:id="rId8"/>
    <p:sldId id="363" r:id="rId9"/>
    <p:sldId id="530" r:id="rId10"/>
    <p:sldId id="606" r:id="rId11"/>
    <p:sldId id="605" r:id="rId12"/>
    <p:sldId id="580" r:id="rId13"/>
    <p:sldId id="525" r:id="rId14"/>
    <p:sldId id="526" r:id="rId15"/>
    <p:sldId id="364" r:id="rId16"/>
    <p:sldId id="705" r:id="rId17"/>
    <p:sldId id="365" r:id="rId18"/>
    <p:sldId id="367" r:id="rId19"/>
    <p:sldId id="706" r:id="rId20"/>
    <p:sldId id="707" r:id="rId21"/>
    <p:sldId id="368" r:id="rId22"/>
    <p:sldId id="675" r:id="rId23"/>
    <p:sldId id="369" r:id="rId24"/>
    <p:sldId id="370" r:id="rId25"/>
    <p:sldId id="658" r:id="rId26"/>
    <p:sldId id="371" r:id="rId27"/>
    <p:sldId id="471" r:id="rId28"/>
    <p:sldId id="511" r:id="rId29"/>
    <p:sldId id="469" r:id="rId30"/>
    <p:sldId id="470" r:id="rId31"/>
    <p:sldId id="461" r:id="rId32"/>
    <p:sldId id="729" r:id="rId33"/>
    <p:sldId id="676" r:id="rId34"/>
    <p:sldId id="523" r:id="rId35"/>
    <p:sldId id="489" r:id="rId36"/>
    <p:sldId id="490" r:id="rId37"/>
    <p:sldId id="504" r:id="rId38"/>
    <p:sldId id="439" r:id="rId39"/>
    <p:sldId id="440" r:id="rId40"/>
    <p:sldId id="738" r:id="rId41"/>
    <p:sldId id="740" r:id="rId42"/>
    <p:sldId id="442" r:id="rId43"/>
  </p:sldIdLst>
  <p:sldSz cx="9144000" cy="6858000" type="screen4x3"/>
  <p:notesSz cx="9144000" cy="6858000"/>
  <p:custDataLst>
    <p:tags r:id="rId47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600"/>
    <a:srgbClr val="FF3300"/>
    <a:srgbClr val="B2B2B2"/>
    <a:srgbClr val="CC00FF"/>
    <a:srgbClr val="00FF00"/>
    <a:srgbClr val="000099"/>
    <a:srgbClr val="969D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67" d="100"/>
          <a:sy n="67" d="100"/>
        </p:scale>
        <p:origin x="-1476" y="-108"/>
      </p:cViewPr>
      <p:guideLst>
        <p:guide orient="horz" pos="2199"/>
        <p:guide pos="28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3" cy="36003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7" Type="http://schemas.openxmlformats.org/officeDocument/2006/relationships/tags" Target="tags/tag6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5F3C44-CB71-4A23-8941-6310A9039E02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594DF33D-E965-47E6-BF57-72339B2FB960}">
      <dgm:prSet phldrT="[文本]"/>
      <dgm:spPr/>
      <dgm:t>
        <a:bodyPr/>
        <a:lstStyle/>
        <a:p>
          <a:pPr algn="l"/>
          <a:r>
            <a:rPr lang="zh-CN" altLang="en-US" b="1" dirty="0">
              <a:latin typeface="楷体" panose="02010609060101010101" pitchFamily="49" charset="-122"/>
              <a:ea typeface="楷体" panose="02010609060101010101" pitchFamily="49" charset="-122"/>
            </a:rPr>
            <a:t>能正确使用常用电子仪器</a:t>
          </a:r>
          <a:endParaRPr lang="zh-CN" altLang="en-US" dirty="0"/>
        </a:p>
      </dgm:t>
    </dgm:pt>
    <dgm:pt modelId="{2B3D0123-8521-461F-9A00-5305F02DBF14}" cxnId="{D959CA5C-E15A-4B11-A331-8AE136A99770}" type="parTrans">
      <dgm:prSet/>
      <dgm:spPr/>
      <dgm:t>
        <a:bodyPr/>
        <a:lstStyle/>
        <a:p>
          <a:endParaRPr lang="zh-CN" altLang="en-US"/>
        </a:p>
      </dgm:t>
    </dgm:pt>
    <dgm:pt modelId="{3C27F5FA-EEFE-4DBD-9FE8-36325008565F}" cxnId="{D959CA5C-E15A-4B11-A331-8AE136A99770}" type="sibTrans">
      <dgm:prSet/>
      <dgm:spPr/>
      <dgm:t>
        <a:bodyPr/>
        <a:lstStyle/>
        <a:p>
          <a:endParaRPr lang="zh-CN" altLang="en-US"/>
        </a:p>
      </dgm:t>
    </dgm:pt>
    <dgm:pt modelId="{1753BA78-CB92-445E-8BBA-831C047DE463}">
      <dgm:prSet phldrT="[文本]"/>
      <dgm:spPr/>
      <dgm:t>
        <a:bodyPr/>
        <a:lstStyle/>
        <a:p>
          <a:pPr algn="l"/>
          <a:r>
            <a:rPr lang="zh-CN" altLang="en-US" b="1" dirty="0">
              <a:latin typeface="楷体" panose="02010609060101010101" pitchFamily="49" charset="-122"/>
              <a:ea typeface="楷体" panose="02010609060101010101" pitchFamily="49" charset="-122"/>
            </a:rPr>
            <a:t>能设计简单的电路，并掌握电子电路的安装与测试技术</a:t>
          </a:r>
          <a:endParaRPr lang="zh-CN" altLang="en-US" dirty="0"/>
        </a:p>
      </dgm:t>
    </dgm:pt>
    <dgm:pt modelId="{2B26AC6E-0684-48E5-BDCC-40EB1B1F7198}" cxnId="{2C0E34F3-A799-48C0-8555-C44571BE588A}" type="parTrans">
      <dgm:prSet/>
      <dgm:spPr/>
      <dgm:t>
        <a:bodyPr/>
        <a:lstStyle/>
        <a:p>
          <a:endParaRPr lang="zh-CN" altLang="en-US"/>
        </a:p>
      </dgm:t>
    </dgm:pt>
    <dgm:pt modelId="{A8C18054-B4E8-4315-8E1E-B595E2828A19}" cxnId="{2C0E34F3-A799-48C0-8555-C44571BE588A}" type="sibTrans">
      <dgm:prSet/>
      <dgm:spPr/>
      <dgm:t>
        <a:bodyPr/>
        <a:lstStyle/>
        <a:p>
          <a:endParaRPr lang="zh-CN" altLang="en-US"/>
        </a:p>
      </dgm:t>
    </dgm:pt>
    <dgm:pt modelId="{EA64C6F6-D1B0-48C3-B81E-5F54F21B9898}">
      <dgm:prSet phldrT="[文本]"/>
      <dgm:spPr/>
      <dgm:t>
        <a:bodyPr/>
        <a:lstStyle/>
        <a:p>
          <a:pPr algn="l"/>
          <a:r>
            <a:rPr lang="zh-CN" altLang="en-US" b="1" dirty="0">
              <a:latin typeface="楷体" panose="02010609060101010101" pitchFamily="49" charset="-122"/>
              <a:ea typeface="楷体" panose="02010609060101010101" pitchFamily="49" charset="-122"/>
            </a:rPr>
            <a:t>具有分析、寻找和排除实验故障的能力</a:t>
          </a:r>
          <a:endParaRPr lang="zh-CN" altLang="en-US" dirty="0"/>
        </a:p>
      </dgm:t>
    </dgm:pt>
    <dgm:pt modelId="{B96E0354-D03E-4666-B327-0978B1E554D2}" cxnId="{E6E6327F-83DE-45A3-BAF1-1CFC3E5C9B3C}" type="parTrans">
      <dgm:prSet/>
      <dgm:spPr/>
      <dgm:t>
        <a:bodyPr/>
        <a:lstStyle/>
        <a:p>
          <a:endParaRPr lang="zh-CN" altLang="en-US"/>
        </a:p>
      </dgm:t>
    </dgm:pt>
    <dgm:pt modelId="{09A340B4-F9BD-4C95-B0D9-153E27BDE5A5}" cxnId="{E6E6327F-83DE-45A3-BAF1-1CFC3E5C9B3C}" type="sibTrans">
      <dgm:prSet/>
      <dgm:spPr/>
      <dgm:t>
        <a:bodyPr/>
        <a:lstStyle/>
        <a:p>
          <a:endParaRPr lang="zh-CN" altLang="en-US"/>
        </a:p>
      </dgm:t>
    </dgm:pt>
    <dgm:pt modelId="{56597E57-F269-447C-95DE-0FCF8FC0713C}">
      <dgm:prSet phldrT="[文本]"/>
      <dgm:spPr/>
      <dgm:t>
        <a:bodyPr/>
        <a:lstStyle/>
        <a:p>
          <a:pPr algn="l"/>
          <a:r>
            <a:rPr lang="zh-CN" altLang="en-US" b="1" dirty="0">
              <a:latin typeface="楷体" panose="02010609060101010101" pitchFamily="49" charset="-122"/>
              <a:ea typeface="楷体" panose="02010609060101010101" pitchFamily="49" charset="-122"/>
            </a:rPr>
            <a:t>能正确处理实验数据、进行误差分析、写出实验报告</a:t>
          </a:r>
          <a:endParaRPr lang="zh-CN" altLang="en-US" dirty="0"/>
        </a:p>
      </dgm:t>
    </dgm:pt>
    <dgm:pt modelId="{5394872D-4A44-4DEB-9A5F-DAF7D8856299}" cxnId="{F8C736D9-E0C2-4AAB-A6FB-5B4E803B23DD}" type="parTrans">
      <dgm:prSet/>
      <dgm:spPr/>
      <dgm:t>
        <a:bodyPr/>
        <a:lstStyle/>
        <a:p>
          <a:endParaRPr lang="zh-CN" altLang="en-US"/>
        </a:p>
      </dgm:t>
    </dgm:pt>
    <dgm:pt modelId="{75257FA1-D29B-4EF6-A8ED-EF3E52C5968C}" cxnId="{F8C736D9-E0C2-4AAB-A6FB-5B4E803B23DD}" type="sibTrans">
      <dgm:prSet/>
      <dgm:spPr/>
      <dgm:t>
        <a:bodyPr/>
        <a:lstStyle/>
        <a:p>
          <a:endParaRPr lang="zh-CN" altLang="en-US"/>
        </a:p>
      </dgm:t>
    </dgm:pt>
    <dgm:pt modelId="{3A9F7D0B-9C0A-4897-956D-89CC19566489}" type="pres">
      <dgm:prSet presAssocID="{8D5F3C44-CB71-4A23-8941-6310A9039E0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BBFF225-3EDC-481C-981E-0752D8CE3EA1}" type="pres">
      <dgm:prSet presAssocID="{594DF33D-E965-47E6-BF57-72339B2FB960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8844B21-0DFE-4C68-A877-08DB7B2FCCC2}" type="pres">
      <dgm:prSet presAssocID="{3C27F5FA-EEFE-4DBD-9FE8-36325008565F}" presName="sibTrans" presStyleCnt="0"/>
      <dgm:spPr/>
    </dgm:pt>
    <dgm:pt modelId="{E5179F35-ECA7-47D1-B023-E7B4787B1AA3}" type="pres">
      <dgm:prSet presAssocID="{1753BA78-CB92-445E-8BBA-831C047DE463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5249A1E-6A6D-4640-B3E3-ED2D4D068B9B}" type="pres">
      <dgm:prSet presAssocID="{A8C18054-B4E8-4315-8E1E-B595E2828A19}" presName="sibTrans" presStyleCnt="0"/>
      <dgm:spPr/>
    </dgm:pt>
    <dgm:pt modelId="{0EFFF440-C84E-466A-B4D0-B65C66CFD149}" type="pres">
      <dgm:prSet presAssocID="{EA64C6F6-D1B0-48C3-B81E-5F54F21B9898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970C7E0-73A7-4E17-8582-113FB679767C}" type="pres">
      <dgm:prSet presAssocID="{09A340B4-F9BD-4C95-B0D9-153E27BDE5A5}" presName="sibTrans" presStyleCnt="0"/>
      <dgm:spPr/>
    </dgm:pt>
    <dgm:pt modelId="{6787DF6A-8CD6-4DA5-B6EF-07A96244105E}" type="pres">
      <dgm:prSet presAssocID="{56597E57-F269-447C-95DE-0FCF8FC0713C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08F6811-6DE1-405C-B01D-D6D2310DB70B}" type="presOf" srcId="{1753BA78-CB92-445E-8BBA-831C047DE463}" destId="{E5179F35-ECA7-47D1-B023-E7B4787B1AA3}" srcOrd="0" destOrd="0" presId="urn:microsoft.com/office/officeart/2005/8/layout/default"/>
    <dgm:cxn modelId="{73E94EA6-1835-46E8-94D8-E62F54603D02}" type="presOf" srcId="{56597E57-F269-447C-95DE-0FCF8FC0713C}" destId="{6787DF6A-8CD6-4DA5-B6EF-07A96244105E}" srcOrd="0" destOrd="0" presId="urn:microsoft.com/office/officeart/2005/8/layout/default"/>
    <dgm:cxn modelId="{13CE6BF0-D1B7-4BD6-9C0F-7EF396894DF9}" type="presOf" srcId="{EA64C6F6-D1B0-48C3-B81E-5F54F21B9898}" destId="{0EFFF440-C84E-466A-B4D0-B65C66CFD149}" srcOrd="0" destOrd="0" presId="urn:microsoft.com/office/officeart/2005/8/layout/default"/>
    <dgm:cxn modelId="{6A1F9E57-BCF4-4B39-A4EF-5892E35861B3}" type="presOf" srcId="{8D5F3C44-CB71-4A23-8941-6310A9039E02}" destId="{3A9F7D0B-9C0A-4897-956D-89CC19566489}" srcOrd="0" destOrd="0" presId="urn:microsoft.com/office/officeart/2005/8/layout/default"/>
    <dgm:cxn modelId="{E6E6327F-83DE-45A3-BAF1-1CFC3E5C9B3C}" srcId="{8D5F3C44-CB71-4A23-8941-6310A9039E02}" destId="{EA64C6F6-D1B0-48C3-B81E-5F54F21B9898}" srcOrd="2" destOrd="0" parTransId="{B96E0354-D03E-4666-B327-0978B1E554D2}" sibTransId="{09A340B4-F9BD-4C95-B0D9-153E27BDE5A5}"/>
    <dgm:cxn modelId="{D959CA5C-E15A-4B11-A331-8AE136A99770}" srcId="{8D5F3C44-CB71-4A23-8941-6310A9039E02}" destId="{594DF33D-E965-47E6-BF57-72339B2FB960}" srcOrd="0" destOrd="0" parTransId="{2B3D0123-8521-461F-9A00-5305F02DBF14}" sibTransId="{3C27F5FA-EEFE-4DBD-9FE8-36325008565F}"/>
    <dgm:cxn modelId="{F8C736D9-E0C2-4AAB-A6FB-5B4E803B23DD}" srcId="{8D5F3C44-CB71-4A23-8941-6310A9039E02}" destId="{56597E57-F269-447C-95DE-0FCF8FC0713C}" srcOrd="3" destOrd="0" parTransId="{5394872D-4A44-4DEB-9A5F-DAF7D8856299}" sibTransId="{75257FA1-D29B-4EF6-A8ED-EF3E52C5968C}"/>
    <dgm:cxn modelId="{2C0E34F3-A799-48C0-8555-C44571BE588A}" srcId="{8D5F3C44-CB71-4A23-8941-6310A9039E02}" destId="{1753BA78-CB92-445E-8BBA-831C047DE463}" srcOrd="1" destOrd="0" parTransId="{2B26AC6E-0684-48E5-BDCC-40EB1B1F7198}" sibTransId="{A8C18054-B4E8-4315-8E1E-B595E2828A19}"/>
    <dgm:cxn modelId="{94212AF9-DC08-4AEB-BD84-96DDE4C7ADB5}" type="presOf" srcId="{594DF33D-E965-47E6-BF57-72339B2FB960}" destId="{ABBFF225-3EDC-481C-981E-0752D8CE3EA1}" srcOrd="0" destOrd="0" presId="urn:microsoft.com/office/officeart/2005/8/layout/default"/>
    <dgm:cxn modelId="{19E0554E-8890-4AEB-973B-A384AA3FCBB1}" type="presParOf" srcId="{3A9F7D0B-9C0A-4897-956D-89CC19566489}" destId="{ABBFF225-3EDC-481C-981E-0752D8CE3EA1}" srcOrd="0" destOrd="0" presId="urn:microsoft.com/office/officeart/2005/8/layout/default"/>
    <dgm:cxn modelId="{A87F6E57-7015-4255-A539-45F412505EFE}" type="presParOf" srcId="{3A9F7D0B-9C0A-4897-956D-89CC19566489}" destId="{B8844B21-0DFE-4C68-A877-08DB7B2FCCC2}" srcOrd="1" destOrd="0" presId="urn:microsoft.com/office/officeart/2005/8/layout/default"/>
    <dgm:cxn modelId="{4DE3092A-F753-4B7E-85CF-3CBA9262E85F}" type="presParOf" srcId="{3A9F7D0B-9C0A-4897-956D-89CC19566489}" destId="{E5179F35-ECA7-47D1-B023-E7B4787B1AA3}" srcOrd="2" destOrd="0" presId="urn:microsoft.com/office/officeart/2005/8/layout/default"/>
    <dgm:cxn modelId="{E8D8998F-EDE3-473E-AA22-56BADA1E75F7}" type="presParOf" srcId="{3A9F7D0B-9C0A-4897-956D-89CC19566489}" destId="{65249A1E-6A6D-4640-B3E3-ED2D4D068B9B}" srcOrd="3" destOrd="0" presId="urn:microsoft.com/office/officeart/2005/8/layout/default"/>
    <dgm:cxn modelId="{EF33B2F9-3FFA-4C87-966C-5C8762F11427}" type="presParOf" srcId="{3A9F7D0B-9C0A-4897-956D-89CC19566489}" destId="{0EFFF440-C84E-466A-B4D0-B65C66CFD149}" srcOrd="4" destOrd="0" presId="urn:microsoft.com/office/officeart/2005/8/layout/default"/>
    <dgm:cxn modelId="{D0AFE9CB-F4F6-421C-8B2B-3F328A7663E9}" type="presParOf" srcId="{3A9F7D0B-9C0A-4897-956D-89CC19566489}" destId="{E970C7E0-73A7-4E17-8582-113FB679767C}" srcOrd="5" destOrd="0" presId="urn:microsoft.com/office/officeart/2005/8/layout/default"/>
    <dgm:cxn modelId="{4BF7A8C3-E617-413F-902A-956D73662D8A}" type="presParOf" srcId="{3A9F7D0B-9C0A-4897-956D-89CC19566489}" destId="{6787DF6A-8CD6-4DA5-B6EF-07A96244105E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AD07B7-5A67-4B98-897E-70B601DC0645}" type="doc">
      <dgm:prSet loTypeId="urn:microsoft.com/office/officeart/2005/8/layout/chevron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4DF4949D-A884-46A6-8B6B-C388719C5BB0}">
      <dgm:prSet phldrT="[文本]" custT="1"/>
      <dgm:spPr/>
      <dgm:t>
        <a:bodyPr/>
        <a:lstStyle/>
        <a:p>
          <a:r>
            <a:rPr lang="zh-CN" altLang="en-US" sz="2000" b="1" dirty="0">
              <a:latin typeface="等线" panose="02010600030101010101" pitchFamily="2" charset="-122"/>
              <a:ea typeface="等线" panose="02010600030101010101" pitchFamily="2" charset="-122"/>
            </a:rPr>
            <a:t>课前预习</a:t>
          </a:r>
        </a:p>
      </dgm:t>
    </dgm:pt>
    <dgm:pt modelId="{A0081E25-88A9-4734-9873-DC002CB1F736}" cxnId="{21AD1C14-8A18-4AEE-9769-76E85D743B25}" type="parTrans">
      <dgm:prSet/>
      <dgm:spPr/>
      <dgm:t>
        <a:bodyPr/>
        <a:lstStyle/>
        <a:p>
          <a:endParaRPr lang="zh-CN" altLang="en-US"/>
        </a:p>
      </dgm:t>
    </dgm:pt>
    <dgm:pt modelId="{61EDE898-0554-4BA8-AEC6-BA7B27DF446F}" cxnId="{21AD1C14-8A18-4AEE-9769-76E85D743B25}" type="sibTrans">
      <dgm:prSet/>
      <dgm:spPr/>
      <dgm:t>
        <a:bodyPr/>
        <a:lstStyle/>
        <a:p>
          <a:endParaRPr lang="zh-CN" altLang="en-US"/>
        </a:p>
      </dgm:t>
    </dgm:pt>
    <dgm:pt modelId="{73A61515-2E3C-411A-B3B1-24531774218B}">
      <dgm:prSet phldrT="[文本]" custT="1"/>
      <dgm:spPr/>
      <dgm:t>
        <a:bodyPr/>
        <a:lstStyle/>
        <a:p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明确实验目的与要求</a:t>
          </a:r>
          <a:endParaRPr lang="zh-CN" altLang="en-US" sz="1600" dirty="0">
            <a:latin typeface="等线" panose="02010600030101010101" pitchFamily="2" charset="-122"/>
            <a:ea typeface="等线" panose="02010600030101010101" pitchFamily="2" charset="-122"/>
          </a:endParaRPr>
        </a:p>
      </dgm:t>
    </dgm:pt>
    <dgm:pt modelId="{79C24A09-F1F2-4F91-8C3D-CFD888745E56}" cxnId="{13DAC88D-F64C-4C36-86DF-7D65538D970A}" type="parTrans">
      <dgm:prSet/>
      <dgm:spPr/>
      <dgm:t>
        <a:bodyPr/>
        <a:lstStyle/>
        <a:p>
          <a:endParaRPr lang="zh-CN" altLang="en-US"/>
        </a:p>
      </dgm:t>
    </dgm:pt>
    <dgm:pt modelId="{E0BFC517-983A-4C43-8C05-E695243595F3}" cxnId="{13DAC88D-F64C-4C36-86DF-7D65538D970A}" type="sibTrans">
      <dgm:prSet/>
      <dgm:spPr/>
      <dgm:t>
        <a:bodyPr/>
        <a:lstStyle/>
        <a:p>
          <a:endParaRPr lang="zh-CN" altLang="en-US"/>
        </a:p>
      </dgm:t>
    </dgm:pt>
    <dgm:pt modelId="{CF1EF526-8C64-4BE4-8D8C-47FB654EECEC}">
      <dgm:prSet phldrT="[文本]" custT="1"/>
      <dgm:spPr/>
      <dgm:t>
        <a:bodyPr/>
        <a:lstStyle/>
        <a:p>
          <a:r>
            <a:rPr lang="zh-CN" altLang="zh-CN" sz="2000" b="1" dirty="0">
              <a:latin typeface="等线" panose="02010600030101010101" pitchFamily="2" charset="-122"/>
              <a:ea typeface="等线" panose="02010600030101010101" pitchFamily="2" charset="-122"/>
            </a:rPr>
            <a:t>课上</a:t>
          </a:r>
          <a:r>
            <a:rPr lang="zh-CN" altLang="en-US" sz="2000" b="1" dirty="0">
              <a:latin typeface="等线" panose="02010600030101010101" pitchFamily="2" charset="-122"/>
              <a:ea typeface="等线" panose="02010600030101010101" pitchFamily="2" charset="-122"/>
            </a:rPr>
            <a:t>搭建、验收电路</a:t>
          </a:r>
        </a:p>
      </dgm:t>
    </dgm:pt>
    <dgm:pt modelId="{2BB0E493-0B94-49E9-89AF-4DBF116023D9}" cxnId="{5D70B906-3C0C-4E37-A042-AE71F07FD790}" type="parTrans">
      <dgm:prSet/>
      <dgm:spPr/>
      <dgm:t>
        <a:bodyPr/>
        <a:lstStyle/>
        <a:p>
          <a:endParaRPr lang="zh-CN" altLang="en-US"/>
        </a:p>
      </dgm:t>
    </dgm:pt>
    <dgm:pt modelId="{A28B0AB7-F891-4BF0-904D-8CCB0629FBA3}" cxnId="{5D70B906-3C0C-4E37-A042-AE71F07FD790}" type="sibTrans">
      <dgm:prSet/>
      <dgm:spPr/>
      <dgm:t>
        <a:bodyPr/>
        <a:lstStyle/>
        <a:p>
          <a:endParaRPr lang="zh-CN" altLang="en-US"/>
        </a:p>
      </dgm:t>
    </dgm:pt>
    <dgm:pt modelId="{E541E0D0-F6BB-4332-A305-AF014DFCB6F0}">
      <dgm:prSet phldrT="[文本]" custT="1"/>
      <dgm:spPr/>
      <dgm:t>
        <a:bodyPr/>
        <a:lstStyle/>
        <a:p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搭建实验测试平台 </a:t>
          </a:r>
          <a:r>
            <a:rPr lang="en-US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— </a:t>
          </a:r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测试方法的设计</a:t>
          </a:r>
        </a:p>
      </dgm:t>
    </dgm:pt>
    <dgm:pt modelId="{486271B4-4EA2-492F-8F10-C6AA7D040349}" cxnId="{52F08E45-4738-467C-A5F3-04CCCE912522}" type="parTrans">
      <dgm:prSet/>
      <dgm:spPr/>
      <dgm:t>
        <a:bodyPr/>
        <a:lstStyle/>
        <a:p>
          <a:endParaRPr lang="zh-CN" altLang="en-US"/>
        </a:p>
      </dgm:t>
    </dgm:pt>
    <dgm:pt modelId="{14A2D7F3-7DAD-4324-B685-B33C7A9F9E25}" cxnId="{52F08E45-4738-467C-A5F3-04CCCE912522}" type="sibTrans">
      <dgm:prSet/>
      <dgm:spPr/>
      <dgm:t>
        <a:bodyPr/>
        <a:lstStyle/>
        <a:p>
          <a:endParaRPr lang="zh-CN" altLang="en-US"/>
        </a:p>
      </dgm:t>
    </dgm:pt>
    <dgm:pt modelId="{D85E5FD3-CE07-4412-BA27-D4F2CE1B7F82}">
      <dgm:prSet custT="1"/>
      <dgm:spPr/>
      <dgm:t>
        <a:bodyPr/>
        <a:lstStyle/>
        <a:p>
          <a:r>
            <a:rPr lang="zh-CN" altLang="en-US" sz="2000" b="1" dirty="0">
              <a:latin typeface="等线" panose="02010600030101010101" pitchFamily="2" charset="-122"/>
              <a:ea typeface="等线" panose="02010600030101010101" pitchFamily="2" charset="-122"/>
            </a:rPr>
            <a:t>课后完成报告</a:t>
          </a:r>
        </a:p>
      </dgm:t>
    </dgm:pt>
    <dgm:pt modelId="{0DC022FD-94E7-4DEF-9EB5-64BCAFB7C74C}" cxnId="{1E022E8C-390B-4E3B-B9EC-9C745E6700D3}" type="parTrans">
      <dgm:prSet/>
      <dgm:spPr/>
      <dgm:t>
        <a:bodyPr/>
        <a:lstStyle/>
        <a:p>
          <a:endParaRPr lang="zh-CN" altLang="en-US"/>
        </a:p>
      </dgm:t>
    </dgm:pt>
    <dgm:pt modelId="{4A31B6DD-26A7-40DF-8D62-D90FBFCE1AA5}" cxnId="{1E022E8C-390B-4E3B-B9EC-9C745E6700D3}" type="sibTrans">
      <dgm:prSet/>
      <dgm:spPr/>
      <dgm:t>
        <a:bodyPr/>
        <a:lstStyle/>
        <a:p>
          <a:endParaRPr lang="zh-CN" altLang="en-US"/>
        </a:p>
      </dgm:t>
    </dgm:pt>
    <dgm:pt modelId="{A464BFA8-009B-44EC-9F30-21C5352CB1FA}">
      <dgm:prSet custT="1"/>
      <dgm:spPr/>
      <dgm:t>
        <a:bodyPr/>
        <a:lstStyle/>
        <a:p>
          <a:r>
            <a:rPr lang="zh-CN" altLang="en-US" sz="16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rPr>
            <a:t>实验报告要求用报告纸手写，格式内容规范</a:t>
          </a:r>
        </a:p>
      </dgm:t>
    </dgm:pt>
    <dgm:pt modelId="{3E549644-6290-4D96-9F41-15475026BFC1}" cxnId="{BDACC199-20D8-4607-8282-4EFA432F4060}" type="sibTrans">
      <dgm:prSet/>
      <dgm:spPr/>
      <dgm:t>
        <a:bodyPr/>
        <a:lstStyle/>
        <a:p>
          <a:endParaRPr lang="zh-CN" altLang="en-US"/>
        </a:p>
      </dgm:t>
    </dgm:pt>
    <dgm:pt modelId="{A05C2DC3-E00B-4A17-8CB9-51795FBE640E}" cxnId="{BDACC199-20D8-4607-8282-4EFA432F4060}" type="parTrans">
      <dgm:prSet/>
      <dgm:spPr/>
      <dgm:t>
        <a:bodyPr/>
        <a:lstStyle/>
        <a:p>
          <a:endParaRPr lang="zh-CN" altLang="en-US"/>
        </a:p>
      </dgm:t>
    </dgm:pt>
    <dgm:pt modelId="{0D67B88B-C3A0-44F7-B01F-BC5981192E17}">
      <dgm:prSet custT="1"/>
      <dgm:spPr/>
      <dgm:t>
        <a:bodyPr/>
        <a:lstStyle/>
        <a:p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了解实验原理，设计电路并绘制原理图</a:t>
          </a:r>
        </a:p>
      </dgm:t>
    </dgm:pt>
    <dgm:pt modelId="{4C67075D-12CE-498B-9024-8AF97501E766}" cxnId="{E7E7F795-B5AD-4CFF-916C-A9EF666722EC}" type="parTrans">
      <dgm:prSet/>
      <dgm:spPr/>
      <dgm:t>
        <a:bodyPr/>
        <a:lstStyle/>
        <a:p>
          <a:endParaRPr lang="zh-CN" altLang="en-US"/>
        </a:p>
      </dgm:t>
    </dgm:pt>
    <dgm:pt modelId="{A8415271-1A10-4E3B-9133-454071565490}" cxnId="{E7E7F795-B5AD-4CFF-916C-A9EF666722EC}" type="sibTrans">
      <dgm:prSet/>
      <dgm:spPr/>
      <dgm:t>
        <a:bodyPr/>
        <a:lstStyle/>
        <a:p>
          <a:endParaRPr lang="zh-CN" altLang="en-US"/>
        </a:p>
      </dgm:t>
    </dgm:pt>
    <dgm:pt modelId="{9FFA031F-A96E-4EBA-9DD9-3814D9E0CD8C}">
      <dgm:prSet custT="1"/>
      <dgm:spPr/>
      <dgm:t>
        <a:bodyPr/>
        <a:lstStyle/>
        <a:p>
          <a:r>
            <a:rPr lang="zh-CN" altLang="en-US" sz="16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rPr>
            <a:t>提前安装实验电路</a:t>
          </a:r>
        </a:p>
      </dgm:t>
    </dgm:pt>
    <dgm:pt modelId="{950F4C16-9166-4761-AF8F-315BBBA81A47}" cxnId="{0DBB5BE1-A693-46F2-AAF7-EB09E449B3FB}" type="parTrans">
      <dgm:prSet/>
      <dgm:spPr/>
      <dgm:t>
        <a:bodyPr/>
        <a:lstStyle/>
        <a:p>
          <a:endParaRPr lang="zh-CN" altLang="en-US"/>
        </a:p>
      </dgm:t>
    </dgm:pt>
    <dgm:pt modelId="{22848A74-07DF-4B28-9D51-4033620B5E17}" cxnId="{0DBB5BE1-A693-46F2-AAF7-EB09E449B3FB}" type="sibTrans">
      <dgm:prSet/>
      <dgm:spPr/>
      <dgm:t>
        <a:bodyPr/>
        <a:lstStyle/>
        <a:p>
          <a:endParaRPr lang="zh-CN" altLang="en-US"/>
        </a:p>
      </dgm:t>
    </dgm:pt>
    <dgm:pt modelId="{72EB4D64-6284-41E8-9EEB-F939D17F7EA3}">
      <dgm:prSet custT="1"/>
      <dgm:spPr/>
      <dgm:t>
        <a:bodyPr/>
        <a:lstStyle/>
        <a:p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完成</a:t>
          </a:r>
          <a:r>
            <a:rPr lang="en-US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MOOC</a:t>
          </a:r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相关单元学习</a:t>
          </a:r>
        </a:p>
      </dgm:t>
    </dgm:pt>
    <dgm:pt modelId="{EF1D55D3-1FC4-4959-86BA-502CE3CEFA9C}" cxnId="{5868325F-E691-4CCB-ACE0-26EB9C1A121E}" type="parTrans">
      <dgm:prSet/>
      <dgm:spPr/>
      <dgm:t>
        <a:bodyPr/>
        <a:lstStyle/>
        <a:p>
          <a:endParaRPr lang="zh-CN" altLang="en-US"/>
        </a:p>
      </dgm:t>
    </dgm:pt>
    <dgm:pt modelId="{906D7C82-F4D0-47D8-B55D-3B9EA4BAD6E2}" cxnId="{5868325F-E691-4CCB-ACE0-26EB9C1A121E}" type="sibTrans">
      <dgm:prSet/>
      <dgm:spPr/>
      <dgm:t>
        <a:bodyPr/>
        <a:lstStyle/>
        <a:p>
          <a:endParaRPr lang="zh-CN" altLang="en-US"/>
        </a:p>
      </dgm:t>
    </dgm:pt>
    <dgm:pt modelId="{371D62EB-3B4B-4038-8336-A065DE0F02AF}">
      <dgm:prSet custT="1"/>
      <dgm:spPr/>
      <dgm:t>
        <a:bodyPr/>
        <a:lstStyle/>
        <a:p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观察并记录实验现象与结果 </a:t>
          </a:r>
          <a:r>
            <a:rPr lang="en-US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— </a:t>
          </a:r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仪器使用</a:t>
          </a:r>
        </a:p>
      </dgm:t>
    </dgm:pt>
    <dgm:pt modelId="{B3A70365-A081-4073-9259-F88913B30873}" cxnId="{0E6A247A-0461-4C29-AA8A-FE5C27EF9746}" type="parTrans">
      <dgm:prSet/>
      <dgm:spPr/>
      <dgm:t>
        <a:bodyPr/>
        <a:lstStyle/>
        <a:p>
          <a:endParaRPr lang="zh-CN" altLang="en-US"/>
        </a:p>
      </dgm:t>
    </dgm:pt>
    <dgm:pt modelId="{344B725D-C6FB-4887-84B4-E6EE1DA87A53}" cxnId="{0E6A247A-0461-4C29-AA8A-FE5C27EF9746}" type="sibTrans">
      <dgm:prSet/>
      <dgm:spPr/>
      <dgm:t>
        <a:bodyPr/>
        <a:lstStyle/>
        <a:p>
          <a:endParaRPr lang="zh-CN" altLang="en-US"/>
        </a:p>
      </dgm:t>
    </dgm:pt>
    <dgm:pt modelId="{01CBA102-9D95-41B9-AF10-1CEAE8F1729A}">
      <dgm:prSet custT="1"/>
      <dgm:spPr/>
      <dgm:t>
        <a:bodyPr/>
        <a:lstStyle/>
        <a:p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对实验数据进行处理，绘制图、表或波形。</a:t>
          </a:r>
        </a:p>
      </dgm:t>
    </dgm:pt>
    <dgm:pt modelId="{A721301B-2997-476A-AC6B-1F3F462B1B11}" cxnId="{B5616478-C964-486D-AF62-A8EE1259D9CC}" type="parTrans">
      <dgm:prSet/>
      <dgm:spPr/>
      <dgm:t>
        <a:bodyPr/>
        <a:lstStyle/>
        <a:p>
          <a:endParaRPr lang="zh-CN" altLang="en-US"/>
        </a:p>
      </dgm:t>
    </dgm:pt>
    <dgm:pt modelId="{B9C181BE-DA30-4A69-9FD0-3893AE7C25B8}" cxnId="{B5616478-C964-486D-AF62-A8EE1259D9CC}" type="sibTrans">
      <dgm:prSet/>
      <dgm:spPr/>
      <dgm:t>
        <a:bodyPr/>
        <a:lstStyle/>
        <a:p>
          <a:endParaRPr lang="zh-CN" altLang="en-US"/>
        </a:p>
      </dgm:t>
    </dgm:pt>
    <dgm:pt modelId="{36616A97-17B4-4F13-B583-32316D1558FF}">
      <dgm:prSet custT="1"/>
      <dgm:spPr/>
      <dgm:t>
        <a:bodyPr/>
        <a:lstStyle/>
        <a:p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写出个人的实验心得体会</a:t>
          </a:r>
        </a:p>
      </dgm:t>
    </dgm:pt>
    <dgm:pt modelId="{77B4B297-6C49-4A2E-9399-1D25E2289FF8}" cxnId="{5D75A5DC-5E3C-443C-9EE6-7341F31377A8}" type="parTrans">
      <dgm:prSet/>
      <dgm:spPr/>
      <dgm:t>
        <a:bodyPr/>
        <a:lstStyle/>
        <a:p>
          <a:endParaRPr lang="zh-CN" altLang="en-US"/>
        </a:p>
      </dgm:t>
    </dgm:pt>
    <dgm:pt modelId="{858164C8-9BA1-4CCB-BE1E-3D119989F197}" cxnId="{5D75A5DC-5E3C-443C-9EE6-7341F31377A8}" type="sibTrans">
      <dgm:prSet/>
      <dgm:spPr/>
      <dgm:t>
        <a:bodyPr/>
        <a:lstStyle/>
        <a:p>
          <a:endParaRPr lang="zh-CN" altLang="en-US"/>
        </a:p>
      </dgm:t>
    </dgm:pt>
    <dgm:pt modelId="{A5DF6B1A-4E6B-419C-AEB1-9269C63DD763}">
      <dgm:prSet custT="1"/>
      <dgm:spPr/>
      <dgm:t>
        <a:bodyPr/>
        <a:lstStyle/>
        <a:p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回答思考题</a:t>
          </a:r>
        </a:p>
      </dgm:t>
    </dgm:pt>
    <dgm:pt modelId="{1F52E4BA-ACEE-47A7-9363-3F13433F0EF9}" cxnId="{7DA9A1AA-BDE8-44CC-A7B6-E2BC180D9246}" type="parTrans">
      <dgm:prSet/>
      <dgm:spPr/>
      <dgm:t>
        <a:bodyPr/>
        <a:lstStyle/>
        <a:p>
          <a:endParaRPr lang="zh-CN" altLang="en-US"/>
        </a:p>
      </dgm:t>
    </dgm:pt>
    <dgm:pt modelId="{0E658379-B112-4963-9397-03B06C3043D2}" cxnId="{7DA9A1AA-BDE8-44CC-A7B6-E2BC180D9246}" type="sibTrans">
      <dgm:prSet/>
      <dgm:spPr/>
      <dgm:t>
        <a:bodyPr/>
        <a:lstStyle/>
        <a:p>
          <a:endParaRPr lang="zh-CN" altLang="en-US"/>
        </a:p>
      </dgm:t>
    </dgm:pt>
    <dgm:pt modelId="{42932BE8-3CCF-4DF5-9D8E-ABC8DE3E9E26}">
      <dgm:prSet custT="1"/>
      <dgm:spPr/>
      <dgm:t>
        <a:bodyPr/>
        <a:lstStyle/>
        <a:p>
          <a:r>
            <a:rPr lang="zh-CN" altLang="en-US" sz="1600" b="1" dirty="0" smtClean="0">
              <a:latin typeface="等线" panose="02010600030101010101" pitchFamily="2" charset="-122"/>
              <a:ea typeface="等线" panose="02010600030101010101" pitchFamily="2" charset="-122"/>
            </a:rPr>
            <a:t>通过验收并回答老师提问</a:t>
          </a:r>
          <a:endParaRPr lang="zh-CN" altLang="en-US" sz="1600" b="1" dirty="0">
            <a:latin typeface="等线" panose="02010600030101010101" pitchFamily="2" charset="-122"/>
            <a:ea typeface="等线" panose="02010600030101010101" pitchFamily="2" charset="-122"/>
          </a:endParaRPr>
        </a:p>
      </dgm:t>
    </dgm:pt>
    <dgm:pt modelId="{AFB40A2C-0270-4F5E-8BC6-630EE1A08045}" cxnId="{5AAEEEC7-6C36-465B-9D19-C091EA302356}" type="parTrans">
      <dgm:prSet/>
      <dgm:spPr/>
      <dgm:t>
        <a:bodyPr/>
        <a:lstStyle/>
        <a:p>
          <a:endParaRPr lang="zh-CN" altLang="en-US"/>
        </a:p>
      </dgm:t>
    </dgm:pt>
    <dgm:pt modelId="{AC824B88-9930-4BDF-BFA3-BE39ADBD4A33}" cxnId="{5AAEEEC7-6C36-465B-9D19-C091EA302356}" type="sibTrans">
      <dgm:prSet/>
      <dgm:spPr/>
      <dgm:t>
        <a:bodyPr/>
        <a:lstStyle/>
        <a:p>
          <a:endParaRPr lang="zh-CN" altLang="en-US"/>
        </a:p>
      </dgm:t>
    </dgm:pt>
    <dgm:pt modelId="{9E971D18-6DB2-4DE4-B6BE-7EC03C625007}">
      <dgm:prSet custT="1"/>
      <dgm:spPr/>
      <dgm:t>
        <a:bodyPr/>
        <a:lstStyle/>
        <a:p>
          <a:r>
            <a:rPr lang="zh-CN" altLang="en-US" sz="1600" b="1" dirty="0" smtClean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rPr>
            <a:t>撰写预习报告</a:t>
          </a:r>
          <a:endParaRPr lang="zh-CN" altLang="en-US" sz="1600" b="1" dirty="0">
            <a:solidFill>
              <a:srgbClr val="FF0000"/>
            </a:solidFill>
            <a:latin typeface="等线" panose="02010600030101010101" pitchFamily="2" charset="-122"/>
            <a:ea typeface="等线" panose="02010600030101010101" pitchFamily="2" charset="-122"/>
          </a:endParaRPr>
        </a:p>
      </dgm:t>
    </dgm:pt>
    <dgm:pt modelId="{79C94CB8-F64E-47DB-8BD3-123141257CE2}" cxnId="{5102BF19-4497-479A-9CEE-4EC091CAFAF7}" type="parTrans">
      <dgm:prSet/>
      <dgm:spPr/>
      <dgm:t>
        <a:bodyPr/>
        <a:lstStyle/>
        <a:p>
          <a:endParaRPr lang="zh-CN" altLang="en-US"/>
        </a:p>
      </dgm:t>
    </dgm:pt>
    <dgm:pt modelId="{90113110-DAB6-422B-AE3B-C714681DA1CD}" cxnId="{5102BF19-4497-479A-9CEE-4EC091CAFAF7}" type="sibTrans">
      <dgm:prSet/>
      <dgm:spPr/>
      <dgm:t>
        <a:bodyPr/>
        <a:lstStyle/>
        <a:p>
          <a:endParaRPr lang="zh-CN" altLang="en-US"/>
        </a:p>
      </dgm:t>
    </dgm:pt>
    <dgm:pt modelId="{5C0E9181-0B1E-4294-8F3A-5B935D88A68F}" type="pres">
      <dgm:prSet presAssocID="{1CAD07B7-5A67-4B98-897E-70B601DC0645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BE38670-25C4-4262-AD96-5FE3A5076DBA}" type="pres">
      <dgm:prSet presAssocID="{4DF4949D-A884-46A6-8B6B-C388719C5BB0}" presName="composite" presStyleCnt="0"/>
      <dgm:spPr/>
    </dgm:pt>
    <dgm:pt modelId="{61F820A7-1C5D-4555-88DE-B4CACB6E2851}" type="pres">
      <dgm:prSet presAssocID="{4DF4949D-A884-46A6-8B6B-C388719C5BB0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566727-F96E-45AA-AABC-306A386CCAED}" type="pres">
      <dgm:prSet presAssocID="{4DF4949D-A884-46A6-8B6B-C388719C5BB0}" presName="descendantText" presStyleLbl="alignAcc1" presStyleIdx="0" presStyleCnt="3" custScaleY="12142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37C7545-720D-4DAE-86FE-CAFC01830348}" type="pres">
      <dgm:prSet presAssocID="{61EDE898-0554-4BA8-AEC6-BA7B27DF446F}" presName="sp" presStyleCnt="0"/>
      <dgm:spPr/>
    </dgm:pt>
    <dgm:pt modelId="{B3F9E867-368B-4506-9CA3-65036A771B0B}" type="pres">
      <dgm:prSet presAssocID="{CF1EF526-8C64-4BE4-8D8C-47FB654EECEC}" presName="composite" presStyleCnt="0"/>
      <dgm:spPr/>
    </dgm:pt>
    <dgm:pt modelId="{5DF64937-B8DE-42A7-BD1E-25B55547924E}" type="pres">
      <dgm:prSet presAssocID="{CF1EF526-8C64-4BE4-8D8C-47FB654EECEC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2F23E94-6524-443A-A564-E4F5C60C89CA}" type="pres">
      <dgm:prSet presAssocID="{CF1EF526-8C64-4BE4-8D8C-47FB654EECEC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C44DD23-D736-440E-B099-7B70780855C5}" type="pres">
      <dgm:prSet presAssocID="{A28B0AB7-F891-4BF0-904D-8CCB0629FBA3}" presName="sp" presStyleCnt="0"/>
      <dgm:spPr/>
    </dgm:pt>
    <dgm:pt modelId="{F7898957-3ED4-43BA-A95A-2DAB5DA2EDFC}" type="pres">
      <dgm:prSet presAssocID="{D85E5FD3-CE07-4412-BA27-D4F2CE1B7F82}" presName="composite" presStyleCnt="0"/>
      <dgm:spPr/>
    </dgm:pt>
    <dgm:pt modelId="{CBF4BD7A-055C-483C-AA6D-E18ACABFE96E}" type="pres">
      <dgm:prSet presAssocID="{D85E5FD3-CE07-4412-BA27-D4F2CE1B7F82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275075F-2FDE-42CB-BEF8-9A3D29B5C7C8}" type="pres">
      <dgm:prSet presAssocID="{D85E5FD3-CE07-4412-BA27-D4F2CE1B7F82}" presName="descendantText" presStyleLbl="alignAcc1" presStyleIdx="2" presStyleCnt="3" custScaleY="11993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AAEEEC7-6C36-465B-9D19-C091EA302356}" srcId="{CF1EF526-8C64-4BE4-8D8C-47FB654EECEC}" destId="{42932BE8-3CCF-4DF5-9D8E-ABC8DE3E9E26}" srcOrd="2" destOrd="0" parTransId="{AFB40A2C-0270-4F5E-8BC6-630EE1A08045}" sibTransId="{AC824B88-9930-4BDF-BFA3-BE39ADBD4A33}"/>
    <dgm:cxn modelId="{5D75A5DC-5E3C-443C-9EE6-7341F31377A8}" srcId="{D85E5FD3-CE07-4412-BA27-D4F2CE1B7F82}" destId="{36616A97-17B4-4F13-B583-32316D1558FF}" srcOrd="2" destOrd="0" parTransId="{77B4B297-6C49-4A2E-9399-1D25E2289FF8}" sibTransId="{858164C8-9BA1-4CCB-BE1E-3D119989F197}"/>
    <dgm:cxn modelId="{D8DB768F-4792-485E-AD64-131A0143484D}" type="presOf" srcId="{E541E0D0-F6BB-4332-A305-AF014DFCB6F0}" destId="{D2F23E94-6524-443A-A564-E4F5C60C89CA}" srcOrd="0" destOrd="0" presId="urn:microsoft.com/office/officeart/2005/8/layout/chevron2"/>
    <dgm:cxn modelId="{46FF1B19-0CFD-4695-8983-478B91CDB7E0}" type="presOf" srcId="{371D62EB-3B4B-4038-8336-A065DE0F02AF}" destId="{D2F23E94-6524-443A-A564-E4F5C60C89CA}" srcOrd="0" destOrd="1" presId="urn:microsoft.com/office/officeart/2005/8/layout/chevron2"/>
    <dgm:cxn modelId="{52F08E45-4738-467C-A5F3-04CCCE912522}" srcId="{CF1EF526-8C64-4BE4-8D8C-47FB654EECEC}" destId="{E541E0D0-F6BB-4332-A305-AF014DFCB6F0}" srcOrd="0" destOrd="0" parTransId="{486271B4-4EA2-492F-8F10-C6AA7D040349}" sibTransId="{14A2D7F3-7DAD-4324-B685-B33C7A9F9E25}"/>
    <dgm:cxn modelId="{21AD1C14-8A18-4AEE-9769-76E85D743B25}" srcId="{1CAD07B7-5A67-4B98-897E-70B601DC0645}" destId="{4DF4949D-A884-46A6-8B6B-C388719C5BB0}" srcOrd="0" destOrd="0" parTransId="{A0081E25-88A9-4734-9873-DC002CB1F736}" sibTransId="{61EDE898-0554-4BA8-AEC6-BA7B27DF446F}"/>
    <dgm:cxn modelId="{183E6E53-719E-4D03-BA3C-FAD1E495795C}" type="presOf" srcId="{4DF4949D-A884-46A6-8B6B-C388719C5BB0}" destId="{61F820A7-1C5D-4555-88DE-B4CACB6E2851}" srcOrd="0" destOrd="0" presId="urn:microsoft.com/office/officeart/2005/8/layout/chevron2"/>
    <dgm:cxn modelId="{5868325F-E691-4CCB-ACE0-26EB9C1A121E}" srcId="{4DF4949D-A884-46A6-8B6B-C388719C5BB0}" destId="{72EB4D64-6284-41E8-9EEB-F939D17F7EA3}" srcOrd="4" destOrd="0" parTransId="{EF1D55D3-1FC4-4959-86BA-502CE3CEFA9C}" sibTransId="{906D7C82-F4D0-47D8-B55D-3B9EA4BAD6E2}"/>
    <dgm:cxn modelId="{FFE1E464-FD63-4C9C-BE3B-2FE27C883B4B}" type="presOf" srcId="{73A61515-2E3C-411A-B3B1-24531774218B}" destId="{B5566727-F96E-45AA-AABC-306A386CCAED}" srcOrd="0" destOrd="0" presId="urn:microsoft.com/office/officeart/2005/8/layout/chevron2"/>
    <dgm:cxn modelId="{73E5031A-4BA5-476B-B333-A54CE23F1EE3}" type="presOf" srcId="{D85E5FD3-CE07-4412-BA27-D4F2CE1B7F82}" destId="{CBF4BD7A-055C-483C-AA6D-E18ACABFE96E}" srcOrd="0" destOrd="0" presId="urn:microsoft.com/office/officeart/2005/8/layout/chevron2"/>
    <dgm:cxn modelId="{FD3B4486-6E78-4C87-A9E4-B37BAB53CDB1}" type="presOf" srcId="{0D67B88B-C3A0-44F7-B01F-BC5981192E17}" destId="{B5566727-F96E-45AA-AABC-306A386CCAED}" srcOrd="0" destOrd="1" presId="urn:microsoft.com/office/officeart/2005/8/layout/chevron2"/>
    <dgm:cxn modelId="{0E6A247A-0461-4C29-AA8A-FE5C27EF9746}" srcId="{CF1EF526-8C64-4BE4-8D8C-47FB654EECEC}" destId="{371D62EB-3B4B-4038-8336-A065DE0F02AF}" srcOrd="1" destOrd="0" parTransId="{B3A70365-A081-4073-9259-F88913B30873}" sibTransId="{344B725D-C6FB-4887-84B4-E6EE1DA87A53}"/>
    <dgm:cxn modelId="{BDACC199-20D8-4607-8282-4EFA432F4060}" srcId="{D85E5FD3-CE07-4412-BA27-D4F2CE1B7F82}" destId="{A464BFA8-009B-44EC-9F30-21C5352CB1FA}" srcOrd="0" destOrd="0" parTransId="{A05C2DC3-E00B-4A17-8CB9-51795FBE640E}" sibTransId="{3E549644-6290-4D96-9F41-15475026BFC1}"/>
    <dgm:cxn modelId="{607EE913-CCD6-45A7-9BA0-FC8031239850}" type="presOf" srcId="{72EB4D64-6284-41E8-9EEB-F939D17F7EA3}" destId="{B5566727-F96E-45AA-AABC-306A386CCAED}" srcOrd="0" destOrd="4" presId="urn:microsoft.com/office/officeart/2005/8/layout/chevron2"/>
    <dgm:cxn modelId="{6F3B8FB8-59A5-4450-8977-B481156C1650}" type="presOf" srcId="{9E971D18-6DB2-4DE4-B6BE-7EC03C625007}" destId="{B5566727-F96E-45AA-AABC-306A386CCAED}" srcOrd="0" destOrd="3" presId="urn:microsoft.com/office/officeart/2005/8/layout/chevron2"/>
    <dgm:cxn modelId="{B5616478-C964-486D-AF62-A8EE1259D9CC}" srcId="{D85E5FD3-CE07-4412-BA27-D4F2CE1B7F82}" destId="{01CBA102-9D95-41B9-AF10-1CEAE8F1729A}" srcOrd="1" destOrd="0" parTransId="{A721301B-2997-476A-AC6B-1F3F462B1B11}" sibTransId="{B9C181BE-DA30-4A69-9FD0-3893AE7C25B8}"/>
    <dgm:cxn modelId="{E7E7F795-B5AD-4CFF-916C-A9EF666722EC}" srcId="{4DF4949D-A884-46A6-8B6B-C388719C5BB0}" destId="{0D67B88B-C3A0-44F7-B01F-BC5981192E17}" srcOrd="1" destOrd="0" parTransId="{4C67075D-12CE-498B-9024-8AF97501E766}" sibTransId="{A8415271-1A10-4E3B-9133-454071565490}"/>
    <dgm:cxn modelId="{D13B1CE0-3A22-4339-8B05-04A8287D3C7B}" type="presOf" srcId="{9FFA031F-A96E-4EBA-9DD9-3814D9E0CD8C}" destId="{B5566727-F96E-45AA-AABC-306A386CCAED}" srcOrd="0" destOrd="2" presId="urn:microsoft.com/office/officeart/2005/8/layout/chevron2"/>
    <dgm:cxn modelId="{1BFC840C-C526-4567-B3E4-C0399E47970E}" type="presOf" srcId="{36616A97-17B4-4F13-B583-32316D1558FF}" destId="{5275075F-2FDE-42CB-BEF8-9A3D29B5C7C8}" srcOrd="0" destOrd="2" presId="urn:microsoft.com/office/officeart/2005/8/layout/chevron2"/>
    <dgm:cxn modelId="{20F3BCCB-DCE1-4429-9913-00D0F72F66FC}" type="presOf" srcId="{A5DF6B1A-4E6B-419C-AEB1-9269C63DD763}" destId="{5275075F-2FDE-42CB-BEF8-9A3D29B5C7C8}" srcOrd="0" destOrd="3" presId="urn:microsoft.com/office/officeart/2005/8/layout/chevron2"/>
    <dgm:cxn modelId="{5D70B906-3C0C-4E37-A042-AE71F07FD790}" srcId="{1CAD07B7-5A67-4B98-897E-70B601DC0645}" destId="{CF1EF526-8C64-4BE4-8D8C-47FB654EECEC}" srcOrd="1" destOrd="0" parTransId="{2BB0E493-0B94-49E9-89AF-4DBF116023D9}" sibTransId="{A28B0AB7-F891-4BF0-904D-8CCB0629FBA3}"/>
    <dgm:cxn modelId="{24BC2294-4FDF-4D3E-9D03-C6E085E8B3C3}" type="presOf" srcId="{42932BE8-3CCF-4DF5-9D8E-ABC8DE3E9E26}" destId="{D2F23E94-6524-443A-A564-E4F5C60C89CA}" srcOrd="0" destOrd="2" presId="urn:microsoft.com/office/officeart/2005/8/layout/chevron2"/>
    <dgm:cxn modelId="{3FBC7ECE-953B-4610-911A-4BC5BC9EAB19}" type="presOf" srcId="{A464BFA8-009B-44EC-9F30-21C5352CB1FA}" destId="{5275075F-2FDE-42CB-BEF8-9A3D29B5C7C8}" srcOrd="0" destOrd="0" presId="urn:microsoft.com/office/officeart/2005/8/layout/chevron2"/>
    <dgm:cxn modelId="{DDB83E45-FABB-4150-A138-FAD8726789DD}" type="presOf" srcId="{01CBA102-9D95-41B9-AF10-1CEAE8F1729A}" destId="{5275075F-2FDE-42CB-BEF8-9A3D29B5C7C8}" srcOrd="0" destOrd="1" presId="urn:microsoft.com/office/officeart/2005/8/layout/chevron2"/>
    <dgm:cxn modelId="{13DAC88D-F64C-4C36-86DF-7D65538D970A}" srcId="{4DF4949D-A884-46A6-8B6B-C388719C5BB0}" destId="{73A61515-2E3C-411A-B3B1-24531774218B}" srcOrd="0" destOrd="0" parTransId="{79C24A09-F1F2-4F91-8C3D-CFD888745E56}" sibTransId="{E0BFC517-983A-4C43-8C05-E695243595F3}"/>
    <dgm:cxn modelId="{1E022E8C-390B-4E3B-B9EC-9C745E6700D3}" srcId="{1CAD07B7-5A67-4B98-897E-70B601DC0645}" destId="{D85E5FD3-CE07-4412-BA27-D4F2CE1B7F82}" srcOrd="2" destOrd="0" parTransId="{0DC022FD-94E7-4DEF-9EB5-64BCAFB7C74C}" sibTransId="{4A31B6DD-26A7-40DF-8D62-D90FBFCE1AA5}"/>
    <dgm:cxn modelId="{5102BF19-4497-479A-9CEE-4EC091CAFAF7}" srcId="{4DF4949D-A884-46A6-8B6B-C388719C5BB0}" destId="{9E971D18-6DB2-4DE4-B6BE-7EC03C625007}" srcOrd="3" destOrd="0" parTransId="{79C94CB8-F64E-47DB-8BD3-123141257CE2}" sibTransId="{90113110-DAB6-422B-AE3B-C714681DA1CD}"/>
    <dgm:cxn modelId="{FD5D3B58-B2BF-4F6C-83D0-455743FA5DA3}" type="presOf" srcId="{1CAD07B7-5A67-4B98-897E-70B601DC0645}" destId="{5C0E9181-0B1E-4294-8F3A-5B935D88A68F}" srcOrd="0" destOrd="0" presId="urn:microsoft.com/office/officeart/2005/8/layout/chevron2"/>
    <dgm:cxn modelId="{1937F77E-C07E-446D-B968-4A6436A3B17D}" type="presOf" srcId="{CF1EF526-8C64-4BE4-8D8C-47FB654EECEC}" destId="{5DF64937-B8DE-42A7-BD1E-25B55547924E}" srcOrd="0" destOrd="0" presId="urn:microsoft.com/office/officeart/2005/8/layout/chevron2"/>
    <dgm:cxn modelId="{7DA9A1AA-BDE8-44CC-A7B6-E2BC180D9246}" srcId="{D85E5FD3-CE07-4412-BA27-D4F2CE1B7F82}" destId="{A5DF6B1A-4E6B-419C-AEB1-9269C63DD763}" srcOrd="3" destOrd="0" parTransId="{1F52E4BA-ACEE-47A7-9363-3F13433F0EF9}" sibTransId="{0E658379-B112-4963-9397-03B06C3043D2}"/>
    <dgm:cxn modelId="{0DBB5BE1-A693-46F2-AAF7-EB09E449B3FB}" srcId="{4DF4949D-A884-46A6-8B6B-C388719C5BB0}" destId="{9FFA031F-A96E-4EBA-9DD9-3814D9E0CD8C}" srcOrd="2" destOrd="0" parTransId="{950F4C16-9166-4761-AF8F-315BBBA81A47}" sibTransId="{22848A74-07DF-4B28-9D51-4033620B5E17}"/>
    <dgm:cxn modelId="{5148E083-9BBE-4EA3-BB98-2BFEFD431331}" type="presParOf" srcId="{5C0E9181-0B1E-4294-8F3A-5B935D88A68F}" destId="{FBE38670-25C4-4262-AD96-5FE3A5076DBA}" srcOrd="0" destOrd="0" presId="urn:microsoft.com/office/officeart/2005/8/layout/chevron2"/>
    <dgm:cxn modelId="{CF1DCDC0-37C4-41A6-B29B-456621140719}" type="presParOf" srcId="{FBE38670-25C4-4262-AD96-5FE3A5076DBA}" destId="{61F820A7-1C5D-4555-88DE-B4CACB6E2851}" srcOrd="0" destOrd="0" presId="urn:microsoft.com/office/officeart/2005/8/layout/chevron2"/>
    <dgm:cxn modelId="{881A1395-3AF7-410C-AA6B-90530F14740F}" type="presParOf" srcId="{FBE38670-25C4-4262-AD96-5FE3A5076DBA}" destId="{B5566727-F96E-45AA-AABC-306A386CCAED}" srcOrd="1" destOrd="0" presId="urn:microsoft.com/office/officeart/2005/8/layout/chevron2"/>
    <dgm:cxn modelId="{9B81C3C8-CEEF-4F03-88F9-85D4205E0FAC}" type="presParOf" srcId="{5C0E9181-0B1E-4294-8F3A-5B935D88A68F}" destId="{337C7545-720D-4DAE-86FE-CAFC01830348}" srcOrd="1" destOrd="0" presId="urn:microsoft.com/office/officeart/2005/8/layout/chevron2"/>
    <dgm:cxn modelId="{D2F4C9BA-987B-4DA5-9E32-0EC5F9A7D79B}" type="presParOf" srcId="{5C0E9181-0B1E-4294-8F3A-5B935D88A68F}" destId="{B3F9E867-368B-4506-9CA3-65036A771B0B}" srcOrd="2" destOrd="0" presId="urn:microsoft.com/office/officeart/2005/8/layout/chevron2"/>
    <dgm:cxn modelId="{A7B4D1A5-A40F-4518-9AD7-380C2358CA4B}" type="presParOf" srcId="{B3F9E867-368B-4506-9CA3-65036A771B0B}" destId="{5DF64937-B8DE-42A7-BD1E-25B55547924E}" srcOrd="0" destOrd="0" presId="urn:microsoft.com/office/officeart/2005/8/layout/chevron2"/>
    <dgm:cxn modelId="{6B5C2D8E-C7E7-4940-89B7-9D36474777A7}" type="presParOf" srcId="{B3F9E867-368B-4506-9CA3-65036A771B0B}" destId="{D2F23E94-6524-443A-A564-E4F5C60C89CA}" srcOrd="1" destOrd="0" presId="urn:microsoft.com/office/officeart/2005/8/layout/chevron2"/>
    <dgm:cxn modelId="{FA10B0AF-CEB2-4DBD-A0B6-67DFAD330CCD}" type="presParOf" srcId="{5C0E9181-0B1E-4294-8F3A-5B935D88A68F}" destId="{5C44DD23-D736-440E-B099-7B70780855C5}" srcOrd="3" destOrd="0" presId="urn:microsoft.com/office/officeart/2005/8/layout/chevron2"/>
    <dgm:cxn modelId="{E531C799-78DA-4F76-8305-1B6619F8C406}" type="presParOf" srcId="{5C0E9181-0B1E-4294-8F3A-5B935D88A68F}" destId="{F7898957-3ED4-43BA-A95A-2DAB5DA2EDFC}" srcOrd="4" destOrd="0" presId="urn:microsoft.com/office/officeart/2005/8/layout/chevron2"/>
    <dgm:cxn modelId="{AC3745E3-E63C-41D1-B170-5106FAABB04D}" type="presParOf" srcId="{F7898957-3ED4-43BA-A95A-2DAB5DA2EDFC}" destId="{CBF4BD7A-055C-483C-AA6D-E18ACABFE96E}" srcOrd="0" destOrd="0" presId="urn:microsoft.com/office/officeart/2005/8/layout/chevron2"/>
    <dgm:cxn modelId="{CBCFBCF1-3EE0-4286-A914-9341C3E0A5E8}" type="presParOf" srcId="{F7898957-3ED4-43BA-A95A-2DAB5DA2EDFC}" destId="{5275075F-2FDE-42CB-BEF8-9A3D29B5C7C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AD07B7-5A67-4B98-897E-70B601DC0645}" type="doc">
      <dgm:prSet loTypeId="urn:microsoft.com/office/officeart/2005/8/layout/chevron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4DF4949D-A884-46A6-8B6B-C388719C5BB0}">
      <dgm:prSet phldrT="[文本]" custT="1"/>
      <dgm:spPr/>
      <dgm:t>
        <a:bodyPr/>
        <a:lstStyle/>
        <a:p>
          <a:r>
            <a:rPr lang="zh-CN" altLang="en-US" sz="2000" b="1" dirty="0">
              <a:latin typeface="等线" panose="02010600030101010101" pitchFamily="2" charset="-122"/>
              <a:ea typeface="等线" panose="02010600030101010101" pitchFamily="2" charset="-122"/>
            </a:rPr>
            <a:t>课前预习</a:t>
          </a:r>
        </a:p>
      </dgm:t>
    </dgm:pt>
    <dgm:pt modelId="{A0081E25-88A9-4734-9873-DC002CB1F736}" cxnId="{60B44A74-AB9C-48D9-A347-93F09756258C}" type="parTrans">
      <dgm:prSet/>
      <dgm:spPr/>
      <dgm:t>
        <a:bodyPr/>
        <a:lstStyle/>
        <a:p>
          <a:endParaRPr lang="zh-CN" altLang="en-US"/>
        </a:p>
      </dgm:t>
    </dgm:pt>
    <dgm:pt modelId="{61EDE898-0554-4BA8-AEC6-BA7B27DF446F}" cxnId="{60B44A74-AB9C-48D9-A347-93F09756258C}" type="sibTrans">
      <dgm:prSet/>
      <dgm:spPr/>
      <dgm:t>
        <a:bodyPr/>
        <a:lstStyle/>
        <a:p>
          <a:endParaRPr lang="zh-CN" altLang="en-US"/>
        </a:p>
      </dgm:t>
    </dgm:pt>
    <dgm:pt modelId="{73A61515-2E3C-411A-B3B1-24531774218B}">
      <dgm:prSet phldrT="[文本]" custT="1"/>
      <dgm:spPr/>
      <dgm:t>
        <a:bodyPr/>
        <a:lstStyle/>
        <a:p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明确实验目的与要求</a:t>
          </a:r>
          <a:endParaRPr lang="zh-CN" altLang="en-US" sz="1600" dirty="0">
            <a:latin typeface="等线" panose="02010600030101010101" pitchFamily="2" charset="-122"/>
            <a:ea typeface="等线" panose="02010600030101010101" pitchFamily="2" charset="-122"/>
          </a:endParaRPr>
        </a:p>
      </dgm:t>
    </dgm:pt>
    <dgm:pt modelId="{79C24A09-F1F2-4F91-8C3D-CFD888745E56}" cxnId="{CB7A3364-A803-47C0-A672-6D825F1E645A}" type="parTrans">
      <dgm:prSet/>
      <dgm:spPr/>
      <dgm:t>
        <a:bodyPr/>
        <a:lstStyle/>
        <a:p>
          <a:endParaRPr lang="zh-CN" altLang="en-US"/>
        </a:p>
      </dgm:t>
    </dgm:pt>
    <dgm:pt modelId="{E0BFC517-983A-4C43-8C05-E695243595F3}" cxnId="{CB7A3364-A803-47C0-A672-6D825F1E645A}" type="sibTrans">
      <dgm:prSet/>
      <dgm:spPr/>
      <dgm:t>
        <a:bodyPr/>
        <a:lstStyle/>
        <a:p>
          <a:endParaRPr lang="zh-CN" altLang="en-US"/>
        </a:p>
      </dgm:t>
    </dgm:pt>
    <dgm:pt modelId="{0D67B88B-C3A0-44F7-B01F-BC5981192E17}">
      <dgm:prSet custT="1"/>
      <dgm:spPr/>
      <dgm:t>
        <a:bodyPr/>
        <a:lstStyle/>
        <a:p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了解实验原理，设计电路并绘制原理图</a:t>
          </a:r>
        </a:p>
      </dgm:t>
    </dgm:pt>
    <dgm:pt modelId="{4C67075D-12CE-498B-9024-8AF97501E766}" cxnId="{C154D3F2-9B1C-4506-BD09-EDF3451FCFE5}" type="parTrans">
      <dgm:prSet/>
      <dgm:spPr/>
      <dgm:t>
        <a:bodyPr/>
        <a:lstStyle/>
        <a:p>
          <a:endParaRPr lang="zh-CN" altLang="en-US"/>
        </a:p>
      </dgm:t>
    </dgm:pt>
    <dgm:pt modelId="{A8415271-1A10-4E3B-9133-454071565490}" cxnId="{C154D3F2-9B1C-4506-BD09-EDF3451FCFE5}" type="sibTrans">
      <dgm:prSet/>
      <dgm:spPr/>
      <dgm:t>
        <a:bodyPr/>
        <a:lstStyle/>
        <a:p>
          <a:endParaRPr lang="zh-CN" altLang="en-US"/>
        </a:p>
      </dgm:t>
    </dgm:pt>
    <dgm:pt modelId="{9FFA031F-A96E-4EBA-9DD9-3814D9E0CD8C}">
      <dgm:prSet custT="1"/>
      <dgm:spPr/>
      <dgm:t>
        <a:bodyPr/>
        <a:lstStyle/>
        <a:p>
          <a:r>
            <a:rPr lang="zh-CN" altLang="en-US" sz="16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rPr>
            <a:t>提前安装实验电路</a:t>
          </a:r>
        </a:p>
      </dgm:t>
    </dgm:pt>
    <dgm:pt modelId="{950F4C16-9166-4761-AF8F-315BBBA81A47}" cxnId="{454C8F28-171B-4458-B5B2-F7A3A34F8274}" type="parTrans">
      <dgm:prSet/>
      <dgm:spPr/>
      <dgm:t>
        <a:bodyPr/>
        <a:lstStyle/>
        <a:p>
          <a:endParaRPr lang="zh-CN" altLang="en-US"/>
        </a:p>
      </dgm:t>
    </dgm:pt>
    <dgm:pt modelId="{22848A74-07DF-4B28-9D51-4033620B5E17}" cxnId="{454C8F28-171B-4458-B5B2-F7A3A34F8274}" type="sibTrans">
      <dgm:prSet/>
      <dgm:spPr/>
      <dgm:t>
        <a:bodyPr/>
        <a:lstStyle/>
        <a:p>
          <a:endParaRPr lang="zh-CN" altLang="en-US"/>
        </a:p>
      </dgm:t>
    </dgm:pt>
    <dgm:pt modelId="{9E971D18-6DB2-4DE4-B6BE-7EC03C625007}">
      <dgm:prSet custT="1"/>
      <dgm:spPr/>
      <dgm:t>
        <a:bodyPr/>
        <a:lstStyle/>
        <a:p>
          <a:r>
            <a:rPr lang="zh-CN" altLang="en-US" sz="1600" b="1" dirty="0" smtClean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rPr>
            <a:t>撰写预习报告</a:t>
          </a:r>
          <a:endParaRPr lang="zh-CN" altLang="en-US" sz="1600" b="1" dirty="0">
            <a:solidFill>
              <a:srgbClr val="FF0000"/>
            </a:solidFill>
            <a:latin typeface="等线" panose="02010600030101010101" pitchFamily="2" charset="-122"/>
            <a:ea typeface="等线" panose="02010600030101010101" pitchFamily="2" charset="-122"/>
          </a:endParaRPr>
        </a:p>
      </dgm:t>
    </dgm:pt>
    <dgm:pt modelId="{79C94CB8-F64E-47DB-8BD3-123141257CE2}" cxnId="{175DBD27-CCB3-4601-AC95-A022CDB1EAC7}" type="parTrans">
      <dgm:prSet/>
      <dgm:spPr/>
      <dgm:t>
        <a:bodyPr/>
        <a:lstStyle/>
        <a:p>
          <a:endParaRPr lang="zh-CN" altLang="en-US"/>
        </a:p>
      </dgm:t>
    </dgm:pt>
    <dgm:pt modelId="{90113110-DAB6-422B-AE3B-C714681DA1CD}" cxnId="{175DBD27-CCB3-4601-AC95-A022CDB1EAC7}" type="sibTrans">
      <dgm:prSet/>
      <dgm:spPr/>
      <dgm:t>
        <a:bodyPr/>
        <a:lstStyle/>
        <a:p>
          <a:endParaRPr lang="zh-CN" altLang="en-US"/>
        </a:p>
      </dgm:t>
    </dgm:pt>
    <dgm:pt modelId="{72EB4D64-6284-41E8-9EEB-F939D17F7EA3}">
      <dgm:prSet custT="1"/>
      <dgm:spPr/>
      <dgm:t>
        <a:bodyPr/>
        <a:lstStyle/>
        <a:p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完成</a:t>
          </a:r>
          <a:r>
            <a:rPr lang="en-US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MOOC</a:t>
          </a:r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相关单元学习</a:t>
          </a:r>
        </a:p>
      </dgm:t>
    </dgm:pt>
    <dgm:pt modelId="{EF1D55D3-1FC4-4959-86BA-502CE3CEFA9C}" cxnId="{01FE123B-2C11-4B1F-A628-C5A164EAFCC9}" type="parTrans">
      <dgm:prSet/>
      <dgm:spPr/>
      <dgm:t>
        <a:bodyPr/>
        <a:lstStyle/>
        <a:p>
          <a:endParaRPr lang="zh-CN" altLang="en-US"/>
        </a:p>
      </dgm:t>
    </dgm:pt>
    <dgm:pt modelId="{906D7C82-F4D0-47D8-B55D-3B9EA4BAD6E2}" cxnId="{01FE123B-2C11-4B1F-A628-C5A164EAFCC9}" type="sibTrans">
      <dgm:prSet/>
      <dgm:spPr/>
      <dgm:t>
        <a:bodyPr/>
        <a:lstStyle/>
        <a:p>
          <a:endParaRPr lang="zh-CN" altLang="en-US"/>
        </a:p>
      </dgm:t>
    </dgm:pt>
    <dgm:pt modelId="{CF1EF526-8C64-4BE4-8D8C-47FB654EECEC}">
      <dgm:prSet phldrT="[文本]" custT="1"/>
      <dgm:spPr/>
      <dgm:t>
        <a:bodyPr/>
        <a:lstStyle/>
        <a:p>
          <a:r>
            <a:rPr lang="zh-CN" altLang="zh-CN" sz="2000" b="1" dirty="0">
              <a:latin typeface="等线" panose="02010600030101010101" pitchFamily="2" charset="-122"/>
              <a:ea typeface="等线" panose="02010600030101010101" pitchFamily="2" charset="-122"/>
            </a:rPr>
            <a:t>课上</a:t>
          </a:r>
          <a:r>
            <a:rPr lang="zh-CN" altLang="en-US" sz="2000" b="1" dirty="0">
              <a:latin typeface="等线" panose="02010600030101010101" pitchFamily="2" charset="-122"/>
              <a:ea typeface="等线" panose="02010600030101010101" pitchFamily="2" charset="-122"/>
            </a:rPr>
            <a:t>搭建、验收电路</a:t>
          </a:r>
        </a:p>
      </dgm:t>
    </dgm:pt>
    <dgm:pt modelId="{2BB0E493-0B94-49E9-89AF-4DBF116023D9}" cxnId="{27B9377B-2F55-4EBB-8929-57263A16A255}" type="parTrans">
      <dgm:prSet/>
      <dgm:spPr/>
      <dgm:t>
        <a:bodyPr/>
        <a:lstStyle/>
        <a:p>
          <a:endParaRPr lang="zh-CN" altLang="en-US"/>
        </a:p>
      </dgm:t>
    </dgm:pt>
    <dgm:pt modelId="{A28B0AB7-F891-4BF0-904D-8CCB0629FBA3}" cxnId="{27B9377B-2F55-4EBB-8929-57263A16A255}" type="sibTrans">
      <dgm:prSet/>
      <dgm:spPr/>
      <dgm:t>
        <a:bodyPr/>
        <a:lstStyle/>
        <a:p>
          <a:endParaRPr lang="zh-CN" altLang="en-US"/>
        </a:p>
      </dgm:t>
    </dgm:pt>
    <dgm:pt modelId="{E541E0D0-F6BB-4332-A305-AF014DFCB6F0}">
      <dgm:prSet phldrT="[文本]" custT="1"/>
      <dgm:spPr/>
      <dgm:t>
        <a:bodyPr/>
        <a:lstStyle/>
        <a:p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搭建实验测试平台 </a:t>
          </a:r>
          <a:r>
            <a:rPr lang="en-US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— </a:t>
          </a:r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测试方法的设计</a:t>
          </a:r>
        </a:p>
      </dgm:t>
    </dgm:pt>
    <dgm:pt modelId="{486271B4-4EA2-492F-8F10-C6AA7D040349}" cxnId="{E6CDF799-AA58-4CE3-ABA5-BEE0B595EA6B}" type="parTrans">
      <dgm:prSet/>
      <dgm:spPr/>
      <dgm:t>
        <a:bodyPr/>
        <a:lstStyle/>
        <a:p>
          <a:endParaRPr lang="zh-CN" altLang="en-US"/>
        </a:p>
      </dgm:t>
    </dgm:pt>
    <dgm:pt modelId="{14A2D7F3-7DAD-4324-B685-B33C7A9F9E25}" cxnId="{E6CDF799-AA58-4CE3-ABA5-BEE0B595EA6B}" type="sibTrans">
      <dgm:prSet/>
      <dgm:spPr/>
      <dgm:t>
        <a:bodyPr/>
        <a:lstStyle/>
        <a:p>
          <a:endParaRPr lang="zh-CN" altLang="en-US"/>
        </a:p>
      </dgm:t>
    </dgm:pt>
    <dgm:pt modelId="{371D62EB-3B4B-4038-8336-A065DE0F02AF}">
      <dgm:prSet custT="1"/>
      <dgm:spPr/>
      <dgm:t>
        <a:bodyPr/>
        <a:lstStyle/>
        <a:p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观察并记录实验现象与结果 </a:t>
          </a:r>
          <a:r>
            <a:rPr lang="en-US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— </a:t>
          </a:r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仪器使用</a:t>
          </a:r>
        </a:p>
      </dgm:t>
    </dgm:pt>
    <dgm:pt modelId="{B3A70365-A081-4073-9259-F88913B30873}" cxnId="{C743AF25-E6D9-4F95-9BCD-7C39E878AF03}" type="parTrans">
      <dgm:prSet/>
      <dgm:spPr/>
      <dgm:t>
        <a:bodyPr/>
        <a:lstStyle/>
        <a:p>
          <a:endParaRPr lang="zh-CN" altLang="en-US"/>
        </a:p>
      </dgm:t>
    </dgm:pt>
    <dgm:pt modelId="{344B725D-C6FB-4887-84B4-E6EE1DA87A53}" cxnId="{C743AF25-E6D9-4F95-9BCD-7C39E878AF03}" type="sibTrans">
      <dgm:prSet/>
      <dgm:spPr/>
      <dgm:t>
        <a:bodyPr/>
        <a:lstStyle/>
        <a:p>
          <a:endParaRPr lang="zh-CN" altLang="en-US"/>
        </a:p>
      </dgm:t>
    </dgm:pt>
    <dgm:pt modelId="{42932BE8-3CCF-4DF5-9D8E-ABC8DE3E9E26}">
      <dgm:prSet custT="1"/>
      <dgm:spPr/>
      <dgm:t>
        <a:bodyPr/>
        <a:lstStyle/>
        <a:p>
          <a:r>
            <a:rPr lang="zh-CN" altLang="en-US" sz="1600" b="1" dirty="0" smtClean="0">
              <a:latin typeface="等线" panose="02010600030101010101" pitchFamily="2" charset="-122"/>
              <a:ea typeface="等线" panose="02010600030101010101" pitchFamily="2" charset="-122"/>
            </a:rPr>
            <a:t>通过验收并回答老师提问</a:t>
          </a:r>
          <a:endParaRPr lang="zh-CN" altLang="en-US" sz="1600" b="1" dirty="0">
            <a:latin typeface="等线" panose="02010600030101010101" pitchFamily="2" charset="-122"/>
            <a:ea typeface="等线" panose="02010600030101010101" pitchFamily="2" charset="-122"/>
          </a:endParaRPr>
        </a:p>
      </dgm:t>
    </dgm:pt>
    <dgm:pt modelId="{AFB40A2C-0270-4F5E-8BC6-630EE1A08045}" cxnId="{D114782C-9B72-4678-B90C-80F51CB4FB85}" type="parTrans">
      <dgm:prSet/>
      <dgm:spPr/>
      <dgm:t>
        <a:bodyPr/>
        <a:lstStyle/>
        <a:p>
          <a:endParaRPr lang="zh-CN" altLang="en-US"/>
        </a:p>
      </dgm:t>
    </dgm:pt>
    <dgm:pt modelId="{AC824B88-9930-4BDF-BFA3-BE39ADBD4A33}" cxnId="{D114782C-9B72-4678-B90C-80F51CB4FB85}" type="sibTrans">
      <dgm:prSet/>
      <dgm:spPr/>
      <dgm:t>
        <a:bodyPr/>
        <a:lstStyle/>
        <a:p>
          <a:endParaRPr lang="zh-CN" altLang="en-US"/>
        </a:p>
      </dgm:t>
    </dgm:pt>
    <dgm:pt modelId="{D85E5FD3-CE07-4412-BA27-D4F2CE1B7F82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>
              <a:latin typeface="等线" panose="02010600030101010101" pitchFamily="2" charset="-122"/>
              <a:ea typeface="等线" panose="02010600030101010101" pitchFamily="2" charset="-122"/>
            </a:rPr>
            <a:t>课</a:t>
          </a:r>
          <a:r>
            <a:rPr lang="zh-CN" altLang="en-US" sz="20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sym typeface="+mn-ea"/>
            </a:rPr>
            <a:t>课后完成报告</a:t>
          </a:r>
          <a:r>
            <a:rPr lang="zh-CN" altLang="en-US" sz="20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rPr>
            <a:t>后完成报告</a:t>
          </a:r>
          <a:r>
            <a:rPr lang="zh-CN" altLang="en-US" sz="20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rPr>
            <a:t/>
          </a:r>
          <a:endParaRPr lang="zh-CN" altLang="en-US" sz="2000" b="1" dirty="0">
            <a:solidFill>
              <a:schemeClr val="tx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</dgm:t>
    </dgm:pt>
    <dgm:pt modelId="{0DC022FD-94E7-4DEF-9EB5-64BCAFB7C74C}" cxnId="{ED6F9EC4-F18A-41E7-9A82-0DE04D491BBB}" type="parTrans">
      <dgm:prSet/>
      <dgm:spPr/>
      <dgm:t>
        <a:bodyPr/>
        <a:lstStyle/>
        <a:p>
          <a:endParaRPr lang="zh-CN" altLang="en-US"/>
        </a:p>
      </dgm:t>
    </dgm:pt>
    <dgm:pt modelId="{4A31B6DD-26A7-40DF-8D62-D90FBFCE1AA5}" cxnId="{ED6F9EC4-F18A-41E7-9A82-0DE04D491BBB}" type="sibTrans">
      <dgm:prSet/>
      <dgm:spPr/>
      <dgm:t>
        <a:bodyPr/>
        <a:lstStyle/>
        <a:p>
          <a:endParaRPr lang="zh-CN" altLang="en-US"/>
        </a:p>
      </dgm:t>
    </dgm:pt>
    <dgm:pt modelId="{A464BFA8-009B-44EC-9F30-21C5352CB1FA}">
      <dgm:prSet custT="1"/>
      <dgm:spPr/>
      <dgm:t>
        <a:bodyPr/>
        <a:lstStyle/>
        <a:p>
          <a:r>
            <a:rPr lang="zh-CN" altLang="en-US" sz="16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rPr>
            <a:t>实验报告要求用报告纸手写，格式内容规范</a:t>
          </a:r>
        </a:p>
      </dgm:t>
    </dgm:pt>
    <dgm:pt modelId="{A05C2DC3-E00B-4A17-8CB9-51795FBE640E}" cxnId="{AA38DF41-8A4A-4508-8BF4-F3BD1BEEB3E7}" type="parTrans">
      <dgm:prSet/>
      <dgm:spPr/>
      <dgm:t>
        <a:bodyPr/>
        <a:lstStyle/>
        <a:p>
          <a:endParaRPr lang="zh-CN" altLang="en-US"/>
        </a:p>
      </dgm:t>
    </dgm:pt>
    <dgm:pt modelId="{3E549644-6290-4D96-9F41-15475026BFC1}" cxnId="{AA38DF41-8A4A-4508-8BF4-F3BD1BEEB3E7}" type="sibTrans">
      <dgm:prSet/>
      <dgm:spPr/>
      <dgm:t>
        <a:bodyPr/>
        <a:lstStyle/>
        <a:p>
          <a:endParaRPr lang="zh-CN" altLang="en-US"/>
        </a:p>
      </dgm:t>
    </dgm:pt>
    <dgm:pt modelId="{01CBA102-9D95-41B9-AF10-1CEAE8F1729A}">
      <dgm:prSet custT="1"/>
      <dgm:spPr/>
      <dgm:t>
        <a:bodyPr/>
        <a:lstStyle/>
        <a:p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对实验数据进行处理，绘制图、表或波形。</a:t>
          </a:r>
        </a:p>
      </dgm:t>
    </dgm:pt>
    <dgm:pt modelId="{A721301B-2997-476A-AC6B-1F3F462B1B11}" cxnId="{4FF8EE6C-6042-47BE-BCD5-19E581E80FE2}" type="parTrans">
      <dgm:prSet/>
      <dgm:spPr/>
      <dgm:t>
        <a:bodyPr/>
        <a:lstStyle/>
        <a:p>
          <a:endParaRPr lang="zh-CN" altLang="en-US"/>
        </a:p>
      </dgm:t>
    </dgm:pt>
    <dgm:pt modelId="{B9C181BE-DA30-4A69-9FD0-3893AE7C25B8}" cxnId="{4FF8EE6C-6042-47BE-BCD5-19E581E80FE2}" type="sibTrans">
      <dgm:prSet/>
      <dgm:spPr/>
      <dgm:t>
        <a:bodyPr/>
        <a:lstStyle/>
        <a:p>
          <a:endParaRPr lang="zh-CN" altLang="en-US"/>
        </a:p>
      </dgm:t>
    </dgm:pt>
    <dgm:pt modelId="{36616A97-17B4-4F13-B583-32316D1558FF}">
      <dgm:prSet custT="1"/>
      <dgm:spPr/>
      <dgm:t>
        <a:bodyPr/>
        <a:lstStyle/>
        <a:p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写出个人的实验心得体会</a:t>
          </a:r>
        </a:p>
      </dgm:t>
    </dgm:pt>
    <dgm:pt modelId="{77B4B297-6C49-4A2E-9399-1D25E2289FF8}" cxnId="{B822D000-45ED-46FB-93D4-09DC72FEC00B}" type="parTrans">
      <dgm:prSet/>
      <dgm:spPr/>
      <dgm:t>
        <a:bodyPr/>
        <a:lstStyle/>
        <a:p>
          <a:endParaRPr lang="zh-CN" altLang="en-US"/>
        </a:p>
      </dgm:t>
    </dgm:pt>
    <dgm:pt modelId="{858164C8-9BA1-4CCB-BE1E-3D119989F197}" cxnId="{B822D000-45ED-46FB-93D4-09DC72FEC00B}" type="sibTrans">
      <dgm:prSet/>
      <dgm:spPr/>
      <dgm:t>
        <a:bodyPr/>
        <a:lstStyle/>
        <a:p>
          <a:endParaRPr lang="zh-CN" altLang="en-US"/>
        </a:p>
      </dgm:t>
    </dgm:pt>
    <dgm:pt modelId="{A5DF6B1A-4E6B-419C-AEB1-9269C63DD763}">
      <dgm:prSet custT="1"/>
      <dgm:spPr/>
      <dgm:t>
        <a:bodyPr/>
        <a:lstStyle/>
        <a:p>
          <a:r>
            <a: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rPr>
            <a:t>回答思考题</a:t>
          </a:r>
        </a:p>
      </dgm:t>
    </dgm:pt>
    <dgm:pt modelId="{1F52E4BA-ACEE-47A7-9363-3F13433F0EF9}" cxnId="{EB4A5B46-18B1-4834-A4D5-DA532F218237}" type="parTrans">
      <dgm:prSet/>
      <dgm:spPr/>
      <dgm:t>
        <a:bodyPr/>
        <a:lstStyle/>
        <a:p>
          <a:endParaRPr lang="zh-CN" altLang="en-US"/>
        </a:p>
      </dgm:t>
    </dgm:pt>
    <dgm:pt modelId="{0E658379-B112-4963-9397-03B06C3043D2}" cxnId="{EB4A5B46-18B1-4834-A4D5-DA532F218237}" type="sibTrans">
      <dgm:prSet/>
      <dgm:spPr/>
      <dgm:t>
        <a:bodyPr/>
        <a:lstStyle/>
        <a:p>
          <a:endParaRPr lang="zh-CN" altLang="en-US"/>
        </a:p>
      </dgm:t>
    </dgm:pt>
    <dgm:pt modelId="{5C0E9181-0B1E-4294-8F3A-5B935D88A68F}" type="pres">
      <dgm:prSet presAssocID="{1CAD07B7-5A67-4B98-897E-70B601DC0645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BE38670-25C4-4262-AD96-5FE3A5076DBA}" type="pres">
      <dgm:prSet presAssocID="{4DF4949D-A884-46A6-8B6B-C388719C5BB0}" presName="composite" presStyleCnt="0"/>
      <dgm:spPr/>
    </dgm:pt>
    <dgm:pt modelId="{61F820A7-1C5D-4555-88DE-B4CACB6E2851}" type="pres">
      <dgm:prSet presAssocID="{4DF4949D-A884-46A6-8B6B-C388719C5BB0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566727-F96E-45AA-AABC-306A386CCAED}" type="pres">
      <dgm:prSet presAssocID="{4DF4949D-A884-46A6-8B6B-C388719C5BB0}" presName="descendantText" presStyleLbl="alignAcc1" presStyleIdx="0" presStyleCnt="3" custScaleY="12142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37C7545-720D-4DAE-86FE-CAFC01830348}" type="pres">
      <dgm:prSet presAssocID="{61EDE898-0554-4BA8-AEC6-BA7B27DF446F}" presName="sp" presStyleCnt="0"/>
      <dgm:spPr/>
    </dgm:pt>
    <dgm:pt modelId="{B3F9E867-368B-4506-9CA3-65036A771B0B}" type="pres">
      <dgm:prSet presAssocID="{CF1EF526-8C64-4BE4-8D8C-47FB654EECEC}" presName="composite" presStyleCnt="0"/>
      <dgm:spPr/>
    </dgm:pt>
    <dgm:pt modelId="{5DF64937-B8DE-42A7-BD1E-25B55547924E}" type="pres">
      <dgm:prSet presAssocID="{CF1EF526-8C64-4BE4-8D8C-47FB654EECEC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2F23E94-6524-443A-A564-E4F5C60C89CA}" type="pres">
      <dgm:prSet presAssocID="{CF1EF526-8C64-4BE4-8D8C-47FB654EECEC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C44DD23-D736-440E-B099-7B70780855C5}" type="pres">
      <dgm:prSet presAssocID="{A28B0AB7-F891-4BF0-904D-8CCB0629FBA3}" presName="sp" presStyleCnt="0"/>
      <dgm:spPr/>
    </dgm:pt>
    <dgm:pt modelId="{F7898957-3ED4-43BA-A95A-2DAB5DA2EDFC}" type="pres">
      <dgm:prSet presAssocID="{D85E5FD3-CE07-4412-BA27-D4F2CE1B7F82}" presName="composite" presStyleCnt="0"/>
      <dgm:spPr/>
    </dgm:pt>
    <dgm:pt modelId="{CBF4BD7A-055C-483C-AA6D-E18ACABFE96E}" type="pres">
      <dgm:prSet presAssocID="{D85E5FD3-CE07-4412-BA27-D4F2CE1B7F82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275075F-2FDE-42CB-BEF8-9A3D29B5C7C8}" type="pres">
      <dgm:prSet presAssocID="{D85E5FD3-CE07-4412-BA27-D4F2CE1B7F82}" presName="descendantText" presStyleLbl="alignAcc1" presStyleIdx="2" presStyleCnt="3" custScaleY="11993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0B44A74-AB9C-48D9-A347-93F09756258C}" srcId="{1CAD07B7-5A67-4B98-897E-70B601DC0645}" destId="{4DF4949D-A884-46A6-8B6B-C388719C5BB0}" srcOrd="0" destOrd="0" parTransId="{A0081E25-88A9-4734-9873-DC002CB1F736}" sibTransId="{61EDE898-0554-4BA8-AEC6-BA7B27DF446F}"/>
    <dgm:cxn modelId="{CB7A3364-A803-47C0-A672-6D825F1E645A}" srcId="{4DF4949D-A884-46A6-8B6B-C388719C5BB0}" destId="{73A61515-2E3C-411A-B3B1-24531774218B}" srcOrd="0" destOrd="0" parTransId="{79C24A09-F1F2-4F91-8C3D-CFD888745E56}" sibTransId="{E0BFC517-983A-4C43-8C05-E695243595F3}"/>
    <dgm:cxn modelId="{C154D3F2-9B1C-4506-BD09-EDF3451FCFE5}" srcId="{4DF4949D-A884-46A6-8B6B-C388719C5BB0}" destId="{0D67B88B-C3A0-44F7-B01F-BC5981192E17}" srcOrd="1" destOrd="0" parTransId="{4C67075D-12CE-498B-9024-8AF97501E766}" sibTransId="{A8415271-1A10-4E3B-9133-454071565490}"/>
    <dgm:cxn modelId="{454C8F28-171B-4458-B5B2-F7A3A34F8274}" srcId="{4DF4949D-A884-46A6-8B6B-C388719C5BB0}" destId="{9FFA031F-A96E-4EBA-9DD9-3814D9E0CD8C}" srcOrd="2" destOrd="0" parTransId="{950F4C16-9166-4761-AF8F-315BBBA81A47}" sibTransId="{22848A74-07DF-4B28-9D51-4033620B5E17}"/>
    <dgm:cxn modelId="{175DBD27-CCB3-4601-AC95-A022CDB1EAC7}" srcId="{4DF4949D-A884-46A6-8B6B-C388719C5BB0}" destId="{9E971D18-6DB2-4DE4-B6BE-7EC03C625007}" srcOrd="3" destOrd="0" parTransId="{79C94CB8-F64E-47DB-8BD3-123141257CE2}" sibTransId="{90113110-DAB6-422B-AE3B-C714681DA1CD}"/>
    <dgm:cxn modelId="{01FE123B-2C11-4B1F-A628-C5A164EAFCC9}" srcId="{4DF4949D-A884-46A6-8B6B-C388719C5BB0}" destId="{72EB4D64-6284-41E8-9EEB-F939D17F7EA3}" srcOrd="4" destOrd="0" parTransId="{EF1D55D3-1FC4-4959-86BA-502CE3CEFA9C}" sibTransId="{906D7C82-F4D0-47D8-B55D-3B9EA4BAD6E2}"/>
    <dgm:cxn modelId="{27B9377B-2F55-4EBB-8929-57263A16A255}" srcId="{1CAD07B7-5A67-4B98-897E-70B601DC0645}" destId="{CF1EF526-8C64-4BE4-8D8C-47FB654EECEC}" srcOrd="1" destOrd="0" parTransId="{2BB0E493-0B94-49E9-89AF-4DBF116023D9}" sibTransId="{A28B0AB7-F891-4BF0-904D-8CCB0629FBA3}"/>
    <dgm:cxn modelId="{E6CDF799-AA58-4CE3-ABA5-BEE0B595EA6B}" srcId="{CF1EF526-8C64-4BE4-8D8C-47FB654EECEC}" destId="{E541E0D0-F6BB-4332-A305-AF014DFCB6F0}" srcOrd="0" destOrd="1" parTransId="{486271B4-4EA2-492F-8F10-C6AA7D040349}" sibTransId="{14A2D7F3-7DAD-4324-B685-B33C7A9F9E25}"/>
    <dgm:cxn modelId="{C743AF25-E6D9-4F95-9BCD-7C39E878AF03}" srcId="{CF1EF526-8C64-4BE4-8D8C-47FB654EECEC}" destId="{371D62EB-3B4B-4038-8336-A065DE0F02AF}" srcOrd="1" destOrd="1" parTransId="{B3A70365-A081-4073-9259-F88913B30873}" sibTransId="{344B725D-C6FB-4887-84B4-E6EE1DA87A53}"/>
    <dgm:cxn modelId="{D114782C-9B72-4678-B90C-80F51CB4FB85}" srcId="{CF1EF526-8C64-4BE4-8D8C-47FB654EECEC}" destId="{42932BE8-3CCF-4DF5-9D8E-ABC8DE3E9E26}" srcOrd="2" destOrd="1" parTransId="{AFB40A2C-0270-4F5E-8BC6-630EE1A08045}" sibTransId="{AC824B88-9930-4BDF-BFA3-BE39ADBD4A33}"/>
    <dgm:cxn modelId="{ED6F9EC4-F18A-41E7-9A82-0DE04D491BBB}" srcId="{1CAD07B7-5A67-4B98-897E-70B601DC0645}" destId="{D85E5FD3-CE07-4412-BA27-D4F2CE1B7F82}" srcOrd="2" destOrd="0" parTransId="{0DC022FD-94E7-4DEF-9EB5-64BCAFB7C74C}" sibTransId="{4A31B6DD-26A7-40DF-8D62-D90FBFCE1AA5}"/>
    <dgm:cxn modelId="{AA38DF41-8A4A-4508-8BF4-F3BD1BEEB3E7}" srcId="{D85E5FD3-CE07-4412-BA27-D4F2CE1B7F82}" destId="{A464BFA8-009B-44EC-9F30-21C5352CB1FA}" srcOrd="0" destOrd="2" parTransId="{A05C2DC3-E00B-4A17-8CB9-51795FBE640E}" sibTransId="{3E549644-6290-4D96-9F41-15475026BFC1}"/>
    <dgm:cxn modelId="{4FF8EE6C-6042-47BE-BCD5-19E581E80FE2}" srcId="{D85E5FD3-CE07-4412-BA27-D4F2CE1B7F82}" destId="{01CBA102-9D95-41B9-AF10-1CEAE8F1729A}" srcOrd="1" destOrd="2" parTransId="{A721301B-2997-476A-AC6B-1F3F462B1B11}" sibTransId="{B9C181BE-DA30-4A69-9FD0-3893AE7C25B8}"/>
    <dgm:cxn modelId="{B822D000-45ED-46FB-93D4-09DC72FEC00B}" srcId="{D85E5FD3-CE07-4412-BA27-D4F2CE1B7F82}" destId="{36616A97-17B4-4F13-B583-32316D1558FF}" srcOrd="2" destOrd="2" parTransId="{77B4B297-6C49-4A2E-9399-1D25E2289FF8}" sibTransId="{858164C8-9BA1-4CCB-BE1E-3D119989F197}"/>
    <dgm:cxn modelId="{EB4A5B46-18B1-4834-A4D5-DA532F218237}" srcId="{D85E5FD3-CE07-4412-BA27-D4F2CE1B7F82}" destId="{A5DF6B1A-4E6B-419C-AEB1-9269C63DD763}" srcOrd="3" destOrd="2" parTransId="{1F52E4BA-ACEE-47A7-9363-3F13433F0EF9}" sibTransId="{0E658379-B112-4963-9397-03B06C3043D2}"/>
    <dgm:cxn modelId="{4A3301BC-5BEA-48A7-8FC5-0683B1DEF6D9}" type="presOf" srcId="{1CAD07B7-5A67-4B98-897E-70B601DC0645}" destId="{5C0E9181-0B1E-4294-8F3A-5B935D88A68F}" srcOrd="0" destOrd="0" presId="urn:microsoft.com/office/officeart/2005/8/layout/chevron2"/>
    <dgm:cxn modelId="{25D657AF-FA4E-46B8-A721-D6236D6043AB}" type="presParOf" srcId="{5C0E9181-0B1E-4294-8F3A-5B935D88A68F}" destId="{FBE38670-25C4-4262-AD96-5FE3A5076DBA}" srcOrd="0" destOrd="0" presId="urn:microsoft.com/office/officeart/2005/8/layout/chevron2"/>
    <dgm:cxn modelId="{6EBB1E9D-AD6A-4272-A13B-3AB175F809FF}" type="presParOf" srcId="{FBE38670-25C4-4262-AD96-5FE3A5076DBA}" destId="{61F820A7-1C5D-4555-88DE-B4CACB6E2851}" srcOrd="0" destOrd="0" presId="urn:microsoft.com/office/officeart/2005/8/layout/chevron2"/>
    <dgm:cxn modelId="{1177BF99-D786-46BE-813F-DCE10D4F3509}" type="presOf" srcId="{4DF4949D-A884-46A6-8B6B-C388719C5BB0}" destId="{61F820A7-1C5D-4555-88DE-B4CACB6E2851}" srcOrd="0" destOrd="0" presId="urn:microsoft.com/office/officeart/2005/8/layout/chevron2"/>
    <dgm:cxn modelId="{ED4F7F99-5D91-4799-A7FF-C6B0404A3A5F}" type="presParOf" srcId="{FBE38670-25C4-4262-AD96-5FE3A5076DBA}" destId="{B5566727-F96E-45AA-AABC-306A386CCAED}" srcOrd="1" destOrd="0" presId="urn:microsoft.com/office/officeart/2005/8/layout/chevron2"/>
    <dgm:cxn modelId="{D1D24885-3C6A-48D8-AF61-5EB49F865A05}" type="presOf" srcId="{73A61515-2E3C-411A-B3B1-24531774218B}" destId="{B5566727-F96E-45AA-AABC-306A386CCAED}" srcOrd="0" destOrd="0" presId="urn:microsoft.com/office/officeart/2005/8/layout/chevron2"/>
    <dgm:cxn modelId="{F2496B5A-D56B-4976-A093-B3BB8874E351}" type="presOf" srcId="{0D67B88B-C3A0-44F7-B01F-BC5981192E17}" destId="{B5566727-F96E-45AA-AABC-306A386CCAED}" srcOrd="0" destOrd="1" presId="urn:microsoft.com/office/officeart/2005/8/layout/chevron2"/>
    <dgm:cxn modelId="{8D48387C-9F92-4820-8B01-88C2DDB1563D}" type="presOf" srcId="{9FFA031F-A96E-4EBA-9DD9-3814D9E0CD8C}" destId="{B5566727-F96E-45AA-AABC-306A386CCAED}" srcOrd="0" destOrd="2" presId="urn:microsoft.com/office/officeart/2005/8/layout/chevron2"/>
    <dgm:cxn modelId="{D9C30ADB-97F6-49F4-85A0-BF1FA6A9EC77}" type="presOf" srcId="{9E971D18-6DB2-4DE4-B6BE-7EC03C625007}" destId="{B5566727-F96E-45AA-AABC-306A386CCAED}" srcOrd="0" destOrd="3" presId="urn:microsoft.com/office/officeart/2005/8/layout/chevron2"/>
    <dgm:cxn modelId="{EF7BC75E-E0F7-475C-A783-66FEDE698483}" type="presOf" srcId="{72EB4D64-6284-41E8-9EEB-F939D17F7EA3}" destId="{B5566727-F96E-45AA-AABC-306A386CCAED}" srcOrd="0" destOrd="4" presId="urn:microsoft.com/office/officeart/2005/8/layout/chevron2"/>
    <dgm:cxn modelId="{CDE3E1FD-85EA-4122-AF95-FEF3A8610FE1}" type="presParOf" srcId="{5C0E9181-0B1E-4294-8F3A-5B935D88A68F}" destId="{337C7545-720D-4DAE-86FE-CAFC01830348}" srcOrd="1" destOrd="0" presId="urn:microsoft.com/office/officeart/2005/8/layout/chevron2"/>
    <dgm:cxn modelId="{1C8E0BBA-2D25-4D26-9394-3AF05900EA79}" type="presOf" srcId="{61EDE898-0554-4BA8-AEC6-BA7B27DF446F}" destId="{337C7545-720D-4DAE-86FE-CAFC01830348}" srcOrd="0" destOrd="0" presId="urn:microsoft.com/office/officeart/2005/8/layout/chevron2"/>
    <dgm:cxn modelId="{D3C97980-8EA7-4BBB-858C-F15BF93519B1}" type="presParOf" srcId="{5C0E9181-0B1E-4294-8F3A-5B935D88A68F}" destId="{B3F9E867-368B-4506-9CA3-65036A771B0B}" srcOrd="2" destOrd="0" presId="urn:microsoft.com/office/officeart/2005/8/layout/chevron2"/>
    <dgm:cxn modelId="{88F106AC-BFD0-44C7-A88F-68715BF53EDF}" type="presParOf" srcId="{B3F9E867-368B-4506-9CA3-65036A771B0B}" destId="{5DF64937-B8DE-42A7-BD1E-25B55547924E}" srcOrd="0" destOrd="2" presId="urn:microsoft.com/office/officeart/2005/8/layout/chevron2"/>
    <dgm:cxn modelId="{516D791F-DE23-4989-8D9E-BAF30698925E}" type="presOf" srcId="{CF1EF526-8C64-4BE4-8D8C-47FB654EECEC}" destId="{5DF64937-B8DE-42A7-BD1E-25B55547924E}" srcOrd="0" destOrd="0" presId="urn:microsoft.com/office/officeart/2005/8/layout/chevron2"/>
    <dgm:cxn modelId="{05D988B8-7E67-4381-A0E0-221303A58D57}" type="presParOf" srcId="{B3F9E867-368B-4506-9CA3-65036A771B0B}" destId="{D2F23E94-6524-443A-A564-E4F5C60C89CA}" srcOrd="1" destOrd="2" presId="urn:microsoft.com/office/officeart/2005/8/layout/chevron2"/>
    <dgm:cxn modelId="{EF430FDA-C8B7-4E2C-B644-5D33A03EEEB7}" type="presOf" srcId="{E541E0D0-F6BB-4332-A305-AF014DFCB6F0}" destId="{D2F23E94-6524-443A-A564-E4F5C60C89CA}" srcOrd="0" destOrd="0" presId="urn:microsoft.com/office/officeart/2005/8/layout/chevron2"/>
    <dgm:cxn modelId="{39E2193B-A2D0-4B82-B5FC-68E843B14A27}" type="presOf" srcId="{371D62EB-3B4B-4038-8336-A065DE0F02AF}" destId="{D2F23E94-6524-443A-A564-E4F5C60C89CA}" srcOrd="0" destOrd="1" presId="urn:microsoft.com/office/officeart/2005/8/layout/chevron2"/>
    <dgm:cxn modelId="{A7FC8C28-A8EC-446C-8547-F3EA613FCA14}" type="presOf" srcId="{42932BE8-3CCF-4DF5-9D8E-ABC8DE3E9E26}" destId="{D2F23E94-6524-443A-A564-E4F5C60C89CA}" srcOrd="0" destOrd="2" presId="urn:microsoft.com/office/officeart/2005/8/layout/chevron2"/>
    <dgm:cxn modelId="{179B8FAE-544E-453D-9318-D73BECB58CE6}" type="presParOf" srcId="{5C0E9181-0B1E-4294-8F3A-5B935D88A68F}" destId="{5C44DD23-D736-440E-B099-7B70780855C5}" srcOrd="3" destOrd="0" presId="urn:microsoft.com/office/officeart/2005/8/layout/chevron2"/>
    <dgm:cxn modelId="{C679A372-A0A0-48B4-9F78-DBB7C97F77BD}" type="presOf" srcId="{A28B0AB7-F891-4BF0-904D-8CCB0629FBA3}" destId="{5C44DD23-D736-440E-B099-7B70780855C5}" srcOrd="0" destOrd="0" presId="urn:microsoft.com/office/officeart/2005/8/layout/chevron2"/>
    <dgm:cxn modelId="{268F731A-5DC4-452C-B379-580B8256B15C}" type="presParOf" srcId="{5C0E9181-0B1E-4294-8F3A-5B935D88A68F}" destId="{F7898957-3ED4-43BA-A95A-2DAB5DA2EDFC}" srcOrd="4" destOrd="0" presId="urn:microsoft.com/office/officeart/2005/8/layout/chevron2"/>
    <dgm:cxn modelId="{A8762CCF-1AA3-4397-83DB-2A932092D434}" type="presParOf" srcId="{F7898957-3ED4-43BA-A95A-2DAB5DA2EDFC}" destId="{CBF4BD7A-055C-483C-AA6D-E18ACABFE96E}" srcOrd="0" destOrd="4" presId="urn:microsoft.com/office/officeart/2005/8/layout/chevron2"/>
    <dgm:cxn modelId="{3AB3A62E-A483-476B-B990-8F8FA5476C7B}" type="presOf" srcId="{D85E5FD3-CE07-4412-BA27-D4F2CE1B7F82}" destId="{CBF4BD7A-055C-483C-AA6D-E18ACABFE96E}" srcOrd="0" destOrd="0" presId="urn:microsoft.com/office/officeart/2005/8/layout/chevron2"/>
    <dgm:cxn modelId="{73CA7F1F-4592-449A-8A7E-EABB7874888D}" type="presParOf" srcId="{F7898957-3ED4-43BA-A95A-2DAB5DA2EDFC}" destId="{5275075F-2FDE-42CB-BEF8-9A3D29B5C7C8}" srcOrd="1" destOrd="4" presId="urn:microsoft.com/office/officeart/2005/8/layout/chevron2"/>
    <dgm:cxn modelId="{AADBE762-0072-4D0C-81B3-78185BD08F94}" type="presOf" srcId="{A464BFA8-009B-44EC-9F30-21C5352CB1FA}" destId="{5275075F-2FDE-42CB-BEF8-9A3D29B5C7C8}" srcOrd="0" destOrd="0" presId="urn:microsoft.com/office/officeart/2005/8/layout/chevron2"/>
    <dgm:cxn modelId="{FD8EEBFD-81C0-43D7-B61E-0967A5FB7E8E}" type="presOf" srcId="{01CBA102-9D95-41B9-AF10-1CEAE8F1729A}" destId="{5275075F-2FDE-42CB-BEF8-9A3D29B5C7C8}" srcOrd="0" destOrd="1" presId="urn:microsoft.com/office/officeart/2005/8/layout/chevron2"/>
    <dgm:cxn modelId="{F71EE4EC-64BC-45D0-8F58-1D6E701D149F}" type="presOf" srcId="{36616A97-17B4-4F13-B583-32316D1558FF}" destId="{5275075F-2FDE-42CB-BEF8-9A3D29B5C7C8}" srcOrd="0" destOrd="2" presId="urn:microsoft.com/office/officeart/2005/8/layout/chevron2"/>
    <dgm:cxn modelId="{22CB2FE1-7B9C-48A0-A875-1CEB64052048}" type="presOf" srcId="{A5DF6B1A-4E6B-419C-AEB1-9269C63DD763}" destId="{5275075F-2FDE-42CB-BEF8-9A3D29B5C7C8}" srcOrd="0" destOrd="3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752528" cy="2862319"/>
        <a:chOff x="0" y="0"/>
        <a:chExt cx="4752528" cy="2862319"/>
      </a:xfrm>
    </dsp:grpSpPr>
    <dsp:sp modelId="{ABBFF225-3EDC-481C-981E-0752D8CE3EA1}">
      <dsp:nvSpPr>
        <dsp:cNvPr id="3" name="矩形 2"/>
        <dsp:cNvSpPr/>
      </dsp:nvSpPr>
      <dsp:spPr bwMode="white">
        <a:xfrm>
          <a:off x="65150" y="267"/>
          <a:ext cx="2201641" cy="1320985"/>
        </a:xfrm>
        <a:prstGeom prst="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76200" rIns="76200" bIns="762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>
              <a:latin typeface="楷体" panose="02010609060101010101" pitchFamily="49" charset="-122"/>
              <a:ea typeface="楷体" panose="02010609060101010101" pitchFamily="49" charset="-122"/>
            </a:rPr>
            <a:t>能正确使用常用电子仪器</a:t>
          </a:r>
          <a:endParaRPr lang="zh-CN" altLang="en-US" dirty="0"/>
        </a:p>
      </dsp:txBody>
      <dsp:txXfrm>
        <a:off x="65150" y="267"/>
        <a:ext cx="2201641" cy="1320985"/>
      </dsp:txXfrm>
    </dsp:sp>
    <dsp:sp modelId="{E5179F35-ECA7-47D1-B023-E7B4787B1AA3}">
      <dsp:nvSpPr>
        <dsp:cNvPr id="4" name="矩形 3"/>
        <dsp:cNvSpPr/>
      </dsp:nvSpPr>
      <dsp:spPr bwMode="white">
        <a:xfrm>
          <a:off x="2486955" y="267"/>
          <a:ext cx="2201641" cy="1320985"/>
        </a:xfrm>
        <a:prstGeom prst="rect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76200" rIns="76200" bIns="762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>
              <a:latin typeface="楷体" panose="02010609060101010101" pitchFamily="49" charset="-122"/>
              <a:ea typeface="楷体" panose="02010609060101010101" pitchFamily="49" charset="-122"/>
            </a:rPr>
            <a:t>能设计简单的电路，并掌握电子电路的安装与测试技术</a:t>
          </a:r>
          <a:endParaRPr lang="zh-CN" altLang="en-US" dirty="0"/>
        </a:p>
      </dsp:txBody>
      <dsp:txXfrm>
        <a:off x="2486955" y="267"/>
        <a:ext cx="2201641" cy="1320985"/>
      </dsp:txXfrm>
    </dsp:sp>
    <dsp:sp modelId="{0EFFF440-C84E-466A-B4D0-B65C66CFD149}">
      <dsp:nvSpPr>
        <dsp:cNvPr id="5" name="矩形 4"/>
        <dsp:cNvSpPr/>
      </dsp:nvSpPr>
      <dsp:spPr bwMode="white">
        <a:xfrm>
          <a:off x="65150" y="1541068"/>
          <a:ext cx="2201641" cy="1320985"/>
        </a:xfrm>
        <a:prstGeom prst="rect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76200" rIns="76200" bIns="762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>
              <a:latin typeface="楷体" panose="02010609060101010101" pitchFamily="49" charset="-122"/>
              <a:ea typeface="楷体" panose="02010609060101010101" pitchFamily="49" charset="-122"/>
            </a:rPr>
            <a:t>具有分析、寻找和排除实验故障的能力</a:t>
          </a:r>
          <a:endParaRPr lang="zh-CN" altLang="en-US" dirty="0"/>
        </a:p>
      </dsp:txBody>
      <dsp:txXfrm>
        <a:off x="65150" y="1541068"/>
        <a:ext cx="2201641" cy="1320985"/>
      </dsp:txXfrm>
    </dsp:sp>
    <dsp:sp modelId="{6787DF6A-8CD6-4DA5-B6EF-07A96244105E}">
      <dsp:nvSpPr>
        <dsp:cNvPr id="6" name="矩形 5"/>
        <dsp:cNvSpPr/>
      </dsp:nvSpPr>
      <dsp:spPr bwMode="white">
        <a:xfrm>
          <a:off x="2486955" y="1541068"/>
          <a:ext cx="2201641" cy="1320985"/>
        </a:xfrm>
        <a:prstGeom prst="rect">
          <a:avLst/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76200" rIns="76200" bIns="762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>
              <a:latin typeface="楷体" panose="02010609060101010101" pitchFamily="49" charset="-122"/>
              <a:ea typeface="楷体" panose="02010609060101010101" pitchFamily="49" charset="-122"/>
            </a:rPr>
            <a:t>能正确处理实验数据、进行误差分析、写出实验报告</a:t>
          </a:r>
          <a:endParaRPr lang="zh-CN" altLang="en-US" dirty="0"/>
        </a:p>
      </dsp:txBody>
      <dsp:txXfrm>
        <a:off x="2486955" y="1541068"/>
        <a:ext cx="2201641" cy="1320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374486" cy="4104456"/>
        <a:chOff x="0" y="0"/>
        <a:chExt cx="4374486" cy="4104456"/>
      </a:xfrm>
    </dsp:grpSpPr>
    <dsp:sp modelId="{61F820A7-1C5D-4555-88DE-B4CACB6E2851}">
      <dsp:nvSpPr>
        <dsp:cNvPr id="3" name="燕尾形 2"/>
        <dsp:cNvSpPr/>
      </dsp:nvSpPr>
      <dsp:spPr bwMode="white">
        <a:xfrm rot="5400000">
          <a:off x="-224780" y="224780"/>
          <a:ext cx="1498536" cy="1048976"/>
        </a:xfrm>
        <a:prstGeom prst="chevron">
          <a:avLst/>
        </a:prstGeom>
      </dsp:spPr>
      <dsp:style>
        <a:lnRef idx="2">
          <a:schemeClr val="accent2">
            <a:hueOff val="0"/>
            <a:satOff val="0"/>
            <a:lumOff val="0"/>
            <a:alpha val="100000"/>
          </a:schemeClr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rot="-5400000" lIns="12700" tIns="12700" rIns="12700" bIns="127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>
              <a:latin typeface="等线" panose="02010600030101010101" pitchFamily="2" charset="-122"/>
              <a:ea typeface="等线" panose="02010600030101010101" pitchFamily="2" charset="-122"/>
            </a:rPr>
            <a:t>课前预习</a:t>
          </a:r>
        </a:p>
      </dsp:txBody>
      <dsp:txXfrm rot="5400000">
        <a:off x="-224780" y="224780"/>
        <a:ext cx="1498536" cy="1048976"/>
      </dsp:txXfrm>
    </dsp:sp>
    <dsp:sp modelId="{B5566727-F96E-45AA-AABC-306A386CCAED}">
      <dsp:nvSpPr>
        <dsp:cNvPr id="4" name="同侧圆角矩形 3"/>
        <dsp:cNvSpPr/>
      </dsp:nvSpPr>
      <dsp:spPr bwMode="white">
        <a:xfrm rot="5400000">
          <a:off x="2224706" y="-1175731"/>
          <a:ext cx="974049" cy="3325510"/>
        </a:xfrm>
        <a:prstGeom prst="round2SameRect">
          <a:avLst/>
        </a:prstGeom>
      </dsp:spPr>
      <dsp:style>
        <a:lnRef idx="2">
          <a:schemeClr val="accent2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13792" tIns="10160" rIns="10160" bIns="1016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明确实验目的与要求</a:t>
          </a:r>
          <a:endParaRPr lang="zh-CN" altLang="en-US" sz="1600" dirty="0">
            <a:solidFill>
              <a:schemeClr val="dk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了解实验原理，设计电路并绘制原理图</a:t>
          </a:r>
          <a:endParaRPr lang="zh-CN" altLang="en-US" sz="1600" b="1" dirty="0">
            <a:solidFill>
              <a:schemeClr val="dk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rPr>
            <a:t>提前安装实验电路</a:t>
          </a:r>
          <a:endParaRPr lang="zh-CN" altLang="en-US" sz="1600" b="1" dirty="0">
            <a:solidFill>
              <a:srgbClr val="FF0000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 smtClean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rPr>
            <a:t>撰写预习报告</a:t>
          </a:r>
          <a:endParaRPr lang="zh-CN" altLang="en-US" sz="1600" b="1" dirty="0">
            <a:solidFill>
              <a:srgbClr val="FF0000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完成</a:t>
          </a:r>
          <a:r>
            <a:rPr lang="en-US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MOOC</a:t>
          </a: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相关单元学习</a:t>
          </a:r>
          <a:endParaRPr>
            <a:solidFill>
              <a:schemeClr val="dk1"/>
            </a:solidFill>
          </a:endParaRPr>
        </a:p>
      </dsp:txBody>
      <dsp:txXfrm rot="5400000">
        <a:off x="2224706" y="-1175731"/>
        <a:ext cx="974049" cy="3325510"/>
      </dsp:txXfrm>
    </dsp:sp>
    <dsp:sp modelId="{5DF64937-B8DE-42A7-BD1E-25B55547924E}">
      <dsp:nvSpPr>
        <dsp:cNvPr id="5" name="燕尾形 4"/>
        <dsp:cNvSpPr/>
      </dsp:nvSpPr>
      <dsp:spPr bwMode="white">
        <a:xfrm rot="5400000">
          <a:off x="-224780" y="1527740"/>
          <a:ext cx="1498536" cy="1048976"/>
        </a:xfrm>
        <a:prstGeom prst="chevron">
          <a:avLst/>
        </a:prstGeom>
      </dsp:spPr>
      <dsp:style>
        <a:lnRef idx="2">
          <a:schemeClr val="accent2">
            <a:hueOff val="-30000"/>
            <a:satOff val="-49999"/>
            <a:lumOff val="30000"/>
            <a:alpha val="100000"/>
          </a:schemeClr>
        </a:lnRef>
        <a:fillRef idx="1">
          <a:schemeClr val="accent2">
            <a:hueOff val="-30000"/>
            <a:satOff val="-49999"/>
            <a:lumOff val="3000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rot="-5400000" lIns="12700" tIns="12700" rIns="12700" bIns="127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2000" b="1" dirty="0">
              <a:latin typeface="等线" panose="02010600030101010101" pitchFamily="2" charset="-122"/>
              <a:ea typeface="等线" panose="02010600030101010101" pitchFamily="2" charset="-122"/>
            </a:rPr>
            <a:t>课上</a:t>
          </a:r>
          <a:r>
            <a:rPr lang="zh-CN" altLang="en-US" sz="2000" b="1" dirty="0">
              <a:latin typeface="等线" panose="02010600030101010101" pitchFamily="2" charset="-122"/>
              <a:ea typeface="等线" panose="02010600030101010101" pitchFamily="2" charset="-122"/>
            </a:rPr>
            <a:t>搭建、验收电路</a:t>
          </a:r>
        </a:p>
      </dsp:txBody>
      <dsp:txXfrm rot="5400000">
        <a:off x="-224780" y="1527740"/>
        <a:ext cx="1498536" cy="1048976"/>
      </dsp:txXfrm>
    </dsp:sp>
    <dsp:sp modelId="{D2F23E94-6524-443A-A564-E4F5C60C89CA}">
      <dsp:nvSpPr>
        <dsp:cNvPr id="6" name="同侧圆角矩形 5"/>
        <dsp:cNvSpPr/>
      </dsp:nvSpPr>
      <dsp:spPr bwMode="white">
        <a:xfrm rot="5400000">
          <a:off x="2224706" y="127229"/>
          <a:ext cx="974049" cy="3325510"/>
        </a:xfrm>
        <a:prstGeom prst="round2SameRect">
          <a:avLst/>
        </a:prstGeom>
      </dsp:spPr>
      <dsp:style>
        <a:lnRef idx="2">
          <a:schemeClr val="accent2">
            <a:hueOff val="-30000"/>
            <a:satOff val="-49999"/>
            <a:lumOff val="3000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13792" tIns="10160" rIns="10160" bIns="1016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搭建实验测试平台 </a:t>
          </a:r>
          <a:r>
            <a:rPr lang="en-US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— </a:t>
          </a: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测试方法的设计</a:t>
          </a:r>
          <a:endParaRPr lang="zh-CN" altLang="en-US" sz="1600" b="1" dirty="0">
            <a:solidFill>
              <a:schemeClr val="dk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观察并记录实验现象与结果 </a:t>
          </a:r>
          <a:r>
            <a:rPr lang="en-US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— </a:t>
          </a: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仪器使用</a:t>
          </a:r>
          <a:endParaRPr lang="zh-CN" altLang="en-US" sz="1600" b="1" dirty="0">
            <a:solidFill>
              <a:schemeClr val="dk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 smtClean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通过验收并回答老师提问</a:t>
          </a:r>
          <a:endParaRPr lang="zh-CN" altLang="en-US" sz="1600" b="1" dirty="0">
            <a:solidFill>
              <a:schemeClr val="dk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</dsp:txBody>
      <dsp:txXfrm rot="5400000">
        <a:off x="2224706" y="127229"/>
        <a:ext cx="974049" cy="3325510"/>
      </dsp:txXfrm>
    </dsp:sp>
    <dsp:sp modelId="{CBF4BD7A-055C-483C-AA6D-E18ACABFE96E}">
      <dsp:nvSpPr>
        <dsp:cNvPr id="7" name="燕尾形 6"/>
        <dsp:cNvSpPr/>
      </dsp:nvSpPr>
      <dsp:spPr bwMode="white">
        <a:xfrm rot="5400000">
          <a:off x="-224780" y="2830700"/>
          <a:ext cx="1498536" cy="1048976"/>
        </a:xfrm>
        <a:prstGeom prst="chevron">
          <a:avLst/>
        </a:prstGeom>
      </dsp:spPr>
      <dsp:style>
        <a:lnRef idx="2">
          <a:schemeClr val="accent2">
            <a:hueOff val="-60000"/>
            <a:satOff val="-99999"/>
            <a:lumOff val="60000"/>
            <a:alpha val="100000"/>
          </a:schemeClr>
        </a:lnRef>
        <a:fillRef idx="1">
          <a:schemeClr val="accent2">
            <a:hueOff val="-60000"/>
            <a:satOff val="-99999"/>
            <a:lumOff val="6000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rot="-5400000" lIns="12700" tIns="12700" rIns="12700" bIns="127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>
              <a:latin typeface="等线" panose="02010600030101010101" pitchFamily="2" charset="-122"/>
              <a:ea typeface="等线" panose="02010600030101010101" pitchFamily="2" charset="-122"/>
            </a:rPr>
            <a:t>课后完成报告</a:t>
          </a:r>
        </a:p>
      </dsp:txBody>
      <dsp:txXfrm rot="5400000">
        <a:off x="-224780" y="2830700"/>
        <a:ext cx="1498536" cy="1048976"/>
      </dsp:txXfrm>
    </dsp:sp>
    <dsp:sp modelId="{5275075F-2FDE-42CB-BEF8-9A3D29B5C7C8}">
      <dsp:nvSpPr>
        <dsp:cNvPr id="8" name="同侧圆角矩形 7"/>
        <dsp:cNvSpPr/>
      </dsp:nvSpPr>
      <dsp:spPr bwMode="white">
        <a:xfrm rot="5400000">
          <a:off x="2224706" y="1430189"/>
          <a:ext cx="974049" cy="3325510"/>
        </a:xfrm>
        <a:prstGeom prst="round2SameRect">
          <a:avLst/>
        </a:prstGeom>
      </dsp:spPr>
      <dsp:style>
        <a:lnRef idx="2">
          <a:schemeClr val="accent2">
            <a:hueOff val="-60000"/>
            <a:satOff val="-99999"/>
            <a:lumOff val="6000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13792" tIns="10160" rIns="10160" bIns="1016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rPr>
            <a:t>实验报告要求用报告纸手写，格式内容规范</a:t>
          </a:r>
          <a:endParaRPr lang="zh-CN" altLang="en-US" sz="1600" b="1" dirty="0">
            <a:solidFill>
              <a:srgbClr val="FF0000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对实验数据进行处理，绘制图、表或波形。</a:t>
          </a:r>
          <a:endParaRPr lang="zh-CN" altLang="en-US" sz="1600" b="1" dirty="0">
            <a:solidFill>
              <a:schemeClr val="dk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写出个人的实验心得体会</a:t>
          </a:r>
          <a:endParaRPr lang="zh-CN" altLang="en-US" sz="1600" b="1" dirty="0">
            <a:solidFill>
              <a:schemeClr val="dk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回答思考题</a:t>
          </a:r>
          <a:endParaRPr>
            <a:solidFill>
              <a:schemeClr val="dk1"/>
            </a:solidFill>
          </a:endParaRPr>
        </a:p>
      </dsp:txBody>
      <dsp:txXfrm rot="5400000">
        <a:off x="2224706" y="1430189"/>
        <a:ext cx="974049" cy="33255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126480" cy="4671695"/>
        <a:chOff x="0" y="0"/>
        <a:chExt cx="6126480" cy="4671695"/>
      </a:xfrm>
    </dsp:grpSpPr>
    <dsp:sp modelId="{61F820A7-1C5D-4555-88DE-B4CACB6E2851}">
      <dsp:nvSpPr>
        <dsp:cNvPr id="3" name="燕尾形 2"/>
        <dsp:cNvSpPr/>
      </dsp:nvSpPr>
      <dsp:spPr bwMode="white">
        <a:xfrm rot="5400000">
          <a:off x="-252919" y="252919"/>
          <a:ext cx="1686125" cy="1180287"/>
        </a:xfrm>
        <a:prstGeom prst="chevron">
          <a:avLst/>
        </a:prstGeom>
      </dsp:spPr>
      <dsp:style>
        <a:lnRef idx="2">
          <a:schemeClr val="accent2">
            <a:hueOff val="0"/>
            <a:satOff val="0"/>
            <a:lumOff val="0"/>
            <a:alpha val="100000"/>
          </a:schemeClr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rot="-5400000" lIns="12700" tIns="12700" rIns="12700" bIns="127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>
              <a:latin typeface="等线" panose="02010600030101010101" pitchFamily="2" charset="-122"/>
              <a:ea typeface="等线" panose="02010600030101010101" pitchFamily="2" charset="-122"/>
            </a:rPr>
            <a:t>课前预习</a:t>
          </a:r>
        </a:p>
      </dsp:txBody>
      <dsp:txXfrm rot="5400000">
        <a:off x="-252919" y="252919"/>
        <a:ext cx="1686125" cy="1180287"/>
      </dsp:txXfrm>
    </dsp:sp>
    <dsp:sp modelId="{B5566727-F96E-45AA-AABC-306A386CCAED}">
      <dsp:nvSpPr>
        <dsp:cNvPr id="4" name="同侧圆角矩形 3"/>
        <dsp:cNvSpPr/>
      </dsp:nvSpPr>
      <dsp:spPr bwMode="white">
        <a:xfrm rot="5400000">
          <a:off x="3105393" y="-1925106"/>
          <a:ext cx="1095981" cy="4946193"/>
        </a:xfrm>
        <a:prstGeom prst="round2SameRect">
          <a:avLst/>
        </a:prstGeom>
      </dsp:spPr>
      <dsp:style>
        <a:lnRef idx="2">
          <a:schemeClr val="accent2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13792" tIns="10160" rIns="10160" bIns="1016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明确实验目的与要求</a:t>
          </a:r>
          <a:endParaRPr lang="zh-CN" altLang="en-US" sz="1600" dirty="0">
            <a:solidFill>
              <a:schemeClr val="dk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了解实验原理，设计电路并绘制原理图</a:t>
          </a:r>
          <a:endParaRPr lang="zh-CN" altLang="en-US" sz="1600" b="1" dirty="0">
            <a:solidFill>
              <a:schemeClr val="dk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rPr>
            <a:t>提前安装实验电路</a:t>
          </a:r>
          <a:endParaRPr lang="zh-CN" altLang="en-US" sz="1600" b="1" dirty="0">
            <a:solidFill>
              <a:srgbClr val="FF0000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 smtClean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rPr>
            <a:t>撰写预习报告</a:t>
          </a:r>
          <a:endParaRPr lang="zh-CN" altLang="en-US" sz="1600" b="1" dirty="0">
            <a:solidFill>
              <a:srgbClr val="FF0000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完成</a:t>
          </a:r>
          <a:r>
            <a:rPr lang="en-US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MOOC</a:t>
          </a: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相关单元学习</a:t>
          </a:r>
          <a:endParaRPr>
            <a:solidFill>
              <a:schemeClr val="dk1"/>
            </a:solidFill>
          </a:endParaRPr>
        </a:p>
      </dsp:txBody>
      <dsp:txXfrm rot="5400000">
        <a:off x="3105393" y="-1925106"/>
        <a:ext cx="1095981" cy="4946193"/>
      </dsp:txXfrm>
    </dsp:sp>
    <dsp:sp modelId="{5DF64937-B8DE-42A7-BD1E-25B55547924E}">
      <dsp:nvSpPr>
        <dsp:cNvPr id="5" name="燕尾形 4"/>
        <dsp:cNvSpPr/>
      </dsp:nvSpPr>
      <dsp:spPr bwMode="white">
        <a:xfrm rot="5400000">
          <a:off x="-252919" y="1745704"/>
          <a:ext cx="1686125" cy="1180287"/>
        </a:xfrm>
        <a:prstGeom prst="chevron">
          <a:avLst/>
        </a:prstGeom>
      </dsp:spPr>
      <dsp:style>
        <a:lnRef idx="2">
          <a:schemeClr val="accent2">
            <a:hueOff val="-30000"/>
            <a:satOff val="-49999"/>
            <a:lumOff val="30000"/>
            <a:alpha val="100000"/>
          </a:schemeClr>
        </a:lnRef>
        <a:fillRef idx="1">
          <a:schemeClr val="accent2">
            <a:hueOff val="-30000"/>
            <a:satOff val="-49999"/>
            <a:lumOff val="3000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rot="-5400000" lIns="12700" tIns="12700" rIns="12700" bIns="127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2000" b="1" dirty="0">
              <a:latin typeface="等线" panose="02010600030101010101" pitchFamily="2" charset="-122"/>
              <a:ea typeface="等线" panose="02010600030101010101" pitchFamily="2" charset="-122"/>
            </a:rPr>
            <a:t>课上</a:t>
          </a:r>
          <a:r>
            <a:rPr lang="zh-CN" altLang="en-US" sz="2000" b="1" dirty="0">
              <a:latin typeface="等线" panose="02010600030101010101" pitchFamily="2" charset="-122"/>
              <a:ea typeface="等线" panose="02010600030101010101" pitchFamily="2" charset="-122"/>
            </a:rPr>
            <a:t>搭建、验收电路</a:t>
          </a:r>
        </a:p>
      </dsp:txBody>
      <dsp:txXfrm rot="5400000">
        <a:off x="-252919" y="1745704"/>
        <a:ext cx="1686125" cy="1180287"/>
      </dsp:txXfrm>
    </dsp:sp>
    <dsp:sp modelId="{D2F23E94-6524-443A-A564-E4F5C60C89CA}">
      <dsp:nvSpPr>
        <dsp:cNvPr id="6" name="同侧圆角矩形 5"/>
        <dsp:cNvSpPr/>
      </dsp:nvSpPr>
      <dsp:spPr bwMode="white">
        <a:xfrm rot="5400000">
          <a:off x="3105393" y="-432321"/>
          <a:ext cx="1095981" cy="4946193"/>
        </a:xfrm>
        <a:prstGeom prst="round2SameRect">
          <a:avLst/>
        </a:prstGeom>
      </dsp:spPr>
      <dsp:style>
        <a:lnRef idx="2">
          <a:schemeClr val="accent2">
            <a:hueOff val="-30000"/>
            <a:satOff val="-49999"/>
            <a:lumOff val="3000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13792" tIns="10160" rIns="10160" bIns="1016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搭建实验测试平台 </a:t>
          </a:r>
          <a:r>
            <a:rPr lang="en-US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— </a:t>
          </a: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测试方法的设计</a:t>
          </a:r>
          <a:endParaRPr lang="zh-CN" altLang="en-US" sz="1600" b="1" dirty="0">
            <a:solidFill>
              <a:schemeClr val="dk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观察并记录实验现象与结果 </a:t>
          </a:r>
          <a:r>
            <a:rPr lang="en-US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— </a:t>
          </a: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仪器使用</a:t>
          </a:r>
          <a:endParaRPr lang="zh-CN" altLang="en-US" sz="1600" b="1" dirty="0">
            <a:solidFill>
              <a:schemeClr val="dk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 smtClean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通过验收并回答老师提问</a:t>
          </a:r>
          <a:endParaRPr lang="zh-CN" altLang="en-US" sz="1600" b="1" dirty="0">
            <a:solidFill>
              <a:schemeClr val="dk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</dsp:txBody>
      <dsp:txXfrm rot="5400000">
        <a:off x="3105393" y="-432321"/>
        <a:ext cx="1095981" cy="4946193"/>
      </dsp:txXfrm>
    </dsp:sp>
    <dsp:sp modelId="{CBF4BD7A-055C-483C-AA6D-E18ACABFE96E}">
      <dsp:nvSpPr>
        <dsp:cNvPr id="7" name="燕尾形 6"/>
        <dsp:cNvSpPr/>
      </dsp:nvSpPr>
      <dsp:spPr bwMode="white">
        <a:xfrm rot="5400000">
          <a:off x="-252919" y="3238489"/>
          <a:ext cx="1686125" cy="1180287"/>
        </a:xfrm>
        <a:prstGeom prst="chevron">
          <a:avLst/>
        </a:prstGeom>
      </dsp:spPr>
      <dsp:style>
        <a:lnRef idx="2">
          <a:schemeClr val="accent2">
            <a:hueOff val="-60000"/>
            <a:satOff val="-99999"/>
            <a:lumOff val="60000"/>
            <a:alpha val="100000"/>
          </a:schemeClr>
        </a:lnRef>
        <a:fillRef idx="1">
          <a:schemeClr val="accent2">
            <a:hueOff val="-60000"/>
            <a:satOff val="-99999"/>
            <a:lumOff val="6000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rot="-5400000" vert="horz" wrap="square" lIns="12700" tIns="12700" rIns="12700" bIns="127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>
              <a:latin typeface="等线" panose="02010600030101010101" pitchFamily="2" charset="-122"/>
              <a:ea typeface="等线" panose="02010600030101010101" pitchFamily="2" charset="-122"/>
            </a:rPr>
            <a:t>课</a:t>
          </a:r>
          <a:r>
            <a:rPr lang="zh-CN" altLang="en-US" sz="20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sym typeface="+mn-ea"/>
            </a:rPr>
            <a:t>课后完成报告</a:t>
          </a:r>
          <a:r>
            <a:rPr lang="zh-CN" altLang="en-US" sz="20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rPr>
            <a:t>后完成报告</a:t>
          </a:r>
          <a:endParaRPr lang="zh-CN" altLang="en-US" sz="2000" b="1" dirty="0">
            <a:solidFill>
              <a:schemeClr val="tx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</dsp:txBody>
      <dsp:txXfrm rot="5400000">
        <a:off x="-252919" y="3238489"/>
        <a:ext cx="1686125" cy="1180287"/>
      </dsp:txXfrm>
    </dsp:sp>
    <dsp:sp modelId="{5275075F-2FDE-42CB-BEF8-9A3D29B5C7C8}">
      <dsp:nvSpPr>
        <dsp:cNvPr id="8" name="同侧圆角矩形 7"/>
        <dsp:cNvSpPr/>
      </dsp:nvSpPr>
      <dsp:spPr bwMode="white">
        <a:xfrm rot="5400000">
          <a:off x="3105393" y="1060464"/>
          <a:ext cx="1095981" cy="4946193"/>
        </a:xfrm>
        <a:prstGeom prst="round2SameRect">
          <a:avLst/>
        </a:prstGeom>
      </dsp:spPr>
      <dsp:style>
        <a:lnRef idx="2">
          <a:schemeClr val="accent2">
            <a:hueOff val="-60000"/>
            <a:satOff val="-99999"/>
            <a:lumOff val="6000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13792" tIns="10160" rIns="10160" bIns="1016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rPr>
            <a:t>实验报告要求用报告纸手写，格式内容规范</a:t>
          </a:r>
          <a:endParaRPr lang="zh-CN" altLang="en-US" sz="1600" b="1" dirty="0">
            <a:solidFill>
              <a:srgbClr val="FF0000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对实验数据进行处理，绘制图、表或波形。</a:t>
          </a:r>
          <a:endParaRPr lang="zh-CN" altLang="en-US" sz="1600" b="1" dirty="0">
            <a:solidFill>
              <a:schemeClr val="dk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写出个人的实验心得体会</a:t>
          </a:r>
          <a:endParaRPr lang="zh-CN" altLang="en-US" sz="1600" b="1" dirty="0">
            <a:solidFill>
              <a:schemeClr val="dk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dirty="0">
              <a:solidFill>
                <a:schemeClr val="dk1"/>
              </a:solidFill>
              <a:latin typeface="等线" panose="02010600030101010101" pitchFamily="2" charset="-122"/>
              <a:ea typeface="等线" panose="02010600030101010101" pitchFamily="2" charset="-122"/>
            </a:rPr>
            <a:t>回答思考题</a:t>
          </a:r>
          <a:endParaRPr>
            <a:solidFill>
              <a:schemeClr val="dk1"/>
            </a:solidFill>
          </a:endParaRPr>
        </a:p>
      </dsp:txBody>
      <dsp:txXfrm rot="5400000">
        <a:off x="3105393" y="1060464"/>
        <a:ext cx="1095981" cy="49461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081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78425" y="0"/>
            <a:ext cx="396081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4" name="Rectangle 4"/>
          <p:cNvSpPr>
            <a:spLocks noGrp="1" noRot="1"/>
          </p:cNvSpPr>
          <p:nvPr>
            <p:ph type="sldImg"/>
          </p:nvPr>
        </p:nvSpPr>
        <p:spPr>
          <a:xfrm>
            <a:off x="1171575" y="514350"/>
            <a:ext cx="6800850" cy="2570163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914400" y="3255963"/>
            <a:ext cx="7312025" cy="308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081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78425" y="6513513"/>
            <a:ext cx="396081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zh-CN" sz="1200" b="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zh-CN" sz="1200" b="0" strike="noStrike" noProof="1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要买</a:t>
            </a:r>
            <a:r>
              <a:rPr lang="zh-CN" altLang="en-US" dirty="0"/>
              <a:t>课本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成绩说明：都是同专业年级平均</a:t>
            </a:r>
            <a:r>
              <a:rPr lang="zh-CN" altLang="en-US" dirty="0"/>
              <a:t>成绩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A2551-FA28-4A23-AF5D-8BBD3FAF29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13314" name="文本占位符 2"/>
          <p:cNvSpPr/>
          <p:nvPr>
            <p:ph type="body"/>
          </p:nvPr>
        </p:nvSpPr>
        <p:spPr>
          <a:xfrm>
            <a:off x="914400" y="3255963"/>
            <a:ext cx="7312025" cy="3087687"/>
          </a:xfrm>
        </p:spPr>
        <p:txBody>
          <a:bodyPr wrap="square" lIns="91440" tIns="45720" rIns="91440" bIns="45720" anchor="ctr" anchorCtr="0"/>
          <a:p>
            <a:pPr lvl="0"/>
            <a:r>
              <a:rPr lang="en-US" altLang="zh-CN"/>
              <a:t>1</a:t>
            </a:r>
            <a:r>
              <a:rPr lang="zh-CN" altLang="en-US"/>
              <a:t>：国家精品课程，也开设了</a:t>
            </a:r>
            <a:r>
              <a:rPr lang="en-US" altLang="zh-CN"/>
              <a:t>MOOC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859088" y="514350"/>
            <a:ext cx="3425825" cy="2570163"/>
          </a:xfrm>
        </p:spPr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>
          <a:xfrm>
            <a:off x="914400" y="3255963"/>
            <a:ext cx="7312025" cy="3087687"/>
          </a:xfrm>
        </p:spPr>
        <p:txBody>
          <a:bodyPr wrap="square" lIns="91440" tIns="45720" rIns="91440" bIns="45720" anchor="ctr" anchorCtr="0"/>
          <a:p>
            <a:pPr lvl="0" eaLnBrk="1" hangingPunct="1"/>
            <a:r>
              <a:rPr lang="zh-CN" altLang="en-US" dirty="0">
                <a:solidFill>
                  <a:srgbClr val="003399"/>
                </a:solidFill>
              </a:rPr>
              <a:t>课程基础：例如以前只知道信号是函数，正选信号加常数，就是信号加直流分量。运放的运用，正负电源的使用等等。 </a:t>
            </a:r>
            <a:endParaRPr lang="zh-CN" altLang="en-US" dirty="0">
              <a:solidFill>
                <a:srgbClr val="003399"/>
              </a:solidFill>
            </a:endParaRPr>
          </a:p>
          <a:p>
            <a:pPr lvl="0" eaLnBrk="1" hangingPunct="1"/>
            <a:r>
              <a:rPr lang="zh-CN" altLang="en-US" dirty="0">
                <a:solidFill>
                  <a:srgbClr val="003399"/>
                </a:solidFill>
              </a:rPr>
              <a:t>通过这门课程的学习，每个人的实际动手能力、理论联系实际的能力、工程设计能力与创新设计能力都会有明显提高。</a:t>
            </a:r>
            <a:endParaRPr lang="zh-CN" altLang="en-US" dirty="0">
              <a:solidFill>
                <a:srgbClr val="003399"/>
              </a:solidFill>
            </a:endParaRPr>
          </a:p>
          <a:p>
            <a:pPr lvl="0" eaLnBrk="1" hangingPunct="1"/>
            <a:r>
              <a:rPr lang="zh-CN" altLang="en-US" dirty="0"/>
              <a:t>课程介绍；通过课程介绍，强调学生在实验中学思结合、知行统一，培养探索精神，在实践中培养分析问题解决问题的能力，在实践中锤炼意志品质</a:t>
            </a:r>
            <a:endParaRPr lang="zh-CN" altLang="en-US" dirty="0"/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8425" y="6513513"/>
            <a:ext cx="3960813" cy="3429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zh-CN" sz="1200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zh-CN" sz="12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A2551-FA28-4A23-AF5D-8BBD3FAF29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17410" name="文本占位符 2"/>
          <p:cNvSpPr/>
          <p:nvPr>
            <p:ph type="body"/>
          </p:nvPr>
        </p:nvSpPr>
        <p:spPr>
          <a:xfrm>
            <a:off x="914400" y="3255963"/>
            <a:ext cx="7312025" cy="3087687"/>
          </a:xfrm>
        </p:spPr>
        <p:txBody>
          <a:bodyPr wrap="square" lIns="91440" tIns="45720" rIns="91440" bIns="45720" anchor="ctr" anchorCtr="0"/>
          <a:p>
            <a:pPr lvl="0"/>
            <a:r>
              <a:rPr lang="en-US" altLang="zh-CN"/>
              <a:t>1</a:t>
            </a:r>
            <a:r>
              <a:rPr lang="zh-CN" altLang="en-US"/>
              <a:t>：实验的结果和数据是可以通过理论计算和推导的。</a:t>
            </a:r>
            <a:endParaRPr lang="zh-CN" altLang="en-US"/>
          </a:p>
          <a:p>
            <a:pPr lvl="0"/>
            <a:endParaRPr lang="zh-CN" altLang="en-US"/>
          </a:p>
          <a:p>
            <a:pPr lvl="0"/>
            <a:r>
              <a:rPr lang="zh-CN" altLang="en-US"/>
              <a:t>测量值一定要与理论结果相</a:t>
            </a:r>
            <a:r>
              <a:rPr lang="zh-CN" altLang="en-US"/>
              <a:t>符合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A2551-FA28-4A23-AF5D-8BBD3FAF29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A2551-FA28-4A23-AF5D-8BBD3FAF29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A2551-FA28-4A23-AF5D-8BBD3FAF29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27650" name="文本占位符 2"/>
          <p:cNvSpPr/>
          <p:nvPr>
            <p:ph type="body"/>
          </p:nvPr>
        </p:nvSpPr>
        <p:spPr>
          <a:xfrm>
            <a:off x="914400" y="3255963"/>
            <a:ext cx="7312025" cy="3087687"/>
          </a:xfrm>
        </p:spPr>
        <p:txBody>
          <a:bodyPr wrap="square" lIns="91440" tIns="45720" rIns="91440" bIns="45720" anchor="ctr" anchorCtr="0"/>
          <a:p>
            <a:pPr lvl="0"/>
            <a:r>
              <a:rPr lang="en-US" altLang="zh-CN"/>
              <a:t>1</a:t>
            </a:r>
            <a:r>
              <a:rPr lang="zh-CN" altLang="en-US"/>
              <a:t>：对于有共同的时间坐标的图形，需要上下对齐。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A2551-FA28-4A23-AF5D-8BBD3FAF29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A2551-FA28-4A23-AF5D-8BBD3FAF29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31746" name="文本占位符 2"/>
          <p:cNvSpPr/>
          <p:nvPr>
            <p:ph type="body"/>
          </p:nvPr>
        </p:nvSpPr>
        <p:spPr>
          <a:xfrm>
            <a:off x="914400" y="3255963"/>
            <a:ext cx="7312025" cy="3087687"/>
          </a:xfrm>
        </p:spPr>
        <p:txBody>
          <a:bodyPr wrap="square" lIns="91440" tIns="45720" rIns="91440" bIns="45720" anchor="ctr" anchorCtr="0"/>
          <a:p>
            <a:pPr lvl="0"/>
            <a:r>
              <a:rPr lang="zh-CN" altLang="zh-CN" dirty="0">
                <a:latin typeface="Verdana" panose="020B0604030504040204" pitchFamily="34" charset="0"/>
                <a:ea typeface="楷体_GB2312" pitchFamily="1" charset="-122"/>
              </a:rPr>
              <a:t>（含实验验收、实验报告与MOOC课程学习成绩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481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/>
          <p:nvPr/>
        </p:nvSpPr>
        <p:spPr>
          <a:xfrm>
            <a:off x="685800" y="99060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 fontAlgn="base"/>
            <a:r>
              <a:rPr lang="zh-CN" altLang="zh-CN" strike="noStrike" noProof="0" smtClean="0"/>
              <a:t>单击此处编辑母版标题样式</a:t>
            </a:r>
            <a:endParaRPr lang="zh-CN" altLang="zh-CN" strike="noStrike" noProof="0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 fontAlgn="base"/>
            <a:r>
              <a:rPr lang="zh-CN" altLang="zh-CN" strike="noStrike" noProof="0" smtClean="0"/>
              <a:t>单击此处编辑母版副标题样式</a:t>
            </a:r>
            <a:endParaRPr lang="zh-CN" altLang="zh-CN" strike="noStrike" noProof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708400" y="6524625"/>
            <a:ext cx="2311400" cy="333375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708400" y="6524625"/>
            <a:ext cx="2311400" cy="333375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08400" y="6524625"/>
            <a:ext cx="2311400" cy="333375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708400" y="6524625"/>
            <a:ext cx="2311400" cy="333375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708400" y="6524625"/>
            <a:ext cx="2311400" cy="333375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8400" y="6524625"/>
            <a:ext cx="2311400" cy="333375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115888"/>
            <a:ext cx="2001837" cy="590391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115888"/>
            <a:ext cx="5854700" cy="590391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8400" y="6524625"/>
            <a:ext cx="2311400" cy="333375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/>
          <p:nvPr/>
        </p:nvSpPr>
        <p:spPr>
          <a:xfrm>
            <a:off x="685800" y="99060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 fontAlgn="base"/>
            <a:r>
              <a:rPr lang="zh-CN" altLang="zh-CN" strike="noStrike" noProof="0" smtClean="0"/>
              <a:t>单击此处编辑母版标题样式</a:t>
            </a:r>
            <a:endParaRPr lang="zh-CN" altLang="zh-CN" strike="noStrike" noProof="0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 fontAlgn="base"/>
            <a:r>
              <a:rPr lang="zh-CN" altLang="zh-CN" strike="noStrike" noProof="0" smtClean="0"/>
              <a:t>单击此处编辑母版副标题样式</a:t>
            </a:r>
            <a:endParaRPr lang="zh-CN" altLang="zh-CN" strike="noStrike" noProof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708400" y="6524625"/>
            <a:ext cx="2311400" cy="333375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708400" y="6524625"/>
            <a:ext cx="2311400" cy="333375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08400" y="6524625"/>
            <a:ext cx="2311400" cy="333375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708400" y="6524625"/>
            <a:ext cx="2311400" cy="333375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708400" y="6524625"/>
            <a:ext cx="2311400" cy="333375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8400" y="6524625"/>
            <a:ext cx="2311400" cy="333375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115888"/>
            <a:ext cx="2001837" cy="590391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115888"/>
            <a:ext cx="5854700" cy="590391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8400" y="6524625"/>
            <a:ext cx="2311400" cy="333375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74675" y="115888"/>
            <a:ext cx="8001000" cy="7556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436245"/>
            <a:r>
              <a:rPr lang="zh-CN" altLang="zh-CN" dirty="0"/>
              <a:t>第二级</a:t>
            </a:r>
            <a:endParaRPr lang="zh-CN" altLang="zh-CN" dirty="0"/>
          </a:p>
          <a:p>
            <a:pPr lvl="2" indent="-394970"/>
            <a:r>
              <a:rPr lang="zh-CN" altLang="zh-CN" dirty="0"/>
              <a:t>第三级</a:t>
            </a:r>
            <a:endParaRPr lang="zh-CN" altLang="zh-CN" dirty="0"/>
          </a:p>
          <a:p>
            <a:pPr lvl="3" indent="-387350"/>
            <a:r>
              <a:rPr lang="zh-CN" altLang="zh-CN" dirty="0"/>
              <a:t>第四级</a:t>
            </a:r>
            <a:endParaRPr lang="zh-CN" altLang="zh-CN" dirty="0"/>
          </a:p>
          <a:p>
            <a:pPr lvl="4" indent="-39878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028" name="AutoShape 4"/>
          <p:cNvSpPr/>
          <p:nvPr/>
        </p:nvSpPr>
        <p:spPr>
          <a:xfrm>
            <a:off x="609600" y="871538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j-ea"/>
        </a:defRPr>
      </a:lvl2pPr>
      <a:lvl3pPr marL="1304925" indent="-395605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b="1">
          <a:solidFill>
            <a:schemeClr val="tx1"/>
          </a:solidFill>
          <a:latin typeface="+mn-lt"/>
          <a:ea typeface="+mj-ea"/>
        </a:defRPr>
      </a:lvl3pPr>
      <a:lvl4pPr marL="1694180" indent="-3873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j-ea"/>
        </a:defRPr>
      </a:lvl4pPr>
      <a:lvl5pPr marL="20942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j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j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j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j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j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74675" y="115888"/>
            <a:ext cx="8001000" cy="7556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436245"/>
            <a:r>
              <a:rPr lang="zh-CN" altLang="zh-CN" dirty="0"/>
              <a:t>第二级</a:t>
            </a:r>
            <a:endParaRPr lang="zh-CN" altLang="zh-CN" dirty="0"/>
          </a:p>
          <a:p>
            <a:pPr lvl="2" indent="-394970"/>
            <a:r>
              <a:rPr lang="zh-CN" altLang="zh-CN" dirty="0"/>
              <a:t>第三级</a:t>
            </a:r>
            <a:endParaRPr lang="zh-CN" altLang="zh-CN" dirty="0"/>
          </a:p>
          <a:p>
            <a:pPr lvl="3" indent="-387350"/>
            <a:r>
              <a:rPr lang="zh-CN" altLang="zh-CN" dirty="0"/>
              <a:t>第四级</a:t>
            </a:r>
            <a:endParaRPr lang="zh-CN" altLang="zh-CN" dirty="0"/>
          </a:p>
          <a:p>
            <a:pPr lvl="4" indent="-39878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028" name="AutoShape 4"/>
          <p:cNvSpPr/>
          <p:nvPr/>
        </p:nvSpPr>
        <p:spPr>
          <a:xfrm>
            <a:off x="609600" y="871538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j-ea"/>
        </a:defRPr>
      </a:lvl2pPr>
      <a:lvl3pPr marL="1304925" indent="-395605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b="1">
          <a:solidFill>
            <a:schemeClr val="tx1"/>
          </a:solidFill>
          <a:latin typeface="+mn-lt"/>
          <a:ea typeface="+mj-ea"/>
        </a:defRPr>
      </a:lvl3pPr>
      <a:lvl4pPr marL="1694180" indent="-3873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j-ea"/>
        </a:defRPr>
      </a:lvl4pPr>
      <a:lvl5pPr marL="20942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j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j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j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j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j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tags" Target="../tags/tag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jpeg"/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265" name="Rectangle 2"/>
          <p:cNvSpPr>
            <a:spLocks noGrp="1"/>
          </p:cNvSpPr>
          <p:nvPr>
            <p:ph type="title"/>
          </p:nvPr>
        </p:nvSpPr>
        <p:spPr>
          <a:xfrm>
            <a:off x="468313" y="333375"/>
            <a:ext cx="7956550" cy="1216025"/>
          </a:xfrm>
        </p:spPr>
        <p:txBody>
          <a:bodyPr wrap="square" lIns="91440" tIns="45720" rIns="91440" bIns="45720" anchor="b" anchorCtr="0"/>
          <a:p>
            <a:pPr eaLnBrk="1" hangingPunct="1"/>
            <a:r>
              <a:rPr lang="zh-CN" altLang="zh-CN" sz="6300" dirty="0">
                <a:solidFill>
                  <a:schemeClr val="tx1"/>
                </a:solidFill>
                <a:ea typeface="隶书" panose="02010509060101010101" pitchFamily="49" charset="-122"/>
              </a:rPr>
              <a:t>电子线路设计与测试</a:t>
            </a:r>
            <a:endParaRPr lang="zh-CN" altLang="zh-CN" sz="6300" dirty="0">
              <a:solidFill>
                <a:schemeClr val="tx1"/>
              </a:solidFill>
              <a:ea typeface="隶书" panose="02010509060101010101" pitchFamily="49" charset="-122"/>
            </a:endParaRPr>
          </a:p>
        </p:txBody>
      </p:sp>
      <p:sp>
        <p:nvSpPr>
          <p:cNvPr id="4098" name="Rectangle 3"/>
          <p:cNvSpPr/>
          <p:nvPr/>
        </p:nvSpPr>
        <p:spPr>
          <a:xfrm>
            <a:off x="900113" y="1876425"/>
            <a:ext cx="7775575" cy="37096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fontAlgn="base">
              <a:lnSpc>
                <a:spcPct val="80000"/>
              </a:lnSpc>
            </a:pPr>
            <a:r>
              <a:rPr lang="zh-CN" altLang="zh-CN" sz="4800" strike="noStrike" noProof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  <a:cs typeface="+mn-cs"/>
                <a:sym typeface="+mn-ea"/>
              </a:rPr>
              <a:t>     </a:t>
            </a:r>
            <a:r>
              <a:rPr lang="zh-CN" altLang="zh-CN" sz="36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1" charset="-122"/>
                <a:cs typeface="+mn-cs"/>
                <a:sym typeface="+mn-ea"/>
              </a:rPr>
              <a:t>旷课累计</a:t>
            </a:r>
            <a:r>
              <a:rPr lang="zh-CN" altLang="zh-CN" sz="3600" strike="noStrike" noProof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  <a:cs typeface="+mn-cs"/>
                <a:sym typeface="+mn-ea"/>
              </a:rPr>
              <a:t>1/3</a:t>
            </a:r>
            <a:r>
              <a:rPr lang="zh-CN" altLang="zh-CN" sz="36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1" charset="-122"/>
                <a:cs typeface="+mn-cs"/>
                <a:sym typeface="+mn-ea"/>
              </a:rPr>
              <a:t>以上本课程</a:t>
            </a:r>
            <a:r>
              <a:rPr lang="zh-CN" altLang="zh-CN" sz="3600" strike="noStrike" noProof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  <a:cs typeface="+mn-cs"/>
                <a:sym typeface="+mn-ea"/>
              </a:rPr>
              <a:t>重修</a:t>
            </a:r>
            <a:endParaRPr lang="zh-CN" altLang="zh-CN" sz="3600" strike="noStrike" noProof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469900" indent="-469900" algn="ctr" fontAlgn="base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zh-CN" sz="36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1" charset="-122"/>
                <a:cs typeface="+mn-cs"/>
                <a:sym typeface="+mn-ea"/>
              </a:rPr>
              <a:t>  </a:t>
            </a:r>
            <a:r>
              <a:rPr lang="en-US" altLang="zh-CN" sz="36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1" charset="-122"/>
                <a:cs typeface="+mn-cs"/>
                <a:sym typeface="+mn-ea"/>
              </a:rPr>
              <a:t> </a:t>
            </a:r>
            <a:r>
              <a:rPr lang="zh-CN" altLang="zh-CN" sz="3600" strike="noStrike" noProof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  <a:cs typeface="+mn-cs"/>
                <a:sym typeface="+mn-ea"/>
              </a:rPr>
              <a:t>无补考</a:t>
            </a:r>
            <a:r>
              <a:rPr lang="zh-CN" altLang="en-US" sz="3600" strike="noStrike" noProof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endParaRPr lang="zh-CN" altLang="en-US" sz="3600" strike="noStrike" noProof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base">
              <a:lnSpc>
                <a:spcPct val="80000"/>
              </a:lnSpc>
            </a:pPr>
            <a:endParaRPr lang="zh-CN" altLang="en-US" sz="4000" strike="noStrike" noProof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base">
              <a:lnSpc>
                <a:spcPct val="80000"/>
              </a:lnSpc>
            </a:pPr>
            <a:r>
              <a:rPr lang="zh-CN" altLang="en-US" sz="4000" strike="noStrike" noProof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</a:t>
            </a:r>
            <a:r>
              <a:rPr lang="zh-CN" altLang="en-US" sz="40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lang="zh-CN" altLang="en-US" sz="36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闵玉堂</a:t>
            </a:r>
            <a:endParaRPr lang="zh-CN" altLang="en-US" sz="3600" strike="noStrike" noProof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base">
              <a:lnSpc>
                <a:spcPct val="80000"/>
              </a:lnSpc>
            </a:pPr>
            <a:r>
              <a:rPr lang="zh-CN" altLang="en-US" sz="36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lang="en-US" altLang="zh-CN" sz="36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</a:t>
            </a:r>
            <a:r>
              <a:rPr lang="zh-CN" altLang="en-US" sz="36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18164008851</a:t>
            </a:r>
            <a:r>
              <a:rPr lang="zh-CN" altLang="en-US" sz="36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endParaRPr lang="zh-CN" altLang="en-US" sz="3600" strike="noStrike" noProof="1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  <a:p>
            <a:pPr fontAlgn="base">
              <a:lnSpc>
                <a:spcPct val="80000"/>
              </a:lnSpc>
            </a:pPr>
            <a:r>
              <a:rPr lang="zh-CN" altLang="en-US" sz="36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  </a:t>
            </a:r>
            <a:r>
              <a:rPr lang="en-US" altLang="zh-CN" sz="36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                </a:t>
            </a:r>
            <a:r>
              <a:rPr lang="zh-CN" altLang="en-US" sz="36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minyt@hust.edu.cn</a:t>
            </a:r>
            <a:endParaRPr lang="zh-CN" altLang="en-US" sz="3600" strike="noStrike" noProof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base">
              <a:lnSpc>
                <a:spcPct val="80000"/>
              </a:lnSpc>
            </a:pPr>
            <a:r>
              <a:rPr lang="zh-CN" altLang="en-US" sz="4000" strike="noStrike" noProof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     </a:t>
            </a:r>
            <a:endParaRPr lang="zh-CN" altLang="en-US" sz="4000" strike="noStrike" noProof="1" dirty="0">
              <a:solidFill>
                <a:srgbClr val="0000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1267" name="AutoShape 4"/>
          <p:cNvSpPr/>
          <p:nvPr/>
        </p:nvSpPr>
        <p:spPr>
          <a:xfrm>
            <a:off x="609600" y="1590675"/>
            <a:ext cx="7958138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1268" name="Line 5"/>
          <p:cNvSpPr/>
          <p:nvPr/>
        </p:nvSpPr>
        <p:spPr>
          <a:xfrm flipV="1">
            <a:off x="609600" y="6092825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43" descr="6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345" y="1260140"/>
            <a:ext cx="219076" cy="132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819352" y="1498362"/>
            <a:ext cx="1898192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专业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必修课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12294"/>
          <p:cNvSpPr txBox="1">
            <a:spLocks noChangeArrowheads="1"/>
          </p:cNvSpPr>
          <p:nvPr/>
        </p:nvSpPr>
        <p:spPr bwMode="auto">
          <a:xfrm>
            <a:off x="819350" y="1152129"/>
            <a:ext cx="2386365" cy="389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7" tIns="34283" rIns="68567" bIns="34283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charset="-122"/>
              </a:rPr>
              <a:t>课程性质</a:t>
            </a:r>
            <a:endParaRPr lang="zh-CN" altLang="en-US" sz="21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charset="-122"/>
            </a:endParaRPr>
          </a:p>
        </p:txBody>
      </p:sp>
      <p:pic>
        <p:nvPicPr>
          <p:cNvPr id="10" name="图片 43" descr="6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345" y="2298869"/>
            <a:ext cx="219076" cy="132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819350" y="2537091"/>
            <a:ext cx="432048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电子技术基础实验</a:t>
            </a: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b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罗杰，陈大钦主编  高等教育出版社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文本框 12294"/>
          <p:cNvSpPr txBox="1">
            <a:spLocks noChangeArrowheads="1"/>
          </p:cNvSpPr>
          <p:nvPr/>
        </p:nvSpPr>
        <p:spPr bwMode="auto">
          <a:xfrm>
            <a:off x="819350" y="2190858"/>
            <a:ext cx="2386365" cy="389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7" tIns="34283" rIns="68567" bIns="34283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charset="-122"/>
              </a:rPr>
              <a:t>教材</a:t>
            </a:r>
            <a:endParaRPr lang="zh-CN" altLang="en-US" sz="21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43" descr="6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345" y="3676980"/>
            <a:ext cx="219076" cy="132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13"/>
          <p:cNvSpPr/>
          <p:nvPr/>
        </p:nvSpPr>
        <p:spPr>
          <a:xfrm>
            <a:off x="769620" y="3968750"/>
            <a:ext cx="560959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平时验收及报告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 </a:t>
            </a:r>
            <a:endParaRPr lang="zh-CN" altLang="en-US" sz="24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</a:pP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MOOC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成绩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</a:t>
            </a:r>
            <a:endParaRPr lang="zh-CN" altLang="en-US" sz="24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</a:pP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模拟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操作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考试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30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分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+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笔试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30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分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闭卷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24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2294"/>
          <p:cNvSpPr txBox="1">
            <a:spLocks noChangeArrowheads="1"/>
          </p:cNvSpPr>
          <p:nvPr/>
        </p:nvSpPr>
        <p:spPr bwMode="auto">
          <a:xfrm>
            <a:off x="819350" y="3568969"/>
            <a:ext cx="2386365" cy="389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7" tIns="34283" rIns="68567" bIns="34283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charset="-122"/>
              </a:rPr>
              <a:t>成绩评定</a:t>
            </a:r>
            <a:endParaRPr lang="zh-CN" altLang="en-US" sz="21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charset="-122"/>
            </a:endParaRPr>
          </a:p>
        </p:txBody>
      </p:sp>
      <p:sp>
        <p:nvSpPr>
          <p:cNvPr id="12289" name="Rectangle 2"/>
          <p:cNvSpPr>
            <a:spLocks noGrp="1"/>
          </p:cNvSpPr>
          <p:nvPr>
            <p:ph type="title"/>
          </p:nvPr>
        </p:nvSpPr>
        <p:spPr>
          <a:xfrm>
            <a:off x="609600" y="115888"/>
            <a:ext cx="8229600" cy="777875"/>
          </a:xfrm>
        </p:spPr>
        <p:txBody>
          <a:bodyPr wrap="square" lIns="91440" tIns="45720" rIns="91440" bIns="45720" anchor="b" anchorCtr="0"/>
          <a:p>
            <a:pPr eaLnBrk="1" hangingPunct="1"/>
            <a:r>
              <a:rPr lang="zh-CN" altLang="zh-CN" sz="4700" dirty="0">
                <a:solidFill>
                  <a:srgbClr val="0000FF"/>
                </a:solidFill>
                <a:ea typeface="楷体_GB2312" pitchFamily="1" charset="-122"/>
              </a:rPr>
              <a:t>一、课程简介</a:t>
            </a:r>
            <a:endParaRPr lang="zh-CN" altLang="zh-CN" sz="4700" dirty="0">
              <a:solidFill>
                <a:srgbClr val="0000FF"/>
              </a:solidFill>
              <a:ea typeface="楷体_GB2312" pitchFamily="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5" y="1111885"/>
            <a:ext cx="3755202" cy="5184000"/>
          </a:xfrm>
          <a:prstGeom prst="rect">
            <a:avLst/>
          </a:prstGeom>
        </p:spPr>
      </p:pic>
      <p:graphicFrame>
        <p:nvGraphicFramePr>
          <p:cNvPr id="3" name="对象 2"/>
          <p:cNvGraphicFramePr/>
          <p:nvPr>
            <p:custDataLst>
              <p:tags r:id="rId3"/>
            </p:custDataLst>
          </p:nvPr>
        </p:nvGraphicFramePr>
        <p:xfrm>
          <a:off x="5014595" y="1179195"/>
          <a:ext cx="3870325" cy="5443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4" imgW="3867150" imgH="5438775" progId="Paint.Picture">
                  <p:embed/>
                </p:oleObj>
              </mc:Choice>
              <mc:Fallback>
                <p:oleObj name="" r:id="rId4" imgW="3867150" imgH="543877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14595" y="1179195"/>
                        <a:ext cx="3870325" cy="5443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pPr eaLnBrk="1" hangingPunct="1"/>
            <a:r>
              <a:rPr lang="zh-CN" altLang="en-US" dirty="0">
                <a:solidFill>
                  <a:srgbClr val="0000FF"/>
                </a:solidFill>
                <a:sym typeface="楷体_GB2312" pitchFamily="1" charset="-122"/>
              </a:rPr>
              <a:t>MOOC课程</a:t>
            </a:r>
            <a:endParaRPr lang="zh-CN" altLang="en-US" dirty="0">
              <a:solidFill>
                <a:srgbClr val="0000FF"/>
              </a:solidFill>
              <a:sym typeface="楷体_GB2312" pitchFamily="1" charset="-122"/>
            </a:endParaRPr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576263" y="1160463"/>
            <a:ext cx="7991475" cy="5040313"/>
          </a:xfrm>
        </p:spPr>
        <p:txBody>
          <a:bodyPr wrap="square" lIns="91440" tIns="45720" rIns="91440" bIns="45720" anchor="t"/>
          <a:p>
            <a:pPr marL="469900" marR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</a:pPr>
            <a:r>
              <a:rPr kumimoji="0" lang="zh-CN" altLang="en-US" sz="24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《电子线路设计、测试与实验(一)》</a:t>
            </a:r>
            <a:r>
              <a:rPr kumimoji="0" lang="zh-CN" altLang="en-US" sz="30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http://www.icourse163.org/learn/HUST-1001942004</a:t>
            </a:r>
            <a:endParaRPr kumimoji="0" lang="zh-CN" altLang="en-US" sz="3000" b="1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endParaRPr kumimoji="0" lang="zh-CN" altLang="en-US" sz="3000" b="1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69900" marR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</a:pPr>
            <a:r>
              <a:rPr kumimoji="0" lang="zh-CN" altLang="en-US" sz="24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《电子线路设计、测试与实验(二)》</a:t>
            </a:r>
            <a:r>
              <a:rPr kumimoji="0" lang="zh-CN" altLang="en-US" sz="30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http://www.icourse163.org/learn/HUST-1001943003</a:t>
            </a:r>
            <a:endParaRPr kumimoji="0" lang="zh-CN" altLang="en-US" sz="3000" b="1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69900" marR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</a:pPr>
            <a:endParaRPr kumimoji="0" lang="zh-CN" altLang="en-US" sz="3000" b="1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69900" marR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</a:pPr>
            <a:r>
              <a:rPr kumimoji="0" lang="zh-CN" altLang="en-US" sz="30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激活账号，需要你输入一个别名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7700" y="5624830"/>
            <a:ext cx="78130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每次上课前会核查预习和</a:t>
            </a:r>
            <a:r>
              <a:rPr lang="en-US" altLang="zh-CN" sz="360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MOOC</a:t>
            </a:r>
            <a:r>
              <a:rPr lang="zh-CN" altLang="en-US" sz="360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情况</a:t>
            </a:r>
            <a:endParaRPr lang="zh-CN" altLang="en-US" sz="360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28715" y="1125220"/>
            <a:ext cx="15621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kern="0" dirty="0">
                <a:solidFill>
                  <a:srgbClr val="FF0000"/>
                </a:solidFill>
                <a:latin typeface="+mn-lt"/>
                <a:ea typeface="+mn-ea"/>
                <a:sym typeface="+mn-ea"/>
              </a:rPr>
              <a:t>（模拟部分）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192520" y="2853055"/>
            <a:ext cx="15621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dirty="0">
                <a:solidFill>
                  <a:srgbClr val="FF0000"/>
                </a:solidFill>
                <a:sym typeface="+mn-ea"/>
              </a:rPr>
              <a:t>（数字部分）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215900" y="1052513"/>
            <a:ext cx="8677275" cy="5364163"/>
          </a:xfrm>
        </p:spPr>
        <p:txBody>
          <a:bodyPr wrap="square" lIns="91440" tIns="45720" rIns="91440" bIns="45720" anchor="t"/>
          <a:p>
            <a:pPr marL="469900" marR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</a:pP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平时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单元测试，考试</a:t>
            </a:r>
            <a:endParaRPr kumimoji="0" lang="zh-CN" altLang="zh-CN" sz="2600" b="1" i="0" u="none" strike="noStrike" kern="0" cap="none" spc="0" normalizeH="0" baseline="0" noProof="1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endParaRPr kumimoji="0" lang="zh-CN" altLang="zh-CN" sz="2600" b="1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69900" marR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</a:pP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要求各位同学通过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+mn-ea"/>
              </a:rPr>
              <a:t>“讨论”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写笔记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提问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评论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传资料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等形式加入课堂。</a:t>
            </a:r>
            <a:endParaRPr kumimoji="0" lang="zh-CN" altLang="zh-CN" sz="2600" b="1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endParaRPr kumimoji="0" lang="zh-CN" altLang="zh-CN" sz="2600" b="1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69900" marR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</a:pP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其次，需要强调的是，每位同学需要对自己的账号、密码及活动负责。需要注意国家关于互联网活动的法律法规，不要在课程社区上发表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不符合国家法律法规</a:t>
            </a:r>
            <a:r>
              <a:rPr kumimoji="0" lang="zh-CN" altLang="zh-CN" sz="26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的不当言论，不要在课程社区上发表与课程无关的言论及资料。</a:t>
            </a:r>
            <a:endParaRPr kumimoji="0" lang="zh-CN" altLang="zh-CN" sz="2600" b="1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794" name="Rectangle 2"/>
          <p:cNvSpPr>
            <a:spLocks noGrp="1"/>
          </p:cNvSpPr>
          <p:nvPr/>
        </p:nvSpPr>
        <p:spPr>
          <a:xfrm>
            <a:off x="441325" y="85090"/>
            <a:ext cx="7991475" cy="75120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FF"/>
                </a:solidFill>
                <a:sym typeface="楷体_GB2312" pitchFamily="1" charset="-122"/>
              </a:rPr>
              <a:t>MOOC课程</a:t>
            </a:r>
            <a:endParaRPr lang="zh-CN" altLang="en-US" dirty="0">
              <a:solidFill>
                <a:srgbClr val="0000FF"/>
              </a:solidFill>
              <a:sym typeface="楷体_GB2312" pitchFamily="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2289" name="Rectangle 2"/>
          <p:cNvSpPr>
            <a:spLocks noGrp="1"/>
          </p:cNvSpPr>
          <p:nvPr>
            <p:ph type="title"/>
          </p:nvPr>
        </p:nvSpPr>
        <p:spPr>
          <a:xfrm>
            <a:off x="609600" y="115888"/>
            <a:ext cx="8229600" cy="777875"/>
          </a:xfrm>
        </p:spPr>
        <p:txBody>
          <a:bodyPr wrap="square" lIns="91440" tIns="45720" rIns="91440" bIns="45720" anchor="b" anchorCtr="0"/>
          <a:p>
            <a:pPr eaLnBrk="1" hangingPunct="1"/>
            <a:r>
              <a:rPr lang="zh-CN" altLang="zh-CN" sz="4700" dirty="0">
                <a:solidFill>
                  <a:srgbClr val="0000FF"/>
                </a:solidFill>
                <a:ea typeface="楷体_GB2312" pitchFamily="1" charset="-122"/>
              </a:rPr>
              <a:t>一、课程简介</a:t>
            </a:r>
            <a:endParaRPr lang="zh-CN" altLang="zh-CN" sz="4700" dirty="0">
              <a:solidFill>
                <a:srgbClr val="0000FF"/>
              </a:solidFill>
              <a:ea typeface="楷体_GB2312" pitchFamily="1" charset="-122"/>
            </a:endParaRPr>
          </a:p>
        </p:txBody>
      </p:sp>
      <p:sp>
        <p:nvSpPr>
          <p:cNvPr id="12290" name="Rectangle 3"/>
          <p:cNvSpPr>
            <a:spLocks noGrp="1"/>
          </p:cNvSpPr>
          <p:nvPr>
            <p:ph idx="1"/>
          </p:nvPr>
        </p:nvSpPr>
        <p:spPr>
          <a:xfrm>
            <a:off x="412750" y="1130300"/>
            <a:ext cx="7640637" cy="971550"/>
          </a:xfrm>
        </p:spPr>
        <p:txBody>
          <a:bodyPr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zh-CN" altLang="zh-CN" sz="2900" dirty="0">
                <a:latin typeface="楷体_GB2312" pitchFamily="1" charset="-122"/>
              </a:rPr>
              <a:t>课程名称：</a:t>
            </a:r>
            <a:r>
              <a:rPr lang="zh-CN" altLang="zh-CN" sz="2900" dirty="0">
                <a:solidFill>
                  <a:schemeClr val="tx1"/>
                </a:solidFill>
                <a:latin typeface="楷体_GB2312" pitchFamily="1" charset="-122"/>
              </a:rPr>
              <a:t>电子线路设计、测试与实验 </a:t>
            </a:r>
            <a:endParaRPr lang="zh-CN" altLang="zh-CN" sz="2900" dirty="0">
              <a:solidFill>
                <a:schemeClr val="tx1"/>
              </a:solidFill>
              <a:latin typeface="楷体_GB2312" pitchFamily="1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zh-CN" sz="2900" dirty="0">
                <a:solidFill>
                  <a:schemeClr val="tx1"/>
                </a:solidFill>
                <a:latin typeface="楷体_GB2312" pitchFamily="1" charset="-122"/>
              </a:rPr>
              <a:t>            (国家级精品课程) </a:t>
            </a:r>
            <a:endParaRPr lang="zh-CN" altLang="zh-CN" sz="2900" dirty="0">
              <a:solidFill>
                <a:schemeClr val="tx1"/>
              </a:solidFill>
              <a:latin typeface="楷体_GB2312" pitchFamily="1" charset="-122"/>
            </a:endParaRPr>
          </a:p>
        </p:txBody>
      </p:sp>
      <p:sp>
        <p:nvSpPr>
          <p:cNvPr id="5124" name="Rectangle 4"/>
          <p:cNvSpPr/>
          <p:nvPr/>
        </p:nvSpPr>
        <p:spPr>
          <a:xfrm>
            <a:off x="412750" y="2281555"/>
            <a:ext cx="8553450" cy="18621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zh-CN" sz="3000" dirty="0">
                <a:latin typeface="楷体_GB2312" pitchFamily="1" charset="-122"/>
                <a:ea typeface="楷体_GB2312" pitchFamily="1" charset="-122"/>
              </a:rPr>
              <a:t>课程性质：</a:t>
            </a:r>
            <a:r>
              <a:rPr lang="zh-CN" altLang="en-US" sz="3000">
                <a:sym typeface="+mn-ea"/>
              </a:rPr>
              <a:t>专业公共基础实验课</a:t>
            </a:r>
            <a:r>
              <a:rPr lang="zh-CN" altLang="zh-CN" sz="3000" dirty="0">
                <a:latin typeface="楷体_GB2312" pitchFamily="1" charset="-122"/>
                <a:ea typeface="楷体_GB2312" pitchFamily="1" charset="-122"/>
              </a:rPr>
              <a:t>，必修课</a:t>
            </a:r>
            <a:endParaRPr lang="zh-CN" altLang="zh-CN" sz="3000" dirty="0">
              <a:latin typeface="楷体_GB2312" pitchFamily="1" charset="-122"/>
              <a:ea typeface="楷体_GB2312" pitchFamily="1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zh-CN" sz="3000" dirty="0">
                <a:latin typeface="楷体_GB2312" pitchFamily="1" charset="-122"/>
                <a:ea typeface="楷体_GB2312" pitchFamily="1" charset="-122"/>
              </a:rPr>
              <a:t>            </a:t>
            </a:r>
            <a:r>
              <a:rPr lang="en-US" altLang="zh-CN" sz="3000" dirty="0">
                <a:latin typeface="楷体_GB2312" pitchFamily="1" charset="-122"/>
                <a:ea typeface="楷体_GB2312" pitchFamily="1" charset="-122"/>
              </a:rPr>
              <a:t>48</a:t>
            </a:r>
            <a:r>
              <a:rPr lang="zh-CN" altLang="en-US" sz="3000" dirty="0">
                <a:latin typeface="楷体_GB2312" pitchFamily="1" charset="-122"/>
                <a:ea typeface="楷体_GB2312" pitchFamily="1" charset="-122"/>
              </a:rPr>
              <a:t>学时</a:t>
            </a:r>
            <a:r>
              <a:rPr lang="zh-CN" altLang="zh-CN" sz="3000" dirty="0">
                <a:latin typeface="楷体_GB2312" pitchFamily="1" charset="-122"/>
                <a:ea typeface="楷体_GB2312" pitchFamily="1" charset="-122"/>
              </a:rPr>
              <a:t>，本学期完成；</a:t>
            </a:r>
            <a:endParaRPr lang="zh-CN" altLang="zh-CN" sz="3000" dirty="0">
              <a:latin typeface="楷体_GB2312" pitchFamily="1" charset="-122"/>
              <a:ea typeface="楷体_GB2312" pitchFamily="1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zh-CN" sz="3000" dirty="0">
                <a:latin typeface="楷体_GB2312" pitchFamily="1" charset="-122"/>
                <a:ea typeface="楷体_GB2312" pitchFamily="1" charset="-122"/>
              </a:rPr>
              <a:t>   </a:t>
            </a:r>
            <a:r>
              <a:rPr lang="en-US" altLang="zh-CN" sz="3000" dirty="0">
                <a:latin typeface="楷体_GB2312" pitchFamily="1" charset="-122"/>
                <a:ea typeface="楷体_GB2312" pitchFamily="1" charset="-122"/>
              </a:rPr>
              <a:t>         </a:t>
            </a:r>
            <a:r>
              <a:rPr lang="zh-CN" altLang="zh-CN" sz="3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模拟</a:t>
            </a:r>
            <a:r>
              <a:rPr lang="en-US" altLang="zh-CN" sz="3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+</a:t>
            </a:r>
            <a:r>
              <a:rPr lang="zh-CN" altLang="en-US" sz="3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数字</a:t>
            </a:r>
            <a:r>
              <a:rPr lang="zh-CN" altLang="en-US" sz="3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部分（见教学计划）</a:t>
            </a:r>
            <a:endParaRPr lang="zh-CN" altLang="zh-CN" sz="3000" dirty="0">
              <a:latin typeface="楷体_GB2312" pitchFamily="1" charset="-122"/>
              <a:ea typeface="楷体_GB2312" pitchFamily="1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zh-CN" sz="3000" dirty="0">
                <a:latin typeface="楷体_GB2312" pitchFamily="1" charset="-122"/>
                <a:ea typeface="楷体_GB2312" pitchFamily="1" charset="-122"/>
              </a:rPr>
              <a:t>  </a:t>
            </a:r>
            <a:endParaRPr lang="zh-CN" altLang="zh-CN" sz="30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5125" name="Rectangle 5"/>
          <p:cNvSpPr/>
          <p:nvPr/>
        </p:nvSpPr>
        <p:spPr>
          <a:xfrm>
            <a:off x="412750" y="4184650"/>
            <a:ext cx="8640763" cy="13684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469900" indent="-469900" fontAlgn="base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zh-CN" sz="3000" strike="noStrike" noProof="1" dirty="0">
                <a:latin typeface="楷体_GB2312" pitchFamily="1" charset="-122"/>
                <a:ea typeface="楷体_GB2312" pitchFamily="1" charset="-122"/>
                <a:cs typeface="+mn-cs"/>
              </a:rPr>
              <a:t>教材:</a:t>
            </a:r>
            <a:r>
              <a:rPr lang="zh-CN" altLang="zh-CN" sz="3000" strike="noStrike" noProof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  <a:cs typeface="+mn-cs"/>
              </a:rPr>
              <a:t>《电子技术基础实验》（第四版）</a:t>
            </a:r>
            <a:endParaRPr lang="zh-CN" altLang="zh-CN" sz="3000" strike="noStrike" noProof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fontAlgn="base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zh-CN" sz="3000" strike="noStrike" noProof="1" dirty="0">
                <a:latin typeface="楷体_GB2312" pitchFamily="1" charset="-122"/>
                <a:ea typeface="楷体_GB2312" pitchFamily="1" charset="-122"/>
                <a:cs typeface="+mn-cs"/>
              </a:rPr>
              <a:t>     罗杰 主编，高等教育出版社, 20</a:t>
            </a:r>
            <a:r>
              <a:rPr lang="en-US" altLang="zh-CN" sz="3000" strike="noStrike" noProof="1" dirty="0">
                <a:latin typeface="楷体_GB2312" pitchFamily="1" charset="-122"/>
                <a:ea typeface="楷体_GB2312" pitchFamily="1" charset="-122"/>
                <a:cs typeface="+mn-cs"/>
              </a:rPr>
              <a:t>17</a:t>
            </a:r>
            <a:r>
              <a:rPr lang="zh-CN" altLang="zh-CN" sz="3000" strike="noStrike" noProof="1" dirty="0">
                <a:latin typeface="楷体_GB2312" pitchFamily="1" charset="-122"/>
                <a:ea typeface="楷体_GB2312" pitchFamily="1" charset="-122"/>
                <a:cs typeface="+mn-cs"/>
              </a:rPr>
              <a:t>年</a:t>
            </a:r>
            <a:endParaRPr lang="zh-CN" altLang="zh-CN" sz="3000" strike="noStrike" noProof="1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2293" name="文本框 1"/>
          <p:cNvSpPr txBox="1"/>
          <p:nvPr/>
        </p:nvSpPr>
        <p:spPr>
          <a:xfrm>
            <a:off x="412750" y="4729163"/>
            <a:ext cx="309563" cy="552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zh-CN" altLang="en-US" sz="3000" dirty="0">
              <a:latin typeface="Verdana" panose="020B0604030504040204" pitchFamily="34" charset="0"/>
              <a:ea typeface="楷体_GB2312" pitchFamily="1" charset="-122"/>
            </a:endParaRPr>
          </a:p>
        </p:txBody>
      </p:sp>
      <p:graphicFrame>
        <p:nvGraphicFramePr>
          <p:cNvPr id="2" name="对象 1"/>
          <p:cNvGraphicFramePr/>
          <p:nvPr>
            <p:custDataLst>
              <p:tags r:id="rId1"/>
            </p:custDataLst>
          </p:nvPr>
        </p:nvGraphicFramePr>
        <p:xfrm>
          <a:off x="2555875" y="873125"/>
          <a:ext cx="3870325" cy="5443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" imgW="3867150" imgH="5438775" progId="Paint.Picture">
                  <p:embed/>
                </p:oleObj>
              </mc:Choice>
              <mc:Fallback>
                <p:oleObj name="" r:id="rId2" imgW="3867150" imgH="543877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55875" y="873125"/>
                        <a:ext cx="3870325" cy="5443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/>
      <p:bldP spid="51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olidFill>
                  <a:srgbClr val="0000FF"/>
                </a:solidFill>
              </a:rPr>
              <a:t>自动化202104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43755" y="3496945"/>
            <a:ext cx="43948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电子线路设计、测试与实验（一）（</a:t>
            </a:r>
            <a:r>
              <a:rPr lang="zh-CN" altLang="en-US">
                <a:solidFill>
                  <a:srgbClr val="FF0000"/>
                </a:solidFill>
              </a:rPr>
              <a:t>模电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628515" y="5615305"/>
            <a:ext cx="43948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电子线路设计、测试与实验（二）（</a:t>
            </a:r>
            <a:r>
              <a:rPr lang="zh-CN" altLang="en-US">
                <a:solidFill>
                  <a:srgbClr val="FF0000"/>
                </a:solidFill>
              </a:rPr>
              <a:t>数电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754880" y="1165225"/>
            <a:ext cx="38252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rgbClr val="FF0000"/>
                </a:solidFill>
                <a:sym typeface="楷体_GB2312" pitchFamily="1" charset="-122"/>
              </a:rPr>
              <a:t>MOOC课程（汪小燕 华中科技大学）</a:t>
            </a:r>
            <a:endParaRPr lang="zh-CN" altLang="en-US" dirty="0">
              <a:solidFill>
                <a:srgbClr val="FF0000"/>
              </a:solidFill>
              <a:sym typeface="楷体_GB2312" pitchFamily="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5310" y="1092200"/>
            <a:ext cx="8724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微助教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3850" y="5615305"/>
            <a:ext cx="39084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课堂名称：自动化202104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课堂编号：JS644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252095" y="1462405"/>
            <a:ext cx="4095750" cy="4095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63830" y="905510"/>
            <a:ext cx="9025890" cy="1371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请 注册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认证学校云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加入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SPOC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课堂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按本课程安排进度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2722F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学习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&amp;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5644F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互动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&amp;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5644F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单元测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2722F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&amp;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2722F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期末测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2722FA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2722FA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9939" name="Picture 3" hidden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593975"/>
            <a:ext cx="6480175" cy="3984625"/>
          </a:xfrm>
          <a:prstGeom prst="rect">
            <a:avLst/>
          </a:prstGeom>
          <a:noFill/>
          <a:ln w="31750" cap="flat" cmpd="thickThin">
            <a:solidFill>
              <a:srgbClr val="2722FA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2025015"/>
            <a:ext cx="2751138" cy="5470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r="36613"/>
          <a:stretch>
            <a:fillRect/>
          </a:stretch>
        </p:blipFill>
        <p:spPr>
          <a:xfrm>
            <a:off x="3635693" y="2096453"/>
            <a:ext cx="5797550" cy="4702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794" name="Rectangle 2"/>
          <p:cNvSpPr>
            <a:spLocks noGrp="1"/>
          </p:cNvSpPr>
          <p:nvPr/>
        </p:nvSpPr>
        <p:spPr>
          <a:xfrm>
            <a:off x="441325" y="85090"/>
            <a:ext cx="7991475" cy="75120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FF"/>
                </a:solidFill>
                <a:sym typeface="楷体_GB2312" pitchFamily="1" charset="-122"/>
              </a:rPr>
              <a:t>MOOC课程</a:t>
            </a:r>
            <a:endParaRPr lang="zh-CN" altLang="en-US" dirty="0">
              <a:solidFill>
                <a:srgbClr val="0000FF"/>
              </a:solidFill>
              <a:sym typeface="楷体_GB2312" pitchFamily="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66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91" end="2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>
                <a:solidFill>
                  <a:srgbClr val="7030A0"/>
                </a:solidFill>
                <a:ea typeface="华文楷体" panose="02010600040101010101" pitchFamily="2" charset="-122"/>
              </a:rPr>
              <a:t>MOOC</a:t>
            </a:r>
            <a:r>
              <a:rPr lang="zh-CN" altLang="en-US" sz="4000" dirty="0">
                <a:solidFill>
                  <a:srgbClr val="7030A0"/>
                </a:solidFill>
                <a:ea typeface="华文楷体" panose="02010600040101010101" pitchFamily="2" charset="-122"/>
              </a:rPr>
              <a:t>学习</a:t>
            </a:r>
            <a:endParaRPr lang="zh-CN" altLang="en-US" sz="4000" dirty="0">
              <a:solidFill>
                <a:schemeClr val="tx1"/>
              </a:solidFill>
              <a:ea typeface="华文楷体" panose="02010600040101010101" pitchFamily="2" charset="-122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1125538"/>
            <a:ext cx="7850188" cy="49672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722FA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   本课程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722FA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MOOC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722FA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在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中国大学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MOOC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网站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https://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www.icourse163.org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learn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/HUST-1001942004#/info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电测（一） 即模拟部分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https://www.icourse163.org/learn/HUST-1001943003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#/info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电测（二） 即数字部分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请 注册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认证学校云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加入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SPOC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课堂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按本课程安排进度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2722F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学习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&amp;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5644F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互动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&amp;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5644F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单元测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2722F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&amp;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2722FA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期末测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2722FA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MOOC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学校云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-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学生注册，认证指南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.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docx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2722FA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9939" name="Picture 3" hidden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593975"/>
            <a:ext cx="6480175" cy="3984625"/>
          </a:xfrm>
          <a:prstGeom prst="rect">
            <a:avLst/>
          </a:prstGeom>
          <a:noFill/>
          <a:ln w="31750" cap="flat" cmpd="thickThin">
            <a:solidFill>
              <a:srgbClr val="2722FA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" y="981075"/>
            <a:ext cx="2751138" cy="5470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r="36613"/>
          <a:stretch>
            <a:fillRect/>
          </a:stretch>
        </p:blipFill>
        <p:spPr>
          <a:xfrm>
            <a:off x="3059113" y="1655763"/>
            <a:ext cx="5797550" cy="4702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26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96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66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91" end="2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214" end="2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480" y="3987998"/>
            <a:ext cx="4772770" cy="166891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0920" y="1114426"/>
            <a:ext cx="962025" cy="358378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1800" b="1" dirty="0">
                <a:solidFill>
                  <a:srgbClr val="FF0000"/>
                </a:solidFill>
              </a:rPr>
              <a:t>微助教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42577" y="3538538"/>
            <a:ext cx="1790700" cy="584597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慕课堂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604" y="3987998"/>
            <a:ext cx="4353396" cy="155912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424" y="1093292"/>
            <a:ext cx="5786657" cy="218836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42315" y="368300"/>
            <a:ext cx="2372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>
                <a:solidFill>
                  <a:srgbClr val="FF0000"/>
                </a:solidFill>
                <a:sym typeface="+mn-ea"/>
              </a:rPr>
              <a:t>光</a:t>
            </a:r>
            <a:r>
              <a:rPr lang="zh-CN" sz="2800">
                <a:solidFill>
                  <a:srgbClr val="FF0000"/>
                </a:solidFill>
                <a:sym typeface="+mn-ea"/>
              </a:rPr>
              <a:t>实</a:t>
            </a:r>
            <a:r>
              <a:rPr sz="2800">
                <a:solidFill>
                  <a:srgbClr val="FF0000"/>
                </a:solidFill>
                <a:sym typeface="+mn-ea"/>
              </a:rPr>
              <a:t>2001班</a:t>
            </a:r>
            <a:endParaRPr lang="zh-CN" altLang="en-US" sz="28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课程教学目的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360" y="1196340"/>
            <a:ext cx="8246110" cy="4545965"/>
          </a:xfrm>
        </p:spPr>
        <p:txBody>
          <a:bodyPr/>
          <a:p>
            <a:pPr marL="0" indent="0">
              <a:buNone/>
            </a:pPr>
            <a:endParaRPr lang="zh-CN" altLang="en-US"/>
          </a:p>
          <a:p>
            <a:pPr lvl="1"/>
            <a:r>
              <a:rPr lang="zh-CN" altLang="en-US"/>
              <a:t>基本理论知识</a:t>
            </a:r>
            <a:endParaRPr lang="zh-CN" altLang="en-US"/>
          </a:p>
          <a:p>
            <a:pPr lvl="2"/>
            <a:r>
              <a:rPr lang="zh-CN" altLang="en-US"/>
              <a:t>原理方法与实验分析调试的连结关系</a:t>
            </a:r>
            <a:endParaRPr lang="zh-CN" altLang="en-US"/>
          </a:p>
          <a:p>
            <a:pPr lvl="2"/>
            <a:r>
              <a:rPr lang="zh-CN" altLang="en-US"/>
              <a:t>树立正确的实验观</a:t>
            </a:r>
            <a:r>
              <a:rPr lang="zh-CN" altLang="en-US">
                <a:sym typeface="+mn-ea"/>
              </a:rPr>
              <a:t>（课程基础）</a:t>
            </a:r>
            <a:endParaRPr lang="zh-CN" altLang="en-US"/>
          </a:p>
          <a:p>
            <a:pPr lvl="1"/>
            <a:r>
              <a:rPr lang="zh-CN" altLang="en-US"/>
              <a:t>电子电路分析能力</a:t>
            </a:r>
            <a:endParaRPr lang="zh-CN" altLang="en-US"/>
          </a:p>
          <a:p>
            <a:pPr lvl="2"/>
            <a:r>
              <a:rPr lang="zh-CN" altLang="en-US"/>
              <a:t>掌握实验分析方法</a:t>
            </a:r>
            <a:endParaRPr lang="en-US" altLang="zh-CN"/>
          </a:p>
          <a:p>
            <a:pPr lvl="2"/>
            <a:r>
              <a:rPr lang="zh-CN" altLang="en-US" sz="2300">
                <a:sym typeface="+mn-ea"/>
              </a:rPr>
              <a:t>正确认识问题、分析问题和解决问题的能力</a:t>
            </a:r>
            <a:endParaRPr lang="zh-CN" altLang="en-US" sz="2300">
              <a:sym typeface="+mn-ea"/>
            </a:endParaRPr>
          </a:p>
          <a:p>
            <a:pPr lvl="2"/>
            <a:r>
              <a:rPr lang="zh-CN" altLang="en-US" sz="2300">
                <a:sym typeface="+mn-ea"/>
              </a:rPr>
              <a:t>级联调试方法（目标分解与问题解耦合）</a:t>
            </a:r>
            <a:endParaRPr lang="zh-CN" altLang="en-US"/>
          </a:p>
          <a:p>
            <a:pPr lvl="1"/>
            <a:r>
              <a:rPr lang="zh-CN" altLang="en-US"/>
              <a:t>实际应用能力</a:t>
            </a:r>
            <a:endParaRPr lang="zh-CN" altLang="en-US"/>
          </a:p>
          <a:p>
            <a:pPr lvl="2"/>
            <a:r>
              <a:rPr lang="zh-CN" altLang="en-US"/>
              <a:t>从验证到设计，鼓励创新思维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教学重点与难点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重点</a:t>
            </a:r>
            <a:endParaRPr lang="zh-CN" altLang="en-US"/>
          </a:p>
          <a:p>
            <a:pPr lvl="1"/>
            <a:r>
              <a:rPr lang="zh-CN" altLang="en-US"/>
              <a:t>实验原理</a:t>
            </a:r>
            <a:endParaRPr lang="zh-CN" altLang="en-US"/>
          </a:p>
          <a:p>
            <a:pPr lvl="1"/>
            <a:r>
              <a:rPr lang="zh-CN" altLang="en-US"/>
              <a:t>分析基本原理和方法</a:t>
            </a:r>
            <a:endParaRPr lang="zh-CN" altLang="en-US"/>
          </a:p>
          <a:p>
            <a:pPr lvl="1"/>
            <a:r>
              <a:rPr lang="zh-CN" altLang="en-US"/>
              <a:t>单元实验设计分析</a:t>
            </a:r>
            <a:endParaRPr lang="zh-CN" altLang="en-US"/>
          </a:p>
          <a:p>
            <a:r>
              <a:rPr lang="zh-CN" altLang="en-US"/>
              <a:t>难点</a:t>
            </a:r>
            <a:endParaRPr lang="zh-CN" altLang="en-US"/>
          </a:p>
          <a:p>
            <a:pPr lvl="1"/>
            <a:r>
              <a:rPr lang="zh-CN" altLang="en-US"/>
              <a:t>单元实验调试分析方法</a:t>
            </a:r>
            <a:endParaRPr lang="zh-CN" altLang="en-US"/>
          </a:p>
          <a:p>
            <a:pPr lvl="1"/>
            <a:r>
              <a:rPr lang="zh-CN" altLang="en-US"/>
              <a:t>实际应用问题解决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2"/>
          <p:cNvSpPr>
            <a:spLocks noGrp="1"/>
          </p:cNvSpPr>
          <p:nvPr>
            <p:ph type="title"/>
          </p:nvPr>
        </p:nvSpPr>
        <p:spPr>
          <a:xfrm>
            <a:off x="431800" y="104140"/>
            <a:ext cx="8453120" cy="718820"/>
          </a:xfrm>
        </p:spPr>
        <p:txBody>
          <a:bodyPr wrap="square" lIns="91440" tIns="45720" rIns="91440" bIns="45720" anchor="b" anchorCtr="0"/>
          <a:p>
            <a:pPr eaLnBrk="1" hangingPunct="1"/>
            <a:r>
              <a:rPr lang="en-US" altLang="zh-CN" sz="3600" dirty="0">
                <a:solidFill>
                  <a:srgbClr val="FF0000"/>
                </a:solidFill>
                <a:ea typeface="楷体_GB2312" pitchFamily="1" charset="-122"/>
              </a:rPr>
              <a:t>1</a:t>
            </a:r>
            <a:r>
              <a:rPr lang="zh-CN" altLang="en-US" sz="3600" dirty="0">
                <a:solidFill>
                  <a:srgbClr val="FF0000"/>
                </a:solidFill>
                <a:ea typeface="楷体_GB2312" pitchFamily="1" charset="-122"/>
              </a:rPr>
              <a:t>、</a:t>
            </a:r>
            <a:r>
              <a:rPr lang="zh-CN" altLang="zh-CN" sz="3600" dirty="0">
                <a:solidFill>
                  <a:srgbClr val="FF0000"/>
                </a:solidFill>
                <a:ea typeface="楷体_GB2312" pitchFamily="1" charset="-122"/>
              </a:rPr>
              <a:t>课程目标</a:t>
            </a:r>
            <a:r>
              <a:rPr lang="zh-CN" altLang="zh-CN" sz="3400" dirty="0">
                <a:solidFill>
                  <a:srgbClr val="FF0000"/>
                </a:solidFill>
                <a:latin typeface="宋体" panose="02010600030101010101" pitchFamily="2" charset="-122"/>
              </a:rPr>
              <a:t> — 培养电路设计与装调能力</a:t>
            </a:r>
            <a:endParaRPr lang="zh-CN" altLang="zh-CN" sz="3400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3315" name="Rectangle 3"/>
          <p:cNvSpPr/>
          <p:nvPr/>
        </p:nvSpPr>
        <p:spPr>
          <a:xfrm>
            <a:off x="352425" y="1979930"/>
            <a:ext cx="8027670" cy="5016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 algn="l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zh-CN" sz="3000" dirty="0">
                <a:latin typeface="Times New Roman" panose="02020603050405020304" pitchFamily="18" charset="0"/>
                <a:ea typeface="楷体_GB2312" pitchFamily="1" charset="-122"/>
              </a:rPr>
              <a:t>使用常用电子仪器</a:t>
            </a:r>
            <a:endParaRPr lang="zh-CN" altLang="zh-CN" sz="3000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13316" name="Rectangle 4"/>
          <p:cNvSpPr/>
          <p:nvPr/>
        </p:nvSpPr>
        <p:spPr>
          <a:xfrm>
            <a:off x="352425" y="2662555"/>
            <a:ext cx="8243570" cy="58039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0" lvl="1" indent="-469900" algn="l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en-US" sz="3000">
                <a:sym typeface="+mn-ea"/>
              </a:rPr>
              <a:t>应用能力：</a:t>
            </a:r>
            <a:r>
              <a:rPr lang="zh-CN" altLang="zh-CN" sz="3000" dirty="0">
                <a:latin typeface="Times New Roman" panose="02020603050405020304" pitchFamily="18" charset="0"/>
                <a:ea typeface="楷体_GB2312" pitchFamily="1" charset="-122"/>
              </a:rPr>
              <a:t>设计</a:t>
            </a:r>
            <a:r>
              <a:rPr lang="zh-CN" altLang="en-US" sz="3000" dirty="0">
                <a:latin typeface="Times New Roman" panose="02020603050405020304" pitchFamily="18" charset="0"/>
                <a:ea typeface="楷体_GB2312" pitchFamily="1" charset="-122"/>
              </a:rPr>
              <a:t>、</a:t>
            </a:r>
            <a:r>
              <a:rPr lang="zh-CN" altLang="en-US" sz="3000" dirty="0">
                <a:latin typeface="Times New Roman" panose="02020603050405020304" pitchFamily="18" charset="0"/>
                <a:ea typeface="楷体_GB2312" pitchFamily="1" charset="-122"/>
              </a:rPr>
              <a:t>安装、测试</a:t>
            </a:r>
            <a:r>
              <a:rPr lang="zh-CN" altLang="zh-CN" sz="3000" dirty="0">
                <a:latin typeface="Times New Roman" panose="02020603050405020304" pitchFamily="18" charset="0"/>
                <a:ea typeface="楷体_GB2312" pitchFamily="1" charset="-122"/>
              </a:rPr>
              <a:t>电路</a:t>
            </a:r>
            <a:endParaRPr lang="zh-CN" altLang="zh-CN" sz="3000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13317" name="Rectangle 5"/>
          <p:cNvSpPr/>
          <p:nvPr/>
        </p:nvSpPr>
        <p:spPr>
          <a:xfrm>
            <a:off x="352425" y="3313430"/>
            <a:ext cx="8376920" cy="393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 algn="l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zh-CN" sz="3000" dirty="0">
                <a:latin typeface="Times New Roman" panose="02020603050405020304" pitchFamily="18" charset="0"/>
                <a:ea typeface="楷体_GB2312" pitchFamily="1" charset="-122"/>
              </a:rPr>
              <a:t>分析</a:t>
            </a:r>
            <a:r>
              <a:rPr lang="zh-CN" altLang="zh-CN" sz="3000" dirty="0">
                <a:latin typeface="Times New Roman" panose="02020603050405020304" pitchFamily="18" charset="0"/>
                <a:ea typeface="楷体_GB2312" pitchFamily="1" charset="-122"/>
              </a:rPr>
              <a:t>能力：分析、寻找和排除实验故障的能力</a:t>
            </a:r>
            <a:endParaRPr lang="zh-CN" altLang="zh-CN" sz="30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marL="0" lvl="2" algn="l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3000" dirty="0">
                <a:latin typeface="Times New Roman" panose="02020603050405020304" pitchFamily="18" charset="0"/>
                <a:ea typeface="楷体_GB2312" pitchFamily="1" charset="-122"/>
              </a:rPr>
              <a:t>                         </a:t>
            </a:r>
            <a:r>
              <a:rPr lang="zh-CN" altLang="en-US" sz="3000">
                <a:solidFill>
                  <a:srgbClr val="FF0000"/>
                </a:solidFill>
                <a:sym typeface="+mn-ea"/>
              </a:rPr>
              <a:t>目标分解与问题解耦合</a:t>
            </a:r>
            <a:endParaRPr lang="zh-CN" altLang="en-US" sz="3000"/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endParaRPr lang="en-US" altLang="zh-CN" sz="3000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13318" name="Rectangle 6"/>
          <p:cNvSpPr/>
          <p:nvPr/>
        </p:nvSpPr>
        <p:spPr>
          <a:xfrm>
            <a:off x="352425" y="4422775"/>
            <a:ext cx="8532495" cy="36068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 algn="l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zh-CN" sz="3000" dirty="0">
                <a:latin typeface="Times New Roman" panose="02020603050405020304" pitchFamily="18" charset="0"/>
                <a:ea typeface="楷体_GB2312" pitchFamily="1" charset="-122"/>
              </a:rPr>
              <a:t>处理实验数据、进行误差分析、写出实验报告</a:t>
            </a:r>
            <a:endParaRPr lang="zh-CN" altLang="zh-CN" sz="3000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13319" name="Rectangle 7"/>
          <p:cNvSpPr/>
          <p:nvPr/>
        </p:nvSpPr>
        <p:spPr>
          <a:xfrm>
            <a:off x="352425" y="5110480"/>
            <a:ext cx="8316595" cy="79819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 algn="l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zh-CN" sz="3000" dirty="0">
                <a:latin typeface="Times New Roman" panose="02020603050405020304" pitchFamily="18" charset="0"/>
                <a:ea typeface="楷体_GB2312" pitchFamily="1" charset="-122"/>
              </a:rPr>
              <a:t>计算机辅助设计：</a:t>
            </a:r>
            <a:r>
              <a:rPr lang="en-US" altLang="zh-CN" sz="3000" dirty="0">
                <a:latin typeface="Times New Roman" panose="02020603050405020304" pitchFamily="18" charset="0"/>
                <a:ea typeface="楷体_GB2312" pitchFamily="1" charset="-122"/>
              </a:rPr>
              <a:t>EDA</a:t>
            </a:r>
            <a:r>
              <a:rPr lang="zh-CN" altLang="zh-CN" sz="3000" dirty="0">
                <a:latin typeface="Times New Roman" panose="02020603050405020304" pitchFamily="18" charset="0"/>
                <a:ea typeface="楷体_GB2312" pitchFamily="1" charset="-122"/>
              </a:rPr>
              <a:t>技术</a:t>
            </a:r>
            <a:r>
              <a:rPr lang="en-US" altLang="zh-CN" sz="3000" dirty="0">
                <a:latin typeface="Times New Roman" panose="02020603050405020304" pitchFamily="18" charset="0"/>
                <a:ea typeface="楷体_GB2312" pitchFamily="1" charset="-122"/>
              </a:rPr>
              <a:t>(PSpice)</a:t>
            </a:r>
            <a:r>
              <a:rPr lang="zh-CN" altLang="en-US" sz="30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zh-CN" altLang="zh-CN" sz="3000" dirty="0">
                <a:latin typeface="Times New Roman" panose="02020603050405020304" pitchFamily="18" charset="0"/>
                <a:ea typeface="楷体_GB2312" pitchFamily="1" charset="-122"/>
              </a:rPr>
              <a:t>FPGA实现简单数字电路</a:t>
            </a:r>
            <a:endParaRPr lang="zh-CN" altLang="zh-CN" sz="3000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14343" name="Rectangle 8"/>
          <p:cNvSpPr/>
          <p:nvPr/>
        </p:nvSpPr>
        <p:spPr>
          <a:xfrm>
            <a:off x="352425" y="5513705"/>
            <a:ext cx="8532812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 algn="l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endParaRPr lang="zh-CN" altLang="en-US" sz="2800" dirty="0">
              <a:solidFill>
                <a:srgbClr val="003399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352425" y="1353820"/>
            <a:ext cx="8162925" cy="47053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 algn="l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en-US" sz="3000">
                <a:sym typeface="+mn-ea"/>
              </a:rPr>
              <a:t>树立正确的实验观（课程基础）</a:t>
            </a:r>
            <a:endParaRPr lang="zh-CN" altLang="zh-CN" sz="3000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3" grpId="1"/>
      <p:bldP spid="3" grpId="0"/>
      <p:bldP spid="3" grpId="1"/>
      <p:bldP spid="13315" grpId="0"/>
      <p:bldP spid="13315" grpId="1"/>
      <p:bldP spid="13316" grpId="0"/>
      <p:bldP spid="13316" grpId="1"/>
      <p:bldP spid="13317" grpId="0"/>
      <p:bldP spid="13317" grpId="1"/>
      <p:bldP spid="13318" grpId="0"/>
      <p:bldP spid="13318" grpId="1"/>
      <p:bldP spid="13319" grpId="0"/>
      <p:bldP spid="13319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43" descr="6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45" y="1726496"/>
            <a:ext cx="219076" cy="132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1279159" y="1964720"/>
            <a:ext cx="6048672" cy="3830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</a:rPr>
              <a:t>实践性</a:t>
            </a:r>
            <a:endParaRPr lang="en-US" altLang="zh-CN" sz="21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  理论联系实际，培养工程实践能力</a:t>
            </a:r>
            <a:b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endParaRPr lang="en-US" altLang="zh-CN" sz="45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</a:rPr>
              <a:t>设计性</a:t>
            </a:r>
            <a:b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面对技术指标设计电路，并装配和调试</a:t>
            </a:r>
            <a:b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endParaRPr lang="en-US" altLang="zh-CN" sz="45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</a:rPr>
              <a:t>开放性</a:t>
            </a:r>
            <a:b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教学内容开放（基本实验与提高性实验）</a:t>
            </a:r>
            <a:b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元器件开放</a:t>
            </a:r>
            <a:b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实验室开放（可通过企业微信预约开放实验）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12294"/>
          <p:cNvSpPr txBox="1">
            <a:spLocks noChangeArrowheads="1"/>
          </p:cNvSpPr>
          <p:nvPr/>
        </p:nvSpPr>
        <p:spPr bwMode="auto">
          <a:xfrm>
            <a:off x="565455" y="1592796"/>
            <a:ext cx="2386365" cy="389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7" tIns="34283" rIns="68567" bIns="34283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charset="-122"/>
              </a:rPr>
              <a:t>课程特点</a:t>
            </a:r>
            <a:endParaRPr lang="zh-CN" altLang="en-US" sz="21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charset="-122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04800" y="971553"/>
            <a:ext cx="5509338" cy="422672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</a:rPr>
              <a:t>课程简介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2"/>
          <p:cNvSpPr>
            <a:spLocks noGrp="1"/>
          </p:cNvSpPr>
          <p:nvPr>
            <p:ph type="title"/>
          </p:nvPr>
        </p:nvSpPr>
        <p:spPr>
          <a:xfrm>
            <a:off x="576263" y="188913"/>
            <a:ext cx="7993062" cy="647700"/>
          </a:xfrm>
        </p:spPr>
        <p:txBody>
          <a:bodyPr wrap="square" lIns="91440" tIns="45720" rIns="91440" bIns="45720" anchor="b" anchorCtr="0"/>
          <a:p>
            <a:pPr eaLnBrk="1" hangingPunct="1"/>
            <a:r>
              <a:rPr lang="en-US" altLang="zh-CN" sz="4700" dirty="0">
                <a:solidFill>
                  <a:srgbClr val="FF0000"/>
                </a:solidFill>
                <a:ea typeface="楷体_GB2312" pitchFamily="1" charset="-122"/>
              </a:rPr>
              <a:t>2</a:t>
            </a:r>
            <a:r>
              <a:rPr lang="zh-CN" altLang="zh-CN" sz="4700" dirty="0">
                <a:solidFill>
                  <a:srgbClr val="FF0000"/>
                </a:solidFill>
                <a:ea typeface="楷体_GB2312" pitchFamily="1" charset="-122"/>
              </a:rPr>
              <a:t>、课程特点与学习方法</a:t>
            </a:r>
            <a:endParaRPr lang="zh-CN" altLang="zh-CN" sz="4700" dirty="0">
              <a:solidFill>
                <a:srgbClr val="FF0000"/>
              </a:solidFill>
              <a:ea typeface="楷体_GB2312" pitchFamily="1" charset="-122"/>
            </a:endParaRPr>
          </a:p>
        </p:txBody>
      </p:sp>
      <p:sp>
        <p:nvSpPr>
          <p:cNvPr id="15363" name="Rectangle 3"/>
          <p:cNvSpPr/>
          <p:nvPr/>
        </p:nvSpPr>
        <p:spPr>
          <a:xfrm>
            <a:off x="315913" y="1019175"/>
            <a:ext cx="8424863" cy="14398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zh-CN" sz="3000" dirty="0">
                <a:solidFill>
                  <a:srgbClr val="003399"/>
                </a:solidFill>
                <a:latin typeface="Verdana" panose="020B0604030504040204" pitchFamily="34" charset="0"/>
                <a:ea typeface="楷体_GB2312" pitchFamily="1" charset="-122"/>
              </a:rPr>
              <a:t>理论与实践相结合，着重培养工程实践能力</a:t>
            </a:r>
            <a:endParaRPr lang="zh-CN" altLang="zh-CN" sz="3000" dirty="0">
              <a:solidFill>
                <a:srgbClr val="003399"/>
              </a:solidFill>
              <a:latin typeface="Verdana" panose="020B0604030504040204" pitchFamily="34" charset="0"/>
              <a:ea typeface="楷体_GB2312" pitchFamily="1" charset="-122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3000" dirty="0">
                <a:latin typeface="Verdana" panose="020B0604030504040204" pitchFamily="34" charset="0"/>
                <a:ea typeface="楷体_GB2312" pitchFamily="1" charset="-122"/>
              </a:rPr>
              <a:t>    </a:t>
            </a:r>
            <a:r>
              <a:rPr lang="zh-CN" altLang="zh-CN" sz="3000" dirty="0">
                <a:latin typeface="Verdana" panose="020B0604030504040204" pitchFamily="34" charset="0"/>
                <a:ea typeface="楷体_GB2312" pitchFamily="1" charset="-122"/>
              </a:rPr>
              <a:t>模拟</a:t>
            </a:r>
            <a:r>
              <a:rPr lang="zh-CN" altLang="zh-CN" sz="3000" dirty="0">
                <a:latin typeface="Verdana" panose="020B0604030504040204" pitchFamily="34" charset="0"/>
                <a:ea typeface="楷体_GB2312" pitchFamily="1" charset="-122"/>
              </a:rPr>
              <a:t>电路、数字电路与逻辑设计等课程</a:t>
            </a:r>
            <a:endParaRPr lang="zh-CN" altLang="zh-CN" sz="3000" dirty="0">
              <a:latin typeface="Verdana" panose="020B0604030504040204" pitchFamily="34" charset="0"/>
              <a:ea typeface="楷体_GB2312" pitchFamily="1" charset="-122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3000" dirty="0">
                <a:latin typeface="Verdana" panose="020B0604030504040204" pitchFamily="34" charset="0"/>
                <a:ea typeface="楷体_GB2312" pitchFamily="1" charset="-122"/>
              </a:rPr>
              <a:t>  </a:t>
            </a:r>
            <a:r>
              <a:rPr lang="en-US" altLang="zh-CN" sz="3000" dirty="0">
                <a:solidFill>
                  <a:srgbClr val="FF0000"/>
                </a:solidFill>
                <a:latin typeface="Verdana" panose="020B0604030504040204" pitchFamily="34" charset="0"/>
                <a:ea typeface="楷体_GB2312" pitchFamily="1" charset="-122"/>
              </a:rPr>
              <a:t>  </a:t>
            </a:r>
            <a:r>
              <a:rPr lang="zh-CN" altLang="zh-CN" sz="3000" dirty="0">
                <a:solidFill>
                  <a:srgbClr val="FF0000"/>
                </a:solidFill>
                <a:latin typeface="Verdana" panose="020B0604030504040204" pitchFamily="34" charset="0"/>
                <a:ea typeface="楷体_GB2312" pitchFamily="1" charset="-122"/>
              </a:rPr>
              <a:t>理论与实践有机结合起来</a:t>
            </a:r>
            <a:endParaRPr lang="zh-CN" altLang="zh-CN" sz="3000" dirty="0">
              <a:solidFill>
                <a:srgbClr val="FF0000"/>
              </a:solidFill>
              <a:latin typeface="Verdana" panose="020B0604030504040204" pitchFamily="34" charset="0"/>
              <a:ea typeface="楷体_GB2312" pitchFamily="1" charset="-122"/>
            </a:endParaRPr>
          </a:p>
        </p:txBody>
      </p:sp>
      <p:sp>
        <p:nvSpPr>
          <p:cNvPr id="8196" name="Rectangle 4"/>
          <p:cNvSpPr/>
          <p:nvPr/>
        </p:nvSpPr>
        <p:spPr>
          <a:xfrm>
            <a:off x="315913" y="3349625"/>
            <a:ext cx="8715375" cy="573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zh-CN" sz="3000" dirty="0">
                <a:solidFill>
                  <a:srgbClr val="003399"/>
                </a:solidFill>
                <a:latin typeface="Verdana" panose="020B0604030504040204" pitchFamily="34" charset="0"/>
                <a:ea typeface="楷体_GB2312" pitchFamily="1" charset="-122"/>
              </a:rPr>
              <a:t>本课程是一门设计性实验课</a:t>
            </a:r>
            <a:endParaRPr lang="zh-CN" altLang="zh-CN" sz="3000" dirty="0">
              <a:latin typeface="Verdana" panose="020B0604030504040204" pitchFamily="34" charset="0"/>
              <a:ea typeface="楷体_GB2312" pitchFamily="1" charset="-122"/>
            </a:endParaRPr>
          </a:p>
        </p:txBody>
      </p:sp>
      <p:sp>
        <p:nvSpPr>
          <p:cNvPr id="15365" name="Text Box 5"/>
          <p:cNvSpPr txBox="1"/>
          <p:nvPr/>
        </p:nvSpPr>
        <p:spPr>
          <a:xfrm>
            <a:off x="315913" y="3868738"/>
            <a:ext cx="8534400" cy="22453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</a:pP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  电路设计任务和一些通用的电子器件，要求设计满足技术指标要求的电路。</a:t>
            </a:r>
            <a:endParaRPr lang="zh-CN" altLang="en-US" sz="2800" dirty="0">
              <a:latin typeface="楷体_GB2312" pitchFamily="1" charset="-122"/>
              <a:ea typeface="楷体_GB2312" pitchFamily="1" charset="-122"/>
            </a:endParaRP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</a:pPr>
            <a:r>
              <a:rPr lang="en-US" altLang="zh-CN" sz="2800">
                <a:sym typeface="+mn-ea"/>
              </a:rPr>
              <a:t>   </a:t>
            </a:r>
            <a:r>
              <a:rPr lang="zh-CN" altLang="en-US" sz="2800">
                <a:solidFill>
                  <a:srgbClr val="FF0000"/>
                </a:solidFill>
                <a:sym typeface="+mn-ea"/>
              </a:rPr>
              <a:t>从验证到设计，鼓励创新思维</a:t>
            </a:r>
            <a:endParaRPr lang="zh-CN" altLang="en-US" sz="2800">
              <a:solidFill>
                <a:srgbClr val="FF0000"/>
              </a:solidFill>
              <a:sym typeface="+mn-ea"/>
            </a:endParaRP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</a:pPr>
            <a:endParaRPr lang="zh-CN" altLang="en-US" sz="2800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  <a:sym typeface="+mn-ea"/>
            </a:endParaRPr>
          </a:p>
        </p:txBody>
      </p:sp>
      <p:sp>
        <p:nvSpPr>
          <p:cNvPr id="15366" name="文本框 1"/>
          <p:cNvSpPr txBox="1"/>
          <p:nvPr/>
        </p:nvSpPr>
        <p:spPr>
          <a:xfrm>
            <a:off x="315913" y="5592128"/>
            <a:ext cx="800227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zh-CN" sz="3200" dirty="0">
                <a:solidFill>
                  <a:srgbClr val="003399"/>
                </a:solidFill>
                <a:latin typeface="Verdana" panose="020B0604030504040204" pitchFamily="34" charset="0"/>
                <a:ea typeface="楷体_GB2312" pitchFamily="1" charset="-122"/>
              </a:rPr>
              <a:t>以自学、实验为主，教师现场指导、答疑</a:t>
            </a:r>
            <a:endParaRPr lang="zh-CN" altLang="zh-CN" sz="3200" dirty="0">
              <a:solidFill>
                <a:srgbClr val="003399"/>
              </a:solidFill>
              <a:latin typeface="Verdana" panose="020B0604030504040204" pitchFamily="34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/>
      <p:bldP spid="15363" grpId="1"/>
      <p:bldP spid="8196" grpId="0"/>
      <p:bldP spid="8196" grpId="1"/>
      <p:bldP spid="15365" grpId="0"/>
      <p:bldP spid="15365" grpId="1"/>
      <p:bldP spid="15366" grpId="0"/>
      <p:bldP spid="15366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pPr eaLnBrk="1" hangingPunct="1"/>
            <a:r>
              <a:rPr lang="en-US" altLang="zh-CN" sz="4300" dirty="0">
                <a:solidFill>
                  <a:srgbClr val="FF0000"/>
                </a:solidFill>
                <a:ea typeface="楷体_GB2312" pitchFamily="1" charset="-122"/>
              </a:rPr>
              <a:t>3</a:t>
            </a:r>
            <a:r>
              <a:rPr lang="zh-CN" altLang="zh-CN" sz="4300" dirty="0">
                <a:solidFill>
                  <a:srgbClr val="FF0000"/>
                </a:solidFill>
                <a:ea typeface="楷体_GB2312" pitchFamily="1" charset="-122"/>
              </a:rPr>
              <a:t>、开放式教学方法</a:t>
            </a:r>
            <a:endParaRPr lang="zh-CN" altLang="zh-CN" sz="4300" dirty="0">
              <a:solidFill>
                <a:srgbClr val="FF0000"/>
              </a:solidFill>
              <a:ea typeface="楷体_GB2312" pitchFamily="1" charset="-122"/>
            </a:endParaRPr>
          </a:p>
        </p:txBody>
      </p:sp>
      <p:sp>
        <p:nvSpPr>
          <p:cNvPr id="18434" name="Rectangle 3"/>
          <p:cNvSpPr>
            <a:spLocks noGrp="1"/>
          </p:cNvSpPr>
          <p:nvPr>
            <p:ph idx="1"/>
          </p:nvPr>
        </p:nvSpPr>
        <p:spPr>
          <a:xfrm>
            <a:off x="457200" y="1196975"/>
            <a:ext cx="8362950" cy="4537075"/>
          </a:xfrm>
        </p:spPr>
        <p:txBody>
          <a:bodyPr wrap="square" lIns="91440" tIns="45720" rIns="91440" bIns="45720" anchor="t" anchorCtr="0"/>
          <a:p>
            <a:pPr marL="342900" indent="-342900" eaLnBrk="1" hangingPunct="1"/>
            <a:r>
              <a:rPr lang="zh-CN" altLang="zh-CN" dirty="0">
                <a:solidFill>
                  <a:srgbClr val="003399"/>
                </a:solidFill>
              </a:rPr>
              <a:t>教学内容开放</a:t>
            </a:r>
            <a:endParaRPr lang="zh-CN" altLang="zh-CN" dirty="0">
              <a:solidFill>
                <a:srgbClr val="003399"/>
              </a:solidFill>
            </a:endParaRPr>
          </a:p>
          <a:p>
            <a:pPr marL="742950" lvl="1" indent="-28575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zh-CN" sz="2800" dirty="0">
                <a:latin typeface="楷体_GB2312" pitchFamily="1" charset="-122"/>
                <a:ea typeface="楷体_GB2312" pitchFamily="1" charset="-122"/>
              </a:rPr>
              <a:t>设计任务分为基本实验与提高性实验。为感兴趣的同学提供了学习空间。</a:t>
            </a:r>
            <a:endParaRPr lang="zh-CN" altLang="zh-CN" sz="28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eaLnBrk="1" hangingPunct="1"/>
            <a:r>
              <a:rPr lang="zh-CN" altLang="zh-CN" dirty="0">
                <a:solidFill>
                  <a:srgbClr val="003399"/>
                </a:solidFill>
              </a:rPr>
              <a:t>元器件开放</a:t>
            </a:r>
            <a:endParaRPr lang="zh-CN" altLang="zh-CN" dirty="0">
              <a:solidFill>
                <a:srgbClr val="003399"/>
              </a:solidFill>
            </a:endParaRPr>
          </a:p>
          <a:p>
            <a:pPr marL="742950" lvl="1" indent="-28575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zh-CN" sz="2800" dirty="0">
                <a:latin typeface="楷体_GB2312" pitchFamily="1" charset="-122"/>
                <a:ea typeface="楷体_GB2312" pitchFamily="1" charset="-122"/>
              </a:rPr>
              <a:t>每人发1套通用元器件，由同学自己保管，可以完成十几个设计课题。</a:t>
            </a:r>
            <a:endParaRPr lang="zh-CN" altLang="zh-CN" sz="28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eaLnBrk="1" hangingPunct="1"/>
            <a:r>
              <a:rPr lang="zh-CN" altLang="zh-CN" dirty="0">
                <a:solidFill>
                  <a:srgbClr val="003399"/>
                </a:solidFill>
              </a:rPr>
              <a:t>实验室和仪器开放</a:t>
            </a:r>
            <a:endParaRPr lang="zh-CN" altLang="zh-CN" dirty="0">
              <a:solidFill>
                <a:srgbClr val="003399"/>
              </a:solidFill>
            </a:endParaRPr>
          </a:p>
          <a:p>
            <a:pPr marL="742950" lvl="1" indent="-28575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zh-CN" sz="2800" dirty="0">
                <a:latin typeface="楷体_GB2312" pitchFamily="1" charset="-122"/>
                <a:ea typeface="楷体_GB2312" pitchFamily="1" charset="-122"/>
              </a:rPr>
              <a:t>仪器1人1组，实验室全天开放，同学们可以通过网络进行预约，由计算机进行管理。</a:t>
            </a:r>
            <a:endParaRPr lang="zh-CN" altLang="zh-CN" sz="28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4525" y="5913120"/>
            <a:ext cx="76835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</a:rPr>
              <a:t>华中大微校园-&gt;学院应用-&gt;电信教学实验中心</a:t>
            </a:r>
            <a:endParaRPr lang="zh-CN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43" descr="6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57" y="1722917"/>
            <a:ext cx="219076" cy="132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12294"/>
          <p:cNvSpPr txBox="1">
            <a:spLocks noChangeArrowheads="1"/>
          </p:cNvSpPr>
          <p:nvPr/>
        </p:nvSpPr>
        <p:spPr bwMode="auto">
          <a:xfrm>
            <a:off x="528333" y="1592796"/>
            <a:ext cx="2386365" cy="389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7" tIns="34283" rIns="68567" bIns="34283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charset="-122"/>
              </a:rPr>
              <a:t>课程目标 </a:t>
            </a:r>
            <a:endParaRPr lang="zh-CN" altLang="en-US" sz="21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charset="-122"/>
            </a:endParaRPr>
          </a:p>
        </p:txBody>
      </p:sp>
      <p:graphicFrame>
        <p:nvGraphicFramePr>
          <p:cNvPr id="13" name="图示 12"/>
          <p:cNvGraphicFramePr/>
          <p:nvPr/>
        </p:nvGraphicFramePr>
        <p:xfrm>
          <a:off x="2303748" y="2348882"/>
          <a:ext cx="4752528" cy="2862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971553"/>
            <a:ext cx="5509338" cy="422672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</a:rPr>
              <a:t>课程简介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示 8"/>
          <p:cNvGraphicFramePr/>
          <p:nvPr/>
        </p:nvGraphicFramePr>
        <p:xfrm>
          <a:off x="1925706" y="1754814"/>
          <a:ext cx="4374486" cy="4104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04800" y="971553"/>
            <a:ext cx="5509338" cy="422672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</a:rPr>
              <a:t>课程简介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3" descr="6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526" y="1731643"/>
            <a:ext cx="219076" cy="132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12294"/>
          <p:cNvSpPr txBox="1">
            <a:spLocks noChangeArrowheads="1"/>
          </p:cNvSpPr>
          <p:nvPr/>
        </p:nvSpPr>
        <p:spPr bwMode="auto">
          <a:xfrm>
            <a:off x="524602" y="1601522"/>
            <a:ext cx="2484276" cy="389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7" tIns="34283" rIns="68567" bIns="34283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100" b="1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charset="-122"/>
              </a:rPr>
              <a:t>实验流程</a:t>
            </a:r>
            <a:endParaRPr lang="zh-CN" altLang="en-US" sz="21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charset="-122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6624228" y="2132856"/>
            <a:ext cx="1836204" cy="353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zh-CN" altLang="en-US" sz="18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磨刀不误砍柴工</a:t>
            </a:r>
            <a:endParaRPr lang="en-US" altLang="zh-CN" sz="1800" dirty="0" smtClean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6622445" y="3374994"/>
            <a:ext cx="1782198" cy="324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zh-CN" altLang="en-US" sz="18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多提问、多交流</a:t>
            </a:r>
            <a:endParaRPr lang="zh-CN" altLang="en-US" sz="18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2"/>
          <p:cNvSpPr>
            <a:spLocks noGrp="1"/>
          </p:cNvSpPr>
          <p:nvPr>
            <p:ph type="title"/>
          </p:nvPr>
        </p:nvSpPr>
        <p:spPr>
          <a:xfrm>
            <a:off x="468313" y="188913"/>
            <a:ext cx="8035925" cy="755650"/>
          </a:xfrm>
        </p:spPr>
        <p:txBody>
          <a:bodyPr wrap="square" lIns="91440" tIns="45720" rIns="91440" bIns="45720" anchor="b" anchorCtr="0"/>
          <a:p>
            <a:pPr eaLnBrk="1" hangingPunct="1"/>
            <a:r>
              <a:rPr lang="zh-CN" altLang="en-US" sz="4700" dirty="0">
                <a:solidFill>
                  <a:srgbClr val="000099"/>
                </a:solidFill>
                <a:ea typeface="楷体_GB2312" pitchFamily="1" charset="-122"/>
              </a:rPr>
              <a:t>二</a:t>
            </a:r>
            <a:r>
              <a:rPr lang="zh-CN" altLang="zh-CN" sz="4700" dirty="0">
                <a:solidFill>
                  <a:srgbClr val="000099"/>
                </a:solidFill>
                <a:ea typeface="楷体_GB2312" pitchFamily="1" charset="-122"/>
              </a:rPr>
              <a:t>、实验流程</a:t>
            </a:r>
            <a:endParaRPr lang="zh-CN" altLang="zh-CN" sz="4700" dirty="0">
              <a:solidFill>
                <a:srgbClr val="000099"/>
              </a:solidFill>
              <a:ea typeface="楷体_GB2312" pitchFamily="1" charset="-122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68313" y="1508125"/>
            <a:ext cx="8397875" cy="3216275"/>
          </a:xfrm>
        </p:spPr>
        <p:txBody>
          <a:bodyPr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zh-CN" altLang="zh-CN" dirty="0">
                <a:solidFill>
                  <a:srgbClr val="003399"/>
                </a:solidFill>
              </a:rPr>
              <a:t>课前</a:t>
            </a:r>
            <a:r>
              <a:rPr lang="zh-CN" altLang="zh-CN" dirty="0">
                <a:solidFill>
                  <a:srgbClr val="003399"/>
                </a:solidFill>
                <a:latin typeface="Arial" panose="020B0604020202020204" pitchFamily="34" charset="0"/>
              </a:rPr>
              <a:t>—</a:t>
            </a:r>
            <a:r>
              <a:rPr lang="zh-CN" altLang="zh-CN" dirty="0">
                <a:solidFill>
                  <a:srgbClr val="003399"/>
                </a:solidFill>
              </a:rPr>
              <a:t>预习</a:t>
            </a:r>
            <a:r>
              <a:rPr lang="zh-CN" altLang="en-US" dirty="0">
                <a:solidFill>
                  <a:srgbClr val="003399"/>
                </a:solidFill>
              </a:rPr>
              <a:t>：</a:t>
            </a:r>
            <a:r>
              <a:rPr lang="zh-CN" altLang="zh-CN" dirty="0">
                <a:solidFill>
                  <a:srgbClr val="003399"/>
                </a:solidFill>
              </a:rPr>
              <a:t>设计电路、电路仿真、组装电路。写预习报告</a:t>
            </a:r>
            <a:r>
              <a:rPr lang="zh-CN" altLang="en-US" dirty="0">
                <a:solidFill>
                  <a:srgbClr val="003399"/>
                </a:solidFill>
              </a:rPr>
              <a:t>、</a:t>
            </a:r>
            <a:r>
              <a:rPr lang="en-US" altLang="zh-CN" dirty="0">
                <a:solidFill>
                  <a:srgbClr val="003399"/>
                </a:solidFill>
              </a:rPr>
              <a:t>MOOC</a:t>
            </a:r>
            <a:endParaRPr lang="zh-CN" altLang="zh-CN" dirty="0">
              <a:solidFill>
                <a:srgbClr val="003399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zh-CN" dirty="0">
                <a:solidFill>
                  <a:srgbClr val="003399"/>
                </a:solidFill>
              </a:rPr>
              <a:t>课堂 </a:t>
            </a:r>
            <a:r>
              <a:rPr lang="zh-CN" altLang="zh-CN" dirty="0">
                <a:solidFill>
                  <a:srgbClr val="003399"/>
                </a:solidFill>
                <a:latin typeface="Arial" panose="020B0604020202020204" pitchFamily="34" charset="0"/>
              </a:rPr>
              <a:t>—</a:t>
            </a:r>
            <a:r>
              <a:rPr lang="zh-CN" altLang="zh-CN" dirty="0">
                <a:solidFill>
                  <a:srgbClr val="003399"/>
                </a:solidFill>
              </a:rPr>
              <a:t> 调试、测量、记录数据。</a:t>
            </a:r>
            <a:endParaRPr lang="zh-CN" altLang="zh-CN" dirty="0">
              <a:solidFill>
                <a:srgbClr val="003399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zh-CN" dirty="0">
                <a:solidFill>
                  <a:srgbClr val="003399"/>
                </a:solidFill>
              </a:rPr>
              <a:t>课后 </a:t>
            </a:r>
            <a:r>
              <a:rPr lang="zh-CN" altLang="zh-CN" dirty="0">
                <a:solidFill>
                  <a:srgbClr val="003399"/>
                </a:solidFill>
                <a:latin typeface="Arial" panose="020B0604020202020204" pitchFamily="34" charset="0"/>
              </a:rPr>
              <a:t>—</a:t>
            </a:r>
            <a:r>
              <a:rPr lang="zh-CN" altLang="zh-CN" dirty="0">
                <a:solidFill>
                  <a:srgbClr val="003399"/>
                </a:solidFill>
              </a:rPr>
              <a:t> 总结与分析，写实验报告。</a:t>
            </a:r>
            <a:endParaRPr lang="zh-CN" altLang="zh-CN" dirty="0">
              <a:solidFill>
                <a:srgbClr val="0033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charRg st="28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1">
                                            <p:txEl>
                                              <p:charRg st="28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1">
                                            <p:txEl>
                                              <p:charRg st="28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charRg st="45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11">
                                            <p:txEl>
                                              <p:charRg st="45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11">
                                            <p:txEl>
                                              <p:charRg st="45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示 8"/>
          <p:cNvGraphicFramePr/>
          <p:nvPr/>
        </p:nvGraphicFramePr>
        <p:xfrm>
          <a:off x="749935" y="1400810"/>
          <a:ext cx="6126480" cy="46716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6979828" y="1492776"/>
            <a:ext cx="1836204" cy="353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zh-CN" altLang="en-US" sz="18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磨刀不误砍柴工</a:t>
            </a:r>
            <a:endParaRPr lang="en-US" altLang="zh-CN" sz="1800" dirty="0" smtClean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7058660" y="3014345"/>
            <a:ext cx="1979930" cy="328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zh-CN" altLang="en-US" sz="18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多提问、多交流</a:t>
            </a:r>
            <a:endParaRPr lang="zh-CN" altLang="en-US" sz="18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Rectangle 2"/>
          <p:cNvSpPr>
            <a:spLocks noGrp="1"/>
          </p:cNvSpPr>
          <p:nvPr>
            <p:ph type="title"/>
          </p:nvPr>
        </p:nvSpPr>
        <p:spPr>
          <a:xfrm>
            <a:off x="468313" y="188913"/>
            <a:ext cx="8035925" cy="755650"/>
          </a:xfrm>
        </p:spPr>
        <p:txBody>
          <a:bodyPr wrap="square" lIns="91440" tIns="45720" rIns="91440" bIns="45720" anchor="b" anchorCtr="0"/>
          <a:p>
            <a:pPr eaLnBrk="1" hangingPunct="1"/>
            <a:r>
              <a:rPr lang="zh-CN" altLang="zh-CN" sz="4700" dirty="0">
                <a:solidFill>
                  <a:srgbClr val="000099"/>
                </a:solidFill>
                <a:ea typeface="楷体_GB2312" pitchFamily="1" charset="-122"/>
              </a:rPr>
              <a:t>四、实验流程</a:t>
            </a:r>
            <a:endParaRPr lang="zh-CN" altLang="zh-CN" sz="4700" dirty="0">
              <a:solidFill>
                <a:srgbClr val="000099"/>
              </a:solidFill>
              <a:ea typeface="楷体_GB2312" pitchFamily="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2"/>
          <p:cNvSpPr>
            <a:spLocks noGrp="1"/>
          </p:cNvSpPr>
          <p:nvPr>
            <p:ph type="title"/>
          </p:nvPr>
        </p:nvSpPr>
        <p:spPr>
          <a:xfrm>
            <a:off x="574675" y="28575"/>
            <a:ext cx="8001000" cy="842963"/>
          </a:xfrm>
        </p:spPr>
        <p:txBody>
          <a:bodyPr wrap="square" lIns="91440" tIns="45720" rIns="91440" bIns="45720" anchor="b" anchorCtr="0"/>
          <a:p>
            <a:pPr eaLnBrk="1" hangingPunct="1"/>
            <a:r>
              <a:rPr lang="en-US" altLang="zh-CN" sz="3400" dirty="0">
                <a:solidFill>
                  <a:srgbClr val="000099"/>
                </a:solidFill>
              </a:rPr>
              <a:t>1</a:t>
            </a:r>
            <a:r>
              <a:rPr lang="zh-CN" altLang="en-US" sz="3400" dirty="0">
                <a:solidFill>
                  <a:srgbClr val="000099"/>
                </a:solidFill>
              </a:rPr>
              <a:t>：</a:t>
            </a:r>
            <a:r>
              <a:rPr lang="zh-CN" altLang="zh-CN" sz="3400" dirty="0">
                <a:solidFill>
                  <a:srgbClr val="000099"/>
                </a:solidFill>
              </a:rPr>
              <a:t>课前－预习</a:t>
            </a:r>
            <a:endParaRPr lang="zh-CN" altLang="zh-CN" sz="3400" dirty="0">
              <a:solidFill>
                <a:srgbClr val="000099"/>
              </a:solidFill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196975"/>
            <a:ext cx="8001000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实验目的与要求</a:t>
            </a:r>
            <a:endParaRPr kumimoji="0" lang="zh-CN" altLang="zh-CN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选择电路类型，确定元件参数</a:t>
            </a:r>
            <a:endParaRPr kumimoji="0" lang="zh-CN" altLang="zh-CN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设计实验方法与步骤</a:t>
            </a:r>
            <a:endParaRPr kumimoji="0" lang="zh-CN" altLang="zh-CN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设计实验表格</a:t>
            </a:r>
            <a:endParaRPr kumimoji="0" lang="zh-CN" altLang="zh-CN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写预习实验报告</a:t>
            </a:r>
            <a:endParaRPr kumimoji="0" lang="zh-CN" altLang="zh-CN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电路的可靠安装</a:t>
            </a:r>
            <a:endParaRPr kumimoji="0" lang="en-US" altLang="zh-CN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上课前会抽查</a:t>
            </a:r>
            <a:endParaRPr kumimoji="0" lang="zh-CN" altLang="zh-CN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8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charRg st="8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charRg st="8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2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charRg st="2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charRg st="2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32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charRg st="32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charRg st="32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39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91">
                                            <p:txEl>
                                              <p:charRg st="39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91">
                                            <p:txEl>
                                              <p:charRg st="39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47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291">
                                            <p:txEl>
                                              <p:charRg st="47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291">
                                            <p:txEl>
                                              <p:charRg st="47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55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291">
                                            <p:txEl>
                                              <p:charRg st="55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291">
                                            <p:txEl>
                                              <p:charRg st="55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2"/>
          <p:cNvSpPr>
            <a:spLocks noGrp="1"/>
          </p:cNvSpPr>
          <p:nvPr>
            <p:ph type="title"/>
          </p:nvPr>
        </p:nvSpPr>
        <p:spPr>
          <a:xfrm>
            <a:off x="574675" y="469900"/>
            <a:ext cx="8001000" cy="401638"/>
          </a:xfrm>
        </p:spPr>
        <p:txBody>
          <a:bodyPr wrap="square" lIns="91440" tIns="45720" rIns="91440" bIns="45720" anchor="b" anchorCtr="0"/>
          <a:p>
            <a:pPr eaLnBrk="1" hangingPunct="1"/>
            <a:r>
              <a:rPr lang="en-US" altLang="zh-CN" sz="3400" dirty="0">
                <a:solidFill>
                  <a:srgbClr val="000099"/>
                </a:solidFill>
              </a:rPr>
              <a:t>2</a:t>
            </a:r>
            <a:r>
              <a:rPr lang="zh-CN" altLang="en-US" sz="3400" dirty="0">
                <a:solidFill>
                  <a:srgbClr val="000099"/>
                </a:solidFill>
              </a:rPr>
              <a:t>：</a:t>
            </a:r>
            <a:r>
              <a:rPr lang="zh-CN" altLang="zh-CN" sz="3400" dirty="0">
                <a:solidFill>
                  <a:srgbClr val="000099"/>
                </a:solidFill>
              </a:rPr>
              <a:t>课上－调试、测量、记录数据</a:t>
            </a:r>
            <a:endParaRPr lang="zh-CN" altLang="zh-CN" sz="3400" dirty="0">
              <a:solidFill>
                <a:srgbClr val="000099"/>
              </a:solidFill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057275"/>
            <a:ext cx="7626350" cy="2516505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zh-CN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搭建实验测试平台 </a:t>
            </a:r>
            <a:r>
              <a:rPr kumimoji="0" lang="zh-CN" altLang="zh-CN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—</a:t>
            </a:r>
            <a:r>
              <a:rPr kumimoji="0" lang="zh-CN" altLang="zh-CN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测试方法的设计</a:t>
            </a:r>
            <a:endParaRPr kumimoji="0" lang="zh-CN" altLang="zh-CN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zh-CN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观察实验现象与结果 </a:t>
            </a:r>
            <a:r>
              <a:rPr kumimoji="0" lang="zh-CN" altLang="zh-CN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—</a:t>
            </a:r>
            <a:r>
              <a:rPr kumimoji="0" lang="zh-CN" altLang="zh-CN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仪器使用</a:t>
            </a:r>
            <a:endParaRPr kumimoji="0" lang="zh-CN" altLang="zh-CN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zh-CN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记录实验数据与波形 </a:t>
            </a:r>
            <a:r>
              <a:rPr kumimoji="0" lang="zh-CN" altLang="zh-CN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—</a:t>
            </a:r>
            <a:r>
              <a:rPr kumimoji="0" lang="zh-CN" altLang="zh-CN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仪器使用</a:t>
            </a:r>
            <a:endParaRPr kumimoji="0" lang="en-US" altLang="zh-CN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5310" y="3393440"/>
            <a:ext cx="7327265" cy="2953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sz="3000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      </a:t>
            </a:r>
            <a:r>
              <a:rPr lang="zh-CN" altLang="en-US" sz="3000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用</a:t>
            </a:r>
            <a:r>
              <a:rPr lang="zh-CN" altLang="en-US" sz="3000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专门的实验数据记录本记录数据</a:t>
            </a:r>
            <a:r>
              <a:rPr lang="zh-CN" altLang="en-US" sz="3000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，其目的是能够完整的</a:t>
            </a:r>
            <a:r>
              <a:rPr lang="zh-CN" altLang="en-US" sz="3000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体现实验过程功能和结果</a:t>
            </a:r>
            <a:endParaRPr kumimoji="0" lang="zh-CN" alt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sz="3000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    </a:t>
            </a:r>
            <a:r>
              <a:rPr lang="zh-CN" altLang="en-US" sz="3000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用一张纸或在书本上记录的一律不合格</a:t>
            </a:r>
            <a:endParaRPr lang="zh-CN" altLang="en-US" sz="3000" kern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19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>
                                            <p:txEl>
                                              <p:charRg st="19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5">
                                            <p:txEl>
                                              <p:charRg st="19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36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5">
                                            <p:txEl>
                                              <p:charRg st="36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5">
                                            <p:txEl>
                                              <p:charRg st="36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1460" y="-314960"/>
            <a:ext cx="6434849" cy="939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2529" name="页脚占位符 4"/>
          <p:cNvSpPr>
            <a:spLocks noGrp="1"/>
          </p:cNvSpPr>
          <p:nvPr>
            <p:ph type="ftr" sz="quarter"/>
          </p:nvPr>
        </p:nvSpPr>
        <p:spPr>
          <a:xfrm>
            <a:off x="3708400" y="6524625"/>
            <a:ext cx="231140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/>
            <a:fld id="{9A0DB2DC-4C9A-4742-B13C-FB6460FD3503}" type="slidenum">
              <a:rPr lang="zh-CN" altLang="zh-CN" sz="1400" b="0" dirty="0"/>
            </a:fld>
            <a:endParaRPr lang="zh-CN" altLang="zh-CN" sz="1400" b="0" dirty="0"/>
          </a:p>
        </p:txBody>
      </p:sp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574675" y="469900"/>
            <a:ext cx="8001000" cy="401638"/>
          </a:xfrm>
        </p:spPr>
        <p:txBody>
          <a:bodyPr wrap="square" lIns="91440" tIns="45720" rIns="91440" bIns="45720" anchor="b" anchorCtr="0"/>
          <a:p>
            <a:pPr eaLnBrk="1" hangingPunct="1"/>
            <a:r>
              <a:rPr lang="zh-CN" altLang="zh-CN" sz="3400" dirty="0">
                <a:solidFill>
                  <a:srgbClr val="000099"/>
                </a:solidFill>
                <a:latin typeface="Times New Roman" panose="02020603050405020304" pitchFamily="18" charset="0"/>
              </a:rPr>
              <a:t>课后－总结与分析，写实验报告</a:t>
            </a:r>
            <a:endParaRPr lang="zh-CN" altLang="zh-CN" sz="34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3" name="Rectangle 3"/>
          <p:cNvSpPr/>
          <p:nvPr/>
        </p:nvSpPr>
        <p:spPr>
          <a:xfrm>
            <a:off x="468313" y="1484313"/>
            <a:ext cx="8280400" cy="41767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zh-CN" sz="3000" dirty="0">
                <a:latin typeface="Verdana" panose="020B0604030504040204" pitchFamily="34" charset="0"/>
                <a:ea typeface="楷体_GB2312" pitchFamily="1" charset="-122"/>
              </a:rPr>
              <a:t>实验报告要求格式内容规范</a:t>
            </a:r>
            <a:endParaRPr lang="zh-CN" altLang="zh-CN" sz="3000" dirty="0">
              <a:latin typeface="Verdana" panose="020B0604030504040204" pitchFamily="34" charset="0"/>
              <a:ea typeface="楷体_GB2312" pitchFamily="1" charset="-122"/>
            </a:endParaRPr>
          </a:p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zh-CN" sz="3000" dirty="0">
                <a:latin typeface="Verdana" panose="020B0604030504040204" pitchFamily="34" charset="0"/>
                <a:ea typeface="楷体_GB2312" pitchFamily="1" charset="-122"/>
              </a:rPr>
              <a:t>对实验数据进行处理，绘制图、表或波形。</a:t>
            </a:r>
            <a:endParaRPr lang="zh-CN" altLang="zh-CN" sz="3000" dirty="0">
              <a:latin typeface="Verdana" panose="020B0604030504040204" pitchFamily="34" charset="0"/>
              <a:ea typeface="楷体_GB2312" pitchFamily="1" charset="-122"/>
            </a:endParaRPr>
          </a:p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zh-CN" sz="3000" dirty="0">
                <a:latin typeface="Verdana" panose="020B0604030504040204" pitchFamily="34" charset="0"/>
                <a:ea typeface="楷体_GB2312" pitchFamily="1" charset="-122"/>
              </a:rPr>
              <a:t>波形画在坐标纸上或实验报告纸上（需要画坐标系），还需记录波形的特征参数（如峰峰值、频率等）。</a:t>
            </a:r>
            <a:endParaRPr lang="zh-CN" altLang="zh-CN" sz="3000" dirty="0">
              <a:latin typeface="Verdana" panose="020B0604030504040204" pitchFamily="34" charset="0"/>
              <a:ea typeface="楷体_GB2312" pitchFamily="1" charset="-122"/>
            </a:endParaRPr>
          </a:p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zh-CN" sz="3000" dirty="0">
                <a:latin typeface="Verdana" panose="020B0604030504040204" pitchFamily="34" charset="0"/>
                <a:ea typeface="楷体_GB2312" pitchFamily="1" charset="-122"/>
              </a:rPr>
              <a:t>写出个人的实验心得、体会与建议</a:t>
            </a:r>
            <a:endParaRPr lang="zh-CN" altLang="zh-CN" sz="3000" dirty="0">
              <a:latin typeface="Verdana" panose="020B0604030504040204" pitchFamily="34" charset="0"/>
              <a:ea typeface="楷体_GB2312" pitchFamily="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2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charRg st="2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charRg st="2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40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charRg st="40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charRg st="40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87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3">
                                            <p:txEl>
                                              <p:charRg st="87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3">
                                            <p:txEl>
                                              <p:charRg st="87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Grp="1"/>
          </p:cNvSpPr>
          <p:nvPr>
            <p:ph type="title"/>
          </p:nvPr>
        </p:nvSpPr>
        <p:spPr>
          <a:xfrm>
            <a:off x="612775" y="333375"/>
            <a:ext cx="7935913" cy="533400"/>
          </a:xfrm>
        </p:spPr>
        <p:txBody>
          <a:bodyPr wrap="square" lIns="91440" tIns="45720" rIns="91440" bIns="45720" anchor="b" anchorCtr="0"/>
          <a:p>
            <a:pPr eaLnBrk="1" hangingPunct="1"/>
            <a:r>
              <a:rPr lang="en-US" altLang="zh-CN" sz="3200" dirty="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3200" dirty="0">
                <a:solidFill>
                  <a:srgbClr val="000099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zh-CN" sz="3200" dirty="0">
                <a:solidFill>
                  <a:srgbClr val="000099"/>
                </a:solidFill>
                <a:latin typeface="Times New Roman" panose="02020603050405020304" pitchFamily="18" charset="0"/>
              </a:rPr>
              <a:t>课后－总结与分析，写实验报告</a:t>
            </a:r>
            <a:endParaRPr lang="zh-CN" altLang="zh-CN" sz="32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4" name="Rectangle 3"/>
          <p:cNvSpPr/>
          <p:nvPr/>
        </p:nvSpPr>
        <p:spPr>
          <a:xfrm>
            <a:off x="1259840" y="3145473"/>
            <a:ext cx="6632575" cy="332295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</a:pPr>
            <a:r>
              <a:rPr lang="zh-CN" altLang="zh-CN" sz="2400" dirty="0">
                <a:latin typeface="Times New Roman" panose="02020603050405020304" pitchFamily="18" charset="0"/>
                <a:ea typeface="楷体_GB2312" pitchFamily="1" charset="-122"/>
              </a:rPr>
              <a:t> 实验目的</a:t>
            </a:r>
            <a:endParaRPr lang="zh-CN" altLang="zh-CN" sz="24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</a:pPr>
            <a:r>
              <a:rPr lang="zh-CN" altLang="zh-CN" sz="2400" dirty="0">
                <a:latin typeface="Times New Roman" panose="02020603050405020304" pitchFamily="18" charset="0"/>
                <a:ea typeface="楷体_GB2312" pitchFamily="1" charset="-122"/>
              </a:rPr>
              <a:t> 实验电路分析或设计（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一定要有电路图</a:t>
            </a:r>
            <a:r>
              <a:rPr lang="zh-CN" altLang="zh-CN" sz="2400" dirty="0">
                <a:latin typeface="Times New Roman" panose="02020603050405020304" pitchFamily="18" charset="0"/>
                <a:ea typeface="楷体_GB2312" pitchFamily="1" charset="-122"/>
              </a:rPr>
              <a:t>）</a:t>
            </a:r>
            <a:endParaRPr lang="zh-CN" altLang="zh-CN" sz="24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</a:pPr>
            <a:r>
              <a:rPr lang="zh-CN" altLang="zh-CN" sz="2400" dirty="0">
                <a:latin typeface="Times New Roman" panose="02020603050405020304" pitchFamily="18" charset="0"/>
                <a:ea typeface="楷体_GB2312" pitchFamily="1" charset="-122"/>
              </a:rPr>
              <a:t> 实验元器件（略）</a:t>
            </a:r>
            <a:endParaRPr lang="zh-CN" altLang="zh-CN" sz="24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</a:pPr>
            <a:r>
              <a:rPr lang="zh-CN" altLang="zh-CN" sz="2400" dirty="0">
                <a:latin typeface="Times New Roman" panose="02020603050405020304" pitchFamily="18" charset="0"/>
                <a:ea typeface="楷体_GB2312" pitchFamily="1" charset="-122"/>
              </a:rPr>
              <a:t> 实验内容（步骤）及实验数据与波形 </a:t>
            </a:r>
            <a:endParaRPr lang="zh-CN" altLang="zh-CN" sz="24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</a:pPr>
            <a:r>
              <a:rPr lang="zh-CN" altLang="zh-CN" sz="2400" dirty="0">
                <a:latin typeface="Times New Roman" panose="02020603050405020304" pitchFamily="18" charset="0"/>
                <a:ea typeface="楷体_GB2312" pitchFamily="1" charset="-122"/>
              </a:rPr>
              <a:t> 分析与结论</a:t>
            </a:r>
            <a:endParaRPr lang="zh-CN" altLang="zh-CN" sz="24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</a:pPr>
            <a:r>
              <a:rPr lang="zh-CN" altLang="zh-CN" sz="2400" dirty="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心得体会（故障现象及排除）或 思考题</a:t>
            </a:r>
            <a:endParaRPr lang="zh-CN" altLang="zh-CN" sz="24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（使用录像和解说方式记录的有加分）</a:t>
            </a:r>
            <a:endParaRPr lang="zh-CN" altLang="zh-CN" sz="24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23555" name="Rectangle 4"/>
          <p:cNvSpPr/>
          <p:nvPr/>
        </p:nvSpPr>
        <p:spPr>
          <a:xfrm>
            <a:off x="684213" y="1128395"/>
            <a:ext cx="7621587" cy="1938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</a:pPr>
            <a:r>
              <a:rPr lang="zh-CN" altLang="zh-CN" sz="2400" dirty="0">
                <a:latin typeface="Times New Roman" panose="02020603050405020304" pitchFamily="18" charset="0"/>
                <a:ea typeface="楷体_GB2312" pitchFamily="1" charset="-122"/>
              </a:rPr>
              <a:t> 实验结果：设计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表格</a:t>
            </a:r>
            <a:r>
              <a:rPr lang="zh-CN" altLang="zh-CN" sz="2400" dirty="0">
                <a:latin typeface="Times New Roman" panose="02020603050405020304" pitchFamily="18" charset="0"/>
                <a:ea typeface="楷体_GB2312" pitchFamily="1" charset="-122"/>
              </a:rPr>
              <a:t>记录</a:t>
            </a:r>
            <a:endParaRPr lang="zh-CN" altLang="zh-CN" sz="24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</a:pPr>
            <a:r>
              <a:rPr lang="zh-CN" altLang="zh-CN" sz="2400" dirty="0">
                <a:latin typeface="Times New Roman" panose="02020603050405020304" pitchFamily="18" charset="0"/>
                <a:ea typeface="楷体_GB2312" pitchFamily="1" charset="-122"/>
              </a:rPr>
              <a:t> 波形记录：画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坐标系</a:t>
            </a:r>
            <a:r>
              <a:rPr lang="zh-CN" altLang="zh-CN" sz="2400" dirty="0">
                <a:latin typeface="Times New Roman" panose="02020603050405020304" pitchFamily="18" charset="0"/>
                <a:ea typeface="楷体_GB2312" pitchFamily="1" charset="-122"/>
              </a:rPr>
              <a:t>，还需记录波形的特征参数</a:t>
            </a:r>
            <a:endParaRPr lang="zh-CN" altLang="zh-CN" sz="24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</a:pPr>
            <a:r>
              <a:rPr lang="zh-CN" altLang="zh-CN" sz="2400" dirty="0">
                <a:latin typeface="Times New Roman" panose="02020603050405020304" pitchFamily="18" charset="0"/>
                <a:ea typeface="楷体_GB2312" pitchFamily="1" charset="-122"/>
              </a:rPr>
              <a:t>                     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</a:rPr>
              <a:t>   </a:t>
            </a:r>
            <a:r>
              <a:rPr lang="zh-CN" altLang="zh-CN" sz="2400" dirty="0">
                <a:latin typeface="Times New Roman" panose="02020603050405020304" pitchFamily="18" charset="0"/>
                <a:ea typeface="楷体_GB2312" pitchFamily="1" charset="-122"/>
              </a:rPr>
              <a:t>如峰峰值，频率</a:t>
            </a:r>
            <a:endParaRPr lang="zh-CN" altLang="zh-CN" sz="24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</a:pPr>
            <a:r>
              <a:rPr lang="zh-CN" altLang="zh-CN" sz="2400" dirty="0">
                <a:latin typeface="Times New Roman" panose="02020603050405020304" pitchFamily="18" charset="0"/>
                <a:ea typeface="楷体_GB2312" pitchFamily="1" charset="-122"/>
              </a:rPr>
              <a:t>实验报告内容：</a:t>
            </a:r>
            <a:endParaRPr lang="zh-CN" altLang="zh-CN" sz="2400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pPr eaLnBrk="1" hangingPunct="1"/>
            <a:r>
              <a:rPr lang="en-US" altLang="zh-CN" sz="3600" dirty="0">
                <a:solidFill>
                  <a:srgbClr val="0000FF"/>
                </a:solidFill>
                <a:latin typeface="+mj-ea"/>
                <a:cs typeface="+mj-ea"/>
              </a:rPr>
              <a:t>4</a:t>
            </a:r>
            <a:r>
              <a:rPr lang="zh-CN" altLang="en-US" sz="3600" dirty="0">
                <a:solidFill>
                  <a:srgbClr val="0000FF"/>
                </a:solidFill>
                <a:latin typeface="+mj-ea"/>
                <a:cs typeface="+mj-ea"/>
              </a:rPr>
              <a:t>：补做要求</a:t>
            </a:r>
            <a:endParaRPr lang="zh-CN" altLang="en-US" sz="3600" dirty="0">
              <a:solidFill>
                <a:srgbClr val="0000FF"/>
              </a:solidFill>
              <a:latin typeface="+mj-ea"/>
              <a:cs typeface="+mj-ea"/>
            </a:endParaRPr>
          </a:p>
        </p:txBody>
      </p:sp>
      <p:sp>
        <p:nvSpPr>
          <p:cNvPr id="32770" name="Rectangle 3"/>
          <p:cNvSpPr>
            <a:spLocks noGrp="1"/>
          </p:cNvSpPr>
          <p:nvPr>
            <p:ph idx="1"/>
          </p:nvPr>
        </p:nvSpPr>
        <p:spPr>
          <a:xfrm>
            <a:off x="566738" y="1112838"/>
            <a:ext cx="8001000" cy="4267200"/>
          </a:xfrm>
        </p:spPr>
        <p:txBody>
          <a:bodyPr wrap="square" lIns="91440" tIns="45720" rIns="91440" bIns="45720" anchor="t" anchorCtr="0"/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zh-CN" altLang="en-US" dirty="0"/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dirty="0"/>
              <a:t>原则上</a:t>
            </a:r>
            <a:r>
              <a:rPr lang="zh-CN" altLang="en-US" dirty="0">
                <a:solidFill>
                  <a:srgbClr val="FF0000"/>
                </a:solidFill>
              </a:rPr>
              <a:t>下次课前</a:t>
            </a:r>
            <a:r>
              <a:rPr lang="zh-CN" altLang="en-US" dirty="0"/>
              <a:t>完成补做。</a:t>
            </a:r>
            <a:endParaRPr lang="zh-CN" altLang="en-US" dirty="0"/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dirty="0"/>
              <a:t>在其他老师班上要有老师签字，并在下次实验的时候将记录数据和结果照片结果给老师查看，补登成绩</a:t>
            </a:r>
            <a:endParaRPr lang="zh-CN" altLang="en-US" dirty="0"/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dirty="0"/>
              <a:t>在我的课堂上，下次课前当堂验收，当堂补登成绩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页脚占位符 4"/>
          <p:cNvSpPr>
            <a:spLocks noGrp="1"/>
          </p:cNvSpPr>
          <p:nvPr>
            <p:ph type="ftr" sz="quarter"/>
          </p:nvPr>
        </p:nvSpPr>
        <p:spPr>
          <a:xfrm>
            <a:off x="3708400" y="6524625"/>
            <a:ext cx="231140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/>
            <a:fld id="{9A0DB2DC-4C9A-4742-B13C-FB6460FD3503}" type="slidenum">
              <a:rPr lang="zh-CN" altLang="zh-CN" sz="1400" b="0" dirty="0"/>
            </a:fld>
            <a:endParaRPr lang="zh-CN" altLang="zh-CN" sz="1400" b="0" dirty="0"/>
          </a:p>
        </p:txBody>
      </p:sp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pPr eaLnBrk="1" hangingPunct="1"/>
            <a:endParaRPr lang="zh-CN" altLang="zh-CN" dirty="0"/>
          </a:p>
        </p:txBody>
      </p:sp>
      <p:pic>
        <p:nvPicPr>
          <p:cNvPr id="24579" name="Picture 1" descr="扫描000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33500" y="161925"/>
            <a:ext cx="4813300" cy="6696075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Sp="0">
  <p:cSld>
    <p:spTree>
      <p:nvGrpSpPr>
        <p:cNvPr id="1" name=""/>
        <p:cNvGrpSpPr/>
        <p:nvPr/>
      </p:nvGrpSpPr>
      <p:grpSpPr/>
      <p:pic>
        <p:nvPicPr>
          <p:cNvPr id="25601" name="Picture 4" descr="扫描000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07428" y="44768"/>
            <a:ext cx="5645150" cy="7883525"/>
          </a:xfrm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rotWithShape="0">
          <a:gsLst>
            <a:gs pos="0">
              <a:schemeClr val="bg1"/>
            </a:gs>
            <a:gs pos="100000">
              <a:srgbClr val="CCFFCC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6626" name="页脚占位符 2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/>
          <a:p>
            <a:pPr algn="ctr"/>
            <a:fld id="{9A0DB2DC-4C9A-4742-B13C-FB6460FD3503}" type="slidenum">
              <a:rPr lang="zh-CN" altLang="zh-CN" sz="1400" b="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zh-CN" sz="1400" b="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26627" name="Picture 5" descr="反向比例放大波形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6156543" y="2204467"/>
            <a:ext cx="3024336" cy="93411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画输入、输出波形时，要求上、下排列对齐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12294"/>
          <p:cNvSpPr txBox="1">
            <a:spLocks noChangeArrowheads="1"/>
          </p:cNvSpPr>
          <p:nvPr/>
        </p:nvSpPr>
        <p:spPr bwMode="auto">
          <a:xfrm>
            <a:off x="570865" y="271145"/>
            <a:ext cx="4673600" cy="559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7" tIns="34283" rIns="68567" bIns="34283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charset="-122"/>
              </a:rPr>
              <a:t>规范、正确的波形图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504825" y="1328420"/>
            <a:ext cx="2691765" cy="1619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坐标系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零点、刻度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坐标名称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单位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波形特征参数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965" y="1017270"/>
            <a:ext cx="5410200" cy="5534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30530" y="3828415"/>
            <a:ext cx="2742565" cy="1249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不是一味地复制</a:t>
            </a:r>
            <a:endParaRPr lang="en-US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示波器的显示图像！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572616" y="4868514"/>
            <a:ext cx="2268252" cy="700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画输入、输出波形时，要求上、下排列对齐</a:t>
            </a:r>
            <a:r>
              <a:rPr lang="zh-CN" altLang="en-US" sz="18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12294"/>
          <p:cNvSpPr txBox="1">
            <a:spLocks noChangeArrowheads="1"/>
          </p:cNvSpPr>
          <p:nvPr/>
        </p:nvSpPr>
        <p:spPr bwMode="auto">
          <a:xfrm>
            <a:off x="575310" y="356870"/>
            <a:ext cx="4735195" cy="49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7" tIns="34283" rIns="68567" bIns="34283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charset="-122"/>
              </a:rPr>
              <a:t>不规范、错误的波形图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charset="-122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55" y="1160780"/>
            <a:ext cx="3991610" cy="31375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755" y="1052830"/>
            <a:ext cx="3959860" cy="33153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15" y="4545330"/>
            <a:ext cx="8752205" cy="20453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334000"/>
          </a:xfrm>
        </p:spPr>
        <p:txBody>
          <a:bodyPr vert="horz" wrap="square" lIns="91440" tIns="45720" rIns="91440" bIns="45720" anchor="t" anchorCtr="0"/>
          <a:p>
            <a:r>
              <a:rPr lang="zh-CN" altLang="en-US" dirty="0"/>
              <a:t>平时成绩（含电路设计、装调、测试、验收、实验报告）占</a:t>
            </a:r>
            <a:r>
              <a:rPr lang="en-US" altLang="zh-CN" dirty="0"/>
              <a:t>40</a:t>
            </a:r>
            <a:r>
              <a:rPr lang="zh-CN" altLang="en-US" dirty="0"/>
              <a:t>％</a:t>
            </a:r>
            <a:r>
              <a:rPr lang="en-US" altLang="zh-CN" dirty="0"/>
              <a:t>(</a:t>
            </a:r>
            <a:r>
              <a:rPr lang="zh-CN" altLang="en-US" dirty="0"/>
              <a:t>其中</a:t>
            </a:r>
            <a:r>
              <a:rPr lang="en-US" altLang="zh-CN" dirty="0"/>
              <a:t>MOOC</a:t>
            </a:r>
            <a:r>
              <a:rPr lang="zh-CN" altLang="en-US" dirty="0"/>
              <a:t>课程学习成绩占总成绩</a:t>
            </a:r>
            <a:r>
              <a:rPr lang="en-US" altLang="zh-CN" dirty="0"/>
              <a:t>10%</a:t>
            </a:r>
            <a:r>
              <a:rPr lang="zh-CN" altLang="en-US" dirty="0"/>
              <a:t>，平时成绩</a:t>
            </a:r>
            <a:r>
              <a:rPr lang="en-US" altLang="zh-CN" dirty="0"/>
              <a:t>25%)</a:t>
            </a:r>
            <a:endParaRPr lang="zh-CN" altLang="en-US" dirty="0"/>
          </a:p>
          <a:p>
            <a:r>
              <a:rPr lang="zh-CN" altLang="en-US" dirty="0"/>
              <a:t>考试成绩占</a:t>
            </a:r>
            <a:r>
              <a:rPr lang="en-US" altLang="zh-CN" dirty="0"/>
              <a:t>60</a:t>
            </a:r>
            <a:r>
              <a:rPr lang="zh-CN" altLang="en-US" dirty="0"/>
              <a:t>％（包含</a:t>
            </a:r>
            <a:r>
              <a:rPr lang="zh-CN" altLang="en-US" dirty="0">
                <a:solidFill>
                  <a:srgbClr val="FF0000"/>
                </a:solidFill>
              </a:rPr>
              <a:t>模拟操作</a:t>
            </a:r>
            <a:r>
              <a:rPr lang="zh-CN" altLang="en-US" dirty="0"/>
              <a:t>考试</a:t>
            </a:r>
            <a:r>
              <a:rPr lang="en-US" altLang="zh-CN" dirty="0"/>
              <a:t>20%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数字操作</a:t>
            </a:r>
            <a:r>
              <a:rPr lang="zh-CN" altLang="en-US" dirty="0"/>
              <a:t>考试</a:t>
            </a:r>
            <a:r>
              <a:rPr lang="en-US" altLang="zh-CN" dirty="0"/>
              <a:t>20%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FF0000"/>
                </a:solidFill>
              </a:rPr>
              <a:t>统一笔试</a:t>
            </a:r>
            <a:r>
              <a:rPr lang="en-US" altLang="zh-CN" dirty="0">
                <a:solidFill>
                  <a:srgbClr val="FF0000"/>
                </a:solidFill>
              </a:rPr>
              <a:t>20%</a:t>
            </a:r>
            <a:r>
              <a:rPr lang="zh-CN" altLang="en-US" dirty="0"/>
              <a:t>）组成，操作考试为开卷，笔试为闭卷形式</a:t>
            </a:r>
            <a:endParaRPr lang="zh-CN" altLang="en-US" dirty="0"/>
          </a:p>
        </p:txBody>
      </p:sp>
      <p:sp>
        <p:nvSpPr>
          <p:cNvPr id="58370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701675" y="242888"/>
            <a:ext cx="8001000" cy="7556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五、成绩评定</a:t>
            </a:r>
            <a:endParaRPr kumimoji="0" lang="zh-CN" altLang="en-US" sz="4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五、成绩评定</a:t>
            </a:r>
            <a:endParaRPr kumimoji="0" lang="zh-CN" altLang="en-US" sz="4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8674" name="Rectangle 3"/>
          <p:cNvSpPr>
            <a:spLocks noGrp="1"/>
          </p:cNvSpPr>
          <p:nvPr>
            <p:ph idx="1"/>
          </p:nvPr>
        </p:nvSpPr>
        <p:spPr>
          <a:xfrm>
            <a:off x="395288" y="1196975"/>
            <a:ext cx="8435975" cy="3527425"/>
          </a:xfrm>
        </p:spPr>
        <p:txBody>
          <a:bodyPr wrap="square" lIns="91440" tIns="45720" rIns="91440" bIns="45720" anchor="t" anchorCtr="0"/>
          <a:p>
            <a:pPr marL="0" indent="0" eaLnBrk="1" hangingPunct="1">
              <a:buNone/>
            </a:pPr>
            <a:r>
              <a:rPr lang="en-US" altLang="zh-CN" sz="3600" dirty="0">
                <a:solidFill>
                  <a:schemeClr val="accent2"/>
                </a:solidFill>
              </a:rPr>
              <a:t>1</a:t>
            </a:r>
            <a:r>
              <a:rPr lang="zh-CN" altLang="en-US" sz="3600" dirty="0">
                <a:solidFill>
                  <a:schemeClr val="accent2"/>
                </a:solidFill>
              </a:rPr>
              <a:t>：平时成绩</a:t>
            </a:r>
            <a:r>
              <a:rPr lang="en-US" altLang="zh-CN" sz="3600" dirty="0">
                <a:solidFill>
                  <a:schemeClr val="accent2"/>
                </a:solidFill>
              </a:rPr>
              <a:t> 30%+MOOC10%</a:t>
            </a:r>
            <a:endParaRPr lang="en-US" altLang="zh-CN" sz="3600" dirty="0">
              <a:solidFill>
                <a:srgbClr val="FF0000"/>
              </a:solidFill>
            </a:endParaRPr>
          </a:p>
          <a:p>
            <a:pPr lvl="1" indent="-436245" eaLnBrk="1" hangingPunct="1"/>
            <a:r>
              <a:rPr lang="zh-CN" altLang="en-US" sz="3200" dirty="0"/>
              <a:t>电路设计、安装、测试成绩</a:t>
            </a:r>
            <a:endParaRPr lang="zh-CN" altLang="en-US" sz="3200" dirty="0"/>
          </a:p>
          <a:p>
            <a:pPr lvl="1" indent="-436245" eaLnBrk="1" hangingPunct="1"/>
            <a:r>
              <a:rPr lang="zh-CN" altLang="en-US" sz="3200" dirty="0"/>
              <a:t>实验报告成绩（</a:t>
            </a:r>
            <a:r>
              <a:rPr lang="zh-CN" altLang="en-US" sz="3200" dirty="0">
                <a:latin typeface="Times New Roman" panose="02020603050405020304" pitchFamily="18" charset="0"/>
              </a:rPr>
              <a:t>规范化、内容、实验结果、分析结论等）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lvl="1" indent="-436245" eaLnBrk="1" hangingPunct="1">
              <a:lnSpc>
                <a:spcPct val="110000"/>
              </a:lnSpc>
              <a:buSzPct val="110000"/>
            </a:pPr>
            <a:r>
              <a:rPr lang="zh-CN" altLang="en-US" sz="3200" dirty="0">
                <a:latin typeface="Times New Roman" panose="02020603050405020304" pitchFamily="18" charset="0"/>
              </a:rPr>
              <a:t>出勤率（</a:t>
            </a:r>
            <a:r>
              <a:rPr lang="en-US" altLang="zh-CN" sz="3200" dirty="0">
                <a:latin typeface="Times New Roman" panose="02020603050405020304" pitchFamily="18" charset="0"/>
              </a:rPr>
              <a:t>1/3</a:t>
            </a:r>
            <a:r>
              <a:rPr lang="zh-CN" altLang="en-US" sz="3200" dirty="0">
                <a:latin typeface="Times New Roman" panose="02020603050405020304" pitchFamily="18" charset="0"/>
              </a:rPr>
              <a:t>实验未做的，不准考试）</a:t>
            </a:r>
            <a:endParaRPr lang="zh-CN" altLang="en-US" sz="3200" dirty="0"/>
          </a:p>
        </p:txBody>
      </p:sp>
      <p:sp>
        <p:nvSpPr>
          <p:cNvPr id="58372" name="Text Box 4"/>
          <p:cNvSpPr txBox="1"/>
          <p:nvPr/>
        </p:nvSpPr>
        <p:spPr>
          <a:xfrm>
            <a:off x="468313" y="4581525"/>
            <a:ext cx="8351837" cy="155416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3200" dirty="0">
                <a:solidFill>
                  <a:srgbClr val="FF33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注意：</a:t>
            </a:r>
            <a:r>
              <a:rPr lang="zh-CN" altLang="en-US" sz="3200" dirty="0">
                <a:latin typeface="Verdana" panose="020B0604030504040204" pitchFamily="34" charset="0"/>
                <a:ea typeface="宋体" panose="02010600030101010101" pitchFamily="2" charset="-122"/>
              </a:rPr>
              <a:t>平时验收需准备：预习报告（含设计电路）、实验电路、测试结果记录，每次验收会记录成绩。</a:t>
            </a:r>
            <a:endParaRPr lang="zh-CN" altLang="en-US" sz="3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五、成绩评定</a:t>
            </a:r>
            <a:endParaRPr kumimoji="0" lang="zh-CN" altLang="en-US" sz="4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7347" name="Rectangle 3"/>
          <p:cNvSpPr/>
          <p:nvPr/>
        </p:nvSpPr>
        <p:spPr>
          <a:xfrm>
            <a:off x="179388" y="1196975"/>
            <a:ext cx="8569325" cy="19446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</a:pPr>
            <a:r>
              <a:rPr lang="en-US" altLang="zh-CN" sz="3200" dirty="0">
                <a:solidFill>
                  <a:schemeClr val="accent2"/>
                </a:solidFill>
                <a:latin typeface="Verdana" panose="020B0604030504040204" pitchFamily="34" charset="0"/>
                <a:ea typeface="楷体_GB2312" pitchFamily="1" charset="-122"/>
              </a:rPr>
              <a:t>2</a:t>
            </a:r>
            <a:r>
              <a:rPr lang="zh-CN" altLang="en-US" sz="3200" dirty="0">
                <a:solidFill>
                  <a:schemeClr val="accent2"/>
                </a:solidFill>
                <a:latin typeface="Verdana" panose="020B0604030504040204" pitchFamily="34" charset="0"/>
                <a:ea typeface="楷体_GB2312" pitchFamily="1" charset="-122"/>
              </a:rPr>
              <a:t>：实验操作考试：</a:t>
            </a:r>
            <a:r>
              <a:rPr lang="en-US" altLang="zh-CN" sz="2800" dirty="0">
                <a:ea typeface="楷体_GB2312" pitchFamily="1" charset="-122"/>
                <a:sym typeface="楷体_GB2312" pitchFamily="1" charset="-122"/>
              </a:rPr>
              <a:t>20</a:t>
            </a:r>
            <a:r>
              <a:rPr lang="zh-CN" altLang="zh-CN" sz="2800" dirty="0">
                <a:ea typeface="楷体_GB2312" pitchFamily="1" charset="-122"/>
                <a:sym typeface="楷体_GB2312" pitchFamily="1" charset="-122"/>
              </a:rPr>
              <a:t>%</a:t>
            </a:r>
            <a:r>
              <a:rPr lang="en-US" altLang="zh-CN" sz="2800" dirty="0">
                <a:ea typeface="楷体_GB2312" pitchFamily="1" charset="-122"/>
                <a:sym typeface="楷体_GB2312" pitchFamily="1" charset="-122"/>
              </a:rPr>
              <a:t>(</a:t>
            </a:r>
            <a:r>
              <a:rPr lang="zh-CN" altLang="en-US" sz="2800" dirty="0">
                <a:ea typeface="楷体_GB2312" pitchFamily="1" charset="-122"/>
                <a:sym typeface="楷体_GB2312" pitchFamily="1" charset="-122"/>
              </a:rPr>
              <a:t>模拟</a:t>
            </a:r>
            <a:r>
              <a:rPr lang="en-US" altLang="zh-CN" sz="2800" dirty="0">
                <a:ea typeface="楷体_GB2312" pitchFamily="1" charset="-122"/>
                <a:sym typeface="楷体_GB2312" pitchFamily="1" charset="-122"/>
              </a:rPr>
              <a:t>)+</a:t>
            </a:r>
            <a:r>
              <a:rPr lang="en-US" altLang="zh-CN" sz="2800" dirty="0">
                <a:ea typeface="楷体_GB2312" pitchFamily="1" charset="-122"/>
                <a:sym typeface="楷体_GB2312" pitchFamily="1" charset="-122"/>
              </a:rPr>
              <a:t>20</a:t>
            </a:r>
            <a:r>
              <a:rPr lang="zh-CN" altLang="zh-CN" sz="2800" dirty="0">
                <a:ea typeface="楷体_GB2312" pitchFamily="1" charset="-122"/>
                <a:sym typeface="楷体_GB2312" pitchFamily="1" charset="-122"/>
              </a:rPr>
              <a:t>%</a:t>
            </a:r>
            <a:r>
              <a:rPr lang="en-US" altLang="zh-CN" sz="2800" dirty="0">
                <a:ea typeface="楷体_GB2312" pitchFamily="1" charset="-122"/>
                <a:sym typeface="楷体_GB2312" pitchFamily="1" charset="-122"/>
              </a:rPr>
              <a:t>(</a:t>
            </a:r>
            <a:r>
              <a:rPr lang="zh-CN" altLang="en-US" sz="2800" dirty="0">
                <a:ea typeface="楷体_GB2312" pitchFamily="1" charset="-122"/>
                <a:sym typeface="楷体_GB2312" pitchFamily="1" charset="-122"/>
              </a:rPr>
              <a:t>数字</a:t>
            </a:r>
            <a:r>
              <a:rPr lang="en-US" altLang="zh-CN" sz="2800" dirty="0">
                <a:ea typeface="楷体_GB2312" pitchFamily="1" charset="-122"/>
                <a:sym typeface="楷体_GB2312" pitchFamily="1" charset="-122"/>
              </a:rPr>
              <a:t>)</a:t>
            </a:r>
            <a:endParaRPr lang="zh-CN" altLang="en-US" sz="2800" dirty="0">
              <a:latin typeface="Verdana" panose="020B0604030504040204" pitchFamily="34" charset="0"/>
              <a:ea typeface="楷体_GB2312" pitchFamily="1" charset="-122"/>
            </a:endParaRPr>
          </a:p>
          <a:p>
            <a:pPr marL="742950" lvl="1" indent="-285750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rPr>
              <a:t>考设计性实验，现场电路安装、测试、实验报告。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57348" name="Rectangle 4"/>
          <p:cNvSpPr/>
          <p:nvPr/>
        </p:nvSpPr>
        <p:spPr>
          <a:xfrm>
            <a:off x="179388" y="3357563"/>
            <a:ext cx="8640762" cy="24479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</a:pPr>
            <a:r>
              <a:rPr lang="en-US" altLang="zh-CN" sz="3200" dirty="0">
                <a:solidFill>
                  <a:schemeClr val="accent2"/>
                </a:solidFill>
                <a:latin typeface="Verdana" panose="020B0604030504040204" pitchFamily="34" charset="0"/>
                <a:ea typeface="楷体_GB2312" pitchFamily="1" charset="-122"/>
              </a:rPr>
              <a:t>3</a:t>
            </a:r>
            <a:r>
              <a:rPr lang="zh-CN" altLang="en-US" sz="3200" dirty="0">
                <a:solidFill>
                  <a:schemeClr val="accent2"/>
                </a:solidFill>
                <a:latin typeface="Verdana" panose="020B0604030504040204" pitchFamily="34" charset="0"/>
                <a:ea typeface="楷体_GB2312" pitchFamily="1" charset="-122"/>
              </a:rPr>
              <a:t>：笔试部分考试：</a:t>
            </a:r>
            <a:r>
              <a:rPr lang="en-US" altLang="zh-CN" sz="3200" dirty="0">
                <a:ea typeface="楷体_GB2312" pitchFamily="1" charset="-122"/>
                <a:sym typeface="楷体_GB2312" pitchFamily="1" charset="-122"/>
              </a:rPr>
              <a:t>20%</a:t>
            </a:r>
            <a:r>
              <a:rPr lang="zh-CN" altLang="en-US" sz="3200" dirty="0">
                <a:solidFill>
                  <a:srgbClr val="FF0000"/>
                </a:solidFill>
                <a:ea typeface="楷体_GB2312" pitchFamily="1" charset="-122"/>
                <a:sym typeface="楷体_GB2312" pitchFamily="1" charset="-122"/>
              </a:rPr>
              <a:t>（闭卷，模拟和</a:t>
            </a:r>
            <a:r>
              <a:rPr lang="zh-CN" altLang="en-US" sz="3200" dirty="0">
                <a:solidFill>
                  <a:srgbClr val="FF0000"/>
                </a:solidFill>
                <a:ea typeface="楷体_GB2312" pitchFamily="1" charset="-122"/>
                <a:sym typeface="楷体_GB2312" pitchFamily="1" charset="-122"/>
              </a:rPr>
              <a:t>数字）</a:t>
            </a:r>
            <a:endParaRPr lang="zh-CN" altLang="en-US" sz="3200" dirty="0">
              <a:solidFill>
                <a:schemeClr val="accent2"/>
              </a:solidFill>
              <a:latin typeface="Verdana" panose="020B0604030504040204" pitchFamily="34" charset="0"/>
              <a:ea typeface="楷体_GB2312" pitchFamily="1" charset="-122"/>
            </a:endParaRPr>
          </a:p>
          <a:p>
            <a:pPr marL="742950" lvl="1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rPr>
              <a:t>笔试部分：实验原理、仪器使用、测试方法、小型电路设计等</a:t>
            </a:r>
            <a:endParaRPr lang="zh-CN" altLang="en-US" sz="2800" dirty="0">
              <a:solidFill>
                <a:schemeClr val="tx1"/>
              </a:solidFill>
              <a:latin typeface="Verdana" panose="020B0604030504040204" pitchFamily="34" charset="0"/>
              <a:ea typeface="楷体_GB2312" pitchFamily="1" charset="-122"/>
            </a:endParaRPr>
          </a:p>
          <a:p>
            <a:pPr marL="742950" lvl="1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rPr>
              <a:t>所有专业，期末到教室统一安排时间考试。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/>
      <p:bldP spid="5734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0721" name="Rectangle 2"/>
          <p:cNvSpPr>
            <a:spLocks noGrp="1"/>
          </p:cNvSpPr>
          <p:nvPr>
            <p:ph type="title"/>
          </p:nvPr>
        </p:nvSpPr>
        <p:spPr>
          <a:xfrm>
            <a:off x="468313" y="188913"/>
            <a:ext cx="8229600" cy="677862"/>
          </a:xfrm>
        </p:spPr>
        <p:txBody>
          <a:bodyPr wrap="square" lIns="91440" tIns="45720" rIns="91440" bIns="45720" anchor="b" anchorCtr="0"/>
          <a:p>
            <a:pPr eaLnBrk="1" hangingPunct="1"/>
            <a:r>
              <a:rPr lang="zh-CN" altLang="zh-CN" sz="4300" dirty="0">
                <a:solidFill>
                  <a:srgbClr val="000099"/>
                </a:solidFill>
                <a:ea typeface="楷体_GB2312" pitchFamily="1" charset="-122"/>
              </a:rPr>
              <a:t>五、成绩评定</a:t>
            </a:r>
            <a:endParaRPr lang="zh-CN" altLang="zh-CN" sz="4300" dirty="0">
              <a:solidFill>
                <a:srgbClr val="000099"/>
              </a:solidFill>
              <a:ea typeface="楷体_GB2312" pitchFamily="1" charset="-122"/>
            </a:endParaRPr>
          </a:p>
        </p:txBody>
      </p:sp>
      <p:sp>
        <p:nvSpPr>
          <p:cNvPr id="30722" name="文本框 1"/>
          <p:cNvSpPr txBox="1"/>
          <p:nvPr/>
        </p:nvSpPr>
        <p:spPr>
          <a:xfrm>
            <a:off x="144463" y="974725"/>
            <a:ext cx="8861425" cy="3538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3200" dirty="0">
                <a:latin typeface="Verdana" panose="020B0604030504040204" pitchFamily="34" charset="0"/>
                <a:ea typeface="楷体_GB2312" pitchFamily="1" charset="-122"/>
                <a:sym typeface="楷体_GB2312" pitchFamily="1" charset="-122"/>
              </a:rPr>
              <a:t>平时成绩 </a:t>
            </a:r>
            <a:r>
              <a:rPr lang="en-US" altLang="zh-CN" sz="3200" dirty="0">
                <a:latin typeface="Verdana" panose="020B0604030504040204" pitchFamily="34" charset="0"/>
                <a:ea typeface="楷体_GB2312" pitchFamily="1" charset="-122"/>
                <a:sym typeface="楷体_GB2312" pitchFamily="1" charset="-122"/>
              </a:rPr>
              <a:t>3</a:t>
            </a:r>
            <a:r>
              <a:rPr lang="zh-CN" altLang="zh-CN" sz="3200" dirty="0">
                <a:latin typeface="Verdana" panose="020B0604030504040204" pitchFamily="34" charset="0"/>
                <a:ea typeface="楷体_GB2312" pitchFamily="1" charset="-122"/>
                <a:sym typeface="楷体_GB2312" pitchFamily="1" charset="-122"/>
              </a:rPr>
              <a:t>0%（设计、验收、报告）</a:t>
            </a:r>
            <a:endParaRPr lang="zh-CN" altLang="zh-CN" sz="3200" dirty="0">
              <a:latin typeface="Verdana" panose="020B0604030504040204" pitchFamily="34" charset="0"/>
              <a:ea typeface="楷体_GB2312" pitchFamily="1" charset="-122"/>
              <a:sym typeface="楷体_GB2312" pitchFamily="1" charset="-122"/>
            </a:endParaRPr>
          </a:p>
          <a:p>
            <a:endParaRPr lang="zh-CN" altLang="zh-CN" sz="3200" dirty="0">
              <a:latin typeface="Verdana" panose="020B0604030504040204" pitchFamily="34" charset="0"/>
              <a:ea typeface="楷体_GB2312" pitchFamily="1" charset="-122"/>
              <a:sym typeface="楷体_GB2312" pitchFamily="1" charset="-122"/>
            </a:endParaRPr>
          </a:p>
          <a:p>
            <a:r>
              <a:rPr lang="en-US" altLang="zh-CN" sz="3200" dirty="0">
                <a:latin typeface="Verdana" panose="020B0604030504040204" pitchFamily="34" charset="0"/>
                <a:ea typeface="楷体_GB2312" pitchFamily="1" charset="-122"/>
                <a:sym typeface="楷体_GB2312" pitchFamily="1" charset="-122"/>
              </a:rPr>
              <a:t>+</a:t>
            </a:r>
            <a:r>
              <a:rPr lang="zh-CN" altLang="zh-CN" sz="3200" dirty="0">
                <a:latin typeface="Verdana" panose="020B0604030504040204" pitchFamily="34" charset="0"/>
                <a:ea typeface="楷体_GB2312" pitchFamily="1" charset="-122"/>
                <a:sym typeface="楷体_GB2312" pitchFamily="1" charset="-122"/>
              </a:rPr>
              <a:t>MOOC </a:t>
            </a:r>
            <a:r>
              <a:rPr lang="en-US" altLang="zh-CN" sz="3200" dirty="0">
                <a:latin typeface="Verdana" panose="020B0604030504040204" pitchFamily="34" charset="0"/>
                <a:ea typeface="楷体_GB2312" pitchFamily="1" charset="-122"/>
                <a:sym typeface="楷体_GB2312" pitchFamily="1" charset="-122"/>
              </a:rPr>
              <a:t>10</a:t>
            </a:r>
            <a:r>
              <a:rPr lang="zh-CN" altLang="zh-CN" sz="3200" dirty="0">
                <a:latin typeface="Verdana" panose="020B0604030504040204" pitchFamily="34" charset="0"/>
                <a:ea typeface="楷体_GB2312" pitchFamily="1" charset="-122"/>
                <a:sym typeface="楷体_GB2312" pitchFamily="1" charset="-122"/>
              </a:rPr>
              <a:t>%</a:t>
            </a:r>
            <a:endParaRPr lang="zh-CN" altLang="zh-CN" sz="3200" dirty="0">
              <a:latin typeface="Verdana" panose="020B0604030504040204" pitchFamily="34" charset="0"/>
              <a:ea typeface="楷体_GB2312" pitchFamily="1" charset="-122"/>
              <a:sym typeface="楷体_GB2312" pitchFamily="1" charset="-122"/>
            </a:endParaRPr>
          </a:p>
          <a:p>
            <a:endParaRPr lang="en-US" altLang="zh-CN" sz="3200" dirty="0">
              <a:latin typeface="Verdana" panose="020B0604030504040204" pitchFamily="34" charset="0"/>
              <a:ea typeface="楷体_GB2312" pitchFamily="1" charset="-122"/>
              <a:sym typeface="楷体_GB2312" pitchFamily="1" charset="-122"/>
            </a:endParaRPr>
          </a:p>
          <a:p>
            <a:r>
              <a:rPr lang="en-US" altLang="zh-CN" sz="3200" dirty="0">
                <a:latin typeface="Verdana" panose="020B0604030504040204" pitchFamily="34" charset="0"/>
                <a:ea typeface="楷体_GB2312" pitchFamily="1" charset="-122"/>
                <a:sym typeface="楷体_GB2312" pitchFamily="1" charset="-122"/>
              </a:rPr>
              <a:t>+</a:t>
            </a:r>
            <a:r>
              <a:rPr lang="zh-CN" altLang="en-US" sz="3200" dirty="0">
                <a:latin typeface="Verdana" panose="020B0604030504040204" pitchFamily="34" charset="0"/>
                <a:ea typeface="楷体_GB2312" pitchFamily="1" charset="-122"/>
                <a:sym typeface="楷体_GB2312" pitchFamily="1" charset="-122"/>
              </a:rPr>
              <a:t>模拟操作考试 </a:t>
            </a:r>
            <a:r>
              <a:rPr lang="en-US" altLang="zh-CN" sz="3200" dirty="0">
                <a:latin typeface="Verdana" panose="020B0604030504040204" pitchFamily="34" charset="0"/>
                <a:ea typeface="楷体_GB2312" pitchFamily="1" charset="-122"/>
                <a:sym typeface="楷体_GB2312" pitchFamily="1" charset="-122"/>
              </a:rPr>
              <a:t>30</a:t>
            </a:r>
            <a:r>
              <a:rPr lang="zh-CN" altLang="zh-CN" sz="3200" dirty="0">
                <a:latin typeface="Verdana" panose="020B0604030504040204" pitchFamily="34" charset="0"/>
                <a:ea typeface="楷体_GB2312" pitchFamily="1" charset="-122"/>
                <a:sym typeface="楷体_GB2312" pitchFamily="1" charset="-122"/>
              </a:rPr>
              <a:t>%</a:t>
            </a:r>
            <a:endParaRPr lang="zh-CN" altLang="zh-CN" sz="3200" dirty="0">
              <a:latin typeface="Verdana" panose="020B0604030504040204" pitchFamily="34" charset="0"/>
              <a:ea typeface="楷体_GB2312" pitchFamily="1" charset="-122"/>
              <a:sym typeface="楷体_GB2312" pitchFamily="1" charset="-122"/>
            </a:endParaRPr>
          </a:p>
          <a:p>
            <a:endParaRPr lang="en-US" altLang="zh-CN" sz="3200" dirty="0">
              <a:latin typeface="Verdana" panose="020B0604030504040204" pitchFamily="34" charset="0"/>
              <a:ea typeface="楷体_GB2312" pitchFamily="1" charset="-122"/>
              <a:sym typeface="楷体_GB2312" pitchFamily="1" charset="-122"/>
            </a:endParaRPr>
          </a:p>
          <a:p>
            <a:r>
              <a:rPr lang="en-US" altLang="zh-CN" sz="3200" dirty="0">
                <a:latin typeface="Verdana" panose="020B0604030504040204" pitchFamily="34" charset="0"/>
                <a:ea typeface="楷体_GB2312" pitchFamily="1" charset="-122"/>
                <a:sym typeface="楷体_GB2312" pitchFamily="1" charset="-122"/>
              </a:rPr>
              <a:t>+</a:t>
            </a:r>
            <a:r>
              <a:rPr lang="zh-CN" altLang="zh-CN" sz="3200" dirty="0">
                <a:latin typeface="Verdana" panose="020B0604030504040204" pitchFamily="34" charset="0"/>
                <a:ea typeface="楷体_GB2312" pitchFamily="1" charset="-122"/>
                <a:sym typeface="楷体_GB2312" pitchFamily="1" charset="-122"/>
              </a:rPr>
              <a:t>笔试 </a:t>
            </a:r>
            <a:r>
              <a:rPr lang="en-US" altLang="zh-CN" sz="3200" dirty="0">
                <a:latin typeface="Verdana" panose="020B0604030504040204" pitchFamily="34" charset="0"/>
                <a:ea typeface="楷体_GB2312" pitchFamily="1" charset="-122"/>
                <a:sym typeface="楷体_GB2312" pitchFamily="1" charset="-122"/>
              </a:rPr>
              <a:t>30%</a:t>
            </a:r>
            <a:r>
              <a:rPr lang="zh-CN" altLang="en-US" sz="3200" dirty="0">
                <a:solidFill>
                  <a:srgbClr val="FF0000"/>
                </a:solidFill>
                <a:latin typeface="Verdana" panose="020B0604030504040204" pitchFamily="34" charset="0"/>
                <a:ea typeface="楷体_GB2312" pitchFamily="1" charset="-122"/>
                <a:sym typeface="楷体_GB2312" pitchFamily="1" charset="-122"/>
              </a:rPr>
              <a:t>（闭卷）</a:t>
            </a:r>
            <a:endParaRPr lang="zh-CN" altLang="en-US" sz="3200" dirty="0">
              <a:solidFill>
                <a:srgbClr val="FF0000"/>
              </a:solidFill>
              <a:latin typeface="Verdana" panose="020B0604030504040204" pitchFamily="34" charset="0"/>
              <a:ea typeface="楷体_GB2312" pitchFamily="1" charset="-122"/>
              <a:sym typeface="楷体_GB2312" pitchFamily="1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/>
          <p:nvPr/>
        </p:nvSpPr>
        <p:spPr>
          <a:xfrm>
            <a:off x="601663" y="1249363"/>
            <a:ext cx="44958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zh-CN" sz="36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lang="zh-CN" altLang="zh-CN" sz="36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座位安排</a:t>
            </a:r>
            <a:r>
              <a:rPr lang="zh-CN" altLang="zh-CN" sz="36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3600" b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3" name="Rectangle 3"/>
          <p:cNvSpPr/>
          <p:nvPr/>
        </p:nvSpPr>
        <p:spPr>
          <a:xfrm>
            <a:off x="2525713" y="1371600"/>
            <a:ext cx="5943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r"/>
            <a:r>
              <a:rPr lang="zh-CN" altLang="zh-CN" sz="2800" dirty="0">
                <a:latin typeface="楷体_GB2312" pitchFamily="1" charset="-122"/>
                <a:ea typeface="楷体_GB2312" pitchFamily="1" charset="-122"/>
              </a:rPr>
              <a:t>按</a:t>
            </a:r>
            <a:r>
              <a:rPr lang="zh-CN" altLang="zh-CN" sz="28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学号次序</a:t>
            </a:r>
            <a:r>
              <a:rPr lang="zh-CN" altLang="zh-CN" sz="2800" dirty="0">
                <a:latin typeface="楷体_GB2312" pitchFamily="1" charset="-122"/>
                <a:ea typeface="楷体_GB2312" pitchFamily="1" charset="-122"/>
              </a:rPr>
              <a:t>就座（便于考勤） </a:t>
            </a:r>
            <a:endParaRPr lang="zh-CN" altLang="zh-CN" sz="28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35844" name="Rectangle 4"/>
          <p:cNvSpPr/>
          <p:nvPr/>
        </p:nvSpPr>
        <p:spPr>
          <a:xfrm>
            <a:off x="601663" y="1936750"/>
            <a:ext cx="44958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zh-CN" sz="36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lang="zh-CN" altLang="zh-CN" sz="36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签到</a:t>
            </a:r>
            <a:r>
              <a:rPr lang="zh-CN" altLang="zh-CN" sz="36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3600" b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7" name="Rectangle 7"/>
          <p:cNvSpPr/>
          <p:nvPr/>
        </p:nvSpPr>
        <p:spPr>
          <a:xfrm>
            <a:off x="3657600" y="2014538"/>
            <a:ext cx="4191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zh-CN" sz="2800" dirty="0">
                <a:latin typeface="楷体_GB2312" pitchFamily="1" charset="-122"/>
                <a:ea typeface="楷体_GB2312" pitchFamily="1" charset="-122"/>
              </a:rPr>
              <a:t>按</a:t>
            </a:r>
            <a:r>
              <a:rPr lang="zh-CN" altLang="zh-CN" sz="28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座位号码</a:t>
            </a:r>
            <a:r>
              <a:rPr lang="zh-CN" altLang="zh-CN" sz="2800" dirty="0">
                <a:latin typeface="楷体_GB2312" pitchFamily="1" charset="-122"/>
                <a:ea typeface="楷体_GB2312" pitchFamily="1" charset="-122"/>
              </a:rPr>
              <a:t>到讲台签到</a:t>
            </a:r>
            <a:endParaRPr lang="zh-CN" altLang="zh-CN" sz="28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35848" name="Rectangle 8"/>
          <p:cNvSpPr/>
          <p:nvPr/>
        </p:nvSpPr>
        <p:spPr>
          <a:xfrm>
            <a:off x="3671888" y="2764155"/>
            <a:ext cx="4859337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zh-CN" sz="2800" dirty="0">
                <a:latin typeface="Times New Roman" panose="02020603050405020304" pitchFamily="18" charset="0"/>
                <a:ea typeface="楷体_GB2312" pitchFamily="1" charset="-122"/>
              </a:rPr>
              <a:t>每人将自己的桌面整理干净</a:t>
            </a:r>
            <a:endParaRPr lang="zh-CN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849" name="Rectangle 9"/>
          <p:cNvSpPr/>
          <p:nvPr/>
        </p:nvSpPr>
        <p:spPr>
          <a:xfrm>
            <a:off x="601663" y="2710180"/>
            <a:ext cx="4495800" cy="6451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6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36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  <a:r>
              <a:rPr lang="zh-CN" altLang="zh-CN" sz="36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实验完毕后</a:t>
            </a:r>
            <a:r>
              <a:rPr lang="zh-CN" altLang="zh-CN" sz="36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3600" b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51" name="Rectangle 11"/>
          <p:cNvSpPr/>
          <p:nvPr/>
        </p:nvSpPr>
        <p:spPr>
          <a:xfrm>
            <a:off x="539750" y="0"/>
            <a:ext cx="7837488" cy="9017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zh-CN" altLang="zh-CN" sz="4700" dirty="0">
                <a:solidFill>
                  <a:srgbClr val="000099"/>
                </a:solidFill>
                <a:latin typeface="Verdana" panose="020B0604030504040204" pitchFamily="34" charset="0"/>
                <a:ea typeface="楷体_GB2312" pitchFamily="1" charset="-122"/>
              </a:rPr>
              <a:t>五</a:t>
            </a:r>
            <a:r>
              <a:rPr lang="zh-CN" altLang="zh-CN" sz="4700" dirty="0">
                <a:solidFill>
                  <a:srgbClr val="000099"/>
                </a:solidFill>
                <a:latin typeface="Verdana" panose="020B0604030504040204" pitchFamily="34" charset="0"/>
                <a:ea typeface="楷体_GB2312" pitchFamily="1" charset="-122"/>
              </a:rPr>
              <a:t>、实验室有关规定</a:t>
            </a:r>
            <a:endParaRPr lang="zh-CN" altLang="zh-CN" sz="4700" dirty="0">
              <a:solidFill>
                <a:srgbClr val="000099"/>
              </a:solidFill>
              <a:latin typeface="Verdana" panose="020B0604030504040204" pitchFamily="34" charset="0"/>
              <a:ea typeface="楷体_GB2312" pitchFamily="1" charset="-122"/>
            </a:endParaRPr>
          </a:p>
        </p:txBody>
      </p:sp>
      <p:sp>
        <p:nvSpPr>
          <p:cNvPr id="35853" name="Rectangle 13"/>
          <p:cNvSpPr/>
          <p:nvPr/>
        </p:nvSpPr>
        <p:spPr>
          <a:xfrm>
            <a:off x="3639185" y="3293110"/>
            <a:ext cx="27235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28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关闭</a:t>
            </a:r>
            <a:r>
              <a:rPr lang="zh-CN" altLang="zh-CN" sz="2800" dirty="0">
                <a:latin typeface="楷体_GB2312" pitchFamily="1" charset="-122"/>
                <a:ea typeface="楷体_GB2312" pitchFamily="1" charset="-122"/>
              </a:rPr>
              <a:t>仪器</a:t>
            </a:r>
            <a:r>
              <a:rPr lang="zh-CN" altLang="zh-CN" sz="2800" dirty="0">
                <a:latin typeface="楷体_GB2312" pitchFamily="1" charset="-122"/>
                <a:ea typeface="楷体_GB2312" pitchFamily="1" charset="-122"/>
              </a:rPr>
              <a:t>电源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zh-CN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Rectangle 2"/>
          <p:cNvSpPr>
            <a:spLocks noGrp="1"/>
          </p:cNvSpPr>
          <p:nvPr>
            <p:ph type="title"/>
          </p:nvPr>
        </p:nvSpPr>
        <p:spPr>
          <a:xfrm>
            <a:off x="611188" y="188913"/>
            <a:ext cx="7710487" cy="719137"/>
          </a:xfrm>
        </p:spPr>
        <p:txBody>
          <a:bodyPr wrap="square" lIns="91440" tIns="45720" rIns="91440" bIns="45720" anchor="b" anchorCtr="0"/>
          <a:p>
            <a:pPr eaLnBrk="1" hangingPunct="1"/>
            <a:r>
              <a:rPr lang="zh-CN" altLang="zh-CN" sz="4700" dirty="0">
                <a:solidFill>
                  <a:srgbClr val="000099"/>
                </a:solidFill>
                <a:latin typeface="Verdana" panose="020B0604030504040204" pitchFamily="34" charset="0"/>
                <a:ea typeface="楷体_GB2312" pitchFamily="1" charset="-122"/>
                <a:sym typeface="+mn-ea"/>
              </a:rPr>
              <a:t>五</a:t>
            </a:r>
            <a:r>
              <a:rPr lang="zh-CN" altLang="zh-CN" sz="4700" dirty="0">
                <a:solidFill>
                  <a:srgbClr val="000099"/>
                </a:solidFill>
                <a:ea typeface="楷体_GB2312" pitchFamily="1" charset="-122"/>
              </a:rPr>
              <a:t>、实验室有关规定</a:t>
            </a:r>
            <a:endParaRPr lang="zh-CN" altLang="zh-CN" sz="4700" dirty="0">
              <a:solidFill>
                <a:srgbClr val="000099"/>
              </a:solidFill>
              <a:ea typeface="楷体_GB2312" pitchFamily="1" charset="-122"/>
            </a:endParaRPr>
          </a:p>
        </p:txBody>
      </p:sp>
      <p:sp>
        <p:nvSpPr>
          <p:cNvPr id="36866" name="Rectangle 3"/>
          <p:cNvSpPr>
            <a:spLocks noGrp="1"/>
          </p:cNvSpPr>
          <p:nvPr>
            <p:ph idx="1"/>
          </p:nvPr>
        </p:nvSpPr>
        <p:spPr>
          <a:xfrm>
            <a:off x="323850" y="1268413"/>
            <a:ext cx="8497888" cy="4562475"/>
          </a:xfrm>
        </p:spPr>
        <p:txBody>
          <a:bodyPr wrap="square" lIns="91440" tIns="45720" rIns="91440" bIns="45720" anchor="t" anchorCtr="0"/>
          <a:p>
            <a:pPr eaLnBrk="1" hangingPunct="1">
              <a:lnSpc>
                <a:spcPct val="140000"/>
              </a:lnSpc>
              <a:buClr>
                <a:srgbClr val="0000FF"/>
              </a:buClr>
              <a:buSzPct val="12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楷体_GB2312" pitchFamily="1" charset="-122"/>
              </a:rPr>
              <a:t>出现异常情况（如冒烟、异味等）及时报告老师并做相应处理，如切断电源等。</a:t>
            </a:r>
            <a:endParaRPr lang="zh-CN" altLang="zh-CN" dirty="0">
              <a:latin typeface="楷体_GB2312" pitchFamily="1" charset="-122"/>
            </a:endParaRPr>
          </a:p>
          <a:p>
            <a:pPr eaLnBrk="1" hangingPunct="1">
              <a:lnSpc>
                <a:spcPct val="140000"/>
              </a:lnSpc>
              <a:buClr>
                <a:srgbClr val="0000FF"/>
              </a:buClr>
              <a:buSzPct val="12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楷体_GB2312" pitchFamily="1" charset="-122"/>
              </a:rPr>
              <a:t>发现仪器有问题，报告老师，确认后在记录本上做好登记。</a:t>
            </a:r>
            <a:endParaRPr lang="zh-CN" altLang="zh-CN" dirty="0">
              <a:latin typeface="楷体_GB2312" pitchFamily="1" charset="-122"/>
            </a:endParaRPr>
          </a:p>
          <a:p>
            <a:pPr eaLnBrk="1" hangingPunct="1">
              <a:lnSpc>
                <a:spcPct val="140000"/>
              </a:lnSpc>
              <a:buClr>
                <a:srgbClr val="0000FF"/>
              </a:buClr>
              <a:buSzPct val="12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楷体_GB2312" pitchFamily="1" charset="-122"/>
              </a:rPr>
              <a:t>不能在实验室内吃东西、喝饮料。</a:t>
            </a:r>
            <a:endParaRPr lang="zh-CN" altLang="zh-CN" dirty="0">
              <a:latin typeface="楷体_GB2312" pitchFamily="1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8675" name="组合 4"/>
          <p:cNvGrpSpPr/>
          <p:nvPr/>
        </p:nvGrpSpPr>
        <p:grpSpPr>
          <a:xfrm>
            <a:off x="4763" y="1773238"/>
            <a:ext cx="9144000" cy="4895850"/>
            <a:chOff x="1559496" y="1499306"/>
            <a:chExt cx="10009112" cy="5026038"/>
          </a:xfrm>
        </p:grpSpPr>
        <p:grpSp>
          <p:nvGrpSpPr>
            <p:cNvPr id="28677" name="组合 5"/>
            <p:cNvGrpSpPr/>
            <p:nvPr/>
          </p:nvGrpSpPr>
          <p:grpSpPr>
            <a:xfrm>
              <a:off x="1559496" y="1499306"/>
              <a:ext cx="10009112" cy="5026038"/>
              <a:chOff x="1559496" y="1499306"/>
              <a:chExt cx="10009112" cy="5026038"/>
            </a:xfrm>
          </p:grpSpPr>
          <p:pic>
            <p:nvPicPr>
              <p:cNvPr id="28684" name="图片 1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559496" y="1499306"/>
                <a:ext cx="2513019" cy="502603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8685" name="图片 1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39541" y="1499306"/>
                <a:ext cx="2513019" cy="502603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8686" name="图片 1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35309" y="1499306"/>
                <a:ext cx="2513019" cy="502603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8687" name="图片 1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55589" y="1499306"/>
                <a:ext cx="2513019" cy="502603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7" name="矩形 6"/>
            <p:cNvSpPr/>
            <p:nvPr/>
          </p:nvSpPr>
          <p:spPr>
            <a:xfrm>
              <a:off x="2999656" y="5301208"/>
              <a:ext cx="677589" cy="83099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1" i="0" u="none" strike="noStrike" kern="1200" cap="none" spc="0" normalizeH="0" baseline="0" noProof="0" dirty="0">
                  <a:ln w="22225">
                    <a:solidFill>
                      <a:schemeClr val="accent2">
                        <a:lumMod val="40000"/>
                        <a:lumOff val="60000"/>
                      </a:schemeClr>
                    </a:solidFill>
                    <a:prstDash val="solid"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①</a:t>
              </a:r>
              <a:endParaRPr kumimoji="0" lang="zh-CN" altLang="en-US" sz="4800" b="1" i="0" u="none" strike="noStrike" kern="1200" cap="none" spc="0" normalizeH="0" baseline="0" noProof="0" dirty="0">
                <a:ln w="22225">
                  <a:solidFill>
                    <a:schemeClr val="accent2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409448" y="3501008"/>
              <a:ext cx="677589" cy="83099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1" i="0" u="none" strike="noStrike" kern="1200" cap="none" spc="0" normalizeH="0" baseline="0" noProof="0" dirty="0">
                  <a:ln w="22225">
                    <a:solidFill>
                      <a:schemeClr val="accent2">
                        <a:lumMod val="40000"/>
                        <a:lumOff val="60000"/>
                      </a:schemeClr>
                    </a:solidFill>
                    <a:prstDash val="solid"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②</a:t>
              </a:r>
              <a:endParaRPr kumimoji="0" lang="zh-CN" altLang="en-US" sz="4800" b="1" i="0" u="none" strike="noStrike" kern="1200" cap="none" spc="0" normalizeH="0" baseline="0" noProof="0" dirty="0">
                <a:ln w="22225">
                  <a:solidFill>
                    <a:schemeClr val="accent2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935116" y="4581128"/>
              <a:ext cx="677589" cy="83099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1" i="0" u="none" strike="noStrike" kern="1200" cap="none" spc="0" normalizeH="0" baseline="0" noProof="0" dirty="0">
                  <a:ln w="22225">
                    <a:solidFill>
                      <a:schemeClr val="accent2">
                        <a:lumMod val="40000"/>
                        <a:lumOff val="60000"/>
                      </a:schemeClr>
                    </a:solidFill>
                    <a:prstDash val="solid"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③</a:t>
              </a:r>
              <a:endParaRPr kumimoji="0" lang="zh-CN" altLang="en-US" sz="4800" b="1" i="0" u="none" strike="noStrike" kern="1200" cap="none" spc="0" normalizeH="0" baseline="0" noProof="0" dirty="0">
                <a:ln w="22225">
                  <a:solidFill>
                    <a:schemeClr val="accent2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7471462" y="2132856"/>
              <a:ext cx="677589" cy="83099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1" i="0" u="none" strike="noStrike" kern="1200" cap="none" spc="0" normalizeH="0" baseline="0" noProof="0" dirty="0">
                  <a:ln w="22225">
                    <a:solidFill>
                      <a:schemeClr val="accent2">
                        <a:lumMod val="40000"/>
                        <a:lumOff val="60000"/>
                      </a:schemeClr>
                    </a:solidFill>
                    <a:prstDash val="solid"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④</a:t>
              </a:r>
              <a:endParaRPr kumimoji="0" lang="zh-CN" altLang="en-US" sz="4800" b="1" i="0" u="none" strike="noStrike" kern="1200" cap="none" spc="0" normalizeH="0" baseline="0" noProof="0" dirty="0">
                <a:ln w="22225">
                  <a:solidFill>
                    <a:schemeClr val="accent2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0704512" y="1506014"/>
              <a:ext cx="677589" cy="83099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1" i="0" u="none" strike="noStrike" kern="1200" cap="none" spc="0" normalizeH="0" baseline="0" noProof="0" dirty="0">
                  <a:ln w="22225">
                    <a:solidFill>
                      <a:schemeClr val="accent2">
                        <a:lumMod val="40000"/>
                        <a:lumOff val="60000"/>
                      </a:schemeClr>
                    </a:solidFill>
                    <a:prstDash val="solid"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⑤</a:t>
              </a:r>
              <a:endParaRPr kumimoji="0" lang="zh-CN" altLang="en-US" sz="4800" b="1" i="0" u="none" strike="noStrike" kern="1200" cap="none" spc="0" normalizeH="0" baseline="0" noProof="0" dirty="0">
                <a:ln w="22225">
                  <a:solidFill>
                    <a:schemeClr val="accent2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0667832" y="3596826"/>
              <a:ext cx="677589" cy="83099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1" i="0" u="none" strike="noStrike" kern="1200" cap="none" spc="0" normalizeH="0" baseline="0" noProof="0" dirty="0">
                  <a:ln w="22225">
                    <a:solidFill>
                      <a:schemeClr val="accent2">
                        <a:lumMod val="40000"/>
                        <a:lumOff val="60000"/>
                      </a:schemeClr>
                    </a:solidFill>
                    <a:prstDash val="solid"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⑥</a:t>
              </a:r>
              <a:endParaRPr kumimoji="0" lang="zh-CN" altLang="en-US" sz="4800" b="1" i="0" u="none" strike="noStrike" kern="1200" cap="none" spc="0" normalizeH="0" baseline="0" noProof="0" dirty="0">
                <a:ln w="22225">
                  <a:solidFill>
                    <a:schemeClr val="accent2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8676" name="文本框 12294"/>
          <p:cNvSpPr txBox="1"/>
          <p:nvPr/>
        </p:nvSpPr>
        <p:spPr>
          <a:xfrm>
            <a:off x="3451225" y="1076325"/>
            <a:ext cx="1630363" cy="522288"/>
          </a:xfrm>
          <a:prstGeom prst="rect">
            <a:avLst/>
          </a:prstGeom>
          <a:noFill/>
          <a:ln w="12700">
            <a:noFill/>
          </a:ln>
        </p:spPr>
        <p:txBody>
          <a:bodyPr lIns="91423" tIns="45711" rIns="91423" bIns="45711">
            <a:spAutoFit/>
          </a:bodyPr>
          <a:p>
            <a:pPr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</a:rPr>
              <a:t>开放预约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微软雅黑" panose="020B0503020204020204" charset="-122"/>
            </a:endParaRPr>
          </a:p>
        </p:txBody>
      </p:sp>
      <p:sp>
        <p:nvSpPr>
          <p:cNvPr id="36865" name="Rectangle 2"/>
          <p:cNvSpPr>
            <a:spLocks noGrp="1"/>
          </p:cNvSpPr>
          <p:nvPr>
            <p:ph type="title"/>
          </p:nvPr>
        </p:nvSpPr>
        <p:spPr>
          <a:xfrm>
            <a:off x="611188" y="188913"/>
            <a:ext cx="7710487" cy="719137"/>
          </a:xfrm>
        </p:spPr>
        <p:txBody>
          <a:bodyPr wrap="square" lIns="91440" tIns="45720" rIns="91440" bIns="45720" anchor="b" anchorCtr="0"/>
          <a:p>
            <a:pPr eaLnBrk="1" hangingPunct="1"/>
            <a:r>
              <a:rPr lang="zh-CN" altLang="zh-CN" sz="4700" dirty="0">
                <a:solidFill>
                  <a:srgbClr val="000099"/>
                </a:solidFill>
                <a:latin typeface="Verdana" panose="020B0604030504040204" pitchFamily="34" charset="0"/>
                <a:ea typeface="楷体_GB2312" pitchFamily="1" charset="-122"/>
                <a:sym typeface="+mn-ea"/>
              </a:rPr>
              <a:t>五</a:t>
            </a:r>
            <a:r>
              <a:rPr lang="zh-CN" altLang="zh-CN" sz="4700" dirty="0">
                <a:solidFill>
                  <a:srgbClr val="000099"/>
                </a:solidFill>
                <a:ea typeface="楷体_GB2312" pitchFamily="1" charset="-122"/>
              </a:rPr>
              <a:t>、实验室有关规定</a:t>
            </a:r>
            <a:endParaRPr lang="zh-CN" altLang="zh-CN" sz="4700" dirty="0">
              <a:solidFill>
                <a:srgbClr val="000099"/>
              </a:solidFill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六、本学期实验安排</a:t>
            </a:r>
            <a:endParaRPr kumimoji="0" lang="zh-CN" altLang="en-US" sz="4800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611188" y="1196975"/>
            <a:ext cx="7129463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运放的应用（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周）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积分、加法、减法电路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11188" y="2565400"/>
            <a:ext cx="8353425" cy="122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BJT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共射放大电路设计与仿真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周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SPICE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的使用、测试电路参数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11188" y="3860800"/>
            <a:ext cx="7921625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正弦波产生电路、全波整流电路（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周）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RC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振荡电路、半波整流电路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11188" y="5013325"/>
            <a:ext cx="7345363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音乐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彩灯与音响放大电路（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周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话放、滤波器、功放、控制电路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pPr eaLnBrk="1" hangingPunct="1"/>
            <a:r>
              <a:rPr lang="zh-CN" altLang="zh-CN" dirty="0">
                <a:solidFill>
                  <a:srgbClr val="000099"/>
                </a:solidFill>
              </a:rPr>
              <a:t>上课时间</a:t>
            </a:r>
            <a:endParaRPr lang="zh-CN" altLang="zh-CN" dirty="0">
              <a:solidFill>
                <a:srgbClr val="000099"/>
              </a:solidFill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371600"/>
            <a:ext cx="8218488" cy="4343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zh-CN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+mn-ea"/>
              </a:rPr>
              <a:t>上午：8：00~11：10</a:t>
            </a:r>
            <a:endParaRPr kumimoji="0" lang="zh-CN" altLang="zh-CN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zh-CN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+mn-ea"/>
              </a:rPr>
              <a:t>下午：14：00～17：10</a:t>
            </a:r>
            <a:endParaRPr kumimoji="0" lang="zh-CN" altLang="zh-CN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zh-CN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+mn-ea"/>
              </a:rPr>
              <a:t>晚上：18：30 ～21：40</a:t>
            </a:r>
            <a:endParaRPr kumimoji="0" lang="zh-CN" altLang="zh-CN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zh-CN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+mn-ea"/>
              </a:rPr>
              <a:t>中间休息10分钟(上午、下午和晚上），每个单元实验时间结束时下课铃响，</a:t>
            </a:r>
            <a:r>
              <a:rPr kumimoji="0" lang="zh-CN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+mn-ea"/>
              </a:rPr>
              <a:t>准时拉闸停电</a:t>
            </a:r>
            <a:r>
              <a:rPr kumimoji="0" lang="zh-CN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+mn-ea"/>
              </a:rPr>
              <a:t>。</a:t>
            </a:r>
            <a:r>
              <a:rPr kumimoji="0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+mn-ea"/>
              </a:rPr>
              <a:t>5</a:t>
            </a:r>
            <a:r>
              <a:rPr kumimoji="0" lang="zh-CN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+mn-ea"/>
              </a:rPr>
              <a:t>.1后下午和晚上延后半小时。</a:t>
            </a:r>
            <a:endParaRPr kumimoji="0" lang="en-US" altLang="zh-CN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n-ea"/>
            </a:endParaRPr>
          </a:p>
          <a:p>
            <a:pPr marL="471170" marR="0" lvl="1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zh-CN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8572,&quot;width&quot;:6095}"/>
</p:tagLst>
</file>

<file path=ppt/tags/tag2.xml><?xml version="1.0" encoding="utf-8"?>
<p:tagLst xmlns:p="http://schemas.openxmlformats.org/presentationml/2006/main">
  <p:tag name="KSO_WM_UNIT_PLACING_PICTURE_USER_VIEWPORT" val="{&quot;height&quot;:8572,&quot;width&quot;:6095}"/>
</p:tagLst>
</file>

<file path=ppt/tags/tag3.xml><?xml version="1.0" encoding="utf-8"?>
<p:tagLst xmlns:p="http://schemas.openxmlformats.org/presentationml/2006/main">
  <p:tag name="KSO_WM_UNIT_PLACING_PICTURE_USER_VIEWPORT" val="{&quot;height&quot;:28035,&quot;width&quot;:19200}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MODEL_TYPE" val="numdgm"/>
</p:tagLst>
</file>

<file path=ppt/tags/tag6.xml><?xml version="1.0" encoding="utf-8"?>
<p:tagLst xmlns:p="http://schemas.openxmlformats.org/presentationml/2006/main">
  <p:tag name="KSO_WM_DOC_GUID" val="{a9cd4fcb-5ab7-4277-acf0-57cf8bfe4e23}"/>
  <p:tag name="KSO_WPP_MARK_KEY" val="672df688-26ef-46ee-844b-ff6beb8556d6"/>
  <p:tag name="COMMONDATA" val="eyJoZGlkIjoiYTM0YjhhZjY5NzRhNjAxYjg5MGU1NzlhYWJkMjM3YzMifQ=="/>
  <p:tag name="commondata" val="eyJoZGlkIjoiYTQ4NDRjYWI5YWFmMDE3MTg2YThjZTk1MTNlZGNlMzkifQ=="/>
</p:tagLst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3455</Words>
  <Application>WPS 演示</Application>
  <PresentationFormat>全屏显示(4:3)</PresentationFormat>
  <Paragraphs>359</Paragraphs>
  <Slides>39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39</vt:i4>
      </vt:variant>
    </vt:vector>
  </HeadingPairs>
  <TitlesOfParts>
    <vt:vector size="62" baseType="lpstr">
      <vt:lpstr>Arial</vt:lpstr>
      <vt:lpstr>宋体</vt:lpstr>
      <vt:lpstr>Wingdings</vt:lpstr>
      <vt:lpstr>Verdana</vt:lpstr>
      <vt:lpstr>Times New Roman</vt:lpstr>
      <vt:lpstr>隶书</vt:lpstr>
      <vt:lpstr>楷体_GB2312</vt:lpstr>
      <vt:lpstr>新宋体</vt:lpstr>
      <vt:lpstr>华文中宋</vt:lpstr>
      <vt:lpstr>楷体</vt:lpstr>
      <vt:lpstr>Calibri</vt:lpstr>
      <vt:lpstr>微软雅黑</vt:lpstr>
      <vt:lpstr>华文楷体</vt:lpstr>
      <vt:lpstr>黑体</vt:lpstr>
      <vt:lpstr>Arial Unicode MS</vt:lpstr>
      <vt:lpstr>等线</vt:lpstr>
      <vt:lpstr>Arial</vt:lpstr>
      <vt:lpstr>华文新魏</vt:lpstr>
      <vt:lpstr>楷体_GB2312</vt:lpstr>
      <vt:lpstr>Profile</vt:lpstr>
      <vt:lpstr>1_Profile</vt:lpstr>
      <vt:lpstr>Paint.Picture</vt:lpstr>
      <vt:lpstr>Paint.Picture</vt:lpstr>
      <vt:lpstr>电子线路设计与测试</vt:lpstr>
      <vt:lpstr>一、课程简介</vt:lpstr>
      <vt:lpstr>MOOC课程</vt:lpstr>
      <vt:lpstr>PowerPoint 演示文稿</vt:lpstr>
      <vt:lpstr>一、课程简介</vt:lpstr>
      <vt:lpstr>自动化202104</vt:lpstr>
      <vt:lpstr>PowerPoint 演示文稿</vt:lpstr>
      <vt:lpstr>MOOC学习</vt:lpstr>
      <vt:lpstr>微助教</vt:lpstr>
      <vt:lpstr>课程教学目的</vt:lpstr>
      <vt:lpstr>教学重点与难点</vt:lpstr>
      <vt:lpstr>1、课程目标 — 培养电路设计与装调能力</vt:lpstr>
      <vt:lpstr>课程简介</vt:lpstr>
      <vt:lpstr>2、课程特点与学习方法</vt:lpstr>
      <vt:lpstr>3、开放式教学方法</vt:lpstr>
      <vt:lpstr>课程简介</vt:lpstr>
      <vt:lpstr>课程简介</vt:lpstr>
      <vt:lpstr>二、实验流程</vt:lpstr>
      <vt:lpstr>四、实验流程</vt:lpstr>
      <vt:lpstr>1：课前－预习</vt:lpstr>
      <vt:lpstr>2：课上－调试、测量、记录数据</vt:lpstr>
      <vt:lpstr>PowerPoint 演示文稿</vt:lpstr>
      <vt:lpstr>课后－总结与分析，写实验报告</vt:lpstr>
      <vt:lpstr>3：课后－总结与分析，写实验报告</vt:lpstr>
      <vt:lpstr>4：补做要求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五、成绩评定</vt:lpstr>
      <vt:lpstr>五、成绩评定</vt:lpstr>
      <vt:lpstr>五、成绩评定</vt:lpstr>
      <vt:lpstr>PowerPoint 演示文稿</vt:lpstr>
      <vt:lpstr>五、实验室有关规定</vt:lpstr>
      <vt:lpstr>五、实验室有关规定</vt:lpstr>
      <vt:lpstr>六、本学期实验安排</vt:lpstr>
      <vt:lpstr>上课时间</vt:lpstr>
    </vt:vector>
  </TitlesOfParts>
  <Company>电信系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陈林</dc:creator>
  <cp:lastModifiedBy>Administrator</cp:lastModifiedBy>
  <cp:revision>467</cp:revision>
  <dcterms:created xsi:type="dcterms:W3CDTF">2004-08-29T02:51:00Z</dcterms:created>
  <dcterms:modified xsi:type="dcterms:W3CDTF">2025-10-29T10:05:24Z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2052-11.8.2.11718</vt:lpwstr>
  </property>
  <property fmtid="{D5CDD505-2E9C-101B-9397-08002B2CF9AE}" pid="3" name="ICV">
    <vt:lpwstr>A1BAB18243F64F42BD37DCEC728F046A</vt:lpwstr>
  </property>
</Properties>
</file>