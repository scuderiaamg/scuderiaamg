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bmp" ContentType="image/bmp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8"/>
  </p:notesMasterIdLst>
  <p:sldIdLst>
    <p:sldId id="256" r:id="rId4"/>
    <p:sldId id="286" r:id="rId5"/>
    <p:sldId id="287" r:id="rId6"/>
    <p:sldId id="289" r:id="rId7"/>
    <p:sldId id="257" r:id="rId8"/>
    <p:sldId id="258" r:id="rId9"/>
    <p:sldId id="259" r:id="rId10"/>
    <p:sldId id="260" r:id="rId11"/>
    <p:sldId id="261" r:id="rId12"/>
    <p:sldId id="262" r:id="rId13"/>
    <p:sldId id="266" r:id="rId14"/>
    <p:sldId id="267" r:id="rId15"/>
    <p:sldId id="296" r:id="rId16"/>
    <p:sldId id="297" r:id="rId17"/>
    <p:sldId id="298" r:id="rId19"/>
    <p:sldId id="299" r:id="rId20"/>
    <p:sldId id="300" r:id="rId21"/>
    <p:sldId id="303" r:id="rId22"/>
    <p:sldId id="304" r:id="rId23"/>
    <p:sldId id="305" r:id="rId24"/>
    <p:sldId id="306" r:id="rId25"/>
    <p:sldId id="372" r:id="rId26"/>
    <p:sldId id="307" r:id="rId27"/>
    <p:sldId id="308" r:id="rId28"/>
    <p:sldId id="309" r:id="rId29"/>
    <p:sldId id="310" r:id="rId30"/>
    <p:sldId id="312" r:id="rId31"/>
    <p:sldId id="314" r:id="rId32"/>
    <p:sldId id="313" r:id="rId33"/>
    <p:sldId id="315" r:id="rId34"/>
    <p:sldId id="318" r:id="rId35"/>
    <p:sldId id="367" r:id="rId36"/>
    <p:sldId id="319" r:id="rId37"/>
    <p:sldId id="366" r:id="rId38"/>
    <p:sldId id="316" r:id="rId39"/>
    <p:sldId id="317" r:id="rId40"/>
    <p:sldId id="321" r:id="rId41"/>
    <p:sldId id="373" r:id="rId42"/>
    <p:sldId id="322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74" r:id="rId55"/>
    <p:sldId id="335" r:id="rId56"/>
    <p:sldId id="336" r:id="rId57"/>
    <p:sldId id="375" r:id="rId58"/>
    <p:sldId id="376" r:id="rId59"/>
    <p:sldId id="377" r:id="rId60"/>
    <p:sldId id="337" r:id="rId61"/>
    <p:sldId id="380" r:id="rId62"/>
    <p:sldId id="339" r:id="rId63"/>
    <p:sldId id="381" r:id="rId64"/>
    <p:sldId id="382" r:id="rId65"/>
    <p:sldId id="390" r:id="rId66"/>
    <p:sldId id="391" r:id="rId67"/>
    <p:sldId id="392" r:id="rId68"/>
    <p:sldId id="383" r:id="rId69"/>
    <p:sldId id="348" r:id="rId70"/>
    <p:sldId id="350" r:id="rId71"/>
    <p:sldId id="351" r:id="rId72"/>
    <p:sldId id="352" r:id="rId73"/>
    <p:sldId id="353" r:id="rId74"/>
    <p:sldId id="354" r:id="rId75"/>
    <p:sldId id="355" r:id="rId76"/>
    <p:sldId id="356" r:id="rId77"/>
    <p:sldId id="357" r:id="rId78"/>
    <p:sldId id="384" r:id="rId79"/>
    <p:sldId id="385" r:id="rId80"/>
    <p:sldId id="386" r:id="rId81"/>
    <p:sldId id="387" r:id="rId82"/>
    <p:sldId id="388" r:id="rId83"/>
    <p:sldId id="393" r:id="rId84"/>
    <p:sldId id="358" r:id="rId85"/>
    <p:sldId id="359" r:id="rId86"/>
    <p:sldId id="360" r:id="rId87"/>
    <p:sldId id="361" r:id="rId88"/>
    <p:sldId id="363" r:id="rId89"/>
    <p:sldId id="365" r:id="rId90"/>
  </p:sldIdLst>
  <p:sldSz cx="9144000" cy="6858000" type="screen4x3"/>
  <p:notesSz cx="7099300" cy="10234930"/>
  <p:custDataLst>
    <p:tags r:id="rId94"/>
  </p:custDataLst>
  <p:defaultTextStyle>
    <a:defPPr>
      <a:defRPr lang="zh-CN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folHlink"/>
        </a:solidFill>
        <a:latin typeface="Times New Roman" panose="02020603050405020304" pitchFamily="2" charset="0"/>
        <a:ea typeface="楷体_GB2312" pitchFamily="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FF00FF"/>
    <a:srgbClr val="000099"/>
    <a:srgbClr val="00FFFF"/>
    <a:srgbClr val="FFFF00"/>
    <a:srgbClr val="CC0000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6199" cy="76199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gs" Target="tags/tag1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4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/>
          <a:p>
            <a:pPr lvl="0" algn="l" defTabSz="990600" eaLnBrk="1" hangingPunct="1"/>
            <a:endParaRPr lang="en-US" altLang="x-none" sz="1300" dirty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/>
          <a:p>
            <a:pPr lvl="0" algn="r" defTabSz="990600" eaLnBrk="1" hangingPunct="1"/>
            <a:endParaRPr lang="en-US" altLang="x-none" sz="1300" dirty="0">
              <a:solidFill>
                <a:schemeClr val="tx1"/>
              </a:solidFill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ctr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p>
            <a:pPr lvl="0" algn="l" defTabSz="990600" eaLnBrk="1" hangingPunct="1"/>
            <a:endParaRPr lang="en-US" altLang="x-none" sz="1300" dirty="0">
              <a:solidFill>
                <a:schemeClr val="tx1"/>
              </a:solidFill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p>
            <a:pPr lvl="0" algn="r" defTabSz="990600" eaLnBrk="1" hangingPunct="1"/>
            <a:fld id="{9A0DB2DC-4C9A-4742-B13C-FB6460FD3503}" type="slidenum">
              <a:rPr lang="en-US" altLang="zh-CN" sz="1300" dirty="0">
                <a:solidFill>
                  <a:schemeClr val="tx1"/>
                </a:solidFill>
              </a:rPr>
            </a:fld>
            <a:endParaRPr lang="en-US" altLang="zh-CN" sz="13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幻灯片图像占位符 18433"/>
          <p:cNvSpPr>
            <a:spLocks noGrp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709613" y="4862513"/>
            <a:ext cx="5680075" cy="4605337"/>
          </a:xfrm>
        </p:spPr>
        <p:txBody>
          <a:bodyPr lIns="99048" tIns="49524" rIns="99048" bIns="49524" anchor="ctr" anchorCtr="0"/>
          <a:p>
            <a:pPr lvl="0"/>
            <a:r>
              <a:rPr lang="zh-CN" altLang="en-US" dirty="0"/>
              <a:t>叫学生回答；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幻灯片图像占位符 20481"/>
          <p:cNvSpPr>
            <a:spLocks noGrp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946150" y="4862513"/>
            <a:ext cx="5207000" cy="4605337"/>
          </a:xfrm>
        </p:spPr>
        <p:txBody>
          <a:bodyPr lIns="99048" tIns="49524" rIns="99048" bIns="49524" anchor="ctr" anchorCtr="0"/>
          <a:p>
            <a:pPr lvl="0"/>
            <a:r>
              <a:rPr lang="en-US" altLang="zh-CN" dirty="0"/>
              <a:t>1</a:t>
            </a:r>
            <a:r>
              <a:rPr lang="zh-CN" altLang="en-US" dirty="0"/>
              <a:t>、不支持中文目录、文件名</a:t>
            </a:r>
            <a:endParaRPr lang="zh-CN" altLang="en-US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、一个设计项目建一个文件夹</a:t>
            </a:r>
            <a:endParaRPr lang="zh-CN" altLang="en-US" dirty="0"/>
          </a:p>
          <a:p>
            <a:pPr lvl="0"/>
            <a:r>
              <a:rPr lang="en-US" altLang="zh-CN" dirty="0"/>
              <a:t>3</a:t>
            </a:r>
            <a:r>
              <a:rPr lang="zh-CN" altLang="en-US" dirty="0"/>
              <a:t>、举例直流、瞬态、</a:t>
            </a:r>
            <a:r>
              <a:rPr lang="en-US" altLang="zh-CN" dirty="0"/>
              <a:t>bata</a:t>
            </a:r>
            <a:r>
              <a:rPr lang="zh-CN" altLang="en-US" dirty="0"/>
              <a:t>、</a:t>
            </a:r>
            <a:r>
              <a:rPr lang="en-US" altLang="zh-CN" dirty="0"/>
              <a:t>AC</a:t>
            </a:r>
            <a:r>
              <a:rPr lang="zh-CN" altLang="en-US" dirty="0"/>
              <a:t>、游标、目标函数、</a:t>
            </a:r>
            <a:r>
              <a:rPr lang="en-US" altLang="zh-CN" dirty="0"/>
              <a:t>Ri</a:t>
            </a:r>
            <a:r>
              <a:rPr lang="zh-CN" altLang="en-US" dirty="0"/>
              <a:t>、</a:t>
            </a:r>
            <a:r>
              <a:rPr lang="en-US" altLang="zh-CN" dirty="0"/>
              <a:t>Ro</a:t>
            </a:r>
            <a:r>
              <a:rPr lang="zh-CN" altLang="en-US" dirty="0"/>
              <a:t>、</a:t>
            </a:r>
            <a:r>
              <a:rPr lang="en-US" altLang="zh-CN" dirty="0"/>
              <a:t>Global</a:t>
            </a:r>
            <a:r>
              <a:rPr lang="zh-CN" altLang="en-US" dirty="0"/>
              <a:t>参数</a:t>
            </a:r>
            <a:endParaRPr lang="zh-CN" altLang="en-US" dirty="0"/>
          </a:p>
          <a:p>
            <a:pPr lvl="0"/>
            <a:r>
              <a:rPr lang="en-US" altLang="zh-CN" dirty="0"/>
              <a:t>4</a:t>
            </a:r>
            <a:r>
              <a:rPr lang="zh-CN" altLang="en-US" dirty="0"/>
              <a:t>、曲线、图形复制到</a:t>
            </a:r>
            <a:r>
              <a:rPr lang="en-US" altLang="zh-CN" dirty="0"/>
              <a:t>word</a:t>
            </a:r>
            <a:r>
              <a:rPr lang="zh-CN" altLang="en-US" dirty="0"/>
              <a:t>文档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Ro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</p:spPr>
        <p:txBody>
          <a:bodyPr vert="horz" wrap="square" lIns="99048" tIns="49524" rIns="99048" bIns="49524" anchor="t" anchorCtr="0"/>
          <a:p>
            <a:pPr lvl="0"/>
            <a:r>
              <a:rPr lang="zh-CN" altLang="en-US" dirty="0"/>
              <a:t>建议接插电路先定三极管位置，再定＋－电源大致位置（建议用边条），再按三个管脚来依次插各部分器件，然后是输入输出。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2504" cy="4968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196975"/>
            <a:ext cx="4032504" cy="4968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60499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52930" cy="60499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 descr="xiaohui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954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14"/>
          <p:cNvSpPr>
            <a:spLocks noGrp="1"/>
          </p:cNvSpPr>
          <p:nvPr>
            <p:ph type="title"/>
          </p:nvPr>
        </p:nvSpPr>
        <p:spPr>
          <a:xfrm>
            <a:off x="1909763" y="115888"/>
            <a:ext cx="6630987" cy="792162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15"/>
          <p:cNvSpPr>
            <a:spLocks noGrp="1"/>
          </p:cNvSpPr>
          <p:nvPr>
            <p:ph type="body" idx="1"/>
          </p:nvPr>
        </p:nvSpPr>
        <p:spPr>
          <a:xfrm>
            <a:off x="457200" y="1196975"/>
            <a:ext cx="8229600" cy="49688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9" name="Rectangle 16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Text Box 18"/>
          <p:cNvSpPr txBox="1"/>
          <p:nvPr userDrawn="1"/>
        </p:nvSpPr>
        <p:spPr>
          <a:xfrm>
            <a:off x="5364163" y="6237288"/>
            <a:ext cx="338455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明德、厚学、求是、创新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031" name="Rectangle 19"/>
          <p:cNvSpPr/>
          <p:nvPr userDrawn="1"/>
        </p:nvSpPr>
        <p:spPr>
          <a:xfrm>
            <a:off x="5435600" y="6597650"/>
            <a:ext cx="3313113" cy="71438"/>
          </a:xfrm>
          <a:prstGeom prst="rect">
            <a:avLst/>
          </a:prstGeom>
          <a:gradFill rotWithShape="1">
            <a:gsLst>
              <a:gs pos="0">
                <a:srgbClr val="AB29F3"/>
              </a:gs>
              <a:gs pos="100000">
                <a:srgbClr val="FFFFFF"/>
              </a:gs>
            </a:gsLst>
            <a:lin ang="0" scaled="1"/>
            <a:tileRect/>
          </a:gra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lvl="0" algn="l" eaLnBrk="1" hangingPunct="1"/>
            <a:endParaRPr lang="zh-CN" altLang="en-US" sz="32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032" name="Rectangle 21"/>
          <p:cNvSpPr/>
          <p:nvPr userDrawn="1"/>
        </p:nvSpPr>
        <p:spPr>
          <a:xfrm>
            <a:off x="971550" y="908050"/>
            <a:ext cx="8172450" cy="144463"/>
          </a:xfrm>
          <a:prstGeom prst="rect">
            <a:avLst/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  <a:tileRect/>
          </a:gra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lvl="0" algn="l" eaLnBrk="1" hangingPunct="1"/>
            <a:endParaRPr lang="zh-CN" altLang="en-US" sz="32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rgbClr val="990099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Tx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Tx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Tx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Tx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Tx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rgbClr val="FF0000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2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lvl="0" eaLnBrk="1" hangingPunct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4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rgbClr val="FF0000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folHlink"/>
          </a:solidFill>
          <a:latin typeface="Times New Roman" panose="02020603050405020304" pitchFamily="2" charset="0"/>
          <a:ea typeface="楷体_GB2312" pitchFamily="1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06&#20223;&#30495;.avi" TargetMode="External"/><Relationship Id="rId5" Type="http://schemas.openxmlformats.org/officeDocument/2006/relationships/hyperlink" Target="05&#20223;&#30495;&#21069;&#30340;&#20934;&#22791;&#24037;&#20316;.avi" TargetMode="External"/><Relationship Id="rId4" Type="http://schemas.openxmlformats.org/officeDocument/2006/relationships/hyperlink" Target="04&#35774;&#32622;&#20998;&#26512;&#21151;&#33021;.avi" TargetMode="External"/><Relationship Id="rId3" Type="http://schemas.openxmlformats.org/officeDocument/2006/relationships/hyperlink" Target="03&#20462;&#25913;&#20803;&#22120;&#20214;&#30340;&#26631;&#21495;&#21644;&#21442;&#25968;.avi" TargetMode="External"/><Relationship Id="rId2" Type="http://schemas.openxmlformats.org/officeDocument/2006/relationships/hyperlink" Target="02&#30011;&#30005;&#36335;&#22270;.avi" TargetMode="External"/><Relationship Id="rId1" Type="http://schemas.openxmlformats.org/officeDocument/2006/relationships/hyperlink" Target="01&#21551;&#21160;Pspice9.2.avi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1.bmp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oleObject" Target="../embeddings/oleObject7.bin"/><Relationship Id="rId2" Type="http://schemas.openxmlformats.org/officeDocument/2006/relationships/image" Target="../media/image20.png"/><Relationship Id="rId1" Type="http://schemas.openxmlformats.org/officeDocument/2006/relationships/oleObject" Target="../embeddings/oleObject6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oleObject" Target="../embeddings/oleObject8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oleObject" Target="../embeddings/oleObject9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oleObject" Target="../embeddings/oleObject10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oleObject" Target="../embeddings/oleObject11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oleObject" Target="../embeddings/oleObject12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oleObject" Target="../embeddings/oleObject13.bin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oleObject" Target="../embeddings/oleObject14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oleObject" Target="../embeddings/oleObject15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16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7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8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oleObject" Target="../embeddings/oleObject19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38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image" Target="../media/image42.wmf"/><Relationship Id="rId1" Type="http://schemas.openxmlformats.org/officeDocument/2006/relationships/oleObject" Target="../embeddings/oleObject20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0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oleObject" Target="../embeddings/oleObject21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9.png"/><Relationship Id="rId2" Type="http://schemas.openxmlformats.org/officeDocument/2006/relationships/image" Target="../media/image48.wmf"/><Relationship Id="rId1" Type="http://schemas.openxmlformats.org/officeDocument/2006/relationships/oleObject" Target="../embeddings/oleObject23.bin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2" Type="http://schemas.openxmlformats.org/officeDocument/2006/relationships/image" Target="../media/image50.wmf"/><Relationship Id="rId1" Type="http://schemas.openxmlformats.org/officeDocument/2006/relationships/oleObject" Target="../embeddings/oleObject24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25.bin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26.bin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27.bin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wmf"/><Relationship Id="rId1" Type="http://schemas.openxmlformats.org/officeDocument/2006/relationships/oleObject" Target="../embeddings/oleObject28.bin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29.bin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wmf"/><Relationship Id="rId1" Type="http://schemas.openxmlformats.org/officeDocument/2006/relationships/oleObject" Target="../embeddings/oleObject31.bin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wmf"/><Relationship Id="rId1" Type="http://schemas.openxmlformats.org/officeDocument/2006/relationships/oleObject" Target="../embeddings/oleObject32.bin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wmf"/><Relationship Id="rId1" Type="http://schemas.openxmlformats.org/officeDocument/2006/relationships/oleObject" Target="../embeddings/oleObject33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8" name="Picture 13" descr="xiaoh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81200" cy="185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页脚占位符 4"/>
          <p:cNvSpPr txBox="1">
            <a:spLocks noGrp="1"/>
          </p:cNvSpPr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ctrTitle"/>
          </p:nvPr>
        </p:nvSpPr>
        <p:spPr>
          <a:xfrm>
            <a:off x="0" y="1700213"/>
            <a:ext cx="9144000" cy="1470025"/>
          </a:xfrm>
          <a:solidFill>
            <a:srgbClr val="3366FF">
              <a:alpha val="100000"/>
            </a:srgbClr>
          </a:solidFill>
        </p:spPr>
        <p:txBody>
          <a:bodyPr vert="horz" wrap="square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/>
            <a:r>
              <a:rPr lang="zh-CN" altLang="en-US" sz="5400" dirty="0">
                <a:solidFill>
                  <a:schemeClr val="bg1"/>
                </a:solidFill>
                <a:ea typeface="隶书" panose="02010509060101010101" pitchFamily="1" charset="-122"/>
              </a:rPr>
              <a:t>电子线路设计、测试与实验</a:t>
            </a:r>
            <a:endParaRPr lang="en-US" altLang="zh-CN" sz="5400" dirty="0">
              <a:solidFill>
                <a:schemeClr val="bg1"/>
              </a:solidFill>
              <a:ea typeface="隶书" panose="02010509060101010101" pitchFamily="1" charset="-122"/>
            </a:endParaRPr>
          </a:p>
        </p:txBody>
      </p:sp>
      <p:sp>
        <p:nvSpPr>
          <p:cNvPr id="4101" name="Text Box 7"/>
          <p:cNvSpPr txBox="1"/>
          <p:nvPr/>
        </p:nvSpPr>
        <p:spPr>
          <a:xfrm>
            <a:off x="1769745" y="3284855"/>
            <a:ext cx="661225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 eaLnBrk="1" hangingPunct="1"/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rPr>
              <a:t>华中科技大学电子信息与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rPr>
              <a:t>通信学院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algn="ctr" eaLnBrk="1" hangingPunct="1"/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rPr>
              <a:t>刘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rPr>
              <a:t>澍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algn="ctr" eaLnBrk="1" hangingPunct="1"/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3" name="Text Box 19"/>
          <p:cNvSpPr txBox="1"/>
          <p:nvPr/>
        </p:nvSpPr>
        <p:spPr>
          <a:xfrm>
            <a:off x="1981200" y="381000"/>
            <a:ext cx="6705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UAZHONG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NIVERSITY OF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CIENCE AND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T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ECHNOLOGY</a:t>
            </a:r>
            <a:endParaRPr lang="en-US" altLang="zh-CN" sz="18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104" name="Picture 20" descr="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05400"/>
            <a:ext cx="2057400" cy="1417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>
                <a:solidFill>
                  <a:srgbClr val="FF0000"/>
                </a:solidFill>
              </a:rPr>
              <a:t>第一阶段实验总结</a:t>
            </a:r>
            <a:endParaRPr lang="zh-CN" altLang="en-US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anchor="t" anchorCtr="0"/>
          <a:p>
            <a:pPr marL="469900" indent="-469900"/>
            <a:r>
              <a:rPr lang="zh-CN" altLang="en-US" dirty="0"/>
              <a:t>问题？</a:t>
            </a:r>
            <a:endParaRPr lang="en-US" altLang="zh-CN" dirty="0"/>
          </a:p>
          <a:p>
            <a:pPr marL="469900" indent="-469900"/>
            <a:endParaRPr lang="en-US" altLang="zh-CN" dirty="0"/>
          </a:p>
          <a:p>
            <a:pPr marL="469900" indent="-469900"/>
            <a:r>
              <a:rPr lang="zh-CN" altLang="en-US" dirty="0"/>
              <a:t>经验教训总结</a:t>
            </a:r>
            <a:r>
              <a:rPr lang="en-US" altLang="zh-CN" dirty="0"/>
              <a:t>?</a:t>
            </a:r>
            <a:endParaRPr lang="en-US" altLang="zh-CN" dirty="0"/>
          </a:p>
          <a:p>
            <a:pPr marL="469900" indent="-469900"/>
            <a:endParaRPr lang="en-US" altLang="zh-CN" dirty="0"/>
          </a:p>
          <a:p>
            <a:pPr marL="469900" indent="-469900"/>
            <a:r>
              <a:rPr lang="zh-CN" altLang="en-US" dirty="0"/>
              <a:t>（电路安装调试方法？）</a:t>
            </a:r>
            <a:endParaRPr lang="en-US" altLang="zh-CN" dirty="0"/>
          </a:p>
          <a:p>
            <a:pPr marL="469900" indent="-46990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5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3">
                                            <p:txEl>
                                              <p:charRg st="5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123">
                                            <p:txEl>
                                              <p:charRg st="14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>
                <a:solidFill>
                  <a:srgbClr val="FF0000"/>
                </a:solidFill>
              </a:rPr>
              <a:t>第一阶段实验总结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8001000" cy="5508625"/>
          </a:xfrm>
        </p:spPr>
        <p:txBody>
          <a:bodyPr vert="horz" wrap="square" anchor="t" anchorCtr="0"/>
          <a:p>
            <a:pPr marL="469900" indent="-469900"/>
            <a:r>
              <a:rPr lang="zh-CN" altLang="en-US" dirty="0"/>
              <a:t>实验内容：</a:t>
            </a:r>
            <a:endParaRPr lang="en-US" altLang="zh-CN" dirty="0"/>
          </a:p>
          <a:p>
            <a:pPr marL="908050" lvl="1" indent="-436245"/>
            <a:r>
              <a:rPr lang="zh-CN" altLang="en-US" sz="3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反相比例运算电路</a:t>
            </a:r>
            <a:endParaRPr lang="en-US" altLang="zh-CN" sz="3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测量方法与测量误差？</a:t>
            </a:r>
            <a:endParaRPr lang="en-US" altLang="zh-CN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测量误差分析？</a:t>
            </a:r>
            <a:endParaRPr lang="en-US" altLang="zh-CN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08050" lvl="1" indent="-436245">
              <a:buFont typeface="Wingdings" panose="05000000000000000000" pitchFamily="2" charset="2"/>
              <a:buChar char="o"/>
            </a:pPr>
            <a:r>
              <a:rPr lang="zh-CN" altLang="en-US" sz="3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反相比例加法电路</a:t>
            </a:r>
            <a:endParaRPr lang="en-US" altLang="zh-CN" sz="3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分压电路的实现；</a:t>
            </a:r>
            <a:endParaRPr lang="en-US" altLang="zh-CN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测量误差分析？</a:t>
            </a:r>
            <a:endParaRPr lang="en-US" altLang="zh-CN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08050" lvl="1" indent="-436245"/>
            <a:r>
              <a:rPr lang="zh-CN" altLang="en-US" sz="3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反向比例积分电路</a:t>
            </a:r>
            <a:endParaRPr lang="en-US" altLang="zh-CN" sz="3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测量结果（波形）？</a:t>
            </a:r>
            <a:endParaRPr lang="en-US" altLang="zh-CN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测量方法？</a:t>
            </a:r>
            <a:endParaRPr lang="en-US" altLang="zh-CN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304925" lvl="2" indent="-394970"/>
            <a:r>
              <a:rPr lang="zh-CN" altLang="en-US" sz="25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原理分析？</a:t>
            </a:r>
            <a:endParaRPr lang="zh-CN" altLang="en-US" sz="25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>
                <a:solidFill>
                  <a:srgbClr val="FF0000"/>
                </a:solidFill>
              </a:rPr>
              <a:t>第一阶段实验总结</a:t>
            </a:r>
            <a:endParaRPr lang="zh-CN" altLang="en-US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566738" y="1066800"/>
            <a:ext cx="8577262" cy="5181600"/>
          </a:xfrm>
        </p:spPr>
        <p:txBody>
          <a:bodyPr vert="horz" wrap="square" anchor="t" anchorCtr="0"/>
          <a:p>
            <a:pPr marL="469900" indent="-469900"/>
            <a:r>
              <a:rPr lang="zh-CN" altLang="en-US" dirty="0"/>
              <a:t>仪器使用</a:t>
            </a:r>
            <a:endParaRPr lang="en-US" altLang="zh-CN" dirty="0"/>
          </a:p>
          <a:p>
            <a:pPr marL="908050" lvl="1" indent="-436245"/>
            <a:r>
              <a:rPr lang="zh-CN" altLang="en-US" dirty="0"/>
              <a:t>电源</a:t>
            </a:r>
            <a:endParaRPr lang="en-US" altLang="zh-CN" dirty="0"/>
          </a:p>
          <a:p>
            <a:pPr marL="1304925" lvl="2" indent="-394970"/>
            <a:r>
              <a:rPr lang="zh-CN" altLang="en-US" dirty="0"/>
              <a:t>双电源供电方法；（画图？）</a:t>
            </a:r>
            <a:endParaRPr lang="en-US" altLang="zh-CN" dirty="0"/>
          </a:p>
          <a:p>
            <a:pPr marL="1304925" lvl="2" indent="-394970"/>
            <a:r>
              <a:rPr lang="zh-CN" altLang="en-US" dirty="0"/>
              <a:t>能否使用单电源供电？怎样使用单电源供电？单电源供电使用注意事项？</a:t>
            </a:r>
            <a:endParaRPr lang="en-US" altLang="zh-CN" dirty="0"/>
          </a:p>
          <a:p>
            <a:pPr marL="908050" lvl="1" indent="-436245"/>
            <a:r>
              <a:rPr lang="zh-CN" altLang="en-US" dirty="0"/>
              <a:t>信号源</a:t>
            </a:r>
            <a:endParaRPr lang="en-US" altLang="zh-CN" dirty="0"/>
          </a:p>
          <a:p>
            <a:pPr marL="1304925" lvl="2" indent="-394970"/>
            <a:r>
              <a:rPr lang="zh-CN" altLang="en-US" dirty="0"/>
              <a:t>正方波的输出与观察方法？</a:t>
            </a:r>
            <a:endParaRPr lang="en-US" altLang="zh-CN" dirty="0"/>
          </a:p>
          <a:p>
            <a:pPr marL="908050" lvl="1" indent="-436245"/>
            <a:r>
              <a:rPr lang="zh-CN" altLang="en-US" dirty="0"/>
              <a:t>示波器</a:t>
            </a:r>
            <a:endParaRPr lang="en-US" altLang="zh-CN" dirty="0"/>
          </a:p>
          <a:p>
            <a:pPr marL="1304925" lvl="2" indent="-394970"/>
            <a:r>
              <a:rPr lang="zh-CN" altLang="en-US" dirty="0"/>
              <a:t>示波器的自检方法？</a:t>
            </a:r>
            <a:endParaRPr lang="en-US" altLang="zh-CN" dirty="0"/>
          </a:p>
          <a:p>
            <a:pPr marL="1304925" lvl="2" indent="-394970"/>
            <a:r>
              <a:rPr lang="zh-CN" altLang="en-US" dirty="0"/>
              <a:t>示波器的耦合方式？</a:t>
            </a:r>
            <a:endParaRPr lang="en-US" altLang="zh-CN" dirty="0"/>
          </a:p>
          <a:p>
            <a:pPr marL="1304925" lvl="2" indent="-394970"/>
            <a:r>
              <a:rPr lang="zh-CN" altLang="en-US" dirty="0"/>
              <a:t>波形的测量方法？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8458200" cy="914400"/>
          </a:xfrm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/>
            <a:r>
              <a:rPr lang="zh-CN" altLang="en-US" sz="4800">
                <a:ea typeface="隶书" panose="02010509060101010101" pitchFamily="1" charset="-122"/>
              </a:rPr>
              <a:t>共射共集放大电路仿真与实现</a:t>
            </a:r>
            <a:endParaRPr lang="zh-CN" altLang="en-US" sz="4800">
              <a:ea typeface="隶书" panose="02010509060101010101" pitchFamily="1" charset="-122"/>
            </a:endParaRPr>
          </a:p>
        </p:txBody>
      </p:sp>
      <p:sp>
        <p:nvSpPr>
          <p:cNvPr id="8195" name="文本框 8194"/>
          <p:cNvSpPr txBox="1"/>
          <p:nvPr/>
        </p:nvSpPr>
        <p:spPr>
          <a:xfrm>
            <a:off x="1619250" y="2924175"/>
            <a:ext cx="65532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单级共射放大电路仿真（实验一）</a:t>
            </a:r>
            <a:endParaRPr lang="zh-CN" altLang="en-US" sz="3200" b="1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  <a:p>
            <a:pPr eaLnBrk="1" hangingPunct="1"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单级共射放大电路（实验五）</a:t>
            </a:r>
            <a:endParaRPr lang="zh-CN" altLang="en-US" sz="3200" b="1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  <a:p>
            <a:pPr eaLnBrk="1" hangingPunct="1"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共射共集放大电路（实验七）</a:t>
            </a:r>
            <a:endParaRPr lang="zh-CN" altLang="en-US" sz="32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630988" cy="792163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ea typeface="隶书" panose="02010509060101010101" pitchFamily="1" charset="-122"/>
              </a:rPr>
              <a:t>共射共集放大电路仿真与实现</a:t>
            </a:r>
            <a:endParaRPr lang="zh-CN" altLang="en-US">
              <a:ea typeface="隶书" panose="02010509060101010101" pitchFamily="1" charset="-122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anchor="t" anchorCtr="0"/>
          <a:p>
            <a:pPr marL="469900" indent="-469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3400" b="1" dirty="0">
                <a:latin typeface="Times New Roman" panose="02020603050405020304" pitchFamily="2" charset="0"/>
              </a:rPr>
              <a:t>要求</a:t>
            </a:r>
            <a:endParaRPr lang="en-US" altLang="zh-CN" sz="3400" b="1" dirty="0">
              <a:latin typeface="Times New Roman" panose="02020603050405020304" pitchFamily="2" charset="0"/>
            </a:endParaRPr>
          </a:p>
          <a:p>
            <a:pPr marL="469900" indent="-469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3400" b="1" dirty="0">
                <a:latin typeface="Times New Roman" panose="02020603050405020304" pitchFamily="2" charset="0"/>
              </a:rPr>
              <a:t>实验原理</a:t>
            </a:r>
            <a:endParaRPr lang="en-US" altLang="zh-CN" sz="3400" b="1" dirty="0">
              <a:latin typeface="Times New Roman" panose="02020603050405020304" pitchFamily="2" charset="0"/>
            </a:endParaRPr>
          </a:p>
          <a:p>
            <a:pPr marL="469900" indent="-469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3400" b="1" dirty="0">
                <a:latin typeface="Times New Roman" panose="02020603050405020304" pitchFamily="2" charset="0"/>
              </a:rPr>
              <a:t>电路设计与仿真</a:t>
            </a:r>
            <a:endParaRPr lang="zh-CN" altLang="en-US" sz="3400" b="1" dirty="0">
              <a:latin typeface="Times New Roman" panose="02020603050405020304" pitchFamily="2" charset="0"/>
            </a:endParaRPr>
          </a:p>
          <a:p>
            <a:pPr marL="469900" indent="-469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3400" b="1" dirty="0">
                <a:latin typeface="Times New Roman" panose="02020603050405020304" pitchFamily="2" charset="0"/>
              </a:rPr>
              <a:t>电路的组装与调试方法</a:t>
            </a:r>
            <a:endParaRPr lang="en-US" altLang="zh-CN" sz="3400" b="1" dirty="0">
              <a:latin typeface="Times New Roman" panose="02020603050405020304" pitchFamily="2" charset="0"/>
            </a:endParaRPr>
          </a:p>
          <a:p>
            <a:pPr marL="469900" indent="-469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3400" b="1" dirty="0">
                <a:latin typeface="Times New Roman" panose="02020603050405020304" pitchFamily="2" charset="0"/>
              </a:rPr>
              <a:t>验收要求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 sz="3800" b="0">
                <a:solidFill>
                  <a:srgbClr val="FF0000"/>
                </a:solidFill>
                <a:latin typeface="Times New Roman" panose="02020603050405020304" pitchFamily="2" charset="0"/>
              </a:rPr>
              <a:t>一、要求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anchor="t" anchorCtr="0"/>
          <a:p>
            <a:pPr marL="469900" indent="-469900" eaLnBrk="1" hangingPunct="1"/>
            <a:r>
              <a:rPr lang="zh-CN" altLang="en-US" b="1" dirty="0"/>
              <a:t>共射共集放大电路</a:t>
            </a:r>
            <a:r>
              <a:rPr lang="zh-CN" altLang="en-US" dirty="0"/>
              <a:t>仿真、安装与调试（ </a:t>
            </a:r>
            <a:r>
              <a:rPr lang="en-US" altLang="zh-CN" dirty="0"/>
              <a:t>P19</a:t>
            </a:r>
            <a:r>
              <a:rPr lang="zh-CN" altLang="en-US" dirty="0"/>
              <a:t> ； </a:t>
            </a:r>
            <a:r>
              <a:rPr lang="en-US" altLang="zh-CN" dirty="0"/>
              <a:t>P88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469900" indent="-469900" eaLnBrk="1" hangingPunct="1"/>
            <a:r>
              <a:rPr lang="en-US" altLang="zh-CN" dirty="0"/>
              <a:t>PSPICE</a:t>
            </a:r>
            <a:r>
              <a:rPr lang="zh-CN" altLang="en-US" dirty="0"/>
              <a:t>软件使用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772400" cy="792163"/>
          </a:xfrm>
        </p:spPr>
        <p:txBody>
          <a:bodyPr anchor="ctr" anchorCtr="0"/>
          <a:p>
            <a:r>
              <a:rPr lang="zh-CN" altLang="en-US" dirty="0"/>
              <a:t>共射</a:t>
            </a:r>
            <a:r>
              <a:rPr lang="en-US" altLang="zh-CN" dirty="0"/>
              <a:t>-</a:t>
            </a:r>
            <a:r>
              <a:rPr lang="zh-CN" altLang="en-US" dirty="0"/>
              <a:t>共集放大电路仿真与实现 </a:t>
            </a:r>
            <a:endParaRPr lang="zh-CN" altLang="en-US" dirty="0"/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7993063" cy="4465638"/>
          </a:xfrm>
        </p:spPr>
        <p:txBody>
          <a:bodyPr/>
          <a:p>
            <a:pPr marL="571500" indent="-571500"/>
            <a:r>
              <a:rPr lang="en-US" altLang="zh-CN" dirty="0"/>
              <a:t>PSPICE</a:t>
            </a:r>
            <a:r>
              <a:rPr lang="zh-CN" altLang="en-US" dirty="0"/>
              <a:t>软件使用</a:t>
            </a:r>
            <a:endParaRPr lang="zh-CN" altLang="en-US" dirty="0"/>
          </a:p>
          <a:p>
            <a:pPr marL="571500" indent="-571500"/>
            <a:r>
              <a:rPr lang="zh-CN" altLang="en-US" dirty="0"/>
              <a:t>学习利用</a:t>
            </a:r>
            <a:r>
              <a:rPr lang="en-US" altLang="zh-CN" dirty="0"/>
              <a:t>PSPICE</a:t>
            </a:r>
            <a:r>
              <a:rPr lang="zh-CN" altLang="en-US" dirty="0"/>
              <a:t>仿真软件仿真分析共射</a:t>
            </a:r>
            <a:r>
              <a:rPr lang="en-US" altLang="zh-CN" dirty="0"/>
              <a:t>-</a:t>
            </a:r>
            <a:r>
              <a:rPr lang="zh-CN" altLang="en-US" dirty="0"/>
              <a:t>共集放大电路 </a:t>
            </a:r>
            <a:endParaRPr lang="zh-CN" altLang="en-US" dirty="0"/>
          </a:p>
          <a:p>
            <a:pPr marL="571500" indent="-571500"/>
            <a:r>
              <a:rPr lang="zh-CN" altLang="en-US" dirty="0"/>
              <a:t>共射</a:t>
            </a:r>
            <a:r>
              <a:rPr lang="en-US" altLang="zh-CN" dirty="0"/>
              <a:t>-</a:t>
            </a:r>
            <a:r>
              <a:rPr lang="zh-CN" altLang="en-US" dirty="0"/>
              <a:t>共集放大电路的安装实现</a:t>
            </a:r>
            <a:endParaRPr lang="zh-CN" altLang="en-US" dirty="0"/>
          </a:p>
          <a:p>
            <a:pPr marL="571500" indent="-571500"/>
            <a:endParaRPr lang="zh-CN" altLang="en-US" dirty="0"/>
          </a:p>
          <a:p>
            <a:pPr marL="571500" indent="-571500"/>
            <a:r>
              <a:rPr lang="zh-CN" altLang="en-US" dirty="0">
                <a:solidFill>
                  <a:srgbClr val="FF0000"/>
                </a:solidFill>
              </a:rPr>
              <a:t>单元电路设计、仿真与实现；</a:t>
            </a:r>
            <a:endParaRPr lang="zh-CN" altLang="en-US" dirty="0">
              <a:solidFill>
                <a:srgbClr val="FF0000"/>
              </a:solidFill>
            </a:endParaRPr>
          </a:p>
          <a:p>
            <a:pPr marL="571500" indent="-571500"/>
            <a:r>
              <a:rPr lang="zh-CN" altLang="en-US" dirty="0">
                <a:solidFill>
                  <a:srgbClr val="FF0000"/>
                </a:solidFill>
              </a:rPr>
              <a:t>单元电路的指标测试与装调过程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>
                <a:solidFill>
                  <a:srgbClr val="FF3300"/>
                </a:solidFill>
              </a:rPr>
              <a:t>教学要点</a:t>
            </a:r>
            <a:endParaRPr lang="zh-CN" altLang="en-US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anchor="t" anchorCtr="0"/>
          <a:p>
            <a:pPr marL="469900" indent="-469900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400" dirty="0"/>
              <a:t>晶体管放大电路的仿真方法；</a:t>
            </a:r>
            <a:endParaRPr lang="zh-CN" altLang="en-US" sz="3400" dirty="0"/>
          </a:p>
          <a:p>
            <a:pPr marL="469900" indent="-469900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400" dirty="0"/>
              <a:t>晶体管放大电路</a:t>
            </a:r>
            <a:r>
              <a:rPr lang="zh-CN" altLang="en-US" sz="3400" b="1" dirty="0">
                <a:solidFill>
                  <a:srgbClr val="FF3300"/>
                </a:solidFill>
              </a:rPr>
              <a:t>静态工作点</a:t>
            </a:r>
            <a:r>
              <a:rPr lang="zh-CN" altLang="en-US" sz="3400" dirty="0"/>
              <a:t>设置与调整方法；</a:t>
            </a:r>
            <a:endParaRPr lang="zh-CN" altLang="en-US" sz="3400" dirty="0"/>
          </a:p>
          <a:p>
            <a:pPr marL="469900" indent="-469900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400" dirty="0"/>
              <a:t>晶体管放大电路性能指标的测试方法及调试技术。</a:t>
            </a:r>
            <a:r>
              <a:rPr lang="en-US" altLang="zh-CN" sz="3400" dirty="0"/>
              <a:t>---</a:t>
            </a:r>
            <a:r>
              <a:rPr lang="zh-CN" altLang="en-US" sz="3400" dirty="0"/>
              <a:t> </a:t>
            </a:r>
            <a:endParaRPr lang="zh-CN" altLang="en-US" sz="3400" dirty="0"/>
          </a:p>
          <a:p>
            <a:pPr marL="469900" indent="-469900"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sz="3400" dirty="0"/>
              <a:t>了解负反馈对放大电路性能的影响。</a:t>
            </a:r>
            <a:endParaRPr lang="zh-CN" altLang="en-US" sz="3400" dirty="0"/>
          </a:p>
          <a:p>
            <a:pPr marL="469900" indent="-469900" eaLnBrk="1" hangingPunct="1">
              <a:buSzPct val="120000"/>
              <a:buFont typeface="Wingdings" panose="05000000000000000000" pitchFamily="2" charset="2"/>
              <a:buChar char="§"/>
            </a:pPr>
            <a:r>
              <a:rPr lang="en-US" altLang="zh-CN" sz="3400" dirty="0">
                <a:solidFill>
                  <a:srgbClr val="FF3300"/>
                </a:solidFill>
              </a:rPr>
              <a:t>pSpice</a:t>
            </a:r>
            <a:r>
              <a:rPr lang="zh-CN" altLang="en-US" sz="3400" dirty="0">
                <a:solidFill>
                  <a:srgbClr val="FF3300"/>
                </a:solidFill>
              </a:rPr>
              <a:t>软件使用</a:t>
            </a:r>
            <a:r>
              <a:rPr lang="zh-CN" altLang="en-US" sz="3400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1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3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1">
                                            <p:txEl>
                                              <p:charRg st="3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1">
                                            <p:txEl>
                                              <p:charRg st="3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62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charRg st="62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charRg st="62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7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1">
                                            <p:txEl>
                                              <p:charRg st="7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1">
                                            <p:txEl>
                                              <p:charRg st="7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9600" cy="576263"/>
          </a:xfrm>
        </p:spPr>
        <p:txBody>
          <a:bodyPr vert="horz" wrap="square" anchor="b" anchorCtr="0"/>
          <a:p>
            <a:pPr eaLnBrk="1" hangingPunct="1"/>
            <a:r>
              <a:rPr lang="zh-CN" altLang="en-US" sz="3800">
                <a:solidFill>
                  <a:srgbClr val="FF0000"/>
                </a:solidFill>
              </a:rPr>
              <a:t>三、电路设计一般流程</a:t>
            </a:r>
            <a:endParaRPr lang="zh-CN" altLang="en-US" sz="3800">
              <a:solidFill>
                <a:srgbClr val="FF0000"/>
              </a:solidFill>
            </a:endParaRPr>
          </a:p>
        </p:txBody>
      </p:sp>
      <p:pic>
        <p:nvPicPr>
          <p:cNvPr id="13316" name="Picture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矩形 4"/>
          <p:cNvSpPr/>
          <p:nvPr/>
        </p:nvSpPr>
        <p:spPr>
          <a:xfrm>
            <a:off x="6786563" y="5903913"/>
            <a:ext cx="235743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二、电路设计</a:t>
            </a:r>
            <a:endParaRPr lang="en-US" altLang="zh-CN" sz="2800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的一般流程</a:t>
            </a:r>
            <a:endParaRPr lang="zh-CN" altLang="en-US" sz="2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 sz="4000" b="0">
                <a:solidFill>
                  <a:srgbClr val="FF3300"/>
                </a:solidFill>
              </a:rPr>
              <a:t>电路仿真验证</a:t>
            </a:r>
            <a:endParaRPr lang="zh-CN" altLang="en-US" sz="4000" b="0">
              <a:solidFill>
                <a:srgbClr val="FF3300"/>
              </a:solidFill>
            </a:endParaRPr>
          </a:p>
        </p:txBody>
      </p:sp>
      <p:sp>
        <p:nvSpPr>
          <p:cNvPr id="14339" name="内容占位符 3"/>
          <p:cNvSpPr>
            <a:spLocks noGrp="1"/>
          </p:cNvSpPr>
          <p:nvPr>
            <p:ph idx="1"/>
          </p:nvPr>
        </p:nvSpPr>
        <p:spPr/>
        <p:txBody>
          <a:bodyPr vert="horz" wrap="square" anchor="t" anchorCtr="0"/>
          <a:p>
            <a:pPr marL="469900" indent="-469900"/>
            <a:r>
              <a:rPr lang="zh-CN" altLang="en-US" dirty="0">
                <a:solidFill>
                  <a:schemeClr val="bg2"/>
                </a:solidFill>
              </a:rPr>
              <a:t>目前常见的电路仿真软件介绍与比较？</a:t>
            </a:r>
            <a:endParaRPr lang="en-US" altLang="zh-CN" dirty="0">
              <a:solidFill>
                <a:schemeClr val="bg2"/>
              </a:solidFill>
            </a:endParaRPr>
          </a:p>
          <a:p>
            <a:pPr marL="469900" indent="-469900"/>
            <a:r>
              <a:rPr lang="en-US" altLang="zh-CN" dirty="0"/>
              <a:t>Orcad</a:t>
            </a:r>
            <a:r>
              <a:rPr lang="zh-CN" altLang="en-US" dirty="0"/>
              <a:t>功能简述</a:t>
            </a:r>
            <a:endParaRPr lang="en-US" altLang="zh-CN" dirty="0"/>
          </a:p>
          <a:p>
            <a:pPr marL="469900" indent="-469900"/>
            <a:r>
              <a:rPr lang="en-US" altLang="zh-CN" dirty="0"/>
              <a:t>Pspice</a:t>
            </a:r>
            <a:r>
              <a:rPr lang="zh-CN" altLang="en-US" dirty="0"/>
              <a:t>仿真步骤与举例</a:t>
            </a:r>
            <a:endParaRPr lang="en-US" altLang="zh-CN" dirty="0"/>
          </a:p>
          <a:p>
            <a:pPr marL="469900" indent="-469900"/>
            <a:r>
              <a:rPr lang="zh-CN" altLang="en-US" dirty="0"/>
              <a:t>要求：</a:t>
            </a:r>
            <a:endParaRPr lang="en-US" altLang="zh-CN" dirty="0"/>
          </a:p>
          <a:p>
            <a:pPr marL="469900" indent="-469900"/>
            <a:endParaRPr lang="zh-CN" altLang="en-US" dirty="0"/>
          </a:p>
          <a:p>
            <a:pPr marL="469900" indent="-469900"/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/>
        </p:nvSpPr>
        <p:spPr>
          <a:xfrm>
            <a:off x="3124200" y="6481763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6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447800" y="152400"/>
            <a:ext cx="6572250" cy="762000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电路仿真验证设计与仿真要求</a:t>
            </a:r>
            <a:endParaRPr lang="zh-CN" altLang="en-US">
              <a:solidFill>
                <a:srgbClr val="0066FF"/>
              </a:solidFill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body"/>
          </p:nvPr>
        </p:nvSpPr>
        <p:spPr>
          <a:xfrm>
            <a:off x="0" y="1125538"/>
            <a:ext cx="9144000" cy="5122862"/>
          </a:xfrm>
        </p:spPr>
        <p:txBody>
          <a:bodyPr vert="horz" wrap="square" anchor="t" anchorCtr="0"/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在</a:t>
            </a:r>
            <a:r>
              <a:rPr lang="en-US" altLang="zh-CN" sz="3100" b="1" dirty="0"/>
              <a:t>Schematics</a:t>
            </a:r>
            <a:r>
              <a:rPr lang="zh-CN" altLang="en-US" sz="3100" b="1" dirty="0"/>
              <a:t>中画出电路图</a:t>
            </a:r>
            <a:endParaRPr lang="zh-CN" altLang="en-US" sz="3100" b="1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从输出文件中查看静态工作点仿真结果：</a:t>
            </a:r>
            <a:r>
              <a:rPr lang="en-US" altLang="zh-CN" sz="3100" b="1" dirty="0"/>
              <a:t>I</a:t>
            </a:r>
            <a:r>
              <a:rPr lang="en-US" altLang="zh-CN" sz="3100" b="1" baseline="-25000" dirty="0"/>
              <a:t>b</a:t>
            </a:r>
            <a:r>
              <a:rPr lang="zh-CN" altLang="en-US" sz="3100" b="1" dirty="0"/>
              <a:t>、</a:t>
            </a:r>
            <a:r>
              <a:rPr lang="en-US" altLang="zh-CN" sz="3100" b="1" dirty="0"/>
              <a:t>I</a:t>
            </a:r>
            <a:r>
              <a:rPr lang="en-US" altLang="zh-CN" sz="3100" b="1" baseline="-25000" dirty="0"/>
              <a:t>c</a:t>
            </a:r>
            <a:r>
              <a:rPr lang="zh-CN" altLang="en-US" sz="3100" b="1" dirty="0"/>
              <a:t>、</a:t>
            </a:r>
            <a:r>
              <a:rPr lang="en-US" altLang="zh-CN" sz="3100" b="1" dirty="0"/>
              <a:t>V</a:t>
            </a:r>
            <a:r>
              <a:rPr lang="en-US" altLang="zh-CN" sz="3100" b="1" baseline="-25000" dirty="0"/>
              <a:t>be</a:t>
            </a:r>
            <a:r>
              <a:rPr lang="zh-CN" altLang="en-US" sz="3100" b="1" dirty="0"/>
              <a:t>、</a:t>
            </a:r>
            <a:r>
              <a:rPr lang="en-US" altLang="zh-CN" sz="3100" b="1" dirty="0"/>
              <a:t>V</a:t>
            </a:r>
            <a:r>
              <a:rPr lang="en-US" altLang="zh-CN" sz="3100" b="1" baseline="-25000" dirty="0"/>
              <a:t>ce</a:t>
            </a:r>
            <a:endParaRPr lang="en-US" altLang="zh-CN" sz="3100" b="1" baseline="-25000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用</a:t>
            </a:r>
            <a:r>
              <a:rPr lang="en-US" altLang="zh-CN" sz="3100" b="1" dirty="0"/>
              <a:t>Probe</a:t>
            </a:r>
            <a:r>
              <a:rPr lang="zh-CN" altLang="en-US" sz="3100" b="1" dirty="0"/>
              <a:t>程序观测观测输入、输出电压波形，并计算电压增益</a:t>
            </a:r>
            <a:r>
              <a:rPr lang="en-US" altLang="zh-CN" sz="3100" b="1" dirty="0"/>
              <a:t>A</a:t>
            </a:r>
            <a:r>
              <a:rPr lang="en-US" altLang="zh-CN" sz="3100" b="1" baseline="-25000" dirty="0"/>
              <a:t>v</a:t>
            </a:r>
            <a:endParaRPr lang="zh-CN" altLang="en-US" sz="3100" b="1" baseline="-25000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观测幅频响应曲线：</a:t>
            </a:r>
            <a:r>
              <a:rPr lang="en-US" altLang="zh-CN" sz="3100" b="1" dirty="0"/>
              <a:t>db(V(Vo)/V(Vs:+))</a:t>
            </a:r>
            <a:r>
              <a:rPr lang="zh-CN" altLang="en-US" sz="3100" b="1" dirty="0"/>
              <a:t>，</a:t>
            </a:r>
            <a:r>
              <a:rPr lang="en-US" altLang="zh-CN" sz="3100" b="1" dirty="0"/>
              <a:t>	</a:t>
            </a:r>
            <a:r>
              <a:rPr lang="zh-CN" altLang="en-US" sz="3100" b="1" dirty="0"/>
              <a:t>测中频增益、上限频率</a:t>
            </a:r>
            <a:r>
              <a:rPr lang="en-US" altLang="zh-CN" sz="3100" b="1" dirty="0"/>
              <a:t>f</a:t>
            </a:r>
            <a:r>
              <a:rPr lang="en-US" altLang="zh-CN" sz="3100" b="1" baseline="-25000" dirty="0"/>
              <a:t>H</a:t>
            </a:r>
            <a:r>
              <a:rPr lang="zh-CN" altLang="en-US" sz="3100" b="1" dirty="0"/>
              <a:t>和下限频率</a:t>
            </a:r>
            <a:r>
              <a:rPr lang="en-US" altLang="zh-CN" sz="3100" b="1" dirty="0"/>
              <a:t>f</a:t>
            </a:r>
            <a:r>
              <a:rPr lang="en-US" altLang="zh-CN" sz="3100" b="1" baseline="-25000" dirty="0"/>
              <a:t>L</a:t>
            </a:r>
            <a:r>
              <a:rPr lang="zh-CN" altLang="en-US" sz="3100" dirty="0"/>
              <a:t>	</a:t>
            </a:r>
            <a:endParaRPr lang="en-US" altLang="zh-CN" sz="3100" b="1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观测输入阻抗的频率响应：</a:t>
            </a:r>
            <a:r>
              <a:rPr lang="en-US" altLang="zh-CN" sz="3100" b="1" dirty="0"/>
              <a:t>Ri -- V(Vi)/I(Vs)</a:t>
            </a:r>
            <a:endParaRPr lang="en-US" altLang="zh-CN" sz="3100" b="1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观测输出阻抗的频率响应：</a:t>
            </a:r>
            <a:r>
              <a:rPr lang="en-US" altLang="zh-CN" sz="3100" b="1" dirty="0"/>
              <a:t>Ro-- V(Vo)/I(Vs)</a:t>
            </a:r>
            <a:endParaRPr lang="zh-CN" altLang="en-US" sz="3100" b="1" dirty="0">
              <a:solidFill>
                <a:srgbClr val="FE2312"/>
              </a:solidFill>
            </a:endParaRPr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观察非线性失真现象*</a:t>
            </a:r>
            <a:r>
              <a:rPr lang="en-US" altLang="zh-CN" sz="3100" b="1" dirty="0">
                <a:solidFill>
                  <a:srgbClr val="FE2312"/>
                </a:solidFill>
              </a:rPr>
              <a:t> </a:t>
            </a:r>
            <a:endParaRPr lang="en-US" altLang="zh-CN" sz="3100" b="1" dirty="0">
              <a:solidFill>
                <a:srgbClr val="FE2312"/>
              </a:solidFill>
            </a:endParaRPr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分析电流负反馈电阻的加入对电路性能指标的影响</a:t>
            </a:r>
            <a:r>
              <a:rPr lang="zh-CN" altLang="en-US" sz="3100" b="1" dirty="0"/>
              <a:t>*</a:t>
            </a:r>
            <a:r>
              <a:rPr lang="zh-CN" altLang="en-US" sz="2800" b="1" dirty="0"/>
              <a:t> ；</a:t>
            </a:r>
            <a:endParaRPr lang="zh-CN" altLang="en-US" sz="2800" b="1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 dirty="0"/>
              <a:t>PSPICE</a:t>
            </a:r>
            <a:r>
              <a:rPr lang="zh-CN" altLang="en-US" dirty="0"/>
              <a:t>资源</a:t>
            </a:r>
            <a:endParaRPr lang="zh-CN" altLang="en-US" dirty="0"/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685800" y="1066800"/>
            <a:ext cx="8001000" cy="5334000"/>
          </a:xfrm>
        </p:spPr>
        <p:txBody>
          <a:bodyPr/>
          <a:p>
            <a:r>
              <a:rPr lang="zh-CN" altLang="en-US" sz="2900" b="1" dirty="0">
                <a:latin typeface="楷体_GB2312" pitchFamily="1" charset="-122"/>
              </a:rPr>
              <a:t>实验一：</a:t>
            </a:r>
            <a:r>
              <a:rPr lang="en-US" altLang="zh-CN" sz="2900" b="1" dirty="0">
                <a:latin typeface="楷体_GB2312" pitchFamily="1" charset="-122"/>
              </a:rPr>
              <a:t>p57</a:t>
            </a:r>
            <a:endParaRPr lang="en-US" altLang="zh-CN" sz="2900" b="1" dirty="0">
              <a:latin typeface="楷体_GB2312" pitchFamily="1" charset="-122"/>
            </a:endParaRPr>
          </a:p>
          <a:p>
            <a:r>
              <a:rPr lang="zh-CN" altLang="en-US" sz="2900" b="1" dirty="0">
                <a:latin typeface="楷体_GB2312" pitchFamily="1" charset="-122"/>
              </a:rPr>
              <a:t>软件</a:t>
            </a:r>
            <a:endParaRPr lang="zh-CN" altLang="en-US" sz="2900" b="1" dirty="0">
              <a:latin typeface="楷体_GB2312" pitchFamily="1" charset="-122"/>
            </a:endParaRPr>
          </a:p>
          <a:p>
            <a:r>
              <a:rPr lang="zh-CN" altLang="en-US" sz="2900" b="1" dirty="0">
                <a:latin typeface="楷体_GB2312" pitchFamily="1" charset="-122"/>
              </a:rPr>
              <a:t>“</a:t>
            </a:r>
            <a:r>
              <a:rPr lang="en-US" altLang="zh-CN" sz="2900" b="1" dirty="0">
                <a:latin typeface="楷体_GB2312" pitchFamily="1" charset="-122"/>
              </a:rPr>
              <a:t>ORCAD9.2</a:t>
            </a:r>
            <a:r>
              <a:rPr lang="zh-CN" altLang="en-US" sz="2900" b="1" dirty="0">
                <a:latin typeface="楷体_GB2312" pitchFamily="1" charset="-122"/>
              </a:rPr>
              <a:t>完全版</a:t>
            </a:r>
            <a:r>
              <a:rPr lang="en-US" altLang="zh-CN" sz="2900" b="1" dirty="0">
                <a:latin typeface="楷体_GB2312" pitchFamily="1" charset="-122"/>
              </a:rPr>
              <a:t>.ISO”</a:t>
            </a:r>
            <a:endParaRPr lang="en-US" altLang="zh-CN" sz="2900" b="1" dirty="0">
              <a:latin typeface="楷体_GB2312" pitchFamily="1" charset="-122"/>
            </a:endParaRPr>
          </a:p>
          <a:p>
            <a:pPr eaLnBrk="1" hangingPunct="1"/>
            <a:r>
              <a:rPr lang="zh-CN" altLang="en-US" sz="2500" dirty="0">
                <a:solidFill>
                  <a:schemeClr val="tx2"/>
                </a:solidFill>
              </a:rPr>
              <a:t>视频文件：</a:t>
            </a:r>
            <a:endParaRPr lang="zh-CN" altLang="en-US" sz="25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>
                <a:solidFill>
                  <a:schemeClr val="tx2"/>
                </a:solidFill>
                <a:hlinkClick r:id="rId1" action="ppaction://hlinkfile"/>
              </a:rPr>
              <a:t>01</a:t>
            </a:r>
            <a:r>
              <a:rPr lang="zh-CN" altLang="en-US" sz="2200" dirty="0">
                <a:solidFill>
                  <a:schemeClr val="tx2"/>
                </a:solidFill>
                <a:hlinkClick r:id="rId1" action="ppaction://hlinkfile"/>
              </a:rPr>
              <a:t>启动</a:t>
            </a:r>
            <a:r>
              <a:rPr lang="en-US" altLang="zh-CN" sz="2200" dirty="0">
                <a:solidFill>
                  <a:schemeClr val="tx2"/>
                </a:solidFill>
                <a:hlinkClick r:id="rId1" action="ppaction://hlinkfile"/>
              </a:rPr>
              <a:t>pSpice 9.2.avi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>
                <a:solidFill>
                  <a:schemeClr val="tx2"/>
                </a:solidFill>
                <a:hlinkClick r:id="rId2" action="ppaction://hlinkfile"/>
              </a:rPr>
              <a:t>02</a:t>
            </a:r>
            <a:r>
              <a:rPr lang="zh-CN" altLang="en-US" sz="2200" dirty="0">
                <a:solidFill>
                  <a:schemeClr val="tx2"/>
                </a:solidFill>
                <a:hlinkClick r:id="rId2" action="ppaction://hlinkfile"/>
              </a:rPr>
              <a:t>画电路图</a:t>
            </a:r>
            <a:r>
              <a:rPr lang="en-US" altLang="zh-CN" sz="2200" dirty="0">
                <a:solidFill>
                  <a:schemeClr val="tx2"/>
                </a:solidFill>
                <a:hlinkClick r:id="rId2" action="ppaction://hlinkfile"/>
              </a:rPr>
              <a:t>.avi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>
                <a:solidFill>
                  <a:schemeClr val="tx2"/>
                </a:solidFill>
                <a:hlinkClick r:id="rId3" action="ppaction://hlinkfile"/>
              </a:rPr>
              <a:t>03</a:t>
            </a:r>
            <a:r>
              <a:rPr lang="zh-CN" altLang="en-US" sz="2200" dirty="0">
                <a:solidFill>
                  <a:schemeClr val="tx2"/>
                </a:solidFill>
                <a:hlinkClick r:id="rId3" action="ppaction://hlinkfile"/>
              </a:rPr>
              <a:t>修改元器件的标号和参数</a:t>
            </a:r>
            <a:r>
              <a:rPr lang="en-US" altLang="zh-CN" sz="2200" dirty="0">
                <a:solidFill>
                  <a:schemeClr val="tx2"/>
                </a:solidFill>
                <a:hlinkClick r:id="rId3" action="ppaction://hlinkfile"/>
              </a:rPr>
              <a:t>.avi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>
                <a:solidFill>
                  <a:schemeClr val="tx2"/>
                </a:solidFill>
                <a:hlinkClick r:id="rId4" action="ppaction://hlinkfile"/>
              </a:rPr>
              <a:t>04</a:t>
            </a:r>
            <a:r>
              <a:rPr lang="zh-CN" altLang="en-US" sz="2200" dirty="0">
                <a:solidFill>
                  <a:schemeClr val="tx2"/>
                </a:solidFill>
                <a:hlinkClick r:id="rId4" action="ppaction://hlinkfile"/>
              </a:rPr>
              <a:t>设置分析功能</a:t>
            </a:r>
            <a:r>
              <a:rPr lang="en-US" altLang="zh-CN" sz="2200" dirty="0">
                <a:solidFill>
                  <a:schemeClr val="tx2"/>
                </a:solidFill>
                <a:hlinkClick r:id="rId4" action="ppaction://hlinkfile"/>
              </a:rPr>
              <a:t>.avi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>
                <a:solidFill>
                  <a:schemeClr val="tx2"/>
                </a:solidFill>
                <a:hlinkClick r:id="rId5" action="ppaction://hlinkfile"/>
              </a:rPr>
              <a:t>05</a:t>
            </a:r>
            <a:r>
              <a:rPr lang="zh-CN" altLang="en-US" sz="2200" dirty="0">
                <a:solidFill>
                  <a:schemeClr val="tx2"/>
                </a:solidFill>
                <a:hlinkClick r:id="rId5" action="ppaction://hlinkfile"/>
              </a:rPr>
              <a:t>仿真前的准备工作</a:t>
            </a:r>
            <a:r>
              <a:rPr lang="en-US" altLang="zh-CN" sz="2200" dirty="0">
                <a:solidFill>
                  <a:schemeClr val="tx2"/>
                </a:solidFill>
                <a:hlinkClick r:id="rId5" action="ppaction://hlinkfile"/>
              </a:rPr>
              <a:t>.avi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>
                <a:solidFill>
                  <a:schemeClr val="tx2"/>
                </a:solidFill>
                <a:hlinkClick r:id="rId6" action="ppaction://hlinkfile"/>
              </a:rPr>
              <a:t>06</a:t>
            </a:r>
            <a:r>
              <a:rPr lang="zh-CN" altLang="en-US" sz="2200" dirty="0">
                <a:solidFill>
                  <a:schemeClr val="tx2"/>
                </a:solidFill>
                <a:hlinkClick r:id="rId6" action="ppaction://hlinkfile"/>
              </a:rPr>
              <a:t>仿真</a:t>
            </a:r>
            <a:r>
              <a:rPr lang="en-US" altLang="zh-CN" sz="2200" dirty="0">
                <a:solidFill>
                  <a:schemeClr val="tx2"/>
                </a:solidFill>
                <a:hlinkClick r:id="rId6" action="ppaction://hlinkfile"/>
              </a:rPr>
              <a:t>.avi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sz="2500" dirty="0">
                <a:solidFill>
                  <a:srgbClr val="FF0000"/>
                </a:solidFill>
              </a:rPr>
              <a:t>帮助文件！</a:t>
            </a:r>
            <a:endParaRPr lang="zh-CN" altLang="en-US" sz="2900" b="1" dirty="0">
              <a:latin typeface="楷体_GB2312" pitchFamily="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 sz="4000" b="0" dirty="0">
                <a:ea typeface="黑体" panose="02010609060101010101" pitchFamily="2" charset="-122"/>
              </a:rPr>
              <a:t>pSpice</a:t>
            </a:r>
            <a:r>
              <a:rPr lang="zh-CN" altLang="en-US" sz="4000" b="0" dirty="0">
                <a:ea typeface="黑体" panose="02010609060101010101" pitchFamily="2" charset="-122"/>
              </a:rPr>
              <a:t>简介</a:t>
            </a:r>
            <a:endParaRPr lang="zh-CN" altLang="en-US" sz="4000" b="0" dirty="0">
              <a:ea typeface="黑体" panose="02010609060101010101" pitchFamily="2" charset="-122"/>
            </a:endParaRPr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>
          <a:xfrm>
            <a:off x="609600" y="1066800"/>
            <a:ext cx="8283575" cy="5105400"/>
          </a:xfrm>
        </p:spPr>
        <p:txBody>
          <a:bodyPr/>
          <a:p>
            <a:pPr algn="just">
              <a:lnSpc>
                <a:spcPct val="90000"/>
              </a:lnSpc>
            </a:pPr>
            <a:r>
              <a:rPr lang="en-US" altLang="zh-CN" sz="3600" b="1" dirty="0">
                <a:solidFill>
                  <a:schemeClr val="hlink"/>
                </a:solidFill>
                <a:ea typeface="黑体" panose="02010609060101010101" pitchFamily="2" charset="-122"/>
              </a:rPr>
              <a:t>pSpice</a:t>
            </a:r>
            <a:r>
              <a:rPr lang="zh-CN" altLang="en-US" sz="3600" b="1" dirty="0">
                <a:solidFill>
                  <a:schemeClr val="hlink"/>
                </a:solidFill>
                <a:ea typeface="黑体" panose="02010609060101010101" pitchFamily="2" charset="-122"/>
              </a:rPr>
              <a:t>仿真</a:t>
            </a:r>
            <a:endParaRPr lang="zh-CN" altLang="en-US" sz="3600" b="1" dirty="0">
              <a:solidFill>
                <a:schemeClr val="hlink"/>
              </a:solidFill>
              <a:ea typeface="黑体" panose="02010609060101010101" pitchFamily="2" charset="-122"/>
            </a:endParaRPr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时域（瞬态分析）（</a:t>
            </a:r>
            <a:r>
              <a:rPr lang="en-US" altLang="zh-CN" sz="3200" dirty="0"/>
              <a:t>Time domain (Transient)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直流扫描分析（</a:t>
            </a:r>
            <a:r>
              <a:rPr lang="en-US" altLang="zh-CN" sz="3200" dirty="0"/>
              <a:t>DC Sweep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交流扫描分析（</a:t>
            </a:r>
            <a:r>
              <a:rPr lang="en-US" altLang="zh-CN" sz="3200" dirty="0"/>
              <a:t>AC Sweep/Noise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直流工作点分析（</a:t>
            </a:r>
            <a:r>
              <a:rPr lang="en-US" altLang="zh-CN" sz="3200" dirty="0"/>
              <a:t>Bias point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直流小信号传递函数值分析</a:t>
            </a:r>
            <a:endParaRPr lang="zh-CN" altLang="en-US" sz="3200" dirty="0"/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直流小信号灵敏度分析</a:t>
            </a:r>
            <a:endParaRPr lang="zh-CN" altLang="en-US" sz="3200" dirty="0"/>
          </a:p>
          <a:p>
            <a:pPr lvl="1" algn="just">
              <a:lnSpc>
                <a:spcPct val="90000"/>
              </a:lnSpc>
            </a:pPr>
            <a:r>
              <a:rPr lang="zh-CN" altLang="en-US" sz="3200" dirty="0"/>
              <a:t>统计特性分析（蒙特卡罗分析和最坏情况分析） 	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title"/>
          </p:nvPr>
        </p:nvSpPr>
        <p:spPr>
          <a:xfrm>
            <a:off x="1939925" y="192088"/>
            <a:ext cx="4924425" cy="603250"/>
          </a:xfrm>
        </p:spPr>
        <p:txBody>
          <a:bodyPr anchor="ctr" anchorCtr="0"/>
          <a:p>
            <a:r>
              <a:rPr lang="zh-CN" altLang="en-US" sz="3200"/>
              <a:t>仿真步骤 </a:t>
            </a:r>
            <a:endParaRPr lang="zh-CN" altLang="en-US" sz="3200"/>
          </a:p>
        </p:txBody>
      </p:sp>
      <p:sp>
        <p:nvSpPr>
          <p:cNvPr id="19459" name="文本占位符 19458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8458200" cy="5222875"/>
          </a:xfrm>
        </p:spPr>
        <p:txBody>
          <a:bodyPr wrap="square"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</a:rPr>
              <a:t>（</a:t>
            </a:r>
            <a:r>
              <a:rPr lang="en-US" altLang="zh-CN" sz="2800" b="1" dirty="0">
                <a:latin typeface="楷体_GB2312" pitchFamily="1" charset="-122"/>
              </a:rPr>
              <a:t>1</a:t>
            </a:r>
            <a:r>
              <a:rPr lang="zh-CN" altLang="en-US" sz="2800" b="1" dirty="0">
                <a:latin typeface="楷体_GB2312" pitchFamily="1" charset="-122"/>
              </a:rPr>
              <a:t>）创建工程项目文件；</a:t>
            </a:r>
            <a:endParaRPr lang="zh-CN" altLang="en-US" sz="2800" b="1" dirty="0">
              <a:latin typeface="楷体_GB2312" pitchFamily="1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</a:rPr>
              <a:t>（</a:t>
            </a:r>
            <a:r>
              <a:rPr lang="en-US" altLang="zh-CN" sz="2800" b="1" dirty="0">
                <a:latin typeface="楷体_GB2312" pitchFamily="1" charset="-122"/>
              </a:rPr>
              <a:t>2</a:t>
            </a:r>
            <a:r>
              <a:rPr lang="zh-CN" altLang="en-US" sz="2800" b="1" dirty="0">
                <a:latin typeface="楷体_GB2312" pitchFamily="1" charset="-122"/>
              </a:rPr>
              <a:t>）输入电路原理图；</a:t>
            </a:r>
            <a:endParaRPr lang="zh-CN" altLang="en-US" sz="2800" b="1" dirty="0">
              <a:latin typeface="楷体_GB2312" pitchFamily="1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</a:rPr>
              <a:t>（</a:t>
            </a:r>
            <a:r>
              <a:rPr lang="en-US" altLang="zh-CN" sz="2800" b="1" dirty="0">
                <a:latin typeface="楷体_GB2312" pitchFamily="1" charset="-122"/>
              </a:rPr>
              <a:t>3</a:t>
            </a:r>
            <a:r>
              <a:rPr lang="zh-CN" altLang="en-US" sz="2800" b="1" dirty="0">
                <a:latin typeface="楷体_GB2312" pitchFamily="1" charset="-122"/>
              </a:rPr>
              <a:t>）编辑修改电路元器件标号和参数值，包括直流电源和信号源参数；</a:t>
            </a:r>
            <a:endParaRPr lang="zh-CN" altLang="en-US" sz="2800" b="1" dirty="0">
              <a:latin typeface="楷体_GB2312" pitchFamily="1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</a:rPr>
              <a:t>（</a:t>
            </a:r>
            <a:r>
              <a:rPr lang="en-US" altLang="zh-CN" sz="2800" b="1" dirty="0">
                <a:latin typeface="楷体_GB2312" pitchFamily="1" charset="-122"/>
              </a:rPr>
              <a:t>4</a:t>
            </a:r>
            <a:r>
              <a:rPr lang="zh-CN" altLang="en-US" sz="2800" b="1" dirty="0">
                <a:latin typeface="楷体_GB2312" pitchFamily="1" charset="-122"/>
              </a:rPr>
              <a:t>）创建仿真简要表（</a:t>
            </a:r>
            <a:r>
              <a:rPr lang="en-US" altLang="zh-CN" sz="2800" b="1" dirty="0">
                <a:latin typeface="楷体_GB2312" pitchFamily="1" charset="-122"/>
              </a:rPr>
              <a:t>Simulation Profile</a:t>
            </a:r>
            <a:r>
              <a:rPr lang="zh-CN" altLang="en-US" sz="2800" b="1" dirty="0">
                <a:latin typeface="楷体_GB2312" pitchFamily="1" charset="-122"/>
              </a:rPr>
              <a:t>），设置分析功能；</a:t>
            </a:r>
            <a:endParaRPr lang="zh-CN" altLang="en-US" sz="2800" b="1" dirty="0">
              <a:latin typeface="楷体_GB2312" pitchFamily="1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</a:rPr>
              <a:t>（</a:t>
            </a:r>
            <a:r>
              <a:rPr lang="en-US" altLang="zh-CN" sz="2800" b="1" dirty="0">
                <a:latin typeface="楷体_GB2312" pitchFamily="1" charset="-122"/>
              </a:rPr>
              <a:t>5</a:t>
            </a:r>
            <a:r>
              <a:rPr lang="zh-CN" altLang="en-US" sz="2800" b="1" dirty="0">
                <a:latin typeface="楷体_GB2312" pitchFamily="1" charset="-122"/>
              </a:rPr>
              <a:t>）执行仿真；</a:t>
            </a:r>
            <a:endParaRPr lang="zh-CN" altLang="en-US" sz="2800" b="1" dirty="0">
              <a:latin typeface="楷体_GB2312" pitchFamily="1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1" charset="-122"/>
              </a:rPr>
              <a:t>（</a:t>
            </a:r>
            <a:r>
              <a:rPr lang="en-US" altLang="zh-CN" sz="2800" b="1" dirty="0">
                <a:latin typeface="楷体_GB2312" pitchFamily="1" charset="-122"/>
              </a:rPr>
              <a:t>6</a:t>
            </a:r>
            <a:r>
              <a:rPr lang="zh-CN" altLang="en-US" sz="2800" b="1" dirty="0">
                <a:latin typeface="楷体_GB2312" pitchFamily="1" charset="-122"/>
              </a:rPr>
              <a:t>）仿真结果分析及输出。</a:t>
            </a:r>
            <a:endParaRPr lang="zh-CN" altLang="en-US" sz="2800" b="1" dirty="0">
              <a:latin typeface="楷体_GB2312" pitchFamily="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1505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630988" cy="792163"/>
          </a:xfrm>
        </p:spPr>
        <p:txBody>
          <a:bodyPr anchor="ctr" anchorCtr="0"/>
          <a:p>
            <a:r>
              <a:rPr lang="en-US" altLang="zh-CN" dirty="0"/>
              <a:t>PSpice A/D</a:t>
            </a:r>
            <a:r>
              <a:rPr lang="zh-CN" altLang="en-US" dirty="0"/>
              <a:t>中的有关注意事项</a:t>
            </a:r>
            <a:endParaRPr lang="zh-CN" altLang="en-US" dirty="0"/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566738" y="1196975"/>
            <a:ext cx="8001000" cy="4822825"/>
          </a:xfrm>
        </p:spPr>
        <p:txBody>
          <a:bodyPr/>
          <a:p>
            <a:pPr>
              <a:lnSpc>
                <a:spcPct val="120000"/>
              </a:lnSpc>
            </a:pPr>
            <a:r>
              <a:rPr lang="en-US" altLang="zh-CN" dirty="0"/>
              <a:t>PSpice A/D</a:t>
            </a:r>
            <a:r>
              <a:rPr lang="zh-CN" altLang="en-US" dirty="0"/>
              <a:t>中不区分大小写</a:t>
            </a:r>
            <a:endParaRPr lang="zh-CN" altLang="en-US" dirty="0"/>
          </a:p>
          <a:p>
            <a:pPr>
              <a:lnSpc>
                <a:spcPct val="140000"/>
              </a:lnSpc>
            </a:pPr>
            <a:r>
              <a:rPr lang="zh-CN" altLang="en-US" dirty="0"/>
              <a:t>文件名和文件夹名称不能使用中文字符</a:t>
            </a:r>
            <a:endParaRPr lang="zh-CN" altLang="en-US" dirty="0"/>
          </a:p>
          <a:p>
            <a:pPr>
              <a:lnSpc>
                <a:spcPct val="140000"/>
              </a:lnSpc>
            </a:pPr>
            <a:r>
              <a:rPr lang="zh-CN" altLang="en-US" dirty="0"/>
              <a:t>每一个项目建立一个单独的文件夹</a:t>
            </a:r>
            <a:endParaRPr lang="zh-CN" altLang="en-US" dirty="0"/>
          </a:p>
          <a:p>
            <a:pPr>
              <a:lnSpc>
                <a:spcPct val="120000"/>
              </a:lnSpc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2252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 dirty="0"/>
              <a:t>PSpice A/D</a:t>
            </a:r>
            <a:r>
              <a:rPr lang="zh-CN" altLang="en-US" dirty="0"/>
              <a:t>中的有关规定</a:t>
            </a:r>
            <a:endParaRPr lang="zh-CN" altLang="en-US" dirty="0"/>
          </a:p>
        </p:txBody>
      </p:sp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>
          <a:xfrm>
            <a:off x="566738" y="1268413"/>
            <a:ext cx="8001000" cy="4751387"/>
          </a:xfrm>
        </p:spPr>
        <p:txBody>
          <a:bodyPr/>
          <a:p>
            <a:pPr>
              <a:lnSpc>
                <a:spcPct val="80000"/>
              </a:lnSpc>
            </a:pPr>
            <a:r>
              <a:rPr lang="zh-CN" altLang="en-US" sz="2000" b="1" dirty="0">
                <a:solidFill>
                  <a:schemeClr val="hlink"/>
                </a:solidFill>
              </a:rPr>
              <a:t>单位</a:t>
            </a:r>
            <a:endParaRPr lang="zh-CN" altLang="en-US" sz="2000" b="1" dirty="0">
              <a:solidFill>
                <a:schemeClr val="hlink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latin typeface="楷体_GB2312" pitchFamily="1" charset="-122"/>
              </a:rPr>
              <a:t>PSpice A/D</a:t>
            </a:r>
            <a:r>
              <a:rPr lang="zh-CN" altLang="en-US" sz="2200" b="1" dirty="0">
                <a:latin typeface="楷体_GB2312" pitchFamily="1" charset="-122"/>
              </a:rPr>
              <a:t>仿真运行的结果都是以</a:t>
            </a:r>
            <a:r>
              <a:rPr lang="en-US" altLang="zh-CN" sz="2200" b="1" dirty="0">
                <a:latin typeface="楷体_GB2312" pitchFamily="1" charset="-122"/>
              </a:rPr>
              <a:t>A</a:t>
            </a:r>
            <a:r>
              <a:rPr lang="zh-CN" altLang="en-US" sz="2200" b="1" dirty="0">
                <a:latin typeface="楷体_GB2312" pitchFamily="1" charset="-122"/>
              </a:rPr>
              <a:t>、</a:t>
            </a:r>
            <a:r>
              <a:rPr lang="en-US" altLang="zh-CN" sz="2200" b="1" dirty="0">
                <a:latin typeface="楷体_GB2312" pitchFamily="1" charset="-122"/>
              </a:rPr>
              <a:t>V</a:t>
            </a:r>
            <a:r>
              <a:rPr lang="zh-CN" altLang="en-US" sz="2200" b="1" dirty="0">
                <a:latin typeface="楷体_GB2312" pitchFamily="1" charset="-122"/>
              </a:rPr>
              <a:t>、</a:t>
            </a:r>
            <a:r>
              <a:rPr lang="zh-CN" altLang="en-US" sz="2200" b="1" dirty="0">
                <a:latin typeface="楷体_GB2312" pitchFamily="1" charset="-122"/>
                <a:sym typeface="Symbol" panose="05050102010706020507" pitchFamily="2" charset="2"/>
              </a:rPr>
              <a:t></a:t>
            </a:r>
            <a:r>
              <a:rPr lang="zh-CN" altLang="en-US" sz="2200" b="1" dirty="0">
                <a:latin typeface="楷体_GB2312" pitchFamily="1" charset="-122"/>
              </a:rPr>
              <a:t>、</a:t>
            </a:r>
            <a:r>
              <a:rPr lang="en-US" altLang="zh-CN" sz="2200" b="1" dirty="0">
                <a:latin typeface="楷体_GB2312" pitchFamily="1" charset="-122"/>
              </a:rPr>
              <a:t>Hz</a:t>
            </a:r>
            <a:r>
              <a:rPr lang="zh-CN" altLang="en-US" sz="2200" b="1" dirty="0">
                <a:latin typeface="楷体_GB2312" pitchFamily="1" charset="-122"/>
              </a:rPr>
              <a:t>、</a:t>
            </a:r>
            <a:r>
              <a:rPr lang="en-US" altLang="zh-CN" sz="2200" b="1" dirty="0">
                <a:latin typeface="楷体_GB2312" pitchFamily="1" charset="-122"/>
              </a:rPr>
              <a:t>W</a:t>
            </a:r>
            <a:r>
              <a:rPr lang="zh-CN" altLang="en-US" sz="2200" b="1" dirty="0">
                <a:latin typeface="楷体_GB2312" pitchFamily="1" charset="-122"/>
              </a:rPr>
              <a:t>（瓦）等标准单位的形式确定，且省略了单位。 </a:t>
            </a:r>
            <a:endParaRPr lang="zh-CN" altLang="en-US" sz="2200" b="1" dirty="0">
              <a:latin typeface="楷体_GB2312" pitchFamily="1" charset="-122"/>
            </a:endParaRPr>
          </a:p>
          <a:p>
            <a:pPr>
              <a:lnSpc>
                <a:spcPct val="120000"/>
              </a:lnSpc>
            </a:pPr>
            <a:endParaRPr lang="zh-CN" altLang="en-US" sz="2200" b="1" dirty="0">
              <a:latin typeface="楷体_GB2312" pitchFamily="1" charset="-122"/>
            </a:endParaRPr>
          </a:p>
          <a:p>
            <a:pPr>
              <a:lnSpc>
                <a:spcPct val="120000"/>
              </a:lnSpc>
            </a:pPr>
            <a:endParaRPr lang="zh-CN" altLang="en-US" sz="2200" b="1" dirty="0">
              <a:latin typeface="楷体_GB2312" pitchFamily="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/>
              <a:t>要特别注意</a:t>
            </a:r>
            <a:r>
              <a:rPr lang="en-US" altLang="zh-CN" sz="2000" dirty="0"/>
              <a:t>M</a:t>
            </a:r>
            <a:r>
              <a:rPr lang="zh-CN" altLang="en-US" sz="2000" dirty="0"/>
              <a:t>与</a:t>
            </a:r>
            <a:r>
              <a:rPr lang="en-US" altLang="zh-CN" sz="2000" dirty="0"/>
              <a:t>MEG</a:t>
            </a:r>
            <a:r>
              <a:rPr lang="zh-CN" altLang="en-US" sz="2000" dirty="0"/>
              <a:t>的差别</a:t>
            </a:r>
            <a:endParaRPr lang="zh-CN" altLang="en-US" sz="2000" dirty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/>
              <a:t>		</a:t>
            </a:r>
            <a:r>
              <a:rPr lang="en-US" altLang="zh-CN" sz="2000" dirty="0"/>
              <a:t>M</a:t>
            </a:r>
            <a:r>
              <a:rPr lang="en-US" altLang="zh-CN" sz="2000" dirty="0">
                <a:latin typeface="Arial" panose="020B0604020202020204" pitchFamily="34" charset="0"/>
              </a:rPr>
              <a:t>——</a:t>
            </a:r>
            <a:r>
              <a:rPr lang="en-US" altLang="zh-CN" sz="2000" dirty="0"/>
              <a:t>10</a:t>
            </a:r>
            <a:r>
              <a:rPr lang="en-US" altLang="zh-CN" sz="2000" baseline="30000" dirty="0"/>
              <a:t>-3</a:t>
            </a:r>
            <a:endParaRPr lang="en-US" altLang="zh-CN" sz="2000" baseline="30000" dirty="0"/>
          </a:p>
          <a:p>
            <a:pPr>
              <a:lnSpc>
                <a:spcPct val="120000"/>
              </a:lnSpc>
              <a:buNone/>
            </a:pPr>
            <a:r>
              <a:rPr lang="en-US" altLang="zh-CN" sz="2000" dirty="0"/>
              <a:t>		MEG </a:t>
            </a:r>
            <a:r>
              <a:rPr lang="en-US" altLang="zh-CN" sz="2000" dirty="0">
                <a:latin typeface="Arial" panose="020B0604020202020204" pitchFamily="34" charset="0"/>
              </a:rPr>
              <a:t>——</a:t>
            </a:r>
            <a:r>
              <a:rPr lang="en-US" altLang="zh-CN" sz="2000" dirty="0"/>
              <a:t> 10</a:t>
            </a:r>
            <a:r>
              <a:rPr lang="en-US" altLang="zh-CN" sz="2000" baseline="30000" dirty="0"/>
              <a:t>6</a:t>
            </a:r>
            <a:endParaRPr lang="en-US" altLang="zh-CN" sz="2000" baseline="30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例</a:t>
            </a:r>
            <a:r>
              <a:rPr lang="en-US" altLang="zh-CN" sz="2000" dirty="0"/>
              <a:t>1</a:t>
            </a:r>
            <a:r>
              <a:rPr lang="zh-CN" altLang="en-US" sz="2000" dirty="0"/>
              <a:t>：要表示</a:t>
            </a:r>
            <a:r>
              <a:rPr lang="en-US" altLang="zh-CN" sz="2000" dirty="0"/>
              <a:t>100</a:t>
            </a:r>
            <a:r>
              <a:rPr lang="zh-CN" altLang="en-US" sz="2000" dirty="0"/>
              <a:t>兆赫兹的频率时，必须写成</a:t>
            </a:r>
            <a:r>
              <a:rPr lang="en-US" altLang="zh-CN" sz="2000" dirty="0"/>
              <a:t>100MEG</a:t>
            </a:r>
            <a:r>
              <a:rPr lang="zh-CN" altLang="en-US" sz="2000" dirty="0"/>
              <a:t>，而不能是</a:t>
            </a:r>
            <a:r>
              <a:rPr lang="en-US" altLang="zh-CN" sz="2000" dirty="0"/>
              <a:t>100M</a:t>
            </a:r>
            <a:r>
              <a:rPr lang="zh-CN" altLang="en-US" sz="2000" dirty="0"/>
              <a:t>。否则</a:t>
            </a:r>
            <a:r>
              <a:rPr lang="en-US" altLang="zh-CN" sz="2000" dirty="0"/>
              <a:t>PSpice A/D</a:t>
            </a:r>
            <a:r>
              <a:rPr lang="zh-CN" altLang="en-US" sz="2000" dirty="0"/>
              <a:t>将其理解为</a:t>
            </a:r>
            <a:r>
              <a:rPr lang="en-US" altLang="zh-CN" sz="2000" dirty="0"/>
              <a:t>100</a:t>
            </a:r>
            <a:r>
              <a:rPr lang="zh-CN" altLang="en-US" sz="2000" dirty="0"/>
              <a:t>毫赫兹。</a:t>
            </a:r>
            <a:endParaRPr lang="zh-CN" altLang="en-US" sz="2000" dirty="0"/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： 给电压源赋值时，键入</a:t>
            </a:r>
            <a:r>
              <a:rPr lang="en-US" altLang="zh-CN" sz="2000" b="1" dirty="0">
                <a:latin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</a:rPr>
              <a:t>12V</a:t>
            </a:r>
            <a:r>
              <a:rPr lang="zh-CN" altLang="en-US" sz="2000" b="1" dirty="0">
                <a:latin typeface="宋体" panose="02010600030101010101" pitchFamily="2" charset="-122"/>
              </a:rPr>
              <a:t>意思一样。</a:t>
            </a:r>
            <a:endParaRPr lang="zh-CN" altLang="en-US" sz="2200" b="1" dirty="0">
              <a:latin typeface="楷体_GB2312" pitchFamily="1" charset="-122"/>
            </a:endParaRPr>
          </a:p>
          <a:p>
            <a:pPr>
              <a:lnSpc>
                <a:spcPct val="80000"/>
              </a:lnSpc>
            </a:pPr>
            <a:endParaRPr lang="zh-CN" altLang="en-US" sz="2000" b="1" dirty="0">
              <a:solidFill>
                <a:schemeClr val="hlink"/>
              </a:solidFill>
            </a:endParaRPr>
          </a:p>
        </p:txBody>
      </p:sp>
      <p:pic>
        <p:nvPicPr>
          <p:cNvPr id="22532" name="图片 225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565400"/>
            <a:ext cx="7993062" cy="1000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1295400" y="115888"/>
            <a:ext cx="7245350" cy="792162"/>
          </a:xfrm>
        </p:spPr>
        <p:txBody>
          <a:bodyPr vert="horz" wrap="square" anchor="b" anchorCtr="0"/>
          <a:p>
            <a:pPr eaLnBrk="1" hangingPunct="1"/>
            <a:r>
              <a:rPr lang="zh-CN" altLang="en-US" sz="3800" b="0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2" charset="-122"/>
              </a:rPr>
              <a:t>新建设计项目</a:t>
            </a:r>
            <a:r>
              <a:rPr lang="en-US" altLang="zh-CN" sz="3800" b="0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2" charset="-122"/>
              </a:rPr>
              <a:t>(File/New/Project)</a:t>
            </a:r>
            <a:endParaRPr lang="en-US" altLang="zh-CN" sz="3800" b="0" dirty="0">
              <a:solidFill>
                <a:srgbClr val="FF00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>
          <a:xfrm>
            <a:off x="566738" y="1196975"/>
            <a:ext cx="8326437" cy="4822825"/>
          </a:xfrm>
        </p:spPr>
        <p:txBody>
          <a:bodyPr vert="horz" wrap="square" anchor="t" anchorCtr="0"/>
          <a:p>
            <a:pPr marL="469900" indent="-469900" eaLnBrk="1" hangingPunct="1"/>
            <a:r>
              <a:rPr lang="zh-CN" altLang="en-US" sz="2700" b="1" dirty="0"/>
              <a:t>在</a:t>
            </a:r>
            <a:r>
              <a:rPr lang="en-US" altLang="zh-CN" sz="2700" b="1" dirty="0">
                <a:latin typeface="宋体" panose="02010600030101010101" pitchFamily="2" charset="-122"/>
              </a:rPr>
              <a:t>OrCAD</a:t>
            </a:r>
            <a:r>
              <a:rPr lang="zh-CN" altLang="en-US" sz="2700" b="1" dirty="0"/>
              <a:t>软件包中，每一个设计或分析任务都被当作一个项目，由项目管理器（</a:t>
            </a:r>
            <a:r>
              <a:rPr lang="en-US" altLang="zh-CN" sz="2700" b="1" dirty="0">
                <a:latin typeface="宋体" panose="02010600030101010101" pitchFamily="2" charset="-122"/>
              </a:rPr>
              <a:t>Project Manager</a:t>
            </a:r>
            <a:r>
              <a:rPr lang="zh-CN" altLang="en-US" sz="2700" b="1" dirty="0"/>
              <a:t>）统一管理。因此每开始一个新的任务就等于新建一个设计项目，要调用项目管理器为新建项目起个名，并确定有关的设置。</a:t>
            </a:r>
            <a:endParaRPr lang="zh-CN" altLang="en-US" sz="2700" b="1" dirty="0"/>
          </a:p>
        </p:txBody>
      </p:sp>
      <p:pic>
        <p:nvPicPr>
          <p:cNvPr id="2355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3505200"/>
            <a:ext cx="5638800" cy="2676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 sz="3400">
                <a:solidFill>
                  <a:srgbClr val="FF0000"/>
                </a:solidFill>
                <a:latin typeface="宋体" panose="02010600030101010101" pitchFamily="2" charset="-122"/>
              </a:rPr>
              <a:t>项目基本设置</a:t>
            </a:r>
            <a:endParaRPr lang="zh-CN" altLang="en-US" sz="34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>
          <a:xfrm>
            <a:off x="611188" y="1341438"/>
            <a:ext cx="3960812" cy="1150937"/>
          </a:xfrm>
        </p:spPr>
        <p:txBody>
          <a:bodyPr vert="horz" wrap="square" anchor="t" anchorCtr="0"/>
          <a:p>
            <a:pPr marL="469900" indent="-469900" algn="just" eaLnBrk="1" hangingPunct="1">
              <a:lnSpc>
                <a:spcPct val="131000"/>
              </a:lnSpc>
              <a:buNone/>
            </a:pPr>
            <a:r>
              <a:rPr lang="zh-CN" altLang="en-US" sz="2600" dirty="0">
                <a:solidFill>
                  <a:srgbClr val="FF0000"/>
                </a:solidFill>
                <a:latin typeface="MingLiU" pitchFamily="1" charset="-120"/>
                <a:ea typeface="MingLiU" pitchFamily="1" charset="-120"/>
              </a:rPr>
              <a:t>（</a:t>
            </a:r>
            <a:r>
              <a:rPr lang="en-US" altLang="zh-CN" sz="2600" dirty="0">
                <a:solidFill>
                  <a:srgbClr val="FF0000"/>
                </a:solidFill>
                <a:latin typeface="MingLiU" pitchFamily="1" charset="-120"/>
                <a:ea typeface="MingLiU" pitchFamily="1" charset="-120"/>
              </a:rPr>
              <a:t>1</a:t>
            </a:r>
            <a:r>
              <a:rPr lang="zh-CN" altLang="en-US" sz="2600" dirty="0">
                <a:solidFill>
                  <a:srgbClr val="FF0000"/>
                </a:solidFill>
                <a:latin typeface="MingLiU" pitchFamily="1" charset="-120"/>
                <a:ea typeface="MingLiU" pitchFamily="1" charset="-120"/>
              </a:rPr>
              <a:t>）给设计项目起名。</a:t>
            </a:r>
            <a:r>
              <a:rPr lang="zh-CN" altLang="en-US" sz="2600" dirty="0">
                <a:solidFill>
                  <a:srgbClr val="FF0000"/>
                </a:solidFill>
                <a:latin typeface="华文仿宋" panose="02010600040101010101" pitchFamily="2" charset="-122"/>
              </a:rPr>
              <a:t> </a:t>
            </a:r>
            <a:endParaRPr lang="zh-CN" altLang="en-US" sz="2600" dirty="0">
              <a:solidFill>
                <a:srgbClr val="FF0000"/>
              </a:solidFill>
              <a:latin typeface="华文仿宋" panose="02010600040101010101" pitchFamily="2" charset="-122"/>
            </a:endParaRPr>
          </a:p>
          <a:p>
            <a:pPr marL="469900" indent="-469900" algn="just" eaLnBrk="1" hangingPunct="1">
              <a:lnSpc>
                <a:spcPct val="131000"/>
              </a:lnSpc>
            </a:pPr>
            <a:endParaRPr lang="en-US" altLang="zh-CN" sz="2600" dirty="0">
              <a:solidFill>
                <a:srgbClr val="FF0000"/>
              </a:solidFill>
              <a:latin typeface="华文仿宋" panose="02010600040101010101" pitchFamily="2" charset="-122"/>
            </a:endParaRP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662488" y="1631950"/>
          <a:ext cx="3997325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391025" imgH="3743325" progId="Paint.Picture">
                  <p:embed/>
                </p:oleObj>
              </mc:Choice>
              <mc:Fallback>
                <p:oleObj name="" r:id="rId1" imgW="4391025" imgH="3743325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62488" y="1631950"/>
                        <a:ext cx="3997325" cy="339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6"/>
          <p:cNvSpPr txBox="1"/>
          <p:nvPr/>
        </p:nvSpPr>
        <p:spPr>
          <a:xfrm>
            <a:off x="539750" y="2924175"/>
            <a:ext cx="388620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100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）选定设计项目类型：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个选项可供选择。如要对绘制的电路进行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Pspice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分析，应选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Analog or Mixed Signal Circuit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82" name="Line 7"/>
          <p:cNvSpPr/>
          <p:nvPr/>
        </p:nvSpPr>
        <p:spPr>
          <a:xfrm>
            <a:off x="4140200" y="1700213"/>
            <a:ext cx="522288" cy="582612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83" name="Line 8"/>
          <p:cNvSpPr/>
          <p:nvPr/>
        </p:nvSpPr>
        <p:spPr>
          <a:xfrm flipV="1">
            <a:off x="3965575" y="2803525"/>
            <a:ext cx="1050925" cy="739775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84" name="Text Box 9"/>
          <p:cNvSpPr txBox="1"/>
          <p:nvPr/>
        </p:nvSpPr>
        <p:spPr>
          <a:xfrm>
            <a:off x="323850" y="5410200"/>
            <a:ext cx="8640763" cy="124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）项目路径名设置。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Location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一项用于设置保存新建设计项目的子目录。（</a:t>
            </a:r>
            <a:r>
              <a:rPr lang="zh-CN" altLang="en-US" b="1" dirty="0">
                <a:solidFill>
                  <a:srgbClr val="0000CC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文件名和文件夹名称不能使用中文字符与控制字符，如空格等</a:t>
            </a:r>
            <a:r>
              <a:rPr lang="zh-CN" altLang="en-US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     最好存在</a:t>
            </a:r>
            <a:r>
              <a:rPr lang="en-US" altLang="zh-CN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f: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盘！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24585" name="Line 10"/>
          <p:cNvSpPr/>
          <p:nvPr/>
        </p:nvSpPr>
        <p:spPr>
          <a:xfrm flipV="1">
            <a:off x="4662488" y="4740275"/>
            <a:ext cx="354012" cy="958850"/>
          </a:xfrm>
          <a:prstGeom prst="line">
            <a:avLst/>
          </a:prstGeom>
          <a:ln w="38100" cap="flat" cmpd="sng">
            <a:solidFill>
              <a:srgbClr val="990033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81" grpId="0"/>
      <p:bldP spid="2458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 dirty="0">
                <a:latin typeface="华文仿宋" panose="02010600040101010101" pitchFamily="2" charset="-122"/>
              </a:rPr>
              <a:t>建立新的</a:t>
            </a:r>
            <a:r>
              <a:rPr lang="en-US" altLang="zh-CN" dirty="0">
                <a:latin typeface="华文仿宋" panose="02010600040101010101" pitchFamily="2" charset="-122"/>
              </a:rPr>
              <a:t>Pspice</a:t>
            </a:r>
            <a:r>
              <a:rPr lang="zh-CN" altLang="en-US" dirty="0">
                <a:latin typeface="华文仿宋" panose="02010600040101010101" pitchFamily="2" charset="-122"/>
              </a:rPr>
              <a:t>项目</a:t>
            </a:r>
            <a:endParaRPr lang="zh-CN" altLang="en-US" dirty="0">
              <a:latin typeface="华文仿宋" panose="02010600040101010101" pitchFamily="2" charset="-122"/>
            </a:endParaRPr>
          </a:p>
        </p:txBody>
      </p:sp>
      <p:graphicFrame>
        <p:nvGraphicFramePr>
          <p:cNvPr id="25603" name="Object 3"/>
          <p:cNvGraphicFramePr>
            <a:graphicFrameLocks noGrp="1" noChangeAspect="1"/>
          </p:cNvGraphicFramePr>
          <p:nvPr>
            <p:ph type="body"/>
          </p:nvPr>
        </p:nvGraphicFramePr>
        <p:xfrm>
          <a:off x="0" y="1268413"/>
          <a:ext cx="9144000" cy="460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6553200" imgH="3459480" progId="Paint.Picture">
                  <p:embed/>
                </p:oleObj>
              </mc:Choice>
              <mc:Fallback>
                <p:oleObj name="" r:id="rId1" imgW="6553200" imgH="3459480" progId="Paint.Picture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268413"/>
                        <a:ext cx="9144000" cy="46085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Line 4"/>
          <p:cNvSpPr/>
          <p:nvPr/>
        </p:nvSpPr>
        <p:spPr>
          <a:xfrm flipH="1" flipV="1">
            <a:off x="2339975" y="4292600"/>
            <a:ext cx="647700" cy="16557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05" name="矩形 25604"/>
          <p:cNvSpPr/>
          <p:nvPr/>
        </p:nvSpPr>
        <p:spPr>
          <a:xfrm>
            <a:off x="2051050" y="5876925"/>
            <a:ext cx="64087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sz="2800" b="1" dirty="0">
                <a:solidFill>
                  <a:srgbClr val="0066FF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选择</a:t>
            </a:r>
            <a:r>
              <a:rPr lang="en-US" altLang="zh-CN" sz="2800" b="1" dirty="0">
                <a:solidFill>
                  <a:srgbClr val="0066FF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Create a blank proj,  OK</a:t>
            </a:r>
            <a:endParaRPr lang="en-US" altLang="zh-CN" sz="2800" b="1" dirty="0">
              <a:solidFill>
                <a:srgbClr val="0066FF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Capture </a:t>
            </a:r>
            <a:r>
              <a:rPr lang="zh-CN" altLang="en-US" dirty="0">
                <a:latin typeface="宋体" panose="02010600030101010101" pitchFamily="2" charset="-122"/>
              </a:rPr>
              <a:t>工作窗口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6627" name="Rectangle 3"/>
          <p:cNvSpPr/>
          <p:nvPr/>
        </p:nvSpPr>
        <p:spPr>
          <a:xfrm>
            <a:off x="1795463" y="15160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041400" y="1093788"/>
          <a:ext cx="7286625" cy="546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7802880" imgH="5852160" progId="Paint.Picture">
                  <p:embed/>
                </p:oleObj>
              </mc:Choice>
              <mc:Fallback>
                <p:oleObj name="" r:id="rId1" imgW="7802880" imgH="5852160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1400" y="1093788"/>
                        <a:ext cx="7286625" cy="546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AutoShape 5"/>
          <p:cNvSpPr/>
          <p:nvPr/>
        </p:nvSpPr>
        <p:spPr>
          <a:xfrm>
            <a:off x="6569075" y="1012825"/>
            <a:ext cx="2346325" cy="503238"/>
          </a:xfrm>
          <a:prstGeom prst="wedgeRectCallout">
            <a:avLst>
              <a:gd name="adj1" fmla="val -89852"/>
              <a:gd name="adj2" fmla="val 358519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电路图编辑窗口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30" name="AutoShape 6"/>
          <p:cNvSpPr/>
          <p:nvPr/>
        </p:nvSpPr>
        <p:spPr>
          <a:xfrm>
            <a:off x="3557588" y="4856163"/>
            <a:ext cx="2484437" cy="644525"/>
          </a:xfrm>
          <a:prstGeom prst="wedgeRectCallout">
            <a:avLst>
              <a:gd name="adj1" fmla="val -136519"/>
              <a:gd name="adj2" fmla="val -267241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项目管理器窗口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31" name="AutoShape 7"/>
          <p:cNvSpPr/>
          <p:nvPr/>
        </p:nvSpPr>
        <p:spPr>
          <a:xfrm>
            <a:off x="0" y="4921250"/>
            <a:ext cx="2225675" cy="579438"/>
          </a:xfrm>
          <a:prstGeom prst="wedgeRectCallout">
            <a:avLst>
              <a:gd name="adj1" fmla="val 17403"/>
              <a:gd name="adj2" fmla="val 145069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信息查看窗口</a:t>
            </a:r>
            <a:r>
              <a:rPr lang="zh-CN" altLang="en-US" b="1" baseline="-250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zh-CN" altLang="en-US" b="1" baseline="-25000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26630" grpId="0" animBg="1"/>
      <p:bldP spid="266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27649"/>
          <p:cNvSpPr>
            <a:spLocks noGrp="1"/>
          </p:cNvSpPr>
          <p:nvPr>
            <p:ph type="title"/>
          </p:nvPr>
        </p:nvSpPr>
        <p:spPr>
          <a:xfrm>
            <a:off x="1371600" y="138113"/>
            <a:ext cx="7010400" cy="700087"/>
          </a:xfrm>
        </p:spPr>
        <p:txBody>
          <a:bodyPr anchor="ctr" anchorCtr="0"/>
          <a:p>
            <a:r>
              <a:rPr lang="en-US" altLang="zh-CN" sz="2800" dirty="0"/>
              <a:t>2.  </a:t>
            </a:r>
            <a:r>
              <a:rPr lang="zh-CN" altLang="en-US" sz="2800" dirty="0"/>
              <a:t>画原理图</a:t>
            </a:r>
            <a:r>
              <a:rPr lang="en-US" altLang="zh-CN" sz="2800" dirty="0">
                <a:latin typeface="Arial" panose="020B0604020202020204" pitchFamily="34" charset="0"/>
              </a:rPr>
              <a:t>—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 调元件</a:t>
            </a:r>
            <a:br>
              <a:rPr lang="zh-CN" altLang="en-US" sz="1800" dirty="0">
                <a:sym typeface="Wingdings" panose="05000000000000000000" pitchFamily="2" charset="2"/>
              </a:rPr>
            </a:br>
            <a:r>
              <a:rPr lang="zh-CN" alt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注意快捷工具图标的使用</a:t>
            </a:r>
            <a:endParaRPr lang="zh-CN" altLang="en-US" sz="18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7651" name="矩形 27650"/>
          <p:cNvSpPr/>
          <p:nvPr/>
        </p:nvSpPr>
        <p:spPr>
          <a:xfrm>
            <a:off x="3786188" y="2447925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7652" name="矩形 27651"/>
          <p:cNvSpPr/>
          <p:nvPr/>
        </p:nvSpPr>
        <p:spPr>
          <a:xfrm>
            <a:off x="3452813" y="129540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7653" name="文本占位符 27652"/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7423150" cy="762000"/>
          </a:xfrm>
        </p:spPr>
        <p:txBody>
          <a:bodyPr/>
          <a:p>
            <a:pPr algn="just">
              <a:lnSpc>
                <a:spcPct val="90000"/>
              </a:lnSpc>
            </a:pPr>
            <a:r>
              <a:rPr lang="zh-CN" altLang="en-US" sz="2400" b="1" dirty="0">
                <a:solidFill>
                  <a:schemeClr val="tx2"/>
                </a:solidFill>
              </a:rPr>
              <a:t>菜单</a:t>
            </a:r>
            <a:r>
              <a:rPr lang="en-US" altLang="zh-CN" sz="2400" b="1" dirty="0"/>
              <a:t>Place/ Part</a:t>
            </a:r>
            <a:r>
              <a:rPr lang="zh-CN" altLang="en-US" sz="2400" b="1" dirty="0"/>
              <a:t>，或图标           ，打开元件库</a:t>
            </a:r>
            <a:endParaRPr lang="zh-CN" altLang="en-US" sz="2400" b="1" dirty="0"/>
          </a:p>
        </p:txBody>
      </p:sp>
      <p:sp>
        <p:nvSpPr>
          <p:cNvPr id="27654" name="矩形 27653"/>
          <p:cNvSpPr/>
          <p:nvPr/>
        </p:nvSpPr>
        <p:spPr>
          <a:xfrm>
            <a:off x="533400" y="1752600"/>
            <a:ext cx="83820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spcBef>
                <a:spcPct val="20000"/>
              </a:spcBef>
              <a:buChar char="•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添加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元件库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Add  Lib__Analog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Bipolar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Source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pic>
        <p:nvPicPr>
          <p:cNvPr id="27655" name="图片 276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2362200"/>
            <a:ext cx="5200650" cy="4297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6" name="矩形 27655"/>
          <p:cNvSpPr/>
          <p:nvPr/>
        </p:nvSpPr>
        <p:spPr>
          <a:xfrm>
            <a:off x="533400" y="2286000"/>
            <a:ext cx="67818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spcBef>
                <a:spcPct val="20000"/>
              </a:spcBef>
              <a:buChar char="•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提取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元件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pic>
        <p:nvPicPr>
          <p:cNvPr id="27657" name="图片 27656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0" y="1125538"/>
            <a:ext cx="647700" cy="647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 dir="in"/>
    <p:sndAc>
      <p:stSnd>
        <p:snd r:embed="rId3" name="projctor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</a:rPr>
              <a:t>加元器件库</a:t>
            </a:r>
            <a:r>
              <a:rPr lang="en-US" altLang="zh-CN" dirty="0">
                <a:solidFill>
                  <a:srgbClr val="FF0000"/>
                </a:solidFill>
                <a:latin typeface="华文仿宋" panose="02010600040101010101" pitchFamily="2" charset="-122"/>
              </a:rPr>
              <a:t>(Place/Part</a:t>
            </a:r>
            <a:r>
              <a:rPr lang="zh-CN" altLang="en-US" dirty="0">
                <a:solidFill>
                  <a:srgbClr val="FF0000"/>
                </a:solidFill>
                <a:latin typeface="华文仿宋" panose="02010600040101010101" pitchFamily="2" charset="-122"/>
              </a:rPr>
              <a:t>命令</a:t>
            </a:r>
            <a:r>
              <a:rPr lang="en-US" altLang="zh-CN" dirty="0">
                <a:solidFill>
                  <a:srgbClr val="FF0000"/>
                </a:solidFill>
                <a:latin typeface="华文仿宋" panose="02010600040101010101" pitchFamily="2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华文仿宋" panose="02010600040101010101" pitchFamily="2" charset="-122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>
          <a:xfrm>
            <a:off x="566738" y="1268413"/>
            <a:ext cx="8001000" cy="1674812"/>
          </a:xfrm>
        </p:spPr>
        <p:txBody>
          <a:bodyPr vert="horz" wrap="square" anchor="t" anchorCtr="0"/>
          <a:p>
            <a:pPr marL="469900" indent="-469900" eaLnBrk="1" hangingPunct="1"/>
            <a:r>
              <a:rPr lang="zh-CN" altLang="en-US" sz="1800" b="1" dirty="0">
                <a:latin typeface="宋体" panose="02010600030101010101" pitchFamily="2" charset="-122"/>
              </a:rPr>
              <a:t>在画电路图之前，首先要为将要画的电路选择元器件库。执行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Place/Part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命令，</a:t>
            </a:r>
            <a:r>
              <a:rPr lang="zh-CN" altLang="en-US" sz="1800" b="1" dirty="0">
                <a:latin typeface="宋体" panose="02010600030101010101" pitchFamily="2" charset="-122"/>
              </a:rPr>
              <a:t>，在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Place/Part</a:t>
            </a:r>
            <a:r>
              <a:rPr lang="zh-CN" altLang="en-US" sz="1800" b="1" dirty="0">
                <a:latin typeface="宋体" panose="02010600030101010101" pitchFamily="2" charset="-122"/>
              </a:rPr>
              <a:t>对话框中点击</a:t>
            </a:r>
            <a:r>
              <a:rPr lang="zh-CN" altLang="en-US" sz="1800" b="1" dirty="0">
                <a:latin typeface="华文仿宋" panose="02010600040101010101" pitchFamily="2" charset="-122"/>
              </a:rPr>
              <a:t>“</a:t>
            </a:r>
            <a:r>
              <a:rPr lang="en-US" altLang="zh-CN" sz="1800" b="1" dirty="0">
                <a:latin typeface="宋体" panose="02010600030101010101" pitchFamily="2" charset="-122"/>
              </a:rPr>
              <a:t>Add</a:t>
            </a:r>
            <a:r>
              <a:rPr lang="en-US" altLang="zh-CN" sz="1800" b="1" dirty="0">
                <a:latin typeface="华文仿宋" panose="02010600040101010101" pitchFamily="2" charset="-122"/>
              </a:rPr>
              <a:t>”</a:t>
            </a:r>
            <a:r>
              <a:rPr lang="zh-CN" altLang="en-US" sz="1800" b="1" dirty="0">
                <a:latin typeface="宋体" panose="02010600030101010101" pitchFamily="2" charset="-122"/>
              </a:rPr>
              <a:t>按钮，出现</a:t>
            </a:r>
            <a:r>
              <a:rPr lang="en-US" altLang="zh-CN" sz="1800" b="1" dirty="0">
                <a:latin typeface="宋体" panose="02010600030101010101" pitchFamily="2" charset="-122"/>
              </a:rPr>
              <a:t>Browse File</a:t>
            </a:r>
            <a:r>
              <a:rPr lang="zh-CN" altLang="en-US" sz="1800" b="1" dirty="0">
                <a:latin typeface="宋体" panose="02010600030101010101" pitchFamily="2" charset="-122"/>
              </a:rPr>
              <a:t>对话框，将所需库点中，点击</a:t>
            </a:r>
            <a:r>
              <a:rPr lang="zh-CN" altLang="en-US" sz="1800" b="1" dirty="0">
                <a:latin typeface="华文仿宋" panose="02010600040101010101" pitchFamily="2" charset="-122"/>
              </a:rPr>
              <a:t>“</a:t>
            </a:r>
            <a:r>
              <a:rPr lang="zh-CN" altLang="en-US" sz="1800" b="1" dirty="0">
                <a:latin typeface="宋体" panose="02010600030101010101" pitchFamily="2" charset="-122"/>
              </a:rPr>
              <a:t>打开</a:t>
            </a:r>
            <a:r>
              <a:rPr lang="zh-CN" altLang="en-US" sz="1800" b="1" dirty="0">
                <a:latin typeface="华文仿宋" panose="02010600040101010101" pitchFamily="2" charset="-122"/>
              </a:rPr>
              <a:t>”</a:t>
            </a:r>
            <a:r>
              <a:rPr lang="zh-CN" altLang="en-US" sz="1800" b="1" dirty="0">
                <a:latin typeface="宋体" panose="02010600030101010101" pitchFamily="2" charset="-122"/>
              </a:rPr>
              <a:t>按钮，则选中的库文件增至</a:t>
            </a:r>
            <a:r>
              <a:rPr lang="zh-CN" altLang="en-US" sz="1800" b="1" dirty="0">
                <a:latin typeface="华文仿宋" panose="02010600040101010101" pitchFamily="2" charset="-122"/>
              </a:rPr>
              <a:t>“</a:t>
            </a:r>
            <a:r>
              <a:rPr lang="en-US" altLang="zh-CN" sz="1800" b="1" dirty="0">
                <a:latin typeface="宋体" panose="02010600030101010101" pitchFamily="2" charset="-122"/>
              </a:rPr>
              <a:t>Library</a:t>
            </a:r>
            <a:r>
              <a:rPr lang="en-US" altLang="zh-CN" sz="1800" b="1" dirty="0">
                <a:latin typeface="华文仿宋" panose="02010600040101010101" pitchFamily="2" charset="-122"/>
              </a:rPr>
              <a:t>”</a:t>
            </a:r>
            <a:r>
              <a:rPr lang="zh-CN" altLang="en-US" sz="1800" b="1" dirty="0">
                <a:latin typeface="宋体" panose="02010600030101010101" pitchFamily="2" charset="-122"/>
              </a:rPr>
              <a:t>框 中。反之，从</a:t>
            </a:r>
            <a:r>
              <a:rPr lang="zh-CN" altLang="en-US" sz="1800" b="1" dirty="0">
                <a:latin typeface="华文仿宋" panose="02010600040101010101" pitchFamily="2" charset="-122"/>
              </a:rPr>
              <a:t>“</a:t>
            </a:r>
            <a:r>
              <a:rPr lang="en-US" altLang="zh-CN" sz="1800" b="1" dirty="0">
                <a:latin typeface="宋体" panose="02010600030101010101" pitchFamily="2" charset="-122"/>
              </a:rPr>
              <a:t>Library</a:t>
            </a:r>
            <a:r>
              <a:rPr lang="en-US" altLang="zh-CN" sz="1800" b="1" dirty="0">
                <a:latin typeface="华文仿宋" panose="02010600040101010101" pitchFamily="2" charset="-122"/>
              </a:rPr>
              <a:t>”</a:t>
            </a:r>
            <a:r>
              <a:rPr lang="zh-CN" altLang="en-US" sz="1800" b="1" dirty="0">
                <a:latin typeface="宋体" panose="02010600030101010101" pitchFamily="2" charset="-122"/>
              </a:rPr>
              <a:t>框，选中一个库文件，点击</a:t>
            </a:r>
            <a:r>
              <a:rPr lang="en-US" altLang="zh-CN" sz="1800" b="1" dirty="0">
                <a:latin typeface="宋体" panose="02010600030101010101" pitchFamily="2" charset="-122"/>
              </a:rPr>
              <a:t>Remove</a:t>
            </a:r>
            <a:r>
              <a:rPr lang="zh-CN" altLang="en-US" sz="1800" b="1" dirty="0">
                <a:latin typeface="宋体" panose="02010600030101010101" pitchFamily="2" charset="-122"/>
              </a:rPr>
              <a:t>按钮，即将该库文件框剔除。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pic>
        <p:nvPicPr>
          <p:cNvPr id="28676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2492375"/>
            <a:ext cx="4625975" cy="3627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3284538"/>
            <a:ext cx="5372100" cy="3038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8" name="AutoShape 6"/>
          <p:cNvSpPr/>
          <p:nvPr/>
        </p:nvSpPr>
        <p:spPr>
          <a:xfrm>
            <a:off x="7019925" y="4149725"/>
            <a:ext cx="1763713" cy="555625"/>
          </a:xfrm>
          <a:prstGeom prst="wedgeRectCallout">
            <a:avLst>
              <a:gd name="adj1" fmla="val -78083"/>
              <a:gd name="adj2" fmla="val -147144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剔除库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9" name="AutoShape 5"/>
          <p:cNvSpPr/>
          <p:nvPr/>
        </p:nvSpPr>
        <p:spPr>
          <a:xfrm>
            <a:off x="7164388" y="2708275"/>
            <a:ext cx="1763712" cy="668338"/>
          </a:xfrm>
          <a:prstGeom prst="wedgeRectCallout">
            <a:avLst>
              <a:gd name="adj1" fmla="val -84921"/>
              <a:gd name="adj2" fmla="val 5546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加库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  <p:bldP spid="2867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2971800" y="106363"/>
            <a:ext cx="5527675" cy="579437"/>
          </a:xfrm>
        </p:spPr>
        <p:txBody>
          <a:bodyPr vert="horz" wrap="square" anchor="b" anchorCtr="0">
            <a:spAutoFit/>
          </a:bodyPr>
          <a:p>
            <a:pPr eaLnBrk="1" hangingPunct="1"/>
            <a:r>
              <a:rPr lang="zh-CN" altLang="en-US" sz="3200"/>
              <a:t>元器件符号库</a:t>
            </a:r>
            <a:endParaRPr lang="zh-CN" altLang="en-US" sz="3200"/>
          </a:p>
        </p:txBody>
      </p:sp>
      <p:sp>
        <p:nvSpPr>
          <p:cNvPr id="29699" name="Rectangle 3"/>
          <p:cNvSpPr>
            <a:spLocks noGrp="1"/>
          </p:cNvSpPr>
          <p:nvPr>
            <p:ph type="body"/>
          </p:nvPr>
        </p:nvSpPr>
        <p:spPr>
          <a:xfrm>
            <a:off x="3927475" y="2533650"/>
            <a:ext cx="2905125" cy="1301750"/>
          </a:xfrm>
        </p:spPr>
        <p:txBody>
          <a:bodyPr vert="horz" wrap="square" anchor="t" anchorCtr="0"/>
          <a:p>
            <a:pPr marL="469900" indent="-469900" eaLnBrk="1" hangingPunct="1">
              <a:buNone/>
            </a:pPr>
            <a:r>
              <a:rPr lang="zh-CN" altLang="en-US"/>
              <a:t>元器件符号库</a:t>
            </a:r>
            <a:endParaRPr lang="zh-CN" altLang="en-US"/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533400" y="909638"/>
          <a:ext cx="8153400" cy="547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7534275" imgH="5743575" progId="Paint.Picture">
                  <p:embed/>
                </p:oleObj>
              </mc:Choice>
              <mc:Fallback>
                <p:oleObj name="" r:id="rId1" imgW="7534275" imgH="5743575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909638"/>
                        <a:ext cx="8153400" cy="547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Oval 6"/>
          <p:cNvSpPr/>
          <p:nvPr/>
        </p:nvSpPr>
        <p:spPr>
          <a:xfrm>
            <a:off x="6659563" y="1773238"/>
            <a:ext cx="1441450" cy="287337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29702" name="Oval 7"/>
          <p:cNvSpPr/>
          <p:nvPr/>
        </p:nvSpPr>
        <p:spPr>
          <a:xfrm>
            <a:off x="6948488" y="4005263"/>
            <a:ext cx="1441450" cy="287337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29703" name="Oval 10"/>
          <p:cNvSpPr/>
          <p:nvPr/>
        </p:nvSpPr>
        <p:spPr>
          <a:xfrm>
            <a:off x="7019925" y="5013325"/>
            <a:ext cx="1441450" cy="287338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29704" name="Oval 11"/>
          <p:cNvSpPr/>
          <p:nvPr/>
        </p:nvSpPr>
        <p:spPr>
          <a:xfrm>
            <a:off x="7019925" y="4437063"/>
            <a:ext cx="1441450" cy="287337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29705" name="Oval 6"/>
          <p:cNvSpPr/>
          <p:nvPr/>
        </p:nvSpPr>
        <p:spPr>
          <a:xfrm>
            <a:off x="6732588" y="2349500"/>
            <a:ext cx="1441450" cy="287338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30721"/>
          <p:cNvSpPr>
            <a:spLocks noGrp="1"/>
          </p:cNvSpPr>
          <p:nvPr>
            <p:ph type="title"/>
          </p:nvPr>
        </p:nvSpPr>
        <p:spPr>
          <a:xfrm>
            <a:off x="1371600" y="0"/>
            <a:ext cx="4419600" cy="755650"/>
          </a:xfrm>
        </p:spPr>
        <p:txBody>
          <a:bodyPr anchor="ctr" anchorCtr="0"/>
          <a:p>
            <a:r>
              <a:rPr lang="zh-CN" altLang="en-US"/>
              <a:t>元器件类型和关键字</a:t>
            </a:r>
            <a:endParaRPr lang="zh-CN" altLang="en-US"/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2774950" y="3149600"/>
            <a:ext cx="3760788" cy="603250"/>
          </a:xfrm>
        </p:spPr>
        <p:txBody>
          <a:bodyPr wrap="square"/>
          <a:p>
            <a:pPr>
              <a:buNone/>
            </a:pPr>
            <a:r>
              <a:rPr lang="zh-CN" altLang="en-US"/>
              <a:t>元器件类型和关键字</a:t>
            </a:r>
            <a:endParaRPr lang="zh-CN" altLang="en-US"/>
          </a:p>
        </p:txBody>
      </p:sp>
      <p:graphicFrame>
        <p:nvGraphicFramePr>
          <p:cNvPr id="30724" name="对象 30723"/>
          <p:cNvGraphicFramePr>
            <a:graphicFrameLocks noChangeAspect="1"/>
          </p:cNvGraphicFramePr>
          <p:nvPr/>
        </p:nvGraphicFramePr>
        <p:xfrm>
          <a:off x="257175" y="762000"/>
          <a:ext cx="8658225" cy="558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7867650" imgH="5076825" progId="Paint.Picture">
                  <p:embed/>
                </p:oleObj>
              </mc:Choice>
              <mc:Fallback>
                <p:oleObj name="" r:id="rId1" imgW="7867650" imgH="5076825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175" y="762000"/>
                        <a:ext cx="8658225" cy="558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1371600" y="381000"/>
            <a:ext cx="5486400" cy="588963"/>
          </a:xfrm>
        </p:spPr>
        <p:txBody>
          <a:bodyPr vert="horz" wrap="square" anchor="b" anchorCtr="0">
            <a:spAutoFit/>
          </a:bodyPr>
          <a:p>
            <a:pPr eaLnBrk="1" hangingPunct="1"/>
            <a:r>
              <a:rPr lang="zh-CN" altLang="en-US" sz="3200"/>
              <a:t>常用元器件类型和关键字</a:t>
            </a:r>
            <a:endParaRPr lang="zh-CN" altLang="en-US" sz="3200"/>
          </a:p>
        </p:txBody>
      </p:sp>
      <p:sp>
        <p:nvSpPr>
          <p:cNvPr id="31747" name="Rectangle 6"/>
          <p:cNvSpPr>
            <a:spLocks noGrp="1"/>
          </p:cNvSpPr>
          <p:nvPr>
            <p:ph type="body"/>
          </p:nvPr>
        </p:nvSpPr>
        <p:spPr>
          <a:xfrm>
            <a:off x="566738" y="1196975"/>
            <a:ext cx="8001000" cy="4822825"/>
          </a:xfrm>
        </p:spPr>
        <p:txBody>
          <a:bodyPr vert="horz" wrap="square" anchor="t" anchorCtr="0"/>
          <a:p>
            <a:pPr marL="469900" indent="-469900" eaLnBrk="1" hangingPunct="1"/>
            <a:r>
              <a:rPr lang="zh-CN" altLang="en-US" sz="2800" dirty="0"/>
              <a:t>电阻                  </a:t>
            </a:r>
            <a:r>
              <a:rPr lang="en-US" altLang="zh-CN" sz="2800" dirty="0"/>
              <a:t>R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电容                  </a:t>
            </a:r>
            <a:r>
              <a:rPr lang="en-US" altLang="zh-CN" sz="2800" dirty="0"/>
              <a:t>C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电感                  </a:t>
            </a:r>
            <a:r>
              <a:rPr lang="en-US" altLang="zh-CN" sz="2800" dirty="0"/>
              <a:t>L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三极管              </a:t>
            </a:r>
            <a:r>
              <a:rPr lang="en-US" altLang="zh-CN" sz="2800" dirty="0"/>
              <a:t>Q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二极管              </a:t>
            </a:r>
            <a:r>
              <a:rPr lang="en-US" altLang="zh-CN" sz="2800" dirty="0"/>
              <a:t>D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电位器              </a:t>
            </a:r>
            <a:r>
              <a:rPr lang="en-US" altLang="zh-CN" sz="2800" dirty="0"/>
              <a:t>POT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正弦信号源         </a:t>
            </a:r>
            <a:r>
              <a:rPr lang="en-US" altLang="zh-CN" sz="2800" dirty="0"/>
              <a:t>Vsin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直流源              </a:t>
            </a:r>
            <a:r>
              <a:rPr lang="en-US" altLang="zh-CN" sz="2800" dirty="0"/>
              <a:t>VDC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交流源               </a:t>
            </a:r>
            <a:r>
              <a:rPr lang="en-US" altLang="zh-CN" sz="2800" dirty="0"/>
              <a:t>VAC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539750" y="1233488"/>
            <a:ext cx="8001000" cy="755650"/>
          </a:xfrm>
        </p:spPr>
        <p:txBody>
          <a:bodyPr vert="horz" wrap="square" anchor="b" anchorCtr="0"/>
          <a:p>
            <a:pPr eaLnBrk="1" hangingPunct="1">
              <a:lnSpc>
                <a:spcPct val="115000"/>
              </a:lnSpc>
            </a:pPr>
            <a:r>
              <a:rPr lang="zh-CN" altLang="en-US" sz="2300" b="0" dirty="0">
                <a:solidFill>
                  <a:schemeClr val="tx1"/>
                </a:solidFill>
                <a:latin typeface="宋体" panose="02010600030101010101" pitchFamily="2" charset="-122"/>
              </a:rPr>
              <a:t>完成元器件库配置后，点击</a:t>
            </a:r>
            <a:r>
              <a:rPr lang="zh-CN" altLang="en-US" sz="2300" b="0" dirty="0">
                <a:solidFill>
                  <a:schemeClr val="tx1"/>
                </a:solidFill>
                <a:latin typeface="华文仿宋" panose="02010600040101010101" pitchFamily="2" charset="-122"/>
              </a:rPr>
              <a:t>“</a:t>
            </a:r>
            <a:r>
              <a:rPr lang="zh-CN" altLang="en-US" sz="2300" b="0" dirty="0">
                <a:solidFill>
                  <a:schemeClr val="tx1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sz="2300" b="0" dirty="0">
                <a:solidFill>
                  <a:schemeClr val="tx1"/>
                </a:solidFill>
                <a:latin typeface="华文仿宋" panose="02010600040101010101" pitchFamily="2" charset="-122"/>
              </a:rPr>
              <a:t>”</a:t>
            </a:r>
            <a:r>
              <a:rPr lang="zh-CN" altLang="en-US" sz="2300" b="0" dirty="0">
                <a:solidFill>
                  <a:schemeClr val="tx1"/>
                </a:solidFill>
                <a:latin typeface="宋体" panose="02010600030101010101" pitchFamily="2" charset="-122"/>
              </a:rPr>
              <a:t>按钮，屏幕上将出现电路图编辑窗口（</a:t>
            </a:r>
            <a:r>
              <a:rPr lang="en-US" altLang="zh-CN" sz="2300" b="0" dirty="0">
                <a:solidFill>
                  <a:schemeClr val="tx1"/>
                </a:solidFill>
                <a:latin typeface="宋体" panose="02010600030101010101" pitchFamily="2" charset="-122"/>
              </a:rPr>
              <a:t>Page Editor</a:t>
            </a:r>
            <a:r>
              <a:rPr lang="zh-CN" altLang="en-US" sz="2300" b="0" dirty="0">
                <a:solidFill>
                  <a:schemeClr val="tx1"/>
                </a:solidFill>
                <a:latin typeface="宋体" panose="02010600030101010101" pitchFamily="2" charset="-122"/>
              </a:rPr>
              <a:t>）。</a:t>
            </a:r>
            <a:endParaRPr lang="zh-CN" altLang="en-US" sz="23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32771" name="Picture 3"/>
          <p:cNvPicPr>
            <a:picLocks noGrp="1"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304800" y="2743200"/>
            <a:ext cx="4535488" cy="3617913"/>
          </a:xfrm>
        </p:spPr>
      </p:pic>
      <p:sp>
        <p:nvSpPr>
          <p:cNvPr id="32772" name="文本框 32771"/>
          <p:cNvSpPr txBox="1"/>
          <p:nvPr/>
        </p:nvSpPr>
        <p:spPr>
          <a:xfrm>
            <a:off x="1371600" y="304800"/>
            <a:ext cx="4114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99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取放元器件</a:t>
            </a:r>
            <a:endParaRPr lang="zh-CN" altLang="en-US" sz="3600" b="1" dirty="0">
              <a:solidFill>
                <a:srgbClr val="99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4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3773488"/>
            <a:ext cx="3830638" cy="3084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1371600" y="152400"/>
            <a:ext cx="6630988" cy="792163"/>
          </a:xfrm>
        </p:spPr>
        <p:txBody>
          <a:bodyPr vert="horz" wrap="square" anchor="b" anchorCtr="0"/>
          <a:p>
            <a:pPr eaLnBrk="1" hangingPunct="1"/>
            <a:r>
              <a:rPr lang="zh-CN" altLang="en-US"/>
              <a:t>添加元件步骤</a:t>
            </a:r>
            <a:endParaRPr lang="zh-CN" altLang="en-US"/>
          </a:p>
        </p:txBody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>
          <a:xfrm>
            <a:off x="533400" y="1066800"/>
            <a:ext cx="8610600" cy="2519363"/>
          </a:xfrm>
        </p:spPr>
        <p:txBody>
          <a:bodyPr vert="horz" wrap="square" anchor="t" anchorCtr="0"/>
          <a:p>
            <a:pPr marL="469900" indent="-469900" eaLnBrk="1" hangingPunct="1">
              <a:lnSpc>
                <a:spcPct val="131000"/>
              </a:lnSpc>
              <a:buClrTx/>
              <a:buFontTx/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）在电路图编辑窗口下，启动</a:t>
            </a:r>
            <a:r>
              <a:rPr lang="en-US" altLang="zh-CN" sz="2000" b="1" dirty="0">
                <a:solidFill>
                  <a:srgbClr val="FF0000"/>
                </a:solidFill>
              </a:rPr>
              <a:t>Place/Part</a:t>
            </a:r>
            <a:r>
              <a:rPr lang="zh-CN" altLang="en-US" sz="2000" b="1" dirty="0"/>
              <a:t>命令，或按窗口右侧对应的绘图工具快捷键，幕上出现元器件符号选择框。</a:t>
            </a:r>
            <a:endParaRPr lang="zh-CN" altLang="en-US" sz="2000" b="1" dirty="0"/>
          </a:p>
          <a:p>
            <a:pPr marL="469900" indent="-469900" eaLnBrk="1" hangingPunct="1">
              <a:lnSpc>
                <a:spcPct val="131000"/>
              </a:lnSpc>
              <a:buClrTx/>
              <a:buFontTx/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 在列表框里点击所需元器件所在的符号库名。</a:t>
            </a:r>
            <a:endParaRPr lang="zh-CN" altLang="en-US" sz="2000" b="1" dirty="0"/>
          </a:p>
          <a:p>
            <a:pPr marL="469900" indent="-469900" eaLnBrk="1" hangingPunct="1">
              <a:lnSpc>
                <a:spcPct val="131000"/>
              </a:lnSpc>
              <a:buClrTx/>
              <a:buFontTx/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）在图</a:t>
            </a:r>
            <a:r>
              <a:rPr lang="en-US" altLang="zh-CN" sz="2000" b="1" dirty="0"/>
              <a:t>2.2.7</a:t>
            </a:r>
            <a:r>
              <a:rPr lang="zh-CN" altLang="en-US" sz="2000" b="1" dirty="0"/>
              <a:t>的元器件列表框中通过右侧滚动条找到所需元器件符号名，点击之，该符号的图形即显示在预览框中。</a:t>
            </a:r>
            <a:endParaRPr lang="zh-CN" altLang="en-US" sz="2000" b="1" dirty="0"/>
          </a:p>
          <a:p>
            <a:pPr marL="469900" indent="-469900" eaLnBrk="1" hangingPunct="1">
              <a:lnSpc>
                <a:spcPct val="131000"/>
              </a:lnSpc>
              <a:buClrTx/>
              <a:buFontTx/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）点击</a:t>
            </a:r>
            <a:r>
              <a:rPr lang="en-US" altLang="zh-CN" sz="2000" b="1" dirty="0"/>
              <a:t>OK</a:t>
            </a:r>
            <a:r>
              <a:rPr lang="zh-CN" altLang="en-US" sz="2000" b="1" dirty="0"/>
              <a:t>键，该元器件即被调至电路图中</a:t>
            </a:r>
            <a:endParaRPr lang="en-US" altLang="zh-CN" sz="2400" dirty="0"/>
          </a:p>
        </p:txBody>
      </p:sp>
      <p:sp>
        <p:nvSpPr>
          <p:cNvPr id="33797" name="Line 5"/>
          <p:cNvSpPr/>
          <p:nvPr/>
        </p:nvSpPr>
        <p:spPr>
          <a:xfrm>
            <a:off x="3154363" y="6203950"/>
            <a:ext cx="639762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8" name="Line 7"/>
          <p:cNvSpPr/>
          <p:nvPr/>
        </p:nvSpPr>
        <p:spPr>
          <a:xfrm>
            <a:off x="3154363" y="5089525"/>
            <a:ext cx="639762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9" name="AutoShape 8"/>
          <p:cNvSpPr/>
          <p:nvPr/>
        </p:nvSpPr>
        <p:spPr>
          <a:xfrm>
            <a:off x="457200" y="4191000"/>
            <a:ext cx="2547938" cy="865188"/>
          </a:xfrm>
          <a:prstGeom prst="wedgeRectCallout">
            <a:avLst>
              <a:gd name="adj1" fmla="val 88444"/>
              <a:gd name="adj2" fmla="val -23759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也可以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Part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框中健入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2" charset="0"/>
              </a:rPr>
              <a:t>器件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800" name="AutoShape 9"/>
          <p:cNvSpPr/>
          <p:nvPr/>
        </p:nvSpPr>
        <p:spPr>
          <a:xfrm>
            <a:off x="6934200" y="6013450"/>
            <a:ext cx="1862138" cy="844550"/>
          </a:xfrm>
          <a:prstGeom prst="wedgeRectCallout">
            <a:avLst>
              <a:gd name="adj1" fmla="val -47782"/>
              <a:gd name="adj2" fmla="val -134773"/>
            </a:avLst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还可以搜索所需器件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3801" name="Line 6"/>
          <p:cNvSpPr/>
          <p:nvPr/>
        </p:nvSpPr>
        <p:spPr>
          <a:xfrm flipH="1">
            <a:off x="7019925" y="3789363"/>
            <a:ext cx="757238" cy="2857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animBg="1"/>
      <p:bldP spid="338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1600200" y="228600"/>
            <a:ext cx="4876800" cy="769938"/>
          </a:xfrm>
        </p:spPr>
        <p:txBody>
          <a:bodyPr anchor="ctr" anchorCtr="0"/>
          <a:p>
            <a:r>
              <a:rPr lang="zh-CN" altLang="en-US"/>
              <a:t>元件移动、旋转和删除</a:t>
            </a:r>
            <a:endParaRPr lang="zh-CN" altLang="en-US"/>
          </a:p>
        </p:txBody>
      </p:sp>
      <p:sp>
        <p:nvSpPr>
          <p:cNvPr id="34819" name="文本占位符 34818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97888" cy="4267200"/>
          </a:xfrm>
        </p:spPr>
        <p:txBody>
          <a:bodyPr/>
          <a:p>
            <a:pPr algn="just">
              <a:buNone/>
            </a:pPr>
            <a:r>
              <a:rPr lang="zh-CN" altLang="en-US" b="1" dirty="0"/>
              <a:t> </a:t>
            </a:r>
            <a:r>
              <a:rPr lang="zh-CN" altLang="en-US" b="1" dirty="0">
                <a:solidFill>
                  <a:schemeClr val="tx2"/>
                </a:solidFill>
              </a:rPr>
              <a:t>选中元器件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algn="just">
              <a:buNone/>
            </a:pPr>
            <a:r>
              <a:rPr lang="zh-CN" altLang="en-US" sz="2800" b="1" dirty="0"/>
              <a:t>	            用鼠标左键单击，此时元器件变为红色</a:t>
            </a:r>
            <a:endParaRPr lang="zh-CN" altLang="en-US" sz="2800" b="1" dirty="0"/>
          </a:p>
          <a:p>
            <a:pPr algn="just"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移动</a:t>
            </a:r>
            <a:r>
              <a:rPr lang="zh-CN" altLang="en-US" b="1" dirty="0"/>
              <a:t>：</a:t>
            </a:r>
            <a:r>
              <a:rPr lang="zh-CN" altLang="en-US" sz="2800" b="1" dirty="0"/>
              <a:t>压住鼠标左键拖到合适位置，松开鼠标左键</a:t>
            </a:r>
            <a:endParaRPr lang="zh-CN" altLang="en-US" b="1" dirty="0"/>
          </a:p>
          <a:p>
            <a:pPr algn="just">
              <a:buNone/>
            </a:pPr>
            <a:r>
              <a:rPr lang="zh-CN" altLang="en-US" b="1" dirty="0"/>
              <a:t> </a:t>
            </a:r>
            <a:r>
              <a:rPr lang="zh-CN" altLang="en-US" b="1" dirty="0">
                <a:solidFill>
                  <a:schemeClr val="tx2"/>
                </a:solidFill>
              </a:rPr>
              <a:t>旋转</a:t>
            </a:r>
            <a:r>
              <a:rPr lang="zh-CN" altLang="en-US" b="1" dirty="0"/>
              <a:t>：</a:t>
            </a:r>
            <a:r>
              <a:rPr lang="zh-CN" altLang="en-US" sz="2800" b="1" dirty="0"/>
              <a:t>菜单</a:t>
            </a:r>
            <a:r>
              <a:rPr lang="en-US" altLang="zh-CN" sz="2800" b="1" dirty="0"/>
              <a:t>Edit/Rotate</a:t>
            </a:r>
            <a:r>
              <a:rPr lang="zh-CN" altLang="en-US" sz="2800" b="1" dirty="0"/>
              <a:t>（或快捷键</a:t>
            </a:r>
            <a:r>
              <a:rPr lang="en-US" altLang="zh-CN" sz="2800" b="1" dirty="0"/>
              <a:t>Ctrl+R</a:t>
            </a:r>
            <a:r>
              <a:rPr lang="zh-CN" altLang="en-US" sz="2800" b="1" dirty="0"/>
              <a:t>）</a:t>
            </a:r>
            <a:endParaRPr lang="zh-CN" altLang="en-US" b="1" dirty="0"/>
          </a:p>
          <a:p>
            <a:pPr algn="just">
              <a:buNone/>
            </a:pPr>
            <a:r>
              <a:rPr lang="zh-CN" altLang="en-US" b="1" dirty="0"/>
              <a:t> </a:t>
            </a:r>
            <a:r>
              <a:rPr lang="zh-CN" altLang="en-US" b="1" dirty="0">
                <a:solidFill>
                  <a:schemeClr val="tx2"/>
                </a:solidFill>
              </a:rPr>
              <a:t>翻转</a:t>
            </a:r>
            <a:r>
              <a:rPr lang="zh-CN" altLang="en-US" b="1" dirty="0"/>
              <a:t>：</a:t>
            </a:r>
            <a:r>
              <a:rPr lang="zh-CN" altLang="en-US" sz="2800" b="1" dirty="0"/>
              <a:t>菜单</a:t>
            </a:r>
            <a:r>
              <a:rPr lang="en-US" altLang="zh-CN" sz="2800" b="1" dirty="0"/>
              <a:t>Edit/mirror</a:t>
            </a:r>
            <a:endParaRPr lang="en-US" altLang="zh-CN" sz="2800" b="1" dirty="0"/>
          </a:p>
          <a:p>
            <a:pPr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删除</a:t>
            </a:r>
            <a:r>
              <a:rPr lang="zh-CN" altLang="en-US" b="1" dirty="0"/>
              <a:t>：</a:t>
            </a:r>
            <a:r>
              <a:rPr lang="zh-CN" altLang="en-US" sz="2800" b="1" dirty="0"/>
              <a:t>选择菜单</a:t>
            </a:r>
            <a:r>
              <a:rPr lang="en-US" altLang="zh-CN" sz="2800" b="1" dirty="0"/>
              <a:t>Edit/cut </a:t>
            </a:r>
            <a:r>
              <a:rPr lang="zh-CN" altLang="en-US" sz="2800" b="1" dirty="0"/>
              <a:t>；或按键</a:t>
            </a:r>
            <a:r>
              <a:rPr lang="en-US" altLang="zh-CN" sz="2800" b="1" dirty="0"/>
              <a:t>Delete</a:t>
            </a:r>
            <a:endParaRPr lang="en-US" altLang="zh-CN" sz="2800" b="1" dirty="0"/>
          </a:p>
          <a:p>
            <a:pPr algn="just">
              <a:buNone/>
            </a:pPr>
            <a:r>
              <a:rPr lang="zh-CN" altLang="en-US" sz="2800" b="1" dirty="0"/>
              <a:t>使用鼠标右键，可快捷选择以上操作</a:t>
            </a:r>
            <a:endParaRPr lang="zh-CN" altLang="en-US" sz="2800" b="1" dirty="0"/>
          </a:p>
        </p:txBody>
      </p:sp>
    </p:spTree>
  </p:cSld>
  <p:clrMapOvr>
    <a:masterClrMapping/>
  </p:clrMapOvr>
  <p:transition>
    <p:zoom dir="in"/>
    <p:sndAc>
      <p:stSnd>
        <p:snd r:embed="rId1" name="projctor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>
                <a:cs typeface="Times New Roman" panose="02020603050405020304" pitchFamily="2" charset="0"/>
              </a:rPr>
              <a:t>取放电源与接地符号</a:t>
            </a:r>
            <a:endParaRPr lang="zh-CN" altLang="en-US">
              <a:ea typeface="Times New Roman" panose="02020603050405020304" pitchFamily="2" charset="0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type="body"/>
          </p:nvPr>
        </p:nvSpPr>
        <p:spPr>
          <a:xfrm>
            <a:off x="611188" y="1268413"/>
            <a:ext cx="8001000" cy="1746250"/>
          </a:xfrm>
        </p:spPr>
        <p:txBody>
          <a:bodyPr vert="horz" wrap="square" anchor="t" anchorCtr="0"/>
          <a:p>
            <a:pPr marL="469900" indent="-469900" eaLnBrk="1" hangingPunct="1"/>
            <a:r>
              <a:rPr lang="zh-CN" altLang="en-US" sz="2000" b="1" dirty="0">
                <a:latin typeface="宋体" panose="0201060003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楷体_GB2312" pitchFamily="1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楷体_GB2312" pitchFamily="1" charset="-122"/>
              </a:rPr>
              <a:t>）取放电源符号</a:t>
            </a:r>
            <a:br>
              <a:rPr lang="zh-CN" altLang="en-US" sz="2000" b="1" dirty="0">
                <a:latin typeface="宋体" panose="02010600030101010101" pitchFamily="2" charset="-122"/>
                <a:ea typeface="楷体_GB2312" pitchFamily="1" charset="-122"/>
              </a:rPr>
            </a:br>
            <a:r>
              <a:rPr lang="zh-CN" altLang="en-US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   可同取放元器件一样，在</a:t>
            </a:r>
            <a:r>
              <a:rPr lang="en-US" altLang="zh-CN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SOURCE</a:t>
            </a:r>
            <a:r>
              <a:rPr lang="zh-CN" altLang="en-US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库中取电压源或电流源。</a:t>
            </a:r>
            <a:endParaRPr lang="zh-CN" altLang="en-US" sz="2000" b="1" dirty="0"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marL="469900" indent="-469900" eaLnBrk="1" hangingPunct="1"/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楷体_GB2312" pitchFamily="1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楷体_GB2312" pitchFamily="1" charset="-122"/>
              </a:rPr>
              <a:t>）取放接地符号</a:t>
            </a:r>
            <a:br>
              <a:rPr lang="zh-CN" altLang="en-US" sz="2000" b="1" dirty="0">
                <a:latin typeface="宋体" panose="02010600030101010101" pitchFamily="2" charset="-122"/>
                <a:ea typeface="楷体_GB2312" pitchFamily="1" charset="-122"/>
              </a:rPr>
            </a:br>
            <a:r>
              <a:rPr lang="zh-CN" altLang="en-US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  启动</a:t>
            </a:r>
            <a:r>
              <a:rPr lang="en-US" altLang="zh-CN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Place/Groud</a:t>
            </a:r>
            <a:r>
              <a:rPr lang="zh-CN" altLang="en-US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，或按对应的绘图快捷键     ，出现如图所示的选择框。在</a:t>
            </a:r>
            <a:r>
              <a:rPr lang="en-US" altLang="zh-CN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SOURCE</a:t>
            </a:r>
            <a:r>
              <a:rPr lang="zh-CN" altLang="en-US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库中取</a:t>
            </a:r>
            <a:r>
              <a:rPr lang="zh-CN" altLang="en-US" sz="20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“</a:t>
            </a:r>
            <a:r>
              <a:rPr lang="en-US" altLang="zh-CN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0</a:t>
            </a:r>
            <a:r>
              <a:rPr lang="en-US" altLang="zh-CN" sz="20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”</a:t>
            </a:r>
            <a:r>
              <a:rPr lang="zh-CN" altLang="en-US" sz="2000" b="1" dirty="0">
                <a:latin typeface="宋体" panose="02010600030101010101" pitchFamily="2" charset="-122"/>
                <a:cs typeface="Times New Roman" panose="02020603050405020304" pitchFamily="2" charset="0"/>
              </a:rPr>
              <a:t>符号。</a:t>
            </a:r>
            <a:endParaRPr lang="zh-CN" altLang="en-US" sz="2000" b="1" dirty="0">
              <a:latin typeface="宋体" panose="02010600030101010101" pitchFamily="2" charset="-122"/>
              <a:ea typeface="Times New Roman" panose="02020603050405020304" pitchFamily="2" charset="0"/>
            </a:endParaRPr>
          </a:p>
        </p:txBody>
      </p:sp>
      <p:pic>
        <p:nvPicPr>
          <p:cNvPr id="3584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3357563"/>
            <a:ext cx="4333875" cy="2752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863" y="2205038"/>
            <a:ext cx="536575" cy="471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68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元器件属性参数编辑</a:t>
            </a:r>
            <a:endParaRPr lang="zh-CN" altLang="en-US"/>
          </a:p>
        </p:txBody>
      </p:sp>
      <p:sp>
        <p:nvSpPr>
          <p:cNvPr id="36867" name="文本占位符 36866"/>
          <p:cNvSpPr>
            <a:spLocks noGrp="1"/>
          </p:cNvSpPr>
          <p:nvPr>
            <p:ph type="body" idx="1"/>
          </p:nvPr>
        </p:nvSpPr>
        <p:spPr>
          <a:xfrm>
            <a:off x="611188" y="1268413"/>
            <a:ext cx="8001000" cy="4968875"/>
          </a:xfrm>
        </p:spPr>
        <p:txBody>
          <a:bodyPr vert="horz" wrap="square" anchor="t" anchorCtr="0"/>
          <a:p>
            <a:pPr eaLnBrk="1" hangingPunct="1">
              <a:lnSpc>
                <a:spcPct val="80000"/>
              </a:lnSpc>
            </a:pPr>
            <a:r>
              <a:rPr lang="en-US" altLang="zh-CN" sz="2900" dirty="0">
                <a:latin typeface="华文仿宋" panose="02010600040101010101" pitchFamily="2" charset="-122"/>
              </a:rPr>
              <a:t>Capture</a:t>
            </a:r>
            <a:r>
              <a:rPr lang="zh-CN" altLang="en-US" sz="2900" dirty="0">
                <a:latin typeface="华文仿宋" panose="02010600040101010101" pitchFamily="2" charset="-122"/>
              </a:rPr>
              <a:t>自动为每个元器件设置一个元件名和参数值，元器件属性参数设置不符合要求时，可对元器件参数进行编辑</a:t>
            </a:r>
            <a:endParaRPr lang="zh-CN" altLang="en-US" sz="2900" dirty="0">
              <a:latin typeface="华文仿宋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900" dirty="0">
              <a:latin typeface="华文仿宋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(1).</a:t>
            </a:r>
            <a:r>
              <a:rPr lang="zh-CN" altLang="en-US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元器件群的</a:t>
            </a:r>
            <a:r>
              <a:rPr lang="zh-CN" altLang="en-US" sz="2600" b="1" dirty="0">
                <a:latin typeface="华文仿宋" panose="02010600040101010101" pitchFamily="2" charset="-122"/>
              </a:rPr>
              <a:t>参数</a:t>
            </a:r>
            <a:r>
              <a:rPr lang="zh-CN" altLang="en-US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编辑</a:t>
            </a:r>
            <a:r>
              <a:rPr lang="zh-CN" altLang="en-US" sz="2600" b="1" dirty="0">
                <a:latin typeface="华文仿宋" panose="02010600040101010101" pitchFamily="2" charset="-122"/>
              </a:rPr>
              <a:t>。</a:t>
            </a:r>
            <a:r>
              <a:rPr lang="zh-CN" altLang="en-US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选中所有要编辑的元器件。然后</a:t>
            </a:r>
            <a:r>
              <a:rPr lang="zh-CN" altLang="en-US" sz="2600" b="1" dirty="0">
                <a:solidFill>
                  <a:srgbClr val="0066FF"/>
                </a:solidFill>
                <a:latin typeface="华文仿宋" panose="02010600040101010101" pitchFamily="2" charset="-122"/>
                <a:cs typeface="Times New Roman" panose="02020603050405020304" pitchFamily="2" charset="0"/>
              </a:rPr>
              <a:t>点击鼠标右键</a:t>
            </a:r>
            <a:r>
              <a:rPr lang="zh-CN" altLang="en-US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，调出快捷菜单，选择执行</a:t>
            </a:r>
            <a:r>
              <a:rPr lang="en-US" altLang="zh-CN" sz="2600" b="1" dirty="0">
                <a:solidFill>
                  <a:srgbClr val="0066FF"/>
                </a:solidFill>
                <a:latin typeface="华文仿宋" panose="02010600040101010101" pitchFamily="2" charset="-122"/>
                <a:cs typeface="Times New Roman" panose="02020603050405020304" pitchFamily="2" charset="0"/>
              </a:rPr>
              <a:t>Edit Properties</a:t>
            </a:r>
            <a:r>
              <a:rPr lang="en-US" altLang="zh-CN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 </a:t>
            </a:r>
            <a:r>
              <a:rPr lang="zh-CN" altLang="en-US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命令，即可开启该元器件群的属性编辑对话框，点击对话框左下方的</a:t>
            </a:r>
            <a:r>
              <a:rPr lang="en-US" altLang="zh-CN" sz="2600" b="1" dirty="0">
                <a:latin typeface="华文仿宋" panose="02010600040101010101" pitchFamily="2" charset="-122"/>
              </a:rPr>
              <a:t>Part</a:t>
            </a:r>
            <a:r>
              <a:rPr lang="zh-CN" altLang="en-US" sz="2600" b="1" dirty="0">
                <a:latin typeface="华文仿宋" panose="02010600040101010101" pitchFamily="2" charset="-122"/>
                <a:cs typeface="Times New Roman" panose="02020603050405020304" pitchFamily="2" charset="0"/>
              </a:rPr>
              <a:t>按钮，便可更改各元器件的名称和参数</a:t>
            </a:r>
            <a:r>
              <a:rPr lang="zh-CN" altLang="en-US" sz="2600" b="1" dirty="0">
                <a:latin typeface="华文仿宋" panose="02010600040101010101" pitchFamily="2" charset="-122"/>
              </a:rPr>
              <a:t>。</a:t>
            </a:r>
            <a:endParaRPr lang="zh-CN" altLang="en-US" sz="2600" b="1" dirty="0">
              <a:latin typeface="华文仿宋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endParaRPr lang="zh-CN" altLang="en-US" sz="2600" b="1" dirty="0">
              <a:latin typeface="华文仿宋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600" b="1" dirty="0">
                <a:latin typeface="华文仿宋" panose="02010600040101010101" pitchFamily="2" charset="-122"/>
              </a:rPr>
              <a:t>(2).</a:t>
            </a:r>
            <a:r>
              <a:rPr lang="zh-CN" altLang="en-US" sz="2600" b="1" dirty="0">
                <a:latin typeface="华文仿宋" panose="02010600040101010101" pitchFamily="2" charset="-122"/>
              </a:rPr>
              <a:t>单个元件的参数编辑。</a:t>
            </a:r>
            <a:r>
              <a:rPr lang="zh-CN" altLang="en-US" sz="2600" b="1" dirty="0">
                <a:solidFill>
                  <a:srgbClr val="0066FF"/>
                </a:solidFill>
                <a:latin typeface="华文仿宋" panose="02010600040101010101" pitchFamily="2" charset="-122"/>
              </a:rPr>
              <a:t>双击该元件（或双击该参数）</a:t>
            </a:r>
            <a:r>
              <a:rPr lang="zh-CN" altLang="en-US" sz="2600" b="1" dirty="0">
                <a:latin typeface="华文仿宋" panose="02010600040101010101" pitchFamily="2" charset="-122"/>
              </a:rPr>
              <a:t>，即出现对话框。在</a:t>
            </a:r>
            <a:r>
              <a:rPr lang="en-US" altLang="zh-CN" sz="2600" b="1" dirty="0">
                <a:latin typeface="华文仿宋" panose="02010600040101010101" pitchFamily="2" charset="-122"/>
              </a:rPr>
              <a:t>Value</a:t>
            </a:r>
            <a:r>
              <a:rPr lang="zh-CN" altLang="en-US" sz="2600" b="1" dirty="0">
                <a:latin typeface="华文仿宋" panose="02010600040101010101" pitchFamily="2" charset="-122"/>
              </a:rPr>
              <a:t>文本框中键入新值即可。同时可以修改该元件电路图中的显示格式（</a:t>
            </a:r>
            <a:r>
              <a:rPr lang="en-US" altLang="zh-CN" sz="2600" b="1" dirty="0">
                <a:latin typeface="华文仿宋" panose="02010600040101010101" pitchFamily="2" charset="-122"/>
              </a:rPr>
              <a:t>Display Format</a:t>
            </a:r>
            <a:r>
              <a:rPr lang="zh-CN" altLang="en-US" sz="2600" b="1" dirty="0">
                <a:latin typeface="华文仿宋" panose="02010600040101010101" pitchFamily="2" charset="-122"/>
              </a:rPr>
              <a:t>）、字体（</a:t>
            </a:r>
            <a:r>
              <a:rPr lang="en-US" altLang="zh-CN" sz="2600" b="1" dirty="0">
                <a:latin typeface="华文仿宋" panose="02010600040101010101" pitchFamily="2" charset="-122"/>
              </a:rPr>
              <a:t>Font</a:t>
            </a:r>
            <a:r>
              <a:rPr lang="zh-CN" altLang="en-US" sz="2600" b="1" dirty="0">
                <a:latin typeface="华文仿宋" panose="02010600040101010101" pitchFamily="2" charset="-122"/>
              </a:rPr>
              <a:t>）、颜色（</a:t>
            </a:r>
            <a:r>
              <a:rPr lang="en-US" altLang="zh-CN" sz="2600" b="1" dirty="0">
                <a:latin typeface="华文仿宋" panose="02010600040101010101" pitchFamily="2" charset="-122"/>
              </a:rPr>
              <a:t>Color</a:t>
            </a:r>
            <a:r>
              <a:rPr lang="zh-CN" altLang="en-US" sz="2600" b="1" dirty="0">
                <a:latin typeface="华文仿宋" panose="02010600040101010101" pitchFamily="2" charset="-122"/>
              </a:rPr>
              <a:t>）和放置位置（</a:t>
            </a:r>
            <a:r>
              <a:rPr lang="en-US" altLang="zh-CN" sz="2600" b="1" dirty="0">
                <a:latin typeface="华文仿宋" panose="02010600040101010101" pitchFamily="2" charset="-122"/>
              </a:rPr>
              <a:t>Rotation</a:t>
            </a:r>
            <a:r>
              <a:rPr lang="zh-CN" altLang="en-US" sz="2600" b="1" dirty="0">
                <a:latin typeface="华文仿宋" panose="02010600040101010101" pitchFamily="2" charset="-122"/>
              </a:rPr>
              <a:t>）等。</a:t>
            </a:r>
            <a:endParaRPr lang="zh-CN" altLang="en-US" sz="2600" b="1" dirty="0">
              <a:latin typeface="华文仿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/>
              <a:t>还可以只修改某项参数</a:t>
            </a:r>
            <a:endParaRPr lang="zh-CN" altLang="en-US"/>
          </a:p>
        </p:txBody>
      </p:sp>
      <p:graphicFrame>
        <p:nvGraphicFramePr>
          <p:cNvPr id="37891" name="Object 3"/>
          <p:cNvGraphicFramePr>
            <a:graphicFrameLocks noGrp="1" noChangeAspect="1"/>
          </p:cNvGraphicFramePr>
          <p:nvPr>
            <p:ph type="body"/>
          </p:nvPr>
        </p:nvGraphicFramePr>
        <p:xfrm>
          <a:off x="1752600" y="1219200"/>
          <a:ext cx="5568950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5501640" imgH="4335780" progId="Paint.Picture">
                  <p:embed/>
                </p:oleObj>
              </mc:Choice>
              <mc:Fallback>
                <p:oleObj name="" r:id="rId1" imgW="5501640" imgH="4335780" progId="Paint.Picture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219200"/>
                        <a:ext cx="5568950" cy="4968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Oval 4"/>
          <p:cNvSpPr/>
          <p:nvPr/>
        </p:nvSpPr>
        <p:spPr>
          <a:xfrm>
            <a:off x="5029200" y="2362200"/>
            <a:ext cx="555625" cy="407988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4441825" y="3895725"/>
          <a:ext cx="4506913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3627120" imgH="2385060" progId="Paint.Picture">
                  <p:embed/>
                </p:oleObj>
              </mc:Choice>
              <mc:Fallback>
                <p:oleObj name="" r:id="rId3" imgW="3627120" imgH="2385060" progId="Paint.Picture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1825" y="3895725"/>
                        <a:ext cx="4506913" cy="296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Line 6"/>
          <p:cNvSpPr/>
          <p:nvPr/>
        </p:nvSpPr>
        <p:spPr>
          <a:xfrm flipH="1">
            <a:off x="5453063" y="3168650"/>
            <a:ext cx="1454150" cy="1566863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5" name="Text Box 7"/>
          <p:cNvSpPr txBox="1"/>
          <p:nvPr/>
        </p:nvSpPr>
        <p:spPr>
          <a:xfrm>
            <a:off x="6907213" y="2711450"/>
            <a:ext cx="15668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键入参数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9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389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>
                <a:solidFill>
                  <a:srgbClr val="FF3300"/>
                </a:solidFill>
              </a:rPr>
              <a:t>特别注意：</a:t>
            </a:r>
            <a:endParaRPr lang="zh-CN" altLang="en-US">
              <a:solidFill>
                <a:srgbClr val="FF3300"/>
              </a:solidFill>
            </a:endParaRPr>
          </a:p>
        </p:txBody>
      </p:sp>
      <p:sp>
        <p:nvSpPr>
          <p:cNvPr id="38915" name="文本占位符 38914"/>
          <p:cNvSpPr>
            <a:spLocks noGrp="1"/>
          </p:cNvSpPr>
          <p:nvPr>
            <p:ph type="body" idx="1"/>
          </p:nvPr>
        </p:nvSpPr>
        <p:spPr>
          <a:xfrm>
            <a:off x="566738" y="1341438"/>
            <a:ext cx="8001000" cy="4678362"/>
          </a:xfrm>
        </p:spPr>
        <p:txBody>
          <a:bodyPr/>
          <a:p>
            <a:pPr algn="just">
              <a:buNone/>
            </a:pPr>
            <a:r>
              <a:rPr lang="en-US" altLang="zh-CN" sz="1800" b="1" dirty="0"/>
              <a:t>●</a:t>
            </a:r>
            <a:r>
              <a:rPr lang="zh-CN" altLang="en-US" sz="3600" b="1" dirty="0"/>
              <a:t>可变电阻</a:t>
            </a:r>
            <a:r>
              <a:rPr lang="en-US" altLang="zh-CN" sz="3600" b="1" dirty="0"/>
              <a:t>:  </a:t>
            </a:r>
            <a:r>
              <a:rPr lang="en-US" altLang="zh-CN" b="1" dirty="0"/>
              <a:t>VALUE=100K</a:t>
            </a:r>
            <a:r>
              <a:rPr lang="zh-CN" altLang="en-US" b="1" dirty="0"/>
              <a:t>，</a:t>
            </a:r>
            <a:r>
              <a:rPr lang="en-US" altLang="zh-CN" b="1" dirty="0"/>
              <a:t>SET=0.5</a:t>
            </a:r>
            <a:endParaRPr lang="en-US" altLang="zh-CN" b="1" dirty="0"/>
          </a:p>
          <a:p>
            <a:pPr algn="just">
              <a:buNone/>
            </a:pPr>
            <a:r>
              <a:rPr lang="en-US" altLang="zh-CN" sz="1800" b="1" dirty="0"/>
              <a:t>●</a:t>
            </a:r>
            <a:r>
              <a:rPr lang="en-US" altLang="zh-CN" sz="3600" b="1" dirty="0"/>
              <a:t> VSIN</a:t>
            </a:r>
            <a:r>
              <a:rPr lang="zh-CN" altLang="en-US" sz="3600" b="1" dirty="0"/>
              <a:t>信号源：</a:t>
            </a:r>
            <a:r>
              <a:rPr lang="en-US" altLang="zh-CN" b="1" dirty="0">
                <a:solidFill>
                  <a:srgbClr val="FF0000"/>
                </a:solidFill>
              </a:rPr>
              <a:t>AC=10mv</a:t>
            </a:r>
            <a:r>
              <a:rPr lang="zh-CN" altLang="en-US" b="1" dirty="0"/>
              <a:t>、</a:t>
            </a:r>
            <a:r>
              <a:rPr lang="en-US" altLang="zh-CN" b="1" dirty="0"/>
              <a:t>VOEF=0v</a:t>
            </a:r>
            <a:r>
              <a:rPr lang="zh-CN" altLang="en-US" b="1" dirty="0"/>
              <a:t>、</a:t>
            </a:r>
            <a:r>
              <a:rPr lang="en-US" altLang="zh-CN" b="1" dirty="0"/>
              <a:t>FREQ=1kHz</a:t>
            </a:r>
            <a:r>
              <a:rPr lang="zh-CN" altLang="en-US" b="1" dirty="0"/>
              <a:t>、</a:t>
            </a:r>
            <a:r>
              <a:rPr lang="en-US" altLang="zh-CN" b="1" dirty="0"/>
              <a:t>VAMPL=30mv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algn="just">
              <a:buNone/>
            </a:pPr>
            <a:r>
              <a:rPr lang="zh-CN" altLang="en-US" sz="1800" b="1" dirty="0"/>
              <a:t>●  </a:t>
            </a:r>
            <a:r>
              <a:rPr lang="zh-CN" altLang="en-US" sz="3600" b="1" dirty="0"/>
              <a:t>三极管参数</a:t>
            </a:r>
            <a:r>
              <a:rPr lang="zh-CN" altLang="en-US" sz="3600" b="1" dirty="0">
                <a:sym typeface="Symbol" panose="05050102010706020507" pitchFamily="2" charset="2"/>
              </a:rPr>
              <a:t>设置方法：</a:t>
            </a:r>
            <a:endParaRPr lang="zh-CN" altLang="en-US" sz="3600" b="1" dirty="0"/>
          </a:p>
          <a:p>
            <a:pPr algn="just">
              <a:buNone/>
            </a:pPr>
            <a:r>
              <a:rPr lang="zh-CN" altLang="en-US" b="1" dirty="0"/>
              <a:t>		选择菜单</a:t>
            </a:r>
            <a:r>
              <a:rPr lang="en-US" altLang="zh-CN" b="1" dirty="0"/>
              <a:t>Edit/Pspice Model </a:t>
            </a:r>
            <a:r>
              <a:rPr lang="zh-CN" altLang="en-US" b="1" dirty="0"/>
              <a:t>；</a:t>
            </a:r>
            <a:endParaRPr lang="zh-CN" altLang="en-US" b="1" dirty="0"/>
          </a:p>
          <a:p>
            <a:pPr algn="just">
              <a:buNone/>
            </a:pPr>
            <a:r>
              <a:rPr lang="zh-CN" altLang="en-US" b="1" dirty="0"/>
              <a:t>		改参数 </a:t>
            </a:r>
            <a:r>
              <a:rPr lang="en-US" altLang="zh-CN" b="1" dirty="0"/>
              <a:t>bf  </a:t>
            </a:r>
            <a:r>
              <a:rPr lang="zh-CN" altLang="en-US" b="1" dirty="0"/>
              <a:t>为</a:t>
            </a:r>
            <a:r>
              <a:rPr lang="en-US" altLang="zh-CN" b="1" dirty="0"/>
              <a:t>140</a:t>
            </a:r>
            <a:r>
              <a:rPr lang="zh-CN" altLang="en-US" b="1" dirty="0"/>
              <a:t>，保存。</a:t>
            </a:r>
            <a:endParaRPr lang="zh-CN" altLang="en-US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39937"/>
          <p:cNvSpPr>
            <a:spLocks noGrp="1"/>
          </p:cNvSpPr>
          <p:nvPr>
            <p:ph type="title"/>
          </p:nvPr>
        </p:nvSpPr>
        <p:spPr>
          <a:xfrm>
            <a:off x="1295400" y="152400"/>
            <a:ext cx="2209800" cy="755650"/>
          </a:xfrm>
        </p:spPr>
        <p:txBody>
          <a:bodyPr anchor="ctr" anchorCtr="0"/>
          <a:p>
            <a:r>
              <a:rPr lang="zh-CN" altLang="en-US"/>
              <a:t>模型参数</a:t>
            </a:r>
            <a:endParaRPr lang="zh-CN" altLang="en-US"/>
          </a:p>
        </p:txBody>
      </p:sp>
      <p:sp>
        <p:nvSpPr>
          <p:cNvPr id="39939" name="文本占位符 39938"/>
          <p:cNvSpPr>
            <a:spLocks noGrp="1"/>
          </p:cNvSpPr>
          <p:nvPr>
            <p:ph type="body" idx="1"/>
          </p:nvPr>
        </p:nvSpPr>
        <p:spPr>
          <a:xfrm>
            <a:off x="3765550" y="3870325"/>
            <a:ext cx="2984500" cy="1301750"/>
          </a:xfrm>
        </p:spPr>
        <p:txBody>
          <a:bodyPr wrap="square"/>
          <a:p>
            <a:pPr>
              <a:buNone/>
            </a:pPr>
            <a:r>
              <a:rPr lang="zh-CN" altLang="en-US"/>
              <a:t>模型参数 </a:t>
            </a:r>
            <a:endParaRPr lang="zh-CN" altLang="en-US"/>
          </a:p>
        </p:txBody>
      </p:sp>
      <p:graphicFrame>
        <p:nvGraphicFramePr>
          <p:cNvPr id="39940" name="对象 39939"/>
          <p:cNvGraphicFramePr>
            <a:graphicFrameLocks noChangeAspect="1"/>
          </p:cNvGraphicFramePr>
          <p:nvPr/>
        </p:nvGraphicFramePr>
        <p:xfrm>
          <a:off x="0" y="1125538"/>
          <a:ext cx="9144000" cy="573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8010525" imgH="4943475" progId="Paint.Picture">
                  <p:embed/>
                </p:oleObj>
              </mc:Choice>
              <mc:Fallback>
                <p:oleObj name="" r:id="rId1" imgW="8010525" imgH="4943475" progId="Paint.Picture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125538"/>
                        <a:ext cx="9144000" cy="573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椭圆 39940"/>
          <p:cNvSpPr/>
          <p:nvPr/>
        </p:nvSpPr>
        <p:spPr>
          <a:xfrm>
            <a:off x="1979613" y="3644900"/>
            <a:ext cx="609600" cy="2286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4096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1600200" cy="685800"/>
          </a:xfrm>
        </p:spPr>
        <p:txBody>
          <a:bodyPr anchor="ctr" anchorCtr="0"/>
          <a:p>
            <a:r>
              <a:rPr lang="zh-CN" altLang="en-US"/>
              <a:t>连线</a:t>
            </a:r>
            <a:endParaRPr lang="zh-CN" altLang="en-US"/>
          </a:p>
        </p:txBody>
      </p:sp>
      <p:sp>
        <p:nvSpPr>
          <p:cNvPr id="40963" name="文本占位符 40962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8650288" cy="3886200"/>
          </a:xfrm>
        </p:spPr>
        <p:txBody>
          <a:bodyPr/>
          <a:p>
            <a:pPr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	</a:t>
            </a:r>
            <a:r>
              <a:rPr lang="zh-CN" altLang="en-US" sz="3100" b="1" dirty="0">
                <a:solidFill>
                  <a:srgbClr val="0066FF"/>
                </a:solidFill>
              </a:rPr>
              <a:t>进入：</a:t>
            </a:r>
            <a:r>
              <a:rPr lang="zh-CN" altLang="en-US" sz="2700" b="1" dirty="0"/>
              <a:t>菜单</a:t>
            </a:r>
            <a:r>
              <a:rPr lang="en-US" altLang="zh-CN" sz="2700" b="1" dirty="0">
                <a:solidFill>
                  <a:srgbClr val="FF0000"/>
                </a:solidFill>
              </a:rPr>
              <a:t>Place/wire</a:t>
            </a:r>
            <a:r>
              <a:rPr lang="zh-CN" altLang="en-US" sz="2700" b="1" dirty="0"/>
              <a:t>或工具栏的</a:t>
            </a:r>
            <a:endParaRPr lang="zh-CN" altLang="en-US" sz="27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400" b="1" dirty="0"/>
              <a:t>	</a:t>
            </a:r>
            <a:r>
              <a:rPr lang="zh-CN" altLang="en-US" sz="3100" b="1" dirty="0">
                <a:solidFill>
                  <a:srgbClr val="0066FF"/>
                </a:solidFill>
              </a:rPr>
              <a:t>连线：</a:t>
            </a:r>
            <a:r>
              <a:rPr lang="zh-CN" altLang="en-US" sz="2900" b="1" dirty="0"/>
              <a:t>将光标移到需要连线的起点，单击左键（此时会拖着</a:t>
            </a:r>
            <a:r>
              <a:rPr lang="en-US" altLang="zh-CN" sz="2900" b="1" dirty="0"/>
              <a:t>1</a:t>
            </a:r>
            <a:r>
              <a:rPr lang="zh-CN" altLang="en-US" sz="2900" b="1" dirty="0"/>
              <a:t>根线）；移动鼠标到所需位置，单击左键，如此循环，直到连线的终点（某元件的引脚）。</a:t>
            </a:r>
            <a:endParaRPr lang="zh-CN" altLang="en-US" sz="2900" b="1" dirty="0"/>
          </a:p>
          <a:p>
            <a:pPr>
              <a:lnSpc>
                <a:spcPct val="90000"/>
              </a:lnSpc>
              <a:buNone/>
            </a:pPr>
            <a:r>
              <a:rPr lang="zh-CN" altLang="en-US" sz="2900" b="1" dirty="0">
                <a:solidFill>
                  <a:schemeClr val="tx2"/>
                </a:solidFill>
              </a:rPr>
              <a:t>   	</a:t>
            </a:r>
            <a:r>
              <a:rPr lang="zh-CN" altLang="en-US" sz="3100" b="1" dirty="0">
                <a:solidFill>
                  <a:srgbClr val="0066FF"/>
                </a:solidFill>
              </a:rPr>
              <a:t>结束：</a:t>
            </a:r>
            <a:r>
              <a:rPr lang="zh-CN" altLang="en-US" sz="2900" b="1" dirty="0"/>
              <a:t>单击鼠标右键结束 </a:t>
            </a:r>
            <a:endParaRPr lang="zh-CN" altLang="en-US" sz="2900" b="1" dirty="0"/>
          </a:p>
          <a:p>
            <a:pPr>
              <a:lnSpc>
                <a:spcPct val="90000"/>
              </a:lnSpc>
              <a:buNone/>
            </a:pPr>
            <a:r>
              <a:rPr lang="zh-CN" altLang="en-US" sz="2400" b="1" dirty="0"/>
              <a:t>   	</a:t>
            </a:r>
            <a:r>
              <a:rPr lang="zh-CN" altLang="en-US" sz="3100" b="1" dirty="0">
                <a:solidFill>
                  <a:srgbClr val="0066FF"/>
                </a:solidFill>
              </a:rPr>
              <a:t>移动、旋转和删除：</a:t>
            </a:r>
            <a:r>
              <a:rPr lang="zh-CN" altLang="en-US" sz="2900" b="1" dirty="0"/>
              <a:t>与元件操作相同</a:t>
            </a:r>
            <a:endParaRPr lang="zh-CN" altLang="en-US" sz="2900" b="1" dirty="0"/>
          </a:p>
          <a:p>
            <a:pPr>
              <a:lnSpc>
                <a:spcPct val="90000"/>
              </a:lnSpc>
              <a:buNone/>
            </a:pPr>
            <a:endParaRPr lang="zh-CN" altLang="en-US" sz="2900" b="1" dirty="0"/>
          </a:p>
          <a:p>
            <a:pPr>
              <a:lnSpc>
                <a:spcPct val="90000"/>
              </a:lnSpc>
              <a:buNone/>
            </a:pPr>
            <a:r>
              <a:rPr lang="zh-CN" altLang="en-US" sz="3400" b="1" dirty="0">
                <a:solidFill>
                  <a:srgbClr val="FF0000"/>
                </a:solidFill>
              </a:rPr>
              <a:t>橡皮筋功能；</a:t>
            </a:r>
            <a:endParaRPr lang="zh-CN" altLang="en-US" sz="3400" b="1" dirty="0">
              <a:solidFill>
                <a:srgbClr val="FF0000"/>
              </a:solidFill>
            </a:endParaRPr>
          </a:p>
        </p:txBody>
      </p:sp>
      <p:grpSp>
        <p:nvGrpSpPr>
          <p:cNvPr id="40964" name="组合 40963"/>
          <p:cNvGrpSpPr/>
          <p:nvPr/>
        </p:nvGrpSpPr>
        <p:grpSpPr>
          <a:xfrm>
            <a:off x="6300788" y="1484313"/>
            <a:ext cx="609600" cy="381000"/>
            <a:chOff x="0" y="0"/>
            <a:chExt cx="384" cy="240"/>
          </a:xfrm>
        </p:grpSpPr>
        <p:sp>
          <p:nvSpPr>
            <p:cNvPr id="40965" name="直接连接符 40964"/>
            <p:cNvSpPr/>
            <p:nvPr/>
          </p:nvSpPr>
          <p:spPr>
            <a:xfrm>
              <a:off x="0" y="0"/>
              <a:ext cx="19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6" name="直接连接符 40965"/>
            <p:cNvSpPr/>
            <p:nvPr/>
          </p:nvSpPr>
          <p:spPr>
            <a:xfrm>
              <a:off x="192" y="240"/>
              <a:ext cx="19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7" name="直接连接符 40966"/>
            <p:cNvSpPr/>
            <p:nvPr/>
          </p:nvSpPr>
          <p:spPr>
            <a:xfrm rot="16200000">
              <a:off x="72" y="120"/>
              <a:ext cx="24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zoom dir="in"/>
    <p:sndAc>
      <p:stSnd>
        <p:snd r:embed="rId1" name="projctor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/>
              <a:t>设置节点名</a:t>
            </a:r>
            <a:endParaRPr lang="zh-CN" altLang="en-US"/>
          </a:p>
        </p:txBody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xfrm>
            <a:off x="539750" y="1341438"/>
            <a:ext cx="8424863" cy="2449512"/>
          </a:xfrm>
        </p:spPr>
        <p:txBody>
          <a:bodyPr vert="horz" wrap="square" anchor="t" anchorCtr="0"/>
          <a:p>
            <a:pPr marL="908050" lvl="1" indent="-436245" eaLnBrk="1" hangingPunct="1">
              <a:lnSpc>
                <a:spcPct val="80000"/>
              </a:lnSpc>
            </a:pPr>
            <a:r>
              <a:rPr lang="zh-CN" altLang="en-US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①启动</a:t>
            </a:r>
            <a:r>
              <a:rPr lang="en-US" altLang="zh-CN" sz="30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Place/Net Alias</a:t>
            </a:r>
            <a:r>
              <a:rPr lang="zh-CN" altLang="en-US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命令，或按对应的绘图快捷键        ，屏幕上出现设置框。在设置框中键入节点名（例</a:t>
            </a:r>
            <a:r>
              <a:rPr lang="en-US" altLang="zh-CN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Out</a:t>
            </a:r>
            <a:r>
              <a:rPr lang="zh-CN" altLang="en-US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）。</a:t>
            </a:r>
            <a:endParaRPr lang="zh-CN" altLang="en-US" sz="3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0" lvl="1" indent="-436245" eaLnBrk="1" hangingPunct="1">
              <a:lnSpc>
                <a:spcPct val="80000"/>
              </a:lnSpc>
            </a:pPr>
            <a:r>
              <a:rPr lang="zh-CN" altLang="en-US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② 按</a:t>
            </a:r>
            <a:r>
              <a:rPr lang="en-US" altLang="zh-CN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OK</a:t>
            </a:r>
            <a:r>
              <a:rPr lang="zh-CN" altLang="en-US" sz="3000" dirty="0">
                <a:latin typeface="华文仿宋" panose="02010600040101010101" pitchFamily="2" charset="-122"/>
                <a:ea typeface="华文仿宋" panose="02010600040101010101" pitchFamily="2" charset="-122"/>
              </a:rPr>
              <a:t>键，则光标处 附着一个小方框，将光标移至设置节点名的位置，按鼠标左键，新节点名即出现在该位置。</a:t>
            </a:r>
            <a:endParaRPr lang="zh-CN" altLang="en-US" sz="3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4198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0563" y="3716338"/>
            <a:ext cx="3671887" cy="2879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752600"/>
            <a:ext cx="407988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3933825"/>
            <a:ext cx="4127500" cy="239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/>
          <p:nvPr/>
        </p:nvSpPr>
        <p:spPr>
          <a:xfrm>
            <a:off x="2295525" y="1966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0" y="971550"/>
          <a:ext cx="8859838" cy="569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172075" imgH="3324225" progId="Paint.Picture">
                  <p:embed/>
                </p:oleObj>
              </mc:Choice>
              <mc:Fallback>
                <p:oleObj name="" r:id="rId1" imgW="5172075" imgH="33242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0" y="971550"/>
                        <a:ext cx="8859838" cy="569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Oval 5"/>
          <p:cNvSpPr/>
          <p:nvPr/>
        </p:nvSpPr>
        <p:spPr>
          <a:xfrm>
            <a:off x="5795963" y="3379788"/>
            <a:ext cx="2695575" cy="1241425"/>
          </a:xfrm>
          <a:prstGeom prst="ellipse">
            <a:avLst/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43013" name="Rectangle 6"/>
          <p:cNvSpPr>
            <a:spLocks noGrp="1"/>
          </p:cNvSpPr>
          <p:nvPr>
            <p:ph type="title"/>
          </p:nvPr>
        </p:nvSpPr>
        <p:spPr>
          <a:xfrm>
            <a:off x="1447800" y="152400"/>
            <a:ext cx="2819400" cy="755650"/>
          </a:xfrm>
        </p:spPr>
        <p:txBody>
          <a:bodyPr vert="horz" wrap="square" anchor="b" anchorCtr="0"/>
          <a:p>
            <a:pPr eaLnBrk="1" hangingPunct="1"/>
            <a:r>
              <a:rPr lang="zh-CN" altLang="en-US"/>
              <a:t>绘图快捷键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标题 44033"/>
          <p:cNvSpPr>
            <a:spLocks noGrp="1"/>
          </p:cNvSpPr>
          <p:nvPr>
            <p:ph type="title"/>
          </p:nvPr>
        </p:nvSpPr>
        <p:spPr>
          <a:xfrm>
            <a:off x="2033588" y="115888"/>
            <a:ext cx="6034087" cy="692150"/>
          </a:xfrm>
        </p:spPr>
        <p:txBody>
          <a:bodyPr anchor="ctr" anchorCtr="0"/>
          <a:p>
            <a:r>
              <a:rPr lang="zh-CN" altLang="en-US" b="0"/>
              <a:t>保存和自动检查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4035" name="文本占位符 44034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029200"/>
          </a:xfrm>
        </p:spPr>
        <p:txBody>
          <a:bodyPr/>
          <a:p>
            <a:pPr algn="just"/>
            <a:r>
              <a:rPr lang="zh-CN" altLang="en-US" dirty="0"/>
              <a:t> </a:t>
            </a:r>
            <a:r>
              <a:rPr lang="zh-CN" altLang="en-US" b="1" dirty="0"/>
              <a:t>保存</a:t>
            </a:r>
            <a:endParaRPr lang="zh-CN" altLang="en-US" b="1" dirty="0"/>
          </a:p>
          <a:p>
            <a:pPr algn="just"/>
            <a:r>
              <a:rPr lang="zh-CN" altLang="en-US" b="1" dirty="0"/>
              <a:t> 进行电路规则检查、建立网表文件（*</a:t>
            </a:r>
            <a:r>
              <a:rPr lang="en-US" altLang="zh-CN" b="1" dirty="0"/>
              <a:t>.net</a:t>
            </a:r>
            <a:r>
              <a:rPr lang="zh-CN" altLang="en-US" b="1" dirty="0"/>
              <a:t>） ：</a:t>
            </a:r>
            <a:endParaRPr lang="zh-CN" altLang="en-US" b="1" dirty="0"/>
          </a:p>
          <a:p>
            <a:pPr lvl="1" algn="just">
              <a:buNone/>
            </a:pPr>
            <a:r>
              <a:rPr lang="zh-CN" altLang="en-US" b="1" dirty="0"/>
              <a:t>		</a:t>
            </a:r>
            <a:r>
              <a:rPr lang="en-US" altLang="zh-CN" b="1" dirty="0"/>
              <a:t>Pspice/Create netlist </a:t>
            </a:r>
            <a:endParaRPr lang="en-US" altLang="zh-CN" b="1" dirty="0"/>
          </a:p>
          <a:p>
            <a:pPr lvl="2" algn="just"/>
            <a:r>
              <a:rPr lang="zh-CN" altLang="en-US" b="1" dirty="0"/>
              <a:t>若有问题，屏幕会有指示</a:t>
            </a:r>
            <a:endParaRPr lang="zh-CN" altLang="en-US" b="1" dirty="0"/>
          </a:p>
          <a:p>
            <a:pPr lvl="2" algn="just"/>
            <a:r>
              <a:rPr lang="en-US" altLang="zh-CN" b="1" dirty="0"/>
              <a:t>Windows/Session Log</a:t>
            </a:r>
            <a:r>
              <a:rPr lang="zh-CN" altLang="en-US" b="1" dirty="0"/>
              <a:t>弹出错误提示窗口</a:t>
            </a:r>
            <a:endParaRPr lang="zh-CN" altLang="en-US" b="1" dirty="0"/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常见问题：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 algn="just"/>
            <a:r>
              <a:rPr lang="zh-CN" altLang="en-US" b="1" dirty="0"/>
              <a:t>元件重名</a:t>
            </a:r>
            <a:endParaRPr lang="zh-CN" altLang="en-US" b="1" dirty="0"/>
          </a:p>
          <a:p>
            <a:pPr lvl="1" algn="just"/>
            <a:r>
              <a:rPr lang="zh-CN" altLang="en-US" b="1" dirty="0"/>
              <a:t>非完整电路</a:t>
            </a:r>
            <a:endParaRPr lang="zh-CN" altLang="en-US" b="1" dirty="0"/>
          </a:p>
          <a:p>
            <a:pPr lvl="1" algn="just"/>
            <a:r>
              <a:rPr lang="zh-CN" altLang="en-US" b="1" dirty="0"/>
              <a:t>无参考点</a:t>
            </a:r>
            <a:endParaRPr lang="zh-CN" altLang="en-US" b="1" dirty="0"/>
          </a:p>
        </p:txBody>
      </p:sp>
    </p:spTree>
  </p:cSld>
  <p:clrMapOvr>
    <a:masterClrMapping/>
  </p:clrMapOvr>
  <p:transition>
    <p:zoom dir="in"/>
    <p:sndAc>
      <p:stSnd>
        <p:snd r:embed="rId1" name="projctor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ctrTitle"/>
          </p:nvPr>
        </p:nvSpPr>
        <p:spPr>
          <a:xfrm>
            <a:off x="1371600" y="228600"/>
            <a:ext cx="2743200" cy="720725"/>
          </a:xfrm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en-US" altLang="zh-CN" sz="3800" dirty="0"/>
              <a:t>Spice</a:t>
            </a:r>
            <a:r>
              <a:rPr lang="zh-CN" altLang="en-US" sz="3800" dirty="0"/>
              <a:t>仿真</a:t>
            </a:r>
            <a:endParaRPr lang="zh-CN" altLang="en-US" sz="3800" dirty="0"/>
          </a:p>
        </p:txBody>
      </p:sp>
      <p:sp>
        <p:nvSpPr>
          <p:cNvPr id="45059" name="Rectangle 3"/>
          <p:cNvSpPr>
            <a:spLocks noGrp="1"/>
          </p:cNvSpPr>
          <p:nvPr>
            <p:ph type="subTitle"/>
          </p:nvPr>
        </p:nvSpPr>
        <p:spPr>
          <a:xfrm>
            <a:off x="684213" y="1341438"/>
            <a:ext cx="8002587" cy="2884487"/>
          </a:xfrm>
        </p:spPr>
        <p:txBody>
          <a:bodyPr vert="horz" wrap="square" anchor="t" anchorCtr="0">
            <a:spAutoFit/>
          </a:bodyPr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3400" b="1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软件简介</a:t>
            </a:r>
            <a:endParaRPr lang="zh-CN" altLang="en-US" sz="3400" b="1" dirty="0">
              <a:latin typeface="楷体_GB2312" pitchFamily="1" charset="-122"/>
              <a:ea typeface="楷体_GB2312" pitchFamily="1" charset="-122"/>
            </a:endParaRPr>
          </a:p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 仿真步骤</a:t>
            </a:r>
            <a:endParaRPr lang="zh-CN" altLang="en-US" sz="3400" b="1" dirty="0">
              <a:latin typeface="楷体_GB2312" pitchFamily="1" charset="-122"/>
              <a:ea typeface="楷体_GB2312" pitchFamily="1" charset="-122"/>
            </a:endParaRPr>
          </a:p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34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放大电路各种性能指标的仿真方法</a:t>
            </a:r>
            <a:endParaRPr lang="zh-CN" altLang="en-US" sz="34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 实验内容</a:t>
            </a:r>
            <a:endParaRPr lang="zh-CN" altLang="en-US" sz="3400" b="1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1600200" y="76200"/>
            <a:ext cx="7315200" cy="579438"/>
          </a:xfrm>
        </p:spPr>
        <p:txBody>
          <a:bodyPr vert="horz" wrap="square" anchor="b" anchorCtr="0"/>
          <a:p>
            <a:pPr eaLnBrk="1" hangingPunct="1"/>
            <a:r>
              <a:rPr lang="en-US" altLang="zh-CN" sz="3200" dirty="0"/>
              <a:t>PSpice A/D</a:t>
            </a:r>
            <a:r>
              <a:rPr lang="zh-CN" altLang="en-US" sz="3200" dirty="0"/>
              <a:t>仿真功能简介</a:t>
            </a:r>
            <a:endParaRPr lang="zh-CN" altLang="en-US" sz="3200" dirty="0"/>
          </a:p>
        </p:txBody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>
          <a:xfrm>
            <a:off x="5619750" y="3679825"/>
            <a:ext cx="2743200" cy="1301750"/>
          </a:xfrm>
        </p:spPr>
        <p:txBody>
          <a:bodyPr vert="horz" wrap="square" anchor="t" anchorCtr="0"/>
          <a:p>
            <a:pPr marL="469900" indent="-469900" eaLnBrk="1" hangingPunct="1">
              <a:buNone/>
            </a:pPr>
            <a:r>
              <a:rPr lang="zh-CN" altLang="en-US"/>
              <a:t>仿真功能简介</a:t>
            </a:r>
            <a:endParaRPr lang="zh-CN" altLang="en-US"/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457200" y="690563"/>
          <a:ext cx="8382000" cy="616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781925" imgH="5724525" progId="Paint.Picture">
                  <p:embed/>
                </p:oleObj>
              </mc:Choice>
              <mc:Fallback>
                <p:oleObj name="" r:id="rId1" imgW="7781925" imgH="57245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690563"/>
                        <a:ext cx="8382000" cy="6167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1447800" y="228600"/>
            <a:ext cx="6630988" cy="792163"/>
          </a:xfrm>
        </p:spPr>
        <p:txBody>
          <a:bodyPr vert="horz" wrap="square" anchor="b" anchorCtr="0"/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3000" dirty="0">
                <a:solidFill>
                  <a:srgbClr val="CC0099"/>
                </a:solidFill>
                <a:latin typeface="宋体" panose="02010600030101010101" pitchFamily="2" charset="-122"/>
              </a:rPr>
              <a:t>Pspice</a:t>
            </a:r>
            <a:r>
              <a:rPr lang="zh-CN" altLang="en-US" sz="3000" dirty="0">
                <a:solidFill>
                  <a:srgbClr val="CC0099"/>
                </a:solidFill>
                <a:latin typeface="宋体" panose="02010600030101010101" pitchFamily="2" charset="-122"/>
              </a:rPr>
              <a:t>的基本电路特性分析</a:t>
            </a:r>
            <a:br>
              <a:rPr lang="zh-CN" altLang="en-US" sz="3000" dirty="0">
                <a:solidFill>
                  <a:srgbClr val="CC0099"/>
                </a:solidFill>
                <a:latin typeface="宋体" panose="02010600030101010101" pitchFamily="2" charset="-122"/>
              </a:rPr>
            </a:br>
            <a:r>
              <a:rPr lang="en-US" altLang="zh-CN" sz="3000" dirty="0">
                <a:solidFill>
                  <a:srgbClr val="CC0099"/>
                </a:solidFill>
                <a:latin typeface="宋体" panose="02010600030101010101" pitchFamily="2" charset="-122"/>
              </a:rPr>
              <a:t>--</a:t>
            </a:r>
            <a:r>
              <a:rPr lang="en-US" altLang="zh-CN" sz="3400" b="0" dirty="0">
                <a:ea typeface="黑体" panose="02010609060101010101" pitchFamily="2" charset="-122"/>
              </a:rPr>
              <a:t>1 </a:t>
            </a:r>
            <a:r>
              <a:rPr lang="en-US" altLang="zh-CN" sz="3400" b="0" dirty="0">
                <a:latin typeface="宋体" panose="02010600030101010101" pitchFamily="2" charset="-122"/>
                <a:ea typeface="黑体" panose="02010609060101010101" pitchFamily="2" charset="-122"/>
              </a:rPr>
              <a:t>. </a:t>
            </a:r>
            <a:r>
              <a:rPr lang="zh-CN" altLang="en-US" sz="3400" b="0" dirty="0">
                <a:latin typeface="宋体" panose="02010600030101010101" pitchFamily="2" charset="-122"/>
                <a:ea typeface="黑体" panose="02010609060101010101" pitchFamily="2" charset="-122"/>
              </a:rPr>
              <a:t>静态工作点分析</a:t>
            </a:r>
            <a:endParaRPr lang="zh-CN" altLang="en-US" sz="3400" b="0" dirty="0"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>
          <a:xfrm>
            <a:off x="533400" y="1143000"/>
            <a:ext cx="8001000" cy="4751388"/>
          </a:xfrm>
        </p:spPr>
        <p:txBody>
          <a:bodyPr vert="horz" wrap="square" anchor="t" anchorCtr="0"/>
          <a:p>
            <a:pPr marL="469900" indent="-469900" eaLnBrk="1" hangingPunct="1">
              <a:lnSpc>
                <a:spcPct val="12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静态工作点分析就是将电路中的电容开路，电感短路，对各个信号源取其直流电平值，计算电路的直流偏置量。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47108" name="Rectangle 4"/>
          <p:cNvSpPr/>
          <p:nvPr/>
        </p:nvSpPr>
        <p:spPr>
          <a:xfrm>
            <a:off x="441325" y="3006725"/>
            <a:ext cx="3182938" cy="1525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1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例：求基本放大电路的静态工作点。步骤如下：</a:t>
            </a:r>
            <a:endParaRPr lang="zh-CN" altLang="en-US" b="1" dirty="0">
              <a:solidFill>
                <a:srgbClr val="8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109" name="Text Box 5"/>
          <p:cNvSpPr txBox="1"/>
          <p:nvPr/>
        </p:nvSpPr>
        <p:spPr>
          <a:xfrm>
            <a:off x="441325" y="4532313"/>
            <a:ext cx="2678113" cy="104775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1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）用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Capture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软件画好电路图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3624263" y="2725738"/>
          <a:ext cx="5241925" cy="413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501640" imgH="4335780" progId="Paint.Picture">
                  <p:embed/>
                </p:oleObj>
              </mc:Choice>
              <mc:Fallback>
                <p:oleObj name="" r:id="rId1" imgW="5501640" imgH="433578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24263" y="2725738"/>
                        <a:ext cx="5241925" cy="4132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47108" grpId="0"/>
      <p:bldP spid="4710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3"/>
          <p:cNvSpPr>
            <a:spLocks noGrp="1"/>
          </p:cNvSpPr>
          <p:nvPr>
            <p:ph type="body"/>
          </p:nvPr>
        </p:nvSpPr>
        <p:spPr>
          <a:xfrm>
            <a:off x="381000" y="990600"/>
            <a:ext cx="8001000" cy="4495800"/>
          </a:xfrm>
        </p:spPr>
        <p:txBody>
          <a:bodyPr vert="horz" wrap="square" anchor="t" anchorCtr="0"/>
          <a:p>
            <a:pPr marL="469900" indent="-469900" algn="just" eaLnBrk="1" hangingPunct="1">
              <a:lnSpc>
                <a:spcPct val="131000"/>
              </a:lnSpc>
            </a:pPr>
            <a:r>
              <a:rPr lang="en-US" altLang="zh-CN" sz="2500" b="1" dirty="0">
                <a:solidFill>
                  <a:srgbClr val="80008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建立模拟类型分组的目的是为了便于管理。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OrCAD/PSpice 9.2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将基本直流分析、直流扫描分析、交流分析和瞬态分析规定为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种基本分析类型。每一个模拟类型分组中只能包含其中的一种，但可以同时包括温度分析、参数扫描和蒙托卡诺分析等。</a:t>
            </a:r>
            <a:endParaRPr lang="zh-CN" altLang="en-US" sz="25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469900" indent="-469900" algn="just" eaLnBrk="1" hangingPunct="1">
              <a:lnSpc>
                <a:spcPct val="120000"/>
              </a:lnSpc>
            </a:pP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     在电路图编辑窗口（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Page Editor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）下，点击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PSpice/New Simulation Profile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命令，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出现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</a:rPr>
              <a:t>New Simulation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对话框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,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在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Name</a:t>
            </a:r>
            <a:r>
              <a:rPr lang="zh-CN" altLang="en-US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栏键入模拟类型组的名称，本例取名为</a:t>
            </a:r>
            <a:r>
              <a:rPr lang="en-US" altLang="zh-CN" sz="25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DC</a:t>
            </a:r>
            <a:endParaRPr lang="en-US" altLang="zh-CN" sz="2500" b="1" dirty="0">
              <a:solidFill>
                <a:schemeClr val="tx2"/>
              </a:solidFill>
              <a:latin typeface="宋体" panose="02010600030101010101" pitchFamily="2" charset="-122"/>
              <a:ea typeface="Times New Roman" panose="02020603050405020304" pitchFamily="2" charset="0"/>
            </a:endParaRPr>
          </a:p>
        </p:txBody>
      </p:sp>
      <p:graphicFrame>
        <p:nvGraphicFramePr>
          <p:cNvPr id="48131" name="Object 4"/>
          <p:cNvGraphicFramePr>
            <a:graphicFrameLocks noChangeAspect="1"/>
          </p:cNvGraphicFramePr>
          <p:nvPr/>
        </p:nvGraphicFramePr>
        <p:xfrm>
          <a:off x="5273675" y="4767263"/>
          <a:ext cx="32988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914650" imgH="1609725" progId="Paint.Picture">
                  <p:embed/>
                </p:oleObj>
              </mc:Choice>
              <mc:Fallback>
                <p:oleObj name="" r:id="rId1" imgW="2914650" imgH="160972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73675" y="4767263"/>
                        <a:ext cx="3298825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Line 5"/>
          <p:cNvSpPr/>
          <p:nvPr/>
        </p:nvSpPr>
        <p:spPr>
          <a:xfrm>
            <a:off x="5649913" y="4538663"/>
            <a:ext cx="277812" cy="99695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33" name="Text Box 6"/>
          <p:cNvSpPr txBox="1"/>
          <p:nvPr/>
        </p:nvSpPr>
        <p:spPr>
          <a:xfrm>
            <a:off x="304800" y="5638800"/>
            <a:ext cx="4818063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2" charset="0"/>
              </a:rPr>
              <a:t>屏幕上出现模拟类型分组对话框。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34" name="矩形 48133"/>
          <p:cNvSpPr/>
          <p:nvPr/>
        </p:nvSpPr>
        <p:spPr>
          <a:xfrm>
            <a:off x="1295400" y="304800"/>
            <a:ext cx="5616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FF0066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rgbClr val="FF0066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rgbClr val="FF0066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） 建立模拟类型分组</a:t>
            </a:r>
            <a:endParaRPr lang="zh-CN" altLang="en-US" sz="2800" dirty="0">
              <a:solidFill>
                <a:srgbClr val="FF0066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charRg st="121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0">
                                            <p:txEl>
                                              <p:charRg st="121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0">
                                            <p:txEl>
                                              <p:charRg st="121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uild="p"/>
      <p:bldP spid="481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1295400" y="228600"/>
            <a:ext cx="6630988" cy="792163"/>
          </a:xfrm>
        </p:spPr>
        <p:txBody>
          <a:bodyPr vert="horz" wrap="square" anchor="b" anchorCtr="0"/>
          <a:p>
            <a:pPr eaLnBrk="1" hangingPunct="1"/>
            <a:r>
              <a:rPr lang="zh-CN" altLang="en-US" sz="3400" b="0" dirty="0">
                <a:latin typeface="宋体" panose="0201060003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400" b="0" dirty="0">
                <a:latin typeface="宋体" panose="0201060003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400" b="0" dirty="0">
                <a:latin typeface="宋体" panose="02010600030101010101" pitchFamily="2" charset="-122"/>
                <a:ea typeface="黑体" panose="02010609060101010101" pitchFamily="2" charset="-122"/>
              </a:rPr>
              <a:t>）设置分析类型和参数。</a:t>
            </a:r>
            <a:endParaRPr lang="zh-CN" altLang="en-US" sz="3400" b="0" dirty="0"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marL="469900" indent="-46990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Analysis type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栏中选</a:t>
            </a:r>
            <a:r>
              <a:rPr lang="zh-CN" altLang="en-US" sz="2800" b="1" dirty="0">
                <a:solidFill>
                  <a:schemeClr val="tx2"/>
                </a:solidFill>
                <a:latin typeface="华文仿宋" panose="02010600040101010101" pitchFamily="2" charset="-122"/>
              </a:rPr>
              <a:t>“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Bias Point</a:t>
            </a:r>
            <a:r>
              <a:rPr lang="en-US" altLang="zh-CN" sz="2800" b="1" dirty="0">
                <a:solidFill>
                  <a:schemeClr val="tx2"/>
                </a:solidFill>
                <a:latin typeface="华文仿宋" panose="02010600040101010101" pitchFamily="2" charset="-122"/>
              </a:rPr>
              <a:t>”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zh-CN" altLang="en-US" sz="3600" dirty="0"/>
          </a:p>
        </p:txBody>
      </p:sp>
      <p:sp>
        <p:nvSpPr>
          <p:cNvPr id="49156" name="Text Box 4"/>
          <p:cNvSpPr txBox="1"/>
          <p:nvPr/>
        </p:nvSpPr>
        <p:spPr>
          <a:xfrm>
            <a:off x="990600" y="1752600"/>
            <a:ext cx="77549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Option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General Settings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157" name="Text Box 5"/>
          <p:cNvSpPr txBox="1"/>
          <p:nvPr/>
        </p:nvSpPr>
        <p:spPr>
          <a:xfrm>
            <a:off x="358775" y="2160588"/>
            <a:ext cx="8475663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Output File Options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Include detailed bias point information for nonlinear controlled sources and semiconductors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1295400" y="3581400"/>
          <a:ext cx="5618163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4000500" imgH="2141220" progId="Paint.Picture">
                  <p:embed/>
                </p:oleObj>
              </mc:Choice>
              <mc:Fallback>
                <p:oleObj name="" r:id="rId1" imgW="4000500" imgH="2141220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3581400"/>
                        <a:ext cx="5618163" cy="301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Line 7"/>
          <p:cNvSpPr/>
          <p:nvPr/>
        </p:nvSpPr>
        <p:spPr>
          <a:xfrm flipH="1">
            <a:off x="2362200" y="1524000"/>
            <a:ext cx="1752600" cy="33528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60" name="Line 8"/>
          <p:cNvSpPr/>
          <p:nvPr/>
        </p:nvSpPr>
        <p:spPr>
          <a:xfrm flipH="1">
            <a:off x="2133600" y="2438400"/>
            <a:ext cx="3505200" cy="2841625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61" name="Line 9"/>
          <p:cNvSpPr/>
          <p:nvPr/>
        </p:nvSpPr>
        <p:spPr>
          <a:xfrm flipH="1">
            <a:off x="3429000" y="2922588"/>
            <a:ext cx="2481263" cy="1844675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56" grpId="0"/>
      <p:bldP spid="4915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762000" y="1066800"/>
            <a:ext cx="8001000" cy="755650"/>
          </a:xfrm>
        </p:spPr>
        <p:txBody>
          <a:bodyPr vert="horz" wrap="square" anchor="b" anchorCtr="0"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）运行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Pspice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。</a:t>
            </a:r>
            <a:b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zh-CN" altLang="en-US" sz="2400" dirty="0">
                <a:latin typeface="宋体" panose="02010600030101010101" pitchFamily="2" charset="-122"/>
              </a:rPr>
              <a:t>    启动</a:t>
            </a:r>
            <a:r>
              <a:rPr lang="en-US" altLang="zh-CN" sz="2400" dirty="0">
                <a:latin typeface="宋体" panose="02010600030101010101" pitchFamily="2" charset="-122"/>
              </a:rPr>
              <a:t>Pspice/Run</a:t>
            </a:r>
            <a:r>
              <a:rPr lang="zh-CN" altLang="en-US" sz="2400" dirty="0">
                <a:latin typeface="宋体" panose="02010600030101010101" pitchFamily="2" charset="-122"/>
              </a:rPr>
              <a:t>命令，软件开始分析计算。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type="body"/>
          </p:nvPr>
        </p:nvSpPr>
        <p:spPr>
          <a:xfrm>
            <a:off x="457200" y="1905000"/>
            <a:ext cx="8229600" cy="4260850"/>
          </a:xfrm>
        </p:spPr>
        <p:txBody>
          <a:bodyPr vert="horz" wrap="square" anchor="t" anchorCtr="0"/>
          <a:p>
            <a:pPr marL="469900" indent="-469900" algn="just"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）查看分析结果。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469900" indent="-469900" algn="just"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分析计算结束后，系统自动调用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Probe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模块，屏幕上出现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Probe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窗口。选择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View/Output File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命令，即可看到本例的文本输出文件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DC.out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zh-CN" altLang="en-US" dirty="0">
              <a:solidFill>
                <a:schemeClr val="tx2"/>
              </a:solidFill>
            </a:endParaRPr>
          </a:p>
        </p:txBody>
      </p:sp>
      <p:graphicFrame>
        <p:nvGraphicFramePr>
          <p:cNvPr id="50180" name="Object 5"/>
          <p:cNvGraphicFramePr>
            <a:graphicFrameLocks noChangeAspect="1"/>
          </p:cNvGraphicFramePr>
          <p:nvPr/>
        </p:nvGraphicFramePr>
        <p:xfrm>
          <a:off x="5067300" y="3897313"/>
          <a:ext cx="314007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562225" imgH="1704975" progId="Paint.Picture">
                  <p:embed/>
                </p:oleObj>
              </mc:Choice>
              <mc:Fallback>
                <p:oleObj name="" r:id="rId1" imgW="2562225" imgH="1704975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67300" y="3897313"/>
                        <a:ext cx="3140075" cy="208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81" name="Picture 6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400"/>
            <a:ext cx="4953000" cy="327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1447800" y="152400"/>
            <a:ext cx="6630988" cy="792163"/>
          </a:xfrm>
        </p:spPr>
        <p:txBody>
          <a:bodyPr vert="horz" wrap="square" anchor="b" anchorCtr="0"/>
          <a:p>
            <a:pPr eaLnBrk="1" hangingPunct="1"/>
            <a:r>
              <a:rPr lang="en-US" altLang="zh-CN" b="0" dirty="0">
                <a:solidFill>
                  <a:srgbClr val="FF0066"/>
                </a:solidFill>
                <a:ea typeface="黑体" panose="02010609060101010101" pitchFamily="2" charset="-122"/>
              </a:rPr>
              <a:t>2</a:t>
            </a:r>
            <a:r>
              <a:rPr lang="en-US" altLang="zh-CN" b="0" dirty="0">
                <a:solidFill>
                  <a:srgbClr val="FF0066"/>
                </a:solidFill>
                <a:latin typeface="宋体" panose="02010600030101010101" pitchFamily="2" charset="-122"/>
                <a:ea typeface="黑体" panose="02010609060101010101" pitchFamily="2" charset="-122"/>
              </a:rPr>
              <a:t>. </a:t>
            </a:r>
            <a:r>
              <a:rPr lang="zh-CN" altLang="en-US" b="0" dirty="0">
                <a:solidFill>
                  <a:srgbClr val="FF0066"/>
                </a:solidFill>
                <a:latin typeface="宋体" panose="02010600030101010101" pitchFamily="2" charset="-122"/>
                <a:ea typeface="黑体" panose="02010609060101010101" pitchFamily="2" charset="-122"/>
              </a:rPr>
              <a:t>瞬态分析</a:t>
            </a:r>
            <a:endParaRPr lang="zh-CN" altLang="en-US" b="0" dirty="0">
              <a:solidFill>
                <a:srgbClr val="FF0066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type="body"/>
          </p:nvPr>
        </p:nvSpPr>
        <p:spPr>
          <a:xfrm>
            <a:off x="539750" y="1196975"/>
            <a:ext cx="8001000" cy="4267200"/>
          </a:xfrm>
        </p:spPr>
        <p:txBody>
          <a:bodyPr vert="horz" wrap="square" anchor="t" anchorCtr="0"/>
          <a:p>
            <a:pPr marL="469900" indent="-469900" algn="just" eaLnBrk="1" hangingPunct="1">
              <a:lnSpc>
                <a:spcPct val="131000"/>
              </a:lnSpc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瞬态分析又称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TRAN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分析，就是求电路的时域响应。它可在给定输入激励信号情况下，计算电路输出端的瞬态响应，也可在没有激励信号但有贮能元件（如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）的情况下，求振荡波形。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4"/>
          <p:cNvSpPr/>
          <p:nvPr/>
        </p:nvSpPr>
        <p:spPr>
          <a:xfrm>
            <a:off x="1143000" y="228600"/>
            <a:ext cx="5467350" cy="730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1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基本放大电路的瞬态分析步骤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27" name="Rectangle 5"/>
          <p:cNvSpPr/>
          <p:nvPr/>
        </p:nvSpPr>
        <p:spPr>
          <a:xfrm>
            <a:off x="304800" y="1447800"/>
            <a:ext cx="5940425" cy="199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）用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Capture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软件画好电路图。</a:t>
            </a:r>
            <a:endParaRPr lang="zh-CN" altLang="en-US" sz="2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）为正弦信号源设置参数。</a:t>
            </a:r>
            <a:endParaRPr lang="zh-CN" altLang="en-US" sz="2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）设置模拟类型。</a:t>
            </a:r>
            <a:endParaRPr lang="zh-CN" altLang="en-US" sz="2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）设置分析参数：</a:t>
            </a:r>
            <a:endParaRPr lang="zh-CN" altLang="en-US" sz="2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2228" name="Object 6"/>
          <p:cNvGraphicFramePr>
            <a:graphicFrameLocks noChangeAspect="1"/>
          </p:cNvGraphicFramePr>
          <p:nvPr/>
        </p:nvGraphicFramePr>
        <p:xfrm>
          <a:off x="5094288" y="1779588"/>
          <a:ext cx="378142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4972050" imgH="2790825" progId="Paint.Picture">
                  <p:embed/>
                </p:oleObj>
              </mc:Choice>
              <mc:Fallback>
                <p:oleObj name="" r:id="rId1" imgW="4972050" imgH="2790825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94288" y="1779588"/>
                        <a:ext cx="3781425" cy="212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Rectangle 7"/>
          <p:cNvSpPr/>
          <p:nvPr/>
        </p:nvSpPr>
        <p:spPr>
          <a:xfrm>
            <a:off x="396875" y="3625850"/>
            <a:ext cx="4572000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Analysis type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栏中选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Time Domain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Transient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30" name="Rectangle 8"/>
          <p:cNvSpPr/>
          <p:nvPr/>
        </p:nvSpPr>
        <p:spPr>
          <a:xfrm>
            <a:off x="396875" y="4594225"/>
            <a:ext cx="5408613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Option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栏中选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General Settings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31" name="Line 9"/>
          <p:cNvSpPr/>
          <p:nvPr/>
        </p:nvSpPr>
        <p:spPr>
          <a:xfrm flipV="1">
            <a:off x="4325938" y="2530475"/>
            <a:ext cx="995362" cy="1373188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2" name="Line 10"/>
          <p:cNvSpPr/>
          <p:nvPr/>
        </p:nvSpPr>
        <p:spPr>
          <a:xfrm flipV="1">
            <a:off x="4325938" y="2841625"/>
            <a:ext cx="965200" cy="1958975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3" name="Rectangle 11"/>
          <p:cNvSpPr/>
          <p:nvPr/>
        </p:nvSpPr>
        <p:spPr>
          <a:xfrm>
            <a:off x="411163" y="5124450"/>
            <a:ext cx="8464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Run to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栏中填入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2ms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。意思是瞬态分析的终止时间为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2ms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34" name="Rectangle 12"/>
          <p:cNvSpPr/>
          <p:nvPr/>
        </p:nvSpPr>
        <p:spPr>
          <a:xfrm>
            <a:off x="396875" y="5581650"/>
            <a:ext cx="8180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Start saving data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栏中填入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。意思是起始时间为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35" name="Rectangle 13"/>
          <p:cNvSpPr/>
          <p:nvPr/>
        </p:nvSpPr>
        <p:spPr>
          <a:xfrm>
            <a:off x="411163" y="6038850"/>
            <a:ext cx="81867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Maximum Step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栏中填入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40us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。意思是时间步长为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36" name="Line 14"/>
          <p:cNvSpPr/>
          <p:nvPr/>
        </p:nvSpPr>
        <p:spPr>
          <a:xfrm flipH="1" flipV="1">
            <a:off x="7723188" y="2530475"/>
            <a:ext cx="874712" cy="2593975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7" name="Line 15"/>
          <p:cNvSpPr/>
          <p:nvPr/>
        </p:nvSpPr>
        <p:spPr>
          <a:xfrm flipH="1" flipV="1">
            <a:off x="7494588" y="2841625"/>
            <a:ext cx="620712" cy="29718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8" name="Line 16"/>
          <p:cNvSpPr/>
          <p:nvPr/>
        </p:nvSpPr>
        <p:spPr>
          <a:xfrm flipH="1" flipV="1">
            <a:off x="7250113" y="3036888"/>
            <a:ext cx="473075" cy="3001962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ctrTitle"/>
          </p:nvPr>
        </p:nvSpPr>
        <p:spPr>
          <a:xfrm>
            <a:off x="457200" y="914400"/>
            <a:ext cx="7985125" cy="588963"/>
          </a:xfrm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>
              <a:lnSpc>
                <a:spcPct val="120000"/>
              </a:lnSpc>
            </a:pP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</a:rPr>
              <a:t>）运行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</a:rPr>
              <a:t>Pspice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</a:rPr>
              <a:t>。执行</a:t>
            </a:r>
            <a:r>
              <a:rPr lang="en-US" altLang="zh-CN" sz="2100" dirty="0">
                <a:solidFill>
                  <a:schemeClr val="tx1"/>
                </a:solidFill>
                <a:latin typeface="宋体" panose="02010600030101010101" pitchFamily="2" charset="-122"/>
              </a:rPr>
              <a:t>Pspice/Run</a:t>
            </a:r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</a:rPr>
              <a:t>命令。</a:t>
            </a:r>
            <a:endParaRPr lang="zh-CN" altLang="en-US" sz="2100" dirty="0">
              <a:solidFill>
                <a:schemeClr val="tx1"/>
              </a:solidFill>
              <a:latin typeface="宋体" panose="02010600030101010101" pitchFamily="2" charset="-122"/>
              <a:ea typeface="Times New Roman" panose="02020603050405020304" pitchFamily="2" charset="0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type="subTitle"/>
          </p:nvPr>
        </p:nvSpPr>
        <p:spPr>
          <a:xfrm>
            <a:off x="457200" y="1371600"/>
            <a:ext cx="8328025" cy="13716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zh-CN" altLang="en-US" sz="2600" b="1" dirty="0">
                <a:latin typeface="宋体" panose="02010600030101010101" pitchFamily="2" charset="-122"/>
              </a:rPr>
              <a:t>（</a:t>
            </a:r>
            <a:r>
              <a:rPr lang="en-US" altLang="zh-CN" sz="2600" b="1" dirty="0">
                <a:latin typeface="宋体" panose="02010600030101010101" pitchFamily="2" charset="-122"/>
              </a:rPr>
              <a:t>6</a:t>
            </a:r>
            <a:r>
              <a:rPr lang="zh-CN" altLang="en-US" sz="2600" b="1" dirty="0">
                <a:latin typeface="宋体" panose="02010600030101010101" pitchFamily="2" charset="-122"/>
              </a:rPr>
              <a:t>）查看分析结果。</a:t>
            </a:r>
            <a:br>
              <a:rPr lang="zh-CN" altLang="en-US" sz="2600" b="1" dirty="0">
                <a:latin typeface="宋体" panose="02010600030101010101" pitchFamily="2" charset="-122"/>
              </a:rPr>
            </a:br>
            <a:r>
              <a:rPr lang="zh-CN" altLang="en-US" sz="2600" b="1" dirty="0">
                <a:latin typeface="宋体" panose="02010600030101010101" pitchFamily="2" charset="-122"/>
              </a:rPr>
              <a:t>    分析计算结束后，系统自动调用</a:t>
            </a:r>
            <a:r>
              <a:rPr lang="en-US" altLang="zh-CN" sz="2600" b="1" dirty="0">
                <a:latin typeface="宋体" panose="02010600030101010101" pitchFamily="2" charset="-122"/>
              </a:rPr>
              <a:t>Probe</a:t>
            </a:r>
            <a:r>
              <a:rPr lang="zh-CN" altLang="en-US" sz="2600" b="1" dirty="0">
                <a:latin typeface="宋体" panose="02010600030101010101" pitchFamily="2" charset="-122"/>
              </a:rPr>
              <a:t>模块，屏幕上出现如图所示的</a:t>
            </a:r>
            <a:r>
              <a:rPr lang="en-US" altLang="zh-CN" sz="2600" b="1" dirty="0">
                <a:latin typeface="宋体" panose="02010600030101010101" pitchFamily="2" charset="-122"/>
              </a:rPr>
              <a:t>Probe</a:t>
            </a:r>
            <a:r>
              <a:rPr lang="zh-CN" altLang="en-US" sz="2600" b="1" dirty="0">
                <a:latin typeface="宋体" panose="02010600030101010101" pitchFamily="2" charset="-122"/>
              </a:rPr>
              <a:t>窗口。</a:t>
            </a:r>
            <a:endParaRPr lang="zh-CN" altLang="en-US" sz="26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231775" y="2790825"/>
          <a:ext cx="45974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3438525" imgH="2571750" progId="Word.Picture.8">
                  <p:embed/>
                </p:oleObj>
              </mc:Choice>
              <mc:Fallback>
                <p:oleObj name="" r:id="rId1" imgW="3438525" imgH="2571750" progId="Word.Picture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>
                        <a:lum bright="10001"/>
                      </a:blip>
                      <a:stretch>
                        <a:fillRect/>
                      </a:stretch>
                    </p:blipFill>
                    <p:spPr>
                      <a:xfrm>
                        <a:off x="231775" y="2790825"/>
                        <a:ext cx="4597400" cy="406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Rectangle 5"/>
          <p:cNvSpPr/>
          <p:nvPr/>
        </p:nvSpPr>
        <p:spPr>
          <a:xfrm>
            <a:off x="5205413" y="2790825"/>
            <a:ext cx="3595687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Probe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窗口中，执行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Trace/Add Trace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命令，出现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Trace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对话框。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1295400" y="115888"/>
            <a:ext cx="7245350" cy="792162"/>
          </a:xfrm>
        </p:spPr>
        <p:txBody>
          <a:bodyPr vert="horz" wrap="square" anchor="b" anchorCtr="0"/>
          <a:p>
            <a:pPr eaLnBrk="1" hangingPunct="1"/>
            <a:r>
              <a:rPr lang="zh-CN" altLang="en-US" sz="3100" b="0">
                <a:solidFill>
                  <a:schemeClr val="tx1"/>
                </a:solidFill>
                <a:latin typeface="宋体" panose="02010600030101010101" pitchFamily="2" charset="-122"/>
              </a:rPr>
              <a:t>可用以下两种方法选择要显示的变量名：</a:t>
            </a:r>
            <a:endParaRPr lang="zh-CN" altLang="en-US" sz="3100" b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>
          <a:xfrm>
            <a:off x="566738" y="1341438"/>
            <a:ext cx="8001000" cy="4678362"/>
          </a:xfrm>
        </p:spPr>
        <p:txBody>
          <a:bodyPr vert="horz" wrap="square" anchor="t" anchorCtr="0"/>
          <a:p>
            <a:pPr marL="469900" indent="-469900" eaLnBrk="1" hangingPunct="1">
              <a:lnSpc>
                <a:spcPct val="125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① </a:t>
            </a:r>
            <a:r>
              <a:rPr lang="zh-CN" altLang="en-US" sz="2400" b="1" dirty="0">
                <a:latin typeface="宋体" panose="02010600030101010101" pitchFamily="2" charset="-122"/>
              </a:rPr>
              <a:t>在对话框左边的输出变量列表中用光标点中要显示的变量名，该变量名即出现在下端的</a:t>
            </a:r>
            <a:r>
              <a:rPr lang="zh-CN" altLang="en-US" sz="2400" b="1" dirty="0">
                <a:latin typeface="华文仿宋" panose="02010600040101010101" pitchFamily="2" charset="-122"/>
              </a:rPr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Trace Expression</a:t>
            </a:r>
            <a:r>
              <a:rPr lang="en-US" altLang="zh-CN" sz="2400" b="1" dirty="0">
                <a:latin typeface="华文仿宋" panose="02010600040101010101" pitchFamily="2" charset="-122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文本框中，允许同时点选多个输出变量。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469900" indent="-469900" eaLnBrk="1" hangingPunct="1"/>
            <a:r>
              <a:rPr lang="zh-CN" altLang="en-US" sz="2400" b="1" dirty="0">
                <a:latin typeface="宋体" panose="02010600030101010101" pitchFamily="2" charset="-122"/>
              </a:rPr>
              <a:t>② 在</a:t>
            </a:r>
            <a:r>
              <a:rPr lang="zh-CN" altLang="en-US" sz="2400" b="1" dirty="0">
                <a:latin typeface="华文仿宋" panose="02010600040101010101" pitchFamily="2" charset="-122"/>
              </a:rPr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Trace Expression</a:t>
            </a:r>
            <a:r>
              <a:rPr lang="en-US" altLang="zh-CN" sz="2400" b="1" dirty="0">
                <a:latin typeface="华文仿宋" panose="02010600040101010101" pitchFamily="2" charset="-122"/>
              </a:rPr>
              <a:t>”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469900" indent="-469900" algn="just" eaLnBrk="1" hangingPunct="1">
              <a:lnSpc>
                <a:spcPct val="135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文本框中键入要显示的变量名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469900" indent="-469900" algn="just" eaLnBrk="1" hangingPunct="1">
              <a:lnSpc>
                <a:spcPct val="135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。然后点</a:t>
            </a:r>
            <a:r>
              <a:rPr lang="en-US" altLang="zh-CN" sz="2400" b="1" dirty="0">
                <a:latin typeface="宋体" panose="02010600030101010101" pitchFamily="2" charset="-122"/>
              </a:rPr>
              <a:t>OK</a:t>
            </a:r>
            <a:r>
              <a:rPr lang="zh-CN" altLang="en-US" sz="2400" b="1" dirty="0">
                <a:latin typeface="宋体" panose="02010600030101010101" pitchFamily="2" charset="-122"/>
              </a:rPr>
              <a:t>按钮，选中的变量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469900" indent="-469900" algn="just" eaLnBrk="1" hangingPunct="1">
              <a:lnSpc>
                <a:spcPct val="135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波形就显示在屏幕上。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4346575" y="2922588"/>
          <a:ext cx="4437063" cy="340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6048375" imgH="4267200" progId="Paint.Picture">
                  <p:embed/>
                </p:oleObj>
              </mc:Choice>
              <mc:Fallback>
                <p:oleObj name="" r:id="rId1" imgW="6048375" imgH="4267200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46575" y="2922588"/>
                        <a:ext cx="4437063" cy="340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0" y="1066800"/>
          <a:ext cx="9144000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6048375" imgH="4267200" progId="Paint.Picture">
                  <p:embed/>
                </p:oleObj>
              </mc:Choice>
              <mc:Fallback>
                <p:oleObj name="" r:id="rId1" imgW="6048375" imgH="4267200" progId="Paint.Picture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066800"/>
                        <a:ext cx="9144000" cy="579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xfrm>
            <a:off x="1447800" y="152400"/>
            <a:ext cx="6630988" cy="792163"/>
          </a:xfrm>
        </p:spPr>
        <p:txBody>
          <a:bodyPr vert="horz" wrap="square" anchor="b" anchorCtr="0"/>
          <a:p>
            <a:pPr eaLnBrk="1" hangingPunct="1"/>
            <a:r>
              <a:rPr lang="zh-CN" altLang="en-US" sz="3500">
                <a:solidFill>
                  <a:srgbClr val="CC0099"/>
                </a:solidFill>
                <a:latin typeface="宋体" panose="02010600030101010101" pitchFamily="2" charset="-122"/>
              </a:rPr>
              <a:t>建立两个以上的波形显示区</a:t>
            </a:r>
            <a:endParaRPr lang="zh-CN" altLang="en-US" sz="3500">
              <a:solidFill>
                <a:srgbClr val="CC0099"/>
              </a:solidFill>
              <a:latin typeface="宋体" panose="02010600030101010101" pitchFamily="2" charset="-122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>
          <a:xfrm>
            <a:off x="566738" y="1125538"/>
            <a:ext cx="8348662" cy="4894262"/>
          </a:xfrm>
        </p:spPr>
        <p:txBody>
          <a:bodyPr vert="horz" wrap="square" anchor="t" anchorCtr="0"/>
          <a:p>
            <a:pPr marL="469900" indent="-469900" algn="just" eaLnBrk="1" fontAlgn="t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本例想同时观看输出输入波形，但两者电压幅度相差悬殊，在同一坐标中显示显然是不合适的，可采用添加波形显示区的方法：</a:t>
            </a:r>
            <a:endParaRPr lang="zh-CN" altLang="en-US" sz="2100" b="1" dirty="0">
              <a:solidFill>
                <a:schemeClr val="tx2"/>
              </a:solidFill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marL="469900" indent="-469900" algn="just" eaLnBrk="1" fontAlgn="t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① 在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Add Trace 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对话框中，选择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Out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），点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OK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按钮，显示出输出端的波形。</a:t>
            </a:r>
            <a:endParaRPr lang="zh-CN" altLang="en-US" sz="21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469900" indent="-469900" algn="just" eaLnBrk="1" fontAlgn="t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2100" b="1" dirty="0">
                <a:solidFill>
                  <a:srgbClr val="FF0000"/>
                </a:solidFill>
                <a:latin typeface="宋体" panose="02010600030101010101" pitchFamily="2" charset="-122"/>
              </a:rPr>
              <a:t>执行</a:t>
            </a:r>
            <a:r>
              <a:rPr lang="en-US" altLang="zh-CN" sz="2100" b="1" dirty="0">
                <a:solidFill>
                  <a:srgbClr val="FF0000"/>
                </a:solidFill>
                <a:latin typeface="宋体" panose="02010600030101010101" pitchFamily="2" charset="-122"/>
              </a:rPr>
              <a:t>Plot/Add Plot to Window</a:t>
            </a:r>
            <a:r>
              <a:rPr lang="zh-CN" altLang="en-US" sz="2100" b="1" dirty="0">
                <a:solidFill>
                  <a:srgbClr val="FF0000"/>
                </a:solidFill>
                <a:latin typeface="宋体" panose="02010600030101010101" pitchFamily="2" charset="-122"/>
              </a:rPr>
              <a:t>命令，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屏幕上添加一个空白的波形显示区。</a:t>
            </a:r>
            <a:endParaRPr lang="zh-CN" altLang="en-US" sz="21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469900" indent="-469900" algn="just" eaLnBrk="1" fontAlgn="t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③ 再执行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Trace/Add Trace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命令，在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Add Trace 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对话框选择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Vs:+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），点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OK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按钮，在新加的波形显示区显示出输入信号</a:t>
            </a:r>
            <a:r>
              <a:rPr lang="en-US" altLang="zh-CN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Vs</a:t>
            </a:r>
            <a:r>
              <a:rPr lang="zh-CN" altLang="en-US" sz="2100" b="1" dirty="0">
                <a:solidFill>
                  <a:schemeClr val="tx2"/>
                </a:solidFill>
                <a:latin typeface="宋体" panose="02010600030101010101" pitchFamily="2" charset="-122"/>
              </a:rPr>
              <a:t>的波形。</a:t>
            </a:r>
            <a:endParaRPr lang="zh-CN" altLang="en-US" sz="21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5632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288" y="4424363"/>
            <a:ext cx="6983412" cy="24336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5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charRg st="5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charRg st="5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101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charRg st="101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charRg st="101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148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3">
                                            <p:txEl>
                                              <p:charRg st="148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3">
                                            <p:txEl>
                                              <p:charRg st="148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1371600" y="381000"/>
            <a:ext cx="6934200" cy="539750"/>
          </a:xfrm>
        </p:spPr>
        <p:txBody>
          <a:bodyPr vert="horz" wrap="square" anchor="b" anchorCtr="0"/>
          <a:p>
            <a:r>
              <a:rPr lang="zh-CN" altLang="en-US" sz="2700" dirty="0">
                <a:solidFill>
                  <a:srgbClr val="0066FF"/>
                </a:solidFill>
              </a:rPr>
              <a:t>瞬态分析（时域分析）</a:t>
            </a:r>
            <a:r>
              <a:rPr lang="en-US" altLang="zh-CN" sz="2700" dirty="0">
                <a:solidFill>
                  <a:srgbClr val="0066FF"/>
                </a:solidFill>
              </a:rPr>
              <a:t>Transient Analysis</a:t>
            </a:r>
            <a:endParaRPr lang="zh-CN" altLang="en-US" sz="2700" dirty="0">
              <a:solidFill>
                <a:srgbClr val="0066FF"/>
              </a:solidFill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marL="469900" indent="-469900"/>
          </a:p>
        </p:txBody>
      </p:sp>
      <p:pic>
        <p:nvPicPr>
          <p:cNvPr id="57348" name="Picture 4" descr="v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25538"/>
            <a:ext cx="9144000" cy="5732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9" name="Text Box 5"/>
          <p:cNvSpPr txBox="1"/>
          <p:nvPr/>
        </p:nvSpPr>
        <p:spPr>
          <a:xfrm>
            <a:off x="755650" y="1773238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/>
              <a:t>频域分析</a:t>
            </a:r>
            <a:endParaRPr lang="zh-CN" altLang="en-US"/>
          </a:p>
        </p:txBody>
      </p:sp>
      <p:sp>
        <p:nvSpPr>
          <p:cNvPr id="58371" name="Rectangle 3"/>
          <p:cNvSpPr>
            <a:spLocks noGrp="1"/>
          </p:cNvSpPr>
          <p:nvPr>
            <p:ph type="body"/>
          </p:nvPr>
        </p:nvSpPr>
        <p:spPr>
          <a:xfrm>
            <a:off x="533400" y="1066800"/>
            <a:ext cx="8001000" cy="4572000"/>
          </a:xfrm>
        </p:spPr>
        <p:txBody>
          <a:bodyPr vert="horz" wrap="square" anchor="t" anchorCtr="0"/>
          <a:p>
            <a:pPr marL="469900" indent="-469900" eaLnBrk="1" hangingPunct="1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-</a:t>
            </a:r>
            <a:r>
              <a:rPr lang="zh-CN" altLang="en-US" sz="2800" dirty="0">
                <a:solidFill>
                  <a:srgbClr val="FF0000"/>
                </a:solidFill>
              </a:rPr>
              <a:t>确认交流信号源</a:t>
            </a:r>
            <a:r>
              <a:rPr lang="en-US" altLang="zh-CN" sz="2800" dirty="0">
                <a:solidFill>
                  <a:srgbClr val="FF0000"/>
                </a:solidFill>
              </a:rPr>
              <a:t>AC</a:t>
            </a:r>
            <a:r>
              <a:rPr lang="zh-CN" altLang="en-US" sz="2800" dirty="0">
                <a:solidFill>
                  <a:srgbClr val="FF0000"/>
                </a:solidFill>
              </a:rPr>
              <a:t>值已输入！</a:t>
            </a:r>
            <a:endParaRPr lang="zh-CN" altLang="en-US" dirty="0">
              <a:latin typeface="Times New Roman" panose="02020603050405020304" pitchFamily="2" charset="0"/>
            </a:endParaRPr>
          </a:p>
          <a:p>
            <a:pPr marL="469900" indent="-469900" eaLnBrk="1" hangingPunct="1"/>
            <a:r>
              <a:rPr lang="zh-CN" altLang="en-US" sz="2800" dirty="0">
                <a:latin typeface="Times New Roman" panose="02020603050405020304" pitchFamily="2" charset="0"/>
              </a:rPr>
              <a:t>幅频特性</a:t>
            </a:r>
            <a:r>
              <a:rPr lang="en-US" altLang="zh-CN" sz="2800" dirty="0">
                <a:latin typeface="Times New Roman" panose="02020603050405020304" pitchFamily="2" charset="0"/>
                <a:cs typeface="Times New Roman" panose="02020603050405020304" pitchFamily="2" charset="0"/>
              </a:rPr>
              <a:t>dB(V(Vo)/V(i))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marL="469900" indent="-469900"/>
            <a:r>
              <a:rPr lang="zh-CN" altLang="en-US" sz="2800" b="1" dirty="0"/>
              <a:t>*相频响应曲线： </a:t>
            </a:r>
            <a:r>
              <a:rPr lang="en-US" altLang="zh-CN" sz="2800" b="1" dirty="0"/>
              <a:t>Vp(Vo)-Vp(Vs:+)</a:t>
            </a:r>
            <a:endParaRPr lang="en-US" altLang="zh-CN" sz="2800" dirty="0"/>
          </a:p>
          <a:p>
            <a:pPr marL="469900" indent="-469900" eaLnBrk="1" hangingPunct="1"/>
            <a:r>
              <a:rPr lang="zh-CN" altLang="en-US" sz="2800" dirty="0"/>
              <a:t>输入阻抗</a:t>
            </a:r>
            <a:r>
              <a:rPr lang="en-US" altLang="zh-CN" sz="2800" dirty="0">
                <a:latin typeface="Times New Roman" panose="02020603050405020304" pitchFamily="2" charset="0"/>
                <a:cs typeface="Times New Roman" panose="02020603050405020304" pitchFamily="2" charset="0"/>
              </a:rPr>
              <a:t>V(i)/ I(i)</a:t>
            </a:r>
            <a:endParaRPr lang="en-US" altLang="zh-CN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469900" indent="-469900" eaLnBrk="1" hangingPunct="1"/>
            <a:r>
              <a:rPr lang="zh-CN" altLang="en-US" sz="2800" dirty="0">
                <a:latin typeface="Times New Roman" panose="02020603050405020304" pitchFamily="2" charset="0"/>
                <a:cs typeface="Times New Roman" panose="02020603050405020304" pitchFamily="2" charset="0"/>
              </a:rPr>
              <a:t>输出阻抗</a:t>
            </a:r>
            <a:endParaRPr lang="en-US" altLang="zh-CN" sz="2800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3048000" y="3276600"/>
          <a:ext cx="60960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5349240" imgH="3634740" progId="Paint.Picture">
                  <p:embed/>
                </p:oleObj>
              </mc:Choice>
              <mc:Fallback>
                <p:oleObj name="" r:id="rId1" imgW="5349240" imgH="3634740" progId="Paint.Picture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3276600"/>
                        <a:ext cx="6096000" cy="358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矩形 58372"/>
          <p:cNvSpPr/>
          <p:nvPr/>
        </p:nvSpPr>
        <p:spPr>
          <a:xfrm>
            <a:off x="7620000" y="3962400"/>
            <a:ext cx="1066800" cy="304800"/>
          </a:xfrm>
          <a:prstGeom prst="rect">
            <a:avLst/>
          </a:prstGeom>
          <a:solidFill>
            <a:srgbClr val="FFFF99">
              <a:alpha val="0"/>
            </a:srgbClr>
          </a:solidFill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524000" y="115888"/>
            <a:ext cx="6721475" cy="792162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solidFill>
                  <a:srgbClr val="CC0099"/>
                </a:solidFill>
                <a:latin typeface="宋体" panose="02010600030101010101" pitchFamily="2" charset="-122"/>
              </a:rPr>
              <a:t>求解输出阻抗</a:t>
            </a:r>
            <a:r>
              <a:rPr lang="zh-CN" altLang="en-US" sz="2800">
                <a:solidFill>
                  <a:schemeClr val="tx1"/>
                </a:solidFill>
              </a:rPr>
              <a:t> 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type="body"/>
          </p:nvPr>
        </p:nvSpPr>
        <p:spPr>
          <a:xfrm>
            <a:off x="566738" y="1214438"/>
            <a:ext cx="8001000" cy="3214687"/>
          </a:xfrm>
        </p:spPr>
        <p:txBody>
          <a:bodyPr vert="horz" wrap="square" anchor="t" anchorCtr="0"/>
          <a:p>
            <a:pPr marL="469900" indent="-469900" eaLnBrk="1" hangingPunct="1">
              <a:lnSpc>
                <a:spcPct val="90000"/>
              </a:lnSpc>
            </a:pPr>
            <a:r>
              <a:rPr lang="zh-CN" altLang="en-US" sz="3000" dirty="0">
                <a:latin typeface="宋体" panose="02010600030101010101" pitchFamily="2" charset="-122"/>
              </a:rPr>
              <a:t>修改电路：</a:t>
            </a:r>
            <a:endParaRPr lang="zh-CN" altLang="en-US" sz="3000" dirty="0">
              <a:latin typeface="宋体" panose="02010600030101010101" pitchFamily="2" charset="-122"/>
            </a:endParaRPr>
          </a:p>
          <a:p>
            <a:pPr marL="908050" lvl="1" indent="-436245" eaLnBrk="1" hangingPunct="1">
              <a:lnSpc>
                <a:spcPct val="90000"/>
              </a:lnSpc>
            </a:pPr>
            <a:r>
              <a:rPr lang="zh-CN" altLang="en-US" sz="3000" b="1" dirty="0">
                <a:latin typeface="宋体" panose="02010600030101010101" pitchFamily="2" charset="-122"/>
              </a:rPr>
              <a:t>令</a:t>
            </a:r>
            <a:r>
              <a:rPr lang="en-US" altLang="zh-CN" sz="3000" b="1" dirty="0"/>
              <a:t>Vs=0</a:t>
            </a:r>
            <a:r>
              <a:rPr lang="zh-CN" altLang="en-US" sz="3000" b="1" dirty="0"/>
              <a:t>，</a:t>
            </a:r>
            <a:r>
              <a:rPr lang="zh-CN" altLang="en-US" sz="3000" b="1" dirty="0">
                <a:latin typeface="宋体" panose="02010600030101010101" pitchFamily="2" charset="-122"/>
              </a:rPr>
              <a:t>信号源短路，取掉负载</a:t>
            </a:r>
            <a:r>
              <a:rPr lang="en-US" altLang="zh-CN" sz="3000" b="1" dirty="0"/>
              <a:t>R</a:t>
            </a:r>
            <a:r>
              <a:rPr lang="en-US" altLang="zh-CN" sz="3000" b="1" baseline="-30000" dirty="0"/>
              <a:t>L</a:t>
            </a:r>
            <a:r>
              <a:rPr lang="zh-CN" altLang="en-US" sz="3000" b="1" dirty="0">
                <a:latin typeface="宋体" panose="02010600030101010101" pitchFamily="2" charset="-122"/>
              </a:rPr>
              <a:t>，外加一个信号源</a:t>
            </a:r>
            <a:r>
              <a:rPr lang="en-US" altLang="zh-CN" sz="3000" b="1" dirty="0"/>
              <a:t>VSIN(450mv)</a:t>
            </a:r>
            <a:r>
              <a:rPr lang="en-US" altLang="zh-CN" sz="3000" dirty="0"/>
              <a:t> </a:t>
            </a:r>
            <a:endParaRPr lang="en-US" altLang="zh-CN" sz="3000" dirty="0"/>
          </a:p>
          <a:p>
            <a:pPr marL="469900" indent="-469900" eaLnBrk="1" hangingPunct="1">
              <a:lnSpc>
                <a:spcPct val="90000"/>
              </a:lnSpc>
            </a:pPr>
            <a:r>
              <a:rPr lang="zh-CN" altLang="en-US" sz="3000" dirty="0"/>
              <a:t>其他步骤与“输入电阻的频率响应”分析相同</a:t>
            </a:r>
            <a:endParaRPr lang="zh-CN" altLang="en-US" sz="3000" dirty="0"/>
          </a:p>
          <a:p>
            <a:pPr marL="469900" indent="-469900" eaLnBrk="1" hangingPunct="1">
              <a:lnSpc>
                <a:spcPct val="90000"/>
              </a:lnSpc>
            </a:pPr>
            <a:r>
              <a:rPr lang="en-US" altLang="zh-CN" sz="3000" dirty="0"/>
              <a:t>Ro =V(Vo)/I(Vs)</a:t>
            </a:r>
            <a:endParaRPr lang="en-US" altLang="zh-CN" sz="3000" dirty="0"/>
          </a:p>
        </p:txBody>
      </p:sp>
      <p:pic>
        <p:nvPicPr>
          <p:cNvPr id="59397" name="Picture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657600"/>
            <a:ext cx="6172200" cy="320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 dir="in"/>
    <p:sndAc>
      <p:stSnd>
        <p:snd r:embed="rId2" name="projctor.wav"/>
      </p:stSnd>
    </p:sndAc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xfrm>
            <a:off x="1295400" y="228600"/>
            <a:ext cx="7315200" cy="755650"/>
          </a:xfrm>
        </p:spPr>
        <p:txBody>
          <a:bodyPr vert="horz" wrap="square" anchor="b" anchorCtr="0"/>
          <a:p>
            <a:r>
              <a:rPr lang="zh-CN" altLang="en-US" sz="3000" dirty="0">
                <a:solidFill>
                  <a:srgbClr val="0066FF"/>
                </a:solidFill>
              </a:rPr>
              <a:t>交流小信号分析（频域分析）</a:t>
            </a:r>
            <a:r>
              <a:rPr lang="en-US" altLang="zh-CN" sz="3000" dirty="0">
                <a:solidFill>
                  <a:srgbClr val="0066FF"/>
                </a:solidFill>
              </a:rPr>
              <a:t>AC Sweep</a:t>
            </a:r>
            <a:endParaRPr lang="zh-CN" altLang="en-US" sz="3000" dirty="0">
              <a:solidFill>
                <a:srgbClr val="0066FF"/>
              </a:solidFill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marL="469900" indent="-469900"/>
          </a:p>
        </p:txBody>
      </p:sp>
      <p:pic>
        <p:nvPicPr>
          <p:cNvPr id="60420" name="Picture 4" descr="bw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1075"/>
            <a:ext cx="9144000" cy="587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1" name="Text Box 5"/>
          <p:cNvSpPr txBox="1"/>
          <p:nvPr/>
        </p:nvSpPr>
        <p:spPr>
          <a:xfrm>
            <a:off x="3059113" y="1773238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/>
        </p:txBody>
      </p:sp>
      <p:sp>
        <p:nvSpPr>
          <p:cNvPr id="61443" name="Rectangle 3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marL="469900" indent="-469900"/>
          </a:p>
        </p:txBody>
      </p:sp>
      <p:pic>
        <p:nvPicPr>
          <p:cNvPr id="61444" name="Picture 4" descr="ri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5" name="Text Box 5"/>
          <p:cNvSpPr txBox="1"/>
          <p:nvPr/>
        </p:nvSpPr>
        <p:spPr>
          <a:xfrm>
            <a:off x="3059113" y="4868863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>
                <a:solidFill>
                  <a:srgbClr val="0066FF"/>
                </a:solidFill>
                <a:latin typeface="宋体" panose="02010600030101010101" pitchFamily="2" charset="-122"/>
              </a:rPr>
              <a:t>求解输出阻抗</a:t>
            </a:r>
            <a:endParaRPr lang="zh-CN" altLang="en-US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type="body"/>
          </p:nvPr>
        </p:nvSpPr>
        <p:spPr>
          <a:xfrm>
            <a:off x="566738" y="1196975"/>
            <a:ext cx="8001000" cy="4822825"/>
          </a:xfrm>
        </p:spPr>
        <p:txBody>
          <a:bodyPr vert="horz" wrap="square" anchor="t" anchorCtr="0"/>
          <a:p>
            <a:pPr marL="469900" indent="-469900"/>
          </a:p>
        </p:txBody>
      </p:sp>
      <p:pic>
        <p:nvPicPr>
          <p:cNvPr id="62468" name="Picture 4" descr="r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1075"/>
            <a:ext cx="9144000" cy="587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9" name="Text Box 5"/>
          <p:cNvSpPr txBox="1"/>
          <p:nvPr/>
        </p:nvSpPr>
        <p:spPr>
          <a:xfrm>
            <a:off x="2700338" y="4005263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ctrTitle"/>
          </p:nvPr>
        </p:nvSpPr>
        <p:spPr>
          <a:xfrm>
            <a:off x="1143000" y="228600"/>
            <a:ext cx="7772400" cy="762000"/>
          </a:xfrm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en-US" altLang="zh-CN" sz="3800" dirty="0"/>
              <a:t>Spice</a:t>
            </a:r>
            <a:r>
              <a:rPr lang="zh-CN" altLang="en-US" sz="3800" dirty="0"/>
              <a:t>仿真</a:t>
            </a:r>
            <a:endParaRPr lang="zh-CN" altLang="en-US" sz="3800" dirty="0"/>
          </a:p>
        </p:txBody>
      </p:sp>
      <p:sp>
        <p:nvSpPr>
          <p:cNvPr id="63491" name="Rectangle 3"/>
          <p:cNvSpPr>
            <a:spLocks noGrp="1"/>
          </p:cNvSpPr>
          <p:nvPr>
            <p:ph type="subTitle"/>
          </p:nvPr>
        </p:nvSpPr>
        <p:spPr>
          <a:xfrm>
            <a:off x="990600" y="1143000"/>
            <a:ext cx="7289800" cy="2884488"/>
          </a:xfrm>
        </p:spPr>
        <p:txBody>
          <a:bodyPr vert="horz" wrap="square" anchor="t" anchorCtr="0">
            <a:spAutoFit/>
          </a:bodyPr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3400" b="1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软件简介</a:t>
            </a:r>
            <a:endParaRPr lang="zh-CN" altLang="en-US" sz="3400" b="1" dirty="0">
              <a:latin typeface="楷体_GB2312" pitchFamily="1" charset="-122"/>
              <a:ea typeface="楷体_GB2312" pitchFamily="1" charset="-122"/>
            </a:endParaRPr>
          </a:p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 仿真步骤</a:t>
            </a:r>
            <a:endParaRPr lang="zh-CN" altLang="en-US" sz="3400" b="1" dirty="0">
              <a:latin typeface="楷体_GB2312" pitchFamily="1" charset="-122"/>
              <a:ea typeface="楷体_GB2312" pitchFamily="1" charset="-122"/>
            </a:endParaRPr>
          </a:p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3400" b="1" dirty="0">
                <a:latin typeface="楷体_GB2312" pitchFamily="1" charset="-122"/>
                <a:ea typeface="楷体_GB2312" pitchFamily="1" charset="-122"/>
              </a:rPr>
              <a:t> 放大电路各种性能指标的仿真方法</a:t>
            </a:r>
            <a:endParaRPr lang="zh-CN" altLang="en-US" sz="3400" b="1" dirty="0">
              <a:latin typeface="楷体_GB2312" pitchFamily="1" charset="-122"/>
              <a:ea typeface="楷体_GB2312" pitchFamily="1" charset="-122"/>
            </a:endParaRPr>
          </a:p>
          <a:p>
            <a:pPr lvl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34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实验内容</a:t>
            </a:r>
            <a:endParaRPr lang="zh-CN" altLang="en-US" sz="34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/>
        </p:nvSpPr>
        <p:spPr>
          <a:xfrm>
            <a:off x="3124200" y="6481763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6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>
          <a:xfrm>
            <a:off x="1447800" y="152400"/>
            <a:ext cx="6572250" cy="762000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电路仿真验证设计与仿真要求</a:t>
            </a:r>
            <a:endParaRPr lang="zh-CN" altLang="en-US">
              <a:solidFill>
                <a:srgbClr val="0066FF"/>
              </a:solidFill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type="body"/>
          </p:nvPr>
        </p:nvSpPr>
        <p:spPr>
          <a:xfrm>
            <a:off x="0" y="1125538"/>
            <a:ext cx="9144000" cy="5122862"/>
          </a:xfrm>
        </p:spPr>
        <p:txBody>
          <a:bodyPr vert="horz" wrap="square" anchor="t" anchorCtr="0"/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在</a:t>
            </a:r>
            <a:r>
              <a:rPr lang="en-US" altLang="zh-CN" sz="3100" b="1" dirty="0"/>
              <a:t>Schematics</a:t>
            </a:r>
            <a:r>
              <a:rPr lang="zh-CN" altLang="en-US" sz="3100" b="1" dirty="0"/>
              <a:t>中画出电路图</a:t>
            </a:r>
            <a:endParaRPr lang="zh-CN" altLang="en-US" sz="3100" b="1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从输出文件中查看静态工作点仿真结果：</a:t>
            </a:r>
            <a:r>
              <a:rPr lang="en-US" altLang="zh-CN" sz="3100" b="1" dirty="0"/>
              <a:t>I</a:t>
            </a:r>
            <a:r>
              <a:rPr lang="en-US" altLang="zh-CN" sz="3100" b="1" baseline="-25000" dirty="0"/>
              <a:t>b</a:t>
            </a:r>
            <a:r>
              <a:rPr lang="zh-CN" altLang="en-US" sz="3100" b="1" dirty="0"/>
              <a:t>、</a:t>
            </a:r>
            <a:r>
              <a:rPr lang="en-US" altLang="zh-CN" sz="3100" b="1" dirty="0"/>
              <a:t>I</a:t>
            </a:r>
            <a:r>
              <a:rPr lang="en-US" altLang="zh-CN" sz="3100" b="1" baseline="-25000" dirty="0"/>
              <a:t>c</a:t>
            </a:r>
            <a:r>
              <a:rPr lang="zh-CN" altLang="en-US" sz="3100" b="1" dirty="0"/>
              <a:t>、</a:t>
            </a:r>
            <a:r>
              <a:rPr lang="en-US" altLang="zh-CN" sz="3100" b="1" dirty="0"/>
              <a:t>V</a:t>
            </a:r>
            <a:r>
              <a:rPr lang="en-US" altLang="zh-CN" sz="3100" b="1" baseline="-25000" dirty="0"/>
              <a:t>be</a:t>
            </a:r>
            <a:r>
              <a:rPr lang="zh-CN" altLang="en-US" sz="3100" b="1" dirty="0"/>
              <a:t>、</a:t>
            </a:r>
            <a:r>
              <a:rPr lang="en-US" altLang="zh-CN" sz="3100" b="1" dirty="0"/>
              <a:t>V</a:t>
            </a:r>
            <a:r>
              <a:rPr lang="en-US" altLang="zh-CN" sz="3100" b="1" baseline="-25000" dirty="0"/>
              <a:t>ce</a:t>
            </a:r>
            <a:endParaRPr lang="en-US" altLang="zh-CN" sz="3100" b="1" baseline="-25000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用</a:t>
            </a:r>
            <a:r>
              <a:rPr lang="en-US" altLang="zh-CN" sz="3100" b="1" dirty="0"/>
              <a:t>Probe</a:t>
            </a:r>
            <a:r>
              <a:rPr lang="zh-CN" altLang="en-US" sz="3100" b="1" dirty="0"/>
              <a:t>程序观测观测输入、输出电压波形，并计算电压增益</a:t>
            </a:r>
            <a:r>
              <a:rPr lang="en-US" altLang="zh-CN" sz="3100" b="1" dirty="0"/>
              <a:t>A</a:t>
            </a:r>
            <a:r>
              <a:rPr lang="en-US" altLang="zh-CN" sz="3100" b="1" baseline="-25000" dirty="0"/>
              <a:t>v</a:t>
            </a:r>
            <a:endParaRPr lang="zh-CN" altLang="en-US" sz="3100" b="1" baseline="-25000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观测幅频响应曲线：</a:t>
            </a:r>
            <a:r>
              <a:rPr lang="en-US" altLang="zh-CN" sz="3100" b="1" dirty="0"/>
              <a:t>db(V(Vo)/V(Vs:+))</a:t>
            </a:r>
            <a:r>
              <a:rPr lang="zh-CN" altLang="en-US" sz="3100" b="1" dirty="0"/>
              <a:t>，</a:t>
            </a:r>
            <a:r>
              <a:rPr lang="en-US" altLang="zh-CN" sz="3100" b="1" dirty="0"/>
              <a:t>	</a:t>
            </a:r>
            <a:r>
              <a:rPr lang="zh-CN" altLang="en-US" sz="3100" b="1" dirty="0"/>
              <a:t>测中频增益、上限频率</a:t>
            </a:r>
            <a:r>
              <a:rPr lang="en-US" altLang="zh-CN" sz="3100" b="1" dirty="0"/>
              <a:t>f</a:t>
            </a:r>
            <a:r>
              <a:rPr lang="en-US" altLang="zh-CN" sz="3100" b="1" baseline="-25000" dirty="0"/>
              <a:t>H</a:t>
            </a:r>
            <a:r>
              <a:rPr lang="zh-CN" altLang="en-US" sz="3100" b="1" dirty="0"/>
              <a:t>和下限频率</a:t>
            </a:r>
            <a:r>
              <a:rPr lang="en-US" altLang="zh-CN" sz="3100" b="1" dirty="0"/>
              <a:t>f</a:t>
            </a:r>
            <a:r>
              <a:rPr lang="en-US" altLang="zh-CN" sz="3100" b="1" baseline="-25000" dirty="0"/>
              <a:t>L</a:t>
            </a:r>
            <a:r>
              <a:rPr lang="zh-CN" altLang="en-US" sz="3100" dirty="0"/>
              <a:t>	</a:t>
            </a:r>
            <a:endParaRPr lang="en-US" altLang="zh-CN" sz="3100" b="1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观测输入阻抗的频率响应：</a:t>
            </a:r>
            <a:r>
              <a:rPr lang="en-US" altLang="zh-CN" sz="3100" b="1" dirty="0"/>
              <a:t>Ri -- V(Vi)/I(Vs)</a:t>
            </a:r>
            <a:endParaRPr lang="en-US" altLang="zh-CN" sz="3100" b="1" dirty="0"/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观测输出阻抗的频率响应：</a:t>
            </a:r>
            <a:r>
              <a:rPr lang="en-US" altLang="zh-CN" sz="3100" b="1" dirty="0"/>
              <a:t>Ro-- V(Vo)/I(Vs)</a:t>
            </a:r>
            <a:endParaRPr lang="zh-CN" altLang="en-US" sz="3100" b="1" dirty="0">
              <a:solidFill>
                <a:srgbClr val="FE2312"/>
              </a:solidFill>
            </a:endParaRPr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3100" b="1" dirty="0"/>
              <a:t>观察非线性失真现象*</a:t>
            </a:r>
            <a:r>
              <a:rPr lang="en-US" altLang="zh-CN" sz="3100" b="1" dirty="0">
                <a:solidFill>
                  <a:srgbClr val="FE2312"/>
                </a:solidFill>
              </a:rPr>
              <a:t> </a:t>
            </a:r>
            <a:endParaRPr lang="en-US" altLang="zh-CN" sz="3100" b="1" dirty="0">
              <a:solidFill>
                <a:srgbClr val="FE2312"/>
              </a:solidFill>
            </a:endParaRPr>
          </a:p>
          <a:p>
            <a:pPr marL="469900" indent="-469900" algn="just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分析电流负反馈电阻的加入对电路性能指标的影响</a:t>
            </a:r>
            <a:r>
              <a:rPr lang="zh-CN" altLang="en-US" sz="3100" b="1" dirty="0"/>
              <a:t>*</a:t>
            </a:r>
            <a:r>
              <a:rPr lang="zh-CN" altLang="en-US" sz="2800" b="1" dirty="0"/>
              <a:t> ；</a:t>
            </a:r>
            <a:endParaRPr lang="zh-CN" altLang="en-US" sz="2800" b="1" dirty="0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en-US" altLang="zh-CN" dirty="0"/>
              <a:t>PSPICE</a:t>
            </a:r>
            <a:r>
              <a:rPr lang="zh-CN" altLang="en-US" dirty="0"/>
              <a:t>仿真实验报告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>
          <a:xfrm>
            <a:off x="609600" y="1066800"/>
            <a:ext cx="8305800" cy="5105400"/>
          </a:xfrm>
        </p:spPr>
        <p:txBody>
          <a:bodyPr vert="horz" wrap="square" anchor="t" anchorCtr="0"/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采用</a:t>
            </a:r>
            <a:r>
              <a:rPr lang="en-US" altLang="zh-CN" sz="3100" b="1" dirty="0">
                <a:latin typeface="楷体_GB2312" pitchFamily="1" charset="-122"/>
                <a:ea typeface="楷体_GB2312" pitchFamily="1" charset="-122"/>
              </a:rPr>
              <a:t>word</a:t>
            </a: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文档形式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将电路图、波形、曲线等结果复制到报告中（注意：重要参数的标注！）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结果分析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思考题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实验中所遇到的问题、分析与解决方法；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打印</a:t>
            </a:r>
            <a:r>
              <a:rPr lang="en-US" altLang="zh-CN" sz="3100" b="1" dirty="0">
                <a:latin typeface="楷体_GB2312" pitchFamily="1" charset="-122"/>
                <a:ea typeface="楷体_GB2312" pitchFamily="1" charset="-122"/>
              </a:rPr>
              <a:t>(</a:t>
            </a: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手写签名</a:t>
            </a:r>
            <a:r>
              <a:rPr lang="en-US" altLang="zh-CN" sz="3100" b="1" dirty="0">
                <a:latin typeface="楷体_GB2312" pitchFamily="1" charset="-122"/>
                <a:ea typeface="楷体_GB2312" pitchFamily="1" charset="-122"/>
              </a:rPr>
              <a:t>)</a:t>
            </a: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提交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注明姓名</a:t>
            </a:r>
            <a:r>
              <a:rPr lang="en-US" altLang="zh-CN" sz="3100" b="1" dirty="0">
                <a:latin typeface="楷体_GB2312" pitchFamily="1" charset="-122"/>
                <a:ea typeface="楷体_GB2312" pitchFamily="1" charset="-122"/>
              </a:rPr>
              <a:t>/</a:t>
            </a: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班级</a:t>
            </a:r>
            <a:r>
              <a:rPr lang="en-US" altLang="zh-CN" sz="3100" b="1" dirty="0">
                <a:latin typeface="楷体_GB2312" pitchFamily="1" charset="-122"/>
                <a:ea typeface="楷体_GB2312" pitchFamily="1" charset="-122"/>
              </a:rPr>
              <a:t>/</a:t>
            </a: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学号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 eaLnBrk="1" hangingPunct="1">
              <a:lnSpc>
                <a:spcPct val="80000"/>
              </a:lnSpc>
            </a:pPr>
            <a:r>
              <a:rPr lang="zh-CN" altLang="en-US" sz="3100" b="1" dirty="0">
                <a:latin typeface="楷体_GB2312" pitchFamily="1" charset="-122"/>
                <a:ea typeface="楷体_GB2312" pitchFamily="1" charset="-122"/>
              </a:rPr>
              <a:t>同时提交电子文档：以学号姓名为文件名，将仿真文件目录与实验报告电子档一同压缩为一个文件提交</a:t>
            </a:r>
            <a:endParaRPr lang="zh-CN" altLang="en-US" sz="3100" b="1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66561"/>
          <p:cNvSpPr>
            <a:spLocks noGrp="1"/>
          </p:cNvSpPr>
          <p:nvPr>
            <p:ph type="title"/>
          </p:nvPr>
        </p:nvSpPr>
        <p:spPr>
          <a:xfrm>
            <a:off x="990600" y="2057400"/>
            <a:ext cx="7620000" cy="685800"/>
          </a:xfrm>
        </p:spPr>
        <p:txBody>
          <a:bodyPr anchor="ctr" anchorCtr="0"/>
          <a:p>
            <a:pPr algn="ctr"/>
            <a:r>
              <a:rPr lang="zh-CN" altLang="en-US" sz="4400" dirty="0">
                <a:latin typeface="隶书" panose="02010509060101010101" pitchFamily="1" charset="-122"/>
                <a:ea typeface="隶书" panose="02010509060101010101" pitchFamily="1" charset="-122"/>
              </a:rPr>
              <a:t>共射</a:t>
            </a:r>
            <a:r>
              <a:rPr lang="en-US" altLang="zh-CN" sz="4400" dirty="0">
                <a:latin typeface="隶书" panose="02010509060101010101" pitchFamily="1" charset="-122"/>
                <a:ea typeface="隶书" panose="02010509060101010101" pitchFamily="1" charset="-122"/>
              </a:rPr>
              <a:t>-</a:t>
            </a:r>
            <a:r>
              <a:rPr lang="zh-CN" altLang="en-US" sz="4400" dirty="0">
                <a:latin typeface="隶书" panose="02010509060101010101" pitchFamily="1" charset="-122"/>
                <a:ea typeface="隶书" panose="02010509060101010101" pitchFamily="1" charset="-122"/>
              </a:rPr>
              <a:t>共集放大电路安装调试</a:t>
            </a:r>
            <a:endParaRPr lang="zh-CN" altLang="en-US" sz="4400" dirty="0">
              <a:latin typeface="隶书" panose="02010509060101010101" pitchFamily="1" charset="-122"/>
              <a:ea typeface="隶书" panose="02010509060101010101" pitchFamily="1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直接连接符 67585"/>
          <p:cNvSpPr/>
          <p:nvPr/>
        </p:nvSpPr>
        <p:spPr>
          <a:xfrm>
            <a:off x="1016000" y="9144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7587" name="对象 67586"/>
          <p:cNvGraphicFramePr>
            <a:graphicFrameLocks noChangeAspect="1"/>
          </p:cNvGraphicFramePr>
          <p:nvPr/>
        </p:nvGraphicFramePr>
        <p:xfrm>
          <a:off x="1676400" y="1111250"/>
          <a:ext cx="6753225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6753225" imgH="4800600" progId="Word.Picture.8">
                  <p:embed/>
                </p:oleObj>
              </mc:Choice>
              <mc:Fallback>
                <p:oleObj name="" r:id="rId1" imgW="6753225" imgH="4800600" progId="Word.Picture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111250"/>
                        <a:ext cx="6753225" cy="480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左大括号 67587"/>
          <p:cNvSpPr/>
          <p:nvPr/>
        </p:nvSpPr>
        <p:spPr>
          <a:xfrm rot="16200000">
            <a:off x="3200400" y="454025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589" name="文本框 67588"/>
          <p:cNvSpPr txBox="1"/>
          <p:nvPr/>
        </p:nvSpPr>
        <p:spPr>
          <a:xfrm>
            <a:off x="2743200" y="614045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共射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67590" name="左大括号 67589"/>
          <p:cNvSpPr/>
          <p:nvPr/>
        </p:nvSpPr>
        <p:spPr>
          <a:xfrm rot="16200000">
            <a:off x="6324600" y="454025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591" name="文本框 67590"/>
          <p:cNvSpPr txBox="1"/>
          <p:nvPr/>
        </p:nvSpPr>
        <p:spPr>
          <a:xfrm>
            <a:off x="5943600" y="614045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共集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67592" name="椭圆 67591"/>
          <p:cNvSpPr/>
          <p:nvPr/>
        </p:nvSpPr>
        <p:spPr>
          <a:xfrm>
            <a:off x="1828800" y="1339850"/>
            <a:ext cx="1219200" cy="1371600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593" name="椭圆 67592"/>
          <p:cNvSpPr/>
          <p:nvPr/>
        </p:nvSpPr>
        <p:spPr>
          <a:xfrm>
            <a:off x="5181600" y="2025650"/>
            <a:ext cx="1752600" cy="1066800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7594" name="标题 67593"/>
          <p:cNvSpPr>
            <a:spLocks noGrp="1"/>
          </p:cNvSpPr>
          <p:nvPr>
            <p:ph type="title"/>
          </p:nvPr>
        </p:nvSpPr>
        <p:spPr>
          <a:xfrm>
            <a:off x="2179638" y="139700"/>
            <a:ext cx="4830762" cy="588963"/>
          </a:xfrm>
        </p:spPr>
        <p:txBody>
          <a:bodyPr wrap="square" anchor="ctr" anchorCtr="0">
            <a:spAutoFit/>
          </a:bodyPr>
          <a:p>
            <a:r>
              <a:rPr lang="zh-CN" altLang="en-US" sz="32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一、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原理图（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2" charset="-122"/>
              </a:rPr>
              <a:t>91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页）</a:t>
            </a:r>
            <a:endParaRPr lang="zh-CN" altLang="en-US" sz="2800" dirty="0">
              <a:solidFill>
                <a:schemeClr val="tx1"/>
              </a:solidFill>
              <a:latin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1143000" y="228600"/>
            <a:ext cx="8001000" cy="684213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二、电路安装与测试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8612" name="Text Box 5"/>
          <p:cNvSpPr txBox="1"/>
          <p:nvPr/>
        </p:nvSpPr>
        <p:spPr>
          <a:xfrm>
            <a:off x="428625" y="3929063"/>
            <a:ext cx="8351838" cy="1458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ts val="12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首先在面包板上组装好电路，参考上图搭接好实验测试平台。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看录像参考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</a:rPr>
              <a:t>:http://eda.hust.edu.cn/../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</a:rPr>
              <a:t>实验课堂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</a:rPr>
              <a:t>/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</a:rPr>
              <a:t>单管放大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</a:rPr>
              <a:t>..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2" charset="0"/>
                <a:ea typeface="宋体" panose="02010600030101010101" pitchFamily="2" charset="-122"/>
              </a:rPr>
              <a:t> </a:t>
            </a:r>
            <a:endParaRPr lang="en-US" altLang="zh-CN" sz="2800" dirty="0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68613" name="Text Box 6"/>
          <p:cNvSpPr txBox="1"/>
          <p:nvPr/>
        </p:nvSpPr>
        <p:spPr>
          <a:xfrm>
            <a:off x="533400" y="5410200"/>
            <a:ext cx="7178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然后进行电路调试：</a:t>
            </a:r>
            <a:endParaRPr lang="zh-CN" altLang="en-US" sz="18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4" name="Text Box 7"/>
          <p:cNvSpPr txBox="1"/>
          <p:nvPr/>
        </p:nvSpPr>
        <p:spPr>
          <a:xfrm>
            <a:off x="3962400" y="5486400"/>
            <a:ext cx="3419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静态调试和动态调试</a:t>
            </a:r>
            <a:endParaRPr lang="zh-CN" altLang="en-US" sz="2800" dirty="0">
              <a:solidFill>
                <a:srgbClr val="3333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pic>
        <p:nvPicPr>
          <p:cNvPr id="68615" name="内容占位符 9" descr="1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4438" y="1357313"/>
            <a:ext cx="6715125" cy="2643187"/>
          </a:xfr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xfrm>
            <a:off x="1909763" y="115888"/>
            <a:ext cx="6630987" cy="581025"/>
          </a:xfrm>
        </p:spPr>
        <p:txBody>
          <a:bodyPr vert="horz" wrap="square" anchor="b" anchorCtr="0"/>
          <a:p>
            <a:pPr eaLnBrk="1" hangingPunct="1"/>
            <a:r>
              <a:rPr lang="en-US" altLang="zh-CN" dirty="0">
                <a:latin typeface="仿宋_GB2312" pitchFamily="1" charset="-122"/>
                <a:ea typeface="仿宋_GB2312" pitchFamily="1" charset="-122"/>
              </a:rPr>
              <a:t>1. 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电路组装与测试</a:t>
            </a:r>
            <a:endParaRPr lang="zh-CN" altLang="en-US" dirty="0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69635" name="Line 6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9636" name="Object 8"/>
          <p:cNvGraphicFramePr>
            <a:graphicFrameLocks noChangeAspect="1"/>
          </p:cNvGraphicFramePr>
          <p:nvPr/>
        </p:nvGraphicFramePr>
        <p:xfrm>
          <a:off x="4038600" y="3581400"/>
          <a:ext cx="51054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6276975" imgH="3038475" progId="Paint.Picture">
                  <p:embed/>
                </p:oleObj>
              </mc:Choice>
              <mc:Fallback>
                <p:oleObj name="" r:id="rId1" imgW="6276975" imgH="3038475" progId="Paint.Picture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38600" y="3581400"/>
                        <a:ext cx="5105400" cy="303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9"/>
          <p:cNvSpPr txBox="1"/>
          <p:nvPr/>
        </p:nvSpPr>
        <p:spPr>
          <a:xfrm>
            <a:off x="323850" y="1066800"/>
            <a:ext cx="5327650" cy="2209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特别注意：</a:t>
            </a:r>
            <a:endParaRPr lang="zh-CN" altLang="en-US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1. </a:t>
            </a: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所有交流量均用示波器测试。</a:t>
            </a:r>
            <a:endParaRPr lang="zh-CN" altLang="en-US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2. </a:t>
            </a: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发现电路不能正常工作，要用测试方法排查故障。</a:t>
            </a:r>
            <a:endParaRPr lang="zh-CN" altLang="en-US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3. </a:t>
            </a: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实验前，先用万用表测出</a:t>
            </a:r>
            <a:r>
              <a:rPr lang="zh-CN" altLang="en-US" b="1" i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 </a:t>
            </a: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值。</a:t>
            </a:r>
            <a:endParaRPr lang="zh-CN" altLang="en-US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69638" name="图片 69637" descr="三极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25" y="0"/>
            <a:ext cx="3203575" cy="32845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9639" name="Object 4"/>
          <p:cNvGraphicFramePr>
            <a:graphicFrameLocks noChangeAspect="1"/>
          </p:cNvGraphicFramePr>
          <p:nvPr/>
        </p:nvGraphicFramePr>
        <p:xfrm>
          <a:off x="0" y="3733800"/>
          <a:ext cx="3925888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4" imgW="2266950" imgH="1524000" progId="Word.Picture.8">
                  <p:embed/>
                </p:oleObj>
              </mc:Choice>
              <mc:Fallback>
                <p:oleObj name="" r:id="rId4" imgW="2266950" imgH="1524000" progId="Word.Picture.8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3733800"/>
                        <a:ext cx="3925888" cy="2654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0"/>
            <a:ext cx="9144000" cy="5861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59" name="矩形 70658"/>
          <p:cNvSpPr/>
          <p:nvPr/>
        </p:nvSpPr>
        <p:spPr>
          <a:xfrm>
            <a:off x="1676400" y="152400"/>
            <a:ext cx="2216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1" hangingPunct="1"/>
            <a:r>
              <a:rPr lang="zh-CN" altLang="en-US" sz="4000" dirty="0">
                <a:solidFill>
                  <a:srgbClr val="FF3300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电路安装</a:t>
            </a:r>
            <a:endParaRPr lang="zh-CN" altLang="en-US" sz="4000" dirty="0">
              <a:solidFill>
                <a:srgbClr val="FF33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70660" name="矩形 70659"/>
          <p:cNvSpPr/>
          <p:nvPr/>
        </p:nvSpPr>
        <p:spPr>
          <a:xfrm>
            <a:off x="2268538" y="4365625"/>
            <a:ext cx="431800" cy="936625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0661" name="矩形 70660"/>
          <p:cNvSpPr/>
          <p:nvPr/>
        </p:nvSpPr>
        <p:spPr>
          <a:xfrm>
            <a:off x="1258888" y="4292600"/>
            <a:ext cx="433387" cy="936625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标题 72705"/>
          <p:cNvSpPr>
            <a:spLocks noGrp="1"/>
          </p:cNvSpPr>
          <p:nvPr>
            <p:ph type="title"/>
          </p:nvPr>
        </p:nvSpPr>
        <p:spPr>
          <a:xfrm>
            <a:off x="1447800" y="304800"/>
            <a:ext cx="2400300" cy="528638"/>
          </a:xfrm>
        </p:spPr>
        <p:txBody>
          <a:bodyPr anchor="ctr" anchorCtr="0">
            <a:spAutoFit/>
          </a:bodyPr>
          <a:p>
            <a:r>
              <a:rPr lang="zh-CN" altLang="en-US" sz="2800">
                <a:solidFill>
                  <a:schemeClr val="hlink"/>
                </a:solidFill>
              </a:rPr>
              <a:t>三、实验内容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72707" name="文本占位符 72706" descr="Rectangle: Click to edit Master text styles&#13;&#10;Second level&#13;&#10;Third level&#13;&#10;Fourth level&#13;&#10;Fifth level"/>
          <p:cNvSpPr>
            <a:spLocks noGrp="1"/>
          </p:cNvSpPr>
          <p:nvPr>
            <p:ph type="body" idx="1"/>
          </p:nvPr>
        </p:nvSpPr>
        <p:spPr>
          <a:xfrm>
            <a:off x="611188" y="1139825"/>
            <a:ext cx="7618412" cy="914400"/>
          </a:xfrm>
        </p:spPr>
        <p:txBody>
          <a:bodyPr/>
          <a:p>
            <a:pPr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、正确组装电路</a:t>
            </a:r>
            <a:endParaRPr lang="zh-CN" altLang="en-US" sz="2400" b="1" dirty="0"/>
          </a:p>
          <a:p>
            <a:pPr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、分别测量两级电路的静态工作点（表</a:t>
            </a:r>
            <a:r>
              <a:rPr lang="en-US" altLang="zh-CN" sz="2400" b="1" dirty="0"/>
              <a:t>4.7.1</a:t>
            </a:r>
            <a:r>
              <a:rPr lang="zh-CN" altLang="en-US" sz="2400" b="1" dirty="0"/>
              <a:t>）</a:t>
            </a:r>
            <a:endParaRPr lang="zh-CN" altLang="en-US" b="1" dirty="0"/>
          </a:p>
        </p:txBody>
      </p:sp>
      <p:graphicFrame>
        <p:nvGraphicFramePr>
          <p:cNvPr id="72708" name="表格 72707"/>
          <p:cNvGraphicFramePr/>
          <p:nvPr/>
        </p:nvGraphicFramePr>
        <p:xfrm>
          <a:off x="1600200" y="2054225"/>
          <a:ext cx="6019800" cy="1250950"/>
        </p:xfrm>
        <a:graphic>
          <a:graphicData uri="http://schemas.openxmlformats.org/drawingml/2006/table">
            <a:tbl>
              <a:tblPr/>
              <a:tblGrid>
                <a:gridCol w="752475"/>
                <a:gridCol w="1430338"/>
                <a:gridCol w="1428750"/>
                <a:gridCol w="1204912"/>
                <a:gridCol w="1203325"/>
              </a:tblGrid>
              <a:tr h="42862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dirty="0"/>
                        <a:t>I</a:t>
                      </a:r>
                      <a:r>
                        <a:rPr lang="en-US" altLang="zh-CN" sz="1800" b="1" baseline="-25000" dirty="0"/>
                        <a:t>CQ</a:t>
                      </a:r>
                      <a:r>
                        <a:rPr lang="en-US" altLang="zh-CN" sz="1800" b="1" dirty="0"/>
                        <a:t>/mA</a:t>
                      </a:r>
                      <a:endParaRPr lang="en-US" altLang="zh-CN" sz="1800" b="1" dirty="0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dirty="0"/>
                        <a:t>V</a:t>
                      </a:r>
                      <a:r>
                        <a:rPr lang="en-US" altLang="zh-CN" sz="1800" b="1" baseline="-25000" dirty="0"/>
                        <a:t>CEQ</a:t>
                      </a:r>
                      <a:r>
                        <a:rPr lang="en-US" altLang="zh-CN" sz="1800" b="1" dirty="0"/>
                        <a:t>/V</a:t>
                      </a:r>
                      <a:endParaRPr lang="en-US" altLang="zh-CN" sz="1800" b="1" dirty="0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dirty="0"/>
                        <a:t>V</a:t>
                      </a:r>
                      <a:r>
                        <a:rPr lang="en-US" altLang="zh-CN" sz="1800" b="1" baseline="-25000" dirty="0"/>
                        <a:t>BEQ</a:t>
                      </a:r>
                      <a:r>
                        <a:rPr lang="en-US" altLang="zh-CN" sz="1800" b="1" dirty="0"/>
                        <a:t>/V</a:t>
                      </a:r>
                      <a:endParaRPr lang="en-US" altLang="zh-CN" sz="1800" b="1" dirty="0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>
                          <a:sym typeface="Symbol" panose="05050102010706020507" pitchFamily="2" charset="2"/>
                        </a:rPr>
                        <a:t></a:t>
                      </a: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dirty="0"/>
                        <a:t>T</a:t>
                      </a:r>
                      <a:r>
                        <a:rPr lang="en-US" altLang="zh-CN" sz="1800" b="1" baseline="-25000" dirty="0"/>
                        <a:t>1</a:t>
                      </a:r>
                      <a:endParaRPr lang="en-US" altLang="zh-CN" sz="1800" b="1" baseline="-25000" dirty="0"/>
                    </a:p>
                  </a:txBody>
                  <a:tcPr vert="horz" anchor="t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2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dirty="0"/>
                        <a:t>T</a:t>
                      </a:r>
                      <a:r>
                        <a:rPr lang="en-US" altLang="zh-CN" sz="1800" b="1" baseline="-25000" dirty="0"/>
                        <a:t>2</a:t>
                      </a:r>
                      <a:endParaRPr lang="en-US" altLang="zh-CN" sz="1800" b="1" baseline="-25000" dirty="0"/>
                    </a:p>
                  </a:txBody>
                  <a:tcPr vert="horz" anchor="t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/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34" name="矩形 72733" descr="Rectangle: Click to edit Master text styles&#13;&#10;Second level&#13;&#10;Third level&#13;&#10;Fourth level&#13;&#10;Fifth level"/>
          <p:cNvSpPr/>
          <p:nvPr/>
        </p:nvSpPr>
        <p:spPr>
          <a:xfrm>
            <a:off x="539750" y="3279775"/>
            <a:ext cx="829945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、测量电路的放大倍数，并计算输出电阻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Ro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（表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4.7.2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72735" name="矩形 72734" descr="Rectangle: Click to edit Master text styles&#13;&#10;Second level&#13;&#10;Third level&#13;&#10;Fourth level&#13;&#10;Fifth level"/>
          <p:cNvSpPr/>
          <p:nvPr/>
        </p:nvSpPr>
        <p:spPr>
          <a:xfrm>
            <a:off x="684213" y="5413375"/>
            <a:ext cx="7545387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、观察记录波形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vi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vo1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vo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（图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4.7.2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5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、测量通频带（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fH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fL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72736" name="表格 72735"/>
          <p:cNvGraphicFramePr/>
          <p:nvPr/>
        </p:nvGraphicFramePr>
        <p:xfrm>
          <a:off x="1066800" y="3813175"/>
          <a:ext cx="7620000" cy="1662113"/>
        </p:xfrm>
        <a:graphic>
          <a:graphicData uri="http://schemas.openxmlformats.org/drawingml/2006/table">
            <a:tbl>
              <a:tblPr/>
              <a:tblGrid>
                <a:gridCol w="990600"/>
                <a:gridCol w="1295400"/>
                <a:gridCol w="1447800"/>
                <a:gridCol w="1066800"/>
                <a:gridCol w="990600"/>
                <a:gridCol w="1143000"/>
                <a:gridCol w="685800"/>
              </a:tblGrid>
              <a:tr h="11303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V</a:t>
                      </a:r>
                      <a:r>
                        <a:rPr lang="en-US" altLang="zh-CN" sz="2200" b="1" baseline="-25000" dirty="0"/>
                        <a:t>i</a:t>
                      </a:r>
                      <a:endParaRPr lang="en-US" altLang="zh-CN" sz="2200" b="1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800" b="1" dirty="0"/>
                        <a:t>峰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zh-CN" altLang="en-US" sz="1800" b="1" dirty="0"/>
                        <a:t>峰值</a:t>
                      </a:r>
                      <a:endParaRPr lang="zh-CN" altLang="en-US" sz="1800" b="1" dirty="0"/>
                    </a:p>
                  </a:txBody>
                  <a:tcPr marT="57150" marB="0" vert="horz" anchor="t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V</a:t>
                      </a:r>
                      <a:r>
                        <a:rPr lang="en-US" altLang="zh-CN" sz="2200" b="1" baseline="-25000" dirty="0"/>
                        <a:t>o1</a:t>
                      </a:r>
                      <a:endParaRPr lang="en-US" altLang="zh-CN" sz="2200" b="1" baseline="-25000" dirty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R</a:t>
                      </a:r>
                      <a:r>
                        <a:rPr lang="en-US" altLang="zh-CN" sz="2200" b="1" baseline="-25000" dirty="0"/>
                        <a:t>L1</a:t>
                      </a:r>
                      <a:r>
                        <a:rPr lang="en-US" altLang="zh-CN" sz="2200" b="1" dirty="0"/>
                        <a:t>= </a:t>
                      </a:r>
                      <a:r>
                        <a:rPr lang="en-US" altLang="zh-CN" sz="2200" b="1" dirty="0">
                          <a:sym typeface="Symbol" panose="05050102010706020507" pitchFamily="2" charset="2"/>
                        </a:rPr>
                        <a:t></a:t>
                      </a:r>
                      <a:endParaRPr lang="en-US" altLang="zh-CN" sz="2200" b="1" dirty="0">
                        <a:sym typeface="Symbol" panose="05050102010706020507" pitchFamily="2" charset="2"/>
                      </a:endParaRPr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V</a:t>
                      </a:r>
                      <a:r>
                        <a:rPr lang="en-US" altLang="zh-CN" sz="2200" b="1" baseline="-25000" dirty="0"/>
                        <a:t>o1</a:t>
                      </a:r>
                      <a:endParaRPr lang="en-US" altLang="zh-CN" sz="2200" b="1" baseline="-25000" dirty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R</a:t>
                      </a:r>
                      <a:r>
                        <a:rPr lang="en-US" altLang="zh-CN" sz="2200" b="1" baseline="-25000" dirty="0"/>
                        <a:t>L1</a:t>
                      </a:r>
                      <a:r>
                        <a:rPr lang="en-US" altLang="zh-CN" sz="2200" b="1" dirty="0"/>
                        <a:t>=</a:t>
                      </a:r>
                      <a:r>
                        <a:rPr lang="en-US" altLang="zh-CN" sz="2200" b="1" dirty="0">
                          <a:sym typeface="Symbol" panose="05050102010706020507" pitchFamily="2" charset="2"/>
                        </a:rPr>
                        <a:t>5.1K</a:t>
                      </a:r>
                      <a:endParaRPr lang="en-US" altLang="zh-CN" sz="2200" b="1" dirty="0">
                        <a:sym typeface="Symbol" panose="05050102010706020507" pitchFamily="2" charset="2"/>
                      </a:endParaRPr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V</a:t>
                      </a:r>
                      <a:r>
                        <a:rPr lang="en-US" altLang="zh-CN" sz="2200" b="1" baseline="-25000" dirty="0"/>
                        <a:t>o1</a:t>
                      </a:r>
                      <a:endParaRPr lang="en-US" altLang="zh-CN" sz="2200" b="1" baseline="-2500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200" b="1" dirty="0"/>
                        <a:t>合上</a:t>
                      </a:r>
                      <a:r>
                        <a:rPr lang="en-US" altLang="zh-CN" sz="2200" b="1" dirty="0"/>
                        <a:t>S</a:t>
                      </a:r>
                      <a:endParaRPr lang="en-US" altLang="zh-CN" sz="2200" b="1" dirty="0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V</a:t>
                      </a:r>
                      <a:r>
                        <a:rPr lang="en-US" altLang="zh-CN" sz="2200" b="1" baseline="-25000" dirty="0"/>
                        <a:t>o </a:t>
                      </a:r>
                      <a:endParaRPr lang="en-US" altLang="zh-CN" sz="2200" b="1" baseline="-25000" dirty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R</a:t>
                      </a:r>
                      <a:r>
                        <a:rPr lang="en-US" altLang="zh-CN" sz="2200" b="1" baseline="-25000" dirty="0"/>
                        <a:t>L</a:t>
                      </a:r>
                      <a:r>
                        <a:rPr lang="en-US" altLang="zh-CN" sz="2200" b="1" dirty="0"/>
                        <a:t>=</a:t>
                      </a:r>
                      <a:r>
                        <a:rPr lang="en-US" altLang="zh-CN" sz="2200" b="1" dirty="0">
                          <a:sym typeface="Symbol" panose="05050102010706020507" pitchFamily="2" charset="2"/>
                        </a:rPr>
                        <a:t></a:t>
                      </a:r>
                      <a:endParaRPr lang="en-US" altLang="zh-CN" sz="2200" b="1" dirty="0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V</a:t>
                      </a:r>
                      <a:r>
                        <a:rPr lang="en-US" altLang="zh-CN" sz="2200" b="1" baseline="-25000" dirty="0"/>
                        <a:t>o </a:t>
                      </a:r>
                      <a:endParaRPr lang="en-US" altLang="zh-CN" sz="2200" b="1" baseline="-25000" dirty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200" b="1" dirty="0"/>
                        <a:t>R</a:t>
                      </a:r>
                      <a:r>
                        <a:rPr lang="en-US" altLang="zh-CN" sz="2200" b="1" baseline="-25000" dirty="0"/>
                        <a:t>L</a:t>
                      </a:r>
                      <a:r>
                        <a:rPr lang="en-US" altLang="zh-CN" sz="2200" b="1" dirty="0"/>
                        <a:t>=</a:t>
                      </a:r>
                      <a:r>
                        <a:rPr lang="en-US" altLang="zh-CN" sz="2200" b="1" dirty="0">
                          <a:sym typeface="Symbol" panose="05050102010706020507" pitchFamily="2" charset="2"/>
                        </a:rPr>
                        <a:t>5.1K</a:t>
                      </a:r>
                      <a:endParaRPr lang="en-US" altLang="zh-CN" sz="2200" b="1" dirty="0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 b="1" dirty="0">
                          <a:latin typeface="Arial" panose="020B0604020202020204" pitchFamily="34" charset="0"/>
                        </a:rPr>
                        <a:t>…</a:t>
                      </a:r>
                      <a:endParaRPr lang="en-US" altLang="zh-CN" sz="2200" b="1" baseline="-25000" dirty="0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1813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baseline="-25000" dirty="0"/>
                        <a:t>60mV</a:t>
                      </a:r>
                      <a:endParaRPr lang="en-US" altLang="zh-CN" sz="2400" b="1" baseline="-25000" dirty="0"/>
                    </a:p>
                  </a:txBody>
                  <a:tcPr marT="57150" marB="0" vert="horz" anchor="t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0" b="1" baseline="-25000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0" b="1" baseline="-25000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0" b="1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0" b="1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0" b="1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0" b="1"/>
                    </a:p>
                  </a:txBody>
                  <a:tcPr marT="57150" marB="0"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3"/>
          <p:cNvSpPr txBox="1">
            <a:spLocks noGrp="1"/>
          </p:cNvSpPr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type="title"/>
          </p:nvPr>
        </p:nvSpPr>
        <p:spPr>
          <a:xfrm>
            <a:off x="1524000" y="228600"/>
            <a:ext cx="2667000" cy="654050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静态调试</a:t>
            </a:r>
            <a:endParaRPr lang="zh-CN" altLang="en-US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73732" name="Rectangle 3"/>
          <p:cNvSpPr>
            <a:spLocks noGrp="1"/>
          </p:cNvSpPr>
          <p:nvPr>
            <p:ph type="subTitle"/>
          </p:nvPr>
        </p:nvSpPr>
        <p:spPr>
          <a:xfrm>
            <a:off x="250825" y="1125538"/>
            <a:ext cx="8893175" cy="2592387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3000" dirty="0">
                <a:latin typeface="Times New Roman" panose="02020603050405020304" pitchFamily="2" charset="0"/>
              </a:rPr>
              <a:t>  </a:t>
            </a:r>
            <a:r>
              <a:rPr lang="zh-CN" altLang="en-US" sz="3000" dirty="0">
                <a:latin typeface="Times New Roman" panose="02020603050405020304" pitchFamily="2" charset="0"/>
              </a:rPr>
              <a:t>（</a:t>
            </a:r>
            <a:r>
              <a:rPr lang="en-US" altLang="zh-CN" sz="3000" dirty="0">
                <a:latin typeface="Times New Roman" panose="02020603050405020304" pitchFamily="2" charset="0"/>
              </a:rPr>
              <a:t>1</a:t>
            </a:r>
            <a:r>
              <a:rPr lang="zh-CN" altLang="en-US" sz="3000" dirty="0">
                <a:latin typeface="Times New Roman" panose="02020603050405020304" pitchFamily="2" charset="0"/>
              </a:rPr>
              <a:t>）接通电源，将电路输入端接地，测量电路的静态工作点。</a:t>
            </a:r>
            <a:endParaRPr lang="zh-CN" altLang="en-US" sz="3000" dirty="0">
              <a:latin typeface="Times New Roman" panose="02020603050405020304" pitchFamily="2" charset="0"/>
            </a:endParaRPr>
          </a:p>
          <a:p>
            <a:pPr lvl="0" algn="l" eaLnBrk="1" hangingPunct="1"/>
            <a:r>
              <a:rPr lang="zh-CN" altLang="en-US" sz="3000" dirty="0">
                <a:latin typeface="Times New Roman" panose="02020603050405020304" pitchFamily="2" charset="0"/>
              </a:rPr>
              <a:t>  （</a:t>
            </a:r>
            <a:r>
              <a:rPr lang="en-US" altLang="zh-CN" sz="3000" dirty="0">
                <a:latin typeface="Times New Roman" panose="02020603050405020304" pitchFamily="2" charset="0"/>
              </a:rPr>
              <a:t>2</a:t>
            </a:r>
            <a:r>
              <a:rPr lang="zh-CN" altLang="en-US" sz="3000" dirty="0">
                <a:latin typeface="Times New Roman" panose="02020603050405020304" pitchFamily="2" charset="0"/>
              </a:rPr>
              <a:t>）用万用表直流电压档，分别测量晶体管的</a:t>
            </a:r>
            <a:r>
              <a:rPr lang="en-US" altLang="zh-CN" sz="3000" dirty="0">
                <a:latin typeface="Times New Roman" panose="02020603050405020304" pitchFamily="2" charset="0"/>
              </a:rPr>
              <a:t>B</a:t>
            </a:r>
            <a:r>
              <a:rPr lang="zh-CN" altLang="en-US" sz="3000" dirty="0">
                <a:latin typeface="Times New Roman" panose="02020603050405020304" pitchFamily="2" charset="0"/>
              </a:rPr>
              <a:t>、</a:t>
            </a:r>
            <a:r>
              <a:rPr lang="en-US" altLang="zh-CN" sz="3000" dirty="0">
                <a:latin typeface="Times New Roman" panose="02020603050405020304" pitchFamily="2" charset="0"/>
              </a:rPr>
              <a:t>E</a:t>
            </a:r>
            <a:r>
              <a:rPr lang="zh-CN" altLang="en-US" sz="3000" dirty="0">
                <a:latin typeface="Times New Roman" panose="02020603050405020304" pitchFamily="2" charset="0"/>
              </a:rPr>
              <a:t>、</a:t>
            </a:r>
            <a:r>
              <a:rPr lang="en-US" altLang="zh-CN" sz="3000" dirty="0">
                <a:latin typeface="Times New Roman" panose="02020603050405020304" pitchFamily="2" charset="0"/>
              </a:rPr>
              <a:t>C</a:t>
            </a:r>
            <a:r>
              <a:rPr lang="zh-CN" altLang="en-US" sz="3000" dirty="0">
                <a:latin typeface="Times New Roman" panose="02020603050405020304" pitchFamily="2" charset="0"/>
              </a:rPr>
              <a:t>极对地电压</a:t>
            </a:r>
            <a:r>
              <a:rPr lang="en-US" altLang="zh-CN" sz="3000" i="1" dirty="0">
                <a:latin typeface="Times New Roman" panose="02020603050405020304" pitchFamily="2" charset="0"/>
              </a:rPr>
              <a:t>V</a:t>
            </a:r>
            <a:r>
              <a:rPr lang="en-US" altLang="zh-CN" sz="3000" baseline="-30000" dirty="0">
                <a:latin typeface="Times New Roman" panose="02020603050405020304" pitchFamily="2" charset="0"/>
              </a:rPr>
              <a:t>BQ</a:t>
            </a:r>
            <a:r>
              <a:rPr lang="zh-CN" altLang="en-US" sz="3000" dirty="0">
                <a:latin typeface="Times New Roman" panose="02020603050405020304" pitchFamily="2" charset="0"/>
              </a:rPr>
              <a:t>、</a:t>
            </a:r>
            <a:r>
              <a:rPr lang="en-US" altLang="zh-CN" sz="3000" i="1" dirty="0">
                <a:latin typeface="Times New Roman" panose="02020603050405020304" pitchFamily="2" charset="0"/>
              </a:rPr>
              <a:t>V</a:t>
            </a:r>
            <a:r>
              <a:rPr lang="en-US" altLang="zh-CN" sz="3000" baseline="-30000" dirty="0">
                <a:latin typeface="Times New Roman" panose="02020603050405020304" pitchFamily="2" charset="0"/>
              </a:rPr>
              <a:t>EQ</a:t>
            </a:r>
            <a:r>
              <a:rPr lang="zh-CN" altLang="en-US" sz="3000" dirty="0">
                <a:latin typeface="Times New Roman" panose="02020603050405020304" pitchFamily="2" charset="0"/>
              </a:rPr>
              <a:t>及</a:t>
            </a:r>
            <a:r>
              <a:rPr lang="en-US" altLang="zh-CN" sz="3000" i="1" dirty="0">
                <a:latin typeface="Times New Roman" panose="02020603050405020304" pitchFamily="2" charset="0"/>
              </a:rPr>
              <a:t>V</a:t>
            </a:r>
            <a:r>
              <a:rPr lang="en-US" altLang="zh-CN" sz="3000" baseline="-30000" dirty="0">
                <a:latin typeface="Times New Roman" panose="02020603050405020304" pitchFamily="2" charset="0"/>
              </a:rPr>
              <a:t>CQ</a:t>
            </a:r>
            <a:r>
              <a:rPr lang="zh-CN" altLang="en-US" sz="3000" dirty="0">
                <a:latin typeface="Times New Roman" panose="02020603050405020304" pitchFamily="2" charset="0"/>
              </a:rPr>
              <a:t>。</a:t>
            </a:r>
            <a:endParaRPr lang="zh-CN" altLang="en-US" sz="3000" dirty="0">
              <a:latin typeface="Times New Roman" panose="02020603050405020304" pitchFamily="2" charset="0"/>
            </a:endParaRPr>
          </a:p>
          <a:p>
            <a:pPr lvl="0" algn="l" eaLnBrk="1" hangingPunct="1"/>
            <a:r>
              <a:rPr lang="zh-CN" altLang="en-US" sz="3000" dirty="0">
                <a:latin typeface="Times New Roman" panose="02020603050405020304" pitchFamily="2" charset="0"/>
              </a:rPr>
              <a:t>  （</a:t>
            </a:r>
            <a:r>
              <a:rPr lang="en-US" altLang="zh-CN" sz="3000" dirty="0">
                <a:latin typeface="Times New Roman" panose="02020603050405020304" pitchFamily="2" charset="0"/>
              </a:rPr>
              <a:t>3</a:t>
            </a:r>
            <a:r>
              <a:rPr lang="zh-CN" altLang="en-US" sz="3000" dirty="0">
                <a:latin typeface="Times New Roman" panose="02020603050405020304" pitchFamily="2" charset="0"/>
              </a:rPr>
              <a:t>）一般</a:t>
            </a:r>
            <a:r>
              <a:rPr lang="en-US" altLang="zh-CN" sz="3000" i="1" dirty="0">
                <a:latin typeface="Times New Roman" panose="02020603050405020304" pitchFamily="2" charset="0"/>
              </a:rPr>
              <a:t>V</a:t>
            </a:r>
            <a:r>
              <a:rPr lang="en-US" altLang="zh-CN" sz="3000" baseline="-30000" dirty="0">
                <a:latin typeface="Times New Roman" panose="02020603050405020304" pitchFamily="2" charset="0"/>
              </a:rPr>
              <a:t>BQ</a:t>
            </a:r>
            <a:r>
              <a:rPr lang="zh-CN" altLang="en-US" sz="3000" dirty="0">
                <a:latin typeface="Times New Roman" panose="02020603050405020304" pitchFamily="2" charset="0"/>
              </a:rPr>
              <a:t>＝（</a:t>
            </a:r>
            <a:r>
              <a:rPr lang="en-US" altLang="zh-CN" sz="3000" dirty="0">
                <a:latin typeface="Times New Roman" panose="02020603050405020304" pitchFamily="2" charset="0"/>
              </a:rPr>
              <a:t>2</a:t>
            </a:r>
            <a:r>
              <a:rPr lang="zh-CN" altLang="en-US" sz="3000" dirty="0">
                <a:latin typeface="Times New Roman" panose="02020603050405020304" pitchFamily="2" charset="0"/>
              </a:rPr>
              <a:t>～</a:t>
            </a:r>
            <a:r>
              <a:rPr lang="en-US" altLang="zh-CN" sz="3000" dirty="0">
                <a:latin typeface="Times New Roman" panose="02020603050405020304" pitchFamily="2" charset="0"/>
              </a:rPr>
              <a:t>5</a:t>
            </a:r>
            <a:r>
              <a:rPr lang="zh-CN" altLang="en-US" sz="3000" dirty="0">
                <a:latin typeface="Times New Roman" panose="02020603050405020304" pitchFamily="2" charset="0"/>
              </a:rPr>
              <a:t>）</a:t>
            </a:r>
            <a:r>
              <a:rPr lang="en-US" altLang="zh-CN" sz="3000" dirty="0">
                <a:latin typeface="Times New Roman" panose="02020603050405020304" pitchFamily="2" charset="0"/>
              </a:rPr>
              <a:t>V</a:t>
            </a:r>
            <a:r>
              <a:rPr lang="zh-CN" altLang="en-US" sz="3000" dirty="0">
                <a:latin typeface="Times New Roman" panose="02020603050405020304" pitchFamily="2" charset="0"/>
              </a:rPr>
              <a:t>，</a:t>
            </a:r>
            <a:r>
              <a:rPr lang="en-US" altLang="zh-CN" sz="3000" i="1" dirty="0">
                <a:latin typeface="Times New Roman" panose="02020603050405020304" pitchFamily="2" charset="0"/>
              </a:rPr>
              <a:t>V</a:t>
            </a:r>
            <a:r>
              <a:rPr lang="en-US" altLang="zh-CN" sz="3000" baseline="-30000" dirty="0">
                <a:latin typeface="Times New Roman" panose="02020603050405020304" pitchFamily="2" charset="0"/>
              </a:rPr>
              <a:t>CEQ</a:t>
            </a:r>
            <a:r>
              <a:rPr lang="zh-CN" altLang="en-US" sz="3000" dirty="0">
                <a:latin typeface="Times New Roman" panose="02020603050405020304" pitchFamily="2" charset="0"/>
              </a:rPr>
              <a:t>＝正几伏。</a:t>
            </a:r>
            <a:endParaRPr lang="zh-CN" altLang="en-US" sz="3000" dirty="0">
              <a:latin typeface="Times New Roman" panose="02020603050405020304" pitchFamily="2" charset="0"/>
            </a:endParaRPr>
          </a:p>
        </p:txBody>
      </p:sp>
      <p:sp>
        <p:nvSpPr>
          <p:cNvPr id="73733" name="Rectangle 4"/>
          <p:cNvSpPr/>
          <p:nvPr/>
        </p:nvSpPr>
        <p:spPr>
          <a:xfrm>
            <a:off x="935038" y="3500438"/>
            <a:ext cx="8208962" cy="5762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如果出现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CEQ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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CC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，说明晶体管工作在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截止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状态；</a:t>
            </a:r>
            <a:endParaRPr lang="zh-CN" altLang="en-US" dirty="0">
              <a:solidFill>
                <a:srgbClr val="0000CC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3734" name="Rectangle 5"/>
          <p:cNvSpPr/>
          <p:nvPr/>
        </p:nvSpPr>
        <p:spPr>
          <a:xfrm>
            <a:off x="935038" y="4149725"/>
            <a:ext cx="8208962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如果出现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CEQ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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0.5V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，说明晶体管已经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饱和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。</a:t>
            </a:r>
            <a:endParaRPr lang="zh-CN" altLang="en-US" dirty="0">
              <a:solidFill>
                <a:srgbClr val="0000CC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3735" name="AutoShape 6"/>
          <p:cNvSpPr/>
          <p:nvPr/>
        </p:nvSpPr>
        <p:spPr>
          <a:xfrm>
            <a:off x="611188" y="3644900"/>
            <a:ext cx="288925" cy="863600"/>
          </a:xfrm>
          <a:prstGeom prst="leftBrace">
            <a:avLst>
              <a:gd name="adj1" fmla="val 65965"/>
              <a:gd name="adj2" fmla="val 50000"/>
            </a:avLst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73736" name="Rectangle 7"/>
          <p:cNvSpPr/>
          <p:nvPr/>
        </p:nvSpPr>
        <p:spPr>
          <a:xfrm>
            <a:off x="250825" y="4724400"/>
            <a:ext cx="8893175" cy="13668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）调节电位器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，使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sz="2800" baseline="-30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CEQ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＝正几伏，此时说明晶体管基本工作在线性放大状态。但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点不一定是最佳的，还要进行动态波形观测。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动态调试</a:t>
            </a:r>
            <a:endParaRPr lang="zh-CN" altLang="en-US"/>
          </a:p>
        </p:txBody>
      </p:sp>
      <p:sp>
        <p:nvSpPr>
          <p:cNvPr id="74755" name="Rectangle 3"/>
          <p:cNvSpPr>
            <a:spLocks noGrp="1"/>
          </p:cNvSpPr>
          <p:nvPr>
            <p:ph type="subTitle"/>
          </p:nvPr>
        </p:nvSpPr>
        <p:spPr>
          <a:xfrm>
            <a:off x="323850" y="1484313"/>
            <a:ext cx="4800600" cy="48006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3000" dirty="0">
                <a:latin typeface="黑体" panose="02010609060101010101" pitchFamily="2" charset="-122"/>
                <a:ea typeface="黑体" panose="02010609060101010101" pitchFamily="2" charset="-122"/>
              </a:rPr>
              <a:t>	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若放大器的输出</a:t>
            </a:r>
            <a:r>
              <a:rPr lang="en-US" altLang="zh-CN" sz="3000" i="1" dirty="0">
                <a:latin typeface="Tahoma" panose="020B0604030504040204" pitchFamily="2" charset="0"/>
                <a:ea typeface="黑体" panose="02010609060101010101" pitchFamily="2" charset="-122"/>
              </a:rPr>
              <a:t>v</a:t>
            </a:r>
            <a:r>
              <a:rPr lang="en-US" altLang="zh-CN" sz="3000" baseline="-30000" dirty="0">
                <a:latin typeface="Tahoma" panose="020B0604030504040204" pitchFamily="2" charset="0"/>
                <a:ea typeface="黑体" panose="02010609060101010101" pitchFamily="2" charset="-122"/>
              </a:rPr>
              <a:t>o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的波形的顶部被压缩（，这种现象称为</a:t>
            </a:r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截止失真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），说明静态工作点</a:t>
            </a:r>
            <a:r>
              <a:rPr lang="en-US" altLang="zh-CN" sz="3000" dirty="0">
                <a:latin typeface="Tahoma" panose="020B0604030504040204" pitchFamily="2" charset="0"/>
                <a:ea typeface="黑体" panose="02010609060101010101" pitchFamily="2" charset="-122"/>
              </a:rPr>
              <a:t>Q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偏低，应增大基极偏流</a:t>
            </a:r>
            <a:r>
              <a:rPr lang="en-US" altLang="zh-CN" sz="3000" i="1" dirty="0">
                <a:latin typeface="Tahoma" panose="020B0604030504040204" pitchFamily="2" charset="0"/>
                <a:ea typeface="黑体" panose="02010609060101010101" pitchFamily="2" charset="-122"/>
              </a:rPr>
              <a:t>I</a:t>
            </a:r>
            <a:r>
              <a:rPr lang="en-US" altLang="zh-CN" sz="3000" baseline="-30000" dirty="0">
                <a:latin typeface="Tahoma" panose="020B0604030504040204" pitchFamily="2" charset="0"/>
                <a:ea typeface="黑体" panose="02010609060101010101" pitchFamily="2" charset="-122"/>
              </a:rPr>
              <a:t>BQ</a:t>
            </a:r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（减小</a:t>
            </a:r>
            <a:r>
              <a:rPr lang="en-US" altLang="zh-CN" sz="26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en-US" altLang="zh-CN" sz="2600" baseline="-25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sz="3000" dirty="0">
                <a:latin typeface="Tahoma" panose="020B0604030504040204" pitchFamily="2" charset="0"/>
                <a:ea typeface="黑体" panose="02010609060101010101" pitchFamily="2" charset="-122"/>
              </a:rPr>
              <a:t>，即增大</a:t>
            </a:r>
            <a:r>
              <a:rPr lang="en-US" altLang="zh-CN" sz="3000" dirty="0">
                <a:latin typeface="Tahoma" panose="020B0604030504040204" pitchFamily="2" charset="0"/>
                <a:ea typeface="黑体" panose="02010609060101010101" pitchFamily="2" charset="-122"/>
              </a:rPr>
              <a:t>I</a:t>
            </a:r>
            <a:r>
              <a:rPr lang="en-US" altLang="zh-CN" sz="3000" baseline="-30000" dirty="0">
                <a:latin typeface="Tahoma" panose="020B0604030504040204" pitchFamily="2" charset="0"/>
                <a:ea typeface="黑体" panose="02010609060101010101" pitchFamily="2" charset="-122"/>
              </a:rPr>
              <a:t>CQ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r>
              <a:rPr lang="zh-CN" altLang="en-US" sz="3000" dirty="0"/>
              <a:t> </a:t>
            </a:r>
            <a:endParaRPr lang="zh-CN" altLang="en-US" sz="3000" dirty="0"/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5143500" y="1285875"/>
          <a:ext cx="365760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353185" imgH="819785" progId="Word.Picture.8">
                  <p:embed/>
                </p:oleObj>
              </mc:Choice>
              <mc:Fallback>
                <p:oleObj name="" r:id="rId1" imgW="1353185" imgH="819785" progId="Word.Picture.8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3500" y="1285875"/>
                        <a:ext cx="3657600" cy="221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75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3571875"/>
            <a:ext cx="3276600" cy="2590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动态调试</a:t>
            </a:r>
            <a:endParaRPr lang="zh-CN" altLang="en-US"/>
          </a:p>
        </p:txBody>
      </p:sp>
      <p:sp>
        <p:nvSpPr>
          <p:cNvPr id="75779" name="Rectangle 3"/>
          <p:cNvSpPr>
            <a:spLocks noGrp="1"/>
          </p:cNvSpPr>
          <p:nvPr>
            <p:ph type="subTitle"/>
          </p:nvPr>
        </p:nvSpPr>
        <p:spPr>
          <a:xfrm>
            <a:off x="533400" y="1295400"/>
            <a:ext cx="3657600" cy="41910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3000" dirty="0"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如果输出波形的底部被削波，这种现象称为</a:t>
            </a:r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饱和失真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），说明静态工作点</a:t>
            </a:r>
            <a:r>
              <a:rPr lang="en-US" altLang="zh-CN" sz="3000" dirty="0">
                <a:latin typeface="Tahoma" panose="020B0604030504040204" pitchFamily="2" charset="0"/>
                <a:ea typeface="黑体" panose="02010609060101010101" pitchFamily="2" charset="-122"/>
              </a:rPr>
              <a:t>Q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偏高，应减小</a:t>
            </a:r>
            <a:r>
              <a:rPr lang="en-US" altLang="zh-CN" sz="3000" i="1" dirty="0">
                <a:latin typeface="Tahoma" panose="020B0604030504040204" pitchFamily="2" charset="0"/>
                <a:ea typeface="黑体" panose="02010609060101010101" pitchFamily="2" charset="-122"/>
              </a:rPr>
              <a:t>I</a:t>
            </a:r>
            <a:r>
              <a:rPr lang="en-US" altLang="zh-CN" sz="3000" baseline="-30000" dirty="0">
                <a:latin typeface="Tahoma" panose="020B0604030504040204" pitchFamily="2" charset="0"/>
                <a:ea typeface="黑体" panose="02010609060101010101" pitchFamily="2" charset="-122"/>
              </a:rPr>
              <a:t>BQ </a:t>
            </a:r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（增大</a:t>
            </a:r>
            <a:r>
              <a:rPr lang="en-US" altLang="zh-CN" sz="26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en-US" altLang="zh-CN" sz="2600" baseline="-25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en-US" altLang="zh-CN" sz="3000" baseline="-30000" dirty="0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3000" dirty="0">
                <a:latin typeface="Tahoma" panose="020B0604030504040204" pitchFamily="2" charset="0"/>
                <a:ea typeface="黑体" panose="02010609060101010101" pitchFamily="2" charset="-122"/>
              </a:rPr>
              <a:t>，即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减小</a:t>
            </a:r>
            <a:r>
              <a:rPr lang="en-US" altLang="zh-CN" sz="3000" dirty="0">
                <a:latin typeface="Tahoma" panose="020B0604030504040204" pitchFamily="2" charset="0"/>
                <a:ea typeface="黑体" panose="02010609060101010101" pitchFamily="2" charset="-122"/>
              </a:rPr>
              <a:t>I</a:t>
            </a:r>
            <a:r>
              <a:rPr lang="en-US" altLang="zh-CN" sz="3000" baseline="-30000" dirty="0">
                <a:latin typeface="Tahoma" panose="020B0604030504040204" pitchFamily="2" charset="0"/>
                <a:ea typeface="黑体" panose="02010609060101010101" pitchFamily="2" charset="-122"/>
              </a:rPr>
              <a:t>CQ </a:t>
            </a:r>
            <a:r>
              <a:rPr lang="zh-CN" altLang="en-US" sz="30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r>
              <a:rPr lang="zh-CN" altLang="en-US" sz="3000" dirty="0"/>
              <a:t> </a:t>
            </a:r>
            <a:endParaRPr lang="zh-CN" altLang="en-US" sz="3000" dirty="0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4572000" y="1241425"/>
          <a:ext cx="4191000" cy="254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1333500" imgH="808990" progId="Word.Picture.8">
                  <p:embed/>
                </p:oleObj>
              </mc:Choice>
              <mc:Fallback>
                <p:oleObj name="" r:id="rId1" imgW="1333500" imgH="808990" progId="Word.Picture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1241425"/>
                        <a:ext cx="4191000" cy="2544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578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3786188"/>
            <a:ext cx="3390900" cy="2524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标题 5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>
                <a:latin typeface="仿宋_GB2312" pitchFamily="1" charset="-122"/>
                <a:ea typeface="仿宋_GB2312" pitchFamily="1" charset="-122"/>
              </a:rPr>
              <a:t>动态调试</a:t>
            </a:r>
            <a:endParaRPr lang="zh-CN" altLang="en-US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76803" name="内容占位符 6"/>
          <p:cNvSpPr>
            <a:spLocks noGrp="1"/>
          </p:cNvSpPr>
          <p:nvPr>
            <p:ph idx="1"/>
          </p:nvPr>
        </p:nvSpPr>
        <p:spPr>
          <a:xfrm>
            <a:off x="566738" y="1214438"/>
            <a:ext cx="8577262" cy="4805362"/>
          </a:xfrm>
        </p:spPr>
        <p:txBody>
          <a:bodyPr vert="horz" wrap="square" anchor="t" anchorCtr="0"/>
          <a:p>
            <a:pPr marL="469900" indent="-469900">
              <a:buNone/>
            </a:pPr>
            <a:r>
              <a:rPr lang="zh-CN" altLang="en-US" sz="3400" dirty="0">
                <a:latin typeface="Times New Roman" panose="02020603050405020304" pitchFamily="2" charset="0"/>
              </a:rPr>
              <a:t>（</a:t>
            </a:r>
            <a:r>
              <a:rPr lang="en-US" altLang="zh-CN" sz="3400" dirty="0">
                <a:latin typeface="Times New Roman" panose="02020603050405020304" pitchFamily="2" charset="0"/>
              </a:rPr>
              <a:t>1</a:t>
            </a:r>
            <a:r>
              <a:rPr lang="zh-CN" altLang="en-US" sz="3400" dirty="0">
                <a:latin typeface="Times New Roman" panose="02020603050405020304" pitchFamily="2" charset="0"/>
              </a:rPr>
              <a:t>）调节</a:t>
            </a:r>
            <a:r>
              <a:rPr lang="en-US" altLang="zh-CN" sz="3400" i="1" dirty="0">
                <a:latin typeface="Times New Roman" panose="02020603050405020304" pitchFamily="2" charset="0"/>
              </a:rPr>
              <a:t>R</a:t>
            </a:r>
            <a:r>
              <a:rPr lang="en-US" altLang="zh-CN" sz="3400" baseline="-25000" dirty="0">
                <a:latin typeface="Times New Roman" panose="02020603050405020304" pitchFamily="2" charset="0"/>
              </a:rPr>
              <a:t>B1</a:t>
            </a:r>
            <a:r>
              <a:rPr lang="zh-CN" altLang="en-US" sz="3400" dirty="0">
                <a:latin typeface="Times New Roman" panose="02020603050405020304" pitchFamily="2" charset="0"/>
              </a:rPr>
              <a:t>，使放大器的输出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o</a:t>
            </a:r>
            <a:r>
              <a:rPr lang="zh-CN" altLang="en-US" sz="3400" dirty="0">
                <a:latin typeface="Times New Roman" panose="02020603050405020304" pitchFamily="2" charset="0"/>
              </a:rPr>
              <a:t>不失真。</a:t>
            </a:r>
            <a:endParaRPr lang="en-US" altLang="zh-CN" sz="3400" dirty="0">
              <a:latin typeface="Times New Roman" panose="02020603050405020304" pitchFamily="2" charset="0"/>
            </a:endParaRPr>
          </a:p>
          <a:p>
            <a:pPr marL="469900" indent="-469900">
              <a:buNone/>
            </a:pPr>
            <a:r>
              <a:rPr lang="zh-CN" altLang="en-US" sz="3400" dirty="0">
                <a:latin typeface="Times New Roman" panose="02020603050405020304" pitchFamily="2" charset="0"/>
              </a:rPr>
              <a:t>（</a:t>
            </a:r>
            <a:r>
              <a:rPr lang="en-US" altLang="zh-CN" sz="3400" dirty="0">
                <a:latin typeface="Times New Roman" panose="02020603050405020304" pitchFamily="2" charset="0"/>
              </a:rPr>
              <a:t>2</a:t>
            </a:r>
            <a:r>
              <a:rPr lang="zh-CN" altLang="en-US" sz="3400" dirty="0">
                <a:latin typeface="Times New Roman" panose="02020603050405020304" pitchFamily="2" charset="0"/>
              </a:rPr>
              <a:t>）增大输入信号（如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iPP</a:t>
            </a:r>
            <a:r>
              <a:rPr lang="en-US" altLang="zh-CN" sz="3400" dirty="0">
                <a:latin typeface="Times New Roman" panose="02020603050405020304" pitchFamily="2" charset="0"/>
              </a:rPr>
              <a:t> =120mV</a:t>
            </a:r>
            <a:r>
              <a:rPr lang="zh-CN" altLang="en-US" sz="3400" dirty="0">
                <a:latin typeface="Times New Roman" panose="02020603050405020304" pitchFamily="2" charset="0"/>
              </a:rPr>
              <a:t>）， 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o</a:t>
            </a:r>
            <a:r>
              <a:rPr lang="zh-CN" altLang="en-US" sz="3400" dirty="0">
                <a:latin typeface="Times New Roman" panose="02020603050405020304" pitchFamily="2" charset="0"/>
              </a:rPr>
              <a:t>无明显失真，或者</a:t>
            </a:r>
            <a:r>
              <a:rPr lang="zh-CN" altLang="en-US" sz="3400" dirty="0">
                <a:solidFill>
                  <a:srgbClr val="FF3300"/>
                </a:solidFill>
                <a:latin typeface="Times New Roman" panose="02020603050405020304" pitchFamily="2" charset="0"/>
              </a:rPr>
              <a:t>逐渐增大输入信号</a:t>
            </a:r>
            <a:r>
              <a:rPr lang="zh-CN" altLang="en-US" sz="3400" dirty="0">
                <a:latin typeface="Times New Roman" panose="02020603050405020304" pitchFamily="2" charset="0"/>
              </a:rPr>
              <a:t>时， 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o</a:t>
            </a:r>
            <a:r>
              <a:rPr lang="zh-CN" altLang="en-US" sz="3400" dirty="0">
                <a:latin typeface="Times New Roman" panose="02020603050405020304" pitchFamily="2" charset="0"/>
              </a:rPr>
              <a:t>顶部和底部差不多</a:t>
            </a:r>
            <a:r>
              <a:rPr lang="zh-CN" altLang="en-US" sz="3400" dirty="0">
                <a:solidFill>
                  <a:srgbClr val="FF3300"/>
                </a:solidFill>
                <a:latin typeface="Times New Roman" panose="02020603050405020304" pitchFamily="2" charset="0"/>
              </a:rPr>
              <a:t>同时开始畸变</a:t>
            </a:r>
            <a:r>
              <a:rPr lang="zh-CN" altLang="en-US" sz="3400" dirty="0">
                <a:latin typeface="Times New Roman" panose="02020603050405020304" pitchFamily="2" charset="0"/>
              </a:rPr>
              <a:t>，说明</a:t>
            </a:r>
            <a:r>
              <a:rPr lang="en-US" altLang="zh-CN" sz="3400" dirty="0">
                <a:latin typeface="Times New Roman" panose="02020603050405020304" pitchFamily="2" charset="0"/>
              </a:rPr>
              <a:t>Q</a:t>
            </a:r>
            <a:r>
              <a:rPr lang="zh-CN" altLang="en-US" sz="3400" dirty="0">
                <a:latin typeface="Times New Roman" panose="02020603050405020304" pitchFamily="2" charset="0"/>
              </a:rPr>
              <a:t>点设置得比较合适。</a:t>
            </a:r>
            <a:r>
              <a:rPr lang="en-US" altLang="zh-CN" sz="3400" dirty="0">
                <a:solidFill>
                  <a:srgbClr val="FF0000"/>
                </a:solidFill>
                <a:latin typeface="Times New Roman" panose="02020603050405020304" pitchFamily="2" charset="0"/>
              </a:rPr>
              <a:t>---</a:t>
            </a:r>
            <a:r>
              <a:rPr lang="zh-CN" altLang="en-US" sz="3400" dirty="0">
                <a:solidFill>
                  <a:srgbClr val="FF0000"/>
                </a:solidFill>
                <a:latin typeface="Times New Roman" panose="02020603050405020304" pitchFamily="2" charset="0"/>
              </a:rPr>
              <a:t>最大无失真概念！</a:t>
            </a:r>
            <a:endParaRPr lang="en-US" altLang="zh-CN" sz="3400" dirty="0">
              <a:solidFill>
                <a:srgbClr val="FF0000"/>
              </a:solidFill>
              <a:latin typeface="Times New Roman" panose="02020603050405020304" pitchFamily="2" charset="0"/>
            </a:endParaRPr>
          </a:p>
          <a:p>
            <a:pPr marL="469900" indent="-469900">
              <a:buNone/>
            </a:pPr>
            <a:r>
              <a:rPr lang="zh-CN" altLang="en-US" sz="3400" dirty="0">
                <a:latin typeface="Times New Roman" panose="02020603050405020304" pitchFamily="2" charset="0"/>
              </a:rPr>
              <a:t>（</a:t>
            </a:r>
            <a:r>
              <a:rPr lang="en-US" altLang="zh-CN" sz="3400" dirty="0">
                <a:latin typeface="Times New Roman" panose="02020603050405020304" pitchFamily="2" charset="0"/>
              </a:rPr>
              <a:t>3</a:t>
            </a:r>
            <a:r>
              <a:rPr lang="zh-CN" altLang="en-US" sz="3400" dirty="0">
                <a:latin typeface="Times New Roman" panose="02020603050405020304" pitchFamily="2" charset="0"/>
              </a:rPr>
              <a:t>）此时</a:t>
            </a:r>
            <a:r>
              <a:rPr lang="zh-CN" altLang="en-US" sz="3400" dirty="0">
                <a:solidFill>
                  <a:srgbClr val="FF3300"/>
                </a:solidFill>
                <a:latin typeface="Times New Roman" panose="02020603050405020304" pitchFamily="2" charset="0"/>
              </a:rPr>
              <a:t>移去</a:t>
            </a:r>
            <a:r>
              <a:rPr lang="zh-CN" altLang="en-US" sz="3400" dirty="0">
                <a:latin typeface="Times New Roman" panose="02020603050405020304" pitchFamily="2" charset="0"/>
              </a:rPr>
              <a:t>信号源，分别测量放大器的静态工作点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BQ</a:t>
            </a:r>
            <a:r>
              <a:rPr lang="zh-CN" altLang="en-US" sz="3400" dirty="0">
                <a:latin typeface="Times New Roman" panose="02020603050405020304" pitchFamily="2" charset="0"/>
              </a:rPr>
              <a:t>、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EQ</a:t>
            </a:r>
            <a:r>
              <a:rPr lang="zh-CN" altLang="en-US" sz="3400" dirty="0">
                <a:latin typeface="Times New Roman" panose="02020603050405020304" pitchFamily="2" charset="0"/>
              </a:rPr>
              <a:t>、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CQ</a:t>
            </a:r>
            <a:r>
              <a:rPr lang="zh-CN" altLang="en-US" sz="3400" dirty="0">
                <a:latin typeface="Times New Roman" panose="02020603050405020304" pitchFamily="2" charset="0"/>
              </a:rPr>
              <a:t>，并计算</a:t>
            </a:r>
            <a:r>
              <a:rPr lang="en-US" altLang="zh-CN" sz="3400" i="1" dirty="0">
                <a:latin typeface="Times New Roman" panose="02020603050405020304" pitchFamily="2" charset="0"/>
              </a:rPr>
              <a:t>V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CEQ</a:t>
            </a:r>
            <a:r>
              <a:rPr lang="en-US" altLang="zh-CN" sz="3400" dirty="0">
                <a:latin typeface="Times New Roman" panose="02020603050405020304" pitchFamily="2" charset="0"/>
              </a:rPr>
              <a:t> </a:t>
            </a:r>
            <a:r>
              <a:rPr lang="zh-CN" altLang="en-US" sz="3400" dirty="0">
                <a:latin typeface="Times New Roman" panose="02020603050405020304" pitchFamily="2" charset="0"/>
              </a:rPr>
              <a:t>、</a:t>
            </a:r>
            <a:r>
              <a:rPr lang="en-US" altLang="zh-CN" sz="3400" i="1" dirty="0">
                <a:latin typeface="Times New Roman" panose="02020603050405020304" pitchFamily="2" charset="0"/>
              </a:rPr>
              <a:t>I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CQ</a:t>
            </a:r>
            <a:r>
              <a:rPr lang="zh-CN" altLang="en-US" sz="3400" baseline="-30000" dirty="0">
                <a:latin typeface="Times New Roman" panose="02020603050405020304" pitchFamily="2" charset="0"/>
              </a:rPr>
              <a:t>、 </a:t>
            </a:r>
            <a:r>
              <a:rPr lang="en-US" altLang="zh-CN" sz="3400" i="1" dirty="0">
                <a:latin typeface="Times New Roman" panose="02020603050405020304" pitchFamily="2" charset="0"/>
              </a:rPr>
              <a:t>I</a:t>
            </a:r>
            <a:r>
              <a:rPr lang="en-US" altLang="zh-CN" sz="3400" baseline="-30000" dirty="0">
                <a:latin typeface="Times New Roman" panose="02020603050405020304" pitchFamily="2" charset="0"/>
              </a:rPr>
              <a:t>BQ</a:t>
            </a:r>
            <a:r>
              <a:rPr lang="zh-CN" altLang="en-US" sz="3400" baseline="-30000" dirty="0">
                <a:latin typeface="Times New Roman" panose="02020603050405020304" pitchFamily="2" charset="0"/>
              </a:rPr>
              <a:t>、 </a:t>
            </a:r>
            <a:r>
              <a:rPr lang="zh-CN" altLang="en-US" sz="3400" dirty="0">
                <a:latin typeface="Times New Roman" panose="02020603050405020304" pitchFamily="2" charset="0"/>
              </a:rPr>
              <a:t>。</a:t>
            </a:r>
            <a:endParaRPr lang="zh-CN" altLang="en-US" sz="3400" dirty="0">
              <a:latin typeface="Times New Roman" panose="02020603050405020304" pitchFamily="2" charset="0"/>
            </a:endParaRPr>
          </a:p>
          <a:p>
            <a:pPr marL="469900" indent="-469900">
              <a:buNone/>
            </a:pPr>
            <a:endParaRPr lang="zh-CN" altLang="en-US" sz="3400" dirty="0">
              <a:latin typeface="Times New Roman" panose="02020603050405020304" pitchFamily="2" charset="0"/>
            </a:endParaRPr>
          </a:p>
          <a:p>
            <a:pPr marL="469900" indent="-469900"/>
            <a:endParaRPr lang="zh-CN" altLang="en-US" dirty="0"/>
          </a:p>
        </p:txBody>
      </p:sp>
      <p:sp>
        <p:nvSpPr>
          <p:cNvPr id="76804" name="页脚占位符 4"/>
          <p:cNvSpPr txBox="1">
            <a:spLocks noGrp="1"/>
          </p:cNvSpPr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5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en-US" altLang="zh-CN" dirty="0">
                <a:latin typeface="仿宋_GB2312" pitchFamily="1" charset="-122"/>
                <a:ea typeface="仿宋_GB2312" pitchFamily="1" charset="-122"/>
              </a:rPr>
              <a:t>3. 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测量放大倍数</a:t>
            </a:r>
            <a:endParaRPr lang="zh-CN" altLang="en-US" dirty="0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subTitle"/>
          </p:nvPr>
        </p:nvSpPr>
        <p:spPr>
          <a:xfrm>
            <a:off x="838200" y="1828800"/>
            <a:ext cx="8305800" cy="17526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>
              <a:spcBef>
                <a:spcPct val="50000"/>
              </a:spcBef>
              <a:spcAft>
                <a:spcPct val="50000"/>
              </a:spcAft>
            </a:pP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    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在波形不失真的条件下，测出</a:t>
            </a:r>
            <a:r>
              <a:rPr lang="en-US" altLang="zh-CN" sz="3000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i 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有效值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或</a:t>
            </a:r>
            <a:r>
              <a:rPr lang="en-US" altLang="zh-CN" sz="3000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im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峰值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或</a:t>
            </a:r>
            <a:r>
              <a:rPr lang="en-US" altLang="zh-CN" sz="3000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p</a:t>
            </a:r>
            <a:r>
              <a:rPr lang="zh-CN" altLang="en-US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－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p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峰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-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峰值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和</a:t>
            </a:r>
            <a:r>
              <a:rPr lang="en-US" altLang="zh-CN" sz="3000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o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有效值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或</a:t>
            </a:r>
            <a:r>
              <a:rPr lang="en-US" altLang="zh-CN" sz="3000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om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峰值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)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或</a:t>
            </a:r>
            <a:r>
              <a:rPr lang="en-US" altLang="zh-CN" sz="3000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p</a:t>
            </a:r>
            <a:r>
              <a:rPr lang="zh-CN" altLang="en-US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－</a:t>
            </a:r>
            <a:r>
              <a:rPr lang="en-US" altLang="zh-CN" sz="3000" baseline="-1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p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峰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-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峰值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) 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，则： </a:t>
            </a:r>
            <a:endParaRPr lang="zh-CN" altLang="en-US" sz="3000" dirty="0">
              <a:latin typeface="仿宋_GB2312" pitchFamily="1" charset="-122"/>
              <a:ea typeface="仿宋_GB2312" pitchFamily="1" charset="-122"/>
            </a:endParaRPr>
          </a:p>
        </p:txBody>
      </p:sp>
      <p:graphicFrame>
        <p:nvGraphicFramePr>
          <p:cNvPr id="77828" name="对象 77827"/>
          <p:cNvGraphicFramePr>
            <a:graphicFrameLocks noChangeAspect="1"/>
          </p:cNvGraphicFramePr>
          <p:nvPr/>
        </p:nvGraphicFramePr>
        <p:xfrm>
          <a:off x="1219200" y="3733800"/>
          <a:ext cx="6400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3238500" imgH="1079500" progId="Equation.3">
                  <p:embed/>
                </p:oleObj>
              </mc:Choice>
              <mc:Fallback>
                <p:oleObj name="" r:id="rId1" imgW="3238500" imgH="10795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3733800"/>
                        <a:ext cx="6400800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5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en-US" altLang="zh-CN" dirty="0">
                <a:latin typeface="仿宋_GB2312" pitchFamily="1" charset="-122"/>
                <a:ea typeface="仿宋_GB2312" pitchFamily="1" charset="-122"/>
              </a:rPr>
              <a:t>4. 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测量通频带</a:t>
            </a:r>
            <a:r>
              <a:rPr lang="en-US" altLang="zh-CN" i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BW</a:t>
            </a:r>
            <a:r>
              <a:rPr lang="en-US" altLang="zh-CN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 </a:t>
            </a:r>
            <a:endParaRPr lang="en-US" altLang="zh-CN" dirty="0">
              <a:solidFill>
                <a:srgbClr val="FF0000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subTitle"/>
          </p:nvPr>
        </p:nvSpPr>
        <p:spPr>
          <a:xfrm>
            <a:off x="228600" y="1066800"/>
            <a:ext cx="3744913" cy="50292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   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放大器的频率特性如图所示，</a:t>
            </a:r>
            <a:r>
              <a:rPr lang="zh-CN" altLang="en-US" sz="2200" b="1" dirty="0">
                <a:latin typeface="黑体" panose="02010609060101010101" pitchFamily="2" charset="-122"/>
                <a:ea typeface="黑体" panose="02010609060101010101" pitchFamily="2" charset="-122"/>
              </a:rPr>
              <a:t>采用</a:t>
            </a:r>
            <a:r>
              <a:rPr lang="zh-CN" altLang="en-US" sz="2200" b="1" dirty="0">
                <a:latin typeface="Times New Roman" panose="02020603050405020304" pitchFamily="2" charset="0"/>
                <a:ea typeface="黑体" panose="02010609060101010101" pitchFamily="2" charset="-122"/>
              </a:rPr>
              <a:t>“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逐点法</a:t>
            </a:r>
            <a:r>
              <a:rPr lang="zh-CN" altLang="en-US" sz="2200" b="1" dirty="0">
                <a:latin typeface="Times New Roman" panose="02020603050405020304" pitchFamily="2" charset="0"/>
                <a:ea typeface="黑体" panose="02010609060101010101" pitchFamily="2" charset="-122"/>
              </a:rPr>
              <a:t>”</a:t>
            </a:r>
            <a:r>
              <a:rPr lang="zh-CN" altLang="en-US" sz="2200" b="1" dirty="0">
                <a:latin typeface="黑体" panose="02010609060101010101" pitchFamily="2" charset="-122"/>
                <a:ea typeface="黑体" panose="02010609060101010101" pitchFamily="2" charset="-122"/>
              </a:rPr>
              <a:t>测量放大器的幅频特性曲线。</a:t>
            </a:r>
            <a:endParaRPr lang="zh-CN" altLang="en-US" sz="2200" b="1" dirty="0">
              <a:latin typeface="仿宋_GB2312" pitchFamily="1" charset="-122"/>
              <a:ea typeface="仿宋_GB2312" pitchFamily="1" charset="-122"/>
            </a:endParaRPr>
          </a:p>
          <a:p>
            <a:pPr lvl="0" algn="l" eaLnBrk="1" hangingPunct="1">
              <a:buClr>
                <a:srgbClr val="CC3300"/>
              </a:buClr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1.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记录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f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＝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1KHz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时的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Avo</a:t>
            </a:r>
            <a:endParaRPr lang="en-US" altLang="zh-CN" sz="2200" b="1" dirty="0">
              <a:latin typeface="仿宋_GB2312" pitchFamily="1" charset="-122"/>
              <a:ea typeface="仿宋_GB2312" pitchFamily="1" charset="-122"/>
            </a:endParaRPr>
          </a:p>
          <a:p>
            <a:pPr lvl="0" algn="l" eaLnBrk="1" hangingPunct="1">
              <a:buClr>
                <a:srgbClr val="CC3300"/>
              </a:buClr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2.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减小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f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，直到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Avl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＝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0.707*Avo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，记录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f(l)</a:t>
            </a:r>
            <a:endParaRPr lang="en-US" altLang="zh-CN" sz="2200" b="1" dirty="0">
              <a:latin typeface="仿宋_GB2312" pitchFamily="1" charset="-122"/>
              <a:ea typeface="仿宋_GB2312" pitchFamily="1" charset="-122"/>
            </a:endParaRPr>
          </a:p>
          <a:p>
            <a:pPr lvl="0" algn="l" eaLnBrk="1" hangingPunct="1">
              <a:buClr>
                <a:srgbClr val="CC3300"/>
              </a:buClr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3.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增大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f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，直到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Avh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＝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0.707*Avo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，记录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f(h)</a:t>
            </a:r>
            <a:endParaRPr lang="en-US" altLang="zh-CN" sz="2200" b="1" dirty="0">
              <a:latin typeface="仿宋_GB2312" pitchFamily="1" charset="-122"/>
              <a:ea typeface="仿宋_GB2312" pitchFamily="1" charset="-122"/>
            </a:endParaRPr>
          </a:p>
          <a:p>
            <a:pPr lvl="0" algn="l" eaLnBrk="1" hangingPunct="1">
              <a:buClr>
                <a:srgbClr val="CC3300"/>
              </a:buClr>
            </a:pPr>
            <a:r>
              <a:rPr lang="zh-CN" altLang="en-US" sz="2000" b="1" dirty="0">
                <a:solidFill>
                  <a:srgbClr val="CC0000"/>
                </a:solidFill>
                <a:latin typeface="仿宋_GB2312" pitchFamily="1" charset="-122"/>
                <a:ea typeface="仿宋_GB2312" pitchFamily="1" charset="-122"/>
              </a:rPr>
              <a:t>（调整</a:t>
            </a:r>
            <a:r>
              <a:rPr lang="en-US" altLang="zh-CN" sz="2000" b="1" dirty="0">
                <a:solidFill>
                  <a:srgbClr val="CC0000"/>
                </a:solidFill>
                <a:latin typeface="仿宋_GB2312" pitchFamily="1" charset="-122"/>
                <a:ea typeface="仿宋_GB2312" pitchFamily="1" charset="-122"/>
              </a:rPr>
              <a:t>f</a:t>
            </a:r>
            <a:r>
              <a:rPr lang="zh-CN" altLang="en-US" sz="2000" b="1" dirty="0">
                <a:solidFill>
                  <a:srgbClr val="CC0000"/>
                </a:solidFill>
                <a:latin typeface="仿宋_GB2312" pitchFamily="1" charset="-122"/>
                <a:ea typeface="仿宋_GB2312" pitchFamily="1" charset="-122"/>
              </a:rPr>
              <a:t>时，一定要用示波器监视</a:t>
            </a:r>
            <a:r>
              <a:rPr lang="en-US" altLang="zh-CN" sz="2000" b="1" dirty="0">
                <a:solidFill>
                  <a:srgbClr val="CC0000"/>
                </a:solidFill>
                <a:latin typeface="仿宋_GB2312" pitchFamily="1" charset="-122"/>
                <a:ea typeface="仿宋_GB2312" pitchFamily="1" charset="-122"/>
              </a:rPr>
              <a:t>Vi</a:t>
            </a:r>
            <a:r>
              <a:rPr lang="zh-CN" altLang="en-US" sz="2000" b="1" dirty="0">
                <a:solidFill>
                  <a:srgbClr val="CC0000"/>
                </a:solidFill>
                <a:latin typeface="仿宋_GB2312" pitchFamily="1" charset="-122"/>
                <a:ea typeface="仿宋_GB2312" pitchFamily="1" charset="-122"/>
              </a:rPr>
              <a:t>的幅值，保证幅值不变）</a:t>
            </a:r>
            <a:endParaRPr lang="zh-CN" altLang="en-US" sz="2000" b="1" dirty="0">
              <a:solidFill>
                <a:srgbClr val="CC0000"/>
              </a:solidFill>
              <a:latin typeface="仿宋_GB2312" pitchFamily="1" charset="-122"/>
              <a:ea typeface="仿宋_GB2312" pitchFamily="1" charset="-122"/>
            </a:endParaRPr>
          </a:p>
          <a:p>
            <a:pPr lvl="0" algn="l" eaLnBrk="1" hangingPunct="1">
              <a:buClr>
                <a:srgbClr val="CC3300"/>
              </a:buClr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4.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通频带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Bw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＝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f(h)-f(l)</a:t>
            </a:r>
            <a:endParaRPr lang="en-US" altLang="zh-CN" sz="2200" b="1" dirty="0">
              <a:latin typeface="仿宋_GB2312" pitchFamily="1" charset="-122"/>
              <a:ea typeface="仿宋_GB2312" pitchFamily="1" charset="-122"/>
            </a:endParaRPr>
          </a:p>
        </p:txBody>
      </p:sp>
      <p:graphicFrame>
        <p:nvGraphicFramePr>
          <p:cNvPr id="78852" name="Object 3"/>
          <p:cNvGraphicFramePr>
            <a:graphicFrameLocks noChangeAspect="1"/>
          </p:cNvGraphicFramePr>
          <p:nvPr/>
        </p:nvGraphicFramePr>
        <p:xfrm>
          <a:off x="3851275" y="1125538"/>
          <a:ext cx="500697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610485" imgH="2743200" progId="Word.Picture.8">
                  <p:embed/>
                </p:oleObj>
              </mc:Choice>
              <mc:Fallback>
                <p:oleObj name="" r:id="rId1" imgW="2610485" imgH="2743200" progId="Word.Picture.8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1275" y="1125538"/>
                        <a:ext cx="5006975" cy="525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Oval 6"/>
          <p:cNvSpPr/>
          <p:nvPr/>
        </p:nvSpPr>
        <p:spPr>
          <a:xfrm>
            <a:off x="4787900" y="3068638"/>
            <a:ext cx="504825" cy="4318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78854" name="Oval 7"/>
          <p:cNvSpPr/>
          <p:nvPr/>
        </p:nvSpPr>
        <p:spPr>
          <a:xfrm>
            <a:off x="7596188" y="3068638"/>
            <a:ext cx="504825" cy="4318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18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78855" name="Text Box 8"/>
          <p:cNvSpPr txBox="1"/>
          <p:nvPr/>
        </p:nvSpPr>
        <p:spPr>
          <a:xfrm>
            <a:off x="539750" y="63246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Monotype Sorts" pitchFamily="2" charset="2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注意：保持输入信号的幅值不变，而且输出波形不失真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5"/>
          <p:cNvSpPr>
            <a:spLocks noGrp="1"/>
          </p:cNvSpPr>
          <p:nvPr>
            <p:ph type="title"/>
          </p:nvPr>
        </p:nvSpPr>
        <p:spPr>
          <a:xfrm>
            <a:off x="1295400" y="152400"/>
            <a:ext cx="6630988" cy="792163"/>
          </a:xfrm>
        </p:spPr>
        <p:txBody>
          <a:bodyPr vert="horz" wrap="square" anchor="b" anchorCtr="0"/>
          <a:p>
            <a:pPr eaLnBrk="1" hangingPunct="1"/>
            <a:r>
              <a:rPr lang="en-US" altLang="zh-CN" dirty="0">
                <a:latin typeface="仿宋_GB2312" pitchFamily="1" charset="-122"/>
                <a:ea typeface="仿宋_GB2312" pitchFamily="1" charset="-122"/>
              </a:rPr>
              <a:t>5. 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测量输入电阻</a:t>
            </a:r>
            <a:endParaRPr lang="zh-CN" altLang="en-US" dirty="0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type="subTitle"/>
          </p:nvPr>
        </p:nvSpPr>
        <p:spPr>
          <a:xfrm>
            <a:off x="0" y="4267200"/>
            <a:ext cx="8382000" cy="22860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   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用</a:t>
            </a:r>
            <a:r>
              <a:rPr lang="zh-CN" altLang="en-US" sz="3000" dirty="0">
                <a:latin typeface="Times New Roman" panose="02020603050405020304" pitchFamily="2" charset="0"/>
                <a:ea typeface="仿宋_GB2312" pitchFamily="1" charset="-122"/>
              </a:rPr>
              <a:t>“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串联电阻法</a:t>
            </a:r>
            <a:r>
              <a:rPr lang="zh-CN" altLang="en-US" sz="3000" dirty="0">
                <a:latin typeface="Times New Roman" panose="02020603050405020304" pitchFamily="2" charset="0"/>
                <a:ea typeface="仿宋_GB2312" pitchFamily="1" charset="-122"/>
              </a:rPr>
              <a:t>”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测量放大器的输入电阻</a:t>
            </a:r>
            <a:r>
              <a:rPr lang="en-US" altLang="zh-CN" sz="3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R</a:t>
            </a:r>
            <a:r>
              <a:rPr lang="en-US" altLang="zh-CN" sz="3000" baseline="-30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i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，即在信号源输出与放大器输入端之间，串联一个已知电阻</a:t>
            </a:r>
            <a:r>
              <a:rPr lang="en-US" altLang="zh-CN" sz="3000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R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(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一般以选择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R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的值接近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R</a:t>
            </a:r>
            <a:r>
              <a:rPr lang="en-US" altLang="zh-CN" sz="3000" baseline="-30000" dirty="0">
                <a:latin typeface="仿宋_GB2312" pitchFamily="1" charset="-122"/>
                <a:ea typeface="仿宋_GB2312" pitchFamily="1" charset="-122"/>
              </a:rPr>
              <a:t>i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的值为宜）。 </a:t>
            </a:r>
            <a:endParaRPr lang="zh-CN" altLang="en-US" sz="3000" dirty="0">
              <a:latin typeface="仿宋_GB2312" pitchFamily="1" charset="-122"/>
              <a:ea typeface="仿宋_GB2312" pitchFamily="1" charset="-122"/>
            </a:endParaRPr>
          </a:p>
        </p:txBody>
      </p:sp>
      <p:graphicFrame>
        <p:nvGraphicFramePr>
          <p:cNvPr id="79876" name="Object 3"/>
          <p:cNvGraphicFramePr>
            <a:graphicFrameLocks noChangeAspect="1"/>
          </p:cNvGraphicFramePr>
          <p:nvPr/>
        </p:nvGraphicFramePr>
        <p:xfrm>
          <a:off x="1835150" y="1412875"/>
          <a:ext cx="4876800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743710" imgH="943610" progId="Word.Picture.8">
                  <p:embed/>
                </p:oleObj>
              </mc:Choice>
              <mc:Fallback>
                <p:oleObj name="" r:id="rId1" imgW="1743710" imgH="943610" progId="Word.Picture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1412875"/>
                        <a:ext cx="4876800" cy="2638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5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计算输入电阻</a:t>
            </a:r>
            <a:endParaRPr lang="zh-CN" altLang="en-US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80899" name="Rectangle 2"/>
          <p:cNvSpPr>
            <a:spLocks noGrp="1"/>
          </p:cNvSpPr>
          <p:nvPr>
            <p:ph type="subTitle"/>
          </p:nvPr>
        </p:nvSpPr>
        <p:spPr>
          <a:xfrm>
            <a:off x="650875" y="1304925"/>
            <a:ext cx="7994650" cy="1330325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     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在输出波形不失真情况下，用晶体管毫伏表或示波器，分别测量出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Vi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与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Vs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的值，则 </a:t>
            </a:r>
            <a:endParaRPr lang="zh-CN" altLang="en-US" sz="3000" dirty="0">
              <a:latin typeface="仿宋_GB2312" pitchFamily="1" charset="-122"/>
              <a:ea typeface="仿宋_GB2312" pitchFamily="1" charset="-122"/>
            </a:endParaRPr>
          </a:p>
        </p:txBody>
      </p:sp>
      <p:graphicFrame>
        <p:nvGraphicFramePr>
          <p:cNvPr id="80900" name="对象 80899"/>
          <p:cNvGraphicFramePr>
            <a:graphicFrameLocks noChangeAspect="1"/>
          </p:cNvGraphicFramePr>
          <p:nvPr/>
        </p:nvGraphicFramePr>
        <p:xfrm>
          <a:off x="2843213" y="3357563"/>
          <a:ext cx="2746375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864235" imgH="431800" progId="Equation.3">
                  <p:embed/>
                </p:oleObj>
              </mc:Choice>
              <mc:Fallback>
                <p:oleObj name="" r:id="rId1" imgW="864235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3213" y="3357563"/>
                        <a:ext cx="2746375" cy="1363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4"/>
          <p:cNvSpPr txBox="1"/>
          <p:nvPr/>
        </p:nvSpPr>
        <p:spPr>
          <a:xfrm>
            <a:off x="1219200" y="5105400"/>
            <a:ext cx="6400800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式中，</a:t>
            </a:r>
            <a:r>
              <a:rPr lang="en-US" altLang="zh-CN" sz="3200" i="1" dirty="0">
                <a:solidFill>
                  <a:schemeClr val="tx1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V</a:t>
            </a:r>
            <a:r>
              <a:rPr lang="en-US" altLang="zh-CN" sz="3200" baseline="-30000" dirty="0">
                <a:solidFill>
                  <a:schemeClr val="tx1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s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为信号源的输出电压值。 </a:t>
            </a:r>
            <a:endParaRPr lang="zh-CN" altLang="en-US" sz="32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6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pPr eaLnBrk="1" hangingPunct="1"/>
            <a:r>
              <a:rPr lang="en-US" altLang="zh-CN" dirty="0">
                <a:latin typeface="仿宋_GB2312" pitchFamily="1" charset="-122"/>
                <a:ea typeface="仿宋_GB2312" pitchFamily="1" charset="-122"/>
              </a:rPr>
              <a:t>6. 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测量输出电阻原理图</a:t>
            </a:r>
            <a:endParaRPr lang="zh-CN" altLang="en-US" dirty="0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type="subTitle"/>
          </p:nvPr>
        </p:nvSpPr>
        <p:spPr>
          <a:xfrm>
            <a:off x="323850" y="1268413"/>
            <a:ext cx="8534400" cy="16764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/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   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在输出波形不失真的情况下进行测量。</a:t>
            </a:r>
            <a:r>
              <a:rPr lang="en-US" altLang="zh-CN" sz="3000" i="1" dirty="0"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25000" dirty="0">
                <a:latin typeface="仿宋_GB2312" pitchFamily="1" charset="-122"/>
                <a:ea typeface="仿宋_GB2312" pitchFamily="1" charset="-122"/>
              </a:rPr>
              <a:t>o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为放大器负载开路时的输出电压的值；</a:t>
            </a:r>
            <a:r>
              <a:rPr lang="en-US" altLang="zh-CN" sz="3000" i="1" dirty="0">
                <a:latin typeface="仿宋_GB2312" pitchFamily="1" charset="-122"/>
                <a:ea typeface="仿宋_GB2312" pitchFamily="1" charset="-122"/>
              </a:rPr>
              <a:t>V</a:t>
            </a:r>
            <a:r>
              <a:rPr lang="en-US" altLang="zh-CN" sz="3000" baseline="-25000" dirty="0">
                <a:latin typeface="仿宋_GB2312" pitchFamily="1" charset="-122"/>
                <a:ea typeface="仿宋_GB2312" pitchFamily="1" charset="-122"/>
              </a:rPr>
              <a:t>oL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为接入</a:t>
            </a:r>
            <a:r>
              <a:rPr lang="en-US" altLang="zh-CN" sz="3000" dirty="0">
                <a:latin typeface="仿宋_GB2312" pitchFamily="1" charset="-122"/>
                <a:ea typeface="仿宋_GB2312" pitchFamily="1" charset="-122"/>
              </a:rPr>
              <a:t>R</a:t>
            </a:r>
            <a:r>
              <a:rPr lang="en-US" altLang="zh-CN" sz="3000" baseline="-30000" dirty="0">
                <a:latin typeface="仿宋_GB2312" pitchFamily="1" charset="-122"/>
                <a:ea typeface="仿宋_GB2312" pitchFamily="1" charset="-122"/>
              </a:rPr>
              <a:t>L</a:t>
            </a:r>
            <a:r>
              <a:rPr lang="zh-CN" altLang="en-US" sz="3000" dirty="0">
                <a:latin typeface="仿宋_GB2312" pitchFamily="1" charset="-122"/>
                <a:ea typeface="仿宋_GB2312" pitchFamily="1" charset="-122"/>
              </a:rPr>
              <a:t>后放大器负载上的电压的值，则 </a:t>
            </a:r>
            <a:endParaRPr lang="zh-CN" altLang="en-US" sz="3000" dirty="0">
              <a:latin typeface="仿宋_GB2312" pitchFamily="1" charset="-122"/>
              <a:ea typeface="仿宋_GB2312" pitchFamily="1" charset="-122"/>
            </a:endParaRPr>
          </a:p>
        </p:txBody>
      </p:sp>
      <p:graphicFrame>
        <p:nvGraphicFramePr>
          <p:cNvPr id="81924" name="对象 81923"/>
          <p:cNvGraphicFramePr>
            <a:graphicFrameLocks noChangeAspect="1"/>
          </p:cNvGraphicFramePr>
          <p:nvPr/>
        </p:nvGraphicFramePr>
        <p:xfrm>
          <a:off x="2819400" y="2743200"/>
          <a:ext cx="35052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978535" imgH="393700" progId="Equation.3">
                  <p:embed/>
                </p:oleObj>
              </mc:Choice>
              <mc:Fallback>
                <p:oleObj name="" r:id="rId1" imgW="978535" imgH="3937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2743200"/>
                        <a:ext cx="3505200" cy="744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/>
          <p:cNvGraphicFramePr>
            <a:graphicFrameLocks noChangeAspect="1"/>
          </p:cNvGraphicFramePr>
          <p:nvPr/>
        </p:nvGraphicFramePr>
        <p:xfrm>
          <a:off x="1828800" y="3441700"/>
          <a:ext cx="6172200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2218690" imgH="791210" progId="Word.Picture.8">
                  <p:embed/>
                </p:oleObj>
              </mc:Choice>
              <mc:Fallback>
                <p:oleObj name="" r:id="rId3" imgW="2218690" imgH="791210" progId="Word.Picture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800" y="3441700"/>
                        <a:ext cx="6172200" cy="206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Rectangle 7"/>
          <p:cNvSpPr/>
          <p:nvPr/>
        </p:nvSpPr>
        <p:spPr>
          <a:xfrm>
            <a:off x="1042988" y="5661025"/>
            <a:ext cx="67310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如果输出开路时，发现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Vo</a:t>
            </a: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出现失真，则要减小输入信号的幅值，</a:t>
            </a:r>
            <a:endParaRPr lang="zh-CN" altLang="en-US" sz="1800" b="1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直到失真消失，然后再重新分别测量开路和带负载时的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Vo</a:t>
            </a: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  <a:t>值</a:t>
            </a:r>
            <a:endParaRPr lang="zh-CN" altLang="en-US" sz="1800" b="1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标题 82945"/>
          <p:cNvSpPr>
            <a:spLocks noGrp="1"/>
          </p:cNvSpPr>
          <p:nvPr>
            <p:ph type="title"/>
          </p:nvPr>
        </p:nvSpPr>
        <p:spPr>
          <a:xfrm>
            <a:off x="1219200" y="236538"/>
            <a:ext cx="2693988" cy="528637"/>
          </a:xfrm>
        </p:spPr>
        <p:txBody>
          <a:bodyPr wrap="none" anchor="ctr" anchorCtr="0">
            <a:spAutoFit/>
          </a:bodyPr>
          <a:p>
            <a:r>
              <a:rPr lang="zh-CN" altLang="en-US" sz="2800">
                <a:solidFill>
                  <a:schemeClr val="hlink"/>
                </a:solidFill>
              </a:rPr>
              <a:t>电路组装与测试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82947" name="直接连接符 82946"/>
          <p:cNvSpPr/>
          <p:nvPr/>
        </p:nvSpPr>
        <p:spPr>
          <a:xfrm>
            <a:off x="1016000" y="887413"/>
            <a:ext cx="2717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82948" name="对象 82947"/>
          <p:cNvGraphicFramePr>
            <a:graphicFrameLocks noChangeAspect="1"/>
          </p:cNvGraphicFramePr>
          <p:nvPr/>
        </p:nvGraphicFramePr>
        <p:xfrm>
          <a:off x="4159250" y="106363"/>
          <a:ext cx="48768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6753225" imgH="4800600" progId="Word.Picture.8">
                  <p:embed/>
                </p:oleObj>
              </mc:Choice>
              <mc:Fallback>
                <p:oleObj name="" r:id="rId1" imgW="6753225" imgH="4800600" progId="Word.Picture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59250" y="106363"/>
                        <a:ext cx="4876800" cy="346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文本框 82948"/>
          <p:cNvSpPr txBox="1"/>
          <p:nvPr/>
        </p:nvSpPr>
        <p:spPr>
          <a:xfrm>
            <a:off x="392113" y="1773238"/>
            <a:ext cx="28432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）分级组装；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0" name="文本框 82949"/>
          <p:cNvSpPr txBox="1"/>
          <p:nvPr/>
        </p:nvSpPr>
        <p:spPr>
          <a:xfrm>
            <a:off x="392113" y="2276475"/>
            <a:ext cx="3387725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）电阻之间不要交叉，避免短路。不要将元器件管脚剪得太短；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1" name="文本框 82950"/>
          <p:cNvSpPr txBox="1"/>
          <p:nvPr/>
        </p:nvSpPr>
        <p:spPr>
          <a:xfrm>
            <a:off x="392113" y="3789363"/>
            <a:ext cx="6051550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）三极管先测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，确认是好的再插入电路。管脚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e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不要搞反了；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2" name="文本框 82951"/>
          <p:cNvSpPr txBox="1"/>
          <p:nvPr/>
        </p:nvSpPr>
        <p:spPr>
          <a:xfrm>
            <a:off x="392113" y="4837113"/>
            <a:ext cx="5187950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T</a:t>
            </a:r>
            <a:r>
              <a:rPr lang="en-US" altLang="zh-CN" b="1" baseline="-25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之间的电容先不接，若产生振荡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itchFamily="1" charset="-122"/>
              </a:rPr>
              <a:t>…</a:t>
            </a:r>
            <a:endParaRPr lang="en-US" altLang="zh-CN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3" name="文本框 82952"/>
          <p:cNvSpPr txBox="1"/>
          <p:nvPr/>
        </p:nvSpPr>
        <p:spPr>
          <a:xfrm>
            <a:off x="6145213" y="4395788"/>
            <a:ext cx="2819400" cy="1697037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82504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容易混淆的电阻：</a:t>
            </a:r>
            <a:endParaRPr lang="zh-CN" altLang="en-US" b="1" dirty="0">
              <a:solidFill>
                <a:srgbClr val="C82504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     </a:t>
            </a:r>
            <a:r>
              <a:rPr lang="en-US" altLang="zh-CN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b11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c1</a:t>
            </a:r>
            <a:endParaRPr lang="en-US" altLang="zh-CN" sz="2800" baseline="-25000" dirty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     R</a:t>
            </a:r>
            <a:r>
              <a:rPr lang="en-US" altLang="zh-CN" sz="2800" baseline="-250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b12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e12</a:t>
            </a:r>
            <a:endParaRPr lang="en-US" altLang="zh-CN" sz="2800" baseline="-25000" dirty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82954" name="文本框 82953"/>
          <p:cNvSpPr txBox="1"/>
          <p:nvPr/>
        </p:nvSpPr>
        <p:spPr>
          <a:xfrm>
            <a:off x="392113" y="5851525"/>
            <a:ext cx="4492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5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）开关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用一根导线代替。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5" name="文本占位符 82954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3316288" cy="822325"/>
          </a:xfrm>
        </p:spPr>
        <p:txBody>
          <a:bodyPr wrap="square">
            <a:spAutoFit/>
          </a:bodyPr>
          <a:p>
            <a:pPr>
              <a:buNone/>
            </a:pPr>
            <a:r>
              <a:rPr lang="en-US" altLang="zh-CN" sz="2400" b="1" dirty="0">
                <a:solidFill>
                  <a:srgbClr val="000099"/>
                </a:solidFill>
                <a:latin typeface="楷体_GB2312" pitchFamily="1" charset="-122"/>
              </a:rPr>
              <a:t>1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1" charset="-122"/>
              </a:rPr>
              <a:t>、组装电路应注意的问题</a:t>
            </a:r>
            <a:endParaRPr lang="zh-CN" altLang="en-US" sz="2400" b="1" dirty="0">
              <a:solidFill>
                <a:srgbClr val="000099"/>
              </a:solidFill>
              <a:latin typeface="楷体_GB2312" pitchFamily="1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文本框 83969"/>
          <p:cNvSpPr txBox="1"/>
          <p:nvPr/>
        </p:nvSpPr>
        <p:spPr>
          <a:xfrm>
            <a:off x="990600" y="1219200"/>
            <a:ext cx="297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）先静态、后动态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3971" name="文本框 83970"/>
          <p:cNvSpPr txBox="1"/>
          <p:nvPr/>
        </p:nvSpPr>
        <p:spPr>
          <a:xfrm>
            <a:off x="4832350" y="1295400"/>
            <a:ext cx="2743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）先粗调、后测量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3972" name="文本框 83971"/>
          <p:cNvSpPr txBox="1"/>
          <p:nvPr/>
        </p:nvSpPr>
        <p:spPr>
          <a:xfrm>
            <a:off x="1022350" y="1736725"/>
            <a:ext cx="419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）一定要用示波器监测波形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3973" name="文本框 83972"/>
          <p:cNvSpPr txBox="1"/>
          <p:nvPr/>
        </p:nvSpPr>
        <p:spPr>
          <a:xfrm>
            <a:off x="4832350" y="1736725"/>
            <a:ext cx="2895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）信号跟踪查故障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83974" name="标题 83973"/>
          <p:cNvSpPr>
            <a:spLocks noGrp="1"/>
          </p:cNvSpPr>
          <p:nvPr>
            <p:ph type="title"/>
          </p:nvPr>
        </p:nvSpPr>
        <p:spPr>
          <a:xfrm>
            <a:off x="1219200" y="304800"/>
            <a:ext cx="3294063" cy="528638"/>
          </a:xfrm>
        </p:spPr>
        <p:txBody>
          <a:bodyPr wrap="square" anchor="ctr" anchorCtr="0">
            <a:spAutoFit/>
          </a:bodyPr>
          <a:p>
            <a:r>
              <a:rPr lang="en-US" altLang="zh-CN" sz="2800" dirty="0">
                <a:solidFill>
                  <a:srgbClr val="000099"/>
                </a:solidFill>
              </a:rPr>
              <a:t>1</a:t>
            </a:r>
            <a:r>
              <a:rPr lang="zh-CN" altLang="en-US" sz="2800" dirty="0">
                <a:solidFill>
                  <a:srgbClr val="000099"/>
                </a:solidFill>
              </a:rPr>
              <a:t>、调试方法</a:t>
            </a:r>
            <a:endParaRPr lang="zh-CN" altLang="en-US" sz="2800" dirty="0">
              <a:solidFill>
                <a:srgbClr val="000099"/>
              </a:solidFill>
            </a:endParaRPr>
          </a:p>
        </p:txBody>
      </p:sp>
      <p:graphicFrame>
        <p:nvGraphicFramePr>
          <p:cNvPr id="83975" name="对象 83974"/>
          <p:cNvGraphicFramePr>
            <a:graphicFrameLocks noChangeAspect="1"/>
          </p:cNvGraphicFramePr>
          <p:nvPr/>
        </p:nvGraphicFramePr>
        <p:xfrm>
          <a:off x="1860550" y="2209800"/>
          <a:ext cx="6172200" cy="438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6753225" imgH="4800600" progId="Word.Picture.8">
                  <p:embed/>
                </p:oleObj>
              </mc:Choice>
              <mc:Fallback>
                <p:oleObj name="" r:id="rId1" imgW="6753225" imgH="4800600" progId="Word.Picture.8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0550" y="2209800"/>
                        <a:ext cx="6172200" cy="438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标题 84993"/>
          <p:cNvSpPr>
            <a:spLocks noGrp="1"/>
          </p:cNvSpPr>
          <p:nvPr>
            <p:ph type="title"/>
          </p:nvPr>
        </p:nvSpPr>
        <p:spPr>
          <a:xfrm>
            <a:off x="1524000" y="236538"/>
            <a:ext cx="5749925" cy="528637"/>
          </a:xfrm>
        </p:spPr>
        <p:txBody>
          <a:bodyPr wrap="none" anchor="ctr" anchorCtr="0">
            <a:spAutoFit/>
          </a:bodyPr>
          <a:p>
            <a:r>
              <a:rPr lang="en-US" altLang="zh-CN" sz="2800" dirty="0">
                <a:solidFill>
                  <a:srgbClr val="000099"/>
                </a:solidFill>
              </a:rPr>
              <a:t>2</a:t>
            </a:r>
            <a:r>
              <a:rPr lang="zh-CN" altLang="en-US" sz="2800" dirty="0">
                <a:solidFill>
                  <a:srgbClr val="000099"/>
                </a:solidFill>
              </a:rPr>
              <a:t>、分别测量两级电路的静态工作点</a:t>
            </a:r>
            <a:endParaRPr lang="zh-CN" altLang="en-US" sz="2800" dirty="0">
              <a:solidFill>
                <a:srgbClr val="000099"/>
              </a:solidFill>
            </a:endParaRPr>
          </a:p>
        </p:txBody>
      </p:sp>
      <p:sp>
        <p:nvSpPr>
          <p:cNvPr id="84995" name="文本占位符 84994" descr="Rectangle: Click to edit Master text styles&#13;&#10;Second level&#13;&#10;Third level&#13;&#10;Fourth level&#13;&#10;Fifth level"/>
          <p:cNvSpPr>
            <a:spLocks noGrp="1"/>
          </p:cNvSpPr>
          <p:nvPr>
            <p:ph type="body" idx="1"/>
          </p:nvPr>
        </p:nvSpPr>
        <p:spPr>
          <a:xfrm>
            <a:off x="611188" y="1204913"/>
            <a:ext cx="7999412" cy="1917700"/>
          </a:xfrm>
        </p:spPr>
        <p:txBody>
          <a:bodyPr wrap="square">
            <a:spAutoFit/>
          </a:bodyPr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）两级放大电路的静态工作点互相不影响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）闭合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Vi</a:t>
            </a:r>
            <a:r>
              <a:rPr lang="zh-CN" altLang="en-US" sz="2400" b="1" dirty="0"/>
              <a:t>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1kHz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Vipp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60mV</a:t>
            </a:r>
            <a:r>
              <a:rPr lang="zh-CN" altLang="en-US" sz="2400" b="1" dirty="0"/>
              <a:t>正弦波，调节</a:t>
            </a:r>
            <a:r>
              <a:rPr lang="en-US" altLang="zh-CN" sz="2400" b="1" dirty="0"/>
              <a:t>Rp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Vipp</a:t>
            </a:r>
            <a:r>
              <a:rPr lang="zh-CN" altLang="en-US" sz="2400" b="1" dirty="0"/>
              <a:t>的值，使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E</a:t>
            </a:r>
            <a:r>
              <a:rPr lang="en-US" altLang="zh-CN" sz="2400" b="1" dirty="0"/>
              <a:t>=7~8V</a:t>
            </a:r>
            <a:r>
              <a:rPr lang="zh-CN" altLang="en-US" sz="2400" b="1" dirty="0"/>
              <a:t>（保证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O</a:t>
            </a:r>
            <a:r>
              <a:rPr lang="zh-CN" altLang="en-US" sz="2400" b="1" dirty="0"/>
              <a:t>不失真）。关闭信号源，用万用表测量静态工作点（表</a:t>
            </a:r>
            <a:r>
              <a:rPr lang="en-US" altLang="zh-CN" sz="2400" b="1" dirty="0"/>
              <a:t>4.7.1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graphicFrame>
        <p:nvGraphicFramePr>
          <p:cNvPr id="84996" name="对象 84995"/>
          <p:cNvGraphicFramePr>
            <a:graphicFrameLocks noChangeAspect="1"/>
          </p:cNvGraphicFramePr>
          <p:nvPr/>
        </p:nvGraphicFramePr>
        <p:xfrm>
          <a:off x="1905000" y="3200400"/>
          <a:ext cx="48768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6753225" imgH="4800600" progId="Word.Picture.8">
                  <p:embed/>
                </p:oleObj>
              </mc:Choice>
              <mc:Fallback>
                <p:oleObj name="" r:id="rId1" imgW="6753225" imgH="4800600" progId="Word.Picture.8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3200400"/>
                        <a:ext cx="4876800" cy="346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标题 86017"/>
          <p:cNvSpPr>
            <a:spLocks noGrp="1"/>
          </p:cNvSpPr>
          <p:nvPr>
            <p:ph type="title"/>
          </p:nvPr>
        </p:nvSpPr>
        <p:spPr>
          <a:xfrm>
            <a:off x="1600200" y="228600"/>
            <a:ext cx="4908550" cy="528638"/>
          </a:xfrm>
        </p:spPr>
        <p:txBody>
          <a:bodyPr wrap="square" anchor="ctr" anchorCtr="0">
            <a:spAutoFit/>
          </a:bodyPr>
          <a:p>
            <a:r>
              <a:rPr lang="en-US" altLang="zh-CN" sz="2800" dirty="0">
                <a:solidFill>
                  <a:srgbClr val="000099"/>
                </a:solidFill>
              </a:rPr>
              <a:t>3</a:t>
            </a:r>
            <a:r>
              <a:rPr lang="zh-CN" altLang="en-US" sz="2800" dirty="0">
                <a:solidFill>
                  <a:srgbClr val="000099"/>
                </a:solidFill>
              </a:rPr>
              <a:t>、测量电路的放大倍数</a:t>
            </a:r>
            <a:endParaRPr lang="zh-CN" altLang="en-US" sz="2800" dirty="0">
              <a:solidFill>
                <a:srgbClr val="000099"/>
              </a:solidFill>
            </a:endParaRPr>
          </a:p>
        </p:txBody>
      </p:sp>
      <p:sp>
        <p:nvSpPr>
          <p:cNvPr id="86019" name="文本占位符 86018" descr="Rectangle: Click to edit Master text styles&#13;&#10;Second level&#13;&#10;Third level&#13;&#10;Fourth level&#13;&#10;Fifth level"/>
          <p:cNvSpPr>
            <a:spLocks noGrp="1"/>
          </p:cNvSpPr>
          <p:nvPr>
            <p:ph type="body" idx="1"/>
          </p:nvPr>
        </p:nvSpPr>
        <p:spPr>
          <a:xfrm>
            <a:off x="538163" y="1352550"/>
            <a:ext cx="8066087" cy="4619625"/>
          </a:xfrm>
        </p:spPr>
        <p:txBody>
          <a:bodyPr vert="horz" wrap="square" anchor="t" anchorCtr="0">
            <a:spAutoFit/>
          </a:bodyPr>
          <a:p>
            <a:pPr marL="609600" indent="-609600">
              <a:lnSpc>
                <a:spcPct val="120000"/>
              </a:lnSpc>
              <a:buClr>
                <a:schemeClr val="tx1"/>
              </a:buClr>
              <a:buFontTx/>
              <a:buAutoNum type="arabicParenR"/>
            </a:pPr>
            <a:r>
              <a:rPr lang="en-US" altLang="zh-CN" sz="2700" b="1" dirty="0"/>
              <a:t>Av=Vopp/Vipp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Tx/>
              <a:buAutoNum type="arabicParenR"/>
            </a:pPr>
            <a:r>
              <a:rPr lang="zh-CN" altLang="en-US" sz="2700" b="1" dirty="0"/>
              <a:t>打开信号源，测量</a:t>
            </a:r>
            <a:r>
              <a:rPr lang="en-US" altLang="zh-CN" sz="2700" b="1" dirty="0"/>
              <a:t>Vo1</a:t>
            </a:r>
            <a:r>
              <a:rPr lang="zh-CN" altLang="en-US" sz="2700" b="1" dirty="0"/>
              <a:t>和</a:t>
            </a:r>
            <a:r>
              <a:rPr lang="en-US" altLang="zh-CN" sz="2700" b="1" dirty="0"/>
              <a:t>Vo2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700" b="1" dirty="0"/>
              <a:t>断开</a:t>
            </a:r>
            <a:r>
              <a:rPr lang="en-US" altLang="zh-CN" sz="2700" b="1" dirty="0"/>
              <a:t>S</a:t>
            </a:r>
            <a:r>
              <a:rPr lang="zh-CN" altLang="en-US" sz="2700" b="1" dirty="0"/>
              <a:t>，测量</a:t>
            </a:r>
            <a:r>
              <a:rPr lang="en-US" altLang="zh-CN" sz="2700" b="1" dirty="0"/>
              <a:t>Vo1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在</a:t>
            </a:r>
            <a:r>
              <a:rPr lang="en-US" altLang="zh-CN" sz="2700" b="1" dirty="0"/>
              <a:t>C2</a:t>
            </a:r>
            <a:r>
              <a:rPr lang="zh-CN" altLang="en-US" sz="2700" b="1" dirty="0"/>
              <a:t>的负极与地之间跨接</a:t>
            </a:r>
            <a:r>
              <a:rPr lang="en-US" altLang="zh-CN" sz="2700" b="1" dirty="0"/>
              <a:t>Rl1</a:t>
            </a:r>
            <a:r>
              <a:rPr lang="zh-CN" altLang="en-US" sz="2700" b="1" dirty="0"/>
              <a:t>＝</a:t>
            </a:r>
            <a:r>
              <a:rPr lang="en-US" altLang="zh-CN" sz="2700" b="1" dirty="0"/>
              <a:t>5.1K</a:t>
            </a:r>
            <a:r>
              <a:rPr lang="zh-CN" altLang="en-US" sz="2700" b="1" dirty="0"/>
              <a:t>，测量</a:t>
            </a:r>
            <a:r>
              <a:rPr lang="en-US" altLang="zh-CN" sz="2700" b="1" dirty="0"/>
              <a:t>Vo1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去掉</a:t>
            </a:r>
            <a:r>
              <a:rPr lang="en-US" altLang="zh-CN" sz="2700" b="1" dirty="0"/>
              <a:t>Rl1</a:t>
            </a:r>
            <a:r>
              <a:rPr lang="zh-CN" altLang="en-US" sz="2700" b="1" dirty="0"/>
              <a:t>，合上</a:t>
            </a:r>
            <a:r>
              <a:rPr lang="en-US" altLang="zh-CN" sz="2700" b="1" dirty="0"/>
              <a:t>S</a:t>
            </a:r>
            <a:r>
              <a:rPr lang="zh-CN" altLang="en-US" sz="2700" b="1" dirty="0"/>
              <a:t>，测量</a:t>
            </a:r>
            <a:r>
              <a:rPr lang="en-US" altLang="zh-CN" sz="2700" b="1" dirty="0"/>
              <a:t>Vo1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去掉</a:t>
            </a:r>
            <a:r>
              <a:rPr lang="en-US" altLang="zh-CN" sz="2700" b="1" dirty="0"/>
              <a:t>Rl</a:t>
            </a:r>
            <a:r>
              <a:rPr lang="zh-CN" altLang="en-US" sz="2700" b="1" dirty="0"/>
              <a:t>，测量</a:t>
            </a:r>
            <a:r>
              <a:rPr lang="en-US" altLang="zh-CN" sz="2700" b="1" dirty="0"/>
              <a:t>Vo2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在</a:t>
            </a:r>
            <a:r>
              <a:rPr lang="en-US" altLang="zh-CN" sz="2700" b="1" dirty="0"/>
              <a:t>C3</a:t>
            </a:r>
            <a:r>
              <a:rPr lang="zh-CN" altLang="en-US" sz="2700" b="1" dirty="0"/>
              <a:t>的负极与地之间跨接</a:t>
            </a:r>
            <a:r>
              <a:rPr lang="en-US" altLang="zh-CN" sz="2700" b="1" dirty="0"/>
              <a:t>Rl</a:t>
            </a:r>
            <a:r>
              <a:rPr lang="zh-CN" altLang="en-US" sz="2700" b="1" dirty="0"/>
              <a:t>＝</a:t>
            </a:r>
            <a:r>
              <a:rPr lang="en-US" altLang="zh-CN" sz="2700" b="1" dirty="0"/>
              <a:t>5.1K</a:t>
            </a:r>
            <a:r>
              <a:rPr lang="zh-CN" altLang="en-US" sz="2700" b="1" dirty="0"/>
              <a:t>，测量</a:t>
            </a:r>
            <a:r>
              <a:rPr lang="en-US" altLang="zh-CN" sz="2700" b="1" dirty="0"/>
              <a:t>Vo2</a:t>
            </a:r>
            <a:endParaRPr lang="en-US" altLang="zh-CN" sz="27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Tx/>
              <a:buAutoNum type="arabicParenR" startAt="3"/>
            </a:pPr>
            <a:r>
              <a:rPr lang="zh-CN" altLang="en-US" sz="2700" b="1" dirty="0"/>
              <a:t>记录测量值（表</a:t>
            </a:r>
            <a:r>
              <a:rPr lang="en-US" altLang="zh-CN" sz="2700" b="1" dirty="0"/>
              <a:t>4.7.2</a:t>
            </a:r>
            <a:r>
              <a:rPr lang="zh-CN" altLang="en-US" sz="2700" b="1" dirty="0"/>
              <a:t>），计算</a:t>
            </a:r>
            <a:r>
              <a:rPr lang="en-US" altLang="zh-CN" sz="2700" b="1" dirty="0"/>
              <a:t>Av</a:t>
            </a:r>
            <a:r>
              <a:rPr lang="zh-CN" altLang="en-US" sz="2700" b="1" dirty="0"/>
              <a:t>和</a:t>
            </a:r>
            <a:r>
              <a:rPr lang="en-US" altLang="zh-CN" sz="2700" b="1" dirty="0"/>
              <a:t>Ro</a:t>
            </a:r>
            <a:r>
              <a:rPr lang="zh-CN" altLang="en-US" sz="2700" b="1" dirty="0"/>
              <a:t>（</a:t>
            </a:r>
            <a:r>
              <a:rPr lang="en-US" altLang="zh-CN" sz="2700" b="1" dirty="0"/>
              <a:t>p93</a:t>
            </a:r>
            <a:r>
              <a:rPr lang="zh-CN" altLang="en-US" sz="2700" b="1" dirty="0"/>
              <a:t>）</a:t>
            </a:r>
            <a:endParaRPr lang="zh-CN" altLang="en-US" sz="2700" b="1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标题 87041"/>
          <p:cNvSpPr>
            <a:spLocks noGrp="1"/>
          </p:cNvSpPr>
          <p:nvPr>
            <p:ph type="title"/>
          </p:nvPr>
        </p:nvSpPr>
        <p:spPr>
          <a:xfrm>
            <a:off x="990600" y="457200"/>
            <a:ext cx="3243263" cy="579438"/>
          </a:xfrm>
        </p:spPr>
        <p:txBody>
          <a:bodyPr wrap="none" anchor="ctr" anchorCtr="0">
            <a:spAutoFit/>
          </a:bodyPr>
          <a:p>
            <a:r>
              <a:rPr lang="en-US" altLang="zh-CN" sz="3200" dirty="0">
                <a:solidFill>
                  <a:srgbClr val="000099"/>
                </a:solidFill>
              </a:rPr>
              <a:t>4</a:t>
            </a:r>
            <a:r>
              <a:rPr lang="zh-CN" altLang="en-US" sz="3200" dirty="0">
                <a:solidFill>
                  <a:srgbClr val="000099"/>
                </a:solidFill>
              </a:rPr>
              <a:t>、观察记录波形</a:t>
            </a:r>
            <a:endParaRPr lang="zh-CN" altLang="en-US" sz="3200" dirty="0">
              <a:solidFill>
                <a:srgbClr val="000099"/>
              </a:solidFill>
            </a:endParaRPr>
          </a:p>
        </p:txBody>
      </p:sp>
      <p:sp>
        <p:nvSpPr>
          <p:cNvPr id="87043" name="文本占位符 87042" descr="Rectangle: Click to edit Master text styles&#13;&#10;Second level&#13;&#10;Third level&#13;&#10;Fourth level&#13;&#10;Fifth level"/>
          <p:cNvSpPr>
            <a:spLocks noGrp="1"/>
          </p:cNvSpPr>
          <p:nvPr>
            <p:ph type="body" idx="1"/>
          </p:nvPr>
        </p:nvSpPr>
        <p:spPr>
          <a:xfrm>
            <a:off x="1295400" y="1192213"/>
            <a:ext cx="7239000" cy="1716087"/>
          </a:xfrm>
        </p:spPr>
        <p:txBody>
          <a:bodyPr vert="horz" wrap="square" anchor="t" anchorCtr="0">
            <a:spAutoFit/>
          </a:bodyPr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定性记录</a:t>
            </a:r>
            <a:r>
              <a:rPr lang="en-US" altLang="zh-CN" sz="2800" b="1" dirty="0"/>
              <a:t>Vi 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Vo1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Vo2</a:t>
            </a:r>
            <a:r>
              <a:rPr lang="zh-CN" altLang="en-US" sz="2800" b="1" dirty="0"/>
              <a:t>波形，注意记录特征参数值</a:t>
            </a:r>
            <a:endParaRPr lang="zh-CN" altLang="en-US" sz="2800" b="1" dirty="0"/>
          </a:p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注意三者之间的相位关系</a:t>
            </a:r>
            <a:endParaRPr lang="zh-CN" altLang="en-US" sz="2800" b="1" dirty="0"/>
          </a:p>
        </p:txBody>
      </p:sp>
      <p:sp>
        <p:nvSpPr>
          <p:cNvPr id="87044" name="直接连接符 87043"/>
          <p:cNvSpPr/>
          <p:nvPr/>
        </p:nvSpPr>
        <p:spPr>
          <a:xfrm>
            <a:off x="1092200" y="3805238"/>
            <a:ext cx="58420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045" name="矩形 87044"/>
          <p:cNvSpPr/>
          <p:nvPr/>
        </p:nvSpPr>
        <p:spPr>
          <a:xfrm>
            <a:off x="1066800" y="3151188"/>
            <a:ext cx="28352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5</a:t>
            </a:r>
            <a:r>
              <a:rPr lang="zh-CN" altLang="en-US" sz="3200" b="1" dirty="0">
                <a:solidFill>
                  <a:srgbClr val="000099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、测量通频带</a:t>
            </a:r>
            <a:endParaRPr lang="zh-CN" altLang="en-US" sz="3200" b="1" dirty="0">
              <a:solidFill>
                <a:srgbClr val="000099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87046" name="矩形 87045" descr="Rectangle: Click to edit Master text styles&#13;&#10;Second level&#13;&#10;Third level&#13;&#10;Fourth level&#13;&#10;Fifth level"/>
          <p:cNvSpPr/>
          <p:nvPr/>
        </p:nvSpPr>
        <p:spPr>
          <a:xfrm>
            <a:off x="1371600" y="3886200"/>
            <a:ext cx="7239000" cy="180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609600" indent="-6096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两级放大的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BW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比任何一级的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BW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窄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10000"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BW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的测试方法同实验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endParaRPr lang="en-US" altLang="zh-CN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注：高频时不能使用万用表测电压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标题 2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>
                <a:solidFill>
                  <a:srgbClr val="FF0000"/>
                </a:solidFill>
              </a:rPr>
              <a:t>电路的调试步骤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8067" name="内容占位符 3"/>
          <p:cNvSpPr>
            <a:spLocks noGrp="1"/>
          </p:cNvSpPr>
          <p:nvPr>
            <p:ph idx="1"/>
          </p:nvPr>
        </p:nvSpPr>
        <p:spPr>
          <a:xfrm>
            <a:off x="719138" y="1143000"/>
            <a:ext cx="8424862" cy="5143500"/>
          </a:xfrm>
        </p:spPr>
        <p:txBody>
          <a:bodyPr vert="horz" wrap="square" anchor="t" anchorCtr="0"/>
          <a:p>
            <a:pPr marL="469900" indent="-469900"/>
            <a:r>
              <a:rPr lang="zh-CN" altLang="en-US" sz="3400" b="1" dirty="0">
                <a:solidFill>
                  <a:srgbClr val="0066FF"/>
                </a:solidFill>
              </a:rPr>
              <a:t>检查电路连接</a:t>
            </a:r>
            <a:r>
              <a:rPr lang="en-US" altLang="zh-CN" sz="3400" b="1" dirty="0">
                <a:latin typeface="Arial" panose="020B0604020202020204" pitchFamily="34" charset="0"/>
              </a:rPr>
              <a:t>—</a:t>
            </a:r>
            <a:r>
              <a:rPr lang="zh-CN" altLang="en-US" sz="3400" b="1" dirty="0">
                <a:solidFill>
                  <a:srgbClr val="FE2312"/>
                </a:solidFill>
              </a:rPr>
              <a:t>磨刀不误砍柴工！</a:t>
            </a:r>
            <a:endParaRPr lang="en-US" altLang="zh-CN" sz="3400" b="1" dirty="0">
              <a:solidFill>
                <a:srgbClr val="FE2312"/>
              </a:solidFill>
            </a:endParaRPr>
          </a:p>
          <a:p>
            <a:pPr marL="908050" lvl="1" indent="-436245"/>
            <a:r>
              <a:rPr lang="zh-CN" altLang="en-US" sz="2600" dirty="0"/>
              <a:t>按照电路图来检查实际安装的线路</a:t>
            </a:r>
            <a:endParaRPr lang="zh-CN" altLang="en-US" sz="2600" dirty="0"/>
          </a:p>
          <a:p>
            <a:pPr marL="908050" lvl="1" indent="-436245"/>
            <a:r>
              <a:rPr lang="zh-CN" altLang="en-US" sz="2600" dirty="0"/>
              <a:t>特别注意：电源供电</a:t>
            </a:r>
            <a:r>
              <a:rPr lang="en-US" altLang="zh-CN" sz="2600" dirty="0"/>
              <a:t>(</a:t>
            </a:r>
            <a:r>
              <a:rPr lang="zh-CN" altLang="en-US" sz="2600" dirty="0"/>
              <a:t>包括极性</a:t>
            </a:r>
            <a:r>
              <a:rPr lang="en-US" altLang="zh-CN" sz="2600" dirty="0"/>
              <a:t>)</a:t>
            </a:r>
            <a:r>
              <a:rPr lang="zh-CN" altLang="en-US" sz="2600" dirty="0"/>
              <a:t>、信号源连线是否正确</a:t>
            </a:r>
            <a:r>
              <a:rPr lang="en-US" altLang="zh-CN" sz="2600" dirty="0"/>
              <a:t>;</a:t>
            </a:r>
            <a:r>
              <a:rPr lang="zh-CN" altLang="en-US" sz="2600" dirty="0"/>
              <a:t>地线的共地问题；</a:t>
            </a:r>
            <a:endParaRPr lang="zh-CN" altLang="en-US" sz="2600" dirty="0"/>
          </a:p>
          <a:p>
            <a:pPr marL="469900" indent="-469900"/>
            <a:r>
              <a:rPr lang="zh-CN" altLang="en-US" sz="3400" b="1" dirty="0">
                <a:solidFill>
                  <a:srgbClr val="0066FF"/>
                </a:solidFill>
              </a:rPr>
              <a:t>静态测试；</a:t>
            </a:r>
            <a:endParaRPr lang="en-US" altLang="zh-CN" sz="3400" b="1" dirty="0">
              <a:solidFill>
                <a:srgbClr val="0066FF"/>
              </a:solidFill>
            </a:endParaRPr>
          </a:p>
          <a:p>
            <a:pPr marL="908050" lvl="1" indent="-436245"/>
            <a:r>
              <a:rPr lang="zh-CN" altLang="en-US" sz="2600" dirty="0"/>
              <a:t>静态工作点情况</a:t>
            </a:r>
            <a:endParaRPr lang="en-US" altLang="zh-CN" sz="2600" dirty="0"/>
          </a:p>
          <a:p>
            <a:pPr marL="469900" indent="-469900"/>
            <a:r>
              <a:rPr lang="zh-CN" altLang="en-US" sz="3400" b="1" dirty="0">
                <a:solidFill>
                  <a:srgbClr val="0066FF"/>
                </a:solidFill>
              </a:rPr>
              <a:t>动态测试；</a:t>
            </a:r>
            <a:endParaRPr lang="en-US" altLang="zh-CN" sz="3400" b="1" dirty="0">
              <a:solidFill>
                <a:srgbClr val="0066FF"/>
              </a:solidFill>
            </a:endParaRPr>
          </a:p>
          <a:p>
            <a:pPr marL="908050" lvl="1" indent="-436245"/>
            <a:r>
              <a:rPr lang="zh-CN" altLang="en-US" sz="2600" dirty="0"/>
              <a:t>基本信号输入输出情况</a:t>
            </a:r>
            <a:endParaRPr lang="en-US" altLang="zh-CN" sz="2600" dirty="0"/>
          </a:p>
          <a:p>
            <a:pPr marL="469900" indent="-469900"/>
            <a:r>
              <a:rPr lang="zh-CN" altLang="en-US" sz="3400" b="1" dirty="0">
                <a:solidFill>
                  <a:srgbClr val="0066FF"/>
                </a:solidFill>
              </a:rPr>
              <a:t>整机联调；</a:t>
            </a:r>
            <a:endParaRPr lang="en-US" altLang="zh-CN" sz="3400" b="1" dirty="0">
              <a:solidFill>
                <a:srgbClr val="0066FF"/>
              </a:solidFill>
            </a:endParaRPr>
          </a:p>
          <a:p>
            <a:pPr marL="908050" lvl="1" indent="-436245"/>
            <a:r>
              <a:rPr lang="zh-CN" altLang="en-US" sz="2600" dirty="0"/>
              <a:t>性能指标测试与电路参数调整</a:t>
            </a:r>
            <a:endParaRPr lang="zh-CN" altLang="en-US" sz="2600" dirty="0"/>
          </a:p>
          <a:p>
            <a:pPr marL="469900" indent="-469900">
              <a:buNone/>
            </a:pPr>
            <a:endParaRPr lang="zh-CN" altLang="en-US" sz="2800" dirty="0"/>
          </a:p>
        </p:txBody>
      </p:sp>
      <p:sp>
        <p:nvSpPr>
          <p:cNvPr id="88068" name="页脚占位符 1"/>
          <p:cNvSpPr txBox="1">
            <a:spLocks noGrp="1"/>
          </p:cNvSpPr>
          <p:nvPr/>
        </p:nvSpPr>
        <p:spPr>
          <a:xfrm>
            <a:off x="3124200" y="6481763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fld id="{9A0DB2DC-4C9A-4742-B13C-FB6460FD3503}" type="slidenum">
              <a:rPr lang="en-US" altLang="zh-CN" sz="1600" dirty="0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tx1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Line 3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1" name="Text Box 4"/>
          <p:cNvSpPr txBox="1"/>
          <p:nvPr/>
        </p:nvSpPr>
        <p:spPr>
          <a:xfrm>
            <a:off x="533400" y="990600"/>
            <a:ext cx="8281988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发现电路不能正常工作，要学会用测试方法排查故障。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89092" name="Text Box 5"/>
          <p:cNvSpPr txBox="1"/>
          <p:nvPr/>
        </p:nvSpPr>
        <p:spPr>
          <a:xfrm>
            <a:off x="539750" y="1484313"/>
            <a:ext cx="8323263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    如果输入正弦信号后，在示波器上无法观察到正常的输出波形，问可能的故障有哪些？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3" name="Text Box 6"/>
          <p:cNvSpPr txBox="1"/>
          <p:nvPr/>
        </p:nvSpPr>
        <p:spPr>
          <a:xfrm>
            <a:off x="827088" y="2492375"/>
            <a:ext cx="7783512" cy="828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）示波器信号线、信号源的信号线有问题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（用示波器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Probe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输出检查）</a:t>
            </a:r>
            <a:endParaRPr lang="zh-CN" altLang="en-US" sz="20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4" name="Text Box 7"/>
          <p:cNvSpPr txBox="1"/>
          <p:nvPr/>
        </p:nvSpPr>
        <p:spPr>
          <a:xfrm>
            <a:off x="827088" y="3241675"/>
            <a:ext cx="7783512" cy="828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）信号源使用不正确、示波器使用不正确（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不要使用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TTL OUT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SYM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OFFSET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旋至最左；示波器触发源设置正确）</a:t>
            </a:r>
            <a:endParaRPr lang="zh-CN" altLang="en-US" sz="20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5" name="Text Box 8"/>
          <p:cNvSpPr txBox="1"/>
          <p:nvPr/>
        </p:nvSpPr>
        <p:spPr>
          <a:xfrm>
            <a:off x="1258888" y="4394200"/>
            <a:ext cx="7561262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稳压电源使用不正确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（使用一路，负极接到电路参考地）</a:t>
            </a:r>
            <a:endParaRPr lang="zh-CN" altLang="en-US" sz="20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6" name="Text Box 9"/>
          <p:cNvSpPr txBox="1"/>
          <p:nvPr/>
        </p:nvSpPr>
        <p:spPr>
          <a:xfrm>
            <a:off x="827088" y="3948113"/>
            <a:ext cx="7783512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）电路静态工作点不正常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7" name="Text Box 10"/>
          <p:cNvSpPr txBox="1"/>
          <p:nvPr/>
        </p:nvSpPr>
        <p:spPr>
          <a:xfrm>
            <a:off x="1258888" y="4824413"/>
            <a:ext cx="7173912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电路连接错误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（检查原理、连接关系）</a:t>
            </a:r>
            <a:endParaRPr lang="zh-CN" altLang="en-US" sz="20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8" name="Text Box 11"/>
          <p:cNvSpPr txBox="1"/>
          <p:nvPr/>
        </p:nvSpPr>
        <p:spPr>
          <a:xfrm>
            <a:off x="1258888" y="5262563"/>
            <a:ext cx="7245350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电路参数错误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（核实各电阻阻值，测量三极管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β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值）</a:t>
            </a:r>
            <a:endParaRPr lang="zh-CN" altLang="en-US" sz="2000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099" name="Text Box 12"/>
          <p:cNvSpPr txBox="1"/>
          <p:nvPr/>
        </p:nvSpPr>
        <p:spPr>
          <a:xfrm>
            <a:off x="1258888" y="5700713"/>
            <a:ext cx="65547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三极管管脚接错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9100" name="Rectangle 15"/>
          <p:cNvSpPr>
            <a:spLocks noGrp="1"/>
          </p:cNvSpPr>
          <p:nvPr>
            <p:ph type="title"/>
          </p:nvPr>
        </p:nvSpPr>
        <p:spPr>
          <a:xfrm>
            <a:off x="1447800" y="152400"/>
            <a:ext cx="6630988" cy="792163"/>
          </a:xfrm>
        </p:spPr>
        <p:txBody>
          <a:bodyPr vert="horz" wrap="square" anchor="b" anchorCtr="0"/>
          <a:p>
            <a:r>
              <a:rPr lang="zh-CN" altLang="en-US">
                <a:solidFill>
                  <a:srgbClr val="FF0000"/>
                </a:solidFill>
              </a:rPr>
              <a:t>故障排查提示</a:t>
            </a:r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xfrm>
            <a:off x="1752600" y="228600"/>
            <a:ext cx="6630988" cy="581025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电路调试</a:t>
            </a:r>
            <a:endParaRPr lang="zh-CN" altLang="en-US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90115" name="Line 3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6" name="Text Box 4"/>
          <p:cNvSpPr txBox="1"/>
          <p:nvPr/>
        </p:nvSpPr>
        <p:spPr>
          <a:xfrm>
            <a:off x="1219200" y="1143000"/>
            <a:ext cx="2847975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怎样排查？</a:t>
            </a:r>
            <a:endParaRPr lang="zh-CN" altLang="en-US" sz="2800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90117" name="Text Box 5"/>
          <p:cNvSpPr txBox="1"/>
          <p:nvPr/>
        </p:nvSpPr>
        <p:spPr>
          <a:xfrm>
            <a:off x="539750" y="1749425"/>
            <a:ext cx="785495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）示波器信号线、信号源的信号线有问题</a:t>
            </a:r>
            <a:endParaRPr lang="zh-CN" altLang="en-US" sz="2800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90118" name="Text Box 6"/>
          <p:cNvSpPr txBox="1"/>
          <p:nvPr/>
        </p:nvSpPr>
        <p:spPr>
          <a:xfrm>
            <a:off x="615950" y="3990975"/>
            <a:ext cx="785495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）信号源使用不正确、示波器使用不正确</a:t>
            </a:r>
            <a:endParaRPr lang="zh-CN" altLang="en-US" sz="2800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90119" name="Text Box 7"/>
          <p:cNvSpPr txBox="1"/>
          <p:nvPr/>
        </p:nvSpPr>
        <p:spPr>
          <a:xfrm>
            <a:off x="692150" y="2278063"/>
            <a:ext cx="7854950" cy="154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将示波器的信号线直接接到示波器提供的方波信号源上，观察示波器是否显示方波信号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用上述方法可以判断任何信号线是否有问题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90120" name="Text Box 8"/>
          <p:cNvSpPr txBox="1"/>
          <p:nvPr/>
        </p:nvSpPr>
        <p:spPr>
          <a:xfrm>
            <a:off x="615950" y="4448175"/>
            <a:ext cx="7854950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将信号源输出的信号线直接与示波器的信号线连接，观察示波器是否有正常波形显示，调整信号源相关按钮和旋钮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xfrm>
            <a:off x="1909763" y="115888"/>
            <a:ext cx="6630987" cy="581025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电路调试</a:t>
            </a:r>
            <a:endParaRPr lang="zh-CN" altLang="en-US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91139" name="Line 3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1140" name="Text Box 4"/>
          <p:cNvSpPr txBox="1"/>
          <p:nvPr/>
        </p:nvSpPr>
        <p:spPr>
          <a:xfrm>
            <a:off x="755650" y="1143000"/>
            <a:ext cx="2632075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怎样排查？</a:t>
            </a:r>
            <a:endParaRPr lang="zh-CN" altLang="en-US" sz="2800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91141" name="Text Box 5"/>
          <p:cNvSpPr txBox="1"/>
          <p:nvPr/>
        </p:nvSpPr>
        <p:spPr>
          <a:xfrm>
            <a:off x="1441450" y="3124200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稳压电源使用不正确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（用万用表测试）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91142" name="Text Box 6"/>
          <p:cNvSpPr txBox="1"/>
          <p:nvPr/>
        </p:nvSpPr>
        <p:spPr>
          <a:xfrm>
            <a:off x="908050" y="1628775"/>
            <a:ext cx="7239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）电路静态工作点不正常</a:t>
            </a:r>
            <a:endParaRPr lang="zh-CN" altLang="en-US" sz="2800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91143" name="Text Box 7"/>
          <p:cNvSpPr txBox="1"/>
          <p:nvPr/>
        </p:nvSpPr>
        <p:spPr>
          <a:xfrm>
            <a:off x="1441450" y="3622675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电路连接错误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（目视检查）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91144" name="Text Box 8"/>
          <p:cNvSpPr txBox="1"/>
          <p:nvPr/>
        </p:nvSpPr>
        <p:spPr>
          <a:xfrm>
            <a:off x="1441450" y="4137025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电路参数错误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（用万用表测试）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91145" name="Text Box 9"/>
          <p:cNvSpPr txBox="1"/>
          <p:nvPr/>
        </p:nvSpPr>
        <p:spPr>
          <a:xfrm>
            <a:off x="1441450" y="4651375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三极管管脚接错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（目视检查）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91146" name="Text Box 10"/>
          <p:cNvSpPr txBox="1"/>
          <p:nvPr/>
        </p:nvSpPr>
        <p:spPr>
          <a:xfrm>
            <a:off x="984250" y="2173288"/>
            <a:ext cx="72390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用万用表测试静态工作点（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V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E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V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CE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V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B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等），与理论估算值比较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  <p:sp>
        <p:nvSpPr>
          <p:cNvPr id="91147" name="Text Box 11"/>
          <p:cNvSpPr txBox="1"/>
          <p:nvPr/>
        </p:nvSpPr>
        <p:spPr>
          <a:xfrm>
            <a:off x="1441450" y="5145088"/>
            <a:ext cx="67818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电位器未调整到正确阻值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2" charset="0"/>
                <a:ea typeface="隶书" panose="02010509060101010101" pitchFamily="1" charset="-122"/>
              </a:rPr>
              <a:t>（调整电位器后再测静态工作点）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2" charset="0"/>
              <a:ea typeface="隶书" panose="02010509060101010101" pitchFamily="1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/>
          </p:cNvSpPr>
          <p:nvPr>
            <p:ph type="title"/>
          </p:nvPr>
        </p:nvSpPr>
        <p:spPr>
          <a:xfrm>
            <a:off x="1600200" y="381000"/>
            <a:ext cx="6630988" cy="581025"/>
          </a:xfrm>
        </p:spPr>
        <p:txBody>
          <a:bodyPr vert="horz" wrap="square" anchor="b" anchorCtr="0"/>
          <a:p>
            <a:pPr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电路调试</a:t>
            </a:r>
            <a:endParaRPr lang="zh-CN" altLang="en-US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92163" name="Line 3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4" name="Text Box 4"/>
          <p:cNvSpPr txBox="1"/>
          <p:nvPr/>
        </p:nvSpPr>
        <p:spPr>
          <a:xfrm>
            <a:off x="768350" y="1268413"/>
            <a:ext cx="7620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本实验电路调试的较有效的方法和次序是：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92165" name="Text Box 5"/>
          <p:cNvSpPr txBox="1"/>
          <p:nvPr/>
        </p:nvSpPr>
        <p:spPr>
          <a:xfrm>
            <a:off x="468313" y="2065338"/>
            <a:ext cx="8424862" cy="3560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电路组装完毕且通电后，首先测试静态工作点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调整电位器，使工作点处于合适的位置（</a:t>
            </a:r>
            <a:r>
              <a:rPr lang="en-US" altLang="zh-CN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V</a:t>
            </a:r>
            <a:r>
              <a:rPr lang="en-US" altLang="zh-CN" b="1" baseline="-25000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E</a:t>
            </a:r>
            <a:r>
              <a:rPr lang="en-US" altLang="zh-CN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=1.2</a:t>
            </a:r>
            <a:r>
              <a:rPr lang="en-US" altLang="zh-CN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1.8V</a:t>
            </a: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1" charset="-122"/>
                <a:ea typeface="楷体_GB2312" pitchFamily="1" charset="-122"/>
              </a:rPr>
              <a:t>      </a:t>
            </a: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（如果无法调到合适的位置，则可能是例</a:t>
            </a:r>
            <a:r>
              <a:rPr lang="en-US" altLang="zh-CN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所列的故障</a:t>
            </a:r>
            <a:r>
              <a:rPr lang="en-US" altLang="zh-CN" b="1" dirty="0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)</a:t>
            </a:r>
            <a:endParaRPr lang="en-US" altLang="zh-CN" b="1" dirty="0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将信号源的信号直接输入示波器，调整出符合要求的信号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再将信号接入放大电路的输入端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分别用示波器的两个输入通道，同时观察输入、输出波形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有正常输出波形后，再按实验要求进行测试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先单级、再多级</a:t>
            </a:r>
            <a:endParaRPr lang="zh-CN" altLang="en-US" b="1" dirty="0">
              <a:solidFill>
                <a:schemeClr val="tx2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4"/>
          <p:cNvSpPr>
            <a:spLocks noGrp="1"/>
          </p:cNvSpPr>
          <p:nvPr>
            <p:ph type="title"/>
          </p:nvPr>
        </p:nvSpPr>
        <p:spPr/>
        <p:txBody>
          <a:bodyPr vert="horz" wrap="square" anchor="b" anchorCtr="0"/>
          <a:p>
            <a:r>
              <a:rPr lang="zh-CN" altLang="en-US"/>
              <a:t>实验报告要求</a:t>
            </a:r>
            <a:endParaRPr lang="zh-CN" altLang="en-US"/>
          </a:p>
        </p:txBody>
      </p:sp>
      <p:sp>
        <p:nvSpPr>
          <p:cNvPr id="93187" name="Rectangle 2"/>
          <p:cNvSpPr/>
          <p:nvPr/>
        </p:nvSpPr>
        <p:spPr>
          <a:xfrm>
            <a:off x="381000" y="1066800"/>
            <a:ext cx="8139113" cy="3402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609600" indent="-609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  <a:latin typeface="Verdana" panose="020B0604030504040204" pitchFamily="2" charset="0"/>
                <a:ea typeface="楷体_GB2312" pitchFamily="1" charset="-122"/>
              </a:rPr>
              <a:t>打印提交仿真实验报告（共射共集），包含：</a:t>
            </a:r>
            <a:endParaRPr lang="zh-CN" altLang="en-US" sz="3200" b="1" dirty="0">
              <a:solidFill>
                <a:schemeClr val="tx1"/>
              </a:solidFill>
              <a:latin typeface="Verdana" panose="020B0604030504040204" pitchFamily="2" charset="0"/>
              <a:ea typeface="楷体_GB2312" pitchFamily="1" charset="-122"/>
            </a:endParaRPr>
          </a:p>
          <a:p>
            <a:pPr marL="742950" lvl="1" indent="-285750" algn="l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Verdana" panose="020B0604030504040204" pitchFamily="2" charset="0"/>
                <a:ea typeface="楷体_GB2312" pitchFamily="1" charset="-122"/>
              </a:rPr>
              <a:t>原理图、静态工作点参数、输入输出波形、幅频曲线、输入输出阻抗曲线</a:t>
            </a:r>
            <a:endParaRPr lang="zh-CN" altLang="en-US" b="1" dirty="0">
              <a:solidFill>
                <a:schemeClr val="tx1"/>
              </a:solidFill>
              <a:latin typeface="Verdana" panose="020B0604030504040204" pitchFamily="2" charset="0"/>
              <a:ea typeface="楷体_GB2312" pitchFamily="1" charset="-122"/>
            </a:endParaRPr>
          </a:p>
          <a:p>
            <a:pPr marL="609600" indent="-609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  <a:latin typeface="Verdana" panose="020B0604030504040204" pitchFamily="2" charset="0"/>
                <a:ea typeface="楷体_GB2312" pitchFamily="1" charset="-122"/>
              </a:rPr>
              <a:t>提交共射共集放大器手写实验报告各一份</a:t>
            </a:r>
            <a:endParaRPr lang="zh-CN" altLang="en-US" sz="3200" b="1" dirty="0">
              <a:solidFill>
                <a:schemeClr val="tx1"/>
              </a:solidFill>
              <a:latin typeface="Verdana" panose="020B0604030504040204" pitchFamily="2" charset="0"/>
              <a:ea typeface="楷体_GB2312" pitchFamily="1" charset="-122"/>
            </a:endParaRPr>
          </a:p>
          <a:p>
            <a:pPr marL="742950" lvl="1" indent="-285750" algn="l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Verdana" panose="020B0604030504040204" pitchFamily="2" charset="0"/>
                <a:ea typeface="楷体_GB2312" pitchFamily="1" charset="-122"/>
              </a:rPr>
              <a:t>实验内容要求见</a:t>
            </a:r>
            <a:r>
              <a:rPr lang="en-US" altLang="zh-CN" b="1" dirty="0">
                <a:solidFill>
                  <a:schemeClr val="tx1"/>
                </a:solidFill>
                <a:latin typeface="Verdana" panose="020B0604030504040204" pitchFamily="2" charset="0"/>
                <a:ea typeface="楷体_GB2312" pitchFamily="1" charset="-122"/>
              </a:rPr>
              <a:t>p84</a:t>
            </a:r>
            <a:endParaRPr lang="zh-CN" altLang="en-US" b="1" dirty="0">
              <a:solidFill>
                <a:schemeClr val="tx1"/>
              </a:solidFill>
              <a:latin typeface="Verdana" panose="020B0604030504040204" pitchFamily="2" charset="0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标题 942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阶段实验（8周</a:t>
            </a:r>
            <a:r>
              <a:rPr lang="en-US" altLang="zh-CN" dirty="0"/>
              <a:t>~</a:t>
            </a:r>
            <a:r>
              <a:rPr lang="zh-CN" altLang="en-US" dirty="0"/>
              <a:t>9周）</a:t>
            </a:r>
            <a:endParaRPr lang="zh-CN" altLang="en-US" dirty="0"/>
          </a:p>
        </p:txBody>
      </p:sp>
      <p:sp>
        <p:nvSpPr>
          <p:cNvPr id="94211" name="文本占位符 9421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/>
              <a:t>实验八  有源滤波电路 （8周）</a:t>
            </a:r>
            <a:endParaRPr lang="zh-CN" altLang="en-US" dirty="0"/>
          </a:p>
          <a:p>
            <a:r>
              <a:rPr lang="zh-CN" altLang="en-US" dirty="0"/>
              <a:t>实验九    正弦波产生（9周）</a:t>
            </a:r>
            <a:endParaRPr lang="zh-CN" altLang="en-US" dirty="0"/>
          </a:p>
          <a:p>
            <a:r>
              <a:rPr lang="zh-CN" altLang="en-US" dirty="0"/>
              <a:t>实验十一  精密全波整流电路； （9</a:t>
            </a:r>
            <a:r>
              <a:rPr lang="zh-CN" altLang="en-US" dirty="0"/>
              <a:t>周）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c4a1a784-71cc-41fd-8dcc-4382de366081"/>
  <p:tag name="COMMONDATA" val="eyJoZGlkIjoiYTJlZTM3NzhlZjk1Y2Q4N2Q0ZTcxYTYxYWM4MDQyODEifQ=="/>
</p:tagLst>
</file>

<file path=ppt/theme/theme1.xml><?xml version="1.0" encoding="utf-8"?>
<a:theme xmlns:a="http://schemas.openxmlformats.org/drawingml/2006/main" name="Pixel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989B7"/>
      </a:accent6>
      <a:hlink>
        <a:srgbClr val="666699"/>
      </a:hlink>
      <a:folHlink>
        <a:srgbClr val="CCCCE6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0066FF"/>
        </a:lt2>
        <a:accent1>
          <a:srgbClr val="6699FF"/>
        </a:accent1>
        <a:accent2>
          <a:srgbClr val="3333FF"/>
        </a:accent2>
        <a:accent3>
          <a:srgbClr val="AAAAB9"/>
        </a:accent3>
        <a:accent4>
          <a:srgbClr val="DCDCDC"/>
        </a:accent4>
        <a:accent5>
          <a:srgbClr val="B9CAFF"/>
        </a:accent5>
        <a:accent6>
          <a:srgbClr val="2D2DE5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4B49"/>
        </a:lt1>
        <a:dk2>
          <a:srgbClr val="FFFFFF"/>
        </a:dk2>
        <a:lt2>
          <a:srgbClr val="009999"/>
        </a:lt2>
        <a:accent1>
          <a:srgbClr val="33CCCC"/>
        </a:accent1>
        <a:accent2>
          <a:srgbClr val="008080"/>
        </a:accent2>
        <a:accent3>
          <a:srgbClr val="ADB2B1"/>
        </a:accent3>
        <a:accent4>
          <a:srgbClr val="DCDCDC"/>
        </a:accent4>
        <a:accent5>
          <a:srgbClr val="ADE2E2"/>
        </a:accent5>
        <a:accent6>
          <a:srgbClr val="007272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99"/>
        </a:lt1>
        <a:dk2>
          <a:srgbClr val="FFFFFF"/>
        </a:dk2>
        <a:lt2>
          <a:srgbClr val="006699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CDCDC"/>
        </a:accent4>
        <a:accent5>
          <a:srgbClr val="AACAE2"/>
        </a:accent5>
        <a:accent6>
          <a:srgbClr val="02789D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F978D"/>
        </a:lt1>
        <a:dk2>
          <a:srgbClr val="FFFFFF"/>
        </a:dk2>
        <a:lt2>
          <a:srgbClr val="008080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CDCDC"/>
        </a:accent4>
        <a:accent5>
          <a:srgbClr val="AACAFF"/>
        </a:accent5>
        <a:accent6>
          <a:srgbClr val="008989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822504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CDCDC"/>
        </a:accent4>
        <a:accent5>
          <a:srgbClr val="FFCAAA"/>
        </a:accent5>
        <a:accent6>
          <a:srgbClr val="8D2504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7911"/>
        </a:lt1>
        <a:dk2>
          <a:srgbClr val="FFFFFF"/>
        </a:dk2>
        <a:lt2>
          <a:srgbClr val="336600"/>
        </a:lt2>
        <a:accent1>
          <a:srgbClr val="666633"/>
        </a:accent1>
        <a:accent2>
          <a:srgbClr val="669900"/>
        </a:accent2>
        <a:accent3>
          <a:srgbClr val="B2BEAA"/>
        </a:accent3>
        <a:accent4>
          <a:srgbClr val="DCDCDC"/>
        </a:accent4>
        <a:accent5>
          <a:srgbClr val="B9B9AD"/>
        </a:accent5>
        <a:accent6>
          <a:srgbClr val="5B89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75B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B89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C0465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192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CAEC1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989B7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9139</Words>
  <Application>WPS 演示</Application>
  <PresentationFormat>在屏幕上显示</PresentationFormat>
  <Paragraphs>736</Paragraphs>
  <Slides>86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33</vt:i4>
      </vt:variant>
      <vt:variant>
        <vt:lpstr>幻灯片标题</vt:lpstr>
      </vt:variant>
      <vt:variant>
        <vt:i4>86</vt:i4>
      </vt:variant>
    </vt:vector>
  </HeadingPairs>
  <TitlesOfParts>
    <vt:vector size="144" baseType="lpstr">
      <vt:lpstr>Arial</vt:lpstr>
      <vt:lpstr>宋体</vt:lpstr>
      <vt:lpstr>Wingdings</vt:lpstr>
      <vt:lpstr>Times New Roman</vt:lpstr>
      <vt:lpstr>楷体_GB2312</vt:lpstr>
      <vt:lpstr>新宋体</vt:lpstr>
      <vt:lpstr>华文行楷</vt:lpstr>
      <vt:lpstr>微软雅黑</vt:lpstr>
      <vt:lpstr>黑体</vt:lpstr>
      <vt:lpstr>隶书</vt:lpstr>
      <vt:lpstr>Verdana</vt:lpstr>
      <vt:lpstr>Arial Unicode MS</vt:lpstr>
      <vt:lpstr>Symbol</vt:lpstr>
      <vt:lpstr>MingLiU</vt:lpstr>
      <vt:lpstr>MingLiU-ExtB</vt:lpstr>
      <vt:lpstr>华文仿宋</vt:lpstr>
      <vt:lpstr>仿宋</vt:lpstr>
      <vt:lpstr>Tahoma</vt:lpstr>
      <vt:lpstr>仿宋_GB2312</vt:lpstr>
      <vt:lpstr>Monotype Sorts</vt:lpstr>
      <vt:lpstr>Wingdings</vt:lpstr>
      <vt:lpstr>汉仪雁翎体简</vt:lpstr>
      <vt:lpstr>Toots Regular</vt:lpstr>
      <vt:lpstr>Pixel</vt:lpstr>
      <vt:lpstr>默认设计模板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Word.Picture.8</vt:lpstr>
      <vt:lpstr>Paint.Picture</vt:lpstr>
      <vt:lpstr>Paint.Picture</vt:lpstr>
      <vt:lpstr>Paint.Picture</vt:lpstr>
      <vt:lpstr>Paint.Picture</vt:lpstr>
      <vt:lpstr>Word.Picture.8</vt:lpstr>
      <vt:lpstr>Paint.Picture</vt:lpstr>
      <vt:lpstr>Word.Picture.8</vt:lpstr>
      <vt:lpstr>Word.Picture.8</vt:lpstr>
      <vt:lpstr>Word.Picture.8</vt:lpstr>
      <vt:lpstr>Equation.3</vt:lpstr>
      <vt:lpstr>Word.Picture.8</vt:lpstr>
      <vt:lpstr>Word.Picture.8</vt:lpstr>
      <vt:lpstr>Equation.3</vt:lpstr>
      <vt:lpstr>Equation.3</vt:lpstr>
      <vt:lpstr>Paint.Picture</vt:lpstr>
      <vt:lpstr>Word.Picture.8</vt:lpstr>
      <vt:lpstr>Word.Picture.8</vt:lpstr>
      <vt:lpstr>Word.Picture.8</vt:lpstr>
      <vt:lpstr>Word.Picture.8</vt:lpstr>
      <vt:lpstr>Paint.Picture</vt:lpstr>
      <vt:lpstr>Paint.Picture</vt:lpstr>
      <vt:lpstr>Paint.Picture</vt:lpstr>
      <vt:lpstr>Paint.Picture</vt:lpstr>
      <vt:lpstr>Paint.Picture</vt:lpstr>
      <vt:lpstr>Paint.Picture</vt:lpstr>
      <vt:lpstr>电子线路设计、测试与实验</vt:lpstr>
      <vt:lpstr>第一阶段实验总结</vt:lpstr>
      <vt:lpstr>第一阶段实验总结</vt:lpstr>
      <vt:lpstr>第一阶段实验总结</vt:lpstr>
      <vt:lpstr>共射共集放大电路仿真与实现</vt:lpstr>
      <vt:lpstr>共射共集放大电路仿真与实现</vt:lpstr>
      <vt:lpstr>一、要求</vt:lpstr>
      <vt:lpstr>共射-共集放大电路仿真与实现 </vt:lpstr>
      <vt:lpstr>教学要点</vt:lpstr>
      <vt:lpstr>三、电路设计一般流程</vt:lpstr>
      <vt:lpstr>电路仿真验证</vt:lpstr>
      <vt:lpstr>电路仿真验证设计与仿真要求</vt:lpstr>
      <vt:lpstr>PSPICE资源</vt:lpstr>
      <vt:lpstr>pSpice简介</vt:lpstr>
      <vt:lpstr>仿真步骤 </vt:lpstr>
      <vt:lpstr>PSpice A/D中的有关注意事项</vt:lpstr>
      <vt:lpstr>PSpice A/D中的有关规定</vt:lpstr>
      <vt:lpstr>新建设计项目(File/New/Project)</vt:lpstr>
      <vt:lpstr>项目基本设置</vt:lpstr>
      <vt:lpstr>建立新的Pspice项目</vt:lpstr>
      <vt:lpstr>Capture 工作窗口</vt:lpstr>
      <vt:lpstr>2.  画原理图—（1） 调元件 注意快捷工具图标的使用</vt:lpstr>
      <vt:lpstr>加元器件库(Place/Part命令)</vt:lpstr>
      <vt:lpstr>元器件符号库</vt:lpstr>
      <vt:lpstr>元器件类型和关键字</vt:lpstr>
      <vt:lpstr>常用元器件类型和关键字</vt:lpstr>
      <vt:lpstr>完成元器件库配置后，点击“完成”按钮，屏幕上将出现电路图编辑窗口（Page Editor）。</vt:lpstr>
      <vt:lpstr>添加元件步骤</vt:lpstr>
      <vt:lpstr>元件移动、旋转和删除</vt:lpstr>
      <vt:lpstr>取放电源与接地符号</vt:lpstr>
      <vt:lpstr>元器件属性参数编辑</vt:lpstr>
      <vt:lpstr>还可以只修改某项参数</vt:lpstr>
      <vt:lpstr>特别注意：</vt:lpstr>
      <vt:lpstr>模型参数</vt:lpstr>
      <vt:lpstr>连线</vt:lpstr>
      <vt:lpstr>设置节点名</vt:lpstr>
      <vt:lpstr>绘图快捷键</vt:lpstr>
      <vt:lpstr>保存和自动检查 </vt:lpstr>
      <vt:lpstr>Spice仿真</vt:lpstr>
      <vt:lpstr>PSpice A/D仿真功能简介</vt:lpstr>
      <vt:lpstr>Pspice的基本电路特性分析 --1 . 静态工作点分析</vt:lpstr>
      <vt:lpstr>PowerPoint 演示文稿</vt:lpstr>
      <vt:lpstr>（3）设置分析类型和参数。</vt:lpstr>
      <vt:lpstr>（4）运行Pspice。     启动Pspice/Run命令，软件开始分析计算。</vt:lpstr>
      <vt:lpstr>2. 瞬态分析</vt:lpstr>
      <vt:lpstr>PowerPoint 演示文稿</vt:lpstr>
      <vt:lpstr>（5）运行Pspice。执行Pspice/Run命令。</vt:lpstr>
      <vt:lpstr>可用以下两种方法选择要显示的变量名：</vt:lpstr>
      <vt:lpstr>PowerPoint 演示文稿</vt:lpstr>
      <vt:lpstr>建立两个以上的波形显示区</vt:lpstr>
      <vt:lpstr>瞬态分析（时域分析）Transient Analysis</vt:lpstr>
      <vt:lpstr>频域分析</vt:lpstr>
      <vt:lpstr>求解输出阻抗 </vt:lpstr>
      <vt:lpstr>交流小信号分析（频域分析）AC Sweep</vt:lpstr>
      <vt:lpstr>PowerPoint 演示文稿</vt:lpstr>
      <vt:lpstr>求解输出阻抗</vt:lpstr>
      <vt:lpstr>Spice仿真</vt:lpstr>
      <vt:lpstr>电路仿真验证设计与仿真要求</vt:lpstr>
      <vt:lpstr>PSPICE仿真实验报告</vt:lpstr>
      <vt:lpstr>共射-共集放大电路安装调试</vt:lpstr>
      <vt:lpstr>一、原理图（91页）</vt:lpstr>
      <vt:lpstr>二、电路安装与测试</vt:lpstr>
      <vt:lpstr>1. 电路组装与测试</vt:lpstr>
      <vt:lpstr>PowerPoint 演示文稿</vt:lpstr>
      <vt:lpstr>三、实验内容</vt:lpstr>
      <vt:lpstr>静态调试</vt:lpstr>
      <vt:lpstr>动态调试</vt:lpstr>
      <vt:lpstr>动态调试</vt:lpstr>
      <vt:lpstr>动态调试</vt:lpstr>
      <vt:lpstr>3. 测量放大倍数</vt:lpstr>
      <vt:lpstr>4. 测量通频带BW </vt:lpstr>
      <vt:lpstr>5. 测量输入电阻</vt:lpstr>
      <vt:lpstr>计算输入电阻</vt:lpstr>
      <vt:lpstr>6. 测量输出电阻原理图</vt:lpstr>
      <vt:lpstr>电路组装与测试</vt:lpstr>
      <vt:lpstr>1、调试方法</vt:lpstr>
      <vt:lpstr>2、分别测量两级电路的静态工作点</vt:lpstr>
      <vt:lpstr>3、测量电路的放大倍数</vt:lpstr>
      <vt:lpstr>4、观察记录波形</vt:lpstr>
      <vt:lpstr>电路的调试步骤</vt:lpstr>
      <vt:lpstr>故障排查提示</vt:lpstr>
      <vt:lpstr>电路调试</vt:lpstr>
      <vt:lpstr>电路调试</vt:lpstr>
      <vt:lpstr>电路调试</vt:lpstr>
      <vt:lpstr>实验报告要求</vt:lpstr>
      <vt:lpstr>第3阶段实验（8周~9周）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wxy</dc:creator>
  <cp:lastModifiedBy>柳随风</cp:lastModifiedBy>
  <cp:revision>241</cp:revision>
  <dcterms:created xsi:type="dcterms:W3CDTF">2012-08-17T03:26:00Z</dcterms:created>
  <dcterms:modified xsi:type="dcterms:W3CDTF">2025-11-12T10:44:37Z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2052-12.1.0.23542</vt:lpwstr>
  </property>
  <property fmtid="{D5CDD505-2E9C-101B-9397-08002B2CF9AE}" pid="4" name="ICV">
    <vt:lpwstr>9B63BBE99E3742A2B072064D1FDC3378_13</vt:lpwstr>
  </property>
</Properties>
</file>