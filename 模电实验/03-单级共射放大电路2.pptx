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av" ContentType="audio/x-wav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396" r:id="rId3"/>
    <p:sldId id="397" r:id="rId4"/>
    <p:sldId id="374" r:id="rId5"/>
    <p:sldId id="375" r:id="rId6"/>
    <p:sldId id="376" r:id="rId7"/>
    <p:sldId id="377" r:id="rId8"/>
    <p:sldId id="378" r:id="rId9"/>
    <p:sldId id="379" r:id="rId10"/>
    <p:sldId id="380" r:id="rId11"/>
    <p:sldId id="381" r:id="rId12"/>
    <p:sldId id="382" r:id="rId13"/>
    <p:sldId id="383" r:id="rId14"/>
    <p:sldId id="384" r:id="rId15"/>
    <p:sldId id="398" r:id="rId16"/>
    <p:sldId id="399" r:id="rId17"/>
    <p:sldId id="385" r:id="rId18"/>
  </p:sldIdLst>
  <p:sldSz cx="9144000" cy="6858000" type="screen4x3"/>
  <p:notesSz cx="6858000" cy="9144000"/>
  <p:custDataLst>
    <p:tags r:id="rId23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CCFFFF"/>
    <a:srgbClr val="FF0000"/>
    <a:srgbClr val="0000FF"/>
    <a:srgbClr val="996633"/>
    <a:srgbClr val="CC3300"/>
    <a:srgbClr val="663300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0"/>
    <p:restoredTop sz="86467"/>
  </p:normalViewPr>
  <p:slideViewPr>
    <p:cSldViewPr showGuides="1">
      <p:cViewPr varScale="1">
        <p:scale>
          <a:sx n="67" d="100"/>
          <a:sy n="67" d="100"/>
        </p:scale>
        <p:origin x="-474" y="-96"/>
      </p:cViewPr>
      <p:guideLst>
        <p:guide orient="horz" pos="216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gs" Target="tags/tag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2274" name="页眉占位符 182273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endParaRPr lang="zh-CN" altLang="en-US" sz="1200" dirty="0">
              <a:latin typeface="Verdana" panose="020B0604030504040204" pitchFamily="34" charset="0"/>
            </a:endParaRPr>
          </a:p>
        </p:txBody>
      </p:sp>
      <p:sp>
        <p:nvSpPr>
          <p:cNvPr id="182275" name="日期占位符 182274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/>
            <a:endParaRPr lang="zh-CN" altLang="en-US" sz="1200" dirty="0">
              <a:latin typeface="Verdana" panose="020B0604030504040204" pitchFamily="34" charset="0"/>
            </a:endParaRPr>
          </a:p>
        </p:txBody>
      </p:sp>
      <p:sp>
        <p:nvSpPr>
          <p:cNvPr id="182276" name="幻灯片图像占位符 182275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82277" name="文本占位符 182276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82278" name="页脚占位符 182277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endParaRPr lang="zh-CN" altLang="en-US" sz="1200" dirty="0">
              <a:latin typeface="Verdana" panose="020B0604030504040204" pitchFamily="34" charset="0"/>
            </a:endParaRPr>
          </a:p>
        </p:txBody>
      </p:sp>
      <p:sp>
        <p:nvSpPr>
          <p:cNvPr id="182279" name="灯片编号占位符 182278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</a:rPr>
            </a:fld>
            <a:endParaRPr lang="zh-CN" altLang="en-US" sz="1200" dirty="0">
              <a:latin typeface="Verdan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showMasterSp="0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93186" name="标题 93185"/>
          <p:cNvSpPr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lvl="0">
              <a:buClrTx/>
              <a:buSzTx/>
              <a:buFontTx/>
              <a:defRPr sz="4000">
                <a:ea typeface="隶书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3187" name="副标题 93186"/>
          <p:cNvSpPr>
            <a:spLocks noGrp="1"/>
          </p:cNvSpPr>
          <p:nvPr>
            <p:ph type="subTitle" idx="1"/>
          </p:nvPr>
        </p:nvSpPr>
        <p:spPr>
          <a:xfrm>
            <a:off x="1403350" y="3429000"/>
            <a:ext cx="7010400" cy="1600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0" lvl="0" indent="0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1pPr>
            <a:lvl2pPr marL="457200" lvl="1" indent="14605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2pPr>
            <a:lvl3pPr marL="909955" lvl="2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3pPr>
            <a:lvl4pPr marL="1306830" lvl="3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4pPr>
            <a:lvl5pPr marL="1695450" lvl="4" indent="0" algn="ctr">
              <a:buClr>
                <a:schemeClr val="accent2"/>
              </a:buClr>
              <a:buSzTx/>
              <a:buFont typeface="Wingdings" panose="05000000000000000000" pitchFamily="2" charset="2"/>
              <a:buNone/>
              <a:defRPr sz="2800"/>
            </a:lvl5pPr>
          </a:lstStyle>
          <a:p>
            <a:pPr lvl="0"/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93188" name="日期占位符 93187"/>
          <p:cNvSpPr>
            <a:spLocks noGrp="1"/>
          </p:cNvSpPr>
          <p:nvPr>
            <p:ph type="dt" sz="half" idx="2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fld id="{BB962C8B-B14F-4D97-AF65-F5344CB8AC3E}" type="datetime1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89" name="页脚占位符 93188"/>
          <p:cNvSpPr>
            <a:spLocks noGrp="1"/>
          </p:cNvSpPr>
          <p:nvPr>
            <p:ph type="ftr" sz="quarter" idx="3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3190" name="灯片编号占位符 93189"/>
          <p:cNvSpPr>
            <a:spLocks noGrp="1"/>
          </p:cNvSpPr>
          <p:nvPr>
            <p:ph type="sldNum" sz="quarter" idx="4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3191" name="任意多边形 93190"/>
          <p:cNvSpPr/>
          <p:nvPr/>
        </p:nvSpPr>
        <p:spPr>
          <a:xfrm>
            <a:off x="685800" y="2393950"/>
            <a:ext cx="7772400" cy="109538"/>
          </a:xfrm>
          <a:custGeom>
            <a:avLst/>
            <a:gdLst>
              <a:gd name="A1" fmla="val 618"/>
              <a:gd name="A3" fmla="val 0"/>
              <a:gd name="G0" fmla="+- A1 0 0"/>
            </a:gdLst>
            <a:ahLst/>
            <a:cxnLst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lvl="0"/>
            <a:endParaRPr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3192" name="图片 93191" descr="前进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02550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193" name="图片 93192" descr="播放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386763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194" name="图片 93193" descr="后退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018338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3195" name="图片 93194" descr="机动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34125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049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752600"/>
            <a:ext cx="3920490" cy="4267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260350"/>
            <a:ext cx="2002234" cy="575945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260350"/>
            <a:ext cx="5890631" cy="575945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image" Target="../media/image4.png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/>
      <p:sp>
        <p:nvSpPr>
          <p:cNvPr id="92162" name="标题 92161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75565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92163" name="文本占位符 92162"/>
          <p:cNvSpPr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2164" name="任意多边形 92163"/>
          <p:cNvSpPr/>
          <p:nvPr/>
        </p:nvSpPr>
        <p:spPr>
          <a:xfrm>
            <a:off x="609600" y="1052513"/>
            <a:ext cx="7958138" cy="109537"/>
          </a:xfrm>
          <a:custGeom>
            <a:avLst/>
            <a:gdLst>
              <a:gd name="A1" fmla="val 585"/>
              <a:gd name="A3" fmla="val 0"/>
              <a:gd name="G0" fmla="+- A1 0 0"/>
            </a:gdLst>
            <a:ahLst/>
            <a:cxnLst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p>
            <a:pPr lvl="0"/>
            <a:endParaRPr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5" name="直接连接符 92164"/>
          <p:cNvSpPr/>
          <p:nvPr/>
        </p:nvSpPr>
        <p:spPr>
          <a:xfrm flipV="1">
            <a:off x="609600" y="6308725"/>
            <a:ext cx="7924800" cy="0"/>
          </a:xfrm>
          <a:prstGeom prst="line">
            <a:avLst/>
          </a:prstGeom>
          <a:ln w="317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166" name="日期占位符 92165"/>
          <p:cNvSpPr>
            <a:spLocks noGrp="1"/>
          </p:cNvSpPr>
          <p:nvPr>
            <p:ph type="dt" sz="half" idx="2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/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2167" name="页脚占位符 92166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92168" name="灯片编号占位符 92167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</a:fld>
            <a:endParaRPr lang="zh-CN" altLang="en-US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2172" name="图片 92171" descr="前进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702550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73" name="图片 92172" descr="播放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386763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74" name="图片 92173" descr="后退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7018338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92175" name="图片 92174" descr="机动">
            <a:hlinkClick r:id="" action="ppaction://hlinkshowjump?jump=firstslide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6334125" y="6594475"/>
            <a:ext cx="619125" cy="1714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Verdana" panose="020B060403050404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oleObject" Target="../embeddings/oleObject3.bin"/><Relationship Id="rId2" Type="http://schemas.openxmlformats.org/officeDocument/2006/relationships/image" Target="../media/image8.png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1.wmf"/><Relationship Id="rId3" Type="http://schemas.openxmlformats.org/officeDocument/2006/relationships/oleObject" Target="../embeddings/oleObject5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4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AutoShape 2">
            <a:hlinkClick r:id="" action="ppaction://hlinkshowjump?jump=previousslide"/>
          </p:cNvPr>
          <p:cNvSpPr/>
          <p:nvPr/>
        </p:nvSpPr>
        <p:spPr>
          <a:xfrm>
            <a:off x="8382000" y="6191250"/>
            <a:ext cx="381000" cy="152400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34819" name="Text Box 3">
            <a:hlinkClick r:id="" action="ppaction://hlinkshowjump?jump=firstslide" highlightClick="1">
              <a:snd r:embed="rId1" name="chimes.wav"/>
            </a:hlinkClick>
          </p:cNvPr>
          <p:cNvSpPr txBox="1">
            <a:spLocks noChangeArrowheads="1"/>
          </p:cNvSpPr>
          <p:nvPr/>
        </p:nvSpPr>
        <p:spPr bwMode="auto">
          <a:xfrm>
            <a:off x="1066800" y="6172200"/>
            <a:ext cx="600075" cy="346075"/>
          </a:xfrm>
          <a:prstGeom prst="rect">
            <a:avLst/>
          </a:prstGeom>
          <a:solidFill>
            <a:srgbClr val="AD957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1" lang="zh-CN" altLang="en-US" sz="1600" kern="1200" cap="none" spc="0" normalizeH="0" baseline="0" noProof="0">
                <a:solidFill>
                  <a:srgbClr val="AD9579"/>
                </a:solidFill>
                <a:effectDag name="">
                  <a:cont type="tree" name="">
                    <a:effect ref="fillLine"/>
                    <a:outerShdw dist="38100" dir="13500000" algn="br">
                      <a:srgbClr val="FFE8CC"/>
                    </a:outerShdw>
                  </a:cont>
                  <a:cont type="tree" name="">
                    <a:effect ref="fillLine"/>
                    <a:outerShdw dist="38100" dir="2700000" algn="tl">
                      <a:srgbClr val="675948"/>
                    </a:outerShdw>
                  </a:cont>
                  <a:effect ref="fillLine"/>
                </a:effectDag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返回</a:t>
            </a:r>
            <a:endParaRPr kumimoji="1" lang="zh-CN" altLang="en-US" sz="1600" kern="1200" cap="none" spc="0" normalizeH="0" baseline="0" noProof="0">
              <a:solidFill>
                <a:srgbClr val="AD9579"/>
              </a:solidFill>
              <a:effectDag name="">
                <a:cont type="tree" name="">
                  <a:effect ref="fillLine"/>
                  <a:outerShdw dist="38100" dir="13500000" algn="br">
                    <a:srgbClr val="FFE8CC"/>
                  </a:outerShdw>
                </a:cont>
                <a:cont type="tree" name="">
                  <a:effect ref="fillLine"/>
                  <a:outerShdw dist="38100" dir="2700000" algn="tl">
                    <a:srgbClr val="675948"/>
                  </a:outerShdw>
                </a:cont>
                <a:effect ref="fillLine"/>
              </a:effectDag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AutoShape 4">
            <a:hlinkClick r:id="" action="ppaction://hlinkshowjump?jump=nextslide"/>
          </p:cNvPr>
          <p:cNvSpPr/>
          <p:nvPr/>
        </p:nvSpPr>
        <p:spPr>
          <a:xfrm flipV="1">
            <a:off x="8382000" y="6400800"/>
            <a:ext cx="381000" cy="152400"/>
          </a:xfrm>
          <a:prstGeom prst="triangle">
            <a:avLst>
              <a:gd name="adj" fmla="val 50000"/>
            </a:avLst>
          </a:prstGeom>
          <a:solidFill>
            <a:srgbClr val="6633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/>
          </a:p>
        </p:txBody>
      </p:sp>
      <p:sp>
        <p:nvSpPr>
          <p:cNvPr id="3077" name="Line 5"/>
          <p:cNvSpPr/>
          <p:nvPr/>
        </p:nvSpPr>
        <p:spPr>
          <a:xfrm>
            <a:off x="1016000" y="1447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078" name="Rectangle 6"/>
          <p:cNvSpPr>
            <a:spLocks noGrp="1" noRot="1"/>
          </p:cNvSpPr>
          <p:nvPr>
            <p:ph type="title" idx="4294967295"/>
          </p:nvPr>
        </p:nvSpPr>
        <p:spPr>
          <a:xfrm>
            <a:off x="250825" y="836613"/>
            <a:ext cx="8540750" cy="7905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5400" b="1" dirty="0">
                <a:solidFill>
                  <a:schemeClr val="tx1"/>
                </a:solidFill>
                <a:latin typeface="宋体" panose="02010600030101010101" pitchFamily="2" charset="-122"/>
              </a:rPr>
              <a:t>单级共射放大电路</a:t>
            </a:r>
            <a:endParaRPr lang="zh-CN" altLang="en-US" sz="5400" b="1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3079" name="Text Box 9"/>
          <p:cNvSpPr txBox="1"/>
          <p:nvPr/>
        </p:nvSpPr>
        <p:spPr>
          <a:xfrm>
            <a:off x="611188" y="2590800"/>
            <a:ext cx="7389812" cy="2870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掌握单级共射放大电路静态工作点的测量和调整方法。</a:t>
            </a:r>
            <a:endParaRPr lang="zh-CN" altLang="en-US" sz="28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了解电路参数变化对静态工作点的影响。</a:t>
            </a:r>
            <a:endParaRPr lang="zh-CN" altLang="en-US" sz="28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掌握动态指标</a:t>
            </a:r>
            <a:r>
              <a:rPr lang="en-US" altLang="zh-CN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Av</a:t>
            </a: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的测量方法。</a:t>
            </a:r>
            <a:endParaRPr lang="zh-CN" altLang="en-US" sz="28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  <a:p>
            <a:pPr marL="457200" lvl="0" indent="-457200" eaLnBrk="1" hangingPunct="1">
              <a:spcBef>
                <a:spcPct val="50000"/>
              </a:spcBef>
              <a:buClrTx/>
              <a:buSzTx/>
              <a:buFontTx/>
              <a:buAutoNum type="arabicPeriod"/>
            </a:pPr>
            <a:r>
              <a:rPr lang="zh-CN" altLang="en-US" sz="2800" b="1" dirty="0">
                <a:latin typeface="Times New Roman" panose="02020603050405020304" pitchFamily="18" charset="0"/>
              </a:rPr>
              <a:t>掌握动态指标</a:t>
            </a:r>
            <a:r>
              <a:rPr lang="en-US" altLang="zh-CN" sz="2800" b="1" dirty="0">
                <a:latin typeface="Times New Roman" panose="02020603050405020304" pitchFamily="18" charset="0"/>
              </a:rPr>
              <a:t>Ro</a:t>
            </a:r>
            <a:r>
              <a:rPr lang="zh-CN" altLang="en-US" sz="2800" b="1" dirty="0">
                <a:latin typeface="Times New Roman" panose="02020603050405020304" pitchFamily="18" charset="0"/>
              </a:rPr>
              <a:t>的测量方法。 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3080" name="Text Box 10"/>
          <p:cNvSpPr txBox="1"/>
          <p:nvPr/>
        </p:nvSpPr>
        <p:spPr>
          <a:xfrm>
            <a:off x="684213" y="1773238"/>
            <a:ext cx="2514600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实验目的</a:t>
            </a:r>
            <a:endParaRPr lang="zh-CN" altLang="en-US" b="1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Rot="1"/>
          </p:cNvSpPr>
          <p:nvPr>
            <p:ph type="title"/>
          </p:nvPr>
        </p:nvSpPr>
        <p:spPr>
          <a:xfrm>
            <a:off x="838200" y="0"/>
            <a:ext cx="8001000" cy="579438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sz="4000" b="1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实验原理图  单级共射放大电路</a:t>
            </a:r>
            <a:endParaRPr lang="zh-CN" altLang="en-US" sz="3200" dirty="0">
              <a:solidFill>
                <a:srgbClr val="11111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4099" name="Object 3"/>
          <p:cNvGraphicFramePr>
            <a:graphicFrameLocks noChangeAspect="1"/>
          </p:cNvGraphicFramePr>
          <p:nvPr/>
        </p:nvGraphicFramePr>
        <p:xfrm>
          <a:off x="2484438" y="1412875"/>
          <a:ext cx="6048375" cy="538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4466590" imgH="4352290" progId="Word.Picture.8">
                  <p:embed/>
                </p:oleObj>
              </mc:Choice>
              <mc:Fallback>
                <p:oleObj name="" r:id="rId1" imgW="4466590" imgH="4352290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4438" y="1412875"/>
                        <a:ext cx="6048375" cy="5387975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0" name="AutoShape 5"/>
          <p:cNvSpPr/>
          <p:nvPr/>
        </p:nvSpPr>
        <p:spPr>
          <a:xfrm>
            <a:off x="0" y="836613"/>
            <a:ext cx="2586038" cy="1368425"/>
          </a:xfrm>
          <a:prstGeom prst="wedgeRoundRectCallout">
            <a:avLst>
              <a:gd name="adj1" fmla="val 83273"/>
              <a:gd name="adj2" fmla="val 34454"/>
              <a:gd name="adj3" fmla="val 16667"/>
            </a:avLst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调节</a:t>
            </a:r>
            <a:r>
              <a:rPr lang="en-US" altLang="zh-CN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R p</a:t>
            </a: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可改变静态工作点</a:t>
            </a:r>
            <a:r>
              <a:rPr lang="en-US" altLang="zh-CN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VB</a:t>
            </a:r>
            <a:r>
              <a:rPr lang="zh-CN" altLang="en-US" sz="28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的值</a:t>
            </a:r>
            <a:endParaRPr lang="zh-CN" altLang="en-US" sz="28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01" name="Rectangle 6"/>
          <p:cNvSpPr/>
          <p:nvPr/>
        </p:nvSpPr>
        <p:spPr>
          <a:xfrm>
            <a:off x="2590800" y="2590800"/>
            <a:ext cx="533400" cy="4572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16K</a:t>
            </a:r>
            <a:endParaRPr lang="en-US" altLang="zh-CN" sz="20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4102" name="Picture 17" descr="三极管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825" y="2708275"/>
            <a:ext cx="1465263" cy="20526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3" name="Rectangle 7"/>
          <p:cNvSpPr/>
          <p:nvPr/>
        </p:nvSpPr>
        <p:spPr>
          <a:xfrm>
            <a:off x="1258888" y="4868863"/>
            <a:ext cx="1152525" cy="647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Vip-p=60mV</a:t>
            </a:r>
            <a:endParaRPr lang="en-US" altLang="zh-CN" sz="14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111119"/>
                </a:solidFill>
                <a:latin typeface="Times New Roman" panose="02020603050405020304" pitchFamily="18" charset="0"/>
              </a:rPr>
              <a:t>Fi=1KHz</a:t>
            </a:r>
            <a:endParaRPr lang="en-US" altLang="zh-CN" sz="1400" b="1" dirty="0">
              <a:solidFill>
                <a:srgbClr val="111119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标题 190465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实验内容</a:t>
            </a:r>
            <a:endParaRPr lang="zh-CN" altLang="en-US"/>
          </a:p>
        </p:txBody>
      </p:sp>
      <p:sp>
        <p:nvSpPr>
          <p:cNvPr id="190470" name="直接连接符 190469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0471" name="矩形 190470"/>
          <p:cNvSpPr/>
          <p:nvPr/>
        </p:nvSpPr>
        <p:spPr>
          <a:xfrm>
            <a:off x="755650" y="1438275"/>
            <a:ext cx="7778750" cy="36464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测试静态工作点</a:t>
            </a:r>
            <a:endParaRPr lang="zh-CN" altLang="en-US" sz="32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测试电压放大倍数，记录输入输出波形</a:t>
            </a:r>
            <a:endParaRPr lang="zh-CN" altLang="en-US" sz="32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测量输入输出电阻</a:t>
            </a:r>
            <a:endParaRPr lang="zh-CN" altLang="en-US" sz="3200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测量通频带</a:t>
            </a:r>
            <a:r>
              <a:rPr lang="en-US" altLang="zh-CN" sz="3200" b="1" err="1">
                <a:latin typeface="Tahoma" panose="020B0604030504040204" pitchFamily="34" charset="0"/>
                <a:ea typeface="宋体" panose="02010600030101010101" pitchFamily="2" charset="-122"/>
              </a:rPr>
              <a:t>Bw</a:t>
            </a:r>
            <a:r>
              <a:rPr lang="zh-CN" altLang="en-US" sz="3200" b="1">
                <a:latin typeface="Tahoma" panose="020B0604030504040204" pitchFamily="34" charset="0"/>
                <a:ea typeface="宋体" panose="02010600030101010101" pitchFamily="2" charset="-122"/>
              </a:rPr>
              <a:t>＝</a:t>
            </a:r>
            <a:r>
              <a:rPr lang="en-US" altLang="zh-CN" sz="3200" b="1">
                <a:latin typeface="Tahoma" panose="020B0604030504040204" pitchFamily="34" charset="0"/>
                <a:ea typeface="宋体" panose="02010600030101010101" pitchFamily="2" charset="-122"/>
              </a:rPr>
              <a:t>f(h)-f(l)</a:t>
            </a:r>
            <a:endParaRPr lang="en-US" altLang="zh-CN" sz="3200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1"/>
              </a:buBlip>
            </a:pPr>
            <a:r>
              <a:rPr lang="zh-CN" altLang="en-US" sz="3200" b="1" dirty="0">
                <a:latin typeface="Tahoma" panose="020B0604030504040204" pitchFamily="34" charset="0"/>
                <a:ea typeface="宋体" panose="02010600030101010101" pitchFamily="2" charset="-122"/>
              </a:rPr>
              <a:t>观察饱和失真、截止失真，记录波形</a:t>
            </a:r>
            <a:endParaRPr lang="zh-CN" altLang="en-US" sz="3200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标题 191489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电路组装与测试</a:t>
            </a:r>
            <a:endParaRPr lang="zh-CN" altLang="en-US"/>
          </a:p>
        </p:txBody>
      </p:sp>
      <p:sp>
        <p:nvSpPr>
          <p:cNvPr id="191494" name="直接连接符 19149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91495" name="对象 191494"/>
          <p:cNvGraphicFramePr/>
          <p:nvPr/>
        </p:nvGraphicFramePr>
        <p:xfrm>
          <a:off x="6076950" y="747713"/>
          <a:ext cx="2743200" cy="210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743200" imgH="2105025" progId="Paint.Picture">
                  <p:embed/>
                </p:oleObj>
              </mc:Choice>
              <mc:Fallback>
                <p:oleObj name="" r:id="rId1" imgW="2743200" imgH="2105025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76950" y="747713"/>
                        <a:ext cx="2743200" cy="21050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1496" name="对象 191495"/>
          <p:cNvGraphicFramePr/>
          <p:nvPr/>
        </p:nvGraphicFramePr>
        <p:xfrm>
          <a:off x="1676400" y="3362325"/>
          <a:ext cx="6276975" cy="303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3" imgW="6276975" imgH="3038475" progId="Paint.Picture">
                  <p:embed/>
                </p:oleObj>
              </mc:Choice>
              <mc:Fallback>
                <p:oleObj name="" r:id="rId3" imgW="6276975" imgH="303847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76400" y="3362325"/>
                        <a:ext cx="6276975" cy="303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1497" name="文本框 191496"/>
          <p:cNvSpPr txBox="1"/>
          <p:nvPr/>
        </p:nvSpPr>
        <p:spPr>
          <a:xfrm>
            <a:off x="323850" y="1066800"/>
            <a:ext cx="5327650" cy="2209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特别注意：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1. 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所有交流量均用示波器测试。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2. 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发现电路不能正常工作，要用测试方法排查故障。</a:t>
            </a:r>
            <a:endParaRPr lang="zh-CN" altLang="en-US" sz="2400" b="1" dirty="0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en-US" altLang="zh-CN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3. 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实验前，先用万用表测出</a:t>
            </a:r>
            <a:r>
              <a:rPr lang="en-US" altLang="zh-CN" sz="2400" b="1" i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 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值。</a:t>
            </a:r>
            <a:endParaRPr lang="zh-CN" altLang="en-US" sz="2400" b="1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标题 192513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2518" name="直接连接符 192517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2519" name="文本框 192518"/>
          <p:cNvSpPr txBox="1"/>
          <p:nvPr/>
        </p:nvSpPr>
        <p:spPr>
          <a:xfrm>
            <a:off x="538163" y="1135063"/>
            <a:ext cx="82819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发现电路不能正常工作，要学会用测试方法排查故障。</a:t>
            </a:r>
            <a:endParaRPr lang="zh-CN" altLang="en-US" sz="2400" b="1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2520" name="文本框 192519"/>
          <p:cNvSpPr txBox="1"/>
          <p:nvPr/>
        </p:nvSpPr>
        <p:spPr>
          <a:xfrm>
            <a:off x="569913" y="1600200"/>
            <a:ext cx="8323262" cy="1333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如果输入正弦信号后，在示波器上无法观察到正常的输出波形，问可能的故障有哪些？</a:t>
            </a: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1" name="文本框 192520"/>
          <p:cNvSpPr txBox="1"/>
          <p:nvPr/>
        </p:nvSpPr>
        <p:spPr>
          <a:xfrm>
            <a:off x="827088" y="2895600"/>
            <a:ext cx="7783512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）示波器信号线、信号源的信号线有问题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2" name="文本框 192521"/>
          <p:cNvSpPr txBox="1"/>
          <p:nvPr/>
        </p:nvSpPr>
        <p:spPr>
          <a:xfrm>
            <a:off x="827088" y="3335338"/>
            <a:ext cx="7783512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）信号源使用不正确、示波器使用不正确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3" name="文本框 192522"/>
          <p:cNvSpPr txBox="1"/>
          <p:nvPr/>
        </p:nvSpPr>
        <p:spPr>
          <a:xfrm>
            <a:off x="1446213" y="4211638"/>
            <a:ext cx="65547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稳压电源使用不正确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4" name="文本框 192523"/>
          <p:cNvSpPr txBox="1"/>
          <p:nvPr/>
        </p:nvSpPr>
        <p:spPr>
          <a:xfrm>
            <a:off x="827088" y="3773488"/>
            <a:ext cx="7783512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）电路静态工作点不正常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5" name="文本框 192524"/>
          <p:cNvSpPr txBox="1"/>
          <p:nvPr/>
        </p:nvSpPr>
        <p:spPr>
          <a:xfrm>
            <a:off x="1446213" y="4649788"/>
            <a:ext cx="65547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电路连接错误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6" name="文本框 192525"/>
          <p:cNvSpPr txBox="1"/>
          <p:nvPr/>
        </p:nvSpPr>
        <p:spPr>
          <a:xfrm>
            <a:off x="1446213" y="5087938"/>
            <a:ext cx="65547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电路参数错误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2527" name="文本框 192526"/>
          <p:cNvSpPr txBox="1"/>
          <p:nvPr/>
        </p:nvSpPr>
        <p:spPr>
          <a:xfrm>
            <a:off x="1446213" y="5526088"/>
            <a:ext cx="6554787" cy="493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三极管管脚接错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2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2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2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2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2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192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521" grpId="0"/>
      <p:bldP spid="192522" grpId="0"/>
      <p:bldP spid="192523" grpId="0"/>
      <p:bldP spid="192524" grpId="0"/>
      <p:bldP spid="192525" grpId="0"/>
      <p:bldP spid="192526" grpId="0"/>
      <p:bldP spid="1925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标题 193537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3542" name="直接连接符 193541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3543" name="文本框 193542"/>
          <p:cNvSpPr txBox="1"/>
          <p:nvPr/>
        </p:nvSpPr>
        <p:spPr>
          <a:xfrm>
            <a:off x="1219200" y="1143000"/>
            <a:ext cx="284797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怎样排查？</a:t>
            </a:r>
            <a:endParaRPr lang="zh-CN" altLang="en-US" sz="2800" b="1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3544" name="文本框 193543"/>
          <p:cNvSpPr txBox="1"/>
          <p:nvPr/>
        </p:nvSpPr>
        <p:spPr>
          <a:xfrm>
            <a:off x="539750" y="1749425"/>
            <a:ext cx="785495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）示波器信号线、信号源的信号线有问题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3545" name="文本框 193544"/>
          <p:cNvSpPr txBox="1"/>
          <p:nvPr/>
        </p:nvSpPr>
        <p:spPr>
          <a:xfrm>
            <a:off x="615950" y="3990975"/>
            <a:ext cx="785495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）信号源使用不正确、示波器使用不正确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3546" name="文本框 193545"/>
          <p:cNvSpPr txBox="1"/>
          <p:nvPr/>
        </p:nvSpPr>
        <p:spPr>
          <a:xfrm>
            <a:off x="692150" y="2278063"/>
            <a:ext cx="7854950" cy="154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将示波器的信号线直接接到示波器提供的方波信号源上，观察示波器是否显示方波信号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用上述方法可以判断任何信号线是否有问题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3547" name="文本框 193546"/>
          <p:cNvSpPr txBox="1"/>
          <p:nvPr/>
        </p:nvSpPr>
        <p:spPr>
          <a:xfrm>
            <a:off x="615950" y="4448175"/>
            <a:ext cx="7854950" cy="1501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将信号源输出的信号线直接与示波器的信号线连接，观察示波器是否有正常波形显示，调整信号源相关按钮和旋钮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3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3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3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544" grpId="0"/>
      <p:bldP spid="193545" grpId="0"/>
      <p:bldP spid="193546" grpId="0"/>
      <p:bldP spid="19354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标题 194561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4566" name="直接连接符 194565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4567" name="文本框 194566"/>
          <p:cNvSpPr txBox="1"/>
          <p:nvPr/>
        </p:nvSpPr>
        <p:spPr>
          <a:xfrm>
            <a:off x="755650" y="1143000"/>
            <a:ext cx="2632075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怎样排查？</a:t>
            </a:r>
            <a:endParaRPr lang="zh-CN" altLang="en-US" sz="2800" b="1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568" name="文本框 194567"/>
          <p:cNvSpPr txBox="1"/>
          <p:nvPr/>
        </p:nvSpPr>
        <p:spPr>
          <a:xfrm>
            <a:off x="1441450" y="3124200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稳压电源使用不正确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（用万用表测试）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69" name="文本框 194568"/>
          <p:cNvSpPr txBox="1"/>
          <p:nvPr/>
        </p:nvSpPr>
        <p:spPr>
          <a:xfrm>
            <a:off x="908050" y="1628775"/>
            <a:ext cx="7239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）电路静态工作点不正常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4570" name="文本框 194569"/>
          <p:cNvSpPr txBox="1"/>
          <p:nvPr/>
        </p:nvSpPr>
        <p:spPr>
          <a:xfrm>
            <a:off x="1441450" y="362267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电路连接错误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（目视检查）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71" name="文本框 194570"/>
          <p:cNvSpPr txBox="1"/>
          <p:nvPr/>
        </p:nvSpPr>
        <p:spPr>
          <a:xfrm>
            <a:off x="1441450" y="413702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电路参数错误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（用万用表测试）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72" name="文本框 194571"/>
          <p:cNvSpPr txBox="1"/>
          <p:nvPr/>
        </p:nvSpPr>
        <p:spPr>
          <a:xfrm>
            <a:off x="1441450" y="4651375"/>
            <a:ext cx="6096000" cy="493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三极管管脚接错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（目视检查）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74" name="文本框 194573"/>
          <p:cNvSpPr txBox="1"/>
          <p:nvPr/>
        </p:nvSpPr>
        <p:spPr>
          <a:xfrm>
            <a:off x="984250" y="2173288"/>
            <a:ext cx="72390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用万用表测试静态工作点（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V</a:t>
            </a:r>
            <a:r>
              <a:rPr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E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V</a:t>
            </a:r>
            <a:r>
              <a:rPr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CE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、</a:t>
            </a:r>
            <a:r>
              <a:rPr lang="en-US" altLang="zh-CN" sz="2400" b="1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V</a:t>
            </a:r>
            <a:r>
              <a:rPr lang="en-US" altLang="zh-CN" sz="2400" b="1" baseline="-2500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B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等），与理论估算值比较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4575" name="文本框 194574"/>
          <p:cNvSpPr txBox="1"/>
          <p:nvPr/>
        </p:nvSpPr>
        <p:spPr>
          <a:xfrm>
            <a:off x="1441450" y="5145088"/>
            <a:ext cx="6781800" cy="8953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电位器未调整到正确阻值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（调整电位器后再测静态工作点）</a:t>
            </a: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4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4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194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194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194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94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68" grpId="0"/>
      <p:bldP spid="194570" grpId="0"/>
      <p:bldP spid="194571" grpId="0"/>
      <p:bldP spid="194572" grpId="0"/>
      <p:bldP spid="194574" grpId="0"/>
      <p:bldP spid="19457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6" name="标题 195585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5590" name="直接连接符 195589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5591" name="文本框 195590"/>
          <p:cNvSpPr txBox="1"/>
          <p:nvPr/>
        </p:nvSpPr>
        <p:spPr>
          <a:xfrm>
            <a:off x="539750" y="1143000"/>
            <a:ext cx="8223250" cy="15446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2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：</a:t>
            </a:r>
            <a:endParaRPr lang="zh-CN" altLang="en-US" sz="28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如果例</a:t>
            </a:r>
            <a:r>
              <a:rPr lang="en-US" altLang="zh-CN" sz="28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8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中的故障都排除了，仍然无法在示波器上观察到正常波形怎么办？</a:t>
            </a:r>
            <a:endParaRPr lang="zh-CN" altLang="en-US" sz="28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5592" name="文本框 195591"/>
          <p:cNvSpPr txBox="1"/>
          <p:nvPr/>
        </p:nvSpPr>
        <p:spPr>
          <a:xfrm>
            <a:off x="749300" y="2852738"/>
            <a:ext cx="7923213" cy="20145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用“信号寻迹法”排查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即沿着信号 的流向，用示波器由前级到后级（或者相反），逐级观察波形及幅值的变化情况，如哪一级异常，则故障就在该级。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195593" name="文本框 195592"/>
          <p:cNvSpPr txBox="1"/>
          <p:nvPr/>
        </p:nvSpPr>
        <p:spPr>
          <a:xfrm>
            <a:off x="741363" y="4910138"/>
            <a:ext cx="800735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电容故障有时不影响静态值，但明显影响动态值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5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95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592" grpId="0"/>
      <p:bldP spid="1955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标题 196609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6614" name="直接连接符 196613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6615" name="文本框 196614"/>
          <p:cNvSpPr txBox="1"/>
          <p:nvPr/>
        </p:nvSpPr>
        <p:spPr>
          <a:xfrm>
            <a:off x="768350" y="1268413"/>
            <a:ext cx="7620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本实验电路调试的较有效的方法和次序是：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6616" name="文本框 196615"/>
          <p:cNvSpPr txBox="1"/>
          <p:nvPr/>
        </p:nvSpPr>
        <p:spPr>
          <a:xfrm>
            <a:off x="468313" y="2065338"/>
            <a:ext cx="8424862" cy="3524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电路组装完毕且通电后，首先测试静态工作点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调整电位器，使工作点处于合适的位置（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V</a:t>
            </a:r>
            <a:r>
              <a:rPr lang="en-US" altLang="zh-CN" sz="2400" b="1" baseline="-250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E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=1.2</a:t>
            </a:r>
            <a:r>
              <a:rPr lang="en-US" altLang="zh-CN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1.8V</a:t>
            </a:r>
            <a:r>
              <a:rPr lang="zh-CN" altLang="en-US" sz="2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400" b="1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solidFill>
                  <a:srgbClr val="CC0000"/>
                </a:solidFill>
                <a:latin typeface="楷体_GB2312" pitchFamily="49" charset="-122"/>
                <a:ea typeface="楷体_GB2312" pitchFamily="49" charset="-122"/>
              </a:rPr>
              <a:t>      </a:t>
            </a:r>
            <a:r>
              <a:rPr lang="zh-CN" altLang="en-US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（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如果无法调到合适的位置，则可能是例</a:t>
            </a:r>
            <a:r>
              <a:rPr lang="en-US" altLang="zh-CN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1</a:t>
            </a:r>
            <a:r>
              <a:rPr lang="zh-CN" altLang="en-US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中</a:t>
            </a:r>
            <a:r>
              <a:rPr lang="en-US" altLang="zh-CN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3</a:t>
            </a:r>
            <a:r>
              <a:rPr lang="zh-CN" altLang="en-US" sz="2400" b="1" dirty="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所列的故障</a:t>
            </a:r>
            <a:r>
              <a:rPr lang="en-US" altLang="zh-CN" sz="2400" b="1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en-US" altLang="zh-CN" sz="2400" b="1">
              <a:solidFill>
                <a:srgbClr val="000099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将信号源的信号直接输入示波器，调整出符合要求的信号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再将信号接入放大电路的输入端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分别用示波器的两个输入通道，同时观察输入、输出波形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  <a:buAutoNum type="arabicParenR" startAt="3"/>
            </a:pPr>
            <a:r>
              <a:rPr lang="zh-CN" altLang="en-US" sz="2400" b="1" dirty="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有正常输出波形后，再按实验要求进行测试</a:t>
            </a:r>
            <a:endParaRPr lang="zh-CN" altLang="en-US" sz="2400" b="1" dirty="0">
              <a:solidFill>
                <a:schemeClr val="tx2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6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标题 197633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电路调试</a:t>
            </a:r>
            <a:endParaRPr lang="zh-CN" altLang="en-US"/>
          </a:p>
        </p:txBody>
      </p:sp>
      <p:sp>
        <p:nvSpPr>
          <p:cNvPr id="197638" name="直接连接符 197637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7639" name="文本框 197638"/>
          <p:cNvSpPr txBox="1"/>
          <p:nvPr/>
        </p:nvSpPr>
        <p:spPr>
          <a:xfrm>
            <a:off x="696913" y="1125538"/>
            <a:ext cx="7620000" cy="561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2800" b="1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本实验电路调试的较有效的方法和次序是：</a:t>
            </a:r>
            <a:endParaRPr lang="zh-CN" altLang="en-US" sz="2800" b="1" dirty="0">
              <a:solidFill>
                <a:schemeClr val="tx2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97640" name="文本框 197639"/>
          <p:cNvSpPr txBox="1"/>
          <p:nvPr/>
        </p:nvSpPr>
        <p:spPr>
          <a:xfrm>
            <a:off x="1371600" y="2274888"/>
            <a:ext cx="533400" cy="15811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静态测试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41" name="文本框 197640"/>
          <p:cNvSpPr txBox="1"/>
          <p:nvPr/>
        </p:nvSpPr>
        <p:spPr>
          <a:xfrm>
            <a:off x="2514600" y="2274888"/>
            <a:ext cx="533400" cy="15811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验证信号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42" name="文本框 197641"/>
          <p:cNvSpPr txBox="1"/>
          <p:nvPr/>
        </p:nvSpPr>
        <p:spPr>
          <a:xfrm>
            <a:off x="3657600" y="1909763"/>
            <a:ext cx="533400" cy="23114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信号接入电路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43" name="文本框 197642"/>
          <p:cNvSpPr txBox="1"/>
          <p:nvPr/>
        </p:nvSpPr>
        <p:spPr>
          <a:xfrm>
            <a:off x="4800600" y="2457450"/>
            <a:ext cx="1524000" cy="12160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同时观测输入、输出波形</a:t>
            </a: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44" name="文本框 197643"/>
          <p:cNvSpPr txBox="1"/>
          <p:nvPr/>
        </p:nvSpPr>
        <p:spPr>
          <a:xfrm>
            <a:off x="6934200" y="2640013"/>
            <a:ext cx="1447800" cy="85090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spcBef>
                <a:spcPct val="50000"/>
              </a:spcBef>
            </a:pPr>
            <a:r>
              <a:rPr lang="zh-CN" altLang="en-US" sz="24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按要求测试结果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7645" name="右箭头 197644"/>
          <p:cNvSpPr/>
          <p:nvPr/>
        </p:nvSpPr>
        <p:spPr>
          <a:xfrm>
            <a:off x="1981200" y="290036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7646" name="右箭头 197645"/>
          <p:cNvSpPr/>
          <p:nvPr/>
        </p:nvSpPr>
        <p:spPr>
          <a:xfrm>
            <a:off x="3124200" y="290036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7647" name="右箭头 197646"/>
          <p:cNvSpPr/>
          <p:nvPr/>
        </p:nvSpPr>
        <p:spPr>
          <a:xfrm>
            <a:off x="4267200" y="290036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7648" name="右箭头 197647"/>
          <p:cNvSpPr/>
          <p:nvPr/>
        </p:nvSpPr>
        <p:spPr>
          <a:xfrm>
            <a:off x="6400800" y="2900363"/>
            <a:ext cx="457200" cy="228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sp>
        <p:nvSpPr>
          <p:cNvPr id="197649" name="文本框 197648"/>
          <p:cNvSpPr txBox="1"/>
          <p:nvPr/>
        </p:nvSpPr>
        <p:spPr>
          <a:xfrm>
            <a:off x="755650" y="4365625"/>
            <a:ext cx="7920038" cy="15652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marL="457200" indent="-457200">
              <a:lnSpc>
                <a:spcPct val="110000"/>
              </a:lnSpc>
              <a:spcBef>
                <a:spcPct val="1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en-US" altLang="zh-CN" sz="4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   </a:t>
            </a:r>
            <a:r>
              <a:rPr lang="zh-CN" altLang="en-US" sz="4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请阅读</a:t>
            </a:r>
            <a:r>
              <a:rPr lang="en-US" altLang="zh-CN" sz="4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42</a:t>
            </a:r>
            <a:r>
              <a:rPr lang="zh-CN" altLang="en-US" sz="4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页</a:t>
            </a:r>
            <a:r>
              <a:rPr lang="en-US" altLang="zh-CN" sz="4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~48</a:t>
            </a:r>
            <a:r>
              <a:rPr lang="zh-CN" altLang="en-US" sz="4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页的内容，特别是</a:t>
            </a:r>
            <a:r>
              <a:rPr lang="en-US" altLang="zh-CN" sz="4400" b="1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3.2</a:t>
            </a:r>
            <a:r>
              <a:rPr lang="zh-CN" altLang="en-US" sz="4400" b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2" charset="-122"/>
              </a:rPr>
              <a:t>节</a:t>
            </a:r>
            <a:endParaRPr lang="zh-CN" altLang="en-US" sz="4400" b="1" dirty="0">
              <a:solidFill>
                <a:srgbClr val="CC0000"/>
              </a:solidFill>
              <a:latin typeface="Times New Roman" panose="02020603050405020304" pitchFamily="18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7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764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标题 198657"/>
          <p:cNvSpPr>
            <a:spLocks noGrp="1"/>
          </p:cNvSpPr>
          <p:nvPr>
            <p:ph type="title"/>
          </p:nvPr>
        </p:nvSpPr>
        <p:spPr>
          <a:xfrm>
            <a:off x="574675" y="260350"/>
            <a:ext cx="8001000" cy="554038"/>
          </a:xfrm>
          <a:ln/>
        </p:spPr>
        <p:txBody>
          <a:bodyPr anchor="b" anchorCtr="0"/>
          <a:p>
            <a:r>
              <a:rPr lang="zh-CN" altLang="en-US" dirty="0"/>
              <a:t>测试静态工作点</a:t>
            </a:r>
            <a:endParaRPr lang="zh-CN" altLang="en-US"/>
          </a:p>
        </p:txBody>
      </p:sp>
      <p:sp>
        <p:nvSpPr>
          <p:cNvPr id="198662" name="直接连接符 198661"/>
          <p:cNvSpPr/>
          <p:nvPr/>
        </p:nvSpPr>
        <p:spPr>
          <a:xfrm>
            <a:off x="1016000" y="10668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8663" name="文本框 198662"/>
          <p:cNvSpPr txBox="1"/>
          <p:nvPr/>
        </p:nvSpPr>
        <p:spPr>
          <a:xfrm>
            <a:off x="611188" y="1371600"/>
            <a:ext cx="7923212" cy="16303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 Vi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为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f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1KHz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，</a:t>
            </a:r>
            <a:r>
              <a:rPr lang="en-US" altLang="zh-CN" sz="2800" b="1" err="1">
                <a:latin typeface="楷体_GB2312" pitchFamily="49" charset="-122"/>
                <a:ea typeface="楷体_GB2312" pitchFamily="49" charset="-122"/>
              </a:rPr>
              <a:t>Vpp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＝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60mv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正弦波，调节</a:t>
            </a:r>
            <a:r>
              <a:rPr lang="en-US" altLang="zh-CN" sz="2800" b="1" err="1">
                <a:latin typeface="楷体_GB2312" pitchFamily="49" charset="-122"/>
                <a:ea typeface="楷体_GB2312" pitchFamily="49" charset="-122"/>
              </a:rPr>
              <a:t>Rp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和信号幅值，使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Vo</a:t>
            </a:r>
            <a:r>
              <a:rPr lang="zh-CN" altLang="en-US" sz="2800" b="1" dirty="0">
                <a:latin typeface="楷体_GB2312" pitchFamily="49" charset="-122"/>
                <a:ea typeface="楷体_GB2312" pitchFamily="49" charset="-122"/>
              </a:rPr>
              <a:t>最大不失真。关闭信号源，用万用表测量静态工作点（表</a:t>
            </a:r>
            <a:r>
              <a:rPr lang="en-US" altLang="zh-CN" sz="2800" b="1">
                <a:latin typeface="楷体_GB2312" pitchFamily="49" charset="-122"/>
                <a:ea typeface="楷体_GB2312" pitchFamily="49" charset="-122"/>
              </a:rPr>
              <a:t>4.2.1</a:t>
            </a:r>
            <a:r>
              <a:rPr lang="zh-CN" altLang="en-US" sz="2800" b="1">
                <a:latin typeface="楷体_GB2312" pitchFamily="49" charset="-122"/>
                <a:ea typeface="楷体_GB2312" pitchFamily="49" charset="-122"/>
              </a:rPr>
              <a:t>）</a:t>
            </a:r>
            <a:endParaRPr lang="zh-CN" altLang="en-US" sz="2800" b="1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98664" name="文本框 198663"/>
          <p:cNvSpPr txBox="1"/>
          <p:nvPr/>
        </p:nvSpPr>
        <p:spPr>
          <a:xfrm>
            <a:off x="1371600" y="3749675"/>
            <a:ext cx="6934200" cy="1203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什么叫“最大不失真”？</a:t>
            </a:r>
            <a:endParaRPr lang="zh-CN" altLang="en-US" sz="2800" b="1" dirty="0">
              <a:solidFill>
                <a:srgbClr val="000099"/>
              </a:solidFill>
              <a:latin typeface="Tahoma" panose="020B0604030504040204" pitchFamily="34" charset="0"/>
              <a:ea typeface="黑体" panose="02010609060101010101" pitchFamily="2" charset="-122"/>
            </a:endParaRPr>
          </a:p>
          <a:p>
            <a:pPr eaLnBrk="0" hangingPunct="0">
              <a:lnSpc>
                <a:spcPct val="120000"/>
              </a:lnSpc>
              <a:spcBef>
                <a:spcPct val="20000"/>
              </a:spcBef>
              <a:buClr>
                <a:srgbClr val="CC3300"/>
              </a:buClr>
              <a:buFont typeface="Wingdings" panose="05000000000000000000" pitchFamily="2" charset="2"/>
            </a:pPr>
            <a:r>
              <a:rPr lang="zh-CN" altLang="en-US" sz="2800" b="1" dirty="0">
                <a:solidFill>
                  <a:srgbClr val="000099"/>
                </a:solidFill>
                <a:latin typeface="Tahoma" panose="020B0604030504040204" pitchFamily="34" charset="0"/>
                <a:ea typeface="黑体" panose="02010609060101010101" pitchFamily="2" charset="-122"/>
              </a:rPr>
              <a:t>怎样调到“最大不失真”？</a:t>
            </a:r>
            <a:endParaRPr lang="zh-CN" altLang="en-US" sz="2800" b="1">
              <a:solidFill>
                <a:srgbClr val="000099"/>
              </a:solidFill>
              <a:latin typeface="Tahoma" panose="020B0604030504040204" pitchFamily="34" charset="0"/>
              <a:ea typeface="黑体" panose="0201060906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198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866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9682" name="标题 199681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rPr lang="zh-CN" altLang="en-US" sz="3400" dirty="0"/>
              <a:t>测试电压放大倍数，记录输入输出波形</a:t>
            </a:r>
            <a:endParaRPr lang="zh-CN" altLang="en-US" sz="3400"/>
          </a:p>
        </p:txBody>
      </p:sp>
      <p:sp>
        <p:nvSpPr>
          <p:cNvPr id="199683" name="文本占位符 199682"/>
          <p:cNvSpPr>
            <a:spLocks noGrp="1"/>
          </p:cNvSpPr>
          <p:nvPr>
            <p:ph type="body" idx="1"/>
          </p:nvPr>
        </p:nvSpPr>
        <p:spPr>
          <a:xfrm>
            <a:off x="971550" y="1447800"/>
            <a:ext cx="7791450" cy="1679575"/>
          </a:xfrm>
          <a:ln/>
        </p:spPr>
        <p:txBody>
          <a:bodyPr wrap="square">
            <a:spAutoFit/>
          </a:bodyPr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en-US" altLang="zh-CN" sz="2600" b="1">
                <a:latin typeface="楷体_GB2312" pitchFamily="49" charset="-122"/>
              </a:rPr>
              <a:t>Av=</a:t>
            </a:r>
            <a:r>
              <a:rPr lang="en-US" altLang="zh-CN" sz="2600" b="1" err="1">
                <a:latin typeface="楷体_GB2312" pitchFamily="49" charset="-122"/>
              </a:rPr>
              <a:t>Vopp</a:t>
            </a:r>
            <a:r>
              <a:rPr lang="en-US" altLang="zh-CN" sz="2600" b="1">
                <a:latin typeface="楷体_GB2312" pitchFamily="49" charset="-122"/>
              </a:rPr>
              <a:t>/</a:t>
            </a:r>
            <a:r>
              <a:rPr lang="en-US" altLang="zh-CN" sz="2600" b="1" err="1">
                <a:latin typeface="楷体_GB2312" pitchFamily="49" charset="-122"/>
              </a:rPr>
              <a:t>Vipp</a:t>
            </a:r>
            <a:endParaRPr lang="en-US" altLang="zh-CN" sz="2600" b="1">
              <a:latin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600" b="1" dirty="0">
                <a:latin typeface="楷体_GB2312" pitchFamily="49" charset="-122"/>
              </a:rPr>
              <a:t>定性记录</a:t>
            </a:r>
            <a:r>
              <a:rPr lang="en-US" altLang="zh-CN" sz="2600" b="1">
                <a:latin typeface="楷体_GB2312" pitchFamily="49" charset="-122"/>
              </a:rPr>
              <a:t>Vi </a:t>
            </a:r>
            <a:r>
              <a:rPr lang="zh-CN" altLang="en-US" sz="2600" b="1">
                <a:latin typeface="楷体_GB2312" pitchFamily="49" charset="-122"/>
              </a:rPr>
              <a:t>和</a:t>
            </a:r>
            <a:r>
              <a:rPr lang="en-US" altLang="zh-CN" sz="2600" b="1">
                <a:latin typeface="楷体_GB2312" pitchFamily="49" charset="-122"/>
              </a:rPr>
              <a:t>Vo</a:t>
            </a:r>
            <a:r>
              <a:rPr lang="zh-CN" altLang="en-US" sz="2600" b="1" dirty="0">
                <a:latin typeface="楷体_GB2312" pitchFamily="49" charset="-122"/>
              </a:rPr>
              <a:t>波形，注意记录特征参数值</a:t>
            </a:r>
            <a:endParaRPr lang="zh-CN" altLang="en-US" sz="2600" b="1" dirty="0">
              <a:latin typeface="楷体_GB2312" pitchFamily="49" charset="-122"/>
            </a:endParaRPr>
          </a:p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sz="2600" b="1" dirty="0">
                <a:latin typeface="楷体_GB2312" pitchFamily="49" charset="-122"/>
              </a:rPr>
              <a:t>注意两者之间的相位关系</a:t>
            </a:r>
            <a:endParaRPr lang="zh-CN" altLang="en-US" sz="2600" b="1" dirty="0">
              <a:latin typeface="楷体_GB2312" pitchFamily="49" charset="-122"/>
            </a:endParaRPr>
          </a:p>
        </p:txBody>
      </p:sp>
      <p:sp>
        <p:nvSpPr>
          <p:cNvPr id="199684" name="直接连接符 199683"/>
          <p:cNvSpPr/>
          <p:nvPr/>
        </p:nvSpPr>
        <p:spPr>
          <a:xfrm>
            <a:off x="1016000" y="12192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99685" name="文本框 199684"/>
          <p:cNvSpPr txBox="1"/>
          <p:nvPr/>
        </p:nvSpPr>
        <p:spPr>
          <a:xfrm>
            <a:off x="1219200" y="3657600"/>
            <a:ext cx="7391400" cy="1492250"/>
          </a:xfrm>
          <a:prstGeom prst="rect">
            <a:avLst/>
          </a:prstGeom>
          <a:solidFill>
            <a:srgbClr val="CCFFFF"/>
          </a:solidFill>
          <a:ln w="9525">
            <a:noFill/>
          </a:ln>
        </p:spPr>
        <p:txBody>
          <a:bodyPr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4000" b="1" dirty="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特别注意：</a:t>
            </a:r>
            <a:endParaRPr lang="zh-CN" altLang="en-US" sz="4000" b="1" dirty="0">
              <a:solidFill>
                <a:srgbClr val="000099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ct val="10000"/>
              </a:spcBef>
            </a:pPr>
            <a:r>
              <a:rPr lang="zh-CN" altLang="en-US" sz="4000" b="1" dirty="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        所有交流量均用示波器测试</a:t>
            </a:r>
            <a:endParaRPr lang="zh-CN" altLang="en-US" sz="4000" b="1" dirty="0">
              <a:solidFill>
                <a:srgbClr val="000099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标题 200705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rPr lang="zh-CN" altLang="en-US" sz="3400" dirty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测量输入输出电阻</a:t>
            </a:r>
            <a:endParaRPr lang="zh-CN" altLang="en-US" sz="340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00707" name="文本占位符 200706"/>
          <p:cNvSpPr>
            <a:spLocks noGrp="1"/>
          </p:cNvSpPr>
          <p:nvPr>
            <p:ph type="body" idx="1"/>
          </p:nvPr>
        </p:nvSpPr>
        <p:spPr>
          <a:xfrm>
            <a:off x="395288" y="1447800"/>
            <a:ext cx="8367712" cy="3571875"/>
          </a:xfrm>
          <a:ln/>
        </p:spPr>
        <p:txBody>
          <a:bodyPr wrap="square">
            <a:spAutoFit/>
          </a:bodyPr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按指导书要求测量计算输入电阻</a:t>
            </a:r>
            <a:endParaRPr lang="zh-CN" altLang="en-US" b="1" dirty="0"/>
          </a:p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分别测量输出带负载时和开路时的</a:t>
            </a:r>
            <a:r>
              <a:rPr lang="en-US" altLang="zh-CN" b="1"/>
              <a:t>Vo</a:t>
            </a:r>
            <a:r>
              <a:rPr lang="zh-CN" altLang="en-US" b="1" dirty="0"/>
              <a:t>值，计算输出电阻。</a:t>
            </a:r>
            <a:endParaRPr lang="zh-CN" altLang="en-US" b="1" dirty="0"/>
          </a:p>
          <a:p>
            <a:pPr>
              <a:lnSpc>
                <a:spcPct val="120000"/>
              </a:lnSpc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如果输出开路时，发现</a:t>
            </a:r>
            <a:r>
              <a:rPr lang="en-US" altLang="zh-CN" b="1"/>
              <a:t>Vo</a:t>
            </a:r>
            <a:r>
              <a:rPr lang="zh-CN" altLang="en-US" b="1" dirty="0"/>
              <a:t>出现失真，则要减小输入信号的幅值，直到失真消失，然后再重新分别测量开路和带负载时的</a:t>
            </a:r>
            <a:r>
              <a:rPr lang="en-US" altLang="zh-CN" b="1"/>
              <a:t>Vo</a:t>
            </a:r>
            <a:r>
              <a:rPr lang="zh-CN" altLang="en-US" b="1" dirty="0"/>
              <a:t>值。</a:t>
            </a:r>
            <a:endParaRPr lang="zh-CN" altLang="en-US" b="1"/>
          </a:p>
        </p:txBody>
      </p:sp>
      <p:sp>
        <p:nvSpPr>
          <p:cNvPr id="200708" name="直接连接符 200707"/>
          <p:cNvSpPr/>
          <p:nvPr/>
        </p:nvSpPr>
        <p:spPr>
          <a:xfrm>
            <a:off x="1016000" y="12192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4"/>
          <p:cNvSpPr/>
          <p:nvPr/>
        </p:nvSpPr>
        <p:spPr>
          <a:xfrm>
            <a:off x="684213" y="1196975"/>
            <a:ext cx="8064500" cy="15113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spcBef>
                <a:spcPct val="50000"/>
              </a:spcBef>
              <a:buClr>
                <a:srgbClr val="FF0000"/>
              </a:buClr>
              <a:buSzPct val="100000"/>
              <a:buFont typeface="Monotype Sorts" pitchFamily="2" charset="2"/>
              <a:buNone/>
            </a:pPr>
            <a:r>
              <a:rPr lang="en-US" altLang="zh-CN" sz="2800" b="1" dirty="0">
                <a:solidFill>
                  <a:schemeClr val="bg2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在输出波形不失真的情况下，测量放大器负载开路时的空载输出电压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，和第一步测得的带载电压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oL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一起来计算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</a:rPr>
              <a:t>对于单管共射电路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，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en-US" altLang="zh-CN" sz="2800" b="1" dirty="0">
                <a:solidFill>
                  <a:srgbClr val="000000"/>
                </a:solidFill>
                <a:latin typeface="宋体" panose="02010600030101010101" pitchFamily="2" charset="-122"/>
              </a:rPr>
              <a:t>≈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1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。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19" name="Object 5"/>
          <p:cNvGraphicFramePr>
            <a:graphicFrameLocks noChangeAspect="1"/>
          </p:cNvGraphicFramePr>
          <p:nvPr/>
        </p:nvGraphicFramePr>
        <p:xfrm>
          <a:off x="2339975" y="2636838"/>
          <a:ext cx="3384550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977265" imgH="393700" progId="Equation.3">
                  <p:embed/>
                </p:oleObj>
              </mc:Choice>
              <mc:Fallback>
                <p:oleObj name="" r:id="rId1" imgW="977265" imgH="393700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339975" y="2636838"/>
                        <a:ext cx="3384550" cy="1346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6"/>
          <p:cNvGraphicFramePr>
            <a:graphicFrameLocks noChangeAspect="1"/>
          </p:cNvGraphicFramePr>
          <p:nvPr/>
        </p:nvGraphicFramePr>
        <p:xfrm>
          <a:off x="1476375" y="4005263"/>
          <a:ext cx="6624638" cy="2444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3" imgW="2218690" imgH="791210" progId="Word.Picture.8">
                  <p:embed/>
                </p:oleObj>
              </mc:Choice>
              <mc:Fallback>
                <p:oleObj name="" r:id="rId3" imgW="2218690" imgH="791210" progId="Word.Picture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76375" y="4005263"/>
                        <a:ext cx="6624638" cy="2444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Text Box 7"/>
          <p:cNvSpPr txBox="1"/>
          <p:nvPr/>
        </p:nvSpPr>
        <p:spPr>
          <a:xfrm>
            <a:off x="539750" y="404813"/>
            <a:ext cx="5181600" cy="64516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>
                <a:srgbClr val="FF0000"/>
              </a:buClr>
              <a:buSzTx/>
              <a:buFont typeface="Monotype Sorts" pitchFamily="2" charset="2"/>
              <a:buNone/>
            </a:pPr>
            <a:r>
              <a:rPr lang="en-US" altLang="zh-CN" sz="3600" b="1" dirty="0">
                <a:solidFill>
                  <a:srgbClr val="3333CC"/>
                </a:solidFill>
                <a:latin typeface="Tahoma" panose="020B0604030504040204" pitchFamily="34" charset="0"/>
                <a:ea typeface="楷体_GB2312" pitchFamily="49" charset="-122"/>
              </a:rPr>
              <a:t>R</a:t>
            </a:r>
            <a:r>
              <a:rPr lang="en-US" altLang="zh-CN" sz="2800" b="1" dirty="0">
                <a:solidFill>
                  <a:srgbClr val="3333CC"/>
                </a:solidFill>
                <a:latin typeface="Tahoma" panose="020B0604030504040204" pitchFamily="34" charset="0"/>
                <a:ea typeface="楷体_GB2312" pitchFamily="49" charset="-122"/>
              </a:rPr>
              <a:t>o</a:t>
            </a:r>
            <a:r>
              <a:rPr lang="zh-CN" altLang="en-US" sz="3600" b="1" dirty="0">
                <a:solidFill>
                  <a:srgbClr val="3333CC"/>
                </a:solidFill>
                <a:latin typeface="楷体_GB2312" pitchFamily="49" charset="-122"/>
                <a:ea typeface="楷体_GB2312" pitchFamily="49" charset="-122"/>
              </a:rPr>
              <a:t>的测量方法</a:t>
            </a:r>
            <a:endParaRPr lang="zh-CN" altLang="en-US" sz="3600" b="1" dirty="0">
              <a:solidFill>
                <a:srgbClr val="3333CC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222" name="Line 8"/>
          <p:cNvSpPr/>
          <p:nvPr/>
        </p:nvSpPr>
        <p:spPr>
          <a:xfrm>
            <a:off x="395288" y="1052513"/>
            <a:ext cx="7670800" cy="0"/>
          </a:xfrm>
          <a:prstGeom prst="line">
            <a:avLst/>
          </a:prstGeom>
          <a:ln w="19050" cap="flat" cmpd="sng">
            <a:solidFill>
              <a:srgbClr val="FF99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2"/>
          <p:cNvSpPr>
            <a:spLocks noGrp="1" noRot="1"/>
          </p:cNvSpPr>
          <p:nvPr>
            <p:ph type="title"/>
          </p:nvPr>
        </p:nvSpPr>
        <p:spPr>
          <a:xfrm>
            <a:off x="611188" y="620713"/>
            <a:ext cx="3681412" cy="838200"/>
          </a:xfrm>
        </p:spPr>
        <p:txBody>
          <a:bodyPr vert="horz" wrap="square" lIns="91440" tIns="45720" rIns="91440" bIns="45720" anchor="ctr" anchorCtr="0"/>
          <a:p>
            <a:pPr algn="l" eaLnBrk="1" hangingPunct="1"/>
            <a:r>
              <a:rPr lang="zh-CN" altLang="en-US" b="1" dirty="0">
                <a:solidFill>
                  <a:schemeClr val="tx1"/>
                </a:solidFill>
              </a:rPr>
              <a:t>实验内容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243" name="Line 6"/>
          <p:cNvSpPr/>
          <p:nvPr/>
        </p:nvSpPr>
        <p:spPr>
          <a:xfrm>
            <a:off x="900113" y="1412875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44" name="Rectangle 8"/>
          <p:cNvSpPr/>
          <p:nvPr/>
        </p:nvSpPr>
        <p:spPr>
          <a:xfrm>
            <a:off x="539750" y="1700213"/>
            <a:ext cx="8135938" cy="41830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30000"/>
              </a:lnSpc>
              <a:buSzPct val="110000"/>
              <a:buNone/>
            </a:pPr>
            <a:r>
              <a:rPr lang="en-US" altLang="zh-CN" b="1" dirty="0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000000"/>
                </a:solidFill>
                <a:latin typeface="Tahoma" panose="020B0604030504040204" pitchFamily="34" charset="0"/>
              </a:rPr>
              <a:t>、观察饱和失真、截止失真，记录波形。</a:t>
            </a:r>
            <a:endParaRPr lang="zh-CN" altLang="en-US" b="1" dirty="0"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buSzPct val="110000"/>
              <a:buFont typeface="Wingdings" panose="05000000000000000000" pitchFamily="2" charset="2"/>
              <a:buChar char="w"/>
            </a:pPr>
            <a:r>
              <a:rPr lang="zh-CN" altLang="en-US" b="1" dirty="0">
                <a:latin typeface="Tahoma" panose="020B0604030504040204" pitchFamily="34" charset="0"/>
              </a:rPr>
              <a:t>调节</a:t>
            </a:r>
            <a:r>
              <a:rPr lang="en-US" altLang="zh-CN" b="1" dirty="0">
                <a:latin typeface="Tahoma" panose="020B0604030504040204" pitchFamily="34" charset="0"/>
              </a:rPr>
              <a:t>Rp</a:t>
            </a:r>
            <a:r>
              <a:rPr lang="zh-CN" altLang="en-US" b="1" dirty="0">
                <a:latin typeface="Tahoma" panose="020B0604030504040204" pitchFamily="34" charset="0"/>
              </a:rPr>
              <a:t>到最小</a:t>
            </a:r>
            <a:r>
              <a:rPr lang="en-US" altLang="zh-CN" b="1" dirty="0">
                <a:latin typeface="Tahoma" panose="020B0604030504040204" pitchFamily="34" charset="0"/>
              </a:rPr>
              <a:t>Rp=0</a:t>
            </a:r>
            <a:r>
              <a:rPr lang="zh-CN" altLang="en-US" b="1" dirty="0">
                <a:latin typeface="Tahoma" panose="020B0604030504040204" pitchFamily="34" charset="0"/>
              </a:rPr>
              <a:t>，电路达到</a:t>
            </a:r>
            <a:r>
              <a:rPr lang="zh-CN" altLang="en-US" b="1" dirty="0">
                <a:solidFill>
                  <a:srgbClr val="FF3300"/>
                </a:solidFill>
                <a:latin typeface="Tahoma" panose="020B0604030504040204" pitchFamily="34" charset="0"/>
              </a:rPr>
              <a:t>饱和</a:t>
            </a:r>
            <a:r>
              <a:rPr lang="zh-CN" altLang="en-US" b="1" dirty="0">
                <a:latin typeface="Tahoma" panose="020B0604030504040204" pitchFamily="34" charset="0"/>
              </a:rPr>
              <a:t>状态 </a:t>
            </a:r>
            <a:r>
              <a:rPr lang="en-US" altLang="zh-CN" b="1" dirty="0">
                <a:latin typeface="Tahoma" panose="020B0604030504040204" pitchFamily="34" charset="0"/>
              </a:rPr>
              <a:t>,</a:t>
            </a:r>
            <a:r>
              <a:rPr lang="zh-CN" altLang="en-US" b="1" u="sng" dirty="0">
                <a:latin typeface="Tahoma" panose="020B0604030504040204" pitchFamily="34" charset="0"/>
              </a:rPr>
              <a:t>完成表</a:t>
            </a:r>
            <a:r>
              <a:rPr lang="en-US" altLang="zh-CN" b="1" u="sng" dirty="0">
                <a:latin typeface="Tahoma" panose="020B0604030504040204" pitchFamily="34" charset="0"/>
              </a:rPr>
              <a:t>4.5.2</a:t>
            </a:r>
            <a:r>
              <a:rPr lang="zh-CN" altLang="en-US" b="1" u="sng" dirty="0">
                <a:latin typeface="Tahoma" panose="020B0604030504040204" pitchFamily="34" charset="0"/>
              </a:rPr>
              <a:t>。</a:t>
            </a:r>
            <a:endParaRPr lang="zh-CN" altLang="en-US" b="1" u="sng" dirty="0">
              <a:latin typeface="Tahoma" panose="020B0604030504040204" pitchFamily="34" charset="0"/>
            </a:endParaRPr>
          </a:p>
          <a:p>
            <a:pPr marL="0" lvl="0" indent="0" eaLnBrk="1" hangingPunct="1">
              <a:lnSpc>
                <a:spcPct val="130000"/>
              </a:lnSpc>
              <a:buSzPct val="110000"/>
              <a:buFont typeface="Wingdings" panose="05000000000000000000" pitchFamily="2" charset="2"/>
              <a:buChar char="w"/>
            </a:pPr>
            <a:r>
              <a:rPr lang="zh-CN" altLang="en-US" b="1" dirty="0"/>
              <a:t>调节</a:t>
            </a:r>
            <a:r>
              <a:rPr lang="en-US" altLang="zh-CN" b="1" dirty="0"/>
              <a:t>Rp</a:t>
            </a:r>
            <a:r>
              <a:rPr lang="zh-CN" altLang="en-US" b="1" dirty="0"/>
              <a:t>到最大</a:t>
            </a:r>
            <a:r>
              <a:rPr lang="en-US" altLang="zh-CN" b="1" dirty="0"/>
              <a:t>Rp=100k</a:t>
            </a:r>
            <a:r>
              <a:rPr lang="zh-CN" altLang="en-US" b="1" dirty="0"/>
              <a:t>，电路达到</a:t>
            </a:r>
            <a:r>
              <a:rPr lang="zh-CN" altLang="en-US" b="1" dirty="0">
                <a:solidFill>
                  <a:srgbClr val="FF3300"/>
                </a:solidFill>
              </a:rPr>
              <a:t>截止</a:t>
            </a:r>
            <a:r>
              <a:rPr lang="zh-CN" altLang="en-US" b="1" dirty="0"/>
              <a:t>状态 </a:t>
            </a:r>
            <a:r>
              <a:rPr lang="en-US" altLang="zh-CN" b="1" dirty="0"/>
              <a:t>,</a:t>
            </a:r>
            <a:r>
              <a:rPr lang="zh-CN" altLang="en-US" b="1" u="sng" dirty="0"/>
              <a:t>完成表</a:t>
            </a:r>
            <a:r>
              <a:rPr lang="en-US" altLang="zh-CN" b="1" u="sng" dirty="0"/>
              <a:t>4.5.2</a:t>
            </a:r>
            <a:r>
              <a:rPr lang="zh-CN" altLang="en-US" b="1" u="sng" dirty="0"/>
              <a:t>。</a:t>
            </a:r>
            <a:endParaRPr lang="zh-CN" altLang="en-US" b="1" u="sng" dirty="0"/>
          </a:p>
          <a:p>
            <a:pPr marL="0" lvl="0" indent="0" eaLnBrk="1" hangingPunct="1">
              <a:lnSpc>
                <a:spcPct val="130000"/>
              </a:lnSpc>
              <a:buSzPct val="110000"/>
              <a:buNone/>
            </a:pPr>
            <a:r>
              <a:rPr lang="zh-CN" altLang="en-US" b="1" dirty="0"/>
              <a:t>   </a:t>
            </a:r>
            <a:r>
              <a:rPr lang="zh-CN" altLang="en-US" b="1" dirty="0">
                <a:solidFill>
                  <a:srgbClr val="FF3300"/>
                </a:solidFill>
              </a:rPr>
              <a:t>（用万用表的</a:t>
            </a:r>
            <a:r>
              <a:rPr lang="en-US" altLang="zh-CN" b="1" dirty="0">
                <a:solidFill>
                  <a:srgbClr val="FF3300"/>
                </a:solidFill>
              </a:rPr>
              <a:t>DC</a:t>
            </a:r>
            <a:r>
              <a:rPr lang="zh-CN" altLang="en-US" b="1" dirty="0">
                <a:solidFill>
                  <a:srgbClr val="FF3300"/>
                </a:solidFill>
              </a:rPr>
              <a:t>档测量）</a:t>
            </a:r>
            <a:endParaRPr lang="zh-CN" altLang="en-US" b="1" dirty="0">
              <a:solidFill>
                <a:srgbClr val="FF33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标题 201729"/>
          <p:cNvSpPr>
            <a:spLocks noGrp="1"/>
          </p:cNvSpPr>
          <p:nvPr>
            <p:ph type="title"/>
          </p:nvPr>
        </p:nvSpPr>
        <p:spPr>
          <a:ln/>
        </p:spPr>
        <p:txBody>
          <a:bodyPr anchor="b" anchorCtr="0"/>
          <a:p>
            <a:r>
              <a:rPr lang="zh-CN" altLang="en-US" dirty="0"/>
              <a:t>测量通频带</a:t>
            </a:r>
            <a:endParaRPr lang="zh-CN" altLang="en-US"/>
          </a:p>
        </p:txBody>
      </p:sp>
      <p:sp>
        <p:nvSpPr>
          <p:cNvPr id="201731" name="文本占位符 201730"/>
          <p:cNvSpPr>
            <a:spLocks noGrp="1"/>
          </p:cNvSpPr>
          <p:nvPr>
            <p:ph type="body" idx="1"/>
          </p:nvPr>
        </p:nvSpPr>
        <p:spPr>
          <a:xfrm>
            <a:off x="566738" y="1484313"/>
            <a:ext cx="8001000" cy="3619500"/>
          </a:xfrm>
          <a:ln/>
        </p:spPr>
        <p:txBody>
          <a:bodyPr>
            <a:spAutoFit/>
          </a:bodyPr>
          <a:p>
            <a:pPr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记录</a:t>
            </a:r>
            <a:r>
              <a:rPr lang="en-US" altLang="zh-CN" b="1"/>
              <a:t>f</a:t>
            </a:r>
            <a:r>
              <a:rPr lang="zh-CN" altLang="en-US" b="1"/>
              <a:t>＝</a:t>
            </a:r>
            <a:r>
              <a:rPr lang="en-US" altLang="zh-CN" b="1"/>
              <a:t>1KHz</a:t>
            </a:r>
            <a:r>
              <a:rPr lang="zh-CN" altLang="en-US" b="1"/>
              <a:t>时的</a:t>
            </a:r>
            <a:r>
              <a:rPr lang="en-US" altLang="zh-CN" b="1" err="1"/>
              <a:t>Avo</a:t>
            </a:r>
            <a:endParaRPr lang="en-US" altLang="zh-CN" b="1"/>
          </a:p>
          <a:p>
            <a:pPr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减小</a:t>
            </a:r>
            <a:r>
              <a:rPr lang="en-US" altLang="zh-CN" b="1"/>
              <a:t>f</a:t>
            </a:r>
            <a:r>
              <a:rPr lang="zh-CN" altLang="en-US" b="1"/>
              <a:t>，</a:t>
            </a:r>
            <a:r>
              <a:rPr lang="zh-CN" altLang="en-US" b="1" dirty="0"/>
              <a:t>直到</a:t>
            </a:r>
            <a:r>
              <a:rPr lang="en-US" altLang="zh-CN" b="1" err="1"/>
              <a:t>Avl</a:t>
            </a:r>
            <a:r>
              <a:rPr lang="zh-CN" altLang="en-US" b="1"/>
              <a:t>＝</a:t>
            </a:r>
            <a:r>
              <a:rPr lang="en-US" altLang="zh-CN" b="1"/>
              <a:t>0.707*</a:t>
            </a:r>
            <a:r>
              <a:rPr lang="en-US" altLang="zh-CN" b="1" err="1"/>
              <a:t>Avo</a:t>
            </a:r>
            <a:r>
              <a:rPr lang="zh-CN" altLang="en-US" b="1"/>
              <a:t>，</a:t>
            </a:r>
            <a:r>
              <a:rPr lang="zh-CN" altLang="en-US" b="1" dirty="0"/>
              <a:t>记录</a:t>
            </a:r>
            <a:r>
              <a:rPr lang="en-US" altLang="zh-CN" b="1"/>
              <a:t>f(l)</a:t>
            </a:r>
            <a:endParaRPr lang="en-US" altLang="zh-CN" b="1"/>
          </a:p>
          <a:p>
            <a:pPr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增大</a:t>
            </a:r>
            <a:r>
              <a:rPr lang="en-US" altLang="zh-CN" b="1"/>
              <a:t>f</a:t>
            </a:r>
            <a:r>
              <a:rPr lang="zh-CN" altLang="en-US" b="1"/>
              <a:t>，</a:t>
            </a:r>
            <a:r>
              <a:rPr lang="zh-CN" altLang="en-US" b="1" dirty="0"/>
              <a:t>直到</a:t>
            </a:r>
            <a:r>
              <a:rPr lang="en-US" altLang="zh-CN" b="1" err="1"/>
              <a:t>Avh</a:t>
            </a:r>
            <a:r>
              <a:rPr lang="zh-CN" altLang="en-US" b="1"/>
              <a:t>＝</a:t>
            </a:r>
            <a:r>
              <a:rPr lang="en-US" altLang="zh-CN" b="1"/>
              <a:t>0.707*</a:t>
            </a:r>
            <a:r>
              <a:rPr lang="en-US" altLang="zh-CN" b="1" err="1"/>
              <a:t>Avo</a:t>
            </a:r>
            <a:r>
              <a:rPr lang="zh-CN" altLang="en-US" b="1"/>
              <a:t>，</a:t>
            </a:r>
            <a:r>
              <a:rPr lang="zh-CN" altLang="en-US" b="1" dirty="0"/>
              <a:t>记录</a:t>
            </a:r>
            <a:r>
              <a:rPr lang="en-US" altLang="zh-CN" b="1"/>
              <a:t>f(h)</a:t>
            </a:r>
            <a:endParaRPr lang="en-US" altLang="zh-CN" b="1"/>
          </a:p>
          <a:p>
            <a:pPr>
              <a:buClr>
                <a:srgbClr val="CC3300"/>
              </a:buClr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（</a:t>
            </a:r>
            <a:r>
              <a:rPr lang="zh-CN" altLang="en-US" sz="26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调整</a:t>
            </a:r>
            <a:r>
              <a:rPr lang="en-US" altLang="zh-CN" sz="26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f</a:t>
            </a:r>
            <a:r>
              <a:rPr lang="zh-CN" altLang="en-US" sz="26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时，一定要用示波器监视</a:t>
            </a:r>
            <a:r>
              <a:rPr lang="en-US" altLang="zh-CN" sz="2600" b="1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Vi</a:t>
            </a:r>
            <a:r>
              <a:rPr lang="zh-CN" altLang="en-US" sz="2600" b="1" dirty="0">
                <a:solidFill>
                  <a:srgbClr val="CC0000"/>
                </a:solidFill>
                <a:latin typeface="黑体" panose="02010609060101010101" pitchFamily="2" charset="-122"/>
                <a:ea typeface="黑体" panose="02010609060101010101" pitchFamily="2" charset="-122"/>
              </a:rPr>
              <a:t>的幅值，保证幅值不变）</a:t>
            </a:r>
            <a:endParaRPr lang="zh-CN" altLang="en-US" sz="2600" b="1" dirty="0">
              <a:solidFill>
                <a:srgbClr val="CC0000"/>
              </a:solidFill>
              <a:latin typeface="黑体" panose="02010609060101010101" pitchFamily="2" charset="-122"/>
              <a:ea typeface="黑体" panose="02010609060101010101" pitchFamily="2" charset="-122"/>
            </a:endParaRPr>
          </a:p>
          <a:p>
            <a:pPr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通频带</a:t>
            </a:r>
            <a:r>
              <a:rPr lang="en-US" altLang="zh-CN" b="1" err="1"/>
              <a:t>Bw</a:t>
            </a:r>
            <a:r>
              <a:rPr lang="zh-CN" altLang="en-US" b="1"/>
              <a:t>＝</a:t>
            </a:r>
            <a:r>
              <a:rPr lang="en-US" altLang="zh-CN" b="1"/>
              <a:t>f(h)-f(l)</a:t>
            </a:r>
            <a:endParaRPr lang="en-US" altLang="zh-CN" b="1"/>
          </a:p>
          <a:p>
            <a:pPr>
              <a:buClr>
                <a:srgbClr val="CC3300"/>
              </a:buClr>
              <a:buFont typeface="Wingdings" panose="05000000000000000000" pitchFamily="2" charset="2"/>
              <a:buChar char="§"/>
            </a:pPr>
            <a:r>
              <a:rPr lang="zh-CN" altLang="en-US" b="1" dirty="0"/>
              <a:t>根据测量数据表格，绘制频谱图</a:t>
            </a:r>
            <a:endParaRPr lang="zh-CN" altLang="en-US" b="1" dirty="0"/>
          </a:p>
        </p:txBody>
      </p:sp>
      <p:sp>
        <p:nvSpPr>
          <p:cNvPr id="201732" name="直接连接符 201731"/>
          <p:cNvSpPr/>
          <p:nvPr/>
        </p:nvSpPr>
        <p:spPr>
          <a:xfrm>
            <a:off x="1016000" y="1219200"/>
            <a:ext cx="7670800" cy="0"/>
          </a:xfrm>
          <a:prstGeom prst="line">
            <a:avLst/>
          </a:prstGeom>
          <a:ln w="3175" cap="flat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93d8f6bc-541b-4605-9781-155567ff9384"/>
  <p:tag name="COMMONDATA" val="eyJoZGlkIjoiYTJlZTM3NzhlZjk1Y2Q4N2Q0ZTcxYTYxYWM4MDQyODEifQ=="/>
</p:tagLst>
</file>

<file path=ppt/theme/theme1.xml><?xml version="1.0" encoding="utf-8"?>
<a:theme xmlns:a="http://schemas.openxmlformats.org/drawingml/2006/main" name="Profile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楷体_GB2312"/>
        <a:cs typeface=""/>
      </a:majorFont>
      <a:minorFont>
        <a:latin typeface="Verdana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1748</Words>
  <Application>WPS 演示</Application>
  <PresentationFormat>屏幕显示</PresentationFormat>
  <Paragraphs>167</Paragraphs>
  <Slides>16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40" baseType="lpstr">
      <vt:lpstr>Arial</vt:lpstr>
      <vt:lpstr>宋体</vt:lpstr>
      <vt:lpstr>Wingdings</vt:lpstr>
      <vt:lpstr>Times New Roman</vt:lpstr>
      <vt:lpstr>Verdana</vt:lpstr>
      <vt:lpstr>楷体_GB2312</vt:lpstr>
      <vt:lpstr>新宋体</vt:lpstr>
      <vt:lpstr>隶书</vt:lpstr>
      <vt:lpstr>Wingdings 2</vt:lpstr>
      <vt:lpstr>华文中宋</vt:lpstr>
      <vt:lpstr>Tahoma</vt:lpstr>
      <vt:lpstr>Symbol</vt:lpstr>
      <vt:lpstr>黑体</vt:lpstr>
      <vt:lpstr>Courier New</vt:lpstr>
      <vt:lpstr>微软雅黑</vt:lpstr>
      <vt:lpstr>Arial Unicode MS</vt:lpstr>
      <vt:lpstr>Monotype Sorts</vt:lpstr>
      <vt:lpstr>Wingdings</vt:lpstr>
      <vt:lpstr>Profile</vt:lpstr>
      <vt:lpstr>Word.Picture.8</vt:lpstr>
      <vt:lpstr>Paint.Picture</vt:lpstr>
      <vt:lpstr>Paint.Picture</vt:lpstr>
      <vt:lpstr>Equation.3</vt:lpstr>
      <vt:lpstr>Word.Picture.8</vt:lpstr>
      <vt:lpstr>单级共射放大电路</vt:lpstr>
      <vt:lpstr>实验原理图  单级共射放大电路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实验内容</vt:lpstr>
      <vt:lpstr>PowerPoint 演示文稿</vt:lpstr>
    </vt:vector>
  </TitlesOfParts>
  <Company>Samsung Electronics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luojie</dc:creator>
  <cp:lastModifiedBy>柳随风</cp:lastModifiedBy>
  <cp:revision>187</cp:revision>
  <dcterms:created xsi:type="dcterms:W3CDTF">2004-08-29T02:51:05Z</dcterms:created>
  <dcterms:modified xsi:type="dcterms:W3CDTF">2023-04-27T04:30:32Z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CA87E1BC417A460CA5DE154CEE2DD0AA_13</vt:lpwstr>
  </property>
  <property fmtid="{D5CDD505-2E9C-101B-9397-08002B2CF9AE}" pid="3" name="KSOProductBuildVer">
    <vt:lpwstr>2052-11.1.0.14036</vt:lpwstr>
  </property>
</Properties>
</file>