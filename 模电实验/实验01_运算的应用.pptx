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8"/>
  </p:notesMasterIdLst>
  <p:sldIdLst>
    <p:sldId id="305" r:id="rId5"/>
    <p:sldId id="306" r:id="rId6"/>
    <p:sldId id="309" r:id="rId7"/>
    <p:sldId id="307" r:id="rId9"/>
    <p:sldId id="347" r:id="rId10"/>
    <p:sldId id="349" r:id="rId11"/>
    <p:sldId id="364" r:id="rId12"/>
    <p:sldId id="380" r:id="rId13"/>
    <p:sldId id="379" r:id="rId14"/>
    <p:sldId id="308" r:id="rId15"/>
    <p:sldId id="310" r:id="rId16"/>
    <p:sldId id="333" r:id="rId17"/>
    <p:sldId id="311" r:id="rId18"/>
    <p:sldId id="322" r:id="rId19"/>
    <p:sldId id="314" r:id="rId20"/>
    <p:sldId id="315" r:id="rId21"/>
    <p:sldId id="316" r:id="rId22"/>
    <p:sldId id="329" r:id="rId23"/>
    <p:sldId id="330" r:id="rId24"/>
    <p:sldId id="334" r:id="rId25"/>
    <p:sldId id="396" r:id="rId26"/>
    <p:sldId id="397" r:id="rId27"/>
    <p:sldId id="320" r:id="rId28"/>
    <p:sldId id="335" r:id="rId29"/>
    <p:sldId id="336" r:id="rId30"/>
  </p:sldIdLst>
  <p:sldSz cx="9144000" cy="6858000" type="screen4x3"/>
  <p:notesSz cx="6858000" cy="9144000"/>
  <p:custDataLst>
    <p:tags r:id="rId3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705"/>
    <a:srgbClr val="000099"/>
    <a:srgbClr val="CCFFFF"/>
    <a:srgbClr val="FF0000"/>
    <a:srgbClr val="0000FF"/>
    <a:srgbClr val="996633"/>
    <a:srgbClr val="CC3300"/>
    <a:srgbClr val="663300"/>
    <a:srgbClr val="AD9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6"/>
    <p:restoredTop sz="94610"/>
  </p:normalViewPr>
  <p:slideViewPr>
    <p:cSldViewPr showGuides="1">
      <p:cViewPr varScale="1">
        <p:scale>
          <a:sx n="69" d="100"/>
          <a:sy n="69" d="100"/>
        </p:scale>
        <p:origin x="-802" y="-67"/>
      </p:cViewPr>
      <p:guideLst>
        <p:guide orient="horz" pos="2236"/>
        <p:guide pos="288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5" Type="http://schemas.openxmlformats.org/officeDocument/2006/relationships/tags" Target="tags/tag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921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/>
              <a:t>芯片安装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/>
              <a:t>芯片接法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/>
              <a:t>芯片接法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：有三个独立电源，两个可调的，每个都有正负极，负极就是参考地。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调整好正负电源后，断掉电源，然后再将电源接入到系统中。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：需要测试芯片的管脚对原理图中的地的电压。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：有三个独立电源，两个可调的，每个都有正负极，负极就是参考地。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调整好正负电源后，断掉电源，然后再将电源接入到系统中。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：需要测试芯片的管脚对原理图中的地的电压。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：有三个独立电源，两个可调的，每个都有正负极，负极就是参考地。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调整好正负电源后，断掉电源，然后再将电源接入到系统中。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：需要测试芯片的管脚对原理图中的地的电压。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A2551-FA28-4A23-AF5D-8BBD3FAF2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/>
              <a:t>原理图接法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：两路信号的怎么处理。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示波器上的图像以及用数学坐标画出的图形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：一定要两个坐标系，虽然横坐标的相同，但两个信号的幅度坐标是独立的，并且可能会有比较大的差别。因为时间上有关系，所以两个图形要上下画图，时间对齐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前面两个实验中，信号源的直流电平要关闭。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三个</a:t>
            </a:r>
            <a:r>
              <a:rPr lang="zh-CN" altLang="en-US"/>
              <a:t>实验强调记录数据和波形，</a:t>
            </a:r>
            <a:r>
              <a:rPr lang="zh-CN" altLang="en-US"/>
              <a:t>拍照</a:t>
            </a:r>
            <a:endParaRPr lang="zh-CN" altLang="en-US"/>
          </a:p>
          <a:p>
            <a:r>
              <a:rPr lang="zh-CN" altLang="en-US"/>
              <a:t>积分器要看示波器显示</a:t>
            </a:r>
            <a:r>
              <a:rPr lang="zh-CN" altLang="en-US"/>
              <a:t>结果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3074" name="任意多边形 93190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3186" name="标题 93185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defRPr sz="40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93187" name="副标题 93186"/>
          <p:cNvSpPr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None/>
              <a:defRPr sz="2800"/>
            </a:lvl1pPr>
            <a:lvl2pPr marL="457200" lvl="1" indent="14605" algn="ctr">
              <a:buNone/>
              <a:defRPr sz="2800"/>
            </a:lvl2pPr>
            <a:lvl3pPr marL="909955" lvl="2" indent="0" algn="ctr">
              <a:buNone/>
              <a:defRPr sz="2800"/>
            </a:lvl3pPr>
            <a:lvl4pPr marL="1306830" lvl="3" indent="0" algn="ctr">
              <a:buNone/>
              <a:defRPr sz="2800"/>
            </a:lvl4pPr>
            <a:lvl5pPr marL="1695450" lvl="4" indent="0" algn="ctr">
              <a:buNone/>
              <a:defRPr sz="28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93188" name="日期占位符 9318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93189" name="页脚占位符 9318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endParaRPr lang="zh-CN" altLang="en-US" strike="noStrike" noProof="1" dirty="0"/>
          </a:p>
        </p:txBody>
      </p:sp>
      <p:sp>
        <p:nvSpPr>
          <p:cNvPr id="93190" name="灯片编号占位符 9318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45085"/>
            <a:ext cx="8001000" cy="7556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260350"/>
            <a:ext cx="2002234" cy="57594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260350"/>
            <a:ext cx="5890631" cy="57594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4098" name="任意多边形 93190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3186" name="标题 93185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defRPr sz="40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93187" name="副标题 93186"/>
          <p:cNvSpPr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None/>
              <a:defRPr sz="2800"/>
            </a:lvl1pPr>
            <a:lvl2pPr marL="457200" lvl="1" indent="14605" algn="ctr">
              <a:buNone/>
              <a:defRPr sz="2800"/>
            </a:lvl2pPr>
            <a:lvl3pPr marL="909955" lvl="2" indent="0" algn="ctr">
              <a:buNone/>
              <a:defRPr sz="2800"/>
            </a:lvl3pPr>
            <a:lvl4pPr marL="1306830" lvl="3" indent="0" algn="ctr">
              <a:buNone/>
              <a:defRPr sz="2800"/>
            </a:lvl4pPr>
            <a:lvl5pPr marL="1695450" lvl="4" indent="0" algn="ctr">
              <a:buNone/>
              <a:defRPr sz="28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93188" name="日期占位符 9318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93189" name="页脚占位符 9318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endParaRPr lang="zh-CN" altLang="en-US" strike="noStrike" noProof="1" dirty="0"/>
          </a:p>
        </p:txBody>
      </p:sp>
      <p:sp>
        <p:nvSpPr>
          <p:cNvPr id="93190" name="灯片编号占位符 9318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260350"/>
            <a:ext cx="2002234" cy="57594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260350"/>
            <a:ext cx="5890631" cy="57594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3074" name="任意多边形 93190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3186" name="标题 93185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defRPr sz="40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93187" name="副标题 93186"/>
          <p:cNvSpPr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None/>
              <a:defRPr sz="2800"/>
            </a:lvl1pPr>
            <a:lvl2pPr marL="457200" lvl="1" indent="14605" algn="ctr">
              <a:buNone/>
              <a:defRPr sz="2800"/>
            </a:lvl2pPr>
            <a:lvl3pPr marL="909955" lvl="2" indent="0" algn="ctr">
              <a:buNone/>
              <a:defRPr sz="2800"/>
            </a:lvl3pPr>
            <a:lvl4pPr marL="1306830" lvl="3" indent="0" algn="ctr">
              <a:buNone/>
              <a:defRPr sz="2800"/>
            </a:lvl4pPr>
            <a:lvl5pPr marL="1695450" lvl="4" indent="0" algn="ctr">
              <a:buNone/>
              <a:defRPr sz="28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93188" name="日期占位符 9318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93189" name="页脚占位符 9318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endParaRPr lang="zh-CN" altLang="en-US" strike="noStrike" noProof="1" dirty="0"/>
          </a:p>
        </p:txBody>
      </p:sp>
      <p:sp>
        <p:nvSpPr>
          <p:cNvPr id="93190" name="灯片编号占位符 9318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45085"/>
            <a:ext cx="8001000" cy="7556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260350"/>
            <a:ext cx="2002234" cy="57594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260350"/>
            <a:ext cx="5890631" cy="57594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92161"/>
          <p:cNvSpPr>
            <a:spLocks noGrp="1"/>
          </p:cNvSpPr>
          <p:nvPr>
            <p:ph type="title"/>
          </p:nvPr>
        </p:nvSpPr>
        <p:spPr>
          <a:xfrm>
            <a:off x="574675" y="-26987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92162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6245"/>
            <a:r>
              <a:rPr lang="zh-CN" altLang="en-US" dirty="0"/>
              <a:t>第二级</a:t>
            </a:r>
            <a:endParaRPr lang="zh-CN" altLang="en-US" dirty="0"/>
          </a:p>
          <a:p>
            <a:pPr lvl="2" indent="-394970"/>
            <a:r>
              <a:rPr lang="zh-CN" altLang="en-US" dirty="0"/>
              <a:t>第三级</a:t>
            </a:r>
            <a:endParaRPr lang="zh-CN" altLang="en-US" dirty="0"/>
          </a:p>
          <a:p>
            <a:pPr lvl="3" indent="-387350"/>
            <a:r>
              <a:rPr lang="zh-CN" altLang="en-US" dirty="0"/>
              <a:t>第四级</a:t>
            </a:r>
            <a:endParaRPr lang="zh-CN" altLang="en-US" dirty="0"/>
          </a:p>
          <a:p>
            <a:pPr lvl="4" indent="-39878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任意多边形 92163"/>
          <p:cNvSpPr/>
          <p:nvPr/>
        </p:nvSpPr>
        <p:spPr>
          <a:xfrm flipV="1">
            <a:off x="609600" y="728663"/>
            <a:ext cx="6943725" cy="76200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直接连接符 92164"/>
          <p:cNvSpPr/>
          <p:nvPr/>
        </p:nvSpPr>
        <p:spPr>
          <a:xfrm flipV="1">
            <a:off x="609600" y="63087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166" name="日期占位符 92165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92167" name="页脚占位符 9216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92168" name="灯片编号占位符 9216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1033" name="等腰三角形 92168">
            <a:hlinkClick r:id="" action="ppaction://hlinkshowjump?jump=previousslide"/>
          </p:cNvPr>
          <p:cNvSpPr/>
          <p:nvPr userDrawn="1"/>
        </p:nvSpPr>
        <p:spPr>
          <a:xfrm>
            <a:off x="8604250" y="6308725"/>
            <a:ext cx="360363" cy="179388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等腰三角形 92169">
            <a:hlinkClick r:id="" action="ppaction://hlinkshowjump?jump=nextslide"/>
          </p:cNvPr>
          <p:cNvSpPr/>
          <p:nvPr userDrawn="1"/>
        </p:nvSpPr>
        <p:spPr>
          <a:xfrm flipV="1">
            <a:off x="8610600" y="6559550"/>
            <a:ext cx="360363" cy="179388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文本框 92170">
            <a:hlinkClick r:id="" action="ppaction://hlinkshowjump?jump=firstslide">
              <a:snd r:embed="rId12" name="chimes.wav"/>
            </a:hlinkClick>
          </p:cNvPr>
          <p:cNvSpPr txBox="1"/>
          <p:nvPr userDrawn="1"/>
        </p:nvSpPr>
        <p:spPr>
          <a:xfrm>
            <a:off x="107950" y="6396038"/>
            <a:ext cx="600075" cy="346075"/>
          </a:xfrm>
          <a:prstGeom prst="rect">
            <a:avLst/>
          </a:prstGeom>
          <a:solidFill>
            <a:srgbClr val="AD957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lvl="0"/>
            <a:r>
              <a:rPr lang="zh-CN" altLang="en-US" sz="1600" dirty="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zh-CN" altLang="en-US" sz="1600">
              <a:solidFill>
                <a:schemeClr val="bg1"/>
              </a:solidFill>
              <a:effectDag name="">
                <a:effect ref="fillLine"/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</a:effectDag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92161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92162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6245"/>
            <a:r>
              <a:rPr lang="zh-CN" altLang="en-US" dirty="0"/>
              <a:t>第二级</a:t>
            </a:r>
            <a:endParaRPr lang="zh-CN" altLang="en-US" dirty="0"/>
          </a:p>
          <a:p>
            <a:pPr lvl="2" indent="-394970"/>
            <a:r>
              <a:rPr lang="zh-CN" altLang="en-US" dirty="0"/>
              <a:t>第三级</a:t>
            </a:r>
            <a:endParaRPr lang="zh-CN" altLang="en-US" dirty="0"/>
          </a:p>
          <a:p>
            <a:pPr lvl="3" indent="-387350"/>
            <a:r>
              <a:rPr lang="zh-CN" altLang="en-US" dirty="0"/>
              <a:t>第四级</a:t>
            </a:r>
            <a:endParaRPr lang="zh-CN" altLang="en-US" dirty="0"/>
          </a:p>
          <a:p>
            <a:pPr lvl="4" indent="-39878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2" name="任意多边形 92163"/>
          <p:cNvSpPr/>
          <p:nvPr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3" name="直接连接符 92164"/>
          <p:cNvSpPr/>
          <p:nvPr/>
        </p:nvSpPr>
        <p:spPr>
          <a:xfrm flipV="1">
            <a:off x="609600" y="63087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166" name="日期占位符 92165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92167" name="页脚占位符 9216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92168" name="灯片编号占位符 9216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2057" name="等腰三角形 92168">
            <a:hlinkClick r:id="" action="ppaction://hlinkshowjump?jump=previousslide"/>
          </p:cNvPr>
          <p:cNvSpPr/>
          <p:nvPr userDrawn="1"/>
        </p:nvSpPr>
        <p:spPr>
          <a:xfrm>
            <a:off x="8604250" y="6308725"/>
            <a:ext cx="360363" cy="179388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8" name="等腰三角形 92169">
            <a:hlinkClick r:id="" action="ppaction://hlinkshowjump?jump=nextslide"/>
          </p:cNvPr>
          <p:cNvSpPr/>
          <p:nvPr userDrawn="1"/>
        </p:nvSpPr>
        <p:spPr>
          <a:xfrm flipV="1">
            <a:off x="8610600" y="6559550"/>
            <a:ext cx="360363" cy="179388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9" name="文本框 92170">
            <a:hlinkClick r:id="" action="ppaction://hlinkshowjump?jump=firstslide">
              <a:snd r:embed="rId12" name="chimes.wav"/>
            </a:hlinkClick>
          </p:cNvPr>
          <p:cNvSpPr txBox="1"/>
          <p:nvPr userDrawn="1"/>
        </p:nvSpPr>
        <p:spPr>
          <a:xfrm>
            <a:off x="107950" y="6396038"/>
            <a:ext cx="600075" cy="346075"/>
          </a:xfrm>
          <a:prstGeom prst="rect">
            <a:avLst/>
          </a:prstGeom>
          <a:solidFill>
            <a:srgbClr val="AD957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lvl="0"/>
            <a:r>
              <a:rPr lang="zh-CN" altLang="en-US" sz="1600" dirty="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zh-CN" altLang="en-US" sz="1600">
              <a:solidFill>
                <a:schemeClr val="bg1"/>
              </a:solidFill>
              <a:effectDag name="">
                <a:effect ref="fillLine"/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</a:effectDag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92161"/>
          <p:cNvSpPr>
            <a:spLocks noGrp="1"/>
          </p:cNvSpPr>
          <p:nvPr>
            <p:ph type="title"/>
          </p:nvPr>
        </p:nvSpPr>
        <p:spPr>
          <a:xfrm>
            <a:off x="574675" y="-26987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92162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6245"/>
            <a:r>
              <a:rPr lang="zh-CN" altLang="en-US" dirty="0"/>
              <a:t>第二级</a:t>
            </a:r>
            <a:endParaRPr lang="zh-CN" altLang="en-US" dirty="0"/>
          </a:p>
          <a:p>
            <a:pPr lvl="2" indent="-394970"/>
            <a:r>
              <a:rPr lang="zh-CN" altLang="en-US" dirty="0"/>
              <a:t>第三级</a:t>
            </a:r>
            <a:endParaRPr lang="zh-CN" altLang="en-US" dirty="0"/>
          </a:p>
          <a:p>
            <a:pPr lvl="3" indent="-387350"/>
            <a:r>
              <a:rPr lang="zh-CN" altLang="en-US" dirty="0"/>
              <a:t>第四级</a:t>
            </a:r>
            <a:endParaRPr lang="zh-CN" altLang="en-US" dirty="0"/>
          </a:p>
          <a:p>
            <a:pPr lvl="4" indent="-39878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任意多边形 92163"/>
          <p:cNvSpPr/>
          <p:nvPr/>
        </p:nvSpPr>
        <p:spPr>
          <a:xfrm flipV="1">
            <a:off x="609600" y="728663"/>
            <a:ext cx="6943725" cy="76200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直接连接符 92164"/>
          <p:cNvSpPr/>
          <p:nvPr/>
        </p:nvSpPr>
        <p:spPr>
          <a:xfrm flipV="1">
            <a:off x="609600" y="63087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166" name="日期占位符 92165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92167" name="页脚占位符 9216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endParaRPr lang="zh-CN" altLang="en-US" strike="noStrike" noProof="1" dirty="0"/>
          </a:p>
        </p:txBody>
      </p:sp>
      <p:sp>
        <p:nvSpPr>
          <p:cNvPr id="92168" name="灯片编号占位符 9216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1033" name="等腰三角形 92168">
            <a:hlinkClick r:id="" action="ppaction://hlinkshowjump?jump=previousslide"/>
          </p:cNvPr>
          <p:cNvSpPr/>
          <p:nvPr userDrawn="1"/>
        </p:nvSpPr>
        <p:spPr>
          <a:xfrm>
            <a:off x="8604250" y="6308725"/>
            <a:ext cx="360363" cy="179388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等腰三角形 92169">
            <a:hlinkClick r:id="" action="ppaction://hlinkshowjump?jump=nextslide"/>
          </p:cNvPr>
          <p:cNvSpPr/>
          <p:nvPr userDrawn="1"/>
        </p:nvSpPr>
        <p:spPr>
          <a:xfrm flipV="1">
            <a:off x="8610600" y="6559550"/>
            <a:ext cx="360363" cy="179388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/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文本框 92170">
            <a:hlinkClick r:id="" action="ppaction://hlinkshowjump?jump=firstslide">
              <a:snd r:embed="rId12" name="chimes.wav"/>
            </a:hlinkClick>
          </p:cNvPr>
          <p:cNvSpPr txBox="1"/>
          <p:nvPr userDrawn="1"/>
        </p:nvSpPr>
        <p:spPr>
          <a:xfrm>
            <a:off x="107950" y="6396038"/>
            <a:ext cx="600075" cy="346075"/>
          </a:xfrm>
          <a:prstGeom prst="rect">
            <a:avLst/>
          </a:prstGeom>
          <a:solidFill>
            <a:srgbClr val="AD957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lvl="0"/>
            <a:r>
              <a:rPr lang="zh-CN" altLang="en-US" sz="1600" dirty="0">
                <a:solidFill>
                  <a:schemeClr val="bg1"/>
                </a:solidFill>
                <a:effectDag name="">
                  <a:effect ref="fillLine"/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</a:effectDag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zh-CN" altLang="en-US" sz="1600">
              <a:solidFill>
                <a:schemeClr val="bg1"/>
              </a:solidFill>
              <a:effectDag name="">
                <a:effect ref="fillLine"/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</a:effectDag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2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jpeg"/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emf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wmf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1.emf"/><Relationship Id="rId1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5" name="标题 116737"/>
          <p:cNvSpPr>
            <a:spLocks noGrp="1"/>
          </p:cNvSpPr>
          <p:nvPr>
            <p:ph type="title"/>
          </p:nvPr>
        </p:nvSpPr>
        <p:spPr>
          <a:xfrm>
            <a:off x="755650" y="188913"/>
            <a:ext cx="7793038" cy="1676400"/>
          </a:xfrm>
        </p:spPr>
        <p:txBody>
          <a:bodyPr anchor="b" anchorCtr="0"/>
          <a:p>
            <a:pPr algn="ctr"/>
            <a:r>
              <a:rPr lang="zh-CN" altLang="en-US" sz="7400" dirty="0">
                <a:latin typeface="楷体_GB2312" pitchFamily="49" charset="-122"/>
                <a:ea typeface="楷体_GB2312" pitchFamily="49" charset="-122"/>
              </a:rPr>
              <a:t>基本运算电路</a:t>
            </a:r>
            <a:endParaRPr lang="zh-CN" altLang="en-US" sz="7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6739" name="矩形 116738"/>
          <p:cNvSpPr/>
          <p:nvPr/>
        </p:nvSpPr>
        <p:spPr>
          <a:xfrm>
            <a:off x="1350963" y="2362200"/>
            <a:ext cx="7793038" cy="6858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r>
              <a:rPr lang="zh-CN" altLang="en-US" sz="44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一、实验目的</a:t>
            </a:r>
            <a:endParaRPr lang="zh-CN" altLang="en-US" sz="4400" b="1" strike="noStrike" noProof="1" dirty="0"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6740" name="矩形 116739"/>
          <p:cNvSpPr/>
          <p:nvPr/>
        </p:nvSpPr>
        <p:spPr>
          <a:xfrm>
            <a:off x="1350963" y="3448050"/>
            <a:ext cx="7793038" cy="798513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r>
              <a:rPr lang="zh-CN" altLang="en-US" sz="44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二、集成运放</a:t>
            </a:r>
            <a:r>
              <a:rPr lang="en-US" altLang="zh-CN" sz="44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LM324</a:t>
            </a:r>
            <a:r>
              <a:rPr lang="zh-CN" altLang="en-US" sz="44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的使用</a:t>
            </a:r>
            <a:endParaRPr lang="zh-CN" altLang="en-US" sz="4400" b="1" strike="noStrike" noProof="1" dirty="0"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6741" name="矩形 116740"/>
          <p:cNvSpPr/>
          <p:nvPr/>
        </p:nvSpPr>
        <p:spPr>
          <a:xfrm>
            <a:off x="1350963" y="4648200"/>
            <a:ext cx="7793038" cy="762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r>
              <a:rPr lang="zh-CN" altLang="en-US" sz="44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ahoma" panose="020B0604030504040204" pitchFamily="34" charset="0"/>
                <a:ea typeface="楷体_GB2312" pitchFamily="49" charset="-122"/>
                <a:cs typeface="+mn-cs"/>
              </a:rPr>
              <a:t>三、实验内容</a:t>
            </a:r>
            <a:endParaRPr lang="zh-CN" altLang="en-US" sz="4400" b="1" strike="noStrike" noProof="1" dirty="0"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149" name="任意多边形 116741"/>
          <p:cNvSpPr/>
          <p:nvPr/>
        </p:nvSpPr>
        <p:spPr>
          <a:xfrm>
            <a:off x="609600" y="2024063"/>
            <a:ext cx="7958138" cy="109537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50" name="直接连接符 116742"/>
          <p:cNvSpPr/>
          <p:nvPr/>
        </p:nvSpPr>
        <p:spPr>
          <a:xfrm flipV="1">
            <a:off x="609600" y="60928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117761"/>
          <p:cNvSpPr>
            <a:spLocks noGrp="1"/>
          </p:cNvSpPr>
          <p:nvPr>
            <p:ph type="title"/>
          </p:nvPr>
        </p:nvSpPr>
        <p:spPr>
          <a:xfrm>
            <a:off x="574675" y="174625"/>
            <a:ext cx="8001000" cy="554038"/>
          </a:xfrm>
        </p:spPr>
        <p:txBody>
          <a:bodyPr anchor="b" anchorCtr="0"/>
          <a:p>
            <a:r>
              <a:rPr lang="zh-CN" altLang="en-US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一、实验目的</a:t>
            </a:r>
            <a:endParaRPr lang="zh-CN" altLang="en-US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70" name="文本占位符 117762"/>
          <p:cNvSpPr>
            <a:spLocks noGrp="1"/>
          </p:cNvSpPr>
          <p:nvPr>
            <p:ph idx="1"/>
          </p:nvPr>
        </p:nvSpPr>
        <p:spPr>
          <a:xfrm>
            <a:off x="697865" y="1773555"/>
            <a:ext cx="7606665" cy="2306955"/>
          </a:xfrm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集成运算放大器应用、设计</a:t>
            </a:r>
            <a:endParaRPr lang="zh-CN" altLang="en-US" dirty="0">
              <a:latin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示波器的直流、交流耦合方式观察不同波形的方法。</a:t>
            </a:r>
            <a:endParaRPr lang="zh-CN" altLang="en-US" dirty="0">
              <a:latin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楷体_GB2312" pitchFamily="49" charset="-122"/>
              </a:rPr>
              <a:t>积分器输入、输出波形的测量和描绘方法；</a:t>
            </a:r>
            <a:endParaRPr lang="zh-CN" altLang="en-US" dirty="0">
              <a:latin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20833"/>
          <p:cNvSpPr>
            <a:spLocks noGrp="1"/>
          </p:cNvSpPr>
          <p:nvPr>
            <p:ph type="title"/>
          </p:nvPr>
        </p:nvSpPr>
        <p:spPr>
          <a:xfrm>
            <a:off x="900113" y="947738"/>
            <a:ext cx="7793037" cy="609600"/>
          </a:xfrm>
        </p:spPr>
        <p:txBody>
          <a:bodyPr anchor="b" anchorCtr="0"/>
          <a:p>
            <a:r>
              <a:rPr lang="en-US" altLang="zh-CN" sz="2500" dirty="0">
                <a:solidFill>
                  <a:srgbClr val="0000FF"/>
                </a:solidFill>
                <a:ea typeface="楷体_GB2312" pitchFamily="49" charset="-122"/>
              </a:rPr>
              <a:t>  2</a:t>
            </a:r>
            <a:r>
              <a:rPr lang="zh-CN" altLang="en-US" sz="2500" dirty="0">
                <a:solidFill>
                  <a:srgbClr val="0000FF"/>
                </a:solidFill>
                <a:ea typeface="楷体_GB2312" pitchFamily="49" charset="-122"/>
              </a:rPr>
              <a:t>、芯片安装</a:t>
            </a:r>
            <a:endParaRPr lang="zh-CN" altLang="en-US" sz="2500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20835" name="矩形 120834"/>
          <p:cNvSpPr/>
          <p:nvPr/>
        </p:nvSpPr>
        <p:spPr>
          <a:xfrm>
            <a:off x="838200" y="44450"/>
            <a:ext cx="7793038" cy="6921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r>
              <a:rPr lang="zh-CN" altLang="en-US" sz="36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二、集成运放</a:t>
            </a:r>
            <a:r>
              <a:rPr lang="en-US" altLang="zh-CN" sz="36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LM324</a:t>
            </a:r>
            <a:r>
              <a:rPr lang="zh-CN" altLang="en-US" sz="36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的使用</a:t>
            </a:r>
            <a:endParaRPr lang="zh-CN" altLang="en-US" sz="3600" b="1" strike="noStrike" noProof="1" dirty="0"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195" name="对象 120835"/>
          <p:cNvGraphicFramePr/>
          <p:nvPr/>
        </p:nvGraphicFramePr>
        <p:xfrm>
          <a:off x="838200" y="1462088"/>
          <a:ext cx="7620000" cy="455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838700" imgH="2294890" progId="Word.Picture.8">
                  <p:embed/>
                </p:oleObj>
              </mc:Choice>
              <mc:Fallback>
                <p:oleObj name="" r:id="rId1" imgW="4838700" imgH="229489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462088"/>
                        <a:ext cx="7620000" cy="455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直接连接符 120836"/>
          <p:cNvSpPr/>
          <p:nvPr/>
        </p:nvSpPr>
        <p:spPr>
          <a:xfrm>
            <a:off x="1219200" y="3416300"/>
            <a:ext cx="990600" cy="381000"/>
          </a:xfrm>
          <a:prstGeom prst="line">
            <a:avLst/>
          </a:prstGeom>
          <a:ln w="76200" cap="flat" cmpd="sng">
            <a:solidFill>
              <a:srgbClr val="FF33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8197" name="矩形 120837"/>
          <p:cNvSpPr/>
          <p:nvPr/>
        </p:nvSpPr>
        <p:spPr>
          <a:xfrm>
            <a:off x="2484438" y="3568700"/>
            <a:ext cx="719137" cy="3651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LM324</a:t>
            </a: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8" name="文本框 120839"/>
          <p:cNvSpPr txBox="1"/>
          <p:nvPr/>
        </p:nvSpPr>
        <p:spPr>
          <a:xfrm>
            <a:off x="914400" y="2590800"/>
            <a:ext cx="4572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rPr>
              <a:t>缺口</a:t>
            </a:r>
            <a:endParaRPr lang="zh-CN" altLang="en-US" sz="2400" b="1" dirty="0">
              <a:solidFill>
                <a:schemeClr val="hlink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18786" name="矩形 118785"/>
          <p:cNvSpPr/>
          <p:nvPr/>
        </p:nvSpPr>
        <p:spPr>
          <a:xfrm>
            <a:off x="2670175" y="2947353"/>
            <a:ext cx="387350" cy="630237"/>
          </a:xfrm>
          <a:prstGeom prst="rect">
            <a:avLst/>
          </a:prstGeom>
          <a:solidFill>
            <a:srgbClr val="0099FF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7" name="矩形 118786"/>
          <p:cNvSpPr/>
          <p:nvPr/>
        </p:nvSpPr>
        <p:spPr>
          <a:xfrm>
            <a:off x="2665413" y="4196715"/>
            <a:ext cx="387350" cy="630238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标题 118787"/>
          <p:cNvSpPr>
            <a:spLocks noGrp="1"/>
          </p:cNvSpPr>
          <p:nvPr>
            <p:ph type="title"/>
          </p:nvPr>
        </p:nvSpPr>
        <p:spPr>
          <a:xfrm>
            <a:off x="335915" y="123825"/>
            <a:ext cx="7793038" cy="539750"/>
          </a:xfrm>
        </p:spPr>
        <p:txBody>
          <a:bodyPr anchor="b" anchorCtr="0"/>
          <a:p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二、集成运放</a:t>
            </a:r>
            <a:r>
              <a:rPr lang="en-US" altLang="zh-CN" sz="3000" dirty="0">
                <a:solidFill>
                  <a:schemeClr val="hlink"/>
                </a:solidFill>
                <a:ea typeface="楷体_GB2312" pitchFamily="49" charset="-122"/>
              </a:rPr>
              <a:t>LM324</a:t>
            </a:r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的使用</a:t>
            </a:r>
            <a:endParaRPr lang="zh-CN" altLang="en-US" sz="300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10244" name="对象 118788"/>
          <p:cNvGraphicFramePr/>
          <p:nvPr/>
        </p:nvGraphicFramePr>
        <p:xfrm>
          <a:off x="457200" y="2904490"/>
          <a:ext cx="47244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77720" imgH="828040" progId="Word.Picture.8">
                  <p:embed/>
                </p:oleObj>
              </mc:Choice>
              <mc:Fallback>
                <p:oleObj name="" r:id="rId1" imgW="2077720" imgH="82804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 l="3044" r="-1378"/>
                      <a:stretch>
                        <a:fillRect/>
                      </a:stretch>
                    </p:blipFill>
                    <p:spPr>
                      <a:xfrm>
                        <a:off x="457200" y="2904490"/>
                        <a:ext cx="4724400" cy="192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0" name="直接连接符 118789"/>
          <p:cNvSpPr/>
          <p:nvPr/>
        </p:nvSpPr>
        <p:spPr>
          <a:xfrm>
            <a:off x="8305800" y="2447290"/>
            <a:ext cx="0" cy="2643188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118791" name="组合 118790"/>
          <p:cNvGrpSpPr/>
          <p:nvPr/>
        </p:nvGrpSpPr>
        <p:grpSpPr>
          <a:xfrm>
            <a:off x="2800350" y="2421890"/>
            <a:ext cx="2711450" cy="482600"/>
            <a:chOff x="1764" y="1616"/>
            <a:chExt cx="1708" cy="304"/>
          </a:xfrm>
        </p:grpSpPr>
        <p:sp>
          <p:nvSpPr>
            <p:cNvPr id="10247" name="直接连接符 118791"/>
            <p:cNvSpPr/>
            <p:nvPr/>
          </p:nvSpPr>
          <p:spPr>
            <a:xfrm flipH="1">
              <a:off x="1764" y="1616"/>
              <a:ext cx="1708" cy="0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48" name="直接连接符 118792"/>
            <p:cNvSpPr/>
            <p:nvPr/>
          </p:nvSpPr>
          <p:spPr>
            <a:xfrm>
              <a:off x="1776" y="1632"/>
              <a:ext cx="0" cy="288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grpSp>
        <p:nvGrpSpPr>
          <p:cNvPr id="118794" name="组合 118793"/>
          <p:cNvGrpSpPr/>
          <p:nvPr/>
        </p:nvGrpSpPr>
        <p:grpSpPr>
          <a:xfrm>
            <a:off x="5537200" y="1683703"/>
            <a:ext cx="2743200" cy="519112"/>
            <a:chOff x="3488" y="1151"/>
            <a:chExt cx="1728" cy="327"/>
          </a:xfrm>
        </p:grpSpPr>
        <p:sp>
          <p:nvSpPr>
            <p:cNvPr id="10250" name="文本框 118794"/>
            <p:cNvSpPr txBox="1"/>
            <p:nvPr/>
          </p:nvSpPr>
          <p:spPr>
            <a:xfrm>
              <a:off x="3488" y="1151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文本框 118795"/>
            <p:cNvSpPr txBox="1"/>
            <p:nvPr/>
          </p:nvSpPr>
          <p:spPr>
            <a:xfrm>
              <a:off x="4640" y="1151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8797" name="组合 118796"/>
          <p:cNvGrpSpPr/>
          <p:nvPr/>
        </p:nvGrpSpPr>
        <p:grpSpPr>
          <a:xfrm>
            <a:off x="5029200" y="1304290"/>
            <a:ext cx="3733800" cy="1447800"/>
            <a:chOff x="3168" y="912"/>
            <a:chExt cx="2352" cy="912"/>
          </a:xfrm>
        </p:grpSpPr>
        <p:sp>
          <p:nvSpPr>
            <p:cNvPr id="10253" name="矩形 118797"/>
            <p:cNvSpPr/>
            <p:nvPr/>
          </p:nvSpPr>
          <p:spPr>
            <a:xfrm>
              <a:off x="3168" y="912"/>
              <a:ext cx="2352" cy="91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4" name="直接连接符 118798"/>
            <p:cNvSpPr/>
            <p:nvPr/>
          </p:nvSpPr>
          <p:spPr>
            <a:xfrm>
              <a:off x="3168" y="1440"/>
              <a:ext cx="23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5" name="椭圆 118799"/>
            <p:cNvSpPr/>
            <p:nvPr/>
          </p:nvSpPr>
          <p:spPr>
            <a:xfrm>
              <a:off x="4560" y="1536"/>
              <a:ext cx="144" cy="144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6" name="椭圆 118800"/>
            <p:cNvSpPr/>
            <p:nvPr/>
          </p:nvSpPr>
          <p:spPr>
            <a:xfrm>
              <a:off x="3696" y="1536"/>
              <a:ext cx="144" cy="144"/>
            </a:xfrm>
            <a:prstGeom prst="ellipse">
              <a:avLst/>
            </a:prstGeom>
            <a:solidFill>
              <a:srgbClr val="09D11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7" name="椭圆 118801"/>
            <p:cNvSpPr/>
            <p:nvPr/>
          </p:nvSpPr>
          <p:spPr>
            <a:xfrm>
              <a:off x="4848" y="1536"/>
              <a:ext cx="144" cy="144"/>
            </a:xfrm>
            <a:prstGeom prst="ellipse">
              <a:avLst/>
            </a:prstGeom>
            <a:solidFill>
              <a:srgbClr val="09D11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8" name="文本框 118802"/>
            <p:cNvSpPr txBox="1"/>
            <p:nvPr/>
          </p:nvSpPr>
          <p:spPr>
            <a:xfrm>
              <a:off x="3456" y="979"/>
              <a:ext cx="1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稳压电源</a:t>
              </a:r>
              <a:endPara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9" name="椭圆 118803"/>
            <p:cNvSpPr/>
            <p:nvPr/>
          </p:nvSpPr>
          <p:spPr>
            <a:xfrm>
              <a:off x="3408" y="1536"/>
              <a:ext cx="144" cy="144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0" name="椭圆 118804"/>
            <p:cNvSpPr/>
            <p:nvPr/>
          </p:nvSpPr>
          <p:spPr>
            <a:xfrm>
              <a:off x="3984" y="1536"/>
              <a:ext cx="144" cy="144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1" name="椭圆 118805"/>
            <p:cNvSpPr/>
            <p:nvPr/>
          </p:nvSpPr>
          <p:spPr>
            <a:xfrm>
              <a:off x="5160" y="1536"/>
              <a:ext cx="144" cy="144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8807" name="文本框 118806"/>
          <p:cNvSpPr txBox="1"/>
          <p:nvPr/>
        </p:nvSpPr>
        <p:spPr>
          <a:xfrm>
            <a:off x="3441700" y="1928178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-</a:t>
            </a: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12V</a:t>
            </a:r>
            <a:endParaRPr lang="en-US" altLang="zh-CN" sz="2800" b="1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08" name="文本框 118807"/>
          <p:cNvSpPr txBox="1"/>
          <p:nvPr/>
        </p:nvSpPr>
        <p:spPr>
          <a:xfrm>
            <a:off x="1480503" y="4827270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+12V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809" name="组合 118808"/>
          <p:cNvGrpSpPr/>
          <p:nvPr/>
        </p:nvGrpSpPr>
        <p:grpSpPr>
          <a:xfrm>
            <a:off x="2819400" y="4795203"/>
            <a:ext cx="5486400" cy="304800"/>
            <a:chOff x="1776" y="3111"/>
            <a:chExt cx="3456" cy="192"/>
          </a:xfrm>
        </p:grpSpPr>
        <p:sp>
          <p:nvSpPr>
            <p:cNvPr id="10265" name="直接连接符 118809"/>
            <p:cNvSpPr/>
            <p:nvPr/>
          </p:nvSpPr>
          <p:spPr>
            <a:xfrm flipH="1">
              <a:off x="1776" y="3297"/>
              <a:ext cx="3456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6" name="直接连接符 118810"/>
            <p:cNvSpPr/>
            <p:nvPr/>
          </p:nvSpPr>
          <p:spPr>
            <a:xfrm flipV="1">
              <a:off x="1776" y="3111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18812" name="文本框 118811" descr="信纸"/>
          <p:cNvSpPr txBox="1"/>
          <p:nvPr/>
        </p:nvSpPr>
        <p:spPr>
          <a:xfrm>
            <a:off x="-109855" y="5650865"/>
            <a:ext cx="5730240" cy="11684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  <a:buClrTx/>
            </a:pPr>
            <a:r>
              <a:rPr lang="zh-CN" altLang="en-US" sz="28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</a:rPr>
              <a:t>注意：正、负电源的千万别接反！</a:t>
            </a:r>
            <a:endParaRPr lang="zh-CN" altLang="en-US" sz="2800" b="1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Verdana" panose="020B0604030504040204" pitchFamily="34" charset="0"/>
              <a:ea typeface="楷体_GB2312" pitchFamily="49" charset="-122"/>
              <a:cs typeface="+mn-cs"/>
            </a:endParaRPr>
          </a:p>
          <a:p>
            <a:pPr algn="ctr">
              <a:spcBef>
                <a:spcPct val="50000"/>
              </a:spcBef>
              <a:buClrTx/>
            </a:pPr>
            <a:r>
              <a:rPr lang="zh-CN" altLang="en-US" sz="28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lang="en-US" altLang="zh-CN" sz="28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lang="zh-CN" altLang="en-US" sz="28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</a:rPr>
              <a:t>通电瞬间人脸远离芯片</a:t>
            </a:r>
            <a:endParaRPr lang="zh-CN" altLang="en-US" sz="2800" b="1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10268" name="文本框 118812"/>
          <p:cNvSpPr txBox="1"/>
          <p:nvPr/>
        </p:nvSpPr>
        <p:spPr>
          <a:xfrm>
            <a:off x="395288" y="1028065"/>
            <a:ext cx="47180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外引线排列图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7" name="文本框 118816"/>
          <p:cNvSpPr txBox="1"/>
          <p:nvPr/>
        </p:nvSpPr>
        <p:spPr>
          <a:xfrm>
            <a:off x="152400" y="1553528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、双电源的连接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9" name="矩形 118818"/>
          <p:cNvSpPr/>
          <p:nvPr/>
        </p:nvSpPr>
        <p:spPr>
          <a:xfrm>
            <a:off x="773113" y="4118928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0" name="矩形 118819"/>
          <p:cNvSpPr/>
          <p:nvPr/>
        </p:nvSpPr>
        <p:spPr>
          <a:xfrm>
            <a:off x="3194050" y="4131628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1" name="矩形 118820"/>
          <p:cNvSpPr/>
          <p:nvPr/>
        </p:nvSpPr>
        <p:spPr>
          <a:xfrm>
            <a:off x="3194050" y="2829878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2" name="矩形 118821"/>
          <p:cNvSpPr/>
          <p:nvPr/>
        </p:nvSpPr>
        <p:spPr>
          <a:xfrm>
            <a:off x="708025" y="2817178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3" name="文本框 118822"/>
          <p:cNvSpPr txBox="1"/>
          <p:nvPr/>
        </p:nvSpPr>
        <p:spPr>
          <a:xfrm>
            <a:off x="3141663" y="3642678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个运放</a:t>
            </a:r>
            <a:endParaRPr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75" name="直接连接符 118826"/>
          <p:cNvSpPr/>
          <p:nvPr/>
        </p:nvSpPr>
        <p:spPr>
          <a:xfrm>
            <a:off x="5275263" y="5352415"/>
            <a:ext cx="0" cy="2889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组合 2"/>
          <p:cNvGrpSpPr/>
          <p:nvPr/>
        </p:nvGrpSpPr>
        <p:grpSpPr>
          <a:xfrm>
            <a:off x="5031423" y="2421890"/>
            <a:ext cx="2364105" cy="3219144"/>
            <a:chOff x="7924" y="4040"/>
            <a:chExt cx="3723" cy="5070"/>
          </a:xfrm>
        </p:grpSpPr>
        <p:sp>
          <p:nvSpPr>
            <p:cNvPr id="10277" name="直接连接符 118827"/>
            <p:cNvSpPr/>
            <p:nvPr/>
          </p:nvSpPr>
          <p:spPr>
            <a:xfrm>
              <a:off x="7967" y="9110"/>
              <a:ext cx="68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78" name="组合 1"/>
            <p:cNvGrpSpPr/>
            <p:nvPr/>
          </p:nvGrpSpPr>
          <p:grpSpPr>
            <a:xfrm>
              <a:off x="7924" y="4040"/>
              <a:ext cx="3723" cy="4739"/>
              <a:chOff x="7924" y="4040"/>
              <a:chExt cx="3723" cy="4739"/>
            </a:xfrm>
          </p:grpSpPr>
          <p:sp>
            <p:nvSpPr>
              <p:cNvPr id="10279" name="直接连接符 118823"/>
              <p:cNvSpPr/>
              <p:nvPr/>
            </p:nvSpPr>
            <p:spPr>
              <a:xfrm>
                <a:off x="10147" y="4040"/>
                <a:ext cx="0" cy="468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0" name="直接连接符 118824"/>
              <p:cNvSpPr/>
              <p:nvPr/>
            </p:nvSpPr>
            <p:spPr>
              <a:xfrm>
                <a:off x="11580" y="4040"/>
                <a:ext cx="0" cy="468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1" name="直接连接符 118825"/>
              <p:cNvSpPr/>
              <p:nvPr/>
            </p:nvSpPr>
            <p:spPr>
              <a:xfrm>
                <a:off x="8287" y="8655"/>
                <a:ext cx="3360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2" name="文本框 118828"/>
              <p:cNvSpPr txBox="1"/>
              <p:nvPr/>
            </p:nvSpPr>
            <p:spPr>
              <a:xfrm>
                <a:off x="7924" y="7962"/>
                <a:ext cx="1200" cy="8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ahoma" panose="020B0604030504040204" pitchFamily="34" charset="0"/>
                    <a:ea typeface="宋体" panose="02010600030101010101" pitchFamily="2" charset="-122"/>
                  </a:rPr>
                  <a:t>0V</a:t>
                </a:r>
                <a:endParaRPr lang="en-US" altLang="zh-CN" sz="28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4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7" grpId="0"/>
      <p:bldP spid="118808" grpId="0"/>
      <p:bldP spid="118812" grpId="0" bldLvl="0" animBg="1"/>
      <p:bldP spid="118817" grpId="0"/>
      <p:bldP spid="1188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18786" name="矩形 118785"/>
          <p:cNvSpPr/>
          <p:nvPr/>
        </p:nvSpPr>
        <p:spPr>
          <a:xfrm>
            <a:off x="2454910" y="3593148"/>
            <a:ext cx="387350" cy="630237"/>
          </a:xfrm>
          <a:prstGeom prst="rect">
            <a:avLst/>
          </a:prstGeom>
          <a:solidFill>
            <a:srgbClr val="0099FF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7" name="矩形 118786"/>
          <p:cNvSpPr/>
          <p:nvPr/>
        </p:nvSpPr>
        <p:spPr>
          <a:xfrm>
            <a:off x="2450148" y="4842510"/>
            <a:ext cx="387350" cy="630238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标题 118787"/>
          <p:cNvSpPr>
            <a:spLocks noGrp="1"/>
          </p:cNvSpPr>
          <p:nvPr>
            <p:ph type="title"/>
          </p:nvPr>
        </p:nvSpPr>
        <p:spPr>
          <a:xfrm>
            <a:off x="120650" y="52070"/>
            <a:ext cx="7793038" cy="539750"/>
          </a:xfrm>
        </p:spPr>
        <p:txBody>
          <a:bodyPr anchor="b" anchorCtr="0"/>
          <a:p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二、集成运放</a:t>
            </a:r>
            <a:r>
              <a:rPr lang="en-US" altLang="zh-CN" sz="3000" dirty="0">
                <a:solidFill>
                  <a:schemeClr val="hlink"/>
                </a:solidFill>
                <a:ea typeface="楷体_GB2312" pitchFamily="49" charset="-122"/>
              </a:rPr>
              <a:t>LM324</a:t>
            </a:r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的使用</a:t>
            </a:r>
            <a:endParaRPr lang="zh-CN" altLang="en-US" sz="300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10244" name="对象 118788"/>
          <p:cNvGraphicFramePr/>
          <p:nvPr/>
        </p:nvGraphicFramePr>
        <p:xfrm>
          <a:off x="241935" y="3550285"/>
          <a:ext cx="47244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77720" imgH="828040" progId="Word.Picture.8">
                  <p:embed/>
                </p:oleObj>
              </mc:Choice>
              <mc:Fallback>
                <p:oleObj name="" r:id="rId1" imgW="2077720" imgH="82804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 l="3044" r="-1378"/>
                      <a:stretch>
                        <a:fillRect/>
                      </a:stretch>
                    </p:blipFill>
                    <p:spPr>
                      <a:xfrm>
                        <a:off x="241935" y="3550285"/>
                        <a:ext cx="4724400" cy="192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794" name="组合 118793"/>
          <p:cNvGrpSpPr/>
          <p:nvPr/>
        </p:nvGrpSpPr>
        <p:grpSpPr>
          <a:xfrm>
            <a:off x="5321935" y="2329498"/>
            <a:ext cx="2743200" cy="519112"/>
            <a:chOff x="3488" y="1151"/>
            <a:chExt cx="1728" cy="327"/>
          </a:xfrm>
        </p:grpSpPr>
        <p:sp>
          <p:nvSpPr>
            <p:cNvPr id="10250" name="文本框 118794"/>
            <p:cNvSpPr txBox="1"/>
            <p:nvPr/>
          </p:nvSpPr>
          <p:spPr>
            <a:xfrm>
              <a:off x="3488" y="1151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文本框 118795"/>
            <p:cNvSpPr txBox="1"/>
            <p:nvPr/>
          </p:nvSpPr>
          <p:spPr>
            <a:xfrm>
              <a:off x="4640" y="1151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12V</a:t>
              </a:r>
              <a:endPara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8807" name="文本框 118806"/>
          <p:cNvSpPr txBox="1"/>
          <p:nvPr/>
        </p:nvSpPr>
        <p:spPr>
          <a:xfrm>
            <a:off x="3226435" y="2573973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-</a:t>
            </a: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12V</a:t>
            </a:r>
            <a:endParaRPr lang="en-US" altLang="zh-CN" sz="2800" b="1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08" name="文本框 118807"/>
          <p:cNvSpPr txBox="1"/>
          <p:nvPr/>
        </p:nvSpPr>
        <p:spPr>
          <a:xfrm>
            <a:off x="1265238" y="5473065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+12V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809" name="组合 118808"/>
          <p:cNvGrpSpPr/>
          <p:nvPr/>
        </p:nvGrpSpPr>
        <p:grpSpPr>
          <a:xfrm>
            <a:off x="2604135" y="5440998"/>
            <a:ext cx="5486400" cy="304800"/>
            <a:chOff x="1776" y="3111"/>
            <a:chExt cx="3456" cy="192"/>
          </a:xfrm>
        </p:grpSpPr>
        <p:sp>
          <p:nvSpPr>
            <p:cNvPr id="10265" name="直接连接符 118809"/>
            <p:cNvSpPr/>
            <p:nvPr/>
          </p:nvSpPr>
          <p:spPr>
            <a:xfrm flipH="1">
              <a:off x="1776" y="3297"/>
              <a:ext cx="3456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6" name="直接连接符 118810"/>
            <p:cNvSpPr/>
            <p:nvPr/>
          </p:nvSpPr>
          <p:spPr>
            <a:xfrm flipV="1">
              <a:off x="1776" y="3111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0268" name="文本框 118812"/>
          <p:cNvSpPr txBox="1"/>
          <p:nvPr/>
        </p:nvSpPr>
        <p:spPr>
          <a:xfrm>
            <a:off x="180023" y="1673860"/>
            <a:ext cx="47180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外引线排列图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7" name="文本框 118816"/>
          <p:cNvSpPr txBox="1"/>
          <p:nvPr/>
        </p:nvSpPr>
        <p:spPr>
          <a:xfrm>
            <a:off x="-62865" y="2199323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、双电源的连接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9" name="矩形 118818"/>
          <p:cNvSpPr/>
          <p:nvPr/>
        </p:nvSpPr>
        <p:spPr>
          <a:xfrm>
            <a:off x="557848" y="476472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0" name="矩形 118819"/>
          <p:cNvSpPr/>
          <p:nvPr/>
        </p:nvSpPr>
        <p:spPr>
          <a:xfrm>
            <a:off x="2978785" y="477742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1" name="矩形 118820"/>
          <p:cNvSpPr/>
          <p:nvPr/>
        </p:nvSpPr>
        <p:spPr>
          <a:xfrm>
            <a:off x="2978785" y="347567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2" name="矩形 118821"/>
          <p:cNvSpPr/>
          <p:nvPr/>
        </p:nvSpPr>
        <p:spPr>
          <a:xfrm>
            <a:off x="492760" y="346297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3" name="文本框 118822"/>
          <p:cNvSpPr txBox="1"/>
          <p:nvPr/>
        </p:nvSpPr>
        <p:spPr>
          <a:xfrm>
            <a:off x="2926398" y="428847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个运放</a:t>
            </a:r>
            <a:endParaRPr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75" name="直接连接符 118826"/>
          <p:cNvSpPr/>
          <p:nvPr/>
        </p:nvSpPr>
        <p:spPr>
          <a:xfrm>
            <a:off x="5059998" y="5998210"/>
            <a:ext cx="0" cy="2889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9943" name="Picture 14" descr="新电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780" y="956945"/>
            <a:ext cx="4508500" cy="251904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8791" name="组合 118790"/>
          <p:cNvGrpSpPr/>
          <p:nvPr/>
        </p:nvGrpSpPr>
        <p:grpSpPr>
          <a:xfrm>
            <a:off x="2585085" y="3228340"/>
            <a:ext cx="3970655" cy="321945"/>
            <a:chOff x="1764" y="1616"/>
            <a:chExt cx="1708" cy="304"/>
          </a:xfrm>
        </p:grpSpPr>
        <p:sp>
          <p:nvSpPr>
            <p:cNvPr id="10247" name="直接连接符 118791"/>
            <p:cNvSpPr/>
            <p:nvPr/>
          </p:nvSpPr>
          <p:spPr>
            <a:xfrm flipH="1">
              <a:off x="1764" y="1616"/>
              <a:ext cx="1708" cy="0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48" name="直接连接符 118792"/>
            <p:cNvSpPr/>
            <p:nvPr/>
          </p:nvSpPr>
          <p:spPr>
            <a:xfrm>
              <a:off x="1776" y="1632"/>
              <a:ext cx="0" cy="288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4816475" y="3228340"/>
            <a:ext cx="2872740" cy="3058795"/>
            <a:chOff x="7924" y="4293"/>
            <a:chExt cx="3723" cy="4817"/>
          </a:xfrm>
        </p:grpSpPr>
        <p:sp>
          <p:nvSpPr>
            <p:cNvPr id="10277" name="直接连接符 118827"/>
            <p:cNvSpPr/>
            <p:nvPr/>
          </p:nvSpPr>
          <p:spPr>
            <a:xfrm>
              <a:off x="7967" y="9110"/>
              <a:ext cx="68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78" name="组合 1"/>
            <p:cNvGrpSpPr/>
            <p:nvPr/>
          </p:nvGrpSpPr>
          <p:grpSpPr>
            <a:xfrm>
              <a:off x="7924" y="4293"/>
              <a:ext cx="3723" cy="4491"/>
              <a:chOff x="7924" y="4293"/>
              <a:chExt cx="3723" cy="4491"/>
            </a:xfrm>
          </p:grpSpPr>
          <p:sp>
            <p:nvSpPr>
              <p:cNvPr id="10280" name="直接连接符 118824"/>
              <p:cNvSpPr/>
              <p:nvPr/>
            </p:nvSpPr>
            <p:spPr>
              <a:xfrm>
                <a:off x="11580" y="4293"/>
                <a:ext cx="67" cy="4427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1" name="直接连接符 118825"/>
              <p:cNvSpPr/>
              <p:nvPr/>
            </p:nvSpPr>
            <p:spPr>
              <a:xfrm>
                <a:off x="8287" y="8655"/>
                <a:ext cx="3360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2" name="文本框 118828"/>
              <p:cNvSpPr txBox="1"/>
              <p:nvPr/>
            </p:nvSpPr>
            <p:spPr>
              <a:xfrm>
                <a:off x="7924" y="7962"/>
                <a:ext cx="1200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ahoma" panose="020B0604030504040204" pitchFamily="34" charset="0"/>
                    <a:ea typeface="宋体" panose="02010600030101010101" pitchFamily="2" charset="-122"/>
                  </a:rPr>
                  <a:t>0V</a:t>
                </a:r>
                <a:endParaRPr lang="en-US" altLang="zh-CN" sz="28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8790" name="直接连接符 118789"/>
          <p:cNvSpPr/>
          <p:nvPr/>
        </p:nvSpPr>
        <p:spPr>
          <a:xfrm>
            <a:off x="8065135" y="3228340"/>
            <a:ext cx="26035" cy="250825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6" name="组合 5"/>
          <p:cNvGrpSpPr/>
          <p:nvPr/>
        </p:nvGrpSpPr>
        <p:grpSpPr>
          <a:xfrm flipV="1">
            <a:off x="6934835" y="3228340"/>
            <a:ext cx="702310" cy="725170"/>
            <a:chOff x="10921" y="4485"/>
            <a:chExt cx="1106" cy="599"/>
          </a:xfrm>
        </p:grpSpPr>
        <p:sp>
          <p:nvSpPr>
            <p:cNvPr id="4" name="直接连接符 118827"/>
            <p:cNvSpPr/>
            <p:nvPr/>
          </p:nvSpPr>
          <p:spPr>
            <a:xfrm>
              <a:off x="11409" y="4485"/>
              <a:ext cx="619" cy="599"/>
            </a:xfrm>
            <a:prstGeom prst="line">
              <a:avLst/>
            </a:prstGeom>
            <a:ln w="1016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" name="直接连接符 118827"/>
            <p:cNvSpPr/>
            <p:nvPr/>
          </p:nvSpPr>
          <p:spPr>
            <a:xfrm flipV="1">
              <a:off x="10921" y="4486"/>
              <a:ext cx="602" cy="599"/>
            </a:xfrm>
            <a:prstGeom prst="line">
              <a:avLst/>
            </a:prstGeom>
            <a:ln w="1016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9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7" grpId="0"/>
      <p:bldP spid="118808" grpId="0"/>
      <p:bldP spid="118817" grpId="0"/>
      <p:bldP spid="1188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7" name="对象 6"/>
          <p:cNvGraphicFramePr/>
          <p:nvPr/>
        </p:nvGraphicFramePr>
        <p:xfrm>
          <a:off x="4685030" y="1591945"/>
          <a:ext cx="4451350" cy="1572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4448175" imgH="1571625" progId="Paint.Picture">
                  <p:embed/>
                </p:oleObj>
              </mc:Choice>
              <mc:Fallback>
                <p:oleObj name="" r:id="rId1" imgW="4448175" imgH="157162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5030" y="1591945"/>
                        <a:ext cx="4451350" cy="1572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6" name="矩形 118785"/>
          <p:cNvSpPr/>
          <p:nvPr/>
        </p:nvSpPr>
        <p:spPr>
          <a:xfrm>
            <a:off x="2167890" y="3162618"/>
            <a:ext cx="387350" cy="630237"/>
          </a:xfrm>
          <a:prstGeom prst="rect">
            <a:avLst/>
          </a:prstGeom>
          <a:solidFill>
            <a:srgbClr val="0099FF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7" name="矩形 118786"/>
          <p:cNvSpPr/>
          <p:nvPr/>
        </p:nvSpPr>
        <p:spPr>
          <a:xfrm>
            <a:off x="2163128" y="4411980"/>
            <a:ext cx="387350" cy="630238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标题 118787"/>
          <p:cNvSpPr>
            <a:spLocks noGrp="1"/>
          </p:cNvSpPr>
          <p:nvPr>
            <p:ph type="title"/>
          </p:nvPr>
        </p:nvSpPr>
        <p:spPr>
          <a:xfrm>
            <a:off x="120650" y="52070"/>
            <a:ext cx="7793038" cy="539750"/>
          </a:xfrm>
        </p:spPr>
        <p:txBody>
          <a:bodyPr anchor="b" anchorCtr="0"/>
          <a:p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二、集成运放</a:t>
            </a:r>
            <a:r>
              <a:rPr lang="en-US" altLang="zh-CN" sz="3000" dirty="0">
                <a:solidFill>
                  <a:schemeClr val="hlink"/>
                </a:solidFill>
                <a:ea typeface="楷体_GB2312" pitchFamily="49" charset="-122"/>
              </a:rPr>
              <a:t>LM324</a:t>
            </a:r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的使用</a:t>
            </a:r>
            <a:endParaRPr lang="zh-CN" altLang="en-US" sz="300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10244" name="对象 118788"/>
          <p:cNvGraphicFramePr/>
          <p:nvPr/>
        </p:nvGraphicFramePr>
        <p:xfrm>
          <a:off x="-45085" y="3119755"/>
          <a:ext cx="47244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077720" imgH="828040" progId="Word.Picture.8">
                  <p:embed/>
                </p:oleObj>
              </mc:Choice>
              <mc:Fallback>
                <p:oleObj name="" r:id="rId3" imgW="2077720" imgH="82804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 l="3044" r="-1378"/>
                      <a:stretch>
                        <a:fillRect/>
                      </a:stretch>
                    </p:blipFill>
                    <p:spPr>
                      <a:xfrm>
                        <a:off x="-45085" y="3119755"/>
                        <a:ext cx="4724400" cy="192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文本框 118794"/>
          <p:cNvSpPr txBox="1"/>
          <p:nvPr/>
        </p:nvSpPr>
        <p:spPr>
          <a:xfrm>
            <a:off x="6111240" y="1755775"/>
            <a:ext cx="914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12V</a:t>
            </a:r>
            <a:endParaRPr lang="en-US" altLang="zh-CN" sz="3200" b="1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51" name="文本框 118795"/>
          <p:cNvSpPr txBox="1"/>
          <p:nvPr/>
        </p:nvSpPr>
        <p:spPr>
          <a:xfrm>
            <a:off x="7940040" y="1755775"/>
            <a:ext cx="914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12V</a:t>
            </a:r>
            <a:endParaRPr lang="en-US" altLang="zh-CN" sz="3200" b="1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807" name="文本框 118806"/>
          <p:cNvSpPr txBox="1"/>
          <p:nvPr/>
        </p:nvSpPr>
        <p:spPr>
          <a:xfrm>
            <a:off x="2939415" y="2143443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-</a:t>
            </a: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12V</a:t>
            </a:r>
            <a:endParaRPr lang="en-US" altLang="zh-CN" sz="2800" b="1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08" name="文本框 118807"/>
          <p:cNvSpPr txBox="1"/>
          <p:nvPr/>
        </p:nvSpPr>
        <p:spPr>
          <a:xfrm>
            <a:off x="978218" y="5042535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+12V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809" name="组合 118808"/>
          <p:cNvGrpSpPr/>
          <p:nvPr/>
        </p:nvGrpSpPr>
        <p:grpSpPr>
          <a:xfrm>
            <a:off x="2317115" y="5010468"/>
            <a:ext cx="5486400" cy="304800"/>
            <a:chOff x="1776" y="3111"/>
            <a:chExt cx="3456" cy="192"/>
          </a:xfrm>
        </p:grpSpPr>
        <p:sp>
          <p:nvSpPr>
            <p:cNvPr id="10265" name="直接连接符 118809"/>
            <p:cNvSpPr/>
            <p:nvPr/>
          </p:nvSpPr>
          <p:spPr>
            <a:xfrm flipH="1">
              <a:off x="1776" y="3297"/>
              <a:ext cx="3456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6" name="直接连接符 118810"/>
            <p:cNvSpPr/>
            <p:nvPr/>
          </p:nvSpPr>
          <p:spPr>
            <a:xfrm flipV="1">
              <a:off x="1776" y="3111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0268" name="文本框 118812"/>
          <p:cNvSpPr txBox="1"/>
          <p:nvPr/>
        </p:nvSpPr>
        <p:spPr>
          <a:xfrm>
            <a:off x="205423" y="977265"/>
            <a:ext cx="47180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外引线排列图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7" name="文本框 118816"/>
          <p:cNvSpPr txBox="1"/>
          <p:nvPr/>
        </p:nvSpPr>
        <p:spPr>
          <a:xfrm>
            <a:off x="-134620" y="1410018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、双电源的连接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9" name="矩形 118818"/>
          <p:cNvSpPr/>
          <p:nvPr/>
        </p:nvSpPr>
        <p:spPr>
          <a:xfrm>
            <a:off x="270828" y="433419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0" name="矩形 118819"/>
          <p:cNvSpPr/>
          <p:nvPr/>
        </p:nvSpPr>
        <p:spPr>
          <a:xfrm>
            <a:off x="2691765" y="434689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1" name="矩形 118820"/>
          <p:cNvSpPr/>
          <p:nvPr/>
        </p:nvSpPr>
        <p:spPr>
          <a:xfrm>
            <a:off x="2691765" y="304514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2" name="矩形 118821"/>
          <p:cNvSpPr/>
          <p:nvPr/>
        </p:nvSpPr>
        <p:spPr>
          <a:xfrm>
            <a:off x="205740" y="303244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3" name="文本框 118822"/>
          <p:cNvSpPr txBox="1"/>
          <p:nvPr/>
        </p:nvSpPr>
        <p:spPr>
          <a:xfrm>
            <a:off x="2639378" y="385794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个运放</a:t>
            </a:r>
            <a:endParaRPr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75" name="直接连接符 118826"/>
          <p:cNvSpPr/>
          <p:nvPr/>
        </p:nvSpPr>
        <p:spPr>
          <a:xfrm>
            <a:off x="4772978" y="5567680"/>
            <a:ext cx="0" cy="2889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18791" name="组合 118790"/>
          <p:cNvGrpSpPr/>
          <p:nvPr/>
        </p:nvGrpSpPr>
        <p:grpSpPr>
          <a:xfrm>
            <a:off x="2298065" y="2797810"/>
            <a:ext cx="3970655" cy="321945"/>
            <a:chOff x="1764" y="1616"/>
            <a:chExt cx="1708" cy="304"/>
          </a:xfrm>
        </p:grpSpPr>
        <p:sp>
          <p:nvSpPr>
            <p:cNvPr id="10247" name="直接连接符 118791"/>
            <p:cNvSpPr/>
            <p:nvPr/>
          </p:nvSpPr>
          <p:spPr>
            <a:xfrm flipH="1">
              <a:off x="1764" y="1616"/>
              <a:ext cx="1708" cy="0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48" name="直接连接符 118792"/>
            <p:cNvSpPr/>
            <p:nvPr/>
          </p:nvSpPr>
          <p:spPr>
            <a:xfrm>
              <a:off x="1776" y="1632"/>
              <a:ext cx="0" cy="288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4469765" y="2797810"/>
            <a:ext cx="3096260" cy="3058795"/>
            <a:chOff x="7924" y="4293"/>
            <a:chExt cx="3723" cy="4817"/>
          </a:xfrm>
        </p:grpSpPr>
        <p:sp>
          <p:nvSpPr>
            <p:cNvPr id="10277" name="直接连接符 118827"/>
            <p:cNvSpPr/>
            <p:nvPr/>
          </p:nvSpPr>
          <p:spPr>
            <a:xfrm>
              <a:off x="7967" y="9110"/>
              <a:ext cx="68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78" name="组合 1"/>
            <p:cNvGrpSpPr/>
            <p:nvPr/>
          </p:nvGrpSpPr>
          <p:grpSpPr>
            <a:xfrm>
              <a:off x="7924" y="4293"/>
              <a:ext cx="3723" cy="4491"/>
              <a:chOff x="7924" y="4293"/>
              <a:chExt cx="3723" cy="4491"/>
            </a:xfrm>
          </p:grpSpPr>
          <p:sp>
            <p:nvSpPr>
              <p:cNvPr id="10280" name="直接连接符 118824"/>
              <p:cNvSpPr/>
              <p:nvPr/>
            </p:nvSpPr>
            <p:spPr>
              <a:xfrm>
                <a:off x="11580" y="4293"/>
                <a:ext cx="67" cy="4427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1" name="直接连接符 118825"/>
              <p:cNvSpPr/>
              <p:nvPr/>
            </p:nvSpPr>
            <p:spPr>
              <a:xfrm>
                <a:off x="8287" y="8655"/>
                <a:ext cx="3360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2" name="文本框 118828"/>
              <p:cNvSpPr txBox="1"/>
              <p:nvPr/>
            </p:nvSpPr>
            <p:spPr>
              <a:xfrm>
                <a:off x="7924" y="7962"/>
                <a:ext cx="1200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ahoma" panose="020B0604030504040204" pitchFamily="34" charset="0"/>
                    <a:ea typeface="宋体" panose="02010600030101010101" pitchFamily="2" charset="-122"/>
                  </a:rPr>
                  <a:t>0V</a:t>
                </a:r>
                <a:endParaRPr lang="en-US" altLang="zh-CN" sz="28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8790" name="直接连接符 118789"/>
          <p:cNvSpPr/>
          <p:nvPr/>
        </p:nvSpPr>
        <p:spPr>
          <a:xfrm>
            <a:off x="7778115" y="2797810"/>
            <a:ext cx="26035" cy="250825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6" name="组合 5"/>
          <p:cNvGrpSpPr/>
          <p:nvPr/>
        </p:nvGrpSpPr>
        <p:grpSpPr>
          <a:xfrm flipV="1">
            <a:off x="6719570" y="2797810"/>
            <a:ext cx="702310" cy="853440"/>
            <a:chOff x="10921" y="4485"/>
            <a:chExt cx="1106" cy="599"/>
          </a:xfrm>
        </p:grpSpPr>
        <p:sp>
          <p:nvSpPr>
            <p:cNvPr id="4" name="直接连接符 118827"/>
            <p:cNvSpPr/>
            <p:nvPr/>
          </p:nvSpPr>
          <p:spPr>
            <a:xfrm>
              <a:off x="11409" y="4485"/>
              <a:ext cx="619" cy="599"/>
            </a:xfrm>
            <a:prstGeom prst="line">
              <a:avLst/>
            </a:prstGeom>
            <a:ln w="1016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" name="直接连接符 118827"/>
            <p:cNvSpPr/>
            <p:nvPr/>
          </p:nvSpPr>
          <p:spPr>
            <a:xfrm flipV="1">
              <a:off x="10921" y="4486"/>
              <a:ext cx="602" cy="599"/>
            </a:xfrm>
            <a:prstGeom prst="line">
              <a:avLst/>
            </a:prstGeom>
            <a:ln w="1016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5400675" y="819150"/>
            <a:ext cx="25101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solidFill>
                  <a:schemeClr val="accent2"/>
                </a:solidFill>
              </a:rPr>
              <a:t>1</a:t>
            </a:r>
            <a:r>
              <a:rPr lang="zh-CN" altLang="en-US" sz="2400">
                <a:solidFill>
                  <a:schemeClr val="accent2"/>
                </a:solidFill>
              </a:rPr>
              <a:t>：通过按钮串联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22265" y="1223645"/>
            <a:ext cx="28524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olidFill>
                  <a:schemeClr val="accent2"/>
                </a:solidFill>
                <a:sym typeface="+mn-ea"/>
              </a:rPr>
              <a:t>2</a:t>
            </a:r>
            <a:r>
              <a:rPr lang="zh-CN" altLang="en-US" sz="2400">
                <a:solidFill>
                  <a:schemeClr val="accent2"/>
                </a:solidFill>
                <a:sym typeface="+mn-ea"/>
              </a:rPr>
              <a:t>：通过导线连接</a:t>
            </a:r>
            <a:endParaRPr lang="zh-CN" altLang="en-US" sz="240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55515" y="3942080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chemeClr val="accent2"/>
                </a:solidFill>
              </a:rPr>
              <a:t>等同于每个运放接了电源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93720" y="5856605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与原理图中的地连接在一起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5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7" grpId="0"/>
      <p:bldP spid="118808" grpId="0"/>
      <p:bldP spid="118817" grpId="0"/>
      <p:bldP spid="118823" grpId="0"/>
      <p:bldP spid="9" grpId="0"/>
      <p:bldP spid="9" grpId="1"/>
      <p:bldP spid="2" grpId="0"/>
      <p:bldP spid="2" grpId="1"/>
      <p:bldP spid="10" grpId="0"/>
      <p:bldP spid="10" grpId="1"/>
      <p:bldP spid="10251" grpId="0"/>
      <p:bldP spid="1025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524" y="907523"/>
            <a:ext cx="5426869" cy="200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6" name="矩形 118785"/>
          <p:cNvSpPr/>
          <p:nvPr/>
        </p:nvSpPr>
        <p:spPr>
          <a:xfrm>
            <a:off x="2167890" y="3162618"/>
            <a:ext cx="387350" cy="630237"/>
          </a:xfrm>
          <a:prstGeom prst="rect">
            <a:avLst/>
          </a:prstGeom>
          <a:solidFill>
            <a:srgbClr val="0099FF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7" name="矩形 118786"/>
          <p:cNvSpPr/>
          <p:nvPr/>
        </p:nvSpPr>
        <p:spPr>
          <a:xfrm>
            <a:off x="2163128" y="4411980"/>
            <a:ext cx="387350" cy="630238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标题 118787"/>
          <p:cNvSpPr>
            <a:spLocks noGrp="1"/>
          </p:cNvSpPr>
          <p:nvPr>
            <p:ph type="title"/>
          </p:nvPr>
        </p:nvSpPr>
        <p:spPr>
          <a:xfrm>
            <a:off x="120650" y="52070"/>
            <a:ext cx="7793038" cy="539750"/>
          </a:xfrm>
        </p:spPr>
        <p:txBody>
          <a:bodyPr anchor="b" anchorCtr="0"/>
          <a:p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二、集成运放</a:t>
            </a:r>
            <a:r>
              <a:rPr lang="en-US" altLang="zh-CN" sz="3000" dirty="0">
                <a:solidFill>
                  <a:schemeClr val="hlink"/>
                </a:solidFill>
                <a:ea typeface="楷体_GB2312" pitchFamily="49" charset="-122"/>
              </a:rPr>
              <a:t>LM324</a:t>
            </a:r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的使用</a:t>
            </a:r>
            <a:endParaRPr lang="zh-CN" altLang="en-US" sz="300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10244" name="对象 118788"/>
          <p:cNvGraphicFramePr/>
          <p:nvPr/>
        </p:nvGraphicFramePr>
        <p:xfrm>
          <a:off x="-45085" y="3119755"/>
          <a:ext cx="47244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2077720" imgH="828040" progId="Word.Picture.8">
                  <p:embed/>
                </p:oleObj>
              </mc:Choice>
              <mc:Fallback>
                <p:oleObj name="" r:id="rId2" imgW="2077720" imgH="82804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rcRect l="3044" r="-1378"/>
                      <a:stretch>
                        <a:fillRect/>
                      </a:stretch>
                    </p:blipFill>
                    <p:spPr>
                      <a:xfrm>
                        <a:off x="-45085" y="3119755"/>
                        <a:ext cx="4724400" cy="192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文本框 118795"/>
          <p:cNvSpPr txBox="1"/>
          <p:nvPr/>
        </p:nvSpPr>
        <p:spPr>
          <a:xfrm>
            <a:off x="8083550" y="2903855"/>
            <a:ext cx="11391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+12V</a:t>
            </a:r>
            <a:endParaRPr lang="en-US" altLang="zh-CN" sz="3200" b="1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807" name="文本框 118806"/>
          <p:cNvSpPr txBox="1"/>
          <p:nvPr/>
        </p:nvSpPr>
        <p:spPr>
          <a:xfrm>
            <a:off x="2795905" y="2286953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-</a:t>
            </a: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12V</a:t>
            </a:r>
            <a:endParaRPr lang="en-US" altLang="zh-CN" sz="2800" b="1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08" name="文本框 118807"/>
          <p:cNvSpPr txBox="1"/>
          <p:nvPr/>
        </p:nvSpPr>
        <p:spPr>
          <a:xfrm>
            <a:off x="978218" y="5042535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+12V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809" name="组合 118808"/>
          <p:cNvGrpSpPr/>
          <p:nvPr/>
        </p:nvGrpSpPr>
        <p:grpSpPr>
          <a:xfrm>
            <a:off x="2317115" y="5010785"/>
            <a:ext cx="6536690" cy="304800"/>
            <a:chOff x="1776" y="3111"/>
            <a:chExt cx="3456" cy="192"/>
          </a:xfrm>
        </p:grpSpPr>
        <p:sp>
          <p:nvSpPr>
            <p:cNvPr id="10265" name="直接连接符 118809"/>
            <p:cNvSpPr/>
            <p:nvPr/>
          </p:nvSpPr>
          <p:spPr>
            <a:xfrm flipH="1">
              <a:off x="1776" y="3297"/>
              <a:ext cx="3456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6" name="直接连接符 118810"/>
            <p:cNvSpPr/>
            <p:nvPr/>
          </p:nvSpPr>
          <p:spPr>
            <a:xfrm flipV="1">
              <a:off x="1776" y="3111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0268" name="文本框 118812"/>
          <p:cNvSpPr txBox="1"/>
          <p:nvPr/>
        </p:nvSpPr>
        <p:spPr>
          <a:xfrm>
            <a:off x="205423" y="977265"/>
            <a:ext cx="47180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外引线排列图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7" name="文本框 118816"/>
          <p:cNvSpPr txBox="1"/>
          <p:nvPr/>
        </p:nvSpPr>
        <p:spPr>
          <a:xfrm>
            <a:off x="-134620" y="1410018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、双电源的连接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9" name="矩形 118818"/>
          <p:cNvSpPr/>
          <p:nvPr/>
        </p:nvSpPr>
        <p:spPr>
          <a:xfrm>
            <a:off x="270828" y="433419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0" name="矩形 118819"/>
          <p:cNvSpPr/>
          <p:nvPr/>
        </p:nvSpPr>
        <p:spPr>
          <a:xfrm>
            <a:off x="2691765" y="434689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1" name="矩形 118820"/>
          <p:cNvSpPr/>
          <p:nvPr/>
        </p:nvSpPr>
        <p:spPr>
          <a:xfrm>
            <a:off x="2691765" y="304514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2" name="矩形 118821"/>
          <p:cNvSpPr/>
          <p:nvPr/>
        </p:nvSpPr>
        <p:spPr>
          <a:xfrm>
            <a:off x="205740" y="303244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3" name="文本框 118822"/>
          <p:cNvSpPr txBox="1"/>
          <p:nvPr/>
        </p:nvSpPr>
        <p:spPr>
          <a:xfrm>
            <a:off x="2639378" y="385794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个运放</a:t>
            </a:r>
            <a:endParaRPr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75" name="直接连接符 118826"/>
          <p:cNvSpPr/>
          <p:nvPr/>
        </p:nvSpPr>
        <p:spPr>
          <a:xfrm>
            <a:off x="4772978" y="5567680"/>
            <a:ext cx="0" cy="2889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18791" name="组合 118790"/>
          <p:cNvGrpSpPr/>
          <p:nvPr/>
        </p:nvGrpSpPr>
        <p:grpSpPr>
          <a:xfrm>
            <a:off x="2298065" y="2797810"/>
            <a:ext cx="1788795" cy="321945"/>
            <a:chOff x="1764" y="1616"/>
            <a:chExt cx="1708" cy="304"/>
          </a:xfrm>
        </p:grpSpPr>
        <p:sp>
          <p:nvSpPr>
            <p:cNvPr id="10247" name="直接连接符 118791"/>
            <p:cNvSpPr/>
            <p:nvPr/>
          </p:nvSpPr>
          <p:spPr>
            <a:xfrm flipH="1">
              <a:off x="1764" y="1616"/>
              <a:ext cx="1708" cy="0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48" name="直接连接符 118792"/>
            <p:cNvSpPr/>
            <p:nvPr/>
          </p:nvSpPr>
          <p:spPr>
            <a:xfrm>
              <a:off x="1776" y="1632"/>
              <a:ext cx="0" cy="288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4398010" y="2509520"/>
            <a:ext cx="2136528" cy="3347085"/>
            <a:chOff x="7924" y="3839"/>
            <a:chExt cx="2569" cy="5271"/>
          </a:xfrm>
        </p:grpSpPr>
        <p:sp>
          <p:nvSpPr>
            <p:cNvPr id="10277" name="直接连接符 118827"/>
            <p:cNvSpPr/>
            <p:nvPr/>
          </p:nvSpPr>
          <p:spPr>
            <a:xfrm>
              <a:off x="7967" y="9110"/>
              <a:ext cx="68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78" name="组合 1"/>
            <p:cNvGrpSpPr/>
            <p:nvPr/>
          </p:nvGrpSpPr>
          <p:grpSpPr>
            <a:xfrm>
              <a:off x="7924" y="3839"/>
              <a:ext cx="2569" cy="4945"/>
              <a:chOff x="7924" y="3839"/>
              <a:chExt cx="2569" cy="4945"/>
            </a:xfrm>
          </p:grpSpPr>
          <p:sp>
            <p:nvSpPr>
              <p:cNvPr id="10280" name="直接连接符 118824"/>
              <p:cNvSpPr/>
              <p:nvPr/>
            </p:nvSpPr>
            <p:spPr>
              <a:xfrm>
                <a:off x="10376" y="3839"/>
                <a:ext cx="57" cy="4768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1" name="直接连接符 118825"/>
              <p:cNvSpPr/>
              <p:nvPr/>
            </p:nvSpPr>
            <p:spPr>
              <a:xfrm flipV="1">
                <a:off x="8287" y="8620"/>
                <a:ext cx="2206" cy="35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2" name="文本框 118828"/>
              <p:cNvSpPr txBox="1"/>
              <p:nvPr/>
            </p:nvSpPr>
            <p:spPr>
              <a:xfrm>
                <a:off x="7924" y="7962"/>
                <a:ext cx="1200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ahoma" panose="020B0604030504040204" pitchFamily="34" charset="0"/>
                    <a:ea typeface="宋体" panose="02010600030101010101" pitchFamily="2" charset="-122"/>
                  </a:rPr>
                  <a:t>0V</a:t>
                </a:r>
                <a:endParaRPr lang="en-US" altLang="zh-CN" sz="28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8790" name="直接连接符 118789"/>
          <p:cNvSpPr/>
          <p:nvPr/>
        </p:nvSpPr>
        <p:spPr>
          <a:xfrm>
            <a:off x="8854440" y="2797810"/>
            <a:ext cx="10160" cy="250825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文本框 9"/>
          <p:cNvSpPr txBox="1"/>
          <p:nvPr/>
        </p:nvSpPr>
        <p:spPr>
          <a:xfrm>
            <a:off x="4755515" y="3942080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chemeClr val="accent2"/>
                </a:solidFill>
              </a:rPr>
              <a:t>等同于每个运放接了电源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93720" y="5856605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与原理图中的地连接在一起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4" name="禁止符 13"/>
          <p:cNvSpPr/>
          <p:nvPr/>
        </p:nvSpPr>
        <p:spPr>
          <a:xfrm>
            <a:off x="6028055" y="1210310"/>
            <a:ext cx="933450" cy="920750"/>
          </a:xfrm>
          <a:prstGeom prst="noSmoking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标注 6"/>
          <p:cNvSpPr>
            <a:spLocks noChangeArrowheads="1"/>
          </p:cNvSpPr>
          <p:nvPr/>
        </p:nvSpPr>
        <p:spPr bwMode="auto">
          <a:xfrm>
            <a:off x="6075680" y="123190"/>
            <a:ext cx="2447925" cy="730885"/>
          </a:xfrm>
          <a:prstGeom prst="wedgeRoundRectCallout">
            <a:avLst>
              <a:gd name="adj1" fmla="val -60431"/>
              <a:gd name="adj2" fmla="val 229083"/>
              <a:gd name="adj3" fmla="val 16667"/>
            </a:avLst>
          </a:prstGeom>
          <a:noFill/>
          <a:ln w="254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串联模式：</a:t>
            </a:r>
            <a:r>
              <a:rPr lang="zh-CN" altLang="en-US" sz="1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参考地</a:t>
            </a:r>
            <a:endParaRPr lang="zh-CN" altLang="en-US" sz="180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仪器内部已连接好</a:t>
            </a:r>
            <a:endParaRPr lang="zh-CN" altLang="en-US" sz="180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5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7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7" grpId="0"/>
      <p:bldP spid="118808" grpId="0"/>
      <p:bldP spid="118817" grpId="0"/>
      <p:bldP spid="118823" grpId="0"/>
      <p:bldP spid="10" grpId="0"/>
      <p:bldP spid="10" grpId="1"/>
      <p:bldP spid="10251" grpId="0"/>
      <p:bldP spid="11" grpId="0"/>
      <p:bldP spid="13" grpId="0" bldLvl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7" name="对象 6"/>
          <p:cNvGraphicFramePr/>
          <p:nvPr/>
        </p:nvGraphicFramePr>
        <p:xfrm>
          <a:off x="4685030" y="1591945"/>
          <a:ext cx="4451350" cy="1572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4448175" imgH="1571625" progId="Paint.Picture">
                  <p:embed/>
                </p:oleObj>
              </mc:Choice>
              <mc:Fallback>
                <p:oleObj name="" r:id="rId1" imgW="4448175" imgH="157162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5030" y="1591945"/>
                        <a:ext cx="4451350" cy="1572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6" name="矩形 118785"/>
          <p:cNvSpPr/>
          <p:nvPr/>
        </p:nvSpPr>
        <p:spPr>
          <a:xfrm>
            <a:off x="2167890" y="3162618"/>
            <a:ext cx="387350" cy="630237"/>
          </a:xfrm>
          <a:prstGeom prst="rect">
            <a:avLst/>
          </a:prstGeom>
          <a:solidFill>
            <a:srgbClr val="0099FF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787" name="矩形 118786"/>
          <p:cNvSpPr/>
          <p:nvPr/>
        </p:nvSpPr>
        <p:spPr>
          <a:xfrm>
            <a:off x="2163128" y="4411980"/>
            <a:ext cx="387350" cy="630238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标题 118787"/>
          <p:cNvSpPr>
            <a:spLocks noGrp="1"/>
          </p:cNvSpPr>
          <p:nvPr>
            <p:ph type="title"/>
          </p:nvPr>
        </p:nvSpPr>
        <p:spPr>
          <a:xfrm>
            <a:off x="120650" y="52070"/>
            <a:ext cx="7793038" cy="539750"/>
          </a:xfrm>
        </p:spPr>
        <p:txBody>
          <a:bodyPr anchor="b" anchorCtr="0"/>
          <a:p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二、集成运放</a:t>
            </a:r>
            <a:r>
              <a:rPr lang="en-US" altLang="zh-CN" sz="3000" dirty="0">
                <a:solidFill>
                  <a:schemeClr val="hlink"/>
                </a:solidFill>
                <a:ea typeface="楷体_GB2312" pitchFamily="49" charset="-122"/>
              </a:rPr>
              <a:t>LM324</a:t>
            </a:r>
            <a:r>
              <a:rPr lang="zh-CN" altLang="en-US" sz="3000" dirty="0">
                <a:solidFill>
                  <a:schemeClr val="hlink"/>
                </a:solidFill>
                <a:ea typeface="楷体_GB2312" pitchFamily="49" charset="-122"/>
              </a:rPr>
              <a:t>的使用</a:t>
            </a:r>
            <a:endParaRPr lang="zh-CN" altLang="en-US" sz="300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10244" name="对象 118788"/>
          <p:cNvGraphicFramePr/>
          <p:nvPr/>
        </p:nvGraphicFramePr>
        <p:xfrm>
          <a:off x="-45085" y="3119755"/>
          <a:ext cx="47244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077720" imgH="828040" progId="Word.Picture.8">
                  <p:embed/>
                </p:oleObj>
              </mc:Choice>
              <mc:Fallback>
                <p:oleObj name="" r:id="rId3" imgW="2077720" imgH="82804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 l="3044" r="-1378"/>
                      <a:stretch>
                        <a:fillRect/>
                      </a:stretch>
                    </p:blipFill>
                    <p:spPr>
                      <a:xfrm>
                        <a:off x="-45085" y="3119755"/>
                        <a:ext cx="4724400" cy="192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文本框 118794"/>
          <p:cNvSpPr txBox="1"/>
          <p:nvPr/>
        </p:nvSpPr>
        <p:spPr>
          <a:xfrm>
            <a:off x="6111240" y="1755775"/>
            <a:ext cx="914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12V</a:t>
            </a:r>
            <a:endParaRPr lang="en-US" altLang="zh-CN" sz="3200" b="1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51" name="文本框 118795"/>
          <p:cNvSpPr txBox="1"/>
          <p:nvPr/>
        </p:nvSpPr>
        <p:spPr>
          <a:xfrm>
            <a:off x="7940040" y="1755775"/>
            <a:ext cx="914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12V</a:t>
            </a:r>
            <a:endParaRPr lang="en-US" altLang="zh-CN" sz="3200" b="1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807" name="文本框 118806"/>
          <p:cNvSpPr txBox="1"/>
          <p:nvPr/>
        </p:nvSpPr>
        <p:spPr>
          <a:xfrm>
            <a:off x="2939415" y="2143443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-</a:t>
            </a: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12V</a:t>
            </a:r>
            <a:endParaRPr lang="en-US" altLang="zh-CN" sz="2800" b="1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08" name="文本框 118807"/>
          <p:cNvSpPr txBox="1"/>
          <p:nvPr/>
        </p:nvSpPr>
        <p:spPr>
          <a:xfrm>
            <a:off x="978218" y="5042535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+12V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809" name="组合 118808"/>
          <p:cNvGrpSpPr/>
          <p:nvPr/>
        </p:nvGrpSpPr>
        <p:grpSpPr>
          <a:xfrm>
            <a:off x="2317115" y="5010468"/>
            <a:ext cx="5486400" cy="304800"/>
            <a:chOff x="1776" y="3111"/>
            <a:chExt cx="3456" cy="192"/>
          </a:xfrm>
        </p:grpSpPr>
        <p:sp>
          <p:nvSpPr>
            <p:cNvPr id="10265" name="直接连接符 118809"/>
            <p:cNvSpPr/>
            <p:nvPr/>
          </p:nvSpPr>
          <p:spPr>
            <a:xfrm flipH="1">
              <a:off x="1776" y="3297"/>
              <a:ext cx="3456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6" name="直接连接符 118810"/>
            <p:cNvSpPr/>
            <p:nvPr/>
          </p:nvSpPr>
          <p:spPr>
            <a:xfrm flipV="1">
              <a:off x="1776" y="3111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0268" name="文本框 118812"/>
          <p:cNvSpPr txBox="1"/>
          <p:nvPr/>
        </p:nvSpPr>
        <p:spPr>
          <a:xfrm>
            <a:off x="205423" y="977265"/>
            <a:ext cx="47180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外引线排列图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7" name="文本框 118816"/>
          <p:cNvSpPr txBox="1"/>
          <p:nvPr/>
        </p:nvSpPr>
        <p:spPr>
          <a:xfrm>
            <a:off x="-134620" y="1410018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、双电源的连接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8819" name="矩形 118818"/>
          <p:cNvSpPr/>
          <p:nvPr/>
        </p:nvSpPr>
        <p:spPr>
          <a:xfrm>
            <a:off x="270828" y="433419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0" name="矩形 118819"/>
          <p:cNvSpPr/>
          <p:nvPr/>
        </p:nvSpPr>
        <p:spPr>
          <a:xfrm>
            <a:off x="2691765" y="434689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1" name="矩形 118820"/>
          <p:cNvSpPr/>
          <p:nvPr/>
        </p:nvSpPr>
        <p:spPr>
          <a:xfrm>
            <a:off x="2691765" y="304514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2" name="矩形 118821"/>
          <p:cNvSpPr/>
          <p:nvPr/>
        </p:nvSpPr>
        <p:spPr>
          <a:xfrm>
            <a:off x="205740" y="3032443"/>
            <a:ext cx="1778000" cy="760412"/>
          </a:xfrm>
          <a:prstGeom prst="rect">
            <a:avLst/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8823" name="文本框 118822"/>
          <p:cNvSpPr txBox="1"/>
          <p:nvPr/>
        </p:nvSpPr>
        <p:spPr>
          <a:xfrm>
            <a:off x="2639378" y="385794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个运放</a:t>
            </a:r>
            <a:endParaRPr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75" name="直接连接符 118826"/>
          <p:cNvSpPr/>
          <p:nvPr/>
        </p:nvSpPr>
        <p:spPr>
          <a:xfrm>
            <a:off x="4772978" y="5567680"/>
            <a:ext cx="0" cy="2889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18791" name="组合 118790"/>
          <p:cNvGrpSpPr/>
          <p:nvPr/>
        </p:nvGrpSpPr>
        <p:grpSpPr>
          <a:xfrm>
            <a:off x="2298065" y="2797810"/>
            <a:ext cx="3970655" cy="321945"/>
            <a:chOff x="1764" y="1616"/>
            <a:chExt cx="1708" cy="304"/>
          </a:xfrm>
        </p:grpSpPr>
        <p:sp>
          <p:nvSpPr>
            <p:cNvPr id="10247" name="直接连接符 118791"/>
            <p:cNvSpPr/>
            <p:nvPr/>
          </p:nvSpPr>
          <p:spPr>
            <a:xfrm flipH="1">
              <a:off x="1764" y="1616"/>
              <a:ext cx="1708" cy="0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48" name="直接连接符 118792"/>
            <p:cNvSpPr/>
            <p:nvPr/>
          </p:nvSpPr>
          <p:spPr>
            <a:xfrm>
              <a:off x="1776" y="1632"/>
              <a:ext cx="0" cy="288"/>
            </a:xfrm>
            <a:prstGeom prst="line">
              <a:avLst/>
            </a:prstGeom>
            <a:ln w="57150" cap="flat" cmpd="sng">
              <a:solidFill>
                <a:schemeClr val="accent6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4469765" y="2797810"/>
            <a:ext cx="3096260" cy="3058795"/>
            <a:chOff x="7924" y="4293"/>
            <a:chExt cx="3723" cy="4817"/>
          </a:xfrm>
        </p:grpSpPr>
        <p:sp>
          <p:nvSpPr>
            <p:cNvPr id="10277" name="直接连接符 118827"/>
            <p:cNvSpPr/>
            <p:nvPr/>
          </p:nvSpPr>
          <p:spPr>
            <a:xfrm>
              <a:off x="7967" y="9110"/>
              <a:ext cx="68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78" name="组合 1"/>
            <p:cNvGrpSpPr/>
            <p:nvPr/>
          </p:nvGrpSpPr>
          <p:grpSpPr>
            <a:xfrm>
              <a:off x="7924" y="4293"/>
              <a:ext cx="3723" cy="4491"/>
              <a:chOff x="7924" y="4293"/>
              <a:chExt cx="3723" cy="4491"/>
            </a:xfrm>
          </p:grpSpPr>
          <p:sp>
            <p:nvSpPr>
              <p:cNvPr id="10280" name="直接连接符 118824"/>
              <p:cNvSpPr/>
              <p:nvPr/>
            </p:nvSpPr>
            <p:spPr>
              <a:xfrm>
                <a:off x="11580" y="4293"/>
                <a:ext cx="67" cy="4427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1" name="直接连接符 118825"/>
              <p:cNvSpPr/>
              <p:nvPr/>
            </p:nvSpPr>
            <p:spPr>
              <a:xfrm>
                <a:off x="8287" y="8655"/>
                <a:ext cx="3360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0282" name="文本框 118828"/>
              <p:cNvSpPr txBox="1"/>
              <p:nvPr/>
            </p:nvSpPr>
            <p:spPr>
              <a:xfrm>
                <a:off x="7924" y="7962"/>
                <a:ext cx="1200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>
                    <a:latin typeface="Tahoma" panose="020B0604030504040204" pitchFamily="34" charset="0"/>
                    <a:ea typeface="宋体" panose="02010600030101010101" pitchFamily="2" charset="-122"/>
                  </a:rPr>
                  <a:t>0V</a:t>
                </a:r>
                <a:endParaRPr lang="en-US" altLang="zh-CN" sz="28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8790" name="直接连接符 118789"/>
          <p:cNvSpPr/>
          <p:nvPr/>
        </p:nvSpPr>
        <p:spPr>
          <a:xfrm>
            <a:off x="7778115" y="2797810"/>
            <a:ext cx="26035" cy="250825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6" name="组合 5"/>
          <p:cNvGrpSpPr/>
          <p:nvPr/>
        </p:nvGrpSpPr>
        <p:grpSpPr>
          <a:xfrm flipV="1">
            <a:off x="6719570" y="2797810"/>
            <a:ext cx="702310" cy="853440"/>
            <a:chOff x="10921" y="4485"/>
            <a:chExt cx="1106" cy="599"/>
          </a:xfrm>
        </p:grpSpPr>
        <p:sp>
          <p:nvSpPr>
            <p:cNvPr id="4" name="直接连接符 118827"/>
            <p:cNvSpPr/>
            <p:nvPr/>
          </p:nvSpPr>
          <p:spPr>
            <a:xfrm>
              <a:off x="11409" y="4485"/>
              <a:ext cx="619" cy="599"/>
            </a:xfrm>
            <a:prstGeom prst="line">
              <a:avLst/>
            </a:prstGeom>
            <a:ln w="1016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" name="直接连接符 118827"/>
            <p:cNvSpPr/>
            <p:nvPr/>
          </p:nvSpPr>
          <p:spPr>
            <a:xfrm flipV="1">
              <a:off x="10921" y="4486"/>
              <a:ext cx="602" cy="599"/>
            </a:xfrm>
            <a:prstGeom prst="line">
              <a:avLst/>
            </a:prstGeom>
            <a:ln w="1016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" name="文本框 9"/>
          <p:cNvSpPr txBox="1"/>
          <p:nvPr/>
        </p:nvSpPr>
        <p:spPr>
          <a:xfrm>
            <a:off x="4755515" y="3942080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chemeClr val="accent2"/>
                </a:solidFill>
              </a:rPr>
              <a:t>等同于每个运放接了电源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93720" y="5856605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与原理图中的地连接在一起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1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5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7" grpId="0"/>
      <p:bldP spid="118808" grpId="0"/>
      <p:bldP spid="118817" grpId="0"/>
      <p:bldP spid="118823" grpId="0"/>
      <p:bldP spid="10" grpId="0"/>
      <p:bldP spid="10" grpId="1"/>
      <p:bldP spid="10251" grpId="0"/>
      <p:bldP spid="1025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844" y="2510898"/>
            <a:ext cx="5426869" cy="200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6"/>
          <p:cNvSpPr>
            <a:spLocks noChangeArrowheads="1"/>
          </p:cNvSpPr>
          <p:nvPr/>
        </p:nvSpPr>
        <p:spPr bwMode="auto">
          <a:xfrm>
            <a:off x="6677807" y="1722704"/>
            <a:ext cx="2031206" cy="731044"/>
          </a:xfrm>
          <a:prstGeom prst="wedgeRoundRectCallout">
            <a:avLst>
              <a:gd name="adj1" fmla="val -60431"/>
              <a:gd name="adj2" fmla="val 229083"/>
              <a:gd name="adj3" fmla="val 16667"/>
            </a:avLst>
          </a:prstGeom>
          <a:noFill/>
          <a:ln w="254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串联模式时</a:t>
            </a:r>
            <a:endParaRPr lang="en-US" altLang="zh-CN" sz="180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18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仪器内部已连接好</a:t>
            </a:r>
            <a:endParaRPr lang="zh-CN" altLang="en-US" sz="1800" dirty="0">
              <a:solidFill>
                <a:srgbClr val="0000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04800" y="971553"/>
            <a:ext cx="5509338" cy="42267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charset="-122"/>
              </a:rPr>
              <a:t>元器件及常用仪器</a:t>
            </a:r>
            <a:r>
              <a:rPr lang="zh-CN" altLang="en-US" dirty="0" smtClean="0">
                <a:latin typeface="微软雅黑" panose="020B0503020204020204" charset="-122"/>
              </a:rPr>
              <a:t>介绍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42429" y="1711323"/>
            <a:ext cx="2777850" cy="3345815"/>
            <a:chOff x="323239" y="1138764"/>
            <a:chExt cx="3703800" cy="4461087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23239" y="1138764"/>
              <a:ext cx="3703800" cy="4461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1800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按下“</a:t>
              </a:r>
              <a:r>
                <a:rPr lang="en-US" altLang="zh-CN" sz="1800" b="0" dirty="0" err="1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Ser</a:t>
              </a:r>
              <a:r>
                <a:rPr lang="zh-CN" altLang="en-US" sz="1800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”键启动串联模式，按键灯点亮，显示界面上方出现串联标识               连接负载到前面板端子。</a:t>
              </a:r>
              <a:endParaRPr lang="en-US" altLang="zh-CN" sz="1800" b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endParaRPr lang="en-US" altLang="zh-CN" sz="1800" b="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1800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CH1/CH2</a:t>
              </a:r>
              <a:r>
                <a:rPr lang="zh-CN" altLang="en-US" sz="1800" b="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串联模式时，输出电压由</a:t>
              </a:r>
              <a:r>
                <a:rPr lang="en-US" altLang="zh-CN" sz="1800" b="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CH1</a:t>
              </a:r>
              <a:r>
                <a:rPr lang="zh-CN" altLang="en-US" sz="1800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控制</a:t>
              </a:r>
              <a:r>
                <a:rPr lang="zh-CN" altLang="en-US" sz="2100" b="0" dirty="0" smtClean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。</a:t>
              </a:r>
              <a:endParaRPr lang="zh-CN" altLang="en-US" sz="21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3307" y="2492896"/>
              <a:ext cx="854462" cy="216071"/>
            </a:xfrm>
            <a:prstGeom prst="rect">
              <a:avLst/>
            </a:prstGeom>
          </p:spPr>
        </p:pic>
      </p:grpSp>
      <p:sp>
        <p:nvSpPr>
          <p:cNvPr id="2" name="禁止符 1"/>
          <p:cNvSpPr/>
          <p:nvPr/>
        </p:nvSpPr>
        <p:spPr>
          <a:xfrm>
            <a:off x="5382090" y="2948765"/>
            <a:ext cx="864096" cy="787742"/>
          </a:xfrm>
          <a:prstGeom prst="noSmoking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761910" y="4579231"/>
            <a:ext cx="4395935" cy="57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GND</a:t>
            </a:r>
            <a:r>
              <a:rPr lang="zh-CN" alt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”不要连！！！</a:t>
            </a:r>
            <a:endParaRPr lang="zh-CN" altLang="en-US" sz="21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778883" y="5208965"/>
            <a:ext cx="2720504" cy="57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如何产生</a:t>
            </a:r>
            <a:r>
              <a:rPr lang="en-US" altLang="zh-CN" sz="2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±12V</a:t>
            </a:r>
            <a:r>
              <a:rPr lang="zh-CN" altLang="en-US" sz="21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电压？</a:t>
            </a:r>
            <a:endParaRPr lang="zh-CN" altLang="en-US" sz="2100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 descr="Download Organization Text Illustration Business Information HD Image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97" y="5146713"/>
            <a:ext cx="592286" cy="7659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809" y="981183"/>
            <a:ext cx="4097322" cy="151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89" name="对象 119809"/>
          <p:cNvGraphicFramePr/>
          <p:nvPr/>
        </p:nvGraphicFramePr>
        <p:xfrm>
          <a:off x="127000" y="1943100"/>
          <a:ext cx="4724400" cy="368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" imgW="1562100" imgH="1219200" progId="Word.Picture.8">
                  <p:embed/>
                </p:oleObj>
              </mc:Choice>
              <mc:Fallback>
                <p:oleObj name="" r:id="rId2" imgW="1562100" imgH="1219200" progId="Word.Picture.8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000" y="1943100"/>
                        <a:ext cx="4724400" cy="368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1" name="矩形 119810"/>
          <p:cNvSpPr/>
          <p:nvPr/>
        </p:nvSpPr>
        <p:spPr>
          <a:xfrm>
            <a:off x="838200" y="6350"/>
            <a:ext cx="7793038" cy="7302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r>
              <a:rPr lang="zh-CN" altLang="en-US" sz="36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二、集成运放</a:t>
            </a:r>
            <a:r>
              <a:rPr lang="en-US" altLang="zh-CN" sz="36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LM324</a:t>
            </a:r>
            <a:r>
              <a:rPr lang="zh-CN" altLang="en-US" sz="3600" b="1" strike="noStrike" noProof="1" dirty="0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的使用</a:t>
            </a:r>
            <a:endParaRPr lang="zh-CN" altLang="en-US" sz="3600" b="1" strike="noStrike" noProof="1" dirty="0"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1" name="直接连接符 119811"/>
          <p:cNvSpPr/>
          <p:nvPr/>
        </p:nvSpPr>
        <p:spPr>
          <a:xfrm>
            <a:off x="8865870" y="2392680"/>
            <a:ext cx="0" cy="28800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12305" name="组合 119825"/>
          <p:cNvGrpSpPr/>
          <p:nvPr/>
        </p:nvGrpSpPr>
        <p:grpSpPr>
          <a:xfrm>
            <a:off x="2819400" y="4938713"/>
            <a:ext cx="6156000" cy="304800"/>
            <a:chOff x="1776" y="3111"/>
            <a:chExt cx="3456" cy="192"/>
          </a:xfrm>
        </p:grpSpPr>
        <p:sp>
          <p:nvSpPr>
            <p:cNvPr id="12306" name="直接连接符 119826"/>
            <p:cNvSpPr/>
            <p:nvPr/>
          </p:nvSpPr>
          <p:spPr>
            <a:xfrm flipH="1">
              <a:off x="1776" y="3297"/>
              <a:ext cx="3456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2307" name="直接连接符 119827"/>
            <p:cNvSpPr/>
            <p:nvPr/>
          </p:nvSpPr>
          <p:spPr>
            <a:xfrm flipV="1">
              <a:off x="1776" y="3111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19829" name="文本框 119828" descr="信纸"/>
          <p:cNvSpPr txBox="1"/>
          <p:nvPr/>
        </p:nvSpPr>
        <p:spPr>
          <a:xfrm>
            <a:off x="533400" y="5988050"/>
            <a:ext cx="7924800" cy="641350"/>
          </a:xfrm>
          <a:prstGeom prst="rect">
            <a:avLst/>
          </a:prstGeom>
          <a:blipFill rotWithShape="0">
            <a:blip r:embed="rId4"/>
          </a:blip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  <a:buClrTx/>
            </a:pPr>
            <a:r>
              <a:rPr lang="zh-CN" altLang="en-US" sz="3600" b="1" noProof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Verdana" panose="020B0604030504040204" pitchFamily="34" charset="0"/>
                <a:ea typeface="楷体_GB2312" pitchFamily="49" charset="-122"/>
                <a:cs typeface="+mn-cs"/>
              </a:rPr>
              <a:t>注意：正、负电源的千万别接反！</a:t>
            </a:r>
            <a:endParaRPr lang="zh-CN" altLang="en-US" sz="3600" b="1" noProof="1" dirty="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12309" name="文本框 119833"/>
          <p:cNvSpPr txBox="1"/>
          <p:nvPr/>
        </p:nvSpPr>
        <p:spPr>
          <a:xfrm>
            <a:off x="152400" y="1524000"/>
            <a:ext cx="3505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、双电源的连接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2310" name="组合 119844"/>
          <p:cNvGrpSpPr/>
          <p:nvPr/>
        </p:nvGrpSpPr>
        <p:grpSpPr>
          <a:xfrm>
            <a:off x="2800350" y="2421255"/>
            <a:ext cx="2454910" cy="626745"/>
            <a:chOff x="1764" y="1613"/>
            <a:chExt cx="1733" cy="307"/>
          </a:xfrm>
        </p:grpSpPr>
        <p:sp>
          <p:nvSpPr>
            <p:cNvPr id="12311" name="任意多边形 119836"/>
            <p:cNvSpPr/>
            <p:nvPr/>
          </p:nvSpPr>
          <p:spPr>
            <a:xfrm>
              <a:off x="1764" y="1613"/>
              <a:ext cx="1733" cy="94"/>
            </a:xfrm>
            <a:custGeom>
              <a:avLst/>
              <a:gdLst/>
              <a:ahLst/>
              <a:cxnLst/>
              <a:pathLst>
                <a:path w="1733" h="94">
                  <a:moveTo>
                    <a:pt x="1733" y="0"/>
                  </a:moveTo>
                  <a:lnTo>
                    <a:pt x="1556" y="88"/>
                  </a:lnTo>
                  <a:lnTo>
                    <a:pt x="0" y="94"/>
                  </a:lnTo>
                </a:path>
              </a:pathLst>
            </a:custGeom>
            <a:noFill/>
            <a:ln w="571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12" name="直接连接符 119837"/>
            <p:cNvSpPr/>
            <p:nvPr/>
          </p:nvSpPr>
          <p:spPr>
            <a:xfrm>
              <a:off x="1776" y="1717"/>
              <a:ext cx="0" cy="203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sp>
        <p:nvSpPr>
          <p:cNvPr id="12313" name="文本框 119838"/>
          <p:cNvSpPr txBox="1"/>
          <p:nvPr/>
        </p:nvSpPr>
        <p:spPr>
          <a:xfrm>
            <a:off x="3441700" y="2071688"/>
            <a:ext cx="1524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-</a:t>
            </a:r>
            <a:r>
              <a:rPr lang="en-US" altLang="zh-CN" sz="2800" b="1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12V</a:t>
            </a:r>
            <a:endParaRPr lang="en-US" altLang="zh-CN" sz="2800" b="1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14" name="文本框 119839"/>
          <p:cNvSpPr txBox="1"/>
          <p:nvPr/>
        </p:nvSpPr>
        <p:spPr>
          <a:xfrm>
            <a:off x="3695700" y="4724400"/>
            <a:ext cx="1524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+12V</a:t>
            </a:r>
            <a:endParaRPr lang="en-US" altLang="zh-CN" sz="2800" b="1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9841" name="组合 119840"/>
          <p:cNvGrpSpPr/>
          <p:nvPr/>
        </p:nvGrpSpPr>
        <p:grpSpPr>
          <a:xfrm>
            <a:off x="1762125" y="5295900"/>
            <a:ext cx="5328000" cy="114300"/>
            <a:chOff x="1110" y="3336"/>
            <a:chExt cx="3570" cy="72"/>
          </a:xfrm>
        </p:grpSpPr>
        <p:sp>
          <p:nvSpPr>
            <p:cNvPr id="12316" name="直接连接符 119841"/>
            <p:cNvSpPr/>
            <p:nvPr/>
          </p:nvSpPr>
          <p:spPr>
            <a:xfrm>
              <a:off x="1148" y="3381"/>
              <a:ext cx="349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2317" name="椭圆 119842"/>
            <p:cNvSpPr/>
            <p:nvPr/>
          </p:nvSpPr>
          <p:spPr>
            <a:xfrm>
              <a:off x="4590" y="3336"/>
              <a:ext cx="90" cy="72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8" name="椭圆 119843"/>
            <p:cNvSpPr/>
            <p:nvPr/>
          </p:nvSpPr>
          <p:spPr>
            <a:xfrm>
              <a:off x="1110" y="3336"/>
              <a:ext cx="66" cy="72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20" name="直接连接符 119851"/>
          <p:cNvSpPr/>
          <p:nvPr/>
        </p:nvSpPr>
        <p:spPr>
          <a:xfrm>
            <a:off x="7035165" y="2220595"/>
            <a:ext cx="0" cy="31320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21" name="文本框 119854"/>
          <p:cNvSpPr txBox="1"/>
          <p:nvPr/>
        </p:nvSpPr>
        <p:spPr>
          <a:xfrm>
            <a:off x="2225675" y="5300663"/>
            <a:ext cx="762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>
                <a:latin typeface="Tahoma" panose="020B0604030504040204" pitchFamily="34" charset="0"/>
                <a:ea typeface="宋体" panose="02010600030101010101" pitchFamily="2" charset="-122"/>
              </a:rPr>
              <a:t>0V</a:t>
            </a:r>
            <a:endParaRPr lang="en-US" altLang="zh-CN" sz="28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23" name="文本框 119856"/>
          <p:cNvSpPr txBox="1"/>
          <p:nvPr/>
        </p:nvSpPr>
        <p:spPr>
          <a:xfrm>
            <a:off x="395288" y="956310"/>
            <a:ext cx="47180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外引线排列图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4337" name="标题 121857"/>
          <p:cNvSpPr>
            <a:spLocks noGrp="1"/>
          </p:cNvSpPr>
          <p:nvPr>
            <p:ph type="title"/>
          </p:nvPr>
        </p:nvSpPr>
        <p:spPr>
          <a:xfrm>
            <a:off x="574675" y="44450"/>
            <a:ext cx="8001000" cy="755650"/>
          </a:xfrm>
        </p:spPr>
        <p:txBody>
          <a:bodyPr anchor="b" anchorCtr="0"/>
          <a:p>
            <a:r>
              <a:rPr lang="zh-CN" altLang="en-US" dirty="0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rPr>
              <a:t>三、实验内容</a:t>
            </a:r>
            <a:endParaRPr lang="zh-CN" altLang="en-US" dirty="0">
              <a:solidFill>
                <a:schemeClr val="hlink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338" name="文本占位符 121858"/>
          <p:cNvSpPr>
            <a:spLocks noGrp="1"/>
          </p:cNvSpPr>
          <p:nvPr>
            <p:ph idx="1"/>
          </p:nvPr>
        </p:nvSpPr>
        <p:spPr>
          <a:xfrm>
            <a:off x="1908175" y="1412875"/>
            <a:ext cx="5562600" cy="3138488"/>
          </a:xfrm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反向比例运算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反向比例加法电路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反向比例减法电路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比例积分电路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21857"/>
          <p:cNvSpPr>
            <a:spLocks noGrp="1"/>
          </p:cNvSpPr>
          <p:nvPr>
            <p:ph type="title"/>
          </p:nvPr>
        </p:nvSpPr>
        <p:spPr>
          <a:xfrm>
            <a:off x="574675" y="44450"/>
            <a:ext cx="8001000" cy="755650"/>
          </a:xfrm>
        </p:spPr>
        <p:txBody>
          <a:bodyPr anchor="b" anchorCtr="0"/>
          <a:p>
            <a:r>
              <a:rPr lang="zh-CN" altLang="en-US" dirty="0">
                <a:solidFill>
                  <a:schemeClr val="hlink"/>
                </a:solidFill>
                <a:latin typeface="Tahoma" panose="020B0604030504040204" pitchFamily="34" charset="0"/>
                <a:ea typeface="楷体_GB2312" pitchFamily="49" charset="-122"/>
              </a:rPr>
              <a:t>三、实验内容</a:t>
            </a:r>
            <a:endParaRPr lang="zh-CN" altLang="en-US" dirty="0">
              <a:solidFill>
                <a:schemeClr val="hlink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338" name="文本占位符 121858"/>
          <p:cNvSpPr>
            <a:spLocks noGrp="1"/>
          </p:cNvSpPr>
          <p:nvPr>
            <p:ph idx="1"/>
          </p:nvPr>
        </p:nvSpPr>
        <p:spPr>
          <a:xfrm>
            <a:off x="787400" y="1412875"/>
            <a:ext cx="7383780" cy="5215890"/>
          </a:xfrm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  <a:sym typeface="+mn-ea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sym typeface="+mn-ea"/>
              </a:rPr>
              <a:t>．反相比例加法电路运算关系研究（教材第4章实验三实验任务3）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  <a:sym typeface="+mn-ea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sym typeface="+mn-ea"/>
              </a:rPr>
              <a:t>．反相比例减法电路运算关系研究（教材第4章实验三实验任务4）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．反相比例积分电路运算关系研究（教材第4章实验三实验任务2）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5361" name="标题 122881"/>
          <p:cNvSpPr>
            <a:spLocks noGrp="1"/>
          </p:cNvSpPr>
          <p:nvPr>
            <p:ph type="title"/>
          </p:nvPr>
        </p:nvSpPr>
        <p:spPr>
          <a:xfrm>
            <a:off x="395288" y="-20637"/>
            <a:ext cx="7793037" cy="612775"/>
          </a:xfrm>
        </p:spPr>
        <p:txBody>
          <a:bodyPr anchor="b" anchorCtr="0"/>
          <a:p>
            <a:r>
              <a:rPr lang="en-US" altLang="zh-CN" sz="3000" dirty="0">
                <a:ea typeface="楷体_GB2312" pitchFamily="49" charset="-122"/>
              </a:rPr>
              <a:t>  1</a:t>
            </a:r>
            <a:r>
              <a:rPr lang="zh-CN" altLang="en-US" sz="3000" dirty="0">
                <a:ea typeface="楷体_GB2312" pitchFamily="49" charset="-122"/>
              </a:rPr>
              <a:t>、反向比例运算</a:t>
            </a:r>
            <a:endParaRPr lang="zh-CN" altLang="en-US" sz="3000" dirty="0">
              <a:ea typeface="楷体_GB2312" pitchFamily="49" charset="-122"/>
            </a:endParaRPr>
          </a:p>
        </p:txBody>
      </p:sp>
      <p:graphicFrame>
        <p:nvGraphicFramePr>
          <p:cNvPr id="15362" name="对象 122885"/>
          <p:cNvGraphicFramePr>
            <a:graphicFrameLocks noChangeAspect="1"/>
          </p:cNvGraphicFramePr>
          <p:nvPr/>
        </p:nvGraphicFramePr>
        <p:xfrm>
          <a:off x="4478338" y="1063625"/>
          <a:ext cx="4406900" cy="226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905000" imgH="941070" progId="Word.Picture.8">
                  <p:embed/>
                </p:oleObj>
              </mc:Choice>
              <mc:Fallback>
                <p:oleObj name="" r:id="rId1" imgW="1905000" imgH="941070" progId="Word.Picture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78338" y="1063625"/>
                        <a:ext cx="4406900" cy="226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21000" y="2393950"/>
          <a:ext cx="12652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660400" imgH="431800" progId="Equation.KSEE3">
                  <p:embed/>
                </p:oleObj>
              </mc:Choice>
              <mc:Fallback>
                <p:oleObj name="" r:id="rId3" imgW="660400" imgH="4318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1000" y="2393950"/>
                        <a:ext cx="1265238" cy="828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82888" y="3529013"/>
          <a:ext cx="26479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270000" imgH="431800" progId="Equation.KSEE3">
                  <p:embed/>
                </p:oleObj>
              </mc:Choice>
              <mc:Fallback>
                <p:oleObj name="" r:id="rId5" imgW="1270000" imgH="4318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2888" y="3529013"/>
                        <a:ext cx="2647950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0038" y="4881563"/>
          <a:ext cx="12477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495300" imgH="228600" progId="Equation.KSEE3">
                  <p:embed/>
                </p:oleObj>
              </mc:Choice>
              <mc:Fallback>
                <p:oleObj name="" r:id="rId7" imgW="495300" imgH="2286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0038" y="4881563"/>
                        <a:ext cx="1247775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文本框 6"/>
          <p:cNvSpPr txBox="1"/>
          <p:nvPr/>
        </p:nvSpPr>
        <p:spPr>
          <a:xfrm>
            <a:off x="493713" y="2578100"/>
            <a:ext cx="20335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latin typeface="Verdana" panose="020B0604030504040204" pitchFamily="34" charset="0"/>
                <a:ea typeface="宋体" panose="02010600030101010101" pitchFamily="2" charset="-122"/>
              </a:rPr>
              <a:t>电压增益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aseline="-25000">
                <a:latin typeface="Verdana" panose="020B0604030504040204" pitchFamily="34" charset="0"/>
                <a:ea typeface="宋体" panose="02010600030101010101" pitchFamily="2" charset="-122"/>
              </a:rPr>
              <a:t>V</a:t>
            </a:r>
            <a:endParaRPr lang="en-US" altLang="zh-CN" sz="2400" baseline="-25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文本框 7"/>
          <p:cNvSpPr txBox="1"/>
          <p:nvPr/>
        </p:nvSpPr>
        <p:spPr>
          <a:xfrm>
            <a:off x="504825" y="3698875"/>
            <a:ext cx="20240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latin typeface="Verdana" panose="020B0604030504040204" pitchFamily="34" charset="0"/>
                <a:ea typeface="宋体" panose="02010600030101010101" pitchFamily="2" charset="-122"/>
              </a:rPr>
              <a:t>输入电阻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Ri</a:t>
            </a:r>
            <a:endParaRPr lang="en-US" altLang="zh-CN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文本框 8"/>
          <p:cNvSpPr txBox="1"/>
          <p:nvPr/>
        </p:nvSpPr>
        <p:spPr>
          <a:xfrm>
            <a:off x="508000" y="4935538"/>
            <a:ext cx="20193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latin typeface="Verdana" panose="020B0604030504040204" pitchFamily="34" charset="0"/>
                <a:ea typeface="宋体" panose="02010600030101010101" pitchFamily="2" charset="-122"/>
              </a:rPr>
              <a:t>输出电阻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Ro</a:t>
            </a:r>
            <a:endParaRPr lang="en-US" altLang="zh-CN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5369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0613" y="2778125"/>
            <a:ext cx="1127125" cy="323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6385" name="标题 122881"/>
          <p:cNvSpPr>
            <a:spLocks noGrp="1"/>
          </p:cNvSpPr>
          <p:nvPr>
            <p:ph type="title"/>
          </p:nvPr>
        </p:nvSpPr>
        <p:spPr>
          <a:xfrm>
            <a:off x="395288" y="188913"/>
            <a:ext cx="7793037" cy="762000"/>
          </a:xfrm>
        </p:spPr>
        <p:txBody>
          <a:bodyPr anchor="b" anchorCtr="0"/>
          <a:p>
            <a:r>
              <a:rPr lang="en-US" altLang="zh-CN" sz="3000" dirty="0">
                <a:ea typeface="楷体_GB2312" pitchFamily="49" charset="-122"/>
              </a:rPr>
              <a:t>  1</a:t>
            </a:r>
            <a:r>
              <a:rPr lang="zh-CN" altLang="en-US" sz="3000" dirty="0">
                <a:ea typeface="楷体_GB2312" pitchFamily="49" charset="-122"/>
              </a:rPr>
              <a:t>、反向比例运算</a:t>
            </a:r>
            <a:endParaRPr lang="zh-CN" altLang="en-US" sz="3000" dirty="0">
              <a:ea typeface="楷体_GB2312" pitchFamily="49" charset="-122"/>
            </a:endParaRPr>
          </a:p>
        </p:txBody>
      </p:sp>
      <p:sp>
        <p:nvSpPr>
          <p:cNvPr id="16386" name="文本占位符 122882"/>
          <p:cNvSpPr>
            <a:spLocks noGrp="1"/>
          </p:cNvSpPr>
          <p:nvPr>
            <p:ph idx="1"/>
          </p:nvPr>
        </p:nvSpPr>
        <p:spPr>
          <a:xfrm>
            <a:off x="611188" y="1506538"/>
            <a:ext cx="7772400" cy="2157412"/>
          </a:xfrm>
        </p:spPr>
        <p:txBody>
          <a:bodyPr anchor="t" anchorCtr="0">
            <a:spAutoFit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CC0000"/>
                </a:solidFill>
              </a:rPr>
              <a:t>实验内容</a:t>
            </a:r>
            <a:endParaRPr lang="zh-CN" altLang="en-US" b="1" dirty="0">
              <a:solidFill>
                <a:srgbClr val="CC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输入</a:t>
            </a:r>
            <a:r>
              <a:rPr lang="en-US" altLang="zh-CN" b="1" dirty="0">
                <a:solidFill>
                  <a:schemeClr val="tx2"/>
                </a:solidFill>
              </a:rPr>
              <a:t>1kHz</a:t>
            </a:r>
            <a:r>
              <a:rPr lang="zh-CN" altLang="en-US" b="1" dirty="0">
                <a:solidFill>
                  <a:schemeClr val="tx2"/>
                </a:solidFill>
              </a:rPr>
              <a:t>正弦波（</a:t>
            </a:r>
            <a:r>
              <a:rPr lang="en-US" altLang="zh-CN" b="1" err="1">
                <a:solidFill>
                  <a:schemeClr val="tx2"/>
                </a:solidFill>
              </a:rPr>
              <a:t>V</a:t>
            </a:r>
            <a:r>
              <a:rPr lang="en-US" altLang="zh-CN" b="1" baseline="-25000" err="1">
                <a:solidFill>
                  <a:schemeClr val="tx2"/>
                </a:solidFill>
              </a:rPr>
              <a:t>ipp</a:t>
            </a:r>
            <a:r>
              <a:rPr lang="en-US" altLang="zh-CN" b="1" dirty="0">
                <a:solidFill>
                  <a:schemeClr val="tx2"/>
                </a:solidFill>
              </a:rPr>
              <a:t>= 100</a:t>
            </a:r>
            <a:r>
              <a:rPr lang="zh-CN" altLang="en-US" b="1" dirty="0">
                <a:solidFill>
                  <a:schemeClr val="tx2"/>
                </a:solidFill>
              </a:rPr>
              <a:t>～</a:t>
            </a:r>
            <a:r>
              <a:rPr lang="en-US" altLang="zh-CN" b="1">
                <a:solidFill>
                  <a:schemeClr val="tx2"/>
                </a:solidFill>
              </a:rPr>
              <a:t>200mV</a:t>
            </a:r>
            <a:r>
              <a:rPr lang="zh-CN" altLang="en-US" b="1">
                <a:solidFill>
                  <a:schemeClr val="tx2"/>
                </a:solidFill>
              </a:rPr>
              <a:t>）</a:t>
            </a:r>
            <a:endParaRPr lang="zh-CN" altLang="en-US" b="1">
              <a:solidFill>
                <a:schemeClr val="tx2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测量输出电压</a:t>
            </a:r>
            <a:r>
              <a:rPr lang="en-US" altLang="zh-CN" b="1" err="1">
                <a:solidFill>
                  <a:schemeClr val="tx2"/>
                </a:solidFill>
              </a:rPr>
              <a:t>V</a:t>
            </a:r>
            <a:r>
              <a:rPr lang="en-US" altLang="zh-CN" b="1" baseline="-25000" err="1">
                <a:solidFill>
                  <a:schemeClr val="tx2"/>
                </a:solidFill>
              </a:rPr>
              <a:t>opp</a:t>
            </a:r>
            <a:endParaRPr lang="en-US" altLang="zh-CN" b="1" baseline="-25000">
              <a:solidFill>
                <a:schemeClr val="tx2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solidFill>
                  <a:schemeClr val="tx2"/>
                </a:solidFill>
              </a:rPr>
              <a:t>设计实验表格，记录数据（</a:t>
            </a:r>
            <a:r>
              <a:rPr lang="en-US" altLang="zh-CN" b="1" dirty="0">
                <a:solidFill>
                  <a:schemeClr val="tx2"/>
                </a:solidFill>
              </a:rPr>
              <a:t>2</a:t>
            </a:r>
            <a:r>
              <a:rPr lang="zh-CN" altLang="en-US" b="1" dirty="0">
                <a:solidFill>
                  <a:schemeClr val="tx2"/>
                </a:solidFill>
              </a:rPr>
              <a:t>～</a:t>
            </a:r>
            <a:r>
              <a:rPr lang="en-US" altLang="zh-CN" b="1" dirty="0">
                <a:solidFill>
                  <a:schemeClr val="tx2"/>
                </a:solidFill>
              </a:rPr>
              <a:t>3</a:t>
            </a:r>
            <a:r>
              <a:rPr lang="zh-CN" altLang="en-US" b="1" dirty="0">
                <a:solidFill>
                  <a:schemeClr val="tx2"/>
                </a:solidFill>
              </a:rPr>
              <a:t>组）</a:t>
            </a:r>
            <a:endParaRPr lang="zh-CN" altLang="en-US" b="1" dirty="0">
              <a:solidFill>
                <a:srgbClr val="CC0000"/>
              </a:solidFill>
            </a:endParaRPr>
          </a:p>
        </p:txBody>
      </p:sp>
      <p:grpSp>
        <p:nvGrpSpPr>
          <p:cNvPr id="16387" name="组合 122887"/>
          <p:cNvGrpSpPr/>
          <p:nvPr/>
        </p:nvGrpSpPr>
        <p:grpSpPr>
          <a:xfrm>
            <a:off x="1600200" y="4011613"/>
            <a:ext cx="5867400" cy="1752600"/>
            <a:chOff x="989" y="973"/>
            <a:chExt cx="3660" cy="1550"/>
          </a:xfrm>
        </p:grpSpPr>
        <p:grpSp>
          <p:nvGrpSpPr>
            <p:cNvPr id="16388" name="组合 122888"/>
            <p:cNvGrpSpPr/>
            <p:nvPr/>
          </p:nvGrpSpPr>
          <p:grpSpPr>
            <a:xfrm>
              <a:off x="1009" y="984"/>
              <a:ext cx="1435" cy="384"/>
              <a:chOff x="0" y="0"/>
              <a:chExt cx="574" cy="384"/>
            </a:xfrm>
          </p:grpSpPr>
          <p:sp>
            <p:nvSpPr>
              <p:cNvPr id="16389" name="矩形 122889"/>
              <p:cNvSpPr/>
              <p:nvPr/>
            </p:nvSpPr>
            <p:spPr>
              <a:xfrm>
                <a:off x="43" y="0"/>
                <a:ext cx="48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                </a:t>
                </a: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0" name="矩形 122890"/>
              <p:cNvSpPr/>
              <p:nvPr/>
            </p:nvSpPr>
            <p:spPr>
              <a:xfrm>
                <a:off x="0" y="0"/>
                <a:ext cx="57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1" name="组合 122891"/>
            <p:cNvGrpSpPr/>
            <p:nvPr/>
          </p:nvGrpSpPr>
          <p:grpSpPr>
            <a:xfrm>
              <a:off x="2444" y="984"/>
              <a:ext cx="1082" cy="384"/>
              <a:chOff x="574" y="0"/>
              <a:chExt cx="433" cy="384"/>
            </a:xfrm>
          </p:grpSpPr>
          <p:sp>
            <p:nvSpPr>
              <p:cNvPr id="16392" name="矩形 122892"/>
              <p:cNvSpPr/>
              <p:nvPr/>
            </p:nvSpPr>
            <p:spPr>
              <a:xfrm>
                <a:off x="617" y="0"/>
                <a:ext cx="347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2400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opp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理</a:t>
                </a:r>
                <a:endParaRPr lang="zh-CN" altLang="en-US" sz="24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3" name="矩形 122893"/>
              <p:cNvSpPr/>
              <p:nvPr/>
            </p:nvSpPr>
            <p:spPr>
              <a:xfrm>
                <a:off x="574" y="0"/>
                <a:ext cx="433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4" name="组合 122894"/>
            <p:cNvGrpSpPr/>
            <p:nvPr/>
          </p:nvGrpSpPr>
          <p:grpSpPr>
            <a:xfrm>
              <a:off x="3526" y="984"/>
              <a:ext cx="1115" cy="384"/>
              <a:chOff x="1007" y="0"/>
              <a:chExt cx="446" cy="384"/>
            </a:xfrm>
          </p:grpSpPr>
          <p:sp>
            <p:nvSpPr>
              <p:cNvPr id="16395" name="矩形 122895"/>
              <p:cNvSpPr/>
              <p:nvPr/>
            </p:nvSpPr>
            <p:spPr>
              <a:xfrm>
                <a:off x="1050" y="0"/>
                <a:ext cx="3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2400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opp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测</a:t>
                </a:r>
                <a:endParaRPr lang="zh-CN" altLang="en-US" sz="24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6" name="矩形 122896"/>
              <p:cNvSpPr/>
              <p:nvPr/>
            </p:nvSpPr>
            <p:spPr>
              <a:xfrm>
                <a:off x="1007" y="0"/>
                <a:ext cx="446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7" name="组合 122897"/>
            <p:cNvGrpSpPr/>
            <p:nvPr/>
          </p:nvGrpSpPr>
          <p:grpSpPr>
            <a:xfrm>
              <a:off x="1009" y="1368"/>
              <a:ext cx="1435" cy="576"/>
              <a:chOff x="0" y="384"/>
              <a:chExt cx="574" cy="576"/>
            </a:xfrm>
          </p:grpSpPr>
          <p:sp>
            <p:nvSpPr>
              <p:cNvPr id="16398" name="矩形 122898"/>
              <p:cNvSpPr/>
              <p:nvPr/>
            </p:nvSpPr>
            <p:spPr>
              <a:xfrm>
                <a:off x="43" y="384"/>
                <a:ext cx="488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 eaLnBrk="0" hangingPunct="0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99" name="矩形 122899"/>
              <p:cNvSpPr/>
              <p:nvPr/>
            </p:nvSpPr>
            <p:spPr>
              <a:xfrm>
                <a:off x="0" y="384"/>
                <a:ext cx="574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00" name="组合 122900"/>
            <p:cNvGrpSpPr/>
            <p:nvPr/>
          </p:nvGrpSpPr>
          <p:grpSpPr>
            <a:xfrm>
              <a:off x="1009" y="1357"/>
              <a:ext cx="1435" cy="576"/>
              <a:chOff x="0" y="960"/>
              <a:chExt cx="574" cy="576"/>
            </a:xfrm>
          </p:grpSpPr>
          <p:sp>
            <p:nvSpPr>
              <p:cNvPr id="16401" name="矩形 122901"/>
              <p:cNvSpPr/>
              <p:nvPr/>
            </p:nvSpPr>
            <p:spPr>
              <a:xfrm>
                <a:off x="43" y="960"/>
                <a:ext cx="488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2800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16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pp</a:t>
                </a: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=100mV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2" name="矩形 122902"/>
              <p:cNvSpPr/>
              <p:nvPr/>
            </p:nvSpPr>
            <p:spPr>
              <a:xfrm>
                <a:off x="0" y="960"/>
                <a:ext cx="574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403" name="矩形 122903"/>
            <p:cNvSpPr/>
            <p:nvPr/>
          </p:nvSpPr>
          <p:spPr>
            <a:xfrm>
              <a:off x="1001" y="981"/>
              <a:ext cx="3648" cy="1542"/>
            </a:xfrm>
            <a:prstGeom prst="rect">
              <a:avLst/>
            </a:prstGeom>
            <a:noFill/>
            <a:ln w="11112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4" name="直接连接符 122904"/>
            <p:cNvSpPr/>
            <p:nvPr/>
          </p:nvSpPr>
          <p:spPr>
            <a:xfrm>
              <a:off x="989" y="989"/>
              <a:ext cx="144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405" name="矩形 122905"/>
            <p:cNvSpPr/>
            <p:nvPr/>
          </p:nvSpPr>
          <p:spPr>
            <a:xfrm>
              <a:off x="1171" y="1926"/>
              <a:ext cx="1220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/>
              <a:r>
                <a:rPr lang="en-US" altLang="zh-CN" sz="2800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1600" err="1">
                  <a:latin typeface="Times New Roman" panose="02020603050405020304" pitchFamily="18" charset="0"/>
                  <a:ea typeface="宋体" panose="02010600030101010101" pitchFamily="2" charset="-122"/>
                </a:rPr>
                <a:t>pp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=200mV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6" name="直接连接符 122906"/>
            <p:cNvSpPr/>
            <p:nvPr/>
          </p:nvSpPr>
          <p:spPr>
            <a:xfrm>
              <a:off x="3524" y="973"/>
              <a:ext cx="0" cy="15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7" name="直接连接符 122907"/>
            <p:cNvSpPr/>
            <p:nvPr/>
          </p:nvSpPr>
          <p:spPr>
            <a:xfrm>
              <a:off x="2441" y="973"/>
              <a:ext cx="0" cy="15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8" name="直接连接符 122908"/>
            <p:cNvSpPr/>
            <p:nvPr/>
          </p:nvSpPr>
          <p:spPr>
            <a:xfrm>
              <a:off x="1009" y="1946"/>
              <a:ext cx="36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文本占位符 125953"/>
          <p:cNvSpPr>
            <a:spLocks noGrp="1"/>
          </p:cNvSpPr>
          <p:nvPr>
            <p:ph idx="1"/>
          </p:nvPr>
        </p:nvSpPr>
        <p:spPr>
          <a:xfrm>
            <a:off x="34925" y="3838575"/>
            <a:ext cx="7772400" cy="2470150"/>
          </a:xfrm>
        </p:spPr>
        <p:txBody>
          <a:bodyPr anchor="t" anchorCtr="0">
            <a:spAutoFit/>
          </a:bodyPr>
          <a:p>
            <a:pPr marL="0" indent="0"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</a:rPr>
              <a:t>实验内容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</a:endParaRPr>
          </a:p>
          <a:p>
            <a:pPr lvl="1"/>
            <a:r>
              <a:rPr lang="en-US" altLang="zh-CN" b="1" i="1"/>
              <a:t>v</a:t>
            </a:r>
            <a:r>
              <a:rPr lang="en-US" altLang="zh-CN" b="1" baseline="-25000"/>
              <a:t>i1</a:t>
            </a:r>
            <a:r>
              <a:rPr lang="zh-CN" altLang="en-US" b="1" dirty="0"/>
              <a:t>输入</a:t>
            </a:r>
            <a:r>
              <a:rPr lang="en-US" altLang="zh-CN" b="1" dirty="0"/>
              <a:t>1kHz</a:t>
            </a:r>
            <a:r>
              <a:rPr lang="zh-CN" altLang="en-US" b="1" dirty="0"/>
              <a:t>正弦波</a:t>
            </a:r>
            <a:endParaRPr lang="zh-CN" altLang="en-US" b="1" dirty="0"/>
          </a:p>
          <a:p>
            <a:pPr lvl="1"/>
            <a:r>
              <a:rPr lang="en-US" altLang="zh-CN" b="1"/>
              <a:t>V</a:t>
            </a:r>
            <a:r>
              <a:rPr lang="en-US" altLang="zh-CN" b="1" baseline="-25000"/>
              <a:t>i1pp</a:t>
            </a:r>
            <a:r>
              <a:rPr lang="zh-CN" altLang="en-US" b="1" dirty="0">
                <a:sym typeface="Symbol" panose="05050102010706020507" pitchFamily="18" charset="2"/>
              </a:rPr>
              <a:t>由信号源提供</a:t>
            </a:r>
            <a:r>
              <a:rPr lang="zh-CN" altLang="en-US" b="1" dirty="0"/>
              <a:t>；</a:t>
            </a:r>
            <a:endParaRPr lang="zh-CN" altLang="en-US" b="1"/>
          </a:p>
          <a:p>
            <a:pPr lvl="1"/>
            <a:r>
              <a:rPr lang="en-US" altLang="zh-CN" b="1"/>
              <a:t>V</a:t>
            </a:r>
            <a:r>
              <a:rPr lang="en-US" altLang="zh-CN" b="1" baseline="-25000"/>
              <a:t>i2pp </a:t>
            </a:r>
            <a:r>
              <a:rPr lang="zh-CN" altLang="en-US" b="1" dirty="0">
                <a:solidFill>
                  <a:schemeClr val="tx2"/>
                </a:solidFill>
              </a:rPr>
              <a:t>（调电位器</a:t>
            </a:r>
            <a:r>
              <a:rPr lang="en-US" altLang="zh-CN" b="1" i="1" err="1">
                <a:solidFill>
                  <a:schemeClr val="tx2"/>
                </a:solidFill>
              </a:rPr>
              <a:t>R</a:t>
            </a:r>
            <a:r>
              <a:rPr lang="en-US" altLang="zh-CN" b="1" baseline="-25000" err="1">
                <a:solidFill>
                  <a:schemeClr val="tx2"/>
                </a:solidFill>
              </a:rPr>
              <a:t>p</a:t>
            </a:r>
            <a:r>
              <a:rPr lang="zh-CN" altLang="en-US" b="1">
                <a:solidFill>
                  <a:schemeClr val="tx2"/>
                </a:solidFill>
              </a:rPr>
              <a:t>）</a:t>
            </a:r>
            <a:endParaRPr lang="zh-CN" altLang="en-US" b="1"/>
          </a:p>
          <a:p>
            <a:pPr lvl="1"/>
            <a:r>
              <a:rPr lang="zh-CN" altLang="en-US" b="1" dirty="0">
                <a:latin typeface="楷体_GB2312" pitchFamily="49" charset="-122"/>
              </a:rPr>
              <a:t>设计实验表格，记录数据（</a:t>
            </a:r>
            <a:r>
              <a:rPr lang="en-US" altLang="zh-CN" b="1" dirty="0">
                <a:latin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</a:rPr>
              <a:t>～</a:t>
            </a:r>
            <a:r>
              <a:rPr lang="en-US" altLang="zh-CN" b="1" dirty="0">
                <a:latin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</a:rPr>
              <a:t>组）</a:t>
            </a:r>
            <a:endParaRPr lang="zh-CN" altLang="en-US" b="1" dirty="0">
              <a:latin typeface="楷体_GB2312" pitchFamily="49" charset="-122"/>
            </a:endParaRPr>
          </a:p>
        </p:txBody>
      </p:sp>
      <p:graphicFrame>
        <p:nvGraphicFramePr>
          <p:cNvPr id="17410" name="对象 125954" descr="羊皮纸"/>
          <p:cNvGraphicFramePr>
            <a:graphicFrameLocks noChangeAspect="1"/>
          </p:cNvGraphicFramePr>
          <p:nvPr/>
        </p:nvGraphicFramePr>
        <p:xfrm>
          <a:off x="3857625" y="1062038"/>
          <a:ext cx="4927600" cy="277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327275" imgH="1309370" progId="Word.Picture.8">
                  <p:embed/>
                </p:oleObj>
              </mc:Choice>
              <mc:Fallback>
                <p:oleObj name="" r:id="rId1" imgW="2327275" imgH="130937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7625" y="1062038"/>
                        <a:ext cx="4927600" cy="2776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标题 125955"/>
          <p:cNvSpPr>
            <a:spLocks noGrp="1"/>
          </p:cNvSpPr>
          <p:nvPr>
            <p:ph type="title"/>
          </p:nvPr>
        </p:nvSpPr>
        <p:spPr>
          <a:xfrm>
            <a:off x="468313" y="50800"/>
            <a:ext cx="7793037" cy="612775"/>
          </a:xfrm>
        </p:spPr>
        <p:txBody>
          <a:bodyPr anchor="b" anchorCtr="0"/>
          <a:p>
            <a:r>
              <a:rPr lang="en-US" altLang="zh-CN" sz="3000" dirty="0">
                <a:solidFill>
                  <a:srgbClr val="000099"/>
                </a:solidFill>
                <a:ea typeface="楷体_GB2312" pitchFamily="49" charset="-122"/>
              </a:rPr>
              <a:t>  1</a:t>
            </a:r>
            <a:r>
              <a:rPr lang="zh-CN" altLang="en-US" sz="3000" dirty="0">
                <a:solidFill>
                  <a:srgbClr val="000099"/>
                </a:solidFill>
                <a:ea typeface="楷体_GB2312" pitchFamily="49" charset="-122"/>
              </a:rPr>
              <a:t>、反向比例加法电路</a:t>
            </a:r>
            <a:endParaRPr lang="zh-CN" altLang="en-US" sz="3000" dirty="0">
              <a:solidFill>
                <a:srgbClr val="000099"/>
              </a:solidFill>
              <a:ea typeface="楷体_GB2312" pitchFamily="49" charset="-122"/>
            </a:endParaRPr>
          </a:p>
        </p:txBody>
      </p:sp>
      <p:graphicFrame>
        <p:nvGraphicFramePr>
          <p:cNvPr id="1741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4550" y="1168400"/>
          <a:ext cx="29702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397000" imgH="457200" progId="Equation.KSEE3">
                  <p:embed/>
                </p:oleObj>
              </mc:Choice>
              <mc:Fallback>
                <p:oleObj name="" r:id="rId3" imgW="1397000" imgH="457200" progId="Equation.KSEE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4550" y="1168400"/>
                        <a:ext cx="2970213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60450" y="2500313"/>
          <a:ext cx="25384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193800" imgH="457200" progId="Equation.KSEE3">
                  <p:embed/>
                </p:oleObj>
              </mc:Choice>
              <mc:Fallback>
                <p:oleObj name="" r:id="rId5" imgW="1193800" imgH="4572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0450" y="2500313"/>
                        <a:ext cx="2538413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文本框 4"/>
          <p:cNvSpPr txBox="1"/>
          <p:nvPr/>
        </p:nvSpPr>
        <p:spPr>
          <a:xfrm>
            <a:off x="403225" y="2139950"/>
            <a:ext cx="154781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R1=R2</a:t>
            </a:r>
            <a:r>
              <a:rPr lang="zh-CN" altLang="en-US" sz="2400">
                <a:latin typeface="Verdana" panose="020B0604030504040204" pitchFamily="34" charset="0"/>
                <a:ea typeface="宋体" panose="02010600030101010101" pitchFamily="2" charset="-122"/>
              </a:rPr>
              <a:t>时</a:t>
            </a:r>
            <a:endParaRPr lang="zh-CN" altLang="en-US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文本占位符 126977"/>
          <p:cNvSpPr>
            <a:spLocks noGrp="1"/>
          </p:cNvSpPr>
          <p:nvPr>
            <p:ph idx="1"/>
          </p:nvPr>
        </p:nvSpPr>
        <p:spPr>
          <a:xfrm>
            <a:off x="39688" y="3406775"/>
            <a:ext cx="7772400" cy="2471738"/>
          </a:xfrm>
        </p:spPr>
        <p:txBody>
          <a:bodyPr anchor="t" anchorCtr="0">
            <a:spAutoFit/>
          </a:bodyPr>
          <a:p>
            <a:pPr marL="0" indent="0"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</a:rPr>
              <a:t>实验内容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</a:endParaRPr>
          </a:p>
          <a:p>
            <a:pPr lvl="1"/>
            <a:r>
              <a:rPr lang="en-US" altLang="zh-CN" b="1" i="1"/>
              <a:t>v</a:t>
            </a:r>
            <a:r>
              <a:rPr lang="en-US" altLang="zh-CN" b="1" baseline="-25000"/>
              <a:t>i1</a:t>
            </a:r>
            <a:r>
              <a:rPr lang="zh-CN" altLang="en-US" b="1" dirty="0"/>
              <a:t>输入</a:t>
            </a:r>
            <a:r>
              <a:rPr lang="en-US" altLang="zh-CN" b="1" dirty="0"/>
              <a:t>1kHz</a:t>
            </a:r>
            <a:r>
              <a:rPr lang="zh-CN" altLang="en-US" b="1" dirty="0"/>
              <a:t>正弦波</a:t>
            </a:r>
            <a:endParaRPr lang="zh-CN" altLang="en-US" b="1" dirty="0"/>
          </a:p>
          <a:p>
            <a:pPr lvl="1"/>
            <a:r>
              <a:rPr lang="en-US" altLang="zh-CN" b="1"/>
              <a:t>V</a:t>
            </a:r>
            <a:r>
              <a:rPr lang="en-US" altLang="zh-CN" b="1" baseline="-25000"/>
              <a:t>i1pp </a:t>
            </a:r>
            <a:r>
              <a:rPr lang="zh-CN" altLang="en-US" b="1" dirty="0">
                <a:sym typeface="Symbol" panose="05050102010706020507" pitchFamily="18" charset="2"/>
              </a:rPr>
              <a:t>由信号源提供</a:t>
            </a:r>
            <a:r>
              <a:rPr lang="zh-CN" altLang="en-US" b="1" dirty="0"/>
              <a:t>；</a:t>
            </a:r>
            <a:endParaRPr lang="zh-CN" altLang="en-US" b="1"/>
          </a:p>
          <a:p>
            <a:pPr lvl="1"/>
            <a:r>
              <a:rPr lang="en-US" altLang="zh-CN" b="1"/>
              <a:t>V</a:t>
            </a:r>
            <a:r>
              <a:rPr lang="en-US" altLang="zh-CN" b="1" baseline="-25000"/>
              <a:t>i2pp  </a:t>
            </a:r>
            <a:r>
              <a:rPr lang="zh-CN" altLang="en-US" b="1" dirty="0">
                <a:solidFill>
                  <a:schemeClr val="tx2"/>
                </a:solidFill>
              </a:rPr>
              <a:t>（调电位器</a:t>
            </a:r>
            <a:r>
              <a:rPr lang="en-US" altLang="zh-CN" b="1" i="1" err="1">
                <a:solidFill>
                  <a:schemeClr val="tx2"/>
                </a:solidFill>
              </a:rPr>
              <a:t>R</a:t>
            </a:r>
            <a:r>
              <a:rPr lang="en-US" altLang="zh-CN" b="1" baseline="-25000" err="1">
                <a:solidFill>
                  <a:schemeClr val="tx2"/>
                </a:solidFill>
              </a:rPr>
              <a:t>p</a:t>
            </a:r>
            <a:r>
              <a:rPr lang="zh-CN" altLang="en-US" b="1">
                <a:solidFill>
                  <a:schemeClr val="tx2"/>
                </a:solidFill>
              </a:rPr>
              <a:t>）</a:t>
            </a:r>
            <a:endParaRPr lang="zh-CN" altLang="en-US" b="1"/>
          </a:p>
          <a:p>
            <a:pPr lvl="1"/>
            <a:r>
              <a:rPr lang="zh-CN" altLang="en-US" b="1" dirty="0">
                <a:latin typeface="楷体_GB2312" pitchFamily="49" charset="-122"/>
              </a:rPr>
              <a:t>设计实验表格，记录数据（</a:t>
            </a:r>
            <a:r>
              <a:rPr lang="en-US" altLang="zh-CN" b="1" dirty="0">
                <a:latin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</a:rPr>
              <a:t>～</a:t>
            </a:r>
            <a:r>
              <a:rPr lang="en-US" altLang="zh-CN" b="1" dirty="0">
                <a:latin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</a:rPr>
              <a:t>组）</a:t>
            </a:r>
            <a:endParaRPr lang="zh-CN" altLang="en-US" b="1" dirty="0">
              <a:latin typeface="楷体_GB2312" pitchFamily="49" charset="-122"/>
            </a:endParaRPr>
          </a:p>
        </p:txBody>
      </p:sp>
      <p:graphicFrame>
        <p:nvGraphicFramePr>
          <p:cNvPr id="19458" name="对象 126978" descr="羊皮纸"/>
          <p:cNvGraphicFramePr>
            <a:graphicFrameLocks noChangeAspect="1"/>
          </p:cNvGraphicFramePr>
          <p:nvPr/>
        </p:nvGraphicFramePr>
        <p:xfrm>
          <a:off x="4330700" y="1047750"/>
          <a:ext cx="4529138" cy="285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077085" imgH="1309370" progId="Word.Picture.8">
                  <p:embed/>
                </p:oleObj>
              </mc:Choice>
              <mc:Fallback>
                <p:oleObj name="" r:id="rId1" imgW="2077085" imgH="1309370" progId="Word.Picture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30700" y="1047750"/>
                        <a:ext cx="4529138" cy="285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标题 126979"/>
          <p:cNvSpPr>
            <a:spLocks noGrp="1"/>
          </p:cNvSpPr>
          <p:nvPr>
            <p:ph type="title"/>
          </p:nvPr>
        </p:nvSpPr>
        <p:spPr>
          <a:xfrm>
            <a:off x="539750" y="-98425"/>
            <a:ext cx="7793038" cy="762000"/>
          </a:xfrm>
        </p:spPr>
        <p:txBody>
          <a:bodyPr anchor="b" anchorCtr="0"/>
          <a:p>
            <a:r>
              <a:rPr lang="en-US" altLang="zh-CN" sz="3000" dirty="0">
                <a:solidFill>
                  <a:srgbClr val="000099"/>
                </a:solidFill>
                <a:ea typeface="楷体_GB2312" pitchFamily="49" charset="-122"/>
              </a:rPr>
              <a:t>  2</a:t>
            </a:r>
            <a:r>
              <a:rPr lang="zh-CN" altLang="en-US" sz="3000" dirty="0">
                <a:solidFill>
                  <a:srgbClr val="000099"/>
                </a:solidFill>
                <a:ea typeface="楷体_GB2312" pitchFamily="49" charset="-122"/>
              </a:rPr>
              <a:t>、反向比例</a:t>
            </a:r>
            <a:r>
              <a:rPr lang="zh-CN" altLang="en-US" sz="3000" dirty="0">
                <a:solidFill>
                  <a:srgbClr val="000099"/>
                </a:solidFill>
                <a:latin typeface="Tahoma" panose="020B0604030504040204" pitchFamily="34" charset="0"/>
                <a:ea typeface="楷体_GB2312" pitchFamily="49" charset="-122"/>
              </a:rPr>
              <a:t>减</a:t>
            </a:r>
            <a:r>
              <a:rPr lang="zh-CN" altLang="en-US" sz="3000" dirty="0">
                <a:solidFill>
                  <a:srgbClr val="000099"/>
                </a:solidFill>
                <a:ea typeface="楷体_GB2312" pitchFamily="49" charset="-122"/>
              </a:rPr>
              <a:t>法电路</a:t>
            </a:r>
            <a:endParaRPr lang="zh-CN" altLang="en-US" sz="3000" dirty="0">
              <a:solidFill>
                <a:srgbClr val="000099"/>
              </a:solidFill>
              <a:ea typeface="楷体_GB2312" pitchFamily="49" charset="-122"/>
            </a:endParaRPr>
          </a:p>
        </p:txBody>
      </p:sp>
      <p:graphicFrame>
        <p:nvGraphicFramePr>
          <p:cNvPr id="19460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5825" y="1166813"/>
          <a:ext cx="28892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1358900" imgH="457200" progId="Equation.KSEE3">
                  <p:embed/>
                </p:oleObj>
              </mc:Choice>
              <mc:Fallback>
                <p:oleObj name="" r:id="rId3" imgW="1358900" imgH="4572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5825" y="1166813"/>
                        <a:ext cx="2889250" cy="973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01725" y="2500313"/>
          <a:ext cx="24574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1155700" imgH="457200" progId="Equation.KSEE3">
                  <p:embed/>
                </p:oleObj>
              </mc:Choice>
              <mc:Fallback>
                <p:oleObj name="" r:id="rId5" imgW="1155700" imgH="4572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1725" y="2500313"/>
                        <a:ext cx="2457450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文本框 3"/>
          <p:cNvSpPr txBox="1"/>
          <p:nvPr/>
        </p:nvSpPr>
        <p:spPr>
          <a:xfrm>
            <a:off x="403225" y="2139950"/>
            <a:ext cx="154781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R1=R2</a:t>
            </a:r>
            <a:r>
              <a:rPr lang="zh-CN" altLang="en-US" sz="2400">
                <a:latin typeface="Verdana" panose="020B0604030504040204" pitchFamily="34" charset="0"/>
                <a:ea typeface="宋体" panose="02010600030101010101" pitchFamily="2" charset="-122"/>
              </a:rPr>
              <a:t>时</a:t>
            </a:r>
            <a:endParaRPr lang="zh-CN" altLang="en-US" sz="24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28001"/>
          <p:cNvSpPr>
            <a:spLocks noGrp="1"/>
          </p:cNvSpPr>
          <p:nvPr>
            <p:ph type="title"/>
          </p:nvPr>
        </p:nvSpPr>
        <p:spPr>
          <a:xfrm>
            <a:off x="574675" y="131763"/>
            <a:ext cx="3981450" cy="454025"/>
          </a:xfrm>
        </p:spPr>
        <p:txBody>
          <a:bodyPr anchor="b" anchorCtr="0"/>
          <a:p>
            <a:r>
              <a:rPr lang="en-US" altLang="zh-CN" sz="2500" b="0" dirty="0">
                <a:ea typeface="楷体_GB2312" pitchFamily="49" charset="-122"/>
              </a:rPr>
              <a:t>    </a:t>
            </a:r>
            <a:r>
              <a:rPr lang="zh-CN" altLang="en-US" sz="2500" b="0" dirty="0">
                <a:ea typeface="楷体_GB2312" pitchFamily="49" charset="-122"/>
              </a:rPr>
              <a:t>数据参考表格</a:t>
            </a:r>
            <a:endParaRPr lang="zh-CN" altLang="en-US" sz="2500" b="0" dirty="0">
              <a:ea typeface="楷体_GB2312" pitchFamily="49" charset="-122"/>
            </a:endParaRPr>
          </a:p>
        </p:txBody>
      </p:sp>
      <p:grpSp>
        <p:nvGrpSpPr>
          <p:cNvPr id="20482" name="组合 128002"/>
          <p:cNvGrpSpPr/>
          <p:nvPr/>
        </p:nvGrpSpPr>
        <p:grpSpPr>
          <a:xfrm>
            <a:off x="1612900" y="2366963"/>
            <a:ext cx="5765800" cy="2438400"/>
            <a:chOff x="0" y="0"/>
            <a:chExt cx="1453" cy="1536"/>
          </a:xfrm>
        </p:grpSpPr>
        <p:grpSp>
          <p:nvGrpSpPr>
            <p:cNvPr id="20483" name="组合 128003"/>
            <p:cNvGrpSpPr/>
            <p:nvPr/>
          </p:nvGrpSpPr>
          <p:grpSpPr>
            <a:xfrm>
              <a:off x="0" y="0"/>
              <a:ext cx="574" cy="384"/>
              <a:chOff x="0" y="0"/>
              <a:chExt cx="574" cy="384"/>
            </a:xfrm>
          </p:grpSpPr>
          <p:sp>
            <p:nvSpPr>
              <p:cNvPr id="20484" name="矩形 128004"/>
              <p:cNvSpPr/>
              <p:nvPr/>
            </p:nvSpPr>
            <p:spPr>
              <a:xfrm>
                <a:off x="43" y="0"/>
                <a:ext cx="48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                </a:t>
                </a:r>
                <a:r>
                  <a:rPr lang="en-US" altLang="zh-CN" sz="2400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5" name="矩形 128005"/>
              <p:cNvSpPr/>
              <p:nvPr/>
            </p:nvSpPr>
            <p:spPr>
              <a:xfrm>
                <a:off x="0" y="0"/>
                <a:ext cx="57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86" name="组合 128006"/>
            <p:cNvGrpSpPr/>
            <p:nvPr/>
          </p:nvGrpSpPr>
          <p:grpSpPr>
            <a:xfrm>
              <a:off x="574" y="0"/>
              <a:ext cx="433" cy="384"/>
              <a:chOff x="574" y="0"/>
              <a:chExt cx="433" cy="384"/>
            </a:xfrm>
          </p:grpSpPr>
          <p:sp>
            <p:nvSpPr>
              <p:cNvPr id="20487" name="矩形 128007"/>
              <p:cNvSpPr/>
              <p:nvPr/>
            </p:nvSpPr>
            <p:spPr>
              <a:xfrm>
                <a:off x="617" y="0"/>
                <a:ext cx="347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2400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800" baseline="-250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zh-CN" altLang="en-US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实测值</a:t>
                </a:r>
                <a:endParaRPr lang="zh-CN" altLang="en-US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8" name="矩形 128008"/>
              <p:cNvSpPr/>
              <p:nvPr/>
            </p:nvSpPr>
            <p:spPr>
              <a:xfrm>
                <a:off x="574" y="0"/>
                <a:ext cx="433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89" name="组合 128009"/>
            <p:cNvGrpSpPr/>
            <p:nvPr/>
          </p:nvGrpSpPr>
          <p:grpSpPr>
            <a:xfrm>
              <a:off x="1007" y="0"/>
              <a:ext cx="446" cy="384"/>
              <a:chOff x="1007" y="0"/>
              <a:chExt cx="446" cy="384"/>
            </a:xfrm>
          </p:grpSpPr>
          <p:sp>
            <p:nvSpPr>
              <p:cNvPr id="20490" name="矩形 128010"/>
              <p:cNvSpPr/>
              <p:nvPr/>
            </p:nvSpPr>
            <p:spPr>
              <a:xfrm>
                <a:off x="1050" y="0"/>
                <a:ext cx="36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2400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理论值</a:t>
                </a:r>
                <a:endParaRPr lang="zh-CN" altLang="en-US" sz="20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algn="ctr" eaLnBrk="0" hangingPunct="0"/>
                <a:endPara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491" name="矩形 128011"/>
              <p:cNvSpPr/>
              <p:nvPr/>
            </p:nvSpPr>
            <p:spPr>
              <a:xfrm>
                <a:off x="1007" y="0"/>
                <a:ext cx="446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92" name="组合 128012"/>
            <p:cNvGrpSpPr/>
            <p:nvPr/>
          </p:nvGrpSpPr>
          <p:grpSpPr>
            <a:xfrm>
              <a:off x="0" y="384"/>
              <a:ext cx="574" cy="576"/>
              <a:chOff x="0" y="384"/>
              <a:chExt cx="574" cy="576"/>
            </a:xfrm>
          </p:grpSpPr>
          <p:sp>
            <p:nvSpPr>
              <p:cNvPr id="20493" name="矩形 128013"/>
              <p:cNvSpPr/>
              <p:nvPr/>
            </p:nvSpPr>
            <p:spPr>
              <a:xfrm>
                <a:off x="43" y="384"/>
                <a:ext cx="488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i1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=400mv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="1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i2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=100mv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4" name="矩形 128014"/>
              <p:cNvSpPr/>
              <p:nvPr/>
            </p:nvSpPr>
            <p:spPr>
              <a:xfrm>
                <a:off x="0" y="384"/>
                <a:ext cx="574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95" name="组合 128015"/>
            <p:cNvGrpSpPr/>
            <p:nvPr/>
          </p:nvGrpSpPr>
          <p:grpSpPr>
            <a:xfrm>
              <a:off x="574" y="384"/>
              <a:ext cx="433" cy="576"/>
              <a:chOff x="574" y="384"/>
              <a:chExt cx="433" cy="576"/>
            </a:xfrm>
          </p:grpSpPr>
          <p:sp>
            <p:nvSpPr>
              <p:cNvPr id="20496" name="矩形 128016"/>
              <p:cNvSpPr/>
              <p:nvPr/>
            </p:nvSpPr>
            <p:spPr>
              <a:xfrm>
                <a:off x="617" y="384"/>
                <a:ext cx="347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 </a:t>
                </a:r>
                <a:endPara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7" name="矩形 128017"/>
              <p:cNvSpPr/>
              <p:nvPr/>
            </p:nvSpPr>
            <p:spPr>
              <a:xfrm>
                <a:off x="574" y="384"/>
                <a:ext cx="433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98" name="组合 128018"/>
            <p:cNvGrpSpPr/>
            <p:nvPr/>
          </p:nvGrpSpPr>
          <p:grpSpPr>
            <a:xfrm>
              <a:off x="1007" y="384"/>
              <a:ext cx="446" cy="576"/>
              <a:chOff x="1007" y="384"/>
              <a:chExt cx="446" cy="576"/>
            </a:xfrm>
          </p:grpSpPr>
          <p:sp>
            <p:nvSpPr>
              <p:cNvPr id="20499" name="矩形 128019"/>
              <p:cNvSpPr/>
              <p:nvPr/>
            </p:nvSpPr>
            <p:spPr>
              <a:xfrm>
                <a:off x="1050" y="384"/>
                <a:ext cx="360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 </a:t>
                </a:r>
                <a:endPara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0" name="矩形 128020"/>
              <p:cNvSpPr/>
              <p:nvPr/>
            </p:nvSpPr>
            <p:spPr>
              <a:xfrm>
                <a:off x="1007" y="384"/>
                <a:ext cx="446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01" name="组合 128021"/>
            <p:cNvGrpSpPr/>
            <p:nvPr/>
          </p:nvGrpSpPr>
          <p:grpSpPr>
            <a:xfrm>
              <a:off x="0" y="960"/>
              <a:ext cx="574" cy="576"/>
              <a:chOff x="0" y="960"/>
              <a:chExt cx="574" cy="576"/>
            </a:xfrm>
          </p:grpSpPr>
          <p:sp>
            <p:nvSpPr>
              <p:cNvPr id="20502" name="矩形 128022"/>
              <p:cNvSpPr/>
              <p:nvPr/>
            </p:nvSpPr>
            <p:spPr>
              <a:xfrm>
                <a:off x="43" y="960"/>
                <a:ext cx="488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just"/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i1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=400mv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i2</a:t>
                </a: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=200mv</a:t>
                </a:r>
                <a:endPara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3" name="矩形 128023"/>
              <p:cNvSpPr/>
              <p:nvPr/>
            </p:nvSpPr>
            <p:spPr>
              <a:xfrm>
                <a:off x="0" y="960"/>
                <a:ext cx="574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04" name="组合 128024"/>
            <p:cNvGrpSpPr/>
            <p:nvPr/>
          </p:nvGrpSpPr>
          <p:grpSpPr>
            <a:xfrm>
              <a:off x="574" y="960"/>
              <a:ext cx="433" cy="576"/>
              <a:chOff x="574" y="960"/>
              <a:chExt cx="433" cy="576"/>
            </a:xfrm>
          </p:grpSpPr>
          <p:sp>
            <p:nvSpPr>
              <p:cNvPr id="20505" name="矩形 128025"/>
              <p:cNvSpPr/>
              <p:nvPr/>
            </p:nvSpPr>
            <p:spPr>
              <a:xfrm>
                <a:off x="617" y="960"/>
                <a:ext cx="347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 </a:t>
                </a:r>
                <a:endPara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6" name="矩形 128026"/>
              <p:cNvSpPr/>
              <p:nvPr/>
            </p:nvSpPr>
            <p:spPr>
              <a:xfrm>
                <a:off x="574" y="960"/>
                <a:ext cx="433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07" name="组合 128027"/>
            <p:cNvGrpSpPr/>
            <p:nvPr/>
          </p:nvGrpSpPr>
          <p:grpSpPr>
            <a:xfrm>
              <a:off x="1007" y="960"/>
              <a:ext cx="446" cy="576"/>
              <a:chOff x="1007" y="960"/>
              <a:chExt cx="446" cy="576"/>
            </a:xfrm>
          </p:grpSpPr>
          <p:sp>
            <p:nvSpPr>
              <p:cNvPr id="20508" name="矩形 128028"/>
              <p:cNvSpPr/>
              <p:nvPr/>
            </p:nvSpPr>
            <p:spPr>
              <a:xfrm>
                <a:off x="1050" y="960"/>
                <a:ext cx="360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 </a:t>
                </a:r>
                <a:endPara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 eaLnBrk="0" hangingPunct="0"/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9" name="矩形 128029"/>
              <p:cNvSpPr/>
              <p:nvPr/>
            </p:nvSpPr>
            <p:spPr>
              <a:xfrm>
                <a:off x="1007" y="960"/>
                <a:ext cx="446" cy="576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0510" name="矩形 128030"/>
          <p:cNvSpPr/>
          <p:nvPr/>
        </p:nvSpPr>
        <p:spPr>
          <a:xfrm>
            <a:off x="1600200" y="2362200"/>
            <a:ext cx="5791200" cy="2447925"/>
          </a:xfrm>
          <a:prstGeom prst="rect">
            <a:avLst/>
          </a:prstGeom>
          <a:noFill/>
          <a:ln w="11112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11" name="直接连接符 128031"/>
          <p:cNvSpPr/>
          <p:nvPr/>
        </p:nvSpPr>
        <p:spPr>
          <a:xfrm>
            <a:off x="1600200" y="2362200"/>
            <a:ext cx="22860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12" name="文本框 128032"/>
          <p:cNvSpPr txBox="1"/>
          <p:nvPr/>
        </p:nvSpPr>
        <p:spPr>
          <a:xfrm>
            <a:off x="1835150" y="1844675"/>
            <a:ext cx="54673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表  反相比例加法（或减法运算）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13" name="文本框 128033"/>
          <p:cNvSpPr txBox="1"/>
          <p:nvPr/>
        </p:nvSpPr>
        <p:spPr>
          <a:xfrm>
            <a:off x="1828800" y="5105400"/>
            <a:ext cx="4267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i2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调电位器</a:t>
            </a:r>
            <a:r>
              <a:rPr lang="en-US" altLang="zh-CN" sz="2800" b="1" i="1" err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 err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endParaRPr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23905"/>
          <p:cNvSpPr>
            <a:spLocks noGrp="1"/>
          </p:cNvSpPr>
          <p:nvPr>
            <p:ph type="title"/>
          </p:nvPr>
        </p:nvSpPr>
        <p:spPr>
          <a:xfrm>
            <a:off x="468313" y="46038"/>
            <a:ext cx="7793037" cy="609600"/>
          </a:xfrm>
        </p:spPr>
        <p:txBody>
          <a:bodyPr anchor="b" anchorCtr="0"/>
          <a:p>
            <a:r>
              <a:rPr lang="en-US" altLang="zh-CN" sz="3400" dirty="0">
                <a:solidFill>
                  <a:srgbClr val="000099"/>
                </a:solidFill>
                <a:ea typeface="楷体_GB2312" pitchFamily="49" charset="-122"/>
              </a:rPr>
              <a:t> 3</a:t>
            </a:r>
            <a:r>
              <a:rPr lang="zh-CN" altLang="en-US" sz="3400" dirty="0">
                <a:solidFill>
                  <a:srgbClr val="000099"/>
                </a:solidFill>
                <a:ea typeface="楷体_GB2312" pitchFamily="49" charset="-122"/>
              </a:rPr>
              <a:t>、积分电路</a:t>
            </a:r>
            <a:endParaRPr lang="zh-CN" altLang="en-US" sz="3400" dirty="0">
              <a:solidFill>
                <a:srgbClr val="000099"/>
              </a:solidFill>
              <a:ea typeface="楷体_GB2312" pitchFamily="49" charset="-122"/>
            </a:endParaRPr>
          </a:p>
        </p:txBody>
      </p:sp>
      <p:sp>
        <p:nvSpPr>
          <p:cNvPr id="21506" name="文本占位符 123906"/>
          <p:cNvSpPr>
            <a:spLocks noGrp="1"/>
          </p:cNvSpPr>
          <p:nvPr>
            <p:ph idx="1"/>
          </p:nvPr>
        </p:nvSpPr>
        <p:spPr>
          <a:xfrm>
            <a:off x="827088" y="4210050"/>
            <a:ext cx="7772400" cy="1744663"/>
          </a:xfrm>
        </p:spPr>
        <p:txBody>
          <a:bodyPr wrap="square" anchor="t" anchorCtr="0">
            <a:spAutoFit/>
          </a:bodyPr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</a:rPr>
              <a:t>实验内容</a:t>
            </a:r>
            <a:endParaRPr lang="zh-CN" altLang="en-US" b="1" dirty="0">
              <a:solidFill>
                <a:srgbClr val="CC0000"/>
              </a:solidFill>
              <a:latin typeface="楷体_GB2312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/>
              <a:t>输入：</a:t>
            </a:r>
            <a:r>
              <a:rPr lang="en-US" altLang="zh-CN" b="1" i="1"/>
              <a:t>f </a:t>
            </a:r>
            <a:r>
              <a:rPr lang="en-US" altLang="zh-CN" b="1" dirty="0"/>
              <a:t>= 500Hz</a:t>
            </a:r>
            <a:r>
              <a:rPr lang="zh-CN" altLang="en-US" b="1" dirty="0"/>
              <a:t>，幅值为</a:t>
            </a:r>
            <a:r>
              <a:rPr lang="en-US" altLang="zh-CN" b="1" dirty="0"/>
              <a:t>1V</a:t>
            </a:r>
            <a:r>
              <a:rPr lang="zh-CN" altLang="en-US" b="1" dirty="0"/>
              <a:t>的正方波</a:t>
            </a:r>
            <a:endParaRPr lang="zh-CN" altLang="en-US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用示波器（直流耦合）测试</a:t>
            </a:r>
            <a:r>
              <a:rPr lang="en-US" altLang="zh-CN" b="1" i="1"/>
              <a:t>v</a:t>
            </a:r>
            <a:r>
              <a:rPr lang="en-US" altLang="zh-CN" b="1" baseline="-25000"/>
              <a:t>i </a:t>
            </a:r>
            <a:r>
              <a:rPr lang="zh-CN" altLang="en-US" b="1"/>
              <a:t>和 </a:t>
            </a:r>
            <a:r>
              <a:rPr lang="en-US" altLang="zh-CN" b="1" i="1" err="1"/>
              <a:t>v</a:t>
            </a:r>
            <a:r>
              <a:rPr lang="en-US" altLang="zh-CN" b="1" baseline="-25000" err="1"/>
              <a:t>o</a:t>
            </a:r>
            <a:r>
              <a:rPr lang="en-US" altLang="zh-CN" b="1" dirty="0"/>
              <a:t> </a:t>
            </a:r>
            <a:r>
              <a:rPr lang="zh-CN" altLang="en-US" b="1" dirty="0"/>
              <a:t>，画出其波形，标出其周期和幅值等参数。</a:t>
            </a:r>
            <a:endParaRPr lang="zh-CN" altLang="en-US" b="1" dirty="0">
              <a:solidFill>
                <a:srgbClr val="CC0000"/>
              </a:solidFill>
            </a:endParaRPr>
          </a:p>
        </p:txBody>
      </p:sp>
      <p:graphicFrame>
        <p:nvGraphicFramePr>
          <p:cNvPr id="21507" name="对象 123907" descr="羊皮纸"/>
          <p:cNvGraphicFramePr>
            <a:graphicFrameLocks noChangeAspect="1"/>
          </p:cNvGraphicFramePr>
          <p:nvPr/>
        </p:nvGraphicFramePr>
        <p:xfrm>
          <a:off x="4168775" y="876300"/>
          <a:ext cx="4213225" cy="292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562100" imgH="1086485" progId="Word.Picture.8">
                  <p:embed/>
                </p:oleObj>
              </mc:Choice>
              <mc:Fallback>
                <p:oleObj name="" r:id="rId1" imgW="1562100" imgH="1086485" progId="Word.Picture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68775" y="876300"/>
                        <a:ext cx="4213225" cy="292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1875" y="1858963"/>
          <a:ext cx="23399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079500" imgH="431800" progId="Equation.KSEE3">
                  <p:embed/>
                </p:oleObj>
              </mc:Choice>
              <mc:Fallback>
                <p:oleObj name="" r:id="rId3" imgW="1079500" imgH="4318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1875" y="1858963"/>
                        <a:ext cx="2339975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9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613" y="3148013"/>
            <a:ext cx="1503362" cy="431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124929"/>
          <p:cNvSpPr>
            <a:spLocks noGrp="1"/>
          </p:cNvSpPr>
          <p:nvPr>
            <p:ph type="title"/>
          </p:nvPr>
        </p:nvSpPr>
        <p:spPr>
          <a:xfrm>
            <a:off x="558800" y="88900"/>
            <a:ext cx="7793038" cy="588963"/>
          </a:xfrm>
        </p:spPr>
        <p:txBody>
          <a:bodyPr anchor="b" anchorCtr="0"/>
          <a:p>
            <a:r>
              <a:rPr lang="en-US" altLang="zh-CN" sz="2500" dirty="0">
                <a:solidFill>
                  <a:srgbClr val="0000FF"/>
                </a:solidFill>
                <a:ea typeface="楷体_GB2312" pitchFamily="49" charset="-122"/>
                <a:sym typeface="Wingdings 2" panose="05020102010507070707" pitchFamily="18" charset="2"/>
              </a:rPr>
              <a:t>    </a:t>
            </a:r>
            <a:r>
              <a:rPr lang="en-US" altLang="zh-CN" sz="2500" dirty="0">
                <a:solidFill>
                  <a:srgbClr val="0066CC"/>
                </a:solidFill>
                <a:ea typeface="楷体_GB2312" pitchFamily="49" charset="-122"/>
                <a:sym typeface="Wingdings 2" panose="05020102010507070707" pitchFamily="18" charset="2"/>
              </a:rPr>
              <a:t> </a:t>
            </a:r>
            <a:r>
              <a:rPr lang="zh-CN" altLang="en-US" sz="2500" dirty="0">
                <a:solidFill>
                  <a:srgbClr val="CC0000"/>
                </a:solidFill>
                <a:ea typeface="楷体_GB2312" pitchFamily="49" charset="-122"/>
              </a:rPr>
              <a:t>实验调试要点</a:t>
            </a:r>
            <a:endParaRPr lang="zh-CN" altLang="en-US" sz="2500">
              <a:solidFill>
                <a:srgbClr val="CC0000"/>
              </a:solidFill>
              <a:ea typeface="楷体_GB2312" pitchFamily="49" charset="-122"/>
            </a:endParaRPr>
          </a:p>
        </p:txBody>
      </p:sp>
      <p:sp>
        <p:nvSpPr>
          <p:cNvPr id="22530" name="文本占位符 124930"/>
          <p:cNvSpPr>
            <a:spLocks noGrp="1"/>
          </p:cNvSpPr>
          <p:nvPr>
            <p:ph idx="1"/>
          </p:nvPr>
        </p:nvSpPr>
        <p:spPr>
          <a:xfrm>
            <a:off x="361315" y="700405"/>
            <a:ext cx="8441690" cy="1599565"/>
          </a:xfrm>
          <a:gradFill rotWithShape="0">
            <a:gsLst>
              <a:gs pos="0">
                <a:srgbClr val="99FFCC"/>
              </a:gs>
              <a:gs pos="50000">
                <a:schemeClr val="bg1"/>
              </a:gs>
              <a:gs pos="100000">
                <a:srgbClr val="99FFCC"/>
              </a:gs>
            </a:gsLst>
            <a:lin ang="0" scaled="1"/>
            <a:tileRect/>
          </a:gradFill>
        </p:spPr>
        <p:txBody>
          <a:bodyPr wrap="square" anchor="t" anchorCtr="0">
            <a:spAutoFit/>
          </a:bodyPr>
          <a:p>
            <a:pPr lvl="1">
              <a:spcBef>
                <a:spcPct val="0"/>
              </a:spcBef>
            </a:pPr>
            <a:r>
              <a:rPr lang="zh-CN" altLang="en-US" dirty="0">
                <a:solidFill>
                  <a:schemeClr val="folHlink"/>
                </a:solidFill>
              </a:rPr>
              <a:t>输入：</a:t>
            </a:r>
            <a:r>
              <a:rPr lang="en-US" altLang="zh-CN" i="1">
                <a:solidFill>
                  <a:schemeClr val="folHlink"/>
                </a:solidFill>
              </a:rPr>
              <a:t>f </a:t>
            </a:r>
            <a:r>
              <a:rPr lang="en-US" altLang="zh-CN" dirty="0">
                <a:solidFill>
                  <a:schemeClr val="folHlink"/>
                </a:solidFill>
              </a:rPr>
              <a:t>= 500Hz</a:t>
            </a:r>
            <a:r>
              <a:rPr lang="zh-CN" altLang="en-US" dirty="0">
                <a:solidFill>
                  <a:schemeClr val="folHlink"/>
                </a:solidFill>
              </a:rPr>
              <a:t>，幅值为</a:t>
            </a:r>
            <a:r>
              <a:rPr lang="en-US" altLang="zh-CN" dirty="0">
                <a:solidFill>
                  <a:schemeClr val="folHlink"/>
                </a:solidFill>
              </a:rPr>
              <a:t>1V</a:t>
            </a:r>
            <a:r>
              <a:rPr lang="zh-CN" altLang="en-US" dirty="0">
                <a:solidFill>
                  <a:schemeClr val="folHlink"/>
                </a:solidFill>
              </a:rPr>
              <a:t>的</a:t>
            </a:r>
            <a:r>
              <a:rPr lang="zh-CN" altLang="en-US" dirty="0">
                <a:solidFill>
                  <a:schemeClr val="hlink"/>
                </a:solidFill>
              </a:rPr>
              <a:t>正方波</a:t>
            </a:r>
            <a:endParaRPr lang="zh-CN" altLang="en-US" dirty="0">
              <a:solidFill>
                <a:schemeClr val="hlink"/>
              </a:solidFill>
            </a:endParaRPr>
          </a:p>
          <a:p>
            <a:pPr lvl="2">
              <a:spcBef>
                <a:spcPct val="0"/>
              </a:spcBef>
            </a:pPr>
            <a:r>
              <a:rPr lang="zh-CN" altLang="en-US" dirty="0">
                <a:solidFill>
                  <a:schemeClr val="folHlink"/>
                </a:solidFill>
              </a:rPr>
              <a:t>调节</a:t>
            </a:r>
            <a:r>
              <a:rPr lang="zh-CN" altLang="en-US" dirty="0">
                <a:solidFill>
                  <a:srgbClr val="CC0000"/>
                </a:solidFill>
              </a:rPr>
              <a:t>信号源</a:t>
            </a:r>
            <a:r>
              <a:rPr lang="zh-CN" altLang="en-US" dirty="0">
                <a:solidFill>
                  <a:schemeClr val="folHlink"/>
                </a:solidFill>
              </a:rPr>
              <a:t>的</a:t>
            </a:r>
            <a:r>
              <a:rPr lang="en-US" altLang="zh-CN" dirty="0">
                <a:solidFill>
                  <a:srgbClr val="CC0000"/>
                </a:solidFill>
              </a:rPr>
              <a:t>offset</a:t>
            </a:r>
            <a:r>
              <a:rPr lang="zh-CN" altLang="en-US" dirty="0">
                <a:solidFill>
                  <a:srgbClr val="CC0000"/>
                </a:solidFill>
              </a:rPr>
              <a:t>旋纽</a:t>
            </a:r>
            <a:r>
              <a:rPr lang="zh-CN" altLang="en-US" dirty="0">
                <a:solidFill>
                  <a:schemeClr val="folHlink"/>
                </a:solidFill>
              </a:rPr>
              <a:t>使其为正方波</a:t>
            </a:r>
            <a:endParaRPr lang="zh-CN" altLang="en-US" dirty="0">
              <a:solidFill>
                <a:schemeClr val="folHlink"/>
              </a:solidFill>
            </a:endParaRPr>
          </a:p>
          <a:p>
            <a:pPr lvl="1">
              <a:spcBef>
                <a:spcPct val="0"/>
              </a:spcBef>
            </a:pPr>
            <a:r>
              <a:rPr lang="zh-CN" altLang="en-US" dirty="0">
                <a:solidFill>
                  <a:schemeClr val="folHlink"/>
                </a:solidFill>
              </a:rPr>
              <a:t>示波器测试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en-US" altLang="zh-CN" baseline="-25000">
                <a:solidFill>
                  <a:schemeClr val="folHlink"/>
                </a:solidFill>
              </a:rPr>
              <a:t>i </a:t>
            </a:r>
            <a:r>
              <a:rPr lang="zh-CN" altLang="en-US">
                <a:solidFill>
                  <a:schemeClr val="folHlink"/>
                </a:solidFill>
              </a:rPr>
              <a:t>和 </a:t>
            </a:r>
            <a:r>
              <a:rPr lang="en-US" altLang="zh-CN" i="1" err="1">
                <a:solidFill>
                  <a:schemeClr val="folHlink"/>
                </a:solidFill>
              </a:rPr>
              <a:t>v</a:t>
            </a:r>
            <a:r>
              <a:rPr lang="en-US" altLang="zh-CN" baseline="-25000" err="1">
                <a:solidFill>
                  <a:schemeClr val="folHlink"/>
                </a:solidFill>
              </a:rPr>
              <a:t>o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>
                <a:solidFill>
                  <a:schemeClr val="folHlink"/>
                </a:solidFill>
              </a:rPr>
              <a:t>，画波形、标周期、幅值等</a:t>
            </a:r>
            <a:endParaRPr lang="zh-CN" altLang="en-US" dirty="0">
              <a:solidFill>
                <a:schemeClr val="folHlink"/>
              </a:solidFill>
            </a:endParaRPr>
          </a:p>
          <a:p>
            <a:pPr lvl="2">
              <a:spcBef>
                <a:spcPct val="0"/>
              </a:spcBef>
            </a:pPr>
            <a:r>
              <a:rPr lang="zh-CN" altLang="en-US" dirty="0">
                <a:solidFill>
                  <a:schemeClr val="folHlink"/>
                </a:solidFill>
              </a:rPr>
              <a:t>示波器</a:t>
            </a:r>
            <a:r>
              <a:rPr lang="en-US" altLang="zh-CN" dirty="0">
                <a:solidFill>
                  <a:schemeClr val="folHlink"/>
                </a:solidFill>
              </a:rPr>
              <a:t>CH1</a:t>
            </a:r>
            <a:r>
              <a:rPr lang="zh-CN" altLang="en-US" dirty="0">
                <a:solidFill>
                  <a:schemeClr val="folHlink"/>
                </a:solidFill>
              </a:rPr>
              <a:t>、</a:t>
            </a:r>
            <a:r>
              <a:rPr lang="en-US" altLang="zh-CN" dirty="0">
                <a:solidFill>
                  <a:schemeClr val="folHlink"/>
                </a:solidFill>
              </a:rPr>
              <a:t>CH2</a:t>
            </a:r>
            <a:r>
              <a:rPr lang="zh-CN" altLang="en-US" dirty="0">
                <a:solidFill>
                  <a:schemeClr val="folHlink"/>
                </a:solidFill>
              </a:rPr>
              <a:t>的</a:t>
            </a:r>
            <a:r>
              <a:rPr lang="zh-CN" altLang="en-US" dirty="0">
                <a:solidFill>
                  <a:schemeClr val="hlink"/>
                </a:solidFill>
              </a:rPr>
              <a:t>耦合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zh-CN" altLang="en-US" dirty="0">
                <a:solidFill>
                  <a:schemeClr val="hlink"/>
                </a:solidFill>
              </a:rPr>
              <a:t>直流</a:t>
            </a:r>
            <a:endParaRPr lang="zh-CN" altLang="en-US">
              <a:solidFill>
                <a:schemeClr val="hlink"/>
              </a:solidFill>
            </a:endParaRPr>
          </a:p>
        </p:txBody>
      </p:sp>
      <p:grpSp>
        <p:nvGrpSpPr>
          <p:cNvPr id="124932" name="组合 124931"/>
          <p:cNvGrpSpPr/>
          <p:nvPr/>
        </p:nvGrpSpPr>
        <p:grpSpPr>
          <a:xfrm>
            <a:off x="611188" y="2806700"/>
            <a:ext cx="3097212" cy="1651000"/>
            <a:chOff x="521" y="1888"/>
            <a:chExt cx="1951" cy="1040"/>
          </a:xfrm>
        </p:grpSpPr>
        <p:sp>
          <p:nvSpPr>
            <p:cNvPr id="22532" name="直接连接符 124932"/>
            <p:cNvSpPr/>
            <p:nvPr/>
          </p:nvSpPr>
          <p:spPr>
            <a:xfrm>
              <a:off x="612" y="1888"/>
              <a:ext cx="0" cy="10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2533" name="直接连接符 124933"/>
            <p:cNvSpPr/>
            <p:nvPr/>
          </p:nvSpPr>
          <p:spPr>
            <a:xfrm>
              <a:off x="567" y="2639"/>
              <a:ext cx="19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34" name="直接连接符 124934"/>
            <p:cNvSpPr/>
            <p:nvPr/>
          </p:nvSpPr>
          <p:spPr>
            <a:xfrm>
              <a:off x="521" y="2367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5" name="直接连接符 124935"/>
            <p:cNvSpPr/>
            <p:nvPr/>
          </p:nvSpPr>
          <p:spPr>
            <a:xfrm>
              <a:off x="884" y="2367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6" name="直接连接符 124936"/>
            <p:cNvSpPr/>
            <p:nvPr/>
          </p:nvSpPr>
          <p:spPr>
            <a:xfrm>
              <a:off x="1156" y="2367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7" name="直接连接符 124937"/>
            <p:cNvSpPr/>
            <p:nvPr/>
          </p:nvSpPr>
          <p:spPr>
            <a:xfrm>
              <a:off x="884" y="2866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8" name="直接连接符 124938"/>
            <p:cNvSpPr/>
            <p:nvPr/>
          </p:nvSpPr>
          <p:spPr>
            <a:xfrm>
              <a:off x="1157" y="2367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9" name="直接连接符 124939"/>
            <p:cNvSpPr/>
            <p:nvPr/>
          </p:nvSpPr>
          <p:spPr>
            <a:xfrm>
              <a:off x="1429" y="2367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0" name="直接连接符 124940"/>
            <p:cNvSpPr/>
            <p:nvPr/>
          </p:nvSpPr>
          <p:spPr>
            <a:xfrm>
              <a:off x="1701" y="2367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1" name="直接连接符 124941"/>
            <p:cNvSpPr/>
            <p:nvPr/>
          </p:nvSpPr>
          <p:spPr>
            <a:xfrm>
              <a:off x="1429" y="2866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2" name="直接连接符 124942"/>
            <p:cNvSpPr/>
            <p:nvPr/>
          </p:nvSpPr>
          <p:spPr>
            <a:xfrm>
              <a:off x="1701" y="2367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3" name="直接连接符 124943"/>
            <p:cNvSpPr/>
            <p:nvPr/>
          </p:nvSpPr>
          <p:spPr>
            <a:xfrm>
              <a:off x="1973" y="2367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4" name="直接连接符 124944"/>
            <p:cNvSpPr/>
            <p:nvPr/>
          </p:nvSpPr>
          <p:spPr>
            <a:xfrm>
              <a:off x="1973" y="2866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5" name="直接连接符 124945"/>
            <p:cNvSpPr/>
            <p:nvPr/>
          </p:nvSpPr>
          <p:spPr>
            <a:xfrm flipH="1">
              <a:off x="521" y="2866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" name="组合 1"/>
          <p:cNvGrpSpPr/>
          <p:nvPr/>
        </p:nvGrpSpPr>
        <p:grpSpPr>
          <a:xfrm>
            <a:off x="4588510" y="2882900"/>
            <a:ext cx="3368040" cy="1574800"/>
            <a:chOff x="7226" y="4540"/>
            <a:chExt cx="5304" cy="2480"/>
          </a:xfrm>
        </p:grpSpPr>
        <p:sp>
          <p:nvSpPr>
            <p:cNvPr id="22547" name="直接连接符 124947"/>
            <p:cNvSpPr/>
            <p:nvPr/>
          </p:nvSpPr>
          <p:spPr>
            <a:xfrm>
              <a:off x="7995" y="4540"/>
              <a:ext cx="0" cy="2480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2548" name="直接连接符 124948"/>
            <p:cNvSpPr/>
            <p:nvPr/>
          </p:nvSpPr>
          <p:spPr>
            <a:xfrm>
              <a:off x="7226" y="6985"/>
              <a:ext cx="5304" cy="1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24962" name="右箭头 124961"/>
          <p:cNvSpPr/>
          <p:nvPr/>
        </p:nvSpPr>
        <p:spPr>
          <a:xfrm>
            <a:off x="3781425" y="3808413"/>
            <a:ext cx="503238" cy="360362"/>
          </a:xfrm>
          <a:prstGeom prst="rightArrow">
            <a:avLst>
              <a:gd name="adj1" fmla="val 50000"/>
              <a:gd name="adj2" fmla="val 34847"/>
            </a:avLst>
          </a:prstGeom>
          <a:solidFill>
            <a:srgbClr val="09D11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835525" y="2964180"/>
            <a:ext cx="4248150" cy="1471930"/>
            <a:chOff x="7615" y="4668"/>
            <a:chExt cx="6690" cy="2318"/>
          </a:xfrm>
        </p:grpSpPr>
        <p:grpSp>
          <p:nvGrpSpPr>
            <p:cNvPr id="8" name="组合 7"/>
            <p:cNvGrpSpPr/>
            <p:nvPr/>
          </p:nvGrpSpPr>
          <p:grpSpPr>
            <a:xfrm>
              <a:off x="7768" y="4668"/>
              <a:ext cx="4310" cy="2318"/>
              <a:chOff x="7768" y="4668"/>
              <a:chExt cx="4310" cy="2318"/>
            </a:xfrm>
          </p:grpSpPr>
          <p:sp>
            <p:nvSpPr>
              <p:cNvPr id="124967" name="文本框 124966"/>
              <p:cNvSpPr txBox="1"/>
              <p:nvPr/>
            </p:nvSpPr>
            <p:spPr>
              <a:xfrm>
                <a:off x="8260" y="4668"/>
                <a:ext cx="3185" cy="7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/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正方波</a:t>
                </a:r>
                <a:endPara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2549" name="直接连接符 124949"/>
              <p:cNvSpPr/>
              <p:nvPr/>
            </p:nvSpPr>
            <p:spPr>
              <a:xfrm>
                <a:off x="7768" y="5738"/>
                <a:ext cx="9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0" name="直接连接符 124950"/>
              <p:cNvSpPr/>
              <p:nvPr/>
            </p:nvSpPr>
            <p:spPr>
              <a:xfrm>
                <a:off x="8675" y="5738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1" name="直接连接符 124951"/>
              <p:cNvSpPr/>
              <p:nvPr/>
            </p:nvSpPr>
            <p:spPr>
              <a:xfrm>
                <a:off x="9355" y="5738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2" name="直接连接符 124952"/>
              <p:cNvSpPr/>
              <p:nvPr/>
            </p:nvSpPr>
            <p:spPr>
              <a:xfrm>
                <a:off x="8675" y="6985"/>
                <a:ext cx="68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3" name="直接连接符 124953"/>
              <p:cNvSpPr/>
              <p:nvPr/>
            </p:nvSpPr>
            <p:spPr>
              <a:xfrm>
                <a:off x="9358" y="5738"/>
                <a:ext cx="68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4" name="直接连接符 124954"/>
              <p:cNvSpPr/>
              <p:nvPr/>
            </p:nvSpPr>
            <p:spPr>
              <a:xfrm>
                <a:off x="10038" y="5738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5" name="直接连接符 124955"/>
              <p:cNvSpPr/>
              <p:nvPr/>
            </p:nvSpPr>
            <p:spPr>
              <a:xfrm>
                <a:off x="10718" y="5738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6" name="直接连接符 124956"/>
              <p:cNvSpPr/>
              <p:nvPr/>
            </p:nvSpPr>
            <p:spPr>
              <a:xfrm>
                <a:off x="10038" y="6985"/>
                <a:ext cx="68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7" name="直接连接符 124957"/>
              <p:cNvSpPr/>
              <p:nvPr/>
            </p:nvSpPr>
            <p:spPr>
              <a:xfrm>
                <a:off x="10718" y="5738"/>
                <a:ext cx="68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8" name="直接连接符 124958"/>
              <p:cNvSpPr/>
              <p:nvPr/>
            </p:nvSpPr>
            <p:spPr>
              <a:xfrm>
                <a:off x="11398" y="5738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59" name="直接连接符 124959"/>
              <p:cNvSpPr/>
              <p:nvPr/>
            </p:nvSpPr>
            <p:spPr>
              <a:xfrm>
                <a:off x="11398" y="6985"/>
                <a:ext cx="68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560" name="直接连接符 124960"/>
              <p:cNvSpPr/>
              <p:nvPr/>
            </p:nvSpPr>
            <p:spPr>
              <a:xfrm flipH="1">
                <a:off x="7768" y="6985"/>
                <a:ext cx="90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4963" name="组合 124962"/>
            <p:cNvGrpSpPr/>
            <p:nvPr/>
          </p:nvGrpSpPr>
          <p:grpSpPr>
            <a:xfrm rot="0">
              <a:off x="7615" y="6078"/>
              <a:ext cx="6690" cy="577"/>
              <a:chOff x="2926" y="2503"/>
              <a:chExt cx="2676" cy="231"/>
            </a:xfrm>
          </p:grpSpPr>
          <p:sp>
            <p:nvSpPr>
              <p:cNvPr id="22563" name="文本框 124963"/>
              <p:cNvSpPr txBox="1"/>
              <p:nvPr/>
            </p:nvSpPr>
            <p:spPr>
              <a:xfrm>
                <a:off x="4785" y="2503"/>
                <a:ext cx="817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OFFSET</a:t>
                </a:r>
                <a:endPara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2564" name="直接连接符 124964"/>
              <p:cNvSpPr/>
              <p:nvPr/>
            </p:nvSpPr>
            <p:spPr>
              <a:xfrm>
                <a:off x="2926" y="2619"/>
                <a:ext cx="1905" cy="0"/>
              </a:xfrm>
              <a:prstGeom prst="line">
                <a:avLst/>
              </a:prstGeom>
              <a:ln w="2857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24968" name="文本框 124967"/>
            <p:cNvSpPr txBox="1"/>
            <p:nvPr/>
          </p:nvSpPr>
          <p:spPr>
            <a:xfrm>
              <a:off x="12113" y="5460"/>
              <a:ext cx="2007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平均值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4969" name="组合 124968"/>
          <p:cNvGrpSpPr/>
          <p:nvPr/>
        </p:nvGrpSpPr>
        <p:grpSpPr>
          <a:xfrm rot="0">
            <a:off x="4283075" y="4232275"/>
            <a:ext cx="576580" cy="367030"/>
            <a:chOff x="2562" y="2730"/>
            <a:chExt cx="363" cy="231"/>
          </a:xfrm>
        </p:grpSpPr>
        <p:sp>
          <p:nvSpPr>
            <p:cNvPr id="22568" name="文本框 124969"/>
            <p:cNvSpPr txBox="1"/>
            <p:nvPr/>
          </p:nvSpPr>
          <p:spPr>
            <a:xfrm>
              <a:off x="2562" y="2730"/>
              <a:ext cx="2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69" name="直接连接符 124970"/>
            <p:cNvSpPr/>
            <p:nvPr/>
          </p:nvSpPr>
          <p:spPr>
            <a:xfrm>
              <a:off x="2748" y="2846"/>
              <a:ext cx="17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4587875" y="4532630"/>
            <a:ext cx="3404870" cy="2020570"/>
            <a:chOff x="7225" y="7138"/>
            <a:chExt cx="5362" cy="3182"/>
          </a:xfrm>
        </p:grpSpPr>
        <p:sp>
          <p:nvSpPr>
            <p:cNvPr id="22571" name="直接连接符 124973"/>
            <p:cNvSpPr/>
            <p:nvPr/>
          </p:nvSpPr>
          <p:spPr>
            <a:xfrm>
              <a:off x="7995" y="7138"/>
              <a:ext cx="0" cy="3182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2572" name="直接连接符 124974"/>
            <p:cNvSpPr/>
            <p:nvPr/>
          </p:nvSpPr>
          <p:spPr>
            <a:xfrm>
              <a:off x="7225" y="7597"/>
              <a:ext cx="5362" cy="2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8" name="组合 27"/>
          <p:cNvGrpSpPr/>
          <p:nvPr/>
        </p:nvGrpSpPr>
        <p:grpSpPr>
          <a:xfrm>
            <a:off x="5508625" y="4436110"/>
            <a:ext cx="431800" cy="1972945"/>
            <a:chOff x="8675" y="6986"/>
            <a:chExt cx="680" cy="3107"/>
          </a:xfrm>
        </p:grpSpPr>
        <p:sp>
          <p:nvSpPr>
            <p:cNvPr id="22573" name="直接连接符 124975"/>
            <p:cNvSpPr/>
            <p:nvPr/>
          </p:nvSpPr>
          <p:spPr>
            <a:xfrm>
              <a:off x="8675" y="6986"/>
              <a:ext cx="0" cy="306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2574" name="直接连接符 124976"/>
            <p:cNvSpPr/>
            <p:nvPr/>
          </p:nvSpPr>
          <p:spPr>
            <a:xfrm>
              <a:off x="9355" y="7033"/>
              <a:ext cx="0" cy="306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5" name="组合 4"/>
          <p:cNvGrpSpPr/>
          <p:nvPr/>
        </p:nvGrpSpPr>
        <p:grpSpPr>
          <a:xfrm>
            <a:off x="4308475" y="4635500"/>
            <a:ext cx="4746625" cy="1556385"/>
            <a:chOff x="6785" y="7300"/>
            <a:chExt cx="7475" cy="2451"/>
          </a:xfrm>
        </p:grpSpPr>
        <p:sp>
          <p:nvSpPr>
            <p:cNvPr id="22575" name="直接连接符 124977"/>
            <p:cNvSpPr/>
            <p:nvPr/>
          </p:nvSpPr>
          <p:spPr>
            <a:xfrm>
              <a:off x="7993" y="8845"/>
              <a:ext cx="683" cy="90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76" name="直接连接符 124978"/>
            <p:cNvSpPr/>
            <p:nvPr/>
          </p:nvSpPr>
          <p:spPr>
            <a:xfrm flipH="1">
              <a:off x="8675" y="8845"/>
              <a:ext cx="683" cy="90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77" name="直接连接符 124979"/>
            <p:cNvSpPr/>
            <p:nvPr/>
          </p:nvSpPr>
          <p:spPr>
            <a:xfrm>
              <a:off x="9353" y="8845"/>
              <a:ext cx="683" cy="90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78" name="直接连接符 124980"/>
            <p:cNvSpPr/>
            <p:nvPr/>
          </p:nvSpPr>
          <p:spPr>
            <a:xfrm flipH="1">
              <a:off x="10035" y="8845"/>
              <a:ext cx="683" cy="90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79" name="直接连接符 124981"/>
            <p:cNvSpPr/>
            <p:nvPr/>
          </p:nvSpPr>
          <p:spPr>
            <a:xfrm>
              <a:off x="10713" y="8845"/>
              <a:ext cx="683" cy="90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80" name="直接连接符 124982"/>
            <p:cNvSpPr/>
            <p:nvPr/>
          </p:nvSpPr>
          <p:spPr>
            <a:xfrm flipH="1">
              <a:off x="11395" y="8845"/>
              <a:ext cx="683" cy="90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81" name="直接连接符 124983"/>
            <p:cNvSpPr/>
            <p:nvPr/>
          </p:nvSpPr>
          <p:spPr>
            <a:xfrm>
              <a:off x="7880" y="9300"/>
              <a:ext cx="4763" cy="0"/>
            </a:xfrm>
            <a:prstGeom prst="line">
              <a:avLst/>
            </a:prstGeom>
            <a:ln w="28575" cap="rnd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22582" name="直接连接符 124984"/>
            <p:cNvSpPr/>
            <p:nvPr/>
          </p:nvSpPr>
          <p:spPr>
            <a:xfrm>
              <a:off x="7210" y="7598"/>
              <a:ext cx="44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83" name="文本框 124985"/>
            <p:cNvSpPr txBox="1"/>
            <p:nvPr/>
          </p:nvSpPr>
          <p:spPr>
            <a:xfrm>
              <a:off x="6785" y="7300"/>
              <a:ext cx="68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24987" name="文本框 124986"/>
            <p:cNvSpPr txBox="1"/>
            <p:nvPr/>
          </p:nvSpPr>
          <p:spPr>
            <a:xfrm>
              <a:off x="12278" y="8905"/>
              <a:ext cx="1982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r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平均值</a:t>
              </a:r>
              <a:endPara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2586" name="直接连接符 124988"/>
          <p:cNvSpPr/>
          <p:nvPr/>
        </p:nvSpPr>
        <p:spPr>
          <a:xfrm flipV="1">
            <a:off x="4575175" y="5629275"/>
            <a:ext cx="319405" cy="127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87" name="直接连接符 124989"/>
          <p:cNvSpPr/>
          <p:nvPr/>
        </p:nvSpPr>
        <p:spPr>
          <a:xfrm flipV="1">
            <a:off x="4587875" y="6167755"/>
            <a:ext cx="306705" cy="127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588" name="直接连接符 124990"/>
          <p:cNvSpPr/>
          <p:nvPr/>
        </p:nvSpPr>
        <p:spPr>
          <a:xfrm>
            <a:off x="4575175" y="3630930"/>
            <a:ext cx="31940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124994" name="组合 124993"/>
          <p:cNvGrpSpPr/>
          <p:nvPr/>
        </p:nvGrpSpPr>
        <p:grpSpPr>
          <a:xfrm>
            <a:off x="1187450" y="2636838"/>
            <a:ext cx="3313113" cy="2374900"/>
            <a:chOff x="612" y="1661"/>
            <a:chExt cx="2223" cy="1496"/>
          </a:xfrm>
        </p:grpSpPr>
        <p:sp>
          <p:nvSpPr>
            <p:cNvPr id="22591" name="圆角矩形标注 124971"/>
            <p:cNvSpPr/>
            <p:nvPr/>
          </p:nvSpPr>
          <p:spPr>
            <a:xfrm>
              <a:off x="612" y="1661"/>
              <a:ext cx="2223" cy="560"/>
            </a:xfrm>
            <a:prstGeom prst="wedgeRoundRectCallout">
              <a:avLst>
                <a:gd name="adj1" fmla="val 43389"/>
                <a:gd name="adj2" fmla="val 158394"/>
                <a:gd name="adj3" fmla="val 16667"/>
              </a:avLst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示波器屏幕上显示的小箭头是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0V</a:t>
              </a: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的位置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4993" name="左大括号 124992"/>
            <p:cNvSpPr/>
            <p:nvPr/>
          </p:nvSpPr>
          <p:spPr>
            <a:xfrm>
              <a:off x="2699" y="2704"/>
              <a:ext cx="45" cy="453"/>
            </a:xfrm>
            <a:prstGeom prst="leftBrace">
              <a:avLst>
                <a:gd name="adj1" fmla="val 83888"/>
                <a:gd name="adj2" fmla="val 50000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 fontAlgn="base"/>
              <a:endParaRPr sz="4400" strike="noStrike" noProof="1" dirty="0">
                <a:solidFill>
                  <a:srgbClr val="00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028940" y="4168775"/>
            <a:ext cx="1026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t/ms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09845" y="2637155"/>
            <a:ext cx="684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/V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1580" y="4342765"/>
            <a:ext cx="76962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/V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1" baseline="-25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84185" y="4582795"/>
            <a:ext cx="1026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t/ms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4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4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4" grpId="0"/>
      <p:bldP spid="4" grpId="1"/>
      <p:bldP spid="9" grpId="0"/>
      <p:bldP spid="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32097"/>
          <p:cNvSpPr>
            <a:spLocks noGrp="1"/>
          </p:cNvSpPr>
          <p:nvPr>
            <p:ph type="title"/>
          </p:nvPr>
        </p:nvSpPr>
        <p:spPr>
          <a:xfrm>
            <a:off x="609600" y="0"/>
            <a:ext cx="7793038" cy="609600"/>
          </a:xfrm>
        </p:spPr>
        <p:txBody>
          <a:bodyPr anchor="b" anchorCtr="0"/>
          <a:p>
            <a:r>
              <a:rPr lang="zh-CN" altLang="en-US" sz="3000" dirty="0">
                <a:latin typeface="Tahoma" panose="020B0604030504040204" pitchFamily="34" charset="0"/>
                <a:ea typeface="楷体_GB2312" pitchFamily="49" charset="-122"/>
              </a:rPr>
              <a:t>三、实验内容</a:t>
            </a:r>
            <a:endParaRPr lang="zh-CN" altLang="en-US" sz="30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554" name="文本占位符 132098"/>
          <p:cNvSpPr>
            <a:spLocks noGrp="1"/>
          </p:cNvSpPr>
          <p:nvPr>
            <p:ph idx="1"/>
          </p:nvPr>
        </p:nvSpPr>
        <p:spPr>
          <a:xfrm>
            <a:off x="152400" y="685800"/>
            <a:ext cx="8803005" cy="4739005"/>
          </a:xfrm>
          <a:solidFill>
            <a:schemeClr val="bg1"/>
          </a:solidFill>
          <a:ln>
            <a:solidFill>
              <a:srgbClr val="CC0000"/>
            </a:solidFill>
            <a:miter/>
          </a:ln>
        </p:spPr>
        <p:txBody>
          <a:bodyPr anchor="t" anchorCtr="0"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反向比例加法电路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800" i="1"/>
              <a:t>v</a:t>
            </a:r>
            <a:r>
              <a:rPr lang="en-US" altLang="zh-CN" sz="2800" baseline="-25000"/>
              <a:t>i1</a:t>
            </a:r>
            <a:r>
              <a:rPr lang="zh-CN" altLang="en-US" sz="2800" dirty="0"/>
              <a:t>输入</a:t>
            </a:r>
            <a:r>
              <a:rPr lang="en-US" altLang="zh-CN" sz="2800" dirty="0"/>
              <a:t>1kHz</a:t>
            </a:r>
            <a:r>
              <a:rPr lang="zh-CN" altLang="en-US" sz="2800" dirty="0"/>
              <a:t>正弦波</a:t>
            </a:r>
            <a:r>
              <a:rPr lang="en-US" altLang="zh-CN" sz="2800" err="1"/>
              <a:t>,</a:t>
            </a:r>
            <a:r>
              <a:rPr lang="zh-CN" altLang="en-US" sz="2800" err="1"/>
              <a:t>调</a:t>
            </a:r>
            <a:r>
              <a:rPr lang="en-US" altLang="zh-CN" sz="2800" err="1"/>
              <a:t>R</a:t>
            </a:r>
            <a:r>
              <a:rPr lang="en-US" altLang="zh-CN" sz="2800" baseline="-25000" err="1"/>
              <a:t>p</a:t>
            </a:r>
            <a:r>
              <a:rPr lang="zh-CN" altLang="en-US" sz="2800" dirty="0"/>
              <a:t>产生</a:t>
            </a:r>
            <a:r>
              <a:rPr lang="en-US" altLang="zh-CN" sz="2800"/>
              <a:t>V</a:t>
            </a:r>
            <a:r>
              <a:rPr lang="en-US" altLang="zh-CN" sz="2800" baseline="-25000"/>
              <a:t>i2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测输出电压</a:t>
            </a:r>
            <a:r>
              <a:rPr lang="en-US" altLang="zh-CN" sz="2800"/>
              <a:t>V</a:t>
            </a:r>
            <a:r>
              <a:rPr lang="en-US" altLang="zh-CN" sz="2800" baseline="-25000"/>
              <a:t>o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反向比例减法电路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800" i="1"/>
              <a:t>v</a:t>
            </a:r>
            <a:r>
              <a:rPr lang="en-US" altLang="zh-CN" sz="2800" baseline="-25000"/>
              <a:t>i1</a:t>
            </a:r>
            <a:r>
              <a:rPr lang="zh-CN" altLang="en-US" sz="2800" dirty="0"/>
              <a:t>输入</a:t>
            </a:r>
            <a:r>
              <a:rPr lang="en-US" altLang="zh-CN" sz="2800" dirty="0"/>
              <a:t>1kHz</a:t>
            </a:r>
            <a:r>
              <a:rPr lang="zh-CN" altLang="en-US" sz="2800" dirty="0"/>
              <a:t>正弦波</a:t>
            </a:r>
            <a:r>
              <a:rPr lang="en-US" altLang="zh-CN" sz="2800" err="1"/>
              <a:t>,</a:t>
            </a:r>
            <a:r>
              <a:rPr lang="zh-CN" altLang="en-US" sz="2800" err="1"/>
              <a:t>调</a:t>
            </a:r>
            <a:r>
              <a:rPr lang="en-US" altLang="zh-CN" sz="2800" err="1"/>
              <a:t>R</a:t>
            </a:r>
            <a:r>
              <a:rPr lang="en-US" altLang="zh-CN" sz="2800" baseline="-25000" err="1"/>
              <a:t>p</a:t>
            </a:r>
            <a:r>
              <a:rPr lang="zh-CN" altLang="en-US" sz="2800" dirty="0"/>
              <a:t>产生</a:t>
            </a:r>
            <a:r>
              <a:rPr lang="en-US" altLang="zh-CN" sz="2800"/>
              <a:t>V</a:t>
            </a:r>
            <a:r>
              <a:rPr lang="en-US" altLang="zh-CN" sz="2800" baseline="-25000"/>
              <a:t>i2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测输出电压</a:t>
            </a:r>
            <a:r>
              <a:rPr lang="en-US" altLang="zh-CN" sz="2800"/>
              <a:t>V</a:t>
            </a:r>
            <a:r>
              <a:rPr lang="en-US" altLang="zh-CN" sz="2800" baseline="-25000"/>
              <a:t>o</a:t>
            </a:r>
            <a:endParaRPr lang="en-US" altLang="zh-CN" sz="2800" baseline="-25000"/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反向比例积分电路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输入信号：</a:t>
            </a:r>
            <a:r>
              <a:rPr lang="en-US" altLang="zh-CN" sz="2800" i="1"/>
              <a:t>f </a:t>
            </a:r>
            <a:r>
              <a:rPr lang="en-US" altLang="zh-CN" sz="2800" dirty="0"/>
              <a:t>= 500Hz</a:t>
            </a:r>
            <a:r>
              <a:rPr lang="zh-CN" altLang="en-US" sz="2800" dirty="0"/>
              <a:t>，幅值为</a:t>
            </a:r>
            <a:r>
              <a:rPr lang="en-US" altLang="zh-CN" sz="2800" dirty="0"/>
              <a:t>1V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chemeClr val="hlink"/>
                </a:solidFill>
              </a:rPr>
              <a:t>正</a:t>
            </a:r>
            <a:r>
              <a:rPr lang="zh-CN" altLang="en-US" sz="2800" dirty="0"/>
              <a:t>方波</a:t>
            </a:r>
            <a:endParaRPr lang="zh-CN" altLang="en-US" sz="2800" dirty="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示波器测试</a:t>
            </a:r>
            <a:r>
              <a:rPr lang="en-US" altLang="zh-CN" sz="2800" i="1"/>
              <a:t>v</a:t>
            </a:r>
            <a:r>
              <a:rPr lang="en-US" altLang="zh-CN" sz="2800" baseline="-25000"/>
              <a:t>i</a:t>
            </a:r>
            <a:r>
              <a:rPr lang="zh-CN" altLang="en-US" sz="2800"/>
              <a:t>和</a:t>
            </a:r>
            <a:r>
              <a:rPr lang="en-US" altLang="zh-CN" sz="2800" i="1" err="1"/>
              <a:t>v</a:t>
            </a:r>
            <a:r>
              <a:rPr lang="en-US" altLang="zh-CN" sz="2800" baseline="-25000" err="1"/>
              <a:t>o</a:t>
            </a:r>
            <a:r>
              <a:rPr lang="zh-CN" altLang="en-US" sz="2800" dirty="0"/>
              <a:t>，定量画波形（</a:t>
            </a:r>
            <a:r>
              <a:rPr lang="en-US" altLang="zh-CN" sz="2800"/>
              <a:t>CH1</a:t>
            </a:r>
            <a:r>
              <a:rPr lang="zh-CN" altLang="en-US" sz="2800"/>
              <a:t>、</a:t>
            </a:r>
            <a:r>
              <a:rPr lang="en-US" altLang="zh-CN" sz="2800"/>
              <a:t>CH2</a:t>
            </a:r>
            <a:r>
              <a:rPr lang="zh-CN" altLang="en-US" sz="2800" dirty="0">
                <a:solidFill>
                  <a:schemeClr val="hlink"/>
                </a:solidFill>
              </a:rPr>
              <a:t>耦合</a:t>
            </a:r>
            <a:r>
              <a:rPr lang="en-US" altLang="zh-CN" sz="2800" dirty="0">
                <a:solidFill>
                  <a:schemeClr val="hlink"/>
                </a:solidFill>
              </a:rPr>
              <a:t>:</a:t>
            </a:r>
            <a:r>
              <a:rPr lang="zh-CN" altLang="en-US" sz="2800" dirty="0">
                <a:solidFill>
                  <a:schemeClr val="hlink"/>
                </a:solidFill>
              </a:rPr>
              <a:t>直流</a:t>
            </a:r>
            <a:r>
              <a:rPr lang="zh-CN" altLang="en-US" sz="2800" dirty="0"/>
              <a:t>）</a:t>
            </a:r>
            <a:endParaRPr lang="en-US" altLang="zh-CN" sz="2800" baseline="-25000"/>
          </a:p>
        </p:txBody>
      </p:sp>
      <p:sp>
        <p:nvSpPr>
          <p:cNvPr id="2" name="文本框 1"/>
          <p:cNvSpPr txBox="1"/>
          <p:nvPr/>
        </p:nvSpPr>
        <p:spPr>
          <a:xfrm>
            <a:off x="609600" y="5733415"/>
            <a:ext cx="7523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MOOC《电子线路设计、测试与实验（一）》单元测验二、三、五结果。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Rectangle 4"/>
          <p:cNvSpPr/>
          <p:nvPr/>
        </p:nvSpPr>
        <p:spPr>
          <a:xfrm>
            <a:off x="0" y="27098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3" name="Rectangle 6"/>
          <p:cNvSpPr/>
          <p:nvPr/>
        </p:nvSpPr>
        <p:spPr>
          <a:xfrm>
            <a:off x="0" y="26860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4" name="Rectangle 7"/>
          <p:cNvSpPr/>
          <p:nvPr/>
        </p:nvSpPr>
        <p:spPr>
          <a:xfrm>
            <a:off x="0" y="23526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5" name="Text Box 8"/>
          <p:cNvSpPr txBox="1"/>
          <p:nvPr/>
        </p:nvSpPr>
        <p:spPr>
          <a:xfrm>
            <a:off x="323850" y="116840"/>
            <a:ext cx="4572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实验报告要求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6" name="Text Box 9"/>
          <p:cNvSpPr txBox="1"/>
          <p:nvPr/>
        </p:nvSpPr>
        <p:spPr>
          <a:xfrm>
            <a:off x="395288" y="1328738"/>
            <a:ext cx="8424862" cy="29343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确定实验电路所示各电阻的阻值。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整理实验数据，填入自拟记录表格中。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记录和描绘积分器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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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的波形。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+mn-ea"/>
              </a:rPr>
              <a:t>      </a:t>
            </a:r>
            <a:r>
              <a:rPr lang="zh-CN" altLang="en-US" sz="2800" dirty="0">
                <a:latin typeface="Times New Roman" panose="02020603050405020304" pitchFamily="18" charset="0"/>
                <a:sym typeface="+mn-ea"/>
              </a:rPr>
              <a:t>画输入、输出波形时，要求上、下排列对齐。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4.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记录实验过程中出现的故障或不正常现象，分析原因，说明解决的办法和过程。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split/>
    <p:sndAc>
      <p:stSnd>
        <p:snd r:embed="rId1" name="PROJCTOR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3314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spcBef>
                <a:spcPct val="50000"/>
              </a:spcBef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</a:rPr>
            </a:fld>
            <a:endParaRPr lang="zh-CN" altLang="en-US" sz="1400" dirty="0">
              <a:solidFill>
                <a:schemeClr val="bg2"/>
              </a:solidFill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实验的具体要求及注意事项：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6" name="Text Box 4"/>
          <p:cNvSpPr txBox="1"/>
          <p:nvPr/>
        </p:nvSpPr>
        <p:spPr>
          <a:xfrm>
            <a:off x="468313" y="1196975"/>
            <a:ext cx="7902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1. </a:t>
            </a:r>
            <a:r>
              <a:rPr lang="zh-CN" altLang="en-US" sz="2800" dirty="0">
                <a:latin typeface="Times New Roman" panose="02020603050405020304" pitchFamily="18" charset="0"/>
              </a:rPr>
              <a:t>各单元电路的电源要求连在一起；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3317" name="Text Box 5"/>
          <p:cNvSpPr txBox="1"/>
          <p:nvPr/>
        </p:nvSpPr>
        <p:spPr>
          <a:xfrm>
            <a:off x="468313" y="1916113"/>
            <a:ext cx="82073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2. </a:t>
            </a:r>
            <a:r>
              <a:rPr lang="zh-CN" altLang="en-US" sz="2800" dirty="0">
                <a:latin typeface="Times New Roman" panose="02020603050405020304" pitchFamily="18" charset="0"/>
              </a:rPr>
              <a:t>布局、布线要规范。要求：电源线用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红色线</a:t>
            </a:r>
            <a:r>
              <a:rPr lang="zh-CN" altLang="en-US" sz="2800" dirty="0">
                <a:latin typeface="Times New Roman" panose="02020603050405020304" pitchFamily="18" charset="0"/>
              </a:rPr>
              <a:t>，地线用</a:t>
            </a:r>
            <a:r>
              <a:rPr lang="zh-CN" altLang="en-US" sz="2800" b="1" dirty="0">
                <a:latin typeface="Times New Roman" panose="02020603050405020304" pitchFamily="18" charset="0"/>
              </a:rPr>
              <a:t>黑色</a:t>
            </a:r>
            <a:r>
              <a:rPr lang="zh-CN" altLang="en-US" sz="2800" dirty="0">
                <a:latin typeface="Times New Roman" panose="02020603050405020304" pitchFamily="18" charset="0"/>
              </a:rPr>
              <a:t>，信号线用其它颜色。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3318" name="Text Box 7"/>
          <p:cNvSpPr txBox="1"/>
          <p:nvPr/>
        </p:nvSpPr>
        <p:spPr>
          <a:xfrm>
            <a:off x="500063" y="3857625"/>
            <a:ext cx="7829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4. </a:t>
            </a:r>
            <a:r>
              <a:rPr lang="zh-CN" altLang="en-US" sz="2800" dirty="0">
                <a:latin typeface="Times New Roman" panose="02020603050405020304" pitchFamily="18" charset="0"/>
              </a:rPr>
              <a:t>实验结果的记录要求规范。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3319" name="Text Box 10"/>
          <p:cNvSpPr txBox="1"/>
          <p:nvPr/>
        </p:nvSpPr>
        <p:spPr>
          <a:xfrm>
            <a:off x="428625" y="3071813"/>
            <a:ext cx="8153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3. </a:t>
            </a:r>
            <a:r>
              <a:rPr lang="zh-CN" altLang="en-US" sz="2800" dirty="0">
                <a:latin typeface="Times New Roman" panose="02020603050405020304" pitchFamily="18" charset="0"/>
              </a:rPr>
              <a:t>画输入、输出波形时，要求上、下排列对齐。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3320" name="Line 11"/>
          <p:cNvSpPr/>
          <p:nvPr/>
        </p:nvSpPr>
        <p:spPr>
          <a:xfrm>
            <a:off x="468313" y="1066800"/>
            <a:ext cx="7993062" cy="0"/>
          </a:xfrm>
          <a:prstGeom prst="line">
            <a:avLst/>
          </a:prstGeom>
          <a:ln w="76200" cap="flat" cmpd="tri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3553" name="标题 132097"/>
          <p:cNvSpPr>
            <a:spLocks noGrp="1"/>
          </p:cNvSpPr>
          <p:nvPr>
            <p:ph type="title"/>
          </p:nvPr>
        </p:nvSpPr>
        <p:spPr>
          <a:xfrm>
            <a:off x="609600" y="0"/>
            <a:ext cx="7793038" cy="609600"/>
          </a:xfrm>
        </p:spPr>
        <p:txBody>
          <a:bodyPr anchor="b" anchorCtr="0"/>
          <a:p>
            <a:r>
              <a:rPr lang="zh-CN" altLang="en-US" sz="3000" dirty="0">
                <a:latin typeface="Tahoma" panose="020B0604030504040204" pitchFamily="34" charset="0"/>
                <a:ea typeface="楷体_GB2312" pitchFamily="49" charset="-122"/>
              </a:rPr>
              <a:t>三、实验内容</a:t>
            </a:r>
            <a:endParaRPr lang="zh-CN" altLang="en-US" sz="3000" dirty="0"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554" name="文本占位符 132098"/>
          <p:cNvSpPr>
            <a:spLocks noGrp="1"/>
          </p:cNvSpPr>
          <p:nvPr>
            <p:ph idx="1"/>
          </p:nvPr>
        </p:nvSpPr>
        <p:spPr>
          <a:xfrm>
            <a:off x="152400" y="685800"/>
            <a:ext cx="8802688" cy="5867400"/>
          </a:xfrm>
          <a:solidFill>
            <a:schemeClr val="bg1"/>
          </a:solidFill>
          <a:ln>
            <a:solidFill>
              <a:srgbClr val="CC0000"/>
            </a:solidFill>
            <a:miter/>
          </a:ln>
        </p:spPr>
        <p:txBody>
          <a:bodyPr anchor="t" anchorCtr="0"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反向比例运算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输入</a:t>
            </a:r>
            <a:r>
              <a:rPr lang="en-US" altLang="zh-CN" sz="2800" dirty="0"/>
              <a:t>1kHz</a:t>
            </a:r>
            <a:r>
              <a:rPr lang="zh-CN" altLang="en-US" sz="2800" dirty="0"/>
              <a:t>正弦波（</a:t>
            </a:r>
            <a:r>
              <a:rPr lang="en-US" altLang="zh-CN" sz="2800" dirty="0"/>
              <a:t>100</a:t>
            </a:r>
            <a:r>
              <a:rPr lang="zh-CN" altLang="en-US" sz="2800" dirty="0"/>
              <a:t>～</a:t>
            </a:r>
            <a:r>
              <a:rPr lang="en-US" altLang="zh-CN" sz="2800" dirty="0"/>
              <a:t>200mV</a:t>
            </a:r>
            <a:r>
              <a:rPr lang="zh-CN" altLang="en-US" sz="2800" dirty="0"/>
              <a:t>）；测量电压增益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反向比例加法电路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800" i="1"/>
              <a:t>v</a:t>
            </a:r>
            <a:r>
              <a:rPr lang="en-US" altLang="zh-CN" sz="2800" baseline="-25000"/>
              <a:t>i1</a:t>
            </a:r>
            <a:r>
              <a:rPr lang="zh-CN" altLang="en-US" sz="2800" dirty="0"/>
              <a:t>输入</a:t>
            </a:r>
            <a:r>
              <a:rPr lang="en-US" altLang="zh-CN" sz="2800" dirty="0"/>
              <a:t>1kHz</a:t>
            </a:r>
            <a:r>
              <a:rPr lang="zh-CN" altLang="en-US" sz="2800" dirty="0"/>
              <a:t>正弦波</a:t>
            </a:r>
            <a:r>
              <a:rPr lang="en-US" altLang="zh-CN" sz="2800" err="1"/>
              <a:t>,</a:t>
            </a:r>
            <a:r>
              <a:rPr lang="zh-CN" altLang="en-US" sz="2800" err="1"/>
              <a:t>调</a:t>
            </a:r>
            <a:r>
              <a:rPr lang="en-US" altLang="zh-CN" sz="2800" err="1"/>
              <a:t>R</a:t>
            </a:r>
            <a:r>
              <a:rPr lang="en-US" altLang="zh-CN" sz="2800" baseline="-25000" err="1"/>
              <a:t>p</a:t>
            </a:r>
            <a:r>
              <a:rPr lang="zh-CN" altLang="en-US" sz="2800" dirty="0"/>
              <a:t>产生</a:t>
            </a:r>
            <a:r>
              <a:rPr lang="en-US" altLang="zh-CN" sz="2800"/>
              <a:t>V</a:t>
            </a:r>
            <a:r>
              <a:rPr lang="en-US" altLang="zh-CN" sz="2800" baseline="-25000"/>
              <a:t>i2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测输出电压</a:t>
            </a:r>
            <a:r>
              <a:rPr lang="en-US" altLang="zh-CN" sz="2800"/>
              <a:t>V</a:t>
            </a:r>
            <a:r>
              <a:rPr lang="en-US" altLang="zh-CN" sz="2800" baseline="-25000"/>
              <a:t>o</a:t>
            </a:r>
            <a:endParaRPr lang="en-US" altLang="zh-CN" sz="2800"/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反向比例减法电路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800" i="1"/>
              <a:t>v</a:t>
            </a:r>
            <a:r>
              <a:rPr lang="en-US" altLang="zh-CN" sz="2800" baseline="-25000"/>
              <a:t>i1</a:t>
            </a:r>
            <a:r>
              <a:rPr lang="zh-CN" altLang="en-US" sz="2800" dirty="0"/>
              <a:t>输入</a:t>
            </a:r>
            <a:r>
              <a:rPr lang="en-US" altLang="zh-CN" sz="2800" dirty="0"/>
              <a:t>1kHz</a:t>
            </a:r>
            <a:r>
              <a:rPr lang="zh-CN" altLang="en-US" sz="2800" dirty="0"/>
              <a:t>正弦波</a:t>
            </a:r>
            <a:r>
              <a:rPr lang="en-US" altLang="zh-CN" sz="2800" err="1"/>
              <a:t>,</a:t>
            </a:r>
            <a:r>
              <a:rPr lang="zh-CN" altLang="en-US" sz="2800" err="1"/>
              <a:t>调</a:t>
            </a:r>
            <a:r>
              <a:rPr lang="en-US" altLang="zh-CN" sz="2800" err="1"/>
              <a:t>R</a:t>
            </a:r>
            <a:r>
              <a:rPr lang="en-US" altLang="zh-CN" sz="2800" baseline="-25000" err="1"/>
              <a:t>p</a:t>
            </a:r>
            <a:r>
              <a:rPr lang="zh-CN" altLang="en-US" sz="2800" dirty="0"/>
              <a:t>产生</a:t>
            </a:r>
            <a:r>
              <a:rPr lang="en-US" altLang="zh-CN" sz="2800"/>
              <a:t>V</a:t>
            </a:r>
            <a:r>
              <a:rPr lang="en-US" altLang="zh-CN" sz="2800" baseline="-25000"/>
              <a:t>i2</a:t>
            </a:r>
            <a:endParaRPr lang="en-US" altLang="zh-CN" sz="280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测输出电压</a:t>
            </a:r>
            <a:r>
              <a:rPr lang="en-US" altLang="zh-CN" sz="2800"/>
              <a:t>V</a:t>
            </a:r>
            <a:r>
              <a:rPr lang="en-US" altLang="zh-CN" sz="2800" baseline="-25000"/>
              <a:t>o</a:t>
            </a:r>
            <a:endParaRPr lang="en-US" altLang="zh-CN" sz="2800" baseline="-25000"/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反向比例积分电路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输入信号：</a:t>
            </a:r>
            <a:r>
              <a:rPr lang="en-US" altLang="zh-CN" sz="2800" i="1"/>
              <a:t>f </a:t>
            </a:r>
            <a:r>
              <a:rPr lang="en-US" altLang="zh-CN" sz="2800" dirty="0"/>
              <a:t>= 500Hz</a:t>
            </a:r>
            <a:r>
              <a:rPr lang="zh-CN" altLang="en-US" sz="2800" dirty="0"/>
              <a:t>，幅值为</a:t>
            </a:r>
            <a:r>
              <a:rPr lang="en-US" altLang="zh-CN" sz="2800" dirty="0"/>
              <a:t>1V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chemeClr val="hlink"/>
                </a:solidFill>
              </a:rPr>
              <a:t>正</a:t>
            </a:r>
            <a:r>
              <a:rPr lang="zh-CN" altLang="en-US" sz="2800" dirty="0"/>
              <a:t>方波</a:t>
            </a:r>
            <a:endParaRPr lang="zh-CN" altLang="en-US" sz="2800" dirty="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示波器测试</a:t>
            </a:r>
            <a:r>
              <a:rPr lang="en-US" altLang="zh-CN" sz="2800" i="1"/>
              <a:t>v</a:t>
            </a:r>
            <a:r>
              <a:rPr lang="en-US" altLang="zh-CN" sz="2800" baseline="-25000"/>
              <a:t>i</a:t>
            </a:r>
            <a:r>
              <a:rPr lang="zh-CN" altLang="en-US" sz="2800"/>
              <a:t>和</a:t>
            </a:r>
            <a:r>
              <a:rPr lang="en-US" altLang="zh-CN" sz="2800" i="1" err="1"/>
              <a:t>v</a:t>
            </a:r>
            <a:r>
              <a:rPr lang="en-US" altLang="zh-CN" sz="2800" baseline="-25000" err="1"/>
              <a:t>o</a:t>
            </a:r>
            <a:r>
              <a:rPr lang="zh-CN" altLang="en-US" sz="2800" dirty="0"/>
              <a:t>，定量画波形（</a:t>
            </a:r>
            <a:r>
              <a:rPr lang="en-US" altLang="zh-CN" sz="2800"/>
              <a:t>CH1</a:t>
            </a:r>
            <a:r>
              <a:rPr lang="zh-CN" altLang="en-US" sz="2800"/>
              <a:t>、</a:t>
            </a:r>
            <a:r>
              <a:rPr lang="en-US" altLang="zh-CN" sz="2800"/>
              <a:t>CH2</a:t>
            </a:r>
            <a:r>
              <a:rPr lang="zh-CN" altLang="en-US" sz="2800" dirty="0">
                <a:solidFill>
                  <a:schemeClr val="hlink"/>
                </a:solidFill>
              </a:rPr>
              <a:t>耦合</a:t>
            </a:r>
            <a:r>
              <a:rPr lang="en-US" altLang="zh-CN" sz="2800" dirty="0">
                <a:solidFill>
                  <a:schemeClr val="hlink"/>
                </a:solidFill>
              </a:rPr>
              <a:t>:</a:t>
            </a:r>
            <a:r>
              <a:rPr lang="zh-CN" altLang="en-US" sz="2800" dirty="0">
                <a:solidFill>
                  <a:schemeClr val="hlink"/>
                </a:solidFill>
              </a:rPr>
              <a:t>直流</a:t>
            </a:r>
            <a:r>
              <a:rPr lang="zh-CN" altLang="en-US" sz="2800" dirty="0"/>
              <a:t>）</a:t>
            </a:r>
            <a:endParaRPr lang="en-US" altLang="zh-CN" sz="2800" baseline="-250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拓展实验要求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8930" y="739775"/>
            <a:ext cx="8381365" cy="6310630"/>
          </a:xfrm>
        </p:spPr>
        <p:txBody>
          <a:bodyPr/>
          <a:p>
            <a:pPr marL="0" indent="0">
              <a:buNone/>
            </a:pPr>
            <a:r>
              <a:rPr lang="zh-CN" altLang="en-US"/>
              <a:t>设计并实现具有一定放大倍数，频带宽度以及输入、输出阻抗要求的放大电路。</a:t>
            </a:r>
            <a:endParaRPr lang="zh-CN" altLang="en-US"/>
          </a:p>
          <a:p>
            <a:r>
              <a:rPr lang="zh-CN" altLang="en-US"/>
              <a:t>如：设计一高增益电压放大器，要求：输入信号为正弦交流电压信号，峰峰值Vipp=100mV，频率fi=10kHz，输出信号峰峰值Vopp=24V，且与输入信号反相。电路输入阻抗大于1M欧姆，输出阻抗小于100欧姆。</a:t>
            </a:r>
            <a:endParaRPr lang="zh-CN" altLang="en-US"/>
          </a:p>
          <a:p>
            <a:r>
              <a:rPr lang="zh-CN" altLang="en-US"/>
              <a:t>（1）提出电路设计方案，画出电路原理图，要求标示出电阻元件参数和电源值；简述电路的工作原理。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（2）对电路进行仿真，验证你所设计的电路能满足设计要求。</a:t>
            </a:r>
            <a:endParaRPr lang="zh-CN" altLang="en-US"/>
          </a:p>
          <a:p>
            <a:r>
              <a:rPr lang="zh-CN" altLang="en-US">
                <a:sym typeface="+mn-ea"/>
              </a:rPr>
              <a:t>（3）插板实现所设计的电路，测试电路的性能指标，验证你所设计实现的电路能够满足设计要求。</a:t>
            </a:r>
            <a:endParaRPr lang="zh-CN" altLang="en-US"/>
          </a:p>
          <a:p>
            <a:r>
              <a:rPr lang="zh-CN" altLang="en-US">
                <a:sym typeface="+mn-ea"/>
              </a:rPr>
              <a:t>（4）当输入信号为1MHz，请问上述电路还能满足所要求的增益，输入阻抗与输出阻抗指标吗？描述电路性能指标变化的原因，并提出改进方案。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61a6937-ce78-4559-a2a3-4d3bd41a7907"/>
  <p:tag name="COMMONDATA" val="eyJoZGlkIjoiZDhhNTdjMjE5Mzc3ZjFjOGU2ZWJlNGQ4MGVmZmM0ZTgifQ=="/>
  <p:tag name="commondata" val="eyJoZGlkIjoiNDk2NTQzMGU3YzdhMTNkYzhlZWFhNDA0MjIwZDI1MGUifQ=="/>
</p:tagLst>
</file>

<file path=ppt/theme/theme1.xml><?xml version="1.0" encoding="utf-8"?>
<a:theme xmlns:a="http://schemas.openxmlformats.org/drawingml/2006/main" name="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2344</Words>
  <Application>WPS 演示</Application>
  <PresentationFormat/>
  <Paragraphs>352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21</vt:i4>
      </vt:variant>
      <vt:variant>
        <vt:lpstr>幻灯片标题</vt:lpstr>
      </vt:variant>
      <vt:variant>
        <vt:i4>25</vt:i4>
      </vt:variant>
    </vt:vector>
  </HeadingPairs>
  <TitlesOfParts>
    <vt:vector size="64" baseType="lpstr">
      <vt:lpstr>Arial</vt:lpstr>
      <vt:lpstr>宋体</vt:lpstr>
      <vt:lpstr>Wingdings</vt:lpstr>
      <vt:lpstr>Verdana</vt:lpstr>
      <vt:lpstr>Times New Roman</vt:lpstr>
      <vt:lpstr>楷体_GB2312</vt:lpstr>
      <vt:lpstr>新宋体</vt:lpstr>
      <vt:lpstr>Tahoma</vt:lpstr>
      <vt:lpstr>黑体</vt:lpstr>
      <vt:lpstr>楷体</vt:lpstr>
      <vt:lpstr>微软雅黑</vt:lpstr>
      <vt:lpstr>Arial Unicode MS</vt:lpstr>
      <vt:lpstr>Calibri</vt:lpstr>
      <vt:lpstr>Symbol</vt:lpstr>
      <vt:lpstr>Wingdings 2</vt:lpstr>
      <vt:lpstr>Profile</vt:lpstr>
      <vt:lpstr>1_Profile</vt:lpstr>
      <vt:lpstr>2_Profile</vt:lpstr>
      <vt:lpstr>Word.Picture.8</vt:lpstr>
      <vt:lpstr>Word.Picture.8</vt:lpstr>
      <vt:lpstr>Equation.KSEE3</vt:lpstr>
      <vt:lpstr>Equation.KSEE3</vt:lpstr>
      <vt:lpstr>Equation.KSEE3</vt:lpstr>
      <vt:lpstr>Word.Picture.8</vt:lpstr>
      <vt:lpstr>Equation.KSEE3</vt:lpstr>
      <vt:lpstr>Equation.KSEE3</vt:lpstr>
      <vt:lpstr>Word.Picture.8</vt:lpstr>
      <vt:lpstr>Equation.KSEE3</vt:lpstr>
      <vt:lpstr>Equation.KSEE3</vt:lpstr>
      <vt:lpstr>Word.Picture.8</vt:lpstr>
      <vt:lpstr>Word.Picture.8</vt:lpstr>
      <vt:lpstr>Equation.KSEE3</vt:lpstr>
      <vt:lpstr>Word.Picture.8</vt:lpstr>
      <vt:lpstr>Paint.Picture</vt:lpstr>
      <vt:lpstr>Word.Picture.8</vt:lpstr>
      <vt:lpstr>Word.Picture.8</vt:lpstr>
      <vt:lpstr>Paint.Picture</vt:lpstr>
      <vt:lpstr>Word.Picture.8</vt:lpstr>
      <vt:lpstr>Word.Picture.8</vt:lpstr>
      <vt:lpstr>基本运算电路</vt:lpstr>
      <vt:lpstr>一、实验目的</vt:lpstr>
      <vt:lpstr>  2、芯片安装</vt:lpstr>
      <vt:lpstr>二、集成运放LM324的使用</vt:lpstr>
      <vt:lpstr>二、集成运放LM324的使用</vt:lpstr>
      <vt:lpstr>二、集成运放LM324的使用</vt:lpstr>
      <vt:lpstr>二、集成运放LM324的使用</vt:lpstr>
      <vt:lpstr>二、集成运放LM324的使用</vt:lpstr>
      <vt:lpstr>元器件及常用仪器介绍</vt:lpstr>
      <vt:lpstr>PowerPoint 演示文稿</vt:lpstr>
      <vt:lpstr>三、实验内容</vt:lpstr>
      <vt:lpstr>三、实验内容</vt:lpstr>
      <vt:lpstr>  1、反向比例运算</vt:lpstr>
      <vt:lpstr>  1、反向比例运算</vt:lpstr>
      <vt:lpstr>  1、反向比例加法电路</vt:lpstr>
      <vt:lpstr>  2、反向比例减法电路</vt:lpstr>
      <vt:lpstr>    数据参考表格</vt:lpstr>
      <vt:lpstr> 3、积分电路</vt:lpstr>
      <vt:lpstr>     实验调试要点</vt:lpstr>
      <vt:lpstr>三、实验内容</vt:lpstr>
      <vt:lpstr>PowerPoint 演示文稿</vt:lpstr>
      <vt:lpstr>实验的具体要求及注意事项：</vt:lpstr>
      <vt:lpstr>三、实验内容</vt:lpstr>
      <vt:lpstr>拓展实验要求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luojie</dc:creator>
  <cp:lastModifiedBy>麦芽糖</cp:lastModifiedBy>
  <cp:revision>221</cp:revision>
  <dcterms:created xsi:type="dcterms:W3CDTF">2004-08-29T02:51:00Z</dcterms:created>
  <dcterms:modified xsi:type="dcterms:W3CDTF">2024-04-19T08:07:18Z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B372064C2C964A91A28609B4C0D3EE56</vt:lpwstr>
  </property>
</Properties>
</file>