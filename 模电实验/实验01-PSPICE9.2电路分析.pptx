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1"/>
  </p:handoutMasterIdLst>
  <p:sldIdLst>
    <p:sldId id="256" r:id="rId3"/>
    <p:sldId id="904" r:id="rId5"/>
    <p:sldId id="1045" r:id="rId6"/>
    <p:sldId id="427" r:id="rId7"/>
    <p:sldId id="428" r:id="rId8"/>
    <p:sldId id="438" r:id="rId9"/>
    <p:sldId id="823" r:id="rId10"/>
    <p:sldId id="440" r:id="rId11"/>
    <p:sldId id="439" r:id="rId12"/>
    <p:sldId id="642" r:id="rId13"/>
    <p:sldId id="983" r:id="rId14"/>
    <p:sldId id="643" r:id="rId15"/>
    <p:sldId id="441" r:id="rId16"/>
    <p:sldId id="698" r:id="rId17"/>
    <p:sldId id="450" r:id="rId18"/>
    <p:sldId id="278" r:id="rId19"/>
    <p:sldId id="280" r:id="rId20"/>
    <p:sldId id="1125" r:id="rId21"/>
    <p:sldId id="282" r:id="rId22"/>
    <p:sldId id="283" r:id="rId23"/>
    <p:sldId id="575" r:id="rId24"/>
    <p:sldId id="1121" r:id="rId25"/>
    <p:sldId id="284" r:id="rId26"/>
    <p:sldId id="1120" r:id="rId27"/>
    <p:sldId id="822" r:id="rId28"/>
    <p:sldId id="1122" r:id="rId29"/>
    <p:sldId id="286" r:id="rId30"/>
    <p:sldId id="748" r:id="rId31"/>
    <p:sldId id="287" r:id="rId32"/>
    <p:sldId id="288" r:id="rId33"/>
    <p:sldId id="289" r:id="rId34"/>
    <p:sldId id="1123" r:id="rId35"/>
    <p:sldId id="290" r:id="rId36"/>
    <p:sldId id="787" r:id="rId37"/>
    <p:sldId id="788" r:id="rId38"/>
    <p:sldId id="789" r:id="rId39"/>
    <p:sldId id="373" r:id="rId40"/>
    <p:sldId id="400" r:id="rId41"/>
    <p:sldId id="291" r:id="rId42"/>
    <p:sldId id="292" r:id="rId43"/>
    <p:sldId id="294" r:id="rId44"/>
    <p:sldId id="906" r:id="rId45"/>
    <p:sldId id="296" r:id="rId46"/>
    <p:sldId id="298" r:id="rId47"/>
    <p:sldId id="301" r:id="rId48"/>
    <p:sldId id="824" r:id="rId49"/>
    <p:sldId id="302" r:id="rId50"/>
    <p:sldId id="303" r:id="rId51"/>
    <p:sldId id="305" r:id="rId52"/>
    <p:sldId id="306" r:id="rId53"/>
    <p:sldId id="1127" r:id="rId54"/>
    <p:sldId id="888" r:id="rId55"/>
    <p:sldId id="889" r:id="rId56"/>
    <p:sldId id="890" r:id="rId57"/>
    <p:sldId id="1119" r:id="rId58"/>
    <p:sldId id="264" r:id="rId59"/>
    <p:sldId id="1118" r:id="rId60"/>
    <p:sldId id="526" r:id="rId61"/>
    <p:sldId id="527" r:id="rId62"/>
    <p:sldId id="511" r:id="rId63"/>
    <p:sldId id="512" r:id="rId64"/>
    <p:sldId id="513" r:id="rId65"/>
    <p:sldId id="514" r:id="rId66"/>
    <p:sldId id="515" r:id="rId67"/>
    <p:sldId id="516" r:id="rId68"/>
    <p:sldId id="517" r:id="rId69"/>
    <p:sldId id="518" r:id="rId70"/>
  </p:sldIdLst>
  <p:sldSz cx="12192000" cy="6858000"/>
  <p:notesSz cx="6858000" cy="9144000"/>
  <p:custDataLst>
    <p:tags r:id="rId7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9C0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22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gs" Target="tags/tag5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handoutMaster" Target="handoutMasters/handoutMaster1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幻灯片图像占位符 4097"/>
          <p:cNvSpPr/>
          <p:nvPr>
            <p:ph type="sldImg"/>
          </p:nvPr>
        </p:nvSpPr>
        <p:spPr>
          <a:xfrm>
            <a:off x="408870" y="754063"/>
            <a:ext cx="5856110" cy="3294062"/>
          </a:xfrm>
          <a:prstGeom prst="rect">
            <a:avLst/>
          </a:prstGeom>
          <a:noFill/>
          <a:ln w="1">
            <a:noFill/>
          </a:ln>
        </p:spPr>
      </p:sp>
      <p:sp>
        <p:nvSpPr>
          <p:cNvPr id="24579" name="文本占位符 4098"/>
          <p:cNvSpPr/>
          <p:nvPr>
            <p:ph type="body" sz="quarter"/>
          </p:nvPr>
        </p:nvSpPr>
        <p:spPr>
          <a:xfrm>
            <a:off x="538163" y="4387850"/>
            <a:ext cx="5780087" cy="3952875"/>
          </a:xfrm>
          <a:prstGeom prst="rect">
            <a:avLst/>
          </a:prstGeom>
          <a:noFill/>
          <a:ln w="1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
第二级
第三级
第四级
第五级</a:t>
            </a:r>
            <a:endParaRPr lang="zh-CN" altLang="en-US"/>
          </a:p>
        </p:txBody>
      </p:sp>
      <p:sp>
        <p:nvSpPr>
          <p:cNvPr id="4100" name="页眉占位符 4099"/>
          <p:cNvSpPr/>
          <p:nvPr>
            <p:ph type="hdr" sz="quarter"/>
          </p:nvPr>
        </p:nvSpPr>
        <p:spPr>
          <a:xfrm>
            <a:off x="0" y="0"/>
            <a:ext cx="2973388" cy="457200"/>
          </a:xfrm>
          <a:prstGeom prst="rect">
            <a:avLst/>
          </a:prstGeom>
          <a:noFill/>
          <a:ln w="1">
            <a:noFill/>
          </a:ln>
        </p:spPr>
        <p:txBody>
          <a:bodyPr/>
          <a:p>
            <a:pPr lvl="0" eaLnBrk="1" fontAlgn="base" latinLnBrk="0" hangingPunct="1"/>
            <a:endParaRPr lang="zh-CN" altLang="en-US" sz="1200" strike="noStrike" noProof="1" dirty="0">
              <a:ea typeface="黑体" panose="02010609060101010101" pitchFamily="2" charset="-122"/>
            </a:endParaRPr>
          </a:p>
        </p:txBody>
      </p:sp>
      <p:sp>
        <p:nvSpPr>
          <p:cNvPr id="4101" name="日期占位符 4100"/>
          <p:cNvSpPr/>
          <p:nvPr>
            <p:ph type="dt" idx="1"/>
          </p:nvPr>
        </p:nvSpPr>
        <p:spPr>
          <a:xfrm>
            <a:off x="3884613" y="0"/>
            <a:ext cx="2973388" cy="457200"/>
          </a:xfrm>
          <a:prstGeom prst="rect">
            <a:avLst/>
          </a:prstGeom>
          <a:noFill/>
          <a:ln w="1">
            <a:noFill/>
          </a:ln>
        </p:spPr>
        <p:txBody>
          <a:bodyPr/>
          <a:p>
            <a:pPr lvl="0" algn="r" eaLnBrk="1" fontAlgn="base" latinLnBrk="0" hangingPunct="1"/>
            <a:endParaRPr lang="zh-CN" altLang="en-US" sz="1200" strike="noStrike" noProof="1" dirty="0">
              <a:ea typeface="黑体" panose="02010609060101010101" pitchFamily="2" charset="-122"/>
            </a:endParaRPr>
          </a:p>
        </p:txBody>
      </p:sp>
      <p:sp>
        <p:nvSpPr>
          <p:cNvPr id="4102" name="页脚占位符 4101"/>
          <p:cNvSpPr/>
          <p:nvPr>
            <p:ph type="ftr" sz="quarter" idx="4"/>
          </p:nvPr>
        </p:nvSpPr>
        <p:spPr>
          <a:xfrm>
            <a:off x="0" y="8686800"/>
            <a:ext cx="2973388" cy="457200"/>
          </a:xfrm>
          <a:prstGeom prst="rect">
            <a:avLst/>
          </a:prstGeom>
          <a:noFill/>
          <a:ln w="1">
            <a:noFill/>
          </a:ln>
        </p:spPr>
        <p:txBody>
          <a:bodyPr/>
          <a:p>
            <a:pPr lvl="0" eaLnBrk="1" fontAlgn="base" latinLnBrk="0" hangingPunct="1"/>
            <a:endParaRPr lang="zh-CN" altLang="en-US" sz="1200" strike="noStrike" noProof="1" dirty="0">
              <a:ea typeface="黑体" panose="02010609060101010101" pitchFamily="2" charset="-122"/>
            </a:endParaRPr>
          </a:p>
        </p:txBody>
      </p:sp>
      <p:sp>
        <p:nvSpPr>
          <p:cNvPr id="4103" name="灯片编号占位符 4102"/>
          <p:cNvSpPr/>
          <p:nvPr>
            <p:ph type="sldNum" sz="quarter" idx="5"/>
          </p:nvPr>
        </p:nvSpPr>
        <p:spPr>
          <a:xfrm>
            <a:off x="3884613" y="8686800"/>
            <a:ext cx="2973388" cy="457200"/>
          </a:xfrm>
          <a:prstGeom prst="rect">
            <a:avLst/>
          </a:prstGeom>
          <a:noFill/>
          <a:ln w="1">
            <a:noFill/>
          </a:ln>
        </p:spPr>
        <p:txBody>
          <a:bodyPr/>
          <a:p>
            <a:pPr lvl="0" algn="r" eaLnBrk="1" fontAlgn="base" latinLnBrk="0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2" charset="0"/>
                <a:ea typeface="黑体" panose="02010609060101010101" pitchFamily="2" charset="-122"/>
                <a:cs typeface="+mn-ea"/>
              </a:rPr>
            </a:fld>
            <a:endParaRPr lang="zh-CN" altLang="en-US" sz="1200" strike="noStrike" noProof="1" dirty="0">
              <a:ea typeface="黑体" panose="0201060906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/>
          <p:nvPr>
            <p:ph type="sldImg"/>
          </p:nvPr>
        </p:nvSpPr>
        <p:spPr/>
      </p:sp>
      <p:sp>
        <p:nvSpPr>
          <p:cNvPr id="26626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利用</a:t>
            </a:r>
            <a:r>
              <a:rPr lang="en-US" altLang="zh-CN">
                <a:latin typeface="黑体" panose="02010609060101010101" pitchFamily="2" charset="-122"/>
                <a:ea typeface="黑体" panose="02010609060101010101" pitchFamily="2" charset="-122"/>
              </a:rPr>
              <a:t>PSpice9.2</a:t>
            </a:r>
            <a:r>
              <a:rPr lang="zh-CN" altLang="en-US">
                <a:latin typeface="黑体" panose="02010609060101010101" pitchFamily="2" charset="-122"/>
                <a:ea typeface="黑体" panose="02010609060101010101" pitchFamily="2" charset="-122"/>
              </a:rPr>
              <a:t>对电路进行分析，以验证设计方案的正确性</a:t>
            </a:r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0"/>
            <a:endParaRPr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6800"/>
            <a:ext cx="2973387" cy="457200"/>
          </a:xfrm>
          <a:prstGeom prst="rect">
            <a:avLst/>
          </a:prstGeom>
          <a:noFill/>
          <a:ln w="1">
            <a:noFill/>
          </a:ln>
        </p:spPr>
        <p:txBody>
          <a:bodyPr anchor="t" anchorCtr="0"/>
          <a:p>
            <a:pPr lvl="0" algn="r"/>
            <a:fld id="{9A0DB2DC-4C9A-4742-B13C-FB6460FD3503}" type="slidenum">
              <a:rPr lang="zh-CN" altLang="en-US" sz="1200" dirty="0">
                <a:ea typeface="黑体" panose="02010609060101010101" pitchFamily="2" charset="-122"/>
              </a:rPr>
            </a:fld>
            <a:endParaRPr lang="zh-CN" altLang="en-US" sz="1200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30722" name="文本占位符 2"/>
          <p:cNvSpPr>
            <a:spLocks noGrp="1" noRot="1"/>
          </p:cNvSpPr>
          <p:nvPr>
            <p:ph type="body"/>
          </p:nvPr>
        </p:nvSpPr>
        <p:spPr>
          <a:ln w="12700"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3555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ED93B2-F648-48A3-BC0E-801B63559C7C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32770" name="文本占位符 2"/>
          <p:cNvSpPr>
            <a:spLocks noGrp="1" noRot="1"/>
          </p:cNvSpPr>
          <p:nvPr>
            <p:ph type="body"/>
          </p:nvPr>
        </p:nvSpPr>
        <p:spPr>
          <a:ln w="12700"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560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30ED0DE-72CA-4688-9CD3-FD14A7EDE434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幻灯片图像占位符 1"/>
          <p:cNvSpPr/>
          <p:nvPr>
            <p:ph type="sldImg"/>
          </p:nvPr>
        </p:nvSpPr>
        <p:spPr/>
      </p:sp>
      <p:sp>
        <p:nvSpPr>
          <p:cNvPr id="40962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：交代和书本上的不一样，但与</a:t>
            </a:r>
            <a:r>
              <a:rPr lang="en-US" altLang="zh-CN"/>
              <a:t>BJT</a:t>
            </a:r>
            <a:r>
              <a:rPr lang="zh-CN" altLang="en-US"/>
              <a:t>实验一样。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：强调参数要在合理范围，不需要一样。以</a:t>
            </a:r>
            <a:r>
              <a:rPr lang="en-US" altLang="zh-CN"/>
              <a:t>R1</a:t>
            </a:r>
            <a:r>
              <a:rPr lang="zh-CN" altLang="en-US"/>
              <a:t>和</a:t>
            </a:r>
            <a:r>
              <a:rPr lang="en-US" altLang="zh-CN"/>
              <a:t>R2</a:t>
            </a:r>
            <a:r>
              <a:rPr lang="zh-CN" altLang="en-US"/>
              <a:t>，</a:t>
            </a:r>
            <a:r>
              <a:rPr lang="en-US" altLang="zh-CN"/>
              <a:t>Re</a:t>
            </a:r>
            <a:r>
              <a:rPr lang="zh-CN" altLang="en-US"/>
              <a:t>为例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幻灯片图像占位符 1"/>
          <p:cNvSpPr/>
          <p:nvPr>
            <p:ph type="sldImg"/>
          </p:nvPr>
        </p:nvSpPr>
        <p:spPr/>
      </p:sp>
      <p:sp>
        <p:nvSpPr>
          <p:cNvPr id="50178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zh-CN" altLang="en-US" b="1">
                <a:solidFill>
                  <a:srgbClr val="660033"/>
                </a:solidFill>
                <a:latin typeface="Cambria" panose="02040503050406030204" charset="0"/>
              </a:rPr>
              <a:t>在</a:t>
            </a:r>
            <a:r>
              <a:rPr lang="en-US" altLang="zh-CN" b="1">
                <a:solidFill>
                  <a:srgbClr val="660033"/>
                </a:solidFill>
                <a:latin typeface="宋体" panose="02010600030101010101" pitchFamily="2" charset="-122"/>
              </a:rPr>
              <a:t>OrCAD</a:t>
            </a:r>
            <a:r>
              <a:rPr lang="zh-CN" altLang="en-US" b="1">
                <a:solidFill>
                  <a:srgbClr val="660033"/>
                </a:solidFill>
                <a:latin typeface="Cambria" panose="02040503050406030204" charset="0"/>
              </a:rPr>
              <a:t>软件包中，每一个设计或分析任务都被当作一个项目，由项目管理器（</a:t>
            </a:r>
            <a:r>
              <a:rPr lang="en-US" altLang="zh-CN" b="1">
                <a:solidFill>
                  <a:srgbClr val="660033"/>
                </a:solidFill>
                <a:latin typeface="宋体" panose="02010600030101010101" pitchFamily="2" charset="-122"/>
              </a:rPr>
              <a:t>Project Manager</a:t>
            </a:r>
            <a:r>
              <a:rPr lang="zh-CN" altLang="en-US" b="1">
                <a:solidFill>
                  <a:srgbClr val="660033"/>
                </a:solidFill>
                <a:latin typeface="Cambria" panose="02040503050406030204" charset="0"/>
              </a:rPr>
              <a:t>）统一管理。因此每开始一个新的任务就等于新建一个设计项目，要调用项目管理器为新建项目起个名，并确定有关的设置。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幻灯片图像占位符 1"/>
          <p:cNvSpPr/>
          <p:nvPr>
            <p:ph type="sldImg"/>
          </p:nvPr>
        </p:nvSpPr>
        <p:spPr/>
      </p:sp>
      <p:sp>
        <p:nvSpPr>
          <p:cNvPr id="53250" name="文本占位符 2"/>
          <p:cNvSpPr/>
          <p:nvPr>
            <p:ph type="body"/>
          </p:nvPr>
        </p:nvSpPr>
        <p:spPr/>
        <p:txBody>
          <a:bodyPr anchor="t" anchorCtr="0"/>
          <a:p>
            <a:pPr marL="812800" lvl="0" indent="-81280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，点击后就会在屏幕上出现</a:t>
            </a:r>
            <a:r>
              <a:rPr lang="en-US" altLang="zh-CN" b="1">
                <a:solidFill>
                  <a:schemeClr val="accent2"/>
                </a:solidFill>
              </a:rPr>
              <a:t>Capture</a:t>
            </a:r>
            <a:r>
              <a:rPr lang="zh-CN" altLang="en-US" b="1">
                <a:solidFill>
                  <a:schemeClr val="accent2"/>
                </a:solidFill>
                <a:latin typeface="宋体" panose="02010600030101010101" pitchFamily="2" charset="-122"/>
              </a:rPr>
              <a:t>启动窗口。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幻灯片图像占位符 1"/>
          <p:cNvSpPr/>
          <p:nvPr>
            <p:ph type="sldImg"/>
          </p:nvPr>
        </p:nvSpPr>
        <p:spPr/>
      </p:sp>
      <p:sp>
        <p:nvSpPr>
          <p:cNvPr id="57346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：特别提示，所有的文件，目录都得是全英文，且不能有空格。不能放在中文操作系统的桌面上，一定要为项目建立独立的字目录。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zh-CN" altLang="en-US" b="1">
                <a:latin typeface="宋体" panose="02010600030101010101" pitchFamily="2" charset="-122"/>
              </a:rPr>
              <a:t>如果电路图要用于印制电路版设计，则应选“</a:t>
            </a:r>
            <a:r>
              <a:rPr lang="en-US" altLang="zh-CN" b="1">
                <a:latin typeface="宋体" panose="02010600030101010101" pitchFamily="2" charset="-122"/>
              </a:rPr>
              <a:t>PC Board Wizard ”</a:t>
            </a:r>
            <a:r>
              <a:rPr lang="zh-CN" altLang="en-US" b="1">
                <a:latin typeface="宋体" panose="02010600030101010101" pitchFamily="2" charset="-122"/>
              </a:rPr>
              <a:t>或“</a:t>
            </a:r>
            <a:r>
              <a:rPr lang="en-US" altLang="zh-CN" b="1">
                <a:latin typeface="宋体" panose="02010600030101010101" pitchFamily="2" charset="-122"/>
              </a:rPr>
              <a:t>Programmable Logic Wizard ”</a:t>
            </a:r>
            <a:r>
              <a:rPr lang="zh-CN" altLang="en-US" b="1">
                <a:latin typeface="宋体" panose="02010600030101010101" pitchFamily="2" charset="-122"/>
              </a:rPr>
              <a:t>。如果只绘制电路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zh-CN" altLang="en-US" b="1">
                <a:latin typeface="宋体" panose="02010600030101010101" pitchFamily="2" charset="-122"/>
              </a:rPr>
              <a:t>则应选“</a:t>
            </a:r>
            <a:r>
              <a:rPr lang="en-US" altLang="zh-CN" b="1">
                <a:latin typeface="宋体" panose="02010600030101010101" pitchFamily="2" charset="-122"/>
              </a:rPr>
              <a:t>Schematic”</a:t>
            </a:r>
            <a:r>
              <a:rPr lang="zh-CN" altLang="en-US" b="1">
                <a:latin typeface="宋体" panose="02010600030101010101" pitchFamily="2" charset="-122"/>
              </a:rPr>
              <a:t>。</a:t>
            </a:r>
            <a:endParaRPr lang="zh-CN" altLang="en-US" b="1">
              <a:latin typeface="宋体" panose="02010600030101010101" pitchFamily="2" charset="-122"/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幻灯片图像占位符 1"/>
          <p:cNvSpPr/>
          <p:nvPr>
            <p:ph type="sldImg"/>
          </p:nvPr>
        </p:nvSpPr>
        <p:spPr/>
      </p:sp>
      <p:sp>
        <p:nvSpPr>
          <p:cNvPr id="60418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：有时候只能看到一个全屏的窗口，将该窗口缩小就可以看到其他了。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/>
          <p:nvPr>
            <p:ph type="sldImg"/>
          </p:nvPr>
        </p:nvSpPr>
        <p:spPr/>
      </p:sp>
      <p:sp>
        <p:nvSpPr>
          <p:cNvPr id="62466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 b="1">
                <a:latin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</a:rPr>
              <a:t>：在画电路图之前，首先选择元器件库。执行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Place/Part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命令，</a:t>
            </a:r>
            <a:r>
              <a:rPr lang="zh-CN" altLang="en-US" b="1">
                <a:latin typeface="宋体" panose="02010600030101010101" pitchFamily="2" charset="-122"/>
              </a:rPr>
              <a:t>，在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</a:rPr>
              <a:t>Place/Part</a:t>
            </a:r>
            <a:r>
              <a:rPr lang="zh-CN" altLang="en-US" b="1">
                <a:latin typeface="宋体" panose="02010600030101010101" pitchFamily="2" charset="-122"/>
              </a:rPr>
              <a:t>对话框中点击“</a:t>
            </a:r>
            <a:r>
              <a:rPr lang="en-US" altLang="zh-CN" b="1">
                <a:latin typeface="宋体" panose="02010600030101010101" pitchFamily="2" charset="-122"/>
              </a:rPr>
              <a:t>Add”</a:t>
            </a:r>
            <a:r>
              <a:rPr lang="zh-CN" altLang="en-US" b="1">
                <a:latin typeface="宋体" panose="02010600030101010101" pitchFamily="2" charset="-122"/>
              </a:rPr>
              <a:t>按钮，出现</a:t>
            </a:r>
            <a:r>
              <a:rPr lang="en-US" altLang="zh-CN" b="1">
                <a:latin typeface="宋体" panose="02010600030101010101" pitchFamily="2" charset="-122"/>
              </a:rPr>
              <a:t>Browse File</a:t>
            </a:r>
            <a:r>
              <a:rPr lang="zh-CN" altLang="en-US" b="1">
                <a:latin typeface="宋体" panose="02010600030101010101" pitchFamily="2" charset="-122"/>
              </a:rPr>
              <a:t>对话框，将所需库点中，点击“打开”按钮，则选中的库文件增至“</a:t>
            </a:r>
            <a:r>
              <a:rPr lang="en-US" altLang="zh-CN" b="1">
                <a:latin typeface="宋体" panose="02010600030101010101" pitchFamily="2" charset="-122"/>
              </a:rPr>
              <a:t>Labrarise”</a:t>
            </a:r>
            <a:r>
              <a:rPr lang="zh-CN" altLang="en-US" b="1">
                <a:latin typeface="宋体" panose="02010600030101010101" pitchFamily="2" charset="-122"/>
              </a:rPr>
              <a:t>框 中。反之，从“</a:t>
            </a:r>
            <a:r>
              <a:rPr lang="en-US" altLang="zh-CN" b="1">
                <a:latin typeface="宋体" panose="02010600030101010101" pitchFamily="2" charset="-122"/>
              </a:rPr>
              <a:t>Labrarise”</a:t>
            </a:r>
            <a:r>
              <a:rPr lang="zh-CN" altLang="en-US" b="1">
                <a:latin typeface="宋体" panose="02010600030101010101" pitchFamily="2" charset="-122"/>
              </a:rPr>
              <a:t>框，选中一个库文件，点击</a:t>
            </a:r>
            <a:r>
              <a:rPr lang="en-US" altLang="zh-CN" b="1">
                <a:latin typeface="宋体" panose="02010600030101010101" pitchFamily="2" charset="-122"/>
              </a:rPr>
              <a:t>Remove</a:t>
            </a:r>
            <a:r>
              <a:rPr lang="zh-CN" altLang="en-US" b="1">
                <a:latin typeface="宋体" panose="02010600030101010101" pitchFamily="2" charset="-122"/>
              </a:rPr>
              <a:t>按钮，即将该库文件框剔除。</a:t>
            </a:r>
            <a:endParaRPr lang="zh-CN" altLang="en-US" b="1">
              <a:latin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</a:rPr>
              <a:t>：说明每个框的意义。</a:t>
            </a:r>
            <a:endParaRPr lang="zh-CN" altLang="en-US" b="1">
              <a:latin typeface="宋体" panose="02010600030101010101" pitchFamily="2" charset="-122"/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r>
              <a:rPr lang="en-US" altLang="zh-CN" dirty="0"/>
              <a:t>POT</a:t>
            </a:r>
            <a:r>
              <a:rPr lang="zh-CN" altLang="en-US" dirty="0"/>
              <a:t>中的</a:t>
            </a:r>
            <a:r>
              <a:rPr lang="en-US" altLang="zh-CN" dirty="0"/>
              <a:t>set</a:t>
            </a:r>
            <a:r>
              <a:rPr lang="zh-CN" altLang="en-US" dirty="0"/>
              <a:t>参数是指</a:t>
            </a:r>
            <a:r>
              <a:rPr lang="en-US" altLang="zh-CN" dirty="0"/>
              <a:t>2-3</a:t>
            </a:r>
            <a:r>
              <a:rPr lang="zh-CN" altLang="en-US" dirty="0"/>
              <a:t>端间的电阻值比率，比如</a:t>
            </a:r>
            <a:r>
              <a:rPr lang="en-US" altLang="zh-CN" dirty="0"/>
              <a:t>1K</a:t>
            </a:r>
            <a:r>
              <a:rPr lang="zh-CN" altLang="en-US" dirty="0"/>
              <a:t>的</a:t>
            </a:r>
            <a:r>
              <a:rPr lang="en-US" altLang="zh-CN" dirty="0"/>
              <a:t>POT</a:t>
            </a:r>
            <a:r>
              <a:rPr lang="zh-CN" altLang="en-US" dirty="0"/>
              <a:t>，设</a:t>
            </a:r>
            <a:r>
              <a:rPr lang="en-US" altLang="zh-CN" dirty="0"/>
              <a:t>SET</a:t>
            </a:r>
            <a:r>
              <a:rPr lang="zh-CN" altLang="en-US" dirty="0"/>
              <a:t>为</a:t>
            </a:r>
            <a:r>
              <a:rPr lang="en-US" altLang="zh-CN" dirty="0"/>
              <a:t>0.9</a:t>
            </a:r>
            <a:r>
              <a:rPr lang="zh-CN" altLang="en-US" dirty="0"/>
              <a:t>，则</a:t>
            </a:r>
            <a:r>
              <a:rPr lang="en-US" altLang="zh-CN" dirty="0"/>
              <a:t>2-3</a:t>
            </a:r>
            <a:r>
              <a:rPr lang="zh-CN" altLang="en-US" dirty="0"/>
              <a:t>端间为</a:t>
            </a:r>
            <a:r>
              <a:rPr lang="en-US" altLang="zh-CN" dirty="0"/>
              <a:t>900</a:t>
            </a:r>
            <a:r>
              <a:rPr lang="zh-CN" altLang="en-US" dirty="0"/>
              <a:t>欧，而</a:t>
            </a:r>
            <a:r>
              <a:rPr lang="en-US" altLang="zh-CN" dirty="0"/>
              <a:t>1-2</a:t>
            </a:r>
            <a:r>
              <a:rPr lang="zh-CN" altLang="en-US" dirty="0"/>
              <a:t>间是</a:t>
            </a:r>
            <a:r>
              <a:rPr lang="en-US" altLang="zh-CN" dirty="0"/>
              <a:t>100</a:t>
            </a:r>
            <a:r>
              <a:rPr lang="zh-CN" altLang="en-US" dirty="0"/>
              <a:t>欧！</a:t>
            </a:r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幻灯片图像占位符 1"/>
          <p:cNvSpPr/>
          <p:nvPr>
            <p:ph type="sldImg"/>
          </p:nvPr>
        </p:nvSpPr>
        <p:spPr/>
      </p:sp>
      <p:sp>
        <p:nvSpPr>
          <p:cNvPr id="68610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zh-CN" altLang="en-US"/>
              <a:t>强调框的意义。</a:t>
            </a:r>
            <a:endParaRPr lang="zh-CN" altLang="en-US"/>
          </a:p>
          <a:p>
            <a:pPr lvl="0"/>
            <a:r>
              <a:rPr lang="zh-CN" altLang="en-US" b="1" dirty="0">
                <a:solidFill>
                  <a:schemeClr val="tx2"/>
                </a:solidFill>
              </a:rPr>
              <a:t>结束</a:t>
            </a:r>
            <a:r>
              <a:rPr lang="zh-CN" altLang="en-US" b="1" dirty="0"/>
              <a:t>：单击鼠标右键结束 放元器件</a:t>
            </a:r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幻灯片图像占位符 1"/>
          <p:cNvSpPr/>
          <p:nvPr>
            <p:ph type="sldImg"/>
          </p:nvPr>
        </p:nvSpPr>
        <p:spPr/>
      </p:sp>
      <p:sp>
        <p:nvSpPr>
          <p:cNvPr id="72706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 b="1" dirty="0">
                <a:solidFill>
                  <a:schemeClr val="tx2"/>
                </a:solidFill>
              </a:rPr>
              <a:t>	1</a:t>
            </a:r>
            <a:r>
              <a:rPr lang="zh-CN" altLang="en-US" b="1" dirty="0">
                <a:solidFill>
                  <a:schemeClr val="tx2"/>
                </a:solidFill>
              </a:rPr>
              <a:t>：进入</a:t>
            </a:r>
            <a:r>
              <a:rPr lang="zh-CN" altLang="en-US" b="1" dirty="0"/>
              <a:t>：菜单</a:t>
            </a:r>
            <a:r>
              <a:rPr lang="en-US" altLang="zh-CN" b="1" dirty="0">
                <a:solidFill>
                  <a:srgbClr val="FF0000"/>
                </a:solidFill>
              </a:rPr>
              <a:t>Place/wire</a:t>
            </a:r>
            <a:r>
              <a:rPr lang="zh-CN" altLang="en-US" b="1" dirty="0"/>
              <a:t>或工具栏的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0"/>
            <a:r>
              <a:rPr lang="zh-CN" altLang="en-US" b="1" dirty="0"/>
              <a:t>	</a:t>
            </a:r>
            <a:r>
              <a:rPr lang="zh-CN" altLang="en-US" b="1" dirty="0">
                <a:solidFill>
                  <a:schemeClr val="tx2"/>
                </a:solidFill>
              </a:rPr>
              <a:t>画线</a:t>
            </a:r>
            <a:r>
              <a:rPr lang="zh-CN" altLang="en-US" b="1" dirty="0"/>
              <a:t>：将光标移到需要连线的起点，单击左键（此时会拖着</a:t>
            </a:r>
            <a:r>
              <a:rPr lang="en-US" altLang="zh-CN" b="1" dirty="0"/>
              <a:t>1</a:t>
            </a:r>
            <a:r>
              <a:rPr lang="zh-CN" altLang="en-US" b="1" dirty="0"/>
              <a:t>根线）；移动鼠标到所需位置，单击左键，如此循环，直到连线的终点（某元件的引脚）。</a:t>
            </a:r>
            <a:endParaRPr lang="zh-CN" altLang="en-US" b="1" dirty="0"/>
          </a:p>
          <a:p>
            <a:pPr lvl="0"/>
            <a:r>
              <a:rPr lang="zh-CN" altLang="en-US" b="1" dirty="0">
                <a:solidFill>
                  <a:schemeClr val="tx2"/>
                </a:solidFill>
              </a:rPr>
              <a:t>   	结束</a:t>
            </a:r>
            <a:r>
              <a:rPr lang="zh-CN" altLang="en-US" b="1" dirty="0"/>
              <a:t>：单击鼠标右键结束 </a:t>
            </a:r>
            <a:endParaRPr lang="zh-CN" altLang="en-US" b="1" dirty="0"/>
          </a:p>
          <a:p>
            <a:pPr lvl="0"/>
            <a:r>
              <a:rPr lang="zh-CN" altLang="en-US" b="1" dirty="0"/>
              <a:t>   	注意：两个元器件间只能有一条线，一次连接成功，检验方法是拖动元器件。</a:t>
            </a:r>
            <a:endParaRPr lang="zh-CN" altLang="en-US" b="1" dirty="0"/>
          </a:p>
          <a:p>
            <a:pPr lvl="0"/>
            <a:r>
              <a:rPr lang="zh-CN" altLang="en-US" b="1" dirty="0"/>
              <a:t>                     </a:t>
            </a:r>
            <a:r>
              <a:rPr lang="en-US" altLang="zh-CN" b="1" dirty="0"/>
              <a:t>2</a:t>
            </a:r>
            <a:r>
              <a:rPr lang="zh-CN" altLang="en-US" b="1" dirty="0"/>
              <a:t>：为了引用方便，需要设置别名。</a:t>
            </a:r>
            <a:endParaRPr lang="zh-CN" altLang="en-US" b="1" dirty="0"/>
          </a:p>
          <a:p>
            <a:pPr lvl="0"/>
            <a:endParaRPr lang="en-US" altLang="zh-CN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幻灯片图像占位符 1"/>
          <p:cNvSpPr/>
          <p:nvPr>
            <p:ph type="sldImg"/>
          </p:nvPr>
        </p:nvSpPr>
        <p:spPr/>
      </p:sp>
      <p:sp>
        <p:nvSpPr>
          <p:cNvPr id="76802" name="文本占位符 2"/>
          <p:cNvSpPr/>
          <p:nvPr>
            <p:ph type="body"/>
          </p:nvPr>
        </p:nvSpPr>
        <p:spPr/>
        <p:txBody>
          <a:bodyPr anchor="t" anchorCtr="0"/>
          <a:p>
            <a:pPr lvl="0" algn="just">
              <a:lnSpc>
                <a:spcPct val="110000"/>
              </a:lnSpc>
              <a:spcBef>
                <a:spcPct val="40000"/>
              </a:spcBef>
            </a:pPr>
            <a:r>
              <a:rPr lang="en-US" altLang="zh-CN" b="1">
                <a:latin typeface="宋体" panose="02010600030101010101" pitchFamily="2" charset="-122"/>
              </a:rPr>
              <a:t> 1:Pspice </a:t>
            </a:r>
            <a:r>
              <a:rPr lang="zh-CN" altLang="en-US" b="1">
                <a:latin typeface="宋体" panose="02010600030101010101" pitchFamily="2" charset="-122"/>
              </a:rPr>
              <a:t>中采用的是实用工程单位制，如电压用伏（</a:t>
            </a:r>
            <a:r>
              <a:rPr lang="en-US" altLang="zh-CN" b="1">
                <a:latin typeface="宋体" panose="02010600030101010101" pitchFamily="2" charset="-122"/>
              </a:rPr>
              <a:t>V</a:t>
            </a:r>
            <a:r>
              <a:rPr lang="zh-CN" altLang="en-US" b="1">
                <a:latin typeface="宋体" panose="02010600030101010101" pitchFamily="2" charset="-122"/>
              </a:rPr>
              <a:t>）、电流用安培（</a:t>
            </a:r>
            <a:r>
              <a:rPr lang="en-US" altLang="zh-CN" b="1">
                <a:latin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</a:rPr>
              <a:t>）、电阻用欧姆（</a:t>
            </a:r>
            <a:r>
              <a:rPr lang="en-US" altLang="zh-CN" b="1">
                <a:latin typeface="宋体" panose="02010600030101010101" pitchFamily="2" charset="-122"/>
              </a:rPr>
              <a:t>Ω</a:t>
            </a:r>
            <a:r>
              <a:rPr lang="zh-CN" altLang="en-US" b="1">
                <a:latin typeface="宋体" panose="02010600030101010101" pitchFamily="2" charset="-122"/>
              </a:rPr>
              <a:t>）、功率用瓦特（</a:t>
            </a:r>
            <a:r>
              <a:rPr lang="en-US" altLang="zh-CN" b="1">
                <a:latin typeface="宋体" panose="02010600030101010101" pitchFamily="2" charset="-122"/>
              </a:rPr>
              <a:t>W</a:t>
            </a:r>
            <a:r>
              <a:rPr lang="zh-CN" altLang="en-US" b="1">
                <a:latin typeface="宋体" panose="02010600030101010101" pitchFamily="2" charset="-122"/>
              </a:rPr>
              <a:t>）等。在运行中，</a:t>
            </a:r>
            <a:r>
              <a:rPr lang="en-US" altLang="zh-CN" b="1">
                <a:latin typeface="宋体" panose="02010600030101010101" pitchFamily="2" charset="-122"/>
              </a:rPr>
              <a:t>Pspice</a:t>
            </a:r>
            <a:r>
              <a:rPr lang="zh-CN" altLang="en-US" b="1">
                <a:latin typeface="宋体" panose="02010600030101010101" pitchFamily="2" charset="-122"/>
              </a:rPr>
              <a:t>会根据具体对象自动确定其单位。用户在输入数据时，代表单位的字母可以省去。例如给电压源赋值时，键入</a:t>
            </a:r>
            <a:r>
              <a:rPr lang="en-US" altLang="zh-CN" b="1">
                <a:latin typeface="宋体" panose="02010600030101010101" pitchFamily="2" charset="-122"/>
              </a:rPr>
              <a:t>12</a:t>
            </a:r>
            <a:r>
              <a:rPr lang="zh-CN" altLang="en-US" b="1">
                <a:latin typeface="宋体" panose="02010600030101010101" pitchFamily="2" charset="-122"/>
              </a:rPr>
              <a:t>和</a:t>
            </a:r>
            <a:r>
              <a:rPr lang="en-US" altLang="zh-CN" b="1">
                <a:latin typeface="宋体" panose="02010600030101010101" pitchFamily="2" charset="-122"/>
              </a:rPr>
              <a:t>12V</a:t>
            </a:r>
            <a:r>
              <a:rPr lang="zh-CN" altLang="en-US" b="1">
                <a:latin typeface="宋体" panose="02010600030101010101" pitchFamily="2" charset="-122"/>
              </a:rPr>
              <a:t>意思一样。</a:t>
            </a:r>
            <a:endParaRPr lang="zh-CN" altLang="en-US" b="1">
              <a:latin typeface="宋体" panose="02010600030101010101" pitchFamily="2" charset="-122"/>
            </a:endParaRPr>
          </a:p>
          <a:p>
            <a:pPr lvl="0" algn="just">
              <a:lnSpc>
                <a:spcPct val="110000"/>
              </a:lnSpc>
              <a:spcBef>
                <a:spcPct val="40000"/>
              </a:spcBef>
            </a:pP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en-US" altLang="zh-CN" b="1">
                <a:latin typeface="宋体" panose="02010600030101010101" pitchFamily="2" charset="-122"/>
              </a:rPr>
              <a:t>2: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Pspice 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中的数字采用科学表示方式，即可以使用整数、小数和以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为底的指数。用指数表示时，底数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用字母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</a:rPr>
              <a:t>E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来表示。对于比较大或比较小的数字，还可采用</a:t>
            </a:r>
            <a:r>
              <a:rPr lang="en-US" altLang="zh-CN" b="1">
                <a:latin typeface="宋体" panose="02010600030101010101" pitchFamily="2" charset="-122"/>
              </a:rPr>
              <a:t>10</a:t>
            </a:r>
            <a:r>
              <a:rPr lang="zh-CN" altLang="en-US" b="1">
                <a:latin typeface="宋体" panose="02010600030101010101" pitchFamily="2" charset="-122"/>
              </a:rPr>
              <a:t>种比例因子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，如下表所示。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幻灯片图像占位符 1"/>
          <p:cNvSpPr/>
          <p:nvPr>
            <p:ph type="sldImg"/>
          </p:nvPr>
        </p:nvSpPr>
        <p:spPr/>
      </p:sp>
      <p:sp>
        <p:nvSpPr>
          <p:cNvPr id="81922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：后面的空格一定不能够删除</a:t>
            </a:r>
            <a:endParaRPr lang="zh-CN" altLang="en-US"/>
          </a:p>
          <a:p>
            <a:pPr lvl="0"/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：鼠标选中三极管并</a:t>
            </a:r>
            <a:r>
              <a:rPr lang="zh-CN" altLang="en-US" b="1" dirty="0">
                <a:solidFill>
                  <a:schemeClr val="tx2"/>
                </a:solidFill>
              </a:rPr>
              <a:t>单</a:t>
            </a:r>
            <a:r>
              <a:rPr lang="zh-CN" altLang="en-US" dirty="0">
                <a:solidFill>
                  <a:schemeClr val="tx2"/>
                </a:solidFill>
              </a:rPr>
              <a:t>击（符号变为红色）然后，选择</a:t>
            </a:r>
            <a:r>
              <a:rPr lang="zh-CN" altLang="en-US" b="1" dirty="0">
                <a:solidFill>
                  <a:schemeClr val="tx2"/>
                </a:solidFill>
              </a:rPr>
              <a:t>菜单中</a:t>
            </a:r>
            <a:r>
              <a:rPr lang="en-US" altLang="zh-CN" dirty="0">
                <a:solidFill>
                  <a:schemeClr val="tx2"/>
                </a:solidFill>
              </a:rPr>
              <a:t>Edit/ PSpice  Model </a:t>
            </a:r>
            <a:r>
              <a:rPr lang="zh-CN" altLang="en-US" dirty="0">
                <a:solidFill>
                  <a:schemeClr val="tx2"/>
                </a:solidFill>
              </a:rPr>
              <a:t>。打开模型编辑框，在一堆文本标示的内参数中（第一行）找到</a:t>
            </a:r>
            <a:r>
              <a:rPr lang="en-US" altLang="zh-CN" dirty="0">
                <a:solidFill>
                  <a:schemeClr val="tx2"/>
                </a:solidFill>
              </a:rPr>
              <a:t>Bf</a:t>
            </a:r>
            <a:r>
              <a:rPr lang="zh-CN" altLang="en-US" dirty="0">
                <a:solidFill>
                  <a:schemeClr val="tx2"/>
                </a:solidFill>
              </a:rPr>
              <a:t>＝，修改</a:t>
            </a:r>
            <a:r>
              <a:rPr lang="en-US" altLang="zh-CN" dirty="0">
                <a:solidFill>
                  <a:schemeClr val="tx2"/>
                </a:solidFill>
              </a:rPr>
              <a:t>Bf</a:t>
            </a:r>
            <a:r>
              <a:rPr lang="zh-CN" altLang="en-US" dirty="0">
                <a:solidFill>
                  <a:schemeClr val="tx2"/>
                </a:solidFill>
              </a:rPr>
              <a:t>为设定的</a:t>
            </a:r>
            <a:r>
              <a:rPr lang="en-US" altLang="zh-CN" dirty="0">
                <a:solidFill>
                  <a:schemeClr val="tx2"/>
                </a:solidFill>
              </a:rPr>
              <a:t>β</a:t>
            </a:r>
            <a:r>
              <a:rPr lang="zh-CN" altLang="en-US" dirty="0">
                <a:solidFill>
                  <a:schemeClr val="tx2"/>
                </a:solidFill>
              </a:rPr>
              <a:t>值（如</a:t>
            </a:r>
            <a:r>
              <a:rPr lang="en-US" altLang="zh-CN" dirty="0">
                <a:solidFill>
                  <a:schemeClr val="tx2"/>
                </a:solidFill>
              </a:rPr>
              <a:t>80</a:t>
            </a:r>
            <a:r>
              <a:rPr lang="zh-CN" altLang="en-US" dirty="0">
                <a:solidFill>
                  <a:schemeClr val="tx2"/>
                </a:solidFill>
              </a:rPr>
              <a:t>），保存，退出回到主界面。</a:t>
            </a:r>
            <a:endParaRPr lang="zh-CN" altLang="en-US" b="1" u="sng" dirty="0">
              <a:solidFill>
                <a:schemeClr val="tx2"/>
              </a:solidFill>
            </a:endParaRPr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幻灯片图像占位符 1"/>
          <p:cNvSpPr/>
          <p:nvPr>
            <p:ph type="sldImg"/>
          </p:nvPr>
        </p:nvSpPr>
        <p:spPr/>
      </p:sp>
      <p:sp>
        <p:nvSpPr>
          <p:cNvPr id="83970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：强调连接线路，放置接点。粗一点的是连接总线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幻灯片图像占位符 1"/>
          <p:cNvSpPr/>
          <p:nvPr>
            <p:ph type="sldImg"/>
          </p:nvPr>
        </p:nvSpPr>
        <p:spPr/>
      </p:sp>
      <p:sp>
        <p:nvSpPr>
          <p:cNvPr id="95234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：瞬态分析的横坐标是时间。</a:t>
            </a:r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zh-CN" altLang="en-US" dirty="0">
                <a:sym typeface="+mn-ea"/>
              </a:rPr>
              <a:t>所有的横坐标都是时间</a:t>
            </a:r>
            <a:endParaRPr lang="zh-CN" altLang="en-US" dirty="0"/>
          </a:p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8306" name="幻灯片图像占位符 44033"/>
          <p:cNvSpPr/>
          <p:nvPr>
            <p:ph type="sldImg"/>
          </p:nvPr>
        </p:nvSpPr>
        <p:spPr/>
      </p:sp>
      <p:sp>
        <p:nvSpPr>
          <p:cNvPr id="98307" name="文本占位符 44034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zh-CN" altLang="en-US" dirty="0"/>
              <a:t>在同一个界面中，通过两个波形显示器，显示输入与输出波形。</a:t>
            </a:r>
            <a:endParaRPr lang="zh-CN" altLang="en-US" dirty="0"/>
          </a:p>
          <a:p>
            <a:pPr lvl="0"/>
            <a:r>
              <a:rPr lang="zh-CN" altLang="en-US" dirty="0"/>
              <a:t>所有的横坐标都是</a:t>
            </a:r>
            <a:r>
              <a:rPr lang="zh-CN" altLang="en-US" dirty="0"/>
              <a:t>时间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02" name="幻灯片图像占位符 47105"/>
          <p:cNvSpPr/>
          <p:nvPr>
            <p:ph type="sldImg"/>
          </p:nvPr>
        </p:nvSpPr>
        <p:spPr/>
      </p:sp>
      <p:sp>
        <p:nvSpPr>
          <p:cNvPr id="102403" name="文本占位符 47106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 dirty="0"/>
              <a:t>1</a:t>
            </a:r>
            <a:r>
              <a:rPr lang="zh-CN" altLang="en-US" dirty="0"/>
              <a:t>：滑动变阻器可以用固定电阻代替</a:t>
            </a:r>
            <a:endParaRPr lang="zh-CN" altLang="en-US" dirty="0"/>
          </a:p>
          <a:p>
            <a:pPr lvl="0"/>
            <a:r>
              <a:rPr lang="en-US" altLang="zh-CN" b="1">
                <a:latin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</a:rPr>
              <a:t>：交流分析又称</a:t>
            </a:r>
            <a:r>
              <a:rPr lang="en-US" altLang="zh-CN" b="1">
                <a:latin typeface="宋体" panose="02010600030101010101" pitchFamily="2" charset="-122"/>
              </a:rPr>
              <a:t>AC</a:t>
            </a:r>
            <a:r>
              <a:rPr lang="zh-CN" altLang="en-US" b="1">
                <a:latin typeface="宋体" panose="02010600030101010101" pitchFamily="2" charset="-122"/>
              </a:rPr>
              <a:t>分析，就是求电路的频域响应。当输入信号的频率变化时，它能够计算出电路的幅频响应和相频响应。        作交流分析时，应注意：对于</a:t>
            </a:r>
            <a:r>
              <a:rPr lang="en-US" altLang="zh-CN" b="1">
                <a:latin typeface="宋体" panose="02010600030101010101" pitchFamily="2" charset="-122"/>
              </a:rPr>
              <a:t>AC Sweep</a:t>
            </a:r>
            <a:r>
              <a:rPr lang="zh-CN" altLang="en-US" b="1">
                <a:latin typeface="宋体" panose="02010600030101010101" pitchFamily="2" charset="-122"/>
              </a:rPr>
              <a:t>，必须具有</a:t>
            </a:r>
            <a:r>
              <a:rPr lang="en-US" altLang="zh-CN" b="1">
                <a:latin typeface="宋体" panose="02010600030101010101" pitchFamily="2" charset="-122"/>
              </a:rPr>
              <a:t>AC </a:t>
            </a:r>
            <a:r>
              <a:rPr lang="zh-CN" altLang="en-US" b="1">
                <a:latin typeface="宋体" panose="02010600030101010101" pitchFamily="2" charset="-122"/>
              </a:rPr>
              <a:t>激励源。产生</a:t>
            </a:r>
            <a:r>
              <a:rPr lang="en-US" altLang="zh-CN" b="1">
                <a:latin typeface="宋体" panose="02010600030101010101" pitchFamily="2" charset="-122"/>
              </a:rPr>
              <a:t>AC </a:t>
            </a:r>
            <a:r>
              <a:rPr lang="zh-CN" altLang="en-US" b="1">
                <a:latin typeface="宋体" panose="02010600030101010101" pitchFamily="2" charset="-122"/>
              </a:rPr>
              <a:t>激励源的方法有以下两种：</a:t>
            </a:r>
            <a:r>
              <a:rPr lang="en-US" altLang="zh-CN" b="1">
                <a:latin typeface="宋体" panose="02010600030101010101" pitchFamily="2" charset="-122"/>
              </a:rPr>
              <a:t>①</a:t>
            </a:r>
            <a:r>
              <a:rPr lang="zh-CN" altLang="en-US" b="1">
                <a:latin typeface="宋体" panose="02010600030101010101" pitchFamily="2" charset="-122"/>
              </a:rPr>
              <a:t>调用</a:t>
            </a:r>
            <a:r>
              <a:rPr lang="en-US" altLang="zh-CN" b="1">
                <a:latin typeface="宋体" panose="02010600030101010101" pitchFamily="2" charset="-122"/>
              </a:rPr>
              <a:t>VAC </a:t>
            </a:r>
            <a:r>
              <a:rPr lang="zh-CN" altLang="en-US" b="1">
                <a:latin typeface="宋体" panose="02010600030101010101" pitchFamily="2" charset="-122"/>
              </a:rPr>
              <a:t>或</a:t>
            </a:r>
            <a:r>
              <a:rPr lang="en-US" altLang="zh-CN" b="1">
                <a:latin typeface="宋体" panose="02010600030101010101" pitchFamily="2" charset="-122"/>
              </a:rPr>
              <a:t>IAC </a:t>
            </a:r>
            <a:r>
              <a:rPr lang="zh-CN" altLang="en-US" b="1">
                <a:latin typeface="宋体" panose="02010600030101010101" pitchFamily="2" charset="-122"/>
              </a:rPr>
              <a:t>激励源；</a:t>
            </a:r>
            <a:r>
              <a:rPr lang="en-US" altLang="zh-CN" b="1">
                <a:latin typeface="宋体" panose="02010600030101010101" pitchFamily="2" charset="-122"/>
              </a:rPr>
              <a:t>②</a:t>
            </a:r>
            <a:r>
              <a:rPr lang="zh-CN" altLang="en-US" b="1">
                <a:latin typeface="宋体" panose="02010600030101010101" pitchFamily="2" charset="-122"/>
              </a:rPr>
              <a:t>在已有的激励源（如</a:t>
            </a:r>
            <a:r>
              <a:rPr lang="en-US" altLang="zh-CN" b="1">
                <a:latin typeface="宋体" panose="02010600030101010101" pitchFamily="2" charset="-122"/>
              </a:rPr>
              <a:t>VSIN</a:t>
            </a:r>
            <a:r>
              <a:rPr lang="zh-CN" altLang="en-US" b="1">
                <a:latin typeface="宋体" panose="02010600030101010101" pitchFamily="2" charset="-122"/>
              </a:rPr>
              <a:t>）的属性中加入 “</a:t>
            </a:r>
            <a:r>
              <a:rPr lang="en-US" altLang="zh-CN" b="1">
                <a:latin typeface="宋体" panose="02010600030101010101" pitchFamily="2" charset="-122"/>
              </a:rPr>
              <a:t>AC”</a:t>
            </a:r>
            <a:r>
              <a:rPr lang="zh-CN" altLang="en-US" b="1">
                <a:latin typeface="宋体" panose="02010600030101010101" pitchFamily="2" charset="-122"/>
              </a:rPr>
              <a:t>属性，并输入它的幅值。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所有的横坐标都是</a:t>
            </a:r>
            <a:r>
              <a:rPr lang="zh-CN" altLang="en-US"/>
              <a:t>频率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69" name="幻灯片图像占位符 1"/>
          <p:cNvSpPr/>
          <p:nvPr>
            <p:ph type="sldImg"/>
          </p:nvPr>
        </p:nvSpPr>
        <p:spPr/>
      </p:sp>
      <p:sp>
        <p:nvSpPr>
          <p:cNvPr id="109570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zh-CN" altLang="en-US"/>
              <a:t>做完，前面的模拟后，最后做输出阻抗。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幻灯片图像占位符 1"/>
          <p:cNvSpPr/>
          <p:nvPr>
            <p:ph type="sldImg"/>
          </p:nvPr>
        </p:nvSpPr>
        <p:spPr/>
      </p:sp>
      <p:sp>
        <p:nvSpPr>
          <p:cNvPr id="40962" name="文本占位符 2"/>
          <p:cNvSpPr/>
          <p:nvPr>
            <p:ph type="body"/>
          </p:nvPr>
        </p:nvSpPr>
        <p:spPr/>
        <p:txBody>
          <a:bodyPr anchor="t" anchorCtr="0"/>
          <a:p>
            <a:pPr lvl="0"/>
            <a:r>
              <a:rPr lang="en-US" altLang="zh-CN"/>
              <a:t>1</a:t>
            </a:r>
            <a:r>
              <a:rPr lang="zh-CN" altLang="en-US"/>
              <a:t>：交代和书本上的不一样，但与</a:t>
            </a:r>
            <a:r>
              <a:rPr lang="en-US" altLang="zh-CN"/>
              <a:t>BJT</a:t>
            </a:r>
            <a:r>
              <a:rPr lang="zh-CN" altLang="en-US"/>
              <a:t>实验一样。</a:t>
            </a:r>
            <a:endParaRPr lang="zh-CN" altLang="en-US"/>
          </a:p>
          <a:p>
            <a:pPr lvl="0"/>
            <a:r>
              <a:rPr lang="en-US" altLang="zh-CN"/>
              <a:t>2</a:t>
            </a:r>
            <a:r>
              <a:rPr lang="zh-CN" altLang="en-US"/>
              <a:t>：强调参数要在合理范围，不需要一样。以</a:t>
            </a:r>
            <a:r>
              <a:rPr lang="en-US" altLang="zh-CN"/>
              <a:t>R1</a:t>
            </a:r>
            <a:r>
              <a:rPr lang="zh-CN" altLang="en-US"/>
              <a:t>和</a:t>
            </a:r>
            <a:r>
              <a:rPr lang="en-US" altLang="zh-CN"/>
              <a:t>R2</a:t>
            </a:r>
            <a:r>
              <a:rPr lang="zh-CN" altLang="en-US"/>
              <a:t>，</a:t>
            </a:r>
            <a:r>
              <a:rPr lang="en-US" altLang="zh-CN"/>
              <a:t>Re</a:t>
            </a:r>
            <a:r>
              <a:rPr lang="zh-CN" altLang="en-US"/>
              <a:t>为例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1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117762" name="文本占位符 2"/>
          <p:cNvSpPr>
            <a:spLocks noGrp="1" noRot="1"/>
          </p:cNvSpPr>
          <p:nvPr>
            <p:ph type="body"/>
          </p:nvPr>
        </p:nvSpPr>
        <p:spPr>
          <a:ln w="12700"/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3555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ED93B2-F648-48A3-BC0E-801B63559C7C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  <a:sym typeface="+mn-ea"/>
              </a:rPr>
            </a:fld>
            <a:endParaRPr kumimoji="0" lang="zh-CN" altLang="en-US" sz="1200" b="0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ea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158891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4"/>
          <p:cNvSpPr>
            <a:spLocks noChangeArrowheads="1"/>
          </p:cNvSpPr>
          <p:nvPr userDrawn="1"/>
        </p:nvSpPr>
        <p:spPr bwMode="auto">
          <a:xfrm>
            <a:off x="158891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-128129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fontAlgn="base"/>
            <a:endParaRPr 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fontAlgn="base"/>
            <a:fld id="{9A0DB2DC-4C9A-4742-B13C-FB6460FD3503}" type="slidenum">
              <a:rPr lang="zh-CN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-32456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4"/>
          <p:cNvSpPr>
            <a:spLocks noChangeArrowheads="1"/>
          </p:cNvSpPr>
          <p:nvPr userDrawn="1"/>
        </p:nvSpPr>
        <p:spPr bwMode="auto">
          <a:xfrm>
            <a:off x="158891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fld id="{BB962C8B-B14F-4D97-AF65-F5344CB8AC3E}" type="datetime1">
              <a:rPr lang="zh-CN" altLang="en-US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  <p:sp>
        <p:nvSpPr>
          <p:cNvPr id="6" name="AutoShape 4"/>
          <p:cNvSpPr>
            <a:spLocks noChangeArrowheads="1"/>
          </p:cNvSpPr>
          <p:nvPr userDrawn="1"/>
        </p:nvSpPr>
        <p:spPr bwMode="auto">
          <a:xfrm>
            <a:off x="63217" y="529945"/>
            <a:ext cx="13776000" cy="18000"/>
          </a:xfrm>
          <a:custGeom>
            <a:avLst/>
            <a:gdLst>
              <a:gd name="G0" fmla="+- 569 0 0"/>
              <a:gd name="T0" fmla="*/ 0 w 1000"/>
              <a:gd name="T1" fmla="*/ 0 h 1000"/>
              <a:gd name="T2" fmla="*/ 569 w 1000"/>
              <a:gd name="T3" fmla="*/ 0 h 1000"/>
              <a:gd name="T4" fmla="*/ 569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69" y="0"/>
                </a:lnTo>
                <a:lnTo>
                  <a:pt x="569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99CC"/>
          </a:solidFill>
          <a:ln w="12700">
            <a:solidFill>
              <a:srgbClr val="0099CC"/>
            </a:solidFill>
            <a:round/>
          </a:ln>
        </p:spPr>
        <p:txBody>
          <a:bodyPr/>
          <a:lstStyle/>
          <a:p>
            <a:pPr algn="l"/>
            <a:endParaRPr lang="zh-CN" altLang="zh-CN" sz="2400" b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oleObject" Target="../embeddings/oleObject5.bin"/><Relationship Id="rId2" Type="http://schemas.openxmlformats.org/officeDocument/2006/relationships/image" Target="../media/image6.png"/><Relationship Id="rId1" Type="http://schemas.openxmlformats.org/officeDocument/2006/relationships/oleObject" Target="../embeddings/oleObject4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oleObject" Target="../embeddings/oleObject7.bin"/><Relationship Id="rId2" Type="http://schemas.openxmlformats.org/officeDocument/2006/relationships/image" Target="../media/image8.png"/><Relationship Id="rId1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oleObject" Target="../embeddings/oleObject8.bin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oleObject" Target="../embeddings/oleObject9.bin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1.png"/><Relationship Id="rId1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oleObject" Target="../embeddings/oleObject12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png"/><Relationship Id="rId1" Type="http://schemas.openxmlformats.org/officeDocument/2006/relationships/oleObject" Target="../embeddings/oleObject13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8.png"/><Relationship Id="rId1" Type="http://schemas.openxmlformats.org/officeDocument/2006/relationships/oleObject" Target="../embeddings/oleObject15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oleObject" Target="../embeddings/oleObject20.bin"/><Relationship Id="rId7" Type="http://schemas.openxmlformats.org/officeDocument/2006/relationships/image" Target="../media/image5.png"/><Relationship Id="rId6" Type="http://schemas.openxmlformats.org/officeDocument/2006/relationships/image" Target="../media/image22.png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png"/><Relationship Id="rId3" Type="http://schemas.openxmlformats.org/officeDocument/2006/relationships/oleObject" Target="../embeddings/oleObject18.bin"/><Relationship Id="rId2" Type="http://schemas.openxmlformats.org/officeDocument/2006/relationships/image" Target="../media/image20.png"/><Relationship Id="rId12" Type="http://schemas.openxmlformats.org/officeDocument/2006/relationships/notesSlide" Target="../notesSlides/notesSlide12.xml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1.xml"/><Relationship Id="rId1" Type="http://schemas.openxmlformats.org/officeDocument/2006/relationships/oleObject" Target="../embeddings/oleObject17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oleObject" Target="../embeddings/oleObject21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1" Type="http://schemas.openxmlformats.org/officeDocument/2006/relationships/oleObject" Target="../embeddings/oleObject22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oleObject" Target="../embeddings/oleObject23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oleObject" Target="../embeddings/oleObject24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oleObject" Target="../embeddings/oleObject25.bin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oleObject" Target="../embeddings/oleObject26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19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wmf"/><Relationship Id="rId2" Type="http://schemas.openxmlformats.org/officeDocument/2006/relationships/oleObject" Target="../embeddings/oleObject27.bin"/><Relationship Id="rId1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8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emf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vmlDrawing" Target="../drawings/vmlDrawing20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oleObject" Target="../embeddings/oleObject28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vmlDrawing" Target="../drawings/vmlDrawing2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oleObject" Target="../embeddings/oleObject29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5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6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7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30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7.png"/><Relationship Id="rId3" Type="http://schemas.openxmlformats.org/officeDocument/2006/relationships/image" Target="../media/image56.wmf"/><Relationship Id="rId2" Type="http://schemas.openxmlformats.org/officeDocument/2006/relationships/oleObject" Target="../embeddings/oleObject31.bin"/><Relationship Id="rId1" Type="http://schemas.openxmlformats.org/officeDocument/2006/relationships/image" Target="../media/image5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5601" name="标题 5121"/>
          <p:cNvSpPr>
            <a:spLocks noGrp="1"/>
          </p:cNvSpPr>
          <p:nvPr>
            <p:ph type="ctrTitle" idx="4294967295"/>
          </p:nvPr>
        </p:nvSpPr>
        <p:spPr>
          <a:xfrm>
            <a:off x="982980" y="1553845"/>
            <a:ext cx="8229600" cy="1143000"/>
          </a:xfrm>
        </p:spPr>
        <p:txBody>
          <a:bodyPr anchor="ctr" anchorCtr="0"/>
          <a:p>
            <a:pPr defTabSz="914400">
              <a:buClrTx/>
              <a:buSzTx/>
              <a:buFontTx/>
              <a:buNone/>
            </a:pPr>
            <a:r>
              <a:rPr lang="en-US" altLang="zh-CN" sz="3600" b="1" kern="1200" baseline="0" dirty="0">
                <a:latin typeface="+mj-lt"/>
                <a:ea typeface="+mj-ea"/>
                <a:cs typeface="+mj-cs"/>
              </a:rPr>
              <a:t>Pspice</a:t>
            </a:r>
            <a:r>
              <a:rPr lang="zh-CN" altLang="en-US" sz="3600" b="1" kern="1200" baseline="0" dirty="0">
                <a:latin typeface="+mj-lt"/>
                <a:ea typeface="黑体" panose="02010609060101010101" pitchFamily="2" charset="-122"/>
                <a:cs typeface="+mj-cs"/>
              </a:rPr>
              <a:t>仿真</a:t>
            </a:r>
            <a:br>
              <a:rPr lang="zh-CN" altLang="en-US" sz="3600" kern="1200" baseline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</a:br>
            <a:r>
              <a:rPr lang="en-US" altLang="zh-CN" sz="3600" b="1" kern="1200" baseline="0" dirty="0">
                <a:latin typeface="+mj-lt"/>
                <a:ea typeface="黑体" panose="02010609060101010101" pitchFamily="2" charset="-122"/>
                <a:cs typeface="+mj-cs"/>
              </a:rPr>
              <a:t> ——</a:t>
            </a:r>
            <a:r>
              <a:rPr lang="zh-CN" altLang="en-US" sz="3600" b="1" kern="1200" baseline="0" dirty="0">
                <a:solidFill>
                  <a:srgbClr val="FF0000"/>
                </a:solidFill>
                <a:latin typeface="+mj-lt"/>
                <a:ea typeface="黑体" panose="02010609060101010101" pitchFamily="2" charset="-122"/>
                <a:cs typeface="+mj-cs"/>
              </a:rPr>
              <a:t>单级共射</a:t>
            </a:r>
            <a:r>
              <a:rPr lang="zh-CN" altLang="en-US" sz="3600" b="1" kern="1200" baseline="0" dirty="0">
                <a:latin typeface="+mj-lt"/>
                <a:ea typeface="黑体" panose="02010609060101010101" pitchFamily="2" charset="-122"/>
                <a:cs typeface="+mj-cs"/>
              </a:rPr>
              <a:t>放大电路</a:t>
            </a:r>
            <a:endParaRPr lang="zh-CN" altLang="en-US" sz="3600" kern="1200" baseline="0"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  <a:cs typeface="+mj-cs"/>
            </a:endParaRPr>
          </a:p>
        </p:txBody>
      </p:sp>
      <p:sp>
        <p:nvSpPr>
          <p:cNvPr id="25602" name="文本框 5123"/>
          <p:cNvSpPr txBox="1"/>
          <p:nvPr/>
        </p:nvSpPr>
        <p:spPr>
          <a:xfrm>
            <a:off x="2954020" y="2819400"/>
            <a:ext cx="4947285" cy="2799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>
                <a:latin typeface="黑体" panose="02010609060101010101" pitchFamily="2" charset="-122"/>
                <a:ea typeface="黑体" panose="02010609060101010101" pitchFamily="2" charset="-122"/>
              </a:rPr>
              <a:t>一：</a:t>
            </a:r>
            <a:r>
              <a:rPr lang="en-US" altLang="zh-CN" sz="3200">
                <a:latin typeface="黑体" panose="02010609060101010101" pitchFamily="2" charset="-122"/>
                <a:ea typeface="黑体" panose="02010609060101010101" pitchFamily="2" charset="-122"/>
              </a:rPr>
              <a:t>PSpice</a:t>
            </a:r>
            <a:r>
              <a:rPr lang="zh-CN" altLang="en-US" sz="3200">
                <a:latin typeface="黑体" panose="02010609060101010101" pitchFamily="2" charset="-122"/>
                <a:ea typeface="黑体" panose="02010609060101010101" pitchFamily="2" charset="-122"/>
              </a:rPr>
              <a:t>简介</a:t>
            </a:r>
            <a:endParaRPr lang="zh-CN" altLang="en-US" sz="32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200">
                <a:latin typeface="黑体" panose="02010609060101010101" pitchFamily="2" charset="-122"/>
                <a:ea typeface="黑体" panose="02010609060101010101" pitchFamily="2" charset="-122"/>
              </a:rPr>
              <a:t>二：实验要求</a:t>
            </a:r>
            <a:endParaRPr lang="zh-CN" altLang="en-US" sz="32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200">
                <a:latin typeface="黑体" panose="02010609060101010101" pitchFamily="2" charset="-122"/>
                <a:ea typeface="黑体" panose="02010609060101010101" pitchFamily="2" charset="-122"/>
              </a:rPr>
              <a:t>三：实验过程</a:t>
            </a:r>
            <a:endParaRPr lang="zh-CN" altLang="en-US" sz="32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200">
                <a:latin typeface="黑体" panose="02010609060101010101" pitchFamily="2" charset="-122"/>
                <a:ea typeface="黑体" panose="02010609060101010101" pitchFamily="2" charset="-122"/>
              </a:rPr>
              <a:t>四：常见问题</a:t>
            </a:r>
            <a:endParaRPr lang="zh-CN" altLang="en-US" sz="32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4" name="Rectangle 2"/>
          <p:cNvSpPr>
            <a:spLocks noGrp="1"/>
          </p:cNvSpPr>
          <p:nvPr/>
        </p:nvSpPr>
        <p:spPr>
          <a:xfrm>
            <a:off x="1116330" y="470535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</a:pPr>
            <a:r>
              <a:rPr lang="zh-CN" altLang="en-US" sz="36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电子线路计算机辅助分析与设计</a:t>
            </a:r>
            <a:endParaRPr lang="zh-CN" altLang="en-US" sz="36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7649" name="标题 7169"/>
          <p:cNvSpPr>
            <a:spLocks noGrp="1"/>
          </p:cNvSpPr>
          <p:nvPr>
            <p:ph type="title" idx="4294967295"/>
          </p:nvPr>
        </p:nvSpPr>
        <p:spPr>
          <a:xfrm>
            <a:off x="1828800" y="-201295"/>
            <a:ext cx="8077200" cy="819785"/>
          </a:xfrm>
        </p:spPr>
        <p:txBody>
          <a:bodyPr anchor="ctr" anchorCtr="0"/>
          <a:p>
            <a:r>
              <a:rPr lang="zh-CN" altLang="en-US" sz="3200">
                <a:solidFill>
                  <a:srgbClr val="574B57"/>
                </a:solidFill>
                <a:ea typeface="黑体" panose="02010609060101010101" pitchFamily="2" charset="-122"/>
              </a:rPr>
              <a:t>电子线路计算机辅助分析与设计的基本流程</a:t>
            </a:r>
            <a:endParaRPr lang="zh-CN" altLang="en-US" sz="3200">
              <a:solidFill>
                <a:srgbClr val="574B57"/>
              </a:solidFill>
              <a:ea typeface="黑体" panose="02010609060101010101" pitchFamily="2" charset="-122"/>
            </a:endParaRPr>
          </a:p>
        </p:txBody>
      </p:sp>
      <p:graphicFrame>
        <p:nvGraphicFramePr>
          <p:cNvPr id="27650" name="对象 7170"/>
          <p:cNvGraphicFramePr>
            <a:graphicFrameLocks noChangeAspect="1"/>
          </p:cNvGraphicFramePr>
          <p:nvPr/>
        </p:nvGraphicFramePr>
        <p:xfrm>
          <a:off x="1865313" y="868363"/>
          <a:ext cx="8040687" cy="576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581400" imgH="2796540" progId="WPS.Doc.6">
                  <p:embed/>
                </p:oleObj>
              </mc:Choice>
              <mc:Fallback>
                <p:oleObj name="" r:id="rId1" imgW="3581400" imgH="2796540" progId="WPS.Doc.6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65313" y="868363"/>
                        <a:ext cx="8040687" cy="5761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文本框 7171"/>
          <p:cNvSpPr txBox="1"/>
          <p:nvPr/>
        </p:nvSpPr>
        <p:spPr>
          <a:xfrm>
            <a:off x="5029200" y="3294063"/>
            <a:ext cx="453390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457200" indent="-457200">
              <a:spcBef>
                <a:spcPct val="50000"/>
              </a:spcBef>
              <a:buFont typeface="Wingdings" panose="05000000000000000000" charset="0"/>
              <a:buChar char="n"/>
            </a:pPr>
            <a:r>
              <a:rPr lang="zh-CN" altLang="en-US" sz="2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电路安装、调试</a:t>
            </a:r>
            <a:endParaRPr lang="zh-CN" altLang="en-US" sz="2800" b="1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spcBef>
                <a:spcPct val="50000"/>
              </a:spcBef>
              <a:buFont typeface="Wingdings" panose="05000000000000000000" charset="0"/>
              <a:buChar char="n"/>
            </a:pPr>
            <a:r>
              <a:rPr lang="zh-CN" altLang="en-US" sz="2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测量、记录数据</a:t>
            </a:r>
            <a:endParaRPr lang="zh-CN" altLang="en-US" sz="2800" b="1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ct val="50000"/>
              </a:spcBef>
              <a:buFont typeface="Wingdings" panose="05000000000000000000" charset="0"/>
            </a:pPr>
            <a:r>
              <a:rPr lang="en-US" altLang="zh-CN" sz="2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不停重复</a:t>
            </a:r>
            <a:r>
              <a:rPr lang="en-US" altLang="zh-CN" sz="2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zh-CN" sz="2800" b="1" noProof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费时费力不准确</a:t>
            </a:r>
            <a:endParaRPr lang="zh-CN" altLang="zh-CN" sz="2800" b="1" noProof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6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charRg st="16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charRg st="16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8673" name="标题 1"/>
          <p:cNvSpPr>
            <a:spLocks noGrp="1"/>
          </p:cNvSpPr>
          <p:nvPr>
            <p:ph type="title" idx="4294967295"/>
          </p:nvPr>
        </p:nvSpPr>
        <p:spPr>
          <a:xfrm>
            <a:off x="1383665" y="-81280"/>
            <a:ext cx="6739890" cy="775335"/>
          </a:xfrm>
        </p:spPr>
        <p:txBody>
          <a:bodyPr anchor="ctr" anchorCtr="0"/>
          <a:p>
            <a:pPr algn="l"/>
            <a:r>
              <a:rPr lang="zh-CN" altLang="en-US" sz="32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电子线路计算机辅助分析与设计</a:t>
            </a:r>
            <a:endParaRPr lang="zh-CN" altLang="en-US" sz="3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383665" y="802640"/>
            <a:ext cx="9253220" cy="5109210"/>
          </a:xfrm>
        </p:spPr>
        <p:txBody>
          <a:bodyPr anchor="t" anchorCtr="0"/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缩短了设计周期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: 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计算机模拟代替搭实验电路；印刷电路板设计软件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提高设计质量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: 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灵敏度分析、容差分析、成品率模拟、最坏情况分析、优化设计等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很强数据处理能力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: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计算机存储量大、数据处理能力强，设计完后，可以很方便地生成各种数据文件和报表文件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共享设计资源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:  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成熟的单元设计及各种模型和模型参数均放在数据库中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22"/>
          <p:cNvSpPr>
            <a:spLocks noGrp="1"/>
          </p:cNvSpPr>
          <p:nvPr/>
        </p:nvSpPr>
        <p:spPr>
          <a:xfrm>
            <a:off x="1649413" y="5695950"/>
            <a:ext cx="620712" cy="2746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r"/>
            <a:fld id="{9A0DB2DC-4C9A-4742-B13C-FB6460FD3503}" type="slidenum">
              <a:rPr lang="zh-CN" altLang="en-US" sz="1200" dirty="0">
                <a:solidFill>
                  <a:srgbClr val="898989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</a:fld>
            <a:endParaRPr lang="zh-CN" altLang="en-US" sz="1200" dirty="0">
              <a:solidFill>
                <a:srgbClr val="898989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29698" name="文本框 9"/>
          <p:cNvSpPr txBox="1"/>
          <p:nvPr/>
        </p:nvSpPr>
        <p:spPr>
          <a:xfrm>
            <a:off x="3930650" y="2359025"/>
            <a:ext cx="3763963" cy="866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000" dirty="0">
                <a:latin typeface="Times New Roman" panose="02020603050405020304" pitchFamily="2" charset="0"/>
                <a:ea typeface="黑体" panose="02010609060101010101" pitchFamily="2" charset="-122"/>
              </a:rPr>
              <a:t>一：</a:t>
            </a:r>
            <a:r>
              <a:rPr lang="en-US" altLang="zh-CN" sz="4000" dirty="0">
                <a:latin typeface="Times New Roman" panose="02020603050405020304" pitchFamily="2" charset="0"/>
                <a:ea typeface="黑体" panose="02010609060101010101" pitchFamily="2" charset="-122"/>
              </a:rPr>
              <a:t>PSpice</a:t>
            </a:r>
            <a:r>
              <a:rPr lang="zh-CN" altLang="en-US" sz="4000" dirty="0">
                <a:latin typeface="Times New Roman" panose="02020603050405020304" pitchFamily="2" charset="0"/>
                <a:ea typeface="黑体" panose="02010609060101010101" pitchFamily="2" charset="-122"/>
              </a:rPr>
              <a:t>介绍</a:t>
            </a:r>
            <a:endParaRPr lang="zh-CN" altLang="en-US" sz="4000" dirty="0">
              <a:solidFill>
                <a:srgbClr val="00BED1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29699" name="文本框 3"/>
          <p:cNvSpPr txBox="1"/>
          <p:nvPr/>
        </p:nvSpPr>
        <p:spPr>
          <a:xfrm>
            <a:off x="3856038" y="2470150"/>
            <a:ext cx="588962" cy="7835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sz="45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endParaRPr lang="en-US" altLang="zh-CN" sz="4500" b="1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"/>
          <p:cNvSpPr>
            <a:spLocks noGrp="1"/>
          </p:cNvSpPr>
          <p:nvPr>
            <p:ph type="title"/>
          </p:nvPr>
        </p:nvSpPr>
        <p:spPr>
          <a:xfrm>
            <a:off x="1851025" y="59055"/>
            <a:ext cx="4379595" cy="504825"/>
          </a:xfrm>
        </p:spPr>
        <p:txBody>
          <a:bodyPr wrap="square" lIns="68580" tIns="34290" rIns="68580" bIns="34290" anchor="t" anchorCtr="0"/>
          <a:p>
            <a:r>
              <a:rPr lang="en-US" altLang="zh-CN" sz="3000" b="1" dirty="0">
                <a:solidFill>
                  <a:schemeClr val="tx1"/>
                </a:solidFill>
                <a:latin typeface="隶书" panose="02010509060101010101" pitchFamily="1" charset="-122"/>
                <a:ea typeface="隶书" panose="02010509060101010101" pitchFamily="1" charset="-122"/>
              </a:rPr>
              <a:t>1 PSpice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发展历史</a:t>
            </a:r>
            <a:endParaRPr lang="zh-CN" altLang="en-US" sz="3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91" name="TextBox 99"/>
          <p:cNvSpPr txBox="1"/>
          <p:nvPr/>
        </p:nvSpPr>
        <p:spPr>
          <a:xfrm>
            <a:off x="8224838" y="5113338"/>
            <a:ext cx="1293813" cy="20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11480" indent="-41148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2175" lvl="1" indent="-34290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7305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875" lvl="3" indent="-274955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lvl="4" indent="-27305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base" hangingPunct="1">
              <a:spcBef>
                <a:spcPct val="0"/>
              </a:spcBef>
              <a:buNone/>
            </a:pPr>
            <a:r>
              <a:rPr lang="en-US" altLang="zh-CN" sz="750" strike="noStrike" noProof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http://www.ppthi-hoo.com</a:t>
            </a:r>
            <a:endParaRPr lang="zh-CN" altLang="en-US" sz="750" strike="noStrike" noProof="1" dirty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1747" name="灯片编号占位符 47"/>
          <p:cNvSpPr>
            <a:spLocks noGrp="1"/>
          </p:cNvSpPr>
          <p:nvPr/>
        </p:nvSpPr>
        <p:spPr>
          <a:xfrm>
            <a:off x="1554163" y="5695950"/>
            <a:ext cx="769937" cy="2746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r"/>
            <a:fld id="{9A0DB2DC-4C9A-4742-B13C-FB6460FD3503}" type="slidenum">
              <a:rPr lang="zh-CN" altLang="en-US" sz="1200" dirty="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 dirty="0">
              <a:solidFill>
                <a:srgbClr val="898989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9" name="Group 25"/>
          <p:cNvGrpSpPr/>
          <p:nvPr/>
        </p:nvGrpSpPr>
        <p:grpSpPr>
          <a:xfrm>
            <a:off x="5173663" y="2273300"/>
            <a:ext cx="1797050" cy="506813"/>
            <a:chOff x="2577" y="839"/>
            <a:chExt cx="1510" cy="567"/>
          </a:xfrm>
        </p:grpSpPr>
        <p:sp>
          <p:nvSpPr>
            <p:cNvPr id="37914" name="Text Box 14"/>
            <p:cNvSpPr txBox="1"/>
            <p:nvPr/>
          </p:nvSpPr>
          <p:spPr>
            <a:xfrm>
              <a:off x="2668" y="839"/>
              <a:ext cx="1419" cy="567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411480" indent="-411480" algn="l" rtl="0" eaLnBrk="0" fontAlgn="base" hangingPunct="0">
                <a:spcBef>
                  <a:spcPct val="24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3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92175" lvl="1" indent="-342900" algn="l" rtl="0" eaLnBrk="0" fontAlgn="base" hangingPunct="0">
                <a:spcBef>
                  <a:spcPct val="24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3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1600" lvl="2" indent="-273050" algn="l" rtl="0" eaLnBrk="0" fontAlgn="base" hangingPunct="0">
                <a:spcBef>
                  <a:spcPct val="24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920875" lvl="3" indent="-274955" algn="l" rtl="0" eaLnBrk="0" fontAlgn="base" hangingPunct="0">
                <a:spcBef>
                  <a:spcPct val="24000"/>
                </a:spcBef>
                <a:spcAft>
                  <a:spcPct val="0"/>
                </a:spcAft>
                <a:buFont typeface="Arial" panose="020B0604020202020204" pitchFamily="34" charset="0"/>
                <a:buChar char="–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68880" lvl="4" indent="-273050" algn="l" rtl="0" eaLnBrk="0" fontAlgn="base" hangingPunct="0">
                <a:spcBef>
                  <a:spcPct val="24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fontAlgn="base" hangingPunct="1">
                <a:spcBef>
                  <a:spcPct val="0"/>
                </a:spcBef>
                <a:buNone/>
              </a:pPr>
              <a:r>
                <a:rPr lang="en-US" altLang="zh-CN" sz="1350" b="1" strike="noStrike" noProof="1" dirty="0">
                  <a:latin typeface="Times New Roman" panose="02020603050405020304" pitchFamily="2" charset="0"/>
                  <a:ea typeface="+mn-ea"/>
                  <a:cs typeface="+mn-cs"/>
                </a:rPr>
                <a:t>OrCAD</a:t>
              </a:r>
              <a:endParaRPr lang="en-US" altLang="zh-CN" sz="1350" b="1" strike="noStrike" noProof="1" dirty="0">
                <a:latin typeface="Times New Roman" panose="02020603050405020304" pitchFamily="2" charset="0"/>
              </a:endParaRPr>
            </a:p>
            <a:p>
              <a:pPr marL="0" lvl="0" indent="0" eaLnBrk="1" fontAlgn="base" hangingPunct="1">
                <a:spcBef>
                  <a:spcPct val="0"/>
                </a:spcBef>
                <a:buNone/>
              </a:pPr>
              <a:r>
                <a:rPr lang="en-US" altLang="zh-CN" sz="1350" b="1" strike="noStrike" noProof="1" dirty="0">
                  <a:latin typeface="Times New Roman" panose="02020603050405020304" pitchFamily="2" charset="0"/>
                  <a:ea typeface="+mn-ea"/>
                  <a:cs typeface="+mn-cs"/>
                </a:rPr>
                <a:t>/PSpice</a:t>
              </a:r>
              <a:endParaRPr lang="en-US" altLang="zh-CN" sz="1350" b="1" strike="noStrike" noProof="1" dirty="0">
                <a:latin typeface="Times New Roman" panose="02020603050405020304" pitchFamily="2" charset="0"/>
              </a:endParaRPr>
            </a:p>
          </p:txBody>
        </p:sp>
        <p:sp>
          <p:nvSpPr>
            <p:cNvPr id="31750" name="AutoShape 19"/>
            <p:cNvSpPr/>
            <p:nvPr/>
          </p:nvSpPr>
          <p:spPr>
            <a:xfrm>
              <a:off x="2577" y="878"/>
              <a:ext cx="1225" cy="515"/>
            </a:xfrm>
            <a:prstGeom prst="homePlate">
              <a:avLst>
                <a:gd name="adj" fmla="val 37096"/>
              </a:avLst>
            </a:prstGeom>
            <a:noFill/>
            <a:ln w="38100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23"/>
          <p:cNvGrpSpPr/>
          <p:nvPr/>
        </p:nvGrpSpPr>
        <p:grpSpPr>
          <a:xfrm>
            <a:off x="2503488" y="2322050"/>
            <a:ext cx="1762125" cy="460275"/>
            <a:chOff x="431" y="955"/>
            <a:chExt cx="1479" cy="449"/>
          </a:xfrm>
        </p:grpSpPr>
        <p:sp>
          <p:nvSpPr>
            <p:cNvPr id="31752" name="Text Box 12"/>
            <p:cNvSpPr txBox="1"/>
            <p:nvPr/>
          </p:nvSpPr>
          <p:spPr>
            <a:xfrm>
              <a:off x="491" y="989"/>
              <a:ext cx="1419" cy="404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1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SPICE</a:t>
              </a:r>
              <a:endParaRPr lang="en-US" altLang="zh-CN" sz="2100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1753" name="AutoShape 20"/>
            <p:cNvSpPr/>
            <p:nvPr/>
          </p:nvSpPr>
          <p:spPr>
            <a:xfrm>
              <a:off x="431" y="955"/>
              <a:ext cx="922" cy="449"/>
            </a:xfrm>
            <a:prstGeom prst="homePlate">
              <a:avLst>
                <a:gd name="adj" fmla="val 27879"/>
              </a:avLst>
            </a:prstGeom>
            <a:noFill/>
            <a:ln w="38100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24"/>
          <p:cNvGrpSpPr/>
          <p:nvPr/>
        </p:nvGrpSpPr>
        <p:grpSpPr>
          <a:xfrm>
            <a:off x="3868738" y="2290561"/>
            <a:ext cx="1758950" cy="460779"/>
            <a:chOff x="1489" y="923"/>
            <a:chExt cx="1477" cy="515"/>
          </a:xfrm>
        </p:grpSpPr>
        <p:sp>
          <p:nvSpPr>
            <p:cNvPr id="31755" name="Text Box 13"/>
            <p:cNvSpPr txBox="1"/>
            <p:nvPr/>
          </p:nvSpPr>
          <p:spPr>
            <a:xfrm>
              <a:off x="1547" y="962"/>
              <a:ext cx="1419" cy="463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21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PSpice</a:t>
              </a:r>
              <a:endParaRPr lang="en-US" altLang="zh-CN" sz="2100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1756" name="AutoShape 21"/>
            <p:cNvSpPr/>
            <p:nvPr/>
          </p:nvSpPr>
          <p:spPr>
            <a:xfrm>
              <a:off x="1489" y="923"/>
              <a:ext cx="998" cy="515"/>
            </a:xfrm>
            <a:prstGeom prst="homePlate">
              <a:avLst>
                <a:gd name="adj" fmla="val 30226"/>
              </a:avLst>
            </a:prstGeom>
            <a:noFill/>
            <a:ln w="38100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Group 26"/>
          <p:cNvGrpSpPr/>
          <p:nvPr/>
        </p:nvGrpSpPr>
        <p:grpSpPr>
          <a:xfrm>
            <a:off x="6731000" y="2327076"/>
            <a:ext cx="1997075" cy="639666"/>
            <a:chOff x="3893" y="878"/>
            <a:chExt cx="1678" cy="716"/>
          </a:xfrm>
        </p:grpSpPr>
        <p:sp>
          <p:nvSpPr>
            <p:cNvPr id="31758" name="Text Box 15"/>
            <p:cNvSpPr txBox="1"/>
            <p:nvPr/>
          </p:nvSpPr>
          <p:spPr>
            <a:xfrm>
              <a:off x="3983" y="975"/>
              <a:ext cx="1588" cy="619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sz="1500" b="1" dirty="0">
                  <a:latin typeface="Times New Roman" panose="02020603050405020304" pitchFamily="2" charset="0"/>
                  <a:ea typeface="宋体" panose="02010600030101010101" pitchFamily="2" charset="-122"/>
                </a:rPr>
                <a:t>Cadence OrCAD   </a:t>
              </a:r>
              <a:endParaRPr lang="en-US" altLang="zh-CN" sz="1500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  <a:p>
              <a:endParaRPr lang="en-US" altLang="zh-CN" sz="1500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31759" name="AutoShape 22"/>
            <p:cNvSpPr/>
            <p:nvPr/>
          </p:nvSpPr>
          <p:spPr>
            <a:xfrm>
              <a:off x="3893" y="878"/>
              <a:ext cx="1678" cy="515"/>
            </a:xfrm>
            <a:prstGeom prst="homePlate">
              <a:avLst>
                <a:gd name="adj" fmla="val 50883"/>
              </a:avLst>
            </a:prstGeom>
            <a:noFill/>
            <a:ln w="38100" cap="flat" cmpd="sng">
              <a:solidFill>
                <a:srgbClr val="3366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" name="AutoShape 27"/>
          <p:cNvSpPr/>
          <p:nvPr/>
        </p:nvSpPr>
        <p:spPr>
          <a:xfrm>
            <a:off x="2309813" y="3201988"/>
            <a:ext cx="1403350" cy="46037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381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1972</a:t>
            </a:r>
            <a:endParaRPr lang="en-US" altLang="zh-CN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" name="AutoShape 28"/>
          <p:cNvSpPr/>
          <p:nvPr/>
        </p:nvSpPr>
        <p:spPr>
          <a:xfrm>
            <a:off x="3875088" y="3241676"/>
            <a:ext cx="1404937" cy="46037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381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1983</a:t>
            </a:r>
            <a:endParaRPr lang="en-US" altLang="zh-CN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" name="AutoShape 29"/>
          <p:cNvSpPr/>
          <p:nvPr/>
        </p:nvSpPr>
        <p:spPr>
          <a:xfrm>
            <a:off x="5387975" y="3241676"/>
            <a:ext cx="1403350" cy="46037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381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1998</a:t>
            </a:r>
            <a:endParaRPr lang="en-US" altLang="zh-CN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" name="AutoShape 30"/>
          <p:cNvSpPr/>
          <p:nvPr/>
        </p:nvSpPr>
        <p:spPr>
          <a:xfrm>
            <a:off x="7008813" y="3241676"/>
            <a:ext cx="1403350" cy="46037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17694720">
                <a:pos x="2147483646" y="0"/>
              </a:cxn>
              <a:cxn ang="11796480">
                <a:pos x="0" y="2147483646"/>
              </a:cxn>
              <a:cxn ang="589824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noFill/>
          <a:ln w="38100" cap="flat" cmpd="sng">
            <a:solidFill>
              <a:srgbClr val="FFCC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2000</a:t>
            </a:r>
            <a:endParaRPr lang="en-US" altLang="zh-CN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5" name="AutoShape 31"/>
          <p:cNvSpPr/>
          <p:nvPr/>
        </p:nvSpPr>
        <p:spPr>
          <a:xfrm>
            <a:off x="2232025" y="3954463"/>
            <a:ext cx="1512888" cy="606425"/>
          </a:xfrm>
          <a:prstGeom prst="notchedRightArrow">
            <a:avLst>
              <a:gd name="adj1" fmla="val 50000"/>
              <a:gd name="adj2" fmla="val 46372"/>
            </a:avLst>
          </a:prstGeom>
          <a:noFill/>
          <a:ln w="38100" cap="flat" cmpd="sng">
            <a:solidFill>
              <a:srgbClr val="FFCC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1800" b="1" dirty="0">
                <a:latin typeface="Times New Roman" panose="02020603050405020304" pitchFamily="2" charset="0"/>
                <a:ea typeface="楷体_GB2312" pitchFamily="1" charset="-122"/>
              </a:rPr>
              <a:t>加州大学</a:t>
            </a:r>
            <a:endParaRPr lang="zh-CN" altLang="en-US" sz="1800" b="1" dirty="0"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26" name="AutoShape 32"/>
          <p:cNvSpPr/>
          <p:nvPr/>
        </p:nvSpPr>
        <p:spPr>
          <a:xfrm>
            <a:off x="3798888" y="3952875"/>
            <a:ext cx="1514475" cy="606425"/>
          </a:xfrm>
          <a:prstGeom prst="notchedRightArrow">
            <a:avLst>
              <a:gd name="adj1" fmla="val 50000"/>
              <a:gd name="adj2" fmla="val 46421"/>
            </a:avLst>
          </a:prstGeom>
          <a:noFill/>
          <a:ln w="38100" cap="flat" cmpd="sng">
            <a:solidFill>
              <a:srgbClr val="FFCC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Microsim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7" name="AutoShape 33"/>
          <p:cNvSpPr/>
          <p:nvPr/>
        </p:nvSpPr>
        <p:spPr>
          <a:xfrm>
            <a:off x="5324475" y="3952875"/>
            <a:ext cx="1512888" cy="606425"/>
          </a:xfrm>
          <a:prstGeom prst="notchedRightArrow">
            <a:avLst>
              <a:gd name="adj1" fmla="val 50000"/>
              <a:gd name="adj2" fmla="val 46372"/>
            </a:avLst>
          </a:prstGeom>
          <a:noFill/>
          <a:ln w="38100" cap="flat" cmpd="sng">
            <a:solidFill>
              <a:srgbClr val="FFCC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OrCAD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8" name="AutoShape 34"/>
          <p:cNvSpPr/>
          <p:nvPr/>
        </p:nvSpPr>
        <p:spPr>
          <a:xfrm>
            <a:off x="6878638" y="3952875"/>
            <a:ext cx="1512887" cy="606425"/>
          </a:xfrm>
          <a:prstGeom prst="notchedRightArrow">
            <a:avLst>
              <a:gd name="adj1" fmla="val 50000"/>
              <a:gd name="adj2" fmla="val 46372"/>
            </a:avLst>
          </a:prstGeom>
          <a:noFill/>
          <a:ln w="38100" cap="flat" cmpd="sng">
            <a:solidFill>
              <a:srgbClr val="FFCC99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Cadence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9" name="Rectangle 24"/>
          <p:cNvSpPr/>
          <p:nvPr/>
        </p:nvSpPr>
        <p:spPr>
          <a:xfrm>
            <a:off x="2509838" y="1593850"/>
            <a:ext cx="5715000" cy="34480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>
            <a:lvl1pPr marL="411480" indent="-41148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2175" lvl="1" indent="-34290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3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7305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0875" lvl="3" indent="-274955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68880" lvl="4" indent="-273050" algn="l" rtl="0" eaLnBrk="0" fontAlgn="base" hangingPunct="0">
              <a:spcBef>
                <a:spcPct val="24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fontAlgn="base" hangingPunct="1">
              <a:spcBef>
                <a:spcPct val="0"/>
              </a:spcBef>
              <a:buNone/>
            </a:pPr>
            <a:r>
              <a:rPr lang="en-US" altLang="zh-CN" sz="1650" b="1" strike="noStrike" noProof="1" dirty="0">
                <a:latin typeface="Times New Roman" panose="02020603050405020304" pitchFamily="2" charset="0"/>
                <a:ea typeface="+mn-ea"/>
                <a:cs typeface="+mn-cs"/>
              </a:rPr>
              <a:t>Simulation Program with integrate Circuit Emphasis</a:t>
            </a:r>
            <a:endParaRPr lang="zh-CN" altLang="en-US" sz="1650" b="1" strike="noStrike" noProof="1" dirty="0">
              <a:latin typeface="Times New Roman" panose="02020603050405020304" pitchFamily="2" charset="0"/>
            </a:endParaRPr>
          </a:p>
        </p:txBody>
      </p:sp>
      <p:pic>
        <p:nvPicPr>
          <p:cNvPr id="33" name="图片 32" descr="20090902051751-199261437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4838" y="1657350"/>
            <a:ext cx="1458912" cy="460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 bldLvl="0" animBg="1"/>
      <p:bldP spid="23" grpId="0" bldLvl="0" animBg="1"/>
      <p:bldP spid="24" grpId="0" bldLvl="0" animBg="1"/>
      <p:bldP spid="25" grpId="0" bldLvl="0" animBg="1"/>
      <p:bldP spid="26" grpId="0" bldLvl="0" animBg="1"/>
      <p:bldP spid="27" grpId="0" bldLvl="0" animBg="1"/>
      <p:bldP spid="28" grpId="0" bldLvl="0" animBg="1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45335" y="5059045"/>
            <a:ext cx="859980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功能强大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A/D&amp;AA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两大功能模块，涵盖电路仿真的方方面面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82800" y="1661160"/>
            <a:ext cx="91179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精度高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模型都由器件生产厂家提供，模型及建模方式多样化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82800" y="774700"/>
            <a:ext cx="8688388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数模混合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仿真范围广，数字和模拟电路均可，同时也支持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FPGA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82800" y="2547620"/>
            <a:ext cx="8936038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节约时间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节约产品的研发周期，避免浪费，提升了设计的质量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计算机模拟代替搭实验电路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成熟的单元设计及各种模型和模型参数均放在数据库中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82800" y="4172585"/>
            <a:ext cx="7628255" cy="8299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行业标准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绘图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PSpice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仿真都成为事实上的业界标准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745" name="标题 1"/>
          <p:cNvSpPr>
            <a:spLocks noGrp="1"/>
          </p:cNvSpPr>
          <p:nvPr/>
        </p:nvSpPr>
        <p:spPr>
          <a:xfrm>
            <a:off x="1851025" y="59055"/>
            <a:ext cx="4379595" cy="504825"/>
          </a:xfrm>
          <a:prstGeom prst="rect">
            <a:avLst/>
          </a:prstGeom>
          <a:noFill/>
          <a:ln w="9525">
            <a:noFill/>
          </a:ln>
        </p:spPr>
        <p:txBody>
          <a:bodyPr wrap="square" lIns="68580" tIns="34290" rIns="68580" bIns="34290" anchor="t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000" b="1" dirty="0">
                <a:solidFill>
                  <a:schemeClr val="tx1"/>
                </a:solidFill>
                <a:latin typeface="隶书" panose="02010509060101010101" pitchFamily="1" charset="-122"/>
                <a:ea typeface="隶书" panose="02010509060101010101" pitchFamily="1" charset="-122"/>
              </a:rPr>
              <a:t>2 PSpice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特点</a:t>
            </a:r>
            <a:endParaRPr lang="zh-CN" altLang="en-US" sz="3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3"/>
          <p:cNvSpPr>
            <a:spLocks noGrp="1"/>
          </p:cNvSpPr>
          <p:nvPr>
            <p:ph type="body"/>
          </p:nvPr>
        </p:nvSpPr>
        <p:spPr>
          <a:xfrm>
            <a:off x="7143750" y="3464560"/>
            <a:ext cx="2743200" cy="1301750"/>
          </a:xfrm>
        </p:spPr>
        <p:txBody>
          <a:bodyPr wrap="square" lIns="91440" tIns="45720" rIns="91440" bIns="45720" anchor="t" anchorCtr="0"/>
          <a:p>
            <a:pPr marL="469900" indent="-469900">
              <a:buNone/>
            </a:pPr>
            <a:r>
              <a:rPr lang="zh-CN" altLang="en-US" dirty="0"/>
              <a:t>仿真功能简介</a:t>
            </a:r>
            <a:endParaRPr lang="zh-CN" altLang="en-US" dirty="0"/>
          </a:p>
        </p:txBody>
      </p:sp>
      <p:graphicFrame>
        <p:nvGraphicFramePr>
          <p:cNvPr id="36867" name="Object 4"/>
          <p:cNvGraphicFramePr>
            <a:graphicFrameLocks noChangeAspect="1"/>
          </p:cNvGraphicFramePr>
          <p:nvPr/>
        </p:nvGraphicFramePr>
        <p:xfrm>
          <a:off x="1055370" y="333058"/>
          <a:ext cx="9002500" cy="66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781925" imgH="5724525" progId="Paint.Picture">
                  <p:embed/>
                </p:oleObj>
              </mc:Choice>
              <mc:Fallback>
                <p:oleObj name="" r:id="rId1" imgW="7781925" imgH="57245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55370" y="333058"/>
                        <a:ext cx="9002500" cy="662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99515" y="650240"/>
            <a:ext cx="1979295" cy="616394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847215" y="1961515"/>
            <a:ext cx="62357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AD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75910" y="1917700"/>
            <a:ext cx="623570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335915" y="2421890"/>
            <a:ext cx="2841625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sym typeface="+mn-ea"/>
              </a:rPr>
              <a:t>(Analog and Digital)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5085715" y="2334260"/>
            <a:ext cx="2850515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en-US" altLang="zh-CN" b="1" dirty="0">
                <a:solidFill>
                  <a:srgbClr val="FF0000"/>
                </a:solidFill>
                <a:sym typeface="+mn-ea"/>
              </a:rPr>
              <a:t>(Advanced Analysis)</a:t>
            </a:r>
            <a:endParaRPr lang="en-US" altLang="zh-CN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5655" y="633730"/>
            <a:ext cx="3070225" cy="616394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72130" y="405130"/>
            <a:ext cx="5039995" cy="2165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865" name="Rectangle 2"/>
          <p:cNvSpPr>
            <a:spLocks noGrp="1"/>
          </p:cNvSpPr>
          <p:nvPr>
            <p:ph type="title"/>
          </p:nvPr>
        </p:nvSpPr>
        <p:spPr>
          <a:xfrm>
            <a:off x="1765300" y="39370"/>
            <a:ext cx="5193030" cy="579755"/>
          </a:xfrm>
        </p:spPr>
        <p:txBody>
          <a:bodyPr wrap="square" lIns="91440" tIns="45720" rIns="91440" bIns="45720" anchor="b" anchorCtr="0"/>
          <a:p>
            <a:pPr algn="l"/>
            <a:r>
              <a:rPr lang="en-US" altLang="zh-CN" sz="3000" dirty="0"/>
              <a:t>3  PSpice A/D</a:t>
            </a:r>
            <a:r>
              <a:rPr lang="zh-CN" altLang="en-US" sz="3000" dirty="0">
                <a:latin typeface="微软雅黑" panose="020B0503020204020204" charset="-122"/>
                <a:ea typeface="微软雅黑" panose="020B0503020204020204" charset="-122"/>
              </a:rPr>
              <a:t>仿真功能简介</a:t>
            </a:r>
            <a:endParaRPr lang="zh-CN" altLang="en-US" sz="3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87805" y="1269365"/>
            <a:ext cx="1584325" cy="79184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71295" y="4768850"/>
            <a:ext cx="1584325" cy="79184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526540" y="5900420"/>
            <a:ext cx="1584325" cy="791845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" grpId="0" bldLvl="0" animBg="1"/>
      <p:bldP spid="4" grpId="0" bldLvl="0" animBg="1"/>
      <p:bldP spid="6" grpId="0" bldLvl="0" animBg="1"/>
      <p:bldP spid="3" grpId="0" bldLvl="0" animBg="1"/>
      <p:bldP spid="5" grpId="0" bldLvl="0" animBg="1"/>
      <p:bldP spid="8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文本框 1"/>
          <p:cNvSpPr txBox="1"/>
          <p:nvPr/>
        </p:nvSpPr>
        <p:spPr>
          <a:xfrm>
            <a:off x="4140200" y="1976438"/>
            <a:ext cx="39655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4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二：实验要求</a:t>
            </a:r>
            <a:endParaRPr lang="zh-CN" altLang="en-US" sz="4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61441"/>
          <p:cNvSpPr>
            <a:spLocks noGrp="1"/>
          </p:cNvSpPr>
          <p:nvPr>
            <p:ph type="title" idx="4294967295"/>
          </p:nvPr>
        </p:nvSpPr>
        <p:spPr>
          <a:xfrm>
            <a:off x="1847215" y="702310"/>
            <a:ext cx="2633980" cy="754380"/>
          </a:xfrm>
        </p:spPr>
        <p:txBody>
          <a:bodyPr anchor="ctr" anchorCtr="0"/>
          <a:p>
            <a:pPr algn="l"/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单级共射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电路</a:t>
            </a:r>
            <a:endParaRPr lang="zh-CN" altLang="en-US" sz="2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9938" name="Picture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2072620" y="2493010"/>
          <a:ext cx="6171300" cy="31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5343525" imgH="2743200" progId="PBrush">
                  <p:embed/>
                </p:oleObj>
              </mc:Choice>
              <mc:Fallback>
                <p:oleObj name="" r:id="rId1" imgW="5343525" imgH="2743200" progId="PBrush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072620" y="2493010"/>
                        <a:ext cx="6171300" cy="3168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9" name="文本框 1"/>
          <p:cNvSpPr txBox="1"/>
          <p:nvPr/>
        </p:nvSpPr>
        <p:spPr>
          <a:xfrm>
            <a:off x="2409825" y="26670"/>
            <a:ext cx="417195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3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实验目的</a:t>
            </a:r>
            <a:r>
              <a:rPr lang="en-US" altLang="zh-CN" sz="3000" b="1" dirty="0">
                <a:solidFill>
                  <a:schemeClr val="tx1"/>
                </a:solidFill>
                <a:latin typeface="隶书" panose="02010509060101010101" pitchFamily="1" charset="-122"/>
                <a:ea typeface="隶书" panose="02010509060101010101" pitchFamily="1" charset="-122"/>
              </a:rPr>
              <a:t> PSpice A/D</a:t>
            </a:r>
            <a:endParaRPr lang="en-US" altLang="zh-CN" sz="3000" b="1" dirty="0">
              <a:solidFill>
                <a:schemeClr val="tx1"/>
              </a:solidFill>
              <a:latin typeface="隶书" panose="02010509060101010101" pitchFamily="1" charset="-122"/>
              <a:ea typeface="隶书" panose="02010509060101010101" pitchFamily="1" charset="-122"/>
            </a:endParaRP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52040" y="1701165"/>
            <a:ext cx="5680838" cy="3780000"/>
            <a:chOff x="13838" y="-949"/>
            <a:chExt cx="6814" cy="4534"/>
          </a:xfrm>
        </p:grpSpPr>
        <p:grpSp>
          <p:nvGrpSpPr>
            <p:cNvPr id="8" name="组合 7"/>
            <p:cNvGrpSpPr/>
            <p:nvPr/>
          </p:nvGrpSpPr>
          <p:grpSpPr>
            <a:xfrm>
              <a:off x="13838" y="-949"/>
              <a:ext cx="6814" cy="4534"/>
              <a:chOff x="13838" y="-949"/>
              <a:chExt cx="6814" cy="4534"/>
            </a:xfrm>
          </p:grpSpPr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38" y="-949"/>
                <a:ext cx="6815" cy="4535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4846" y="2172"/>
                <a:ext cx="119" cy="1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4691" y="2087"/>
              <a:ext cx="116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rgbClr val="FF0000"/>
                  </a:solidFill>
                </a:rPr>
                <a:t>10mV</a:t>
              </a:r>
              <a:endParaRPr lang="en-US" altLang="zh-CN" sz="1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 idx="4294967295"/>
          </p:nvPr>
        </p:nvSpPr>
        <p:spPr>
          <a:xfrm>
            <a:off x="982980" y="-80010"/>
            <a:ext cx="3648075" cy="757238"/>
          </a:xfrm>
        </p:spPr>
        <p:txBody>
          <a:bodyPr wrap="square" lIns="91440" tIns="45720" rIns="91440" bIns="45720" anchor="ctr" anchorCtr="0"/>
          <a:p>
            <a:pPr algn="l"/>
            <a:r>
              <a:rPr lang="en-US" altLang="zh-CN" sz="3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实验要求</a:t>
            </a:r>
            <a:endParaRPr lang="zh-CN" altLang="en-US" sz="3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674" name="Rectangle 3"/>
          <p:cNvSpPr>
            <a:spLocks noGrp="1"/>
          </p:cNvSpPr>
          <p:nvPr>
            <p:ph idx="4294967295"/>
          </p:nvPr>
        </p:nvSpPr>
        <p:spPr>
          <a:xfrm>
            <a:off x="1055370" y="620395"/>
            <a:ext cx="8345805" cy="2948940"/>
          </a:xfrm>
        </p:spPr>
        <p:txBody>
          <a:bodyPr wrap="square" lIns="91440" tIns="45720" rIns="91440" bIns="45720" anchor="t" anchorCtr="0"/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画出电路图</a:t>
            </a:r>
            <a:endParaRPr lang="zh-CN" altLang="en-US" sz="2400" b="1" dirty="0"/>
          </a:p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静态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工作点分析</a:t>
            </a:r>
            <a:r>
              <a:rPr lang="en-US" altLang="zh-CN" sz="2400" b="1" dirty="0"/>
              <a:t>Bias point analysis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out</a:t>
            </a:r>
            <a:r>
              <a:rPr lang="zh-CN" altLang="en-US" sz="2400" b="1" dirty="0"/>
              <a:t>文件）</a:t>
            </a:r>
            <a:endParaRPr lang="zh-CN" altLang="en-US" sz="2400" b="1" dirty="0"/>
          </a:p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         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C</a:t>
            </a:r>
            <a:r>
              <a:rPr lang="zh-CN" altLang="en-US" sz="2400" dirty="0"/>
              <a:t>、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BE</a:t>
            </a:r>
            <a:r>
              <a:rPr lang="zh-CN" altLang="en-US" sz="2400" dirty="0"/>
              <a:t>、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CE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并在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电路图上显示</a:t>
            </a:r>
            <a:endParaRPr lang="zh-CN" altLang="en-US" sz="2400" dirty="0"/>
          </a:p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瞬态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r>
              <a:rPr lang="en-US" altLang="zh-CN" sz="2400" b="1" dirty="0"/>
              <a:t>Transient analysis</a:t>
            </a:r>
            <a:endParaRPr lang="en-US" altLang="zh-CN" sz="2400" b="1" dirty="0"/>
          </a:p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b="1" dirty="0"/>
              <a:t>        </a:t>
            </a:r>
            <a:r>
              <a:rPr lang="en-US" altLang="zh-CN" sz="2400" dirty="0">
                <a:solidFill>
                  <a:schemeClr val="tx2"/>
                </a:solidFill>
              </a:rPr>
              <a:t> 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观测输入、输出电压波形，并计算电压增益</a:t>
            </a:r>
            <a:r>
              <a:rPr lang="en-US" altLang="zh-CN" sz="2400" dirty="0">
                <a:solidFill>
                  <a:schemeClr val="tx2"/>
                </a:solidFill>
              </a:rPr>
              <a:t>Av</a:t>
            </a:r>
            <a:endParaRPr lang="en-US" altLang="zh-CN" sz="2400" dirty="0">
              <a:solidFill>
                <a:schemeClr val="tx2"/>
              </a:solidFill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2400" b="1">
                <a:latin typeface="宋体" panose="02010600030101010101" pitchFamily="2" charset="-122"/>
                <a:ea typeface="黑体" panose="02010609060101010101" pitchFamily="2" charset="-122"/>
              </a:rPr>
              <a:t> (4) 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交流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r>
              <a:rPr lang="en-US" altLang="zh-CN" sz="2400" b="1" dirty="0"/>
              <a:t>AC sweep analysis (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频率响应</a:t>
            </a:r>
            <a:r>
              <a:rPr lang="en-US" altLang="zh-CN" sz="2400" b="1" dirty="0"/>
              <a:t>)</a:t>
            </a:r>
            <a:endParaRPr lang="en-US" altLang="zh-CN" sz="2400" b="1" dirty="0"/>
          </a:p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2400" b="1" dirty="0"/>
          </a:p>
          <a:p>
            <a:pPr algn="just">
              <a:lnSpc>
                <a:spcPct val="90000"/>
              </a:lnSpc>
              <a:buNone/>
            </a:pPr>
            <a:endParaRPr lang="en-US" altLang="zh-CN" sz="2400" b="1" dirty="0"/>
          </a:p>
        </p:txBody>
      </p:sp>
      <p:sp>
        <p:nvSpPr>
          <p:cNvPr id="2" name="Rectangle 3"/>
          <p:cNvSpPr>
            <a:spLocks noGrp="1"/>
          </p:cNvSpPr>
          <p:nvPr/>
        </p:nvSpPr>
        <p:spPr>
          <a:xfrm>
            <a:off x="1737360" y="3500755"/>
            <a:ext cx="4145280" cy="202184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u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+mj-cs"/>
                <a:sym typeface="宋体" panose="02010600030101010101" pitchFamily="2" charset="-122"/>
              </a:rPr>
              <a:t>电压增益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幅频响应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曲线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u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+mj-cs"/>
                <a:sym typeface="宋体" panose="02010600030101010101" pitchFamily="2" charset="-122"/>
              </a:rPr>
              <a:t>电压增益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相频响应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曲线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输入电阻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频率响应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输出电阻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频率响应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zoom dir="in"/>
    <p:sndAc>
      <p:stSnd>
        <p:snd r:embed="rId1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4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4">
                                            <p:txEl>
                                              <p:charRg st="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4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4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7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4">
                                            <p:txEl>
                                              <p:charRg st="7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4">
                                            <p:txEl>
                                              <p:charRg st="7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9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4">
                                            <p:txEl>
                                              <p:charRg st="9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4">
                                            <p:txEl>
                                              <p:charRg st="96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2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4">
                                            <p:txEl>
                                              <p:charRg st="12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4">
                                            <p:txEl>
                                              <p:charRg st="12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uiExpand="1" build="p"/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6081" name="标题 49153"/>
          <p:cNvSpPr>
            <a:spLocks noGrp="1"/>
          </p:cNvSpPr>
          <p:nvPr>
            <p:ph type="ctrTitle" idx="4294967295"/>
          </p:nvPr>
        </p:nvSpPr>
        <p:spPr>
          <a:xfrm>
            <a:off x="1768475" y="2197735"/>
            <a:ext cx="8393430" cy="4336415"/>
          </a:xfrm>
        </p:spPr>
        <p:txBody>
          <a:bodyPr anchor="ctr" anchorCtr="0"/>
          <a:p>
            <a:pPr algn="l" defTabSz="914400">
              <a:lnSpc>
                <a:spcPct val="125000"/>
              </a:lnSpc>
              <a:buClrTx/>
              <a:buSzTx/>
              <a:buFontTx/>
              <a:buNone/>
            </a:pPr>
            <a:r>
              <a:rPr lang="en-US" altLang="zh-CN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①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输出电压的幅频率特性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），即显示输出电压的幅频率特性曲线。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zh-CN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②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电压增益的幅频特性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    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  DB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V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OUT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）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/V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IN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）），即电压增益的幅频特性曲线。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</a:br>
            <a:r>
              <a:rPr lang="en-US" altLang="zh-CN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  <a:sym typeface="宋体" panose="02010600030101010101" pitchFamily="2" charset="-122"/>
              </a:rPr>
              <a:t>③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电压增益的相频特性 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P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V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OUT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））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/V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IN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  <a:sym typeface="宋体" panose="02010600030101010101" pitchFamily="2" charset="-122"/>
              </a:rPr>
              <a:t>）），即电压增益的相频特性曲线。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altLang="zh-CN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④</a:t>
            </a:r>
            <a:r>
              <a:rPr lang="zh-CN" altLang="en-US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输入输出阻抗</a:t>
            </a:r>
            <a:br>
              <a:rPr lang="zh-CN" altLang="en-US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   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）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/I(CB)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）</a:t>
            </a:r>
            <a:r>
              <a:rPr lang="en-US" altLang="zh-CN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，即显示出</a:t>
            </a:r>
            <a:r>
              <a:rPr lang="zh-CN" altLang="en-US" sz="2400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输入阻抗</a:t>
            </a: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特性曲线。</a:t>
            </a:r>
            <a:b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</a:t>
            </a:r>
            <a:r>
              <a:rPr lang="en-US" altLang="zh-CN" sz="2400" kern="1200" baseline="0" dirty="0">
                <a:latin typeface="+mj-lt"/>
                <a:ea typeface="+mj-ea"/>
                <a:cs typeface="+mj-cs"/>
                <a:sym typeface="宋体" panose="02010600030101010101" pitchFamily="2" charset="-122"/>
              </a:rPr>
              <a:t>V(Vo)/I(Vs)</a:t>
            </a:r>
            <a:r>
              <a:rPr lang="zh-CN" altLang="en-US" sz="2400" kern="1200" baseline="0" dirty="0">
                <a:latin typeface="+mj-lt"/>
                <a:ea typeface="+mj-ea"/>
                <a:cs typeface="+mj-cs"/>
                <a:sym typeface="宋体" panose="02010600030101010101" pitchFamily="2" charset="-122"/>
              </a:rPr>
              <a:t>，</a:t>
            </a:r>
            <a:r>
              <a:rPr lang="zh-CN" altLang="en-US" sz="2400" kern="1200" baseline="0" dirty="0">
                <a:latin typeface="+mj-lt"/>
                <a:ea typeface="+mj-ea"/>
                <a:cs typeface="+mj-cs"/>
              </a:rPr>
              <a:t>观测输出电阻的频率响应</a:t>
            </a:r>
            <a:r>
              <a:rPr lang="en-US" altLang="zh-CN" sz="2400" kern="1200" baseline="0" dirty="0">
                <a:latin typeface="+mj-lt"/>
                <a:ea typeface="+mj-ea"/>
                <a:cs typeface="+mj-cs"/>
              </a:rPr>
              <a:t> </a:t>
            </a:r>
            <a:r>
              <a:rPr lang="zh-CN" altLang="en-US" sz="2400" kern="1200" baseline="0" dirty="0">
                <a:latin typeface="+mj-lt"/>
                <a:ea typeface="+mj-ea"/>
                <a:cs typeface="+mj-cs"/>
              </a:rPr>
              <a:t>。</a:t>
            </a:r>
            <a:endParaRPr lang="zh-CN" altLang="en-US" sz="2400" kern="1200" baseline="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标题 1"/>
          <p:cNvSpPr>
            <a:spLocks noGrp="1"/>
          </p:cNvSpPr>
          <p:nvPr>
            <p:ph type="title" idx="4294967295"/>
          </p:nvPr>
        </p:nvSpPr>
        <p:spPr>
          <a:xfrm>
            <a:off x="553720" y="0"/>
            <a:ext cx="3790950" cy="521970"/>
          </a:xfrm>
        </p:spPr>
        <p:txBody>
          <a:bodyPr anchor="ctr" anchorCtr="0"/>
          <a:p>
            <a:r>
              <a:rPr lang="en-US" altLang="zh-CN" sz="3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3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：报告要求</a:t>
            </a:r>
            <a:endParaRPr lang="zh-CN" altLang="en-US" sz="3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106" name="文本框 2"/>
          <p:cNvSpPr txBox="1"/>
          <p:nvPr/>
        </p:nvSpPr>
        <p:spPr>
          <a:xfrm>
            <a:off x="1487805" y="1196340"/>
            <a:ext cx="7300595" cy="189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50000"/>
              </a:lnSpc>
            </a:pPr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zh-CN" altLang="en-US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：采用</a:t>
            </a:r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word</a:t>
            </a:r>
            <a:r>
              <a:rPr lang="zh-CN" altLang="en-US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文档形式，打印签字</a:t>
            </a:r>
            <a:endParaRPr lang="zh-CN" altLang="en-US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zh-CN" altLang="en-US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：将电路图、波形、曲线等结果复制到报告中</a:t>
            </a:r>
            <a:endParaRPr lang="zh-CN" altLang="en-US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</a:pPr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r>
              <a:rPr lang="zh-CN" altLang="en-US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：结果分析</a:t>
            </a:r>
            <a:endParaRPr lang="zh-CN" altLang="en-US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文本框 1"/>
          <p:cNvSpPr txBox="1"/>
          <p:nvPr/>
        </p:nvSpPr>
        <p:spPr>
          <a:xfrm>
            <a:off x="4140200" y="1990725"/>
            <a:ext cx="4056063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4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三</a:t>
            </a:r>
            <a:r>
              <a:rPr lang="en-US" altLang="zh-CN" sz="4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4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实验过程</a:t>
            </a:r>
            <a:endParaRPr lang="zh-CN" altLang="en-US" sz="4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title" idx="4294967295"/>
          </p:nvPr>
        </p:nvSpPr>
        <p:spPr>
          <a:xfrm>
            <a:off x="2207260" y="-170180"/>
            <a:ext cx="6705600" cy="914400"/>
          </a:xfrm>
        </p:spPr>
        <p:txBody>
          <a:bodyPr wrap="square" lIns="91440" tIns="45720" rIns="91440" bIns="45720" anchor="ctr" anchorCtr="0"/>
          <a:p>
            <a:r>
              <a:rPr lang="en-US" altLang="zh-CN" sz="3200" dirty="0"/>
              <a:t>Pspice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仿真步骤</a:t>
            </a:r>
            <a:r>
              <a:rPr lang="zh-CN" altLang="en-US" sz="3200" dirty="0"/>
              <a:t> </a:t>
            </a:r>
            <a:endParaRPr lang="zh-CN" altLang="en-US" sz="3200" dirty="0"/>
          </a:p>
        </p:txBody>
      </p:sp>
      <p:sp>
        <p:nvSpPr>
          <p:cNvPr id="35842" name="Rectangle 3"/>
          <p:cNvSpPr>
            <a:spLocks noGrp="1"/>
          </p:cNvSpPr>
          <p:nvPr>
            <p:ph idx="4294967295"/>
          </p:nvPr>
        </p:nvSpPr>
        <p:spPr>
          <a:xfrm>
            <a:off x="1905000" y="869315"/>
            <a:ext cx="8366125" cy="3928745"/>
          </a:xfrm>
        </p:spPr>
        <p:txBody>
          <a:bodyPr wrap="square" lIns="91440" tIns="45720" rIns="91440" bIns="45720" anchor="t" anchorCtr="0"/>
          <a:p>
            <a:pPr marL="609600" indent="-609600"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）创建工程项目文件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09600" indent="-609600"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Capture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编辑原理图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（画电路图）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09600" indent="-609600" algn="just"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）调元件（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）元件移动、旋转和删除（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）画线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09600" indent="-609600" algn="just"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）修改元器件标号和参数（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）保存和自动检查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09600" indent="-609600"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3) 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设置仿真分析类型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09600" indent="-609600">
              <a:buNone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4)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生成网表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仿真分析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查看仿真输出结果   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843" name="Text Box 4"/>
          <p:cNvSpPr txBox="1"/>
          <p:nvPr/>
        </p:nvSpPr>
        <p:spPr>
          <a:xfrm>
            <a:off x="2400300" y="4798378"/>
            <a:ext cx="7315200" cy="9036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42900" indent="-342900" algn="just">
              <a:spcBef>
                <a:spcPct val="2000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从输出文件中查看仿真结果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文本结果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just">
              <a:spcBef>
                <a:spcPct val="20000"/>
              </a:spcBef>
              <a:buClr>
                <a:srgbClr val="FF0000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程序观测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图形结果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zoom dir="in"/>
    <p:sndAc>
      <p:stSnd>
        <p:snd r:embed="rId1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58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58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1201" name="标题 58369"/>
          <p:cNvSpPr>
            <a:spLocks noGrp="1"/>
          </p:cNvSpPr>
          <p:nvPr>
            <p:ph type="title" idx="4294967295"/>
          </p:nvPr>
        </p:nvSpPr>
        <p:spPr>
          <a:xfrm>
            <a:off x="1828800" y="0"/>
            <a:ext cx="7772400" cy="838200"/>
          </a:xfrm>
        </p:spPr>
        <p:txBody>
          <a:bodyPr anchor="ctr" anchorCtr="0"/>
          <a:p>
            <a:pPr algn="l"/>
            <a:r>
              <a:rPr lang="zh-CN" altLang="en-US" sz="320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电路分析流程</a:t>
            </a:r>
            <a:endParaRPr lang="zh-CN" altLang="en-US" sz="3200"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1202" name="流程图: 过程 58370"/>
          <p:cNvSpPr/>
          <p:nvPr/>
        </p:nvSpPr>
        <p:spPr>
          <a:xfrm>
            <a:off x="2590800" y="1143000"/>
            <a:ext cx="1828800" cy="6096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绘制电路图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3" name="流程图: 过程 58371"/>
          <p:cNvSpPr/>
          <p:nvPr/>
        </p:nvSpPr>
        <p:spPr>
          <a:xfrm>
            <a:off x="2438400" y="2133600"/>
            <a:ext cx="2133600" cy="6096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设置分析类型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4" name="流程图: 过程 58372"/>
          <p:cNvSpPr/>
          <p:nvPr/>
        </p:nvSpPr>
        <p:spPr>
          <a:xfrm>
            <a:off x="2590800" y="3124200"/>
            <a:ext cx="1828800" cy="4572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存盘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5" name="流程图: 过程 58373"/>
          <p:cNvSpPr/>
          <p:nvPr/>
        </p:nvSpPr>
        <p:spPr>
          <a:xfrm>
            <a:off x="2514600" y="4114800"/>
            <a:ext cx="1981200" cy="5334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电气规则检查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6" name="流程图: 过程 58374"/>
          <p:cNvSpPr/>
          <p:nvPr/>
        </p:nvSpPr>
        <p:spPr>
          <a:xfrm>
            <a:off x="2438400" y="5105400"/>
            <a:ext cx="2133600" cy="6096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生成网表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7" name="流程图: 过程 58375"/>
          <p:cNvSpPr/>
          <p:nvPr/>
        </p:nvSpPr>
        <p:spPr>
          <a:xfrm>
            <a:off x="7467600" y="1143000"/>
            <a:ext cx="2971800" cy="6096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分析（调用</a:t>
            </a:r>
            <a:r>
              <a:rPr lang="en-US" altLang="zh-CN">
                <a:latin typeface="Times New Roman" panose="02020603050405020304" pitchFamily="2" charset="0"/>
                <a:ea typeface="黑体" panose="02010609060101010101" pitchFamily="2" charset="-122"/>
              </a:rPr>
              <a:t>Pspice)</a:t>
            </a:r>
            <a:endParaRPr lang="en-US" altLang="zh-CN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8" name="流程图: 过程 58376"/>
          <p:cNvSpPr/>
          <p:nvPr/>
        </p:nvSpPr>
        <p:spPr>
          <a:xfrm>
            <a:off x="7696200" y="2514600"/>
            <a:ext cx="2514600" cy="457200"/>
          </a:xfrm>
          <a:prstGeom prst="flowChartProcess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>
                <a:latin typeface="Times New Roman" panose="02020603050405020304" pitchFamily="2" charset="0"/>
                <a:ea typeface="黑体" panose="02010609060101010101" pitchFamily="2" charset="-122"/>
              </a:rPr>
              <a:t>Probe</a:t>
            </a:r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观察波形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09" name="流程图: 终止 58377"/>
          <p:cNvSpPr/>
          <p:nvPr/>
        </p:nvSpPr>
        <p:spPr>
          <a:xfrm>
            <a:off x="7696200" y="3657600"/>
            <a:ext cx="2514600" cy="762000"/>
          </a:xfrm>
          <a:prstGeom prst="flowChartTerminator">
            <a:avLst/>
          </a:pr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读取数据计算指标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10" name="未知"/>
          <p:cNvSpPr/>
          <p:nvPr/>
        </p:nvSpPr>
        <p:spPr>
          <a:xfrm>
            <a:off x="1892300" y="1104900"/>
            <a:ext cx="546100" cy="4648200"/>
          </a:xfrm>
          <a:custGeom>
            <a:avLst/>
            <a:gdLst/>
            <a:ahLst/>
            <a:cxnLst/>
            <a:pathLst>
              <a:path w="344" h="2928">
                <a:moveTo>
                  <a:pt x="344" y="72"/>
                </a:moveTo>
                <a:cubicBezTo>
                  <a:pt x="312" y="52"/>
                  <a:pt x="280" y="32"/>
                  <a:pt x="248" y="24"/>
                </a:cubicBezTo>
                <a:cubicBezTo>
                  <a:pt x="216" y="16"/>
                  <a:pt x="184" y="0"/>
                  <a:pt x="152" y="24"/>
                </a:cubicBezTo>
                <a:cubicBezTo>
                  <a:pt x="120" y="48"/>
                  <a:pt x="56" y="40"/>
                  <a:pt x="56" y="168"/>
                </a:cubicBezTo>
                <a:cubicBezTo>
                  <a:pt x="56" y="296"/>
                  <a:pt x="144" y="592"/>
                  <a:pt x="152" y="792"/>
                </a:cubicBezTo>
                <a:cubicBezTo>
                  <a:pt x="160" y="992"/>
                  <a:pt x="128" y="1256"/>
                  <a:pt x="104" y="1368"/>
                </a:cubicBezTo>
                <a:cubicBezTo>
                  <a:pt x="80" y="1480"/>
                  <a:pt x="0" y="1440"/>
                  <a:pt x="8" y="1464"/>
                </a:cubicBezTo>
                <a:cubicBezTo>
                  <a:pt x="16" y="1488"/>
                  <a:pt x="120" y="1344"/>
                  <a:pt x="152" y="1512"/>
                </a:cubicBezTo>
                <a:cubicBezTo>
                  <a:pt x="184" y="1680"/>
                  <a:pt x="208" y="2248"/>
                  <a:pt x="200" y="2472"/>
                </a:cubicBezTo>
                <a:cubicBezTo>
                  <a:pt x="192" y="2696"/>
                  <a:pt x="80" y="2784"/>
                  <a:pt x="104" y="2856"/>
                </a:cubicBezTo>
                <a:cubicBezTo>
                  <a:pt x="128" y="2928"/>
                  <a:pt x="312" y="2896"/>
                  <a:pt x="344" y="2904"/>
                </a:cubicBezTo>
              </a:path>
            </a:pathLst>
          </a:cu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cxnSp>
        <p:nvCxnSpPr>
          <p:cNvPr id="51211" name="肘形连接符 58379"/>
          <p:cNvCxnSpPr>
            <a:stCxn id="51206" idx="2"/>
            <a:endCxn id="51207" idx="1"/>
          </p:cNvCxnSpPr>
          <p:nvPr/>
        </p:nvCxnSpPr>
        <p:spPr>
          <a:xfrm rot="5400000" flipH="1" flipV="1">
            <a:off x="3352800" y="1600200"/>
            <a:ext cx="4267200" cy="3962400"/>
          </a:xfrm>
          <a:prstGeom prst="bentConnector4">
            <a:avLst>
              <a:gd name="adj1" fmla="val -5356"/>
              <a:gd name="adj2" fmla="val 89861"/>
            </a:avLst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cxnSp>
        <p:nvCxnSpPr>
          <p:cNvPr id="51212" name="直接箭头连接符 58380"/>
          <p:cNvCxnSpPr>
            <a:stCxn id="51202" idx="2"/>
            <a:endCxn id="51203" idx="0"/>
          </p:cNvCxnSpPr>
          <p:nvPr/>
        </p:nvCxnSpPr>
        <p:spPr>
          <a:xfrm>
            <a:off x="3505200" y="1752600"/>
            <a:ext cx="0" cy="3810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13" name="直接箭头连接符 58381"/>
          <p:cNvCxnSpPr>
            <a:stCxn id="51203" idx="2"/>
            <a:endCxn id="51204" idx="0"/>
          </p:cNvCxnSpPr>
          <p:nvPr/>
        </p:nvCxnSpPr>
        <p:spPr>
          <a:xfrm>
            <a:off x="3505200" y="2743200"/>
            <a:ext cx="0" cy="3810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14" name="直接箭头连接符 58382"/>
          <p:cNvCxnSpPr>
            <a:stCxn id="51205" idx="2"/>
            <a:endCxn id="51206" idx="0"/>
          </p:cNvCxnSpPr>
          <p:nvPr/>
        </p:nvCxnSpPr>
        <p:spPr>
          <a:xfrm>
            <a:off x="3505200" y="4648200"/>
            <a:ext cx="0" cy="4572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15" name="直接箭头连接符 58383"/>
          <p:cNvCxnSpPr>
            <a:stCxn id="51204" idx="2"/>
            <a:endCxn id="51205" idx="0"/>
          </p:cNvCxnSpPr>
          <p:nvPr/>
        </p:nvCxnSpPr>
        <p:spPr>
          <a:xfrm>
            <a:off x="3505200" y="3581400"/>
            <a:ext cx="0" cy="5334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16" name="直接箭头连接符 58384"/>
          <p:cNvCxnSpPr>
            <a:stCxn id="51204" idx="2"/>
            <a:endCxn id="51205" idx="0"/>
          </p:cNvCxnSpPr>
          <p:nvPr/>
        </p:nvCxnSpPr>
        <p:spPr>
          <a:xfrm>
            <a:off x="8915400" y="1752600"/>
            <a:ext cx="0" cy="7620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17" name="直接箭头连接符 58385"/>
          <p:cNvCxnSpPr>
            <a:stCxn id="51208" idx="2"/>
            <a:endCxn id="51209" idx="0"/>
          </p:cNvCxnSpPr>
          <p:nvPr/>
        </p:nvCxnSpPr>
        <p:spPr>
          <a:xfrm>
            <a:off x="8953500" y="2971800"/>
            <a:ext cx="0" cy="6858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218" name="流程图: 过程 58386"/>
          <p:cNvSpPr/>
          <p:nvPr/>
        </p:nvSpPr>
        <p:spPr>
          <a:xfrm>
            <a:off x="5029200" y="762000"/>
            <a:ext cx="1219200" cy="381000"/>
          </a:xfrm>
          <a:prstGeom prst="flowChartProcess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放元件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19" name="流程图: 过程 58387"/>
          <p:cNvSpPr/>
          <p:nvPr/>
        </p:nvSpPr>
        <p:spPr>
          <a:xfrm>
            <a:off x="5029200" y="1600200"/>
            <a:ext cx="1219200" cy="381000"/>
          </a:xfrm>
          <a:prstGeom prst="flowChartProcess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放电源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20" name="流程图: 过程 58388"/>
          <p:cNvSpPr/>
          <p:nvPr/>
        </p:nvSpPr>
        <p:spPr>
          <a:xfrm>
            <a:off x="5029200" y="2362200"/>
            <a:ext cx="1219200" cy="381000"/>
          </a:xfrm>
          <a:prstGeom prst="flowChartProcess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连线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51221" name="流程图: 过程 58389"/>
          <p:cNvSpPr/>
          <p:nvPr/>
        </p:nvSpPr>
        <p:spPr>
          <a:xfrm>
            <a:off x="4800600" y="3200400"/>
            <a:ext cx="1676400" cy="914400"/>
          </a:xfrm>
          <a:prstGeom prst="flowChartProcess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ctr" anchorCtr="0"/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编辑元件和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  <a:p>
            <a:pPr algn="ctr"/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电源参数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cxnSp>
        <p:nvCxnSpPr>
          <p:cNvPr id="51222" name="直接箭头连接符 58390"/>
          <p:cNvCxnSpPr>
            <a:stCxn id="51218" idx="2"/>
            <a:endCxn id="51219" idx="0"/>
          </p:cNvCxnSpPr>
          <p:nvPr/>
        </p:nvCxnSpPr>
        <p:spPr>
          <a:xfrm>
            <a:off x="5638800" y="1143000"/>
            <a:ext cx="0" cy="4572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23" name="直接箭头连接符 58391"/>
          <p:cNvCxnSpPr>
            <a:stCxn id="51219" idx="2"/>
            <a:endCxn id="51220" idx="0"/>
          </p:cNvCxnSpPr>
          <p:nvPr/>
        </p:nvCxnSpPr>
        <p:spPr>
          <a:xfrm>
            <a:off x="5638800" y="1981200"/>
            <a:ext cx="0" cy="3810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224" name="直接箭头连接符 58392"/>
          <p:cNvCxnSpPr>
            <a:stCxn id="51220" idx="2"/>
            <a:endCxn id="51221" idx="0"/>
          </p:cNvCxnSpPr>
          <p:nvPr/>
        </p:nvCxnSpPr>
        <p:spPr>
          <a:xfrm>
            <a:off x="5638800" y="2743200"/>
            <a:ext cx="0" cy="457200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225" name="未知"/>
          <p:cNvSpPr/>
          <p:nvPr/>
        </p:nvSpPr>
        <p:spPr>
          <a:xfrm>
            <a:off x="4381500" y="596900"/>
            <a:ext cx="2463800" cy="3886200"/>
          </a:xfrm>
          <a:custGeom>
            <a:avLst/>
            <a:gdLst/>
            <a:ahLst/>
            <a:cxnLst/>
            <a:pathLst>
              <a:path w="1552" h="2448">
                <a:moveTo>
                  <a:pt x="312" y="56"/>
                </a:moveTo>
                <a:cubicBezTo>
                  <a:pt x="104" y="104"/>
                  <a:pt x="120" y="360"/>
                  <a:pt x="72" y="440"/>
                </a:cubicBezTo>
                <a:cubicBezTo>
                  <a:pt x="24" y="520"/>
                  <a:pt x="0" y="528"/>
                  <a:pt x="24" y="536"/>
                </a:cubicBezTo>
                <a:cubicBezTo>
                  <a:pt x="48" y="544"/>
                  <a:pt x="184" y="440"/>
                  <a:pt x="216" y="488"/>
                </a:cubicBezTo>
                <a:cubicBezTo>
                  <a:pt x="248" y="536"/>
                  <a:pt x="232" y="592"/>
                  <a:pt x="216" y="824"/>
                </a:cubicBezTo>
                <a:cubicBezTo>
                  <a:pt x="200" y="1056"/>
                  <a:pt x="120" y="1624"/>
                  <a:pt x="120" y="1880"/>
                </a:cubicBezTo>
                <a:cubicBezTo>
                  <a:pt x="120" y="2136"/>
                  <a:pt x="104" y="2272"/>
                  <a:pt x="216" y="2360"/>
                </a:cubicBezTo>
                <a:cubicBezTo>
                  <a:pt x="328" y="2448"/>
                  <a:pt x="616" y="2416"/>
                  <a:pt x="792" y="2408"/>
                </a:cubicBezTo>
                <a:cubicBezTo>
                  <a:pt x="968" y="2400"/>
                  <a:pt x="1152" y="2376"/>
                  <a:pt x="1272" y="2312"/>
                </a:cubicBezTo>
                <a:cubicBezTo>
                  <a:pt x="1392" y="2248"/>
                  <a:pt x="1472" y="2248"/>
                  <a:pt x="1512" y="2024"/>
                </a:cubicBezTo>
                <a:cubicBezTo>
                  <a:pt x="1552" y="1800"/>
                  <a:pt x="1544" y="1280"/>
                  <a:pt x="1512" y="968"/>
                </a:cubicBezTo>
                <a:cubicBezTo>
                  <a:pt x="1480" y="656"/>
                  <a:pt x="1520" y="304"/>
                  <a:pt x="1320" y="152"/>
                </a:cubicBezTo>
                <a:cubicBezTo>
                  <a:pt x="1120" y="0"/>
                  <a:pt x="520" y="8"/>
                  <a:pt x="312" y="56"/>
                </a:cubicBezTo>
                <a:close/>
              </a:path>
            </a:pathLst>
          </a:cu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7410" name="内容占位符 17409"/>
          <p:cNvSpPr>
            <a:spLocks noGrp="1"/>
          </p:cNvSpPr>
          <p:nvPr>
            <p:ph idx="4294967295"/>
          </p:nvPr>
        </p:nvSpPr>
        <p:spPr>
          <a:xfrm>
            <a:off x="191135" y="548640"/>
            <a:ext cx="8801100" cy="1137920"/>
          </a:xfrm>
        </p:spPr>
        <p:txBody>
          <a:bodyPr anchor="t" anchorCtr="0"/>
          <a:p>
            <a:pPr marL="812800" indent="-812800" algn="just">
              <a:lnSpc>
                <a:spcPct val="131000"/>
              </a:lnSpc>
              <a:buNone/>
            </a:pPr>
            <a:r>
              <a:rPr lang="en-US" altLang="zh-CN" sz="2800" b="1">
                <a:ea typeface="黑体" panose="02010609060101010101" pitchFamily="2" charset="-122"/>
              </a:rPr>
              <a:t> 1. 1</a:t>
            </a:r>
            <a:r>
              <a:rPr lang="en-US" altLang="zh-CN" sz="2800" b="1">
                <a:latin typeface="宋体" panose="02010600030101010101" pitchFamily="2" charset="-122"/>
                <a:ea typeface="黑体" panose="02010609060101010101" pitchFamily="2" charset="-122"/>
              </a:rPr>
              <a:t>.</a:t>
            </a:r>
            <a:r>
              <a:rPr lang="zh-CN" altLang="en-US" sz="2800" b="1">
                <a:ea typeface="黑体" panose="02010609060101010101" pitchFamily="2" charset="-122"/>
              </a:rPr>
              <a:t>调用</a:t>
            </a:r>
            <a:r>
              <a:rPr lang="en-US" altLang="zh-CN" sz="2800" b="1">
                <a:ea typeface="黑体" panose="02010609060101010101" pitchFamily="2" charset="-122"/>
              </a:rPr>
              <a:t>Capture</a:t>
            </a:r>
            <a:r>
              <a:rPr lang="zh-CN" altLang="en-US" sz="2800" b="1">
                <a:ea typeface="黑体" panose="02010609060101010101" pitchFamily="2" charset="-122"/>
              </a:rPr>
              <a:t>软件</a:t>
            </a:r>
            <a:r>
              <a:rPr lang="en-US" altLang="zh-CN" sz="2800" b="1">
                <a:ea typeface="黑体" panose="02010609060101010101" pitchFamily="2" charset="-122"/>
              </a:rPr>
              <a:t>:</a:t>
            </a:r>
            <a:r>
              <a:rPr lang="zh-CN" altLang="en-US" sz="2800" b="1"/>
              <a:t> </a:t>
            </a:r>
            <a:r>
              <a:rPr lang="en-US" altLang="zh-CN" sz="2400" b="1"/>
              <a:t>OrCAD</a:t>
            </a:r>
            <a:r>
              <a:rPr lang="en-US" altLang="zh-CN" sz="2400" b="1">
                <a:latin typeface="宋体" panose="02010600030101010101" pitchFamily="2" charset="-122"/>
              </a:rPr>
              <a:t> </a:t>
            </a:r>
            <a:r>
              <a:rPr lang="en-US" altLang="zh-CN" sz="2400" b="1"/>
              <a:t>Family Release 9.2 </a:t>
            </a:r>
            <a:r>
              <a:rPr lang="en-US" altLang="zh-CN" sz="2400" b="1">
                <a:solidFill>
                  <a:srgbClr val="FF0000"/>
                </a:solidFill>
              </a:rPr>
              <a:t>Lite </a:t>
            </a:r>
            <a:r>
              <a:rPr lang="en-US" altLang="zh-CN" sz="2400" b="1"/>
              <a:t>Edition</a:t>
            </a:r>
            <a:r>
              <a:rPr lang="en-US" altLang="zh-CN" sz="2400" b="1">
                <a:latin typeface="宋体" panose="02010600030101010101" pitchFamily="2" charset="-122"/>
              </a:rPr>
              <a:t>/</a:t>
            </a:r>
            <a:r>
              <a:rPr lang="en-US" altLang="zh-CN" sz="2400" b="1"/>
              <a:t>Capture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</a:rPr>
              <a:t>CIS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FF0000"/>
                </a:solidFill>
              </a:rPr>
              <a:t>Lite</a:t>
            </a:r>
            <a:r>
              <a:rPr lang="en-US" altLang="zh-CN" sz="2400" b="1"/>
              <a:t> Edition </a:t>
            </a:r>
            <a:endParaRPr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17411" name="标题 17410"/>
          <p:cNvSpPr>
            <a:spLocks noGrp="1"/>
          </p:cNvSpPr>
          <p:nvPr>
            <p:ph type="title" idx="4294967295"/>
          </p:nvPr>
        </p:nvSpPr>
        <p:spPr>
          <a:xfrm>
            <a:off x="12720320" y="1052830"/>
            <a:ext cx="6798945" cy="457200"/>
          </a:xfrm>
        </p:spPr>
        <p:txBody>
          <a:bodyPr anchor="ctr" anchorCtr="0"/>
          <a:p>
            <a:pPr algn="l"/>
            <a:r>
              <a:rPr lang="en-US" altLang="zh-CN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绘制电路图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228" name="矩形 17411"/>
          <p:cNvSpPr/>
          <p:nvPr/>
        </p:nvSpPr>
        <p:spPr>
          <a:xfrm>
            <a:off x="4953000" y="2571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17413" name="对象 17412"/>
          <p:cNvGraphicFramePr>
            <a:graphicFrameLocks noChangeAspect="1"/>
          </p:cNvGraphicFramePr>
          <p:nvPr/>
        </p:nvGraphicFramePr>
        <p:xfrm>
          <a:off x="263525" y="1916748"/>
          <a:ext cx="5197475" cy="384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7802880" imgH="5852160" progId="PBrush">
                  <p:embed/>
                </p:oleObj>
              </mc:Choice>
              <mc:Fallback>
                <p:oleObj name="" r:id="rId1" imgW="7802880" imgH="5852160" progId="PBrush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525" y="1916748"/>
                        <a:ext cx="5197475" cy="3840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对象 18434"/>
          <p:cNvGraphicFramePr>
            <a:graphicFrameLocks noGrp="1" noChangeAspect="1"/>
          </p:cNvGraphicFramePr>
          <p:nvPr/>
        </p:nvGraphicFramePr>
        <p:xfrm>
          <a:off x="5520373" y="1917065"/>
          <a:ext cx="6742112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3" imgW="5638800" imgH="2676525" progId="PBrush">
                  <p:embed/>
                </p:oleObj>
              </mc:Choice>
              <mc:Fallback>
                <p:oleObj name="" r:id="rId3" imgW="5638800" imgH="2676525" progId="PBrush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20373" y="1917065"/>
                        <a:ext cx="6742112" cy="320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95325" y="-635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09600" indent="-609600">
              <a:buNone/>
            </a:pP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 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创建工程项目文件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nimBg="1"/>
      <p:bldP spid="17410" grpId="0" animBg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标题 19457"/>
          <p:cNvSpPr>
            <a:spLocks noGrp="1"/>
          </p:cNvSpPr>
          <p:nvPr>
            <p:ph type="ctrTitle" idx="4294967295"/>
          </p:nvPr>
        </p:nvSpPr>
        <p:spPr>
          <a:xfrm>
            <a:off x="481330" y="607695"/>
            <a:ext cx="5506720" cy="1143000"/>
          </a:xfr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1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）项目名</a:t>
            </a:r>
            <a:b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</a:b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    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Name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栏中键入项目名，例如基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Amp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。</a:t>
            </a:r>
            <a:endParaRPr lang="zh-CN" altLang="en-US" sz="24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19459" name="副标题 19458"/>
          <p:cNvSpPr>
            <a:spLocks noGrp="1"/>
          </p:cNvSpPr>
          <p:nvPr>
            <p:ph type="subTitle" idx="4294967295"/>
          </p:nvPr>
        </p:nvSpPr>
        <p:spPr>
          <a:xfrm>
            <a:off x="504190" y="1532255"/>
            <a:ext cx="4339590" cy="607695"/>
          </a:xfrm>
        </p:spPr>
        <p:txBody>
          <a:bodyPr anchor="t" anchorCtr="0"/>
          <a:p>
            <a:pPr marL="0" indent="0" algn="l" defTabSz="914400">
              <a:lnSpc>
                <a:spcPct val="131000"/>
              </a:lnSpc>
              <a:buClrTx/>
              <a:buSzTx/>
              <a:buFontTx/>
              <a:buNone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）设计项目类型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graphicFrame>
        <p:nvGraphicFramePr>
          <p:cNvPr id="19460" name="对象 19459"/>
          <p:cNvGraphicFramePr>
            <a:graphicFrameLocks noChangeAspect="1"/>
          </p:cNvGraphicFramePr>
          <p:nvPr/>
        </p:nvGraphicFramePr>
        <p:xfrm>
          <a:off x="6280468" y="61595"/>
          <a:ext cx="4066452" cy="34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4391025" imgH="3743325" progId="PBrush">
                  <p:embed/>
                </p:oleObj>
              </mc:Choice>
              <mc:Fallback>
                <p:oleObj name="" r:id="rId1" imgW="4391025" imgH="3743325" progId="PBrush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80468" y="61595"/>
                        <a:ext cx="4066452" cy="345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5" name="文本框 19464"/>
          <p:cNvSpPr txBox="1"/>
          <p:nvPr/>
        </p:nvSpPr>
        <p:spPr>
          <a:xfrm>
            <a:off x="553085" y="2277110"/>
            <a:ext cx="5701030" cy="8655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lnSpc>
                <a:spcPct val="10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）设计项目路径名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Location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一项用于设置保存新建设计项目的子目录。 </a:t>
            </a:r>
            <a:endParaRPr lang="zh-CN" altLang="en-US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41440" y="550545"/>
            <a:ext cx="2087880" cy="37338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454140" y="910590"/>
            <a:ext cx="2301240" cy="42735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46190" y="2783205"/>
            <a:ext cx="2870835" cy="42735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8370" name="副标题 20482"/>
          <p:cNvGraphicFramePr>
            <a:graphicFrameLocks noGrp="1" noChangeAspect="1"/>
          </p:cNvGraphicFramePr>
          <p:nvPr/>
        </p:nvGraphicFramePr>
        <p:xfrm>
          <a:off x="6229033" y="3517583"/>
          <a:ext cx="6026157" cy="33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6553200" imgH="3459480" progId="PBrush">
                  <p:embed/>
                </p:oleObj>
              </mc:Choice>
              <mc:Fallback>
                <p:oleObj name="" r:id="rId3" imgW="6553200" imgH="3459480" progId="PBrush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9033" y="3517583"/>
                        <a:ext cx="6026157" cy="3312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1" name="文本框 1"/>
          <p:cNvSpPr txBox="1"/>
          <p:nvPr/>
        </p:nvSpPr>
        <p:spPr>
          <a:xfrm>
            <a:off x="768350" y="3324225"/>
            <a:ext cx="505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文件、目录是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全英文，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不能有空格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82" name="标题 20481"/>
          <p:cNvSpPr>
            <a:spLocks noGrp="1"/>
          </p:cNvSpPr>
          <p:nvPr/>
        </p:nvSpPr>
        <p:spPr>
          <a:xfrm>
            <a:off x="6600825" y="5968365"/>
            <a:ext cx="3093720" cy="7461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建立新的</a:t>
            </a:r>
            <a:r>
              <a:rPr lang="en-US" altLang="zh-CN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Pspice</a:t>
            </a: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endParaRPr lang="zh-CN" altLang="en-US" sz="2400" b="1" kern="1200" baseline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44970" y="5517515"/>
            <a:ext cx="2239010" cy="42735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5325" y="-6350"/>
            <a:ext cx="4572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609600" indent="-609600">
              <a:buNone/>
            </a:pP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  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创建工程项目文件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629" name="AutoShape 5"/>
          <p:cNvSpPr/>
          <p:nvPr/>
        </p:nvSpPr>
        <p:spPr>
          <a:xfrm>
            <a:off x="713105" y="4023360"/>
            <a:ext cx="5184140" cy="1804670"/>
          </a:xfrm>
          <a:prstGeom prst="wedgeRectCallout">
            <a:avLst>
              <a:gd name="adj1" fmla="val 2940"/>
              <a:gd name="adj2" fmla="val -1681"/>
            </a:avLst>
          </a:prstGeom>
          <a:noFill/>
          <a:ln w="9525">
            <a:noFill/>
          </a:ln>
        </p:spPr>
        <p:txBody>
          <a:bodyPr anchor="ctr" anchorCtr="0"/>
          <a:p>
            <a:pPr marL="342900" indent="-342900" algn="just">
              <a:lnSpc>
                <a:spcPct val="125000"/>
              </a:lnSpc>
              <a:buFont typeface="Wingdings" panose="05000000000000000000" charset="0"/>
              <a:buChar char="u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如果电路图要用于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印制电路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版设计，则应选“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 Board Wizard ”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或“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Programmable Logic Wizard ”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charset="0"/>
              <a:buChar char="u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绘制电路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Schematic”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4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/>
      <p:bldP spid="19459" grpId="0" animBg="1" build="p"/>
      <p:bldP spid="19465" grpId="0" animBg="1"/>
      <p:bldP spid="44041" grpId="0"/>
      <p:bldP spid="2048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26629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ctrTitle"/>
          </p:nvPr>
        </p:nvSpPr>
        <p:spPr>
          <a:xfrm>
            <a:off x="1768475" y="525463"/>
            <a:ext cx="7772400" cy="1143000"/>
          </a:xfrm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）给设计项目起名。</a:t>
            </a:r>
            <a:b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Name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栏中键入项目名，例如我们为将要分析的基本放大器起名为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Amp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subTitle" idx="1"/>
          </p:nvPr>
        </p:nvSpPr>
        <p:spPr>
          <a:xfrm>
            <a:off x="1768475" y="1674813"/>
            <a:ext cx="3721100" cy="608012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1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）选定设计项目类型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6186488" y="1631950"/>
          <a:ext cx="3997325" cy="339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4391025" imgH="3743325" progId="Paint.Picture">
                  <p:embed/>
                </p:oleObj>
              </mc:Choice>
              <mc:Fallback>
                <p:oleObj name="" r:id="rId1" imgW="4391025" imgH="374332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86488" y="1631950"/>
                        <a:ext cx="3997325" cy="339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AutoShape 5"/>
          <p:cNvSpPr/>
          <p:nvPr/>
        </p:nvSpPr>
        <p:spPr>
          <a:xfrm>
            <a:off x="1908175" y="4022725"/>
            <a:ext cx="3886200" cy="2835275"/>
          </a:xfrm>
          <a:prstGeom prst="wedgeRectCallout">
            <a:avLst>
              <a:gd name="adj1" fmla="val 2940"/>
              <a:gd name="adj2" fmla="val -1681"/>
            </a:avLst>
          </a:prstGeom>
          <a:solidFill>
            <a:srgbClr val="FFFFCC"/>
          </a:solidFill>
          <a:ln w="9525">
            <a:noFill/>
          </a:ln>
        </p:spPr>
        <p:txBody>
          <a:bodyPr anchor="ctr" anchorCtr="0"/>
          <a:p>
            <a:pPr algn="just">
              <a:lnSpc>
                <a:spcPct val="10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如果电路图要用于印制电路</a:t>
            </a:r>
            <a:endParaRPr lang="zh-CN" altLang="en-US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0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版设计，则应选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 Board Wizard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Programmable Logic Wizard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如果只绘制电路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则应选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Schematic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30" name="Text Box 6"/>
          <p:cNvSpPr txBox="1"/>
          <p:nvPr/>
        </p:nvSpPr>
        <p:spPr>
          <a:xfrm>
            <a:off x="1908175" y="2282825"/>
            <a:ext cx="3886200" cy="1568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100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个选项可供选择。如要对绘制的电路进行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Pspice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分析，应选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Analog or Mixed Signal Circuit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”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31" name="Line 7"/>
          <p:cNvSpPr/>
          <p:nvPr/>
        </p:nvSpPr>
        <p:spPr>
          <a:xfrm>
            <a:off x="4892675" y="1631950"/>
            <a:ext cx="1293813" cy="650875"/>
          </a:xfrm>
          <a:prstGeom prst="line">
            <a:avLst/>
          </a:prstGeom>
          <a:ln w="38100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32" name="Line 8"/>
          <p:cNvSpPr/>
          <p:nvPr/>
        </p:nvSpPr>
        <p:spPr>
          <a:xfrm flipV="1">
            <a:off x="5489575" y="2803525"/>
            <a:ext cx="1050925" cy="739775"/>
          </a:xfrm>
          <a:prstGeom prst="line">
            <a:avLst/>
          </a:prstGeom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33" name="Text Box 9"/>
          <p:cNvSpPr txBox="1"/>
          <p:nvPr/>
        </p:nvSpPr>
        <p:spPr>
          <a:xfrm>
            <a:off x="6186488" y="5410200"/>
            <a:ext cx="4252912" cy="12528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0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）设计项目路径名设置。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Location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一项用于设置保存新建设计项目的子目录。 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634" name="Line 10"/>
          <p:cNvSpPr/>
          <p:nvPr/>
        </p:nvSpPr>
        <p:spPr>
          <a:xfrm flipV="1">
            <a:off x="6186488" y="4740275"/>
            <a:ext cx="354012" cy="958850"/>
          </a:xfrm>
          <a:prstGeom prst="line">
            <a:avLst/>
          </a:prstGeom>
          <a:ln w="38100" cap="flat" cmpd="sng">
            <a:solidFill>
              <a:srgbClr val="990033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  <p:bldP spid="26629" grpId="0" bldLvl="0" animBg="1"/>
      <p:bldP spid="26630" grpId="0"/>
      <p:bldP spid="266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矩形 21506"/>
          <p:cNvSpPr/>
          <p:nvPr/>
        </p:nvSpPr>
        <p:spPr>
          <a:xfrm>
            <a:off x="2386648" y="122904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21508" name="对象 21507"/>
          <p:cNvGraphicFramePr>
            <a:graphicFrameLocks noChangeAspect="1"/>
          </p:cNvGraphicFramePr>
          <p:nvPr/>
        </p:nvGraphicFramePr>
        <p:xfrm>
          <a:off x="1632585" y="806768"/>
          <a:ext cx="7286625" cy="546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7802880" imgH="5852160" progId="PBrush">
                  <p:embed/>
                </p:oleObj>
              </mc:Choice>
              <mc:Fallback>
                <p:oleObj name="" r:id="rId1" imgW="7802880" imgH="5852160" progId="PBrush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2585" y="806768"/>
                        <a:ext cx="7286625" cy="546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矩形标注 21508"/>
          <p:cNvSpPr/>
          <p:nvPr/>
        </p:nvSpPr>
        <p:spPr>
          <a:xfrm>
            <a:off x="7160260" y="725805"/>
            <a:ext cx="2346325" cy="503238"/>
          </a:xfrm>
          <a:prstGeom prst="wedgeRectCallout">
            <a:avLst>
              <a:gd name="adj1" fmla="val -89852"/>
              <a:gd name="adj2" fmla="val 358519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电路图编辑窗口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10" name="矩形标注 21509"/>
          <p:cNvSpPr/>
          <p:nvPr/>
        </p:nvSpPr>
        <p:spPr>
          <a:xfrm>
            <a:off x="4148773" y="4569143"/>
            <a:ext cx="2484437" cy="644525"/>
          </a:xfrm>
          <a:prstGeom prst="wedgeRectCallout">
            <a:avLst>
              <a:gd name="adj1" fmla="val -136519"/>
              <a:gd name="adj2" fmla="val -267241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项目管理器窗口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11" name="矩形标注 21510"/>
          <p:cNvSpPr/>
          <p:nvPr/>
        </p:nvSpPr>
        <p:spPr>
          <a:xfrm>
            <a:off x="591185" y="4634230"/>
            <a:ext cx="2225675" cy="579438"/>
          </a:xfrm>
          <a:prstGeom prst="wedgeRectCallout">
            <a:avLst>
              <a:gd name="adj1" fmla="val 17403"/>
              <a:gd name="adj2" fmla="val 145069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b="1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信息查看窗口</a:t>
            </a:r>
            <a:r>
              <a:rPr lang="zh-CN" altLang="en-US" b="1" baseline="-25000">
                <a:solidFill>
                  <a:schemeClr val="tx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zh-CN" altLang="en-US" b="1" baseline="-2500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7411" name="标题 17410"/>
          <p:cNvSpPr>
            <a:spLocks noGrp="1"/>
          </p:cNvSpPr>
          <p:nvPr/>
        </p:nvSpPr>
        <p:spPr>
          <a:xfrm>
            <a:off x="413385" y="72390"/>
            <a:ext cx="747522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Capture</a:t>
            </a:r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工作窗口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bldLvl="0" animBg="1"/>
      <p:bldP spid="21509" grpId="0" bldLvl="0" animBg="1"/>
      <p:bldP spid="2151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42" name="副标题 22530"/>
          <p:cNvGraphicFramePr>
            <a:graphicFrameLocks noGrp="1" noChangeAspect="1"/>
          </p:cNvGraphicFramePr>
          <p:nvPr>
            <p:ph type="subTitle" idx="4294967295"/>
          </p:nvPr>
        </p:nvGraphicFramePr>
        <p:xfrm>
          <a:off x="551498" y="1237298"/>
          <a:ext cx="5372100" cy="324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4625340" imgH="3627120" progId="PBrush">
                  <p:embed/>
                </p:oleObj>
              </mc:Choice>
              <mc:Fallback>
                <p:oleObj name="" r:id="rId1" imgW="4625340" imgH="3627120" progId="PBrush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1498" y="1237298"/>
                        <a:ext cx="5372100" cy="32496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矩形标注 22531"/>
          <p:cNvSpPr/>
          <p:nvPr/>
        </p:nvSpPr>
        <p:spPr>
          <a:xfrm>
            <a:off x="4064000" y="549275"/>
            <a:ext cx="1763713" cy="668338"/>
          </a:xfrm>
          <a:prstGeom prst="wedgeRectCallout">
            <a:avLst>
              <a:gd name="adj1" fmla="val -2259"/>
              <a:gd name="adj2" fmla="val 162731"/>
            </a:avLst>
          </a:prstGeom>
          <a:solidFill>
            <a:schemeClr val="bg1"/>
          </a:solidFill>
          <a:ln w="349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sz="28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加库</a:t>
            </a:r>
            <a:endParaRPr lang="zh-CN" altLang="en-US" sz="2800" b="1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3" name="矩形标注 22532"/>
          <p:cNvSpPr/>
          <p:nvPr/>
        </p:nvSpPr>
        <p:spPr>
          <a:xfrm>
            <a:off x="2716530" y="2366645"/>
            <a:ext cx="1543050" cy="555625"/>
          </a:xfrm>
          <a:prstGeom prst="wedgeRectCallout">
            <a:avLst>
              <a:gd name="adj1" fmla="val 72772"/>
              <a:gd name="adj2" fmla="val -63085"/>
            </a:avLst>
          </a:prstGeom>
          <a:noFill/>
          <a:ln w="317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eaLnBrk="0" hangingPunct="0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剔除库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534" name="对象 22533"/>
          <p:cNvGraphicFramePr>
            <a:graphicFrameLocks noChangeAspect="1"/>
          </p:cNvGraphicFramePr>
          <p:nvPr/>
        </p:nvGraphicFramePr>
        <p:xfrm>
          <a:off x="6240145" y="1442403"/>
          <a:ext cx="53721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4488180" imgH="2537460" progId="PBrush">
                  <p:embed/>
                </p:oleObj>
              </mc:Choice>
              <mc:Fallback>
                <p:oleObj name="" r:id="rId3" imgW="4488180" imgH="2537460" progId="PBrush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0145" y="1442403"/>
                        <a:ext cx="5372100" cy="303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bldLvl="0" animBg="1"/>
      <p:bldP spid="2253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3"/>
          <p:cNvSpPr>
            <a:spLocks noGrp="1"/>
          </p:cNvSpPr>
          <p:nvPr>
            <p:ph type="subTitle" idx="4294967295"/>
          </p:nvPr>
        </p:nvSpPr>
        <p:spPr>
          <a:xfrm>
            <a:off x="1137920" y="906780"/>
            <a:ext cx="9209405" cy="4535170"/>
          </a:xfrm>
        </p:spPr>
        <p:txBody>
          <a:bodyPr wrap="square" lIns="91440" tIns="45720" rIns="91440" bIns="45720" anchor="t" anchorCtr="0"/>
          <a:p>
            <a:pPr marL="0" indent="0" algn="just" defTabSz="914400">
              <a:lnSpc>
                <a:spcPct val="125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8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8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zh-CN" altLang="en-US" sz="28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</a:t>
            </a:r>
            <a:r>
              <a:rPr lang="zh-CN" altLang="en-US" sz="28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电路元器件    </a:t>
            </a:r>
            <a:endParaRPr lang="zh-CN" altLang="en-US" sz="2800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无源</a:t>
            </a:r>
            <a:r>
              <a:rPr lang="zh-CN" altLang="en-US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元件</a:t>
            </a:r>
            <a:r>
              <a:rPr lang="en-US" altLang="zh-CN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如电阻、电容、电感、传输线等</a:t>
            </a:r>
            <a:endParaRPr lang="zh-CN" altLang="en-US" sz="2400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</a:t>
            </a:r>
            <a:r>
              <a:rPr lang="zh-CN" altLang="en-US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器件</a:t>
            </a:r>
            <a:r>
              <a:rPr lang="en-US" altLang="zh-CN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如二极管、双极晶体管、结型场效应管、</a:t>
            </a:r>
            <a:r>
              <a:rPr lang="en-US" altLang="zh-CN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管等</a:t>
            </a:r>
            <a:endParaRPr lang="zh-CN" altLang="en-US" sz="2400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</a:t>
            </a: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电压源</a:t>
            </a:r>
            <a:r>
              <a:rPr lang="zh-CN" altLang="en-US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和独立</a:t>
            </a: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电流源</a:t>
            </a:r>
            <a:endParaRPr lang="zh-CN" altLang="en-US" sz="2400" b="1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kern="1200" baseline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</a:t>
            </a:r>
            <a:r>
              <a:rPr lang="zh-CN" altLang="en-US" sz="24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电压源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2400" kern="1200" baseline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受控</a:t>
            </a:r>
            <a:r>
              <a:rPr lang="zh-CN" altLang="en-US" sz="24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电流源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和受控开关。 </a:t>
            </a:r>
            <a:endParaRPr lang="zh-CN" altLang="en-US" sz="2400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</a:t>
            </a:r>
            <a:r>
              <a:rPr lang="en-US" altLang="zh-CN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如门电路、传输门、触发器、可编程    逻辑阵列等。</a:t>
            </a:r>
            <a:endParaRPr lang="zh-CN" altLang="en-US" sz="2400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</a:t>
            </a:r>
            <a:r>
              <a:rPr lang="zh-CN" altLang="en-US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</a:t>
            </a:r>
            <a:r>
              <a:rPr lang="en-US" altLang="zh-CN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lang="zh-CN" altLang="en-US" sz="24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放大器、</a:t>
            </a:r>
            <a:r>
              <a:rPr lang="en-US" altLang="zh-CN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555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定时器等。</a:t>
            </a:r>
            <a:r>
              <a:rPr lang="zh-CN" altLang="en-US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集成电路</a:t>
            </a:r>
            <a:r>
              <a:rPr lang="zh-CN" altLang="en-US" sz="24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可作为一个单元电路整体出现在电路中，不考虑</a:t>
            </a:r>
            <a:r>
              <a:rPr lang="zh-CN" altLang="en-US" sz="2400" b="1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单元电路</a:t>
            </a:r>
            <a:r>
              <a:rPr lang="zh-CN" altLang="en-US" sz="24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内部结构</a:t>
            </a:r>
            <a:endParaRPr lang="zh-CN" altLang="en-US" sz="2400" kern="1200" baseline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1024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909638"/>
            <a:ext cx="8153400" cy="5688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Oval 6"/>
          <p:cNvSpPr/>
          <p:nvPr/>
        </p:nvSpPr>
        <p:spPr>
          <a:xfrm>
            <a:off x="2106613" y="1843088"/>
            <a:ext cx="1441450" cy="298450"/>
          </a:xfrm>
          <a:prstGeom prst="ellipse">
            <a:avLst/>
          </a:prstGeom>
          <a:noFill/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zh-CN" sz="1800" dirty="0">
              <a:latin typeface="Verdana" panose="020B0604030504040204" pitchFamily="34" charset="0"/>
            </a:endParaRPr>
          </a:p>
        </p:txBody>
      </p:sp>
      <p:sp>
        <p:nvSpPr>
          <p:cNvPr id="10245" name="Oval 7"/>
          <p:cNvSpPr/>
          <p:nvPr/>
        </p:nvSpPr>
        <p:spPr>
          <a:xfrm>
            <a:off x="2062163" y="4122738"/>
            <a:ext cx="1441450" cy="298450"/>
          </a:xfrm>
          <a:prstGeom prst="ellipse">
            <a:avLst/>
          </a:prstGeom>
          <a:noFill/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zh-CN" sz="1800" dirty="0">
              <a:latin typeface="Verdana" panose="020B0604030504040204" pitchFamily="34" charset="0"/>
            </a:endParaRPr>
          </a:p>
        </p:txBody>
      </p:sp>
      <p:sp>
        <p:nvSpPr>
          <p:cNvPr id="10246" name="Oval 10"/>
          <p:cNvSpPr/>
          <p:nvPr/>
        </p:nvSpPr>
        <p:spPr>
          <a:xfrm>
            <a:off x="2044700" y="5180013"/>
            <a:ext cx="1441450" cy="298450"/>
          </a:xfrm>
          <a:prstGeom prst="ellipse">
            <a:avLst/>
          </a:prstGeom>
          <a:noFill/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zh-CN" sz="1800" dirty="0">
              <a:latin typeface="Verdana" panose="020B0604030504040204" pitchFamily="34" charset="0"/>
            </a:endParaRPr>
          </a:p>
        </p:txBody>
      </p:sp>
      <p:sp>
        <p:nvSpPr>
          <p:cNvPr id="10247" name="Oval 6"/>
          <p:cNvSpPr/>
          <p:nvPr/>
        </p:nvSpPr>
        <p:spPr>
          <a:xfrm>
            <a:off x="2309813" y="2457450"/>
            <a:ext cx="960437" cy="298450"/>
          </a:xfrm>
          <a:prstGeom prst="ellipse">
            <a:avLst/>
          </a:prstGeom>
          <a:noFill/>
          <a:ln w="952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zh-CN" sz="1800" dirty="0">
              <a:latin typeface="Verdana" panose="020B0604030504040204" pitchFamily="34" charset="0"/>
            </a:endParaRPr>
          </a:p>
        </p:txBody>
      </p:sp>
      <p:sp>
        <p:nvSpPr>
          <p:cNvPr id="10248" name="Oval 6"/>
          <p:cNvSpPr/>
          <p:nvPr/>
        </p:nvSpPr>
        <p:spPr>
          <a:xfrm>
            <a:off x="2309813" y="1525588"/>
            <a:ext cx="960437" cy="298450"/>
          </a:xfrm>
          <a:prstGeom prst="ellipse">
            <a:avLst/>
          </a:prstGeom>
          <a:noFill/>
          <a:ln w="952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zh-CN" sz="1800" dirty="0">
              <a:latin typeface="Verdana" panose="020B0604030504040204" pitchFamily="34" charset="0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标题 23553"/>
          <p:cNvSpPr>
            <a:spLocks noGrp="1"/>
          </p:cNvSpPr>
          <p:nvPr>
            <p:ph type="ctrTitle" idx="4294967295"/>
          </p:nvPr>
        </p:nvSpPr>
        <p:spPr>
          <a:xfrm>
            <a:off x="200660" y="614998"/>
            <a:ext cx="7772400" cy="549275"/>
          </a:xfr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en-US" altLang="zh-CN" sz="3200" b="1" kern="1200" baseline="0">
                <a:latin typeface="+mj-lt"/>
                <a:ea typeface="+mj-ea"/>
                <a:cs typeface="+mj-cs"/>
              </a:rPr>
              <a:t>OrCAD 9.2</a:t>
            </a:r>
            <a:r>
              <a:rPr lang="zh-CN" altLang="en-US" sz="3200" b="1" kern="1200" baseline="0">
                <a:latin typeface="+mj-lt"/>
                <a:ea typeface="+mj-ea"/>
                <a:cs typeface="+mj-cs"/>
              </a:rPr>
              <a:t>教学版中的</a:t>
            </a:r>
            <a:r>
              <a:rPr lang="en-US" altLang="zh-CN" sz="3200" b="1" kern="1200" baseline="0">
                <a:latin typeface="+mj-lt"/>
                <a:ea typeface="+mj-ea"/>
                <a:cs typeface="+mj-cs"/>
              </a:rPr>
              <a:t>Pspice</a:t>
            </a:r>
            <a:r>
              <a:rPr lang="zh-CN" altLang="en-US" sz="3200" b="1" kern="1200" baseline="0">
                <a:latin typeface="+mj-lt"/>
                <a:ea typeface="+mj-ea"/>
                <a:cs typeface="+mj-cs"/>
              </a:rPr>
              <a:t>库文件</a:t>
            </a:r>
            <a:endParaRPr lang="zh-CN" altLang="en-US" sz="3200" b="1" kern="1200" baseline="0"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4514" name="副标题 23554"/>
          <p:cNvGraphicFramePr>
            <a:graphicFrameLocks noGrp="1" noChangeAspect="1"/>
          </p:cNvGraphicFramePr>
          <p:nvPr>
            <p:ph type="subTitle" idx="4294967295"/>
          </p:nvPr>
        </p:nvGraphicFramePr>
        <p:xfrm>
          <a:off x="886460" y="1260475"/>
          <a:ext cx="6400800" cy="362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4457700" imgH="2522220" progId="PBrush">
                  <p:embed/>
                </p:oleObj>
              </mc:Choice>
              <mc:Fallback>
                <p:oleObj name="" r:id="rId1" imgW="4457700" imgH="2522220" progId="PBrush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6460" y="1260475"/>
                        <a:ext cx="6400800" cy="3622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5" name="矩形 23555"/>
          <p:cNvSpPr/>
          <p:nvPr/>
        </p:nvSpPr>
        <p:spPr>
          <a:xfrm>
            <a:off x="200660" y="1260475"/>
            <a:ext cx="7772400" cy="454660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Eval.lib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半导体器件、运放和逻辑单元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Breakout.lib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考虑参数发生变化的元器件符号应采用此库中的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Analog.lib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Analog_p.lib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无源元器件符号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Source.lib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电源符号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Sourcestm.lib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需要调用激励信号波形生成模块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stimed 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设置的各种电源符号。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Special.lib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与电路模拟有关的一些专用符号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zh-CN" sz="2800" b="1">
                <a:solidFill>
                  <a:srgbClr val="9C0678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Abm.lib</a:t>
            </a:r>
            <a:r>
              <a:rPr lang="en-US" altLang="zh-CN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sz="2800" b="1">
                <a:latin typeface="华文中宋" panose="02010600040101010101" pitchFamily="2" charset="-122"/>
                <a:ea typeface="华文中宋" panose="02010600040101010101" pitchFamily="2" charset="-122"/>
              </a:rPr>
              <a:t>代表某些模拟功能的符号</a:t>
            </a:r>
            <a:endParaRPr lang="zh-CN" altLang="en-US" sz="28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idx="1"/>
          </p:nvPr>
        </p:nvSpPr>
        <p:spPr>
          <a:xfrm>
            <a:off x="1550670" y="502920"/>
            <a:ext cx="8324850" cy="51435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5000"/>
              </a:lnSpc>
              <a:buNone/>
            </a:pPr>
            <a:r>
              <a:rPr lang="en-US" altLang="zh-CN" sz="2400" b="1" dirty="0">
                <a:solidFill>
                  <a:srgbClr val="FF0066"/>
                </a:solidFill>
              </a:rPr>
              <a:t>OrCAD</a:t>
            </a:r>
            <a:r>
              <a:rPr lang="en-US" altLang="zh-CN" sz="2400" b="1" dirty="0">
                <a:solidFill>
                  <a:srgbClr val="FF0066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2400" b="1" dirty="0">
                <a:solidFill>
                  <a:srgbClr val="FF0066"/>
                </a:solidFill>
              </a:rPr>
              <a:t>PSpice </a:t>
            </a:r>
            <a:r>
              <a:rPr lang="en-US" altLang="zh-CN" sz="2800" b="1" dirty="0">
                <a:solidFill>
                  <a:srgbClr val="FF0066"/>
                </a:solidFill>
                <a:latin typeface="宋体" panose="02010600030101010101" pitchFamily="2" charset="-122"/>
              </a:rPr>
              <a:t>A/D</a:t>
            </a:r>
            <a:r>
              <a:rPr lang="en-US" altLang="zh-CN" sz="2400" b="1" dirty="0">
                <a:solidFill>
                  <a:srgbClr val="FF0066"/>
                </a:solidFill>
                <a:latin typeface="宋体" panose="02010600030101010101" pitchFamily="2" charset="-122"/>
              </a:rPr>
              <a:t> 9.2</a:t>
            </a:r>
            <a:r>
              <a:rPr lang="zh-CN" altLang="en-US" sz="2400" b="1" dirty="0">
                <a:solidFill>
                  <a:srgbClr val="FF0066"/>
                </a:solidFill>
                <a:latin typeface="宋体" panose="02010600030101010101" pitchFamily="2" charset="-122"/>
              </a:rPr>
              <a:t>可支持的元器件类别及其字母代号</a:t>
            </a:r>
            <a:endParaRPr lang="zh-CN" altLang="en-US" sz="2400" b="1" dirty="0">
              <a:solidFill>
                <a:srgbClr val="FF0066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1747" name="表格 31746"/>
          <p:cNvGraphicFramePr/>
          <p:nvPr/>
        </p:nvGraphicFramePr>
        <p:xfrm>
          <a:off x="1550670" y="1118870"/>
          <a:ext cx="8567420" cy="5480050"/>
        </p:xfrm>
        <a:graphic>
          <a:graphicData uri="http://schemas.openxmlformats.org/drawingml/2006/table">
            <a:tbl>
              <a:tblPr/>
              <a:tblGrid>
                <a:gridCol w="1625600"/>
                <a:gridCol w="2785745"/>
                <a:gridCol w="207645"/>
                <a:gridCol w="1421130"/>
                <a:gridCol w="252730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字母代号</a:t>
                      </a:r>
                      <a:endParaRPr lang="zh-CN" altLang="en-US" sz="2000" b="1" dirty="0">
                        <a:solidFill>
                          <a:schemeClr val="accent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元器件类型</a:t>
                      </a:r>
                      <a:endParaRPr lang="zh-CN" altLang="en-US" sz="2000" b="1" dirty="0">
                        <a:solidFill>
                          <a:schemeClr val="accent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2000" b="1" dirty="0">
                        <a:solidFill>
                          <a:schemeClr val="accent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字母代号</a:t>
                      </a:r>
                      <a:endParaRPr lang="zh-CN" altLang="en-US" sz="2000" b="1" dirty="0">
                        <a:solidFill>
                          <a:schemeClr val="accent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chemeClr val="accent2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元器件类型</a:t>
                      </a:r>
                      <a:endParaRPr lang="zh-CN" altLang="en-US" sz="2000" b="1" dirty="0">
                        <a:solidFill>
                          <a:schemeClr val="accent2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CaAs</a:t>
                      </a: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场效应管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N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数字输入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65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电容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数字输出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053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二极管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双极晶体管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037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E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压控电压源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电阻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222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流控电流源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S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电压控制开关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压控电流源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T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传输线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8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H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流控电压源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U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数字电路单元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I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独立电流源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USTIM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数字电路信号源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G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结型场效应管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独立电压源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000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K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互感、传输线耦合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W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电流控制开关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L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电感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endParaRPr lang="zh-CN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X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单元子电路调用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MOS</a:t>
                      </a: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场效应管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  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Z</a:t>
                      </a:r>
                      <a:endParaRPr lang="en-US" altLang="zh-CN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IGBT</a:t>
                      </a:r>
                      <a:r>
                        <a:rPr lang="zh-CN" altLang="en-US" sz="20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管</a:t>
                      </a:r>
                      <a:endParaRPr lang="zh-CN" altLang="en-US" sz="20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>
          <a:xfrm>
            <a:off x="1628140" y="609918"/>
            <a:ext cx="5486400" cy="583565"/>
          </a:xfrm>
        </p:spPr>
        <p:txBody>
          <a:bodyPr wrap="square" lIns="91440" tIns="45720" rIns="91440" bIns="45720" anchor="b" anchorCtr="0">
            <a:spAutoFit/>
          </a:bodyPr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常用元器件类型和关键字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38" name="Rectangle 6"/>
          <p:cNvSpPr>
            <a:spLocks noGrp="1"/>
          </p:cNvSpPr>
          <p:nvPr>
            <p:ph type="body"/>
          </p:nvPr>
        </p:nvSpPr>
        <p:spPr>
          <a:xfrm>
            <a:off x="2090738" y="1196975"/>
            <a:ext cx="8001000" cy="4822825"/>
          </a:xfrm>
        </p:spPr>
        <p:txBody>
          <a:bodyPr wrap="square" lIns="91440" tIns="45720" rIns="91440" bIns="45720" anchor="t" anchorCtr="0"/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电阻                  </a:t>
            </a:r>
            <a:r>
              <a:rPr lang="en-US" altLang="zh-CN" sz="2800" dirty="0"/>
              <a:t>R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电容                  </a:t>
            </a:r>
            <a:r>
              <a:rPr lang="en-US" altLang="zh-CN" sz="2800" dirty="0"/>
              <a:t>C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电感                  </a:t>
            </a:r>
            <a:r>
              <a:rPr lang="en-US" altLang="zh-CN" sz="2800" dirty="0"/>
              <a:t>L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三极管              </a:t>
            </a:r>
            <a:r>
              <a:rPr lang="en-US" altLang="zh-CN" sz="2800" dirty="0"/>
              <a:t>Q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二极管              </a:t>
            </a:r>
            <a:r>
              <a:rPr lang="en-US" altLang="zh-CN" sz="2800" dirty="0"/>
              <a:t>D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电位器              </a:t>
            </a:r>
            <a:r>
              <a:rPr lang="en-US" altLang="zh-CN" sz="2800" dirty="0"/>
              <a:t>POT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正弦信号源         </a:t>
            </a:r>
            <a:r>
              <a:rPr lang="en-US" altLang="zh-CN" sz="2800" dirty="0"/>
              <a:t>Vsin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直流源              </a:t>
            </a:r>
            <a:r>
              <a:rPr lang="en-US" altLang="zh-CN" sz="2800" dirty="0"/>
              <a:t>VDC</a:t>
            </a:r>
            <a:endParaRPr lang="en-US" altLang="zh-CN" sz="2800" dirty="0"/>
          </a:p>
          <a:p>
            <a:pPr>
              <a:buFont typeface="Wingdings" panose="05000000000000000000" charset="0"/>
              <a:buChar char="u"/>
            </a:pPr>
            <a:r>
              <a:rPr lang="zh-CN" altLang="en-US" sz="2800" dirty="0"/>
              <a:t>交流源               </a:t>
            </a:r>
            <a:r>
              <a:rPr lang="en-US" altLang="zh-CN" sz="2800" dirty="0"/>
              <a:t>VAC</a:t>
            </a:r>
            <a:endParaRPr lang="en-US" altLang="zh-CN" sz="2800" dirty="0"/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2209800" y="1676400"/>
            <a:ext cx="3529013" cy="48615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电阻                 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R</a:t>
            </a:r>
            <a:endParaRPr kumimoji="1" lang="en-US" altLang="zh-CN" sz="2800" b="1" kern="1200" cap="none" spc="0" normalizeH="0" baseline="0" noProof="0" dirty="0"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电容                 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C</a:t>
            </a:r>
            <a:endParaRPr kumimoji="1" lang="en-US" altLang="zh-CN" sz="2800" b="1" kern="1200" cap="none" spc="0" normalizeH="0" baseline="0" noProof="0" dirty="0"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电感                  </a:t>
            </a:r>
            <a:r>
              <a:rPr kumimoji="1" lang="en-US" altLang="zh-CN" sz="28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L</a:t>
            </a:r>
            <a:endParaRPr kumimoji="1" lang="en-US" altLang="zh-CN" sz="2800" kern="1200" cap="none" spc="0" normalizeH="0" baseline="0" noProof="0" dirty="0">
              <a:solidFill>
                <a:schemeClr val="bg1">
                  <a:lumMod val="5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电位器              </a:t>
            </a:r>
            <a:r>
              <a:rPr kumimoji="1" lang="en-US" altLang="zh-CN" sz="28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POT</a:t>
            </a:r>
            <a:endParaRPr kumimoji="1" lang="en-US" altLang="zh-CN" sz="2800" kern="1200" cap="none" spc="0" normalizeH="0" baseline="0" noProof="0" dirty="0">
              <a:solidFill>
                <a:schemeClr val="bg1">
                  <a:lumMod val="5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二极管              </a:t>
            </a:r>
            <a:r>
              <a:rPr kumimoji="1" lang="en-US" altLang="zh-CN" sz="2800" kern="1200" cap="none" spc="0" normalizeH="0" baseline="0" noProof="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D**</a:t>
            </a:r>
            <a:endParaRPr kumimoji="1" lang="en-US" altLang="zh-CN" sz="2800" kern="1200" cap="none" spc="0" normalizeH="0" baseline="0" noProof="0" dirty="0">
              <a:solidFill>
                <a:schemeClr val="bg1">
                  <a:lumMod val="50000"/>
                </a:schemeClr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三极管</a:t>
            </a:r>
            <a:r>
              <a:rPr kumimoji="1" lang="zh-CN" altLang="en-US" sz="2800" b="1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             </a:t>
            </a:r>
            <a:r>
              <a:rPr kumimoji="1" lang="en-US" altLang="zh-CN" sz="2800" b="1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Q</a:t>
            </a:r>
            <a:r>
              <a:rPr kumimoji="1" lang="en-US" altLang="zh-CN" sz="2800" kern="1200" cap="none" spc="0" normalizeH="0" baseline="0" noProof="0" dirty="0"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**</a:t>
            </a:r>
            <a:endParaRPr kumimoji="1" lang="en-US" altLang="zh-CN" sz="2800" kern="1200" cap="none" spc="0" normalizeH="0" baseline="0" noProof="0" dirty="0"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注：</a:t>
            </a:r>
            <a:r>
              <a:rPr kumimoji="1" lang="zh-CN" altLang="en-US" sz="20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三极管教材是</a:t>
            </a:r>
            <a:r>
              <a:rPr kumimoji="1" lang="en-US" altLang="zh-CN" sz="20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Q2N3904</a:t>
            </a:r>
            <a:endParaRPr kumimoji="1" lang="en-US" altLang="zh-CN" sz="2000" kern="1200" cap="none" spc="0" normalizeH="0" baseline="0" noProof="0" dirty="0">
              <a:solidFill>
                <a:srgbClr val="00206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zh-CN" altLang="en-US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本次课用</a:t>
            </a:r>
            <a:r>
              <a:rPr kumimoji="1" lang="en-US" altLang="zh-CN" kern="1200" cap="none" spc="0" normalizeH="0" baseline="0" noProof="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Q2N2222</a:t>
            </a:r>
            <a:endParaRPr kumimoji="1" lang="en-US" altLang="zh-CN" kern="1200" cap="none" spc="0" normalizeH="0" baseline="0" noProof="0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Text Box 5"/>
          <p:cNvSpPr txBox="1"/>
          <p:nvPr/>
        </p:nvSpPr>
        <p:spPr>
          <a:xfrm>
            <a:off x="5872163" y="1676400"/>
            <a:ext cx="4567237" cy="1168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</a:rPr>
              <a:t>正弦信号电压源     </a:t>
            </a:r>
            <a:r>
              <a:rPr lang="en-US" altLang="zh-CN" sz="2800" b="1" dirty="0">
                <a:latin typeface="Times New Roman" panose="02020603050405020304" pitchFamily="2" charset="0"/>
              </a:rPr>
              <a:t>Vsin</a:t>
            </a:r>
            <a:endParaRPr lang="en-US" altLang="zh-CN" sz="2800" b="1" dirty="0">
              <a:latin typeface="Times New Roman" panose="02020603050405020304" pitchFamily="2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2" charset="0"/>
              </a:rPr>
              <a:t>直流电压源             </a:t>
            </a:r>
            <a:r>
              <a:rPr lang="en-US" altLang="zh-CN" sz="2800" b="1" dirty="0">
                <a:latin typeface="Times New Roman" panose="02020603050405020304" pitchFamily="2" charset="0"/>
              </a:rPr>
              <a:t>VDC</a:t>
            </a:r>
            <a:endParaRPr lang="en-US" altLang="zh-CN" sz="2800" b="1" dirty="0">
              <a:latin typeface="Times New Roman" panose="02020603050405020304" pitchFamily="2" charset="0"/>
            </a:endParaRPr>
          </a:p>
        </p:txBody>
      </p:sp>
      <p:sp>
        <p:nvSpPr>
          <p:cNvPr id="6" name="线形标注 1 5"/>
          <p:cNvSpPr/>
          <p:nvPr/>
        </p:nvSpPr>
        <p:spPr bwMode="auto">
          <a:xfrm>
            <a:off x="6245225" y="3805238"/>
            <a:ext cx="3735388" cy="2000250"/>
          </a:xfrm>
          <a:prstGeom prst="borderCallout1">
            <a:avLst>
              <a:gd name="adj1" fmla="val 14127"/>
              <a:gd name="adj2" fmla="val -2006"/>
              <a:gd name="adj3" fmla="val -56489"/>
              <a:gd name="adj4" fmla="val -35257"/>
            </a:avLst>
          </a:prstGeom>
          <a:solidFill>
            <a:schemeClr val="accent5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  本次课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仿真用普通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无极性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搭建三极管电路，并不影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响仿真结果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实际插板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用的是有极性的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电解电容 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C_elect</a:t>
            </a:r>
            <a:r>
              <a: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2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2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7" name="Rectangle 2"/>
          <p:cNvSpPr>
            <a:spLocks noGrp="1"/>
          </p:cNvSpPr>
          <p:nvPr>
            <p:ph type="title"/>
          </p:nvPr>
        </p:nvSpPr>
        <p:spPr>
          <a:xfrm>
            <a:off x="1628140" y="609918"/>
            <a:ext cx="5486400" cy="583565"/>
          </a:xfrm>
        </p:spPr>
        <p:txBody>
          <a:bodyPr wrap="square" lIns="91440" tIns="45720" rIns="91440" bIns="45720" anchor="b" anchorCtr="0">
            <a:spAutoFit/>
          </a:bodyPr>
          <a:p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常用元器件类型和关键字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加元器件库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(Place/Part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sz="32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矩形 25601"/>
          <p:cNvSpPr/>
          <p:nvPr/>
        </p:nvSpPr>
        <p:spPr>
          <a:xfrm>
            <a:off x="626110" y="1440180"/>
            <a:ext cx="5199380" cy="188214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812800" indent="-812800">
              <a:lnSpc>
                <a:spcPct val="125000"/>
              </a:lnSpc>
              <a:spcBef>
                <a:spcPts val="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）电路图编辑窗口下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启动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Place/Part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或窗口右侧绘图工具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快捷键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幕上出现元器件符号选择框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5603" name="对象 25602"/>
          <p:cNvGraphicFramePr>
            <a:graphicFrameLocks noChangeAspect="1"/>
          </p:cNvGraphicFramePr>
          <p:nvPr/>
        </p:nvGraphicFramePr>
        <p:xfrm>
          <a:off x="7536815" y="3426460"/>
          <a:ext cx="3830638" cy="308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4371975" imgH="3524250" progId="PBrush">
                  <p:embed/>
                </p:oleObj>
              </mc:Choice>
              <mc:Fallback>
                <p:oleObj name="" r:id="rId1" imgW="4371975" imgH="3524250" progId="PBrush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36815" y="3426460"/>
                        <a:ext cx="3830638" cy="3084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文本框 25606"/>
          <p:cNvSpPr txBox="1"/>
          <p:nvPr/>
        </p:nvSpPr>
        <p:spPr>
          <a:xfrm>
            <a:off x="557530" y="3383280"/>
            <a:ext cx="67208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）列表框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点击所需元器件所在的符号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库名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8" name="文本框 25607"/>
          <p:cNvSpPr txBox="1"/>
          <p:nvPr/>
        </p:nvSpPr>
        <p:spPr>
          <a:xfrm>
            <a:off x="557530" y="3840480"/>
            <a:ext cx="6387465" cy="16891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31000"/>
              </a:lnSpc>
              <a:spcBef>
                <a:spcPct val="2000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）元器件列表框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31000"/>
              </a:lnSpc>
              <a:spcBef>
                <a:spcPct val="20000"/>
              </a:spcBef>
              <a:buFont typeface="Wingdings" panose="05000000000000000000" charset="0"/>
              <a:buChar char="u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所需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元器件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符号名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31000"/>
              </a:lnSpc>
              <a:spcBef>
                <a:spcPct val="20000"/>
              </a:spcBef>
              <a:buFont typeface="Wingdings" panose="05000000000000000000" charset="0"/>
              <a:buChar char="u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点击，该符号图形即显示在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预览框中</a:t>
            </a:r>
            <a:endParaRPr lang="zh-CN" altLang="en-US" b="1" baseline="-25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09" name="文本框 25608"/>
          <p:cNvSpPr txBox="1"/>
          <p:nvPr/>
        </p:nvSpPr>
        <p:spPr>
          <a:xfrm>
            <a:off x="557530" y="5635625"/>
            <a:ext cx="61696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）点击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该元器件即被调至电路图中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610" name="矩形标注 25609"/>
          <p:cNvSpPr/>
          <p:nvPr/>
        </p:nvSpPr>
        <p:spPr>
          <a:xfrm>
            <a:off x="5488305" y="3780790"/>
            <a:ext cx="1689100" cy="787400"/>
          </a:xfrm>
          <a:prstGeom prst="wedgeRectCallout">
            <a:avLst>
              <a:gd name="adj1" fmla="val 86574"/>
              <a:gd name="adj2" fmla="val -22111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eaLnBrk="0" hangingPunct="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Part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框中健入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器件名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5612" name="对象 25611"/>
          <p:cNvGraphicFramePr>
            <a:graphicFrameLocks noChangeAspect="1"/>
          </p:cNvGraphicFramePr>
          <p:nvPr/>
        </p:nvGraphicFramePr>
        <p:xfrm>
          <a:off x="4871720" y="2488883"/>
          <a:ext cx="4111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09550" imgH="180975" progId="PBrush">
                  <p:embed/>
                </p:oleObj>
              </mc:Choice>
              <mc:Fallback>
                <p:oleObj name="" r:id="rId3" imgW="209550" imgH="180975" progId="PBrush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1720" y="2488883"/>
                        <a:ext cx="411163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取放元器件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579" name="副标题 24578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935" y="404178"/>
            <a:ext cx="3507361" cy="284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1" name="标题 24577"/>
          <p:cNvSpPr>
            <a:spLocks noGrp="1"/>
          </p:cNvSpPr>
          <p:nvPr/>
        </p:nvSpPr>
        <p:spPr>
          <a:xfrm>
            <a:off x="413385" y="260350"/>
            <a:ext cx="6965315" cy="150304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15000"/>
              </a:lnSpc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   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完成元器件库配置，点击“完成”按钮，屏幕</a:t>
            </a:r>
            <a:endParaRPr lang="zh-CN" altLang="en-US" sz="24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  <a:p>
            <a:pPr algn="l" defTabSz="914400"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上将出现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电路图编辑窗口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Page Editor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）</a:t>
            </a:r>
            <a:endParaRPr lang="zh-CN" altLang="en-US" sz="24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70850" y="1619885"/>
            <a:ext cx="25152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电路图编辑窗口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07505" y="5566410"/>
            <a:ext cx="8261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库名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7670" y="4561840"/>
            <a:ext cx="22040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元器件列表框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611" name="矩形标注 25610"/>
          <p:cNvSpPr/>
          <p:nvPr/>
        </p:nvSpPr>
        <p:spPr>
          <a:xfrm>
            <a:off x="9264650" y="3217545"/>
            <a:ext cx="1862455" cy="695325"/>
          </a:xfrm>
          <a:prstGeom prst="wedgeRectCallout">
            <a:avLst>
              <a:gd name="adj1" fmla="val 21611"/>
              <a:gd name="adj2" fmla="val 189473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eaLnBrk="0" hangingPunct="0"/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搜索器件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31910" y="6068695"/>
            <a:ext cx="1874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图形预览框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56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6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56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7" grpId="0" animBg="1"/>
      <p:bldP spid="25609" grpId="0" animBg="1"/>
      <p:bldP spid="25610" grpId="0" bldLvl="0" animBg="1"/>
      <p:bldP spid="25611" grpId="0" bldLvl="0" animBg="1"/>
      <p:bldP spid="4" grpId="0"/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 idx="4294967295"/>
          </p:nvPr>
        </p:nvSpPr>
        <p:spPr>
          <a:xfrm>
            <a:off x="1765935" y="815975"/>
            <a:ext cx="4454525" cy="770255"/>
          </a:xfrm>
        </p:spPr>
        <p:txBody>
          <a:bodyPr wrap="square" lIns="91440" tIns="45720" rIns="91440" bIns="45720" anchor="ctr" anchorCtr="0"/>
          <a:p>
            <a:r>
              <a:rPr lang="zh-CN" altLang="en-US" sz="3000" b="1" dirty="0"/>
              <a:t>元件移动、旋转和删除</a:t>
            </a:r>
            <a:endParaRPr lang="zh-CN" altLang="en-US" sz="3000" b="1" dirty="0"/>
          </a:p>
        </p:txBody>
      </p:sp>
      <p:sp>
        <p:nvSpPr>
          <p:cNvPr id="69634" name="Rectangle 3"/>
          <p:cNvSpPr>
            <a:spLocks noGrp="1"/>
          </p:cNvSpPr>
          <p:nvPr>
            <p:ph idx="4294967295"/>
          </p:nvPr>
        </p:nvSpPr>
        <p:spPr>
          <a:xfrm>
            <a:off x="1905000" y="1676400"/>
            <a:ext cx="8890635" cy="4267200"/>
          </a:xfrm>
        </p:spPr>
        <p:txBody>
          <a:bodyPr wrap="square" lIns="91440" tIns="45720" rIns="91440" bIns="45720" anchor="t" anchorCtr="0"/>
          <a:p>
            <a:pPr algn="just">
              <a:buFont typeface="Wingdings" panose="05000000000000000000" charset="0"/>
              <a:buChar char="u"/>
            </a:pPr>
            <a:r>
              <a:rPr lang="en-US" altLang="zh-CN" sz="2800" b="1" dirty="0"/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选中元器件</a:t>
            </a:r>
            <a:r>
              <a:rPr lang="zh-CN" altLang="en-US" sz="2800" b="1" dirty="0"/>
              <a:t>：</a:t>
            </a:r>
            <a:endParaRPr lang="zh-CN" altLang="en-US" sz="2800" b="1" dirty="0"/>
          </a:p>
          <a:p>
            <a:pPr algn="just">
              <a:buNone/>
            </a:pPr>
            <a:r>
              <a:rPr lang="zh-CN" altLang="en-US" sz="2800" b="1" dirty="0"/>
              <a:t>	            用鼠标左键单击，此时元器件变为红色</a:t>
            </a:r>
            <a:endParaRPr lang="zh-CN" altLang="en-US" sz="2800" b="1" dirty="0"/>
          </a:p>
          <a:p>
            <a:pPr algn="just">
              <a:buFont typeface="Wingdings" panose="05000000000000000000" charset="0"/>
              <a:buChar char="u"/>
            </a:pPr>
            <a:r>
              <a:rPr lang="zh-CN" altLang="en-US" sz="2800" b="1" dirty="0"/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移动</a:t>
            </a:r>
            <a:r>
              <a:rPr lang="zh-CN" altLang="en-US" sz="2800" b="1" dirty="0"/>
              <a:t>：</a:t>
            </a:r>
            <a:r>
              <a:rPr lang="zh-CN" altLang="en-US" sz="2800" b="1" dirty="0"/>
              <a:t>压住鼠标左键拖到合适位置，松开鼠标左键</a:t>
            </a:r>
            <a:endParaRPr lang="zh-CN" altLang="en-US" sz="2800" b="1" dirty="0"/>
          </a:p>
          <a:p>
            <a:pPr algn="just">
              <a:buFont typeface="Wingdings" panose="05000000000000000000" charset="0"/>
              <a:buChar char="u"/>
            </a:pPr>
            <a:r>
              <a:rPr lang="zh-CN" altLang="en-US" sz="2800" b="1" dirty="0"/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旋转</a:t>
            </a:r>
            <a:r>
              <a:rPr lang="zh-CN" altLang="en-US" sz="2800" b="1" dirty="0"/>
              <a:t>：菜单</a:t>
            </a:r>
            <a:r>
              <a:rPr lang="en-US" altLang="zh-CN" sz="2800" b="1" dirty="0"/>
              <a:t>Edit/Rotate</a:t>
            </a:r>
            <a:r>
              <a:rPr lang="zh-CN" altLang="en-US" sz="2800" b="1" dirty="0"/>
              <a:t>（或快捷键</a:t>
            </a:r>
            <a:r>
              <a:rPr lang="en-US" altLang="zh-CN" sz="2800" b="1" dirty="0"/>
              <a:t>Ctrl+R</a:t>
            </a:r>
            <a:r>
              <a:rPr lang="zh-CN" altLang="en-US" sz="2800" b="1" dirty="0"/>
              <a:t>）</a:t>
            </a:r>
            <a:endParaRPr lang="zh-CN" altLang="en-US" sz="2800" b="1" dirty="0"/>
          </a:p>
          <a:p>
            <a:pPr algn="just">
              <a:buFont typeface="Wingdings" panose="05000000000000000000" charset="0"/>
              <a:buChar char="u"/>
            </a:pPr>
            <a:r>
              <a:rPr lang="zh-CN" altLang="en-US" sz="2800" b="1" dirty="0"/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翻转</a:t>
            </a:r>
            <a:r>
              <a:rPr lang="zh-CN" altLang="en-US" sz="2800" b="1" dirty="0"/>
              <a:t>：菜单</a:t>
            </a:r>
            <a:r>
              <a:rPr lang="en-US" altLang="zh-CN" sz="2800" b="1" dirty="0"/>
              <a:t>Edit/mirror</a:t>
            </a:r>
            <a:endParaRPr lang="en-US" altLang="zh-CN" sz="2800" b="1" dirty="0"/>
          </a:p>
          <a:p>
            <a:pPr>
              <a:buFont typeface="Wingdings" panose="05000000000000000000" charset="0"/>
              <a:buChar char="u"/>
            </a:pP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删除</a:t>
            </a:r>
            <a:r>
              <a:rPr lang="zh-CN" altLang="en-US" sz="2800" b="1" dirty="0"/>
              <a:t>：选择菜单</a:t>
            </a:r>
            <a:r>
              <a:rPr lang="en-US" altLang="zh-CN" sz="2800" b="1" dirty="0"/>
              <a:t>Edit/cut </a:t>
            </a:r>
            <a:r>
              <a:rPr lang="zh-CN" altLang="en-US" sz="2800" b="1" dirty="0"/>
              <a:t>；或按键</a:t>
            </a:r>
            <a:r>
              <a:rPr lang="en-US" altLang="zh-CN" sz="2800" b="1" dirty="0"/>
              <a:t>Delete</a:t>
            </a:r>
            <a:endParaRPr lang="en-US" altLang="zh-CN" sz="2800" b="1" dirty="0"/>
          </a:p>
          <a:p>
            <a:pPr>
              <a:buNone/>
            </a:pPr>
            <a:endParaRPr lang="en-US" altLang="zh-CN" sz="2800" dirty="0"/>
          </a:p>
        </p:txBody>
      </p:sp>
      <p:sp>
        <p:nvSpPr>
          <p:cNvPr id="5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取放元器件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zoom dir="in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标题 26625"/>
          <p:cNvSpPr>
            <a:spLocks noGrp="1"/>
          </p:cNvSpPr>
          <p:nvPr>
            <p:ph type="ctrTitle" idx="4294967295"/>
          </p:nvPr>
        </p:nvSpPr>
        <p:spPr>
          <a:xfrm>
            <a:off x="1287780" y="542290"/>
            <a:ext cx="8590915" cy="2660650"/>
          </a:xfrm>
        </p:spPr>
        <p:txBody>
          <a:bodyPr anchor="ctr" anchorCtr="0"/>
          <a:p>
            <a:pPr algn="l" defTabSz="914400">
              <a:lnSpc>
                <a:spcPct val="125000"/>
              </a:lnSpc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）取放电源符号</a:t>
            </a:r>
            <a:b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同取放元器件一样，在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库中取电压源或电流源。</a:t>
            </a:r>
            <a:b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）取放接地符号</a:t>
            </a:r>
            <a:b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启动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Place/Groud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，或按对应的绘图快捷键     ，出现如图所示的选择框。在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库中取“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0”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符号。</a:t>
            </a:r>
            <a:endParaRPr lang="zh-CN" altLang="en-US" sz="2400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0658" name="对象 26626"/>
          <p:cNvGraphicFramePr>
            <a:graphicFrameLocks noChangeAspect="1"/>
          </p:cNvGraphicFramePr>
          <p:nvPr/>
        </p:nvGraphicFramePr>
        <p:xfrm>
          <a:off x="7319645" y="2277110"/>
          <a:ext cx="5365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180975" imgH="161925" progId="PBrush">
                  <p:embed/>
                </p:oleObj>
              </mc:Choice>
              <mc:Fallback>
                <p:oleObj name="" r:id="rId1" imgW="180975" imgH="161925" progId="PBrush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19645" y="2277110"/>
                        <a:ext cx="536575" cy="471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副标题 26627"/>
          <p:cNvGraphicFramePr>
            <a:graphicFrameLocks noGrp="1" noChangeAspect="1"/>
          </p:cNvGraphicFramePr>
          <p:nvPr>
            <p:ph type="subTitle" idx="4294967295"/>
          </p:nvPr>
        </p:nvGraphicFramePr>
        <p:xfrm>
          <a:off x="2585720" y="3284538"/>
          <a:ext cx="5270500" cy="334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4333875" imgH="2752725" progId="PBrush">
                  <p:embed/>
                </p:oleObj>
              </mc:Choice>
              <mc:Fallback>
                <p:oleObj name="" r:id="rId3" imgW="4333875" imgH="2752725" progId="PBrush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rcRect l="3690" t="2376" r="2916" b="2776"/>
                      <a:stretch>
                        <a:fillRect/>
                      </a:stretch>
                    </p:blipFill>
                    <p:spPr>
                      <a:xfrm>
                        <a:off x="2585720" y="3284538"/>
                        <a:ext cx="5270500" cy="33480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取放电源与接地符号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1" name="副标题 27650"/>
          <p:cNvSpPr>
            <a:spLocks noGrp="1"/>
          </p:cNvSpPr>
          <p:nvPr>
            <p:ph type="subTitle" idx="4294967295"/>
          </p:nvPr>
        </p:nvSpPr>
        <p:spPr>
          <a:xfrm>
            <a:off x="375920" y="719455"/>
            <a:ext cx="4966970" cy="980440"/>
          </a:xfrm>
        </p:spPr>
        <p:txBody>
          <a:bodyPr anchor="t" anchorCtr="0"/>
          <a:p>
            <a:pPr marL="0" indent="0" algn="l" defTabSz="914400">
              <a:lnSpc>
                <a:spcPct val="125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latin typeface="+mn-lt"/>
                <a:ea typeface="+mn-ea"/>
                <a:cs typeface="+mn-cs"/>
              </a:rPr>
              <a:t>1</a:t>
            </a: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）</a:t>
            </a:r>
            <a:r>
              <a:rPr lang="zh-CN" altLang="en-US" sz="2400" b="1" kern="1200" baseline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连线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①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启动</a:t>
            </a:r>
            <a:r>
              <a:rPr lang="en-US" altLang="zh-CN" sz="2400" b="1" kern="1200" baseline="0">
                <a:latin typeface="+mn-lt"/>
                <a:ea typeface="+mn-ea"/>
                <a:cs typeface="+mn-cs"/>
              </a:rPr>
              <a:t>Place/Wire</a:t>
            </a: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命令</a:t>
            </a:r>
            <a:endParaRPr lang="zh-CN" altLang="en-US" sz="2400" b="1" kern="1200" baseline="0">
              <a:latin typeface="+mn-lt"/>
              <a:ea typeface="+mn-ea"/>
              <a:cs typeface="+mn-cs"/>
            </a:endParaRPr>
          </a:p>
          <a:p>
            <a:pPr marL="0" indent="0" algn="l" defTabSz="914400">
              <a:lnSpc>
                <a:spcPct val="125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 </a:t>
            </a:r>
            <a:r>
              <a:rPr lang="en-US" altLang="zh-CN" sz="2400" b="1" kern="1200" baseline="0">
                <a:latin typeface="+mn-lt"/>
                <a:ea typeface="+mn-ea"/>
                <a:cs typeface="+mn-cs"/>
              </a:rPr>
              <a:t>       </a:t>
            </a: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 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②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按对应的绘图快捷键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graphicFrame>
        <p:nvGraphicFramePr>
          <p:cNvPr id="27652" name="对象 27651"/>
          <p:cNvGraphicFramePr>
            <a:graphicFrameLocks noChangeAspect="1"/>
          </p:cNvGraphicFramePr>
          <p:nvPr/>
        </p:nvGraphicFramePr>
        <p:xfrm>
          <a:off x="4295458" y="1269048"/>
          <a:ext cx="5048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80975" imgH="180975" progId="PBrush">
                  <p:embed/>
                </p:oleObj>
              </mc:Choice>
              <mc:Fallback>
                <p:oleObj name="" r:id="rId1" imgW="180975" imgH="180975" progId="PBrush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5458" y="1269048"/>
                        <a:ext cx="504825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矩形 27653"/>
          <p:cNvSpPr/>
          <p:nvPr/>
        </p:nvSpPr>
        <p:spPr>
          <a:xfrm>
            <a:off x="867410" y="2269490"/>
            <a:ext cx="485648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启动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Place/Net Alias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命令，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     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或按对应的绘图快捷键        ，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27655" name="对象 27654"/>
          <p:cNvGraphicFramePr>
            <a:graphicFrameLocks noChangeAspect="1"/>
          </p:cNvGraphicFramePr>
          <p:nvPr/>
        </p:nvGraphicFramePr>
        <p:xfrm>
          <a:off x="4654550" y="2779078"/>
          <a:ext cx="4079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200025" imgH="209550" progId="PBrush">
                  <p:embed/>
                </p:oleObj>
              </mc:Choice>
              <mc:Fallback>
                <p:oleObj name="" r:id="rId3" imgW="200025" imgH="209550" progId="PBrush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4550" y="2779078"/>
                        <a:ext cx="407988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矩形 27655"/>
          <p:cNvSpPr/>
          <p:nvPr/>
        </p:nvSpPr>
        <p:spPr>
          <a:xfrm>
            <a:off x="983615" y="3284220"/>
            <a:ext cx="5673090" cy="515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屏幕上出现设置框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, 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键入节点名（例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Out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）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7657" name="矩形 27656"/>
          <p:cNvSpPr/>
          <p:nvPr/>
        </p:nvSpPr>
        <p:spPr>
          <a:xfrm>
            <a:off x="937260" y="3978275"/>
            <a:ext cx="5894705" cy="1734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按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OK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键，则光标处附着一个小方框，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将光标移至设置节点名的位置， 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按鼠标左键，新节点名 即出现在该位置。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连线与设置节点名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9467" name="对象 1"/>
          <p:cNvGraphicFramePr/>
          <p:nvPr/>
        </p:nvGraphicFramePr>
        <p:xfrm>
          <a:off x="12504103" y="1700213"/>
          <a:ext cx="4500562" cy="324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5638800" imgH="4057650" progId="Paint.Picture">
                  <p:embed/>
                </p:oleObj>
              </mc:Choice>
              <mc:Fallback>
                <p:oleObj name="" r:id="rId5" imgW="5638800" imgH="4057650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04103" y="1700213"/>
                        <a:ext cx="4500562" cy="3243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6168390" y="548640"/>
            <a:ext cx="5300378" cy="3528000"/>
            <a:chOff x="3590" y="2679"/>
            <a:chExt cx="8858" cy="589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90" y="2679"/>
              <a:ext cx="8859" cy="5896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4497" y="6761"/>
              <a:ext cx="567" cy="1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464108" y="4005263"/>
            <a:ext cx="4127500" cy="2390775"/>
            <a:chOff x="8126" y="6340"/>
            <a:chExt cx="6500" cy="3765"/>
          </a:xfrm>
        </p:grpSpPr>
        <p:graphicFrame>
          <p:nvGraphicFramePr>
            <p:cNvPr id="27658" name="对象 27657"/>
            <p:cNvGraphicFramePr>
              <a:graphicFrameLocks noChangeAspect="1"/>
            </p:cNvGraphicFramePr>
            <p:nvPr/>
          </p:nvGraphicFramePr>
          <p:xfrm>
            <a:off x="8126" y="6340"/>
            <a:ext cx="6500" cy="3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8" imgW="3943350" imgH="2286000" progId="PBrush">
                    <p:embed/>
                  </p:oleObj>
                </mc:Choice>
                <mc:Fallback>
                  <p:oleObj name="" r:id="rId8" imgW="3943350" imgH="2286000" progId="PBrush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126" y="6340"/>
                          <a:ext cx="6500" cy="37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/>
            <p:cNvSpPr txBox="1"/>
            <p:nvPr/>
          </p:nvSpPr>
          <p:spPr>
            <a:xfrm>
              <a:off x="8312" y="7235"/>
              <a:ext cx="1619" cy="52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p>
              <a:r>
                <a:rPr lang="en-US" altLang="zh-CN" sz="2000">
                  <a:solidFill>
                    <a:srgbClr val="FF0000"/>
                  </a:solidFill>
                </a:rPr>
                <a:t>OUT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sp>
        <p:nvSpPr>
          <p:cNvPr id="27653" name="矩形 27652"/>
          <p:cNvSpPr/>
          <p:nvPr/>
        </p:nvSpPr>
        <p:spPr>
          <a:xfrm>
            <a:off x="375920" y="1766570"/>
            <a:ext cx="6567170" cy="515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5000"/>
              </a:lnSpc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）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设置节点名：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例把输出端节点起名为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OUT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3" grpId="0" animBg="1"/>
      <p:bldP spid="27654" grpId="0" animBg="1"/>
      <p:bldP spid="27656" grpId="0" animBg="1"/>
      <p:bldP spid="2765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28673"/>
          <p:cNvSpPr>
            <a:spLocks noGrp="1"/>
          </p:cNvSpPr>
          <p:nvPr>
            <p:ph type="ctrTitle" idx="4294967295"/>
          </p:nvPr>
        </p:nvSpPr>
        <p:spPr>
          <a:xfrm>
            <a:off x="499745" y="578485"/>
            <a:ext cx="8082915" cy="552450"/>
          </a:xfrm>
        </p:spPr>
        <p:txBody>
          <a:bodyPr anchor="ctr" anchorCtr="0"/>
          <a:p>
            <a:pPr algn="l" defTabSz="914400">
              <a:lnSpc>
                <a:spcPct val="115000"/>
              </a:lnSpc>
              <a:buClrTx/>
              <a:buSzTx/>
              <a:buFontTx/>
              <a:buNone/>
            </a:pPr>
            <a:r>
              <a:rPr lang="zh-CN" altLang="en-US" sz="28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 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Capture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自动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为每个元器件设置一个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元件名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和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参数值</a:t>
            </a:r>
            <a:endParaRPr lang="zh-CN" altLang="en-US" sz="2400" b="1" kern="1200" baseline="0">
              <a:solidFill>
                <a:srgbClr val="FF0000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8675" name="副标题 28674"/>
          <p:cNvSpPr>
            <a:spLocks noGrp="1"/>
          </p:cNvSpPr>
          <p:nvPr>
            <p:ph type="subTitle" idx="4294967295"/>
          </p:nvPr>
        </p:nvSpPr>
        <p:spPr>
          <a:xfrm>
            <a:off x="622935" y="1189355"/>
            <a:ext cx="5948680" cy="2775585"/>
          </a:xfrm>
        </p:spPr>
        <p:txBody>
          <a:bodyPr anchor="t" anchorCtr="0"/>
          <a:p>
            <a:pPr marL="0" indent="0" algn="l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(1) 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元器件群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参数编辑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: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选中所有元器件</a:t>
            </a:r>
            <a:endParaRPr lang="zh-CN" altLang="en-US" sz="2400" b="1" kern="1200" baseline="0">
              <a:solidFill>
                <a:srgbClr val="FF0000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l" defTabSz="914400">
              <a:lnSpc>
                <a:spcPct val="130000"/>
              </a:lnSpc>
              <a:buClrTx/>
              <a:buSzTx/>
              <a:buFontTx/>
              <a:buNone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点击鼠标右键，调出快捷菜单，选择执行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Edit Properties 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命令，即可开启该元器件群的属性编辑对话框，点击对话框左下方的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Part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按钮，更改各元器件名称和参数。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8676" name="矩形 28675"/>
          <p:cNvSpPr/>
          <p:nvPr/>
        </p:nvSpPr>
        <p:spPr>
          <a:xfrm>
            <a:off x="622618" y="4437380"/>
            <a:ext cx="8343900" cy="202501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10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(2)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单个元件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参数编辑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双击该元件，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即出现对话框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Value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文本框中键入新值即可，同时可以修改该元件电路图中显示格式（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Display Format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）、字体（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Font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）、颜色（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Color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）和放置位置（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Rotation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）等。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8677" name="对象 28676"/>
          <p:cNvGraphicFramePr>
            <a:graphicFrameLocks noChangeAspect="1"/>
          </p:cNvGraphicFramePr>
          <p:nvPr/>
        </p:nvGraphicFramePr>
        <p:xfrm>
          <a:off x="6383338" y="1124268"/>
          <a:ext cx="5776097" cy="33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216140" imgH="4183380" progId="PBrush">
                  <p:embed/>
                </p:oleObj>
              </mc:Choice>
              <mc:Fallback>
                <p:oleObj name="" r:id="rId1" imgW="7216140" imgH="4183380" progId="PBrush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83338" y="1124268"/>
                        <a:ext cx="5776097" cy="33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  <p:bldP spid="2867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981200" y="304800"/>
            <a:ext cx="6172200" cy="6937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b="1" dirty="0"/>
              <a:t>（</a:t>
            </a:r>
            <a:r>
              <a:rPr lang="en-US" altLang="zh-CN" sz="3200" b="1" dirty="0"/>
              <a:t>4</a:t>
            </a:r>
            <a:r>
              <a:rPr lang="zh-CN" altLang="en-US" sz="3200" b="1" dirty="0"/>
              <a:t>）修改元器件标号和参数</a:t>
            </a:r>
            <a:r>
              <a:rPr lang="zh-CN" altLang="en-US" sz="4000" b="1" dirty="0"/>
              <a:t> </a:t>
            </a:r>
            <a:endParaRPr lang="zh-CN" altLang="en-US" sz="4000" b="1" dirty="0"/>
          </a:p>
        </p:txBody>
      </p:sp>
      <p:sp>
        <p:nvSpPr>
          <p:cNvPr id="15363" name="Rectangle 3"/>
          <p:cNvSpPr/>
          <p:nvPr/>
        </p:nvSpPr>
        <p:spPr>
          <a:xfrm>
            <a:off x="4062413" y="2247900"/>
            <a:ext cx="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zh-CN" altLang="en-US" dirty="0">
              <a:latin typeface="Times New Roman" panose="02020603050405020304" pitchFamily="2" charset="0"/>
            </a:endParaRPr>
          </a:p>
        </p:txBody>
      </p:sp>
      <p:sp>
        <p:nvSpPr>
          <p:cNvPr id="15364" name="Text Box 5"/>
          <p:cNvSpPr txBox="1"/>
          <p:nvPr/>
        </p:nvSpPr>
        <p:spPr>
          <a:xfrm>
            <a:off x="2057400" y="1219200"/>
            <a:ext cx="8153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2" charset="0"/>
              </a:rPr>
              <a:t>方法</a:t>
            </a:r>
            <a:r>
              <a:rPr lang="en-US" altLang="zh-CN" sz="2800" b="1" dirty="0">
                <a:latin typeface="Times New Roman" panose="02020603050405020304" pitchFamily="2" charset="0"/>
              </a:rPr>
              <a:t>1</a:t>
            </a:r>
            <a:r>
              <a:rPr lang="zh-CN" altLang="en-US" sz="2800" b="1" dirty="0">
                <a:latin typeface="Times New Roman" panose="02020603050405020304" pitchFamily="2" charset="0"/>
              </a:rPr>
              <a:t>：选中元器件，选择菜单中</a:t>
            </a:r>
            <a:r>
              <a:rPr lang="en-US" altLang="zh-CN" sz="2800" b="1" dirty="0">
                <a:latin typeface="Tahoma" panose="020B0604030504040204" pitchFamily="34" charset="0"/>
              </a:rPr>
              <a:t>Edit/Attributes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5365" name="Text Box 6"/>
          <p:cNvSpPr txBox="1"/>
          <p:nvPr/>
        </p:nvSpPr>
        <p:spPr>
          <a:xfrm>
            <a:off x="2133600" y="1752600"/>
            <a:ext cx="6553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2" charset="0"/>
              </a:rPr>
              <a:t>方法</a:t>
            </a:r>
            <a:r>
              <a:rPr lang="en-US" altLang="zh-CN" sz="2800" b="1" dirty="0">
                <a:latin typeface="Times New Roman" panose="02020603050405020304" pitchFamily="2" charset="0"/>
              </a:rPr>
              <a:t>2</a:t>
            </a:r>
            <a:r>
              <a:rPr lang="zh-CN" altLang="en-US" sz="2800" b="1" dirty="0">
                <a:latin typeface="Times New Roman" panose="02020603050405020304" pitchFamily="2" charset="0"/>
              </a:rPr>
              <a:t>：双击该元件符号</a:t>
            </a:r>
            <a:endParaRPr lang="zh-CN" altLang="en-US" sz="2800" b="1" dirty="0">
              <a:latin typeface="Times New Roman" panose="02020603050405020304" pitchFamily="2" charset="0"/>
            </a:endParaRPr>
          </a:p>
        </p:txBody>
      </p:sp>
      <p:sp>
        <p:nvSpPr>
          <p:cNvPr id="15366" name="Text Box 7"/>
          <p:cNvSpPr txBox="1"/>
          <p:nvPr/>
        </p:nvSpPr>
        <p:spPr>
          <a:xfrm>
            <a:off x="6400800" y="1752600"/>
            <a:ext cx="3733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2" charset="0"/>
              </a:rPr>
              <a:t>方法</a:t>
            </a:r>
            <a:r>
              <a:rPr lang="en-US" altLang="zh-CN" sz="2800" b="1" dirty="0">
                <a:latin typeface="Times New Roman" panose="02020603050405020304" pitchFamily="2" charset="0"/>
              </a:rPr>
              <a:t>3</a:t>
            </a:r>
            <a:r>
              <a:rPr lang="zh-CN" altLang="en-US" sz="2800" b="1" dirty="0">
                <a:latin typeface="Times New Roman" panose="02020603050405020304" pitchFamily="2" charset="0"/>
              </a:rPr>
              <a:t>：双击参数文字</a:t>
            </a:r>
            <a:endParaRPr lang="zh-CN" altLang="en-US" sz="2800" b="1" dirty="0">
              <a:latin typeface="Times New Roman" panose="02020603050405020304" pitchFamily="2" charset="0"/>
            </a:endParaRPr>
          </a:p>
        </p:txBody>
      </p:sp>
      <p:sp>
        <p:nvSpPr>
          <p:cNvPr id="15367" name="Line 8"/>
          <p:cNvSpPr/>
          <p:nvPr/>
        </p:nvSpPr>
        <p:spPr>
          <a:xfrm>
            <a:off x="2286000" y="1066800"/>
            <a:ext cx="7696200" cy="0"/>
          </a:xfrm>
          <a:prstGeom prst="line">
            <a:avLst/>
          </a:prstGeom>
          <a:ln w="88900" cap="sq" cmpd="tri">
            <a:solidFill>
              <a:srgbClr val="FF00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368" name="Rectangle 9"/>
          <p:cNvSpPr>
            <a:spLocks noGrp="1"/>
          </p:cNvSpPr>
          <p:nvPr>
            <p:ph idx="1"/>
          </p:nvPr>
        </p:nvSpPr>
        <p:spPr>
          <a:xfrm>
            <a:off x="1524000" y="2286000"/>
            <a:ext cx="9144000" cy="45720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en-US" altLang="zh-CN" sz="3600" b="1" dirty="0"/>
              <a:t>      			</a:t>
            </a:r>
            <a:r>
              <a:rPr lang="zh-CN" altLang="en-US" sz="3600" b="1" dirty="0">
                <a:solidFill>
                  <a:srgbClr val="FF0000"/>
                </a:solidFill>
              </a:rPr>
              <a:t>特别注意！</a:t>
            </a:r>
            <a:endParaRPr lang="zh-CN" altLang="en-US" sz="3600" b="1" dirty="0">
              <a:solidFill>
                <a:srgbClr val="FF0000"/>
              </a:solidFill>
            </a:endParaRPr>
          </a:p>
          <a:p>
            <a:pPr algn="just" eaLnBrk="1" hangingPunct="1">
              <a:buNone/>
            </a:pPr>
            <a:r>
              <a:rPr lang="zh-CN" altLang="en-US" sz="1800" b="1" dirty="0"/>
              <a:t>●  </a:t>
            </a:r>
            <a:r>
              <a:rPr lang="zh-CN" altLang="en-US" sz="3600" b="1" dirty="0"/>
              <a:t>可变电阻</a:t>
            </a:r>
            <a:r>
              <a:rPr lang="en-US" altLang="zh-CN" sz="3600" b="1" dirty="0"/>
              <a:t>:  </a:t>
            </a:r>
            <a:r>
              <a:rPr lang="en-US" altLang="zh-CN" b="1" dirty="0"/>
              <a:t>VALUE=100K</a:t>
            </a:r>
            <a:r>
              <a:rPr lang="zh-CN" altLang="en-US" b="1" dirty="0"/>
              <a:t>，</a:t>
            </a:r>
            <a:r>
              <a:rPr lang="en-US" altLang="zh-CN" b="1" dirty="0"/>
              <a:t>SET=0.5</a:t>
            </a:r>
            <a:endParaRPr lang="en-US" altLang="zh-CN" b="1" dirty="0"/>
          </a:p>
          <a:p>
            <a:pPr algn="just" eaLnBrk="1" hangingPunct="1">
              <a:buNone/>
            </a:pPr>
            <a:r>
              <a:rPr lang="en-US" altLang="zh-CN" sz="1800" b="1" dirty="0"/>
              <a:t>●</a:t>
            </a:r>
            <a:r>
              <a:rPr lang="en-US" altLang="zh-CN" sz="3600" b="1" dirty="0"/>
              <a:t> VSIN</a:t>
            </a:r>
            <a:r>
              <a:rPr lang="zh-CN" altLang="en-US" sz="3600" b="1" dirty="0"/>
              <a:t>信号源：</a:t>
            </a:r>
            <a:r>
              <a:rPr lang="en-US" altLang="zh-CN" b="1" dirty="0"/>
              <a:t>AC=30mv</a:t>
            </a:r>
            <a:r>
              <a:rPr lang="zh-CN" altLang="en-US" b="1" dirty="0"/>
              <a:t>、</a:t>
            </a:r>
            <a:r>
              <a:rPr lang="en-US" altLang="zh-CN" b="1" dirty="0"/>
              <a:t>VOFF=0v</a:t>
            </a:r>
            <a:r>
              <a:rPr lang="zh-CN" altLang="en-US" b="1" dirty="0"/>
              <a:t>、</a:t>
            </a:r>
            <a:endParaRPr lang="zh-CN" altLang="en-US" b="1" dirty="0"/>
          </a:p>
          <a:p>
            <a:pPr algn="just" eaLnBrk="1" hangingPunct="1">
              <a:buNone/>
            </a:pPr>
            <a:r>
              <a:rPr lang="zh-CN" altLang="en-US" b="1" dirty="0"/>
              <a:t>				  </a:t>
            </a:r>
            <a:r>
              <a:rPr lang="en-US" altLang="zh-CN" b="1" dirty="0"/>
              <a:t>FREQ=1kHz</a:t>
            </a:r>
            <a:r>
              <a:rPr lang="zh-CN" altLang="en-US" b="1" dirty="0"/>
              <a:t>、</a:t>
            </a:r>
            <a:r>
              <a:rPr lang="en-US" altLang="zh-CN" b="1" dirty="0"/>
              <a:t>VAMPL=30mv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algn="just" eaLnBrk="1" hangingPunct="1">
              <a:buNone/>
            </a:pPr>
            <a:r>
              <a:rPr lang="zh-CN" altLang="en-US" sz="1800" b="1" dirty="0"/>
              <a:t>●  </a:t>
            </a:r>
            <a:r>
              <a:rPr lang="zh-CN" altLang="en-US" sz="3600" b="1" dirty="0"/>
              <a:t>三极管参数</a:t>
            </a:r>
            <a:r>
              <a:rPr lang="zh-CN" altLang="en-US" sz="3600" b="1" dirty="0">
                <a:sym typeface="Symbol" panose="05050102010706020507" pitchFamily="2" charset="2"/>
              </a:rPr>
              <a:t>设置方法</a:t>
            </a:r>
            <a:r>
              <a:rPr lang="en-US" altLang="zh-CN" sz="3600" b="1" dirty="0">
                <a:sym typeface="Symbol" panose="05050102010706020507" pitchFamily="2" charset="2"/>
              </a:rPr>
              <a:t>1</a:t>
            </a:r>
            <a:r>
              <a:rPr lang="zh-CN" altLang="en-US" sz="3600" b="1" dirty="0">
                <a:sym typeface="Symbol" panose="05050102010706020507" pitchFamily="2" charset="2"/>
              </a:rPr>
              <a:t>：</a:t>
            </a:r>
            <a:endParaRPr lang="zh-CN" altLang="en-US" sz="3600" b="1" dirty="0"/>
          </a:p>
          <a:p>
            <a:pPr algn="just" eaLnBrk="1" hangingPunct="1">
              <a:buNone/>
            </a:pPr>
            <a:r>
              <a:rPr lang="zh-CN" altLang="en-US" b="1" dirty="0"/>
              <a:t>		选择菜单</a:t>
            </a:r>
            <a:r>
              <a:rPr lang="en-US" altLang="zh-CN" b="1" dirty="0"/>
              <a:t>Edit/Pspice Model </a:t>
            </a:r>
            <a:r>
              <a:rPr lang="zh-CN" altLang="en-US" b="1" dirty="0"/>
              <a:t>；</a:t>
            </a:r>
            <a:endParaRPr lang="zh-CN" altLang="en-US" b="1" dirty="0"/>
          </a:p>
          <a:p>
            <a:pPr algn="just" eaLnBrk="1" hangingPunct="1">
              <a:buNone/>
            </a:pPr>
            <a:r>
              <a:rPr lang="zh-CN" altLang="en-US" b="1" dirty="0"/>
              <a:t>		改参数 </a:t>
            </a:r>
            <a:r>
              <a:rPr lang="en-US" altLang="zh-CN" b="1" dirty="0"/>
              <a:t>bf  </a:t>
            </a:r>
            <a:r>
              <a:rPr lang="zh-CN" altLang="en-US" b="1" dirty="0"/>
              <a:t>为</a:t>
            </a:r>
            <a:r>
              <a:rPr lang="en-US" altLang="zh-CN" b="1" dirty="0"/>
              <a:t>140</a:t>
            </a:r>
            <a:r>
              <a:rPr lang="zh-CN" altLang="en-US" b="1" dirty="0"/>
              <a:t>，保存。</a:t>
            </a:r>
            <a:endParaRPr lang="zh-CN" altLang="en-US" b="1" dirty="0"/>
          </a:p>
        </p:txBody>
      </p:sp>
    </p:spTree>
  </p:cSld>
  <p:clrMapOvr>
    <a:masterClrMapping/>
  </p:clrMapOvr>
  <p:transition>
    <p:zoom dir="in"/>
    <p:sndAc>
      <p:stSnd>
        <p:snd r:embed="rId1" name="projctor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29697"/>
          <p:cNvSpPr>
            <a:spLocks noGrp="1"/>
          </p:cNvSpPr>
          <p:nvPr>
            <p:ph type="ctrTitle" idx="4294967295"/>
          </p:nvPr>
        </p:nvSpPr>
        <p:spPr>
          <a:xfrm>
            <a:off x="598170" y="539750"/>
            <a:ext cx="4822825" cy="652780"/>
          </a:xfr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zh-CN" altLang="en-US" sz="2600" b="1" kern="1200" baseline="0">
                <a:latin typeface="+mj-lt"/>
                <a:ea typeface="+mj-ea"/>
                <a:cs typeface="+mj-cs"/>
              </a:rPr>
              <a:t>（</a:t>
            </a:r>
            <a:r>
              <a:rPr lang="en-US" altLang="zh-CN" sz="2600" b="1" kern="1200" baseline="0">
                <a:latin typeface="+mj-lt"/>
                <a:ea typeface="+mj-ea"/>
                <a:cs typeface="+mj-cs"/>
              </a:rPr>
              <a:t>3</a:t>
            </a:r>
            <a:r>
              <a:rPr lang="zh-CN" altLang="en-US" sz="2600" b="1" kern="1200" baseline="0">
                <a:latin typeface="+mj-lt"/>
                <a:ea typeface="+mj-ea"/>
                <a:cs typeface="+mj-cs"/>
              </a:rPr>
              <a:t>）还可以只修改</a:t>
            </a:r>
            <a:r>
              <a:rPr lang="zh-CN" altLang="en-US" sz="2600" b="1" kern="1200" baseline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某项</a:t>
            </a:r>
            <a:r>
              <a:rPr lang="zh-CN" altLang="en-US" sz="2600" b="1" kern="1200" baseline="0">
                <a:latin typeface="+mj-lt"/>
                <a:ea typeface="+mj-ea"/>
                <a:cs typeface="+mj-cs"/>
              </a:rPr>
              <a:t>参数</a:t>
            </a:r>
            <a:endParaRPr lang="zh-CN" altLang="en-US" sz="2600" b="1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1125220"/>
            <a:ext cx="8448675" cy="5572125"/>
          </a:xfrm>
          <a:prstGeom prst="rect">
            <a:avLst/>
          </a:prstGeom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ctrTitle" idx="4294967295"/>
          </p:nvPr>
        </p:nvSpPr>
        <p:spPr>
          <a:xfrm>
            <a:off x="816610" y="664210"/>
            <a:ext cx="6420485" cy="609600"/>
          </a:xfrm>
        </p:spPr>
        <p:txBody>
          <a:bodyPr wrap="square" lIns="91440" tIns="45720" rIns="91440" bIns="45720" anchor="t" anchorCtr="0"/>
          <a:p>
            <a:pPr defTabSz="914400">
              <a:buClrTx/>
              <a:buSzTx/>
              <a:buFontTx/>
              <a:buNone/>
            </a:pPr>
            <a:r>
              <a:rPr lang="en-US" altLang="zh-CN" sz="2800" b="1" kern="1200" baseline="0">
                <a:solidFill>
                  <a:schemeClr val="tx1"/>
                </a:solidFill>
                <a:latin typeface="+mj-lt"/>
                <a:ea typeface="黑体" panose="02010609060101010101" pitchFamily="2" charset="-122"/>
                <a:cs typeface="+mj-cs"/>
              </a:rPr>
              <a:t>OrCAD</a:t>
            </a:r>
            <a:r>
              <a:rPr lang="en-US" altLang="zh-CN" sz="28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/</a:t>
            </a:r>
            <a:r>
              <a:rPr lang="en-US" altLang="zh-CN" sz="2800" b="1" kern="1200" baseline="0">
                <a:solidFill>
                  <a:schemeClr val="tx1"/>
                </a:solidFill>
                <a:latin typeface="+mj-lt"/>
                <a:ea typeface="黑体" panose="02010609060101010101" pitchFamily="2" charset="-122"/>
                <a:cs typeface="+mj-cs"/>
              </a:rPr>
              <a:t>PSpice</a:t>
            </a:r>
            <a:r>
              <a:rPr lang="en-US" altLang="zh-CN" sz="28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 9.2</a:t>
            </a:r>
            <a:r>
              <a:rPr lang="zh-CN" altLang="en-US" sz="28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中的</a:t>
            </a:r>
            <a:r>
              <a:rPr lang="zh-CN" altLang="en-US" sz="2800" b="1" kern="1200" baseline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单位和数字</a:t>
            </a:r>
            <a:endParaRPr lang="zh-CN" altLang="en-US" sz="2800" b="1" kern="1200" baseline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+mj-cs"/>
            </a:endParaRPr>
          </a:p>
        </p:txBody>
      </p:sp>
      <p:sp>
        <p:nvSpPr>
          <p:cNvPr id="186371" name="Rectangle 3"/>
          <p:cNvSpPr>
            <a:spLocks noGrp="1"/>
          </p:cNvSpPr>
          <p:nvPr>
            <p:ph type="subTitle" idx="4294967295"/>
          </p:nvPr>
        </p:nvSpPr>
        <p:spPr>
          <a:xfrm>
            <a:off x="1127125" y="1268730"/>
            <a:ext cx="8443913" cy="5119688"/>
          </a:xfrm>
        </p:spPr>
        <p:txBody>
          <a:bodyPr wrap="square" lIns="91440" tIns="45720" rIns="91440" bIns="45720" anchor="t" anchorCtr="0"/>
          <a:p>
            <a:pPr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6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工程单位制：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如电压用伏（</a:t>
            </a:r>
            <a:r>
              <a:rPr lang="en-US" altLang="zh-CN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）、电流用安培（</a:t>
            </a:r>
            <a:r>
              <a:rPr lang="en-US" altLang="zh-CN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）、电阻用欧姆（</a:t>
            </a:r>
            <a:r>
              <a:rPr lang="en-US" altLang="zh-CN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Ω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）、功率用瓦特（</a:t>
            </a:r>
            <a:r>
              <a:rPr lang="en-US" altLang="zh-CN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）等。在运行中，</a:t>
            </a:r>
            <a:r>
              <a:rPr lang="en-US" altLang="zh-CN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Pspice</a:t>
            </a:r>
            <a:r>
              <a:rPr lang="zh-CN" altLang="en-US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会根据具体对象</a:t>
            </a:r>
            <a:r>
              <a:rPr lang="zh-CN" altLang="en-US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自动确定</a:t>
            </a:r>
            <a:r>
              <a:rPr lang="zh-CN" altLang="en-US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</a:t>
            </a:r>
            <a:r>
              <a:rPr lang="zh-CN" altLang="en-US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单位。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用户在输入数据时，</a:t>
            </a:r>
            <a:r>
              <a:rPr lang="zh-CN" altLang="en-US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r>
              <a:rPr lang="zh-CN" altLang="en-US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单位字母</a:t>
            </a:r>
            <a:r>
              <a:rPr lang="zh-CN" altLang="en-US" sz="2600" kern="1200" baseline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可以省去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。例如给电压源赋值时，键入</a:t>
            </a:r>
            <a:r>
              <a:rPr lang="en-US" altLang="zh-CN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12V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意思一样。</a:t>
            </a:r>
            <a:endParaRPr lang="zh-CN" altLang="en-US" sz="2600" kern="1200" baseline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6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数字采用</a:t>
            </a:r>
            <a:r>
              <a:rPr lang="zh-CN" altLang="en-US" sz="2600" b="1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科学表示方式</a:t>
            </a:r>
            <a:r>
              <a:rPr lang="zh-CN" altLang="en-US" sz="2600" kern="1200" baseline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即可以使用整数、小数和以</a:t>
            </a:r>
            <a:r>
              <a:rPr lang="en-US" altLang="zh-CN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为底的指数。用指数表示时，底数</a:t>
            </a:r>
            <a:r>
              <a:rPr lang="en-US" altLang="zh-CN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用字母</a:t>
            </a:r>
            <a:r>
              <a:rPr lang="en-US" altLang="zh-CN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来表示。对于比较大或比较小的数字，还可采用</a:t>
            </a:r>
            <a:r>
              <a:rPr lang="en-US" altLang="zh-CN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600" kern="1200" baseline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种比例因子</a:t>
            </a:r>
            <a:r>
              <a:rPr lang="zh-CN" altLang="en-US" sz="2600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，如下表所示。</a:t>
            </a:r>
            <a:endParaRPr lang="zh-CN" altLang="en-US" sz="2600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6371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6371">
                                            <p:txEl>
                                              <p:charRg st="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charRg st="132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6371">
                                            <p:txEl>
                                              <p:charRg st="132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6371">
                                            <p:txEl>
                                              <p:charRg st="132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5" name="Rectangle 3"/>
          <p:cNvSpPr>
            <a:spLocks noGrp="1"/>
          </p:cNvSpPr>
          <p:nvPr>
            <p:ph idx="4294967295"/>
          </p:nvPr>
        </p:nvSpPr>
        <p:spPr>
          <a:xfrm>
            <a:off x="1908175" y="5267325"/>
            <a:ext cx="8150225" cy="730250"/>
          </a:xfrm>
        </p:spPr>
        <p:txBody>
          <a:bodyPr wrap="square" lIns="91440" tIns="45720" rIns="91440" bIns="45720" anchor="t" anchorCtr="0"/>
          <a:p>
            <a:pPr>
              <a:lnSpc>
                <a:spcPct val="131000"/>
              </a:lnSpc>
              <a:buNone/>
            </a:pPr>
            <a:r>
              <a:rPr lang="zh-CN" altLang="en-US" b="1">
                <a:latin typeface="宋体" panose="02010600030101010101" pitchFamily="2" charset="-122"/>
              </a:rPr>
              <a:t>例如</a:t>
            </a:r>
            <a:r>
              <a:rPr lang="en-US" altLang="zh-CN" b="1">
                <a:latin typeface="宋体" panose="02010600030101010101" pitchFamily="2" charset="-122"/>
              </a:rPr>
              <a:t>1000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1</a:t>
            </a:r>
            <a:r>
              <a:rPr lang="en-US" altLang="zh-CN" b="1"/>
              <a:t>E</a:t>
            </a:r>
            <a:r>
              <a:rPr lang="en-US" altLang="zh-CN" b="1">
                <a:latin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1e3</a:t>
            </a:r>
            <a:r>
              <a:rPr lang="zh-CN" altLang="en-US" b="1">
                <a:latin typeface="宋体" panose="02010600030101010101" pitchFamily="2" charset="-122"/>
              </a:rPr>
              <a:t>、</a:t>
            </a:r>
            <a:r>
              <a:rPr lang="en-US" altLang="zh-CN" b="1">
                <a:latin typeface="宋体" panose="02010600030101010101" pitchFamily="2" charset="-122"/>
              </a:rPr>
              <a:t>1</a:t>
            </a:r>
            <a:r>
              <a:rPr lang="en-US" altLang="zh-CN" b="1"/>
              <a:t>K</a:t>
            </a:r>
            <a:r>
              <a:rPr lang="zh-CN" altLang="en-US" b="1">
                <a:latin typeface="宋体" panose="02010600030101010101" pitchFamily="2" charset="-122"/>
              </a:rPr>
              <a:t>都表示同一个数。</a:t>
            </a:r>
            <a:endParaRPr lang="zh-CN" altLang="en-US" b="1">
              <a:solidFill>
                <a:srgbClr val="FF0066"/>
              </a:solidFill>
              <a:latin typeface="宋体" panose="02010600030101010101" pitchFamily="2" charset="-122"/>
            </a:endParaRPr>
          </a:p>
        </p:txBody>
      </p:sp>
      <p:sp>
        <p:nvSpPr>
          <p:cNvPr id="77826" name="Rectangle 99"/>
          <p:cNvSpPr>
            <a:spLocks noGrp="1"/>
          </p:cNvSpPr>
          <p:nvPr>
            <p:ph type="title" idx="4294967295"/>
          </p:nvPr>
        </p:nvSpPr>
        <p:spPr>
          <a:xfrm>
            <a:off x="1871663" y="685800"/>
            <a:ext cx="8567737" cy="685800"/>
          </a:xfrm>
        </p:spPr>
        <p:txBody>
          <a:bodyPr wrap="square" lIns="91440" tIns="45720" rIns="91440" bIns="45720" anchor="t" anchorCtr="0"/>
          <a:p>
            <a:pPr algn="l"/>
            <a:r>
              <a:rPr lang="zh-CN" altLang="en-US" sz="2800" b="1">
                <a:solidFill>
                  <a:srgbClr val="FF0000"/>
                </a:solidFill>
                <a:ea typeface="黑体" panose="02010609060101010101" pitchFamily="2" charset="-122"/>
              </a:rPr>
              <a:t> </a:t>
            </a:r>
            <a:r>
              <a:rPr lang="en-US" altLang="zh-CN" sz="2800" b="1">
                <a:ea typeface="黑体" panose="02010609060101010101" pitchFamily="2" charset="-122"/>
              </a:rPr>
              <a:t>OrCAD</a:t>
            </a:r>
            <a:r>
              <a:rPr lang="en-US" altLang="zh-CN" sz="2800" b="1">
                <a:latin typeface="黑体" panose="02010609060101010101" pitchFamily="2" charset="-122"/>
                <a:ea typeface="黑体" panose="02010609060101010101" pitchFamily="2" charset="-122"/>
              </a:rPr>
              <a:t>/</a:t>
            </a:r>
            <a:r>
              <a:rPr lang="en-US" altLang="zh-CN" sz="2800" b="1">
                <a:ea typeface="黑体" panose="02010609060101010101" pitchFamily="2" charset="-122"/>
              </a:rPr>
              <a:t>PSpice</a:t>
            </a:r>
            <a:r>
              <a:rPr lang="en-US" altLang="zh-CN" sz="2800" b="1">
                <a:latin typeface="黑体" panose="02010609060101010101" pitchFamily="2" charset="-122"/>
                <a:ea typeface="黑体" panose="02010609060101010101" pitchFamily="2" charset="-122"/>
              </a:rPr>
              <a:t> 9.2</a:t>
            </a:r>
            <a:r>
              <a:rPr lang="zh-CN" altLang="en-US" sz="2800" b="1">
                <a:latin typeface="黑体" panose="02010609060101010101" pitchFamily="2" charset="-122"/>
                <a:ea typeface="黑体" panose="02010609060101010101" pitchFamily="2" charset="-122"/>
              </a:rPr>
              <a:t>中采用的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比例因子</a:t>
            </a:r>
            <a:endParaRPr lang="zh-CN" altLang="en-US" sz="2800" b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49296" name="Group 144"/>
          <p:cNvGraphicFramePr>
            <a:graphicFrameLocks noGrp="1"/>
          </p:cNvGraphicFramePr>
          <p:nvPr/>
        </p:nvGraphicFramePr>
        <p:xfrm>
          <a:off x="2201863" y="1674813"/>
          <a:ext cx="7421245" cy="3516312"/>
        </p:xfrm>
        <a:graphic>
          <a:graphicData uri="http://schemas.openxmlformats.org/drawingml/2006/table">
            <a:tbl>
              <a:tblPr/>
              <a:tblGrid>
                <a:gridCol w="1409700"/>
                <a:gridCol w="2417445"/>
                <a:gridCol w="219075"/>
                <a:gridCol w="1183005"/>
                <a:gridCol w="2192020"/>
              </a:tblGrid>
              <a:tr h="601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符号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比例因子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符号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比例因子</a:t>
                      </a:r>
                      <a:endParaRPr kumimoji="0" lang="zh-CN" altLang="en-US" sz="3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-15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33CC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-3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rgbClr val="FF33CC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-12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+3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-9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MEG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+6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U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-6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+9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89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MIL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25.4× 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-6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0" lang="en-US" altLang="zh-CN" sz="28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+12</a:t>
                      </a:r>
                      <a:endParaRPr kumimoji="0" lang="en-US" altLang="zh-CN" sz="2800" b="1" i="0" u="none" strike="noStrike" cap="none" normalizeH="0" baseline="3000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9155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Grp="1"/>
          </p:cNvSpPr>
          <p:nvPr>
            <p:ph type="ctrTitle" idx="4294967295"/>
          </p:nvPr>
        </p:nvSpPr>
        <p:spPr>
          <a:xfrm>
            <a:off x="1858963" y="723900"/>
            <a:ext cx="7772400" cy="715963"/>
          </a:xfrm>
        </p:spPr>
        <p:txBody>
          <a:bodyPr wrap="square" lIns="91440" tIns="45720" rIns="91440" bIns="45720" anchor="t" anchorCtr="0"/>
          <a:p>
            <a:pPr algn="l" defTabSz="914400">
              <a:buClrTx/>
              <a:buSzTx/>
              <a:buFontTx/>
              <a:buNone/>
            </a:pPr>
            <a:r>
              <a:rPr lang="zh-CN" altLang="en-US" sz="36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特别注意：</a:t>
            </a:r>
            <a:endParaRPr lang="zh-CN" altLang="en-US" sz="36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219139" name="Rectangle 3"/>
          <p:cNvSpPr>
            <a:spLocks noGrp="1"/>
          </p:cNvSpPr>
          <p:nvPr>
            <p:ph type="subTitle" idx="4294967295"/>
          </p:nvPr>
        </p:nvSpPr>
        <p:spPr>
          <a:xfrm>
            <a:off x="1858963" y="1416050"/>
            <a:ext cx="8397875" cy="2317750"/>
          </a:xfrm>
        </p:spPr>
        <p:txBody>
          <a:bodyPr wrap="square" lIns="91440" tIns="45720" rIns="91440" bIns="45720" anchor="t" anchorCtr="0"/>
          <a:p>
            <a:pPr marL="0" indent="0" algn="just" defTabSz="914400">
              <a:lnSpc>
                <a:spcPct val="131000"/>
              </a:lnSpc>
              <a:buClrTx/>
              <a:buSzTx/>
              <a:buFontTx/>
              <a:buNone/>
            </a:pP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800" b="1" kern="1200" baseline="0">
                <a:latin typeface="宋体" panose="02010600030101010101" pitchFamily="2" charset="-122"/>
                <a:ea typeface="+mn-ea"/>
                <a:cs typeface="+mn-cs"/>
              </a:rPr>
              <a:t>1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）比例因子</a:t>
            </a:r>
            <a:r>
              <a:rPr lang="zh-CN" altLang="en-US" sz="28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可用大写</a:t>
            </a:r>
            <a:r>
              <a:rPr lang="zh-CN" altLang="en-US" sz="28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n-ea"/>
                <a:cs typeface="+mn-cs"/>
              </a:rPr>
              <a:t>也可用</a:t>
            </a:r>
            <a:r>
              <a:rPr lang="zh-CN" altLang="en-US" sz="28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小写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，如</a:t>
            </a:r>
            <a:r>
              <a:rPr lang="en-US" altLang="zh-CN" sz="2800" b="1" kern="1200" baseline="0">
                <a:latin typeface="+mn-lt"/>
                <a:ea typeface="+mn-ea"/>
                <a:cs typeface="+mn-cs"/>
              </a:rPr>
              <a:t>m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和</a:t>
            </a:r>
            <a:r>
              <a:rPr lang="en-US" altLang="zh-CN" sz="2800" b="1" kern="1200" baseline="0">
                <a:latin typeface="+mn-lt"/>
                <a:ea typeface="+mn-ea"/>
                <a:cs typeface="+mn-cs"/>
              </a:rPr>
              <a:t>M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都表示</a:t>
            </a:r>
            <a:r>
              <a:rPr lang="en-US" altLang="zh-CN" sz="2800" b="1" kern="1200" baseline="0">
                <a:latin typeface="宋体" panose="02010600030101010101" pitchFamily="2" charset="-122"/>
                <a:ea typeface="+mn-ea"/>
                <a:cs typeface="+mn-cs"/>
              </a:rPr>
              <a:t>10</a:t>
            </a:r>
            <a:r>
              <a:rPr lang="en-US" altLang="zh-CN" sz="2800" b="1" kern="1200" baseline="30000">
                <a:latin typeface="宋体" panose="02010600030101010101" pitchFamily="2" charset="-122"/>
                <a:ea typeface="+mn-ea"/>
                <a:cs typeface="+mn-cs"/>
              </a:rPr>
              <a:t>-3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。而国标规定，</a:t>
            </a:r>
            <a:r>
              <a:rPr lang="en-US" altLang="zh-CN" sz="2800" b="1" kern="1200" baseline="0">
                <a:latin typeface="+mn-lt"/>
                <a:ea typeface="+mn-ea"/>
                <a:cs typeface="+mn-cs"/>
              </a:rPr>
              <a:t>m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表示</a:t>
            </a:r>
            <a:r>
              <a:rPr lang="en-US" altLang="zh-CN" sz="2800" b="1" kern="1200" baseline="0">
                <a:latin typeface="宋体" panose="02010600030101010101" pitchFamily="2" charset="-122"/>
                <a:ea typeface="+mn-ea"/>
                <a:cs typeface="+mn-cs"/>
              </a:rPr>
              <a:t>10</a:t>
            </a:r>
            <a:r>
              <a:rPr lang="en-US" altLang="zh-CN" sz="2800" b="1" kern="1200" baseline="30000">
                <a:latin typeface="宋体" panose="02010600030101010101" pitchFamily="2" charset="-122"/>
                <a:ea typeface="+mn-ea"/>
                <a:cs typeface="+mn-cs"/>
              </a:rPr>
              <a:t>-3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，</a:t>
            </a:r>
            <a:r>
              <a:rPr lang="en-US" altLang="zh-CN" sz="2800" b="1" kern="1200" baseline="0">
                <a:latin typeface="+mn-lt"/>
                <a:ea typeface="+mn-ea"/>
                <a:cs typeface="+mn-cs"/>
              </a:rPr>
              <a:t>M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表示</a:t>
            </a:r>
            <a:r>
              <a:rPr lang="en-US" altLang="zh-CN" sz="2800" b="1" kern="1200" baseline="0">
                <a:latin typeface="宋体" panose="02010600030101010101" pitchFamily="2" charset="-122"/>
                <a:ea typeface="+mn-ea"/>
                <a:cs typeface="+mn-cs"/>
              </a:rPr>
              <a:t>10</a:t>
            </a:r>
            <a:r>
              <a:rPr lang="en-US" altLang="zh-CN" sz="2800" b="1" kern="1200" baseline="30000">
                <a:latin typeface="宋体" panose="02010600030101010101" pitchFamily="2" charset="-122"/>
                <a:ea typeface="+mn-ea"/>
                <a:cs typeface="+mn-cs"/>
              </a:rPr>
              <a:t>+6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，我们通常的习惯也是这样。为了防止混淆，在该软件中用</a:t>
            </a:r>
            <a:r>
              <a:rPr lang="en-US" altLang="zh-CN" sz="2800" b="1" kern="1200" baseline="0">
                <a:latin typeface="+mn-lt"/>
                <a:ea typeface="+mn-ea"/>
                <a:cs typeface="+mn-cs"/>
              </a:rPr>
              <a:t>MEG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表示</a:t>
            </a:r>
            <a:r>
              <a:rPr lang="en-US" altLang="zh-CN" sz="2800" b="1" kern="1200" baseline="0">
                <a:latin typeface="宋体" panose="02010600030101010101" pitchFamily="2" charset="-122"/>
                <a:ea typeface="+mn-ea"/>
                <a:cs typeface="+mn-cs"/>
              </a:rPr>
              <a:t>10</a:t>
            </a:r>
            <a:r>
              <a:rPr lang="en-US" altLang="zh-CN" sz="2800" b="1" kern="1200" baseline="30000">
                <a:latin typeface="宋体" panose="02010600030101010101" pitchFamily="2" charset="-122"/>
                <a:ea typeface="+mn-ea"/>
                <a:cs typeface="+mn-cs"/>
              </a:rPr>
              <a:t>+6</a:t>
            </a:r>
            <a:r>
              <a:rPr lang="zh-CN" altLang="en-US" sz="2800" b="1" kern="1200" baseline="0">
                <a:latin typeface="宋体" panose="02010600030101010101" pitchFamily="2" charset="-122"/>
                <a:ea typeface="+mn-ea"/>
                <a:cs typeface="+mn-cs"/>
              </a:rPr>
              <a:t>。这一点在使用时应特别小心。</a:t>
            </a:r>
            <a:endParaRPr lang="zh-CN" altLang="en-US" sz="2800" b="1" kern="1200" baseline="0">
              <a:latin typeface="宋体" panose="02010600030101010101" pitchFamily="2" charset="-122"/>
              <a:ea typeface="+mn-ea"/>
              <a:cs typeface="+mn-cs"/>
            </a:endParaRPr>
          </a:p>
          <a:p>
            <a:pPr defTabSz="914400">
              <a:buClrTx/>
              <a:buSzTx/>
              <a:buFontTx/>
            </a:pPr>
            <a:endParaRPr lang="zh-CN" altLang="en-US" sz="28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219140" name="Text Box 4"/>
          <p:cNvSpPr txBox="1"/>
          <p:nvPr/>
        </p:nvSpPr>
        <p:spPr>
          <a:xfrm>
            <a:off x="1858963" y="3876675"/>
            <a:ext cx="8626475" cy="18992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）比例因子只能用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英文字母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，如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10</a:t>
            </a:r>
            <a:r>
              <a:rPr lang="en-US" altLang="zh-CN" sz="2800" b="1" baseline="30000">
                <a:latin typeface="Times New Roman" panose="02020603050405020304" pitchFamily="2" charset="0"/>
                <a:ea typeface="宋体" panose="02010600030101010101" pitchFamily="2" charset="-122"/>
              </a:rPr>
              <a:t>-6</a:t>
            </a: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用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，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而国标规定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10</a:t>
            </a:r>
            <a:r>
              <a:rPr lang="en-US" altLang="zh-CN" sz="2800" b="1" baseline="30000">
                <a:latin typeface="Times New Roman" panose="02020603050405020304" pitchFamily="2" charset="0"/>
                <a:ea typeface="宋体" panose="02010600030101010101" pitchFamily="2" charset="-122"/>
              </a:rPr>
              <a:t>-6</a:t>
            </a: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用希腊字母</a:t>
            </a:r>
            <a:r>
              <a:rPr lang="en-US" altLang="zh-CN" sz="2800" b="1">
                <a:latin typeface="Symbol" panose="05050102010706020507" pitchFamily="2" charset="2"/>
                <a:ea typeface="宋体" panose="02010600030101010101" pitchFamily="2" charset="-122"/>
              </a:rPr>
              <a:t>m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。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故如 电容容量</a:t>
            </a:r>
            <a:r>
              <a:rPr lang="en-US" altLang="zh-CN" sz="2800" b="1" i="1">
                <a:latin typeface="Times New Roman" panose="02020603050405020304" pitchFamily="2" charset="0"/>
                <a:ea typeface="宋体" panose="02010600030101010101" pitchFamily="2" charset="-122"/>
              </a:rPr>
              <a:t>C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=1×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10</a:t>
            </a:r>
            <a:r>
              <a:rPr lang="en-US" altLang="zh-CN" sz="2800" b="1" baseline="30000">
                <a:latin typeface="Times New Roman" panose="02020603050405020304" pitchFamily="2" charset="0"/>
                <a:ea typeface="宋体" panose="02010600030101010101" pitchFamily="2" charset="-122"/>
              </a:rPr>
              <a:t>-6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r>
              <a:rPr lang="zh-CN" altLang="en-US" sz="2800" b="1">
                <a:latin typeface="Times New Roman" panose="02020603050405020304" pitchFamily="2" charset="0"/>
                <a:ea typeface="宋体" panose="02010600030101010101" pitchFamily="2" charset="-122"/>
              </a:rPr>
              <a:t>，应写成</a:t>
            </a:r>
            <a:r>
              <a:rPr lang="en-US" altLang="zh-CN" sz="2800" b="1" i="1">
                <a:latin typeface="Times New Roman" panose="02020603050405020304" pitchFamily="2" charset="0"/>
                <a:ea typeface="宋体" panose="02010600030101010101" pitchFamily="2" charset="-122"/>
              </a:rPr>
              <a:t>C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=1u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（或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latin typeface="Times New Roman" panose="02020603050405020304" pitchFamily="2" charset="0"/>
                <a:ea typeface="宋体" panose="02010600030101010101" pitchFamily="2" charset="-122"/>
              </a:rPr>
              <a:t>U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9139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9139">
                                            <p:txEl>
                                              <p:charRg st="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/>
      <p:bldP spid="21914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553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4438015"/>
            <a:ext cx="4543425" cy="1800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9876" name="Rectangle 4"/>
          <p:cNvSpPr>
            <a:spLocks noGrp="1"/>
          </p:cNvSpPr>
          <p:nvPr>
            <p:ph type="subTitle" idx="4294967295"/>
          </p:nvPr>
        </p:nvSpPr>
        <p:spPr>
          <a:xfrm>
            <a:off x="861060" y="538480"/>
            <a:ext cx="6885940" cy="53784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 algn="ctr">
              <a:buClrTx/>
              <a:buSzTx/>
              <a:buFontTx/>
              <a:defRPr/>
            </a:lvl1pPr>
            <a:lvl2pPr marL="457200" lvl="1" indent="0" algn="ctr">
              <a:buClrTx/>
              <a:buSzTx/>
              <a:buFontTx/>
              <a:defRPr/>
            </a:lvl2pPr>
            <a:lvl3pPr marL="914400" lvl="2" indent="0" algn="ctr">
              <a:buClrTx/>
              <a:buSzTx/>
              <a:buFontTx/>
              <a:defRPr/>
            </a:lvl3pPr>
            <a:lvl4pPr marL="1371600" lvl="3" indent="0" algn="ctr">
              <a:buClrTx/>
              <a:buSzTx/>
              <a:buFontTx/>
              <a:defRPr/>
            </a:lvl4pPr>
            <a:lvl5pPr marL="1828800" lvl="4" indent="0" algn="ctr">
              <a:buClrTx/>
              <a:buSzTx/>
              <a:buFontTx/>
              <a:defRPr/>
            </a:lvl5pPr>
          </a:lstStyle>
          <a:p>
            <a:pPr marL="0" lvl="0" indent="0" algn="just" eaLnBrk="1" hangingPunct="1">
              <a:lnSpc>
                <a:spcPct val="131000"/>
              </a:lnSpc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正弦源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VSIN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）有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外显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需要设置。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0725" name="表格 30724"/>
          <p:cNvGraphicFramePr/>
          <p:nvPr/>
        </p:nvGraphicFramePr>
        <p:xfrm>
          <a:off x="842963" y="1341438"/>
          <a:ext cx="5160645" cy="1527175"/>
        </p:xfrm>
        <a:graphic>
          <a:graphicData uri="http://schemas.openxmlformats.org/drawingml/2006/table">
            <a:tbl>
              <a:tblPr/>
              <a:tblGrid>
                <a:gridCol w="1246505"/>
                <a:gridCol w="1713865"/>
                <a:gridCol w="728345"/>
                <a:gridCol w="1471930"/>
              </a:tblGrid>
              <a:tr h="396875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参数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20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名称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单位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FF0000"/>
                          </a:solidFill>
                        </a:rPr>
                        <a:t>设定值</a:t>
                      </a:r>
                      <a:endParaRPr lang="zh-CN" altLang="en-US" sz="2000" b="1" dirty="0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VOFF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</a:rPr>
                        <a:t>直流偏置电压</a:t>
                      </a:r>
                      <a:endParaRPr lang="zh-CN" altLang="en-US" sz="1800" b="1" baseline="30000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V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0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354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VAMPL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</a:rPr>
                        <a:t>振幅</a:t>
                      </a:r>
                      <a:endParaRPr lang="zh-CN" altLang="en-US" sz="1800" b="1" baseline="30000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V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30mV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FREQ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</a:rPr>
                        <a:t>频率</a:t>
                      </a:r>
                      <a:endParaRPr lang="zh-CN" altLang="en-US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Hz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x-none" sz="1800" b="1" dirty="0">
                          <a:solidFill>
                            <a:srgbClr val="800000"/>
                          </a:solidFill>
                        </a:rPr>
                        <a:t>1K</a:t>
                      </a:r>
                      <a:endParaRPr lang="en-US" altLang="x-none" sz="1800" b="1" dirty="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79904" name="Picture 32"/>
          <p:cNvPicPr>
            <a:picLocks noChangeAspect="1"/>
          </p:cNvPicPr>
          <p:nvPr/>
        </p:nvPicPr>
        <p:blipFill>
          <a:blip r:embed="rId2"/>
          <a:srcRect l="8029" t="34918" r="56554" b="9601"/>
          <a:stretch>
            <a:fillRect/>
          </a:stretch>
        </p:blipFill>
        <p:spPr>
          <a:xfrm>
            <a:off x="6815773" y="1076325"/>
            <a:ext cx="1582737" cy="1944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69" name="Rectangle 33"/>
          <p:cNvSpPr/>
          <p:nvPr/>
        </p:nvSpPr>
        <p:spPr>
          <a:xfrm>
            <a:off x="842963" y="2998788"/>
            <a:ext cx="8424862" cy="1476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2" charset="0"/>
                <a:ea typeface="黑体" panose="02010609060101010101" pitchFamily="2" charset="-122"/>
              </a:rPr>
              <a:t>另外</a:t>
            </a:r>
            <a:r>
              <a:rPr lang="en-US" altLang="zh-CN" dirty="0">
                <a:latin typeface="Times New Roman" panose="02020603050405020304" pitchFamily="2" charset="0"/>
                <a:ea typeface="黑体" panose="02010609060101010101" pitchFamily="2" charset="-122"/>
              </a:rPr>
              <a:t>VSIN</a:t>
            </a:r>
            <a:r>
              <a:rPr lang="zh-CN" altLang="en-US" dirty="0">
                <a:latin typeface="Times New Roman" panose="02020603050405020304" pitchFamily="2" charset="0"/>
                <a:ea typeface="黑体" panose="02010609060101010101" pitchFamily="2" charset="-122"/>
              </a:rPr>
              <a:t>还有一个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关键参数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AC</a:t>
            </a:r>
            <a:r>
              <a:rPr lang="zh-CN" altLang="en-US" dirty="0">
                <a:latin typeface="Times New Roman" panose="02020603050405020304" pitchFamily="2" charset="0"/>
                <a:ea typeface="黑体" panose="02010609060101010101" pitchFamily="2" charset="-122"/>
              </a:rPr>
              <a:t>，并不直接显示，但为了后面的交流分析必须确定其值；可用右键菜单点用 </a:t>
            </a:r>
            <a:r>
              <a:rPr lang="en-US" altLang="zh-CN" dirty="0">
                <a:latin typeface="Times New Roman" panose="02020603050405020304" pitchFamily="2" charset="0"/>
                <a:ea typeface="黑体" panose="02010609060101010101" pitchFamily="2" charset="-122"/>
              </a:rPr>
              <a:t>Edit / Properties</a:t>
            </a:r>
            <a:r>
              <a:rPr lang="zh-CN" altLang="en-US" dirty="0">
                <a:latin typeface="Times New Roman" panose="02020603050405020304" pitchFamily="2" charset="0"/>
                <a:ea typeface="黑体" panose="02010609060101010101" pitchFamily="2" charset="-122"/>
              </a:rPr>
              <a:t>命令</a:t>
            </a:r>
            <a:r>
              <a:rPr lang="en-US" altLang="zh-CN" dirty="0">
                <a:latin typeface="Times New Roman" panose="02020603050405020304" pitchFamily="2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2" charset="0"/>
                <a:ea typeface="黑体" panose="02010609060101010101" pitchFamily="2" charset="-122"/>
              </a:rPr>
              <a:t>调出 </a:t>
            </a:r>
            <a:r>
              <a:rPr lang="en-US" altLang="zh-CN" dirty="0">
                <a:latin typeface="Times New Roman" panose="02020603050405020304" pitchFamily="2" charset="0"/>
                <a:ea typeface="黑体" panose="02010609060101010101" pitchFamily="2" charset="-122"/>
              </a:rPr>
              <a:t>Property Editor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加入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AC=10mV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。</a:t>
            </a:r>
            <a:endParaRPr lang="zh-CN" altLang="en-US" u="sng" dirty="0">
              <a:solidFill>
                <a:srgbClr val="FF0000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65570" name="Oval 34"/>
          <p:cNvSpPr/>
          <p:nvPr/>
        </p:nvSpPr>
        <p:spPr>
          <a:xfrm>
            <a:off x="2999740" y="5589588"/>
            <a:ext cx="287338" cy="476250"/>
          </a:xfrm>
          <a:prstGeom prst="ellipse">
            <a:avLst/>
          </a:prstGeom>
          <a:noFill/>
          <a:ln w="317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69" grpId="0"/>
      <p:bldP spid="65570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898" name="Rectangle 2"/>
          <p:cNvSpPr/>
          <p:nvPr>
            <p:ph type="title" idx="4294967295"/>
          </p:nvPr>
        </p:nvSpPr>
        <p:spPr>
          <a:xfrm>
            <a:off x="1297940" y="834390"/>
            <a:ext cx="5965825" cy="66548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l" eaLnBrk="1" hangingPunct="1"/>
            <a:r>
              <a:rPr lang="zh-CN" altLang="en-US" sz="26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三极管参数</a:t>
            </a:r>
            <a:r>
              <a:rPr lang="zh-CN" altLang="en-US" sz="2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菜单中</a:t>
            </a:r>
            <a:r>
              <a:rPr lang="en-US" altLang="zh-CN" sz="2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Edit/ PSpice  Model</a:t>
            </a:r>
            <a:endParaRPr lang="zh-CN" altLang="en-US" sz="2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089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243" y="1702435"/>
            <a:ext cx="7932737" cy="299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元器件属性参数编辑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88705" y="2781300"/>
            <a:ext cx="575945" cy="43180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矩形 32769"/>
          <p:cNvSpPr/>
          <p:nvPr/>
        </p:nvSpPr>
        <p:spPr>
          <a:xfrm>
            <a:off x="3819525" y="19669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82946" name="对象 32770"/>
          <p:cNvGraphicFramePr>
            <a:graphicFrameLocks noChangeAspect="1"/>
          </p:cNvGraphicFramePr>
          <p:nvPr/>
        </p:nvGraphicFramePr>
        <p:xfrm>
          <a:off x="1524000" y="971550"/>
          <a:ext cx="8859838" cy="569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5172075" imgH="3324225" progId="PBrush">
                  <p:embed/>
                </p:oleObj>
              </mc:Choice>
              <mc:Fallback>
                <p:oleObj name="" r:id="rId1" imgW="5172075" imgH="3324225" progId="PBrush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971550"/>
                        <a:ext cx="8859838" cy="569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7" name="矩形 32771"/>
          <p:cNvSpPr/>
          <p:nvPr/>
        </p:nvSpPr>
        <p:spPr>
          <a:xfrm>
            <a:off x="945833" y="621030"/>
            <a:ext cx="2873375" cy="1085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812800" indent="-812800" algn="just">
              <a:lnSpc>
                <a:spcPct val="131000"/>
              </a:lnSpc>
              <a:spcBef>
                <a:spcPct val="20000"/>
              </a:spcBef>
            </a:pPr>
            <a:endParaRPr lang="zh-CN" altLang="en-US" sz="26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73" name="椭圆 32772"/>
          <p:cNvSpPr/>
          <p:nvPr/>
        </p:nvSpPr>
        <p:spPr>
          <a:xfrm>
            <a:off x="7319963" y="3379788"/>
            <a:ext cx="2695575" cy="1241425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" name="标题 17410"/>
          <p:cNvSpPr>
            <a:spLocks noGrp="1"/>
          </p:cNvSpPr>
          <p:nvPr/>
        </p:nvSpPr>
        <p:spPr>
          <a:xfrm>
            <a:off x="413385" y="72390"/>
            <a:ext cx="10351135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Capture 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编辑原理图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zh-CN" altLang="en-US" sz="3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绘图快捷键</a:t>
            </a:r>
            <a:endParaRPr lang="zh-CN" altLang="en-US" sz="3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33793"/>
          <p:cNvSpPr>
            <a:spLocks noGrp="1"/>
          </p:cNvSpPr>
          <p:nvPr>
            <p:ph type="ctrTitle" idx="4294967295"/>
          </p:nvPr>
        </p:nvSpPr>
        <p:spPr>
          <a:xfrm>
            <a:off x="960755" y="-72390"/>
            <a:ext cx="10073640" cy="676910"/>
          </a:xfrm>
        </p:spPr>
        <p:txBody>
          <a:bodyPr anchor="ctr" anchorCtr="0"/>
          <a:p>
            <a:pPr algn="l" defTabSz="91440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zh-CN" altLang="en-US" sz="3000" b="1"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静态工作点分析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  <p:sp>
        <p:nvSpPr>
          <p:cNvPr id="33795" name="副标题 33794"/>
          <p:cNvSpPr>
            <a:spLocks noGrp="1"/>
          </p:cNvSpPr>
          <p:nvPr>
            <p:ph type="subTitle" idx="4294967295"/>
          </p:nvPr>
        </p:nvSpPr>
        <p:spPr>
          <a:xfrm>
            <a:off x="937895" y="1685925"/>
            <a:ext cx="2694940" cy="671830"/>
          </a:xfrm>
        </p:spPr>
        <p:txBody>
          <a:bodyPr anchor="t" anchorCtr="0"/>
          <a:p>
            <a:pPr marL="0" indent="0" defTabSz="914400">
              <a:lnSpc>
                <a:spcPct val="110000"/>
              </a:lnSpc>
              <a:spcBef>
                <a:spcPct val="20000"/>
              </a:spcBef>
              <a:buNone/>
            </a:pPr>
            <a:r>
              <a:rPr lang="zh-CN" altLang="en-US" sz="2400" b="1">
                <a:latin typeface="宋体" panose="02010600030101010101" pitchFamily="2" charset="-122"/>
                <a:ea typeface="黑体" panose="02010609060101010101" pitchFamily="2" charset="-122"/>
                <a:cs typeface="+mj-cs"/>
                <a:sym typeface="+mn-ea"/>
              </a:rPr>
              <a:t>静态工作点分析</a:t>
            </a:r>
            <a:r>
              <a:rPr lang="zh-CN" altLang="en-US" sz="2400" b="1">
                <a:latin typeface="宋体" panose="02010600030101010101" pitchFamily="2" charset="-122"/>
                <a:sym typeface="+mn-ea"/>
              </a:rPr>
              <a:t>：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86017" name="标题 34817"/>
          <p:cNvSpPr>
            <a:spLocks noGrp="1"/>
          </p:cNvSpPr>
          <p:nvPr/>
        </p:nvSpPr>
        <p:spPr>
          <a:xfrm>
            <a:off x="689610" y="2388235"/>
            <a:ext cx="4236720" cy="4730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buClrTx/>
              <a:buSzTx/>
              <a:buFontTx/>
              <a:buNone/>
            </a:pPr>
            <a:r>
              <a:rPr lang="zh-CN" altLang="en-US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6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）建立模拟类型分组</a:t>
            </a:r>
            <a:endParaRPr lang="zh-CN" altLang="en-US" sz="2600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819" name="副标题 34818"/>
          <p:cNvSpPr>
            <a:spLocks noGrp="1"/>
          </p:cNvSpPr>
          <p:nvPr/>
        </p:nvSpPr>
        <p:spPr>
          <a:xfrm>
            <a:off x="1073785" y="2890520"/>
            <a:ext cx="6971030" cy="224345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31000"/>
              </a:lnSpc>
              <a:buClrTx/>
              <a:buSzTx/>
              <a:buFontTx/>
              <a:buNone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   在电路图编辑窗口（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Page Editor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）下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indent="-342900" algn="just" defTabSz="914400">
              <a:lnSpc>
                <a:spcPct val="131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点击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PSpice/New Simulation Profile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命令，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indent="-342900" algn="just" defTabSz="914400">
              <a:lnSpc>
                <a:spcPct val="131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出现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New Simulation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对话框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,</a:t>
            </a:r>
            <a:endParaRPr lang="en-US" altLang="zh-CN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  <a:p>
            <a:pPr marL="342900" indent="-342900" algn="just" defTabSz="914400">
              <a:lnSpc>
                <a:spcPct val="131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在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Name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栏键入模拟类型组的名称，本例取名为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DC</a:t>
            </a:r>
            <a:endParaRPr lang="en-US" altLang="zh-CN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graphicFrame>
        <p:nvGraphicFramePr>
          <p:cNvPr id="34820" name="对象 34819"/>
          <p:cNvGraphicFramePr>
            <a:graphicFrameLocks noChangeAspect="1"/>
          </p:cNvGraphicFramePr>
          <p:nvPr/>
        </p:nvGraphicFramePr>
        <p:xfrm>
          <a:off x="8168005" y="3068003"/>
          <a:ext cx="3701438" cy="205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2914650" imgH="1609725" progId="PBrush">
                  <p:embed/>
                </p:oleObj>
              </mc:Choice>
              <mc:Fallback>
                <p:oleObj name="" r:id="rId1" imgW="2914650" imgH="1609725" progId="PBrush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68005" y="3068003"/>
                        <a:ext cx="3701438" cy="205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直接连接符 34820"/>
          <p:cNvSpPr/>
          <p:nvPr/>
        </p:nvSpPr>
        <p:spPr>
          <a:xfrm flipV="1">
            <a:off x="7752080" y="3860800"/>
            <a:ext cx="700405" cy="103949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" name="文本框 2"/>
          <p:cNvSpPr txBox="1"/>
          <p:nvPr/>
        </p:nvSpPr>
        <p:spPr>
          <a:xfrm>
            <a:off x="608330" y="605155"/>
            <a:ext cx="1065593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5000"/>
              </a:lnSpc>
            </a:pPr>
            <a:r>
              <a:rPr lang="en-US" altLang="zh-CN" b="1">
                <a:latin typeface="宋体" panose="02010600030101010101" pitchFamily="2" charset="-122"/>
                <a:ea typeface="+mn-ea"/>
                <a:sym typeface="+mn-ea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种基本分析类：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+mn-ea"/>
                <a:sym typeface="+mn-ea"/>
              </a:rPr>
              <a:t>基本直流分析</a:t>
            </a:r>
            <a:r>
              <a:rPr lang="en-US" altLang="zh-CN" b="1"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b="1">
                <a:latin typeface="宋体" panose="02010600030101010101" pitchFamily="2" charset="-122"/>
                <a:ea typeface="黑体" panose="02010609060101010101" pitchFamily="2" charset="-122"/>
                <a:cs typeface="+mj-cs"/>
                <a:sym typeface="+mn-ea"/>
              </a:rPr>
              <a:t>静态工作点分析</a:t>
            </a:r>
            <a:r>
              <a:rPr lang="en-US" altLang="zh-CN" b="1">
                <a:latin typeface="宋体" panose="02010600030101010101" pitchFamily="2" charset="-122"/>
                <a:ea typeface="+mn-ea"/>
                <a:sym typeface="+mn-ea"/>
              </a:rPr>
              <a:t>)</a:t>
            </a:r>
            <a:r>
              <a:rPr lang="zh-CN" altLang="en-US" b="1">
                <a:latin typeface="宋体" panose="02010600030101010101" pitchFamily="2" charset="-122"/>
                <a:ea typeface="+mn-ea"/>
                <a:sym typeface="+mn-ea"/>
              </a:rPr>
              <a:t>、直流扫描分析、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+mn-ea"/>
                <a:sym typeface="+mn-ea"/>
              </a:rPr>
              <a:t>交流分析</a:t>
            </a:r>
            <a:r>
              <a:rPr lang="zh-CN" altLang="en-US" b="1">
                <a:latin typeface="宋体" panose="02010600030101010101" pitchFamily="2" charset="-122"/>
                <a:ea typeface="+mn-ea"/>
                <a:sym typeface="+mn-ea"/>
              </a:rPr>
              <a:t>和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+mn-ea"/>
                <a:sym typeface="+mn-ea"/>
              </a:rPr>
              <a:t>瞬态分析</a:t>
            </a:r>
            <a:endParaRPr lang="zh-CN" altLang="en-US" b="1">
              <a:latin typeface="宋体" panose="02010600030101010101" pitchFamily="2" charset="-122"/>
              <a:ea typeface="+mn-ea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8601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35841"/>
          <p:cNvSpPr>
            <a:spLocks noGrp="1"/>
          </p:cNvSpPr>
          <p:nvPr>
            <p:ph type="ctrTitle" idx="4294967295"/>
          </p:nvPr>
        </p:nvSpPr>
        <p:spPr>
          <a:xfrm>
            <a:off x="339090" y="620713"/>
            <a:ext cx="4654550" cy="407987"/>
          </a:xfr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zh-CN" altLang="en-US" sz="26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lang="en-US" altLang="zh-CN" sz="26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3</a:t>
            </a:r>
            <a:r>
              <a:rPr lang="zh-CN" altLang="en-US" sz="26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）设置分析类型和参数。</a:t>
            </a:r>
            <a:endParaRPr lang="zh-CN" altLang="en-US" sz="26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graphicFrame>
        <p:nvGraphicFramePr>
          <p:cNvPr id="87045" name="对象 35845"/>
          <p:cNvGraphicFramePr>
            <a:graphicFrameLocks noChangeAspect="1"/>
          </p:cNvGraphicFramePr>
          <p:nvPr/>
        </p:nvGraphicFramePr>
        <p:xfrm>
          <a:off x="1130618" y="1204913"/>
          <a:ext cx="5618162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1" imgW="4000500" imgH="2141220" progId="PBrush">
                  <p:embed/>
                </p:oleObj>
              </mc:Choice>
              <mc:Fallback>
                <p:oleObj name="" r:id="rId1" imgW="4000500" imgH="2141220" progId="PBrush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30618" y="1204913"/>
                        <a:ext cx="5618162" cy="301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1203325" y="2069465"/>
            <a:ext cx="1656080" cy="43180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6815" y="2555240"/>
            <a:ext cx="1656080" cy="43180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80690" y="2069465"/>
            <a:ext cx="3498850" cy="55880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065" name="Rectangle 3"/>
          <p:cNvSpPr>
            <a:spLocks noGrp="1"/>
          </p:cNvSpPr>
          <p:nvPr/>
        </p:nvSpPr>
        <p:spPr>
          <a:xfrm>
            <a:off x="911225" y="4850765"/>
            <a:ext cx="6007735" cy="110680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lvl="1" indent="-342900" algn="just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zh-CN" altLang="en-US" sz="2400" b="1" dirty="0"/>
              <a:t>保存，并</a:t>
            </a:r>
            <a:r>
              <a:rPr lang="en-US" altLang="zh-CN" sz="2400" b="1" dirty="0"/>
              <a:t>Pspice/Create netlist </a:t>
            </a:r>
            <a:endParaRPr lang="en-US" altLang="zh-CN" sz="2400" b="1" dirty="0"/>
          </a:p>
          <a:p>
            <a:pPr marL="57150" lvl="1" indent="-342900" algn="just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en-US" altLang="zh-CN" sz="2400" b="1" dirty="0"/>
              <a:t>Windows/Session Log</a:t>
            </a:r>
            <a:r>
              <a:rPr lang="zh-CN" altLang="en-US" sz="2400" b="1" dirty="0"/>
              <a:t>弹出错误提示窗口</a:t>
            </a:r>
            <a:endParaRPr lang="en-US" altLang="zh-CN" sz="2400" b="1" dirty="0"/>
          </a:p>
        </p:txBody>
      </p:sp>
      <p:sp>
        <p:nvSpPr>
          <p:cNvPr id="88066" name="文本框 2"/>
          <p:cNvSpPr txBox="1"/>
          <p:nvPr/>
        </p:nvSpPr>
        <p:spPr>
          <a:xfrm>
            <a:off x="548958" y="4326255"/>
            <a:ext cx="6983730" cy="49149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600">
                <a:latin typeface="Times New Roman" panose="02020603050405020304" pitchFamily="2" charset="0"/>
                <a:ea typeface="宋体" panose="02010600030101010101" pitchFamily="2" charset="-122"/>
              </a:rPr>
              <a:t>(4) </a:t>
            </a:r>
            <a:r>
              <a:rPr lang="zh-CN" altLang="en-US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进行电路规则检查、建立网表文件</a:t>
            </a:r>
            <a:r>
              <a:rPr lang="zh-CN" altLang="en-US" sz="2600" b="1" dirty="0">
                <a:sym typeface="+mn-ea"/>
              </a:rPr>
              <a:t>（*</a:t>
            </a:r>
            <a:r>
              <a:rPr lang="en-US" altLang="zh-CN" sz="2600" b="1" dirty="0">
                <a:sym typeface="+mn-ea"/>
              </a:rPr>
              <a:t>.net</a:t>
            </a:r>
            <a:r>
              <a:rPr lang="zh-CN" altLang="en-US" sz="2600" b="1" dirty="0">
                <a:sym typeface="+mn-ea"/>
              </a:rPr>
              <a:t>）</a:t>
            </a:r>
            <a:endParaRPr lang="en-US" altLang="zh-CN" sz="260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" name="标题 33793"/>
          <p:cNvSpPr>
            <a:spLocks noGrp="1"/>
          </p:cNvSpPr>
          <p:nvPr/>
        </p:nvSpPr>
        <p:spPr>
          <a:xfrm>
            <a:off x="960755" y="-72390"/>
            <a:ext cx="10073640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zh-CN" altLang="en-US" sz="3000" b="1"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静态工作点分析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5" grpId="0" bldLvl="0" animBg="1"/>
      <p:bldP spid="6" grpId="0" bldLvl="0" animBg="1"/>
      <p:bldP spid="88066" grpId="0"/>
      <p:bldP spid="8806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Rectangle 3"/>
          <p:cNvSpPr>
            <a:spLocks noGrp="1"/>
          </p:cNvSpPr>
          <p:nvPr>
            <p:ph idx="4294967295"/>
          </p:nvPr>
        </p:nvSpPr>
        <p:spPr>
          <a:xfrm>
            <a:off x="788035" y="1573530"/>
            <a:ext cx="5209540" cy="143764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en-US" altLang="zh-CN" sz="2400" dirty="0"/>
              <a:t> </a:t>
            </a:r>
            <a:r>
              <a:rPr lang="zh-CN" altLang="en-US" sz="2400" b="1" dirty="0"/>
              <a:t>工程管理项目器</a:t>
            </a:r>
            <a:r>
              <a:rPr lang="en-US" altLang="zh-CN" sz="2400" b="1" dirty="0"/>
              <a:t>Pspice Resource</a:t>
            </a:r>
            <a:r>
              <a:rPr lang="zh-CN" altLang="en-US" sz="2400" b="1" dirty="0"/>
              <a:t>中</a:t>
            </a:r>
            <a:endParaRPr lang="zh-CN" altLang="en-US" sz="2400" b="1" dirty="0"/>
          </a:p>
          <a:p>
            <a:pPr algn="just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zh-CN" altLang="en-US" sz="2400" b="1" dirty="0"/>
              <a:t> 击活</a:t>
            </a:r>
            <a:r>
              <a:rPr lang="en-US" altLang="zh-CN" sz="2400" b="1" dirty="0"/>
              <a:t>DC</a:t>
            </a:r>
            <a:r>
              <a:rPr lang="zh-CN" altLang="en-US" sz="2400" b="1" dirty="0"/>
              <a:t>，鼠标右键</a:t>
            </a:r>
            <a:r>
              <a:rPr lang="en-US" altLang="zh-CN" sz="2400" b="1" dirty="0"/>
              <a:t>Make Active</a:t>
            </a:r>
            <a:endParaRPr lang="en-US" altLang="zh-CN" sz="2400" b="1" dirty="0"/>
          </a:p>
          <a:p>
            <a:pPr algn="just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r>
              <a:rPr lang="zh-CN" altLang="en-US" sz="2400" b="1" dirty="0"/>
              <a:t>菜单</a:t>
            </a:r>
            <a:r>
              <a:rPr lang="en-US" altLang="zh-CN" sz="2400" b="1" dirty="0"/>
              <a:t>Pspice/Run</a:t>
            </a:r>
            <a:endParaRPr lang="en-US" altLang="zh-CN" sz="2400" b="1" dirty="0"/>
          </a:p>
          <a:p>
            <a:pPr algn="just">
              <a:lnSpc>
                <a:spcPct val="125000"/>
              </a:lnSpc>
              <a:spcBef>
                <a:spcPts val="0"/>
              </a:spcBef>
              <a:buFont typeface="Wingdings" panose="05000000000000000000" charset="0"/>
              <a:buChar char="u"/>
            </a:pPr>
            <a:endParaRPr lang="en-US" altLang="zh-CN" sz="2400" b="1" dirty="0"/>
          </a:p>
        </p:txBody>
      </p:sp>
      <p:sp>
        <p:nvSpPr>
          <p:cNvPr id="90113" name="标题 36865"/>
          <p:cNvSpPr>
            <a:spLocks noGrp="1"/>
          </p:cNvSpPr>
          <p:nvPr/>
        </p:nvSpPr>
        <p:spPr>
          <a:xfrm>
            <a:off x="272415" y="464185"/>
            <a:ext cx="58229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25000"/>
              </a:lnSpc>
              <a:buClrTx/>
              <a:buSzTx/>
              <a:buFontTx/>
              <a:buNone/>
            </a:pPr>
            <a:r>
              <a:rPr lang="zh-CN" altLang="en-US" sz="26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lang="en-US" altLang="zh-CN" sz="26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5</a:t>
            </a:r>
            <a:r>
              <a:rPr lang="zh-CN" altLang="en-US" sz="26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）运行</a:t>
            </a:r>
            <a:r>
              <a:rPr lang="en-US" altLang="zh-CN" sz="26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Pspice</a:t>
            </a:r>
            <a:b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</a:b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    启动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Pspice/Run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命令</a:t>
            </a:r>
            <a:endParaRPr lang="zh-CN" altLang="en-US" sz="2400" b="1" kern="1200" baseline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90114" name="副标题 36866"/>
          <p:cNvSpPr>
            <a:spLocks noGrp="1"/>
          </p:cNvSpPr>
          <p:nvPr/>
        </p:nvSpPr>
        <p:spPr>
          <a:xfrm>
            <a:off x="415925" y="3084830"/>
            <a:ext cx="6261100" cy="248031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6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）查看分析结果</a:t>
            </a:r>
            <a:endParaRPr lang="zh-CN" altLang="en-US" sz="2400" b="1" kern="1200" baseline="0">
              <a:solidFill>
                <a:srgbClr val="FF0000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统自动调用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Probe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模块，屏幕上出现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Probe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窗口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  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选择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View/Output File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命令，即可看到本例的文本输出文件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DC.out</a:t>
            </a:r>
            <a:endParaRPr lang="zh-CN" altLang="en-US" sz="3200" kern="1200" baseline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6868" name="对象 36867"/>
          <p:cNvGraphicFramePr>
            <a:graphicFrameLocks noChangeAspect="1"/>
          </p:cNvGraphicFramePr>
          <p:nvPr/>
        </p:nvGraphicFramePr>
        <p:xfrm>
          <a:off x="7032625" y="4364673"/>
          <a:ext cx="3140075" cy="208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2562225" imgH="1704975" progId="PBrush">
                  <p:embed/>
                </p:oleObj>
              </mc:Choice>
              <mc:Fallback>
                <p:oleObj name="" r:id="rId1" imgW="2562225" imgH="1704975" progId="PBrush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32625" y="4364673"/>
                        <a:ext cx="3140075" cy="208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33793"/>
          <p:cNvSpPr>
            <a:spLocks noGrp="1"/>
          </p:cNvSpPr>
          <p:nvPr/>
        </p:nvSpPr>
        <p:spPr>
          <a:xfrm>
            <a:off x="960755" y="-72390"/>
            <a:ext cx="10073640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1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zh-CN" altLang="en-US" sz="3000" b="1">
                <a:latin typeface="宋体" panose="02010600030101010101" pitchFamily="2" charset="-122"/>
                <a:ea typeface="黑体" panose="02010609060101010101" pitchFamily="2" charset="-122"/>
                <a:sym typeface="+mn-ea"/>
              </a:rPr>
              <a:t>静态工作点分析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580" y="621030"/>
            <a:ext cx="4950006" cy="3564000"/>
          </a:xfrm>
          <a:prstGeom prst="rect">
            <a:avLst/>
          </a:prstGeom>
        </p:spPr>
      </p:pic>
    </p:spTree>
  </p:cSld>
  <p:clrMapOvr>
    <a:masterClrMapping/>
  </p:clrMapOvr>
  <p:transition>
    <p:zoom dir="in"/>
    <p:sndAc>
      <p:stSnd>
        <p:snd r:embed="rId4" name="projcto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9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90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9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副标题 37890"/>
          <p:cNvSpPr>
            <a:spLocks noGrp="1"/>
          </p:cNvSpPr>
          <p:nvPr>
            <p:ph type="subTitle" idx="4294967295"/>
          </p:nvPr>
        </p:nvSpPr>
        <p:spPr>
          <a:xfrm>
            <a:off x="482600" y="550545"/>
            <a:ext cx="6250305" cy="1059815"/>
          </a:xfrm>
        </p:spPr>
        <p:txBody>
          <a:bodyPr anchor="t" anchorCtr="0"/>
          <a:p>
            <a:pPr marL="0" indent="0"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瞬态分析又称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TRAN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分析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: 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时域响应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just" defTabSz="914400">
              <a:lnSpc>
                <a:spcPct val="125000"/>
              </a:lnSpc>
              <a:spcBef>
                <a:spcPts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给定输入激励信号情况下，输出端瞬态响应</a:t>
            </a:r>
            <a:endParaRPr lang="zh-CN" altLang="en-US" sz="2400" kern="1200" baseline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914" name="标题 38913"/>
          <p:cNvSpPr>
            <a:spLocks noGrp="1"/>
          </p:cNvSpPr>
          <p:nvPr/>
        </p:nvSpPr>
        <p:spPr>
          <a:xfrm>
            <a:off x="299403" y="2044383"/>
            <a:ext cx="4130675" cy="5556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2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）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建立模拟类型分组</a:t>
            </a:r>
            <a:endParaRPr lang="zh-CN" altLang="en-US" sz="24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38915" name="副标题 38914"/>
          <p:cNvSpPr>
            <a:spLocks noGrp="1"/>
          </p:cNvSpPr>
          <p:nvPr/>
        </p:nvSpPr>
        <p:spPr>
          <a:xfrm>
            <a:off x="261303" y="3608388"/>
            <a:ext cx="4408487" cy="5381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914400">
              <a:buClrTx/>
              <a:buSzTx/>
              <a:buFontTx/>
              <a:buNone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3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）设置分析参数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8917" name="矩形 38916"/>
          <p:cNvSpPr/>
          <p:nvPr/>
        </p:nvSpPr>
        <p:spPr>
          <a:xfrm>
            <a:off x="333375" y="1476375"/>
            <a:ext cx="4156075" cy="534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）为正弦信号源设置参数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8918" name="对象 38917"/>
          <p:cNvGraphicFramePr>
            <a:graphicFrameLocks noChangeAspect="1"/>
          </p:cNvGraphicFramePr>
          <p:nvPr/>
        </p:nvGraphicFramePr>
        <p:xfrm>
          <a:off x="7796848" y="3229293"/>
          <a:ext cx="4229919" cy="23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4972050" imgH="2790825" progId="PBrush">
                  <p:embed/>
                </p:oleObj>
              </mc:Choice>
              <mc:Fallback>
                <p:oleObj name="" r:id="rId1" imgW="4972050" imgH="2790825" progId="PBrush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796848" y="3229293"/>
                        <a:ext cx="4229919" cy="23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矩形 38918"/>
          <p:cNvSpPr/>
          <p:nvPr/>
        </p:nvSpPr>
        <p:spPr>
          <a:xfrm>
            <a:off x="678180" y="2545715"/>
            <a:ext cx="45720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Analysis type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栏中选“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Time Domain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Transient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）”。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20" name="矩形 38919"/>
          <p:cNvSpPr/>
          <p:nvPr/>
        </p:nvSpPr>
        <p:spPr>
          <a:xfrm>
            <a:off x="678180" y="4016375"/>
            <a:ext cx="5742940" cy="5340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lnSpc>
                <a:spcPct val="120000"/>
              </a:lnSpc>
              <a:spcBef>
                <a:spcPct val="50000"/>
              </a:spcBef>
              <a:buFont typeface="Wingdings" panose="05000000000000000000" charset="0"/>
              <a:buChar char="u"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Option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栏中选“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General Settings”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21" name="直接连接符 38920"/>
          <p:cNvSpPr/>
          <p:nvPr/>
        </p:nvSpPr>
        <p:spPr>
          <a:xfrm>
            <a:off x="4104640" y="2990850"/>
            <a:ext cx="3858895" cy="103187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2" name="直接连接符 38921"/>
          <p:cNvSpPr/>
          <p:nvPr/>
        </p:nvSpPr>
        <p:spPr>
          <a:xfrm>
            <a:off x="4511040" y="4453890"/>
            <a:ext cx="3544570" cy="1206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3" name="矩形 38922"/>
          <p:cNvSpPr/>
          <p:nvPr/>
        </p:nvSpPr>
        <p:spPr>
          <a:xfrm>
            <a:off x="692468" y="4546600"/>
            <a:ext cx="634873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 eaLnBrk="0" hangingPunct="0">
              <a:buFont typeface="Wingdings" panose="05000000000000000000" charset="0"/>
              <a:buChar char="u"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Run to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栏中填入“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2ms”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。终止时间为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2ms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24" name="矩形 38923"/>
          <p:cNvSpPr/>
          <p:nvPr/>
        </p:nvSpPr>
        <p:spPr>
          <a:xfrm>
            <a:off x="678180" y="5003800"/>
            <a:ext cx="84788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buFont typeface="Wingdings" panose="05000000000000000000" charset="0"/>
              <a:buChar char="u"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Start saving data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栏中填入“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。起始时间为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25" name="矩形 38924"/>
          <p:cNvSpPr/>
          <p:nvPr/>
        </p:nvSpPr>
        <p:spPr>
          <a:xfrm>
            <a:off x="684530" y="5495608"/>
            <a:ext cx="790702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 eaLnBrk="0" hangingPunct="0">
              <a:buFont typeface="Wingdings" panose="05000000000000000000" charset="0"/>
              <a:buChar char="u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Maximum Step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栏中填入“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40us”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。时间步长为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en-US" altLang="zh-CN" b="1">
                <a:latin typeface="Symbol" panose="05050102010706020507" pitchFamily="2" charset="2"/>
                <a:ea typeface="宋体" panose="02010600030101010101" pitchFamily="2" charset="-122"/>
              </a:rPr>
              <a:t>m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926" name="直接连接符 38925"/>
          <p:cNvSpPr/>
          <p:nvPr/>
        </p:nvSpPr>
        <p:spPr>
          <a:xfrm flipV="1">
            <a:off x="5483225" y="4244340"/>
            <a:ext cx="4716780" cy="114236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7" name="直接连接符 38926"/>
          <p:cNvSpPr/>
          <p:nvPr/>
        </p:nvSpPr>
        <p:spPr>
          <a:xfrm flipV="1">
            <a:off x="5612765" y="4716780"/>
            <a:ext cx="4648200" cy="1123315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928" name="直接连接符 38927"/>
          <p:cNvSpPr/>
          <p:nvPr/>
        </p:nvSpPr>
        <p:spPr>
          <a:xfrm flipV="1">
            <a:off x="4210050" y="4063365"/>
            <a:ext cx="6050915" cy="74803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72375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zh-CN" altLang="en-US"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瞬态分析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960235" y="332740"/>
            <a:ext cx="4326890" cy="2879090"/>
            <a:chOff x="13838" y="-949"/>
            <a:chExt cx="6814" cy="4534"/>
          </a:xfrm>
        </p:grpSpPr>
        <p:grpSp>
          <p:nvGrpSpPr>
            <p:cNvPr id="8" name="组合 7"/>
            <p:cNvGrpSpPr/>
            <p:nvPr/>
          </p:nvGrpSpPr>
          <p:grpSpPr>
            <a:xfrm>
              <a:off x="13838" y="-949"/>
              <a:ext cx="6814" cy="4534"/>
              <a:chOff x="13838" y="-949"/>
              <a:chExt cx="6814" cy="4534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38" y="-949"/>
                <a:ext cx="6815" cy="4535"/>
              </a:xfrm>
              <a:prstGeom prst="rect">
                <a:avLst/>
              </a:prstGeom>
            </p:spPr>
          </p:pic>
          <p:sp>
            <p:nvSpPr>
              <p:cNvPr id="7" name="矩形 6"/>
              <p:cNvSpPr/>
              <p:nvPr/>
            </p:nvSpPr>
            <p:spPr>
              <a:xfrm>
                <a:off x="14846" y="2172"/>
                <a:ext cx="119" cy="1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14675" y="2055"/>
              <a:ext cx="116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rgbClr val="FF0000"/>
                  </a:solidFill>
                </a:rPr>
                <a:t>10mV</a:t>
              </a:r>
              <a:endParaRPr lang="en-US" altLang="zh-CN" sz="1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91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915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nimBg="1" uiExpand="1" build="p"/>
      <p:bldP spid="38917" grpId="0" animBg="1"/>
      <p:bldP spid="38914" grpId="0" animBg="1"/>
      <p:bldP spid="38919" grpId="0" animBg="1"/>
      <p:bldP spid="38920" grpId="0" animBg="1"/>
      <p:bldP spid="38915" grpId="0" animBg="1" uiExpand="1" build="p"/>
      <p:bldP spid="38923" grpId="0" animBg="1"/>
      <p:bldP spid="38924" grpId="0" animBg="1"/>
      <p:bldP spid="389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5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5638" y="2707640"/>
            <a:ext cx="5593412" cy="392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209" name="标题 39937"/>
          <p:cNvSpPr>
            <a:spLocks noGrp="1"/>
          </p:cNvSpPr>
          <p:nvPr>
            <p:ph type="ctrTitle" idx="4294967295"/>
          </p:nvPr>
        </p:nvSpPr>
        <p:spPr>
          <a:xfrm>
            <a:off x="346710" y="538480"/>
            <a:ext cx="6632575" cy="588645"/>
          </a:xfrm>
        </p:spPr>
        <p:txBody>
          <a:bodyPr anchor="ctr" anchorCtr="0"/>
          <a:p>
            <a:pPr algn="l" defTabSz="914400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（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5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）运行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Pspice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：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执行</a:t>
            </a:r>
            <a:r>
              <a:rPr lang="en-US" altLang="zh-CN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Pspice/Run</a:t>
            </a:r>
            <a:r>
              <a:rPr lang="zh-CN" altLang="en-US" sz="2400" b="1" kern="1200" baseline="0">
                <a:solidFill>
                  <a:schemeClr val="tx1"/>
                </a:solidFill>
                <a:latin typeface="宋体" panose="02010600030101010101" pitchFamily="2" charset="-122"/>
                <a:ea typeface="+mj-ea"/>
                <a:cs typeface="+mj-cs"/>
              </a:rPr>
              <a:t>命令</a:t>
            </a:r>
            <a:endParaRPr lang="zh-CN" altLang="en-US" sz="2400" b="1" kern="1200" baseline="0">
              <a:solidFill>
                <a:schemeClr val="tx1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94210" name="副标题 39938"/>
          <p:cNvSpPr>
            <a:spLocks noGrp="1"/>
          </p:cNvSpPr>
          <p:nvPr>
            <p:ph type="subTitle" idx="4294967295"/>
          </p:nvPr>
        </p:nvSpPr>
        <p:spPr>
          <a:xfrm>
            <a:off x="346710" y="1127125"/>
            <a:ext cx="8328025" cy="498475"/>
          </a:xfrm>
        </p:spPr>
        <p:txBody>
          <a:bodyPr anchor="t" anchorCtr="0"/>
          <a:p>
            <a:pPr marL="0" indent="0" algn="l" defTabSz="914400"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6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）查看分析结果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graphicFrame>
        <p:nvGraphicFramePr>
          <p:cNvPr id="39940" name="对象 39939"/>
          <p:cNvGraphicFramePr>
            <a:graphicFrameLocks noChangeAspect="1"/>
          </p:cNvGraphicFramePr>
          <p:nvPr/>
        </p:nvGraphicFramePr>
        <p:xfrm>
          <a:off x="624205" y="2564765"/>
          <a:ext cx="45974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" imgW="3438525" imgH="2571750" progId="WPS.Doc.6">
                  <p:embed/>
                </p:oleObj>
              </mc:Choice>
              <mc:Fallback>
                <p:oleObj name="" r:id="rId2" imgW="3438525" imgH="2571750" progId="WPS.Doc.6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3">
                        <a:lum bright="10001"/>
                      </a:blip>
                      <a:stretch>
                        <a:fillRect/>
                      </a:stretch>
                    </p:blipFill>
                    <p:spPr>
                      <a:xfrm>
                        <a:off x="624205" y="2564765"/>
                        <a:ext cx="4597400" cy="4067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矩形 39940"/>
          <p:cNvSpPr/>
          <p:nvPr/>
        </p:nvSpPr>
        <p:spPr>
          <a:xfrm>
            <a:off x="581025" y="2061210"/>
            <a:ext cx="99631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 eaLnBrk="0" hangingPunct="0">
              <a:buFont typeface="Wingdings" panose="05000000000000000000" charset="0"/>
              <a:buChar char="u"/>
            </a:pP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Probe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窗口中，执行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Trace/Add Trace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命令，出现</a:t>
            </a:r>
            <a:r>
              <a:rPr lang="en-US" altLang="zh-CN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 Trace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对话框</a:t>
            </a:r>
            <a:endParaRPr lang="zh-CN" altLang="en-US" b="1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72375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zh-CN" altLang="en-US"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瞬态分析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  <p:sp>
        <p:nvSpPr>
          <p:cNvPr id="2" name="副标题 39938"/>
          <p:cNvSpPr>
            <a:spLocks noGrp="1"/>
          </p:cNvSpPr>
          <p:nvPr/>
        </p:nvSpPr>
        <p:spPr>
          <a:xfrm>
            <a:off x="624205" y="1628775"/>
            <a:ext cx="8444230" cy="6565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914400"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系统自动调用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Probe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模块屏幕上出现如图所示的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Probe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窗口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04915" y="3281045"/>
            <a:ext cx="2011680" cy="55308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pPr algn="l" defTabSz="914400">
              <a:lnSpc>
                <a:spcPct val="125000"/>
              </a:lnSpc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输出变量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列表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63" name="副标题 40962"/>
          <p:cNvSpPr>
            <a:spLocks noGrp="1"/>
          </p:cNvSpPr>
          <p:nvPr/>
        </p:nvSpPr>
        <p:spPr>
          <a:xfrm>
            <a:off x="6665595" y="5948045"/>
            <a:ext cx="2947670" cy="5048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914400"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Trace Expression</a:t>
            </a:r>
            <a:endParaRPr lang="en-US" altLang="zh-CN" sz="2400" b="1" kern="1200" baseline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4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animBg="1"/>
      <p:bldP spid="40963" grpId="0" bldLvl="0" animBg="1"/>
      <p:bldP spid="4" grpId="0" bldLvl="0" animBg="1"/>
      <p:bldP spid="94210" grpId="0" build="p"/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副标题 43010"/>
          <p:cNvSpPr>
            <a:spLocks noGrp="1"/>
          </p:cNvSpPr>
          <p:nvPr>
            <p:ph type="subTitle" idx="4294967295"/>
          </p:nvPr>
        </p:nvSpPr>
        <p:spPr>
          <a:xfrm>
            <a:off x="669925" y="539750"/>
            <a:ext cx="10329545" cy="2971800"/>
          </a:xfrm>
        </p:spPr>
        <p:txBody>
          <a:bodyPr anchor="t" anchorCtr="0"/>
          <a:p>
            <a:pPr marL="0" indent="0" algn="just" defTabSz="914400" fontAlgn="t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None/>
            </a:pPr>
            <a:r>
              <a:rPr lang="zh-CN" altLang="en-US" sz="2400" b="1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观看输出输入波形</a:t>
            </a:r>
            <a:r>
              <a:rPr lang="en-US" altLang="zh-CN" sz="2400" b="1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:</a:t>
            </a:r>
            <a:endParaRPr lang="en-US" altLang="zh-CN" sz="2400" b="1" kern="1200" baseline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indent="0" algn="just" defTabSz="914400" fontAlgn="t">
              <a:lnSpc>
                <a:spcPct val="125000"/>
              </a:lnSpc>
              <a:spcBef>
                <a:spcPct val="0"/>
              </a:spcBef>
              <a:buClrTx/>
              <a:buSzTx/>
              <a:buFont typeface="Wingdings" panose="05000000000000000000" charset="0"/>
              <a:buNone/>
            </a:pPr>
            <a:r>
              <a:rPr lang="en-US" altLang="zh-CN" sz="2400" b="1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   </a:t>
            </a:r>
            <a:r>
              <a:rPr lang="zh-CN" altLang="en-US" sz="2400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两者电压幅度相差悬殊，</a:t>
            </a:r>
            <a:r>
              <a:rPr lang="zh-CN" altLang="en-US" sz="240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不合适</a:t>
            </a:r>
            <a:r>
              <a:rPr lang="zh-CN" altLang="en-US" sz="2400" kern="1200" baseline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同一坐标中显示，添加波形显示区的方法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just" defTabSz="914400" fontAlgn="t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①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在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Add Trace 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对话框中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: 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选择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V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OUT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），点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OK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按钮，显示出输出端波形。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just" defTabSz="914400" fontAlgn="t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②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执行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Plot/Add Plot to Window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命令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: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屏幕上添加一个空白的波形显示区。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  <a:p>
            <a:pPr marL="0" indent="0" algn="just" defTabSz="914400" fontAlgn="t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③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再执行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Trace/Add Trace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命令：在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Add Trace 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对话框选择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V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（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V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in:+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），点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OK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按钮，在新加的波形显示区显示出输入信号</a:t>
            </a:r>
            <a:r>
              <a:rPr lang="en-US" altLang="zh-CN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Vs</a:t>
            </a:r>
            <a:r>
              <a:rPr lang="zh-CN" altLang="en-US" sz="2400" b="1" kern="1200" baseline="0">
                <a:solidFill>
                  <a:schemeClr val="tx2"/>
                </a:solidFill>
                <a:latin typeface="宋体" panose="02010600030101010101" pitchFamily="2" charset="-122"/>
                <a:ea typeface="+mn-ea"/>
                <a:cs typeface="+mn-cs"/>
              </a:rPr>
              <a:t>的波形。</a:t>
            </a:r>
            <a:endParaRPr lang="zh-CN" altLang="en-US" sz="2400" b="1" kern="1200" baseline="0">
              <a:solidFill>
                <a:schemeClr val="tx2"/>
              </a:solidFill>
              <a:latin typeface="宋体" panose="02010600030101010101" pitchFamily="2" charset="-122"/>
              <a:ea typeface="+mn-ea"/>
              <a:cs typeface="+mn-cs"/>
            </a:endParaRPr>
          </a:p>
        </p:txBody>
      </p:sp>
      <p:pic>
        <p:nvPicPr>
          <p:cNvPr id="43012" name="图片 430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298" y="3428683"/>
            <a:ext cx="9813816" cy="3420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</p:pic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72375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zh-CN" altLang="en-US"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瞬态分析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5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1">
                                            <p:txEl>
                                              <p:charRg st="5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1">
                                            <p:txEl>
                                              <p:charRg st="5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10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1">
                                            <p:txEl>
                                              <p:charRg st="10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1">
                                            <p:txEl>
                                              <p:charRg st="107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charRg st="160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1">
                                            <p:txEl>
                                              <p:charRg st="160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1">
                                            <p:txEl>
                                              <p:charRg st="160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9331" name="Picture 4" descr="v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" y="695008"/>
            <a:ext cx="9144000" cy="5732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9332" name="Text Box 5"/>
          <p:cNvSpPr txBox="1"/>
          <p:nvPr/>
        </p:nvSpPr>
        <p:spPr>
          <a:xfrm>
            <a:off x="1562100" y="1342708"/>
            <a:ext cx="26638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16175" y="1898333"/>
            <a:ext cx="669607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：找点：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Trace /Cursor/Display 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：标记：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PLOT/LABEL/MARK</a:t>
            </a:r>
            <a:endParaRPr lang="en-US" altLang="zh-CN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" name="标题 33793"/>
          <p:cNvSpPr>
            <a:spLocks noGrp="1"/>
          </p:cNvSpPr>
          <p:nvPr/>
        </p:nvSpPr>
        <p:spPr>
          <a:xfrm>
            <a:off x="377825" y="-72390"/>
            <a:ext cx="972375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cs typeface="+mj-cs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黑体" panose="02010609060101010101" pitchFamily="2" charset="-122"/>
                <a:ea typeface="幼圆" panose="02010509060101010101" pitchFamily="1" charset="-122"/>
                <a:cs typeface="+mj-cs"/>
              </a:rPr>
              <a:t>&lt;&lt;</a:t>
            </a:r>
            <a:r>
              <a:rPr lang="en-US" altLang="zh-CN"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2. </a:t>
            </a:r>
            <a:r>
              <a:rPr lang="zh-CN" altLang="en-US"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瞬态分析</a:t>
            </a:r>
            <a:endParaRPr lang="en-US" altLang="zh-CN" sz="3000" b="1" kern="1200" baseline="0">
              <a:solidFill>
                <a:schemeClr val="tx1"/>
              </a:solidFill>
              <a:latin typeface="黑体" panose="02010609060101010101" pitchFamily="2" charset="-122"/>
              <a:ea typeface="幼圆" panose="02010509060101010101" pitchFamily="1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00353" name="标题 45057"/>
          <p:cNvSpPr>
            <a:spLocks noGrp="1"/>
          </p:cNvSpPr>
          <p:nvPr>
            <p:ph type="ctrTitle" idx="4294967295"/>
          </p:nvPr>
        </p:nvSpPr>
        <p:spPr>
          <a:xfrm>
            <a:off x="1882775" y="374650"/>
            <a:ext cx="4065588" cy="522288"/>
          </a:xfr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zh-CN" altLang="en-US" sz="2800" b="1" kern="1200" baseline="0">
                <a:solidFill>
                  <a:schemeClr val="accent2"/>
                </a:solidFill>
                <a:latin typeface="宋体" panose="02010600030101010101" pitchFamily="2" charset="-122"/>
                <a:ea typeface="+mj-ea"/>
                <a:cs typeface="+mj-cs"/>
              </a:rPr>
              <a:t>为正弦信号源设置参数</a:t>
            </a:r>
            <a:endParaRPr lang="zh-CN" altLang="en-US" sz="2800" b="1" kern="1200" baseline="0">
              <a:solidFill>
                <a:schemeClr val="accent2"/>
              </a:solidFill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5059" name="副标题 45058"/>
          <p:cNvSpPr>
            <a:spLocks noGrp="1"/>
          </p:cNvSpPr>
          <p:nvPr>
            <p:ph type="subTitle" idx="4294967295"/>
          </p:nvPr>
        </p:nvSpPr>
        <p:spPr>
          <a:xfrm>
            <a:off x="1882775" y="896938"/>
            <a:ext cx="6400800" cy="538162"/>
          </a:xfrm>
        </p:spPr>
        <p:txBody>
          <a:bodyPr anchor="t" anchorCtr="0"/>
          <a:p>
            <a:pPr algn="just" defTabSz="914400">
              <a:lnSpc>
                <a:spcPct val="131000"/>
              </a:lnSpc>
              <a:buClrTx/>
              <a:buSzTx/>
              <a:buFontTx/>
            </a:pP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正弦源（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VSIN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）。共有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6</a:t>
            </a:r>
            <a:r>
              <a:rPr lang="zh-CN" altLang="en-US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n-ea"/>
                <a:cs typeface="+mn-cs"/>
              </a:rPr>
              <a:t>个参数需要设置。</a:t>
            </a:r>
            <a:endParaRPr lang="zh-CN" altLang="en-US" sz="3200" kern="1200" baseline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5060" name="表格 45059"/>
          <p:cNvGraphicFramePr/>
          <p:nvPr/>
        </p:nvGraphicFramePr>
        <p:xfrm>
          <a:off x="1882775" y="1598613"/>
          <a:ext cx="5160645" cy="2724150"/>
        </p:xfrm>
        <a:graphic>
          <a:graphicData uri="http://schemas.openxmlformats.org/drawingml/2006/table">
            <a:tbl>
              <a:tblPr/>
              <a:tblGrid>
                <a:gridCol w="1246505"/>
                <a:gridCol w="1713865"/>
                <a:gridCol w="728345"/>
                <a:gridCol w="1471930"/>
              </a:tblGrid>
              <a:tr h="3968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FF0000"/>
                          </a:solidFill>
                        </a:rPr>
                        <a:t>参数</a:t>
                      </a:r>
                      <a:endParaRPr lang="zh-CN" altLang="en-US" sz="2000" b="1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zh-CN" altLang="en-US" sz="2000" b="1">
                          <a:solidFill>
                            <a:srgbClr val="FF0000"/>
                          </a:solidFill>
                        </a:rPr>
                        <a:t>名称</a:t>
                      </a:r>
                      <a:endParaRPr lang="zh-CN" altLang="en-US" sz="2000" b="1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>
                          <a:solidFill>
                            <a:srgbClr val="FF0000"/>
                          </a:solidFill>
                        </a:rPr>
                        <a:t>单位</a:t>
                      </a:r>
                      <a:endParaRPr lang="zh-CN" altLang="en-US" sz="2000" b="1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>
                          <a:solidFill>
                            <a:srgbClr val="FF0000"/>
                          </a:solidFill>
                        </a:rPr>
                        <a:t>内定值</a:t>
                      </a:r>
                      <a:endParaRPr lang="zh-CN" altLang="en-US" sz="2000" b="1">
                        <a:solidFill>
                          <a:srgbClr val="FF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VOFF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直流偏置电压</a:t>
                      </a:r>
                      <a:endParaRPr lang="zh-CN" altLang="en-US" sz="1800" b="1" baseline="3000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V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endParaRPr lang="zh-CN" altLang="en-US" sz="1800" b="1" baseline="3000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VAMPL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振幅</a:t>
                      </a:r>
                      <a:endParaRPr lang="zh-CN" altLang="en-US" sz="1800" b="1" baseline="30000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V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63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FREQ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频率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Hz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1/TSTOP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TD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延迟时间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s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18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DF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阻尼系数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1/s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73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1800" b="1">
                          <a:solidFill>
                            <a:srgbClr val="800000"/>
                          </a:solidFill>
                        </a:rPr>
                        <a:t>PHASE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相位延迟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1800" b="1">
                          <a:solidFill>
                            <a:srgbClr val="800000"/>
                          </a:solidFill>
                        </a:rPr>
                        <a:t>度</a:t>
                      </a: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 algn="ctr" eaLnBrk="0" hangingPunct="0">
                        <a:spcBef>
                          <a:spcPct val="0"/>
                        </a:spcBef>
                        <a:buNone/>
                      </a:pPr>
                      <a:endParaRPr lang="zh-CN" altLang="en-US" sz="1800" b="1">
                        <a:solidFill>
                          <a:srgbClr val="800000"/>
                        </a:solidFill>
                      </a:endParaRPr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5102" name="矩形 45101"/>
          <p:cNvSpPr/>
          <p:nvPr/>
        </p:nvSpPr>
        <p:spPr>
          <a:xfrm>
            <a:off x="7254875" y="1695450"/>
            <a:ext cx="3200400" cy="21043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1000"/>
              </a:lnSpc>
              <a:spcBef>
                <a:spcPct val="20000"/>
              </a:spcBef>
            </a:pP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例如设定参数如下：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VOFF=0</a:t>
            </a: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VAMPL=5MV</a:t>
            </a: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FREQ=1kHz</a:t>
            </a: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TD=0</a:t>
            </a: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DF=0</a:t>
            </a: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PHASE=0</a:t>
            </a:r>
            <a:r>
              <a:rPr lang="zh-CN" altLang="en-US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。可得如图所示的正弦波形。</a:t>
            </a:r>
            <a:endParaRPr lang="zh-CN" altLang="en-US" sz="2000" b="1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5103" name="图片 45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2471738" y="4387850"/>
            <a:ext cx="7127875" cy="2470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45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  <p:bldP spid="4510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标题 46081"/>
          <p:cNvSpPr>
            <a:spLocks noGrp="1"/>
          </p:cNvSpPr>
          <p:nvPr>
            <p:ph type="ctrTitle" idx="4294967295"/>
          </p:nvPr>
        </p:nvSpPr>
        <p:spPr>
          <a:xfrm>
            <a:off x="470535" y="639445"/>
            <a:ext cx="7543165" cy="441325"/>
          </a:xfrm>
        </p:spPr>
        <p:txBody>
          <a:bodyPr anchor="ctr" anchorCtr="0"/>
          <a:p>
            <a:pPr algn="l" defTabSz="914400">
              <a:buClrTx/>
              <a:buSzTx/>
              <a:buFontTx/>
              <a:buNone/>
            </a:pPr>
            <a:r>
              <a:rPr lang="zh-CN" altLang="en-US" sz="2800" b="1" kern="1200" baseline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2" charset="-122"/>
                <a:cs typeface="+mj-cs"/>
              </a:rPr>
              <a:t>交流分析</a:t>
            </a:r>
            <a:r>
              <a:rPr lang="en-US" altLang="zh-CN" sz="2800" b="1" kern="1200" baseline="0">
                <a:latin typeface="宋体" panose="02010600030101010101" pitchFamily="2" charset="-122"/>
                <a:ea typeface="+mj-ea"/>
                <a:cs typeface="+mj-cs"/>
              </a:rPr>
              <a:t>AC</a:t>
            </a:r>
            <a:r>
              <a:rPr lang="zh-CN" altLang="en-US" sz="2800" b="1" kern="1200" baseline="0">
                <a:latin typeface="宋体" panose="02010600030101010101" pitchFamily="2" charset="-122"/>
                <a:ea typeface="+mj-ea"/>
                <a:cs typeface="+mj-cs"/>
              </a:rPr>
              <a:t>分析</a:t>
            </a:r>
            <a:r>
              <a:rPr lang="en-US" altLang="zh-CN" sz="2800" b="1" kern="1200" baseline="0">
                <a:latin typeface="宋体" panose="02010600030101010101" pitchFamily="2" charset="-122"/>
                <a:ea typeface="+mj-ea"/>
                <a:cs typeface="+mj-cs"/>
              </a:rPr>
              <a:t>:</a:t>
            </a:r>
            <a:r>
              <a:rPr lang="zh-CN" altLang="en-US" sz="2800" b="1" kern="1200" baseline="0">
                <a:latin typeface="宋体" panose="02010600030101010101" pitchFamily="2" charset="-122"/>
                <a:ea typeface="+mj-ea"/>
                <a:cs typeface="+mj-cs"/>
              </a:rPr>
              <a:t>频域</a:t>
            </a:r>
            <a:r>
              <a:rPr lang="zh-CN" altLang="en-US" sz="2800" b="1" kern="1200" baseline="0">
                <a:latin typeface="宋体" panose="02010600030101010101" pitchFamily="2" charset="-122"/>
                <a:ea typeface="+mj-ea"/>
                <a:cs typeface="+mj-cs"/>
              </a:rPr>
              <a:t>响应</a:t>
            </a:r>
            <a:endParaRPr lang="zh-CN" altLang="en-US" sz="2800" b="1" kern="1200" baseline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46085" name="文本框 46084"/>
          <p:cNvSpPr txBox="1"/>
          <p:nvPr/>
        </p:nvSpPr>
        <p:spPr>
          <a:xfrm>
            <a:off x="398780" y="2632075"/>
            <a:ext cx="5470525" cy="14763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rPr>
              <a:t>（1）信号源选正弦源VSIN，用Edit / </a:t>
            </a:r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endParaRPr lang="en-US" altLang="zh-CN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</a:t>
            </a:r>
            <a:r>
              <a:rPr lang="zh-CN" altLang="en-US" b="1" dirty="0">
                <a:latin typeface="Times New Roman" panose="02020603050405020304" pitchFamily="2" charset="0"/>
                <a:ea typeface="宋体" panose="02010600030101010101" pitchFamily="2" charset="-122"/>
              </a:rPr>
              <a:t>Properties命令,调出Property Editor</a:t>
            </a:r>
            <a:endParaRPr lang="zh-CN" altLang="en-US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加入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AC=10mV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54341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交流分析</a:t>
            </a: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en-US" altLang="zh-CN" sz="3000" b="1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130" name="标题 48129"/>
          <p:cNvSpPr>
            <a:spLocks noGrp="1"/>
          </p:cNvSpPr>
          <p:nvPr/>
        </p:nvSpPr>
        <p:spPr>
          <a:xfrm>
            <a:off x="438785" y="4149725"/>
            <a:ext cx="5231765" cy="7181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buClrTx/>
              <a:buSzTx/>
              <a:buFontTx/>
              <a:buNone/>
            </a:pPr>
            <a:r>
              <a:rPr lang="zh-CN" altLang="en-US"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（</a:t>
            </a:r>
            <a:r>
              <a:rPr lang="en-US" altLang="zh-CN"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  <a:r>
              <a:rPr lang="zh-CN" altLang="en-US"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）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</a:t>
            </a:r>
            <a:r>
              <a:rPr lang="en-US" altLang="zh-CN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</a:t>
            </a:r>
            <a:r>
              <a:rPr lang="zh-CN" altLang="en-US" sz="2400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分析类型，设置分析类型和参数</a:t>
            </a:r>
            <a:endParaRPr lang="en-US" altLang="zh-CN" sz="2400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8132" name="对象 48131"/>
          <p:cNvGraphicFramePr>
            <a:graphicFrameLocks noChangeAspect="1"/>
          </p:cNvGraphicFramePr>
          <p:nvPr/>
        </p:nvGraphicFramePr>
        <p:xfrm>
          <a:off x="5736273" y="3143885"/>
          <a:ext cx="6183187" cy="40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" imgW="4962525" imgH="3267075" progId="PBrush">
                  <p:embed/>
                </p:oleObj>
              </mc:Choice>
              <mc:Fallback>
                <p:oleObj name="" r:id="rId1" imgW="4962525" imgH="3267075" progId="PBrush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36273" y="3143885"/>
                        <a:ext cx="6183187" cy="406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880735" y="4198620"/>
            <a:ext cx="1651635" cy="41211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903595" y="4723130"/>
            <a:ext cx="1652270" cy="41211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113395" y="4723130"/>
            <a:ext cx="1190625" cy="51054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777220" y="4363085"/>
            <a:ext cx="720090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760710" y="4633595"/>
            <a:ext cx="720090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796905" y="4956810"/>
            <a:ext cx="720090" cy="24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721975" y="4284345"/>
            <a:ext cx="494030" cy="384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10</a:t>
            </a:r>
            <a:endParaRPr lang="en-US" altLang="zh-CN" sz="2000" b="1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711180" y="4515485"/>
            <a:ext cx="1002030" cy="4756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5000"/>
              </a:lnSpc>
              <a:buFont typeface="Wingdings" panose="05000000000000000000" charset="0"/>
            </a:pP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10MEG</a:t>
            </a:r>
            <a:endParaRPr lang="en-US" altLang="zh-CN" sz="2000" b="1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758170" y="4889500"/>
            <a:ext cx="494030" cy="3848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4</a:t>
            </a:r>
            <a:endParaRPr lang="en-US" altLang="zh-CN" sz="2000" b="1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51290" y="5199380"/>
            <a:ext cx="31534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倍频间隔计算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个点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6083" name="副标题 46082"/>
          <p:cNvSpPr>
            <a:spLocks noGrp="1"/>
          </p:cNvSpPr>
          <p:nvPr>
            <p:ph type="subTitle" idx="4294967295"/>
          </p:nvPr>
        </p:nvSpPr>
        <p:spPr>
          <a:xfrm>
            <a:off x="685800" y="1031240"/>
            <a:ext cx="6271895" cy="1624330"/>
          </a:xfrm>
        </p:spPr>
        <p:txBody>
          <a:bodyPr anchor="t" anchorCtr="0"/>
          <a:p>
            <a:pPr marL="0" indent="0" algn="l" defTabSz="914400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  <a:sym typeface="+mn-ea"/>
              </a:rPr>
              <a:t>须有</a:t>
            </a:r>
            <a:r>
              <a:rPr lang="en-US" altLang="zh-CN" sz="2400" b="1">
                <a:latin typeface="宋体" panose="02010600030101010101" pitchFamily="2" charset="-122"/>
                <a:sym typeface="+mn-ea"/>
              </a:rPr>
              <a:t>AC</a:t>
            </a:r>
            <a:r>
              <a:rPr lang="zh-CN" altLang="en-US" sz="2400" b="1">
                <a:latin typeface="宋体" panose="02010600030101010101" pitchFamily="2" charset="-122"/>
                <a:sym typeface="+mn-ea"/>
              </a:rPr>
              <a:t>激励源</a:t>
            </a:r>
            <a:r>
              <a:rPr lang="en-US" altLang="zh-CN" sz="2400" b="1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有以下两种：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  <a:p>
            <a:pPr algn="l" defTabSz="914400">
              <a:lnSpc>
                <a:spcPct val="120000"/>
              </a:lnSpc>
              <a:spcBef>
                <a:spcPct val="1000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调用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VAC 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或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IAC 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激励源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  <a:p>
            <a:pPr algn="l" defTabSz="914400">
              <a:lnSpc>
                <a:spcPct val="120000"/>
              </a:lnSpc>
              <a:spcBef>
                <a:spcPct val="10000"/>
              </a:spcBef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已有激励源（如</a:t>
            </a:r>
            <a:r>
              <a:rPr lang="en-US" altLang="zh-CN" sz="2400" b="1" kern="1200" baseline="0">
                <a:latin typeface="宋体" panose="02010600030101010101" pitchFamily="2" charset="-122"/>
                <a:ea typeface="+mn-ea"/>
                <a:cs typeface="+mn-cs"/>
              </a:rPr>
              <a:t>VSIN</a:t>
            </a:r>
            <a:r>
              <a:rPr lang="zh-CN" altLang="en-US" sz="2400" b="1" kern="1200" baseline="0">
                <a:latin typeface="宋体" panose="02010600030101010101" pitchFamily="2" charset="-122"/>
                <a:ea typeface="+mn-ea"/>
                <a:cs typeface="+mn-cs"/>
              </a:rPr>
              <a:t>）属性中加入</a:t>
            </a:r>
            <a:r>
              <a:rPr lang="zh-CN" altLang="en-US" sz="2400" b="1" kern="1200" baseline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lang="en-US" altLang="zh-CN" sz="2400" b="1" kern="1200" baseline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AC”</a:t>
            </a:r>
            <a:endParaRPr lang="zh-CN" altLang="en-US" sz="2400" b="1" kern="1200" baseline="0">
              <a:latin typeface="宋体" panose="02010600030101010101" pitchFamily="2" charset="-122"/>
              <a:ea typeface="+mn-ea"/>
              <a:cs typeface="+mn-cs"/>
            </a:endParaRPr>
          </a:p>
        </p:txBody>
      </p:sp>
      <p:grpSp>
        <p:nvGrpSpPr>
          <p:cNvPr id="14" name="组合 13"/>
          <p:cNvGrpSpPr>
            <a:grpSpLocks noChangeAspect="1"/>
          </p:cNvGrpSpPr>
          <p:nvPr/>
        </p:nvGrpSpPr>
        <p:grpSpPr>
          <a:xfrm>
            <a:off x="6527800" y="548640"/>
            <a:ext cx="4057741" cy="2700000"/>
            <a:chOff x="13838" y="-949"/>
            <a:chExt cx="6814" cy="4534"/>
          </a:xfrm>
        </p:grpSpPr>
        <p:grpSp>
          <p:nvGrpSpPr>
            <p:cNvPr id="15" name="组合 14"/>
            <p:cNvGrpSpPr/>
            <p:nvPr/>
          </p:nvGrpSpPr>
          <p:grpSpPr>
            <a:xfrm>
              <a:off x="13838" y="-949"/>
              <a:ext cx="6814" cy="4534"/>
              <a:chOff x="13838" y="-949"/>
              <a:chExt cx="6814" cy="4534"/>
            </a:xfrm>
          </p:grpSpPr>
          <p:pic>
            <p:nvPicPr>
              <p:cNvPr id="16" name="图片 1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38" y="-949"/>
                <a:ext cx="6815" cy="4535"/>
              </a:xfrm>
              <a:prstGeom prst="rect">
                <a:avLst/>
              </a:prstGeom>
            </p:spPr>
          </p:pic>
          <p:sp>
            <p:nvSpPr>
              <p:cNvPr id="17" name="矩形 16"/>
              <p:cNvSpPr/>
              <p:nvPr/>
            </p:nvSpPr>
            <p:spPr>
              <a:xfrm>
                <a:off x="14846" y="2172"/>
                <a:ext cx="119" cy="1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4675" y="2055"/>
              <a:ext cx="116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rgbClr val="FF0000"/>
                  </a:solidFill>
                </a:rPr>
                <a:t>10mV</a:t>
              </a:r>
              <a:endParaRPr lang="en-US" altLang="zh-CN" sz="10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ldLvl="0" animBg="1"/>
      <p:bldP spid="5" grpId="0" bldLvl="0" animBg="1"/>
      <p:bldP spid="6" grpId="0"/>
      <p:bldP spid="7" grpId="0"/>
      <p:bldP spid="12" grpId="0"/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49153"/>
          <p:cNvSpPr>
            <a:spLocks noGrp="1"/>
          </p:cNvSpPr>
          <p:nvPr>
            <p:ph type="ctrTitle" idx="4294967295"/>
          </p:nvPr>
        </p:nvSpPr>
        <p:spPr>
          <a:xfrm>
            <a:off x="405765" y="549910"/>
            <a:ext cx="6696075" cy="501650"/>
          </a:xfrm>
        </p:spPr>
        <p:txBody>
          <a:bodyPr anchor="ctr" anchorCtr="0"/>
          <a:p>
            <a:pPr algn="l" defTabSz="914400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28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（</a:t>
            </a:r>
            <a:r>
              <a:rPr lang="en-US" altLang="zh-CN" sz="28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r>
              <a:rPr lang="zh-CN" altLang="en-US" sz="28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）查看分析结果</a:t>
            </a:r>
            <a:r>
              <a:rPr lang="en-US" altLang="zh-CN" sz="2800" b="1" kern="1200" baseline="0">
                <a:latin typeface="+mj-lt"/>
                <a:ea typeface="+mj-ea"/>
                <a:cs typeface="+mj-cs"/>
              </a:rPr>
              <a:t>Trace/Add Trace</a:t>
            </a:r>
            <a:r>
              <a:rPr lang="zh-CN" altLang="en-US" sz="2800" b="1" kern="1200" baseline="0">
                <a:latin typeface="+mj-lt"/>
                <a:ea typeface="+mj-ea"/>
                <a:cs typeface="+mj-cs"/>
              </a:rPr>
              <a:t>命令</a:t>
            </a:r>
            <a:r>
              <a:rPr lang="zh-CN" altLang="en-US"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zh-CN"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</a:t>
            </a:r>
            <a:endParaRPr lang="zh-CN" altLang="en-US" sz="2400" b="1" kern="1200" baseline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155" name="副标题 49154"/>
          <p:cNvSpPr>
            <a:spLocks noGrp="1"/>
          </p:cNvSpPr>
          <p:nvPr>
            <p:ph type="subTitle" idx="4294967295"/>
          </p:nvPr>
        </p:nvSpPr>
        <p:spPr>
          <a:xfrm>
            <a:off x="782320" y="1199515"/>
            <a:ext cx="7785735" cy="1078865"/>
          </a:xfrm>
        </p:spPr>
        <p:txBody>
          <a:bodyPr anchor="t" anchorCtr="0"/>
          <a:p>
            <a:pPr marL="457200" indent="-457200" algn="just" defTabSz="914400">
              <a:lnSpc>
                <a:spcPct val="120000"/>
              </a:lnSpc>
              <a:spcBef>
                <a:spcPct val="0"/>
              </a:spcBef>
              <a:buClrTx/>
              <a:buSzTx/>
              <a:buFont typeface="+mj-ea"/>
              <a:buAutoNum type="circleNumDbPlain"/>
            </a:pP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电压增益的幅频特性</a:t>
            </a:r>
            <a:endParaRPr lang="zh-CN" altLang="en-US" sz="2400" b="1" kern="1200" baseline="0">
              <a:latin typeface="+mn-lt"/>
              <a:ea typeface="+mn-ea"/>
              <a:cs typeface="+mn-cs"/>
            </a:endParaRPr>
          </a:p>
          <a:p>
            <a:pPr marL="0" indent="0" algn="just" defTabSz="91440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kern="1200" baseline="0">
                <a:latin typeface="+mn-lt"/>
                <a:ea typeface="+mn-ea"/>
                <a:cs typeface="+mn-cs"/>
              </a:rPr>
              <a:t>    </a:t>
            </a:r>
            <a:r>
              <a:rPr lang="zh-CN" altLang="en-US" sz="2400" b="1" kern="1200" baseline="0">
                <a:latin typeface="+mn-lt"/>
                <a:ea typeface="+mn-ea"/>
                <a:cs typeface="+mn-cs"/>
              </a:rPr>
              <a:t>“</a:t>
            </a:r>
            <a:r>
              <a:rPr lang="en-US" altLang="zh-CN" sz="2400" b="1" kern="1200" baseline="0">
                <a:latin typeface="+mn-lt"/>
                <a:ea typeface="+mn-ea"/>
                <a:cs typeface="+mn-cs"/>
              </a:rPr>
              <a:t>Trace Expression”:DB(V(OUT)/V(</a:t>
            </a:r>
            <a:r>
              <a:rPr lang="en-US" altLang="zh-CN" sz="2400" b="1" kern="1200" baseline="0" dirty="0">
                <a:latin typeface="+mn-lt"/>
                <a:ea typeface="+mn-ea"/>
                <a:cs typeface="+mn-cs"/>
              </a:rPr>
              <a:t>IN)</a:t>
            </a:r>
            <a:endParaRPr lang="zh-CN" altLang="en-US" sz="2400" b="1" kern="1200" baseline="0" dirty="0">
              <a:latin typeface="+mn-lt"/>
              <a:ea typeface="+mn-ea"/>
              <a:cs typeface="+mn-cs"/>
            </a:endParaRPr>
          </a:p>
        </p:txBody>
      </p:sp>
      <p:sp>
        <p:nvSpPr>
          <p:cNvPr id="49156" name="文本框 49155"/>
          <p:cNvSpPr txBox="1"/>
          <p:nvPr/>
        </p:nvSpPr>
        <p:spPr>
          <a:xfrm>
            <a:off x="767715" y="2624455"/>
            <a:ext cx="6406515" cy="9036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 eaLnBrk="0" hangingPunct="0">
              <a:spcBef>
                <a:spcPct val="50000"/>
              </a:spcBef>
              <a:buFont typeface="+mj-ea"/>
              <a:buAutoNum type="circleNumDbPlain" startAt="2"/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电压增益的相频特性 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Trace Expression”: P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V(OUT)/V(IN))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57" name="矩形 49156"/>
          <p:cNvSpPr/>
          <p:nvPr/>
        </p:nvSpPr>
        <p:spPr>
          <a:xfrm>
            <a:off x="690245" y="4072255"/>
            <a:ext cx="61842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 eaLnBrk="0" hangingPunct="0">
              <a:buFont typeface="+mj-ea"/>
              <a:buAutoNum type="circleNumDbPlain" startAt="3"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输入阻抗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58" name="文本框 49157"/>
          <p:cNvSpPr txBox="1"/>
          <p:nvPr/>
        </p:nvSpPr>
        <p:spPr>
          <a:xfrm>
            <a:off x="905510" y="4674235"/>
            <a:ext cx="562038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“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Trace Expression”: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V(IN)/I(V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in)</a:t>
            </a:r>
            <a:r>
              <a:rPr lang="zh-CN" altLang="en-US" b="1">
                <a:latin typeface="Times New Roman" panose="02020603050405020304" pitchFamily="2" charset="0"/>
                <a:ea typeface="宋体" panose="02010600030101010101" pitchFamily="2" charset="-122"/>
              </a:rPr>
              <a:t>）</a:t>
            </a:r>
            <a:r>
              <a:rPr lang="en-US" altLang="zh-CN" b="1">
                <a:latin typeface="Times New Roman" panose="02020603050405020304" pitchFamily="2" charset="0"/>
                <a:ea typeface="宋体" panose="02010600030101010101" pitchFamily="2" charset="-122"/>
              </a:rPr>
              <a:t>) </a:t>
            </a:r>
            <a:endParaRPr lang="zh-CN" altLang="en-US" b="1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54341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交流分析</a:t>
            </a: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en-US" altLang="zh-CN" sz="3000" b="1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72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9603" y="548640"/>
            <a:ext cx="4202015" cy="295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7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03" y="3573145"/>
            <a:ext cx="4286486" cy="298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1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5">
                                            <p:txEl>
                                              <p:charRg st="1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5">
                                            <p:txEl>
                                              <p:charRg st="12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nimBg="1"/>
      <p:bldP spid="49155" grpId="0" animBg="1" uiExpand="1" build="p"/>
      <p:bldP spid="49156" grpId="0" bldLvl="0" animBg="1"/>
      <p:bldP spid="49157" grpId="0" bldLvl="0" animBg="1"/>
      <p:bldP spid="49158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5" name="标题 50177"/>
          <p:cNvSpPr>
            <a:spLocks noGrp="1"/>
          </p:cNvSpPr>
          <p:nvPr>
            <p:ph type="ctrTitle" idx="4294967295"/>
          </p:nvPr>
        </p:nvSpPr>
        <p:spPr>
          <a:xfrm>
            <a:off x="664210" y="1046480"/>
            <a:ext cx="5534660" cy="1855470"/>
          </a:xfrm>
        </p:spPr>
        <p:txBody>
          <a:bodyPr anchor="ctr" anchorCtr="0"/>
          <a:p>
            <a:pPr marL="342900" indent="-342900" algn="l" defTabSz="914400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修改电路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:</a:t>
            </a:r>
            <a:b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</a:b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输入端接地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,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取掉负载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R</a:t>
            </a:r>
            <a:r>
              <a:rPr lang="en-US" altLang="zh-CN" sz="2400" b="1" kern="1200" baseline="-30000">
                <a:latin typeface="宋体" panose="02010600030101010101" pitchFamily="2" charset="-122"/>
                <a:ea typeface="+mj-ea"/>
                <a:cs typeface="+mj-cs"/>
              </a:rPr>
              <a:t>L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,</a:t>
            </a:r>
            <a:b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</a:br>
            <a:r>
              <a:rPr lang="zh-CN" altLang="en-US" sz="2400" b="1">
                <a:latin typeface="宋体" panose="02010600030101010101" pitchFamily="2" charset="-122"/>
                <a:sym typeface="+mn-ea"/>
              </a:rPr>
              <a:t>外加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信号源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VSIN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(AC=10</a:t>
            </a:r>
            <a:r>
              <a:rPr lang="en-US" altLang="zh-CN" sz="2400" b="1" kern="1200" baseline="0">
                <a:solidFill>
                  <a:srgbClr val="FF0000"/>
                </a:solidFill>
                <a:latin typeface="宋体" panose="02010600030101010101" pitchFamily="2" charset="-122"/>
                <a:ea typeface="+mj-ea"/>
                <a:cs typeface="+mj-cs"/>
              </a:rPr>
              <a:t>mV)</a:t>
            </a:r>
            <a:endParaRPr lang="zh-CN" altLang="en-US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54341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交流分析</a:t>
            </a: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en-US" altLang="zh-CN" sz="3000" b="1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50177"/>
          <p:cNvSpPr>
            <a:spLocks noGrp="1"/>
          </p:cNvSpPr>
          <p:nvPr/>
        </p:nvSpPr>
        <p:spPr>
          <a:xfrm>
            <a:off x="607695" y="532130"/>
            <a:ext cx="3016250" cy="660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buClrTx/>
              <a:buSzTx/>
              <a:buFont typeface="Wingdings" panose="05000000000000000000" charset="0"/>
            </a:pP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⑤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输出阻抗</a:t>
            </a:r>
            <a:endParaRPr lang="zh-CN" altLang="en-US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4" name="标题 50177"/>
          <p:cNvSpPr>
            <a:spLocks noGrp="1"/>
          </p:cNvSpPr>
          <p:nvPr/>
        </p:nvSpPr>
        <p:spPr>
          <a:xfrm>
            <a:off x="535305" y="4149090"/>
            <a:ext cx="6214110" cy="142049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单击菜单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Trace/Add Trace </a:t>
            </a:r>
            <a:endParaRPr lang="en-US" altLang="zh-CN" sz="2400" b="1" kern="1200" baseline="0">
              <a:latin typeface="宋体" panose="02010600030101010101" pitchFamily="2" charset="-122"/>
              <a:ea typeface="+mj-ea"/>
              <a:cs typeface="+mj-cs"/>
            </a:endParaRPr>
          </a:p>
          <a:p>
            <a:pPr algn="l" defTabSz="914400">
              <a:lnSpc>
                <a:spcPct val="100000"/>
              </a:lnSpc>
              <a:buClrTx/>
              <a:buSzTx/>
              <a:buFont typeface="Wingdings" panose="05000000000000000000" charset="0"/>
            </a:pP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  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弹出 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Add Trace: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键入：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V(Vo:+)/I(Vo)</a:t>
            </a:r>
            <a:endParaRPr lang="en-US" altLang="zh-CN" sz="2400" b="1" kern="1200" baseline="0">
              <a:latin typeface="宋体" panose="02010600030101010101" pitchFamily="2" charset="-122"/>
              <a:ea typeface="+mj-ea"/>
              <a:cs typeface="+mj-cs"/>
            </a:endParaRPr>
          </a:p>
          <a:p>
            <a:pPr algn="l" defTabSz="914400">
              <a:lnSpc>
                <a:spcPct val="100000"/>
              </a:lnSpc>
              <a:buClrTx/>
              <a:buSzTx/>
              <a:buFont typeface="Wingdings" panose="05000000000000000000" charset="0"/>
            </a:pP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  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输出阻抗的频率特性</a:t>
            </a:r>
            <a:r>
              <a:rPr lang="zh-CN" altLang="en-US" sz="4400" kern="1200" baseline="0">
                <a:latin typeface="+mj-lt"/>
                <a:ea typeface="+mj-ea"/>
                <a:cs typeface="+mj-cs"/>
              </a:rPr>
              <a:t> </a:t>
            </a:r>
            <a:endParaRPr lang="zh-CN" altLang="en-US" sz="4400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5" name="标题 50177"/>
          <p:cNvSpPr>
            <a:spLocks noGrp="1"/>
          </p:cNvSpPr>
          <p:nvPr/>
        </p:nvSpPr>
        <p:spPr>
          <a:xfrm>
            <a:off x="535305" y="2975610"/>
            <a:ext cx="7052945" cy="9766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defTabSz="914400">
              <a:lnSpc>
                <a:spcPct val="125000"/>
              </a:lnSpc>
              <a:buClrTx/>
              <a:buSzTx/>
              <a:buFont typeface="Wingdings" panose="05000000000000000000" charset="0"/>
              <a:buChar char="u"/>
            </a:pP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菜单 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PSpice /RUN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（或用鼠标点击符号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RUN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）</a:t>
            </a:r>
            <a:endParaRPr lang="en-US" altLang="zh-CN" sz="2400" b="1" kern="1200" baseline="0">
              <a:latin typeface="宋体" panose="02010600030101010101" pitchFamily="2" charset="-122"/>
              <a:ea typeface="+mj-ea"/>
              <a:cs typeface="+mj-cs"/>
            </a:endParaRPr>
          </a:p>
          <a:p>
            <a:pPr algn="l" defTabSz="914400">
              <a:lnSpc>
                <a:spcPct val="125000"/>
              </a:lnSpc>
              <a:buClrTx/>
              <a:buSzTx/>
              <a:buFont typeface="Wingdings" panose="05000000000000000000" charset="0"/>
            </a:pP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    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可观察</a:t>
            </a:r>
            <a:r>
              <a:rPr lang="en-US" altLang="zh-CN" sz="2400" b="1" kern="1200" baseline="0">
                <a:latin typeface="宋体" panose="02010600030101010101" pitchFamily="2" charset="-122"/>
                <a:ea typeface="+mj-ea"/>
                <a:cs typeface="+mj-cs"/>
              </a:rPr>
              <a:t>AC</a:t>
            </a:r>
            <a:r>
              <a:rPr lang="zh-CN" altLang="en-US" sz="2400" b="1" kern="1200" baseline="0">
                <a:latin typeface="宋体" panose="02010600030101010101" pitchFamily="2" charset="-122"/>
                <a:ea typeface="+mj-ea"/>
                <a:cs typeface="+mj-cs"/>
              </a:rPr>
              <a:t>交流瞬态或频域分析</a:t>
            </a:r>
            <a:endParaRPr lang="zh-CN" altLang="en-US" sz="4400" kern="1200" baseline="0">
              <a:latin typeface="+mj-lt"/>
              <a:ea typeface="+mj-ea"/>
              <a:cs typeface="+mj-cs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3287375" y="260985"/>
            <a:ext cx="5351780" cy="3462020"/>
            <a:chOff x="9714" y="1242"/>
            <a:chExt cx="8428" cy="5452"/>
          </a:xfrm>
        </p:grpSpPr>
        <p:graphicFrame>
          <p:nvGraphicFramePr>
            <p:cNvPr id="50179" name="对象 50178"/>
            <p:cNvGraphicFramePr>
              <a:graphicFrameLocks noChangeAspect="1"/>
            </p:cNvGraphicFramePr>
            <p:nvPr/>
          </p:nvGraphicFramePr>
          <p:xfrm>
            <a:off x="9714" y="1242"/>
            <a:ext cx="8428" cy="5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1" imgW="4838700" imgH="3931920" progId="PBrush">
                    <p:embed/>
                  </p:oleObj>
                </mc:Choice>
                <mc:Fallback>
                  <p:oleObj name="" r:id="rId1" imgW="4838700" imgH="3931920" progId="PBrush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714" y="1242"/>
                          <a:ext cx="8428" cy="545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/>
            <p:nvPr/>
          </p:nvSpPr>
          <p:spPr>
            <a:xfrm>
              <a:off x="9827" y="4039"/>
              <a:ext cx="2721" cy="1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11815" y="3948"/>
              <a:ext cx="0" cy="111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816090" y="756285"/>
            <a:ext cx="5288280" cy="3528060"/>
            <a:chOff x="10734" y="1191"/>
            <a:chExt cx="8328" cy="5556"/>
          </a:xfrm>
        </p:grpSpPr>
        <p:pic>
          <p:nvPicPr>
            <p:cNvPr id="32771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34" y="1191"/>
              <a:ext cx="8258" cy="555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" name="矩形 11"/>
            <p:cNvSpPr/>
            <p:nvPr/>
          </p:nvSpPr>
          <p:spPr>
            <a:xfrm>
              <a:off x="18044" y="4776"/>
              <a:ext cx="220" cy="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7900" y="4658"/>
              <a:ext cx="116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solidFill>
                    <a:srgbClr val="FF0000"/>
                  </a:solidFill>
                </a:rPr>
                <a:t>10mV</a:t>
              </a:r>
              <a:endParaRPr lang="en-US" altLang="zh-CN" sz="1000">
                <a:solidFill>
                  <a:srgbClr val="FF0000"/>
                </a:solidFill>
              </a:endParaRPr>
            </a:p>
          </p:txBody>
        </p:sp>
      </p:grpSp>
      <p:sp>
        <p:nvSpPr>
          <p:cNvPr id="10" name="AutoShape 6"/>
          <p:cNvSpPr/>
          <p:nvPr/>
        </p:nvSpPr>
        <p:spPr>
          <a:xfrm>
            <a:off x="6600190" y="4581208"/>
            <a:ext cx="1800225" cy="644525"/>
          </a:xfrm>
          <a:prstGeom prst="wedgeRectCallout">
            <a:avLst>
              <a:gd name="adj1" fmla="val -6543"/>
              <a:gd name="adj2" fmla="val -219211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输入短接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6"/>
          <p:cNvSpPr/>
          <p:nvPr/>
        </p:nvSpPr>
        <p:spPr>
          <a:xfrm>
            <a:off x="9336088" y="4437380"/>
            <a:ext cx="1800225" cy="644525"/>
          </a:xfrm>
          <a:prstGeom prst="wedgeRectCallout">
            <a:avLst>
              <a:gd name="adj1" fmla="val 24691"/>
              <a:gd name="adj2" fmla="val -269802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AC</a:t>
            </a:r>
            <a:r>
              <a:rPr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</a:rPr>
              <a:t>在输出端</a:t>
            </a:r>
            <a:endParaRPr lang="zh-CN" altLang="en-US" sz="24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9" grpId="0" bldLvl="0" animBg="1"/>
      <p:bldP spid="10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ctrTitle"/>
          </p:nvPr>
        </p:nvSpPr>
        <p:spPr>
          <a:xfrm>
            <a:off x="2209800" y="506413"/>
            <a:ext cx="7772400" cy="522287"/>
          </a:xfrm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交流分析中的输出变量名</a:t>
            </a:r>
            <a:b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</a:br>
            <a:endParaRPr lang="zh-CN" altLang="en-US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9938" name="Rectangle 3"/>
          <p:cNvSpPr>
            <a:spLocks noGrp="1"/>
          </p:cNvSpPr>
          <p:nvPr>
            <p:ph type="subTitle" idx="1"/>
          </p:nvPr>
        </p:nvSpPr>
        <p:spPr>
          <a:xfrm>
            <a:off x="2209800" y="1257300"/>
            <a:ext cx="8180388" cy="14859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1000"/>
              </a:lnSpc>
              <a:buClrTx/>
              <a:buSzTx/>
              <a:buFontTx/>
            </a:pPr>
            <a:r>
              <a:rPr lang="en-US" altLang="zh-CN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zh-CN" altLang="en-US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作交流分析时，输出变量名除了可用基本格式外，还可在基本格式中的关键字</a:t>
            </a:r>
            <a:r>
              <a:rPr lang="en-US" altLang="zh-CN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V</a:t>
            </a:r>
            <a:r>
              <a:rPr lang="zh-CN" altLang="en-US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或</a:t>
            </a:r>
            <a:r>
              <a:rPr lang="en-US" altLang="zh-CN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I</a:t>
            </a:r>
            <a:r>
              <a:rPr lang="zh-CN" altLang="en-US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后面加一标示符，以表示输出量类型。下表示出了</a:t>
            </a:r>
            <a:r>
              <a:rPr lang="en-US" altLang="zh-CN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5</a:t>
            </a:r>
            <a:r>
              <a:rPr lang="zh-CN" altLang="en-US" sz="2400" b="1" dirty="0">
                <a:solidFill>
                  <a:srgbClr val="990000"/>
                </a:solidFill>
                <a:latin typeface="+mn-lt"/>
                <a:ea typeface="+mn-ea"/>
                <a:cs typeface="+mn-cs"/>
              </a:rPr>
              <a:t>种标示符及含义。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3012" name="表格 43011"/>
          <p:cNvGraphicFramePr/>
          <p:nvPr/>
        </p:nvGraphicFramePr>
        <p:xfrm>
          <a:off x="2209800" y="3138488"/>
          <a:ext cx="8051800" cy="3598860"/>
        </p:xfrm>
        <a:graphic>
          <a:graphicData uri="http://schemas.openxmlformats.org/drawingml/2006/table">
            <a:tbl>
              <a:tblPr/>
              <a:tblGrid>
                <a:gridCol w="1109980"/>
                <a:gridCol w="2411095"/>
                <a:gridCol w="4530725"/>
              </a:tblGrid>
              <a:tr h="39691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标示符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20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含    义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2000" b="1" dirty="0">
                          <a:solidFill>
                            <a:srgbClr val="FF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示例</a:t>
                      </a:r>
                      <a:endParaRPr lang="zh-CN" altLang="en-US" sz="2000" b="1" dirty="0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3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M</a:t>
                      </a:r>
                      <a:endParaRPr lang="en-US" altLang="zh-CN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输出变量的振幅</a:t>
                      </a:r>
                      <a:endParaRPr lang="zh-CN" altLang="en-US" sz="1800" b="1" baseline="30000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VM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）：接点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与地之间交流电压振幅</a:t>
                      </a:r>
                      <a:endParaRPr lang="zh-CN" altLang="en-US" sz="1800" b="1" baseline="30000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3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DB</a:t>
                      </a:r>
                      <a:endParaRPr lang="en-US" altLang="zh-CN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输出变量的振幅分贝数</a:t>
                      </a:r>
                      <a:endParaRPr lang="zh-CN" altLang="en-US" sz="1800" b="1" baseline="30000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VDB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）：接点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与地之间交流电压振幅分贝数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3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P</a:t>
                      </a:r>
                      <a:endParaRPr lang="en-US" altLang="zh-CN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输出变量的相位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VDP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Out1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， 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Out2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）：接点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Out1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与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Out2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之间交流电压相位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13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R</a:t>
                      </a:r>
                      <a:endParaRPr lang="en-US" altLang="zh-CN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输出变量的实部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VR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Q1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）：晶体管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Q1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集电极的交流电压实部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1406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I</a:t>
                      </a:r>
                      <a:endParaRPr lang="en-US" altLang="zh-CN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输出变量的虚部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2" charset="0"/>
                          <a:ea typeface="黑体" panose="0201060906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buNone/>
                      </a:pP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VI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Q1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）：晶体管</a:t>
                      </a:r>
                      <a:r>
                        <a:rPr lang="en-US" altLang="zh-CN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Q1</a:t>
                      </a:r>
                      <a:r>
                        <a:rPr lang="zh-CN" altLang="en-US" sz="1800" b="1" dirty="0">
                          <a:solidFill>
                            <a:srgbClr val="800000"/>
                          </a:solidFill>
                          <a:latin typeface="Times New Roman" panose="02020603050405020304" pitchFamily="2" charset="0"/>
                          <a:ea typeface="宋体" panose="02010600030101010101" pitchFamily="2" charset="-122"/>
                        </a:rPr>
                        <a:t>集电极的交流电压虚部</a:t>
                      </a:r>
                      <a:endParaRPr lang="zh-CN" altLang="en-US" sz="1800" b="1" dirty="0">
                        <a:solidFill>
                          <a:srgbClr val="800000"/>
                        </a:solidFill>
                        <a:latin typeface="Times New Roman" panose="02020603050405020304" pitchFamily="2" charset="0"/>
                        <a:ea typeface="宋体" panose="02010600030101010101" pitchFamily="2" charset="-122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Rectangle 2"/>
          <p:cNvSpPr>
            <a:spLocks noGrp="1"/>
          </p:cNvSpPr>
          <p:nvPr>
            <p:ph type="title"/>
          </p:nvPr>
        </p:nvSpPr>
        <p:spPr>
          <a:xfrm>
            <a:off x="2819400" y="228600"/>
            <a:ext cx="7315200" cy="755650"/>
          </a:xfrm>
        </p:spPr>
        <p:txBody>
          <a:bodyPr wrap="square" lIns="91440" tIns="45720" rIns="91440" bIns="45720" anchor="b" anchorCtr="0"/>
          <a:p>
            <a:r>
              <a:rPr lang="zh-CN" altLang="en-US" sz="3000" dirty="0">
                <a:solidFill>
                  <a:srgbClr val="0066FF"/>
                </a:solidFill>
              </a:rPr>
              <a:t>交流小信号分析（频域分析）</a:t>
            </a:r>
            <a:r>
              <a:rPr lang="en-US" altLang="zh-CN" sz="3000" dirty="0">
                <a:solidFill>
                  <a:srgbClr val="0066FF"/>
                </a:solidFill>
              </a:rPr>
              <a:t>AC Sweep</a:t>
            </a:r>
            <a:endParaRPr lang="zh-CN" altLang="en-US" sz="3000" dirty="0">
              <a:solidFill>
                <a:srgbClr val="0066FF"/>
              </a:solidFill>
            </a:endParaRPr>
          </a:p>
        </p:txBody>
      </p:sp>
      <p:sp>
        <p:nvSpPr>
          <p:cNvPr id="11059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marL="469900" indent="-469900"/>
            <a:endParaRPr lang="zh-CN" altLang="en-US" dirty="0"/>
          </a:p>
        </p:txBody>
      </p:sp>
      <p:pic>
        <p:nvPicPr>
          <p:cNvPr id="110595" name="Picture 4" descr="bw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981075"/>
            <a:ext cx="9144000" cy="587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0596" name="Text Box 5"/>
          <p:cNvSpPr txBox="1"/>
          <p:nvPr/>
        </p:nvSpPr>
        <p:spPr>
          <a:xfrm>
            <a:off x="4583113" y="1773238"/>
            <a:ext cx="26638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9400" y="2366963"/>
            <a:ext cx="716280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lvl="1" indent="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：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Trace /Cursor/Display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激活游标测中频增益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/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用游标找到增益下降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3dB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，对应频率为上限频率或下限频率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lvl="1" indent="0"/>
            <a:r>
              <a:rPr lang="en-US" altLang="zh-CN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2:PLOT/LABEL/MAKR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标记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54341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交流分析</a:t>
            </a: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en-US" altLang="zh-CN" sz="3000" b="1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1619" name="Picture 4" descr="ri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805" y="548640"/>
            <a:ext cx="8208001" cy="6156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1620" name="Text Box 5"/>
          <p:cNvSpPr txBox="1"/>
          <p:nvPr/>
        </p:nvSpPr>
        <p:spPr>
          <a:xfrm>
            <a:off x="4583113" y="4868863"/>
            <a:ext cx="26638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54341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交流分析</a:t>
            </a: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en-US" altLang="zh-CN" sz="3000" b="1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 anchorCtr="0"/>
          <a:p>
            <a:r>
              <a:rPr lang="zh-CN" altLang="en-US" dirty="0">
                <a:solidFill>
                  <a:srgbClr val="0066FF"/>
                </a:solidFill>
                <a:latin typeface="宋体" panose="02010600030101010101" pitchFamily="2" charset="-122"/>
              </a:rPr>
              <a:t>求解输出阻抗</a:t>
            </a:r>
            <a:endParaRPr lang="zh-CN" altLang="en-US" dirty="0">
              <a:solidFill>
                <a:srgbClr val="0066FF"/>
              </a:solidFill>
              <a:latin typeface="宋体" panose="02010600030101010101" pitchFamily="2" charset="-122"/>
            </a:endParaRPr>
          </a:p>
        </p:txBody>
      </p:sp>
      <p:sp>
        <p:nvSpPr>
          <p:cNvPr id="112642" name="Rectangle 3"/>
          <p:cNvSpPr>
            <a:spLocks noGrp="1"/>
          </p:cNvSpPr>
          <p:nvPr>
            <p:ph type="body"/>
          </p:nvPr>
        </p:nvSpPr>
        <p:spPr>
          <a:xfrm>
            <a:off x="2090738" y="1196975"/>
            <a:ext cx="8001000" cy="4822825"/>
          </a:xfrm>
        </p:spPr>
        <p:txBody>
          <a:bodyPr wrap="square" lIns="91440" tIns="45720" rIns="91440" bIns="45720" anchor="t" anchorCtr="0"/>
          <a:p>
            <a:pPr marL="469900" indent="-469900"/>
            <a:endParaRPr lang="zh-CN" altLang="en-US" dirty="0"/>
          </a:p>
        </p:txBody>
      </p:sp>
      <p:pic>
        <p:nvPicPr>
          <p:cNvPr id="112643" name="Picture 4" descr="ro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765175"/>
            <a:ext cx="9144000" cy="5876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44" name="Text Box 5"/>
          <p:cNvSpPr txBox="1"/>
          <p:nvPr/>
        </p:nvSpPr>
        <p:spPr>
          <a:xfrm>
            <a:off x="3431223" y="3725863"/>
            <a:ext cx="266382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特征参数的标注！</a:t>
            </a:r>
            <a:endParaRPr lang="zh-CN" altLang="en-US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标题 33793"/>
          <p:cNvSpPr>
            <a:spLocks noGrp="1"/>
          </p:cNvSpPr>
          <p:nvPr/>
        </p:nvSpPr>
        <p:spPr>
          <a:xfrm>
            <a:off x="377825" y="-72390"/>
            <a:ext cx="9543415" cy="67691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/>
            <a:r>
              <a:rPr 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OrCAD/Pspice</a:t>
            </a:r>
            <a:r>
              <a:rPr lang="zh-CN" altLang="en-US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的基本电路特性分析</a:t>
            </a:r>
            <a:r>
              <a:rPr lang="en-US" altLang="zh-CN" sz="24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&lt;&lt;</a:t>
            </a:r>
            <a:r>
              <a:rPr lang="en-US" altLang="zh-CN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3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交流分析</a:t>
            </a: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endParaRPr lang="en-US" altLang="zh-CN" sz="3000" b="1" kern="1200" baseline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1"/>
          <p:cNvSpPr>
            <a:spLocks noGrp="1"/>
          </p:cNvSpPr>
          <p:nvPr>
            <p:ph type="title" idx="4294967295"/>
          </p:nvPr>
        </p:nvSpPr>
        <p:spPr>
          <a:xfrm>
            <a:off x="717550" y="-73025"/>
            <a:ext cx="3388360" cy="714375"/>
          </a:xfrm>
        </p:spPr>
        <p:txBody>
          <a:bodyPr vert="horz" wrap="square" lIns="91440" tIns="45720" rIns="91440" bIns="45720" anchor="ctr" anchorCtr="0"/>
          <a:p>
            <a:pPr algn="l"/>
            <a:r>
              <a:rPr lang="zh-CN" altLang="en-US" sz="3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导出仿真波形</a:t>
            </a:r>
            <a:endParaRPr lang="zh-CN" altLang="en-US" sz="3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963" name="Picture 2"/>
          <p:cNvPicPr>
            <a:picLocks noGrp="1" noChangeAspect="1"/>
          </p:cNvPicPr>
          <p:nvPr>
            <p:ph idx="4294967295"/>
          </p:nvPr>
        </p:nvPicPr>
        <p:blipFill>
          <a:blip r:embed="rId1"/>
          <a:srcRect t="4274" r="9537"/>
          <a:stretch>
            <a:fillRect/>
          </a:stretch>
        </p:blipFill>
        <p:spPr>
          <a:xfrm>
            <a:off x="430530" y="1563370"/>
            <a:ext cx="6358255" cy="3200400"/>
          </a:xfrm>
        </p:spPr>
      </p:pic>
      <p:sp>
        <p:nvSpPr>
          <p:cNvPr id="44036" name="圆角矩形标注 5"/>
          <p:cNvSpPr/>
          <p:nvPr/>
        </p:nvSpPr>
        <p:spPr>
          <a:xfrm>
            <a:off x="2448878" y="635318"/>
            <a:ext cx="1500187" cy="928687"/>
          </a:xfrm>
          <a:prstGeom prst="wedgeRoundRectCallout">
            <a:avLst>
              <a:gd name="adj1" fmla="val 80588"/>
              <a:gd name="adj2" fmla="val 78412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2" charset="-122"/>
              </a:rPr>
              <a:t>1.</a:t>
            </a:r>
            <a:r>
              <a:rPr lang="zh-CN" altLang="en-US" sz="2400" dirty="0">
                <a:ea typeface="黑体" panose="02010609060101010101" pitchFamily="2" charset="-122"/>
              </a:rPr>
              <a:t>点击</a:t>
            </a:r>
            <a:endParaRPr lang="en-US" altLang="zh-CN" sz="2400" dirty="0">
              <a:ea typeface="黑体" panose="0201060906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2" charset="-122"/>
              </a:rPr>
              <a:t>Window</a:t>
            </a:r>
            <a:endParaRPr lang="zh-CN" altLang="en-US" sz="2400" dirty="0">
              <a:ea typeface="黑体" panose="02010609060101010101" pitchFamily="2" charset="-122"/>
            </a:endParaRPr>
          </a:p>
        </p:txBody>
      </p:sp>
      <p:sp>
        <p:nvSpPr>
          <p:cNvPr id="44037" name="圆角矩形标注 6"/>
          <p:cNvSpPr/>
          <p:nvPr/>
        </p:nvSpPr>
        <p:spPr>
          <a:xfrm>
            <a:off x="5517833" y="3291205"/>
            <a:ext cx="1357312" cy="500063"/>
          </a:xfrm>
          <a:prstGeom prst="wedgeRoundRectCallout">
            <a:avLst>
              <a:gd name="adj1" fmla="val -31324"/>
              <a:gd name="adj2" fmla="val 86481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2" charset="-122"/>
              </a:rPr>
              <a:t>2.</a:t>
            </a:r>
            <a:r>
              <a:rPr lang="zh-CN" altLang="en-US" sz="2400" dirty="0">
                <a:ea typeface="黑体" panose="02010609060101010101" pitchFamily="2" charset="-122"/>
              </a:rPr>
              <a:t>选择</a:t>
            </a:r>
            <a:endParaRPr lang="zh-CN" altLang="en-US" sz="2400" dirty="0">
              <a:ea typeface="黑体" panose="02010609060101010101" pitchFamily="2" charset="-122"/>
            </a:endParaRPr>
          </a:p>
        </p:txBody>
      </p:sp>
      <p:pic>
        <p:nvPicPr>
          <p:cNvPr id="4403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175" y="1505903"/>
            <a:ext cx="3967163" cy="3214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4039" name="圆角矩形标注 8"/>
          <p:cNvSpPr/>
          <p:nvPr/>
        </p:nvSpPr>
        <p:spPr>
          <a:xfrm>
            <a:off x="9742488" y="3077528"/>
            <a:ext cx="1357312" cy="500062"/>
          </a:xfrm>
          <a:prstGeom prst="wedgeRoundRectCallout">
            <a:avLst>
              <a:gd name="adj1" fmla="val -193671"/>
              <a:gd name="adj2" fmla="val 80486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2" charset="-122"/>
              </a:rPr>
              <a:t>3.</a:t>
            </a:r>
            <a:r>
              <a:rPr lang="zh-CN" altLang="en-US" sz="2400" dirty="0">
                <a:ea typeface="黑体" panose="02010609060101010101" pitchFamily="2" charset="-122"/>
              </a:rPr>
              <a:t>选择</a:t>
            </a:r>
            <a:endParaRPr lang="zh-CN" altLang="en-US" sz="2400" dirty="0">
              <a:ea typeface="黑体" panose="02010609060101010101" pitchFamily="2" charset="-122"/>
            </a:endParaRPr>
          </a:p>
        </p:txBody>
      </p:sp>
      <p:sp>
        <p:nvSpPr>
          <p:cNvPr id="44040" name="圆角矩形标注 9"/>
          <p:cNvSpPr/>
          <p:nvPr/>
        </p:nvSpPr>
        <p:spPr>
          <a:xfrm>
            <a:off x="8956675" y="5006340"/>
            <a:ext cx="1643063" cy="500063"/>
          </a:xfrm>
          <a:prstGeom prst="wedgeRoundRectCallout">
            <a:avLst>
              <a:gd name="adj1" fmla="val -66667"/>
              <a:gd name="adj2" fmla="val -15332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dirty="0">
                <a:ea typeface="黑体" panose="02010609060101010101" pitchFamily="2" charset="-122"/>
              </a:rPr>
              <a:t>4.</a:t>
            </a:r>
            <a:r>
              <a:rPr lang="zh-CN" altLang="en-US" sz="2400" dirty="0">
                <a:ea typeface="黑体" panose="02010609060101010101" pitchFamily="2" charset="-122"/>
              </a:rPr>
              <a:t>点击</a:t>
            </a:r>
            <a:r>
              <a:rPr lang="en-US" altLang="zh-CN" sz="2400" dirty="0">
                <a:ea typeface="黑体" panose="02010609060101010101" pitchFamily="2" charset="-122"/>
              </a:rPr>
              <a:t>OK</a:t>
            </a:r>
            <a:endParaRPr lang="zh-CN" altLang="en-US" sz="2400" dirty="0">
              <a:ea typeface="黑体" panose="02010609060101010101" pitchFamily="2" charset="-122"/>
            </a:endParaRPr>
          </a:p>
        </p:txBody>
      </p:sp>
      <p:sp>
        <p:nvSpPr>
          <p:cNvPr id="12" name="Rectangle 3"/>
          <p:cNvSpPr txBox="1"/>
          <p:nvPr/>
        </p:nvSpPr>
        <p:spPr>
          <a:xfrm>
            <a:off x="7461250" y="5585778"/>
            <a:ext cx="4357688" cy="7143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最后，波形在粘贴板。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ldLvl="0" animBg="1"/>
      <p:bldP spid="44037" grpId="0" bldLvl="0" animBg="1"/>
      <p:bldP spid="44039" grpId="0" bldLvl="0" animBg="1"/>
      <p:bldP spid="44040" grpId="0" bldLvl="0" animBg="1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3" name="标题 60417"/>
          <p:cNvSpPr>
            <a:spLocks noGrp="1"/>
          </p:cNvSpPr>
          <p:nvPr>
            <p:ph type="title" idx="4294967295"/>
          </p:nvPr>
        </p:nvSpPr>
        <p:spPr>
          <a:xfrm>
            <a:off x="1487170" y="952500"/>
            <a:ext cx="5414645" cy="685800"/>
          </a:xfrm>
        </p:spPr>
        <p:txBody>
          <a:bodyPr anchor="ctr" anchorCtr="0"/>
          <a:p>
            <a:pPr algn="l"/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文件后缀名及其类型</a:t>
            </a:r>
            <a:endParaRPr lang="zh-CN" altLang="en-US" sz="3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714" name="文本框 60418"/>
          <p:cNvSpPr txBox="1"/>
          <p:nvPr/>
        </p:nvSpPr>
        <p:spPr>
          <a:xfrm>
            <a:off x="2895600" y="1676400"/>
            <a:ext cx="7010400" cy="37534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.sch          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电路图文件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.cir          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电路图描述文件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.net          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网表文件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.als          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别名文件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.out          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结果输出文件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>
                <a:latin typeface="黑体" panose="02010609060101010101" pitchFamily="2" charset="-122"/>
                <a:ea typeface="黑体" panose="02010609060101010101" pitchFamily="2" charset="-122"/>
              </a:rPr>
              <a:t>.dat          </a:t>
            </a:r>
            <a:r>
              <a:rPr lang="zh-CN" altLang="en-US" sz="2800">
                <a:latin typeface="黑体" panose="02010609060101010101" pitchFamily="2" charset="-122"/>
                <a:ea typeface="黑体" panose="02010609060101010101" pitchFamily="2" charset="-122"/>
              </a:rPr>
              <a:t>数据文件</a:t>
            </a:r>
            <a:endParaRPr lang="zh-CN" altLang="en-US" sz="28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aphicFrame>
        <p:nvGraphicFramePr>
          <p:cNvPr id="39938" name="Picture 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62405" y="1191260"/>
          <a:ext cx="9267256" cy="54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5343525" imgH="2743200" progId="PBrush">
                  <p:embed/>
                </p:oleObj>
              </mc:Choice>
              <mc:Fallback>
                <p:oleObj name="" r:id="rId1" imgW="5343525" imgH="2743200" progId="PBrush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62405" y="1191260"/>
                        <a:ext cx="9267256" cy="5400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37" name="标题 61441"/>
          <p:cNvSpPr>
            <a:spLocks noGrp="1"/>
          </p:cNvSpPr>
          <p:nvPr>
            <p:ph type="title" idx="4294967295"/>
          </p:nvPr>
        </p:nvSpPr>
        <p:spPr>
          <a:xfrm>
            <a:off x="695325" y="548640"/>
            <a:ext cx="7772400" cy="1143000"/>
          </a:xfrm>
        </p:spPr>
        <p:txBody>
          <a:bodyPr anchor="ctr" anchorCtr="0"/>
          <a:p>
            <a:pPr algn="ctr"/>
            <a:r>
              <a:rPr lang="zh-CN" altLang="en-US" sz="3600">
                <a:solidFill>
                  <a:srgbClr val="FF0000"/>
                </a:solidFill>
              </a:rPr>
              <a:t>单级共射电路</a:t>
            </a:r>
            <a:endParaRPr lang="zh-CN" altLang="en-US" sz="3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7" name="灯片编号占位符 22"/>
          <p:cNvSpPr>
            <a:spLocks noGrp="1"/>
          </p:cNvSpPr>
          <p:nvPr/>
        </p:nvSpPr>
        <p:spPr>
          <a:xfrm>
            <a:off x="1649413" y="5695950"/>
            <a:ext cx="620712" cy="2746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r"/>
            <a:fld id="{9A0DB2DC-4C9A-4742-B13C-FB6460FD3503}" type="slidenum">
              <a:rPr lang="zh-CN" altLang="en-US" sz="1200" dirty="0">
                <a:solidFill>
                  <a:srgbClr val="898989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</a:fld>
            <a:endParaRPr lang="zh-CN" altLang="en-US" sz="1200" dirty="0">
              <a:solidFill>
                <a:srgbClr val="898989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116738" name="文本框 9"/>
          <p:cNvSpPr txBox="1"/>
          <p:nvPr/>
        </p:nvSpPr>
        <p:spPr>
          <a:xfrm>
            <a:off x="3957638" y="2381250"/>
            <a:ext cx="3763962" cy="866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000" dirty="0">
                <a:latin typeface="Times New Roman" panose="02020603050405020304" pitchFamily="2" charset="0"/>
                <a:ea typeface="黑体" panose="02010609060101010101" pitchFamily="2" charset="-122"/>
              </a:rPr>
              <a:t>四：常见问题</a:t>
            </a:r>
            <a:endParaRPr lang="zh-CN" altLang="en-US" sz="4000" dirty="0">
              <a:solidFill>
                <a:srgbClr val="00BED1"/>
              </a:solidFill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sp>
        <p:nvSpPr>
          <p:cNvPr id="116739" name="文本框 3"/>
          <p:cNvSpPr txBox="1"/>
          <p:nvPr/>
        </p:nvSpPr>
        <p:spPr>
          <a:xfrm>
            <a:off x="2606675" y="2470150"/>
            <a:ext cx="1930400" cy="7835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4500" b="1" dirty="0">
                <a:solidFill>
                  <a:schemeClr val="bg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endParaRPr lang="en-US" altLang="zh-CN" sz="4500" b="1" dirty="0">
              <a:solidFill>
                <a:schemeClr val="bg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5" name="Rectangle 3"/>
          <p:cNvSpPr>
            <a:spLocks noGrp="1"/>
          </p:cNvSpPr>
          <p:nvPr>
            <p:ph idx="4294967295"/>
          </p:nvPr>
        </p:nvSpPr>
        <p:spPr>
          <a:xfrm>
            <a:off x="1800225" y="984250"/>
            <a:ext cx="8229600" cy="604838"/>
          </a:xfrm>
        </p:spPr>
        <p:txBody>
          <a:bodyPr wrap="square" lIns="91440" tIns="45720" rIns="91440" bIns="45720" anchor="t" anchorCtr="0"/>
          <a:p>
            <a:r>
              <a:rPr lang="en-US" altLang="zh-CN" b="1">
                <a:solidFill>
                  <a:schemeClr val="tx2"/>
                </a:solidFill>
              </a:rPr>
              <a:t>1.</a:t>
            </a:r>
            <a:r>
              <a:rPr lang="zh-CN" altLang="en-US" b="1">
                <a:solidFill>
                  <a:schemeClr val="tx2"/>
                </a:solidFill>
              </a:rPr>
              <a:t>没有</a:t>
            </a:r>
            <a:r>
              <a:rPr lang="en-US" altLang="zh-CN" b="1">
                <a:solidFill>
                  <a:schemeClr val="tx2"/>
                </a:solidFill>
              </a:rPr>
              <a:t>Pspice</a:t>
            </a:r>
            <a:r>
              <a:rPr lang="zh-CN" altLang="en-US" b="1">
                <a:solidFill>
                  <a:schemeClr val="tx2"/>
                </a:solidFill>
              </a:rPr>
              <a:t>菜单也无法修改内部参数。</a:t>
            </a:r>
            <a:endParaRPr lang="zh-CN" altLang="en-US" b="1">
              <a:solidFill>
                <a:schemeClr val="tx2"/>
              </a:solidFill>
            </a:endParaRPr>
          </a:p>
          <a:p>
            <a:pPr>
              <a:buNone/>
            </a:pPr>
            <a:endParaRPr lang="zh-CN" altLang="en-US" sz="1000" b="1"/>
          </a:p>
        </p:txBody>
      </p:sp>
      <p:pic>
        <p:nvPicPr>
          <p:cNvPr id="118786" name="Picture 4" descr="PSerror1"/>
          <p:cNvPicPr>
            <a:picLocks noChangeAspect="1"/>
          </p:cNvPicPr>
          <p:nvPr/>
        </p:nvPicPr>
        <p:blipFill>
          <a:blip r:embed="rId1"/>
          <a:srcRect r="13322"/>
          <a:stretch>
            <a:fillRect/>
          </a:stretch>
        </p:blipFill>
        <p:spPr>
          <a:xfrm>
            <a:off x="6238875" y="1643063"/>
            <a:ext cx="4133850" cy="357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805" name="Line 5"/>
          <p:cNvSpPr/>
          <p:nvPr/>
        </p:nvSpPr>
        <p:spPr>
          <a:xfrm>
            <a:off x="6953250" y="2928938"/>
            <a:ext cx="13033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8788" name="TextBox 5"/>
          <p:cNvSpPr txBox="1"/>
          <p:nvPr/>
        </p:nvSpPr>
        <p:spPr>
          <a:xfrm>
            <a:off x="1862138" y="1643063"/>
            <a:ext cx="4248150" cy="35775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36830" indent="-36068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软件没有装好，建议重装。</a:t>
            </a:r>
            <a:endParaRPr lang="en-US" altLang="zh-CN" b="1" dirty="0">
              <a:solidFill>
                <a:srgbClr val="0000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36830" indent="-360680">
              <a:lnSpc>
                <a:spcPct val="12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Times New Roman" panose="02020603050405020304" pitchFamily="2" charset="0"/>
                <a:ea typeface="楷体_GB2312" pitchFamily="1" charset="-122"/>
              </a:rPr>
              <a:t>新建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文件必须选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rPr>
              <a:t>第一项</a:t>
            </a:r>
            <a:r>
              <a:rPr lang="zh-CN" altLang="en-US" b="1" dirty="0">
                <a:solidFill>
                  <a:srgbClr val="3333CC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其他项可以画电路图，但无法调用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Pspice</a:t>
            </a:r>
            <a:r>
              <a:rPr lang="zh-CN" altLang="en-US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做仿真分析。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若已选错又画好了图，则处理同下</a:t>
            </a:r>
            <a:endParaRPr lang="en-US" altLang="zh-CN" b="1" dirty="0">
              <a:solidFill>
                <a:schemeClr val="tx2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36830" indent="-360680">
              <a:lnSpc>
                <a:spcPct val="12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.DSN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2" charset="0"/>
                <a:ea typeface="楷体_GB2312" pitchFamily="1" charset="-122"/>
              </a:rPr>
              <a:t>电路图文件好，其他文件有问题，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2" charset="0"/>
                <a:ea typeface="楷体_GB2312" pitchFamily="1" charset="-122"/>
              </a:rPr>
              <a:t>建议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itchFamily="1" charset="-122"/>
              </a:rPr>
              <a:t>重建工程。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8789" name="TextBox 6"/>
          <p:cNvSpPr txBox="1"/>
          <p:nvPr/>
        </p:nvSpPr>
        <p:spPr>
          <a:xfrm>
            <a:off x="1847850" y="5264150"/>
            <a:ext cx="8482013" cy="1420495"/>
          </a:xfrm>
          <a:prstGeom prst="rect">
            <a:avLst/>
          </a:prstGeom>
          <a:solidFill>
            <a:srgbClr val="C2FFF0"/>
          </a:solidFill>
          <a:ln w="9525">
            <a:noFill/>
          </a:ln>
        </p:spPr>
        <p:txBody>
          <a:bodyPr anchor="t" anchorCtr="0">
            <a:spAutoFit/>
          </a:bodyPr>
          <a:p>
            <a:pPr marL="36830" indent="-36068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只要</a:t>
            </a:r>
            <a:r>
              <a:rPr lang="en-US" altLang="zh-CN" b="1" dirty="0">
                <a:latin typeface="Times New Roman" panose="02020603050405020304" pitchFamily="2" charset="0"/>
                <a:ea typeface="楷体_GB2312" pitchFamily="1" charset="-122"/>
              </a:rPr>
              <a:t>.DSN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电路图文件</a:t>
            </a:r>
            <a:r>
              <a:rPr lang="zh-CN" altLang="en-US" b="1" dirty="0">
                <a:solidFill>
                  <a:schemeClr val="tx2"/>
                </a:solidFill>
                <a:latin typeface="楷体_GB2312" pitchFamily="1" charset="-122"/>
                <a:ea typeface="楷体_GB2312" pitchFamily="1" charset="-122"/>
              </a:rPr>
              <a:t>好，其他重建很便捷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：先打开旧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.</a:t>
            </a:r>
            <a:r>
              <a:rPr lang="en-US" altLang="zh-CN" b="1" dirty="0" err="1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dsn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电路图文件，找到电路图，全选</a:t>
            </a:r>
            <a:r>
              <a:rPr lang="en-US" altLang="zh-CN" b="1" dirty="0" err="1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ctrl+A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后</a:t>
            </a:r>
            <a:r>
              <a:rPr lang="en-US" altLang="zh-CN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Copy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；然后按规定步骤新建一个可仿真的工程，在画电路图时</a:t>
            </a:r>
            <a:r>
              <a:rPr lang="en-US" altLang="zh-CN" b="1" dirty="0" err="1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ctrl+V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/>
                <a:ea typeface="宋体" panose="02010600030101010101" pitchFamily="2" charset="-122"/>
              </a:rPr>
              <a:t>粘贴旧图。</a:t>
            </a:r>
            <a:endParaRPr lang="zh-CN" altLang="en-US" dirty="0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8790" name="Rectangle 2"/>
          <p:cNvSpPr>
            <a:spLocks noGrp="1"/>
          </p:cNvSpPr>
          <p:nvPr>
            <p:ph type="title" idx="4294967295"/>
          </p:nvPr>
        </p:nvSpPr>
        <p:spPr>
          <a:xfrm>
            <a:off x="1981200" y="130175"/>
            <a:ext cx="8229600" cy="706438"/>
          </a:xfrm>
        </p:spPr>
        <p:txBody>
          <a:bodyPr wrap="square" lIns="91440" tIns="45720" rIns="91440" bIns="45720" anchor="t" anchorCtr="0"/>
          <a:p>
            <a:r>
              <a:rPr lang="zh-CN" altLang="en-US" b="1"/>
              <a:t>常见操作问题</a:t>
            </a:r>
            <a:endParaRPr lang="zh-CN" altLang="en-US" b="1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7680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09" name="Rectangle 2"/>
          <p:cNvSpPr>
            <a:spLocks noGrp="1"/>
          </p:cNvSpPr>
          <p:nvPr>
            <p:ph type="title" idx="4294967295"/>
          </p:nvPr>
        </p:nvSpPr>
        <p:spPr>
          <a:xfrm>
            <a:off x="2209800" y="609600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 b="1"/>
              <a:t>常见操作问题</a:t>
            </a:r>
            <a:endParaRPr lang="zh-CN" altLang="en-US" b="1"/>
          </a:p>
        </p:txBody>
      </p:sp>
      <p:sp>
        <p:nvSpPr>
          <p:cNvPr id="119810" name="Rectangle 3"/>
          <p:cNvSpPr>
            <a:spLocks noGrp="1"/>
          </p:cNvSpPr>
          <p:nvPr>
            <p:ph idx="4294967295"/>
          </p:nvPr>
        </p:nvSpPr>
        <p:spPr>
          <a:xfrm>
            <a:off x="1812925" y="1358900"/>
            <a:ext cx="8229600" cy="5243513"/>
          </a:xfrm>
        </p:spPr>
        <p:txBody>
          <a:bodyPr wrap="square" lIns="91440" tIns="45720" rIns="91440" bIns="45720" anchor="t" anchorCtr="0"/>
          <a:p>
            <a:pPr>
              <a:spcAft>
                <a:spcPts val="1200"/>
              </a:spcAft>
            </a:pPr>
            <a:r>
              <a:rPr lang="en-US" altLang="zh-CN" b="1">
                <a:solidFill>
                  <a:schemeClr val="tx2"/>
                </a:solidFill>
              </a:rPr>
              <a:t>2.</a:t>
            </a:r>
            <a:r>
              <a:rPr lang="zh-CN" altLang="en-US" b="1">
                <a:solidFill>
                  <a:schemeClr val="tx2"/>
                </a:solidFill>
              </a:rPr>
              <a:t>仿真时显示文件</a:t>
            </a:r>
            <a:r>
              <a:rPr lang="en-US" altLang="zh-CN" b="1">
                <a:solidFill>
                  <a:schemeClr val="tx2"/>
                </a:solidFill>
              </a:rPr>
              <a:t>I/O</a:t>
            </a:r>
            <a:r>
              <a:rPr lang="zh-CN" altLang="en-US" b="1">
                <a:solidFill>
                  <a:schemeClr val="tx2"/>
                </a:solidFill>
              </a:rPr>
              <a:t>操作有异常错误。</a:t>
            </a:r>
            <a:endParaRPr lang="zh-CN" altLang="en-US" b="1">
              <a:solidFill>
                <a:schemeClr val="tx2"/>
              </a:solidFill>
            </a:endParaRPr>
          </a:p>
          <a:p>
            <a:pPr>
              <a:spcBef>
                <a:spcPct val="45000"/>
              </a:spcBef>
              <a:buNone/>
            </a:pPr>
            <a:r>
              <a:rPr lang="zh-CN" altLang="en-US" b="1"/>
              <a:t>     </a:t>
            </a:r>
            <a:r>
              <a:rPr lang="zh-CN" altLang="en-US" sz="2800" b="1"/>
              <a:t>项目名称及文件存</a:t>
            </a:r>
            <a:endParaRPr lang="en-US" altLang="zh-CN" sz="2800" b="1"/>
          </a:p>
          <a:p>
            <a:pPr>
              <a:spcBef>
                <a:spcPct val="45000"/>
              </a:spcBef>
              <a:buNone/>
            </a:pPr>
            <a:r>
              <a:rPr lang="zh-CN" altLang="en-US" sz="2800" b="1"/>
              <a:t>储目录以及  内部元件</a:t>
            </a:r>
            <a:endParaRPr lang="en-US" altLang="zh-CN" sz="2800" b="1"/>
          </a:p>
          <a:p>
            <a:pPr>
              <a:buNone/>
            </a:pPr>
            <a:r>
              <a:rPr lang="zh-CN" altLang="en-US" sz="2800" b="1"/>
              <a:t>标识  </a:t>
            </a:r>
            <a:r>
              <a:rPr lang="zh-CN" altLang="en-US" sz="2800" b="1">
                <a:solidFill>
                  <a:schemeClr val="hlink"/>
                </a:solidFill>
              </a:rPr>
              <a:t>不能含有</a:t>
            </a:r>
            <a:r>
              <a:rPr lang="zh-CN" altLang="en-US" sz="2800" b="1">
                <a:solidFill>
                  <a:schemeClr val="tx2"/>
                </a:solidFill>
              </a:rPr>
              <a:t>汉字或</a:t>
            </a:r>
            <a:endParaRPr lang="zh-CN" altLang="en-US" sz="2800" b="1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空格！</a:t>
            </a:r>
            <a:endParaRPr lang="en-US" altLang="zh-CN" sz="2800" b="1"/>
          </a:p>
          <a:p>
            <a:pPr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   文件目录也</a:t>
            </a:r>
            <a:r>
              <a:rPr lang="zh-CN" altLang="en-US" sz="2800" b="1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不要放</a:t>
            </a:r>
            <a:endParaRPr lang="zh-CN" altLang="en-US" sz="2800" b="1">
              <a:solidFill>
                <a:schemeClr val="hlin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en-US" altLang="zh-CN" sz="2800" b="1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Windows</a:t>
            </a:r>
            <a:r>
              <a:rPr lang="zh-CN" altLang="en-US" sz="2800" b="1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桌面上（</a:t>
            </a:r>
            <a:r>
              <a:rPr lang="zh-CN" altLang="en-US" sz="2800" b="1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桌面</a:t>
            </a:r>
            <a:endParaRPr lang="zh-CN" altLang="en-US" sz="2800" b="1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zh-CN" altLang="en-US" sz="2800" b="1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缺省目录有汉字</a:t>
            </a: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），建</a:t>
            </a:r>
            <a:endParaRPr lang="en-US" altLang="zh-CN" sz="2800" b="1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None/>
            </a:pPr>
            <a:r>
              <a:rPr lang="zh-CN" altLang="en-US" sz="2800" b="1">
                <a:latin typeface="楷体" panose="02010609060101010101" pitchFamily="49" charset="-122"/>
                <a:ea typeface="楷体" panose="02010609060101010101" pitchFamily="49" charset="-122"/>
              </a:rPr>
              <a:t>议独立建子目录。</a:t>
            </a:r>
            <a:endParaRPr lang="zh-CN" altLang="en-US" sz="2800" b="1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19811" name="Picture 4" descr="PSerror1"/>
          <p:cNvPicPr>
            <a:picLocks noChangeAspect="1"/>
          </p:cNvPicPr>
          <p:nvPr/>
        </p:nvPicPr>
        <p:blipFill>
          <a:blip r:embed="rId1"/>
          <a:srcRect r="13815"/>
          <a:stretch>
            <a:fillRect/>
          </a:stretch>
        </p:blipFill>
        <p:spPr>
          <a:xfrm>
            <a:off x="5888038" y="2241550"/>
            <a:ext cx="4598987" cy="4003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9812" name="Line 5"/>
          <p:cNvSpPr/>
          <p:nvPr/>
        </p:nvSpPr>
        <p:spPr>
          <a:xfrm>
            <a:off x="6022975" y="3094038"/>
            <a:ext cx="13033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9813" name="Line 6"/>
          <p:cNvSpPr/>
          <p:nvPr/>
        </p:nvSpPr>
        <p:spPr>
          <a:xfrm>
            <a:off x="6022975" y="5815013"/>
            <a:ext cx="13033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3" name="Rectangle 2"/>
          <p:cNvSpPr>
            <a:spLocks noGrp="1"/>
          </p:cNvSpPr>
          <p:nvPr>
            <p:ph type="title" idx="4294967295"/>
          </p:nvPr>
        </p:nvSpPr>
        <p:spPr>
          <a:xfrm>
            <a:off x="2209800" y="609600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/>
              <a:t>常见操作问题</a:t>
            </a:r>
            <a:endParaRPr lang="zh-CN" altLang="en-US"/>
          </a:p>
        </p:txBody>
      </p:sp>
      <p:sp>
        <p:nvSpPr>
          <p:cNvPr id="21507" name="Rectangle 3"/>
          <p:cNvSpPr>
            <a:spLocks noGrp="1"/>
          </p:cNvSpPr>
          <p:nvPr>
            <p:ph idx="4294967295"/>
          </p:nvPr>
        </p:nvSpPr>
        <p:spPr>
          <a:xfrm>
            <a:off x="1776413" y="1241425"/>
            <a:ext cx="8229600" cy="5402263"/>
          </a:xfrm>
        </p:spPr>
        <p:txBody>
          <a:bodyPr wrap="square" lIns="91440" tIns="45720" rIns="91440" bIns="45720" anchor="t" anchorCtr="0"/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b="1">
                <a:solidFill>
                  <a:schemeClr val="tx2"/>
                </a:solidFill>
              </a:rPr>
              <a:t>  </a:t>
            </a:r>
            <a:r>
              <a:rPr lang="en-US" altLang="zh-CN" b="1">
                <a:solidFill>
                  <a:schemeClr val="tx2"/>
                </a:solidFill>
              </a:rPr>
              <a:t>3. </a:t>
            </a:r>
            <a:r>
              <a:rPr lang="zh-CN" altLang="en-US" b="1">
                <a:solidFill>
                  <a:schemeClr val="tx2"/>
                </a:solidFill>
              </a:rPr>
              <a:t>莫名出现</a:t>
            </a:r>
            <a:r>
              <a:rPr lang="zh-CN" altLang="en-US" b="1">
                <a:solidFill>
                  <a:srgbClr val="7030A0"/>
                </a:solidFill>
              </a:rPr>
              <a:t>很多</a:t>
            </a:r>
            <a:r>
              <a:rPr lang="zh-CN" altLang="en-US" b="1">
                <a:solidFill>
                  <a:schemeClr val="tx2"/>
                </a:solidFill>
              </a:rPr>
              <a:t>元件没有连结的错误。</a:t>
            </a:r>
            <a:endParaRPr lang="zh-CN" altLang="en-US" b="1">
              <a:solidFill>
                <a:schemeClr val="tx2"/>
              </a:solidFill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 本实验中“地”必须用</a:t>
            </a:r>
            <a:endParaRPr lang="zh-CN" altLang="en-US" sz="2800" b="1"/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800" b="1"/>
              <a:t>Place ground </a:t>
            </a:r>
            <a:r>
              <a:rPr lang="zh-CN" altLang="en-US" sz="2800" b="1"/>
              <a:t>命令，且</a:t>
            </a:r>
            <a:endParaRPr lang="zh-CN" altLang="en-US" sz="2800" b="1"/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endParaRPr lang="zh-CN" altLang="en-US" b="1"/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800" b="1"/>
              <a:t>选用 </a:t>
            </a:r>
            <a:r>
              <a:rPr lang="en-US" altLang="zh-CN" sz="2800" b="1"/>
              <a:t>Source</a:t>
            </a:r>
            <a:r>
              <a:rPr lang="zh-CN" altLang="en-US" sz="2800" b="1"/>
              <a:t>库 中的 “</a:t>
            </a:r>
            <a:r>
              <a:rPr lang="en-US" altLang="zh-CN" sz="2800" b="1"/>
              <a:t>0”</a:t>
            </a:r>
            <a:endParaRPr lang="en-US" altLang="zh-CN" sz="2800" b="1"/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tx2"/>
                </a:solidFill>
              </a:rPr>
              <a:t>  (</a:t>
            </a:r>
            <a:r>
              <a:rPr lang="zh-CN" altLang="en-US" sz="2400">
                <a:solidFill>
                  <a:schemeClr val="tx2"/>
                </a:solidFill>
              </a:rPr>
              <a:t>如果</a:t>
            </a:r>
            <a:r>
              <a:rPr lang="en-US" altLang="zh-CN" sz="2400">
                <a:solidFill>
                  <a:schemeClr val="tx2"/>
                </a:solidFill>
              </a:rPr>
              <a:t>Place Ground </a:t>
            </a:r>
            <a:r>
              <a:rPr lang="zh-CN" altLang="en-US" sz="2400">
                <a:solidFill>
                  <a:schemeClr val="tx2"/>
                </a:solidFill>
              </a:rPr>
              <a:t>中没看到</a:t>
            </a:r>
            <a:endParaRPr lang="en-US" altLang="zh-CN" sz="2400">
              <a:solidFill>
                <a:schemeClr val="tx2"/>
              </a:solidFill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zh-CN" sz="2400">
                <a:solidFill>
                  <a:schemeClr val="tx2"/>
                </a:solidFill>
              </a:rPr>
              <a:t>Source</a:t>
            </a:r>
            <a:r>
              <a:rPr lang="zh-CN" altLang="en-US" sz="2400">
                <a:solidFill>
                  <a:schemeClr val="tx2"/>
                </a:solidFill>
              </a:rPr>
              <a:t>库就加，虽然其他库中</a:t>
            </a:r>
            <a:endParaRPr lang="en-US" altLang="zh-CN" sz="2400">
              <a:solidFill>
                <a:schemeClr val="tx2"/>
              </a:solidFill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zh-CN" altLang="en-US" sz="2400">
                <a:solidFill>
                  <a:schemeClr val="tx2"/>
                </a:solidFill>
              </a:rPr>
              <a:t>有一些地符号，但不适合本次实验。</a:t>
            </a:r>
            <a:r>
              <a:rPr lang="en-US" altLang="zh-CN" sz="2400">
                <a:solidFill>
                  <a:schemeClr val="tx2"/>
                </a:solidFill>
              </a:rPr>
              <a:t>)</a:t>
            </a:r>
            <a:endParaRPr lang="en-US" altLang="zh-CN" sz="2400">
              <a:solidFill>
                <a:schemeClr val="tx2"/>
              </a:solidFill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rgbClr val="800000"/>
                </a:solidFill>
              </a:rPr>
              <a:t> Cache</a:t>
            </a:r>
            <a:r>
              <a:rPr lang="zh-CN" altLang="en-US" sz="2800" b="1">
                <a:solidFill>
                  <a:srgbClr val="800000"/>
                </a:solidFill>
              </a:rPr>
              <a:t>临时库元件错了。</a:t>
            </a:r>
            <a:r>
              <a:rPr lang="en-US" altLang="zh-CN" sz="2800" b="1"/>
              <a:t>Remove</a:t>
            </a:r>
            <a:r>
              <a:rPr lang="zh-CN" altLang="en-US" sz="2800" b="1"/>
              <a:t>当前所有的元件库，重新</a:t>
            </a:r>
            <a:r>
              <a:rPr lang="en-US" altLang="zh-CN" sz="2800" b="1"/>
              <a:t>Add</a:t>
            </a:r>
            <a:r>
              <a:rPr lang="zh-CN" altLang="en-US" sz="2800" b="1"/>
              <a:t>正确目录下的库，然后重选元件完成电路。</a:t>
            </a:r>
            <a:r>
              <a:rPr lang="zh-CN" altLang="en-US" sz="2800" b="1">
                <a:solidFill>
                  <a:schemeClr val="tx2"/>
                </a:solidFill>
              </a:rPr>
              <a:t>不要再选用</a:t>
            </a:r>
            <a:r>
              <a:rPr lang="en-US" altLang="zh-CN" sz="2800" b="1">
                <a:solidFill>
                  <a:schemeClr val="tx2"/>
                </a:solidFill>
              </a:rPr>
              <a:t>Design</a:t>
            </a:r>
            <a:r>
              <a:rPr lang="zh-CN" altLang="en-US" sz="2800" b="1">
                <a:solidFill>
                  <a:schemeClr val="tx2"/>
                </a:solidFill>
              </a:rPr>
              <a:t> </a:t>
            </a:r>
            <a:r>
              <a:rPr lang="en-US" altLang="zh-CN" sz="2800" b="1">
                <a:solidFill>
                  <a:schemeClr val="tx2"/>
                </a:solidFill>
              </a:rPr>
              <a:t>Cache</a:t>
            </a:r>
            <a:r>
              <a:rPr lang="zh-CN" altLang="en-US" sz="2800" b="1">
                <a:solidFill>
                  <a:schemeClr val="tx2"/>
                </a:solidFill>
              </a:rPr>
              <a:t> 临时库中的元件！</a:t>
            </a:r>
            <a:endParaRPr lang="en-US" altLang="zh-CN" sz="2800" b="1"/>
          </a:p>
        </p:txBody>
      </p:sp>
      <p:pic>
        <p:nvPicPr>
          <p:cNvPr id="2150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938" y="2928938"/>
            <a:ext cx="3149600" cy="492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Oval 6"/>
          <p:cNvSpPr/>
          <p:nvPr/>
        </p:nvSpPr>
        <p:spPr>
          <a:xfrm>
            <a:off x="4875213" y="2936875"/>
            <a:ext cx="411162" cy="492125"/>
          </a:xfrm>
          <a:prstGeom prst="ellipse">
            <a:avLst/>
          </a:pr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pic>
        <p:nvPicPr>
          <p:cNvPr id="2151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57375"/>
            <a:ext cx="4354513" cy="2786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6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563" y="428625"/>
            <a:ext cx="5572125" cy="4738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圆角矩形 6"/>
          <p:cNvSpPr/>
          <p:nvPr/>
        </p:nvSpPr>
        <p:spPr>
          <a:xfrm>
            <a:off x="5024438" y="3357563"/>
            <a:ext cx="1000125" cy="500062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altLang="en-US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096375" y="1571625"/>
            <a:ext cx="1214438" cy="571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eaLnBrk="0" hangingPunct="0"/>
            <a:endParaRPr lang="zh-CN" altLang="en-US">
              <a:solidFill>
                <a:schemeClr val="tx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22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34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5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71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94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11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charRg st="129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 bldLvl="0" animBg="1"/>
      <p:bldP spid="7" grpId="0" bldLvl="0" animBg="1"/>
      <p:bldP spid="11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857" name="Rectangle 2"/>
          <p:cNvSpPr>
            <a:spLocks noGrp="1"/>
          </p:cNvSpPr>
          <p:nvPr>
            <p:ph type="title" idx="4294967295"/>
          </p:nvPr>
        </p:nvSpPr>
        <p:spPr>
          <a:xfrm>
            <a:off x="2209800" y="609600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/>
              <a:t>常见操作问题</a:t>
            </a:r>
            <a:endParaRPr lang="zh-CN" altLang="en-US"/>
          </a:p>
        </p:txBody>
      </p:sp>
      <p:sp>
        <p:nvSpPr>
          <p:cNvPr id="121858" name="Rectangle 3"/>
          <p:cNvSpPr>
            <a:spLocks noGrp="1"/>
          </p:cNvSpPr>
          <p:nvPr>
            <p:ph idx="4294967295"/>
          </p:nvPr>
        </p:nvSpPr>
        <p:spPr>
          <a:xfrm>
            <a:off x="1981200" y="1600200"/>
            <a:ext cx="8229600" cy="4800600"/>
          </a:xfrm>
        </p:spPr>
        <p:txBody>
          <a:bodyPr wrap="square" lIns="91440" tIns="45720" rIns="91440" bIns="45720" anchor="t" anchorCtr="0"/>
          <a:p>
            <a:r>
              <a:rPr lang="en-US" altLang="zh-CN" b="1">
                <a:solidFill>
                  <a:schemeClr val="tx2"/>
                </a:solidFill>
              </a:rPr>
              <a:t>4. </a:t>
            </a:r>
            <a:r>
              <a:rPr lang="zh-CN" altLang="en-US" b="1">
                <a:solidFill>
                  <a:schemeClr val="tx2"/>
                </a:solidFill>
              </a:rPr>
              <a:t>提示</a:t>
            </a:r>
            <a:r>
              <a:rPr lang="zh-CN" altLang="en-US" b="1">
                <a:solidFill>
                  <a:srgbClr val="7030A0"/>
                </a:solidFill>
              </a:rPr>
              <a:t>个别</a:t>
            </a:r>
            <a:r>
              <a:rPr lang="zh-CN" altLang="en-US" b="1">
                <a:solidFill>
                  <a:schemeClr val="tx2"/>
                </a:solidFill>
              </a:rPr>
              <a:t>元器件无连结，但找不到</a:t>
            </a:r>
            <a:r>
              <a:rPr lang="en-US" altLang="zh-CN" b="1">
                <a:solidFill>
                  <a:schemeClr val="tx2"/>
                </a:solidFill>
              </a:rPr>
              <a:t>…</a:t>
            </a:r>
            <a:endParaRPr lang="en-US" altLang="zh-CN" b="1">
              <a:solidFill>
                <a:schemeClr val="tx2"/>
              </a:solidFill>
            </a:endParaRPr>
          </a:p>
          <a:p>
            <a:endParaRPr lang="en-US" altLang="zh-CN" sz="1400" b="1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/>
              <a:t>  </a:t>
            </a:r>
            <a:r>
              <a:rPr lang="zh-CN" altLang="en-US" b="1"/>
              <a:t>可能在当前屏幕之外，</a:t>
            </a:r>
            <a:endParaRPr lang="zh-CN" altLang="en-US" b="1"/>
          </a:p>
          <a:p>
            <a:pPr>
              <a:buNone/>
            </a:pPr>
            <a:r>
              <a:rPr lang="zh-CN" altLang="en-US" b="1"/>
              <a:t>用第四个放大镜</a:t>
            </a:r>
            <a:r>
              <a:rPr lang="en-US" altLang="zh-CN" b="1"/>
              <a:t>-Zoom</a:t>
            </a:r>
            <a:endParaRPr lang="en-US" altLang="zh-CN" b="1"/>
          </a:p>
          <a:p>
            <a:pPr>
              <a:buNone/>
            </a:pPr>
            <a:r>
              <a:rPr lang="en-US" altLang="zh-CN" b="1"/>
              <a:t>to  all </a:t>
            </a:r>
            <a:r>
              <a:rPr lang="zh-CN" altLang="en-US" b="1"/>
              <a:t>来看全部。</a:t>
            </a:r>
            <a:endParaRPr lang="zh-CN" altLang="en-US" b="1"/>
          </a:p>
          <a:p>
            <a:pPr>
              <a:buNone/>
            </a:pPr>
            <a:endParaRPr lang="zh-CN" altLang="en-US" b="1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1"/>
              <a:t>   元件标识用了</a:t>
            </a:r>
            <a:r>
              <a:rPr lang="zh-CN" altLang="en-US" b="1">
                <a:solidFill>
                  <a:schemeClr val="tx2"/>
                </a:solidFill>
              </a:rPr>
              <a:t>特殊字符</a:t>
            </a:r>
            <a:r>
              <a:rPr lang="zh-CN" altLang="en-US" b="1"/>
              <a:t>，比如</a:t>
            </a:r>
            <a:r>
              <a:rPr lang="en-US" altLang="zh-CN" b="1"/>
              <a:t>R</a:t>
            </a:r>
            <a:r>
              <a:rPr lang="en-US" altLang="zh-CN" b="1">
                <a:solidFill>
                  <a:schemeClr val="tx2"/>
                </a:solidFill>
              </a:rPr>
              <a:t>’</a:t>
            </a:r>
            <a:r>
              <a:rPr lang="en-US" altLang="zh-CN" sz="2400" b="1"/>
              <a:t>e2</a:t>
            </a:r>
            <a:r>
              <a:rPr lang="zh-CN" altLang="en-US" b="1"/>
              <a:t>中的 </a:t>
            </a:r>
            <a:r>
              <a:rPr lang="zh-CN" altLang="en-US" b="1">
                <a:solidFill>
                  <a:schemeClr val="tx2"/>
                </a:solidFill>
              </a:rPr>
              <a:t>’</a:t>
            </a:r>
            <a:endParaRPr lang="zh-CN" altLang="en-US" b="1">
              <a:solidFill>
                <a:schemeClr val="tx2"/>
              </a:solidFill>
            </a:endParaRPr>
          </a:p>
        </p:txBody>
      </p:sp>
      <p:pic>
        <p:nvPicPr>
          <p:cNvPr id="12185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0263" y="2693988"/>
            <a:ext cx="1962150" cy="1143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1860" name="Oval 5"/>
          <p:cNvSpPr/>
          <p:nvPr/>
        </p:nvSpPr>
        <p:spPr>
          <a:xfrm>
            <a:off x="8166100" y="2824163"/>
            <a:ext cx="368300" cy="403225"/>
          </a:xfrm>
          <a:prstGeom prst="ellipse">
            <a:avLst/>
          </a:prstGeom>
          <a:noFill/>
          <a:ln w="38100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1" name="Rectangle 2"/>
          <p:cNvSpPr>
            <a:spLocks noGrp="1"/>
          </p:cNvSpPr>
          <p:nvPr>
            <p:ph type="title" idx="4294967295"/>
          </p:nvPr>
        </p:nvSpPr>
        <p:spPr>
          <a:xfrm>
            <a:off x="1981200" y="274638"/>
            <a:ext cx="8229600" cy="795337"/>
          </a:xfrm>
        </p:spPr>
        <p:txBody>
          <a:bodyPr wrap="square" lIns="91440" tIns="45720" rIns="91440" bIns="45720" anchor="t" anchorCtr="0"/>
          <a:p>
            <a:r>
              <a:rPr lang="zh-CN" altLang="en-US"/>
              <a:t>常见操作问题</a:t>
            </a:r>
            <a:endParaRPr lang="zh-CN" altLang="en-US"/>
          </a:p>
        </p:txBody>
      </p:sp>
      <p:sp>
        <p:nvSpPr>
          <p:cNvPr id="6148" name="Rectangle 3"/>
          <p:cNvSpPr>
            <a:spLocks noGrp="1"/>
          </p:cNvSpPr>
          <p:nvPr>
            <p:ph idx="4294967295"/>
          </p:nvPr>
        </p:nvSpPr>
        <p:spPr>
          <a:xfrm>
            <a:off x="1747838" y="1384300"/>
            <a:ext cx="4043362" cy="5284788"/>
          </a:xfrm>
        </p:spPr>
        <p:txBody>
          <a:bodyPr wrap="square" lIns="91440" tIns="45720" rIns="91440" bIns="45720" anchor="t" anchorCtr="0"/>
          <a:p>
            <a:r>
              <a:rPr lang="en-US" altLang="zh-CN" b="1">
                <a:solidFill>
                  <a:schemeClr val="tx2"/>
                </a:solidFill>
              </a:rPr>
              <a:t>5. </a:t>
            </a:r>
            <a:r>
              <a:rPr lang="zh-CN" altLang="en-US" b="1">
                <a:solidFill>
                  <a:schemeClr val="tx2"/>
                </a:solidFill>
              </a:rPr>
              <a:t>直流工作点错令瞬态分析明显错误</a:t>
            </a:r>
            <a:endParaRPr lang="zh-CN" altLang="en-US" b="1">
              <a:solidFill>
                <a:schemeClr val="tx2"/>
              </a:solidFill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b="1"/>
              <a:t>    拉移元件，确定其连线是否正确。必要时自己加</a:t>
            </a:r>
            <a:r>
              <a:rPr lang="zh-CN" altLang="en-US" b="1">
                <a:solidFill>
                  <a:srgbClr val="9C0678"/>
                </a:solidFill>
              </a:rPr>
              <a:t>节点</a:t>
            </a:r>
            <a:r>
              <a:rPr lang="zh-CN" altLang="en-US" b="1"/>
              <a:t>。</a:t>
            </a:r>
            <a:endParaRPr lang="en-US" altLang="zh-CN" b="1"/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altLang="zh-CN" b="1"/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endParaRPr lang="en-US" altLang="zh-CN" b="1"/>
          </a:p>
          <a:p>
            <a:pPr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b="1"/>
              <a:t>    器件</a:t>
            </a:r>
            <a:r>
              <a:rPr lang="zh-CN" altLang="en-US" b="1">
                <a:solidFill>
                  <a:srgbClr val="FF0000"/>
                </a:solidFill>
              </a:rPr>
              <a:t>参数</a:t>
            </a:r>
            <a:r>
              <a:rPr lang="zh-CN" altLang="en-US" b="1"/>
              <a:t>勿错！</a:t>
            </a:r>
            <a:r>
              <a:rPr lang="en-US" altLang="zh-CN"/>
              <a:t>5.1</a:t>
            </a:r>
            <a:r>
              <a:rPr lang="en-US" altLang="zh-CN">
                <a:solidFill>
                  <a:srgbClr val="C00000"/>
                </a:solidFill>
              </a:rPr>
              <a:t>k</a:t>
            </a:r>
            <a:r>
              <a:rPr lang="zh-CN" altLang="en-US"/>
              <a:t>、</a:t>
            </a:r>
            <a:r>
              <a:rPr lang="en-US" altLang="zh-CN"/>
              <a:t>51</a:t>
            </a:r>
            <a:r>
              <a:rPr lang="en-US" altLang="zh-CN">
                <a:solidFill>
                  <a:srgbClr val="C00000"/>
                </a:solidFill>
              </a:rPr>
              <a:t>k</a:t>
            </a:r>
            <a:r>
              <a:rPr lang="zh-CN" altLang="en-US"/>
              <a:t>、</a:t>
            </a:r>
            <a:r>
              <a:rPr lang="en-US" altLang="zh-CN"/>
              <a:t>51</a:t>
            </a:r>
            <a:r>
              <a:rPr lang="en-US" altLang="zh-CN">
                <a:solidFill>
                  <a:srgbClr val="FF0000"/>
                </a:solidFill>
                <a:latin typeface="Symbol" panose="05050102010706020507" pitchFamily="2" charset="2"/>
              </a:rPr>
              <a:t>W</a:t>
            </a:r>
            <a:r>
              <a:rPr lang="en-US" altLang="zh-CN" b="1"/>
              <a:t>…</a:t>
            </a:r>
            <a:endParaRPr lang="en-US" altLang="zh-CN" b="1"/>
          </a:p>
        </p:txBody>
      </p:sp>
      <p:sp>
        <p:nvSpPr>
          <p:cNvPr id="122883" name="Oval 6"/>
          <p:cNvSpPr/>
          <p:nvPr/>
        </p:nvSpPr>
        <p:spPr>
          <a:xfrm>
            <a:off x="6851650" y="3535363"/>
            <a:ext cx="360363" cy="341312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22884" name="Oval 7"/>
          <p:cNvSpPr/>
          <p:nvPr/>
        </p:nvSpPr>
        <p:spPr>
          <a:xfrm>
            <a:off x="8120063" y="6110288"/>
            <a:ext cx="301625" cy="24447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pic>
        <p:nvPicPr>
          <p:cNvPr id="122885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3138" y="4240213"/>
            <a:ext cx="2082800" cy="1273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6" name="下箭头标注 3"/>
          <p:cNvSpPr/>
          <p:nvPr/>
        </p:nvSpPr>
        <p:spPr>
          <a:xfrm>
            <a:off x="6340475" y="1046163"/>
            <a:ext cx="2106613" cy="911225"/>
          </a:xfrm>
          <a:prstGeom prst="downArrowCallout">
            <a:avLst>
              <a:gd name="adj1" fmla="val 31528"/>
              <a:gd name="adj2" fmla="val 15765"/>
              <a:gd name="adj3" fmla="val 25000"/>
              <a:gd name="adj4" fmla="val 64972"/>
            </a:avLst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看正常放大取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35k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看失真改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0.1k /100k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122887" name="Object 5"/>
          <p:cNvGraphicFramePr>
            <a:graphicFrameLocks noChangeAspect="1"/>
          </p:cNvGraphicFramePr>
          <p:nvPr/>
        </p:nvGraphicFramePr>
        <p:xfrm>
          <a:off x="5881688" y="1785938"/>
          <a:ext cx="4448175" cy="471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2" imgW="4038600" imgH="4343400" progId="Word.Picture.8">
                  <p:embed/>
                </p:oleObj>
              </mc:Choice>
              <mc:Fallback>
                <p:oleObj name="" r:id="rId2" imgW="4038600" imgH="4343400" progId="Word.Picture.8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81688" y="1785938"/>
                        <a:ext cx="4448175" cy="4719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888" y="981075"/>
            <a:ext cx="4586287" cy="5562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6672263" y="3706813"/>
            <a:ext cx="1944687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中间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错</a:t>
            </a:r>
            <a:r>
              <a:rPr lang="zh-CN" altLang="en-US">
                <a:solidFill>
                  <a:srgbClr val="C00000"/>
                </a:solidFill>
                <a:latin typeface="Times New Roman" panose="02020603050405020304" pitchFamily="2" charset="0"/>
                <a:ea typeface="黑体" panose="02010609060101010101" pitchFamily="2" charset="-122"/>
              </a:rPr>
              <a:t>连线。</a:t>
            </a:r>
            <a:r>
              <a:rPr lang="zh-CN" altLang="en-US">
                <a:latin typeface="Times New Roman" panose="02020603050405020304" pitchFamily="2" charset="0"/>
                <a:ea typeface="黑体" panose="02010609060101010101" pitchFamily="2" charset="-122"/>
              </a:rPr>
              <a:t>必须删掉！</a:t>
            </a:r>
            <a:endParaRPr lang="zh-CN" altLang="en-US">
              <a:latin typeface="Times New Roman" panose="02020603050405020304" pitchFamily="2" charset="0"/>
              <a:ea typeface="黑体" panose="02010609060101010101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7967663" y="3141663"/>
            <a:ext cx="649287" cy="620712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3" name="直接箭头连接符 12"/>
          <p:cNvCxnSpPr/>
          <p:nvPr/>
        </p:nvCxnSpPr>
        <p:spPr>
          <a:xfrm flipH="1" flipV="1">
            <a:off x="6456363" y="3357563"/>
            <a:ext cx="1439862" cy="404812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7" name="直接箭头连接符 16"/>
          <p:cNvCxnSpPr/>
          <p:nvPr/>
        </p:nvCxnSpPr>
        <p:spPr>
          <a:xfrm>
            <a:off x="8270875" y="4121150"/>
            <a:ext cx="150813" cy="1544638"/>
          </a:xfrm>
          <a:prstGeom prst="straightConnector1">
            <a:avLst/>
          </a:prstGeom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charRg st="5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3905" name="Rectangle 2"/>
          <p:cNvSpPr>
            <a:spLocks noGrp="1"/>
          </p:cNvSpPr>
          <p:nvPr>
            <p:ph type="title" idx="4294967295"/>
          </p:nvPr>
        </p:nvSpPr>
        <p:spPr>
          <a:xfrm>
            <a:off x="2209800" y="609600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/>
              <a:t>常见操作问题</a:t>
            </a:r>
            <a:endParaRPr lang="zh-CN" altLang="en-US"/>
          </a:p>
        </p:txBody>
      </p:sp>
      <p:sp>
        <p:nvSpPr>
          <p:cNvPr id="123906" name="Rectangle 3"/>
          <p:cNvSpPr>
            <a:spLocks noGrp="1"/>
          </p:cNvSpPr>
          <p:nvPr>
            <p:ph idx="4294967295"/>
          </p:nvPr>
        </p:nvSpPr>
        <p:spPr>
          <a:xfrm>
            <a:off x="1981200" y="1600200"/>
            <a:ext cx="8229600" cy="4800600"/>
          </a:xfrm>
        </p:spPr>
        <p:txBody>
          <a:bodyPr wrap="square" lIns="91440" tIns="45720" rIns="91440" bIns="45720" anchor="t" anchorCtr="0"/>
          <a:p>
            <a:pPr>
              <a:spcBef>
                <a:spcPct val="50000"/>
              </a:spcBef>
            </a:pPr>
            <a:r>
              <a:rPr lang="en-US" altLang="zh-CN" b="1">
                <a:solidFill>
                  <a:schemeClr val="tx2"/>
                </a:solidFill>
              </a:rPr>
              <a:t>6. </a:t>
            </a:r>
            <a:r>
              <a:rPr lang="zh-CN" altLang="en-US" b="1">
                <a:solidFill>
                  <a:schemeClr val="tx2"/>
                </a:solidFill>
              </a:rPr>
              <a:t>频率特性仿真运行报错，无法进行。</a:t>
            </a:r>
            <a:endParaRPr lang="zh-CN" altLang="en-US" b="1">
              <a:solidFill>
                <a:schemeClr val="tx2"/>
              </a:solidFill>
            </a:endParaRPr>
          </a:p>
          <a:p>
            <a:pPr>
              <a:spcBef>
                <a:spcPct val="55000"/>
              </a:spcBef>
              <a:buNone/>
            </a:pPr>
            <a:r>
              <a:rPr lang="zh-CN" altLang="en-US" b="1"/>
              <a:t>        没有设定</a:t>
            </a:r>
            <a:r>
              <a:rPr lang="en-US" altLang="zh-CN" b="1"/>
              <a:t>Vsin</a:t>
            </a:r>
            <a:r>
              <a:rPr lang="zh-CN" altLang="en-US" b="1"/>
              <a:t>的</a:t>
            </a:r>
            <a:r>
              <a:rPr lang="en-US" altLang="zh-CN" b="1"/>
              <a:t>AC</a:t>
            </a:r>
            <a:r>
              <a:rPr lang="zh-CN" altLang="en-US" b="1"/>
              <a:t>参数。</a:t>
            </a:r>
            <a:endParaRPr lang="en-US" altLang="zh-CN" b="1"/>
          </a:p>
          <a:p>
            <a:pPr>
              <a:spcBef>
                <a:spcPct val="55000"/>
              </a:spcBef>
              <a:buNone/>
            </a:pPr>
            <a:endParaRPr lang="en-US" altLang="zh-CN" sz="1200" b="1"/>
          </a:p>
          <a:p>
            <a:pPr>
              <a:spcBef>
                <a:spcPct val="55000"/>
              </a:spcBef>
            </a:pPr>
            <a:r>
              <a:rPr lang="en-US" altLang="zh-CN" b="1">
                <a:solidFill>
                  <a:schemeClr val="tx2"/>
                </a:solidFill>
              </a:rPr>
              <a:t>7. </a:t>
            </a:r>
            <a:r>
              <a:rPr lang="zh-CN" altLang="en-US" b="1">
                <a:solidFill>
                  <a:schemeClr val="tx2"/>
                </a:solidFill>
              </a:rPr>
              <a:t>得到的频率特性对数曲线很不正确。</a:t>
            </a:r>
            <a:endParaRPr lang="en-US" altLang="zh-CN" b="1">
              <a:solidFill>
                <a:schemeClr val="tx2"/>
              </a:solidFill>
            </a:endParaRPr>
          </a:p>
          <a:p>
            <a:pPr>
              <a:spcBef>
                <a:spcPct val="55000"/>
              </a:spcBef>
              <a:buFont typeface="Wingdings" panose="05000000000000000000" pitchFamily="2" charset="2"/>
              <a:buChar char="Ø"/>
            </a:pPr>
            <a:r>
              <a:rPr lang="en-US" altLang="zh-CN" b="1"/>
              <a:t>    AC</a:t>
            </a:r>
            <a:r>
              <a:rPr lang="zh-CN" altLang="en-US" b="1"/>
              <a:t>参数设错（</a:t>
            </a:r>
            <a:r>
              <a:rPr lang="en-US" altLang="zh-CN" b="1"/>
              <a:t>mv</a:t>
            </a:r>
            <a:r>
              <a:rPr lang="zh-CN" altLang="en-US" b="1"/>
              <a:t>级，最大不要超过</a:t>
            </a:r>
            <a:r>
              <a:rPr lang="en-US" altLang="zh-CN" b="1"/>
              <a:t>1v</a:t>
            </a:r>
            <a:r>
              <a:rPr lang="zh-CN" altLang="en-US" b="1"/>
              <a:t>）</a:t>
            </a:r>
            <a:endParaRPr lang="zh-CN" altLang="en-US" b="1"/>
          </a:p>
          <a:p>
            <a:pPr>
              <a:spcBef>
                <a:spcPct val="55000"/>
              </a:spcBef>
              <a:buFont typeface="Wingdings" panose="05000000000000000000" pitchFamily="2" charset="2"/>
              <a:buChar char="Ø"/>
            </a:pPr>
            <a:r>
              <a:rPr lang="zh-CN" altLang="en-US" b="1">
                <a:solidFill>
                  <a:schemeClr val="tx2"/>
                </a:solidFill>
              </a:rPr>
              <a:t>    </a:t>
            </a:r>
            <a:r>
              <a:rPr lang="zh-CN" altLang="en-US" b="1">
                <a:solidFill>
                  <a:srgbClr val="800000"/>
                </a:solidFill>
              </a:rPr>
              <a:t>可能坐标系 </a:t>
            </a:r>
            <a:r>
              <a:rPr lang="en-US" altLang="zh-CN" b="1">
                <a:solidFill>
                  <a:srgbClr val="800000"/>
                </a:solidFill>
              </a:rPr>
              <a:t>dB</a:t>
            </a:r>
            <a:r>
              <a:rPr lang="zh-CN" altLang="en-US" b="1">
                <a:solidFill>
                  <a:srgbClr val="800000"/>
                </a:solidFill>
              </a:rPr>
              <a:t>（</a:t>
            </a:r>
            <a:r>
              <a:rPr lang="en-US" altLang="zh-CN" b="1">
                <a:solidFill>
                  <a:srgbClr val="800000"/>
                </a:solidFill>
              </a:rPr>
              <a:t>…Vo/Vs…</a:t>
            </a:r>
            <a:r>
              <a:rPr lang="zh-CN" altLang="en-US" b="1">
                <a:solidFill>
                  <a:srgbClr val="800000"/>
                </a:solidFill>
              </a:rPr>
              <a:t>）错，比如括号范围不能是  </a:t>
            </a:r>
            <a:r>
              <a:rPr lang="en-US" altLang="zh-CN" b="1">
                <a:solidFill>
                  <a:srgbClr val="800000"/>
                </a:solidFill>
              </a:rPr>
              <a:t>dB</a:t>
            </a:r>
            <a:r>
              <a:rPr lang="zh-CN" altLang="en-US" b="1">
                <a:solidFill>
                  <a:srgbClr val="800000"/>
                </a:solidFill>
              </a:rPr>
              <a:t>（</a:t>
            </a:r>
            <a:r>
              <a:rPr lang="en-US" altLang="zh-CN" b="1">
                <a:solidFill>
                  <a:srgbClr val="800000"/>
                </a:solidFill>
              </a:rPr>
              <a:t>… Vo</a:t>
            </a:r>
            <a:r>
              <a:rPr lang="zh-CN" altLang="en-US" b="1">
                <a:solidFill>
                  <a:srgbClr val="800000"/>
                </a:solidFill>
              </a:rPr>
              <a:t>） </a:t>
            </a:r>
            <a:r>
              <a:rPr lang="en-US" altLang="zh-CN" b="1">
                <a:solidFill>
                  <a:srgbClr val="800000"/>
                </a:solidFill>
              </a:rPr>
              <a:t>/ Vs</a:t>
            </a:r>
            <a:r>
              <a:rPr lang="zh-CN" altLang="en-US" b="1">
                <a:solidFill>
                  <a:srgbClr val="800000"/>
                </a:solidFill>
              </a:rPr>
              <a:t>。</a:t>
            </a:r>
            <a:endParaRPr lang="zh-CN" altLang="en-US" b="1">
              <a:solidFill>
                <a:srgbClr val="80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981200" y="1031875"/>
            <a:ext cx="8229600" cy="1676400"/>
          </a:xfrm>
        </p:spPr>
        <p:txBody>
          <a:bodyPr wrap="square" lIns="91440" tIns="45720" rIns="91440" bIns="45720" anchor="t" anchorCtr="0"/>
          <a:p>
            <a:r>
              <a:rPr lang="en-US" altLang="zh-CN" b="1">
                <a:solidFill>
                  <a:schemeClr val="tx2"/>
                </a:solidFill>
              </a:rPr>
              <a:t>8 . </a:t>
            </a:r>
            <a:r>
              <a:rPr lang="zh-CN" altLang="en-US" b="1">
                <a:solidFill>
                  <a:schemeClr val="tx2"/>
                </a:solidFill>
              </a:rPr>
              <a:t>大多数结果正常，只是频率特性曲线高频部分到</a:t>
            </a:r>
            <a:r>
              <a:rPr lang="en-US" altLang="zh-CN" b="1">
                <a:solidFill>
                  <a:schemeClr val="tx2"/>
                </a:solidFill>
              </a:rPr>
              <a:t>100MEG</a:t>
            </a:r>
            <a:r>
              <a:rPr lang="zh-CN" altLang="en-US" b="1">
                <a:solidFill>
                  <a:schemeClr val="tx2"/>
                </a:solidFill>
              </a:rPr>
              <a:t>甚至</a:t>
            </a:r>
            <a:r>
              <a:rPr lang="en-US" altLang="zh-CN" b="1">
                <a:solidFill>
                  <a:schemeClr val="tx2"/>
                </a:solidFill>
              </a:rPr>
              <a:t>1GHz</a:t>
            </a:r>
            <a:r>
              <a:rPr lang="zh-CN" altLang="en-US" b="1">
                <a:solidFill>
                  <a:schemeClr val="tx2"/>
                </a:solidFill>
              </a:rPr>
              <a:t>都无衰减。</a:t>
            </a:r>
            <a:endParaRPr lang="en-US" altLang="zh-CN" b="1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b="1">
                <a:solidFill>
                  <a:schemeClr val="tx2"/>
                </a:solidFill>
              </a:rPr>
              <a:t>        </a:t>
            </a:r>
            <a:r>
              <a:rPr lang="zh-CN" altLang="en-US" b="1">
                <a:solidFill>
                  <a:srgbClr val="006600"/>
                </a:solidFill>
              </a:rPr>
              <a:t>修改三极管</a:t>
            </a:r>
            <a:r>
              <a:rPr lang="en-US" altLang="zh-CN" b="1">
                <a:solidFill>
                  <a:srgbClr val="006600"/>
                </a:solidFill>
              </a:rPr>
              <a:t>Pspice Model</a:t>
            </a:r>
            <a:r>
              <a:rPr lang="zh-CN" altLang="en-US" b="1">
                <a:solidFill>
                  <a:srgbClr val="006600"/>
                </a:solidFill>
              </a:rPr>
              <a:t>时操作失误。</a:t>
            </a:r>
            <a:endParaRPr lang="zh-CN" altLang="en-US">
              <a:solidFill>
                <a:srgbClr val="006600"/>
              </a:solidFill>
            </a:endParaRPr>
          </a:p>
        </p:txBody>
      </p:sp>
      <p:sp>
        <p:nvSpPr>
          <p:cNvPr id="124930" name="标题 1"/>
          <p:cNvSpPr>
            <a:spLocks noGrp="1"/>
          </p:cNvSpPr>
          <p:nvPr>
            <p:ph type="title" idx="4294967295"/>
          </p:nvPr>
        </p:nvSpPr>
        <p:spPr>
          <a:xfrm>
            <a:off x="2209800" y="34925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/>
              <a:t>常见操作问题</a:t>
            </a:r>
            <a:endParaRPr lang="zh-CN" altLang="en-US"/>
          </a:p>
        </p:txBody>
      </p:sp>
      <p:pic>
        <p:nvPicPr>
          <p:cNvPr id="4" name="图片 3" descr="错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513" y="2636838"/>
            <a:ext cx="8677275" cy="412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5953" name="Rectangle 2"/>
          <p:cNvSpPr>
            <a:spLocks noGrp="1"/>
          </p:cNvSpPr>
          <p:nvPr>
            <p:ph type="title" idx="4294967295"/>
          </p:nvPr>
        </p:nvSpPr>
        <p:spPr>
          <a:xfrm>
            <a:off x="2209800" y="609600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/>
              <a:t>常见操作问题</a:t>
            </a:r>
            <a:endParaRPr lang="zh-CN" altLang="en-US"/>
          </a:p>
        </p:txBody>
      </p:sp>
      <p:sp>
        <p:nvSpPr>
          <p:cNvPr id="125954" name="Rectangle 3"/>
          <p:cNvSpPr>
            <a:spLocks noGrp="1"/>
          </p:cNvSpPr>
          <p:nvPr>
            <p:ph idx="4294967295"/>
          </p:nvPr>
        </p:nvSpPr>
        <p:spPr>
          <a:xfrm>
            <a:off x="1981200" y="1600200"/>
            <a:ext cx="8229600" cy="4800600"/>
          </a:xfrm>
        </p:spPr>
        <p:txBody>
          <a:bodyPr wrap="square" lIns="91440" tIns="45720" rIns="91440" bIns="45720" anchor="t" anchorCtr="0"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</a:rPr>
              <a:t>9. </a:t>
            </a:r>
            <a:r>
              <a:rPr lang="zh-CN" altLang="en-US" b="1" dirty="0">
                <a:solidFill>
                  <a:schemeClr val="tx2"/>
                </a:solidFill>
              </a:rPr>
              <a:t>右击仿真项目没发现有删除操作，乱建的仿真项怎么删除？</a:t>
            </a:r>
            <a:endParaRPr lang="zh-CN" altLang="en-US" b="1" dirty="0">
              <a:solidFill>
                <a:schemeClr val="tx2"/>
              </a:solidFill>
            </a:endParaRPr>
          </a:p>
          <a:p>
            <a:pPr>
              <a:spcBef>
                <a:spcPct val="55000"/>
              </a:spcBef>
              <a:buNone/>
            </a:pPr>
            <a:r>
              <a:rPr lang="zh-CN" altLang="en-US" b="1" dirty="0"/>
              <a:t>        选中仿真项目，按键盘</a:t>
            </a:r>
            <a:r>
              <a:rPr lang="en-US" altLang="zh-CN" b="1" dirty="0"/>
              <a:t>DEL</a:t>
            </a:r>
            <a:r>
              <a:rPr lang="zh-CN" altLang="en-US" b="1" dirty="0"/>
              <a:t>键。</a:t>
            </a:r>
            <a:endParaRPr lang="en-US" altLang="zh-CN" b="1" dirty="0"/>
          </a:p>
          <a:p>
            <a:pPr>
              <a:spcBef>
                <a:spcPct val="55000"/>
              </a:spcBef>
              <a:buNone/>
            </a:pPr>
            <a:r>
              <a:rPr lang="en-US" altLang="zh-CN" b="1" dirty="0">
                <a:solidFill>
                  <a:srgbClr val="800000"/>
                </a:solidFill>
              </a:rPr>
              <a:t>        </a:t>
            </a:r>
            <a:r>
              <a:rPr lang="zh-CN" altLang="en-US" b="1" dirty="0">
                <a:solidFill>
                  <a:srgbClr val="800000"/>
                </a:solidFill>
              </a:rPr>
              <a:t>注意！删除后</a:t>
            </a:r>
            <a:r>
              <a:rPr lang="zh-CN" altLang="en-US" b="1" dirty="0"/>
              <a:t>无</a:t>
            </a:r>
            <a:r>
              <a:rPr lang="zh-CN" altLang="en-US" b="1" dirty="0">
                <a:solidFill>
                  <a:srgbClr val="800000"/>
                </a:solidFill>
              </a:rPr>
              <a:t>恢复操作。删错了只能再建一个。</a:t>
            </a:r>
            <a:endParaRPr lang="zh-CN" altLang="en-US" b="1" dirty="0">
              <a:solidFill>
                <a:srgbClr val="800000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6977" name="Rectangle 2"/>
          <p:cNvSpPr>
            <a:spLocks noGrp="1"/>
          </p:cNvSpPr>
          <p:nvPr>
            <p:ph type="title" idx="4294967295"/>
          </p:nvPr>
        </p:nvSpPr>
        <p:spPr>
          <a:xfrm>
            <a:off x="2209800" y="609600"/>
            <a:ext cx="7772400" cy="1143000"/>
          </a:xfrm>
        </p:spPr>
        <p:txBody>
          <a:bodyPr wrap="square" lIns="91440" tIns="45720" rIns="91440" bIns="45720" anchor="t" anchorCtr="0"/>
          <a:p>
            <a:r>
              <a:rPr lang="zh-CN" altLang="en-US" dirty="0">
                <a:solidFill>
                  <a:srgbClr val="7F7F7F"/>
                </a:solidFill>
              </a:rPr>
              <a:t>常见操作问题</a:t>
            </a:r>
            <a:endParaRPr lang="zh-CN" altLang="en-US" dirty="0">
              <a:solidFill>
                <a:srgbClr val="7F7F7F"/>
              </a:solidFill>
            </a:endParaRPr>
          </a:p>
        </p:txBody>
      </p:sp>
      <p:sp>
        <p:nvSpPr>
          <p:cNvPr id="126978" name="Rectangle 3"/>
          <p:cNvSpPr>
            <a:spLocks noGrp="1"/>
          </p:cNvSpPr>
          <p:nvPr>
            <p:ph idx="4294967295"/>
          </p:nvPr>
        </p:nvSpPr>
        <p:spPr>
          <a:xfrm>
            <a:off x="1981200" y="1371600"/>
            <a:ext cx="8229600" cy="4754563"/>
          </a:xfrm>
        </p:spPr>
        <p:txBody>
          <a:bodyPr wrap="square" lIns="91440" tIns="45720" rIns="91440" bIns="45720" anchor="t" anchorCtr="0"/>
          <a:p>
            <a:pPr>
              <a:spcAft>
                <a:spcPts val="1200"/>
              </a:spcAft>
            </a:pPr>
            <a:r>
              <a:rPr lang="en-US" altLang="zh-CN" b="1" dirty="0">
                <a:solidFill>
                  <a:schemeClr val="tx2"/>
                </a:solidFill>
              </a:rPr>
              <a:t>10.</a:t>
            </a:r>
            <a:r>
              <a:rPr lang="zh-CN" altLang="en-US" b="1" dirty="0">
                <a:solidFill>
                  <a:schemeClr val="tx2"/>
                </a:solidFill>
              </a:rPr>
              <a:t>元件属性表不正常，和教学很不相同。</a:t>
            </a:r>
            <a:endParaRPr lang="zh-CN" altLang="en-US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b="1" dirty="0"/>
              <a:t>     元件属性表中</a:t>
            </a:r>
            <a:r>
              <a:rPr lang="en-US" altLang="zh-CN" b="1" dirty="0"/>
              <a:t>Filter</a:t>
            </a:r>
            <a:r>
              <a:rPr lang="zh-CN" altLang="en-US" b="1" dirty="0"/>
              <a:t>选项，要保证是</a:t>
            </a:r>
            <a:endParaRPr lang="zh-CN" altLang="en-US" b="1" dirty="0"/>
          </a:p>
          <a:p>
            <a:pPr>
              <a:buNone/>
            </a:pPr>
            <a:r>
              <a:rPr lang="en-US" altLang="zh-CN" b="1" dirty="0"/>
              <a:t>&lt;Current properties&gt; </a:t>
            </a:r>
            <a:r>
              <a:rPr lang="zh-CN" altLang="en-US" b="1" dirty="0"/>
              <a:t>或 </a:t>
            </a:r>
            <a:r>
              <a:rPr lang="en-US" altLang="zh-CN" b="1" dirty="0" err="1"/>
              <a:t>Orcad</a:t>
            </a:r>
            <a:r>
              <a:rPr lang="en-US" altLang="zh-CN" b="1" dirty="0"/>
              <a:t>/PS</a:t>
            </a:r>
            <a:r>
              <a:rPr lang="zh-CN" altLang="en-US" b="1" dirty="0"/>
              <a:t>，其他目前用不到。</a:t>
            </a:r>
            <a:endParaRPr lang="zh-CN" altLang="en-US" sz="2800" b="1" dirty="0"/>
          </a:p>
        </p:txBody>
      </p:sp>
      <p:pic>
        <p:nvPicPr>
          <p:cNvPr id="126979" name="Picture 4" descr="PSerror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6525" y="3876675"/>
            <a:ext cx="6837363" cy="2428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6980" name="Oval 5"/>
          <p:cNvSpPr/>
          <p:nvPr/>
        </p:nvSpPr>
        <p:spPr>
          <a:xfrm>
            <a:off x="5727700" y="4735513"/>
            <a:ext cx="3152775" cy="1514475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DIAGRAM_VIRTUALLY_FRAME" val="{&quot;height&quot;:83.8,&quot;left&quot;:20.8,&quot;top&quot;:148.8,&quot;width&quot;:604.1}"/>
</p:tagLst>
</file>

<file path=ppt/tags/tag2.xml><?xml version="1.0" encoding="utf-8"?>
<p:tagLst xmlns:p="http://schemas.openxmlformats.org/presentationml/2006/main">
  <p:tag name="KSO_WM_DIAGRAM_VIRTUALLY_FRAME" val="{&quot;height&quot;:83.8,&quot;left&quot;:20.8,&quot;top&quot;:148.8,&quot;width&quot;:604.1}"/>
</p:tagLst>
</file>

<file path=ppt/tags/tag3.xml><?xml version="1.0" encoding="utf-8"?>
<p:tagLst xmlns:p="http://schemas.openxmlformats.org/presentationml/2006/main">
  <p:tag name="KSO_WM_DIAGRAM_VIRTUALLY_FRAME" val="{&quot;height&quot;:83.8,&quot;left&quot;:20.8,&quot;top&quot;:148.8,&quot;width&quot;:604.1}"/>
</p:tagLst>
</file>

<file path=ppt/tags/tag4.xml><?xml version="1.0" encoding="utf-8"?>
<p:tagLst xmlns:p="http://schemas.openxmlformats.org/presentationml/2006/main">
  <p:tag name="KSO_WM_DIAGRAM_VIRTUALLY_FRAME" val="{&quot;height&quot;:83.8,&quot;left&quot;:20.8,&quot;top&quot;:148.8,&quot;width&quot;:604.1}"/>
</p:tagLst>
</file>

<file path=ppt/tags/tag5.xml><?xml version="1.0" encoding="utf-8"?>
<p:tagLst xmlns:p="http://schemas.openxmlformats.org/presentationml/2006/main">
  <p:tag name="KSO_WPP_MARK_KEY" val="74493d8c-aa64-4539-82cb-fb20d3627c6d"/>
  <p:tag name="COMMONDATA" val="eyJoZGlkIjoiYWVjMTExZDIzZmUwMGIyZTIyMGI5ZjA4MDhjZjZkYWUifQ=="/>
  <p:tag name="commondata" val="eyJoZGlkIjoiYTM0YjhhZjY5NzRhNjAxYjg5MGU1NzlhYWJkMjM3YzM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9497</Words>
  <Application>WPS 演示</Application>
  <PresentationFormat>在屏幕上显示</PresentationFormat>
  <Paragraphs>963</Paragraphs>
  <Slides>67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67</vt:i4>
      </vt:variant>
    </vt:vector>
  </HeadingPairs>
  <TitlesOfParts>
    <vt:vector size="119" baseType="lpstr">
      <vt:lpstr>Arial</vt:lpstr>
      <vt:lpstr>宋体</vt:lpstr>
      <vt:lpstr>Wingdings</vt:lpstr>
      <vt:lpstr>Times New Roman</vt:lpstr>
      <vt:lpstr>黑体</vt:lpstr>
      <vt:lpstr>Wingdings</vt:lpstr>
      <vt:lpstr>微软雅黑</vt:lpstr>
      <vt:lpstr>Calibri</vt:lpstr>
      <vt:lpstr>隶书</vt:lpstr>
      <vt:lpstr>楷体_GB2312</vt:lpstr>
      <vt:lpstr>新宋体</vt:lpstr>
      <vt:lpstr>Arial Unicode MS</vt:lpstr>
      <vt:lpstr>Cambria</vt:lpstr>
      <vt:lpstr>Verdana</vt:lpstr>
      <vt:lpstr>华文中宋</vt:lpstr>
      <vt:lpstr>Tahoma</vt:lpstr>
      <vt:lpstr>Symbol</vt:lpstr>
      <vt:lpstr>幼圆</vt:lpstr>
      <vt:lpstr>Times New Roman</vt:lpstr>
      <vt:lpstr>楷体</vt:lpstr>
      <vt:lpstr>默认设计模板</vt:lpstr>
      <vt:lpstr>WPS.Doc.6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PBrush</vt:lpstr>
      <vt:lpstr>Paint.Picture</vt:lpstr>
      <vt:lpstr>Paint.Picture</vt:lpstr>
      <vt:lpstr>PBrush</vt:lpstr>
      <vt:lpstr>PBrush</vt:lpstr>
      <vt:lpstr>PBrush</vt:lpstr>
      <vt:lpstr>PBrush</vt:lpstr>
      <vt:lpstr>PBrush</vt:lpstr>
      <vt:lpstr>PBrush</vt:lpstr>
      <vt:lpstr>PBrush</vt:lpstr>
      <vt:lpstr>WPS.Doc.6</vt:lpstr>
      <vt:lpstr>PBrush</vt:lpstr>
      <vt:lpstr>PBrush</vt:lpstr>
      <vt:lpstr>PBrush</vt:lpstr>
      <vt:lpstr>PBrush</vt:lpstr>
      <vt:lpstr>Word.Picture.8</vt:lpstr>
      <vt:lpstr>PBrush</vt:lpstr>
      <vt:lpstr>PBrush</vt:lpstr>
      <vt:lpstr>PBrush</vt:lpstr>
      <vt:lpstr>PBrush</vt:lpstr>
      <vt:lpstr>Paint.Picture</vt:lpstr>
      <vt:lpstr>PBrush</vt:lpstr>
      <vt:lpstr>Pspice仿真  ——单级共射放大电路</vt:lpstr>
      <vt:lpstr>电子线路计算机辅助分析与设计的基本流程</vt:lpstr>
      <vt:lpstr>电子线路计算机辅助分析与设计</vt:lpstr>
      <vt:lpstr>PowerPoint 演示文稿</vt:lpstr>
      <vt:lpstr>1 PSpice发展历史</vt:lpstr>
      <vt:lpstr>PowerPoint 演示文稿</vt:lpstr>
      <vt:lpstr>3  PSpice A/D仿真功能简介</vt:lpstr>
      <vt:lpstr>PowerPoint 演示文稿</vt:lpstr>
      <vt:lpstr>单级共射电路</vt:lpstr>
      <vt:lpstr>2  实验要求</vt:lpstr>
      <vt:lpstr>①输出电压的幅频率特性        V（OUT），即显示输出电压的幅频率特性曲线。 ②电压增益的幅频特性       DB（V（OUT）/V（IN）），即电压增益的幅频特性曲线。 ③电压增益的相频特性        P（V（OUT））/V（IN）），即电压增益的相频特性曲线。 ④输入输出阻抗    V（IN）/I(CB)） ，即显示出输入阻抗特性曲线。      V(Vo)/I(Vs)，观测输出电阻的频率响应 。</vt:lpstr>
      <vt:lpstr>3：报告要求</vt:lpstr>
      <vt:lpstr>PowerPoint 演示文稿</vt:lpstr>
      <vt:lpstr>Pspice仿真步骤 </vt:lpstr>
      <vt:lpstr>电路分析流程</vt:lpstr>
      <vt:lpstr>1 用Capture绘制电路图  </vt:lpstr>
      <vt:lpstr>（1）项目名     Name栏中键入项目名，例如基Amp。</vt:lpstr>
      <vt:lpstr>（1）给设计项目起名。      在Name栏中键入项目名，例如我们为将要分析的基本放大器起名为Amp。</vt:lpstr>
      <vt:lpstr>PowerPoint 演示文稿</vt:lpstr>
      <vt:lpstr>PowerPoint 演示文稿</vt:lpstr>
      <vt:lpstr>PowerPoint 演示文稿</vt:lpstr>
      <vt:lpstr>PowerPoint 演示文稿</vt:lpstr>
      <vt:lpstr>OrCAD 9.2教学版中的Pspice库文件</vt:lpstr>
      <vt:lpstr>PowerPoint 演示文稿</vt:lpstr>
      <vt:lpstr>常用元器件类型和关键字</vt:lpstr>
      <vt:lpstr>常用元器件类型和关键字</vt:lpstr>
      <vt:lpstr>PowerPoint 演示文稿</vt:lpstr>
      <vt:lpstr>元件移动、旋转和删除</vt:lpstr>
      <vt:lpstr> （1）取放电源符号    同取放元器件一样，在SOURCE库中取电压源或电流源。 （2）取放接地符号   启动Place/Groud，或按对应的绘图快捷键     ，出现如图所示的选择框。在SOURCE库中取“0”符号。</vt:lpstr>
      <vt:lpstr>PowerPoint 演示文稿</vt:lpstr>
      <vt:lpstr> Capture自动为每个元器件设置一个元件名和参数值</vt:lpstr>
      <vt:lpstr>（4）修改元器件标号和参数 </vt:lpstr>
      <vt:lpstr>（3）还可以只修改某项参数</vt:lpstr>
      <vt:lpstr>OrCAD/PSpice 9.2中的单位和数字</vt:lpstr>
      <vt:lpstr> OrCAD/PSpice 9.2中采用的比例因子</vt:lpstr>
      <vt:lpstr>特别注意：</vt:lpstr>
      <vt:lpstr>PowerPoint 演示文稿</vt:lpstr>
      <vt:lpstr>三极管参数菜单中Edit/ PSpice  Model</vt:lpstr>
      <vt:lpstr>PowerPoint 演示文稿</vt:lpstr>
      <vt:lpstr>3 OrCAD/Pspice的基本电路特性分析&lt;&lt;静态工作点分析</vt:lpstr>
      <vt:lpstr>（3）设置分析类型和参数。</vt:lpstr>
      <vt:lpstr>PowerPoint 演示文稿</vt:lpstr>
      <vt:lpstr>PowerPoint 演示文稿</vt:lpstr>
      <vt:lpstr>（5）运行Pspice：执行Pspice/Run命令</vt:lpstr>
      <vt:lpstr>PowerPoint 演示文稿</vt:lpstr>
      <vt:lpstr>PowerPoint 演示文稿</vt:lpstr>
      <vt:lpstr>为正弦信号源设置参数</vt:lpstr>
      <vt:lpstr>交流分析AC分析:频域响应</vt:lpstr>
      <vt:lpstr>（3）查看分析结果Trace/Add Trace命令    </vt:lpstr>
      <vt:lpstr>修改电路: 输入端接地,取掉负载RL, 外加信号源VSIN(AC=10mV)</vt:lpstr>
      <vt:lpstr>(4)交流分析中的输出变量名 </vt:lpstr>
      <vt:lpstr>交流小信号分析（频域分析）AC Sweep</vt:lpstr>
      <vt:lpstr>PowerPoint 演示文稿</vt:lpstr>
      <vt:lpstr>求解输出阻抗</vt:lpstr>
      <vt:lpstr>导出仿真波形</vt:lpstr>
      <vt:lpstr>文件后缀名及其类型</vt:lpstr>
      <vt:lpstr>单级共射电路</vt:lpstr>
      <vt:lpstr>PowerPoint 演示文稿</vt:lpstr>
      <vt:lpstr>常见操作问题</vt:lpstr>
      <vt:lpstr>常见操作问题</vt:lpstr>
      <vt:lpstr>常见操作问题</vt:lpstr>
      <vt:lpstr>常见操作问题</vt:lpstr>
      <vt:lpstr>常见操作问题</vt:lpstr>
      <vt:lpstr>常见操作问题</vt:lpstr>
      <vt:lpstr>常见操作问题</vt:lpstr>
      <vt:lpstr>常见操作问题</vt:lpstr>
      <vt:lpstr>常见操作问题</vt:lpstr>
    </vt:vector>
  </TitlesOfParts>
  <Company>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PSPICE6.3  电路分析</dc:title>
  <dc:creator>杨小献</dc:creator>
  <cp:lastModifiedBy>Administrator</cp:lastModifiedBy>
  <cp:revision>427</cp:revision>
  <dcterms:created xsi:type="dcterms:W3CDTF">2002-03-17T01:22:00Z</dcterms:created>
  <dcterms:modified xsi:type="dcterms:W3CDTF">2025-11-12T09:47:24Z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6ECFEC369D404A6B91B289FD19228C50</vt:lpwstr>
  </property>
</Properties>
</file>