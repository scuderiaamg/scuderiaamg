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284" y="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7556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各位老师好，我是来自人工智能与自动化学院的陈宇凡。今天我将代表项目团队，汇报我们的大学创新训练项目 -- 多无人系统协同感知、规划。本项目由高常鑫教授指导，团队成员包括高子涵和迟泰炎。</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次答辩将按照以下六个部分展开：首先是研究背景与目的，阐述项目的出发点；然后综述国内外研究现状和技术趋势；接着介绍我们的研究路线和三大关键问题；随后重点汇报项目的创新与特色；最后说明实施方案与预期成果，并进行总结。</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随着机器人技术向应急救援等复杂动态场景的纵深发展，单体机器人受限于传感器物理视角、计算资源及抗干扰能力的边界，已经难以应对高维度的环境不确定性。感知盲区与决策孤岛直接制约了任务执行的鲁棒性。因此，构建多无人系统协同感知与协同规划技术架构，成为实现复杂环境下任务高效自主执行的必由之路。协同感知与规划作为两大核心支柱，搭建起了从个体智能通往群体智能的重要桥梁。</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项目致力于构建一套集信息高效共享与智能化协同决策于一体的多无人系统技术框架。在感知层面，研究多源异构传感器信息融合与分布式环境建模，打破单平台视域局限；在决策层面，建立基于共享感知信息的分布式协同规划算法，实现任务分配、路径规划与协同控制的自适应耦合；在验证层面，搭建虚实结合的仿真与实验验证平台，量化评估系统性能。</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国内在多无人系统协同技术领域发展迅速。在空空协同方面，航天科工集团演示了两百架无人机集群密集编队飞行，南京理工大学实现了多无人机协同追踪动态目标。在空地协同方面，浙江大学团队实现了无人机与四足机器狗的协同搜救，无人机提供全局视野与热成像探测，机器狗深入建筑内部精细搜索。在地地协同方面，上海交通大学研发了多四足机器狗协同运输系统，通过分布式协商算法实现负载均衡和步态同步。</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国外在该领域起步较早，注重基础理论与前沿探索。空空协同方面，苏黎世联邦理工在Nature Robotics上发表研究，完成了三十架微型无人机完全自主协同探索森林建图。空地协同方面，波士顿动力Spot机器狗与无人机结合实现工业巡检，后端实时数据融合生成三维检测报告。地地协同方面，ETH Zurich的ANYmal团队在DARPA地下挑战赛中，通过共享SLAM地图和语义信息完成搜救任务。</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基于对国内外研究现状的分析，我们归纳出五大技术发展趋势。第一，从集中式到分布式，去中心化自主协同使系统在失去地面站通信后仍具鲁棒性。第二，从同构到异构深度融合，无人机与机器狗可以形成立体化协同工作能力。第三，人工智能深度赋能，深度学习和强化学习使系统能够自动学习合作策略。第四，虚实结合测试成为主流，高保真仿真大幅降低了验证成本和风险。第五，标准化与互操作性受到重视，ROS2等开源框架推动协同系统互连。</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项目的研究路线分为五个阶段：首先是需求分析与协同任务定义，明确核心指标；然后是关键技术调研与方案选型，确定软硬件架构；接着是系统架构设计与模块集成，完成三大核心模块的开发；之后在高保真仿真环境中进行算法验证与优化；最后搭建实物异构无人系统平台进行实地测试与迭代部署。三大核心模块分别是协同感知融合模块、分布式协同规划模块和平台运动控制模块。</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一个关键问题是协同感知融合与一致环境理解。单一平台感知范围局限，存在视野狭窄、易遮挡等问题。我们的解决方案是通过多源信息时空对齐与分布式状态估计，采用自适应体素与混合约束的协同SLAM方法，基于因子图优化融合惯性里程计、特征匹配和无人机间相对测量等多种约束。同时，通过空间关键性图谱和渐进式带宽协商协议优化通信效率，带宽可降低十到一百倍。</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二个关键问题是动态环境下的分布式协同规划。面对灾害现场任务多发且环境瞬息万变的情况，我们设计了全局-局部分层分布式决策机制。在群体层面，利用博弈论或分布式强化学习进行宏观任务分配与粗粒度路径规划；在个体层面，各平台基于局部实时感知信息进行自主避障与灵巧穿行。这种全局指导局部、局部反馈全局的双重闭环决策，显著提升了系统的运行效率和自适应能力。</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三个关键问题是异构平台协同控制与跨域衔接。无人机和机器狗在运动模型、传感器配置、算力等方面存在巨大差异，空地指令的语义和行为映射也不一致。我们的解决方案是设计统一的协同任务描述语言与自适应接口，使空地平台能够相互理解意图、共享态势并接力作业。在典型的灾害救援场景中，形成了侦测、进入、处置三阶段空地接力协同作业流程。</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项目的创新与特色主要体现在六个方面。前三个创新分别是：一体化协同架构创新，构建感知、规划、控制闭环，面向未知非结构化的极端环境；闭环分布式决策创新，通过全局-局部双重闭环实现从有序协作到自主涌现；跨域交互范式创新，设计空地统一任务描述语言，让异构平台相互理解意图并接力作业。后三个创新涉及通信优化和AI融合。</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后三个创新分别是：空间关键性图谱，实时评估环境各区域的感知重要性，仅传输关键区域的稀疏特征，通信带宽降低十到一百倍；渐进式带宽协商协议，逐轮次下发带宽满足需求，支持百个以上节点的大规模集群；轻量级Transformer融合网络，支持相机和激光雷达等多模态数据统一输入，通过注意力权重动态分配信息权重。这六大创新共同构成了感知共享、决策共商、行动共协的群体智能核心范式。</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实施方案上，我们采用仿真先行、实物验证的三阶段推进策略。阶段一，重点进行多机器人传感器信息融合技术研究，完成单体的基本感知、定位、导航功能。阶段二，开展分层式协同规划方法研究，在群体层面进行任务分配，在个体层面实现自主导航。阶段三，在仿真环境中进行大规模测试和迭代优化，然后搭建实物平台开展实地测试。预期将产出一套包含硬件验证平台、高精度协同感知系统和智能分布式规划系统的完整原型。</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项目以应对未知灾害环境为导向，以多机协同为基本范式，提出了感知共享、决策共商、行动共协的群体智能解决方案。通过多源异构传感器融合打破单体视野局限，通过全局-局部分层决策实现群体智能涌现，通过异构平台空地一体化作业完成复杂任务全流程覆盖。项目致力于推动无人系统从单兵作战向集群协同的跨越式发展，为灾害响应、基础设施巡检及城市治理等领域提供关键技术支撑。</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感谢导师高常鑫教授的悉心指导，感谢团队成员高子涵和迟泰炎的共同努力。以上就是我们项目的全部汇报内容，恳请各位老师批评指正。</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0" y="0"/>
            <a:ext cx="12192000" cy="507206"/>
            <a:chOff x="0" y="0"/>
            <a:chExt cx="12192000" cy="507206"/>
          </a:xfrm>
        </p:grpSpPr>
        <p:sp>
          <p:nvSpPr>
            <p:cNvPr id="3" name="Rectangle 3"/>
            <p:cNvSpPr/>
            <p:nvPr/>
          </p:nvSpPr>
          <p:spPr>
            <a:xfrm>
              <a:off x="0" y="0"/>
              <a:ext cx="12192000" cy="57150"/>
            </a:xfrm>
            <a:prstGeom prst="rect">
              <a:avLst/>
            </a:prstGeom>
            <a:gradFill>
              <a:gsLst>
                <a:gs pos="0">
                  <a:srgbClr val="8B0000"/>
                </a:gs>
                <a:gs pos="100000">
                  <a:srgbClr val="C41E3A"/>
                </a:gs>
              </a:gsLst>
              <a:lin ang="0" scaled="1"/>
            </a:gradFill>
            <a:ln>
              <a:noFill/>
            </a:ln>
          </p:spPr>
        </p:sp>
        <p:sp>
          <p:nvSpPr>
            <p:cNvPr id="4" name="TextBox 4"/>
            <p:cNvSpPr txBox="1"/>
            <p:nvPr/>
          </p:nvSpPr>
          <p:spPr>
            <a:xfrm>
              <a:off x="4797927" y="278606"/>
              <a:ext cx="2596146" cy="228600"/>
            </a:xfrm>
            <a:prstGeom prst="rect">
              <a:avLst/>
            </a:prstGeom>
            <a:noFill/>
            <a:ln>
              <a:noFill/>
            </a:ln>
          </p:spPr>
          <p:txBody>
            <a:bodyPr wrap="none" lIns="0" tIns="0" rIns="0" bIns="0" anchor="t" anchorCtr="0">
              <a:spAutoFit/>
            </a:bodyPr>
            <a:lstStyle/>
            <a:p>
              <a:pPr algn="ctr"/>
              <a:r>
                <a:rPr lang="zh-CN" sz="1125" b="1" dirty="0">
                  <a:solidFill>
                    <a:srgbClr val="8B0000"/>
                  </a:solidFill>
                  <a:latin typeface="Arial"/>
                  <a:ea typeface="Microsoft YaHei"/>
                  <a:cs typeface="Arial"/>
                </a:rPr>
                <a:t>华中科技大学 人工智能与自动化学院</a:t>
              </a:r>
            </a:p>
          </p:txBody>
        </p:sp>
        <p:sp>
          <p:nvSpPr>
            <p:cNvPr id="5" name="Rectangle 5"/>
            <p:cNvSpPr/>
            <p:nvPr/>
          </p:nvSpPr>
          <p:spPr>
            <a:xfrm>
              <a:off x="4191000" y="495300"/>
              <a:ext cx="3810000" cy="9525"/>
            </a:xfrm>
            <a:prstGeom prst="rect">
              <a:avLst/>
            </a:prstGeom>
            <a:solidFill>
              <a:srgbClr val="D4C5C5"/>
            </a:solidFill>
            <a:ln>
              <a:noFill/>
            </a:ln>
          </p:spPr>
        </p:sp>
      </p:grpSp>
      <p:grpSp>
        <p:nvGrpSpPr>
          <p:cNvPr id="14" name="Group 14"/>
          <p:cNvGrpSpPr/>
          <p:nvPr/>
        </p:nvGrpSpPr>
        <p:grpSpPr>
          <a:xfrm>
            <a:off x="0" y="2095500"/>
            <a:ext cx="6294143" cy="1905000"/>
            <a:chOff x="0" y="2095500"/>
            <a:chExt cx="6294143" cy="1905000"/>
          </a:xfrm>
        </p:grpSpPr>
        <p:sp>
          <p:nvSpPr>
            <p:cNvPr id="7" name="Rectangle 7"/>
            <p:cNvSpPr/>
            <p:nvPr/>
          </p:nvSpPr>
          <p:spPr>
            <a:xfrm>
              <a:off x="0" y="2095500"/>
              <a:ext cx="76200" cy="1905000"/>
            </a:xfrm>
            <a:prstGeom prst="rect">
              <a:avLst/>
            </a:prstGeom>
            <a:gradFill>
              <a:gsLst>
                <a:gs pos="0">
                  <a:srgbClr val="8B0000"/>
                </a:gs>
                <a:gs pos="100000">
                  <a:srgbClr val="C41E3A"/>
                </a:gs>
              </a:gsLst>
              <a:lin ang="0" scaled="1"/>
            </a:gradFill>
            <a:ln>
              <a:noFill/>
            </a:ln>
          </p:spPr>
        </p:sp>
        <p:sp>
          <p:nvSpPr>
            <p:cNvPr id="8" name="Rectangle 8"/>
            <p:cNvSpPr/>
            <p:nvPr/>
          </p:nvSpPr>
          <p:spPr>
            <a:xfrm>
              <a:off x="76200" y="2095500"/>
              <a:ext cx="3810000" cy="1905000"/>
            </a:xfrm>
            <a:prstGeom prst="rect">
              <a:avLst/>
            </a:prstGeom>
            <a:solidFill>
              <a:srgbClr val="F8F2F2"/>
            </a:solidFill>
            <a:ln>
              <a:noFill/>
            </a:ln>
          </p:spPr>
        </p:sp>
        <p:sp>
          <p:nvSpPr>
            <p:cNvPr id="9" name="TextBox 9"/>
            <p:cNvSpPr txBox="1"/>
            <p:nvPr/>
          </p:nvSpPr>
          <p:spPr>
            <a:xfrm>
              <a:off x="317444" y="2333624"/>
              <a:ext cx="3770709" cy="762000"/>
            </a:xfrm>
            <a:prstGeom prst="rect">
              <a:avLst/>
            </a:prstGeom>
            <a:noFill/>
            <a:ln>
              <a:noFill/>
            </a:ln>
          </p:spPr>
          <p:txBody>
            <a:bodyPr wrap="none" lIns="0" tIns="0" rIns="0" bIns="0" anchor="t" anchorCtr="0">
              <a:spAutoFit/>
            </a:bodyPr>
            <a:lstStyle/>
            <a:p>
              <a:pPr algn="l"/>
              <a:r>
                <a:rPr lang="zh-CN" sz="3750" b="1" dirty="0">
                  <a:solidFill>
                    <a:srgbClr val="8B0000"/>
                  </a:solidFill>
                  <a:latin typeface="Arial"/>
                  <a:ea typeface="Microsoft YaHei"/>
                  <a:cs typeface="Arial"/>
                </a:rPr>
                <a:t>多无人系统协同</a:t>
              </a:r>
            </a:p>
          </p:txBody>
        </p:sp>
        <p:sp>
          <p:nvSpPr>
            <p:cNvPr id="10" name="TextBox 10"/>
            <p:cNvSpPr txBox="1"/>
            <p:nvPr/>
          </p:nvSpPr>
          <p:spPr>
            <a:xfrm>
              <a:off x="317444" y="3000377"/>
              <a:ext cx="2720578" cy="762000"/>
            </a:xfrm>
            <a:prstGeom prst="rect">
              <a:avLst/>
            </a:prstGeom>
            <a:noFill/>
            <a:ln>
              <a:noFill/>
            </a:ln>
          </p:spPr>
          <p:txBody>
            <a:bodyPr wrap="none" lIns="0" tIns="0" rIns="0" bIns="0" anchor="t" anchorCtr="0">
              <a:spAutoFit/>
            </a:bodyPr>
            <a:lstStyle/>
            <a:p>
              <a:pPr algn="l"/>
              <a:r>
                <a:rPr lang="zh-CN" sz="3750" b="1" dirty="0">
                  <a:solidFill>
                    <a:srgbClr val="8B0000"/>
                  </a:solidFill>
                  <a:latin typeface="Arial"/>
                  <a:ea typeface="Microsoft YaHei"/>
                  <a:cs typeface="Arial"/>
                </a:rPr>
                <a:t>感知、规划</a:t>
              </a:r>
            </a:p>
          </p:txBody>
        </p:sp>
        <p:sp>
          <p:nvSpPr>
            <p:cNvPr id="11" name="Rectangle 11"/>
            <p:cNvSpPr/>
            <p:nvPr/>
          </p:nvSpPr>
          <p:spPr>
            <a:xfrm>
              <a:off x="952500" y="3571875"/>
              <a:ext cx="762000" cy="28575"/>
            </a:xfrm>
            <a:prstGeom prst="rect">
              <a:avLst/>
            </a:prstGeom>
            <a:solidFill>
              <a:srgbClr val="C41E3A"/>
            </a:solidFill>
            <a:ln>
              <a:noFill/>
            </a:ln>
          </p:spPr>
        </p:sp>
        <p:sp>
          <p:nvSpPr>
            <p:cNvPr id="12" name="TextBox 12"/>
            <p:cNvSpPr txBox="1"/>
            <p:nvPr/>
          </p:nvSpPr>
          <p:spPr>
            <a:xfrm>
              <a:off x="4088153" y="3002997"/>
              <a:ext cx="2205990" cy="365760"/>
            </a:xfrm>
            <a:prstGeom prst="rect">
              <a:avLst/>
            </a:prstGeom>
            <a:noFill/>
            <a:ln>
              <a:noFill/>
            </a:ln>
          </p:spPr>
          <p:txBody>
            <a:bodyPr wrap="none" lIns="0" tIns="0" rIns="0" bIns="0" anchor="t" anchorCtr="0">
              <a:spAutoFit/>
            </a:bodyPr>
            <a:lstStyle/>
            <a:p>
              <a:pPr algn="l"/>
              <a:r>
                <a:rPr lang="zh-CN" sz="1800" dirty="0">
                  <a:solidFill>
                    <a:srgbClr val="2D2D2D"/>
                  </a:solidFill>
                  <a:latin typeface="Arial"/>
                  <a:ea typeface="Microsoft YaHei"/>
                  <a:cs typeface="Arial"/>
                </a:rPr>
                <a:t>大学生创新训练项目</a:t>
              </a:r>
            </a:p>
          </p:txBody>
        </p:sp>
        <p:sp>
          <p:nvSpPr>
            <p:cNvPr id="13" name="TextBox 13"/>
            <p:cNvSpPr txBox="1"/>
            <p:nvPr/>
          </p:nvSpPr>
          <p:spPr>
            <a:xfrm>
              <a:off x="4088153" y="3381377"/>
              <a:ext cx="1005840" cy="365760"/>
            </a:xfrm>
            <a:prstGeom prst="rect">
              <a:avLst/>
            </a:prstGeom>
            <a:noFill/>
            <a:ln>
              <a:noFill/>
            </a:ln>
          </p:spPr>
          <p:txBody>
            <a:bodyPr wrap="none" lIns="0" tIns="0" rIns="0" bIns="0" anchor="t" anchorCtr="0">
              <a:spAutoFit/>
            </a:bodyPr>
            <a:lstStyle/>
            <a:p>
              <a:pPr algn="l"/>
              <a:r>
                <a:rPr lang="zh-CN" sz="1800" dirty="0">
                  <a:solidFill>
                    <a:srgbClr val="2D2D2D"/>
                  </a:solidFill>
                  <a:latin typeface="Arial"/>
                  <a:ea typeface="Microsoft YaHei"/>
                  <a:cs typeface="Arial"/>
                </a:rPr>
                <a:t>结题答辩</a:t>
              </a:r>
            </a:p>
          </p:txBody>
        </p:sp>
      </p:grpSp>
      <p:grpSp>
        <p:nvGrpSpPr>
          <p:cNvPr id="20" name="Group 20"/>
          <p:cNvGrpSpPr/>
          <p:nvPr/>
        </p:nvGrpSpPr>
        <p:grpSpPr>
          <a:xfrm>
            <a:off x="0" y="5048250"/>
            <a:ext cx="12192000" cy="1809750"/>
            <a:chOff x="0" y="5048250"/>
            <a:chExt cx="12192000" cy="1809750"/>
          </a:xfrm>
        </p:grpSpPr>
        <p:sp>
          <p:nvSpPr>
            <p:cNvPr id="15" name="Rectangle 15"/>
            <p:cNvSpPr/>
            <p:nvPr/>
          </p:nvSpPr>
          <p:spPr>
            <a:xfrm>
              <a:off x="0" y="5048250"/>
              <a:ext cx="12192000" cy="1809750"/>
            </a:xfrm>
            <a:prstGeom prst="rect">
              <a:avLst/>
            </a:prstGeom>
            <a:gradFill>
              <a:gsLst>
                <a:gs pos="0">
                  <a:srgbClr val="8B0000"/>
                </a:gs>
                <a:gs pos="100000">
                  <a:srgbClr val="5C0000"/>
                </a:gs>
              </a:gsLst>
              <a:lin ang="5400000" scaled="1"/>
            </a:gradFill>
            <a:ln>
              <a:noFill/>
            </a:ln>
          </p:spPr>
        </p:sp>
        <p:sp>
          <p:nvSpPr>
            <p:cNvPr id="16" name="TextBox 16"/>
            <p:cNvSpPr txBox="1"/>
            <p:nvPr/>
          </p:nvSpPr>
          <p:spPr>
            <a:xfrm>
              <a:off x="935355" y="5331142"/>
              <a:ext cx="1267444" cy="274320"/>
            </a:xfrm>
            <a:prstGeom prst="rect">
              <a:avLst/>
            </a:prstGeom>
            <a:noFill/>
            <a:ln>
              <a:noFill/>
            </a:ln>
          </p:spPr>
          <p:txBody>
            <a:bodyPr wrap="none" lIns="0" tIns="0" rIns="0" bIns="0" anchor="t" anchorCtr="0">
              <a:spAutoFit/>
            </a:bodyPr>
            <a:lstStyle/>
            <a:p>
              <a:pPr algn="l"/>
              <a:r>
                <a:rPr lang="zh-CN" sz="1350" dirty="0">
                  <a:solidFill>
                    <a:srgbClr val="FFFFFF">
                      <a:alphaMod val="85000"/>
                    </a:srgbClr>
                  </a:solidFill>
                  <a:latin typeface="Arial"/>
                  <a:ea typeface="Microsoft YaHei"/>
                  <a:cs typeface="Arial"/>
                </a:rPr>
                <a:t>汇报人: 陈宇凡</a:t>
              </a:r>
            </a:p>
          </p:txBody>
        </p:sp>
        <p:sp>
          <p:nvSpPr>
            <p:cNvPr id="17" name="TextBox 17"/>
            <p:cNvSpPr txBox="1"/>
            <p:nvPr/>
          </p:nvSpPr>
          <p:spPr>
            <a:xfrm>
              <a:off x="935355" y="5664518"/>
              <a:ext cx="1501473" cy="274320"/>
            </a:xfrm>
            <a:prstGeom prst="rect">
              <a:avLst/>
            </a:prstGeom>
            <a:noFill/>
            <a:ln>
              <a:noFill/>
            </a:ln>
          </p:spPr>
          <p:txBody>
            <a:bodyPr wrap="none" lIns="0" tIns="0" rIns="0" bIns="0" anchor="t" anchorCtr="0">
              <a:spAutoFit/>
            </a:bodyPr>
            <a:lstStyle/>
            <a:p>
              <a:pPr algn="l"/>
              <a:r>
                <a:rPr lang="zh-CN" sz="1350" dirty="0">
                  <a:solidFill>
                    <a:srgbClr val="FFFFFF">
                      <a:alphaMod val="85000"/>
                    </a:srgbClr>
                  </a:solidFill>
                  <a:latin typeface="Arial"/>
                  <a:ea typeface="Microsoft YaHei"/>
                  <a:cs typeface="Arial"/>
                </a:rPr>
                <a:t>导师: 高常鑫 教授</a:t>
              </a:r>
            </a:p>
          </p:txBody>
        </p:sp>
        <p:sp>
          <p:nvSpPr>
            <p:cNvPr id="18" name="TextBox 18"/>
            <p:cNvSpPr txBox="1"/>
            <p:nvPr/>
          </p:nvSpPr>
          <p:spPr>
            <a:xfrm>
              <a:off x="935355" y="5997892"/>
              <a:ext cx="2194560" cy="274320"/>
            </a:xfrm>
            <a:prstGeom prst="rect">
              <a:avLst/>
            </a:prstGeom>
            <a:noFill/>
            <a:ln>
              <a:noFill/>
            </a:ln>
          </p:spPr>
          <p:txBody>
            <a:bodyPr wrap="none" lIns="0" tIns="0" rIns="0" bIns="0" anchor="t" anchorCtr="0">
              <a:spAutoFit/>
            </a:bodyPr>
            <a:lstStyle/>
            <a:p>
              <a:pPr algn="l"/>
              <a:r>
                <a:rPr lang="zh-CN" sz="1350" dirty="0">
                  <a:solidFill>
                    <a:srgbClr val="FFFFFF">
                      <a:alphaMod val="85000"/>
                    </a:srgbClr>
                  </a:solidFill>
                  <a:latin typeface="Arial"/>
                  <a:ea typeface="Microsoft YaHei"/>
                  <a:cs typeface="Arial"/>
                </a:rPr>
                <a:t>团队成员: 高子涵 / 迟泰炎</a:t>
              </a:r>
            </a:p>
          </p:txBody>
        </p:sp>
        <p:sp>
          <p:nvSpPr>
            <p:cNvPr id="19" name="TextBox 19"/>
            <p:cNvSpPr txBox="1"/>
            <p:nvPr/>
          </p:nvSpPr>
          <p:spPr>
            <a:xfrm>
              <a:off x="10401348" y="6030278"/>
              <a:ext cx="565737" cy="213360"/>
            </a:xfrm>
            <a:prstGeom prst="rect">
              <a:avLst/>
            </a:prstGeom>
            <a:noFill/>
            <a:ln>
              <a:noFill/>
            </a:ln>
          </p:spPr>
          <p:txBody>
            <a:bodyPr wrap="none" lIns="0" tIns="0" rIns="0" bIns="0" anchor="t" anchorCtr="0">
              <a:spAutoFit/>
            </a:bodyPr>
            <a:lstStyle/>
            <a:p>
              <a:pPr algn="r"/>
              <a:r>
                <a:rPr lang="zh-CN" sz="1050" dirty="0">
                  <a:solidFill>
                    <a:srgbClr val="FFFFFF">
                      <a:alphaMod val="50000"/>
                    </a:srgbClr>
                  </a:solidFill>
                  <a:latin typeface="Arial"/>
                  <a:ea typeface="Microsoft YaHei"/>
                  <a:cs typeface="Arial"/>
                </a:rPr>
                <a:t>2026.05</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image">
                                      <p:cBhvr>
                                        <p:cTn id="7" dur="400"/>
                                        <p:tgtEl>
                                          <p:spTgt spid="14"/>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gradFill>
              <a:gsLst>
                <a:gs pos="0">
                  <a:srgbClr val="8B0000"/>
                </a:gs>
                <a:gs pos="100000">
                  <a:srgbClr val="C41E3A"/>
                </a:gs>
              </a:gsLst>
              <a:lin ang="0" scaled="1"/>
            </a:gradFill>
            <a:ln>
              <a:noFill/>
            </a:ln>
          </p:spPr>
        </p:sp>
      </p:grpSp>
      <p:grpSp>
        <p:nvGrpSpPr>
          <p:cNvPr id="8" name="Group 8"/>
          <p:cNvGrpSpPr/>
          <p:nvPr/>
        </p:nvGrpSpPr>
        <p:grpSpPr>
          <a:xfrm>
            <a:off x="731520" y="264795"/>
            <a:ext cx="734853" cy="601980"/>
            <a:chOff x="731520" y="264795"/>
            <a:chExt cx="734853" cy="601980"/>
          </a:xfrm>
        </p:grpSpPr>
        <p:sp>
          <p:nvSpPr>
            <p:cNvPr id="5" name="TextBox 5"/>
            <p:cNvSpPr txBox="1"/>
            <p:nvPr/>
          </p:nvSpPr>
          <p:spPr>
            <a:xfrm>
              <a:off x="731520" y="264795"/>
              <a:ext cx="733044" cy="487680"/>
            </a:xfrm>
            <a:prstGeom prst="rect">
              <a:avLst/>
            </a:prstGeom>
            <a:noFill/>
            <a:ln>
              <a:noFill/>
            </a:ln>
          </p:spPr>
          <p:txBody>
            <a:bodyPr wrap="none" lIns="0" tIns="0" rIns="0" bIns="0" anchor="t" anchorCtr="0">
              <a:spAutoFit/>
            </a:bodyPr>
            <a:lstStyle/>
            <a:p>
              <a:pPr algn="l"/>
              <a:r>
                <a:rPr lang="zh-CN" sz="2400" b="1" dirty="0">
                  <a:solidFill>
                    <a:srgbClr val="8B0000"/>
                  </a:solidFill>
                  <a:latin typeface="Arial"/>
                  <a:ea typeface="Microsoft YaHei"/>
                  <a:cs typeface="Arial"/>
                </a:rPr>
                <a:t>目录</a:t>
              </a:r>
            </a:p>
          </p:txBody>
        </p:sp>
        <p:sp>
          <p:nvSpPr>
            <p:cNvPr id="6" name="TextBox 6"/>
            <p:cNvSpPr txBox="1"/>
            <p:nvPr/>
          </p:nvSpPr>
          <p:spPr>
            <a:xfrm>
              <a:off x="747712" y="621506"/>
              <a:ext cx="718661" cy="228600"/>
            </a:xfrm>
            <a:prstGeom prst="rect">
              <a:avLst/>
            </a:prstGeom>
            <a:noFill/>
            <a:ln>
              <a:noFill/>
            </a:ln>
          </p:spPr>
          <p:txBody>
            <a:bodyPr wrap="none" lIns="0" tIns="0" rIns="0" bIns="0" anchor="t" anchorCtr="0">
              <a:spAutoFit/>
            </a:bodyPr>
            <a:lstStyle/>
            <a:p>
              <a:pPr algn="l"/>
              <a:r>
                <a:rPr lang="zh-CN" sz="1125" dirty="0">
                  <a:solidFill>
                    <a:srgbClr val="999999"/>
                  </a:solidFill>
                  <a:latin typeface="Arial"/>
                  <a:ea typeface="Microsoft YaHei"/>
                  <a:cs typeface="Arial"/>
                </a:rPr>
                <a:t>CONTENTS</a:t>
              </a:r>
            </a:p>
          </p:txBody>
        </p:sp>
        <p:sp>
          <p:nvSpPr>
            <p:cNvPr id="7" name="Rectangle 7"/>
            <p:cNvSpPr/>
            <p:nvPr/>
          </p:nvSpPr>
          <p:spPr>
            <a:xfrm>
              <a:off x="762000" y="838200"/>
              <a:ext cx="476250" cy="28575"/>
            </a:xfrm>
            <a:prstGeom prst="rect">
              <a:avLst/>
            </a:prstGeom>
            <a:solidFill>
              <a:srgbClr val="C41E3A"/>
            </a:solidFill>
            <a:ln>
              <a:noFill/>
            </a:ln>
          </p:spPr>
        </p:sp>
      </p:grpSp>
      <p:grpSp>
        <p:nvGrpSpPr>
          <p:cNvPr id="39" name="Group 39"/>
          <p:cNvGrpSpPr/>
          <p:nvPr/>
        </p:nvGrpSpPr>
        <p:grpSpPr>
          <a:xfrm>
            <a:off x="762000" y="1238250"/>
            <a:ext cx="10668000" cy="2857500"/>
            <a:chOff x="762000" y="1238250"/>
            <a:chExt cx="10668000" cy="2857500"/>
          </a:xfrm>
        </p:grpSpPr>
        <p:grpSp>
          <p:nvGrpSpPr>
            <p:cNvPr id="13" name="Group 13"/>
            <p:cNvGrpSpPr/>
            <p:nvPr/>
          </p:nvGrpSpPr>
          <p:grpSpPr>
            <a:xfrm>
              <a:off x="762000" y="1238250"/>
              <a:ext cx="5143500" cy="762000"/>
              <a:chOff x="762000" y="1238250"/>
              <a:chExt cx="5143500" cy="762000"/>
            </a:xfrm>
          </p:grpSpPr>
          <p:sp>
            <p:nvSpPr>
              <p:cNvPr id="9" name="Rectangle 9"/>
              <p:cNvSpPr/>
              <p:nvPr/>
            </p:nvSpPr>
            <p:spPr>
              <a:xfrm>
                <a:off x="762000" y="1238250"/>
                <a:ext cx="5143500" cy="762000"/>
              </a:xfrm>
              <a:prstGeom prst="roundRect">
                <a:avLst>
                  <a:gd name="adj" fmla="val 7500"/>
                </a:avLst>
              </a:prstGeom>
              <a:solidFill>
                <a:srgbClr val="F8F2F2"/>
              </a:solidFill>
              <a:ln w="9525">
                <a:solidFill>
                  <a:srgbClr val="D4C5C5"/>
                </a:solidFill>
              </a:ln>
            </p:spPr>
          </p:sp>
          <p:sp>
            <p:nvSpPr>
              <p:cNvPr id="10" name="TextBox 10"/>
              <p:cNvSpPr txBox="1"/>
              <p:nvPr/>
            </p:nvSpPr>
            <p:spPr>
              <a:xfrm>
                <a:off x="1061085" y="1403985"/>
                <a:ext cx="389920" cy="548640"/>
              </a:xfrm>
              <a:prstGeom prst="rect">
                <a:avLst/>
              </a:prstGeom>
              <a:noFill/>
              <a:ln>
                <a:noFill/>
              </a:ln>
            </p:spPr>
            <p:txBody>
              <a:bodyPr wrap="none" lIns="0" tIns="0" rIns="0" bIns="0" anchor="t" anchorCtr="0">
                <a:spAutoFit/>
              </a:bodyPr>
              <a:lstStyle/>
              <a:p>
                <a:pPr algn="l"/>
                <a:r>
                  <a:rPr lang="zh-CN" sz="2700" b="1" dirty="0">
                    <a:solidFill>
                      <a:srgbClr val="8B0000"/>
                    </a:solidFill>
                    <a:latin typeface="Arial"/>
                    <a:ea typeface="Microsoft YaHei"/>
                    <a:cs typeface="Arial"/>
                  </a:rPr>
                  <a:t>01</a:t>
                </a:r>
              </a:p>
            </p:txBody>
          </p:sp>
          <p:sp>
            <p:nvSpPr>
              <p:cNvPr id="11" name="TextBox 11"/>
              <p:cNvSpPr txBox="1"/>
              <p:nvPr/>
            </p:nvSpPr>
            <p:spPr>
              <a:xfrm>
                <a:off x="1647825" y="1457325"/>
                <a:ext cx="1508284" cy="304800"/>
              </a:xfrm>
              <a:prstGeom prst="rect">
                <a:avLst/>
              </a:prstGeom>
              <a:noFill/>
              <a:ln>
                <a:noFill/>
              </a:ln>
            </p:spPr>
            <p:txBody>
              <a:bodyPr wrap="none" lIns="0" tIns="0" rIns="0" bIns="0" anchor="t" anchorCtr="0">
                <a:spAutoFit/>
              </a:bodyPr>
              <a:lstStyle/>
              <a:p>
                <a:pPr algn="l"/>
                <a:r>
                  <a:rPr lang="zh-CN" sz="1500" b="1" dirty="0">
                    <a:solidFill>
                      <a:srgbClr val="2D2D2D"/>
                    </a:solidFill>
                    <a:latin typeface="Arial"/>
                    <a:ea typeface="Microsoft YaHei"/>
                    <a:cs typeface="Arial"/>
                  </a:rPr>
                  <a:t>研究背景与目的</a:t>
                </a:r>
              </a:p>
            </p:txBody>
          </p:sp>
          <p:sp>
            <p:nvSpPr>
              <p:cNvPr id="12" name="TextBox 12"/>
              <p:cNvSpPr txBox="1"/>
              <p:nvPr/>
            </p:nvSpPr>
            <p:spPr>
              <a:xfrm>
                <a:off x="1654492" y="1752124"/>
                <a:ext cx="1844992" cy="198120"/>
              </a:xfrm>
              <a:prstGeom prst="rect">
                <a:avLst/>
              </a:prstGeom>
              <a:noFill/>
              <a:ln>
                <a:noFill/>
              </a:ln>
            </p:spPr>
            <p:txBody>
              <a:bodyPr wrap="none" lIns="0" tIns="0" rIns="0" bIns="0" anchor="t" anchorCtr="0">
                <a:spAutoFit/>
              </a:bodyPr>
              <a:lstStyle/>
              <a:p>
                <a:pPr algn="l"/>
                <a:r>
                  <a:rPr lang="zh-CN" sz="975" dirty="0">
                    <a:solidFill>
                      <a:srgbClr val="999999"/>
                    </a:solidFill>
                    <a:latin typeface="Arial"/>
                    <a:ea typeface="Microsoft YaHei"/>
                    <a:cs typeface="Arial"/>
                  </a:rPr>
                  <a:t>项目来源、问题动机与核心目标</a:t>
                </a:r>
              </a:p>
            </p:txBody>
          </p:sp>
        </p:grpSp>
        <p:grpSp>
          <p:nvGrpSpPr>
            <p:cNvPr id="18" name="Group 18"/>
            <p:cNvGrpSpPr/>
            <p:nvPr/>
          </p:nvGrpSpPr>
          <p:grpSpPr>
            <a:xfrm>
              <a:off x="6286500" y="1238250"/>
              <a:ext cx="5143500" cy="762000"/>
              <a:chOff x="6286500" y="1238250"/>
              <a:chExt cx="5143500" cy="762000"/>
            </a:xfrm>
          </p:grpSpPr>
          <p:sp>
            <p:nvSpPr>
              <p:cNvPr id="14" name="Rectangle 14"/>
              <p:cNvSpPr/>
              <p:nvPr/>
            </p:nvSpPr>
            <p:spPr>
              <a:xfrm>
                <a:off x="6286500" y="1238250"/>
                <a:ext cx="5143500" cy="762000"/>
              </a:xfrm>
              <a:prstGeom prst="roundRect">
                <a:avLst>
                  <a:gd name="adj" fmla="val 7500"/>
                </a:avLst>
              </a:prstGeom>
              <a:solidFill>
                <a:srgbClr val="F8F2F2"/>
              </a:solidFill>
              <a:ln w="9525">
                <a:solidFill>
                  <a:srgbClr val="D4C5C5"/>
                </a:solidFill>
              </a:ln>
            </p:spPr>
          </p:sp>
          <p:sp>
            <p:nvSpPr>
              <p:cNvPr id="15" name="TextBox 15"/>
              <p:cNvSpPr txBox="1"/>
              <p:nvPr/>
            </p:nvSpPr>
            <p:spPr>
              <a:xfrm>
                <a:off x="6585585" y="1403985"/>
                <a:ext cx="484432" cy="548640"/>
              </a:xfrm>
              <a:prstGeom prst="rect">
                <a:avLst/>
              </a:prstGeom>
              <a:noFill/>
              <a:ln>
                <a:noFill/>
              </a:ln>
            </p:spPr>
            <p:txBody>
              <a:bodyPr wrap="none" lIns="0" tIns="0" rIns="0" bIns="0" anchor="t" anchorCtr="0">
                <a:spAutoFit/>
              </a:bodyPr>
              <a:lstStyle/>
              <a:p>
                <a:pPr algn="l"/>
                <a:r>
                  <a:rPr lang="zh-CN" sz="2700" b="1" dirty="0">
                    <a:solidFill>
                      <a:srgbClr val="8B0000"/>
                    </a:solidFill>
                    <a:latin typeface="Arial"/>
                    <a:ea typeface="Microsoft YaHei"/>
                    <a:cs typeface="Arial"/>
                  </a:rPr>
                  <a:t>02</a:t>
                </a:r>
              </a:p>
            </p:txBody>
          </p:sp>
          <p:sp>
            <p:nvSpPr>
              <p:cNvPr id="16" name="TextBox 16"/>
              <p:cNvSpPr txBox="1"/>
              <p:nvPr/>
            </p:nvSpPr>
            <p:spPr>
              <a:xfrm>
                <a:off x="7172325" y="1457325"/>
                <a:ext cx="1508284" cy="304800"/>
              </a:xfrm>
              <a:prstGeom prst="rect">
                <a:avLst/>
              </a:prstGeom>
              <a:noFill/>
              <a:ln>
                <a:noFill/>
              </a:ln>
            </p:spPr>
            <p:txBody>
              <a:bodyPr wrap="none" lIns="0" tIns="0" rIns="0" bIns="0" anchor="t" anchorCtr="0">
                <a:spAutoFit/>
              </a:bodyPr>
              <a:lstStyle/>
              <a:p>
                <a:pPr algn="l"/>
                <a:r>
                  <a:rPr lang="zh-CN" sz="1500" b="1" dirty="0">
                    <a:solidFill>
                      <a:srgbClr val="2D2D2D"/>
                    </a:solidFill>
                    <a:latin typeface="Arial"/>
                    <a:ea typeface="Microsoft YaHei"/>
                    <a:cs typeface="Arial"/>
                  </a:rPr>
                  <a:t>国内外研究现状</a:t>
                </a:r>
              </a:p>
            </p:txBody>
          </p:sp>
          <p:sp>
            <p:nvSpPr>
              <p:cNvPr id="17" name="TextBox 17"/>
              <p:cNvSpPr txBox="1"/>
              <p:nvPr/>
            </p:nvSpPr>
            <p:spPr>
              <a:xfrm>
                <a:off x="7178992" y="1752124"/>
                <a:ext cx="1844992" cy="198120"/>
              </a:xfrm>
              <a:prstGeom prst="rect">
                <a:avLst/>
              </a:prstGeom>
              <a:noFill/>
              <a:ln>
                <a:noFill/>
              </a:ln>
            </p:spPr>
            <p:txBody>
              <a:bodyPr wrap="none" lIns="0" tIns="0" rIns="0" bIns="0" anchor="t" anchorCtr="0">
                <a:spAutoFit/>
              </a:bodyPr>
              <a:lstStyle/>
              <a:p>
                <a:pPr algn="l"/>
                <a:r>
                  <a:rPr lang="zh-CN" sz="975" dirty="0">
                    <a:solidFill>
                      <a:srgbClr val="999999"/>
                    </a:solidFill>
                    <a:latin typeface="Arial"/>
                    <a:ea typeface="Microsoft YaHei"/>
                    <a:cs typeface="Arial"/>
                  </a:rPr>
                  <a:t>国内与国外技术进展及发展趋势</a:t>
                </a:r>
              </a:p>
            </p:txBody>
          </p:sp>
        </p:grpSp>
        <p:grpSp>
          <p:nvGrpSpPr>
            <p:cNvPr id="23" name="Group 23"/>
            <p:cNvGrpSpPr/>
            <p:nvPr/>
          </p:nvGrpSpPr>
          <p:grpSpPr>
            <a:xfrm>
              <a:off x="762000" y="2286000"/>
              <a:ext cx="5143500" cy="762000"/>
              <a:chOff x="762000" y="2286000"/>
              <a:chExt cx="5143500" cy="762000"/>
            </a:xfrm>
          </p:grpSpPr>
          <p:sp>
            <p:nvSpPr>
              <p:cNvPr id="19" name="Rectangle 19"/>
              <p:cNvSpPr/>
              <p:nvPr/>
            </p:nvSpPr>
            <p:spPr>
              <a:xfrm>
                <a:off x="762000" y="2286000"/>
                <a:ext cx="5143500" cy="762000"/>
              </a:xfrm>
              <a:prstGeom prst="roundRect">
                <a:avLst>
                  <a:gd name="adj" fmla="val 7500"/>
                </a:avLst>
              </a:prstGeom>
              <a:solidFill>
                <a:srgbClr val="F8F2F2"/>
              </a:solidFill>
              <a:ln w="9525">
                <a:solidFill>
                  <a:srgbClr val="D4C5C5"/>
                </a:solidFill>
              </a:ln>
            </p:spPr>
          </p:sp>
          <p:sp>
            <p:nvSpPr>
              <p:cNvPr id="20" name="TextBox 20"/>
              <p:cNvSpPr txBox="1"/>
              <p:nvPr/>
            </p:nvSpPr>
            <p:spPr>
              <a:xfrm>
                <a:off x="1061085" y="2451735"/>
                <a:ext cx="484432" cy="548640"/>
              </a:xfrm>
              <a:prstGeom prst="rect">
                <a:avLst/>
              </a:prstGeom>
              <a:noFill/>
              <a:ln>
                <a:noFill/>
              </a:ln>
            </p:spPr>
            <p:txBody>
              <a:bodyPr wrap="none" lIns="0" tIns="0" rIns="0" bIns="0" anchor="t" anchorCtr="0">
                <a:spAutoFit/>
              </a:bodyPr>
              <a:lstStyle/>
              <a:p>
                <a:pPr algn="l"/>
                <a:r>
                  <a:rPr lang="zh-CN" sz="2700" b="1" dirty="0">
                    <a:solidFill>
                      <a:srgbClr val="8B0000"/>
                    </a:solidFill>
                    <a:latin typeface="Arial"/>
                    <a:ea typeface="Microsoft YaHei"/>
                    <a:cs typeface="Arial"/>
                  </a:rPr>
                  <a:t>03</a:t>
                </a:r>
              </a:p>
            </p:txBody>
          </p:sp>
          <p:sp>
            <p:nvSpPr>
              <p:cNvPr id="21" name="TextBox 21"/>
              <p:cNvSpPr txBox="1"/>
              <p:nvPr/>
            </p:nvSpPr>
            <p:spPr>
              <a:xfrm>
                <a:off x="1647825" y="2505075"/>
                <a:ext cx="1928336" cy="304800"/>
              </a:xfrm>
              <a:prstGeom prst="rect">
                <a:avLst/>
              </a:prstGeom>
              <a:noFill/>
              <a:ln>
                <a:noFill/>
              </a:ln>
            </p:spPr>
            <p:txBody>
              <a:bodyPr wrap="none" lIns="0" tIns="0" rIns="0" bIns="0" anchor="t" anchorCtr="0">
                <a:spAutoFit/>
              </a:bodyPr>
              <a:lstStyle/>
              <a:p>
                <a:pPr algn="l"/>
                <a:r>
                  <a:rPr lang="zh-CN" sz="1500" b="1" dirty="0">
                    <a:solidFill>
                      <a:srgbClr val="2D2D2D"/>
                    </a:solidFill>
                    <a:latin typeface="Arial"/>
                    <a:ea typeface="Microsoft YaHei"/>
                    <a:cs typeface="Arial"/>
                  </a:rPr>
                  <a:t>研究路线与关键问题</a:t>
                </a:r>
              </a:p>
            </p:txBody>
          </p:sp>
          <p:sp>
            <p:nvSpPr>
              <p:cNvPr id="22" name="TextBox 22"/>
              <p:cNvSpPr txBox="1"/>
              <p:nvPr/>
            </p:nvSpPr>
            <p:spPr>
              <a:xfrm>
                <a:off x="1654492" y="2799874"/>
                <a:ext cx="1714976" cy="198120"/>
              </a:xfrm>
              <a:prstGeom prst="rect">
                <a:avLst/>
              </a:prstGeom>
              <a:noFill/>
              <a:ln>
                <a:noFill/>
              </a:ln>
            </p:spPr>
            <p:txBody>
              <a:bodyPr wrap="none" lIns="0" tIns="0" rIns="0" bIns="0" anchor="t" anchorCtr="0">
                <a:spAutoFit/>
              </a:bodyPr>
              <a:lstStyle/>
              <a:p>
                <a:pPr algn="l"/>
                <a:r>
                  <a:rPr lang="zh-CN" sz="975" dirty="0">
                    <a:solidFill>
                      <a:srgbClr val="999999"/>
                    </a:solidFill>
                    <a:latin typeface="Arial"/>
                    <a:ea typeface="Microsoft YaHei"/>
                    <a:cs typeface="Arial"/>
                  </a:rPr>
                  <a:t>技术方案、三大核心问题分析</a:t>
                </a:r>
              </a:p>
            </p:txBody>
          </p:sp>
        </p:grpSp>
        <p:grpSp>
          <p:nvGrpSpPr>
            <p:cNvPr id="28" name="Group 28"/>
            <p:cNvGrpSpPr/>
            <p:nvPr/>
          </p:nvGrpSpPr>
          <p:grpSpPr>
            <a:xfrm>
              <a:off x="6286500" y="2286000"/>
              <a:ext cx="5143500" cy="762000"/>
              <a:chOff x="6286500" y="2286000"/>
              <a:chExt cx="5143500" cy="762000"/>
            </a:xfrm>
          </p:grpSpPr>
          <p:sp>
            <p:nvSpPr>
              <p:cNvPr id="24" name="Rectangle 24"/>
              <p:cNvSpPr/>
              <p:nvPr/>
            </p:nvSpPr>
            <p:spPr>
              <a:xfrm>
                <a:off x="6286500" y="2286000"/>
                <a:ext cx="5143500" cy="762000"/>
              </a:xfrm>
              <a:prstGeom prst="roundRect">
                <a:avLst>
                  <a:gd name="adj" fmla="val 7500"/>
                </a:avLst>
              </a:prstGeom>
              <a:solidFill>
                <a:srgbClr val="F8F2F2"/>
              </a:solidFill>
              <a:ln w="9525">
                <a:solidFill>
                  <a:srgbClr val="D4C5C5"/>
                </a:solidFill>
              </a:ln>
            </p:spPr>
          </p:sp>
          <p:sp>
            <p:nvSpPr>
              <p:cNvPr id="25" name="TextBox 25"/>
              <p:cNvSpPr txBox="1"/>
              <p:nvPr/>
            </p:nvSpPr>
            <p:spPr>
              <a:xfrm>
                <a:off x="6585585" y="2451735"/>
                <a:ext cx="484432" cy="548640"/>
              </a:xfrm>
              <a:prstGeom prst="rect">
                <a:avLst/>
              </a:prstGeom>
              <a:noFill/>
              <a:ln>
                <a:noFill/>
              </a:ln>
            </p:spPr>
            <p:txBody>
              <a:bodyPr wrap="none" lIns="0" tIns="0" rIns="0" bIns="0" anchor="t" anchorCtr="0">
                <a:spAutoFit/>
              </a:bodyPr>
              <a:lstStyle/>
              <a:p>
                <a:pPr algn="l"/>
                <a:r>
                  <a:rPr lang="zh-CN" sz="2700" b="1" dirty="0">
                    <a:solidFill>
                      <a:srgbClr val="8B0000"/>
                    </a:solidFill>
                    <a:latin typeface="Arial"/>
                    <a:ea typeface="Microsoft YaHei"/>
                    <a:cs typeface="Arial"/>
                  </a:rPr>
                  <a:t>04</a:t>
                </a:r>
              </a:p>
            </p:txBody>
          </p:sp>
          <p:sp>
            <p:nvSpPr>
              <p:cNvPr id="26" name="TextBox 26"/>
              <p:cNvSpPr txBox="1"/>
              <p:nvPr/>
            </p:nvSpPr>
            <p:spPr>
              <a:xfrm>
                <a:off x="7172325" y="2505075"/>
                <a:ext cx="1508284" cy="304800"/>
              </a:xfrm>
              <a:prstGeom prst="rect">
                <a:avLst/>
              </a:prstGeom>
              <a:noFill/>
              <a:ln>
                <a:noFill/>
              </a:ln>
            </p:spPr>
            <p:txBody>
              <a:bodyPr wrap="none" lIns="0" tIns="0" rIns="0" bIns="0" anchor="t" anchorCtr="0">
                <a:spAutoFit/>
              </a:bodyPr>
              <a:lstStyle/>
              <a:p>
                <a:pPr algn="l"/>
                <a:r>
                  <a:rPr lang="zh-CN" sz="1500" b="1" dirty="0">
                    <a:solidFill>
                      <a:srgbClr val="2D2D2D"/>
                    </a:solidFill>
                    <a:latin typeface="Arial"/>
                    <a:ea typeface="Microsoft YaHei"/>
                    <a:cs typeface="Arial"/>
                  </a:rPr>
                  <a:t>项目创新与特色</a:t>
                </a:r>
              </a:p>
            </p:txBody>
          </p:sp>
          <p:sp>
            <p:nvSpPr>
              <p:cNvPr id="27" name="TextBox 27"/>
              <p:cNvSpPr txBox="1"/>
              <p:nvPr/>
            </p:nvSpPr>
            <p:spPr>
              <a:xfrm>
                <a:off x="7178992" y="2799874"/>
                <a:ext cx="1324928" cy="198120"/>
              </a:xfrm>
              <a:prstGeom prst="rect">
                <a:avLst/>
              </a:prstGeom>
              <a:noFill/>
              <a:ln>
                <a:noFill/>
              </a:ln>
            </p:spPr>
            <p:txBody>
              <a:bodyPr wrap="none" lIns="0" tIns="0" rIns="0" bIns="0" anchor="t" anchorCtr="0">
                <a:spAutoFit/>
              </a:bodyPr>
              <a:lstStyle/>
              <a:p>
                <a:pPr algn="l"/>
                <a:r>
                  <a:rPr lang="zh-CN" sz="975" dirty="0">
                    <a:solidFill>
                      <a:srgbClr val="999999"/>
                    </a:solidFill>
                    <a:latin typeface="Arial"/>
                    <a:ea typeface="Microsoft YaHei"/>
                    <a:cs typeface="Arial"/>
                  </a:rPr>
                  <a:t>六大创新点与技术特色</a:t>
                </a:r>
              </a:p>
            </p:txBody>
          </p:sp>
        </p:grpSp>
        <p:grpSp>
          <p:nvGrpSpPr>
            <p:cNvPr id="33" name="Group 33"/>
            <p:cNvGrpSpPr/>
            <p:nvPr/>
          </p:nvGrpSpPr>
          <p:grpSpPr>
            <a:xfrm>
              <a:off x="762000" y="3333750"/>
              <a:ext cx="5143500" cy="762000"/>
              <a:chOff x="762000" y="3333750"/>
              <a:chExt cx="5143500" cy="762000"/>
            </a:xfrm>
          </p:grpSpPr>
          <p:sp>
            <p:nvSpPr>
              <p:cNvPr id="29" name="Rectangle 29"/>
              <p:cNvSpPr/>
              <p:nvPr/>
            </p:nvSpPr>
            <p:spPr>
              <a:xfrm>
                <a:off x="762000" y="3333750"/>
                <a:ext cx="5143500" cy="762000"/>
              </a:xfrm>
              <a:prstGeom prst="roundRect">
                <a:avLst>
                  <a:gd name="adj" fmla="val 7500"/>
                </a:avLst>
              </a:prstGeom>
              <a:solidFill>
                <a:srgbClr val="F8F2F2"/>
              </a:solidFill>
              <a:ln w="9525">
                <a:solidFill>
                  <a:srgbClr val="D4C5C5"/>
                </a:solidFill>
              </a:ln>
            </p:spPr>
          </p:sp>
          <p:sp>
            <p:nvSpPr>
              <p:cNvPr id="30" name="TextBox 30"/>
              <p:cNvSpPr txBox="1"/>
              <p:nvPr/>
            </p:nvSpPr>
            <p:spPr>
              <a:xfrm>
                <a:off x="1061085" y="3499485"/>
                <a:ext cx="484432" cy="548640"/>
              </a:xfrm>
              <a:prstGeom prst="rect">
                <a:avLst/>
              </a:prstGeom>
              <a:noFill/>
              <a:ln>
                <a:noFill/>
              </a:ln>
            </p:spPr>
            <p:txBody>
              <a:bodyPr wrap="none" lIns="0" tIns="0" rIns="0" bIns="0" anchor="t" anchorCtr="0">
                <a:spAutoFit/>
              </a:bodyPr>
              <a:lstStyle/>
              <a:p>
                <a:pPr algn="l"/>
                <a:r>
                  <a:rPr lang="zh-CN" sz="2700" b="1" dirty="0">
                    <a:solidFill>
                      <a:srgbClr val="8B0000"/>
                    </a:solidFill>
                    <a:latin typeface="Arial"/>
                    <a:ea typeface="Microsoft YaHei"/>
                    <a:cs typeface="Arial"/>
                  </a:rPr>
                  <a:t>05</a:t>
                </a:r>
              </a:p>
            </p:txBody>
          </p:sp>
          <p:sp>
            <p:nvSpPr>
              <p:cNvPr id="31" name="TextBox 31"/>
              <p:cNvSpPr txBox="1"/>
              <p:nvPr/>
            </p:nvSpPr>
            <p:spPr>
              <a:xfrm>
                <a:off x="1647825" y="3552825"/>
                <a:ext cx="1928336" cy="304800"/>
              </a:xfrm>
              <a:prstGeom prst="rect">
                <a:avLst/>
              </a:prstGeom>
              <a:noFill/>
              <a:ln>
                <a:noFill/>
              </a:ln>
            </p:spPr>
            <p:txBody>
              <a:bodyPr wrap="none" lIns="0" tIns="0" rIns="0" bIns="0" anchor="t" anchorCtr="0">
                <a:spAutoFit/>
              </a:bodyPr>
              <a:lstStyle/>
              <a:p>
                <a:pPr algn="l"/>
                <a:r>
                  <a:rPr lang="zh-CN" sz="1500" b="1" dirty="0">
                    <a:solidFill>
                      <a:srgbClr val="2D2D2D"/>
                    </a:solidFill>
                    <a:latin typeface="Arial"/>
                    <a:ea typeface="Microsoft YaHei"/>
                    <a:cs typeface="Arial"/>
                  </a:rPr>
                  <a:t>实施方案与预期成果</a:t>
                </a:r>
              </a:p>
            </p:txBody>
          </p:sp>
          <p:sp>
            <p:nvSpPr>
              <p:cNvPr id="32" name="TextBox 32"/>
              <p:cNvSpPr txBox="1"/>
              <p:nvPr/>
            </p:nvSpPr>
            <p:spPr>
              <a:xfrm>
                <a:off x="1654492" y="3847624"/>
                <a:ext cx="1844992" cy="198120"/>
              </a:xfrm>
              <a:prstGeom prst="rect">
                <a:avLst/>
              </a:prstGeom>
              <a:noFill/>
              <a:ln>
                <a:noFill/>
              </a:ln>
            </p:spPr>
            <p:txBody>
              <a:bodyPr wrap="none" lIns="0" tIns="0" rIns="0" bIns="0" anchor="t" anchorCtr="0">
                <a:spAutoFit/>
              </a:bodyPr>
              <a:lstStyle/>
              <a:p>
                <a:pPr algn="l"/>
                <a:r>
                  <a:rPr lang="zh-CN" sz="975" dirty="0">
                    <a:solidFill>
                      <a:srgbClr val="999999"/>
                    </a:solidFill>
                    <a:latin typeface="Arial"/>
                    <a:ea typeface="Microsoft YaHei"/>
                    <a:cs typeface="Arial"/>
                  </a:rPr>
                  <a:t>研究计划、预期目标与经费预算</a:t>
                </a:r>
              </a:p>
            </p:txBody>
          </p:sp>
        </p:grpSp>
        <p:grpSp>
          <p:nvGrpSpPr>
            <p:cNvPr id="38" name="Group 38"/>
            <p:cNvGrpSpPr/>
            <p:nvPr/>
          </p:nvGrpSpPr>
          <p:grpSpPr>
            <a:xfrm>
              <a:off x="6286500" y="3333750"/>
              <a:ext cx="5143500" cy="762000"/>
              <a:chOff x="6286500" y="3333750"/>
              <a:chExt cx="5143500" cy="762000"/>
            </a:xfrm>
          </p:grpSpPr>
          <p:sp>
            <p:nvSpPr>
              <p:cNvPr id="34" name="Rectangle 34"/>
              <p:cNvSpPr/>
              <p:nvPr/>
            </p:nvSpPr>
            <p:spPr>
              <a:xfrm>
                <a:off x="6286500" y="3333750"/>
                <a:ext cx="5143500" cy="762000"/>
              </a:xfrm>
              <a:prstGeom prst="roundRect">
                <a:avLst>
                  <a:gd name="adj" fmla="val 7500"/>
                </a:avLst>
              </a:prstGeom>
              <a:solidFill>
                <a:srgbClr val="F8F2F2"/>
              </a:solidFill>
              <a:ln w="9525">
                <a:solidFill>
                  <a:srgbClr val="D4C5C5"/>
                </a:solidFill>
              </a:ln>
            </p:spPr>
          </p:sp>
          <p:sp>
            <p:nvSpPr>
              <p:cNvPr id="35" name="TextBox 35"/>
              <p:cNvSpPr txBox="1"/>
              <p:nvPr/>
            </p:nvSpPr>
            <p:spPr>
              <a:xfrm>
                <a:off x="6585585" y="3499485"/>
                <a:ext cx="484432" cy="548640"/>
              </a:xfrm>
              <a:prstGeom prst="rect">
                <a:avLst/>
              </a:prstGeom>
              <a:noFill/>
              <a:ln>
                <a:noFill/>
              </a:ln>
            </p:spPr>
            <p:txBody>
              <a:bodyPr wrap="none" lIns="0" tIns="0" rIns="0" bIns="0" anchor="t" anchorCtr="0">
                <a:spAutoFit/>
              </a:bodyPr>
              <a:lstStyle/>
              <a:p>
                <a:pPr algn="l"/>
                <a:r>
                  <a:rPr lang="zh-CN" sz="2700" b="1" dirty="0">
                    <a:solidFill>
                      <a:srgbClr val="8B0000"/>
                    </a:solidFill>
                    <a:latin typeface="Arial"/>
                    <a:ea typeface="Microsoft YaHei"/>
                    <a:cs typeface="Arial"/>
                  </a:rPr>
                  <a:t>06</a:t>
                </a:r>
              </a:p>
            </p:txBody>
          </p:sp>
          <p:sp>
            <p:nvSpPr>
              <p:cNvPr id="36" name="TextBox 36"/>
              <p:cNvSpPr txBox="1"/>
              <p:nvPr/>
            </p:nvSpPr>
            <p:spPr>
              <a:xfrm>
                <a:off x="7172325" y="3552825"/>
                <a:ext cx="1088231" cy="304800"/>
              </a:xfrm>
              <a:prstGeom prst="rect">
                <a:avLst/>
              </a:prstGeom>
              <a:noFill/>
              <a:ln>
                <a:noFill/>
              </a:ln>
            </p:spPr>
            <p:txBody>
              <a:bodyPr wrap="none" lIns="0" tIns="0" rIns="0" bIns="0" anchor="t" anchorCtr="0">
                <a:spAutoFit/>
              </a:bodyPr>
              <a:lstStyle/>
              <a:p>
                <a:pPr algn="l"/>
                <a:r>
                  <a:rPr lang="zh-CN" sz="1500" b="1" dirty="0">
                    <a:solidFill>
                      <a:srgbClr val="2D2D2D"/>
                    </a:solidFill>
                    <a:latin typeface="Arial"/>
                    <a:ea typeface="Microsoft YaHei"/>
                    <a:cs typeface="Arial"/>
                  </a:rPr>
                  <a:t>总结与致谢</a:t>
                </a:r>
              </a:p>
            </p:txBody>
          </p:sp>
          <p:sp>
            <p:nvSpPr>
              <p:cNvPr id="37" name="TextBox 37"/>
              <p:cNvSpPr txBox="1"/>
              <p:nvPr/>
            </p:nvSpPr>
            <p:spPr>
              <a:xfrm>
                <a:off x="7178992" y="3847624"/>
                <a:ext cx="1194911" cy="198120"/>
              </a:xfrm>
              <a:prstGeom prst="rect">
                <a:avLst/>
              </a:prstGeom>
              <a:noFill/>
              <a:ln>
                <a:noFill/>
              </a:ln>
            </p:spPr>
            <p:txBody>
              <a:bodyPr wrap="none" lIns="0" tIns="0" rIns="0" bIns="0" anchor="t" anchorCtr="0">
                <a:spAutoFit/>
              </a:bodyPr>
              <a:lstStyle/>
              <a:p>
                <a:pPr algn="l"/>
                <a:r>
                  <a:rPr lang="zh-CN" sz="975" dirty="0">
                    <a:solidFill>
                      <a:srgbClr val="999999"/>
                    </a:solidFill>
                    <a:latin typeface="Arial"/>
                    <a:ea typeface="Microsoft YaHei"/>
                    <a:cs typeface="Arial"/>
                  </a:rPr>
                  <a:t>项目总结与未来展望</a:t>
                </a:r>
              </a:p>
            </p:txBody>
          </p:sp>
        </p:grpSp>
      </p:grpSp>
      <p:grpSp>
        <p:nvGrpSpPr>
          <p:cNvPr id="43" name="Group 43"/>
          <p:cNvGrpSpPr/>
          <p:nvPr/>
        </p:nvGrpSpPr>
        <p:grpSpPr>
          <a:xfrm>
            <a:off x="0" y="6578441"/>
            <a:ext cx="12192000" cy="279559"/>
            <a:chOff x="0" y="6578441"/>
            <a:chExt cx="12192000" cy="279559"/>
          </a:xfrm>
        </p:grpSpPr>
        <p:sp>
          <p:nvSpPr>
            <p:cNvPr id="40" name="Rectangle 40"/>
            <p:cNvSpPr/>
            <p:nvPr/>
          </p:nvSpPr>
          <p:spPr>
            <a:xfrm>
              <a:off x="0" y="6819900"/>
              <a:ext cx="12192000" cy="38100"/>
            </a:xfrm>
            <a:prstGeom prst="rect">
              <a:avLst/>
            </a:prstGeom>
            <a:solidFill>
              <a:srgbClr val="D4C5C5"/>
            </a:solidFill>
            <a:ln>
              <a:noFill/>
            </a:ln>
          </p:spPr>
        </p:sp>
        <p:sp>
          <p:nvSpPr>
            <p:cNvPr id="41" name="TextBox 41"/>
            <p:cNvSpPr txBox="1"/>
            <p:nvPr/>
          </p:nvSpPr>
          <p:spPr>
            <a:xfrm>
              <a:off x="11268980" y="6578441"/>
              <a:ext cx="361998" cy="167640"/>
            </a:xfrm>
            <a:prstGeom prst="rect">
              <a:avLst/>
            </a:prstGeom>
            <a:noFill/>
            <a:ln>
              <a:noFill/>
            </a:ln>
          </p:spPr>
          <p:txBody>
            <a:bodyPr wrap="none" lIns="0" tIns="0" rIns="0" bIns="0" anchor="t" anchorCtr="0">
              <a:spAutoFit/>
            </a:bodyPr>
            <a:lstStyle/>
            <a:p>
              <a:pPr algn="r"/>
              <a:r>
                <a:rPr lang="zh-CN" sz="825" dirty="0">
                  <a:solidFill>
                    <a:srgbClr val="999999"/>
                  </a:solidFill>
                  <a:latin typeface="Arial"/>
                  <a:ea typeface="Microsoft YaHei"/>
                  <a:cs typeface="Arial"/>
                </a:rPr>
                <a:t>02 / 16</a:t>
              </a:r>
            </a:p>
          </p:txBody>
        </p:sp>
        <p:sp>
          <p:nvSpPr>
            <p:cNvPr id="42" name="TextBox 42"/>
            <p:cNvSpPr txBox="1"/>
            <p:nvPr/>
          </p:nvSpPr>
          <p:spPr>
            <a:xfrm>
              <a:off x="561022" y="6578441"/>
              <a:ext cx="1814179" cy="167640"/>
            </a:xfrm>
            <a:prstGeom prst="rect">
              <a:avLst/>
            </a:prstGeom>
            <a:noFill/>
            <a:ln>
              <a:noFill/>
            </a:ln>
          </p:spPr>
          <p:txBody>
            <a:bodyPr wrap="none" lIns="0" tIns="0" rIns="0" bIns="0" anchor="t" anchorCtr="0">
              <a:spAutoFit/>
            </a:bodyPr>
            <a:lstStyle/>
            <a:p>
              <a:pPr algn="l"/>
              <a:r>
                <a:rPr lang="zh-CN" sz="825" dirty="0">
                  <a:solidFill>
                    <a:srgbClr val="999999"/>
                  </a:solidFill>
                  <a:latin typeface="Arial"/>
                  <a:ea typeface="Microsoft YaHei"/>
                  <a:cs typeface="Arial"/>
                </a:rPr>
                <a:t>华中科技大学 人工智能与自动化学院</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image">
                                      <p:cBhvr>
                                        <p:cTn id="7"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gradFill>
              <a:gsLst>
                <a:gs pos="0">
                  <a:srgbClr val="8B0000"/>
                </a:gs>
                <a:gs pos="100000">
                  <a:srgbClr val="C41E3A"/>
                </a:gs>
              </a:gsLst>
              <a:lin ang="0" scaled="1"/>
            </a:gradFill>
            <a:ln>
              <a:noFill/>
            </a:ln>
          </p:spPr>
        </p:sp>
      </p:grpSp>
      <p:grpSp>
        <p:nvGrpSpPr>
          <p:cNvPr id="7" name="Group 7"/>
          <p:cNvGrpSpPr/>
          <p:nvPr/>
        </p:nvGrpSpPr>
        <p:grpSpPr>
          <a:xfrm>
            <a:off x="731520" y="264795"/>
            <a:ext cx="3085338" cy="487680"/>
            <a:chOff x="731520" y="264795"/>
            <a:chExt cx="3085338" cy="487680"/>
          </a:xfrm>
        </p:grpSpPr>
        <p:sp>
          <p:nvSpPr>
            <p:cNvPr id="5" name="TextBox 5"/>
            <p:cNvSpPr txBox="1"/>
            <p:nvPr/>
          </p:nvSpPr>
          <p:spPr>
            <a:xfrm>
              <a:off x="731520" y="264795"/>
              <a:ext cx="3085338" cy="487680"/>
            </a:xfrm>
            <a:prstGeom prst="rect">
              <a:avLst/>
            </a:prstGeom>
            <a:noFill/>
            <a:ln>
              <a:noFill/>
            </a:ln>
          </p:spPr>
          <p:txBody>
            <a:bodyPr wrap="none" lIns="0" tIns="0" rIns="0" bIns="0" anchor="t" anchorCtr="0">
              <a:spAutoFit/>
            </a:bodyPr>
            <a:lstStyle/>
            <a:p>
              <a:pPr algn="l"/>
              <a:r>
                <a:rPr lang="zh-CN" sz="2400" b="1" dirty="0">
                  <a:solidFill>
                    <a:srgbClr val="8B0000"/>
                  </a:solidFill>
                  <a:latin typeface="Arial"/>
                  <a:ea typeface="Microsoft YaHei"/>
                  <a:cs typeface="Arial"/>
                </a:rPr>
                <a:t>研究背景与问题提出</a:t>
              </a:r>
            </a:p>
          </p:txBody>
        </p:sp>
        <p:sp>
          <p:nvSpPr>
            <p:cNvPr id="6" name="Rectangle 6"/>
            <p:cNvSpPr/>
            <p:nvPr/>
          </p:nvSpPr>
          <p:spPr>
            <a:xfrm>
              <a:off x="762000" y="647700"/>
              <a:ext cx="476250" cy="28575"/>
            </a:xfrm>
            <a:prstGeom prst="rect">
              <a:avLst/>
            </a:prstGeom>
            <a:solidFill>
              <a:srgbClr val="C41E3A"/>
            </a:solidFill>
            <a:ln>
              <a:noFill/>
            </a:ln>
          </p:spPr>
        </p:sp>
      </p:grpSp>
      <p:grpSp>
        <p:nvGrpSpPr>
          <p:cNvPr id="23" name="Group 23"/>
          <p:cNvGrpSpPr/>
          <p:nvPr/>
        </p:nvGrpSpPr>
        <p:grpSpPr>
          <a:xfrm>
            <a:off x="762000" y="952500"/>
            <a:ext cx="6667500" cy="5143500"/>
            <a:chOff x="762000" y="952500"/>
            <a:chExt cx="6667500" cy="5143500"/>
          </a:xfrm>
        </p:grpSpPr>
        <p:sp>
          <p:nvSpPr>
            <p:cNvPr id="8" name="Rectangle 8"/>
            <p:cNvSpPr/>
            <p:nvPr/>
          </p:nvSpPr>
          <p:spPr>
            <a:xfrm>
              <a:off x="762000" y="952500"/>
              <a:ext cx="6667500" cy="5143500"/>
            </a:xfrm>
            <a:prstGeom prst="rect">
              <a:avLst/>
            </a:prstGeom>
            <a:solidFill>
              <a:srgbClr val="F8F2F2"/>
            </a:solidFill>
            <a:ln>
              <a:noFill/>
            </a:ln>
          </p:spPr>
        </p:sp>
        <p:sp>
          <p:nvSpPr>
            <p:cNvPr id="9" name="Rectangle 9"/>
            <p:cNvSpPr/>
            <p:nvPr/>
          </p:nvSpPr>
          <p:spPr>
            <a:xfrm>
              <a:off x="762000" y="952500"/>
              <a:ext cx="38100" cy="5143500"/>
            </a:xfrm>
            <a:prstGeom prst="rect">
              <a:avLst/>
            </a:prstGeom>
            <a:gradFill>
              <a:gsLst>
                <a:gs pos="0">
                  <a:srgbClr val="8B0000"/>
                </a:gs>
                <a:gs pos="100000">
                  <a:srgbClr val="C41E3A"/>
                </a:gs>
              </a:gsLst>
              <a:lin ang="0" scaled="1"/>
            </a:gradFill>
            <a:ln>
              <a:noFill/>
            </a:ln>
          </p:spPr>
        </p:sp>
        <p:sp>
          <p:nvSpPr>
            <p:cNvPr id="10" name="TextBox 10"/>
            <p:cNvSpPr txBox="1"/>
            <p:nvPr/>
          </p:nvSpPr>
          <p:spPr>
            <a:xfrm>
              <a:off x="1122045" y="1250632"/>
              <a:ext cx="2352199" cy="335280"/>
            </a:xfrm>
            <a:prstGeom prst="rect">
              <a:avLst/>
            </a:prstGeom>
            <a:noFill/>
            <a:ln>
              <a:noFill/>
            </a:ln>
          </p:spPr>
          <p:txBody>
            <a:bodyPr wrap="none" lIns="0" tIns="0" rIns="0" bIns="0" anchor="t" anchorCtr="0">
              <a:spAutoFit/>
            </a:bodyPr>
            <a:lstStyle/>
            <a:p>
              <a:pPr algn="l"/>
              <a:r>
                <a:rPr lang="zh-CN" sz="1650" b="1" dirty="0">
                  <a:solidFill>
                    <a:srgbClr val="8B0000"/>
                  </a:solidFill>
                  <a:latin typeface="Arial"/>
                  <a:ea typeface="Microsoft YaHei"/>
                  <a:cs typeface="Arial"/>
                </a:rPr>
                <a:t>从单体智能到群体智能</a:t>
              </a:r>
            </a:p>
          </p:txBody>
        </p:sp>
        <p:sp>
          <p:nvSpPr>
            <p:cNvPr id="11" name="TextBox 11"/>
            <p:cNvSpPr txBox="1"/>
            <p:nvPr/>
          </p:nvSpPr>
          <p:spPr>
            <a:xfrm>
              <a:off x="1125855" y="1711642"/>
              <a:ext cx="6042686" cy="623248"/>
            </a:xfrm>
            <a:prstGeom prst="rect">
              <a:avLst/>
            </a:prstGeom>
            <a:noFill/>
            <a:ln>
              <a:noFill/>
            </a:ln>
          </p:spPr>
          <p:txBody>
            <a:bodyPr wrap="square" lIns="0" tIns="0" rIns="0" bIns="0" anchor="t" anchorCtr="0">
              <a:spAutoFit/>
            </a:bodyPr>
            <a:lstStyle/>
            <a:p>
              <a:pPr algn="l"/>
              <a:r>
                <a:rPr lang="zh-CN" sz="1350" dirty="0">
                  <a:solidFill>
                    <a:srgbClr val="2D2D2D"/>
                  </a:solidFill>
                  <a:latin typeface="Arial"/>
                  <a:ea typeface="Microsoft YaHei"/>
                  <a:cs typeface="Arial"/>
                </a:rPr>
                <a:t>随着机器人技术向应急救援、环境监测及智慧城市等复杂动态场景的纵深发展，单体机器人受限于传感器物理视角、计算资源及抗干扰能力的边界，已难以应对高维度的环境不确定性。</a:t>
              </a:r>
            </a:p>
          </p:txBody>
        </p:sp>
        <p:sp>
          <p:nvSpPr>
            <p:cNvPr id="12" name="TextBox 12"/>
            <p:cNvSpPr txBox="1"/>
            <p:nvPr/>
          </p:nvSpPr>
          <p:spPr>
            <a:xfrm>
              <a:off x="1125855" y="2378392"/>
              <a:ext cx="1213437" cy="274320"/>
            </a:xfrm>
            <a:prstGeom prst="rect">
              <a:avLst/>
            </a:prstGeom>
            <a:noFill/>
            <a:ln>
              <a:noFill/>
            </a:ln>
          </p:spPr>
          <p:txBody>
            <a:bodyPr wrap="none" lIns="0" tIns="0" rIns="0" bIns="0" anchor="t" anchorCtr="0">
              <a:spAutoFit/>
            </a:bodyPr>
            <a:lstStyle/>
            <a:p>
              <a:pPr algn="l"/>
              <a:r>
                <a:rPr lang="zh-CN" sz="1350" dirty="0">
                  <a:solidFill>
                    <a:srgbClr val="2D2D2D"/>
                  </a:solidFill>
                  <a:latin typeface="Arial"/>
                  <a:ea typeface="Microsoft YaHei"/>
                  <a:cs typeface="Arial"/>
                </a:rPr>
                <a:t>关键技术瓶颈:</a:t>
              </a:r>
            </a:p>
          </p:txBody>
        </p:sp>
        <p:sp>
          <p:nvSpPr>
            <p:cNvPr id="13" name="Rectangle 13"/>
            <p:cNvSpPr/>
            <p:nvPr/>
          </p:nvSpPr>
          <p:spPr>
            <a:xfrm>
              <a:off x="1143000" y="2762250"/>
              <a:ext cx="5905500" cy="9525"/>
            </a:xfrm>
            <a:prstGeom prst="rect">
              <a:avLst/>
            </a:prstGeom>
            <a:solidFill>
              <a:srgbClr val="D4C5C5"/>
            </a:solidFill>
            <a:ln>
              <a:noFill/>
            </a:ln>
          </p:spPr>
        </p:sp>
        <p:sp>
          <p:nvSpPr>
            <p:cNvPr id="14" name="Ellipse 14"/>
            <p:cNvSpPr/>
            <p:nvPr/>
          </p:nvSpPr>
          <p:spPr>
            <a:xfrm>
              <a:off x="1295400" y="3105150"/>
              <a:ext cx="76200" cy="76200"/>
            </a:xfrm>
            <a:prstGeom prst="ellipse">
              <a:avLst/>
            </a:prstGeom>
            <a:solidFill>
              <a:srgbClr val="C41E3A"/>
            </a:solidFill>
            <a:ln>
              <a:noFill/>
            </a:ln>
          </p:spPr>
        </p:sp>
        <p:sp>
          <p:nvSpPr>
            <p:cNvPr id="15" name="TextBox 15"/>
            <p:cNvSpPr txBox="1"/>
            <p:nvPr/>
          </p:nvSpPr>
          <p:spPr>
            <a:xfrm>
              <a:off x="1507808" y="3053239"/>
              <a:ext cx="5099018" cy="259080"/>
            </a:xfrm>
            <a:prstGeom prst="rect">
              <a:avLst/>
            </a:prstGeom>
            <a:noFill/>
            <a:ln>
              <a:noFill/>
            </a:ln>
          </p:spPr>
          <p:txBody>
            <a:bodyPr wrap="none" lIns="0" tIns="0" rIns="0" bIns="0" anchor="t" anchorCtr="0">
              <a:spAutoFit/>
            </a:bodyPr>
            <a:lstStyle/>
            <a:p>
              <a:pPr algn="l"/>
              <a:r>
                <a:rPr lang="zh-CN" sz="1275" dirty="0">
                  <a:solidFill>
                    <a:srgbClr val="2D2D2D"/>
                  </a:solidFill>
                  <a:latin typeface="Arial"/>
                  <a:ea typeface="Microsoft YaHei"/>
                  <a:cs typeface="Arial"/>
                </a:rPr>
                <a:t>感知盲区 -- 单平台视野狭窄、易被遮挡，存在"鬼探头"等感知漏洞</a:t>
              </a:r>
            </a:p>
          </p:txBody>
        </p:sp>
        <p:sp>
          <p:nvSpPr>
            <p:cNvPr id="16" name="Ellipse 16"/>
            <p:cNvSpPr/>
            <p:nvPr/>
          </p:nvSpPr>
          <p:spPr>
            <a:xfrm>
              <a:off x="1295400" y="3533775"/>
              <a:ext cx="76200" cy="76200"/>
            </a:xfrm>
            <a:prstGeom prst="ellipse">
              <a:avLst/>
            </a:prstGeom>
            <a:solidFill>
              <a:srgbClr val="C41E3A"/>
            </a:solidFill>
            <a:ln>
              <a:noFill/>
            </a:ln>
          </p:spPr>
        </p:sp>
        <p:sp>
          <p:nvSpPr>
            <p:cNvPr id="17" name="TextBox 17"/>
            <p:cNvSpPr txBox="1"/>
            <p:nvPr/>
          </p:nvSpPr>
          <p:spPr>
            <a:xfrm>
              <a:off x="1507808" y="3481864"/>
              <a:ext cx="4401931" cy="259080"/>
            </a:xfrm>
            <a:prstGeom prst="rect">
              <a:avLst/>
            </a:prstGeom>
            <a:noFill/>
            <a:ln>
              <a:noFill/>
            </a:ln>
          </p:spPr>
          <p:txBody>
            <a:bodyPr wrap="none" lIns="0" tIns="0" rIns="0" bIns="0" anchor="t" anchorCtr="0">
              <a:spAutoFit/>
            </a:bodyPr>
            <a:lstStyle/>
            <a:p>
              <a:pPr algn="l"/>
              <a:r>
                <a:rPr lang="zh-CN" sz="1275" dirty="0">
                  <a:solidFill>
                    <a:srgbClr val="2D2D2D"/>
                  </a:solidFill>
                  <a:latin typeface="Arial"/>
                  <a:ea typeface="Microsoft YaHei"/>
                  <a:cs typeface="Arial"/>
                </a:rPr>
                <a:t>决策孤岛 -- 个体智能难以充分利用全局信息进行最优决策</a:t>
              </a:r>
            </a:p>
          </p:txBody>
        </p:sp>
        <p:sp>
          <p:nvSpPr>
            <p:cNvPr id="18" name="Ellipse 18"/>
            <p:cNvSpPr/>
            <p:nvPr/>
          </p:nvSpPr>
          <p:spPr>
            <a:xfrm>
              <a:off x="1295400" y="3962400"/>
              <a:ext cx="76200" cy="76200"/>
            </a:xfrm>
            <a:prstGeom prst="ellipse">
              <a:avLst/>
            </a:prstGeom>
            <a:solidFill>
              <a:srgbClr val="C41E3A"/>
            </a:solidFill>
            <a:ln>
              <a:noFill/>
            </a:ln>
          </p:spPr>
        </p:sp>
        <p:sp>
          <p:nvSpPr>
            <p:cNvPr id="19" name="TextBox 19"/>
            <p:cNvSpPr txBox="1"/>
            <p:nvPr/>
          </p:nvSpPr>
          <p:spPr>
            <a:xfrm>
              <a:off x="1507808" y="3910489"/>
              <a:ext cx="4911995" cy="259080"/>
            </a:xfrm>
            <a:prstGeom prst="rect">
              <a:avLst/>
            </a:prstGeom>
            <a:noFill/>
            <a:ln>
              <a:noFill/>
            </a:ln>
          </p:spPr>
          <p:txBody>
            <a:bodyPr wrap="none" lIns="0" tIns="0" rIns="0" bIns="0" anchor="t" anchorCtr="0">
              <a:spAutoFit/>
            </a:bodyPr>
            <a:lstStyle/>
            <a:p>
              <a:pPr algn="l"/>
              <a:r>
                <a:rPr lang="zh-CN" sz="1275" dirty="0">
                  <a:solidFill>
                    <a:srgbClr val="2D2D2D"/>
                  </a:solidFill>
                  <a:latin typeface="Arial"/>
                  <a:ea typeface="Microsoft YaHei"/>
                  <a:cs typeface="Arial"/>
                </a:rPr>
                <a:t>能力受限 -- 单平台算力、载荷、续航的物理上限制约任务复杂度</a:t>
              </a:r>
            </a:p>
          </p:txBody>
        </p:sp>
        <p:sp>
          <p:nvSpPr>
            <p:cNvPr id="20" name="Rectangle 20"/>
            <p:cNvSpPr/>
            <p:nvPr/>
          </p:nvSpPr>
          <p:spPr>
            <a:xfrm>
              <a:off x="1143000" y="4429125"/>
              <a:ext cx="5905500" cy="9525"/>
            </a:xfrm>
            <a:prstGeom prst="rect">
              <a:avLst/>
            </a:prstGeom>
            <a:solidFill>
              <a:srgbClr val="D4C5C5"/>
            </a:solidFill>
            <a:ln>
              <a:noFill/>
            </a:ln>
          </p:spPr>
        </p:sp>
        <p:sp>
          <p:nvSpPr>
            <p:cNvPr id="21" name="TextBox 21"/>
            <p:cNvSpPr txBox="1"/>
            <p:nvPr/>
          </p:nvSpPr>
          <p:spPr>
            <a:xfrm>
              <a:off x="1126808" y="4767739"/>
              <a:ext cx="844662" cy="259080"/>
            </a:xfrm>
            <a:prstGeom prst="rect">
              <a:avLst/>
            </a:prstGeom>
            <a:noFill/>
            <a:ln>
              <a:noFill/>
            </a:ln>
          </p:spPr>
          <p:txBody>
            <a:bodyPr wrap="none" lIns="0" tIns="0" rIns="0" bIns="0" anchor="t" anchorCtr="0">
              <a:spAutoFit/>
            </a:bodyPr>
            <a:lstStyle/>
            <a:p>
              <a:pPr algn="l"/>
              <a:r>
                <a:rPr lang="zh-CN" sz="1275" b="1" dirty="0">
                  <a:solidFill>
                    <a:srgbClr val="8B0000"/>
                  </a:solidFill>
                  <a:latin typeface="Arial"/>
                  <a:ea typeface="Microsoft YaHei"/>
                  <a:cs typeface="Arial"/>
                </a:rPr>
                <a:t>核心命题:</a:t>
              </a:r>
            </a:p>
          </p:txBody>
        </p:sp>
        <p:sp>
          <p:nvSpPr>
            <p:cNvPr id="22" name="TextBox 22"/>
            <p:cNvSpPr txBox="1"/>
            <p:nvPr/>
          </p:nvSpPr>
          <p:spPr>
            <a:xfrm>
              <a:off x="1126808" y="5101114"/>
              <a:ext cx="6041733" cy="588623"/>
            </a:xfrm>
            <a:prstGeom prst="rect">
              <a:avLst/>
            </a:prstGeom>
            <a:noFill/>
            <a:ln>
              <a:noFill/>
            </a:ln>
          </p:spPr>
          <p:txBody>
            <a:bodyPr wrap="square" lIns="0" tIns="0" rIns="0" bIns="0" anchor="t" anchorCtr="0">
              <a:spAutoFit/>
            </a:bodyPr>
            <a:lstStyle/>
            <a:p>
              <a:pPr algn="l"/>
              <a:r>
                <a:rPr lang="zh-CN" sz="1275" dirty="0">
                  <a:solidFill>
                    <a:srgbClr val="2D2D2D"/>
                  </a:solidFill>
                  <a:latin typeface="Arial"/>
                  <a:ea typeface="Microsoft YaHei"/>
                  <a:cs typeface="Arial"/>
                </a:rPr>
                <a:t>协同感知与规划作为多无人系统智能化的两大核心支柱，二者相辅相成 -- 利用分布式感知信息支撑协同决策，并引导感知行为以优化后续任务执行 -- 搭建起从"个体智能"通往"群体智能"的重要桥梁。</a:t>
              </a:r>
            </a:p>
          </p:txBody>
        </p:sp>
      </p:grpSp>
      <p:grpSp>
        <p:nvGrpSpPr>
          <p:cNvPr id="50" name="Group 50"/>
          <p:cNvGrpSpPr/>
          <p:nvPr/>
        </p:nvGrpSpPr>
        <p:grpSpPr>
          <a:xfrm>
            <a:off x="7810500" y="952500"/>
            <a:ext cx="3619500" cy="4641056"/>
            <a:chOff x="7810500" y="952500"/>
            <a:chExt cx="3619500" cy="4641056"/>
          </a:xfrm>
        </p:grpSpPr>
        <p:sp>
          <p:nvSpPr>
            <p:cNvPr id="24" name="Rectangle 24"/>
            <p:cNvSpPr/>
            <p:nvPr/>
          </p:nvSpPr>
          <p:spPr>
            <a:xfrm>
              <a:off x="7810500" y="952500"/>
              <a:ext cx="3619500" cy="2286000"/>
            </a:xfrm>
            <a:prstGeom prst="roundRect">
              <a:avLst>
                <a:gd name="adj" fmla="val 2500"/>
              </a:avLst>
            </a:prstGeom>
            <a:solidFill>
              <a:srgbClr val="FFFFFF"/>
            </a:solidFill>
            <a:ln w="9525">
              <a:solidFill>
                <a:srgbClr val="D4C5C5"/>
              </a:solidFill>
            </a:ln>
          </p:spPr>
        </p:sp>
        <p:sp>
          <p:nvSpPr>
            <p:cNvPr id="25" name="Freeform 25"/>
            <p:cNvSpPr/>
            <p:nvPr/>
          </p:nvSpPr>
          <p:spPr>
            <a:xfrm>
              <a:off x="8138495" y="1407318"/>
              <a:ext cx="381000" cy="357188"/>
            </a:xfrm>
            <a:custGeom>
              <a:avLst/>
              <a:gdLst/>
              <a:ahLst/>
              <a:cxnLst/>
              <a:rect l="l" t="t" r="r" b="b"/>
              <a:pathLst>
                <a:path w="381000" h="357188">
                  <a:moveTo>
                    <a:pt x="214312" y="0"/>
                  </a:moveTo>
                  <a:lnTo>
                    <a:pt x="214312" y="47625"/>
                  </a:lnTo>
                  <a:lnTo>
                    <a:pt x="309562" y="47625"/>
                  </a:lnTo>
                  <a:lnTo>
                    <a:pt x="381000" y="202406"/>
                  </a:lnTo>
                  <a:lnTo>
                    <a:pt x="309562" y="357188"/>
                  </a:lnTo>
                  <a:lnTo>
                    <a:pt x="71438" y="357188"/>
                  </a:lnTo>
                  <a:lnTo>
                    <a:pt x="0" y="202406"/>
                  </a:lnTo>
                  <a:lnTo>
                    <a:pt x="71438" y="47625"/>
                  </a:lnTo>
                  <a:lnTo>
                    <a:pt x="166688" y="47625"/>
                  </a:lnTo>
                  <a:lnTo>
                    <a:pt x="166688" y="0"/>
                  </a:lnTo>
                  <a:lnTo>
                    <a:pt x="214312" y="0"/>
                  </a:lnTo>
                  <a:close/>
                  <a:moveTo>
                    <a:pt x="109488" y="279521"/>
                  </a:moveTo>
                  <a:lnTo>
                    <a:pt x="190500" y="291984"/>
                  </a:lnTo>
                  <a:lnTo>
                    <a:pt x="271513" y="279521"/>
                  </a:lnTo>
                  <a:lnTo>
                    <a:pt x="264269" y="232449"/>
                  </a:lnTo>
                  <a:lnTo>
                    <a:pt x="190500" y="243797"/>
                  </a:lnTo>
                  <a:lnTo>
                    <a:pt x="116730" y="232449"/>
                  </a:lnTo>
                  <a:lnTo>
                    <a:pt x="109488" y="279521"/>
                  </a:lnTo>
                  <a:close/>
                  <a:moveTo>
                    <a:pt x="166688" y="160734"/>
                  </a:moveTo>
                  <a:cubicBezTo>
                    <a:pt x="166688" y="177174"/>
                    <a:pt x="153361" y="190500"/>
                    <a:pt x="136922" y="190500"/>
                  </a:cubicBezTo>
                  <a:cubicBezTo>
                    <a:pt x="120483" y="190500"/>
                    <a:pt x="107156" y="177174"/>
                    <a:pt x="107156" y="160734"/>
                  </a:cubicBezTo>
                  <a:cubicBezTo>
                    <a:pt x="107156" y="144295"/>
                    <a:pt x="120483" y="130969"/>
                    <a:pt x="136922" y="130969"/>
                  </a:cubicBezTo>
                  <a:cubicBezTo>
                    <a:pt x="153361" y="130969"/>
                    <a:pt x="166688" y="144295"/>
                    <a:pt x="166688" y="160734"/>
                  </a:cubicBezTo>
                  <a:close/>
                  <a:moveTo>
                    <a:pt x="244078" y="190500"/>
                  </a:moveTo>
                  <a:cubicBezTo>
                    <a:pt x="260518" y="190500"/>
                    <a:pt x="273844" y="177174"/>
                    <a:pt x="273844" y="160734"/>
                  </a:cubicBezTo>
                  <a:cubicBezTo>
                    <a:pt x="273844" y="144295"/>
                    <a:pt x="260518" y="130969"/>
                    <a:pt x="244078" y="130969"/>
                  </a:cubicBezTo>
                  <a:cubicBezTo>
                    <a:pt x="227639" y="130969"/>
                    <a:pt x="214312" y="144295"/>
                    <a:pt x="214312" y="160734"/>
                  </a:cubicBezTo>
                  <a:cubicBezTo>
                    <a:pt x="214312" y="177174"/>
                    <a:pt x="227639" y="190500"/>
                    <a:pt x="244078" y="190500"/>
                  </a:cubicBezTo>
                  <a:close/>
                </a:path>
              </a:pathLst>
            </a:custGeom>
            <a:solidFill>
              <a:srgbClr val="8B0000"/>
            </a:solidFill>
            <a:ln>
              <a:noFill/>
            </a:ln>
          </p:spPr>
        </p:sp>
        <p:sp>
          <p:nvSpPr>
            <p:cNvPr id="26" name="TextBox 26"/>
            <p:cNvSpPr txBox="1"/>
            <p:nvPr/>
          </p:nvSpPr>
          <p:spPr>
            <a:xfrm>
              <a:off x="8764191" y="1512800"/>
              <a:ext cx="1357455" cy="274320"/>
            </a:xfrm>
            <a:prstGeom prst="rect">
              <a:avLst/>
            </a:prstGeom>
            <a:noFill/>
            <a:ln>
              <a:noFill/>
            </a:ln>
          </p:spPr>
          <p:txBody>
            <a:bodyPr wrap="none" lIns="0" tIns="0" rIns="0" bIns="0" anchor="t" anchorCtr="0">
              <a:spAutoFit/>
            </a:bodyPr>
            <a:lstStyle/>
            <a:p>
              <a:pPr algn="l"/>
              <a:r>
                <a:rPr lang="zh-CN" sz="1350" b="1" dirty="0">
                  <a:solidFill>
                    <a:srgbClr val="2D2D2D"/>
                  </a:solidFill>
                  <a:latin typeface="Arial"/>
                  <a:ea typeface="Microsoft YaHei"/>
                  <a:cs typeface="Arial"/>
                </a:rPr>
                <a:t>单无人系统局限</a:t>
              </a:r>
            </a:p>
          </p:txBody>
        </p:sp>
        <p:sp>
          <p:nvSpPr>
            <p:cNvPr id="27" name="Ellipse 27"/>
            <p:cNvSpPr/>
            <p:nvPr/>
          </p:nvSpPr>
          <p:spPr>
            <a:xfrm>
              <a:off x="8067675" y="1971675"/>
              <a:ext cx="57150" cy="57150"/>
            </a:xfrm>
            <a:prstGeom prst="ellipse">
              <a:avLst/>
            </a:prstGeom>
            <a:solidFill>
              <a:srgbClr val="1A3C5E"/>
            </a:solidFill>
            <a:ln>
              <a:noFill/>
            </a:ln>
          </p:spPr>
        </p:sp>
        <p:sp>
          <p:nvSpPr>
            <p:cNvPr id="28" name="TextBox 28"/>
            <p:cNvSpPr txBox="1"/>
            <p:nvPr/>
          </p:nvSpPr>
          <p:spPr>
            <a:xfrm>
              <a:off x="8224838" y="1935956"/>
              <a:ext cx="928688" cy="228600"/>
            </a:xfrm>
            <a:prstGeom prst="rect">
              <a:avLst/>
            </a:prstGeom>
            <a:noFill/>
            <a:ln>
              <a:noFill/>
            </a:ln>
          </p:spPr>
          <p:txBody>
            <a:bodyPr wrap="none" lIns="0" tIns="0" rIns="0" bIns="0" anchor="t" anchorCtr="0">
              <a:spAutoFit/>
            </a:bodyPr>
            <a:lstStyle/>
            <a:p>
              <a:pPr algn="l"/>
              <a:r>
                <a:rPr lang="zh-CN" sz="1125" dirty="0">
                  <a:solidFill>
                    <a:srgbClr val="666666"/>
                  </a:solidFill>
                  <a:latin typeface="Arial"/>
                  <a:ea typeface="Microsoft YaHei"/>
                  <a:cs typeface="Arial"/>
                </a:rPr>
                <a:t>感知范围有限</a:t>
              </a:r>
            </a:p>
          </p:txBody>
        </p:sp>
        <p:sp>
          <p:nvSpPr>
            <p:cNvPr id="29" name="Ellipse 29"/>
            <p:cNvSpPr/>
            <p:nvPr/>
          </p:nvSpPr>
          <p:spPr>
            <a:xfrm>
              <a:off x="8067675" y="2257425"/>
              <a:ext cx="57150" cy="57150"/>
            </a:xfrm>
            <a:prstGeom prst="ellipse">
              <a:avLst/>
            </a:prstGeom>
            <a:solidFill>
              <a:srgbClr val="1A3C5E"/>
            </a:solidFill>
            <a:ln>
              <a:noFill/>
            </a:ln>
          </p:spPr>
        </p:sp>
        <p:sp>
          <p:nvSpPr>
            <p:cNvPr id="30" name="TextBox 30"/>
            <p:cNvSpPr txBox="1"/>
            <p:nvPr/>
          </p:nvSpPr>
          <p:spPr>
            <a:xfrm>
              <a:off x="8224838" y="2221706"/>
              <a:ext cx="928688" cy="228600"/>
            </a:xfrm>
            <a:prstGeom prst="rect">
              <a:avLst/>
            </a:prstGeom>
            <a:noFill/>
            <a:ln>
              <a:noFill/>
            </a:ln>
          </p:spPr>
          <p:txBody>
            <a:bodyPr wrap="none" lIns="0" tIns="0" rIns="0" bIns="0" anchor="t" anchorCtr="0">
              <a:spAutoFit/>
            </a:bodyPr>
            <a:lstStyle/>
            <a:p>
              <a:pPr algn="l"/>
              <a:r>
                <a:rPr lang="zh-CN" sz="1125" dirty="0">
                  <a:solidFill>
                    <a:srgbClr val="666666"/>
                  </a:solidFill>
                  <a:latin typeface="Arial"/>
                  <a:ea typeface="Microsoft YaHei"/>
                  <a:cs typeface="Arial"/>
                </a:rPr>
                <a:t>计算资源受限</a:t>
              </a:r>
            </a:p>
          </p:txBody>
        </p:sp>
        <p:sp>
          <p:nvSpPr>
            <p:cNvPr id="31" name="Ellipse 31"/>
            <p:cNvSpPr/>
            <p:nvPr/>
          </p:nvSpPr>
          <p:spPr>
            <a:xfrm>
              <a:off x="8067675" y="2543175"/>
              <a:ext cx="57150" cy="57150"/>
            </a:xfrm>
            <a:prstGeom prst="ellipse">
              <a:avLst/>
            </a:prstGeom>
            <a:solidFill>
              <a:srgbClr val="1A3C5E"/>
            </a:solidFill>
            <a:ln>
              <a:noFill/>
            </a:ln>
          </p:spPr>
        </p:sp>
        <p:sp>
          <p:nvSpPr>
            <p:cNvPr id="32" name="TextBox 32"/>
            <p:cNvSpPr txBox="1"/>
            <p:nvPr/>
          </p:nvSpPr>
          <p:spPr>
            <a:xfrm>
              <a:off x="8224838" y="2507456"/>
              <a:ext cx="1078706" cy="228600"/>
            </a:xfrm>
            <a:prstGeom prst="rect">
              <a:avLst/>
            </a:prstGeom>
            <a:noFill/>
            <a:ln>
              <a:noFill/>
            </a:ln>
          </p:spPr>
          <p:txBody>
            <a:bodyPr wrap="none" lIns="0" tIns="0" rIns="0" bIns="0" anchor="t" anchorCtr="0">
              <a:spAutoFit/>
            </a:bodyPr>
            <a:lstStyle/>
            <a:p>
              <a:pPr algn="l"/>
              <a:r>
                <a:rPr lang="zh-CN" sz="1125" dirty="0">
                  <a:solidFill>
                    <a:srgbClr val="666666"/>
                  </a:solidFill>
                  <a:latin typeface="Arial"/>
                  <a:ea typeface="Microsoft YaHei"/>
                  <a:cs typeface="Arial"/>
                </a:rPr>
                <a:t>抗干扰能力不足</a:t>
              </a:r>
            </a:p>
          </p:txBody>
        </p:sp>
        <p:sp>
          <p:nvSpPr>
            <p:cNvPr id="33" name="Ellipse 33"/>
            <p:cNvSpPr/>
            <p:nvPr/>
          </p:nvSpPr>
          <p:spPr>
            <a:xfrm>
              <a:off x="8067675" y="2828925"/>
              <a:ext cx="57150" cy="57150"/>
            </a:xfrm>
            <a:prstGeom prst="ellipse">
              <a:avLst/>
            </a:prstGeom>
            <a:solidFill>
              <a:srgbClr val="1A3C5E"/>
            </a:solidFill>
            <a:ln>
              <a:noFill/>
            </a:ln>
          </p:spPr>
        </p:sp>
        <p:sp>
          <p:nvSpPr>
            <p:cNvPr id="34" name="TextBox 34"/>
            <p:cNvSpPr txBox="1"/>
            <p:nvPr/>
          </p:nvSpPr>
          <p:spPr>
            <a:xfrm>
              <a:off x="8224838" y="2793206"/>
              <a:ext cx="1228725" cy="228600"/>
            </a:xfrm>
            <a:prstGeom prst="rect">
              <a:avLst/>
            </a:prstGeom>
            <a:noFill/>
            <a:ln>
              <a:noFill/>
            </a:ln>
          </p:spPr>
          <p:txBody>
            <a:bodyPr wrap="none" lIns="0" tIns="0" rIns="0" bIns="0" anchor="t" anchorCtr="0">
              <a:spAutoFit/>
            </a:bodyPr>
            <a:lstStyle/>
            <a:p>
              <a:pPr algn="l"/>
              <a:r>
                <a:rPr lang="zh-CN" sz="1125" dirty="0">
                  <a:solidFill>
                    <a:srgbClr val="666666"/>
                  </a:solidFill>
                  <a:latin typeface="Arial"/>
                  <a:ea typeface="Microsoft YaHei"/>
                  <a:cs typeface="Arial"/>
                </a:rPr>
                <a:t>任务执行鲁棒性弱</a:t>
              </a:r>
            </a:p>
          </p:txBody>
        </p:sp>
        <p:sp>
          <p:nvSpPr>
            <p:cNvPr id="35" name="Rectangle 35"/>
            <p:cNvSpPr/>
            <p:nvPr/>
          </p:nvSpPr>
          <p:spPr>
            <a:xfrm>
              <a:off x="7905750" y="3524250"/>
              <a:ext cx="3429000" cy="19050"/>
            </a:xfrm>
            <a:prstGeom prst="rect">
              <a:avLst/>
            </a:prstGeom>
            <a:solidFill>
              <a:srgbClr val="D4C5C5"/>
            </a:solidFill>
            <a:ln>
              <a:noFill/>
            </a:ln>
          </p:spPr>
        </p:sp>
        <p:grpSp>
          <p:nvGrpSpPr>
            <p:cNvPr id="40" name="Group 40"/>
            <p:cNvGrpSpPr/>
            <p:nvPr/>
          </p:nvGrpSpPr>
          <p:grpSpPr>
            <a:xfrm>
              <a:off x="8174498" y="3957637"/>
              <a:ext cx="321613" cy="298697"/>
              <a:chOff x="8174498" y="3957637"/>
              <a:chExt cx="321613" cy="298697"/>
            </a:xfrm>
          </p:grpSpPr>
          <p:sp>
            <p:nvSpPr>
              <p:cNvPr id="36" name="Freeform 36"/>
              <p:cNvSpPr/>
              <p:nvPr/>
            </p:nvSpPr>
            <p:spPr>
              <a:xfrm>
                <a:off x="8234174" y="3957637"/>
                <a:ext cx="119062" cy="119062"/>
              </a:xfrm>
              <a:custGeom>
                <a:avLst/>
                <a:gdLst/>
                <a:ahLst/>
                <a:cxnLst/>
                <a:rect l="l" t="t" r="r" b="b"/>
                <a:pathLst>
                  <a:path w="119062" h="119062">
                    <a:moveTo>
                      <a:pt x="119062" y="59531"/>
                    </a:moveTo>
                    <a:cubicBezTo>
                      <a:pt x="119062" y="92409"/>
                      <a:pt x="92409" y="119062"/>
                      <a:pt x="59531" y="119062"/>
                    </a:cubicBezTo>
                    <a:cubicBezTo>
                      <a:pt x="26653" y="119062"/>
                      <a:pt x="0" y="92409"/>
                      <a:pt x="0" y="59531"/>
                    </a:cubicBezTo>
                    <a:cubicBezTo>
                      <a:pt x="0" y="26653"/>
                      <a:pt x="26653" y="0"/>
                      <a:pt x="59531" y="0"/>
                    </a:cubicBezTo>
                    <a:cubicBezTo>
                      <a:pt x="92409" y="0"/>
                      <a:pt x="119062" y="26653"/>
                      <a:pt x="119062" y="59531"/>
                    </a:cubicBezTo>
                    <a:close/>
                  </a:path>
                </a:pathLst>
              </a:custGeom>
              <a:solidFill>
                <a:srgbClr val="1A3C5E"/>
              </a:solidFill>
              <a:ln>
                <a:noFill/>
              </a:ln>
            </p:spPr>
          </p:sp>
          <p:sp>
            <p:nvSpPr>
              <p:cNvPr id="37" name="Freeform 37"/>
              <p:cNvSpPr/>
              <p:nvPr/>
            </p:nvSpPr>
            <p:spPr>
              <a:xfrm>
                <a:off x="8174498" y="4086225"/>
                <a:ext cx="190500" cy="166688"/>
              </a:xfrm>
              <a:custGeom>
                <a:avLst/>
                <a:gdLst/>
                <a:ahLst/>
                <a:cxnLst/>
                <a:rect l="l" t="t" r="r" b="b"/>
                <a:pathLst>
                  <a:path w="190500" h="166688">
                    <a:moveTo>
                      <a:pt x="71438" y="0"/>
                    </a:moveTo>
                    <a:cubicBezTo>
                      <a:pt x="31984" y="0"/>
                      <a:pt x="0" y="31984"/>
                      <a:pt x="0" y="71438"/>
                    </a:cubicBezTo>
                    <a:lnTo>
                      <a:pt x="0" y="166688"/>
                    </a:lnTo>
                    <a:lnTo>
                      <a:pt x="190500" y="166688"/>
                    </a:lnTo>
                    <a:lnTo>
                      <a:pt x="190500" y="0"/>
                    </a:lnTo>
                    <a:lnTo>
                      <a:pt x="71438" y="0"/>
                    </a:lnTo>
                    <a:close/>
                  </a:path>
                </a:pathLst>
              </a:custGeom>
              <a:solidFill>
                <a:srgbClr val="1A3C5E"/>
              </a:solidFill>
              <a:ln>
                <a:noFill/>
              </a:ln>
            </p:spPr>
          </p:sp>
          <p:sp>
            <p:nvSpPr>
              <p:cNvPr id="38" name="Freeform 38"/>
              <p:cNvSpPr/>
              <p:nvPr/>
            </p:nvSpPr>
            <p:spPr>
              <a:xfrm>
                <a:off x="8353236" y="4089646"/>
                <a:ext cx="142875" cy="166688"/>
              </a:xfrm>
              <a:custGeom>
                <a:avLst/>
                <a:gdLst/>
                <a:ahLst/>
                <a:cxnLst/>
                <a:rect l="l" t="t" r="r" b="b"/>
                <a:pathLst>
                  <a:path w="142875" h="166688">
                    <a:moveTo>
                      <a:pt x="71438" y="0"/>
                    </a:moveTo>
                    <a:lnTo>
                      <a:pt x="0" y="0"/>
                    </a:lnTo>
                    <a:lnTo>
                      <a:pt x="0" y="166688"/>
                    </a:lnTo>
                    <a:lnTo>
                      <a:pt x="142875" y="166688"/>
                    </a:lnTo>
                    <a:lnTo>
                      <a:pt x="142875" y="71438"/>
                    </a:lnTo>
                    <a:cubicBezTo>
                      <a:pt x="142875" y="31984"/>
                      <a:pt x="110892" y="0"/>
                      <a:pt x="71438" y="0"/>
                    </a:cubicBezTo>
                    <a:close/>
                  </a:path>
                </a:pathLst>
              </a:custGeom>
              <a:solidFill>
                <a:srgbClr val="1A3C5E"/>
              </a:solidFill>
              <a:ln>
                <a:noFill/>
              </a:ln>
            </p:spPr>
          </p:sp>
          <p:sp>
            <p:nvSpPr>
              <p:cNvPr id="39" name="Freeform 39"/>
              <p:cNvSpPr/>
              <p:nvPr/>
            </p:nvSpPr>
            <p:spPr>
              <a:xfrm>
                <a:off x="8364998" y="3977886"/>
                <a:ext cx="95250" cy="95250"/>
              </a:xfrm>
              <a:custGeom>
                <a:avLst/>
                <a:gdLst/>
                <a:ahLst/>
                <a:cxnLst/>
                <a:rect l="l" t="t" r="r" b="b"/>
                <a:pathLst>
                  <a:path w="95250" h="95250">
                    <a:moveTo>
                      <a:pt x="47625" y="95250"/>
                    </a:moveTo>
                    <a:cubicBezTo>
                      <a:pt x="73928" y="95250"/>
                      <a:pt x="95250" y="73928"/>
                      <a:pt x="95250" y="47625"/>
                    </a:cubicBezTo>
                    <a:cubicBezTo>
                      <a:pt x="95250" y="21322"/>
                      <a:pt x="73928" y="0"/>
                      <a:pt x="47625" y="0"/>
                    </a:cubicBezTo>
                    <a:cubicBezTo>
                      <a:pt x="21322" y="0"/>
                      <a:pt x="0" y="21322"/>
                      <a:pt x="0" y="47625"/>
                    </a:cubicBezTo>
                    <a:cubicBezTo>
                      <a:pt x="0" y="73928"/>
                      <a:pt x="21322" y="95250"/>
                      <a:pt x="47625" y="95250"/>
                    </a:cubicBezTo>
                    <a:close/>
                  </a:path>
                </a:pathLst>
              </a:custGeom>
              <a:solidFill>
                <a:srgbClr val="1A3C5E"/>
              </a:solidFill>
              <a:ln>
                <a:noFill/>
              </a:ln>
            </p:spPr>
          </p:sp>
        </p:grpSp>
        <p:sp>
          <p:nvSpPr>
            <p:cNvPr id="41" name="TextBox 41"/>
            <p:cNvSpPr txBox="1"/>
            <p:nvPr/>
          </p:nvSpPr>
          <p:spPr>
            <a:xfrm>
              <a:off x="8764191" y="4015740"/>
              <a:ext cx="1357455" cy="274320"/>
            </a:xfrm>
            <a:prstGeom prst="rect">
              <a:avLst/>
            </a:prstGeom>
            <a:noFill/>
            <a:ln>
              <a:noFill/>
            </a:ln>
          </p:spPr>
          <p:txBody>
            <a:bodyPr wrap="none" lIns="0" tIns="0" rIns="0" bIns="0" anchor="t" anchorCtr="0">
              <a:spAutoFit/>
            </a:bodyPr>
            <a:lstStyle/>
            <a:p>
              <a:pPr algn="l"/>
              <a:r>
                <a:rPr lang="zh-CN" sz="1350" b="1" dirty="0">
                  <a:solidFill>
                    <a:srgbClr val="2D2D2D"/>
                  </a:solidFill>
                  <a:latin typeface="Arial"/>
                  <a:ea typeface="Microsoft YaHei"/>
                  <a:cs typeface="Arial"/>
                </a:rPr>
                <a:t>多无人系统协同</a:t>
              </a:r>
            </a:p>
          </p:txBody>
        </p:sp>
        <p:sp>
          <p:nvSpPr>
            <p:cNvPr id="42" name="Ellipse 42"/>
            <p:cNvSpPr/>
            <p:nvPr/>
          </p:nvSpPr>
          <p:spPr>
            <a:xfrm>
              <a:off x="8067675" y="4543425"/>
              <a:ext cx="57150" cy="57150"/>
            </a:xfrm>
            <a:prstGeom prst="ellipse">
              <a:avLst/>
            </a:prstGeom>
            <a:solidFill>
              <a:srgbClr val="C41E3A"/>
            </a:solidFill>
            <a:ln>
              <a:noFill/>
            </a:ln>
          </p:spPr>
        </p:sp>
        <p:sp>
          <p:nvSpPr>
            <p:cNvPr id="43" name="TextBox 43"/>
            <p:cNvSpPr txBox="1"/>
            <p:nvPr/>
          </p:nvSpPr>
          <p:spPr>
            <a:xfrm>
              <a:off x="8224838" y="4507706"/>
              <a:ext cx="1078706" cy="228600"/>
            </a:xfrm>
            <a:prstGeom prst="rect">
              <a:avLst/>
            </a:prstGeom>
            <a:noFill/>
            <a:ln>
              <a:noFill/>
            </a:ln>
          </p:spPr>
          <p:txBody>
            <a:bodyPr wrap="none" lIns="0" tIns="0" rIns="0" bIns="0" anchor="t" anchorCtr="0">
              <a:spAutoFit/>
            </a:bodyPr>
            <a:lstStyle/>
            <a:p>
              <a:pPr algn="l"/>
              <a:r>
                <a:rPr lang="zh-CN" sz="1125" dirty="0">
                  <a:solidFill>
                    <a:srgbClr val="666666"/>
                  </a:solidFill>
                  <a:latin typeface="Arial"/>
                  <a:ea typeface="Microsoft YaHei"/>
                  <a:cs typeface="Arial"/>
                </a:rPr>
                <a:t>多视角环境感知</a:t>
              </a:r>
            </a:p>
          </p:txBody>
        </p:sp>
        <p:sp>
          <p:nvSpPr>
            <p:cNvPr id="44" name="Ellipse 44"/>
            <p:cNvSpPr/>
            <p:nvPr/>
          </p:nvSpPr>
          <p:spPr>
            <a:xfrm>
              <a:off x="8067675" y="4829175"/>
              <a:ext cx="57150" cy="57150"/>
            </a:xfrm>
            <a:prstGeom prst="ellipse">
              <a:avLst/>
            </a:prstGeom>
            <a:solidFill>
              <a:srgbClr val="C41E3A"/>
            </a:solidFill>
            <a:ln>
              <a:noFill/>
            </a:ln>
          </p:spPr>
        </p:sp>
        <p:sp>
          <p:nvSpPr>
            <p:cNvPr id="45" name="TextBox 45"/>
            <p:cNvSpPr txBox="1"/>
            <p:nvPr/>
          </p:nvSpPr>
          <p:spPr>
            <a:xfrm>
              <a:off x="8224838" y="4793456"/>
              <a:ext cx="1228725" cy="228600"/>
            </a:xfrm>
            <a:prstGeom prst="rect">
              <a:avLst/>
            </a:prstGeom>
            <a:noFill/>
            <a:ln>
              <a:noFill/>
            </a:ln>
          </p:spPr>
          <p:txBody>
            <a:bodyPr wrap="none" lIns="0" tIns="0" rIns="0" bIns="0" anchor="t" anchorCtr="0">
              <a:spAutoFit/>
            </a:bodyPr>
            <a:lstStyle/>
            <a:p>
              <a:pPr algn="l"/>
              <a:r>
                <a:rPr lang="zh-CN" sz="1125" dirty="0">
                  <a:solidFill>
                    <a:srgbClr val="666666"/>
                  </a:solidFill>
                  <a:latin typeface="Arial"/>
                  <a:ea typeface="Microsoft YaHei"/>
                  <a:cs typeface="Arial"/>
                </a:rPr>
                <a:t>信息整合共享处理</a:t>
              </a:r>
            </a:p>
          </p:txBody>
        </p:sp>
        <p:sp>
          <p:nvSpPr>
            <p:cNvPr id="46" name="Ellipse 46"/>
            <p:cNvSpPr/>
            <p:nvPr/>
          </p:nvSpPr>
          <p:spPr>
            <a:xfrm>
              <a:off x="8067675" y="5114925"/>
              <a:ext cx="57150" cy="57150"/>
            </a:xfrm>
            <a:prstGeom prst="ellipse">
              <a:avLst/>
            </a:prstGeom>
            <a:solidFill>
              <a:srgbClr val="C41E3A"/>
            </a:solidFill>
            <a:ln>
              <a:noFill/>
            </a:ln>
          </p:spPr>
        </p:sp>
        <p:sp>
          <p:nvSpPr>
            <p:cNvPr id="47" name="TextBox 47"/>
            <p:cNvSpPr txBox="1"/>
            <p:nvPr/>
          </p:nvSpPr>
          <p:spPr>
            <a:xfrm>
              <a:off x="8224838" y="5079206"/>
              <a:ext cx="1228725" cy="228600"/>
            </a:xfrm>
            <a:prstGeom prst="rect">
              <a:avLst/>
            </a:prstGeom>
            <a:noFill/>
            <a:ln>
              <a:noFill/>
            </a:ln>
          </p:spPr>
          <p:txBody>
            <a:bodyPr wrap="none" lIns="0" tIns="0" rIns="0" bIns="0" anchor="t" anchorCtr="0">
              <a:spAutoFit/>
            </a:bodyPr>
            <a:lstStyle/>
            <a:p>
              <a:pPr algn="l"/>
              <a:r>
                <a:rPr lang="zh-CN" sz="1125" dirty="0">
                  <a:solidFill>
                    <a:srgbClr val="666666"/>
                  </a:solidFill>
                  <a:latin typeface="Arial"/>
                  <a:ea typeface="Microsoft YaHei"/>
                  <a:cs typeface="Arial"/>
                </a:rPr>
                <a:t>群体智能协同作业</a:t>
              </a:r>
            </a:p>
          </p:txBody>
        </p:sp>
        <p:sp>
          <p:nvSpPr>
            <p:cNvPr id="48" name="Ellipse 48"/>
            <p:cNvSpPr/>
            <p:nvPr/>
          </p:nvSpPr>
          <p:spPr>
            <a:xfrm>
              <a:off x="8067675" y="5400675"/>
              <a:ext cx="57150" cy="57150"/>
            </a:xfrm>
            <a:prstGeom prst="ellipse">
              <a:avLst/>
            </a:prstGeom>
            <a:solidFill>
              <a:srgbClr val="C41E3A"/>
            </a:solidFill>
            <a:ln>
              <a:noFill/>
            </a:ln>
          </p:spPr>
        </p:sp>
        <p:sp>
          <p:nvSpPr>
            <p:cNvPr id="49" name="TextBox 49"/>
            <p:cNvSpPr txBox="1"/>
            <p:nvPr/>
          </p:nvSpPr>
          <p:spPr>
            <a:xfrm>
              <a:off x="8224838" y="5364956"/>
              <a:ext cx="1528762" cy="228600"/>
            </a:xfrm>
            <a:prstGeom prst="rect">
              <a:avLst/>
            </a:prstGeom>
            <a:noFill/>
            <a:ln>
              <a:noFill/>
            </a:ln>
          </p:spPr>
          <p:txBody>
            <a:bodyPr wrap="none" lIns="0" tIns="0" rIns="0" bIns="0" anchor="t" anchorCtr="0">
              <a:spAutoFit/>
            </a:bodyPr>
            <a:lstStyle/>
            <a:p>
              <a:pPr algn="l"/>
              <a:r>
                <a:rPr lang="zh-CN" sz="1125" dirty="0">
                  <a:solidFill>
                    <a:srgbClr val="666666"/>
                  </a:solidFill>
                  <a:latin typeface="Arial"/>
                  <a:ea typeface="Microsoft YaHei"/>
                  <a:cs typeface="Arial"/>
                </a:rPr>
                <a:t>鲁棒性与效率大幅提升</a:t>
              </a:r>
            </a:p>
          </p:txBody>
        </p:sp>
      </p:grpSp>
      <p:grpSp>
        <p:nvGrpSpPr>
          <p:cNvPr id="54" name="Group 54"/>
          <p:cNvGrpSpPr/>
          <p:nvPr/>
        </p:nvGrpSpPr>
        <p:grpSpPr>
          <a:xfrm>
            <a:off x="0" y="6578441"/>
            <a:ext cx="12192000" cy="279559"/>
            <a:chOff x="0" y="6578441"/>
            <a:chExt cx="12192000" cy="279559"/>
          </a:xfrm>
        </p:grpSpPr>
        <p:sp>
          <p:nvSpPr>
            <p:cNvPr id="51" name="Rectangle 51"/>
            <p:cNvSpPr/>
            <p:nvPr/>
          </p:nvSpPr>
          <p:spPr>
            <a:xfrm>
              <a:off x="0" y="6819900"/>
              <a:ext cx="12192000" cy="38100"/>
            </a:xfrm>
            <a:prstGeom prst="rect">
              <a:avLst/>
            </a:prstGeom>
            <a:solidFill>
              <a:srgbClr val="D4C5C5"/>
            </a:solidFill>
            <a:ln>
              <a:noFill/>
            </a:ln>
          </p:spPr>
        </p:sp>
        <p:sp>
          <p:nvSpPr>
            <p:cNvPr id="52" name="TextBox 52"/>
            <p:cNvSpPr txBox="1"/>
            <p:nvPr/>
          </p:nvSpPr>
          <p:spPr>
            <a:xfrm>
              <a:off x="11268980" y="6578441"/>
              <a:ext cx="361998" cy="167640"/>
            </a:xfrm>
            <a:prstGeom prst="rect">
              <a:avLst/>
            </a:prstGeom>
            <a:noFill/>
            <a:ln>
              <a:noFill/>
            </a:ln>
          </p:spPr>
          <p:txBody>
            <a:bodyPr wrap="none" lIns="0" tIns="0" rIns="0" bIns="0" anchor="t" anchorCtr="0">
              <a:spAutoFit/>
            </a:bodyPr>
            <a:lstStyle/>
            <a:p>
              <a:pPr algn="r"/>
              <a:r>
                <a:rPr lang="zh-CN" sz="825" dirty="0">
                  <a:solidFill>
                    <a:srgbClr val="999999"/>
                  </a:solidFill>
                  <a:latin typeface="Arial"/>
                  <a:ea typeface="Microsoft YaHei"/>
                  <a:cs typeface="Arial"/>
                </a:rPr>
                <a:t>03 / 16</a:t>
              </a:r>
            </a:p>
          </p:txBody>
        </p:sp>
        <p:sp>
          <p:nvSpPr>
            <p:cNvPr id="53" name="TextBox 53"/>
            <p:cNvSpPr txBox="1"/>
            <p:nvPr/>
          </p:nvSpPr>
          <p:spPr>
            <a:xfrm>
              <a:off x="561022" y="6578441"/>
              <a:ext cx="1814179" cy="167640"/>
            </a:xfrm>
            <a:prstGeom prst="rect">
              <a:avLst/>
            </a:prstGeom>
            <a:noFill/>
            <a:ln>
              <a:noFill/>
            </a:ln>
          </p:spPr>
          <p:txBody>
            <a:bodyPr wrap="none" lIns="0" tIns="0" rIns="0" bIns="0" anchor="t" anchorCtr="0">
              <a:spAutoFit/>
            </a:bodyPr>
            <a:lstStyle/>
            <a:p>
              <a:pPr algn="l"/>
              <a:r>
                <a:rPr lang="zh-CN" sz="825" dirty="0">
                  <a:solidFill>
                    <a:srgbClr val="999999"/>
                  </a:solidFill>
                  <a:latin typeface="Arial"/>
                  <a:ea typeface="Microsoft YaHei"/>
                  <a:cs typeface="Arial"/>
                </a:rPr>
                <a:t>华中科技大学 人工智能与自动化学院</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wipe(left)">
                                      <p:cBhvr>
                                        <p:cTn id="11"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5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gradFill>
              <a:gsLst>
                <a:gs pos="0">
                  <a:srgbClr val="8B0000"/>
                </a:gs>
                <a:gs pos="100000">
                  <a:srgbClr val="C41E3A"/>
                </a:gs>
              </a:gsLst>
              <a:lin ang="0" scaled="1"/>
            </a:gradFill>
            <a:ln>
              <a:noFill/>
            </a:ln>
          </p:spPr>
        </p:sp>
      </p:grpSp>
      <p:grpSp>
        <p:nvGrpSpPr>
          <p:cNvPr id="8" name="Group 8"/>
          <p:cNvGrpSpPr/>
          <p:nvPr/>
        </p:nvGrpSpPr>
        <p:grpSpPr>
          <a:xfrm>
            <a:off x="731520" y="264795"/>
            <a:ext cx="2383156" cy="601980"/>
            <a:chOff x="731520" y="264795"/>
            <a:chExt cx="2383156" cy="601980"/>
          </a:xfrm>
        </p:grpSpPr>
        <p:sp>
          <p:nvSpPr>
            <p:cNvPr id="5" name="TextBox 5"/>
            <p:cNvSpPr txBox="1"/>
            <p:nvPr/>
          </p:nvSpPr>
          <p:spPr>
            <a:xfrm>
              <a:off x="731520" y="264795"/>
              <a:ext cx="2077212" cy="487680"/>
            </a:xfrm>
            <a:prstGeom prst="rect">
              <a:avLst/>
            </a:prstGeom>
            <a:noFill/>
            <a:ln>
              <a:noFill/>
            </a:ln>
          </p:spPr>
          <p:txBody>
            <a:bodyPr wrap="none" lIns="0" tIns="0" rIns="0" bIns="0" anchor="t" anchorCtr="0">
              <a:spAutoFit/>
            </a:bodyPr>
            <a:lstStyle/>
            <a:p>
              <a:pPr algn="l"/>
              <a:r>
                <a:rPr lang="zh-CN" sz="2400" b="1" dirty="0">
                  <a:solidFill>
                    <a:srgbClr val="8B0000"/>
                  </a:solidFill>
                  <a:latin typeface="Arial"/>
                  <a:ea typeface="Microsoft YaHei"/>
                  <a:cs typeface="Arial"/>
                </a:rPr>
                <a:t>项目研究目的</a:t>
              </a:r>
            </a:p>
          </p:txBody>
        </p:sp>
        <p:sp>
          <p:nvSpPr>
            <p:cNvPr id="6" name="TextBox 6"/>
            <p:cNvSpPr txBox="1"/>
            <p:nvPr/>
          </p:nvSpPr>
          <p:spPr>
            <a:xfrm>
              <a:off x="749618" y="637699"/>
              <a:ext cx="2365058" cy="198120"/>
            </a:xfrm>
            <a:prstGeom prst="rect">
              <a:avLst/>
            </a:prstGeom>
            <a:noFill/>
            <a:ln>
              <a:noFill/>
            </a:ln>
          </p:spPr>
          <p:txBody>
            <a:bodyPr wrap="none" lIns="0" tIns="0" rIns="0" bIns="0" anchor="t" anchorCtr="0">
              <a:spAutoFit/>
            </a:bodyPr>
            <a:lstStyle/>
            <a:p>
              <a:pPr algn="l"/>
              <a:r>
                <a:rPr lang="zh-CN" sz="975" dirty="0">
                  <a:solidFill>
                    <a:srgbClr val="999999"/>
                  </a:solidFill>
                  <a:latin typeface="Arial"/>
                  <a:ea typeface="Microsoft YaHei"/>
                  <a:cs typeface="Arial"/>
                </a:rPr>
                <a:t>构建多无人系统协同感知与规划技术架构</a:t>
              </a:r>
            </a:p>
          </p:txBody>
        </p:sp>
        <p:sp>
          <p:nvSpPr>
            <p:cNvPr id="7" name="Rectangle 7"/>
            <p:cNvSpPr/>
            <p:nvPr/>
          </p:nvSpPr>
          <p:spPr>
            <a:xfrm>
              <a:off x="762000" y="838200"/>
              <a:ext cx="476250" cy="28575"/>
            </a:xfrm>
            <a:prstGeom prst="rect">
              <a:avLst/>
            </a:prstGeom>
            <a:solidFill>
              <a:srgbClr val="C41E3A"/>
            </a:solidFill>
            <a:ln>
              <a:noFill/>
            </a:ln>
          </p:spPr>
        </p:sp>
      </p:grpSp>
      <p:grpSp>
        <p:nvGrpSpPr>
          <p:cNvPr id="21" name="Group 21"/>
          <p:cNvGrpSpPr/>
          <p:nvPr/>
        </p:nvGrpSpPr>
        <p:grpSpPr>
          <a:xfrm>
            <a:off x="762000" y="1238250"/>
            <a:ext cx="3333750" cy="4572000"/>
            <a:chOff x="762000" y="1238250"/>
            <a:chExt cx="3333750" cy="4572000"/>
          </a:xfrm>
        </p:grpSpPr>
        <p:sp>
          <p:nvSpPr>
            <p:cNvPr id="9" name="Rectangle 9"/>
            <p:cNvSpPr/>
            <p:nvPr/>
          </p:nvSpPr>
          <p:spPr>
            <a:xfrm>
              <a:off x="762000" y="1238250"/>
              <a:ext cx="3333750" cy="4572000"/>
            </a:xfrm>
            <a:prstGeom prst="roundRect">
              <a:avLst>
                <a:gd name="adj" fmla="val 2286"/>
              </a:avLst>
            </a:prstGeom>
            <a:solidFill>
              <a:srgbClr val="F8F2F2"/>
            </a:solidFill>
            <a:ln w="9525">
              <a:solidFill>
                <a:srgbClr val="D4C5C5"/>
              </a:solidFill>
            </a:ln>
          </p:spPr>
        </p:sp>
        <p:sp>
          <p:nvSpPr>
            <p:cNvPr id="10" name="Rectangle 10"/>
            <p:cNvSpPr/>
            <p:nvPr/>
          </p:nvSpPr>
          <p:spPr>
            <a:xfrm>
              <a:off x="762000" y="1238250"/>
              <a:ext cx="3333750" cy="57150"/>
            </a:xfrm>
            <a:prstGeom prst="roundRect">
              <a:avLst>
                <a:gd name="adj" fmla="val 50000"/>
              </a:avLst>
            </a:prstGeom>
            <a:gradFill>
              <a:gsLst>
                <a:gs pos="0">
                  <a:srgbClr val="8B0000"/>
                </a:gs>
                <a:gs pos="100000">
                  <a:srgbClr val="C41E3A"/>
                </a:gs>
              </a:gsLst>
              <a:lin ang="0" scaled="1"/>
            </a:gradFill>
            <a:ln>
              <a:noFill/>
            </a:ln>
          </p:spPr>
        </p:sp>
        <p:sp>
          <p:nvSpPr>
            <p:cNvPr id="11" name="Freeform 11"/>
            <p:cNvSpPr/>
            <p:nvPr/>
          </p:nvSpPr>
          <p:spPr>
            <a:xfrm>
              <a:off x="2238375" y="1809750"/>
              <a:ext cx="381000" cy="285750"/>
            </a:xfrm>
            <a:custGeom>
              <a:avLst/>
              <a:gdLst/>
              <a:ahLst/>
              <a:cxnLst/>
              <a:rect l="l" t="t" r="r" b="b"/>
              <a:pathLst>
                <a:path w="381000" h="285750">
                  <a:moveTo>
                    <a:pt x="0" y="142875"/>
                  </a:moveTo>
                  <a:lnTo>
                    <a:pt x="73329" y="54880"/>
                  </a:lnTo>
                  <a:cubicBezTo>
                    <a:pt x="102308" y="20106"/>
                    <a:pt x="145235" y="0"/>
                    <a:pt x="190500" y="0"/>
                  </a:cubicBezTo>
                  <a:cubicBezTo>
                    <a:pt x="235765" y="0"/>
                    <a:pt x="278692" y="20106"/>
                    <a:pt x="307672" y="54880"/>
                  </a:cubicBezTo>
                  <a:lnTo>
                    <a:pt x="381000" y="142875"/>
                  </a:lnTo>
                  <a:lnTo>
                    <a:pt x="307672" y="230869"/>
                  </a:lnTo>
                  <a:cubicBezTo>
                    <a:pt x="278692" y="265645"/>
                    <a:pt x="235765" y="285750"/>
                    <a:pt x="190500" y="285750"/>
                  </a:cubicBezTo>
                  <a:cubicBezTo>
                    <a:pt x="145235" y="285750"/>
                    <a:pt x="102308" y="265645"/>
                    <a:pt x="73329" y="230869"/>
                  </a:cubicBezTo>
                  <a:lnTo>
                    <a:pt x="0" y="142875"/>
                  </a:lnTo>
                  <a:close/>
                  <a:moveTo>
                    <a:pt x="190500" y="214312"/>
                  </a:moveTo>
                  <a:cubicBezTo>
                    <a:pt x="229954" y="214312"/>
                    <a:pt x="261938" y="182329"/>
                    <a:pt x="261938" y="142875"/>
                  </a:cubicBezTo>
                  <a:cubicBezTo>
                    <a:pt x="261938" y="103421"/>
                    <a:pt x="229954" y="71438"/>
                    <a:pt x="190500" y="71438"/>
                  </a:cubicBezTo>
                  <a:cubicBezTo>
                    <a:pt x="151046" y="71438"/>
                    <a:pt x="119062" y="103421"/>
                    <a:pt x="119062" y="142875"/>
                  </a:cubicBezTo>
                  <a:cubicBezTo>
                    <a:pt x="119062" y="182329"/>
                    <a:pt x="151046" y="214312"/>
                    <a:pt x="190500" y="214312"/>
                  </a:cubicBezTo>
                  <a:close/>
                </a:path>
              </a:pathLst>
            </a:custGeom>
            <a:solidFill>
              <a:srgbClr val="8B0000"/>
            </a:solidFill>
            <a:ln>
              <a:noFill/>
            </a:ln>
          </p:spPr>
        </p:sp>
        <p:sp>
          <p:nvSpPr>
            <p:cNvPr id="12" name="TextBox 12"/>
            <p:cNvSpPr txBox="1"/>
            <p:nvPr/>
          </p:nvSpPr>
          <p:spPr>
            <a:xfrm>
              <a:off x="2061377" y="2250758"/>
              <a:ext cx="734997" cy="335280"/>
            </a:xfrm>
            <a:prstGeom prst="rect">
              <a:avLst/>
            </a:prstGeom>
            <a:noFill/>
            <a:ln>
              <a:noFill/>
            </a:ln>
          </p:spPr>
          <p:txBody>
            <a:bodyPr wrap="none" lIns="0" tIns="0" rIns="0" bIns="0" anchor="t" anchorCtr="0">
              <a:spAutoFit/>
            </a:bodyPr>
            <a:lstStyle/>
            <a:p>
              <a:pPr algn="ctr"/>
              <a:r>
                <a:rPr lang="zh-CN" sz="1650" b="1" dirty="0">
                  <a:solidFill>
                    <a:srgbClr val="8B0000"/>
                  </a:solidFill>
                  <a:latin typeface="Arial"/>
                  <a:ea typeface="Microsoft YaHei"/>
                  <a:cs typeface="Arial"/>
                </a:rPr>
                <a:t>感知层</a:t>
              </a:r>
            </a:p>
          </p:txBody>
        </p:sp>
        <p:sp>
          <p:nvSpPr>
            <p:cNvPr id="13" name="TextBox 13"/>
            <p:cNvSpPr txBox="1"/>
            <p:nvPr/>
          </p:nvSpPr>
          <p:spPr>
            <a:xfrm>
              <a:off x="1964531" y="2593181"/>
              <a:ext cx="928688" cy="228600"/>
            </a:xfrm>
            <a:prstGeom prst="rect">
              <a:avLst/>
            </a:prstGeom>
            <a:noFill/>
            <a:ln>
              <a:noFill/>
            </a:ln>
          </p:spPr>
          <p:txBody>
            <a:bodyPr wrap="none" lIns="0" tIns="0" rIns="0" bIns="0" anchor="t" anchorCtr="0">
              <a:spAutoFit/>
            </a:bodyPr>
            <a:lstStyle/>
            <a:p>
              <a:pPr algn="ctr"/>
              <a:r>
                <a:rPr lang="zh-CN" sz="1125" dirty="0">
                  <a:solidFill>
                    <a:srgbClr val="666666"/>
                  </a:solidFill>
                  <a:latin typeface="Arial"/>
                  <a:ea typeface="Microsoft YaHei"/>
                  <a:cs typeface="Arial"/>
                </a:rPr>
                <a:t>协同感知融合</a:t>
              </a:r>
            </a:p>
          </p:txBody>
        </p:sp>
        <p:sp>
          <p:nvSpPr>
            <p:cNvPr id="14" name="Rectangle 14"/>
            <p:cNvSpPr/>
            <p:nvPr/>
          </p:nvSpPr>
          <p:spPr>
            <a:xfrm>
              <a:off x="1143000" y="2905125"/>
              <a:ext cx="2571750" cy="9525"/>
            </a:xfrm>
            <a:prstGeom prst="rect">
              <a:avLst/>
            </a:prstGeom>
            <a:solidFill>
              <a:srgbClr val="D4C5C5"/>
            </a:solidFill>
            <a:ln>
              <a:noFill/>
            </a:ln>
          </p:spPr>
        </p:sp>
        <p:sp>
          <p:nvSpPr>
            <p:cNvPr id="15" name="TextBox 15"/>
            <p:cNvSpPr txBox="1"/>
            <p:nvPr/>
          </p:nvSpPr>
          <p:spPr>
            <a:xfrm>
              <a:off x="1126808" y="3100864"/>
              <a:ext cx="2714834" cy="1569660"/>
            </a:xfrm>
            <a:prstGeom prst="rect">
              <a:avLst/>
            </a:prstGeom>
            <a:noFill/>
            <a:ln>
              <a:noFill/>
            </a:ln>
          </p:spPr>
          <p:txBody>
            <a:bodyPr wrap="square" lIns="0" tIns="0" rIns="0" bIns="0" anchor="t" anchorCtr="0">
              <a:spAutoFit/>
            </a:bodyPr>
            <a:lstStyle/>
            <a:p>
              <a:r>
                <a:rPr lang="zh-CN" sz="1275" dirty="0">
                  <a:solidFill>
                    <a:srgbClr val="2D2D2D"/>
                  </a:solidFill>
                  <a:latin typeface="Arial"/>
                  <a:ea typeface="Microsoft YaHei"/>
                  <a:cs typeface="Arial"/>
                </a:rPr>
                <a:t>研究多源异构传感器信息</a:t>
              </a:r>
              <a:r>
                <a:rPr lang="zh-CN" altLang="zh-CN" sz="1275" dirty="0">
                  <a:solidFill>
                    <a:srgbClr val="2D2D2D"/>
                  </a:solidFill>
                  <a:latin typeface="Arial"/>
                  <a:ea typeface="Microsoft YaHei"/>
                  <a:cs typeface="Arial"/>
                </a:rPr>
                <a:t>融合与分布式环境建模技术，打破单平台视域局限，利用群体冗余信息重构动态环境的全局真值</a:t>
              </a:r>
              <a:r>
                <a:rPr lang="zh-CN" altLang="en-US" sz="1275" dirty="0">
                  <a:solidFill>
                    <a:srgbClr val="2D2D2D"/>
                  </a:solidFill>
                  <a:latin typeface="Arial"/>
                  <a:ea typeface="Microsoft YaHei"/>
                  <a:cs typeface="Arial"/>
                </a:rPr>
                <a:t>。</a:t>
              </a:r>
              <a:endParaRPr lang="zh-CN" altLang="zh-CN" sz="1275" dirty="0">
                <a:solidFill>
                  <a:srgbClr val="2D2D2D"/>
                </a:solidFill>
                <a:latin typeface="Arial"/>
                <a:ea typeface="Microsoft YaHei"/>
                <a:cs typeface="Arial"/>
              </a:endParaRPr>
            </a:p>
            <a:p>
              <a:endParaRPr lang="zh-CN" altLang="zh-CN" sz="1275" dirty="0">
                <a:solidFill>
                  <a:srgbClr val="2D2D2D"/>
                </a:solidFill>
                <a:latin typeface="Arial"/>
                <a:ea typeface="Microsoft YaHei"/>
                <a:cs typeface="Arial"/>
              </a:endParaRPr>
            </a:p>
            <a:p>
              <a:endParaRPr lang="zh-CN" altLang="zh-CN" sz="1275" dirty="0">
                <a:solidFill>
                  <a:srgbClr val="2D2D2D"/>
                </a:solidFill>
                <a:latin typeface="Arial"/>
                <a:ea typeface="Microsoft YaHei"/>
                <a:cs typeface="Arial"/>
              </a:endParaRPr>
            </a:p>
            <a:p>
              <a:endParaRPr lang="zh-CN" altLang="zh-CN" sz="1275" dirty="0">
                <a:solidFill>
                  <a:srgbClr val="2D2D2D"/>
                </a:solidFill>
                <a:latin typeface="Arial"/>
                <a:ea typeface="Microsoft YaHei"/>
                <a:cs typeface="Arial"/>
              </a:endParaRPr>
            </a:p>
            <a:p>
              <a:pPr algn="l"/>
              <a:endParaRPr lang="zh-CN" sz="1275" dirty="0">
                <a:solidFill>
                  <a:srgbClr val="2D2D2D"/>
                </a:solidFill>
                <a:latin typeface="Arial"/>
                <a:ea typeface="Microsoft YaHei"/>
                <a:cs typeface="Arial"/>
              </a:endParaRPr>
            </a:p>
          </p:txBody>
        </p:sp>
        <p:sp>
          <p:nvSpPr>
            <p:cNvPr id="16" name="TextBox 16"/>
            <p:cNvSpPr txBox="1"/>
            <p:nvPr/>
          </p:nvSpPr>
          <p:spPr>
            <a:xfrm>
              <a:off x="1126808" y="3386614"/>
              <a:ext cx="65" cy="196208"/>
            </a:xfrm>
            <a:prstGeom prst="rect">
              <a:avLst/>
            </a:prstGeom>
            <a:noFill/>
            <a:ln>
              <a:noFill/>
            </a:ln>
          </p:spPr>
          <p:txBody>
            <a:bodyPr wrap="none" lIns="0" tIns="0" rIns="0" bIns="0" anchor="t" anchorCtr="0">
              <a:spAutoFit/>
            </a:bodyPr>
            <a:lstStyle/>
            <a:p>
              <a:pPr algn="l"/>
              <a:endParaRPr lang="zh-CN" sz="1275" dirty="0">
                <a:solidFill>
                  <a:srgbClr val="2D2D2D"/>
                </a:solidFill>
                <a:latin typeface="Arial"/>
                <a:ea typeface="Microsoft YaHei"/>
                <a:cs typeface="Arial"/>
              </a:endParaRPr>
            </a:p>
          </p:txBody>
        </p:sp>
        <p:sp>
          <p:nvSpPr>
            <p:cNvPr id="17" name="TextBox 17"/>
            <p:cNvSpPr txBox="1"/>
            <p:nvPr/>
          </p:nvSpPr>
          <p:spPr>
            <a:xfrm>
              <a:off x="1126808" y="3672364"/>
              <a:ext cx="65" cy="196208"/>
            </a:xfrm>
            <a:prstGeom prst="rect">
              <a:avLst/>
            </a:prstGeom>
            <a:noFill/>
            <a:ln>
              <a:noFill/>
            </a:ln>
          </p:spPr>
          <p:txBody>
            <a:bodyPr wrap="none" lIns="0" tIns="0" rIns="0" bIns="0" anchor="t" anchorCtr="0">
              <a:spAutoFit/>
            </a:bodyPr>
            <a:lstStyle/>
            <a:p>
              <a:pPr algn="l"/>
              <a:endParaRPr lang="zh-CN" sz="1275" dirty="0">
                <a:solidFill>
                  <a:srgbClr val="2D2D2D"/>
                </a:solidFill>
                <a:latin typeface="Arial"/>
                <a:ea typeface="Microsoft YaHei"/>
                <a:cs typeface="Arial"/>
              </a:endParaRPr>
            </a:p>
          </p:txBody>
        </p:sp>
        <p:sp>
          <p:nvSpPr>
            <p:cNvPr id="18" name="TextBox 18"/>
            <p:cNvSpPr txBox="1"/>
            <p:nvPr/>
          </p:nvSpPr>
          <p:spPr>
            <a:xfrm>
              <a:off x="1126808" y="3958114"/>
              <a:ext cx="65" cy="196208"/>
            </a:xfrm>
            <a:prstGeom prst="rect">
              <a:avLst/>
            </a:prstGeom>
            <a:noFill/>
            <a:ln>
              <a:noFill/>
            </a:ln>
          </p:spPr>
          <p:txBody>
            <a:bodyPr wrap="none" lIns="0" tIns="0" rIns="0" bIns="0" anchor="t" anchorCtr="0">
              <a:spAutoFit/>
            </a:bodyPr>
            <a:lstStyle/>
            <a:p>
              <a:pPr algn="l"/>
              <a:endParaRPr lang="zh-CN" sz="1275" dirty="0">
                <a:solidFill>
                  <a:srgbClr val="2D2D2D"/>
                </a:solidFill>
                <a:latin typeface="Arial"/>
                <a:ea typeface="Microsoft YaHei"/>
                <a:cs typeface="Arial"/>
              </a:endParaRPr>
            </a:p>
          </p:txBody>
        </p:sp>
        <p:sp>
          <p:nvSpPr>
            <p:cNvPr id="19" name="TextBox 19"/>
            <p:cNvSpPr txBox="1"/>
            <p:nvPr/>
          </p:nvSpPr>
          <p:spPr>
            <a:xfrm>
              <a:off x="1126808" y="4243864"/>
              <a:ext cx="65" cy="196208"/>
            </a:xfrm>
            <a:prstGeom prst="rect">
              <a:avLst/>
            </a:prstGeom>
            <a:noFill/>
            <a:ln>
              <a:noFill/>
            </a:ln>
          </p:spPr>
          <p:txBody>
            <a:bodyPr wrap="none" lIns="0" tIns="0" rIns="0" bIns="0" anchor="t" anchorCtr="0">
              <a:spAutoFit/>
            </a:bodyPr>
            <a:lstStyle/>
            <a:p>
              <a:pPr algn="l"/>
              <a:endParaRPr lang="zh-CN" sz="1275" dirty="0">
                <a:solidFill>
                  <a:srgbClr val="2D2D2D"/>
                </a:solidFill>
                <a:latin typeface="Arial"/>
                <a:ea typeface="Microsoft YaHei"/>
                <a:cs typeface="Arial"/>
              </a:endParaRPr>
            </a:p>
          </p:txBody>
        </p:sp>
        <p:sp>
          <p:nvSpPr>
            <p:cNvPr id="20" name="TextBox 20"/>
            <p:cNvSpPr txBox="1"/>
            <p:nvPr/>
          </p:nvSpPr>
          <p:spPr>
            <a:xfrm>
              <a:off x="1126808" y="4529614"/>
              <a:ext cx="65" cy="196208"/>
            </a:xfrm>
            <a:prstGeom prst="rect">
              <a:avLst/>
            </a:prstGeom>
            <a:noFill/>
            <a:ln>
              <a:noFill/>
            </a:ln>
          </p:spPr>
          <p:txBody>
            <a:bodyPr wrap="none" lIns="0" tIns="0" rIns="0" bIns="0" anchor="t" anchorCtr="0">
              <a:spAutoFit/>
            </a:bodyPr>
            <a:lstStyle/>
            <a:p>
              <a:pPr algn="l"/>
              <a:endParaRPr lang="zh-CN" sz="1275" dirty="0">
                <a:solidFill>
                  <a:srgbClr val="2D2D2D"/>
                </a:solidFill>
                <a:latin typeface="Arial"/>
                <a:ea typeface="Microsoft YaHei"/>
                <a:cs typeface="Arial"/>
              </a:endParaRPr>
            </a:p>
          </p:txBody>
        </p:sp>
      </p:grpSp>
      <p:grpSp>
        <p:nvGrpSpPr>
          <p:cNvPr id="38" name="Group 38"/>
          <p:cNvGrpSpPr/>
          <p:nvPr/>
        </p:nvGrpSpPr>
        <p:grpSpPr>
          <a:xfrm>
            <a:off x="4429125" y="1238250"/>
            <a:ext cx="3333750" cy="4572000"/>
            <a:chOff x="4429125" y="1238250"/>
            <a:chExt cx="3333750" cy="4572000"/>
          </a:xfrm>
        </p:grpSpPr>
        <p:sp>
          <p:nvSpPr>
            <p:cNvPr id="22" name="Rectangle 22"/>
            <p:cNvSpPr/>
            <p:nvPr/>
          </p:nvSpPr>
          <p:spPr>
            <a:xfrm>
              <a:off x="4429125" y="1238250"/>
              <a:ext cx="3333750" cy="4572000"/>
            </a:xfrm>
            <a:prstGeom prst="roundRect">
              <a:avLst>
                <a:gd name="adj" fmla="val 2286"/>
              </a:avLst>
            </a:prstGeom>
            <a:solidFill>
              <a:srgbClr val="F8F2F2"/>
            </a:solidFill>
            <a:ln w="9525">
              <a:solidFill>
                <a:srgbClr val="D4C5C5"/>
              </a:solidFill>
            </a:ln>
          </p:spPr>
        </p:sp>
        <p:sp>
          <p:nvSpPr>
            <p:cNvPr id="23" name="Rectangle 23"/>
            <p:cNvSpPr/>
            <p:nvPr/>
          </p:nvSpPr>
          <p:spPr>
            <a:xfrm>
              <a:off x="4429125" y="1238250"/>
              <a:ext cx="3333750" cy="57150"/>
            </a:xfrm>
            <a:prstGeom prst="roundRect">
              <a:avLst>
                <a:gd name="adj" fmla="val 50000"/>
              </a:avLst>
            </a:prstGeom>
            <a:gradFill>
              <a:gsLst>
                <a:gs pos="0">
                  <a:srgbClr val="8B0000"/>
                </a:gs>
                <a:gs pos="100000">
                  <a:srgbClr val="C41E3A"/>
                </a:gs>
              </a:gsLst>
              <a:lin ang="0" scaled="1"/>
            </a:gradFill>
            <a:ln>
              <a:noFill/>
            </a:ln>
          </p:spPr>
        </p:sp>
        <p:grpSp>
          <p:nvGrpSpPr>
            <p:cNvPr id="27" name="Group 27"/>
            <p:cNvGrpSpPr/>
            <p:nvPr/>
          </p:nvGrpSpPr>
          <p:grpSpPr>
            <a:xfrm>
              <a:off x="5905500" y="1785938"/>
              <a:ext cx="381000" cy="333375"/>
              <a:chOff x="5905500" y="1785938"/>
              <a:chExt cx="381000" cy="333375"/>
            </a:xfrm>
          </p:grpSpPr>
          <p:sp>
            <p:nvSpPr>
              <p:cNvPr id="24" name="Freeform 24"/>
              <p:cNvSpPr/>
              <p:nvPr/>
            </p:nvSpPr>
            <p:spPr>
              <a:xfrm>
                <a:off x="5905500" y="1785938"/>
                <a:ext cx="95250" cy="333375"/>
              </a:xfrm>
              <a:custGeom>
                <a:avLst/>
                <a:gdLst/>
                <a:ahLst/>
                <a:cxnLst/>
                <a:rect l="l" t="t" r="r" b="b"/>
                <a:pathLst>
                  <a:path w="95250" h="333375">
                    <a:moveTo>
                      <a:pt x="95250" y="23812"/>
                    </a:moveTo>
                    <a:lnTo>
                      <a:pt x="0" y="0"/>
                    </a:lnTo>
                    <a:lnTo>
                      <a:pt x="0" y="309562"/>
                    </a:lnTo>
                    <a:lnTo>
                      <a:pt x="95250" y="333375"/>
                    </a:lnTo>
                    <a:lnTo>
                      <a:pt x="95250" y="23812"/>
                    </a:lnTo>
                    <a:close/>
                  </a:path>
                </a:pathLst>
              </a:custGeom>
              <a:solidFill>
                <a:srgbClr val="8B0000"/>
              </a:solidFill>
              <a:ln>
                <a:noFill/>
              </a:ln>
            </p:spPr>
          </p:sp>
          <p:sp>
            <p:nvSpPr>
              <p:cNvPr id="25" name="Freeform 25"/>
              <p:cNvSpPr/>
              <p:nvPr/>
            </p:nvSpPr>
            <p:spPr>
              <a:xfrm>
                <a:off x="6191250" y="1785938"/>
                <a:ext cx="95250" cy="333375"/>
              </a:xfrm>
              <a:custGeom>
                <a:avLst/>
                <a:gdLst/>
                <a:ahLst/>
                <a:cxnLst/>
                <a:rect l="l" t="t" r="r" b="b"/>
                <a:pathLst>
                  <a:path w="95250" h="333375">
                    <a:moveTo>
                      <a:pt x="95250" y="23812"/>
                    </a:moveTo>
                    <a:lnTo>
                      <a:pt x="0" y="0"/>
                    </a:lnTo>
                    <a:lnTo>
                      <a:pt x="0" y="309562"/>
                    </a:lnTo>
                    <a:lnTo>
                      <a:pt x="95250" y="333375"/>
                    </a:lnTo>
                    <a:lnTo>
                      <a:pt x="95250" y="23812"/>
                    </a:lnTo>
                    <a:close/>
                  </a:path>
                </a:pathLst>
              </a:custGeom>
              <a:solidFill>
                <a:srgbClr val="8B0000"/>
              </a:solidFill>
              <a:ln>
                <a:noFill/>
              </a:ln>
            </p:spPr>
          </p:sp>
          <p:sp>
            <p:nvSpPr>
              <p:cNvPr id="26" name="Freeform 26"/>
              <p:cNvSpPr/>
              <p:nvPr/>
            </p:nvSpPr>
            <p:spPr>
              <a:xfrm>
                <a:off x="6048375" y="1785938"/>
                <a:ext cx="95250" cy="333375"/>
              </a:xfrm>
              <a:custGeom>
                <a:avLst/>
                <a:gdLst/>
                <a:ahLst/>
                <a:cxnLst/>
                <a:rect l="l" t="t" r="r" b="b"/>
                <a:pathLst>
                  <a:path w="95250" h="333375">
                    <a:moveTo>
                      <a:pt x="95250" y="0"/>
                    </a:moveTo>
                    <a:lnTo>
                      <a:pt x="0" y="23812"/>
                    </a:lnTo>
                    <a:lnTo>
                      <a:pt x="0" y="333375"/>
                    </a:lnTo>
                    <a:lnTo>
                      <a:pt x="95250" y="309562"/>
                    </a:lnTo>
                    <a:lnTo>
                      <a:pt x="95250" y="0"/>
                    </a:lnTo>
                    <a:close/>
                  </a:path>
                </a:pathLst>
              </a:custGeom>
              <a:solidFill>
                <a:srgbClr val="8B0000"/>
              </a:solidFill>
              <a:ln>
                <a:noFill/>
              </a:ln>
            </p:spPr>
          </p:sp>
        </p:grpSp>
        <p:sp>
          <p:nvSpPr>
            <p:cNvPr id="28" name="TextBox 28"/>
            <p:cNvSpPr txBox="1"/>
            <p:nvPr/>
          </p:nvSpPr>
          <p:spPr>
            <a:xfrm>
              <a:off x="5728502" y="2250758"/>
              <a:ext cx="734997" cy="335280"/>
            </a:xfrm>
            <a:prstGeom prst="rect">
              <a:avLst/>
            </a:prstGeom>
            <a:noFill/>
            <a:ln>
              <a:noFill/>
            </a:ln>
          </p:spPr>
          <p:txBody>
            <a:bodyPr wrap="none" lIns="0" tIns="0" rIns="0" bIns="0" anchor="t" anchorCtr="0">
              <a:spAutoFit/>
            </a:bodyPr>
            <a:lstStyle/>
            <a:p>
              <a:pPr algn="ctr"/>
              <a:r>
                <a:rPr lang="zh-CN" sz="1650" b="1" dirty="0">
                  <a:solidFill>
                    <a:srgbClr val="8B0000"/>
                  </a:solidFill>
                  <a:latin typeface="Arial"/>
                  <a:ea typeface="Microsoft YaHei"/>
                  <a:cs typeface="Arial"/>
                </a:rPr>
                <a:t>决策层</a:t>
              </a:r>
            </a:p>
          </p:txBody>
        </p:sp>
        <p:sp>
          <p:nvSpPr>
            <p:cNvPr id="29" name="TextBox 29"/>
            <p:cNvSpPr txBox="1"/>
            <p:nvPr/>
          </p:nvSpPr>
          <p:spPr>
            <a:xfrm>
              <a:off x="5556647" y="2593181"/>
              <a:ext cx="1078706" cy="228600"/>
            </a:xfrm>
            <a:prstGeom prst="rect">
              <a:avLst/>
            </a:prstGeom>
            <a:noFill/>
            <a:ln>
              <a:noFill/>
            </a:ln>
          </p:spPr>
          <p:txBody>
            <a:bodyPr wrap="none" lIns="0" tIns="0" rIns="0" bIns="0" anchor="t" anchorCtr="0">
              <a:spAutoFit/>
            </a:bodyPr>
            <a:lstStyle/>
            <a:p>
              <a:pPr algn="ctr"/>
              <a:r>
                <a:rPr lang="zh-CN" sz="1125" dirty="0">
                  <a:solidFill>
                    <a:srgbClr val="666666"/>
                  </a:solidFill>
                  <a:latin typeface="Arial"/>
                  <a:ea typeface="Microsoft YaHei"/>
                  <a:cs typeface="Arial"/>
                </a:rPr>
                <a:t>分布式协同规划</a:t>
              </a:r>
            </a:p>
          </p:txBody>
        </p:sp>
        <p:sp>
          <p:nvSpPr>
            <p:cNvPr id="30" name="Rectangle 30"/>
            <p:cNvSpPr/>
            <p:nvPr/>
          </p:nvSpPr>
          <p:spPr>
            <a:xfrm>
              <a:off x="4810125" y="2905125"/>
              <a:ext cx="2571750" cy="9525"/>
            </a:xfrm>
            <a:prstGeom prst="rect">
              <a:avLst/>
            </a:prstGeom>
            <a:solidFill>
              <a:srgbClr val="D4C5C5"/>
            </a:solidFill>
            <a:ln>
              <a:noFill/>
            </a:ln>
          </p:spPr>
        </p:sp>
        <p:sp>
          <p:nvSpPr>
            <p:cNvPr id="31" name="TextBox 31"/>
            <p:cNvSpPr txBox="1"/>
            <p:nvPr/>
          </p:nvSpPr>
          <p:spPr>
            <a:xfrm>
              <a:off x="4793932" y="3100864"/>
              <a:ext cx="2447784" cy="1962076"/>
            </a:xfrm>
            <a:prstGeom prst="rect">
              <a:avLst/>
            </a:prstGeom>
            <a:noFill/>
            <a:ln>
              <a:noFill/>
            </a:ln>
          </p:spPr>
          <p:txBody>
            <a:bodyPr wrap="square" lIns="0" tIns="0" rIns="0" bIns="0" anchor="t" anchorCtr="0">
              <a:spAutoFit/>
            </a:bodyPr>
            <a:lstStyle/>
            <a:p>
              <a:r>
                <a:rPr lang="zh-CN" sz="1275" dirty="0">
                  <a:solidFill>
                    <a:srgbClr val="2D2D2D"/>
                  </a:solidFill>
                  <a:latin typeface="Arial"/>
                  <a:ea typeface="Microsoft YaHei"/>
                  <a:cs typeface="Arial"/>
                </a:rPr>
                <a:t>建立基于共享感知信息</a:t>
              </a:r>
              <a:r>
                <a:rPr lang="zh-CN" altLang="zh-CN" sz="1275" dirty="0">
                  <a:solidFill>
                    <a:srgbClr val="2D2D2D"/>
                  </a:solidFill>
                  <a:latin typeface="Arial"/>
                  <a:ea typeface="Microsoft YaHei"/>
                  <a:cs typeface="Arial"/>
                </a:rPr>
                <a:t>的分布式协同规划算法，在无需中心算力过度</a:t>
              </a:r>
            </a:p>
            <a:p>
              <a:r>
                <a:rPr lang="zh-CN" altLang="zh-CN" sz="1275" dirty="0">
                  <a:solidFill>
                    <a:srgbClr val="2D2D2D"/>
                  </a:solidFill>
                  <a:latin typeface="Arial"/>
                  <a:ea typeface="Microsoft YaHei"/>
                  <a:cs typeface="Arial"/>
                </a:rPr>
                <a:t>干预的情况下，实现多智能体任务分配、路径规划与协同控制的自适应耦合</a:t>
              </a:r>
              <a:r>
                <a:rPr lang="zh-CN" altLang="en-US" sz="1275" dirty="0">
                  <a:solidFill>
                    <a:srgbClr val="2D2D2D"/>
                  </a:solidFill>
                  <a:latin typeface="Arial"/>
                  <a:ea typeface="Microsoft YaHei"/>
                  <a:cs typeface="Arial"/>
                </a:rPr>
                <a:t>。</a:t>
              </a:r>
              <a:endParaRPr lang="zh-CN" altLang="zh-CN" sz="1275" dirty="0">
                <a:solidFill>
                  <a:srgbClr val="2D2D2D"/>
                </a:solidFill>
                <a:latin typeface="Arial"/>
                <a:ea typeface="Microsoft YaHei"/>
                <a:cs typeface="Arial"/>
              </a:endParaRPr>
            </a:p>
            <a:p>
              <a:endParaRPr lang="zh-CN" altLang="zh-CN" sz="1275" dirty="0">
                <a:solidFill>
                  <a:srgbClr val="2D2D2D"/>
                </a:solidFill>
                <a:latin typeface="Arial"/>
                <a:ea typeface="Microsoft YaHei"/>
                <a:cs typeface="Arial"/>
              </a:endParaRPr>
            </a:p>
            <a:p>
              <a:endParaRPr lang="zh-CN" altLang="zh-CN" sz="1275" dirty="0">
                <a:solidFill>
                  <a:srgbClr val="2D2D2D"/>
                </a:solidFill>
                <a:latin typeface="Arial"/>
                <a:ea typeface="Microsoft YaHei"/>
                <a:cs typeface="Arial"/>
              </a:endParaRPr>
            </a:p>
            <a:p>
              <a:endParaRPr lang="zh-CN" altLang="zh-CN" sz="1275" dirty="0">
                <a:solidFill>
                  <a:srgbClr val="2D2D2D"/>
                </a:solidFill>
                <a:latin typeface="Arial"/>
                <a:ea typeface="Microsoft YaHei"/>
                <a:cs typeface="Arial"/>
              </a:endParaRPr>
            </a:p>
            <a:p>
              <a:endParaRPr lang="zh-CN" altLang="zh-CN" sz="1275" dirty="0">
                <a:solidFill>
                  <a:srgbClr val="2D2D2D"/>
                </a:solidFill>
                <a:latin typeface="Arial"/>
                <a:ea typeface="Microsoft YaHei"/>
                <a:cs typeface="Arial"/>
              </a:endParaRPr>
            </a:p>
            <a:p>
              <a:pPr algn="l"/>
              <a:endParaRPr lang="zh-CN" sz="1275" dirty="0">
                <a:solidFill>
                  <a:srgbClr val="2D2D2D"/>
                </a:solidFill>
                <a:latin typeface="Arial"/>
                <a:ea typeface="Microsoft YaHei"/>
                <a:cs typeface="Arial"/>
              </a:endParaRPr>
            </a:p>
          </p:txBody>
        </p:sp>
        <p:sp>
          <p:nvSpPr>
            <p:cNvPr id="32" name="TextBox 32"/>
            <p:cNvSpPr txBox="1"/>
            <p:nvPr/>
          </p:nvSpPr>
          <p:spPr>
            <a:xfrm>
              <a:off x="4793932" y="3386614"/>
              <a:ext cx="65" cy="196208"/>
            </a:xfrm>
            <a:prstGeom prst="rect">
              <a:avLst/>
            </a:prstGeom>
            <a:noFill/>
            <a:ln>
              <a:noFill/>
            </a:ln>
          </p:spPr>
          <p:txBody>
            <a:bodyPr wrap="none" lIns="0" tIns="0" rIns="0" bIns="0" anchor="t" anchorCtr="0">
              <a:spAutoFit/>
            </a:bodyPr>
            <a:lstStyle/>
            <a:p>
              <a:pPr algn="l"/>
              <a:endParaRPr lang="zh-CN" sz="1275" dirty="0">
                <a:solidFill>
                  <a:srgbClr val="2D2D2D"/>
                </a:solidFill>
                <a:latin typeface="Arial"/>
                <a:ea typeface="Microsoft YaHei"/>
                <a:cs typeface="Arial"/>
              </a:endParaRPr>
            </a:p>
          </p:txBody>
        </p:sp>
        <p:sp>
          <p:nvSpPr>
            <p:cNvPr id="33" name="TextBox 33"/>
            <p:cNvSpPr txBox="1"/>
            <p:nvPr/>
          </p:nvSpPr>
          <p:spPr>
            <a:xfrm>
              <a:off x="4793932" y="3672364"/>
              <a:ext cx="65" cy="196208"/>
            </a:xfrm>
            <a:prstGeom prst="rect">
              <a:avLst/>
            </a:prstGeom>
            <a:noFill/>
            <a:ln>
              <a:noFill/>
            </a:ln>
          </p:spPr>
          <p:txBody>
            <a:bodyPr wrap="none" lIns="0" tIns="0" rIns="0" bIns="0" anchor="t" anchorCtr="0">
              <a:spAutoFit/>
            </a:bodyPr>
            <a:lstStyle/>
            <a:p>
              <a:pPr algn="l"/>
              <a:endParaRPr lang="zh-CN" sz="1275" dirty="0">
                <a:solidFill>
                  <a:srgbClr val="2D2D2D"/>
                </a:solidFill>
                <a:latin typeface="Arial"/>
                <a:ea typeface="Microsoft YaHei"/>
                <a:cs typeface="Arial"/>
              </a:endParaRPr>
            </a:p>
          </p:txBody>
        </p:sp>
        <p:sp>
          <p:nvSpPr>
            <p:cNvPr id="34" name="TextBox 34"/>
            <p:cNvSpPr txBox="1"/>
            <p:nvPr/>
          </p:nvSpPr>
          <p:spPr>
            <a:xfrm>
              <a:off x="4793932" y="3958114"/>
              <a:ext cx="65" cy="196208"/>
            </a:xfrm>
            <a:prstGeom prst="rect">
              <a:avLst/>
            </a:prstGeom>
            <a:noFill/>
            <a:ln>
              <a:noFill/>
            </a:ln>
          </p:spPr>
          <p:txBody>
            <a:bodyPr wrap="none" lIns="0" tIns="0" rIns="0" bIns="0" anchor="t" anchorCtr="0">
              <a:spAutoFit/>
            </a:bodyPr>
            <a:lstStyle/>
            <a:p>
              <a:pPr algn="l"/>
              <a:endParaRPr lang="zh-CN" sz="1275" dirty="0">
                <a:solidFill>
                  <a:srgbClr val="2D2D2D"/>
                </a:solidFill>
                <a:latin typeface="Arial"/>
                <a:ea typeface="Microsoft YaHei"/>
                <a:cs typeface="Arial"/>
              </a:endParaRPr>
            </a:p>
          </p:txBody>
        </p:sp>
        <p:sp>
          <p:nvSpPr>
            <p:cNvPr id="35" name="TextBox 35"/>
            <p:cNvSpPr txBox="1"/>
            <p:nvPr/>
          </p:nvSpPr>
          <p:spPr>
            <a:xfrm>
              <a:off x="4793932" y="4243864"/>
              <a:ext cx="65" cy="196208"/>
            </a:xfrm>
            <a:prstGeom prst="rect">
              <a:avLst/>
            </a:prstGeom>
            <a:noFill/>
            <a:ln>
              <a:noFill/>
            </a:ln>
          </p:spPr>
          <p:txBody>
            <a:bodyPr wrap="none" lIns="0" tIns="0" rIns="0" bIns="0" anchor="t" anchorCtr="0">
              <a:spAutoFit/>
            </a:bodyPr>
            <a:lstStyle/>
            <a:p>
              <a:pPr algn="l"/>
              <a:endParaRPr lang="zh-CN" sz="1275" dirty="0">
                <a:solidFill>
                  <a:srgbClr val="2D2D2D"/>
                </a:solidFill>
                <a:latin typeface="Arial"/>
                <a:ea typeface="Microsoft YaHei"/>
                <a:cs typeface="Arial"/>
              </a:endParaRPr>
            </a:p>
          </p:txBody>
        </p:sp>
        <p:sp>
          <p:nvSpPr>
            <p:cNvPr id="36" name="TextBox 36"/>
            <p:cNvSpPr txBox="1"/>
            <p:nvPr/>
          </p:nvSpPr>
          <p:spPr>
            <a:xfrm>
              <a:off x="4793932" y="4529614"/>
              <a:ext cx="65" cy="196208"/>
            </a:xfrm>
            <a:prstGeom prst="rect">
              <a:avLst/>
            </a:prstGeom>
            <a:noFill/>
            <a:ln>
              <a:noFill/>
            </a:ln>
          </p:spPr>
          <p:txBody>
            <a:bodyPr wrap="none" lIns="0" tIns="0" rIns="0" bIns="0" anchor="t" anchorCtr="0">
              <a:spAutoFit/>
            </a:bodyPr>
            <a:lstStyle/>
            <a:p>
              <a:pPr algn="l"/>
              <a:endParaRPr lang="zh-CN" sz="1275" dirty="0">
                <a:solidFill>
                  <a:srgbClr val="2D2D2D"/>
                </a:solidFill>
                <a:latin typeface="Arial"/>
                <a:ea typeface="Microsoft YaHei"/>
                <a:cs typeface="Arial"/>
              </a:endParaRPr>
            </a:p>
          </p:txBody>
        </p:sp>
        <p:sp>
          <p:nvSpPr>
            <p:cNvPr id="37" name="TextBox 37"/>
            <p:cNvSpPr txBox="1"/>
            <p:nvPr/>
          </p:nvSpPr>
          <p:spPr>
            <a:xfrm>
              <a:off x="4793932" y="4815364"/>
              <a:ext cx="65" cy="196208"/>
            </a:xfrm>
            <a:prstGeom prst="rect">
              <a:avLst/>
            </a:prstGeom>
            <a:noFill/>
            <a:ln>
              <a:noFill/>
            </a:ln>
          </p:spPr>
          <p:txBody>
            <a:bodyPr wrap="none" lIns="0" tIns="0" rIns="0" bIns="0" anchor="t" anchorCtr="0">
              <a:spAutoFit/>
            </a:bodyPr>
            <a:lstStyle/>
            <a:p>
              <a:pPr algn="l"/>
              <a:endParaRPr lang="zh-CN" sz="1275" dirty="0">
                <a:solidFill>
                  <a:srgbClr val="2D2D2D"/>
                </a:solidFill>
                <a:latin typeface="Arial"/>
                <a:ea typeface="Microsoft YaHei"/>
                <a:cs typeface="Arial"/>
              </a:endParaRPr>
            </a:p>
          </p:txBody>
        </p:sp>
      </p:grpSp>
      <p:grpSp>
        <p:nvGrpSpPr>
          <p:cNvPr id="52" name="Group 52"/>
          <p:cNvGrpSpPr/>
          <p:nvPr/>
        </p:nvGrpSpPr>
        <p:grpSpPr>
          <a:xfrm>
            <a:off x="8096250" y="1238250"/>
            <a:ext cx="3333750" cy="4572000"/>
            <a:chOff x="8096250" y="1238250"/>
            <a:chExt cx="3333750" cy="4572000"/>
          </a:xfrm>
        </p:grpSpPr>
        <p:sp>
          <p:nvSpPr>
            <p:cNvPr id="39" name="Rectangle 39"/>
            <p:cNvSpPr/>
            <p:nvPr/>
          </p:nvSpPr>
          <p:spPr>
            <a:xfrm>
              <a:off x="8096250" y="1238250"/>
              <a:ext cx="3333750" cy="4572000"/>
            </a:xfrm>
            <a:prstGeom prst="roundRect">
              <a:avLst>
                <a:gd name="adj" fmla="val 2286"/>
              </a:avLst>
            </a:prstGeom>
            <a:solidFill>
              <a:srgbClr val="F8F2F2"/>
            </a:solidFill>
            <a:ln w="9525">
              <a:solidFill>
                <a:srgbClr val="D4C5C5"/>
              </a:solidFill>
            </a:ln>
          </p:spPr>
        </p:sp>
        <p:sp>
          <p:nvSpPr>
            <p:cNvPr id="40" name="Rectangle 40"/>
            <p:cNvSpPr/>
            <p:nvPr/>
          </p:nvSpPr>
          <p:spPr>
            <a:xfrm>
              <a:off x="8096250" y="1238250"/>
              <a:ext cx="3333750" cy="57150"/>
            </a:xfrm>
            <a:prstGeom prst="roundRect">
              <a:avLst>
                <a:gd name="adj" fmla="val 50000"/>
              </a:avLst>
            </a:prstGeom>
            <a:gradFill>
              <a:gsLst>
                <a:gs pos="0">
                  <a:srgbClr val="8B0000"/>
                </a:gs>
                <a:gs pos="100000">
                  <a:srgbClr val="C41E3A"/>
                </a:gs>
              </a:gsLst>
              <a:lin ang="0" scaled="1"/>
            </a:gradFill>
            <a:ln>
              <a:noFill/>
            </a:ln>
          </p:spPr>
        </p:sp>
        <p:sp>
          <p:nvSpPr>
            <p:cNvPr id="41" name="Freeform 41"/>
            <p:cNvSpPr/>
            <p:nvPr/>
          </p:nvSpPr>
          <p:spPr>
            <a:xfrm>
              <a:off x="9572625" y="1762125"/>
              <a:ext cx="381000" cy="381000"/>
            </a:xfrm>
            <a:custGeom>
              <a:avLst/>
              <a:gdLst/>
              <a:ahLst/>
              <a:cxnLst/>
              <a:rect l="l" t="t" r="r" b="b"/>
              <a:pathLst>
                <a:path w="381000" h="381000">
                  <a:moveTo>
                    <a:pt x="190500" y="381000"/>
                  </a:moveTo>
                  <a:cubicBezTo>
                    <a:pt x="295711" y="381000"/>
                    <a:pt x="381000" y="295711"/>
                    <a:pt x="381000" y="190500"/>
                  </a:cubicBezTo>
                  <a:cubicBezTo>
                    <a:pt x="381000" y="85290"/>
                    <a:pt x="295711" y="0"/>
                    <a:pt x="190500" y="0"/>
                  </a:cubicBezTo>
                  <a:cubicBezTo>
                    <a:pt x="85290" y="0"/>
                    <a:pt x="0" y="85290"/>
                    <a:pt x="0" y="190500"/>
                  </a:cubicBezTo>
                  <a:cubicBezTo>
                    <a:pt x="0" y="295711"/>
                    <a:pt x="85290" y="381000"/>
                    <a:pt x="190500" y="381000"/>
                  </a:cubicBezTo>
                  <a:close/>
                  <a:moveTo>
                    <a:pt x="302588" y="135901"/>
                  </a:moveTo>
                  <a:lnTo>
                    <a:pt x="268912" y="102224"/>
                  </a:lnTo>
                  <a:lnTo>
                    <a:pt x="154781" y="216355"/>
                  </a:lnTo>
                  <a:lnTo>
                    <a:pt x="112088" y="173662"/>
                  </a:lnTo>
                  <a:lnTo>
                    <a:pt x="78412" y="207338"/>
                  </a:lnTo>
                  <a:lnTo>
                    <a:pt x="154781" y="283707"/>
                  </a:lnTo>
                  <a:lnTo>
                    <a:pt x="302588" y="135901"/>
                  </a:lnTo>
                  <a:close/>
                </a:path>
              </a:pathLst>
            </a:custGeom>
            <a:solidFill>
              <a:srgbClr val="8B0000"/>
            </a:solidFill>
            <a:ln>
              <a:noFill/>
            </a:ln>
          </p:spPr>
        </p:sp>
        <p:sp>
          <p:nvSpPr>
            <p:cNvPr id="42" name="TextBox 42"/>
            <p:cNvSpPr txBox="1"/>
            <p:nvPr/>
          </p:nvSpPr>
          <p:spPr>
            <a:xfrm>
              <a:off x="9395627" y="2250758"/>
              <a:ext cx="734997" cy="335280"/>
            </a:xfrm>
            <a:prstGeom prst="rect">
              <a:avLst/>
            </a:prstGeom>
            <a:noFill/>
            <a:ln>
              <a:noFill/>
            </a:ln>
          </p:spPr>
          <p:txBody>
            <a:bodyPr wrap="none" lIns="0" tIns="0" rIns="0" bIns="0" anchor="t" anchorCtr="0">
              <a:spAutoFit/>
            </a:bodyPr>
            <a:lstStyle/>
            <a:p>
              <a:pPr algn="ctr"/>
              <a:r>
                <a:rPr lang="zh-CN" sz="1650" b="1" dirty="0">
                  <a:solidFill>
                    <a:srgbClr val="8B0000"/>
                  </a:solidFill>
                  <a:latin typeface="Arial"/>
                  <a:ea typeface="Microsoft YaHei"/>
                  <a:cs typeface="Arial"/>
                </a:rPr>
                <a:t>验证层</a:t>
              </a:r>
            </a:p>
          </p:txBody>
        </p:sp>
        <p:sp>
          <p:nvSpPr>
            <p:cNvPr id="43" name="TextBox 43"/>
            <p:cNvSpPr txBox="1"/>
            <p:nvPr/>
          </p:nvSpPr>
          <p:spPr>
            <a:xfrm>
              <a:off x="9148762" y="2593181"/>
              <a:ext cx="1228725" cy="228600"/>
            </a:xfrm>
            <a:prstGeom prst="rect">
              <a:avLst/>
            </a:prstGeom>
            <a:noFill/>
            <a:ln>
              <a:noFill/>
            </a:ln>
          </p:spPr>
          <p:txBody>
            <a:bodyPr wrap="none" lIns="0" tIns="0" rIns="0" bIns="0" anchor="t" anchorCtr="0">
              <a:spAutoFit/>
            </a:bodyPr>
            <a:lstStyle/>
            <a:p>
              <a:pPr algn="ctr"/>
              <a:r>
                <a:rPr lang="zh-CN" sz="1125" dirty="0">
                  <a:solidFill>
                    <a:srgbClr val="666666"/>
                  </a:solidFill>
                  <a:latin typeface="Arial"/>
                  <a:ea typeface="Microsoft YaHei"/>
                  <a:cs typeface="Arial"/>
                </a:rPr>
                <a:t>虚实结合实验验证</a:t>
              </a:r>
            </a:p>
          </p:txBody>
        </p:sp>
        <p:sp>
          <p:nvSpPr>
            <p:cNvPr id="44" name="Rectangle 44"/>
            <p:cNvSpPr/>
            <p:nvPr/>
          </p:nvSpPr>
          <p:spPr>
            <a:xfrm>
              <a:off x="8477250" y="2905125"/>
              <a:ext cx="2571750" cy="9525"/>
            </a:xfrm>
            <a:prstGeom prst="rect">
              <a:avLst/>
            </a:prstGeom>
            <a:solidFill>
              <a:srgbClr val="D4C5C5"/>
            </a:solidFill>
            <a:ln>
              <a:noFill/>
            </a:ln>
          </p:spPr>
        </p:sp>
        <p:sp>
          <p:nvSpPr>
            <p:cNvPr id="45" name="TextBox 45"/>
            <p:cNvSpPr txBox="1"/>
            <p:nvPr/>
          </p:nvSpPr>
          <p:spPr>
            <a:xfrm>
              <a:off x="8461057" y="3100864"/>
              <a:ext cx="2571749" cy="2158283"/>
            </a:xfrm>
            <a:prstGeom prst="rect">
              <a:avLst/>
            </a:prstGeom>
            <a:noFill/>
            <a:ln>
              <a:noFill/>
            </a:ln>
          </p:spPr>
          <p:txBody>
            <a:bodyPr wrap="square" lIns="0" tIns="0" rIns="0" bIns="0" anchor="t" anchorCtr="0">
              <a:spAutoFit/>
            </a:bodyPr>
            <a:lstStyle/>
            <a:p>
              <a:r>
                <a:rPr lang="zh-CN" sz="1275" dirty="0">
                  <a:solidFill>
                    <a:srgbClr val="2D2D2D"/>
                  </a:solidFill>
                  <a:latin typeface="Arial"/>
                  <a:ea typeface="Microsoft YaHei"/>
                  <a:cs typeface="Arial"/>
                </a:rPr>
                <a:t>搭建“虚实结合”的仿真</a:t>
              </a:r>
              <a:r>
                <a:rPr lang="zh-CN" altLang="zh-CN" sz="1275" dirty="0">
                  <a:solidFill>
                    <a:srgbClr val="2D2D2D"/>
                  </a:solidFill>
                  <a:latin typeface="Arial"/>
                  <a:ea typeface="Microsoft YaHei"/>
                  <a:cs typeface="Arial"/>
                </a:rPr>
                <a:t>与实验验证平台，在模拟灾害现场、大范围监测等典型场景中多维度测试，量化评估系统在任务覆盖效率与抗干扰性能上的表现</a:t>
              </a:r>
              <a:r>
                <a:rPr lang="zh-CN" altLang="en-US" sz="1275" dirty="0">
                  <a:solidFill>
                    <a:srgbClr val="2D2D2D"/>
                  </a:solidFill>
                  <a:latin typeface="Arial"/>
                  <a:ea typeface="Microsoft YaHei"/>
                  <a:cs typeface="Arial"/>
                </a:rPr>
                <a:t>。</a:t>
              </a:r>
              <a:endParaRPr lang="zh-CN" altLang="zh-CN" sz="1275" dirty="0">
                <a:solidFill>
                  <a:srgbClr val="2D2D2D"/>
                </a:solidFill>
                <a:latin typeface="Arial"/>
                <a:ea typeface="Microsoft YaHei"/>
                <a:cs typeface="Arial"/>
              </a:endParaRPr>
            </a:p>
            <a:p>
              <a:endParaRPr lang="zh-CN" altLang="zh-CN" sz="1275" dirty="0">
                <a:solidFill>
                  <a:srgbClr val="2D2D2D"/>
                </a:solidFill>
                <a:latin typeface="Arial"/>
                <a:ea typeface="Microsoft YaHei"/>
                <a:cs typeface="Arial"/>
              </a:endParaRPr>
            </a:p>
            <a:p>
              <a:endParaRPr lang="zh-CN" altLang="zh-CN" sz="1275" dirty="0">
                <a:solidFill>
                  <a:srgbClr val="2D2D2D"/>
                </a:solidFill>
                <a:latin typeface="Arial"/>
                <a:ea typeface="Microsoft YaHei"/>
                <a:cs typeface="Arial"/>
              </a:endParaRPr>
            </a:p>
            <a:p>
              <a:endParaRPr lang="zh-CN" altLang="zh-CN" sz="1275" dirty="0">
                <a:solidFill>
                  <a:srgbClr val="2D2D2D"/>
                </a:solidFill>
                <a:latin typeface="Arial"/>
                <a:ea typeface="Microsoft YaHei"/>
                <a:cs typeface="Arial"/>
              </a:endParaRPr>
            </a:p>
            <a:p>
              <a:endParaRPr lang="zh-CN" altLang="zh-CN" sz="1275" dirty="0">
                <a:solidFill>
                  <a:srgbClr val="2D2D2D"/>
                </a:solidFill>
                <a:latin typeface="Arial"/>
                <a:ea typeface="Microsoft YaHei"/>
                <a:cs typeface="Arial"/>
              </a:endParaRPr>
            </a:p>
            <a:p>
              <a:endParaRPr lang="zh-CN" altLang="zh-CN" sz="1275" dirty="0">
                <a:solidFill>
                  <a:srgbClr val="2D2D2D"/>
                </a:solidFill>
                <a:latin typeface="Arial"/>
                <a:ea typeface="Microsoft YaHei"/>
                <a:cs typeface="Arial"/>
              </a:endParaRPr>
            </a:p>
            <a:p>
              <a:pPr algn="l"/>
              <a:endParaRPr lang="zh-CN" sz="1275" dirty="0">
                <a:solidFill>
                  <a:srgbClr val="2D2D2D"/>
                </a:solidFill>
                <a:latin typeface="Arial"/>
                <a:ea typeface="Microsoft YaHei"/>
                <a:cs typeface="Arial"/>
              </a:endParaRPr>
            </a:p>
          </p:txBody>
        </p:sp>
        <p:sp>
          <p:nvSpPr>
            <p:cNvPr id="46" name="TextBox 46"/>
            <p:cNvSpPr txBox="1"/>
            <p:nvPr/>
          </p:nvSpPr>
          <p:spPr>
            <a:xfrm>
              <a:off x="8461058" y="3386614"/>
              <a:ext cx="65" cy="196208"/>
            </a:xfrm>
            <a:prstGeom prst="rect">
              <a:avLst/>
            </a:prstGeom>
            <a:noFill/>
            <a:ln>
              <a:noFill/>
            </a:ln>
          </p:spPr>
          <p:txBody>
            <a:bodyPr wrap="none" lIns="0" tIns="0" rIns="0" bIns="0" anchor="t" anchorCtr="0">
              <a:spAutoFit/>
            </a:bodyPr>
            <a:lstStyle/>
            <a:p>
              <a:pPr algn="l"/>
              <a:endParaRPr lang="zh-CN" sz="1275" dirty="0">
                <a:solidFill>
                  <a:srgbClr val="2D2D2D"/>
                </a:solidFill>
                <a:latin typeface="Arial"/>
                <a:ea typeface="Microsoft YaHei"/>
                <a:cs typeface="Arial"/>
              </a:endParaRPr>
            </a:p>
          </p:txBody>
        </p:sp>
        <p:sp>
          <p:nvSpPr>
            <p:cNvPr id="47" name="TextBox 47"/>
            <p:cNvSpPr txBox="1"/>
            <p:nvPr/>
          </p:nvSpPr>
          <p:spPr>
            <a:xfrm>
              <a:off x="8461058" y="3672364"/>
              <a:ext cx="65" cy="196208"/>
            </a:xfrm>
            <a:prstGeom prst="rect">
              <a:avLst/>
            </a:prstGeom>
            <a:noFill/>
            <a:ln>
              <a:noFill/>
            </a:ln>
          </p:spPr>
          <p:txBody>
            <a:bodyPr wrap="none" lIns="0" tIns="0" rIns="0" bIns="0" anchor="t" anchorCtr="0">
              <a:spAutoFit/>
            </a:bodyPr>
            <a:lstStyle/>
            <a:p>
              <a:pPr algn="l"/>
              <a:endParaRPr lang="zh-CN" sz="1275" dirty="0">
                <a:solidFill>
                  <a:srgbClr val="2D2D2D"/>
                </a:solidFill>
                <a:latin typeface="Arial"/>
                <a:ea typeface="Microsoft YaHei"/>
                <a:cs typeface="Arial"/>
              </a:endParaRPr>
            </a:p>
          </p:txBody>
        </p:sp>
        <p:sp>
          <p:nvSpPr>
            <p:cNvPr id="48" name="TextBox 48"/>
            <p:cNvSpPr txBox="1"/>
            <p:nvPr/>
          </p:nvSpPr>
          <p:spPr>
            <a:xfrm>
              <a:off x="8461058" y="3958114"/>
              <a:ext cx="65" cy="196208"/>
            </a:xfrm>
            <a:prstGeom prst="rect">
              <a:avLst/>
            </a:prstGeom>
            <a:noFill/>
            <a:ln>
              <a:noFill/>
            </a:ln>
          </p:spPr>
          <p:txBody>
            <a:bodyPr wrap="none" lIns="0" tIns="0" rIns="0" bIns="0" anchor="t" anchorCtr="0">
              <a:spAutoFit/>
            </a:bodyPr>
            <a:lstStyle/>
            <a:p>
              <a:pPr algn="l"/>
              <a:endParaRPr lang="zh-CN" sz="1275" dirty="0">
                <a:solidFill>
                  <a:srgbClr val="2D2D2D"/>
                </a:solidFill>
                <a:latin typeface="Arial"/>
                <a:ea typeface="Microsoft YaHei"/>
                <a:cs typeface="Arial"/>
              </a:endParaRPr>
            </a:p>
          </p:txBody>
        </p:sp>
        <p:sp>
          <p:nvSpPr>
            <p:cNvPr id="49" name="TextBox 49"/>
            <p:cNvSpPr txBox="1"/>
            <p:nvPr/>
          </p:nvSpPr>
          <p:spPr>
            <a:xfrm>
              <a:off x="8461058" y="4243864"/>
              <a:ext cx="65" cy="196208"/>
            </a:xfrm>
            <a:prstGeom prst="rect">
              <a:avLst/>
            </a:prstGeom>
            <a:noFill/>
            <a:ln>
              <a:noFill/>
            </a:ln>
          </p:spPr>
          <p:txBody>
            <a:bodyPr wrap="none" lIns="0" tIns="0" rIns="0" bIns="0" anchor="t" anchorCtr="0">
              <a:spAutoFit/>
            </a:bodyPr>
            <a:lstStyle/>
            <a:p>
              <a:pPr algn="l"/>
              <a:endParaRPr lang="zh-CN" sz="1275" dirty="0">
                <a:solidFill>
                  <a:srgbClr val="2D2D2D"/>
                </a:solidFill>
                <a:latin typeface="Arial"/>
                <a:ea typeface="Microsoft YaHei"/>
                <a:cs typeface="Arial"/>
              </a:endParaRPr>
            </a:p>
          </p:txBody>
        </p:sp>
        <p:sp>
          <p:nvSpPr>
            <p:cNvPr id="50" name="TextBox 50"/>
            <p:cNvSpPr txBox="1"/>
            <p:nvPr/>
          </p:nvSpPr>
          <p:spPr>
            <a:xfrm>
              <a:off x="8461058" y="4529614"/>
              <a:ext cx="65" cy="196208"/>
            </a:xfrm>
            <a:prstGeom prst="rect">
              <a:avLst/>
            </a:prstGeom>
            <a:noFill/>
            <a:ln>
              <a:noFill/>
            </a:ln>
          </p:spPr>
          <p:txBody>
            <a:bodyPr wrap="none" lIns="0" tIns="0" rIns="0" bIns="0" anchor="t" anchorCtr="0">
              <a:spAutoFit/>
            </a:bodyPr>
            <a:lstStyle/>
            <a:p>
              <a:pPr algn="l"/>
              <a:endParaRPr lang="zh-CN" sz="1275" dirty="0">
                <a:solidFill>
                  <a:srgbClr val="2D2D2D"/>
                </a:solidFill>
                <a:latin typeface="Arial"/>
                <a:ea typeface="Microsoft YaHei"/>
                <a:cs typeface="Arial"/>
              </a:endParaRPr>
            </a:p>
          </p:txBody>
        </p:sp>
        <p:sp>
          <p:nvSpPr>
            <p:cNvPr id="51" name="TextBox 51"/>
            <p:cNvSpPr txBox="1"/>
            <p:nvPr/>
          </p:nvSpPr>
          <p:spPr>
            <a:xfrm>
              <a:off x="8461058" y="4815364"/>
              <a:ext cx="65" cy="196208"/>
            </a:xfrm>
            <a:prstGeom prst="rect">
              <a:avLst/>
            </a:prstGeom>
            <a:noFill/>
            <a:ln>
              <a:noFill/>
            </a:ln>
          </p:spPr>
          <p:txBody>
            <a:bodyPr wrap="none" lIns="0" tIns="0" rIns="0" bIns="0" anchor="t" anchorCtr="0">
              <a:spAutoFit/>
            </a:bodyPr>
            <a:lstStyle/>
            <a:p>
              <a:pPr algn="l"/>
              <a:endParaRPr lang="zh-CN" sz="1275" dirty="0">
                <a:solidFill>
                  <a:srgbClr val="2D2D2D"/>
                </a:solidFill>
                <a:latin typeface="Arial"/>
                <a:ea typeface="Microsoft YaHei"/>
                <a:cs typeface="Arial"/>
              </a:endParaRPr>
            </a:p>
          </p:txBody>
        </p:sp>
      </p:grpSp>
      <p:grpSp>
        <p:nvGrpSpPr>
          <p:cNvPr id="56" name="Group 56"/>
          <p:cNvGrpSpPr/>
          <p:nvPr/>
        </p:nvGrpSpPr>
        <p:grpSpPr>
          <a:xfrm>
            <a:off x="0" y="6578441"/>
            <a:ext cx="12192000" cy="279559"/>
            <a:chOff x="0" y="6578441"/>
            <a:chExt cx="12192000" cy="279559"/>
          </a:xfrm>
        </p:grpSpPr>
        <p:sp>
          <p:nvSpPr>
            <p:cNvPr id="53" name="Rectangle 53"/>
            <p:cNvSpPr/>
            <p:nvPr/>
          </p:nvSpPr>
          <p:spPr>
            <a:xfrm>
              <a:off x="0" y="6819900"/>
              <a:ext cx="12192000" cy="38100"/>
            </a:xfrm>
            <a:prstGeom prst="rect">
              <a:avLst/>
            </a:prstGeom>
            <a:solidFill>
              <a:srgbClr val="D4C5C5"/>
            </a:solidFill>
            <a:ln>
              <a:noFill/>
            </a:ln>
          </p:spPr>
        </p:sp>
        <p:sp>
          <p:nvSpPr>
            <p:cNvPr id="54" name="TextBox 54"/>
            <p:cNvSpPr txBox="1"/>
            <p:nvPr/>
          </p:nvSpPr>
          <p:spPr>
            <a:xfrm>
              <a:off x="11268980" y="6578441"/>
              <a:ext cx="361998" cy="167640"/>
            </a:xfrm>
            <a:prstGeom prst="rect">
              <a:avLst/>
            </a:prstGeom>
            <a:noFill/>
            <a:ln>
              <a:noFill/>
            </a:ln>
          </p:spPr>
          <p:txBody>
            <a:bodyPr wrap="none" lIns="0" tIns="0" rIns="0" bIns="0" anchor="t" anchorCtr="0">
              <a:spAutoFit/>
            </a:bodyPr>
            <a:lstStyle/>
            <a:p>
              <a:pPr algn="r"/>
              <a:r>
                <a:rPr lang="zh-CN" sz="825" dirty="0">
                  <a:solidFill>
                    <a:srgbClr val="999999"/>
                  </a:solidFill>
                  <a:latin typeface="Arial"/>
                  <a:ea typeface="Microsoft YaHei"/>
                  <a:cs typeface="Arial"/>
                </a:rPr>
                <a:t>04 / 16</a:t>
              </a:r>
            </a:p>
          </p:txBody>
        </p:sp>
        <p:sp>
          <p:nvSpPr>
            <p:cNvPr id="55" name="TextBox 55"/>
            <p:cNvSpPr txBox="1"/>
            <p:nvPr/>
          </p:nvSpPr>
          <p:spPr>
            <a:xfrm>
              <a:off x="561022" y="6578441"/>
              <a:ext cx="1814179" cy="167640"/>
            </a:xfrm>
            <a:prstGeom prst="rect">
              <a:avLst/>
            </a:prstGeom>
            <a:noFill/>
            <a:ln>
              <a:noFill/>
            </a:ln>
          </p:spPr>
          <p:txBody>
            <a:bodyPr wrap="none" lIns="0" tIns="0" rIns="0" bIns="0" anchor="t" anchorCtr="0">
              <a:spAutoFit/>
            </a:bodyPr>
            <a:lstStyle/>
            <a:p>
              <a:pPr algn="l"/>
              <a:r>
                <a:rPr lang="zh-CN" sz="825" dirty="0">
                  <a:solidFill>
                    <a:srgbClr val="999999"/>
                  </a:solidFill>
                  <a:latin typeface="Arial"/>
                  <a:ea typeface="Microsoft YaHei"/>
                  <a:cs typeface="Arial"/>
                </a:rPr>
                <a:t>华中科技大学 人工智能与自动化学院</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slide(fromBottom)">
                                      <p:cBhvr>
                                        <p:cTn id="7" dur="400"/>
                                        <p:tgtEl>
                                          <p:spTgt spid="21"/>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slide(fromBottom)">
                                      <p:cBhvr>
                                        <p:cTn id="11" dur="400"/>
                                        <p:tgtEl>
                                          <p:spTgt spid="38"/>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slide(fromBottom)">
                                      <p:cBhvr>
                                        <p:cTn id="15"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8" grpId="0"/>
      <p:bldP spid="5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gradFill>
              <a:gsLst>
                <a:gs pos="0">
                  <a:srgbClr val="8B0000"/>
                </a:gs>
                <a:gs pos="100000">
                  <a:srgbClr val="C41E3A"/>
                </a:gs>
              </a:gsLst>
              <a:lin ang="0" scaled="1"/>
            </a:gradFill>
            <a:ln>
              <a:noFill/>
            </a:ln>
          </p:spPr>
        </p:sp>
      </p:grpSp>
      <p:grpSp>
        <p:nvGrpSpPr>
          <p:cNvPr id="8" name="Group 8"/>
          <p:cNvGrpSpPr/>
          <p:nvPr/>
        </p:nvGrpSpPr>
        <p:grpSpPr>
          <a:xfrm>
            <a:off x="731520" y="264795"/>
            <a:ext cx="2253139" cy="601980"/>
            <a:chOff x="731520" y="264795"/>
            <a:chExt cx="2253139" cy="601980"/>
          </a:xfrm>
        </p:grpSpPr>
        <p:sp>
          <p:nvSpPr>
            <p:cNvPr id="5" name="TextBox 5"/>
            <p:cNvSpPr txBox="1"/>
            <p:nvPr/>
          </p:nvSpPr>
          <p:spPr>
            <a:xfrm>
              <a:off x="731520" y="264795"/>
              <a:ext cx="2077212" cy="487680"/>
            </a:xfrm>
            <a:prstGeom prst="rect">
              <a:avLst/>
            </a:prstGeom>
            <a:noFill/>
            <a:ln>
              <a:noFill/>
            </a:ln>
          </p:spPr>
          <p:txBody>
            <a:bodyPr wrap="none" lIns="0" tIns="0" rIns="0" bIns="0" anchor="t" anchorCtr="0">
              <a:spAutoFit/>
            </a:bodyPr>
            <a:lstStyle/>
            <a:p>
              <a:pPr algn="l"/>
              <a:r>
                <a:rPr lang="zh-CN" sz="2400" b="1" dirty="0">
                  <a:solidFill>
                    <a:srgbClr val="8B0000"/>
                  </a:solidFill>
                  <a:latin typeface="Arial"/>
                  <a:ea typeface="Microsoft YaHei"/>
                  <a:cs typeface="Arial"/>
                </a:rPr>
                <a:t>国内研究现状</a:t>
              </a:r>
            </a:p>
          </p:txBody>
        </p:sp>
        <p:sp>
          <p:nvSpPr>
            <p:cNvPr id="6" name="TextBox 6"/>
            <p:cNvSpPr txBox="1"/>
            <p:nvPr/>
          </p:nvSpPr>
          <p:spPr>
            <a:xfrm>
              <a:off x="749618" y="637699"/>
              <a:ext cx="2235041" cy="198120"/>
            </a:xfrm>
            <a:prstGeom prst="rect">
              <a:avLst/>
            </a:prstGeom>
            <a:noFill/>
            <a:ln>
              <a:noFill/>
            </a:ln>
          </p:spPr>
          <p:txBody>
            <a:bodyPr wrap="none" lIns="0" tIns="0" rIns="0" bIns="0" anchor="t" anchorCtr="0">
              <a:spAutoFit/>
            </a:bodyPr>
            <a:lstStyle/>
            <a:p>
              <a:pPr algn="l"/>
              <a:r>
                <a:rPr lang="zh-CN" sz="975" dirty="0">
                  <a:solidFill>
                    <a:srgbClr val="999999"/>
                  </a:solidFill>
                  <a:latin typeface="Arial"/>
                  <a:ea typeface="Microsoft YaHei"/>
                  <a:cs typeface="Arial"/>
                </a:rPr>
                <a:t>国内多无人系统协同技术三大方向进展</a:t>
              </a:r>
            </a:p>
          </p:txBody>
        </p:sp>
        <p:sp>
          <p:nvSpPr>
            <p:cNvPr id="7" name="Rectangle 7"/>
            <p:cNvSpPr/>
            <p:nvPr/>
          </p:nvSpPr>
          <p:spPr>
            <a:xfrm>
              <a:off x="762000" y="838200"/>
              <a:ext cx="476250" cy="28575"/>
            </a:xfrm>
            <a:prstGeom prst="rect">
              <a:avLst/>
            </a:prstGeom>
            <a:solidFill>
              <a:srgbClr val="C41E3A"/>
            </a:solidFill>
            <a:ln>
              <a:noFill/>
            </a:ln>
          </p:spPr>
        </p:sp>
      </p:grpSp>
      <p:grpSp>
        <p:nvGrpSpPr>
          <p:cNvPr id="27" name="Group 27"/>
          <p:cNvGrpSpPr/>
          <p:nvPr/>
        </p:nvGrpSpPr>
        <p:grpSpPr>
          <a:xfrm>
            <a:off x="571500" y="1143000"/>
            <a:ext cx="3524250" cy="4762500"/>
            <a:chOff x="571500" y="1143000"/>
            <a:chExt cx="3524250" cy="4762500"/>
          </a:xfrm>
        </p:grpSpPr>
        <p:sp>
          <p:nvSpPr>
            <p:cNvPr id="9" name="Rectangle 9"/>
            <p:cNvSpPr/>
            <p:nvPr/>
          </p:nvSpPr>
          <p:spPr>
            <a:xfrm>
              <a:off x="571500" y="1143000"/>
              <a:ext cx="3524250" cy="4762500"/>
            </a:xfrm>
            <a:prstGeom prst="roundRect">
              <a:avLst>
                <a:gd name="adj" fmla="val 2162"/>
              </a:avLst>
            </a:prstGeom>
            <a:solidFill>
              <a:srgbClr val="FFFFFF"/>
            </a:solidFill>
            <a:ln w="9525">
              <a:solidFill>
                <a:srgbClr val="D4C5C5"/>
              </a:solidFill>
            </a:ln>
          </p:spPr>
        </p:sp>
        <p:sp>
          <p:nvSpPr>
            <p:cNvPr id="10" name="Rectangle 10"/>
            <p:cNvSpPr/>
            <p:nvPr/>
          </p:nvSpPr>
          <p:spPr>
            <a:xfrm>
              <a:off x="571500" y="1143000"/>
              <a:ext cx="3524250" cy="1047750"/>
            </a:xfrm>
            <a:prstGeom prst="roundRect">
              <a:avLst>
                <a:gd name="adj" fmla="val 7273"/>
              </a:avLst>
            </a:prstGeom>
            <a:solidFill>
              <a:srgbClr val="F8F2F2"/>
            </a:solidFill>
            <a:ln>
              <a:noFill/>
            </a:ln>
          </p:spPr>
        </p:sp>
        <p:sp>
          <p:nvSpPr>
            <p:cNvPr id="11" name="Rectangle 11"/>
            <p:cNvSpPr/>
            <p:nvPr/>
          </p:nvSpPr>
          <p:spPr>
            <a:xfrm>
              <a:off x="571500" y="2114550"/>
              <a:ext cx="3524250" cy="76200"/>
            </a:xfrm>
            <a:prstGeom prst="rect">
              <a:avLst/>
            </a:prstGeom>
            <a:solidFill>
              <a:srgbClr val="F8F2F2"/>
            </a:solidFill>
            <a:ln>
              <a:noFill/>
            </a:ln>
          </p:spPr>
        </p:sp>
        <p:sp>
          <p:nvSpPr>
            <p:cNvPr id="12" name="Freeform 12"/>
            <p:cNvSpPr/>
            <p:nvPr/>
          </p:nvSpPr>
          <p:spPr>
            <a:xfrm>
              <a:off x="1405699" y="1610440"/>
              <a:ext cx="419100" cy="419100"/>
            </a:xfrm>
            <a:custGeom>
              <a:avLst/>
              <a:gdLst/>
              <a:ahLst/>
              <a:cxnLst/>
              <a:rect l="l" t="t" r="r" b="b"/>
              <a:pathLst>
                <a:path w="419100" h="419100">
                  <a:moveTo>
                    <a:pt x="209550" y="52388"/>
                  </a:moveTo>
                  <a:cubicBezTo>
                    <a:pt x="122752" y="52388"/>
                    <a:pt x="52388" y="122752"/>
                    <a:pt x="52388" y="209550"/>
                  </a:cubicBezTo>
                  <a:cubicBezTo>
                    <a:pt x="52388" y="296348"/>
                    <a:pt x="122752" y="366712"/>
                    <a:pt x="209550" y="366712"/>
                  </a:cubicBezTo>
                  <a:cubicBezTo>
                    <a:pt x="296348" y="366712"/>
                    <a:pt x="366712" y="296348"/>
                    <a:pt x="366712" y="209550"/>
                  </a:cubicBezTo>
                  <a:cubicBezTo>
                    <a:pt x="366712" y="195471"/>
                    <a:pt x="364861" y="181825"/>
                    <a:pt x="361390" y="168842"/>
                  </a:cubicBezTo>
                  <a:lnTo>
                    <a:pt x="402517" y="127713"/>
                  </a:lnTo>
                  <a:cubicBezTo>
                    <a:pt x="413193" y="152855"/>
                    <a:pt x="419100" y="180513"/>
                    <a:pt x="419100" y="209550"/>
                  </a:cubicBezTo>
                  <a:cubicBezTo>
                    <a:pt x="419100" y="325282"/>
                    <a:pt x="325282" y="419100"/>
                    <a:pt x="209550" y="419100"/>
                  </a:cubicBezTo>
                  <a:cubicBezTo>
                    <a:pt x="93819" y="419100"/>
                    <a:pt x="0" y="325282"/>
                    <a:pt x="0" y="209550"/>
                  </a:cubicBezTo>
                  <a:cubicBezTo>
                    <a:pt x="0" y="93819"/>
                    <a:pt x="93819" y="0"/>
                    <a:pt x="209550" y="0"/>
                  </a:cubicBezTo>
                  <a:cubicBezTo>
                    <a:pt x="257975" y="0"/>
                    <a:pt x="302564" y="16426"/>
                    <a:pt x="338046" y="44009"/>
                  </a:cubicBezTo>
                  <a:lnTo>
                    <a:pt x="374385" y="7672"/>
                  </a:lnTo>
                  <a:lnTo>
                    <a:pt x="411428" y="44716"/>
                  </a:lnTo>
                  <a:lnTo>
                    <a:pt x="228072" y="228072"/>
                  </a:lnTo>
                  <a:lnTo>
                    <a:pt x="191028" y="191028"/>
                  </a:lnTo>
                  <a:lnTo>
                    <a:pt x="223116" y="158941"/>
                  </a:lnTo>
                  <a:cubicBezTo>
                    <a:pt x="205639" y="154273"/>
                    <a:pt x="186218" y="158795"/>
                    <a:pt x="172507" y="172507"/>
                  </a:cubicBezTo>
                  <a:cubicBezTo>
                    <a:pt x="152048" y="192965"/>
                    <a:pt x="152048" y="226135"/>
                    <a:pt x="172507" y="246593"/>
                  </a:cubicBezTo>
                  <a:cubicBezTo>
                    <a:pt x="192965" y="267053"/>
                    <a:pt x="226135" y="267053"/>
                    <a:pt x="246593" y="246593"/>
                  </a:cubicBezTo>
                  <a:lnTo>
                    <a:pt x="283636" y="283636"/>
                  </a:lnTo>
                  <a:cubicBezTo>
                    <a:pt x="242720" y="324554"/>
                    <a:pt x="176380" y="324554"/>
                    <a:pt x="135463" y="283636"/>
                  </a:cubicBezTo>
                  <a:cubicBezTo>
                    <a:pt x="94546" y="242720"/>
                    <a:pt x="94546" y="176380"/>
                    <a:pt x="135463" y="135463"/>
                  </a:cubicBezTo>
                  <a:cubicBezTo>
                    <a:pt x="169985" y="100941"/>
                    <a:pt x="222603" y="95545"/>
                    <a:pt x="262781" y="119275"/>
                  </a:cubicBezTo>
                  <a:lnTo>
                    <a:pt x="300613" y="81443"/>
                  </a:lnTo>
                  <a:cubicBezTo>
                    <a:pt x="274922" y="63148"/>
                    <a:pt x="243493" y="52388"/>
                    <a:pt x="209550" y="52388"/>
                  </a:cubicBezTo>
                  <a:close/>
                </a:path>
              </a:pathLst>
            </a:custGeom>
            <a:solidFill>
              <a:srgbClr val="8B0000"/>
            </a:solidFill>
            <a:ln>
              <a:noFill/>
            </a:ln>
          </p:spPr>
        </p:sp>
        <p:sp>
          <p:nvSpPr>
            <p:cNvPr id="13" name="TextBox 13"/>
            <p:cNvSpPr txBox="1"/>
            <p:nvPr/>
          </p:nvSpPr>
          <p:spPr>
            <a:xfrm>
              <a:off x="1850612" y="1584008"/>
              <a:ext cx="966026" cy="335280"/>
            </a:xfrm>
            <a:prstGeom prst="rect">
              <a:avLst/>
            </a:prstGeom>
            <a:noFill/>
            <a:ln>
              <a:noFill/>
            </a:ln>
          </p:spPr>
          <p:txBody>
            <a:bodyPr wrap="none" lIns="0" tIns="0" rIns="0" bIns="0" anchor="t" anchorCtr="0">
              <a:spAutoFit/>
            </a:bodyPr>
            <a:lstStyle/>
            <a:p>
              <a:pPr algn="ctr"/>
              <a:r>
                <a:rPr lang="zh-CN" sz="1650" b="1" dirty="0">
                  <a:solidFill>
                    <a:srgbClr val="8B0000"/>
                  </a:solidFill>
                  <a:latin typeface="Arial"/>
                  <a:ea typeface="Microsoft YaHei"/>
                  <a:cs typeface="Arial"/>
                </a:rPr>
                <a:t>空空协同</a:t>
              </a:r>
            </a:p>
          </p:txBody>
        </p:sp>
        <p:sp>
          <p:nvSpPr>
            <p:cNvPr id="14" name="TextBox 14"/>
            <p:cNvSpPr txBox="1"/>
            <p:nvPr/>
          </p:nvSpPr>
          <p:spPr>
            <a:xfrm>
              <a:off x="1866186" y="1875949"/>
              <a:ext cx="934879"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无人机集群协同</a:t>
              </a:r>
            </a:p>
          </p:txBody>
        </p:sp>
        <p:sp>
          <p:nvSpPr>
            <p:cNvPr id="15" name="Rectangle 15"/>
            <p:cNvSpPr/>
            <p:nvPr/>
          </p:nvSpPr>
          <p:spPr>
            <a:xfrm>
              <a:off x="857250" y="2381250"/>
              <a:ext cx="2952750" cy="9525"/>
            </a:xfrm>
            <a:prstGeom prst="rect">
              <a:avLst/>
            </a:prstGeom>
            <a:solidFill>
              <a:srgbClr val="D4C5C5"/>
            </a:solidFill>
            <a:ln>
              <a:noFill/>
            </a:ln>
          </p:spPr>
        </p:sp>
        <p:sp>
          <p:nvSpPr>
            <p:cNvPr id="16" name="TextBox 16"/>
            <p:cNvSpPr txBox="1"/>
            <p:nvPr/>
          </p:nvSpPr>
          <p:spPr>
            <a:xfrm>
              <a:off x="842010" y="2585085"/>
              <a:ext cx="758571" cy="243840"/>
            </a:xfrm>
            <a:prstGeom prst="rect">
              <a:avLst/>
            </a:prstGeom>
            <a:noFill/>
            <a:ln>
              <a:noFill/>
            </a:ln>
          </p:spPr>
          <p:txBody>
            <a:bodyPr wrap="none" lIns="0" tIns="0" rIns="0" bIns="0" anchor="t" anchorCtr="0">
              <a:spAutoFit/>
            </a:bodyPr>
            <a:lstStyle/>
            <a:p>
              <a:pPr algn="l"/>
              <a:r>
                <a:rPr lang="zh-CN" sz="1200" dirty="0">
                  <a:solidFill>
                    <a:srgbClr val="2D2D2D"/>
                  </a:solidFill>
                  <a:latin typeface="Arial"/>
                  <a:ea typeface="Microsoft YaHei"/>
                  <a:cs typeface="Arial"/>
                </a:rPr>
                <a:t>代表成果:</a:t>
              </a:r>
            </a:p>
          </p:txBody>
        </p:sp>
        <p:sp>
          <p:nvSpPr>
            <p:cNvPr id="17" name="Ellipse 17"/>
            <p:cNvSpPr/>
            <p:nvPr/>
          </p:nvSpPr>
          <p:spPr>
            <a:xfrm>
              <a:off x="962025" y="3009900"/>
              <a:ext cx="76200" cy="76200"/>
            </a:xfrm>
            <a:prstGeom prst="ellipse">
              <a:avLst/>
            </a:prstGeom>
            <a:solidFill>
              <a:srgbClr val="C41E3A"/>
            </a:solidFill>
            <a:ln>
              <a:noFill/>
            </a:ln>
          </p:spPr>
        </p:sp>
        <p:sp>
          <p:nvSpPr>
            <p:cNvPr id="18" name="TextBox 18"/>
            <p:cNvSpPr txBox="1"/>
            <p:nvPr/>
          </p:nvSpPr>
          <p:spPr>
            <a:xfrm>
              <a:off x="1128712" y="2983706"/>
              <a:ext cx="2676406" cy="228600"/>
            </a:xfrm>
            <a:prstGeom prst="rect">
              <a:avLst/>
            </a:prstGeom>
            <a:noFill/>
            <a:ln>
              <a:noFill/>
            </a:ln>
          </p:spPr>
          <p:txBody>
            <a:bodyPr wrap="none" lIns="0" tIns="0" rIns="0" bIns="0" anchor="t" anchorCtr="0">
              <a:spAutoFit/>
            </a:bodyPr>
            <a:lstStyle/>
            <a:p>
              <a:pPr algn="l"/>
              <a:r>
                <a:rPr lang="zh-CN" sz="1125" dirty="0">
                  <a:solidFill>
                    <a:srgbClr val="2D2D2D"/>
                  </a:solidFill>
                  <a:latin typeface="Arial"/>
                  <a:ea typeface="Microsoft YaHei"/>
                  <a:cs typeface="Arial"/>
                </a:rPr>
                <a:t>航天科工200架无人机集群密集编队飞行</a:t>
              </a:r>
            </a:p>
          </p:txBody>
        </p:sp>
        <p:sp>
          <p:nvSpPr>
            <p:cNvPr id="19" name="Ellipse 19"/>
            <p:cNvSpPr/>
            <p:nvPr/>
          </p:nvSpPr>
          <p:spPr>
            <a:xfrm>
              <a:off x="962025" y="3390900"/>
              <a:ext cx="76200" cy="76200"/>
            </a:xfrm>
            <a:prstGeom prst="ellipse">
              <a:avLst/>
            </a:prstGeom>
            <a:solidFill>
              <a:srgbClr val="C41E3A"/>
            </a:solidFill>
            <a:ln>
              <a:noFill/>
            </a:ln>
          </p:spPr>
        </p:sp>
        <p:sp>
          <p:nvSpPr>
            <p:cNvPr id="20" name="TextBox 20"/>
            <p:cNvSpPr txBox="1"/>
            <p:nvPr/>
          </p:nvSpPr>
          <p:spPr>
            <a:xfrm>
              <a:off x="1128712" y="3364706"/>
              <a:ext cx="2728912" cy="228600"/>
            </a:xfrm>
            <a:prstGeom prst="rect">
              <a:avLst/>
            </a:prstGeom>
            <a:noFill/>
            <a:ln>
              <a:noFill/>
            </a:ln>
          </p:spPr>
          <p:txBody>
            <a:bodyPr wrap="none" lIns="0" tIns="0" rIns="0" bIns="0" anchor="t" anchorCtr="0">
              <a:spAutoFit/>
            </a:bodyPr>
            <a:lstStyle/>
            <a:p>
              <a:pPr algn="l"/>
              <a:r>
                <a:rPr lang="zh-CN" sz="1125" dirty="0">
                  <a:solidFill>
                    <a:srgbClr val="2D2D2D"/>
                  </a:solidFill>
                  <a:latin typeface="Arial"/>
                  <a:ea typeface="Microsoft YaHei"/>
                  <a:cs typeface="Arial"/>
                </a:rPr>
                <a:t>南京理工大学多无人机协同追踪动态目标</a:t>
              </a:r>
            </a:p>
          </p:txBody>
        </p:sp>
        <p:sp>
          <p:nvSpPr>
            <p:cNvPr id="21" name="Rectangle 21"/>
            <p:cNvSpPr/>
            <p:nvPr/>
          </p:nvSpPr>
          <p:spPr>
            <a:xfrm>
              <a:off x="857250" y="3810000"/>
              <a:ext cx="2952750" cy="9525"/>
            </a:xfrm>
            <a:prstGeom prst="rect">
              <a:avLst/>
            </a:prstGeom>
            <a:solidFill>
              <a:srgbClr val="D4C5C5"/>
            </a:solidFill>
            <a:ln>
              <a:noFill/>
            </a:ln>
          </p:spPr>
        </p:sp>
        <p:sp>
          <p:nvSpPr>
            <p:cNvPr id="22" name="TextBox 22"/>
            <p:cNvSpPr txBox="1"/>
            <p:nvPr/>
          </p:nvSpPr>
          <p:spPr>
            <a:xfrm>
              <a:off x="842010" y="4013835"/>
              <a:ext cx="794976" cy="243840"/>
            </a:xfrm>
            <a:prstGeom prst="rect">
              <a:avLst/>
            </a:prstGeom>
            <a:noFill/>
            <a:ln>
              <a:noFill/>
            </a:ln>
          </p:spPr>
          <p:txBody>
            <a:bodyPr wrap="none" lIns="0" tIns="0" rIns="0" bIns="0" anchor="t" anchorCtr="0">
              <a:spAutoFit/>
            </a:bodyPr>
            <a:lstStyle/>
            <a:p>
              <a:pPr algn="l"/>
              <a:r>
                <a:rPr lang="zh-CN" sz="1200" b="1" dirty="0">
                  <a:solidFill>
                    <a:srgbClr val="8B0000"/>
                  </a:solidFill>
                  <a:latin typeface="Arial"/>
                  <a:ea typeface="Microsoft YaHei"/>
                  <a:cs typeface="Arial"/>
                </a:rPr>
                <a:t>关键技术:</a:t>
              </a:r>
            </a:p>
          </p:txBody>
        </p:sp>
        <p:sp>
          <p:nvSpPr>
            <p:cNvPr id="23" name="TextBox 23"/>
            <p:cNvSpPr txBox="1"/>
            <p:nvPr/>
          </p:nvSpPr>
          <p:spPr>
            <a:xfrm>
              <a:off x="842962" y="4307681"/>
              <a:ext cx="2428875" cy="228600"/>
            </a:xfrm>
            <a:prstGeom prst="rect">
              <a:avLst/>
            </a:prstGeom>
            <a:noFill/>
            <a:ln>
              <a:noFill/>
            </a:ln>
          </p:spPr>
          <p:txBody>
            <a:bodyPr wrap="none" lIns="0" tIns="0" rIns="0" bIns="0" anchor="t" anchorCtr="0">
              <a:spAutoFit/>
            </a:bodyPr>
            <a:lstStyle/>
            <a:p>
              <a:pPr algn="l"/>
              <a:r>
                <a:rPr lang="zh-CN" sz="1125" dirty="0">
                  <a:solidFill>
                    <a:srgbClr val="2D2D2D"/>
                  </a:solidFill>
                  <a:latin typeface="Arial"/>
                  <a:ea typeface="Microsoft YaHei"/>
                  <a:cs typeface="Arial"/>
                </a:rPr>
                <a:t>高精度集群控制、信息共享协同追踪</a:t>
              </a:r>
            </a:p>
          </p:txBody>
        </p:sp>
        <p:sp>
          <p:nvSpPr>
            <p:cNvPr id="24" name="Rectangle 24"/>
            <p:cNvSpPr/>
            <p:nvPr/>
          </p:nvSpPr>
          <p:spPr>
            <a:xfrm>
              <a:off x="857250" y="4714875"/>
              <a:ext cx="2952750" cy="9525"/>
            </a:xfrm>
            <a:prstGeom prst="rect">
              <a:avLst/>
            </a:prstGeom>
            <a:solidFill>
              <a:srgbClr val="D4C5C5"/>
            </a:solidFill>
            <a:ln>
              <a:noFill/>
            </a:ln>
          </p:spPr>
        </p:sp>
        <p:sp>
          <p:nvSpPr>
            <p:cNvPr id="25" name="TextBox 25"/>
            <p:cNvSpPr txBox="1"/>
            <p:nvPr/>
          </p:nvSpPr>
          <p:spPr>
            <a:xfrm>
              <a:off x="843915" y="4934902"/>
              <a:ext cx="2126932" cy="213360"/>
            </a:xfrm>
            <a:prstGeom prst="rect">
              <a:avLst/>
            </a:prstGeom>
            <a:noFill/>
            <a:ln>
              <a:noFill/>
            </a:ln>
          </p:spPr>
          <p:txBody>
            <a:bodyPr wrap="none" lIns="0" tIns="0" rIns="0" bIns="0" anchor="t" anchorCtr="0">
              <a:spAutoFit/>
            </a:bodyPr>
            <a:lstStyle/>
            <a:p>
              <a:pPr algn="l"/>
              <a:r>
                <a:rPr lang="zh-CN" sz="1050" dirty="0">
                  <a:solidFill>
                    <a:srgbClr val="1A3C5E"/>
                  </a:solidFill>
                  <a:latin typeface="Arial"/>
                  <a:ea typeface="Microsoft YaHei"/>
                  <a:cs typeface="Arial"/>
                </a:rPr>
                <a:t>应用于大规模编队飞行与动态目标</a:t>
              </a:r>
            </a:p>
          </p:txBody>
        </p:sp>
        <p:sp>
          <p:nvSpPr>
            <p:cNvPr id="26" name="TextBox 26"/>
            <p:cNvSpPr txBox="1"/>
            <p:nvPr/>
          </p:nvSpPr>
          <p:spPr>
            <a:xfrm>
              <a:off x="843915" y="5173028"/>
              <a:ext cx="1286828" cy="213360"/>
            </a:xfrm>
            <a:prstGeom prst="rect">
              <a:avLst/>
            </a:prstGeom>
            <a:noFill/>
            <a:ln>
              <a:noFill/>
            </a:ln>
          </p:spPr>
          <p:txBody>
            <a:bodyPr wrap="none" lIns="0" tIns="0" rIns="0" bIns="0" anchor="t" anchorCtr="0">
              <a:spAutoFit/>
            </a:bodyPr>
            <a:lstStyle/>
            <a:p>
              <a:pPr algn="l"/>
              <a:r>
                <a:rPr lang="zh-CN" sz="1050" dirty="0">
                  <a:solidFill>
                    <a:srgbClr val="1A3C5E"/>
                  </a:solidFill>
                  <a:latin typeface="Arial"/>
                  <a:ea typeface="Microsoft YaHei"/>
                  <a:cs typeface="Arial"/>
                </a:rPr>
                <a:t>拦截等国防安全场景</a:t>
              </a:r>
            </a:p>
          </p:txBody>
        </p:sp>
      </p:grpSp>
      <p:grpSp>
        <p:nvGrpSpPr>
          <p:cNvPr id="49" name="Group 49"/>
          <p:cNvGrpSpPr/>
          <p:nvPr/>
        </p:nvGrpSpPr>
        <p:grpSpPr>
          <a:xfrm>
            <a:off x="4333875" y="1143000"/>
            <a:ext cx="3524250" cy="4762500"/>
            <a:chOff x="4333875" y="1143000"/>
            <a:chExt cx="3524250" cy="4762500"/>
          </a:xfrm>
        </p:grpSpPr>
        <p:sp>
          <p:nvSpPr>
            <p:cNvPr id="28" name="Rectangle 28"/>
            <p:cNvSpPr/>
            <p:nvPr/>
          </p:nvSpPr>
          <p:spPr>
            <a:xfrm>
              <a:off x="4333875" y="1143000"/>
              <a:ext cx="3524250" cy="4762500"/>
            </a:xfrm>
            <a:prstGeom prst="roundRect">
              <a:avLst>
                <a:gd name="adj" fmla="val 2162"/>
              </a:avLst>
            </a:prstGeom>
            <a:solidFill>
              <a:srgbClr val="FFFFFF"/>
            </a:solidFill>
            <a:ln w="9525">
              <a:solidFill>
                <a:srgbClr val="D4C5C5"/>
              </a:solidFill>
            </a:ln>
          </p:spPr>
        </p:sp>
        <p:sp>
          <p:nvSpPr>
            <p:cNvPr id="29" name="Rectangle 29"/>
            <p:cNvSpPr/>
            <p:nvPr/>
          </p:nvSpPr>
          <p:spPr>
            <a:xfrm>
              <a:off x="4333875" y="1143000"/>
              <a:ext cx="3524250" cy="1047750"/>
            </a:xfrm>
            <a:prstGeom prst="roundRect">
              <a:avLst>
                <a:gd name="adj" fmla="val 7273"/>
              </a:avLst>
            </a:prstGeom>
            <a:solidFill>
              <a:srgbClr val="F8F2F2"/>
            </a:solidFill>
            <a:ln>
              <a:noFill/>
            </a:ln>
          </p:spPr>
        </p:sp>
        <p:sp>
          <p:nvSpPr>
            <p:cNvPr id="30" name="Rectangle 30"/>
            <p:cNvSpPr/>
            <p:nvPr/>
          </p:nvSpPr>
          <p:spPr>
            <a:xfrm>
              <a:off x="4333875" y="2114550"/>
              <a:ext cx="3524250" cy="76200"/>
            </a:xfrm>
            <a:prstGeom prst="rect">
              <a:avLst/>
            </a:prstGeom>
            <a:solidFill>
              <a:srgbClr val="F8F2F2"/>
            </a:solidFill>
            <a:ln>
              <a:noFill/>
            </a:ln>
          </p:spPr>
        </p:sp>
        <p:grpSp>
          <p:nvGrpSpPr>
            <p:cNvPr id="34" name="Group 34"/>
            <p:cNvGrpSpPr/>
            <p:nvPr/>
          </p:nvGrpSpPr>
          <p:grpSpPr>
            <a:xfrm>
              <a:off x="5110163" y="1604010"/>
              <a:ext cx="366712" cy="419100"/>
              <a:chOff x="5110163" y="1604010"/>
              <a:chExt cx="366712" cy="419100"/>
            </a:xfrm>
          </p:grpSpPr>
          <p:sp>
            <p:nvSpPr>
              <p:cNvPr id="31" name="Freeform 31"/>
              <p:cNvSpPr/>
              <p:nvPr/>
            </p:nvSpPr>
            <p:spPr>
              <a:xfrm>
                <a:off x="5110163" y="1604010"/>
                <a:ext cx="366712" cy="209550"/>
              </a:xfrm>
              <a:custGeom>
                <a:avLst/>
                <a:gdLst/>
                <a:ahLst/>
                <a:cxnLst/>
                <a:rect l="l" t="t" r="r" b="b"/>
                <a:pathLst>
                  <a:path w="366712" h="209550">
                    <a:moveTo>
                      <a:pt x="0" y="130969"/>
                    </a:moveTo>
                    <a:lnTo>
                      <a:pt x="0" y="78581"/>
                    </a:lnTo>
                    <a:lnTo>
                      <a:pt x="183356" y="0"/>
                    </a:lnTo>
                    <a:lnTo>
                      <a:pt x="366712" y="78581"/>
                    </a:lnTo>
                    <a:lnTo>
                      <a:pt x="366712" y="130969"/>
                    </a:lnTo>
                    <a:lnTo>
                      <a:pt x="183356" y="209550"/>
                    </a:lnTo>
                    <a:lnTo>
                      <a:pt x="0" y="130969"/>
                    </a:lnTo>
                    <a:close/>
                  </a:path>
                </a:pathLst>
              </a:custGeom>
              <a:solidFill>
                <a:srgbClr val="8B0000"/>
              </a:solidFill>
              <a:ln>
                <a:noFill/>
              </a:ln>
            </p:spPr>
          </p:sp>
          <p:sp>
            <p:nvSpPr>
              <p:cNvPr id="32" name="Freeform 32"/>
              <p:cNvSpPr/>
              <p:nvPr/>
            </p:nvSpPr>
            <p:spPr>
              <a:xfrm>
                <a:off x="5110163" y="1892141"/>
                <a:ext cx="366712" cy="130969"/>
              </a:xfrm>
              <a:custGeom>
                <a:avLst/>
                <a:gdLst/>
                <a:ahLst/>
                <a:cxnLst/>
                <a:rect l="l" t="t" r="r" b="b"/>
                <a:pathLst>
                  <a:path w="366712" h="130969">
                    <a:moveTo>
                      <a:pt x="183356" y="130969"/>
                    </a:moveTo>
                    <a:lnTo>
                      <a:pt x="0" y="52388"/>
                    </a:lnTo>
                    <a:lnTo>
                      <a:pt x="0" y="0"/>
                    </a:lnTo>
                    <a:lnTo>
                      <a:pt x="183356" y="78581"/>
                    </a:lnTo>
                    <a:lnTo>
                      <a:pt x="366712" y="0"/>
                    </a:lnTo>
                    <a:lnTo>
                      <a:pt x="366712" y="52388"/>
                    </a:lnTo>
                    <a:lnTo>
                      <a:pt x="183356" y="130969"/>
                    </a:lnTo>
                    <a:close/>
                  </a:path>
                </a:pathLst>
              </a:custGeom>
              <a:solidFill>
                <a:srgbClr val="8B0000"/>
              </a:solidFill>
              <a:ln>
                <a:noFill/>
              </a:ln>
            </p:spPr>
          </p:sp>
          <p:sp>
            <p:nvSpPr>
              <p:cNvPr id="33" name="Freeform 33"/>
              <p:cNvSpPr/>
              <p:nvPr/>
            </p:nvSpPr>
            <p:spPr>
              <a:xfrm>
                <a:off x="5110163" y="1787366"/>
                <a:ext cx="366712" cy="130969"/>
              </a:xfrm>
              <a:custGeom>
                <a:avLst/>
                <a:gdLst/>
                <a:ahLst/>
                <a:cxnLst/>
                <a:rect l="l" t="t" r="r" b="b"/>
                <a:pathLst>
                  <a:path w="366712" h="130969">
                    <a:moveTo>
                      <a:pt x="0" y="52388"/>
                    </a:moveTo>
                    <a:lnTo>
                      <a:pt x="183356" y="130969"/>
                    </a:lnTo>
                    <a:lnTo>
                      <a:pt x="366712" y="52388"/>
                    </a:lnTo>
                    <a:lnTo>
                      <a:pt x="366712" y="0"/>
                    </a:lnTo>
                    <a:lnTo>
                      <a:pt x="183356" y="78581"/>
                    </a:lnTo>
                    <a:lnTo>
                      <a:pt x="0" y="0"/>
                    </a:lnTo>
                    <a:lnTo>
                      <a:pt x="0" y="52388"/>
                    </a:lnTo>
                    <a:close/>
                  </a:path>
                </a:pathLst>
              </a:custGeom>
              <a:solidFill>
                <a:srgbClr val="8B0000"/>
              </a:solidFill>
              <a:ln>
                <a:noFill/>
              </a:ln>
            </p:spPr>
          </p:sp>
        </p:grpSp>
        <p:sp>
          <p:nvSpPr>
            <p:cNvPr id="35" name="TextBox 35"/>
            <p:cNvSpPr txBox="1"/>
            <p:nvPr/>
          </p:nvSpPr>
          <p:spPr>
            <a:xfrm>
              <a:off x="5851112" y="1577182"/>
              <a:ext cx="966026" cy="335280"/>
            </a:xfrm>
            <a:prstGeom prst="rect">
              <a:avLst/>
            </a:prstGeom>
            <a:noFill/>
            <a:ln>
              <a:noFill/>
            </a:ln>
          </p:spPr>
          <p:txBody>
            <a:bodyPr wrap="none" lIns="0" tIns="0" rIns="0" bIns="0" anchor="t" anchorCtr="0">
              <a:spAutoFit/>
            </a:bodyPr>
            <a:lstStyle/>
            <a:p>
              <a:pPr algn="ctr"/>
              <a:r>
                <a:rPr lang="zh-CN" sz="1650" b="1" dirty="0">
                  <a:solidFill>
                    <a:srgbClr val="8B0000"/>
                  </a:solidFill>
                  <a:latin typeface="Arial"/>
                  <a:ea typeface="Microsoft YaHei"/>
                  <a:cs typeface="Arial"/>
                </a:rPr>
                <a:t>空地协同</a:t>
              </a:r>
            </a:p>
          </p:txBody>
        </p:sp>
        <p:sp>
          <p:nvSpPr>
            <p:cNvPr id="36" name="TextBox 36"/>
            <p:cNvSpPr txBox="1"/>
            <p:nvPr/>
          </p:nvSpPr>
          <p:spPr>
            <a:xfrm>
              <a:off x="5606653" y="1869123"/>
              <a:ext cx="1454944"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无人机与地面机器人协同</a:t>
              </a:r>
            </a:p>
          </p:txBody>
        </p:sp>
        <p:sp>
          <p:nvSpPr>
            <p:cNvPr id="37" name="Rectangle 37"/>
            <p:cNvSpPr/>
            <p:nvPr/>
          </p:nvSpPr>
          <p:spPr>
            <a:xfrm>
              <a:off x="4619625" y="2381250"/>
              <a:ext cx="2952750" cy="9525"/>
            </a:xfrm>
            <a:prstGeom prst="rect">
              <a:avLst/>
            </a:prstGeom>
            <a:solidFill>
              <a:srgbClr val="D4C5C5"/>
            </a:solidFill>
            <a:ln>
              <a:noFill/>
            </a:ln>
          </p:spPr>
        </p:sp>
        <p:sp>
          <p:nvSpPr>
            <p:cNvPr id="38" name="TextBox 38"/>
            <p:cNvSpPr txBox="1"/>
            <p:nvPr/>
          </p:nvSpPr>
          <p:spPr>
            <a:xfrm>
              <a:off x="4604385" y="2585085"/>
              <a:ext cx="758571" cy="243840"/>
            </a:xfrm>
            <a:prstGeom prst="rect">
              <a:avLst/>
            </a:prstGeom>
            <a:noFill/>
            <a:ln>
              <a:noFill/>
            </a:ln>
          </p:spPr>
          <p:txBody>
            <a:bodyPr wrap="none" lIns="0" tIns="0" rIns="0" bIns="0" anchor="t" anchorCtr="0">
              <a:spAutoFit/>
            </a:bodyPr>
            <a:lstStyle/>
            <a:p>
              <a:pPr algn="l"/>
              <a:r>
                <a:rPr lang="zh-CN" sz="1200" dirty="0">
                  <a:solidFill>
                    <a:srgbClr val="2D2D2D"/>
                  </a:solidFill>
                  <a:latin typeface="Arial"/>
                  <a:ea typeface="Microsoft YaHei"/>
                  <a:cs typeface="Arial"/>
                </a:rPr>
                <a:t>代表成果:</a:t>
              </a:r>
            </a:p>
          </p:txBody>
        </p:sp>
        <p:sp>
          <p:nvSpPr>
            <p:cNvPr id="39" name="Ellipse 39"/>
            <p:cNvSpPr/>
            <p:nvPr/>
          </p:nvSpPr>
          <p:spPr>
            <a:xfrm>
              <a:off x="4724400" y="3009900"/>
              <a:ext cx="76200" cy="76200"/>
            </a:xfrm>
            <a:prstGeom prst="ellipse">
              <a:avLst/>
            </a:prstGeom>
            <a:solidFill>
              <a:srgbClr val="C41E3A"/>
            </a:solidFill>
            <a:ln>
              <a:noFill/>
            </a:ln>
          </p:spPr>
        </p:sp>
        <p:sp>
          <p:nvSpPr>
            <p:cNvPr id="40" name="TextBox 40"/>
            <p:cNvSpPr txBox="1"/>
            <p:nvPr/>
          </p:nvSpPr>
          <p:spPr>
            <a:xfrm>
              <a:off x="4891088" y="2983706"/>
              <a:ext cx="2511385" cy="228600"/>
            </a:xfrm>
            <a:prstGeom prst="rect">
              <a:avLst/>
            </a:prstGeom>
            <a:noFill/>
            <a:ln>
              <a:noFill/>
            </a:ln>
          </p:spPr>
          <p:txBody>
            <a:bodyPr wrap="none" lIns="0" tIns="0" rIns="0" bIns="0" anchor="t" anchorCtr="0">
              <a:spAutoFit/>
            </a:bodyPr>
            <a:lstStyle/>
            <a:p>
              <a:pPr algn="l"/>
              <a:r>
                <a:rPr lang="zh-CN" sz="1125" dirty="0">
                  <a:solidFill>
                    <a:srgbClr val="2D2D2D"/>
                  </a:solidFill>
                  <a:latin typeface="Arial"/>
                  <a:ea typeface="Microsoft YaHei"/>
                  <a:cs typeface="Arial"/>
                </a:rPr>
                <a:t>浙江大学无人机+四足机器狗协同搜救</a:t>
              </a:r>
            </a:p>
          </p:txBody>
        </p:sp>
        <p:sp>
          <p:nvSpPr>
            <p:cNvPr id="41" name="Ellipse 41"/>
            <p:cNvSpPr/>
            <p:nvPr/>
          </p:nvSpPr>
          <p:spPr>
            <a:xfrm>
              <a:off x="4724400" y="3390900"/>
              <a:ext cx="76200" cy="76200"/>
            </a:xfrm>
            <a:prstGeom prst="ellipse">
              <a:avLst/>
            </a:prstGeom>
            <a:solidFill>
              <a:srgbClr val="C41E3A"/>
            </a:solidFill>
            <a:ln>
              <a:noFill/>
            </a:ln>
          </p:spPr>
        </p:sp>
        <p:sp>
          <p:nvSpPr>
            <p:cNvPr id="42" name="TextBox 42"/>
            <p:cNvSpPr txBox="1"/>
            <p:nvPr/>
          </p:nvSpPr>
          <p:spPr>
            <a:xfrm>
              <a:off x="4891088" y="3364706"/>
              <a:ext cx="2811423" cy="228600"/>
            </a:xfrm>
            <a:prstGeom prst="rect">
              <a:avLst/>
            </a:prstGeom>
            <a:noFill/>
            <a:ln>
              <a:noFill/>
            </a:ln>
          </p:spPr>
          <p:txBody>
            <a:bodyPr wrap="none" lIns="0" tIns="0" rIns="0" bIns="0" anchor="t" anchorCtr="0">
              <a:spAutoFit/>
            </a:bodyPr>
            <a:lstStyle/>
            <a:p>
              <a:pPr algn="l"/>
              <a:r>
                <a:rPr lang="zh-CN" sz="1125" dirty="0">
                  <a:solidFill>
                    <a:srgbClr val="2D2D2D"/>
                  </a:solidFill>
                  <a:latin typeface="Arial"/>
                  <a:ea typeface="Microsoft YaHei"/>
                  <a:cs typeface="Arial"/>
                </a:rPr>
                <a:t>无人机全局视野+热成像，机器狗精细搜索</a:t>
              </a:r>
            </a:p>
          </p:txBody>
        </p:sp>
        <p:sp>
          <p:nvSpPr>
            <p:cNvPr id="43" name="Rectangle 43"/>
            <p:cNvSpPr/>
            <p:nvPr/>
          </p:nvSpPr>
          <p:spPr>
            <a:xfrm>
              <a:off x="4619625" y="3810000"/>
              <a:ext cx="2952750" cy="9525"/>
            </a:xfrm>
            <a:prstGeom prst="rect">
              <a:avLst/>
            </a:prstGeom>
            <a:solidFill>
              <a:srgbClr val="D4C5C5"/>
            </a:solidFill>
            <a:ln>
              <a:noFill/>
            </a:ln>
          </p:spPr>
        </p:sp>
        <p:sp>
          <p:nvSpPr>
            <p:cNvPr id="44" name="TextBox 44"/>
            <p:cNvSpPr txBox="1"/>
            <p:nvPr/>
          </p:nvSpPr>
          <p:spPr>
            <a:xfrm>
              <a:off x="4604385" y="4013835"/>
              <a:ext cx="794976" cy="243840"/>
            </a:xfrm>
            <a:prstGeom prst="rect">
              <a:avLst/>
            </a:prstGeom>
            <a:noFill/>
            <a:ln>
              <a:noFill/>
            </a:ln>
          </p:spPr>
          <p:txBody>
            <a:bodyPr wrap="none" lIns="0" tIns="0" rIns="0" bIns="0" anchor="t" anchorCtr="0">
              <a:spAutoFit/>
            </a:bodyPr>
            <a:lstStyle/>
            <a:p>
              <a:pPr algn="l"/>
              <a:r>
                <a:rPr lang="zh-CN" sz="1200" b="1" dirty="0">
                  <a:solidFill>
                    <a:srgbClr val="8B0000"/>
                  </a:solidFill>
                  <a:latin typeface="Arial"/>
                  <a:ea typeface="Microsoft YaHei"/>
                  <a:cs typeface="Arial"/>
                </a:rPr>
                <a:t>关键技术:</a:t>
              </a:r>
            </a:p>
          </p:txBody>
        </p:sp>
        <p:sp>
          <p:nvSpPr>
            <p:cNvPr id="45" name="TextBox 45"/>
            <p:cNvSpPr txBox="1"/>
            <p:nvPr/>
          </p:nvSpPr>
          <p:spPr>
            <a:xfrm>
              <a:off x="4605338" y="4307681"/>
              <a:ext cx="2578894" cy="228600"/>
            </a:xfrm>
            <a:prstGeom prst="rect">
              <a:avLst/>
            </a:prstGeom>
            <a:noFill/>
            <a:ln>
              <a:noFill/>
            </a:ln>
          </p:spPr>
          <p:txBody>
            <a:bodyPr wrap="none" lIns="0" tIns="0" rIns="0" bIns="0" anchor="t" anchorCtr="0">
              <a:spAutoFit/>
            </a:bodyPr>
            <a:lstStyle/>
            <a:p>
              <a:pPr algn="l"/>
              <a:r>
                <a:rPr lang="zh-CN" sz="1125" dirty="0">
                  <a:solidFill>
                    <a:srgbClr val="2D2D2D"/>
                  </a:solidFill>
                  <a:latin typeface="Arial"/>
                  <a:ea typeface="Microsoft YaHei"/>
                  <a:cs typeface="Arial"/>
                </a:rPr>
                <a:t>数字交互平台信息协同感知与联合分析</a:t>
              </a:r>
            </a:p>
          </p:txBody>
        </p:sp>
        <p:sp>
          <p:nvSpPr>
            <p:cNvPr id="46" name="Rectangle 46"/>
            <p:cNvSpPr/>
            <p:nvPr/>
          </p:nvSpPr>
          <p:spPr>
            <a:xfrm>
              <a:off x="4619625" y="4714875"/>
              <a:ext cx="2952750" cy="9525"/>
            </a:xfrm>
            <a:prstGeom prst="rect">
              <a:avLst/>
            </a:prstGeom>
            <a:solidFill>
              <a:srgbClr val="D4C5C5"/>
            </a:solidFill>
            <a:ln>
              <a:noFill/>
            </a:ln>
          </p:spPr>
        </p:sp>
        <p:sp>
          <p:nvSpPr>
            <p:cNvPr id="47" name="TextBox 47"/>
            <p:cNvSpPr txBox="1"/>
            <p:nvPr/>
          </p:nvSpPr>
          <p:spPr>
            <a:xfrm>
              <a:off x="4606290" y="4934902"/>
              <a:ext cx="1846898" cy="213360"/>
            </a:xfrm>
            <a:prstGeom prst="rect">
              <a:avLst/>
            </a:prstGeom>
            <a:noFill/>
            <a:ln>
              <a:noFill/>
            </a:ln>
          </p:spPr>
          <p:txBody>
            <a:bodyPr wrap="none" lIns="0" tIns="0" rIns="0" bIns="0" anchor="t" anchorCtr="0">
              <a:spAutoFit/>
            </a:bodyPr>
            <a:lstStyle/>
            <a:p>
              <a:pPr algn="l"/>
              <a:r>
                <a:rPr lang="zh-CN" sz="1050" dirty="0">
                  <a:solidFill>
                    <a:srgbClr val="1A3C5E"/>
                  </a:solidFill>
                  <a:latin typeface="Arial"/>
                  <a:ea typeface="Microsoft YaHei"/>
                  <a:cs typeface="Arial"/>
                </a:rPr>
                <a:t>适用于灾害救援中的空中侦察</a:t>
              </a:r>
            </a:p>
          </p:txBody>
        </p:sp>
        <p:sp>
          <p:nvSpPr>
            <p:cNvPr id="48" name="TextBox 48"/>
            <p:cNvSpPr txBox="1"/>
            <p:nvPr/>
          </p:nvSpPr>
          <p:spPr>
            <a:xfrm>
              <a:off x="4606290" y="5173028"/>
              <a:ext cx="1426845" cy="213360"/>
            </a:xfrm>
            <a:prstGeom prst="rect">
              <a:avLst/>
            </a:prstGeom>
            <a:noFill/>
            <a:ln>
              <a:noFill/>
            </a:ln>
          </p:spPr>
          <p:txBody>
            <a:bodyPr wrap="none" lIns="0" tIns="0" rIns="0" bIns="0" anchor="t" anchorCtr="0">
              <a:spAutoFit/>
            </a:bodyPr>
            <a:lstStyle/>
            <a:p>
              <a:pPr algn="l"/>
              <a:r>
                <a:rPr lang="zh-CN" sz="1050" dirty="0">
                  <a:solidFill>
                    <a:srgbClr val="1A3C5E"/>
                  </a:solidFill>
                  <a:latin typeface="Arial"/>
                  <a:ea typeface="Microsoft YaHei"/>
                  <a:cs typeface="Arial"/>
                </a:rPr>
                <a:t>与地面搜救的联合任务</a:t>
              </a:r>
            </a:p>
          </p:txBody>
        </p:sp>
      </p:grpSp>
      <p:grpSp>
        <p:nvGrpSpPr>
          <p:cNvPr id="68" name="Group 68"/>
          <p:cNvGrpSpPr/>
          <p:nvPr/>
        </p:nvGrpSpPr>
        <p:grpSpPr>
          <a:xfrm>
            <a:off x="8096250" y="1143000"/>
            <a:ext cx="3524250" cy="4762500"/>
            <a:chOff x="8096250" y="1143000"/>
            <a:chExt cx="3524250" cy="4762500"/>
          </a:xfrm>
        </p:grpSpPr>
        <p:sp>
          <p:nvSpPr>
            <p:cNvPr id="50" name="Rectangle 50"/>
            <p:cNvSpPr/>
            <p:nvPr/>
          </p:nvSpPr>
          <p:spPr>
            <a:xfrm>
              <a:off x="8096250" y="1143000"/>
              <a:ext cx="3524250" cy="4762500"/>
            </a:xfrm>
            <a:prstGeom prst="roundRect">
              <a:avLst>
                <a:gd name="adj" fmla="val 2162"/>
              </a:avLst>
            </a:prstGeom>
            <a:solidFill>
              <a:srgbClr val="FFFFFF"/>
            </a:solidFill>
            <a:ln w="9525">
              <a:solidFill>
                <a:srgbClr val="D4C5C5"/>
              </a:solidFill>
            </a:ln>
          </p:spPr>
        </p:sp>
        <p:sp>
          <p:nvSpPr>
            <p:cNvPr id="51" name="Rectangle 51"/>
            <p:cNvSpPr/>
            <p:nvPr/>
          </p:nvSpPr>
          <p:spPr>
            <a:xfrm>
              <a:off x="8096250" y="1143000"/>
              <a:ext cx="3524250" cy="1047750"/>
            </a:xfrm>
            <a:prstGeom prst="roundRect">
              <a:avLst>
                <a:gd name="adj" fmla="val 7273"/>
              </a:avLst>
            </a:prstGeom>
            <a:solidFill>
              <a:srgbClr val="F8F2F2"/>
            </a:solidFill>
            <a:ln>
              <a:noFill/>
            </a:ln>
          </p:spPr>
        </p:sp>
        <p:sp>
          <p:nvSpPr>
            <p:cNvPr id="52" name="Rectangle 52"/>
            <p:cNvSpPr/>
            <p:nvPr/>
          </p:nvSpPr>
          <p:spPr>
            <a:xfrm>
              <a:off x="8096250" y="2114550"/>
              <a:ext cx="3524250" cy="76200"/>
            </a:xfrm>
            <a:prstGeom prst="rect">
              <a:avLst/>
            </a:prstGeom>
            <a:solidFill>
              <a:srgbClr val="F8F2F2"/>
            </a:solidFill>
            <a:ln>
              <a:noFill/>
            </a:ln>
          </p:spPr>
        </p:sp>
        <p:sp>
          <p:nvSpPr>
            <p:cNvPr id="53" name="Freeform 53"/>
            <p:cNvSpPr/>
            <p:nvPr/>
          </p:nvSpPr>
          <p:spPr>
            <a:xfrm>
              <a:off x="8878253" y="1599724"/>
              <a:ext cx="419100" cy="392906"/>
            </a:xfrm>
            <a:custGeom>
              <a:avLst/>
              <a:gdLst/>
              <a:ahLst/>
              <a:cxnLst/>
              <a:rect l="l" t="t" r="r" b="b"/>
              <a:pathLst>
                <a:path w="419100" h="392906">
                  <a:moveTo>
                    <a:pt x="235744" y="0"/>
                  </a:moveTo>
                  <a:lnTo>
                    <a:pt x="235744" y="52388"/>
                  </a:lnTo>
                  <a:lnTo>
                    <a:pt x="340519" y="52388"/>
                  </a:lnTo>
                  <a:lnTo>
                    <a:pt x="419100" y="222647"/>
                  </a:lnTo>
                  <a:lnTo>
                    <a:pt x="340519" y="392906"/>
                  </a:lnTo>
                  <a:lnTo>
                    <a:pt x="78581" y="392906"/>
                  </a:lnTo>
                  <a:lnTo>
                    <a:pt x="0" y="222647"/>
                  </a:lnTo>
                  <a:lnTo>
                    <a:pt x="78581" y="52388"/>
                  </a:lnTo>
                  <a:lnTo>
                    <a:pt x="183356" y="52388"/>
                  </a:lnTo>
                  <a:lnTo>
                    <a:pt x="183356" y="0"/>
                  </a:lnTo>
                  <a:lnTo>
                    <a:pt x="235744" y="0"/>
                  </a:lnTo>
                  <a:close/>
                  <a:moveTo>
                    <a:pt x="120437" y="307473"/>
                  </a:moveTo>
                  <a:lnTo>
                    <a:pt x="209550" y="321183"/>
                  </a:lnTo>
                  <a:lnTo>
                    <a:pt x="298664" y="307473"/>
                  </a:lnTo>
                  <a:lnTo>
                    <a:pt x="290696" y="255694"/>
                  </a:lnTo>
                  <a:lnTo>
                    <a:pt x="209550" y="268177"/>
                  </a:lnTo>
                  <a:lnTo>
                    <a:pt x="128403" y="255694"/>
                  </a:lnTo>
                  <a:lnTo>
                    <a:pt x="120437" y="307473"/>
                  </a:lnTo>
                  <a:close/>
                  <a:moveTo>
                    <a:pt x="183356" y="176808"/>
                  </a:moveTo>
                  <a:cubicBezTo>
                    <a:pt x="183356" y="194891"/>
                    <a:pt x="168697" y="209550"/>
                    <a:pt x="150614" y="209550"/>
                  </a:cubicBezTo>
                  <a:cubicBezTo>
                    <a:pt x="132531" y="209550"/>
                    <a:pt x="117872" y="194891"/>
                    <a:pt x="117872" y="176808"/>
                  </a:cubicBezTo>
                  <a:cubicBezTo>
                    <a:pt x="117872" y="158725"/>
                    <a:pt x="132531" y="144066"/>
                    <a:pt x="150614" y="144066"/>
                  </a:cubicBezTo>
                  <a:cubicBezTo>
                    <a:pt x="168697" y="144066"/>
                    <a:pt x="183356" y="158725"/>
                    <a:pt x="183356" y="176808"/>
                  </a:cubicBezTo>
                  <a:close/>
                  <a:moveTo>
                    <a:pt x="268486" y="209550"/>
                  </a:moveTo>
                  <a:cubicBezTo>
                    <a:pt x="286570" y="209550"/>
                    <a:pt x="301228" y="194891"/>
                    <a:pt x="301228" y="176808"/>
                  </a:cubicBezTo>
                  <a:cubicBezTo>
                    <a:pt x="301228" y="158725"/>
                    <a:pt x="286570" y="144066"/>
                    <a:pt x="268486" y="144066"/>
                  </a:cubicBezTo>
                  <a:cubicBezTo>
                    <a:pt x="250403" y="144066"/>
                    <a:pt x="235744" y="158725"/>
                    <a:pt x="235744" y="176808"/>
                  </a:cubicBezTo>
                  <a:cubicBezTo>
                    <a:pt x="235744" y="194891"/>
                    <a:pt x="250403" y="209550"/>
                    <a:pt x="268486" y="209550"/>
                  </a:cubicBezTo>
                  <a:close/>
                </a:path>
              </a:pathLst>
            </a:custGeom>
            <a:solidFill>
              <a:srgbClr val="8B0000"/>
            </a:solidFill>
            <a:ln>
              <a:noFill/>
            </a:ln>
          </p:spPr>
        </p:sp>
        <p:sp>
          <p:nvSpPr>
            <p:cNvPr id="54" name="TextBox 54"/>
            <p:cNvSpPr txBox="1"/>
            <p:nvPr/>
          </p:nvSpPr>
          <p:spPr>
            <a:xfrm>
              <a:off x="9375362" y="1584008"/>
              <a:ext cx="966026" cy="335280"/>
            </a:xfrm>
            <a:prstGeom prst="rect">
              <a:avLst/>
            </a:prstGeom>
            <a:noFill/>
            <a:ln>
              <a:noFill/>
            </a:ln>
          </p:spPr>
          <p:txBody>
            <a:bodyPr wrap="none" lIns="0" tIns="0" rIns="0" bIns="0" anchor="t" anchorCtr="0">
              <a:spAutoFit/>
            </a:bodyPr>
            <a:lstStyle/>
            <a:p>
              <a:pPr algn="ctr"/>
              <a:r>
                <a:rPr lang="zh-CN" sz="1650" b="1" dirty="0">
                  <a:solidFill>
                    <a:srgbClr val="8B0000"/>
                  </a:solidFill>
                  <a:latin typeface="Arial"/>
                  <a:ea typeface="Microsoft YaHei"/>
                  <a:cs typeface="Arial"/>
                </a:rPr>
                <a:t>地地协同</a:t>
              </a:r>
            </a:p>
          </p:txBody>
        </p:sp>
        <p:sp>
          <p:nvSpPr>
            <p:cNvPr id="55" name="TextBox 55"/>
            <p:cNvSpPr txBox="1"/>
            <p:nvPr/>
          </p:nvSpPr>
          <p:spPr>
            <a:xfrm>
              <a:off x="9325928" y="1875949"/>
              <a:ext cx="1064895"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多四足机器狗协同</a:t>
              </a:r>
            </a:p>
          </p:txBody>
        </p:sp>
        <p:sp>
          <p:nvSpPr>
            <p:cNvPr id="56" name="Rectangle 56"/>
            <p:cNvSpPr/>
            <p:nvPr/>
          </p:nvSpPr>
          <p:spPr>
            <a:xfrm>
              <a:off x="8382000" y="2381250"/>
              <a:ext cx="2952750" cy="9525"/>
            </a:xfrm>
            <a:prstGeom prst="rect">
              <a:avLst/>
            </a:prstGeom>
            <a:solidFill>
              <a:srgbClr val="D4C5C5"/>
            </a:solidFill>
            <a:ln>
              <a:noFill/>
            </a:ln>
          </p:spPr>
        </p:sp>
        <p:sp>
          <p:nvSpPr>
            <p:cNvPr id="57" name="TextBox 57"/>
            <p:cNvSpPr txBox="1"/>
            <p:nvPr/>
          </p:nvSpPr>
          <p:spPr>
            <a:xfrm>
              <a:off x="8366760" y="2585085"/>
              <a:ext cx="758571" cy="243840"/>
            </a:xfrm>
            <a:prstGeom prst="rect">
              <a:avLst/>
            </a:prstGeom>
            <a:noFill/>
            <a:ln>
              <a:noFill/>
            </a:ln>
          </p:spPr>
          <p:txBody>
            <a:bodyPr wrap="none" lIns="0" tIns="0" rIns="0" bIns="0" anchor="t" anchorCtr="0">
              <a:spAutoFit/>
            </a:bodyPr>
            <a:lstStyle/>
            <a:p>
              <a:pPr algn="l"/>
              <a:r>
                <a:rPr lang="zh-CN" sz="1200" dirty="0">
                  <a:solidFill>
                    <a:srgbClr val="2D2D2D"/>
                  </a:solidFill>
                  <a:latin typeface="Arial"/>
                  <a:ea typeface="Microsoft YaHei"/>
                  <a:cs typeface="Arial"/>
                </a:rPr>
                <a:t>代表成果:</a:t>
              </a:r>
            </a:p>
          </p:txBody>
        </p:sp>
        <p:sp>
          <p:nvSpPr>
            <p:cNvPr id="58" name="Ellipse 58"/>
            <p:cNvSpPr/>
            <p:nvPr/>
          </p:nvSpPr>
          <p:spPr>
            <a:xfrm>
              <a:off x="8486775" y="3009900"/>
              <a:ext cx="76200" cy="76200"/>
            </a:xfrm>
            <a:prstGeom prst="ellipse">
              <a:avLst/>
            </a:prstGeom>
            <a:solidFill>
              <a:srgbClr val="C41E3A"/>
            </a:solidFill>
            <a:ln>
              <a:noFill/>
            </a:ln>
          </p:spPr>
        </p:sp>
        <p:sp>
          <p:nvSpPr>
            <p:cNvPr id="59" name="TextBox 59"/>
            <p:cNvSpPr txBox="1"/>
            <p:nvPr/>
          </p:nvSpPr>
          <p:spPr>
            <a:xfrm>
              <a:off x="8653462" y="2983706"/>
              <a:ext cx="2428875" cy="228600"/>
            </a:xfrm>
            <a:prstGeom prst="rect">
              <a:avLst/>
            </a:prstGeom>
            <a:noFill/>
            <a:ln>
              <a:noFill/>
            </a:ln>
          </p:spPr>
          <p:txBody>
            <a:bodyPr wrap="none" lIns="0" tIns="0" rIns="0" bIns="0" anchor="t" anchorCtr="0">
              <a:spAutoFit/>
            </a:bodyPr>
            <a:lstStyle/>
            <a:p>
              <a:pPr algn="l"/>
              <a:r>
                <a:rPr lang="zh-CN" sz="1125" dirty="0">
                  <a:solidFill>
                    <a:srgbClr val="2D2D2D"/>
                  </a:solidFill>
                  <a:latin typeface="Arial"/>
                  <a:ea typeface="Microsoft YaHei"/>
                  <a:cs typeface="Arial"/>
                </a:rPr>
                <a:t>上海交通大学多机器狗协同运输系统</a:t>
              </a:r>
            </a:p>
          </p:txBody>
        </p:sp>
        <p:sp>
          <p:nvSpPr>
            <p:cNvPr id="60" name="Ellipse 60"/>
            <p:cNvSpPr/>
            <p:nvPr/>
          </p:nvSpPr>
          <p:spPr>
            <a:xfrm>
              <a:off x="8486775" y="3390900"/>
              <a:ext cx="76200" cy="76200"/>
            </a:xfrm>
            <a:prstGeom prst="ellipse">
              <a:avLst/>
            </a:prstGeom>
            <a:solidFill>
              <a:srgbClr val="C41E3A"/>
            </a:solidFill>
            <a:ln>
              <a:noFill/>
            </a:ln>
          </p:spPr>
        </p:sp>
        <p:sp>
          <p:nvSpPr>
            <p:cNvPr id="61" name="TextBox 61"/>
            <p:cNvSpPr txBox="1"/>
            <p:nvPr/>
          </p:nvSpPr>
          <p:spPr>
            <a:xfrm>
              <a:off x="8653462" y="3364706"/>
              <a:ext cx="2728912" cy="228600"/>
            </a:xfrm>
            <a:prstGeom prst="rect">
              <a:avLst/>
            </a:prstGeom>
            <a:noFill/>
            <a:ln>
              <a:noFill/>
            </a:ln>
          </p:spPr>
          <p:txBody>
            <a:bodyPr wrap="none" lIns="0" tIns="0" rIns="0" bIns="0" anchor="t" anchorCtr="0">
              <a:spAutoFit/>
            </a:bodyPr>
            <a:lstStyle/>
            <a:p>
              <a:pPr algn="l"/>
              <a:r>
                <a:rPr lang="zh-CN" sz="1125" dirty="0">
                  <a:solidFill>
                    <a:srgbClr val="2D2D2D"/>
                  </a:solidFill>
                  <a:latin typeface="Arial"/>
                  <a:ea typeface="Microsoft YaHei"/>
                  <a:cs typeface="Arial"/>
                </a:rPr>
                <a:t>分布式协商算法实现负载均衡和步态同步</a:t>
              </a:r>
            </a:p>
          </p:txBody>
        </p:sp>
        <p:sp>
          <p:nvSpPr>
            <p:cNvPr id="62" name="Rectangle 62"/>
            <p:cNvSpPr/>
            <p:nvPr/>
          </p:nvSpPr>
          <p:spPr>
            <a:xfrm>
              <a:off x="8382000" y="3810000"/>
              <a:ext cx="2952750" cy="9525"/>
            </a:xfrm>
            <a:prstGeom prst="rect">
              <a:avLst/>
            </a:prstGeom>
            <a:solidFill>
              <a:srgbClr val="D4C5C5"/>
            </a:solidFill>
            <a:ln>
              <a:noFill/>
            </a:ln>
          </p:spPr>
        </p:sp>
        <p:sp>
          <p:nvSpPr>
            <p:cNvPr id="63" name="TextBox 63"/>
            <p:cNvSpPr txBox="1"/>
            <p:nvPr/>
          </p:nvSpPr>
          <p:spPr>
            <a:xfrm>
              <a:off x="8366760" y="4013835"/>
              <a:ext cx="794976" cy="243840"/>
            </a:xfrm>
            <a:prstGeom prst="rect">
              <a:avLst/>
            </a:prstGeom>
            <a:noFill/>
            <a:ln>
              <a:noFill/>
            </a:ln>
          </p:spPr>
          <p:txBody>
            <a:bodyPr wrap="none" lIns="0" tIns="0" rIns="0" bIns="0" anchor="t" anchorCtr="0">
              <a:spAutoFit/>
            </a:bodyPr>
            <a:lstStyle/>
            <a:p>
              <a:pPr algn="l"/>
              <a:r>
                <a:rPr lang="zh-CN" sz="1200" b="1" dirty="0">
                  <a:solidFill>
                    <a:srgbClr val="8B0000"/>
                  </a:solidFill>
                  <a:latin typeface="Arial"/>
                  <a:ea typeface="Microsoft YaHei"/>
                  <a:cs typeface="Arial"/>
                </a:rPr>
                <a:t>关键技术:</a:t>
              </a:r>
            </a:p>
          </p:txBody>
        </p:sp>
        <p:sp>
          <p:nvSpPr>
            <p:cNvPr id="64" name="TextBox 64"/>
            <p:cNvSpPr txBox="1"/>
            <p:nvPr/>
          </p:nvSpPr>
          <p:spPr>
            <a:xfrm>
              <a:off x="8367712" y="4307681"/>
              <a:ext cx="2278856" cy="228600"/>
            </a:xfrm>
            <a:prstGeom prst="rect">
              <a:avLst/>
            </a:prstGeom>
            <a:noFill/>
            <a:ln>
              <a:noFill/>
            </a:ln>
          </p:spPr>
          <p:txBody>
            <a:bodyPr wrap="none" lIns="0" tIns="0" rIns="0" bIns="0" anchor="t" anchorCtr="0">
              <a:spAutoFit/>
            </a:bodyPr>
            <a:lstStyle/>
            <a:p>
              <a:pPr algn="l"/>
              <a:r>
                <a:rPr lang="zh-CN" sz="1125" dirty="0">
                  <a:solidFill>
                    <a:srgbClr val="2D2D2D"/>
                  </a:solidFill>
                  <a:latin typeface="Arial"/>
                  <a:ea typeface="Microsoft YaHei"/>
                  <a:cs typeface="Arial"/>
                </a:rPr>
                <a:t>分布式协商、负载均衡、步态同步</a:t>
              </a:r>
            </a:p>
          </p:txBody>
        </p:sp>
        <p:sp>
          <p:nvSpPr>
            <p:cNvPr id="65" name="Rectangle 65"/>
            <p:cNvSpPr/>
            <p:nvPr/>
          </p:nvSpPr>
          <p:spPr>
            <a:xfrm>
              <a:off x="8382000" y="4714875"/>
              <a:ext cx="2952750" cy="9525"/>
            </a:xfrm>
            <a:prstGeom prst="rect">
              <a:avLst/>
            </a:prstGeom>
            <a:solidFill>
              <a:srgbClr val="D4C5C5"/>
            </a:solidFill>
            <a:ln>
              <a:noFill/>
            </a:ln>
          </p:spPr>
        </p:sp>
        <p:sp>
          <p:nvSpPr>
            <p:cNvPr id="66" name="TextBox 66"/>
            <p:cNvSpPr txBox="1"/>
            <p:nvPr/>
          </p:nvSpPr>
          <p:spPr>
            <a:xfrm>
              <a:off x="8368665" y="4934902"/>
              <a:ext cx="1706880" cy="213360"/>
            </a:xfrm>
            <a:prstGeom prst="rect">
              <a:avLst/>
            </a:prstGeom>
            <a:noFill/>
            <a:ln>
              <a:noFill/>
            </a:ln>
          </p:spPr>
          <p:txBody>
            <a:bodyPr wrap="none" lIns="0" tIns="0" rIns="0" bIns="0" anchor="t" anchorCtr="0">
              <a:spAutoFit/>
            </a:bodyPr>
            <a:lstStyle/>
            <a:p>
              <a:pPr algn="l"/>
              <a:r>
                <a:rPr lang="zh-CN" sz="1050" dirty="0">
                  <a:solidFill>
                    <a:srgbClr val="1A3C5E"/>
                  </a:solidFill>
                  <a:latin typeface="Arial"/>
                  <a:ea typeface="Microsoft YaHei"/>
                  <a:cs typeface="Arial"/>
                </a:rPr>
                <a:t>适应各种复杂地形环境中的</a:t>
              </a:r>
            </a:p>
          </p:txBody>
        </p:sp>
        <p:sp>
          <p:nvSpPr>
            <p:cNvPr id="67" name="TextBox 67"/>
            <p:cNvSpPr txBox="1"/>
            <p:nvPr/>
          </p:nvSpPr>
          <p:spPr>
            <a:xfrm>
              <a:off x="8368665" y="5173028"/>
              <a:ext cx="1146810" cy="213360"/>
            </a:xfrm>
            <a:prstGeom prst="rect">
              <a:avLst/>
            </a:prstGeom>
            <a:noFill/>
            <a:ln>
              <a:noFill/>
            </a:ln>
          </p:spPr>
          <p:txBody>
            <a:bodyPr wrap="none" lIns="0" tIns="0" rIns="0" bIns="0" anchor="t" anchorCtr="0">
              <a:spAutoFit/>
            </a:bodyPr>
            <a:lstStyle/>
            <a:p>
              <a:pPr algn="l"/>
              <a:r>
                <a:rPr lang="zh-CN" sz="1050" dirty="0">
                  <a:solidFill>
                    <a:srgbClr val="1A3C5E"/>
                  </a:solidFill>
                  <a:latin typeface="Arial"/>
                  <a:ea typeface="Microsoft YaHei"/>
                  <a:cs typeface="Arial"/>
                </a:rPr>
                <a:t>重物搬运协同作业</a:t>
              </a:r>
            </a:p>
          </p:txBody>
        </p:sp>
      </p:grpSp>
      <p:grpSp>
        <p:nvGrpSpPr>
          <p:cNvPr id="72" name="Group 72"/>
          <p:cNvGrpSpPr/>
          <p:nvPr/>
        </p:nvGrpSpPr>
        <p:grpSpPr>
          <a:xfrm>
            <a:off x="0" y="6578441"/>
            <a:ext cx="12192000" cy="279559"/>
            <a:chOff x="0" y="6578441"/>
            <a:chExt cx="12192000" cy="279559"/>
          </a:xfrm>
        </p:grpSpPr>
        <p:sp>
          <p:nvSpPr>
            <p:cNvPr id="69" name="Rectangle 69"/>
            <p:cNvSpPr/>
            <p:nvPr/>
          </p:nvSpPr>
          <p:spPr>
            <a:xfrm>
              <a:off x="0" y="6819900"/>
              <a:ext cx="12192000" cy="38100"/>
            </a:xfrm>
            <a:prstGeom prst="rect">
              <a:avLst/>
            </a:prstGeom>
            <a:solidFill>
              <a:srgbClr val="D4C5C5"/>
            </a:solidFill>
            <a:ln>
              <a:noFill/>
            </a:ln>
          </p:spPr>
        </p:sp>
        <p:sp>
          <p:nvSpPr>
            <p:cNvPr id="70" name="TextBox 70"/>
            <p:cNvSpPr txBox="1"/>
            <p:nvPr/>
          </p:nvSpPr>
          <p:spPr>
            <a:xfrm>
              <a:off x="11268980" y="6578441"/>
              <a:ext cx="361998" cy="167640"/>
            </a:xfrm>
            <a:prstGeom prst="rect">
              <a:avLst/>
            </a:prstGeom>
            <a:noFill/>
            <a:ln>
              <a:noFill/>
            </a:ln>
          </p:spPr>
          <p:txBody>
            <a:bodyPr wrap="none" lIns="0" tIns="0" rIns="0" bIns="0" anchor="t" anchorCtr="0">
              <a:spAutoFit/>
            </a:bodyPr>
            <a:lstStyle/>
            <a:p>
              <a:pPr algn="r"/>
              <a:r>
                <a:rPr lang="zh-CN" sz="825" dirty="0">
                  <a:solidFill>
                    <a:srgbClr val="999999"/>
                  </a:solidFill>
                  <a:latin typeface="Arial"/>
                  <a:ea typeface="Microsoft YaHei"/>
                  <a:cs typeface="Arial"/>
                </a:rPr>
                <a:t>05 / 16</a:t>
              </a:r>
            </a:p>
          </p:txBody>
        </p:sp>
        <p:sp>
          <p:nvSpPr>
            <p:cNvPr id="71" name="TextBox 71"/>
            <p:cNvSpPr txBox="1"/>
            <p:nvPr/>
          </p:nvSpPr>
          <p:spPr>
            <a:xfrm>
              <a:off x="561022" y="6578441"/>
              <a:ext cx="1814179" cy="167640"/>
            </a:xfrm>
            <a:prstGeom prst="rect">
              <a:avLst/>
            </a:prstGeom>
            <a:noFill/>
            <a:ln>
              <a:noFill/>
            </a:ln>
          </p:spPr>
          <p:txBody>
            <a:bodyPr wrap="none" lIns="0" tIns="0" rIns="0" bIns="0" anchor="t" anchorCtr="0">
              <a:spAutoFit/>
            </a:bodyPr>
            <a:lstStyle/>
            <a:p>
              <a:pPr algn="l"/>
              <a:r>
                <a:rPr lang="zh-CN" sz="825" dirty="0">
                  <a:solidFill>
                    <a:srgbClr val="999999"/>
                  </a:solidFill>
                  <a:latin typeface="Arial"/>
                  <a:ea typeface="Microsoft YaHei"/>
                  <a:cs typeface="Arial"/>
                </a:rPr>
                <a:t>华中科技大学 人工智能与自动化学院</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slide(fromBottom)">
                                      <p:cBhvr>
                                        <p:cTn id="7" dur="400"/>
                                        <p:tgtEl>
                                          <p:spTgt spid="27"/>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49"/>
                                        </p:tgtEl>
                                        <p:attrNameLst>
                                          <p:attrName>style.visibility</p:attrName>
                                        </p:attrNameLst>
                                      </p:cBhvr>
                                      <p:to>
                                        <p:strVal val="visible"/>
                                      </p:to>
                                    </p:set>
                                    <p:animEffect transition="in" filter="slide(fromBottom)">
                                      <p:cBhvr>
                                        <p:cTn id="11" dur="400"/>
                                        <p:tgtEl>
                                          <p:spTgt spid="49"/>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slide(fromBottom)">
                                      <p:cBhvr>
                                        <p:cTn id="15"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49" grpId="0"/>
      <p:bldP spid="6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gradFill>
              <a:gsLst>
                <a:gs pos="0">
                  <a:srgbClr val="8B0000"/>
                </a:gs>
                <a:gs pos="100000">
                  <a:srgbClr val="C41E3A"/>
                </a:gs>
              </a:gsLst>
              <a:lin ang="0" scaled="1"/>
            </a:gradFill>
            <a:ln>
              <a:noFill/>
            </a:ln>
          </p:spPr>
        </p:sp>
      </p:grpSp>
      <p:grpSp>
        <p:nvGrpSpPr>
          <p:cNvPr id="8" name="Group 8"/>
          <p:cNvGrpSpPr/>
          <p:nvPr/>
        </p:nvGrpSpPr>
        <p:grpSpPr>
          <a:xfrm>
            <a:off x="731520" y="264795"/>
            <a:ext cx="2253139" cy="601980"/>
            <a:chOff x="731520" y="264795"/>
            <a:chExt cx="2253139" cy="601980"/>
          </a:xfrm>
        </p:grpSpPr>
        <p:sp>
          <p:nvSpPr>
            <p:cNvPr id="5" name="TextBox 5"/>
            <p:cNvSpPr txBox="1"/>
            <p:nvPr/>
          </p:nvSpPr>
          <p:spPr>
            <a:xfrm>
              <a:off x="731520" y="264795"/>
              <a:ext cx="2077212" cy="487680"/>
            </a:xfrm>
            <a:prstGeom prst="rect">
              <a:avLst/>
            </a:prstGeom>
            <a:noFill/>
            <a:ln>
              <a:noFill/>
            </a:ln>
          </p:spPr>
          <p:txBody>
            <a:bodyPr wrap="none" lIns="0" tIns="0" rIns="0" bIns="0" anchor="t" anchorCtr="0">
              <a:spAutoFit/>
            </a:bodyPr>
            <a:lstStyle/>
            <a:p>
              <a:pPr algn="l"/>
              <a:r>
                <a:rPr lang="zh-CN" sz="2400" b="1" dirty="0">
                  <a:solidFill>
                    <a:srgbClr val="8B0000"/>
                  </a:solidFill>
                  <a:latin typeface="Arial"/>
                  <a:ea typeface="Microsoft YaHei"/>
                  <a:cs typeface="Arial"/>
                </a:rPr>
                <a:t>国外研究现状</a:t>
              </a:r>
            </a:p>
          </p:txBody>
        </p:sp>
        <p:sp>
          <p:nvSpPr>
            <p:cNvPr id="6" name="TextBox 6"/>
            <p:cNvSpPr txBox="1"/>
            <p:nvPr/>
          </p:nvSpPr>
          <p:spPr>
            <a:xfrm>
              <a:off x="749618" y="637699"/>
              <a:ext cx="2235041" cy="198120"/>
            </a:xfrm>
            <a:prstGeom prst="rect">
              <a:avLst/>
            </a:prstGeom>
            <a:noFill/>
            <a:ln>
              <a:noFill/>
            </a:ln>
          </p:spPr>
          <p:txBody>
            <a:bodyPr wrap="none" lIns="0" tIns="0" rIns="0" bIns="0" anchor="t" anchorCtr="0">
              <a:spAutoFit/>
            </a:bodyPr>
            <a:lstStyle/>
            <a:p>
              <a:pPr algn="l"/>
              <a:r>
                <a:rPr lang="zh-CN" sz="975" dirty="0">
                  <a:solidFill>
                    <a:srgbClr val="999999"/>
                  </a:solidFill>
                  <a:latin typeface="Arial"/>
                  <a:ea typeface="Microsoft YaHei"/>
                  <a:cs typeface="Arial"/>
                </a:rPr>
                <a:t>国外多无人系统协同技术三大方向进展</a:t>
              </a:r>
            </a:p>
          </p:txBody>
        </p:sp>
        <p:sp>
          <p:nvSpPr>
            <p:cNvPr id="7" name="Rectangle 7"/>
            <p:cNvSpPr/>
            <p:nvPr/>
          </p:nvSpPr>
          <p:spPr>
            <a:xfrm>
              <a:off x="762000" y="838200"/>
              <a:ext cx="476250" cy="28575"/>
            </a:xfrm>
            <a:prstGeom prst="rect">
              <a:avLst/>
            </a:prstGeom>
            <a:solidFill>
              <a:srgbClr val="C41E3A"/>
            </a:solidFill>
            <a:ln>
              <a:noFill/>
            </a:ln>
          </p:spPr>
        </p:sp>
      </p:grpSp>
      <p:grpSp>
        <p:nvGrpSpPr>
          <p:cNvPr id="24" name="Group 24"/>
          <p:cNvGrpSpPr/>
          <p:nvPr/>
        </p:nvGrpSpPr>
        <p:grpSpPr>
          <a:xfrm>
            <a:off x="571500" y="1143000"/>
            <a:ext cx="3524250" cy="4762500"/>
            <a:chOff x="571500" y="1143000"/>
            <a:chExt cx="3524250" cy="4762500"/>
          </a:xfrm>
        </p:grpSpPr>
        <p:sp>
          <p:nvSpPr>
            <p:cNvPr id="9" name="Rectangle 9"/>
            <p:cNvSpPr/>
            <p:nvPr/>
          </p:nvSpPr>
          <p:spPr>
            <a:xfrm>
              <a:off x="571500" y="1143000"/>
              <a:ext cx="3524250" cy="4762500"/>
            </a:xfrm>
            <a:prstGeom prst="roundRect">
              <a:avLst>
                <a:gd name="adj" fmla="val 2162"/>
              </a:avLst>
            </a:prstGeom>
            <a:solidFill>
              <a:srgbClr val="FFFFFF"/>
            </a:solidFill>
            <a:ln w="9525">
              <a:solidFill>
                <a:srgbClr val="D4C5C5"/>
              </a:solidFill>
            </a:ln>
          </p:spPr>
        </p:sp>
        <p:sp>
          <p:nvSpPr>
            <p:cNvPr id="10" name="Rectangle 10"/>
            <p:cNvSpPr/>
            <p:nvPr/>
          </p:nvSpPr>
          <p:spPr>
            <a:xfrm>
              <a:off x="571500" y="1143000"/>
              <a:ext cx="3524250" cy="1047750"/>
            </a:xfrm>
            <a:prstGeom prst="roundRect">
              <a:avLst>
                <a:gd name="adj" fmla="val 7273"/>
              </a:avLst>
            </a:prstGeom>
            <a:solidFill>
              <a:srgbClr val="F8F2F2"/>
            </a:solidFill>
            <a:ln>
              <a:noFill/>
            </a:ln>
          </p:spPr>
        </p:sp>
        <p:sp>
          <p:nvSpPr>
            <p:cNvPr id="11" name="Rectangle 11"/>
            <p:cNvSpPr/>
            <p:nvPr/>
          </p:nvSpPr>
          <p:spPr>
            <a:xfrm>
              <a:off x="571500" y="2114550"/>
              <a:ext cx="3524250" cy="76200"/>
            </a:xfrm>
            <a:prstGeom prst="rect">
              <a:avLst/>
            </a:prstGeom>
            <a:solidFill>
              <a:srgbClr val="F8F2F2"/>
            </a:solidFill>
            <a:ln>
              <a:noFill/>
            </a:ln>
          </p:spPr>
        </p:sp>
        <p:sp>
          <p:nvSpPr>
            <p:cNvPr id="12" name="Freeform 12"/>
            <p:cNvSpPr/>
            <p:nvPr/>
          </p:nvSpPr>
          <p:spPr>
            <a:xfrm>
              <a:off x="1395079" y="1598933"/>
              <a:ext cx="419100" cy="419100"/>
            </a:xfrm>
            <a:custGeom>
              <a:avLst/>
              <a:gdLst/>
              <a:ahLst/>
              <a:cxnLst/>
              <a:rect l="l" t="t" r="r" b="b"/>
              <a:pathLst>
                <a:path w="419100" h="419100">
                  <a:moveTo>
                    <a:pt x="209550" y="52388"/>
                  </a:moveTo>
                  <a:cubicBezTo>
                    <a:pt x="122752" y="52388"/>
                    <a:pt x="52388" y="122752"/>
                    <a:pt x="52388" y="209550"/>
                  </a:cubicBezTo>
                  <a:cubicBezTo>
                    <a:pt x="52388" y="296348"/>
                    <a:pt x="122752" y="366712"/>
                    <a:pt x="209550" y="366712"/>
                  </a:cubicBezTo>
                  <a:cubicBezTo>
                    <a:pt x="296348" y="366712"/>
                    <a:pt x="366712" y="296348"/>
                    <a:pt x="366712" y="209550"/>
                  </a:cubicBezTo>
                  <a:cubicBezTo>
                    <a:pt x="366712" y="195471"/>
                    <a:pt x="364861" y="181825"/>
                    <a:pt x="361390" y="168842"/>
                  </a:cubicBezTo>
                  <a:lnTo>
                    <a:pt x="402517" y="127713"/>
                  </a:lnTo>
                  <a:cubicBezTo>
                    <a:pt x="413193" y="152855"/>
                    <a:pt x="419100" y="180513"/>
                    <a:pt x="419100" y="209550"/>
                  </a:cubicBezTo>
                  <a:cubicBezTo>
                    <a:pt x="419100" y="325282"/>
                    <a:pt x="325282" y="419100"/>
                    <a:pt x="209550" y="419100"/>
                  </a:cubicBezTo>
                  <a:cubicBezTo>
                    <a:pt x="93819" y="419100"/>
                    <a:pt x="0" y="325282"/>
                    <a:pt x="0" y="209550"/>
                  </a:cubicBezTo>
                  <a:cubicBezTo>
                    <a:pt x="0" y="93819"/>
                    <a:pt x="93819" y="0"/>
                    <a:pt x="209550" y="0"/>
                  </a:cubicBezTo>
                  <a:cubicBezTo>
                    <a:pt x="257975" y="0"/>
                    <a:pt x="302564" y="16426"/>
                    <a:pt x="338046" y="44009"/>
                  </a:cubicBezTo>
                  <a:lnTo>
                    <a:pt x="374385" y="7672"/>
                  </a:lnTo>
                  <a:lnTo>
                    <a:pt x="411428" y="44716"/>
                  </a:lnTo>
                  <a:lnTo>
                    <a:pt x="228072" y="228072"/>
                  </a:lnTo>
                  <a:lnTo>
                    <a:pt x="191028" y="191028"/>
                  </a:lnTo>
                  <a:lnTo>
                    <a:pt x="223116" y="158941"/>
                  </a:lnTo>
                  <a:cubicBezTo>
                    <a:pt x="205639" y="154273"/>
                    <a:pt x="186218" y="158795"/>
                    <a:pt x="172507" y="172507"/>
                  </a:cubicBezTo>
                  <a:cubicBezTo>
                    <a:pt x="152048" y="192965"/>
                    <a:pt x="152048" y="226135"/>
                    <a:pt x="172507" y="246593"/>
                  </a:cubicBezTo>
                  <a:cubicBezTo>
                    <a:pt x="192965" y="267053"/>
                    <a:pt x="226135" y="267053"/>
                    <a:pt x="246593" y="246593"/>
                  </a:cubicBezTo>
                  <a:lnTo>
                    <a:pt x="283636" y="283636"/>
                  </a:lnTo>
                  <a:cubicBezTo>
                    <a:pt x="242720" y="324554"/>
                    <a:pt x="176380" y="324554"/>
                    <a:pt x="135463" y="283636"/>
                  </a:cubicBezTo>
                  <a:cubicBezTo>
                    <a:pt x="94546" y="242720"/>
                    <a:pt x="94546" y="176380"/>
                    <a:pt x="135463" y="135463"/>
                  </a:cubicBezTo>
                  <a:cubicBezTo>
                    <a:pt x="169985" y="100941"/>
                    <a:pt x="222603" y="95545"/>
                    <a:pt x="262781" y="119275"/>
                  </a:cubicBezTo>
                  <a:lnTo>
                    <a:pt x="300613" y="81443"/>
                  </a:lnTo>
                  <a:cubicBezTo>
                    <a:pt x="274922" y="63148"/>
                    <a:pt x="243493" y="52388"/>
                    <a:pt x="209550" y="52388"/>
                  </a:cubicBezTo>
                  <a:close/>
                </a:path>
              </a:pathLst>
            </a:custGeom>
            <a:solidFill>
              <a:srgbClr val="1A3C5E"/>
            </a:solidFill>
            <a:ln>
              <a:noFill/>
            </a:ln>
          </p:spPr>
          <p:txBody>
            <a:bodyPr/>
            <a:lstStyle/>
            <a:p>
              <a:endParaRPr lang="zh-CN" altLang="en-US" dirty="0"/>
            </a:p>
          </p:txBody>
        </p:sp>
        <p:sp>
          <p:nvSpPr>
            <p:cNvPr id="13" name="TextBox 13"/>
            <p:cNvSpPr txBox="1"/>
            <p:nvPr/>
          </p:nvSpPr>
          <p:spPr>
            <a:xfrm>
              <a:off x="1850612" y="1584008"/>
              <a:ext cx="966026" cy="335280"/>
            </a:xfrm>
            <a:prstGeom prst="rect">
              <a:avLst/>
            </a:prstGeom>
            <a:noFill/>
            <a:ln>
              <a:noFill/>
            </a:ln>
          </p:spPr>
          <p:txBody>
            <a:bodyPr wrap="none" lIns="0" tIns="0" rIns="0" bIns="0" anchor="t" anchorCtr="0">
              <a:spAutoFit/>
            </a:bodyPr>
            <a:lstStyle/>
            <a:p>
              <a:pPr algn="ctr"/>
              <a:r>
                <a:rPr lang="zh-CN" sz="1650" b="1" dirty="0">
                  <a:solidFill>
                    <a:srgbClr val="1A3C5E"/>
                  </a:solidFill>
                  <a:latin typeface="Arial"/>
                  <a:ea typeface="Microsoft YaHei"/>
                  <a:cs typeface="Arial"/>
                </a:rPr>
                <a:t>空空协同</a:t>
              </a:r>
            </a:p>
          </p:txBody>
        </p:sp>
        <p:sp>
          <p:nvSpPr>
            <p:cNvPr id="14" name="TextBox 14"/>
            <p:cNvSpPr txBox="1"/>
            <p:nvPr/>
          </p:nvSpPr>
          <p:spPr>
            <a:xfrm>
              <a:off x="1866186" y="1875949"/>
              <a:ext cx="934879"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无人机蜂群协同</a:t>
              </a:r>
            </a:p>
          </p:txBody>
        </p:sp>
        <p:sp>
          <p:nvSpPr>
            <p:cNvPr id="15" name="Rectangle 15"/>
            <p:cNvSpPr/>
            <p:nvPr/>
          </p:nvSpPr>
          <p:spPr>
            <a:xfrm>
              <a:off x="857250" y="2381250"/>
              <a:ext cx="2952750" cy="9525"/>
            </a:xfrm>
            <a:prstGeom prst="rect">
              <a:avLst/>
            </a:prstGeom>
            <a:solidFill>
              <a:srgbClr val="D4C5C5"/>
            </a:solidFill>
            <a:ln>
              <a:noFill/>
            </a:ln>
          </p:spPr>
        </p:sp>
        <p:sp>
          <p:nvSpPr>
            <p:cNvPr id="16" name="TextBox 16"/>
            <p:cNvSpPr txBox="1"/>
            <p:nvPr/>
          </p:nvSpPr>
          <p:spPr>
            <a:xfrm>
              <a:off x="842010" y="2585085"/>
              <a:ext cx="758571" cy="243840"/>
            </a:xfrm>
            <a:prstGeom prst="rect">
              <a:avLst/>
            </a:prstGeom>
            <a:noFill/>
            <a:ln>
              <a:noFill/>
            </a:ln>
          </p:spPr>
          <p:txBody>
            <a:bodyPr wrap="none" lIns="0" tIns="0" rIns="0" bIns="0" anchor="t" anchorCtr="0">
              <a:spAutoFit/>
            </a:bodyPr>
            <a:lstStyle/>
            <a:p>
              <a:pPr algn="l"/>
              <a:r>
                <a:rPr lang="zh-CN" sz="1200" dirty="0">
                  <a:solidFill>
                    <a:srgbClr val="2D2D2D"/>
                  </a:solidFill>
                  <a:latin typeface="Arial"/>
                  <a:ea typeface="Microsoft YaHei"/>
                  <a:cs typeface="Arial"/>
                </a:rPr>
                <a:t>代表成果:</a:t>
              </a:r>
            </a:p>
          </p:txBody>
        </p:sp>
        <p:sp>
          <p:nvSpPr>
            <p:cNvPr id="17" name="Ellipse 17"/>
            <p:cNvSpPr/>
            <p:nvPr/>
          </p:nvSpPr>
          <p:spPr>
            <a:xfrm>
              <a:off x="962025" y="3009900"/>
              <a:ext cx="76200" cy="76200"/>
            </a:xfrm>
            <a:prstGeom prst="ellipse">
              <a:avLst/>
            </a:prstGeom>
            <a:solidFill>
              <a:srgbClr val="1A3C5E"/>
            </a:solidFill>
            <a:ln>
              <a:noFill/>
            </a:ln>
          </p:spPr>
        </p:sp>
        <p:sp>
          <p:nvSpPr>
            <p:cNvPr id="18" name="TextBox 18"/>
            <p:cNvSpPr txBox="1"/>
            <p:nvPr/>
          </p:nvSpPr>
          <p:spPr>
            <a:xfrm>
              <a:off x="1128712" y="2971800"/>
              <a:ext cx="2633663" cy="346249"/>
            </a:xfrm>
            <a:prstGeom prst="rect">
              <a:avLst/>
            </a:prstGeom>
            <a:noFill/>
            <a:ln>
              <a:noFill/>
            </a:ln>
          </p:spPr>
          <p:txBody>
            <a:bodyPr wrap="square" lIns="0" tIns="0" rIns="0" bIns="0" anchor="t" anchorCtr="0">
              <a:spAutoFit/>
            </a:bodyPr>
            <a:lstStyle/>
            <a:p>
              <a:pPr algn="l"/>
              <a:r>
                <a:rPr lang="zh-CN" sz="1125" dirty="0">
                  <a:solidFill>
                    <a:srgbClr val="2D2D2D"/>
                  </a:solidFill>
                  <a:latin typeface="Arial"/>
                  <a:ea typeface="Microsoft YaHei"/>
                  <a:cs typeface="Arial"/>
                </a:rPr>
                <a:t>ETH Zurich 30架无人机自主协同森林探索建图 (Nature Robotics)</a:t>
              </a:r>
            </a:p>
          </p:txBody>
        </p:sp>
        <p:sp>
          <p:nvSpPr>
            <p:cNvPr id="19" name="Ellipse 19"/>
            <p:cNvSpPr/>
            <p:nvPr/>
          </p:nvSpPr>
          <p:spPr>
            <a:xfrm>
              <a:off x="962025" y="3486150"/>
              <a:ext cx="76200" cy="76200"/>
            </a:xfrm>
            <a:prstGeom prst="ellipse">
              <a:avLst/>
            </a:prstGeom>
            <a:solidFill>
              <a:srgbClr val="1A3C5E"/>
            </a:solidFill>
            <a:ln>
              <a:noFill/>
            </a:ln>
          </p:spPr>
        </p:sp>
        <p:sp>
          <p:nvSpPr>
            <p:cNvPr id="20" name="TextBox 20"/>
            <p:cNvSpPr txBox="1"/>
            <p:nvPr/>
          </p:nvSpPr>
          <p:spPr>
            <a:xfrm>
              <a:off x="1128712" y="3459956"/>
              <a:ext cx="2633663" cy="346249"/>
            </a:xfrm>
            <a:prstGeom prst="rect">
              <a:avLst/>
            </a:prstGeom>
            <a:noFill/>
            <a:ln>
              <a:noFill/>
            </a:ln>
          </p:spPr>
          <p:txBody>
            <a:bodyPr wrap="square" lIns="0" tIns="0" rIns="0" bIns="0" anchor="t" anchorCtr="0">
              <a:spAutoFit/>
            </a:bodyPr>
            <a:lstStyle/>
            <a:p>
              <a:pPr algn="l"/>
              <a:r>
                <a:rPr lang="zh-CN" sz="1125" dirty="0">
                  <a:solidFill>
                    <a:srgbClr val="2D2D2D"/>
                  </a:solidFill>
                  <a:latin typeface="Arial"/>
                  <a:ea typeface="Microsoft YaHei"/>
                  <a:cs typeface="Arial"/>
                </a:rPr>
                <a:t>LOCUST项目无人机蜂群低成本集群自主发射与协同攻击</a:t>
              </a:r>
            </a:p>
          </p:txBody>
        </p:sp>
        <p:sp>
          <p:nvSpPr>
            <p:cNvPr id="21" name="Rectangle 21"/>
            <p:cNvSpPr/>
            <p:nvPr/>
          </p:nvSpPr>
          <p:spPr>
            <a:xfrm>
              <a:off x="857250" y="3905250"/>
              <a:ext cx="2952750" cy="9525"/>
            </a:xfrm>
            <a:prstGeom prst="rect">
              <a:avLst/>
            </a:prstGeom>
            <a:solidFill>
              <a:srgbClr val="D4C5C5"/>
            </a:solidFill>
            <a:ln>
              <a:noFill/>
            </a:ln>
          </p:spPr>
        </p:sp>
        <p:sp>
          <p:nvSpPr>
            <p:cNvPr id="22" name="TextBox 22"/>
            <p:cNvSpPr txBox="1"/>
            <p:nvPr/>
          </p:nvSpPr>
          <p:spPr>
            <a:xfrm>
              <a:off x="842010" y="4109085"/>
              <a:ext cx="794976" cy="243840"/>
            </a:xfrm>
            <a:prstGeom prst="rect">
              <a:avLst/>
            </a:prstGeom>
            <a:noFill/>
            <a:ln>
              <a:noFill/>
            </a:ln>
          </p:spPr>
          <p:txBody>
            <a:bodyPr wrap="none" lIns="0" tIns="0" rIns="0" bIns="0" anchor="t" anchorCtr="0">
              <a:spAutoFit/>
            </a:bodyPr>
            <a:lstStyle/>
            <a:p>
              <a:pPr algn="l"/>
              <a:r>
                <a:rPr lang="zh-CN" sz="1200" b="1" dirty="0">
                  <a:solidFill>
                    <a:srgbClr val="1A3C5E"/>
                  </a:solidFill>
                  <a:latin typeface="Arial"/>
                  <a:ea typeface="Microsoft YaHei"/>
                  <a:cs typeface="Arial"/>
                </a:rPr>
                <a:t>关键技术:</a:t>
              </a:r>
            </a:p>
          </p:txBody>
        </p:sp>
        <p:sp>
          <p:nvSpPr>
            <p:cNvPr id="23" name="TextBox 23"/>
            <p:cNvSpPr txBox="1"/>
            <p:nvPr/>
          </p:nvSpPr>
          <p:spPr>
            <a:xfrm>
              <a:off x="842962" y="4402931"/>
              <a:ext cx="3028950" cy="228600"/>
            </a:xfrm>
            <a:prstGeom prst="rect">
              <a:avLst/>
            </a:prstGeom>
            <a:noFill/>
            <a:ln>
              <a:noFill/>
            </a:ln>
          </p:spPr>
          <p:txBody>
            <a:bodyPr wrap="none" lIns="0" tIns="0" rIns="0" bIns="0" anchor="t" anchorCtr="0">
              <a:spAutoFit/>
            </a:bodyPr>
            <a:lstStyle/>
            <a:p>
              <a:pPr algn="l"/>
              <a:r>
                <a:rPr lang="zh-CN" sz="1125" dirty="0">
                  <a:solidFill>
                    <a:srgbClr val="2D2D2D"/>
                  </a:solidFill>
                  <a:latin typeface="Arial"/>
                  <a:ea typeface="Microsoft YaHei"/>
                  <a:cs typeface="Arial"/>
                </a:rPr>
                <a:t>群体智能自组织、仅用机载计算完成自主飞行</a:t>
              </a:r>
            </a:p>
          </p:txBody>
        </p:sp>
      </p:grpSp>
      <p:grpSp>
        <p:nvGrpSpPr>
          <p:cNvPr id="43" name="Group 43"/>
          <p:cNvGrpSpPr/>
          <p:nvPr/>
        </p:nvGrpSpPr>
        <p:grpSpPr>
          <a:xfrm>
            <a:off x="4333875" y="1143000"/>
            <a:ext cx="3524250" cy="4762500"/>
            <a:chOff x="4333875" y="1143000"/>
            <a:chExt cx="3524250" cy="4762500"/>
          </a:xfrm>
        </p:grpSpPr>
        <p:sp>
          <p:nvSpPr>
            <p:cNvPr id="25" name="Rectangle 25"/>
            <p:cNvSpPr/>
            <p:nvPr/>
          </p:nvSpPr>
          <p:spPr>
            <a:xfrm>
              <a:off x="4333875" y="1143000"/>
              <a:ext cx="3524250" cy="4762500"/>
            </a:xfrm>
            <a:prstGeom prst="roundRect">
              <a:avLst>
                <a:gd name="adj" fmla="val 2162"/>
              </a:avLst>
            </a:prstGeom>
            <a:solidFill>
              <a:srgbClr val="FFFFFF"/>
            </a:solidFill>
            <a:ln w="9525">
              <a:solidFill>
                <a:srgbClr val="D4C5C5"/>
              </a:solidFill>
            </a:ln>
          </p:spPr>
        </p:sp>
        <p:sp>
          <p:nvSpPr>
            <p:cNvPr id="26" name="Rectangle 26"/>
            <p:cNvSpPr/>
            <p:nvPr/>
          </p:nvSpPr>
          <p:spPr>
            <a:xfrm>
              <a:off x="4333875" y="1143000"/>
              <a:ext cx="3524250" cy="1047750"/>
            </a:xfrm>
            <a:prstGeom prst="roundRect">
              <a:avLst>
                <a:gd name="adj" fmla="val 7273"/>
              </a:avLst>
            </a:prstGeom>
            <a:solidFill>
              <a:srgbClr val="F8F2F2"/>
            </a:solidFill>
            <a:ln>
              <a:noFill/>
            </a:ln>
          </p:spPr>
        </p:sp>
        <p:sp>
          <p:nvSpPr>
            <p:cNvPr id="27" name="Rectangle 27"/>
            <p:cNvSpPr/>
            <p:nvPr/>
          </p:nvSpPr>
          <p:spPr>
            <a:xfrm>
              <a:off x="4333875" y="2114550"/>
              <a:ext cx="3524250" cy="76200"/>
            </a:xfrm>
            <a:prstGeom prst="rect">
              <a:avLst/>
            </a:prstGeom>
            <a:solidFill>
              <a:srgbClr val="F8F2F2"/>
            </a:solidFill>
            <a:ln>
              <a:noFill/>
            </a:ln>
          </p:spPr>
        </p:sp>
        <p:grpSp>
          <p:nvGrpSpPr>
            <p:cNvPr id="31" name="Group 31"/>
            <p:cNvGrpSpPr/>
            <p:nvPr/>
          </p:nvGrpSpPr>
          <p:grpSpPr>
            <a:xfrm>
              <a:off x="5118894" y="1581150"/>
              <a:ext cx="366712" cy="419100"/>
              <a:chOff x="5118894" y="1581150"/>
              <a:chExt cx="366712" cy="419100"/>
            </a:xfrm>
          </p:grpSpPr>
          <p:sp>
            <p:nvSpPr>
              <p:cNvPr id="28" name="Freeform 28"/>
              <p:cNvSpPr/>
              <p:nvPr/>
            </p:nvSpPr>
            <p:spPr>
              <a:xfrm>
                <a:off x="5118894" y="1581150"/>
                <a:ext cx="366712" cy="209550"/>
              </a:xfrm>
              <a:custGeom>
                <a:avLst/>
                <a:gdLst/>
                <a:ahLst/>
                <a:cxnLst/>
                <a:rect l="l" t="t" r="r" b="b"/>
                <a:pathLst>
                  <a:path w="366712" h="209550">
                    <a:moveTo>
                      <a:pt x="0" y="130969"/>
                    </a:moveTo>
                    <a:lnTo>
                      <a:pt x="0" y="78581"/>
                    </a:lnTo>
                    <a:lnTo>
                      <a:pt x="183356" y="0"/>
                    </a:lnTo>
                    <a:lnTo>
                      <a:pt x="366712" y="78581"/>
                    </a:lnTo>
                    <a:lnTo>
                      <a:pt x="366712" y="130969"/>
                    </a:lnTo>
                    <a:lnTo>
                      <a:pt x="183356" y="209550"/>
                    </a:lnTo>
                    <a:lnTo>
                      <a:pt x="0" y="130969"/>
                    </a:lnTo>
                    <a:close/>
                  </a:path>
                </a:pathLst>
              </a:custGeom>
              <a:solidFill>
                <a:srgbClr val="1A3C5E"/>
              </a:solidFill>
              <a:ln>
                <a:noFill/>
              </a:ln>
            </p:spPr>
          </p:sp>
          <p:sp>
            <p:nvSpPr>
              <p:cNvPr id="29" name="Freeform 29"/>
              <p:cNvSpPr/>
              <p:nvPr/>
            </p:nvSpPr>
            <p:spPr>
              <a:xfrm>
                <a:off x="5118894" y="1869281"/>
                <a:ext cx="366712" cy="130969"/>
              </a:xfrm>
              <a:custGeom>
                <a:avLst/>
                <a:gdLst/>
                <a:ahLst/>
                <a:cxnLst/>
                <a:rect l="l" t="t" r="r" b="b"/>
                <a:pathLst>
                  <a:path w="366712" h="130969">
                    <a:moveTo>
                      <a:pt x="183356" y="130969"/>
                    </a:moveTo>
                    <a:lnTo>
                      <a:pt x="0" y="52388"/>
                    </a:lnTo>
                    <a:lnTo>
                      <a:pt x="0" y="0"/>
                    </a:lnTo>
                    <a:lnTo>
                      <a:pt x="183356" y="78581"/>
                    </a:lnTo>
                    <a:lnTo>
                      <a:pt x="366712" y="0"/>
                    </a:lnTo>
                    <a:lnTo>
                      <a:pt x="366712" y="52388"/>
                    </a:lnTo>
                    <a:lnTo>
                      <a:pt x="183356" y="130969"/>
                    </a:lnTo>
                    <a:close/>
                  </a:path>
                </a:pathLst>
              </a:custGeom>
              <a:solidFill>
                <a:srgbClr val="1A3C5E"/>
              </a:solidFill>
              <a:ln>
                <a:noFill/>
              </a:ln>
            </p:spPr>
          </p:sp>
          <p:sp>
            <p:nvSpPr>
              <p:cNvPr id="30" name="Freeform 30"/>
              <p:cNvSpPr/>
              <p:nvPr/>
            </p:nvSpPr>
            <p:spPr>
              <a:xfrm>
                <a:off x="5118894" y="1764506"/>
                <a:ext cx="366712" cy="130969"/>
              </a:xfrm>
              <a:custGeom>
                <a:avLst/>
                <a:gdLst/>
                <a:ahLst/>
                <a:cxnLst/>
                <a:rect l="l" t="t" r="r" b="b"/>
                <a:pathLst>
                  <a:path w="366712" h="130969">
                    <a:moveTo>
                      <a:pt x="0" y="52388"/>
                    </a:moveTo>
                    <a:lnTo>
                      <a:pt x="183356" y="130969"/>
                    </a:lnTo>
                    <a:lnTo>
                      <a:pt x="366712" y="52388"/>
                    </a:lnTo>
                    <a:lnTo>
                      <a:pt x="366712" y="0"/>
                    </a:lnTo>
                    <a:lnTo>
                      <a:pt x="183356" y="78581"/>
                    </a:lnTo>
                    <a:lnTo>
                      <a:pt x="0" y="0"/>
                    </a:lnTo>
                    <a:lnTo>
                      <a:pt x="0" y="52388"/>
                    </a:lnTo>
                    <a:close/>
                  </a:path>
                </a:pathLst>
              </a:custGeom>
              <a:solidFill>
                <a:srgbClr val="1A3C5E"/>
              </a:solidFill>
              <a:ln>
                <a:noFill/>
              </a:ln>
            </p:spPr>
          </p:sp>
        </p:grpSp>
        <p:sp>
          <p:nvSpPr>
            <p:cNvPr id="32" name="TextBox 32"/>
            <p:cNvSpPr txBox="1"/>
            <p:nvPr/>
          </p:nvSpPr>
          <p:spPr>
            <a:xfrm>
              <a:off x="5730065" y="1570673"/>
              <a:ext cx="966026" cy="335280"/>
            </a:xfrm>
            <a:prstGeom prst="rect">
              <a:avLst/>
            </a:prstGeom>
            <a:noFill/>
            <a:ln>
              <a:noFill/>
            </a:ln>
          </p:spPr>
          <p:txBody>
            <a:bodyPr wrap="none" lIns="0" tIns="0" rIns="0" bIns="0" anchor="t" anchorCtr="0">
              <a:spAutoFit/>
            </a:bodyPr>
            <a:lstStyle/>
            <a:p>
              <a:pPr algn="ctr"/>
              <a:r>
                <a:rPr lang="zh-CN" sz="1650" b="1" dirty="0">
                  <a:solidFill>
                    <a:srgbClr val="1A3C5E"/>
                  </a:solidFill>
                  <a:latin typeface="Arial"/>
                  <a:ea typeface="Microsoft YaHei"/>
                  <a:cs typeface="Arial"/>
                </a:rPr>
                <a:t>空地协同</a:t>
              </a:r>
            </a:p>
          </p:txBody>
        </p:sp>
        <p:sp>
          <p:nvSpPr>
            <p:cNvPr id="33" name="TextBox 33"/>
            <p:cNvSpPr txBox="1"/>
            <p:nvPr/>
          </p:nvSpPr>
          <p:spPr>
            <a:xfrm>
              <a:off x="5485606" y="1862614"/>
              <a:ext cx="1454944"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无人机与地面机器人协同</a:t>
              </a:r>
            </a:p>
          </p:txBody>
        </p:sp>
        <p:sp>
          <p:nvSpPr>
            <p:cNvPr id="34" name="Rectangle 34"/>
            <p:cNvSpPr/>
            <p:nvPr/>
          </p:nvSpPr>
          <p:spPr>
            <a:xfrm>
              <a:off x="4619625" y="2381250"/>
              <a:ext cx="2952750" cy="9525"/>
            </a:xfrm>
            <a:prstGeom prst="rect">
              <a:avLst/>
            </a:prstGeom>
            <a:solidFill>
              <a:srgbClr val="D4C5C5"/>
            </a:solidFill>
            <a:ln>
              <a:noFill/>
            </a:ln>
          </p:spPr>
        </p:sp>
        <p:sp>
          <p:nvSpPr>
            <p:cNvPr id="35" name="TextBox 35"/>
            <p:cNvSpPr txBox="1"/>
            <p:nvPr/>
          </p:nvSpPr>
          <p:spPr>
            <a:xfrm>
              <a:off x="4604385" y="2585085"/>
              <a:ext cx="758571" cy="243840"/>
            </a:xfrm>
            <a:prstGeom prst="rect">
              <a:avLst/>
            </a:prstGeom>
            <a:noFill/>
            <a:ln>
              <a:noFill/>
            </a:ln>
          </p:spPr>
          <p:txBody>
            <a:bodyPr wrap="none" lIns="0" tIns="0" rIns="0" bIns="0" anchor="t" anchorCtr="0">
              <a:spAutoFit/>
            </a:bodyPr>
            <a:lstStyle/>
            <a:p>
              <a:pPr algn="l"/>
              <a:r>
                <a:rPr lang="zh-CN" sz="1200" dirty="0">
                  <a:solidFill>
                    <a:srgbClr val="2D2D2D"/>
                  </a:solidFill>
                  <a:latin typeface="Arial"/>
                  <a:ea typeface="Microsoft YaHei"/>
                  <a:cs typeface="Arial"/>
                </a:rPr>
                <a:t>代表成果:</a:t>
              </a:r>
            </a:p>
          </p:txBody>
        </p:sp>
        <p:sp>
          <p:nvSpPr>
            <p:cNvPr id="36" name="Ellipse 36"/>
            <p:cNvSpPr/>
            <p:nvPr/>
          </p:nvSpPr>
          <p:spPr>
            <a:xfrm>
              <a:off x="4724400" y="3009900"/>
              <a:ext cx="76200" cy="76200"/>
            </a:xfrm>
            <a:prstGeom prst="ellipse">
              <a:avLst/>
            </a:prstGeom>
            <a:solidFill>
              <a:srgbClr val="1A3C5E"/>
            </a:solidFill>
            <a:ln>
              <a:noFill/>
            </a:ln>
          </p:spPr>
        </p:sp>
        <p:sp>
          <p:nvSpPr>
            <p:cNvPr id="37" name="TextBox 37"/>
            <p:cNvSpPr txBox="1"/>
            <p:nvPr/>
          </p:nvSpPr>
          <p:spPr>
            <a:xfrm>
              <a:off x="4891088" y="2983706"/>
              <a:ext cx="2241352" cy="228600"/>
            </a:xfrm>
            <a:prstGeom prst="rect">
              <a:avLst/>
            </a:prstGeom>
            <a:noFill/>
            <a:ln>
              <a:noFill/>
            </a:ln>
          </p:spPr>
          <p:txBody>
            <a:bodyPr wrap="none" lIns="0" tIns="0" rIns="0" bIns="0" anchor="t" anchorCtr="0">
              <a:spAutoFit/>
            </a:bodyPr>
            <a:lstStyle/>
            <a:p>
              <a:pPr algn="l"/>
              <a:r>
                <a:rPr lang="zh-CN" sz="1125" dirty="0">
                  <a:solidFill>
                    <a:srgbClr val="2D2D2D"/>
                  </a:solidFill>
                  <a:latin typeface="Arial"/>
                  <a:ea typeface="Microsoft YaHei"/>
                  <a:cs typeface="Arial"/>
                </a:rPr>
                <a:t>波士顿动力Spot+无人机工业巡检</a:t>
              </a:r>
            </a:p>
          </p:txBody>
        </p:sp>
        <p:sp>
          <p:nvSpPr>
            <p:cNvPr id="38" name="Ellipse 38"/>
            <p:cNvSpPr/>
            <p:nvPr/>
          </p:nvSpPr>
          <p:spPr>
            <a:xfrm>
              <a:off x="4724400" y="3390900"/>
              <a:ext cx="76200" cy="76200"/>
            </a:xfrm>
            <a:prstGeom prst="ellipse">
              <a:avLst/>
            </a:prstGeom>
            <a:solidFill>
              <a:srgbClr val="1A3C5E"/>
            </a:solidFill>
            <a:ln>
              <a:noFill/>
            </a:ln>
          </p:spPr>
        </p:sp>
        <p:sp>
          <p:nvSpPr>
            <p:cNvPr id="39" name="TextBox 39"/>
            <p:cNvSpPr txBox="1"/>
            <p:nvPr/>
          </p:nvSpPr>
          <p:spPr>
            <a:xfrm>
              <a:off x="4891088" y="3364706"/>
              <a:ext cx="2428875" cy="228600"/>
            </a:xfrm>
            <a:prstGeom prst="rect">
              <a:avLst/>
            </a:prstGeom>
            <a:noFill/>
            <a:ln>
              <a:noFill/>
            </a:ln>
          </p:spPr>
          <p:txBody>
            <a:bodyPr wrap="none" lIns="0" tIns="0" rIns="0" bIns="0" anchor="t" anchorCtr="0">
              <a:spAutoFit/>
            </a:bodyPr>
            <a:lstStyle/>
            <a:p>
              <a:pPr algn="l"/>
              <a:r>
                <a:rPr lang="zh-CN" sz="1125" dirty="0">
                  <a:solidFill>
                    <a:srgbClr val="2D2D2D"/>
                  </a:solidFill>
                  <a:latin typeface="Arial"/>
                  <a:ea typeface="Microsoft YaHei"/>
                  <a:cs typeface="Arial"/>
                </a:rPr>
                <a:t>后端实时数据融合生成三维检测报告</a:t>
              </a:r>
            </a:p>
          </p:txBody>
        </p:sp>
        <p:sp>
          <p:nvSpPr>
            <p:cNvPr id="40" name="Rectangle 40"/>
            <p:cNvSpPr/>
            <p:nvPr/>
          </p:nvSpPr>
          <p:spPr>
            <a:xfrm>
              <a:off x="4619625" y="3810000"/>
              <a:ext cx="2952750" cy="9525"/>
            </a:xfrm>
            <a:prstGeom prst="rect">
              <a:avLst/>
            </a:prstGeom>
            <a:solidFill>
              <a:srgbClr val="D4C5C5"/>
            </a:solidFill>
            <a:ln>
              <a:noFill/>
            </a:ln>
          </p:spPr>
        </p:sp>
        <p:sp>
          <p:nvSpPr>
            <p:cNvPr id="41" name="TextBox 41"/>
            <p:cNvSpPr txBox="1"/>
            <p:nvPr/>
          </p:nvSpPr>
          <p:spPr>
            <a:xfrm>
              <a:off x="4604385" y="4013835"/>
              <a:ext cx="794976" cy="243840"/>
            </a:xfrm>
            <a:prstGeom prst="rect">
              <a:avLst/>
            </a:prstGeom>
            <a:noFill/>
            <a:ln>
              <a:noFill/>
            </a:ln>
          </p:spPr>
          <p:txBody>
            <a:bodyPr wrap="none" lIns="0" tIns="0" rIns="0" bIns="0" anchor="t" anchorCtr="0">
              <a:spAutoFit/>
            </a:bodyPr>
            <a:lstStyle/>
            <a:p>
              <a:pPr algn="l"/>
              <a:r>
                <a:rPr lang="zh-CN" sz="1200" b="1" dirty="0">
                  <a:solidFill>
                    <a:srgbClr val="1A3C5E"/>
                  </a:solidFill>
                  <a:latin typeface="Arial"/>
                  <a:ea typeface="Microsoft YaHei"/>
                  <a:cs typeface="Arial"/>
                </a:rPr>
                <a:t>关键技术:</a:t>
              </a:r>
            </a:p>
          </p:txBody>
        </p:sp>
        <p:sp>
          <p:nvSpPr>
            <p:cNvPr id="42" name="TextBox 42"/>
            <p:cNvSpPr txBox="1"/>
            <p:nvPr/>
          </p:nvSpPr>
          <p:spPr>
            <a:xfrm>
              <a:off x="4605338" y="4307681"/>
              <a:ext cx="2578894" cy="228600"/>
            </a:xfrm>
            <a:prstGeom prst="rect">
              <a:avLst/>
            </a:prstGeom>
            <a:noFill/>
            <a:ln>
              <a:noFill/>
            </a:ln>
          </p:spPr>
          <p:txBody>
            <a:bodyPr wrap="none" lIns="0" tIns="0" rIns="0" bIns="0" anchor="t" anchorCtr="0">
              <a:spAutoFit/>
            </a:bodyPr>
            <a:lstStyle/>
            <a:p>
              <a:pPr algn="l"/>
              <a:r>
                <a:rPr lang="zh-CN" sz="1125" dirty="0">
                  <a:solidFill>
                    <a:srgbClr val="2D2D2D"/>
                  </a:solidFill>
                  <a:latin typeface="Arial"/>
                  <a:ea typeface="Microsoft YaHei"/>
                  <a:cs typeface="Arial"/>
                </a:rPr>
                <a:t>机器狗替代人类在危险区域近距离检测</a:t>
              </a:r>
            </a:p>
          </p:txBody>
        </p:sp>
      </p:grpSp>
      <p:grpSp>
        <p:nvGrpSpPr>
          <p:cNvPr id="59" name="Group 59"/>
          <p:cNvGrpSpPr/>
          <p:nvPr/>
        </p:nvGrpSpPr>
        <p:grpSpPr>
          <a:xfrm>
            <a:off x="8096250" y="1143000"/>
            <a:ext cx="3524250" cy="4762500"/>
            <a:chOff x="8096250" y="1143000"/>
            <a:chExt cx="3524250" cy="4762500"/>
          </a:xfrm>
        </p:grpSpPr>
        <p:sp>
          <p:nvSpPr>
            <p:cNvPr id="44" name="Rectangle 44"/>
            <p:cNvSpPr/>
            <p:nvPr/>
          </p:nvSpPr>
          <p:spPr>
            <a:xfrm>
              <a:off x="8096250" y="1143000"/>
              <a:ext cx="3524250" cy="4762500"/>
            </a:xfrm>
            <a:prstGeom prst="roundRect">
              <a:avLst>
                <a:gd name="adj" fmla="val 2162"/>
              </a:avLst>
            </a:prstGeom>
            <a:solidFill>
              <a:srgbClr val="FFFFFF"/>
            </a:solidFill>
            <a:ln w="9525">
              <a:solidFill>
                <a:srgbClr val="D4C5C5"/>
              </a:solidFill>
            </a:ln>
          </p:spPr>
        </p:sp>
        <p:sp>
          <p:nvSpPr>
            <p:cNvPr id="45" name="Rectangle 45"/>
            <p:cNvSpPr/>
            <p:nvPr/>
          </p:nvSpPr>
          <p:spPr>
            <a:xfrm>
              <a:off x="8096250" y="1143000"/>
              <a:ext cx="3524250" cy="1047750"/>
            </a:xfrm>
            <a:prstGeom prst="roundRect">
              <a:avLst>
                <a:gd name="adj" fmla="val 7273"/>
              </a:avLst>
            </a:prstGeom>
            <a:solidFill>
              <a:srgbClr val="F8F2F2"/>
            </a:solidFill>
            <a:ln>
              <a:noFill/>
            </a:ln>
          </p:spPr>
        </p:sp>
        <p:sp>
          <p:nvSpPr>
            <p:cNvPr id="46" name="Rectangle 46"/>
            <p:cNvSpPr/>
            <p:nvPr/>
          </p:nvSpPr>
          <p:spPr>
            <a:xfrm>
              <a:off x="8096250" y="2114550"/>
              <a:ext cx="3524250" cy="76200"/>
            </a:xfrm>
            <a:prstGeom prst="rect">
              <a:avLst/>
            </a:prstGeom>
            <a:solidFill>
              <a:srgbClr val="F8F2F2"/>
            </a:solidFill>
            <a:ln>
              <a:noFill/>
            </a:ln>
          </p:spPr>
        </p:sp>
        <p:sp>
          <p:nvSpPr>
            <p:cNvPr id="47" name="Freeform 47"/>
            <p:cNvSpPr/>
            <p:nvPr/>
          </p:nvSpPr>
          <p:spPr>
            <a:xfrm>
              <a:off x="8803862" y="1593057"/>
              <a:ext cx="419100" cy="392906"/>
            </a:xfrm>
            <a:custGeom>
              <a:avLst/>
              <a:gdLst/>
              <a:ahLst/>
              <a:cxnLst/>
              <a:rect l="l" t="t" r="r" b="b"/>
              <a:pathLst>
                <a:path w="419100" h="392906">
                  <a:moveTo>
                    <a:pt x="235744" y="0"/>
                  </a:moveTo>
                  <a:lnTo>
                    <a:pt x="235744" y="52388"/>
                  </a:lnTo>
                  <a:lnTo>
                    <a:pt x="340519" y="52388"/>
                  </a:lnTo>
                  <a:lnTo>
                    <a:pt x="419100" y="222647"/>
                  </a:lnTo>
                  <a:lnTo>
                    <a:pt x="340519" y="392906"/>
                  </a:lnTo>
                  <a:lnTo>
                    <a:pt x="78581" y="392906"/>
                  </a:lnTo>
                  <a:lnTo>
                    <a:pt x="0" y="222647"/>
                  </a:lnTo>
                  <a:lnTo>
                    <a:pt x="78581" y="52388"/>
                  </a:lnTo>
                  <a:lnTo>
                    <a:pt x="183356" y="52388"/>
                  </a:lnTo>
                  <a:lnTo>
                    <a:pt x="183356" y="0"/>
                  </a:lnTo>
                  <a:lnTo>
                    <a:pt x="235744" y="0"/>
                  </a:lnTo>
                  <a:close/>
                  <a:moveTo>
                    <a:pt x="120437" y="307473"/>
                  </a:moveTo>
                  <a:lnTo>
                    <a:pt x="209550" y="321183"/>
                  </a:lnTo>
                  <a:lnTo>
                    <a:pt x="298664" y="307473"/>
                  </a:lnTo>
                  <a:lnTo>
                    <a:pt x="290696" y="255694"/>
                  </a:lnTo>
                  <a:lnTo>
                    <a:pt x="209550" y="268177"/>
                  </a:lnTo>
                  <a:lnTo>
                    <a:pt x="128403" y="255694"/>
                  </a:lnTo>
                  <a:lnTo>
                    <a:pt x="120437" y="307473"/>
                  </a:lnTo>
                  <a:close/>
                  <a:moveTo>
                    <a:pt x="183356" y="176808"/>
                  </a:moveTo>
                  <a:cubicBezTo>
                    <a:pt x="183356" y="194891"/>
                    <a:pt x="168697" y="209550"/>
                    <a:pt x="150614" y="209550"/>
                  </a:cubicBezTo>
                  <a:cubicBezTo>
                    <a:pt x="132531" y="209550"/>
                    <a:pt x="117872" y="194891"/>
                    <a:pt x="117872" y="176808"/>
                  </a:cubicBezTo>
                  <a:cubicBezTo>
                    <a:pt x="117872" y="158725"/>
                    <a:pt x="132531" y="144066"/>
                    <a:pt x="150614" y="144066"/>
                  </a:cubicBezTo>
                  <a:cubicBezTo>
                    <a:pt x="168697" y="144066"/>
                    <a:pt x="183356" y="158725"/>
                    <a:pt x="183356" y="176808"/>
                  </a:cubicBezTo>
                  <a:close/>
                  <a:moveTo>
                    <a:pt x="268486" y="209550"/>
                  </a:moveTo>
                  <a:cubicBezTo>
                    <a:pt x="286570" y="209550"/>
                    <a:pt x="301228" y="194891"/>
                    <a:pt x="301228" y="176808"/>
                  </a:cubicBezTo>
                  <a:cubicBezTo>
                    <a:pt x="301228" y="158725"/>
                    <a:pt x="286570" y="144066"/>
                    <a:pt x="268486" y="144066"/>
                  </a:cubicBezTo>
                  <a:cubicBezTo>
                    <a:pt x="250403" y="144066"/>
                    <a:pt x="235744" y="158725"/>
                    <a:pt x="235744" y="176808"/>
                  </a:cubicBezTo>
                  <a:cubicBezTo>
                    <a:pt x="235744" y="194891"/>
                    <a:pt x="250403" y="209550"/>
                    <a:pt x="268486" y="209550"/>
                  </a:cubicBezTo>
                  <a:close/>
                </a:path>
              </a:pathLst>
            </a:custGeom>
            <a:solidFill>
              <a:srgbClr val="1A3C5E"/>
            </a:solidFill>
            <a:ln>
              <a:noFill/>
            </a:ln>
          </p:spPr>
        </p:sp>
        <p:sp>
          <p:nvSpPr>
            <p:cNvPr id="48" name="TextBox 48"/>
            <p:cNvSpPr txBox="1"/>
            <p:nvPr/>
          </p:nvSpPr>
          <p:spPr>
            <a:xfrm>
              <a:off x="9375362" y="1584008"/>
              <a:ext cx="966026" cy="335280"/>
            </a:xfrm>
            <a:prstGeom prst="rect">
              <a:avLst/>
            </a:prstGeom>
            <a:noFill/>
            <a:ln>
              <a:noFill/>
            </a:ln>
          </p:spPr>
          <p:txBody>
            <a:bodyPr wrap="none" lIns="0" tIns="0" rIns="0" bIns="0" anchor="t" anchorCtr="0">
              <a:spAutoFit/>
            </a:bodyPr>
            <a:lstStyle/>
            <a:p>
              <a:pPr algn="ctr"/>
              <a:r>
                <a:rPr lang="zh-CN" sz="1650" b="1" dirty="0">
                  <a:solidFill>
                    <a:srgbClr val="1A3C5E"/>
                  </a:solidFill>
                  <a:latin typeface="Arial"/>
                  <a:ea typeface="Microsoft YaHei"/>
                  <a:cs typeface="Arial"/>
                </a:rPr>
                <a:t>地地协同</a:t>
              </a:r>
            </a:p>
          </p:txBody>
        </p:sp>
        <p:sp>
          <p:nvSpPr>
            <p:cNvPr id="49" name="TextBox 49"/>
            <p:cNvSpPr txBox="1"/>
            <p:nvPr/>
          </p:nvSpPr>
          <p:spPr>
            <a:xfrm>
              <a:off x="9195911" y="1875949"/>
              <a:ext cx="1324928"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多四足机器人协同探索</a:t>
              </a:r>
            </a:p>
          </p:txBody>
        </p:sp>
        <p:sp>
          <p:nvSpPr>
            <p:cNvPr id="50" name="Rectangle 50"/>
            <p:cNvSpPr/>
            <p:nvPr/>
          </p:nvSpPr>
          <p:spPr>
            <a:xfrm>
              <a:off x="8382000" y="2381250"/>
              <a:ext cx="2952750" cy="9525"/>
            </a:xfrm>
            <a:prstGeom prst="rect">
              <a:avLst/>
            </a:prstGeom>
            <a:solidFill>
              <a:srgbClr val="D4C5C5"/>
            </a:solidFill>
            <a:ln>
              <a:noFill/>
            </a:ln>
          </p:spPr>
        </p:sp>
        <p:sp>
          <p:nvSpPr>
            <p:cNvPr id="51" name="TextBox 51"/>
            <p:cNvSpPr txBox="1"/>
            <p:nvPr/>
          </p:nvSpPr>
          <p:spPr>
            <a:xfrm>
              <a:off x="8366760" y="2585085"/>
              <a:ext cx="758571" cy="243840"/>
            </a:xfrm>
            <a:prstGeom prst="rect">
              <a:avLst/>
            </a:prstGeom>
            <a:noFill/>
            <a:ln>
              <a:noFill/>
            </a:ln>
          </p:spPr>
          <p:txBody>
            <a:bodyPr wrap="none" lIns="0" tIns="0" rIns="0" bIns="0" anchor="t" anchorCtr="0">
              <a:spAutoFit/>
            </a:bodyPr>
            <a:lstStyle/>
            <a:p>
              <a:pPr algn="l"/>
              <a:r>
                <a:rPr lang="zh-CN" sz="1200" dirty="0">
                  <a:solidFill>
                    <a:srgbClr val="2D2D2D"/>
                  </a:solidFill>
                  <a:latin typeface="Arial"/>
                  <a:ea typeface="Microsoft YaHei"/>
                  <a:cs typeface="Arial"/>
                </a:rPr>
                <a:t>代表成果:</a:t>
              </a:r>
            </a:p>
          </p:txBody>
        </p:sp>
        <p:sp>
          <p:nvSpPr>
            <p:cNvPr id="52" name="Ellipse 52"/>
            <p:cNvSpPr/>
            <p:nvPr/>
          </p:nvSpPr>
          <p:spPr>
            <a:xfrm>
              <a:off x="8486775" y="3009900"/>
              <a:ext cx="76200" cy="76200"/>
            </a:xfrm>
            <a:prstGeom prst="ellipse">
              <a:avLst/>
            </a:prstGeom>
            <a:solidFill>
              <a:srgbClr val="1A3C5E"/>
            </a:solidFill>
            <a:ln>
              <a:noFill/>
            </a:ln>
          </p:spPr>
        </p:sp>
        <p:sp>
          <p:nvSpPr>
            <p:cNvPr id="53" name="TextBox 53"/>
            <p:cNvSpPr txBox="1"/>
            <p:nvPr/>
          </p:nvSpPr>
          <p:spPr>
            <a:xfrm>
              <a:off x="8653462" y="2983706"/>
              <a:ext cx="2518886" cy="228600"/>
            </a:xfrm>
            <a:prstGeom prst="rect">
              <a:avLst/>
            </a:prstGeom>
            <a:noFill/>
            <a:ln>
              <a:noFill/>
            </a:ln>
          </p:spPr>
          <p:txBody>
            <a:bodyPr wrap="none" lIns="0" tIns="0" rIns="0" bIns="0" anchor="t" anchorCtr="0">
              <a:spAutoFit/>
            </a:bodyPr>
            <a:lstStyle/>
            <a:p>
              <a:pPr algn="l"/>
              <a:r>
                <a:rPr lang="zh-CN" sz="1125" dirty="0">
                  <a:solidFill>
                    <a:srgbClr val="2D2D2D"/>
                  </a:solidFill>
                  <a:latin typeface="Arial"/>
                  <a:ea typeface="Microsoft YaHei"/>
                  <a:cs typeface="Arial"/>
                </a:rPr>
                <a:t>ETH Zurich ANYmal DARPA地下挑战赛</a:t>
              </a:r>
            </a:p>
          </p:txBody>
        </p:sp>
        <p:sp>
          <p:nvSpPr>
            <p:cNvPr id="54" name="Ellipse 54"/>
            <p:cNvSpPr/>
            <p:nvPr/>
          </p:nvSpPr>
          <p:spPr>
            <a:xfrm>
              <a:off x="8486775" y="3390900"/>
              <a:ext cx="76200" cy="76200"/>
            </a:xfrm>
            <a:prstGeom prst="ellipse">
              <a:avLst/>
            </a:prstGeom>
            <a:solidFill>
              <a:srgbClr val="1A3C5E"/>
            </a:solidFill>
            <a:ln>
              <a:noFill/>
            </a:ln>
          </p:spPr>
        </p:sp>
        <p:sp>
          <p:nvSpPr>
            <p:cNvPr id="55" name="TextBox 55"/>
            <p:cNvSpPr txBox="1"/>
            <p:nvPr/>
          </p:nvSpPr>
          <p:spPr>
            <a:xfrm>
              <a:off x="8653462" y="3364706"/>
              <a:ext cx="2638901" cy="228600"/>
            </a:xfrm>
            <a:prstGeom prst="rect">
              <a:avLst/>
            </a:prstGeom>
            <a:noFill/>
            <a:ln>
              <a:noFill/>
            </a:ln>
          </p:spPr>
          <p:txBody>
            <a:bodyPr wrap="none" lIns="0" tIns="0" rIns="0" bIns="0" anchor="t" anchorCtr="0">
              <a:spAutoFit/>
            </a:bodyPr>
            <a:lstStyle/>
            <a:p>
              <a:pPr algn="l"/>
              <a:r>
                <a:rPr lang="zh-CN" sz="1125" dirty="0">
                  <a:solidFill>
                    <a:srgbClr val="2D2D2D"/>
                  </a:solidFill>
                  <a:latin typeface="Arial"/>
                  <a:ea typeface="Microsoft YaHei"/>
                  <a:cs typeface="Arial"/>
                </a:rPr>
                <a:t>共享SLAM地图和语义信息完成搜救任务</a:t>
              </a:r>
            </a:p>
          </p:txBody>
        </p:sp>
        <p:sp>
          <p:nvSpPr>
            <p:cNvPr id="56" name="Rectangle 56"/>
            <p:cNvSpPr/>
            <p:nvPr/>
          </p:nvSpPr>
          <p:spPr>
            <a:xfrm>
              <a:off x="8382000" y="3810000"/>
              <a:ext cx="2952750" cy="9525"/>
            </a:xfrm>
            <a:prstGeom prst="rect">
              <a:avLst/>
            </a:prstGeom>
            <a:solidFill>
              <a:srgbClr val="D4C5C5"/>
            </a:solidFill>
            <a:ln>
              <a:noFill/>
            </a:ln>
          </p:spPr>
        </p:sp>
        <p:sp>
          <p:nvSpPr>
            <p:cNvPr id="57" name="TextBox 57"/>
            <p:cNvSpPr txBox="1"/>
            <p:nvPr/>
          </p:nvSpPr>
          <p:spPr>
            <a:xfrm>
              <a:off x="8366760" y="4013835"/>
              <a:ext cx="794976" cy="243840"/>
            </a:xfrm>
            <a:prstGeom prst="rect">
              <a:avLst/>
            </a:prstGeom>
            <a:noFill/>
            <a:ln>
              <a:noFill/>
            </a:ln>
          </p:spPr>
          <p:txBody>
            <a:bodyPr wrap="none" lIns="0" tIns="0" rIns="0" bIns="0" anchor="t" anchorCtr="0">
              <a:spAutoFit/>
            </a:bodyPr>
            <a:lstStyle/>
            <a:p>
              <a:pPr algn="l"/>
              <a:r>
                <a:rPr lang="zh-CN" sz="1200" b="1" dirty="0">
                  <a:solidFill>
                    <a:srgbClr val="1A3C5E"/>
                  </a:solidFill>
                  <a:latin typeface="Arial"/>
                  <a:ea typeface="Microsoft YaHei"/>
                  <a:cs typeface="Arial"/>
                </a:rPr>
                <a:t>关键技术:</a:t>
              </a:r>
            </a:p>
          </p:txBody>
        </p:sp>
        <p:sp>
          <p:nvSpPr>
            <p:cNvPr id="58" name="TextBox 58"/>
            <p:cNvSpPr txBox="1"/>
            <p:nvPr/>
          </p:nvSpPr>
          <p:spPr>
            <a:xfrm>
              <a:off x="8367712" y="4307681"/>
              <a:ext cx="2338864" cy="228600"/>
            </a:xfrm>
            <a:prstGeom prst="rect">
              <a:avLst/>
            </a:prstGeom>
            <a:noFill/>
            <a:ln>
              <a:noFill/>
            </a:ln>
          </p:spPr>
          <p:txBody>
            <a:bodyPr wrap="none" lIns="0" tIns="0" rIns="0" bIns="0" anchor="t" anchorCtr="0">
              <a:spAutoFit/>
            </a:bodyPr>
            <a:lstStyle/>
            <a:p>
              <a:pPr algn="l"/>
              <a:r>
                <a:rPr lang="zh-CN" sz="1125" dirty="0">
                  <a:solidFill>
                    <a:srgbClr val="2D2D2D"/>
                  </a:solidFill>
                  <a:latin typeface="Arial"/>
                  <a:ea typeface="Microsoft YaHei"/>
                  <a:cs typeface="Arial"/>
                </a:rPr>
                <a:t>多机器狗共享SLAM地图与语义信息</a:t>
              </a:r>
            </a:p>
          </p:txBody>
        </p:sp>
      </p:grpSp>
      <p:grpSp>
        <p:nvGrpSpPr>
          <p:cNvPr id="63" name="Group 63"/>
          <p:cNvGrpSpPr/>
          <p:nvPr/>
        </p:nvGrpSpPr>
        <p:grpSpPr>
          <a:xfrm>
            <a:off x="0" y="6578441"/>
            <a:ext cx="12192000" cy="279559"/>
            <a:chOff x="0" y="6578441"/>
            <a:chExt cx="12192000" cy="279559"/>
          </a:xfrm>
        </p:grpSpPr>
        <p:sp>
          <p:nvSpPr>
            <p:cNvPr id="60" name="Rectangle 60"/>
            <p:cNvSpPr/>
            <p:nvPr/>
          </p:nvSpPr>
          <p:spPr>
            <a:xfrm>
              <a:off x="0" y="6819900"/>
              <a:ext cx="12192000" cy="38100"/>
            </a:xfrm>
            <a:prstGeom prst="rect">
              <a:avLst/>
            </a:prstGeom>
            <a:solidFill>
              <a:srgbClr val="D4C5C5"/>
            </a:solidFill>
            <a:ln>
              <a:noFill/>
            </a:ln>
          </p:spPr>
        </p:sp>
        <p:sp>
          <p:nvSpPr>
            <p:cNvPr id="61" name="TextBox 61"/>
            <p:cNvSpPr txBox="1"/>
            <p:nvPr/>
          </p:nvSpPr>
          <p:spPr>
            <a:xfrm>
              <a:off x="11268980" y="6578441"/>
              <a:ext cx="361998" cy="167640"/>
            </a:xfrm>
            <a:prstGeom prst="rect">
              <a:avLst/>
            </a:prstGeom>
            <a:noFill/>
            <a:ln>
              <a:noFill/>
            </a:ln>
          </p:spPr>
          <p:txBody>
            <a:bodyPr wrap="none" lIns="0" tIns="0" rIns="0" bIns="0" anchor="t" anchorCtr="0">
              <a:spAutoFit/>
            </a:bodyPr>
            <a:lstStyle/>
            <a:p>
              <a:pPr algn="r"/>
              <a:r>
                <a:rPr lang="zh-CN" sz="825" dirty="0">
                  <a:solidFill>
                    <a:srgbClr val="999999"/>
                  </a:solidFill>
                  <a:latin typeface="Arial"/>
                  <a:ea typeface="Microsoft YaHei"/>
                  <a:cs typeface="Arial"/>
                </a:rPr>
                <a:t>06 / 16</a:t>
              </a:r>
            </a:p>
          </p:txBody>
        </p:sp>
        <p:sp>
          <p:nvSpPr>
            <p:cNvPr id="62" name="TextBox 62"/>
            <p:cNvSpPr txBox="1"/>
            <p:nvPr/>
          </p:nvSpPr>
          <p:spPr>
            <a:xfrm>
              <a:off x="561022" y="6578441"/>
              <a:ext cx="1814179" cy="167640"/>
            </a:xfrm>
            <a:prstGeom prst="rect">
              <a:avLst/>
            </a:prstGeom>
            <a:noFill/>
            <a:ln>
              <a:noFill/>
            </a:ln>
          </p:spPr>
          <p:txBody>
            <a:bodyPr wrap="none" lIns="0" tIns="0" rIns="0" bIns="0" anchor="t" anchorCtr="0">
              <a:spAutoFit/>
            </a:bodyPr>
            <a:lstStyle/>
            <a:p>
              <a:pPr algn="l"/>
              <a:r>
                <a:rPr lang="zh-CN" sz="825" dirty="0">
                  <a:solidFill>
                    <a:srgbClr val="999999"/>
                  </a:solidFill>
                  <a:latin typeface="Arial"/>
                  <a:ea typeface="Microsoft YaHei"/>
                  <a:cs typeface="Arial"/>
                </a:rPr>
                <a:t>华中科技大学 人工智能与自动化学院</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slide(fromBottom)">
                                      <p:cBhvr>
                                        <p:cTn id="7" dur="400"/>
                                        <p:tgtEl>
                                          <p:spTgt spid="24"/>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slide(fromBottom)">
                                      <p:cBhvr>
                                        <p:cTn id="11" dur="400"/>
                                        <p:tgtEl>
                                          <p:spTgt spid="43"/>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59"/>
                                        </p:tgtEl>
                                        <p:attrNameLst>
                                          <p:attrName>style.visibility</p:attrName>
                                        </p:attrNameLst>
                                      </p:cBhvr>
                                      <p:to>
                                        <p:strVal val="visible"/>
                                      </p:to>
                                    </p:set>
                                    <p:animEffect transition="in" filter="slide(fromBottom)">
                                      <p:cBhvr>
                                        <p:cTn id="15" dur="4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43" grpId="0"/>
      <p:bldP spid="5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gradFill>
              <a:gsLst>
                <a:gs pos="0">
                  <a:srgbClr val="8B0000"/>
                </a:gs>
                <a:gs pos="100000">
                  <a:srgbClr val="C41E3A"/>
                </a:gs>
              </a:gsLst>
              <a:lin ang="0" scaled="1"/>
            </a:gradFill>
            <a:ln>
              <a:noFill/>
            </a:ln>
          </p:spPr>
        </p:sp>
      </p:grpSp>
      <p:grpSp>
        <p:nvGrpSpPr>
          <p:cNvPr id="8" name="Group 8"/>
          <p:cNvGrpSpPr/>
          <p:nvPr/>
        </p:nvGrpSpPr>
        <p:grpSpPr>
          <a:xfrm>
            <a:off x="731520" y="264795"/>
            <a:ext cx="2077212" cy="601980"/>
            <a:chOff x="731520" y="264795"/>
            <a:chExt cx="2077212" cy="601980"/>
          </a:xfrm>
        </p:grpSpPr>
        <p:sp>
          <p:nvSpPr>
            <p:cNvPr id="5" name="TextBox 5"/>
            <p:cNvSpPr txBox="1"/>
            <p:nvPr/>
          </p:nvSpPr>
          <p:spPr>
            <a:xfrm>
              <a:off x="731520" y="264795"/>
              <a:ext cx="2077212" cy="487680"/>
            </a:xfrm>
            <a:prstGeom prst="rect">
              <a:avLst/>
            </a:prstGeom>
            <a:noFill/>
            <a:ln>
              <a:noFill/>
            </a:ln>
          </p:spPr>
          <p:txBody>
            <a:bodyPr wrap="none" lIns="0" tIns="0" rIns="0" bIns="0" anchor="t" anchorCtr="0">
              <a:spAutoFit/>
            </a:bodyPr>
            <a:lstStyle/>
            <a:p>
              <a:pPr algn="l"/>
              <a:r>
                <a:rPr lang="zh-CN" sz="2400" b="1" dirty="0">
                  <a:solidFill>
                    <a:srgbClr val="8B0000"/>
                  </a:solidFill>
                  <a:latin typeface="Arial"/>
                  <a:ea typeface="Microsoft YaHei"/>
                  <a:cs typeface="Arial"/>
                </a:rPr>
                <a:t>技术发展趋势</a:t>
              </a:r>
            </a:p>
          </p:txBody>
        </p:sp>
        <p:sp>
          <p:nvSpPr>
            <p:cNvPr id="6" name="TextBox 6"/>
            <p:cNvSpPr txBox="1"/>
            <p:nvPr/>
          </p:nvSpPr>
          <p:spPr>
            <a:xfrm>
              <a:off x="749618" y="637699"/>
              <a:ext cx="1975009" cy="198120"/>
            </a:xfrm>
            <a:prstGeom prst="rect">
              <a:avLst/>
            </a:prstGeom>
            <a:noFill/>
            <a:ln>
              <a:noFill/>
            </a:ln>
          </p:spPr>
          <p:txBody>
            <a:bodyPr wrap="none" lIns="0" tIns="0" rIns="0" bIns="0" anchor="t" anchorCtr="0">
              <a:spAutoFit/>
            </a:bodyPr>
            <a:lstStyle/>
            <a:p>
              <a:pPr algn="l"/>
              <a:r>
                <a:rPr lang="zh-CN" sz="975" dirty="0">
                  <a:solidFill>
                    <a:srgbClr val="999999"/>
                  </a:solidFill>
                  <a:latin typeface="Arial"/>
                  <a:ea typeface="Microsoft YaHei"/>
                  <a:cs typeface="Arial"/>
                </a:rPr>
                <a:t>多无人系统协同领域五大发展方向</a:t>
              </a:r>
            </a:p>
          </p:txBody>
        </p:sp>
        <p:sp>
          <p:nvSpPr>
            <p:cNvPr id="7" name="Rectangle 7"/>
            <p:cNvSpPr/>
            <p:nvPr/>
          </p:nvSpPr>
          <p:spPr>
            <a:xfrm>
              <a:off x="762000" y="838200"/>
              <a:ext cx="476250" cy="28575"/>
            </a:xfrm>
            <a:prstGeom prst="rect">
              <a:avLst/>
            </a:prstGeom>
            <a:solidFill>
              <a:srgbClr val="C41E3A"/>
            </a:solidFill>
            <a:ln>
              <a:noFill/>
            </a:ln>
          </p:spPr>
        </p:sp>
      </p:grpSp>
      <p:grpSp>
        <p:nvGrpSpPr>
          <p:cNvPr id="13" name="Group 13"/>
          <p:cNvGrpSpPr/>
          <p:nvPr/>
        </p:nvGrpSpPr>
        <p:grpSpPr>
          <a:xfrm>
            <a:off x="2000250" y="2524125"/>
            <a:ext cx="8382000" cy="1"/>
            <a:chOff x="2000250" y="2524125"/>
            <a:chExt cx="8382000" cy="1"/>
          </a:xfrm>
        </p:grpSpPr>
        <p:sp>
          <p:nvSpPr>
            <p:cNvPr id="9" name="Line 9"/>
            <p:cNvSpPr/>
            <p:nvPr/>
          </p:nvSpPr>
          <p:spPr>
            <a:xfrm>
              <a:off x="2000250" y="2524125"/>
              <a:ext cx="1524000" cy="1"/>
            </a:xfrm>
            <a:prstGeom prst="line">
              <a:avLst/>
            </a:prstGeom>
            <a:noFill/>
            <a:ln w="23812">
              <a:solidFill>
                <a:srgbClr val="D4C5C5"/>
              </a:solidFill>
              <a:tailEnd type="triangle" w="lg" len="lg"/>
            </a:ln>
          </p:spPr>
        </p:sp>
        <p:sp>
          <p:nvSpPr>
            <p:cNvPr id="10" name="Line 10"/>
            <p:cNvSpPr/>
            <p:nvPr/>
          </p:nvSpPr>
          <p:spPr>
            <a:xfrm>
              <a:off x="4286250" y="2524125"/>
              <a:ext cx="1524000" cy="1"/>
            </a:xfrm>
            <a:prstGeom prst="line">
              <a:avLst/>
            </a:prstGeom>
            <a:noFill/>
            <a:ln w="23812">
              <a:solidFill>
                <a:srgbClr val="D4C5C5"/>
              </a:solidFill>
              <a:tailEnd type="triangle" w="lg" len="lg"/>
            </a:ln>
          </p:spPr>
        </p:sp>
        <p:sp>
          <p:nvSpPr>
            <p:cNvPr id="11" name="Line 11"/>
            <p:cNvSpPr/>
            <p:nvPr/>
          </p:nvSpPr>
          <p:spPr>
            <a:xfrm>
              <a:off x="6572250" y="2524125"/>
              <a:ext cx="1524000" cy="1"/>
            </a:xfrm>
            <a:prstGeom prst="line">
              <a:avLst/>
            </a:prstGeom>
            <a:noFill/>
            <a:ln w="23812">
              <a:solidFill>
                <a:srgbClr val="D4C5C5"/>
              </a:solidFill>
              <a:tailEnd type="triangle" w="lg" len="lg"/>
            </a:ln>
          </p:spPr>
        </p:sp>
        <p:sp>
          <p:nvSpPr>
            <p:cNvPr id="12" name="Line 12"/>
            <p:cNvSpPr/>
            <p:nvPr/>
          </p:nvSpPr>
          <p:spPr>
            <a:xfrm>
              <a:off x="8858250" y="2524125"/>
              <a:ext cx="1524000" cy="1"/>
            </a:xfrm>
            <a:prstGeom prst="line">
              <a:avLst/>
            </a:prstGeom>
            <a:noFill/>
            <a:ln w="23812">
              <a:solidFill>
                <a:srgbClr val="D4C5C5"/>
              </a:solidFill>
              <a:tailEnd type="triangle" w="lg" len="lg"/>
            </a:ln>
          </p:spPr>
        </p:sp>
      </p:grpSp>
      <p:grpSp>
        <p:nvGrpSpPr>
          <p:cNvPr id="24" name="Group 24"/>
          <p:cNvGrpSpPr/>
          <p:nvPr/>
        </p:nvGrpSpPr>
        <p:grpSpPr>
          <a:xfrm>
            <a:off x="571500" y="2162175"/>
            <a:ext cx="2095500" cy="3648075"/>
            <a:chOff x="571500" y="2162175"/>
            <a:chExt cx="2095500" cy="3648075"/>
          </a:xfrm>
          <a:effectLst>
            <a:outerShdw blurRad="76200" dist="19050" dir="5400000" algn="ctr" rotWithShape="0">
              <a:srgbClr val="0F172A">
                <a:alpha val="3750"/>
              </a:srgbClr>
            </a:outerShdw>
          </a:effectLst>
        </p:grpSpPr>
        <p:sp>
          <p:nvSpPr>
            <p:cNvPr id="14" name="Ellipse 14"/>
            <p:cNvSpPr/>
            <p:nvPr/>
          </p:nvSpPr>
          <p:spPr>
            <a:xfrm>
              <a:off x="1257300" y="2162175"/>
              <a:ext cx="723900" cy="723900"/>
            </a:xfrm>
            <a:prstGeom prst="ellipse">
              <a:avLst/>
            </a:prstGeom>
            <a:solidFill>
              <a:srgbClr val="8B0000"/>
            </a:solidFill>
            <a:ln>
              <a:noFill/>
            </a:ln>
            <a:effectLst>
              <a:outerShdw blurRad="76200" dist="19050" dir="5400000" algn="ctr" rotWithShape="0">
                <a:srgbClr val="0F172A">
                  <a:alpha val="3750"/>
                </a:srgbClr>
              </a:outerShdw>
            </a:effectLst>
          </p:spPr>
        </p:sp>
        <p:sp>
          <p:nvSpPr>
            <p:cNvPr id="15" name="TextBox 15"/>
            <p:cNvSpPr txBox="1"/>
            <p:nvPr/>
          </p:nvSpPr>
          <p:spPr>
            <a:xfrm>
              <a:off x="1500108" y="2307908"/>
              <a:ext cx="238285" cy="3352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01</a:t>
              </a:r>
            </a:p>
          </p:txBody>
        </p:sp>
        <p:sp>
          <p:nvSpPr>
            <p:cNvPr id="16" name="TextBox 16"/>
            <p:cNvSpPr txBox="1"/>
            <p:nvPr/>
          </p:nvSpPr>
          <p:spPr>
            <a:xfrm>
              <a:off x="1520666" y="2575084"/>
              <a:ext cx="197168" cy="1371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675" dirty="0">
                  <a:solidFill>
                    <a:srgbClr val="FFFFFF">
                      <a:alphaMod val="70000"/>
                    </a:srgbClr>
                  </a:solidFill>
                  <a:latin typeface="Arial"/>
                  <a:ea typeface="Microsoft YaHei"/>
                  <a:cs typeface="Arial"/>
                </a:rPr>
                <a:t>趋势</a:t>
              </a:r>
            </a:p>
          </p:txBody>
        </p:sp>
        <p:sp>
          <p:nvSpPr>
            <p:cNvPr id="17" name="Line 17"/>
            <p:cNvSpPr/>
            <p:nvPr/>
          </p:nvSpPr>
          <p:spPr>
            <a:xfrm>
              <a:off x="1619250" y="2886075"/>
              <a:ext cx="9525" cy="447675"/>
            </a:xfrm>
            <a:custGeom>
              <a:avLst/>
              <a:gdLst/>
              <a:ahLst/>
              <a:cxnLst/>
              <a:rect l="l" t="t" r="r" b="b"/>
              <a:pathLst>
                <a:path w="9525" h="447675">
                  <a:moveTo>
                    <a:pt x="0" y="0"/>
                  </a:moveTo>
                  <a:lnTo>
                    <a:pt x="0" y="447675"/>
                  </a:lnTo>
                </a:path>
              </a:pathLst>
            </a:custGeom>
            <a:noFill/>
            <a:ln w="19050">
              <a:solidFill>
                <a:srgbClr val="8B0000">
                  <a:alpha val="50000"/>
                </a:srgbClr>
              </a:solidFill>
              <a:prstDash val="dash"/>
            </a:ln>
          </p:spPr>
        </p:sp>
        <p:sp>
          <p:nvSpPr>
            <p:cNvPr id="18" name="Rectangle 18"/>
            <p:cNvSpPr/>
            <p:nvPr/>
          </p:nvSpPr>
          <p:spPr>
            <a:xfrm>
              <a:off x="571500" y="3333750"/>
              <a:ext cx="2095500" cy="2476500"/>
            </a:xfrm>
            <a:prstGeom prst="roundRect">
              <a:avLst>
                <a:gd name="adj" fmla="val 3636"/>
              </a:avLst>
            </a:prstGeom>
            <a:solidFill>
              <a:srgbClr val="FFFFFF"/>
            </a:solidFill>
            <a:ln w="9525">
              <a:solidFill>
                <a:srgbClr val="D4C5C5"/>
              </a:solidFill>
            </a:ln>
            <a:effectLst>
              <a:outerShdw blurRad="76200" dist="19050" dir="5400000" algn="ctr" rotWithShape="0">
                <a:srgbClr val="0F172A">
                  <a:alpha val="3750"/>
                </a:srgbClr>
              </a:outerShdw>
            </a:effectLst>
          </p:spPr>
        </p:sp>
        <p:sp>
          <p:nvSpPr>
            <p:cNvPr id="19" name="Rectangle 19"/>
            <p:cNvSpPr/>
            <p:nvPr/>
          </p:nvSpPr>
          <p:spPr>
            <a:xfrm>
              <a:off x="571500" y="3333750"/>
              <a:ext cx="2095500" cy="38100"/>
            </a:xfrm>
            <a:prstGeom prst="rect">
              <a:avLst/>
            </a:prstGeom>
            <a:solidFill>
              <a:srgbClr val="8B0000"/>
            </a:solidFill>
            <a:ln>
              <a:noFill/>
            </a:ln>
            <a:effectLst>
              <a:outerShdw blurRad="76200" dist="19050" dir="5400000" algn="ctr" rotWithShape="0">
                <a:srgbClr val="0F172A">
                  <a:alpha val="3750"/>
                </a:srgbClr>
              </a:outerShdw>
            </a:effectLst>
          </p:spPr>
        </p:sp>
        <p:sp>
          <p:nvSpPr>
            <p:cNvPr id="20" name="TextBox 20"/>
            <p:cNvSpPr txBox="1"/>
            <p:nvPr/>
          </p:nvSpPr>
          <p:spPr>
            <a:xfrm>
              <a:off x="978229" y="3529489"/>
              <a:ext cx="1282041"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275" b="1" dirty="0">
                  <a:solidFill>
                    <a:srgbClr val="8B0000"/>
                  </a:solidFill>
                  <a:latin typeface="Arial"/>
                  <a:ea typeface="Microsoft YaHei"/>
                  <a:cs typeface="Arial"/>
                </a:rPr>
                <a:t>集中式到分布式</a:t>
              </a:r>
            </a:p>
          </p:txBody>
        </p:sp>
        <p:sp>
          <p:nvSpPr>
            <p:cNvPr id="21" name="TextBox 21"/>
            <p:cNvSpPr txBox="1"/>
            <p:nvPr/>
          </p:nvSpPr>
          <p:spPr>
            <a:xfrm>
              <a:off x="975836" y="3887152"/>
              <a:ext cx="1286828"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050" dirty="0">
                  <a:solidFill>
                    <a:srgbClr val="2D2D2D"/>
                  </a:solidFill>
                  <a:latin typeface="Arial"/>
                  <a:ea typeface="Microsoft YaHei"/>
                  <a:cs typeface="Arial"/>
                </a:rPr>
                <a:t>去中心化自主协同，</a:t>
              </a:r>
            </a:p>
          </p:txBody>
        </p:sp>
        <p:sp>
          <p:nvSpPr>
            <p:cNvPr id="22" name="TextBox 22"/>
            <p:cNvSpPr txBox="1"/>
            <p:nvPr/>
          </p:nvSpPr>
          <p:spPr>
            <a:xfrm>
              <a:off x="1045845" y="4125278"/>
              <a:ext cx="1146810"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050" dirty="0">
                  <a:solidFill>
                    <a:srgbClr val="2D2D2D"/>
                  </a:solidFill>
                  <a:latin typeface="Arial"/>
                  <a:ea typeface="Microsoft YaHei"/>
                  <a:cs typeface="Arial"/>
                </a:rPr>
                <a:t>失去地面站通信后</a:t>
              </a:r>
            </a:p>
          </p:txBody>
        </p:sp>
        <p:sp>
          <p:nvSpPr>
            <p:cNvPr id="23" name="TextBox 23"/>
            <p:cNvSpPr txBox="1"/>
            <p:nvPr/>
          </p:nvSpPr>
          <p:spPr>
            <a:xfrm>
              <a:off x="1255871" y="4363402"/>
              <a:ext cx="726758"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050" dirty="0">
                  <a:solidFill>
                    <a:srgbClr val="2D2D2D"/>
                  </a:solidFill>
                  <a:latin typeface="Arial"/>
                  <a:ea typeface="Microsoft YaHei"/>
                  <a:cs typeface="Arial"/>
                </a:rPr>
                <a:t>仍具鲁棒性</a:t>
              </a:r>
            </a:p>
          </p:txBody>
        </p:sp>
      </p:grpSp>
      <p:grpSp>
        <p:nvGrpSpPr>
          <p:cNvPr id="35" name="Group 35"/>
          <p:cNvGrpSpPr/>
          <p:nvPr/>
        </p:nvGrpSpPr>
        <p:grpSpPr>
          <a:xfrm>
            <a:off x="2857500" y="2162175"/>
            <a:ext cx="2095500" cy="3648075"/>
            <a:chOff x="2857500" y="2162175"/>
            <a:chExt cx="2095500" cy="3648075"/>
          </a:xfrm>
          <a:effectLst>
            <a:outerShdw blurRad="76200" dist="19050" dir="5400000" algn="ctr" rotWithShape="0">
              <a:srgbClr val="0F172A">
                <a:alpha val="3750"/>
              </a:srgbClr>
            </a:outerShdw>
          </a:effectLst>
        </p:grpSpPr>
        <p:sp>
          <p:nvSpPr>
            <p:cNvPr id="25" name="Ellipse 25"/>
            <p:cNvSpPr/>
            <p:nvPr/>
          </p:nvSpPr>
          <p:spPr>
            <a:xfrm>
              <a:off x="3543300" y="2162175"/>
              <a:ext cx="723900" cy="723900"/>
            </a:xfrm>
            <a:prstGeom prst="ellipse">
              <a:avLst/>
            </a:prstGeom>
            <a:solidFill>
              <a:srgbClr val="C41E3A"/>
            </a:solidFill>
            <a:ln>
              <a:noFill/>
            </a:ln>
            <a:effectLst>
              <a:outerShdw blurRad="76200" dist="19050" dir="5400000" algn="ctr" rotWithShape="0">
                <a:srgbClr val="0F172A">
                  <a:alpha val="3750"/>
                </a:srgbClr>
              </a:outerShdw>
            </a:effectLst>
          </p:spPr>
        </p:sp>
        <p:sp>
          <p:nvSpPr>
            <p:cNvPr id="26" name="TextBox 26"/>
            <p:cNvSpPr txBox="1"/>
            <p:nvPr/>
          </p:nvSpPr>
          <p:spPr>
            <a:xfrm>
              <a:off x="3757229" y="2307908"/>
              <a:ext cx="296042" cy="3352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02</a:t>
              </a:r>
            </a:p>
          </p:txBody>
        </p:sp>
        <p:sp>
          <p:nvSpPr>
            <p:cNvPr id="27" name="TextBox 27"/>
            <p:cNvSpPr txBox="1"/>
            <p:nvPr/>
          </p:nvSpPr>
          <p:spPr>
            <a:xfrm>
              <a:off x="3806666" y="2575084"/>
              <a:ext cx="197168" cy="1371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675" dirty="0">
                  <a:solidFill>
                    <a:srgbClr val="FFFFFF">
                      <a:alphaMod val="70000"/>
                    </a:srgbClr>
                  </a:solidFill>
                  <a:latin typeface="Arial"/>
                  <a:ea typeface="Microsoft YaHei"/>
                  <a:cs typeface="Arial"/>
                </a:rPr>
                <a:t>趋势</a:t>
              </a:r>
            </a:p>
          </p:txBody>
        </p:sp>
        <p:sp>
          <p:nvSpPr>
            <p:cNvPr id="28" name="Line 28"/>
            <p:cNvSpPr/>
            <p:nvPr/>
          </p:nvSpPr>
          <p:spPr>
            <a:xfrm>
              <a:off x="3905250" y="2886075"/>
              <a:ext cx="9525" cy="447675"/>
            </a:xfrm>
            <a:custGeom>
              <a:avLst/>
              <a:gdLst/>
              <a:ahLst/>
              <a:cxnLst/>
              <a:rect l="l" t="t" r="r" b="b"/>
              <a:pathLst>
                <a:path w="9525" h="447675">
                  <a:moveTo>
                    <a:pt x="0" y="0"/>
                  </a:moveTo>
                  <a:lnTo>
                    <a:pt x="0" y="447675"/>
                  </a:lnTo>
                </a:path>
              </a:pathLst>
            </a:custGeom>
            <a:noFill/>
            <a:ln w="19050">
              <a:solidFill>
                <a:srgbClr val="C41E3A">
                  <a:alpha val="50000"/>
                </a:srgbClr>
              </a:solidFill>
              <a:prstDash val="dash"/>
            </a:ln>
          </p:spPr>
        </p:sp>
        <p:sp>
          <p:nvSpPr>
            <p:cNvPr id="29" name="Rectangle 29"/>
            <p:cNvSpPr/>
            <p:nvPr/>
          </p:nvSpPr>
          <p:spPr>
            <a:xfrm>
              <a:off x="2857500" y="3333750"/>
              <a:ext cx="2095500" cy="2476500"/>
            </a:xfrm>
            <a:prstGeom prst="roundRect">
              <a:avLst>
                <a:gd name="adj" fmla="val 3636"/>
              </a:avLst>
            </a:prstGeom>
            <a:solidFill>
              <a:srgbClr val="FFFFFF"/>
            </a:solidFill>
            <a:ln w="9525">
              <a:solidFill>
                <a:srgbClr val="D4C5C5"/>
              </a:solidFill>
            </a:ln>
            <a:effectLst>
              <a:outerShdw blurRad="76200" dist="19050" dir="5400000" algn="ctr" rotWithShape="0">
                <a:srgbClr val="0F172A">
                  <a:alpha val="3750"/>
                </a:srgbClr>
              </a:outerShdw>
            </a:effectLst>
          </p:spPr>
        </p:sp>
        <p:sp>
          <p:nvSpPr>
            <p:cNvPr id="30" name="Rectangle 30"/>
            <p:cNvSpPr/>
            <p:nvPr/>
          </p:nvSpPr>
          <p:spPr>
            <a:xfrm>
              <a:off x="2857500" y="3333750"/>
              <a:ext cx="2095500" cy="38100"/>
            </a:xfrm>
            <a:prstGeom prst="rect">
              <a:avLst/>
            </a:prstGeom>
            <a:solidFill>
              <a:srgbClr val="C41E3A"/>
            </a:solidFill>
            <a:ln>
              <a:noFill/>
            </a:ln>
            <a:effectLst>
              <a:outerShdw blurRad="76200" dist="19050" dir="5400000" algn="ctr" rotWithShape="0">
                <a:srgbClr val="0F172A">
                  <a:alpha val="3750"/>
                </a:srgbClr>
              </a:outerShdw>
            </a:effectLst>
          </p:spPr>
        </p:sp>
        <p:sp>
          <p:nvSpPr>
            <p:cNvPr id="31" name="TextBox 31"/>
            <p:cNvSpPr txBox="1"/>
            <p:nvPr/>
          </p:nvSpPr>
          <p:spPr>
            <a:xfrm>
              <a:off x="3264229" y="3529489"/>
              <a:ext cx="1282041"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275" b="1" dirty="0">
                  <a:solidFill>
                    <a:srgbClr val="C41E3A"/>
                  </a:solidFill>
                  <a:latin typeface="Arial"/>
                  <a:ea typeface="Microsoft YaHei"/>
                  <a:cs typeface="Arial"/>
                </a:rPr>
                <a:t>同构到异构融合</a:t>
              </a:r>
            </a:p>
          </p:txBody>
        </p:sp>
        <p:sp>
          <p:nvSpPr>
            <p:cNvPr id="32" name="TextBox 32"/>
            <p:cNvSpPr txBox="1"/>
            <p:nvPr/>
          </p:nvSpPr>
          <p:spPr>
            <a:xfrm>
              <a:off x="3433358" y="3887152"/>
              <a:ext cx="943785"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050" dirty="0">
                  <a:solidFill>
                    <a:srgbClr val="2D2D2D"/>
                  </a:solidFill>
                  <a:latin typeface="Arial"/>
                  <a:ea typeface="Microsoft YaHei"/>
                  <a:cs typeface="Arial"/>
                </a:rPr>
                <a:t>无人机+机器狗</a:t>
              </a:r>
            </a:p>
          </p:txBody>
        </p:sp>
        <p:sp>
          <p:nvSpPr>
            <p:cNvPr id="33" name="TextBox 33"/>
            <p:cNvSpPr txBox="1"/>
            <p:nvPr/>
          </p:nvSpPr>
          <p:spPr>
            <a:xfrm>
              <a:off x="3471862" y="4125278"/>
              <a:ext cx="866775"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050" dirty="0">
                  <a:solidFill>
                    <a:srgbClr val="2D2D2D"/>
                  </a:solidFill>
                  <a:latin typeface="Arial"/>
                  <a:ea typeface="Microsoft YaHei"/>
                  <a:cs typeface="Arial"/>
                </a:rPr>
                <a:t>多平台立体化</a:t>
              </a:r>
            </a:p>
          </p:txBody>
        </p:sp>
        <p:sp>
          <p:nvSpPr>
            <p:cNvPr id="34" name="TextBox 34"/>
            <p:cNvSpPr txBox="1"/>
            <p:nvPr/>
          </p:nvSpPr>
          <p:spPr>
            <a:xfrm>
              <a:off x="3471862" y="4363402"/>
              <a:ext cx="866775"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050" dirty="0">
                  <a:solidFill>
                    <a:srgbClr val="2D2D2D"/>
                  </a:solidFill>
                  <a:latin typeface="Arial"/>
                  <a:ea typeface="Microsoft YaHei"/>
                  <a:cs typeface="Arial"/>
                </a:rPr>
                <a:t>协同工作能力</a:t>
              </a:r>
            </a:p>
          </p:txBody>
        </p:sp>
      </p:grpSp>
      <p:grpSp>
        <p:nvGrpSpPr>
          <p:cNvPr id="45" name="Group 45"/>
          <p:cNvGrpSpPr/>
          <p:nvPr/>
        </p:nvGrpSpPr>
        <p:grpSpPr>
          <a:xfrm>
            <a:off x="5143500" y="2162175"/>
            <a:ext cx="2095500" cy="3648075"/>
            <a:chOff x="5143500" y="2162175"/>
            <a:chExt cx="2095500" cy="3648075"/>
          </a:xfrm>
          <a:effectLst>
            <a:outerShdw blurRad="76200" dist="19050" dir="5400000" algn="ctr" rotWithShape="0">
              <a:srgbClr val="0F172A">
                <a:alpha val="3750"/>
              </a:srgbClr>
            </a:outerShdw>
          </a:effectLst>
        </p:grpSpPr>
        <p:sp>
          <p:nvSpPr>
            <p:cNvPr id="36" name="Ellipse 36"/>
            <p:cNvSpPr/>
            <p:nvPr/>
          </p:nvSpPr>
          <p:spPr>
            <a:xfrm>
              <a:off x="5829300" y="2162175"/>
              <a:ext cx="723900" cy="723900"/>
            </a:xfrm>
            <a:prstGeom prst="ellipse">
              <a:avLst/>
            </a:prstGeom>
            <a:solidFill>
              <a:srgbClr val="1A3C5E"/>
            </a:solidFill>
            <a:ln>
              <a:noFill/>
            </a:ln>
            <a:effectLst>
              <a:outerShdw blurRad="76200" dist="19050" dir="5400000" algn="ctr" rotWithShape="0">
                <a:srgbClr val="0F172A">
                  <a:alpha val="3750"/>
                </a:srgbClr>
              </a:outerShdw>
            </a:effectLst>
          </p:spPr>
        </p:sp>
        <p:sp>
          <p:nvSpPr>
            <p:cNvPr id="37" name="TextBox 37"/>
            <p:cNvSpPr txBox="1"/>
            <p:nvPr/>
          </p:nvSpPr>
          <p:spPr>
            <a:xfrm>
              <a:off x="6043229" y="2307908"/>
              <a:ext cx="296042" cy="3352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03</a:t>
              </a:r>
            </a:p>
          </p:txBody>
        </p:sp>
        <p:sp>
          <p:nvSpPr>
            <p:cNvPr id="38" name="TextBox 38"/>
            <p:cNvSpPr txBox="1"/>
            <p:nvPr/>
          </p:nvSpPr>
          <p:spPr>
            <a:xfrm>
              <a:off x="6092666" y="2575084"/>
              <a:ext cx="197168" cy="1371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675" dirty="0">
                  <a:solidFill>
                    <a:srgbClr val="FFFFFF">
                      <a:alphaMod val="70000"/>
                    </a:srgbClr>
                  </a:solidFill>
                  <a:latin typeface="Arial"/>
                  <a:ea typeface="Microsoft YaHei"/>
                  <a:cs typeface="Arial"/>
                </a:rPr>
                <a:t>趋势</a:t>
              </a:r>
            </a:p>
          </p:txBody>
        </p:sp>
        <p:sp>
          <p:nvSpPr>
            <p:cNvPr id="39" name="Line 39"/>
            <p:cNvSpPr/>
            <p:nvPr/>
          </p:nvSpPr>
          <p:spPr>
            <a:xfrm>
              <a:off x="6191250" y="2886075"/>
              <a:ext cx="9525" cy="447675"/>
            </a:xfrm>
            <a:custGeom>
              <a:avLst/>
              <a:gdLst/>
              <a:ahLst/>
              <a:cxnLst/>
              <a:rect l="l" t="t" r="r" b="b"/>
              <a:pathLst>
                <a:path w="9525" h="447675">
                  <a:moveTo>
                    <a:pt x="0" y="0"/>
                  </a:moveTo>
                  <a:lnTo>
                    <a:pt x="0" y="447675"/>
                  </a:lnTo>
                </a:path>
              </a:pathLst>
            </a:custGeom>
            <a:noFill/>
            <a:ln w="19050">
              <a:solidFill>
                <a:srgbClr val="1A3C5E">
                  <a:alpha val="50000"/>
                </a:srgbClr>
              </a:solidFill>
              <a:prstDash val="dash"/>
            </a:ln>
          </p:spPr>
        </p:sp>
        <p:sp>
          <p:nvSpPr>
            <p:cNvPr id="40" name="Rectangle 40"/>
            <p:cNvSpPr/>
            <p:nvPr/>
          </p:nvSpPr>
          <p:spPr>
            <a:xfrm>
              <a:off x="5143500" y="3333750"/>
              <a:ext cx="2095500" cy="2476500"/>
            </a:xfrm>
            <a:prstGeom prst="roundRect">
              <a:avLst>
                <a:gd name="adj" fmla="val 3636"/>
              </a:avLst>
            </a:prstGeom>
            <a:solidFill>
              <a:srgbClr val="FFFFFF"/>
            </a:solidFill>
            <a:ln w="9525">
              <a:solidFill>
                <a:srgbClr val="D4C5C5"/>
              </a:solidFill>
            </a:ln>
            <a:effectLst>
              <a:outerShdw blurRad="76200" dist="19050" dir="5400000" algn="ctr" rotWithShape="0">
                <a:srgbClr val="0F172A">
                  <a:alpha val="3750"/>
                </a:srgbClr>
              </a:outerShdw>
            </a:effectLst>
          </p:spPr>
        </p:sp>
        <p:sp>
          <p:nvSpPr>
            <p:cNvPr id="41" name="Rectangle 41"/>
            <p:cNvSpPr/>
            <p:nvPr/>
          </p:nvSpPr>
          <p:spPr>
            <a:xfrm>
              <a:off x="5143500" y="3333750"/>
              <a:ext cx="2095500" cy="38100"/>
            </a:xfrm>
            <a:prstGeom prst="rect">
              <a:avLst/>
            </a:prstGeom>
            <a:solidFill>
              <a:srgbClr val="1A3C5E"/>
            </a:solidFill>
            <a:ln>
              <a:noFill/>
            </a:ln>
            <a:effectLst>
              <a:outerShdw blurRad="76200" dist="19050" dir="5400000" algn="ctr" rotWithShape="0">
                <a:srgbClr val="0F172A">
                  <a:alpha val="3750"/>
                </a:srgbClr>
              </a:outerShdw>
            </a:effectLst>
          </p:spPr>
        </p:sp>
        <p:sp>
          <p:nvSpPr>
            <p:cNvPr id="42" name="TextBox 42"/>
            <p:cNvSpPr txBox="1"/>
            <p:nvPr/>
          </p:nvSpPr>
          <p:spPr>
            <a:xfrm>
              <a:off x="5742141" y="3529489"/>
              <a:ext cx="898218"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275" b="1" dirty="0">
                  <a:solidFill>
                    <a:srgbClr val="1A3C5E"/>
                  </a:solidFill>
                  <a:latin typeface="Arial"/>
                  <a:ea typeface="Microsoft YaHei"/>
                  <a:cs typeface="Arial"/>
                </a:rPr>
                <a:t>AI深度赋能</a:t>
              </a:r>
            </a:p>
          </p:txBody>
        </p:sp>
        <p:sp>
          <p:nvSpPr>
            <p:cNvPr id="43" name="TextBox 43"/>
            <p:cNvSpPr txBox="1"/>
            <p:nvPr/>
          </p:nvSpPr>
          <p:spPr>
            <a:xfrm>
              <a:off x="5579340" y="3887152"/>
              <a:ext cx="1223820"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050" dirty="0">
                  <a:solidFill>
                    <a:srgbClr val="2D2D2D"/>
                  </a:solidFill>
                  <a:latin typeface="Arial"/>
                  <a:ea typeface="Microsoft YaHei"/>
                  <a:cs typeface="Arial"/>
                </a:rPr>
                <a:t>深度学习+强化学习</a:t>
              </a:r>
            </a:p>
          </p:txBody>
        </p:sp>
        <p:sp>
          <p:nvSpPr>
            <p:cNvPr id="44" name="TextBox 44"/>
            <p:cNvSpPr txBox="1"/>
            <p:nvPr/>
          </p:nvSpPr>
          <p:spPr>
            <a:xfrm>
              <a:off x="5617845" y="4125278"/>
              <a:ext cx="1146810"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050" dirty="0">
                  <a:solidFill>
                    <a:srgbClr val="2D2D2D"/>
                  </a:solidFill>
                  <a:latin typeface="Arial"/>
                  <a:ea typeface="Microsoft YaHei"/>
                  <a:cs typeface="Arial"/>
                </a:rPr>
                <a:t>自动学习合作策略</a:t>
              </a:r>
            </a:p>
          </p:txBody>
        </p:sp>
      </p:grpSp>
      <p:grpSp>
        <p:nvGrpSpPr>
          <p:cNvPr id="55" name="Group 55"/>
          <p:cNvGrpSpPr/>
          <p:nvPr/>
        </p:nvGrpSpPr>
        <p:grpSpPr>
          <a:xfrm>
            <a:off x="7429500" y="2162175"/>
            <a:ext cx="2095500" cy="3648075"/>
            <a:chOff x="7429500" y="2162175"/>
            <a:chExt cx="2095500" cy="3648075"/>
          </a:xfrm>
          <a:effectLst>
            <a:outerShdw blurRad="76200" dist="19050" dir="5400000" algn="ctr" rotWithShape="0">
              <a:srgbClr val="0F172A">
                <a:alpha val="3750"/>
              </a:srgbClr>
            </a:outerShdw>
          </a:effectLst>
        </p:grpSpPr>
        <p:sp>
          <p:nvSpPr>
            <p:cNvPr id="46" name="Ellipse 46"/>
            <p:cNvSpPr/>
            <p:nvPr/>
          </p:nvSpPr>
          <p:spPr>
            <a:xfrm>
              <a:off x="8115300" y="2162175"/>
              <a:ext cx="723900" cy="723900"/>
            </a:xfrm>
            <a:prstGeom prst="ellipse">
              <a:avLst/>
            </a:prstGeom>
            <a:solidFill>
              <a:srgbClr val="8B0000"/>
            </a:solidFill>
            <a:ln>
              <a:noFill/>
            </a:ln>
            <a:effectLst>
              <a:outerShdw blurRad="76200" dist="19050" dir="5400000" algn="ctr" rotWithShape="0">
                <a:srgbClr val="0F172A">
                  <a:alpha val="3750"/>
                </a:srgbClr>
              </a:outerShdw>
            </a:effectLst>
          </p:spPr>
        </p:sp>
        <p:sp>
          <p:nvSpPr>
            <p:cNvPr id="47" name="TextBox 47"/>
            <p:cNvSpPr txBox="1"/>
            <p:nvPr/>
          </p:nvSpPr>
          <p:spPr>
            <a:xfrm>
              <a:off x="8329229" y="2307908"/>
              <a:ext cx="296042" cy="3352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04</a:t>
              </a:r>
            </a:p>
          </p:txBody>
        </p:sp>
        <p:sp>
          <p:nvSpPr>
            <p:cNvPr id="48" name="TextBox 48"/>
            <p:cNvSpPr txBox="1"/>
            <p:nvPr/>
          </p:nvSpPr>
          <p:spPr>
            <a:xfrm>
              <a:off x="8378666" y="2575084"/>
              <a:ext cx="197168" cy="1371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675" dirty="0">
                  <a:solidFill>
                    <a:srgbClr val="FFFFFF">
                      <a:alphaMod val="70000"/>
                    </a:srgbClr>
                  </a:solidFill>
                  <a:latin typeface="Arial"/>
                  <a:ea typeface="Microsoft YaHei"/>
                  <a:cs typeface="Arial"/>
                </a:rPr>
                <a:t>趋势</a:t>
              </a:r>
            </a:p>
          </p:txBody>
        </p:sp>
        <p:sp>
          <p:nvSpPr>
            <p:cNvPr id="49" name="Line 49"/>
            <p:cNvSpPr/>
            <p:nvPr/>
          </p:nvSpPr>
          <p:spPr>
            <a:xfrm>
              <a:off x="8477250" y="2886075"/>
              <a:ext cx="9525" cy="447675"/>
            </a:xfrm>
            <a:custGeom>
              <a:avLst/>
              <a:gdLst/>
              <a:ahLst/>
              <a:cxnLst/>
              <a:rect l="l" t="t" r="r" b="b"/>
              <a:pathLst>
                <a:path w="9525" h="447675">
                  <a:moveTo>
                    <a:pt x="0" y="0"/>
                  </a:moveTo>
                  <a:lnTo>
                    <a:pt x="0" y="447675"/>
                  </a:lnTo>
                </a:path>
              </a:pathLst>
            </a:custGeom>
            <a:noFill/>
            <a:ln w="19050">
              <a:solidFill>
                <a:srgbClr val="8B0000">
                  <a:alpha val="50000"/>
                </a:srgbClr>
              </a:solidFill>
              <a:prstDash val="dash"/>
            </a:ln>
          </p:spPr>
        </p:sp>
        <p:sp>
          <p:nvSpPr>
            <p:cNvPr id="50" name="Rectangle 50"/>
            <p:cNvSpPr/>
            <p:nvPr/>
          </p:nvSpPr>
          <p:spPr>
            <a:xfrm>
              <a:off x="7429500" y="3333750"/>
              <a:ext cx="2095500" cy="2476500"/>
            </a:xfrm>
            <a:prstGeom prst="roundRect">
              <a:avLst>
                <a:gd name="adj" fmla="val 3636"/>
              </a:avLst>
            </a:prstGeom>
            <a:solidFill>
              <a:srgbClr val="FFFFFF"/>
            </a:solidFill>
            <a:ln w="9525">
              <a:solidFill>
                <a:srgbClr val="D4C5C5"/>
              </a:solidFill>
            </a:ln>
            <a:effectLst>
              <a:outerShdw blurRad="76200" dist="19050" dir="5400000" algn="ctr" rotWithShape="0">
                <a:srgbClr val="0F172A">
                  <a:alpha val="3750"/>
                </a:srgbClr>
              </a:outerShdw>
            </a:effectLst>
          </p:spPr>
        </p:sp>
        <p:sp>
          <p:nvSpPr>
            <p:cNvPr id="51" name="Rectangle 51"/>
            <p:cNvSpPr/>
            <p:nvPr/>
          </p:nvSpPr>
          <p:spPr>
            <a:xfrm>
              <a:off x="7429500" y="3333750"/>
              <a:ext cx="2095500" cy="38100"/>
            </a:xfrm>
            <a:prstGeom prst="rect">
              <a:avLst/>
            </a:prstGeom>
            <a:solidFill>
              <a:srgbClr val="8B0000"/>
            </a:solidFill>
            <a:ln>
              <a:noFill/>
            </a:ln>
            <a:effectLst>
              <a:outerShdw blurRad="76200" dist="19050" dir="5400000" algn="ctr" rotWithShape="0">
                <a:srgbClr val="0F172A">
                  <a:alpha val="3750"/>
                </a:srgbClr>
              </a:outerShdw>
            </a:effectLst>
          </p:spPr>
        </p:sp>
        <p:sp>
          <p:nvSpPr>
            <p:cNvPr id="52" name="TextBox 52"/>
            <p:cNvSpPr txBox="1"/>
            <p:nvPr/>
          </p:nvSpPr>
          <p:spPr>
            <a:xfrm>
              <a:off x="7925491" y="3529489"/>
              <a:ext cx="1103519"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275" b="1" dirty="0">
                  <a:solidFill>
                    <a:srgbClr val="8B0000"/>
                  </a:solidFill>
                  <a:latin typeface="Arial"/>
                  <a:ea typeface="Microsoft YaHei"/>
                  <a:cs typeface="Arial"/>
                </a:rPr>
                <a:t>虚实结合测试</a:t>
              </a:r>
            </a:p>
          </p:txBody>
        </p:sp>
        <p:sp>
          <p:nvSpPr>
            <p:cNvPr id="53" name="TextBox 53"/>
            <p:cNvSpPr txBox="1"/>
            <p:nvPr/>
          </p:nvSpPr>
          <p:spPr>
            <a:xfrm>
              <a:off x="7774329" y="3887152"/>
              <a:ext cx="1405842"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050" dirty="0">
                  <a:solidFill>
                    <a:srgbClr val="2D2D2D"/>
                  </a:solidFill>
                  <a:latin typeface="Arial"/>
                  <a:ea typeface="Microsoft YaHei"/>
                  <a:cs typeface="Arial"/>
                </a:rPr>
                <a:t>AirSim/Gazebo高保真</a:t>
              </a:r>
            </a:p>
          </p:txBody>
        </p:sp>
        <p:sp>
          <p:nvSpPr>
            <p:cNvPr id="54" name="TextBox 54"/>
            <p:cNvSpPr txBox="1"/>
            <p:nvPr/>
          </p:nvSpPr>
          <p:spPr>
            <a:xfrm>
              <a:off x="7903845" y="4125278"/>
              <a:ext cx="1146810"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050" dirty="0">
                  <a:solidFill>
                    <a:srgbClr val="2D2D2D"/>
                  </a:solidFill>
                  <a:latin typeface="Arial"/>
                  <a:ea typeface="Microsoft YaHei"/>
                  <a:cs typeface="Arial"/>
                </a:rPr>
                <a:t>仿真降低验证成本</a:t>
              </a:r>
            </a:p>
          </p:txBody>
        </p:sp>
      </p:grpSp>
      <p:grpSp>
        <p:nvGrpSpPr>
          <p:cNvPr id="66" name="Group 66"/>
          <p:cNvGrpSpPr/>
          <p:nvPr/>
        </p:nvGrpSpPr>
        <p:grpSpPr>
          <a:xfrm>
            <a:off x="9715500" y="2162175"/>
            <a:ext cx="2095500" cy="3648075"/>
            <a:chOff x="9715500" y="2162175"/>
            <a:chExt cx="2095500" cy="3648075"/>
          </a:xfrm>
          <a:effectLst>
            <a:outerShdw blurRad="76200" dist="19050" dir="5400000" algn="ctr" rotWithShape="0">
              <a:srgbClr val="0F172A">
                <a:alpha val="3750"/>
              </a:srgbClr>
            </a:outerShdw>
          </a:effectLst>
        </p:grpSpPr>
        <p:sp>
          <p:nvSpPr>
            <p:cNvPr id="56" name="Ellipse 56"/>
            <p:cNvSpPr/>
            <p:nvPr/>
          </p:nvSpPr>
          <p:spPr>
            <a:xfrm>
              <a:off x="10401300" y="2162175"/>
              <a:ext cx="723900" cy="723900"/>
            </a:xfrm>
            <a:prstGeom prst="ellipse">
              <a:avLst/>
            </a:prstGeom>
            <a:solidFill>
              <a:srgbClr val="C41E3A"/>
            </a:solidFill>
            <a:ln>
              <a:noFill/>
            </a:ln>
            <a:effectLst>
              <a:outerShdw blurRad="76200" dist="19050" dir="5400000" algn="ctr" rotWithShape="0">
                <a:srgbClr val="0F172A">
                  <a:alpha val="3750"/>
                </a:srgbClr>
              </a:outerShdw>
            </a:effectLst>
          </p:spPr>
        </p:sp>
        <p:sp>
          <p:nvSpPr>
            <p:cNvPr id="57" name="TextBox 57"/>
            <p:cNvSpPr txBox="1"/>
            <p:nvPr/>
          </p:nvSpPr>
          <p:spPr>
            <a:xfrm>
              <a:off x="10615229" y="2307908"/>
              <a:ext cx="296042" cy="3352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05</a:t>
              </a:r>
            </a:p>
          </p:txBody>
        </p:sp>
        <p:sp>
          <p:nvSpPr>
            <p:cNvPr id="58" name="TextBox 58"/>
            <p:cNvSpPr txBox="1"/>
            <p:nvPr/>
          </p:nvSpPr>
          <p:spPr>
            <a:xfrm>
              <a:off x="10664666" y="2575084"/>
              <a:ext cx="197168" cy="1371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675" dirty="0">
                  <a:solidFill>
                    <a:srgbClr val="FFFFFF">
                      <a:alphaMod val="70000"/>
                    </a:srgbClr>
                  </a:solidFill>
                  <a:latin typeface="Arial"/>
                  <a:ea typeface="Microsoft YaHei"/>
                  <a:cs typeface="Arial"/>
                </a:rPr>
                <a:t>趋势</a:t>
              </a:r>
            </a:p>
          </p:txBody>
        </p:sp>
        <p:sp>
          <p:nvSpPr>
            <p:cNvPr id="59" name="Line 59"/>
            <p:cNvSpPr/>
            <p:nvPr/>
          </p:nvSpPr>
          <p:spPr>
            <a:xfrm>
              <a:off x="10763250" y="2886075"/>
              <a:ext cx="9525" cy="447675"/>
            </a:xfrm>
            <a:custGeom>
              <a:avLst/>
              <a:gdLst/>
              <a:ahLst/>
              <a:cxnLst/>
              <a:rect l="l" t="t" r="r" b="b"/>
              <a:pathLst>
                <a:path w="9525" h="447675">
                  <a:moveTo>
                    <a:pt x="0" y="0"/>
                  </a:moveTo>
                  <a:lnTo>
                    <a:pt x="0" y="447675"/>
                  </a:lnTo>
                </a:path>
              </a:pathLst>
            </a:custGeom>
            <a:noFill/>
            <a:ln w="19050">
              <a:solidFill>
                <a:srgbClr val="C41E3A">
                  <a:alpha val="50000"/>
                </a:srgbClr>
              </a:solidFill>
              <a:prstDash val="dash"/>
            </a:ln>
          </p:spPr>
        </p:sp>
        <p:sp>
          <p:nvSpPr>
            <p:cNvPr id="60" name="Rectangle 60"/>
            <p:cNvSpPr/>
            <p:nvPr/>
          </p:nvSpPr>
          <p:spPr>
            <a:xfrm>
              <a:off x="9715500" y="3333750"/>
              <a:ext cx="2095500" cy="2476500"/>
            </a:xfrm>
            <a:prstGeom prst="roundRect">
              <a:avLst>
                <a:gd name="adj" fmla="val 3636"/>
              </a:avLst>
            </a:prstGeom>
            <a:solidFill>
              <a:srgbClr val="FFFFFF"/>
            </a:solidFill>
            <a:ln w="9525">
              <a:solidFill>
                <a:srgbClr val="D4C5C5"/>
              </a:solidFill>
            </a:ln>
            <a:effectLst>
              <a:outerShdw blurRad="76200" dist="19050" dir="5400000" algn="ctr" rotWithShape="0">
                <a:srgbClr val="0F172A">
                  <a:alpha val="3750"/>
                </a:srgbClr>
              </a:outerShdw>
            </a:effectLst>
          </p:spPr>
        </p:sp>
        <p:sp>
          <p:nvSpPr>
            <p:cNvPr id="61" name="Rectangle 61"/>
            <p:cNvSpPr/>
            <p:nvPr/>
          </p:nvSpPr>
          <p:spPr>
            <a:xfrm>
              <a:off x="9715500" y="3333750"/>
              <a:ext cx="2095500" cy="38100"/>
            </a:xfrm>
            <a:prstGeom prst="rect">
              <a:avLst/>
            </a:prstGeom>
            <a:solidFill>
              <a:srgbClr val="C41E3A"/>
            </a:solidFill>
            <a:ln>
              <a:noFill/>
            </a:ln>
            <a:effectLst>
              <a:outerShdw blurRad="76200" dist="19050" dir="5400000" algn="ctr" rotWithShape="0">
                <a:srgbClr val="0F172A">
                  <a:alpha val="3750"/>
                </a:srgbClr>
              </a:outerShdw>
            </a:effectLst>
          </p:spPr>
        </p:sp>
        <p:sp>
          <p:nvSpPr>
            <p:cNvPr id="62" name="TextBox 62"/>
            <p:cNvSpPr txBox="1"/>
            <p:nvPr/>
          </p:nvSpPr>
          <p:spPr>
            <a:xfrm>
              <a:off x="10122229" y="3529489"/>
              <a:ext cx="1282041"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275" b="1" dirty="0">
                  <a:solidFill>
                    <a:srgbClr val="C41E3A"/>
                  </a:solidFill>
                  <a:latin typeface="Arial"/>
                  <a:ea typeface="Microsoft YaHei"/>
                  <a:cs typeface="Arial"/>
                </a:rPr>
                <a:t>标准化与互操作</a:t>
              </a:r>
            </a:p>
          </p:txBody>
        </p:sp>
        <p:sp>
          <p:nvSpPr>
            <p:cNvPr id="63" name="TextBox 63"/>
            <p:cNvSpPr txBox="1"/>
            <p:nvPr/>
          </p:nvSpPr>
          <p:spPr>
            <a:xfrm>
              <a:off x="10137338" y="3887152"/>
              <a:ext cx="1251823"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050" dirty="0">
                  <a:solidFill>
                    <a:srgbClr val="2D2D2D"/>
                  </a:solidFill>
                  <a:latin typeface="Arial"/>
                  <a:ea typeface="Microsoft YaHei"/>
                  <a:cs typeface="Arial"/>
                </a:rPr>
                <a:t>ROS2/STANAG 4586</a:t>
              </a:r>
            </a:p>
          </p:txBody>
        </p:sp>
        <p:sp>
          <p:nvSpPr>
            <p:cNvPr id="64" name="TextBox 64"/>
            <p:cNvSpPr txBox="1"/>
            <p:nvPr/>
          </p:nvSpPr>
          <p:spPr>
            <a:xfrm>
              <a:off x="10329862" y="4125278"/>
              <a:ext cx="866775"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050" dirty="0">
                  <a:solidFill>
                    <a:srgbClr val="2D2D2D"/>
                  </a:solidFill>
                  <a:latin typeface="Arial"/>
                  <a:ea typeface="Microsoft YaHei"/>
                  <a:cs typeface="Arial"/>
                </a:rPr>
                <a:t>推动协同互连</a:t>
              </a:r>
            </a:p>
          </p:txBody>
        </p:sp>
        <p:sp>
          <p:nvSpPr>
            <p:cNvPr id="65" name="TextBox 65"/>
            <p:cNvSpPr txBox="1"/>
            <p:nvPr/>
          </p:nvSpPr>
          <p:spPr>
            <a:xfrm>
              <a:off x="10259854" y="4363402"/>
              <a:ext cx="1006792"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050" dirty="0">
                  <a:solidFill>
                    <a:srgbClr val="2D2D2D"/>
                  </a:solidFill>
                  <a:latin typeface="Arial"/>
                  <a:ea typeface="Microsoft YaHei"/>
                  <a:cs typeface="Arial"/>
                </a:rPr>
                <a:t>与通信协议建立</a:t>
              </a:r>
            </a:p>
          </p:txBody>
        </p:sp>
      </p:grpSp>
      <p:grpSp>
        <p:nvGrpSpPr>
          <p:cNvPr id="70" name="Group 70"/>
          <p:cNvGrpSpPr/>
          <p:nvPr/>
        </p:nvGrpSpPr>
        <p:grpSpPr>
          <a:xfrm>
            <a:off x="0" y="6578441"/>
            <a:ext cx="12192000" cy="279559"/>
            <a:chOff x="0" y="6578441"/>
            <a:chExt cx="12192000" cy="279559"/>
          </a:xfrm>
        </p:grpSpPr>
        <p:sp>
          <p:nvSpPr>
            <p:cNvPr id="67" name="Rectangle 67"/>
            <p:cNvSpPr/>
            <p:nvPr/>
          </p:nvSpPr>
          <p:spPr>
            <a:xfrm>
              <a:off x="0" y="6819900"/>
              <a:ext cx="12192000" cy="38100"/>
            </a:xfrm>
            <a:prstGeom prst="rect">
              <a:avLst/>
            </a:prstGeom>
            <a:solidFill>
              <a:srgbClr val="D4C5C5"/>
            </a:solidFill>
            <a:ln>
              <a:noFill/>
            </a:ln>
          </p:spPr>
        </p:sp>
        <p:sp>
          <p:nvSpPr>
            <p:cNvPr id="68" name="TextBox 68"/>
            <p:cNvSpPr txBox="1"/>
            <p:nvPr/>
          </p:nvSpPr>
          <p:spPr>
            <a:xfrm>
              <a:off x="11268980" y="6578441"/>
              <a:ext cx="361998" cy="167640"/>
            </a:xfrm>
            <a:prstGeom prst="rect">
              <a:avLst/>
            </a:prstGeom>
            <a:noFill/>
            <a:ln>
              <a:noFill/>
            </a:ln>
          </p:spPr>
          <p:txBody>
            <a:bodyPr wrap="none" lIns="0" tIns="0" rIns="0" bIns="0" anchor="t" anchorCtr="0">
              <a:spAutoFit/>
            </a:bodyPr>
            <a:lstStyle/>
            <a:p>
              <a:pPr algn="r"/>
              <a:r>
                <a:rPr lang="zh-CN" sz="825" dirty="0">
                  <a:solidFill>
                    <a:srgbClr val="999999"/>
                  </a:solidFill>
                  <a:latin typeface="Arial"/>
                  <a:ea typeface="Microsoft YaHei"/>
                  <a:cs typeface="Arial"/>
                </a:rPr>
                <a:t>07 / 16</a:t>
              </a:r>
            </a:p>
          </p:txBody>
        </p:sp>
        <p:sp>
          <p:nvSpPr>
            <p:cNvPr id="69" name="TextBox 69"/>
            <p:cNvSpPr txBox="1"/>
            <p:nvPr/>
          </p:nvSpPr>
          <p:spPr>
            <a:xfrm>
              <a:off x="561022" y="6578441"/>
              <a:ext cx="1814179" cy="167640"/>
            </a:xfrm>
            <a:prstGeom prst="rect">
              <a:avLst/>
            </a:prstGeom>
            <a:noFill/>
            <a:ln>
              <a:noFill/>
            </a:ln>
          </p:spPr>
          <p:txBody>
            <a:bodyPr wrap="none" lIns="0" tIns="0" rIns="0" bIns="0" anchor="t" anchorCtr="0">
              <a:spAutoFit/>
            </a:bodyPr>
            <a:lstStyle/>
            <a:p>
              <a:pPr algn="l"/>
              <a:r>
                <a:rPr lang="zh-CN" sz="825" dirty="0">
                  <a:solidFill>
                    <a:srgbClr val="999999"/>
                  </a:solidFill>
                  <a:latin typeface="Arial"/>
                  <a:ea typeface="Microsoft YaHei"/>
                  <a:cs typeface="Arial"/>
                </a:rPr>
                <a:t>华中科技大学 人工智能与自动化学院</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image">
                                      <p:cBhvr>
                                        <p:cTn id="7" dur="400"/>
                                        <p:tgtEl>
                                          <p:spTgt spid="13"/>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slide(fromBottom)">
                                      <p:cBhvr>
                                        <p:cTn id="11" dur="400"/>
                                        <p:tgtEl>
                                          <p:spTgt spid="24"/>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slide(fromBottom)">
                                      <p:cBhvr>
                                        <p:cTn id="15" dur="400"/>
                                        <p:tgtEl>
                                          <p:spTgt spid="35"/>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slide(fromBottom)">
                                      <p:cBhvr>
                                        <p:cTn id="19" dur="400"/>
                                        <p:tgtEl>
                                          <p:spTgt spid="45"/>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55"/>
                                        </p:tgtEl>
                                        <p:attrNameLst>
                                          <p:attrName>style.visibility</p:attrName>
                                        </p:attrNameLst>
                                      </p:cBhvr>
                                      <p:to>
                                        <p:strVal val="visible"/>
                                      </p:to>
                                    </p:set>
                                    <p:animEffect transition="in" filter="slide(fromBottom)">
                                      <p:cBhvr>
                                        <p:cTn id="23" dur="400"/>
                                        <p:tgtEl>
                                          <p:spTgt spid="55"/>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66"/>
                                        </p:tgtEl>
                                        <p:attrNameLst>
                                          <p:attrName>style.visibility</p:attrName>
                                        </p:attrNameLst>
                                      </p:cBhvr>
                                      <p:to>
                                        <p:strVal val="visible"/>
                                      </p:to>
                                    </p:set>
                                    <p:animEffect transition="in" filter="slide(fromBottom)">
                                      <p:cBhvr>
                                        <p:cTn id="27" dur="4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4" grpId="0"/>
      <p:bldP spid="35" grpId="0"/>
      <p:bldP spid="45" grpId="0"/>
      <p:bldP spid="55" grpId="0"/>
      <p:bldP spid="6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gradFill>
              <a:gsLst>
                <a:gs pos="0">
                  <a:srgbClr val="8B0000"/>
                </a:gs>
                <a:gs pos="100000">
                  <a:srgbClr val="C41E3A"/>
                </a:gs>
              </a:gsLst>
              <a:lin ang="0" scaled="1"/>
            </a:gradFill>
            <a:ln>
              <a:noFill/>
            </a:ln>
          </p:spPr>
        </p:sp>
      </p:grpSp>
      <p:grpSp>
        <p:nvGrpSpPr>
          <p:cNvPr id="8" name="Group 8"/>
          <p:cNvGrpSpPr/>
          <p:nvPr/>
        </p:nvGrpSpPr>
        <p:grpSpPr>
          <a:xfrm>
            <a:off x="731520" y="264795"/>
            <a:ext cx="3085338" cy="601980"/>
            <a:chOff x="731520" y="264795"/>
            <a:chExt cx="3085338" cy="601980"/>
          </a:xfrm>
        </p:grpSpPr>
        <p:sp>
          <p:nvSpPr>
            <p:cNvPr id="5" name="TextBox 5"/>
            <p:cNvSpPr txBox="1"/>
            <p:nvPr/>
          </p:nvSpPr>
          <p:spPr>
            <a:xfrm>
              <a:off x="731520" y="264795"/>
              <a:ext cx="3085338" cy="487680"/>
            </a:xfrm>
            <a:prstGeom prst="rect">
              <a:avLst/>
            </a:prstGeom>
            <a:noFill/>
            <a:ln>
              <a:noFill/>
            </a:ln>
          </p:spPr>
          <p:txBody>
            <a:bodyPr wrap="none" lIns="0" tIns="0" rIns="0" bIns="0" anchor="t" anchorCtr="0">
              <a:spAutoFit/>
            </a:bodyPr>
            <a:lstStyle/>
            <a:p>
              <a:pPr algn="l"/>
              <a:r>
                <a:rPr lang="zh-CN" sz="2400" b="1" dirty="0">
                  <a:solidFill>
                    <a:srgbClr val="8B0000"/>
                  </a:solidFill>
                  <a:latin typeface="Arial"/>
                  <a:ea typeface="Microsoft YaHei"/>
                  <a:cs typeface="Arial"/>
                </a:rPr>
                <a:t>研究路线与整体方案</a:t>
              </a:r>
            </a:p>
          </p:txBody>
        </p:sp>
        <p:sp>
          <p:nvSpPr>
            <p:cNvPr id="6" name="TextBox 6"/>
            <p:cNvSpPr txBox="1"/>
            <p:nvPr/>
          </p:nvSpPr>
          <p:spPr>
            <a:xfrm>
              <a:off x="749618" y="637699"/>
              <a:ext cx="1734479" cy="198120"/>
            </a:xfrm>
            <a:prstGeom prst="rect">
              <a:avLst/>
            </a:prstGeom>
            <a:noFill/>
            <a:ln>
              <a:noFill/>
            </a:ln>
          </p:spPr>
          <p:txBody>
            <a:bodyPr wrap="none" lIns="0" tIns="0" rIns="0" bIns="0" anchor="t" anchorCtr="0">
              <a:spAutoFit/>
            </a:bodyPr>
            <a:lstStyle/>
            <a:p>
              <a:pPr algn="l"/>
              <a:r>
                <a:rPr lang="zh-CN" sz="975" dirty="0">
                  <a:solidFill>
                    <a:srgbClr val="999999"/>
                  </a:solidFill>
                  <a:latin typeface="Arial"/>
                  <a:ea typeface="Microsoft YaHei"/>
                  <a:cs typeface="Arial"/>
                </a:rPr>
                <a:t>五步研究路线 + 三大核心模块</a:t>
              </a:r>
            </a:p>
          </p:txBody>
        </p:sp>
        <p:sp>
          <p:nvSpPr>
            <p:cNvPr id="7" name="Rectangle 7"/>
            <p:cNvSpPr/>
            <p:nvPr/>
          </p:nvSpPr>
          <p:spPr>
            <a:xfrm>
              <a:off x="762000" y="838200"/>
              <a:ext cx="476250" cy="28575"/>
            </a:xfrm>
            <a:prstGeom prst="rect">
              <a:avLst/>
            </a:prstGeom>
            <a:solidFill>
              <a:srgbClr val="C41E3A"/>
            </a:solidFill>
            <a:ln>
              <a:noFill/>
            </a:ln>
          </p:spPr>
        </p:sp>
      </p:grpSp>
      <p:grpSp>
        <p:nvGrpSpPr>
          <p:cNvPr id="13" name="Group 13"/>
          <p:cNvGrpSpPr/>
          <p:nvPr/>
        </p:nvGrpSpPr>
        <p:grpSpPr>
          <a:xfrm>
            <a:off x="1857375" y="1619250"/>
            <a:ext cx="8191500" cy="1"/>
            <a:chOff x="1857375" y="1619250"/>
            <a:chExt cx="8191500" cy="1"/>
          </a:xfrm>
        </p:grpSpPr>
        <p:sp>
          <p:nvSpPr>
            <p:cNvPr id="9" name="Line 9"/>
            <p:cNvSpPr/>
            <p:nvPr/>
          </p:nvSpPr>
          <p:spPr>
            <a:xfrm>
              <a:off x="1857375" y="1619250"/>
              <a:ext cx="762000" cy="1"/>
            </a:xfrm>
            <a:prstGeom prst="line">
              <a:avLst/>
            </a:prstGeom>
            <a:noFill/>
            <a:ln w="23812">
              <a:solidFill>
                <a:srgbClr val="8B0000"/>
              </a:solidFill>
              <a:tailEnd type="triangle" w="lg" len="lg"/>
            </a:ln>
          </p:spPr>
        </p:sp>
        <p:sp>
          <p:nvSpPr>
            <p:cNvPr id="10" name="Line 10"/>
            <p:cNvSpPr/>
            <p:nvPr/>
          </p:nvSpPr>
          <p:spPr>
            <a:xfrm>
              <a:off x="4333875" y="1619250"/>
              <a:ext cx="762000" cy="1"/>
            </a:xfrm>
            <a:prstGeom prst="line">
              <a:avLst/>
            </a:prstGeom>
            <a:noFill/>
            <a:ln w="23812">
              <a:solidFill>
                <a:srgbClr val="8B0000"/>
              </a:solidFill>
              <a:tailEnd type="triangle" w="lg" len="lg"/>
            </a:ln>
          </p:spPr>
        </p:sp>
        <p:sp>
          <p:nvSpPr>
            <p:cNvPr id="11" name="Line 11"/>
            <p:cNvSpPr/>
            <p:nvPr/>
          </p:nvSpPr>
          <p:spPr>
            <a:xfrm>
              <a:off x="6810375" y="1619250"/>
              <a:ext cx="762000" cy="1"/>
            </a:xfrm>
            <a:prstGeom prst="line">
              <a:avLst/>
            </a:prstGeom>
            <a:noFill/>
            <a:ln w="23812">
              <a:solidFill>
                <a:srgbClr val="8B0000"/>
              </a:solidFill>
              <a:tailEnd type="triangle" w="lg" len="lg"/>
            </a:ln>
          </p:spPr>
        </p:sp>
        <p:sp>
          <p:nvSpPr>
            <p:cNvPr id="12" name="Line 12"/>
            <p:cNvSpPr/>
            <p:nvPr/>
          </p:nvSpPr>
          <p:spPr>
            <a:xfrm>
              <a:off x="9286875" y="1619250"/>
              <a:ext cx="762000" cy="1"/>
            </a:xfrm>
            <a:prstGeom prst="line">
              <a:avLst/>
            </a:prstGeom>
            <a:noFill/>
            <a:ln w="23812">
              <a:solidFill>
                <a:srgbClr val="8B0000"/>
              </a:solidFill>
              <a:tailEnd type="triangle" w="lg" len="lg"/>
            </a:ln>
          </p:spPr>
        </p:sp>
      </p:grpSp>
      <p:grpSp>
        <p:nvGrpSpPr>
          <p:cNvPr id="18" name="Group 18"/>
          <p:cNvGrpSpPr/>
          <p:nvPr/>
        </p:nvGrpSpPr>
        <p:grpSpPr>
          <a:xfrm>
            <a:off x="476250" y="1143000"/>
            <a:ext cx="1428750" cy="952500"/>
            <a:chOff x="476250" y="1143000"/>
            <a:chExt cx="1428750" cy="952500"/>
          </a:xfrm>
          <a:effectLst>
            <a:outerShdw blurRad="76200" dist="19050" dir="5400000" algn="ctr" rotWithShape="0">
              <a:srgbClr val="0F172A">
                <a:alpha val="3750"/>
              </a:srgbClr>
            </a:outerShdw>
          </a:effectLst>
        </p:grpSpPr>
        <p:sp>
          <p:nvSpPr>
            <p:cNvPr id="14" name="Rectangle 14"/>
            <p:cNvSpPr/>
            <p:nvPr/>
          </p:nvSpPr>
          <p:spPr>
            <a:xfrm>
              <a:off x="476250" y="1143000"/>
              <a:ext cx="1428750" cy="952500"/>
            </a:xfrm>
            <a:prstGeom prst="roundRect">
              <a:avLst>
                <a:gd name="adj" fmla="val 10000"/>
              </a:avLst>
            </a:prstGeom>
            <a:solidFill>
              <a:srgbClr val="8B0000"/>
            </a:solidFill>
            <a:ln>
              <a:noFill/>
            </a:ln>
            <a:effectLst>
              <a:outerShdw blurRad="76200" dist="19050" dir="5400000" algn="ctr" rotWithShape="0">
                <a:srgbClr val="0F172A">
                  <a:alpha val="3750"/>
                </a:srgbClr>
              </a:outerShdw>
            </a:effectLst>
          </p:spPr>
        </p:sp>
        <p:sp>
          <p:nvSpPr>
            <p:cNvPr id="15" name="TextBox 15"/>
            <p:cNvSpPr txBox="1"/>
            <p:nvPr/>
          </p:nvSpPr>
          <p:spPr>
            <a:xfrm>
              <a:off x="817388" y="1367314"/>
              <a:ext cx="746474"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275" b="1" dirty="0">
                  <a:solidFill>
                    <a:srgbClr val="FFFFFF"/>
                  </a:solidFill>
                  <a:latin typeface="Arial"/>
                  <a:ea typeface="Microsoft YaHei"/>
                  <a:cs typeface="Arial"/>
                </a:rPr>
                <a:t>需求分析</a:t>
              </a:r>
            </a:p>
          </p:txBody>
        </p:sp>
        <p:sp>
          <p:nvSpPr>
            <p:cNvPr id="16" name="TextBox 16"/>
            <p:cNvSpPr txBox="1"/>
            <p:nvPr/>
          </p:nvSpPr>
          <p:spPr>
            <a:xfrm>
              <a:off x="939165" y="1617345"/>
              <a:ext cx="502920" cy="1828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900" dirty="0">
                  <a:solidFill>
                    <a:srgbClr val="FFFFFF">
                      <a:alphaMod val="70000"/>
                    </a:srgbClr>
                  </a:solidFill>
                  <a:latin typeface="Arial"/>
                  <a:ea typeface="Microsoft YaHei"/>
                  <a:cs typeface="Arial"/>
                </a:rPr>
                <a:t>任务定义</a:t>
              </a:r>
            </a:p>
          </p:txBody>
        </p:sp>
        <p:sp>
          <p:nvSpPr>
            <p:cNvPr id="17" name="TextBox 17"/>
            <p:cNvSpPr txBox="1"/>
            <p:nvPr/>
          </p:nvSpPr>
          <p:spPr>
            <a:xfrm>
              <a:off x="939165" y="1836420"/>
              <a:ext cx="502920" cy="1828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900" dirty="0">
                  <a:solidFill>
                    <a:srgbClr val="FFFFFF">
                      <a:alphaMod val="70000"/>
                    </a:srgbClr>
                  </a:solidFill>
                  <a:latin typeface="Arial"/>
                  <a:ea typeface="Microsoft YaHei"/>
                  <a:cs typeface="Arial"/>
                </a:rPr>
                <a:t>指标确立</a:t>
              </a:r>
            </a:p>
          </p:txBody>
        </p:sp>
      </p:grpSp>
      <p:grpSp>
        <p:nvGrpSpPr>
          <p:cNvPr id="23" name="Group 23"/>
          <p:cNvGrpSpPr/>
          <p:nvPr/>
        </p:nvGrpSpPr>
        <p:grpSpPr>
          <a:xfrm>
            <a:off x="2667000" y="1143000"/>
            <a:ext cx="1714500" cy="952500"/>
            <a:chOff x="2667000" y="1143000"/>
            <a:chExt cx="1714500" cy="952500"/>
          </a:xfrm>
          <a:effectLst>
            <a:outerShdw blurRad="76200" dist="19050" dir="5400000" algn="ctr" rotWithShape="0">
              <a:srgbClr val="0F172A">
                <a:alpha val="3750"/>
              </a:srgbClr>
            </a:outerShdw>
          </a:effectLst>
        </p:grpSpPr>
        <p:sp>
          <p:nvSpPr>
            <p:cNvPr id="19" name="Rectangle 19"/>
            <p:cNvSpPr/>
            <p:nvPr/>
          </p:nvSpPr>
          <p:spPr>
            <a:xfrm>
              <a:off x="2667000" y="1143000"/>
              <a:ext cx="1714500" cy="952500"/>
            </a:xfrm>
            <a:prstGeom prst="roundRect">
              <a:avLst>
                <a:gd name="adj" fmla="val 10000"/>
              </a:avLst>
            </a:prstGeom>
            <a:solidFill>
              <a:srgbClr val="C41E3A"/>
            </a:solidFill>
            <a:ln>
              <a:noFill/>
            </a:ln>
            <a:effectLst>
              <a:outerShdw blurRad="76200" dist="19050" dir="5400000" algn="ctr" rotWithShape="0">
                <a:srgbClr val="0F172A">
                  <a:alpha val="3750"/>
                </a:srgbClr>
              </a:outerShdw>
            </a:effectLst>
          </p:spPr>
        </p:sp>
        <p:sp>
          <p:nvSpPr>
            <p:cNvPr id="20" name="TextBox 20"/>
            <p:cNvSpPr txBox="1"/>
            <p:nvPr/>
          </p:nvSpPr>
          <p:spPr>
            <a:xfrm>
              <a:off x="2972491" y="1367314"/>
              <a:ext cx="1103519"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275" b="1" dirty="0">
                  <a:solidFill>
                    <a:srgbClr val="FFFFFF"/>
                  </a:solidFill>
                  <a:latin typeface="Arial"/>
                  <a:ea typeface="Microsoft YaHei"/>
                  <a:cs typeface="Arial"/>
                </a:rPr>
                <a:t>关键技术调研</a:t>
              </a:r>
            </a:p>
          </p:txBody>
        </p:sp>
        <p:sp>
          <p:nvSpPr>
            <p:cNvPr id="21" name="TextBox 21"/>
            <p:cNvSpPr txBox="1"/>
            <p:nvPr/>
          </p:nvSpPr>
          <p:spPr>
            <a:xfrm>
              <a:off x="3272790" y="1617345"/>
              <a:ext cx="502920" cy="1828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900" dirty="0">
                  <a:solidFill>
                    <a:srgbClr val="FFFFFF">
                      <a:alphaMod val="70000"/>
                    </a:srgbClr>
                  </a:solidFill>
                  <a:latin typeface="Arial"/>
                  <a:ea typeface="Microsoft YaHei"/>
                  <a:cs typeface="Arial"/>
                </a:rPr>
                <a:t>方案选型</a:t>
              </a:r>
            </a:p>
          </p:txBody>
        </p:sp>
        <p:sp>
          <p:nvSpPr>
            <p:cNvPr id="22" name="TextBox 22"/>
            <p:cNvSpPr txBox="1"/>
            <p:nvPr/>
          </p:nvSpPr>
          <p:spPr>
            <a:xfrm>
              <a:off x="3272790" y="1836420"/>
              <a:ext cx="502920" cy="1828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900" dirty="0">
                  <a:solidFill>
                    <a:srgbClr val="FFFFFF">
                      <a:alphaMod val="70000"/>
                    </a:srgbClr>
                  </a:solidFill>
                  <a:latin typeface="Arial"/>
                  <a:ea typeface="Microsoft YaHei"/>
                  <a:cs typeface="Arial"/>
                </a:rPr>
                <a:t>硬件选型</a:t>
              </a:r>
            </a:p>
          </p:txBody>
        </p:sp>
      </p:grpSp>
      <p:grpSp>
        <p:nvGrpSpPr>
          <p:cNvPr id="28" name="Group 28"/>
          <p:cNvGrpSpPr/>
          <p:nvPr/>
        </p:nvGrpSpPr>
        <p:grpSpPr>
          <a:xfrm>
            <a:off x="5143500" y="1143000"/>
            <a:ext cx="1714500" cy="952500"/>
            <a:chOff x="5143500" y="1143000"/>
            <a:chExt cx="1714500" cy="952500"/>
          </a:xfrm>
          <a:effectLst>
            <a:outerShdw blurRad="76200" dist="19050" dir="5400000" algn="ctr" rotWithShape="0">
              <a:srgbClr val="0F172A">
                <a:alpha val="3750"/>
              </a:srgbClr>
            </a:outerShdw>
          </a:effectLst>
        </p:grpSpPr>
        <p:sp>
          <p:nvSpPr>
            <p:cNvPr id="24" name="Rectangle 24"/>
            <p:cNvSpPr/>
            <p:nvPr/>
          </p:nvSpPr>
          <p:spPr>
            <a:xfrm>
              <a:off x="5143500" y="1143000"/>
              <a:ext cx="1714500" cy="952500"/>
            </a:xfrm>
            <a:prstGeom prst="roundRect">
              <a:avLst>
                <a:gd name="adj" fmla="val 10000"/>
              </a:avLst>
            </a:prstGeom>
            <a:solidFill>
              <a:srgbClr val="1A3C5E"/>
            </a:solidFill>
            <a:ln>
              <a:noFill/>
            </a:ln>
            <a:effectLst>
              <a:outerShdw blurRad="76200" dist="19050" dir="5400000" algn="ctr" rotWithShape="0">
                <a:srgbClr val="0F172A">
                  <a:alpha val="3750"/>
                </a:srgbClr>
              </a:outerShdw>
            </a:effectLst>
          </p:spPr>
        </p:sp>
        <p:sp>
          <p:nvSpPr>
            <p:cNvPr id="25" name="TextBox 25"/>
            <p:cNvSpPr txBox="1"/>
            <p:nvPr/>
          </p:nvSpPr>
          <p:spPr>
            <a:xfrm>
              <a:off x="5627513" y="1367314"/>
              <a:ext cx="746474"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275" b="1" dirty="0">
                  <a:solidFill>
                    <a:srgbClr val="FFFFFF"/>
                  </a:solidFill>
                  <a:latin typeface="Arial"/>
                  <a:ea typeface="Microsoft YaHei"/>
                  <a:cs typeface="Arial"/>
                </a:rPr>
                <a:t>架构设计</a:t>
              </a:r>
            </a:p>
          </p:txBody>
        </p:sp>
        <p:sp>
          <p:nvSpPr>
            <p:cNvPr id="26" name="TextBox 26"/>
            <p:cNvSpPr txBox="1"/>
            <p:nvPr/>
          </p:nvSpPr>
          <p:spPr>
            <a:xfrm>
              <a:off x="5749290" y="1617345"/>
              <a:ext cx="502920" cy="1828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900" dirty="0">
                  <a:solidFill>
                    <a:srgbClr val="FFFFFF">
                      <a:alphaMod val="70000"/>
                    </a:srgbClr>
                  </a:solidFill>
                  <a:latin typeface="Arial"/>
                  <a:ea typeface="Microsoft YaHei"/>
                  <a:cs typeface="Arial"/>
                </a:rPr>
                <a:t>模块集成</a:t>
              </a:r>
            </a:p>
          </p:txBody>
        </p:sp>
        <p:sp>
          <p:nvSpPr>
            <p:cNvPr id="27" name="TextBox 27"/>
            <p:cNvSpPr txBox="1"/>
            <p:nvPr/>
          </p:nvSpPr>
          <p:spPr>
            <a:xfrm>
              <a:off x="5749290" y="1836420"/>
              <a:ext cx="502920" cy="1828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900" dirty="0">
                  <a:solidFill>
                    <a:srgbClr val="FFFFFF">
                      <a:alphaMod val="70000"/>
                    </a:srgbClr>
                  </a:solidFill>
                  <a:latin typeface="Arial"/>
                  <a:ea typeface="Microsoft YaHei"/>
                  <a:cs typeface="Arial"/>
                </a:rPr>
                <a:t>通信联调</a:t>
              </a:r>
            </a:p>
          </p:txBody>
        </p:sp>
      </p:grpSp>
      <p:grpSp>
        <p:nvGrpSpPr>
          <p:cNvPr id="33" name="Group 33"/>
          <p:cNvGrpSpPr/>
          <p:nvPr/>
        </p:nvGrpSpPr>
        <p:grpSpPr>
          <a:xfrm>
            <a:off x="7620000" y="1143000"/>
            <a:ext cx="1714500" cy="952500"/>
            <a:chOff x="7620000" y="1143000"/>
            <a:chExt cx="1714500" cy="952500"/>
          </a:xfrm>
          <a:effectLst>
            <a:outerShdw blurRad="76200" dist="19050" dir="5400000" algn="ctr" rotWithShape="0">
              <a:srgbClr val="0F172A">
                <a:alpha val="3750"/>
              </a:srgbClr>
            </a:outerShdw>
          </a:effectLst>
        </p:grpSpPr>
        <p:sp>
          <p:nvSpPr>
            <p:cNvPr id="29" name="Rectangle 29"/>
            <p:cNvSpPr/>
            <p:nvPr/>
          </p:nvSpPr>
          <p:spPr>
            <a:xfrm>
              <a:off x="7620000" y="1143000"/>
              <a:ext cx="1714500" cy="952500"/>
            </a:xfrm>
            <a:prstGeom prst="roundRect">
              <a:avLst>
                <a:gd name="adj" fmla="val 10000"/>
              </a:avLst>
            </a:prstGeom>
            <a:solidFill>
              <a:srgbClr val="C41E3A"/>
            </a:solidFill>
            <a:ln>
              <a:noFill/>
            </a:ln>
            <a:effectLst>
              <a:outerShdw blurRad="76200" dist="19050" dir="5400000" algn="ctr" rotWithShape="0">
                <a:srgbClr val="0F172A">
                  <a:alpha val="3750"/>
                </a:srgbClr>
              </a:outerShdw>
            </a:effectLst>
          </p:spPr>
        </p:sp>
        <p:sp>
          <p:nvSpPr>
            <p:cNvPr id="30" name="TextBox 30"/>
            <p:cNvSpPr txBox="1"/>
            <p:nvPr/>
          </p:nvSpPr>
          <p:spPr>
            <a:xfrm>
              <a:off x="8104013" y="1367314"/>
              <a:ext cx="746474"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275" b="1" dirty="0">
                  <a:solidFill>
                    <a:srgbClr val="FFFFFF"/>
                  </a:solidFill>
                  <a:latin typeface="Arial"/>
                  <a:ea typeface="Microsoft YaHei"/>
                  <a:cs typeface="Arial"/>
                </a:rPr>
                <a:t>仿真验证</a:t>
              </a:r>
            </a:p>
          </p:txBody>
        </p:sp>
        <p:sp>
          <p:nvSpPr>
            <p:cNvPr id="31" name="TextBox 31"/>
            <p:cNvSpPr txBox="1"/>
            <p:nvPr/>
          </p:nvSpPr>
          <p:spPr>
            <a:xfrm>
              <a:off x="8225790" y="1617345"/>
              <a:ext cx="502920" cy="1828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900" dirty="0">
                  <a:solidFill>
                    <a:srgbClr val="FFFFFF">
                      <a:alphaMod val="70000"/>
                    </a:srgbClr>
                  </a:solidFill>
                  <a:latin typeface="Arial"/>
                  <a:ea typeface="Microsoft YaHei"/>
                  <a:cs typeface="Arial"/>
                </a:rPr>
                <a:t>算法优化</a:t>
              </a:r>
            </a:p>
          </p:txBody>
        </p:sp>
        <p:sp>
          <p:nvSpPr>
            <p:cNvPr id="32" name="TextBox 32"/>
            <p:cNvSpPr txBox="1"/>
            <p:nvPr/>
          </p:nvSpPr>
          <p:spPr>
            <a:xfrm>
              <a:off x="8225790" y="1836420"/>
              <a:ext cx="502920" cy="1828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900" dirty="0">
                  <a:solidFill>
                    <a:srgbClr val="FFFFFF">
                      <a:alphaMod val="70000"/>
                    </a:srgbClr>
                  </a:solidFill>
                  <a:latin typeface="Arial"/>
                  <a:ea typeface="Microsoft YaHei"/>
                  <a:cs typeface="Arial"/>
                </a:rPr>
                <a:t>性能评估</a:t>
              </a:r>
            </a:p>
          </p:txBody>
        </p:sp>
      </p:grpSp>
      <p:grpSp>
        <p:nvGrpSpPr>
          <p:cNvPr id="38" name="Group 38"/>
          <p:cNvGrpSpPr/>
          <p:nvPr/>
        </p:nvGrpSpPr>
        <p:grpSpPr>
          <a:xfrm>
            <a:off x="10096500" y="1143000"/>
            <a:ext cx="1428750" cy="952500"/>
            <a:chOff x="10096500" y="1143000"/>
            <a:chExt cx="1428750" cy="952500"/>
          </a:xfrm>
          <a:effectLst>
            <a:outerShdw blurRad="76200" dist="19050" dir="5400000" algn="ctr" rotWithShape="0">
              <a:srgbClr val="0F172A">
                <a:alpha val="3750"/>
              </a:srgbClr>
            </a:outerShdw>
          </a:effectLst>
        </p:grpSpPr>
        <p:sp>
          <p:nvSpPr>
            <p:cNvPr id="34" name="Rectangle 34"/>
            <p:cNvSpPr/>
            <p:nvPr/>
          </p:nvSpPr>
          <p:spPr>
            <a:xfrm>
              <a:off x="10096500" y="1143000"/>
              <a:ext cx="1428750" cy="952500"/>
            </a:xfrm>
            <a:prstGeom prst="roundRect">
              <a:avLst>
                <a:gd name="adj" fmla="val 10000"/>
              </a:avLst>
            </a:prstGeom>
            <a:solidFill>
              <a:srgbClr val="8B0000"/>
            </a:solidFill>
            <a:ln>
              <a:noFill/>
            </a:ln>
            <a:effectLst>
              <a:outerShdw blurRad="76200" dist="19050" dir="5400000" algn="ctr" rotWithShape="0">
                <a:srgbClr val="0F172A">
                  <a:alpha val="3750"/>
                </a:srgbClr>
              </a:outerShdw>
            </a:effectLst>
          </p:spPr>
        </p:sp>
        <p:sp>
          <p:nvSpPr>
            <p:cNvPr id="35" name="TextBox 35"/>
            <p:cNvSpPr txBox="1"/>
            <p:nvPr/>
          </p:nvSpPr>
          <p:spPr>
            <a:xfrm>
              <a:off x="10437638" y="1367314"/>
              <a:ext cx="746474"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275" b="1" dirty="0">
                  <a:solidFill>
                    <a:srgbClr val="FFFFFF"/>
                  </a:solidFill>
                  <a:latin typeface="Arial"/>
                  <a:ea typeface="Microsoft YaHei"/>
                  <a:cs typeface="Arial"/>
                </a:rPr>
                <a:t>实物测试</a:t>
              </a:r>
            </a:p>
          </p:txBody>
        </p:sp>
        <p:sp>
          <p:nvSpPr>
            <p:cNvPr id="36" name="TextBox 36"/>
            <p:cNvSpPr txBox="1"/>
            <p:nvPr/>
          </p:nvSpPr>
          <p:spPr>
            <a:xfrm>
              <a:off x="10559415" y="1617345"/>
              <a:ext cx="502920" cy="1828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900" dirty="0">
                  <a:solidFill>
                    <a:srgbClr val="FFFFFF">
                      <a:alphaMod val="70000"/>
                    </a:srgbClr>
                  </a:solidFill>
                  <a:latin typeface="Arial"/>
                  <a:ea typeface="Microsoft YaHei"/>
                  <a:cs typeface="Arial"/>
                </a:rPr>
                <a:t>迭代部署</a:t>
              </a:r>
            </a:p>
          </p:txBody>
        </p:sp>
        <p:sp>
          <p:nvSpPr>
            <p:cNvPr id="37" name="TextBox 37"/>
            <p:cNvSpPr txBox="1"/>
            <p:nvPr/>
          </p:nvSpPr>
          <p:spPr>
            <a:xfrm>
              <a:off x="10559415" y="1836420"/>
              <a:ext cx="502920" cy="1828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900" dirty="0">
                  <a:solidFill>
                    <a:srgbClr val="FFFFFF">
                      <a:alphaMod val="70000"/>
                    </a:srgbClr>
                  </a:solidFill>
                  <a:latin typeface="Arial"/>
                  <a:ea typeface="Microsoft YaHei"/>
                  <a:cs typeface="Arial"/>
                </a:rPr>
                <a:t>任务验证</a:t>
              </a:r>
            </a:p>
          </p:txBody>
        </p:sp>
      </p:grpSp>
      <p:grpSp>
        <p:nvGrpSpPr>
          <p:cNvPr id="41" name="Group 41"/>
          <p:cNvGrpSpPr/>
          <p:nvPr/>
        </p:nvGrpSpPr>
        <p:grpSpPr>
          <a:xfrm>
            <a:off x="0" y="2571750"/>
            <a:ext cx="12192000" cy="523875"/>
            <a:chOff x="0" y="2571750"/>
            <a:chExt cx="12192000" cy="523875"/>
          </a:xfrm>
        </p:grpSpPr>
        <p:sp>
          <p:nvSpPr>
            <p:cNvPr id="39" name="Rectangle 39"/>
            <p:cNvSpPr/>
            <p:nvPr/>
          </p:nvSpPr>
          <p:spPr>
            <a:xfrm>
              <a:off x="0" y="2571750"/>
              <a:ext cx="12192000" cy="38100"/>
            </a:xfrm>
            <a:prstGeom prst="rect">
              <a:avLst/>
            </a:prstGeom>
            <a:gradFill>
              <a:gsLst>
                <a:gs pos="0">
                  <a:srgbClr val="8B0000"/>
                </a:gs>
                <a:gs pos="100000">
                  <a:srgbClr val="C41E3A"/>
                </a:gs>
              </a:gsLst>
              <a:lin ang="0" scaled="1"/>
            </a:gradFill>
            <a:ln>
              <a:noFill/>
            </a:ln>
          </p:spPr>
        </p:sp>
        <p:sp>
          <p:nvSpPr>
            <p:cNvPr id="40" name="TextBox 40"/>
            <p:cNvSpPr txBox="1"/>
            <p:nvPr/>
          </p:nvSpPr>
          <p:spPr>
            <a:xfrm>
              <a:off x="742950" y="2790825"/>
              <a:ext cx="1298258" cy="304800"/>
            </a:xfrm>
            <a:prstGeom prst="rect">
              <a:avLst/>
            </a:prstGeom>
            <a:noFill/>
            <a:ln>
              <a:noFill/>
            </a:ln>
          </p:spPr>
          <p:txBody>
            <a:bodyPr wrap="none" lIns="0" tIns="0" rIns="0" bIns="0" anchor="t" anchorCtr="0">
              <a:spAutoFit/>
            </a:bodyPr>
            <a:lstStyle/>
            <a:p>
              <a:pPr algn="l"/>
              <a:r>
                <a:rPr lang="zh-CN" sz="1500" b="1" dirty="0">
                  <a:solidFill>
                    <a:srgbClr val="8B0000"/>
                  </a:solidFill>
                  <a:latin typeface="Arial"/>
                  <a:ea typeface="Microsoft YaHei"/>
                  <a:cs typeface="Arial"/>
                </a:rPr>
                <a:t>三大核心模块</a:t>
              </a:r>
            </a:p>
          </p:txBody>
        </p:sp>
      </p:grpSp>
      <p:grpSp>
        <p:nvGrpSpPr>
          <p:cNvPr id="51" name="Group 51"/>
          <p:cNvGrpSpPr/>
          <p:nvPr/>
        </p:nvGrpSpPr>
        <p:grpSpPr>
          <a:xfrm>
            <a:off x="762000" y="3238500"/>
            <a:ext cx="3429000" cy="2667000"/>
            <a:chOff x="762000" y="3238500"/>
            <a:chExt cx="3429000" cy="2667000"/>
          </a:xfrm>
          <a:effectLst>
            <a:outerShdw blurRad="76200" dist="19050" dir="5400000" algn="ctr" rotWithShape="0">
              <a:srgbClr val="0F172A">
                <a:alpha val="3750"/>
              </a:srgbClr>
            </a:outerShdw>
          </a:effectLst>
        </p:grpSpPr>
        <p:sp>
          <p:nvSpPr>
            <p:cNvPr id="42" name="Rectangle 42"/>
            <p:cNvSpPr/>
            <p:nvPr/>
          </p:nvSpPr>
          <p:spPr>
            <a:xfrm>
              <a:off x="762000" y="3238500"/>
              <a:ext cx="3429000" cy="2667000"/>
            </a:xfrm>
            <a:prstGeom prst="roundRect">
              <a:avLst>
                <a:gd name="adj" fmla="val 2857"/>
              </a:avLst>
            </a:prstGeom>
            <a:solidFill>
              <a:srgbClr val="FFFFFF"/>
            </a:solidFill>
            <a:ln w="9525">
              <a:solidFill>
                <a:srgbClr val="D4C5C5"/>
              </a:solidFill>
            </a:ln>
            <a:effectLst>
              <a:outerShdw blurRad="76200" dist="19050" dir="5400000" algn="ctr" rotWithShape="0">
                <a:srgbClr val="0F172A">
                  <a:alpha val="3750"/>
                </a:srgbClr>
              </a:outerShdw>
            </a:effectLst>
          </p:spPr>
        </p:sp>
        <p:sp>
          <p:nvSpPr>
            <p:cNvPr id="43" name="Rectangle 43"/>
            <p:cNvSpPr/>
            <p:nvPr/>
          </p:nvSpPr>
          <p:spPr>
            <a:xfrm>
              <a:off x="762000" y="3238500"/>
              <a:ext cx="3429000" cy="47625"/>
            </a:xfrm>
            <a:prstGeom prst="rect">
              <a:avLst/>
            </a:prstGeom>
            <a:solidFill>
              <a:srgbClr val="8B0000"/>
            </a:solidFill>
            <a:ln>
              <a:noFill/>
            </a:ln>
            <a:effectLst>
              <a:outerShdw blurRad="76200" dist="19050" dir="5400000" algn="ctr" rotWithShape="0">
                <a:srgbClr val="0F172A">
                  <a:alpha val="3750"/>
                </a:srgbClr>
              </a:outerShdw>
            </a:effectLst>
          </p:spPr>
        </p:sp>
        <p:sp>
          <p:nvSpPr>
            <p:cNvPr id="44" name="Freeform 44"/>
            <p:cNvSpPr/>
            <p:nvPr/>
          </p:nvSpPr>
          <p:spPr>
            <a:xfrm>
              <a:off x="2238375" y="3614738"/>
              <a:ext cx="342900" cy="257175"/>
            </a:xfrm>
            <a:custGeom>
              <a:avLst/>
              <a:gdLst/>
              <a:ahLst/>
              <a:cxnLst/>
              <a:rect l="l" t="t" r="r" b="b"/>
              <a:pathLst>
                <a:path w="342900" h="257175">
                  <a:moveTo>
                    <a:pt x="0" y="128588"/>
                  </a:moveTo>
                  <a:lnTo>
                    <a:pt x="65996" y="49392"/>
                  </a:lnTo>
                  <a:cubicBezTo>
                    <a:pt x="92077" y="18095"/>
                    <a:pt x="130711" y="0"/>
                    <a:pt x="171450" y="0"/>
                  </a:cubicBezTo>
                  <a:cubicBezTo>
                    <a:pt x="212189" y="0"/>
                    <a:pt x="250823" y="18095"/>
                    <a:pt x="276905" y="49392"/>
                  </a:cubicBezTo>
                  <a:lnTo>
                    <a:pt x="342900" y="128588"/>
                  </a:lnTo>
                  <a:lnTo>
                    <a:pt x="276905" y="207782"/>
                  </a:lnTo>
                  <a:cubicBezTo>
                    <a:pt x="250823" y="239081"/>
                    <a:pt x="212189" y="257175"/>
                    <a:pt x="171450" y="257175"/>
                  </a:cubicBezTo>
                  <a:cubicBezTo>
                    <a:pt x="130711" y="257175"/>
                    <a:pt x="92077" y="239081"/>
                    <a:pt x="65996" y="207782"/>
                  </a:cubicBezTo>
                  <a:lnTo>
                    <a:pt x="0" y="128588"/>
                  </a:lnTo>
                  <a:close/>
                  <a:moveTo>
                    <a:pt x="171450" y="192881"/>
                  </a:moveTo>
                  <a:cubicBezTo>
                    <a:pt x="206958" y="192881"/>
                    <a:pt x="235744" y="164096"/>
                    <a:pt x="235744" y="128588"/>
                  </a:cubicBezTo>
                  <a:cubicBezTo>
                    <a:pt x="235744" y="93079"/>
                    <a:pt x="206958" y="64294"/>
                    <a:pt x="171450" y="64294"/>
                  </a:cubicBezTo>
                  <a:cubicBezTo>
                    <a:pt x="135942" y="64294"/>
                    <a:pt x="107156" y="93079"/>
                    <a:pt x="107156" y="128588"/>
                  </a:cubicBezTo>
                  <a:cubicBezTo>
                    <a:pt x="107156" y="164096"/>
                    <a:pt x="135942" y="192881"/>
                    <a:pt x="171450" y="192881"/>
                  </a:cubicBezTo>
                  <a:close/>
                </a:path>
              </a:pathLst>
            </a:custGeom>
            <a:solidFill>
              <a:srgbClr val="8B0000"/>
            </a:solidFill>
            <a:ln>
              <a:noFill/>
            </a:ln>
            <a:effectLst>
              <a:outerShdw blurRad="76200" dist="19050" dir="5400000" algn="ctr" rotWithShape="0">
                <a:srgbClr val="0F172A">
                  <a:alpha val="3750"/>
                </a:srgbClr>
              </a:outerShdw>
            </a:effectLst>
          </p:spPr>
        </p:sp>
        <p:sp>
          <p:nvSpPr>
            <p:cNvPr id="45" name="TextBox 45"/>
            <p:cNvSpPr txBox="1"/>
            <p:nvPr/>
          </p:nvSpPr>
          <p:spPr>
            <a:xfrm>
              <a:off x="1703260" y="3997642"/>
              <a:ext cx="1546479" cy="27432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350" b="1" dirty="0">
                  <a:solidFill>
                    <a:srgbClr val="8B0000"/>
                  </a:solidFill>
                  <a:latin typeface="Arial"/>
                  <a:ea typeface="Microsoft YaHei"/>
                  <a:cs typeface="Arial"/>
                </a:rPr>
                <a:t>协同感知融合模块</a:t>
              </a:r>
            </a:p>
          </p:txBody>
        </p:sp>
        <p:sp>
          <p:nvSpPr>
            <p:cNvPr id="46" name="Rectangle 46"/>
            <p:cNvSpPr/>
            <p:nvPr/>
          </p:nvSpPr>
          <p:spPr>
            <a:xfrm>
              <a:off x="1047750" y="4333875"/>
              <a:ext cx="2857500" cy="9525"/>
            </a:xfrm>
            <a:prstGeom prst="rect">
              <a:avLst/>
            </a:prstGeom>
            <a:solidFill>
              <a:srgbClr val="D4C5C5"/>
            </a:solidFill>
            <a:ln>
              <a:noFill/>
            </a:ln>
            <a:effectLst>
              <a:outerShdw blurRad="76200" dist="19050" dir="5400000" algn="ctr" rotWithShape="0">
                <a:srgbClr val="0F172A">
                  <a:alpha val="3750"/>
                </a:srgbClr>
              </a:outerShdw>
            </a:effectLst>
          </p:spPr>
        </p:sp>
        <p:sp>
          <p:nvSpPr>
            <p:cNvPr id="47" name="TextBox 47"/>
            <p:cNvSpPr txBox="1"/>
            <p:nvPr/>
          </p:nvSpPr>
          <p:spPr>
            <a:xfrm>
              <a:off x="1033462" y="4498181"/>
              <a:ext cx="1378744"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多源异构传感器融合</a:t>
              </a:r>
            </a:p>
          </p:txBody>
        </p:sp>
        <p:sp>
          <p:nvSpPr>
            <p:cNvPr id="48" name="TextBox 48"/>
            <p:cNvSpPr txBox="1"/>
            <p:nvPr/>
          </p:nvSpPr>
          <p:spPr>
            <a:xfrm>
              <a:off x="1033462" y="4755356"/>
              <a:ext cx="1138714"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分布式协同SLAM</a:t>
              </a:r>
            </a:p>
          </p:txBody>
        </p:sp>
        <p:sp>
          <p:nvSpPr>
            <p:cNvPr id="49" name="TextBox 49"/>
            <p:cNvSpPr txBox="1"/>
            <p:nvPr/>
          </p:nvSpPr>
          <p:spPr>
            <a:xfrm>
              <a:off x="1033462" y="5012531"/>
              <a:ext cx="1828800"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跨平台信息融合与特征对齐</a:t>
              </a:r>
            </a:p>
          </p:txBody>
        </p:sp>
        <p:sp>
          <p:nvSpPr>
            <p:cNvPr id="50" name="TextBox 50"/>
            <p:cNvSpPr txBox="1"/>
            <p:nvPr/>
          </p:nvSpPr>
          <p:spPr>
            <a:xfrm>
              <a:off x="1033462" y="5269706"/>
              <a:ext cx="1528762"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统一实时动态环境地图</a:t>
              </a:r>
            </a:p>
          </p:txBody>
        </p:sp>
      </p:grpSp>
      <p:grpSp>
        <p:nvGrpSpPr>
          <p:cNvPr id="64" name="Group 64"/>
          <p:cNvGrpSpPr/>
          <p:nvPr/>
        </p:nvGrpSpPr>
        <p:grpSpPr>
          <a:xfrm>
            <a:off x="4381500" y="3238500"/>
            <a:ext cx="3429000" cy="2667000"/>
            <a:chOff x="4381500" y="3238500"/>
            <a:chExt cx="3429000" cy="2667000"/>
          </a:xfrm>
          <a:effectLst>
            <a:outerShdw blurRad="76200" dist="19050" dir="5400000" algn="ctr" rotWithShape="0">
              <a:srgbClr val="0F172A">
                <a:alpha val="3750"/>
              </a:srgbClr>
            </a:outerShdw>
          </a:effectLst>
        </p:grpSpPr>
        <p:sp>
          <p:nvSpPr>
            <p:cNvPr id="52" name="Rectangle 52"/>
            <p:cNvSpPr/>
            <p:nvPr/>
          </p:nvSpPr>
          <p:spPr>
            <a:xfrm>
              <a:off x="4381500" y="3238500"/>
              <a:ext cx="3429000" cy="2667000"/>
            </a:xfrm>
            <a:prstGeom prst="roundRect">
              <a:avLst>
                <a:gd name="adj" fmla="val 2857"/>
              </a:avLst>
            </a:prstGeom>
            <a:solidFill>
              <a:srgbClr val="FFFFFF"/>
            </a:solidFill>
            <a:ln w="9525">
              <a:solidFill>
                <a:srgbClr val="D4C5C5"/>
              </a:solidFill>
            </a:ln>
            <a:effectLst>
              <a:outerShdw blurRad="76200" dist="19050" dir="5400000" algn="ctr" rotWithShape="0">
                <a:srgbClr val="0F172A">
                  <a:alpha val="3750"/>
                </a:srgbClr>
              </a:outerShdw>
            </a:effectLst>
          </p:spPr>
        </p:sp>
        <p:sp>
          <p:nvSpPr>
            <p:cNvPr id="53" name="Rectangle 53"/>
            <p:cNvSpPr/>
            <p:nvPr/>
          </p:nvSpPr>
          <p:spPr>
            <a:xfrm>
              <a:off x="4381500" y="3238500"/>
              <a:ext cx="3429000" cy="47625"/>
            </a:xfrm>
            <a:prstGeom prst="rect">
              <a:avLst/>
            </a:prstGeom>
            <a:solidFill>
              <a:srgbClr val="C41E3A"/>
            </a:solidFill>
            <a:ln>
              <a:noFill/>
            </a:ln>
            <a:effectLst>
              <a:outerShdw blurRad="76200" dist="19050" dir="5400000" algn="ctr" rotWithShape="0">
                <a:srgbClr val="0F172A">
                  <a:alpha val="3750"/>
                </a:srgbClr>
              </a:outerShdw>
            </a:effectLst>
          </p:spPr>
        </p:sp>
        <p:grpSp>
          <p:nvGrpSpPr>
            <p:cNvPr id="57" name="Group 57"/>
            <p:cNvGrpSpPr/>
            <p:nvPr/>
          </p:nvGrpSpPr>
          <p:grpSpPr>
            <a:xfrm>
              <a:off x="5857875" y="3593306"/>
              <a:ext cx="342900" cy="300038"/>
              <a:chOff x="5857875" y="3593306"/>
              <a:chExt cx="342900" cy="300038"/>
            </a:xfrm>
          </p:grpSpPr>
          <p:sp>
            <p:nvSpPr>
              <p:cNvPr id="54" name="Freeform 54"/>
              <p:cNvSpPr/>
              <p:nvPr/>
            </p:nvSpPr>
            <p:spPr>
              <a:xfrm>
                <a:off x="5857875" y="3593306"/>
                <a:ext cx="85725" cy="300038"/>
              </a:xfrm>
              <a:custGeom>
                <a:avLst/>
                <a:gdLst/>
                <a:ahLst/>
                <a:cxnLst/>
                <a:rect l="l" t="t" r="r" b="b"/>
                <a:pathLst>
                  <a:path w="85725" h="300038">
                    <a:moveTo>
                      <a:pt x="85725" y="21431"/>
                    </a:moveTo>
                    <a:lnTo>
                      <a:pt x="0" y="0"/>
                    </a:lnTo>
                    <a:lnTo>
                      <a:pt x="0" y="278606"/>
                    </a:lnTo>
                    <a:lnTo>
                      <a:pt x="85725" y="300038"/>
                    </a:lnTo>
                    <a:lnTo>
                      <a:pt x="85725" y="21431"/>
                    </a:lnTo>
                    <a:close/>
                  </a:path>
                </a:pathLst>
              </a:custGeom>
              <a:solidFill>
                <a:srgbClr val="C41E3A"/>
              </a:solidFill>
              <a:ln>
                <a:noFill/>
              </a:ln>
              <a:effectLst>
                <a:outerShdw blurRad="76200" dist="19050" dir="5400000" algn="ctr" rotWithShape="0">
                  <a:srgbClr val="0F172A">
                    <a:alpha val="3750"/>
                  </a:srgbClr>
                </a:outerShdw>
              </a:effectLst>
            </p:spPr>
          </p:sp>
          <p:sp>
            <p:nvSpPr>
              <p:cNvPr id="55" name="Freeform 55"/>
              <p:cNvSpPr/>
              <p:nvPr/>
            </p:nvSpPr>
            <p:spPr>
              <a:xfrm>
                <a:off x="6115050" y="3593306"/>
                <a:ext cx="85725" cy="300038"/>
              </a:xfrm>
              <a:custGeom>
                <a:avLst/>
                <a:gdLst/>
                <a:ahLst/>
                <a:cxnLst/>
                <a:rect l="l" t="t" r="r" b="b"/>
                <a:pathLst>
                  <a:path w="85725" h="300038">
                    <a:moveTo>
                      <a:pt x="85725" y="21431"/>
                    </a:moveTo>
                    <a:lnTo>
                      <a:pt x="0" y="0"/>
                    </a:lnTo>
                    <a:lnTo>
                      <a:pt x="0" y="278606"/>
                    </a:lnTo>
                    <a:lnTo>
                      <a:pt x="85725" y="300038"/>
                    </a:lnTo>
                    <a:lnTo>
                      <a:pt x="85725" y="21431"/>
                    </a:lnTo>
                    <a:close/>
                  </a:path>
                </a:pathLst>
              </a:custGeom>
              <a:solidFill>
                <a:srgbClr val="C41E3A"/>
              </a:solidFill>
              <a:ln>
                <a:noFill/>
              </a:ln>
              <a:effectLst>
                <a:outerShdw blurRad="76200" dist="19050" dir="5400000" algn="ctr" rotWithShape="0">
                  <a:srgbClr val="0F172A">
                    <a:alpha val="3750"/>
                  </a:srgbClr>
                </a:outerShdw>
              </a:effectLst>
            </p:spPr>
          </p:sp>
          <p:sp>
            <p:nvSpPr>
              <p:cNvPr id="56" name="Freeform 56"/>
              <p:cNvSpPr/>
              <p:nvPr/>
            </p:nvSpPr>
            <p:spPr>
              <a:xfrm>
                <a:off x="5986462" y="3593306"/>
                <a:ext cx="85725" cy="300038"/>
              </a:xfrm>
              <a:custGeom>
                <a:avLst/>
                <a:gdLst/>
                <a:ahLst/>
                <a:cxnLst/>
                <a:rect l="l" t="t" r="r" b="b"/>
                <a:pathLst>
                  <a:path w="85725" h="300038">
                    <a:moveTo>
                      <a:pt x="85725" y="0"/>
                    </a:moveTo>
                    <a:lnTo>
                      <a:pt x="0" y="21431"/>
                    </a:lnTo>
                    <a:lnTo>
                      <a:pt x="0" y="300038"/>
                    </a:lnTo>
                    <a:lnTo>
                      <a:pt x="85725" y="278606"/>
                    </a:lnTo>
                    <a:lnTo>
                      <a:pt x="85725" y="0"/>
                    </a:lnTo>
                    <a:close/>
                  </a:path>
                </a:pathLst>
              </a:custGeom>
              <a:solidFill>
                <a:srgbClr val="C41E3A"/>
              </a:solidFill>
              <a:ln>
                <a:noFill/>
              </a:ln>
              <a:effectLst>
                <a:outerShdw blurRad="76200" dist="19050" dir="5400000" algn="ctr" rotWithShape="0">
                  <a:srgbClr val="0F172A">
                    <a:alpha val="3750"/>
                  </a:srgbClr>
                </a:outerShdw>
              </a:effectLst>
            </p:spPr>
          </p:sp>
        </p:grpSp>
        <p:sp>
          <p:nvSpPr>
            <p:cNvPr id="58" name="TextBox 58"/>
            <p:cNvSpPr txBox="1"/>
            <p:nvPr/>
          </p:nvSpPr>
          <p:spPr>
            <a:xfrm>
              <a:off x="5228249" y="3997642"/>
              <a:ext cx="1735503" cy="27432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350" b="1" dirty="0">
                  <a:solidFill>
                    <a:srgbClr val="C41E3A"/>
                  </a:solidFill>
                  <a:latin typeface="Arial"/>
                  <a:ea typeface="Microsoft YaHei"/>
                  <a:cs typeface="Arial"/>
                </a:rPr>
                <a:t>分布式协同规划模块</a:t>
              </a:r>
            </a:p>
          </p:txBody>
        </p:sp>
        <p:sp>
          <p:nvSpPr>
            <p:cNvPr id="59" name="Rectangle 59"/>
            <p:cNvSpPr/>
            <p:nvPr/>
          </p:nvSpPr>
          <p:spPr>
            <a:xfrm>
              <a:off x="4667250" y="4333875"/>
              <a:ext cx="2857500" cy="9525"/>
            </a:xfrm>
            <a:prstGeom prst="rect">
              <a:avLst/>
            </a:prstGeom>
            <a:solidFill>
              <a:srgbClr val="D4C5C5"/>
            </a:solidFill>
            <a:ln>
              <a:noFill/>
            </a:ln>
            <a:effectLst>
              <a:outerShdw blurRad="76200" dist="19050" dir="5400000" algn="ctr" rotWithShape="0">
                <a:srgbClr val="0F172A">
                  <a:alpha val="3750"/>
                </a:srgbClr>
              </a:outerShdw>
            </a:effectLst>
          </p:spPr>
        </p:sp>
        <p:sp>
          <p:nvSpPr>
            <p:cNvPr id="60" name="TextBox 60"/>
            <p:cNvSpPr txBox="1"/>
            <p:nvPr/>
          </p:nvSpPr>
          <p:spPr>
            <a:xfrm>
              <a:off x="4652962" y="4498181"/>
              <a:ext cx="1611273"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全局-局部分层决策机制</a:t>
              </a:r>
            </a:p>
          </p:txBody>
        </p:sp>
        <p:sp>
          <p:nvSpPr>
            <p:cNvPr id="61" name="TextBox 61"/>
            <p:cNvSpPr txBox="1"/>
            <p:nvPr/>
          </p:nvSpPr>
          <p:spPr>
            <a:xfrm>
              <a:off x="4652962" y="4755356"/>
              <a:ext cx="1611273"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博弈论/分布式强化学习</a:t>
              </a:r>
            </a:p>
          </p:txBody>
        </p:sp>
        <p:sp>
          <p:nvSpPr>
            <p:cNvPr id="62" name="TextBox 62"/>
            <p:cNvSpPr txBox="1"/>
            <p:nvPr/>
          </p:nvSpPr>
          <p:spPr>
            <a:xfrm>
              <a:off x="4652962" y="5012531"/>
              <a:ext cx="1378744"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任务分配与路径寻优</a:t>
              </a:r>
            </a:p>
          </p:txBody>
        </p:sp>
        <p:sp>
          <p:nvSpPr>
            <p:cNvPr id="63" name="TextBox 63"/>
            <p:cNvSpPr txBox="1"/>
            <p:nvPr/>
          </p:nvSpPr>
          <p:spPr>
            <a:xfrm>
              <a:off x="4652962" y="5269706"/>
              <a:ext cx="1378744"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实时避障与轨迹优化</a:t>
              </a:r>
            </a:p>
          </p:txBody>
        </p:sp>
      </p:grpSp>
      <p:grpSp>
        <p:nvGrpSpPr>
          <p:cNvPr id="74" name="Group 74"/>
          <p:cNvGrpSpPr/>
          <p:nvPr/>
        </p:nvGrpSpPr>
        <p:grpSpPr>
          <a:xfrm>
            <a:off x="8001000" y="3238500"/>
            <a:ext cx="3429000" cy="2667000"/>
            <a:chOff x="8001000" y="3238500"/>
            <a:chExt cx="3429000" cy="2667000"/>
          </a:xfrm>
          <a:effectLst>
            <a:outerShdw blurRad="76200" dist="19050" dir="5400000" algn="ctr" rotWithShape="0">
              <a:srgbClr val="0F172A">
                <a:alpha val="3750"/>
              </a:srgbClr>
            </a:outerShdw>
          </a:effectLst>
        </p:grpSpPr>
        <p:sp>
          <p:nvSpPr>
            <p:cNvPr id="65" name="Rectangle 65"/>
            <p:cNvSpPr/>
            <p:nvPr/>
          </p:nvSpPr>
          <p:spPr>
            <a:xfrm>
              <a:off x="8001000" y="3238500"/>
              <a:ext cx="3429000" cy="2667000"/>
            </a:xfrm>
            <a:prstGeom prst="roundRect">
              <a:avLst>
                <a:gd name="adj" fmla="val 2857"/>
              </a:avLst>
            </a:prstGeom>
            <a:solidFill>
              <a:srgbClr val="FFFFFF"/>
            </a:solidFill>
            <a:ln w="9525">
              <a:solidFill>
                <a:srgbClr val="D4C5C5"/>
              </a:solidFill>
            </a:ln>
            <a:effectLst>
              <a:outerShdw blurRad="76200" dist="19050" dir="5400000" algn="ctr" rotWithShape="0">
                <a:srgbClr val="0F172A">
                  <a:alpha val="3750"/>
                </a:srgbClr>
              </a:outerShdw>
            </a:effectLst>
          </p:spPr>
        </p:sp>
        <p:sp>
          <p:nvSpPr>
            <p:cNvPr id="66" name="Rectangle 66"/>
            <p:cNvSpPr/>
            <p:nvPr/>
          </p:nvSpPr>
          <p:spPr>
            <a:xfrm>
              <a:off x="8001000" y="3238500"/>
              <a:ext cx="3429000" cy="47625"/>
            </a:xfrm>
            <a:prstGeom prst="rect">
              <a:avLst/>
            </a:prstGeom>
            <a:solidFill>
              <a:srgbClr val="1A3C5E"/>
            </a:solidFill>
            <a:ln>
              <a:noFill/>
            </a:ln>
            <a:effectLst>
              <a:outerShdw blurRad="76200" dist="19050" dir="5400000" algn="ctr" rotWithShape="0">
                <a:srgbClr val="0F172A">
                  <a:alpha val="3750"/>
                </a:srgbClr>
              </a:outerShdw>
            </a:effectLst>
          </p:spPr>
        </p:sp>
        <p:sp>
          <p:nvSpPr>
            <p:cNvPr id="67" name="Freeform 67"/>
            <p:cNvSpPr/>
            <p:nvPr/>
          </p:nvSpPr>
          <p:spPr>
            <a:xfrm>
              <a:off x="9484272" y="3571875"/>
              <a:ext cx="329107" cy="342900"/>
            </a:xfrm>
            <a:custGeom>
              <a:avLst/>
              <a:gdLst/>
              <a:ahLst/>
              <a:cxnLst/>
              <a:rect l="l" t="t" r="r" b="b"/>
              <a:pathLst>
                <a:path w="329107" h="342900">
                  <a:moveTo>
                    <a:pt x="132407" y="0"/>
                  </a:moveTo>
                  <a:lnTo>
                    <a:pt x="196700" y="0"/>
                  </a:lnTo>
                  <a:lnTo>
                    <a:pt x="209428" y="50910"/>
                  </a:lnTo>
                  <a:cubicBezTo>
                    <a:pt x="223009" y="55968"/>
                    <a:pt x="235506" y="63255"/>
                    <a:pt x="246470" y="72328"/>
                  </a:cubicBezTo>
                  <a:lnTo>
                    <a:pt x="296960" y="57885"/>
                  </a:lnTo>
                  <a:lnTo>
                    <a:pt x="329107" y="113565"/>
                  </a:lnTo>
                  <a:lnTo>
                    <a:pt x="291368" y="150054"/>
                  </a:lnTo>
                  <a:cubicBezTo>
                    <a:pt x="292534" y="157013"/>
                    <a:pt x="293141" y="164161"/>
                    <a:pt x="293141" y="171450"/>
                  </a:cubicBezTo>
                  <a:cubicBezTo>
                    <a:pt x="293141" y="178739"/>
                    <a:pt x="292534" y="185887"/>
                    <a:pt x="291368" y="192846"/>
                  </a:cubicBezTo>
                  <a:lnTo>
                    <a:pt x="329107" y="229336"/>
                  </a:lnTo>
                  <a:lnTo>
                    <a:pt x="296960" y="285014"/>
                  </a:lnTo>
                  <a:lnTo>
                    <a:pt x="246470" y="270572"/>
                  </a:lnTo>
                  <a:cubicBezTo>
                    <a:pt x="235506" y="279644"/>
                    <a:pt x="223009" y="286932"/>
                    <a:pt x="209428" y="291990"/>
                  </a:cubicBezTo>
                  <a:lnTo>
                    <a:pt x="196700" y="342900"/>
                  </a:lnTo>
                  <a:lnTo>
                    <a:pt x="132407" y="342900"/>
                  </a:lnTo>
                  <a:lnTo>
                    <a:pt x="119679" y="291990"/>
                  </a:lnTo>
                  <a:cubicBezTo>
                    <a:pt x="106098" y="286932"/>
                    <a:pt x="93602" y="279644"/>
                    <a:pt x="82636" y="270572"/>
                  </a:cubicBezTo>
                  <a:lnTo>
                    <a:pt x="32147" y="285014"/>
                  </a:lnTo>
                  <a:lnTo>
                    <a:pt x="0" y="229336"/>
                  </a:lnTo>
                  <a:lnTo>
                    <a:pt x="37738" y="192846"/>
                  </a:lnTo>
                  <a:cubicBezTo>
                    <a:pt x="36572" y="185887"/>
                    <a:pt x="35966" y="178739"/>
                    <a:pt x="35966" y="171450"/>
                  </a:cubicBezTo>
                  <a:cubicBezTo>
                    <a:pt x="35966" y="164161"/>
                    <a:pt x="36572" y="157013"/>
                    <a:pt x="37738" y="150054"/>
                  </a:cubicBezTo>
                  <a:lnTo>
                    <a:pt x="0" y="113565"/>
                  </a:lnTo>
                  <a:lnTo>
                    <a:pt x="32147" y="57885"/>
                  </a:lnTo>
                  <a:lnTo>
                    <a:pt x="82636" y="72328"/>
                  </a:lnTo>
                  <a:cubicBezTo>
                    <a:pt x="93602" y="63255"/>
                    <a:pt x="106098" y="55968"/>
                    <a:pt x="119679" y="50910"/>
                  </a:cubicBezTo>
                  <a:lnTo>
                    <a:pt x="132407" y="0"/>
                  </a:lnTo>
                  <a:close/>
                  <a:moveTo>
                    <a:pt x="164553" y="214312"/>
                  </a:moveTo>
                  <a:cubicBezTo>
                    <a:pt x="188226" y="214312"/>
                    <a:pt x="207416" y="195122"/>
                    <a:pt x="207416" y="171450"/>
                  </a:cubicBezTo>
                  <a:cubicBezTo>
                    <a:pt x="207416" y="147778"/>
                    <a:pt x="188226" y="128588"/>
                    <a:pt x="164553" y="128588"/>
                  </a:cubicBezTo>
                  <a:cubicBezTo>
                    <a:pt x="140881" y="128588"/>
                    <a:pt x="121691" y="147778"/>
                    <a:pt x="121691" y="171450"/>
                  </a:cubicBezTo>
                  <a:cubicBezTo>
                    <a:pt x="121691" y="195122"/>
                    <a:pt x="140881" y="214312"/>
                    <a:pt x="164553" y="214312"/>
                  </a:cubicBezTo>
                  <a:close/>
                </a:path>
              </a:pathLst>
            </a:custGeom>
            <a:solidFill>
              <a:srgbClr val="1A3C5E"/>
            </a:solidFill>
            <a:ln>
              <a:noFill/>
            </a:ln>
            <a:effectLst>
              <a:outerShdw blurRad="76200" dist="19050" dir="5400000" algn="ctr" rotWithShape="0">
                <a:srgbClr val="0F172A">
                  <a:alpha val="3750"/>
                </a:srgbClr>
              </a:outerShdw>
            </a:effectLst>
          </p:spPr>
        </p:sp>
        <p:sp>
          <p:nvSpPr>
            <p:cNvPr id="68" name="TextBox 68"/>
            <p:cNvSpPr txBox="1"/>
            <p:nvPr/>
          </p:nvSpPr>
          <p:spPr>
            <a:xfrm>
              <a:off x="8942260" y="3997642"/>
              <a:ext cx="1546479" cy="27432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350" b="1" dirty="0">
                  <a:solidFill>
                    <a:srgbClr val="1A3C5E"/>
                  </a:solidFill>
                  <a:latin typeface="Arial"/>
                  <a:ea typeface="Microsoft YaHei"/>
                  <a:cs typeface="Arial"/>
                </a:rPr>
                <a:t>平台运动控制模块</a:t>
              </a:r>
            </a:p>
          </p:txBody>
        </p:sp>
        <p:sp>
          <p:nvSpPr>
            <p:cNvPr id="69" name="Rectangle 69"/>
            <p:cNvSpPr/>
            <p:nvPr/>
          </p:nvSpPr>
          <p:spPr>
            <a:xfrm>
              <a:off x="8286750" y="4333875"/>
              <a:ext cx="2857500" cy="9525"/>
            </a:xfrm>
            <a:prstGeom prst="rect">
              <a:avLst/>
            </a:prstGeom>
            <a:solidFill>
              <a:srgbClr val="D4C5C5"/>
            </a:solidFill>
            <a:ln>
              <a:noFill/>
            </a:ln>
            <a:effectLst>
              <a:outerShdw blurRad="76200" dist="19050" dir="5400000" algn="ctr" rotWithShape="0">
                <a:srgbClr val="0F172A">
                  <a:alpha val="3750"/>
                </a:srgbClr>
              </a:outerShdw>
            </a:effectLst>
          </p:spPr>
        </p:sp>
        <p:sp>
          <p:nvSpPr>
            <p:cNvPr id="70" name="TextBox 70"/>
            <p:cNvSpPr txBox="1"/>
            <p:nvPr/>
          </p:nvSpPr>
          <p:spPr>
            <a:xfrm>
              <a:off x="8272462" y="4498181"/>
              <a:ext cx="1476256"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5G/自组网高带宽通信</a:t>
              </a:r>
            </a:p>
          </p:txBody>
        </p:sp>
        <p:sp>
          <p:nvSpPr>
            <p:cNvPr id="71" name="TextBox 71"/>
            <p:cNvSpPr txBox="1"/>
            <p:nvPr/>
          </p:nvSpPr>
          <p:spPr>
            <a:xfrm>
              <a:off x="8272462" y="4755356"/>
              <a:ext cx="1678781"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异构平台控制与行为映射</a:t>
              </a:r>
            </a:p>
          </p:txBody>
        </p:sp>
        <p:sp>
          <p:nvSpPr>
            <p:cNvPr id="72" name="TextBox 72"/>
            <p:cNvSpPr txBox="1"/>
            <p:nvPr/>
          </p:nvSpPr>
          <p:spPr>
            <a:xfrm>
              <a:off x="8272462" y="5012531"/>
              <a:ext cx="1528762"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轻量化算法与负载均衡</a:t>
              </a:r>
            </a:p>
          </p:txBody>
        </p:sp>
        <p:sp>
          <p:nvSpPr>
            <p:cNvPr id="73" name="TextBox 73"/>
            <p:cNvSpPr txBox="1"/>
            <p:nvPr/>
          </p:nvSpPr>
          <p:spPr>
            <a:xfrm>
              <a:off x="8272462" y="5269706"/>
              <a:ext cx="1393746"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感知-规划-控制闭环</a:t>
              </a:r>
            </a:p>
          </p:txBody>
        </p:sp>
      </p:grpSp>
      <p:grpSp>
        <p:nvGrpSpPr>
          <p:cNvPr id="78" name="Group 78"/>
          <p:cNvGrpSpPr/>
          <p:nvPr/>
        </p:nvGrpSpPr>
        <p:grpSpPr>
          <a:xfrm>
            <a:off x="0" y="6578441"/>
            <a:ext cx="12192000" cy="279559"/>
            <a:chOff x="0" y="6578441"/>
            <a:chExt cx="12192000" cy="279559"/>
          </a:xfrm>
        </p:grpSpPr>
        <p:sp>
          <p:nvSpPr>
            <p:cNvPr id="75" name="Rectangle 75"/>
            <p:cNvSpPr/>
            <p:nvPr/>
          </p:nvSpPr>
          <p:spPr>
            <a:xfrm>
              <a:off x="0" y="6819900"/>
              <a:ext cx="12192000" cy="38100"/>
            </a:xfrm>
            <a:prstGeom prst="rect">
              <a:avLst/>
            </a:prstGeom>
            <a:solidFill>
              <a:srgbClr val="D4C5C5"/>
            </a:solidFill>
            <a:ln>
              <a:noFill/>
            </a:ln>
          </p:spPr>
        </p:sp>
        <p:sp>
          <p:nvSpPr>
            <p:cNvPr id="76" name="TextBox 76"/>
            <p:cNvSpPr txBox="1"/>
            <p:nvPr/>
          </p:nvSpPr>
          <p:spPr>
            <a:xfrm>
              <a:off x="11268980" y="6578441"/>
              <a:ext cx="361998" cy="167640"/>
            </a:xfrm>
            <a:prstGeom prst="rect">
              <a:avLst/>
            </a:prstGeom>
            <a:noFill/>
            <a:ln>
              <a:noFill/>
            </a:ln>
          </p:spPr>
          <p:txBody>
            <a:bodyPr wrap="none" lIns="0" tIns="0" rIns="0" bIns="0" anchor="t" anchorCtr="0">
              <a:spAutoFit/>
            </a:bodyPr>
            <a:lstStyle/>
            <a:p>
              <a:pPr algn="r"/>
              <a:r>
                <a:rPr lang="zh-CN" sz="825" dirty="0">
                  <a:solidFill>
                    <a:srgbClr val="999999"/>
                  </a:solidFill>
                  <a:latin typeface="Arial"/>
                  <a:ea typeface="Microsoft YaHei"/>
                  <a:cs typeface="Arial"/>
                </a:rPr>
                <a:t>08 / 16</a:t>
              </a:r>
            </a:p>
          </p:txBody>
        </p:sp>
        <p:sp>
          <p:nvSpPr>
            <p:cNvPr id="77" name="TextBox 77"/>
            <p:cNvSpPr txBox="1"/>
            <p:nvPr/>
          </p:nvSpPr>
          <p:spPr>
            <a:xfrm>
              <a:off x="561022" y="6578441"/>
              <a:ext cx="1814179" cy="167640"/>
            </a:xfrm>
            <a:prstGeom prst="rect">
              <a:avLst/>
            </a:prstGeom>
            <a:noFill/>
            <a:ln>
              <a:noFill/>
            </a:ln>
          </p:spPr>
          <p:txBody>
            <a:bodyPr wrap="none" lIns="0" tIns="0" rIns="0" bIns="0" anchor="t" anchorCtr="0">
              <a:spAutoFit/>
            </a:bodyPr>
            <a:lstStyle/>
            <a:p>
              <a:pPr algn="l"/>
              <a:r>
                <a:rPr lang="zh-CN" sz="825" dirty="0">
                  <a:solidFill>
                    <a:srgbClr val="999999"/>
                  </a:solidFill>
                  <a:latin typeface="Arial"/>
                  <a:ea typeface="Microsoft YaHei"/>
                  <a:cs typeface="Arial"/>
                </a:rPr>
                <a:t>华中科技大学 人工智能与自动化学院</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400"/>
                                        <p:tgtEl>
                                          <p:spTgt spid="13"/>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slide(fromBottom)">
                                      <p:cBhvr>
                                        <p:cTn id="11" dur="400"/>
                                        <p:tgtEl>
                                          <p:spTgt spid="18"/>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image">
                                      <p:cBhvr>
                                        <p:cTn id="15" dur="400"/>
                                        <p:tgtEl>
                                          <p:spTgt spid="23"/>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400"/>
                                        <p:tgtEl>
                                          <p:spTgt spid="28"/>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wipe(left)">
                                      <p:cBhvr>
                                        <p:cTn id="23" dur="400"/>
                                        <p:tgtEl>
                                          <p:spTgt spid="33"/>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slide(fromBottom)">
                                      <p:cBhvr>
                                        <p:cTn id="27" dur="400"/>
                                        <p:tgtEl>
                                          <p:spTgt spid="38"/>
                                        </p:tgtEl>
                                      </p:cBhvr>
                                    </p:animEffect>
                                  </p:childTnLst>
                                </p:cTn>
                              </p:par>
                            </p:childTnLst>
                          </p:cTn>
                        </p:par>
                        <p:par>
                          <p:cTn id="28" fill="hold">
                            <p:stCondLst>
                              <p:cond delay="5400"/>
                            </p:stCondLst>
                            <p:childTnLst>
                              <p:par>
                                <p:cTn id="29" presetID="23" presetClass="entr" presetSubtype="0" fill="hold" nodeType="after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image">
                                      <p:cBhvr>
                                        <p:cTn id="31" dur="400"/>
                                        <p:tgtEl>
                                          <p:spTgt spid="41"/>
                                        </p:tgtEl>
                                      </p:cBhvr>
                                    </p:animEffect>
                                  </p:childTnLst>
                                </p:cTn>
                              </p:par>
                            </p:childTnLst>
                          </p:cTn>
                        </p:par>
                        <p:par>
                          <p:cTn id="32" fill="hold">
                            <p:stCondLst>
                              <p:cond delay="6300"/>
                            </p:stCondLst>
                            <p:childTnLst>
                              <p:par>
                                <p:cTn id="33" presetID="10" presetClass="entr" presetSubtype="0" fill="hold" nodeType="afterEffect">
                                  <p:stCondLst>
                                    <p:cond delay="0"/>
                                  </p:stCondLst>
                                  <p:childTnLst>
                                    <p:set>
                                      <p:cBhvr>
                                        <p:cTn id="34" dur="1" fill="hold">
                                          <p:stCondLst>
                                            <p:cond delay="0"/>
                                          </p:stCondLst>
                                        </p:cTn>
                                        <p:tgtEl>
                                          <p:spTgt spid="51"/>
                                        </p:tgtEl>
                                        <p:attrNameLst>
                                          <p:attrName>style.visibility</p:attrName>
                                        </p:attrNameLst>
                                      </p:cBhvr>
                                      <p:to>
                                        <p:strVal val="visible"/>
                                      </p:to>
                                    </p:set>
                                    <p:animEffect transition="in" filter="fade">
                                      <p:cBhvr>
                                        <p:cTn id="35" dur="400"/>
                                        <p:tgtEl>
                                          <p:spTgt spid="51"/>
                                        </p:tgtEl>
                                      </p:cBhvr>
                                    </p:animEffect>
                                  </p:childTnLst>
                                </p:cTn>
                              </p:par>
                            </p:childTnLst>
                          </p:cTn>
                        </p:par>
                        <p:par>
                          <p:cTn id="36" fill="hold">
                            <p:stCondLst>
                              <p:cond delay="7200"/>
                            </p:stCondLst>
                            <p:childTnLst>
                              <p:par>
                                <p:cTn id="37" presetID="22" presetClass="entr" presetSubtype="1" fill="hold" nodeType="afterEffect">
                                  <p:stCondLst>
                                    <p:cond delay="0"/>
                                  </p:stCondLst>
                                  <p:childTnLst>
                                    <p:set>
                                      <p:cBhvr>
                                        <p:cTn id="38" dur="1" fill="hold">
                                          <p:stCondLst>
                                            <p:cond delay="0"/>
                                          </p:stCondLst>
                                        </p:cTn>
                                        <p:tgtEl>
                                          <p:spTgt spid="64"/>
                                        </p:tgtEl>
                                        <p:attrNameLst>
                                          <p:attrName>style.visibility</p:attrName>
                                        </p:attrNameLst>
                                      </p:cBhvr>
                                      <p:to>
                                        <p:strVal val="visible"/>
                                      </p:to>
                                    </p:set>
                                    <p:animEffect transition="in" filter="wipe(left)">
                                      <p:cBhvr>
                                        <p:cTn id="39" dur="400"/>
                                        <p:tgtEl>
                                          <p:spTgt spid="64"/>
                                        </p:tgtEl>
                                      </p:cBhvr>
                                    </p:animEffect>
                                  </p:childTnLst>
                                </p:cTn>
                              </p:par>
                            </p:childTnLst>
                          </p:cTn>
                        </p:par>
                        <p:par>
                          <p:cTn id="40" fill="hold">
                            <p:stCondLst>
                              <p:cond delay="8100"/>
                            </p:stCondLst>
                            <p:childTnLst>
                              <p:par>
                                <p:cTn id="41" presetID="2" presetClass="entr" presetSubtype="4" fill="hold" nodeType="afterEffect">
                                  <p:stCondLst>
                                    <p:cond delay="0"/>
                                  </p:stCondLst>
                                  <p:childTnLst>
                                    <p:set>
                                      <p:cBhvr>
                                        <p:cTn id="42" dur="1" fill="hold">
                                          <p:stCondLst>
                                            <p:cond delay="0"/>
                                          </p:stCondLst>
                                        </p:cTn>
                                        <p:tgtEl>
                                          <p:spTgt spid="74"/>
                                        </p:tgtEl>
                                        <p:attrNameLst>
                                          <p:attrName>style.visibility</p:attrName>
                                        </p:attrNameLst>
                                      </p:cBhvr>
                                      <p:to>
                                        <p:strVal val="visible"/>
                                      </p:to>
                                    </p:set>
                                    <p:animEffect transition="in" filter="slide(fromBottom)">
                                      <p:cBhvr>
                                        <p:cTn id="43" dur="4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P spid="23" grpId="0"/>
      <p:bldP spid="28" grpId="0"/>
      <p:bldP spid="33" grpId="0"/>
      <p:bldP spid="38" grpId="0"/>
      <p:bldP spid="41" grpId="0"/>
      <p:bldP spid="51" grpId="0"/>
      <p:bldP spid="64" grpId="0"/>
      <p:bldP spid="7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gradFill>
              <a:gsLst>
                <a:gs pos="0">
                  <a:srgbClr val="8B0000"/>
                </a:gs>
                <a:gs pos="100000">
                  <a:srgbClr val="C41E3A"/>
                </a:gs>
              </a:gsLst>
              <a:lin ang="0" scaled="1"/>
            </a:gradFill>
            <a:ln>
              <a:noFill/>
            </a:ln>
          </p:spPr>
        </p:sp>
      </p:grpSp>
      <p:grpSp>
        <p:nvGrpSpPr>
          <p:cNvPr id="7" name="Group 7"/>
          <p:cNvGrpSpPr/>
          <p:nvPr/>
        </p:nvGrpSpPr>
        <p:grpSpPr>
          <a:xfrm>
            <a:off x="731520" y="264795"/>
            <a:ext cx="6395352" cy="487680"/>
            <a:chOff x="731520" y="264795"/>
            <a:chExt cx="6395352" cy="487680"/>
          </a:xfrm>
        </p:grpSpPr>
        <p:sp>
          <p:nvSpPr>
            <p:cNvPr id="5" name="TextBox 5"/>
            <p:cNvSpPr txBox="1"/>
            <p:nvPr/>
          </p:nvSpPr>
          <p:spPr>
            <a:xfrm>
              <a:off x="731520" y="264795"/>
              <a:ext cx="6395352" cy="487680"/>
            </a:xfrm>
            <a:prstGeom prst="rect">
              <a:avLst/>
            </a:prstGeom>
            <a:noFill/>
            <a:ln>
              <a:noFill/>
            </a:ln>
          </p:spPr>
          <p:txBody>
            <a:bodyPr wrap="none" lIns="0" tIns="0" rIns="0" bIns="0" anchor="t" anchorCtr="0">
              <a:spAutoFit/>
            </a:bodyPr>
            <a:lstStyle/>
            <a:p>
              <a:pPr algn="l"/>
              <a:r>
                <a:rPr lang="zh-CN" sz="2400" b="1" dirty="0">
                  <a:solidFill>
                    <a:srgbClr val="8B0000"/>
                  </a:solidFill>
                  <a:latin typeface="Arial"/>
                  <a:ea typeface="Microsoft YaHei"/>
                  <a:cs typeface="Arial"/>
                </a:rPr>
                <a:t>关键问题一: 协同感知融合与一致环境理解</a:t>
              </a:r>
            </a:p>
          </p:txBody>
        </p:sp>
        <p:sp>
          <p:nvSpPr>
            <p:cNvPr id="6" name="Rectangle 6"/>
            <p:cNvSpPr/>
            <p:nvPr/>
          </p:nvSpPr>
          <p:spPr>
            <a:xfrm>
              <a:off x="762000" y="647700"/>
              <a:ext cx="476250" cy="28575"/>
            </a:xfrm>
            <a:prstGeom prst="rect">
              <a:avLst/>
            </a:prstGeom>
            <a:solidFill>
              <a:srgbClr val="C41E3A"/>
            </a:solidFill>
            <a:ln>
              <a:noFill/>
            </a:ln>
          </p:spPr>
        </p:sp>
      </p:grpSp>
      <p:grpSp>
        <p:nvGrpSpPr>
          <p:cNvPr id="16" name="Group 16"/>
          <p:cNvGrpSpPr/>
          <p:nvPr/>
        </p:nvGrpSpPr>
        <p:grpSpPr>
          <a:xfrm>
            <a:off x="571500" y="1047750"/>
            <a:ext cx="5334000" cy="2476500"/>
            <a:chOff x="571500" y="1047750"/>
            <a:chExt cx="5334000" cy="2476500"/>
          </a:xfrm>
          <a:effectLst>
            <a:outerShdw blurRad="76200" dist="19050" dir="5400000" algn="ctr" rotWithShape="0">
              <a:srgbClr val="0F172A">
                <a:alpha val="3750"/>
              </a:srgbClr>
            </a:outerShdw>
          </a:effectLst>
        </p:grpSpPr>
        <p:sp>
          <p:nvSpPr>
            <p:cNvPr id="8" name="Rectangle 8"/>
            <p:cNvSpPr/>
            <p:nvPr/>
          </p:nvSpPr>
          <p:spPr>
            <a:xfrm>
              <a:off x="571500" y="1047750"/>
              <a:ext cx="5334000" cy="2476500"/>
            </a:xfrm>
            <a:prstGeom prst="roundRect">
              <a:avLst>
                <a:gd name="adj" fmla="val 3077"/>
              </a:avLst>
            </a:prstGeom>
            <a:solidFill>
              <a:srgbClr val="FFF5F5"/>
            </a:solidFill>
            <a:ln w="9525">
              <a:solidFill>
                <a:srgbClr val="D4C5C5"/>
              </a:solidFill>
            </a:ln>
            <a:effectLst>
              <a:outerShdw blurRad="76200" dist="19050" dir="5400000" algn="ctr" rotWithShape="0">
                <a:srgbClr val="0F172A">
                  <a:alpha val="3750"/>
                </a:srgbClr>
              </a:outerShdw>
            </a:effectLst>
          </p:spPr>
        </p:sp>
        <p:sp>
          <p:nvSpPr>
            <p:cNvPr id="9" name="Rectangle 9"/>
            <p:cNvSpPr/>
            <p:nvPr/>
          </p:nvSpPr>
          <p:spPr>
            <a:xfrm>
              <a:off x="571500" y="1047750"/>
              <a:ext cx="57150" cy="2476500"/>
            </a:xfrm>
            <a:prstGeom prst="roundRect">
              <a:avLst>
                <a:gd name="adj" fmla="val 50000"/>
              </a:avLst>
            </a:prstGeom>
            <a:solidFill>
              <a:srgbClr val="C41E3A"/>
            </a:solidFill>
            <a:ln>
              <a:noFill/>
            </a:ln>
            <a:effectLst>
              <a:outerShdw blurRad="76200" dist="19050" dir="5400000" algn="ctr" rotWithShape="0">
                <a:srgbClr val="0F172A">
                  <a:alpha val="3750"/>
                </a:srgbClr>
              </a:outerShdw>
            </a:effectLst>
          </p:spPr>
        </p:sp>
        <p:sp>
          <p:nvSpPr>
            <p:cNvPr id="10" name="TextBox 10"/>
            <p:cNvSpPr txBox="1"/>
            <p:nvPr/>
          </p:nvSpPr>
          <p:spPr>
            <a:xfrm>
              <a:off x="933450" y="1266825"/>
              <a:ext cx="878205" cy="3048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500" b="1" dirty="0">
                  <a:solidFill>
                    <a:srgbClr val="8B0000"/>
                  </a:solidFill>
                  <a:latin typeface="Arial"/>
                  <a:ea typeface="Microsoft YaHei"/>
                  <a:cs typeface="Arial"/>
                </a:rPr>
                <a:t>问题分析</a:t>
              </a:r>
            </a:p>
          </p:txBody>
        </p:sp>
        <p:sp>
          <p:nvSpPr>
            <p:cNvPr id="11" name="Freeform 11"/>
            <p:cNvSpPr/>
            <p:nvPr/>
          </p:nvSpPr>
          <p:spPr>
            <a:xfrm>
              <a:off x="1047750" y="1762125"/>
              <a:ext cx="304800" cy="285750"/>
            </a:xfrm>
            <a:custGeom>
              <a:avLst/>
              <a:gdLst/>
              <a:ahLst/>
              <a:cxnLst/>
              <a:rect l="l" t="t" r="r" b="b"/>
              <a:pathLst>
                <a:path w="304800" h="285750">
                  <a:moveTo>
                    <a:pt x="304800" y="285750"/>
                  </a:moveTo>
                  <a:lnTo>
                    <a:pt x="0" y="285750"/>
                  </a:lnTo>
                  <a:lnTo>
                    <a:pt x="0" y="228600"/>
                  </a:lnTo>
                  <a:lnTo>
                    <a:pt x="133350" y="0"/>
                  </a:lnTo>
                  <a:lnTo>
                    <a:pt x="171450" y="0"/>
                  </a:lnTo>
                  <a:lnTo>
                    <a:pt x="304800" y="228600"/>
                  </a:lnTo>
                  <a:lnTo>
                    <a:pt x="304800" y="285750"/>
                  </a:lnTo>
                  <a:close/>
                  <a:moveTo>
                    <a:pt x="133350" y="76200"/>
                  </a:moveTo>
                  <a:lnTo>
                    <a:pt x="171450" y="76200"/>
                  </a:lnTo>
                  <a:lnTo>
                    <a:pt x="171450" y="171450"/>
                  </a:lnTo>
                  <a:lnTo>
                    <a:pt x="133350" y="171450"/>
                  </a:lnTo>
                  <a:lnTo>
                    <a:pt x="133350" y="76200"/>
                  </a:lnTo>
                  <a:close/>
                  <a:moveTo>
                    <a:pt x="133350" y="209550"/>
                  </a:moveTo>
                  <a:lnTo>
                    <a:pt x="171450" y="209550"/>
                  </a:lnTo>
                  <a:lnTo>
                    <a:pt x="171450" y="247650"/>
                  </a:lnTo>
                  <a:lnTo>
                    <a:pt x="133350" y="247650"/>
                  </a:lnTo>
                  <a:lnTo>
                    <a:pt x="133350" y="209550"/>
                  </a:lnTo>
                  <a:close/>
                </a:path>
              </a:pathLst>
            </a:custGeom>
            <a:solidFill>
              <a:srgbClr val="C41E3A"/>
            </a:solidFill>
            <a:ln>
              <a:noFill/>
            </a:ln>
            <a:effectLst>
              <a:outerShdw blurRad="76200" dist="19050" dir="5400000" algn="ctr" rotWithShape="0">
                <a:srgbClr val="0F172A">
                  <a:alpha val="3750"/>
                </a:srgbClr>
              </a:outerShdw>
            </a:effectLst>
          </p:spPr>
        </p:sp>
        <p:sp>
          <p:nvSpPr>
            <p:cNvPr id="12" name="TextBox 12"/>
            <p:cNvSpPr txBox="1"/>
            <p:nvPr/>
          </p:nvSpPr>
          <p:spPr>
            <a:xfrm>
              <a:off x="1460182" y="1719739"/>
              <a:ext cx="1732598"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75" dirty="0">
                  <a:solidFill>
                    <a:srgbClr val="2D2D2D"/>
                  </a:solidFill>
                  <a:latin typeface="Arial"/>
                  <a:ea typeface="Microsoft YaHei"/>
                  <a:cs typeface="Arial"/>
                </a:rPr>
                <a:t>单一平台感知范围局限</a:t>
              </a:r>
            </a:p>
          </p:txBody>
        </p:sp>
        <p:sp>
          <p:nvSpPr>
            <p:cNvPr id="13" name="TextBox 13"/>
            <p:cNvSpPr txBox="1"/>
            <p:nvPr/>
          </p:nvSpPr>
          <p:spPr>
            <a:xfrm>
              <a:off x="1460182" y="2005489"/>
              <a:ext cx="2582704"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75" dirty="0">
                  <a:solidFill>
                    <a:srgbClr val="2D2D2D"/>
                  </a:solidFill>
                  <a:latin typeface="Arial"/>
                  <a:ea typeface="Microsoft YaHei"/>
                  <a:cs typeface="Arial"/>
                </a:rPr>
                <a:t>视野狭窄、易遮挡、存在感知漏洞</a:t>
              </a:r>
            </a:p>
          </p:txBody>
        </p:sp>
        <p:sp>
          <p:nvSpPr>
            <p:cNvPr id="14" name="TextBox 14"/>
            <p:cNvSpPr txBox="1"/>
            <p:nvPr/>
          </p:nvSpPr>
          <p:spPr>
            <a:xfrm>
              <a:off x="1460182" y="2338864"/>
              <a:ext cx="2412682"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75" dirty="0">
                  <a:solidFill>
                    <a:srgbClr val="2D2D2D"/>
                  </a:solidFill>
                  <a:latin typeface="Arial"/>
                  <a:ea typeface="Microsoft YaHei"/>
                  <a:cs typeface="Arial"/>
                </a:rPr>
                <a:t>多机数据不一致、噪声干扰严重</a:t>
              </a:r>
            </a:p>
          </p:txBody>
        </p:sp>
        <p:sp>
          <p:nvSpPr>
            <p:cNvPr id="15" name="TextBox 15"/>
            <p:cNvSpPr txBox="1"/>
            <p:nvPr/>
          </p:nvSpPr>
          <p:spPr>
            <a:xfrm>
              <a:off x="1460182" y="2672239"/>
              <a:ext cx="2412682"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75" dirty="0">
                  <a:solidFill>
                    <a:srgbClr val="2D2D2D"/>
                  </a:solidFill>
                  <a:latin typeface="Arial"/>
                  <a:ea typeface="Microsoft YaHei"/>
                  <a:cs typeface="Arial"/>
                </a:rPr>
                <a:t>通信带宽受限影响信息共享效率</a:t>
              </a:r>
            </a:p>
          </p:txBody>
        </p:sp>
      </p:grpSp>
      <p:grpSp>
        <p:nvGrpSpPr>
          <p:cNvPr id="25" name="Group 25"/>
          <p:cNvGrpSpPr/>
          <p:nvPr/>
        </p:nvGrpSpPr>
        <p:grpSpPr>
          <a:xfrm>
            <a:off x="6286500" y="1047750"/>
            <a:ext cx="5334000" cy="2476500"/>
            <a:chOff x="6286500" y="1047750"/>
            <a:chExt cx="5334000" cy="2476500"/>
          </a:xfrm>
          <a:effectLst>
            <a:outerShdw blurRad="76200" dist="19050" dir="5400000" algn="ctr" rotWithShape="0">
              <a:srgbClr val="0F172A">
                <a:alpha val="3750"/>
              </a:srgbClr>
            </a:outerShdw>
          </a:effectLst>
        </p:grpSpPr>
        <p:sp>
          <p:nvSpPr>
            <p:cNvPr id="17" name="Rectangle 17"/>
            <p:cNvSpPr/>
            <p:nvPr/>
          </p:nvSpPr>
          <p:spPr>
            <a:xfrm>
              <a:off x="6286500" y="1047750"/>
              <a:ext cx="5334000" cy="2476500"/>
            </a:xfrm>
            <a:prstGeom prst="roundRect">
              <a:avLst>
                <a:gd name="adj" fmla="val 3077"/>
              </a:avLst>
            </a:prstGeom>
            <a:solidFill>
              <a:srgbClr val="F0F4F8"/>
            </a:solidFill>
            <a:ln w="9525">
              <a:solidFill>
                <a:srgbClr val="D4C5C5"/>
              </a:solidFill>
            </a:ln>
            <a:effectLst>
              <a:outerShdw blurRad="76200" dist="19050" dir="5400000" algn="ctr" rotWithShape="0">
                <a:srgbClr val="0F172A">
                  <a:alpha val="3750"/>
                </a:srgbClr>
              </a:outerShdw>
            </a:effectLst>
          </p:spPr>
        </p:sp>
        <p:sp>
          <p:nvSpPr>
            <p:cNvPr id="18" name="Rectangle 18"/>
            <p:cNvSpPr/>
            <p:nvPr/>
          </p:nvSpPr>
          <p:spPr>
            <a:xfrm>
              <a:off x="6286500" y="1047750"/>
              <a:ext cx="57150" cy="2476500"/>
            </a:xfrm>
            <a:prstGeom prst="roundRect">
              <a:avLst>
                <a:gd name="adj" fmla="val 50000"/>
              </a:avLst>
            </a:prstGeom>
            <a:solidFill>
              <a:srgbClr val="1A3C5E"/>
            </a:solidFill>
            <a:ln>
              <a:noFill/>
            </a:ln>
            <a:effectLst>
              <a:outerShdw blurRad="76200" dist="19050" dir="5400000" algn="ctr" rotWithShape="0">
                <a:srgbClr val="0F172A">
                  <a:alpha val="3750"/>
                </a:srgbClr>
              </a:outerShdw>
            </a:effectLst>
          </p:spPr>
        </p:sp>
        <p:sp>
          <p:nvSpPr>
            <p:cNvPr id="19" name="TextBox 19"/>
            <p:cNvSpPr txBox="1"/>
            <p:nvPr/>
          </p:nvSpPr>
          <p:spPr>
            <a:xfrm>
              <a:off x="6648450" y="1266825"/>
              <a:ext cx="878205" cy="3048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500" b="1" dirty="0">
                  <a:solidFill>
                    <a:srgbClr val="1A3C5E"/>
                  </a:solidFill>
                  <a:latin typeface="Arial"/>
                  <a:ea typeface="Microsoft YaHei"/>
                  <a:cs typeface="Arial"/>
                </a:rPr>
                <a:t>解决方案</a:t>
              </a:r>
            </a:p>
          </p:txBody>
        </p:sp>
        <p:sp>
          <p:nvSpPr>
            <p:cNvPr id="20" name="Freeform 20"/>
            <p:cNvSpPr/>
            <p:nvPr/>
          </p:nvSpPr>
          <p:spPr>
            <a:xfrm>
              <a:off x="6762750" y="1762125"/>
              <a:ext cx="304800" cy="304800"/>
            </a:xfrm>
            <a:custGeom>
              <a:avLst/>
              <a:gdLst/>
              <a:ahLst/>
              <a:cxnLst/>
              <a:rect l="l" t="t" r="r" b="b"/>
              <a:pathLst>
                <a:path w="304800" h="304800">
                  <a:moveTo>
                    <a:pt x="152400" y="304800"/>
                  </a:moveTo>
                  <a:cubicBezTo>
                    <a:pt x="236569" y="304800"/>
                    <a:pt x="304800" y="236569"/>
                    <a:pt x="304800" y="152400"/>
                  </a:cubicBezTo>
                  <a:cubicBezTo>
                    <a:pt x="304800" y="68232"/>
                    <a:pt x="236569" y="0"/>
                    <a:pt x="152400" y="0"/>
                  </a:cubicBezTo>
                  <a:cubicBezTo>
                    <a:pt x="68232" y="0"/>
                    <a:pt x="0" y="68232"/>
                    <a:pt x="0" y="152400"/>
                  </a:cubicBezTo>
                  <a:cubicBezTo>
                    <a:pt x="0" y="236569"/>
                    <a:pt x="68232" y="304800"/>
                    <a:pt x="152400" y="304800"/>
                  </a:cubicBezTo>
                  <a:close/>
                  <a:moveTo>
                    <a:pt x="242070" y="108720"/>
                  </a:moveTo>
                  <a:lnTo>
                    <a:pt x="215130" y="81780"/>
                  </a:lnTo>
                  <a:lnTo>
                    <a:pt x="123825" y="173084"/>
                  </a:lnTo>
                  <a:lnTo>
                    <a:pt x="89670" y="138930"/>
                  </a:lnTo>
                  <a:lnTo>
                    <a:pt x="62730" y="165870"/>
                  </a:lnTo>
                  <a:lnTo>
                    <a:pt x="123825" y="226966"/>
                  </a:lnTo>
                  <a:lnTo>
                    <a:pt x="242070" y="108720"/>
                  </a:lnTo>
                  <a:close/>
                </a:path>
              </a:pathLst>
            </a:custGeom>
            <a:solidFill>
              <a:srgbClr val="1A3C5E"/>
            </a:solidFill>
            <a:ln>
              <a:noFill/>
            </a:ln>
            <a:effectLst>
              <a:outerShdw blurRad="76200" dist="19050" dir="5400000" algn="ctr" rotWithShape="0">
                <a:srgbClr val="0F172A">
                  <a:alpha val="3750"/>
                </a:srgbClr>
              </a:outerShdw>
            </a:effectLst>
          </p:spPr>
        </p:sp>
        <p:sp>
          <p:nvSpPr>
            <p:cNvPr id="21" name="TextBox 21"/>
            <p:cNvSpPr txBox="1"/>
            <p:nvPr/>
          </p:nvSpPr>
          <p:spPr>
            <a:xfrm>
              <a:off x="7175182" y="1719739"/>
              <a:ext cx="2752725"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75" dirty="0">
                  <a:solidFill>
                    <a:srgbClr val="2D2D2D"/>
                  </a:solidFill>
                  <a:latin typeface="Arial"/>
                  <a:ea typeface="Microsoft YaHei"/>
                  <a:cs typeface="Arial"/>
                </a:rPr>
                <a:t>多源信息时空对齐与分布式状态估计</a:t>
              </a:r>
            </a:p>
          </p:txBody>
        </p:sp>
        <p:sp>
          <p:nvSpPr>
            <p:cNvPr id="22" name="TextBox 22"/>
            <p:cNvSpPr txBox="1"/>
            <p:nvPr/>
          </p:nvSpPr>
          <p:spPr>
            <a:xfrm>
              <a:off x="7175182" y="2005489"/>
              <a:ext cx="2404181"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75" dirty="0">
                  <a:solidFill>
                    <a:srgbClr val="2D2D2D"/>
                  </a:solidFill>
                  <a:latin typeface="Arial"/>
                  <a:ea typeface="Microsoft YaHei"/>
                  <a:cs typeface="Arial"/>
                </a:rPr>
                <a:t>自适应体素+混合约束协同SLAM</a:t>
              </a:r>
            </a:p>
          </p:txBody>
        </p:sp>
        <p:sp>
          <p:nvSpPr>
            <p:cNvPr id="23" name="TextBox 23"/>
            <p:cNvSpPr txBox="1"/>
            <p:nvPr/>
          </p:nvSpPr>
          <p:spPr>
            <a:xfrm>
              <a:off x="7175182" y="2338864"/>
              <a:ext cx="1902619"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75" dirty="0">
                  <a:solidFill>
                    <a:srgbClr val="2D2D2D"/>
                  </a:solidFill>
                  <a:latin typeface="Arial"/>
                  <a:ea typeface="Microsoft YaHei"/>
                  <a:cs typeface="Arial"/>
                </a:rPr>
                <a:t>因子图优化融合多种约束</a:t>
              </a:r>
            </a:p>
          </p:txBody>
        </p:sp>
        <p:sp>
          <p:nvSpPr>
            <p:cNvPr id="24" name="TextBox 24"/>
            <p:cNvSpPr txBox="1"/>
            <p:nvPr/>
          </p:nvSpPr>
          <p:spPr>
            <a:xfrm>
              <a:off x="7175182" y="2672239"/>
              <a:ext cx="2242661"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75" dirty="0">
                  <a:solidFill>
                    <a:srgbClr val="2D2D2D"/>
                  </a:solidFill>
                  <a:latin typeface="Arial"/>
                  <a:ea typeface="Microsoft YaHei"/>
                  <a:cs typeface="Arial"/>
                </a:rPr>
                <a:t>全局一致的实时动态环境模型</a:t>
              </a:r>
            </a:p>
          </p:txBody>
        </p:sp>
      </p:grpSp>
      <p:grpSp>
        <p:nvGrpSpPr>
          <p:cNvPr id="44" name="Group 44"/>
          <p:cNvGrpSpPr/>
          <p:nvPr/>
        </p:nvGrpSpPr>
        <p:grpSpPr>
          <a:xfrm>
            <a:off x="571500" y="3810000"/>
            <a:ext cx="11049000" cy="2286000"/>
            <a:chOff x="571500" y="3810000"/>
            <a:chExt cx="11049000" cy="2286000"/>
          </a:xfrm>
          <a:effectLst>
            <a:outerShdw blurRad="76200" dist="19050" dir="5400000" algn="ctr" rotWithShape="0">
              <a:srgbClr val="0F172A">
                <a:alpha val="3750"/>
              </a:srgbClr>
            </a:outerShdw>
          </a:effectLst>
        </p:grpSpPr>
        <p:sp>
          <p:nvSpPr>
            <p:cNvPr id="26" name="Rectangle 26"/>
            <p:cNvSpPr/>
            <p:nvPr/>
          </p:nvSpPr>
          <p:spPr>
            <a:xfrm>
              <a:off x="571500" y="3810000"/>
              <a:ext cx="11049000" cy="2286000"/>
            </a:xfrm>
            <a:prstGeom prst="roundRect">
              <a:avLst>
                <a:gd name="adj" fmla="val 3333"/>
              </a:avLst>
            </a:prstGeom>
            <a:solidFill>
              <a:srgbClr val="FFFFFF"/>
            </a:solidFill>
            <a:ln w="9525">
              <a:solidFill>
                <a:srgbClr val="D4C5C5"/>
              </a:solidFill>
            </a:ln>
            <a:effectLst>
              <a:outerShdw blurRad="76200" dist="19050" dir="5400000" algn="ctr" rotWithShape="0">
                <a:srgbClr val="0F172A">
                  <a:alpha val="3750"/>
                </a:srgbClr>
              </a:outerShdw>
            </a:effectLst>
          </p:spPr>
        </p:sp>
        <p:sp>
          <p:nvSpPr>
            <p:cNvPr id="27" name="TextBox 27"/>
            <p:cNvSpPr txBox="1"/>
            <p:nvPr/>
          </p:nvSpPr>
          <p:spPr>
            <a:xfrm>
              <a:off x="935355" y="4045268"/>
              <a:ext cx="1168432" cy="27432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350" b="1" dirty="0">
                  <a:solidFill>
                    <a:srgbClr val="8B0000"/>
                  </a:solidFill>
                  <a:latin typeface="Arial"/>
                  <a:ea typeface="Microsoft YaHei"/>
                  <a:cs typeface="Arial"/>
                </a:rPr>
                <a:t>关键技术细节</a:t>
              </a:r>
            </a:p>
          </p:txBody>
        </p:sp>
        <p:sp>
          <p:nvSpPr>
            <p:cNvPr id="28" name="Rectangle 28"/>
            <p:cNvSpPr/>
            <p:nvPr/>
          </p:nvSpPr>
          <p:spPr>
            <a:xfrm>
              <a:off x="952500" y="4362450"/>
              <a:ext cx="10287000" cy="9525"/>
            </a:xfrm>
            <a:prstGeom prst="rect">
              <a:avLst/>
            </a:prstGeom>
            <a:solidFill>
              <a:srgbClr val="D4C5C5"/>
            </a:solidFill>
            <a:ln>
              <a:noFill/>
            </a:ln>
            <a:effectLst>
              <a:outerShdw blurRad="76200" dist="19050" dir="5400000" algn="ctr" rotWithShape="0">
                <a:srgbClr val="0F172A">
                  <a:alpha val="3750"/>
                </a:srgbClr>
              </a:outerShdw>
            </a:effectLst>
          </p:spPr>
        </p:sp>
        <p:sp>
          <p:nvSpPr>
            <p:cNvPr id="29" name="Rectangle 29"/>
            <p:cNvSpPr/>
            <p:nvPr/>
          </p:nvSpPr>
          <p:spPr>
            <a:xfrm>
              <a:off x="762000" y="4572000"/>
              <a:ext cx="3381375" cy="1333500"/>
            </a:xfrm>
            <a:prstGeom prst="roundRect">
              <a:avLst>
                <a:gd name="adj" fmla="val 4286"/>
              </a:avLst>
            </a:prstGeom>
            <a:solidFill>
              <a:srgbClr val="F8F2F2"/>
            </a:solidFill>
            <a:ln>
              <a:noFill/>
            </a:ln>
            <a:effectLst>
              <a:outerShdw blurRad="76200" dist="19050" dir="5400000" algn="ctr" rotWithShape="0">
                <a:srgbClr val="0F172A">
                  <a:alpha val="3750"/>
                </a:srgbClr>
              </a:outerShdw>
            </a:effectLst>
          </p:spPr>
        </p:sp>
        <p:sp>
          <p:nvSpPr>
            <p:cNvPr id="30" name="TextBox 30"/>
            <p:cNvSpPr txBox="1"/>
            <p:nvPr/>
          </p:nvSpPr>
          <p:spPr>
            <a:xfrm>
              <a:off x="1811007" y="4775835"/>
              <a:ext cx="1273835" cy="24384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200" b="1" dirty="0">
                  <a:solidFill>
                    <a:srgbClr val="8B0000"/>
                  </a:solidFill>
                  <a:latin typeface="Arial"/>
                  <a:ea typeface="Microsoft YaHei"/>
                  <a:cs typeface="Arial"/>
                </a:rPr>
                <a:t>分布式协同SLAM</a:t>
              </a:r>
            </a:p>
          </p:txBody>
        </p:sp>
        <p:sp>
          <p:nvSpPr>
            <p:cNvPr id="31" name="TextBox 31"/>
            <p:cNvSpPr txBox="1"/>
            <p:nvPr/>
          </p:nvSpPr>
          <p:spPr>
            <a:xfrm>
              <a:off x="1034415" y="5077778"/>
              <a:ext cx="1706880"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050" dirty="0">
                  <a:solidFill>
                    <a:srgbClr val="2D2D2D"/>
                  </a:solidFill>
                  <a:latin typeface="Arial"/>
                  <a:ea typeface="Microsoft YaHei"/>
                  <a:cs typeface="Arial"/>
                </a:rPr>
                <a:t>自适应体素轻量级特征表达</a:t>
              </a:r>
            </a:p>
          </p:txBody>
        </p:sp>
        <p:sp>
          <p:nvSpPr>
            <p:cNvPr id="32" name="TextBox 32"/>
            <p:cNvSpPr txBox="1"/>
            <p:nvPr/>
          </p:nvSpPr>
          <p:spPr>
            <a:xfrm>
              <a:off x="1034415" y="5315902"/>
              <a:ext cx="1706880"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050" dirty="0">
                  <a:solidFill>
                    <a:srgbClr val="2D2D2D"/>
                  </a:solidFill>
                  <a:latin typeface="Arial"/>
                  <a:ea typeface="Microsoft YaHei"/>
                  <a:cs typeface="Arial"/>
                </a:rPr>
                <a:t>因子图优化融合多约束信息</a:t>
              </a:r>
            </a:p>
          </p:txBody>
        </p:sp>
        <p:sp>
          <p:nvSpPr>
            <p:cNvPr id="33" name="TextBox 33"/>
            <p:cNvSpPr txBox="1"/>
            <p:nvPr/>
          </p:nvSpPr>
          <p:spPr>
            <a:xfrm>
              <a:off x="1034415" y="5554028"/>
              <a:ext cx="2000917"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050" dirty="0">
                  <a:solidFill>
                    <a:srgbClr val="2D2D2D"/>
                  </a:solidFill>
                  <a:latin typeface="Arial"/>
                  <a:ea typeface="Microsoft YaHei"/>
                  <a:cs typeface="Arial"/>
                </a:rPr>
                <a:t>惯性里程计+特征匹配+相对测量</a:t>
              </a:r>
            </a:p>
          </p:txBody>
        </p:sp>
        <p:sp>
          <p:nvSpPr>
            <p:cNvPr id="34" name="Rectangle 34"/>
            <p:cNvSpPr/>
            <p:nvPr/>
          </p:nvSpPr>
          <p:spPr>
            <a:xfrm>
              <a:off x="4400550" y="4572000"/>
              <a:ext cx="3381375" cy="1333500"/>
            </a:xfrm>
            <a:prstGeom prst="roundRect">
              <a:avLst>
                <a:gd name="adj" fmla="val 4286"/>
              </a:avLst>
            </a:prstGeom>
            <a:solidFill>
              <a:srgbClr val="F0F4F8"/>
            </a:solidFill>
            <a:ln>
              <a:noFill/>
            </a:ln>
            <a:effectLst>
              <a:outerShdw blurRad="76200" dist="19050" dir="5400000" algn="ctr" rotWithShape="0">
                <a:srgbClr val="0F172A">
                  <a:alpha val="3750"/>
                </a:srgbClr>
              </a:outerShdw>
            </a:effectLst>
          </p:spPr>
        </p:sp>
        <p:sp>
          <p:nvSpPr>
            <p:cNvPr id="35" name="TextBox 35"/>
            <p:cNvSpPr txBox="1"/>
            <p:nvPr/>
          </p:nvSpPr>
          <p:spPr>
            <a:xfrm>
              <a:off x="5483162" y="4775835"/>
              <a:ext cx="1206627" cy="24384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200" b="1" dirty="0">
                  <a:solidFill>
                    <a:srgbClr val="1A3C5E"/>
                  </a:solidFill>
                  <a:latin typeface="Arial"/>
                  <a:ea typeface="Microsoft YaHei"/>
                  <a:cs typeface="Arial"/>
                </a:rPr>
                <a:t>跨平台信息融合</a:t>
              </a:r>
            </a:p>
          </p:txBody>
        </p:sp>
        <p:sp>
          <p:nvSpPr>
            <p:cNvPr id="36" name="TextBox 36"/>
            <p:cNvSpPr txBox="1"/>
            <p:nvPr/>
          </p:nvSpPr>
          <p:spPr>
            <a:xfrm>
              <a:off x="4672965" y="5077778"/>
              <a:ext cx="1734884"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050" dirty="0">
                  <a:solidFill>
                    <a:srgbClr val="2D2D2D"/>
                  </a:solidFill>
                  <a:latin typeface="Arial"/>
                  <a:ea typeface="Microsoft YaHei"/>
                  <a:cs typeface="Arial"/>
                </a:rPr>
                <a:t>视觉+LiDAR+IMU多模态融合</a:t>
              </a:r>
            </a:p>
          </p:txBody>
        </p:sp>
        <p:sp>
          <p:nvSpPr>
            <p:cNvPr id="37" name="TextBox 37"/>
            <p:cNvSpPr txBox="1"/>
            <p:nvPr/>
          </p:nvSpPr>
          <p:spPr>
            <a:xfrm>
              <a:off x="4672965" y="5315902"/>
              <a:ext cx="1566863"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050" dirty="0">
                  <a:solidFill>
                    <a:srgbClr val="2D2D2D"/>
                  </a:solidFill>
                  <a:latin typeface="Arial"/>
                  <a:ea typeface="Microsoft YaHei"/>
                  <a:cs typeface="Arial"/>
                </a:rPr>
                <a:t>时空对齐与特征匹配机制</a:t>
              </a:r>
            </a:p>
          </p:txBody>
        </p:sp>
        <p:sp>
          <p:nvSpPr>
            <p:cNvPr id="38" name="TextBox 38"/>
            <p:cNvSpPr txBox="1"/>
            <p:nvPr/>
          </p:nvSpPr>
          <p:spPr>
            <a:xfrm>
              <a:off x="4672965" y="5554028"/>
              <a:ext cx="1881902"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050" dirty="0">
                  <a:solidFill>
                    <a:srgbClr val="2D2D2D"/>
                  </a:solidFill>
                  <a:latin typeface="Arial"/>
                  <a:ea typeface="Microsoft YaHei"/>
                  <a:cs typeface="Arial"/>
                </a:rPr>
                <a:t>轻量级Transformer融合网络</a:t>
              </a:r>
            </a:p>
          </p:txBody>
        </p:sp>
        <p:sp>
          <p:nvSpPr>
            <p:cNvPr id="39" name="Rectangle 39"/>
            <p:cNvSpPr/>
            <p:nvPr/>
          </p:nvSpPr>
          <p:spPr>
            <a:xfrm>
              <a:off x="8048625" y="4572000"/>
              <a:ext cx="3381375" cy="1333500"/>
            </a:xfrm>
            <a:prstGeom prst="roundRect">
              <a:avLst>
                <a:gd name="adj" fmla="val 4286"/>
              </a:avLst>
            </a:prstGeom>
            <a:solidFill>
              <a:srgbClr val="F8F2F2"/>
            </a:solidFill>
            <a:ln>
              <a:noFill/>
            </a:ln>
            <a:effectLst>
              <a:outerShdw blurRad="76200" dist="19050" dir="5400000" algn="ctr" rotWithShape="0">
                <a:srgbClr val="0F172A">
                  <a:alpha val="3750"/>
                </a:srgbClr>
              </a:outerShdw>
            </a:effectLst>
          </p:spPr>
        </p:sp>
        <p:sp>
          <p:nvSpPr>
            <p:cNvPr id="40" name="TextBox 40"/>
            <p:cNvSpPr txBox="1"/>
            <p:nvPr/>
          </p:nvSpPr>
          <p:spPr>
            <a:xfrm>
              <a:off x="9215247" y="4775835"/>
              <a:ext cx="1038606" cy="24384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200" b="1" dirty="0">
                  <a:solidFill>
                    <a:srgbClr val="8B0000"/>
                  </a:solidFill>
                  <a:latin typeface="Arial"/>
                  <a:ea typeface="Microsoft YaHei"/>
                  <a:cs typeface="Arial"/>
                </a:rPr>
                <a:t>通信优化策略</a:t>
              </a:r>
            </a:p>
          </p:txBody>
        </p:sp>
        <p:sp>
          <p:nvSpPr>
            <p:cNvPr id="41" name="TextBox 41"/>
            <p:cNvSpPr txBox="1"/>
            <p:nvPr/>
          </p:nvSpPr>
          <p:spPr>
            <a:xfrm>
              <a:off x="8321040" y="5077778"/>
              <a:ext cx="1566863"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050" dirty="0">
                  <a:solidFill>
                    <a:srgbClr val="2D2D2D"/>
                  </a:solidFill>
                  <a:latin typeface="Arial"/>
                  <a:ea typeface="Microsoft YaHei"/>
                  <a:cs typeface="Arial"/>
                </a:rPr>
                <a:t>空间关键性图谱稀疏传输</a:t>
              </a:r>
            </a:p>
          </p:txBody>
        </p:sp>
        <p:sp>
          <p:nvSpPr>
            <p:cNvPr id="42" name="TextBox 42"/>
            <p:cNvSpPr txBox="1"/>
            <p:nvPr/>
          </p:nvSpPr>
          <p:spPr>
            <a:xfrm>
              <a:off x="8321040" y="5315902"/>
              <a:ext cx="1286828"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050" dirty="0">
                  <a:solidFill>
                    <a:srgbClr val="2D2D2D"/>
                  </a:solidFill>
                  <a:latin typeface="Arial"/>
                  <a:ea typeface="Microsoft YaHei"/>
                  <a:cs typeface="Arial"/>
                </a:rPr>
                <a:t>渐进式带宽协商协议</a:t>
              </a:r>
            </a:p>
          </p:txBody>
        </p:sp>
        <p:sp>
          <p:nvSpPr>
            <p:cNvPr id="43" name="TextBox 43"/>
            <p:cNvSpPr txBox="1"/>
            <p:nvPr/>
          </p:nvSpPr>
          <p:spPr>
            <a:xfrm>
              <a:off x="8321040" y="5554028"/>
              <a:ext cx="1118807"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050" dirty="0">
                  <a:solidFill>
                    <a:srgbClr val="2D2D2D"/>
                  </a:solidFill>
                  <a:latin typeface="Arial"/>
                  <a:ea typeface="Microsoft YaHei"/>
                  <a:cs typeface="Arial"/>
                </a:rPr>
                <a:t>带宽降低10-100倍</a:t>
              </a:r>
            </a:p>
          </p:txBody>
        </p:sp>
      </p:grpSp>
      <p:grpSp>
        <p:nvGrpSpPr>
          <p:cNvPr id="48" name="Group 48"/>
          <p:cNvGrpSpPr/>
          <p:nvPr/>
        </p:nvGrpSpPr>
        <p:grpSpPr>
          <a:xfrm>
            <a:off x="0" y="6578441"/>
            <a:ext cx="12192000" cy="279559"/>
            <a:chOff x="0" y="6578441"/>
            <a:chExt cx="12192000" cy="279559"/>
          </a:xfrm>
        </p:grpSpPr>
        <p:sp>
          <p:nvSpPr>
            <p:cNvPr id="45" name="Rectangle 45"/>
            <p:cNvSpPr/>
            <p:nvPr/>
          </p:nvSpPr>
          <p:spPr>
            <a:xfrm>
              <a:off x="0" y="6819900"/>
              <a:ext cx="12192000" cy="38100"/>
            </a:xfrm>
            <a:prstGeom prst="rect">
              <a:avLst/>
            </a:prstGeom>
            <a:solidFill>
              <a:srgbClr val="D4C5C5"/>
            </a:solidFill>
            <a:ln>
              <a:noFill/>
            </a:ln>
          </p:spPr>
        </p:sp>
        <p:sp>
          <p:nvSpPr>
            <p:cNvPr id="46" name="TextBox 46"/>
            <p:cNvSpPr txBox="1"/>
            <p:nvPr/>
          </p:nvSpPr>
          <p:spPr>
            <a:xfrm>
              <a:off x="11268980" y="6578441"/>
              <a:ext cx="361998" cy="167640"/>
            </a:xfrm>
            <a:prstGeom prst="rect">
              <a:avLst/>
            </a:prstGeom>
            <a:noFill/>
            <a:ln>
              <a:noFill/>
            </a:ln>
          </p:spPr>
          <p:txBody>
            <a:bodyPr wrap="none" lIns="0" tIns="0" rIns="0" bIns="0" anchor="t" anchorCtr="0">
              <a:spAutoFit/>
            </a:bodyPr>
            <a:lstStyle/>
            <a:p>
              <a:pPr algn="r"/>
              <a:r>
                <a:rPr lang="zh-CN" sz="825" dirty="0">
                  <a:solidFill>
                    <a:srgbClr val="999999"/>
                  </a:solidFill>
                  <a:latin typeface="Arial"/>
                  <a:ea typeface="Microsoft YaHei"/>
                  <a:cs typeface="Arial"/>
                </a:rPr>
                <a:t>09 / 16</a:t>
              </a:r>
            </a:p>
          </p:txBody>
        </p:sp>
        <p:sp>
          <p:nvSpPr>
            <p:cNvPr id="47" name="TextBox 47"/>
            <p:cNvSpPr txBox="1"/>
            <p:nvPr/>
          </p:nvSpPr>
          <p:spPr>
            <a:xfrm>
              <a:off x="561022" y="6578441"/>
              <a:ext cx="1814179" cy="167640"/>
            </a:xfrm>
            <a:prstGeom prst="rect">
              <a:avLst/>
            </a:prstGeom>
            <a:noFill/>
            <a:ln>
              <a:noFill/>
            </a:ln>
          </p:spPr>
          <p:txBody>
            <a:bodyPr wrap="none" lIns="0" tIns="0" rIns="0" bIns="0" anchor="t" anchorCtr="0">
              <a:spAutoFit/>
            </a:bodyPr>
            <a:lstStyle/>
            <a:p>
              <a:pPr algn="l"/>
              <a:r>
                <a:rPr lang="zh-CN" sz="825" dirty="0">
                  <a:solidFill>
                    <a:srgbClr val="999999"/>
                  </a:solidFill>
                  <a:latin typeface="Arial"/>
                  <a:ea typeface="Microsoft YaHei"/>
                  <a:cs typeface="Arial"/>
                </a:rPr>
                <a:t>华中科技大学 人工智能与自动化学院</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image">
                                      <p:cBhvr>
                                        <p:cTn id="7" dur="400"/>
                                        <p:tgtEl>
                                          <p:spTgt spid="16"/>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wipe(left)">
                                      <p:cBhvr>
                                        <p:cTn id="15"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5" grpId="0"/>
      <p:bldP spid="4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gradFill>
              <a:gsLst>
                <a:gs pos="0">
                  <a:srgbClr val="8B0000"/>
                </a:gs>
                <a:gs pos="100000">
                  <a:srgbClr val="C41E3A"/>
                </a:gs>
              </a:gsLst>
              <a:lin ang="0" scaled="1"/>
            </a:gradFill>
            <a:ln>
              <a:noFill/>
            </a:ln>
          </p:spPr>
        </p:sp>
      </p:grpSp>
      <p:grpSp>
        <p:nvGrpSpPr>
          <p:cNvPr id="7" name="Group 7"/>
          <p:cNvGrpSpPr/>
          <p:nvPr/>
        </p:nvGrpSpPr>
        <p:grpSpPr>
          <a:xfrm>
            <a:off x="731520" y="264795"/>
            <a:ext cx="6059310" cy="487680"/>
            <a:chOff x="731520" y="264795"/>
            <a:chExt cx="6059310" cy="487680"/>
          </a:xfrm>
        </p:grpSpPr>
        <p:sp>
          <p:nvSpPr>
            <p:cNvPr id="5" name="TextBox 5"/>
            <p:cNvSpPr txBox="1"/>
            <p:nvPr/>
          </p:nvSpPr>
          <p:spPr>
            <a:xfrm>
              <a:off x="731520" y="264795"/>
              <a:ext cx="6059310" cy="487680"/>
            </a:xfrm>
            <a:prstGeom prst="rect">
              <a:avLst/>
            </a:prstGeom>
            <a:noFill/>
            <a:ln>
              <a:noFill/>
            </a:ln>
          </p:spPr>
          <p:txBody>
            <a:bodyPr wrap="none" lIns="0" tIns="0" rIns="0" bIns="0" anchor="t" anchorCtr="0">
              <a:spAutoFit/>
            </a:bodyPr>
            <a:lstStyle/>
            <a:p>
              <a:pPr algn="l"/>
              <a:r>
                <a:rPr lang="zh-CN" sz="2400" b="1" dirty="0">
                  <a:solidFill>
                    <a:srgbClr val="8B0000"/>
                  </a:solidFill>
                  <a:latin typeface="Arial"/>
                  <a:ea typeface="Microsoft YaHei"/>
                  <a:cs typeface="Arial"/>
                </a:rPr>
                <a:t>关键问题二: 动态环境下分布式协同规划</a:t>
              </a:r>
            </a:p>
          </p:txBody>
        </p:sp>
        <p:sp>
          <p:nvSpPr>
            <p:cNvPr id="6" name="Rectangle 6"/>
            <p:cNvSpPr/>
            <p:nvPr/>
          </p:nvSpPr>
          <p:spPr>
            <a:xfrm>
              <a:off x="762000" y="647700"/>
              <a:ext cx="476250" cy="28575"/>
            </a:xfrm>
            <a:prstGeom prst="rect">
              <a:avLst/>
            </a:prstGeom>
            <a:solidFill>
              <a:srgbClr val="C41E3A"/>
            </a:solidFill>
            <a:ln>
              <a:noFill/>
            </a:ln>
          </p:spPr>
        </p:sp>
      </p:grpSp>
      <p:grpSp>
        <p:nvGrpSpPr>
          <p:cNvPr id="16" name="Group 16"/>
          <p:cNvGrpSpPr/>
          <p:nvPr/>
        </p:nvGrpSpPr>
        <p:grpSpPr>
          <a:xfrm>
            <a:off x="571500" y="1047750"/>
            <a:ext cx="5334000" cy="2286000"/>
            <a:chOff x="571500" y="1047750"/>
            <a:chExt cx="5334000" cy="2286000"/>
          </a:xfrm>
          <a:effectLst>
            <a:outerShdw blurRad="76200" dist="19050" dir="5400000" algn="ctr" rotWithShape="0">
              <a:srgbClr val="0F172A">
                <a:alpha val="3750"/>
              </a:srgbClr>
            </a:outerShdw>
          </a:effectLst>
        </p:grpSpPr>
        <p:sp>
          <p:nvSpPr>
            <p:cNvPr id="8" name="Rectangle 8"/>
            <p:cNvSpPr/>
            <p:nvPr/>
          </p:nvSpPr>
          <p:spPr>
            <a:xfrm>
              <a:off x="571500" y="1047750"/>
              <a:ext cx="5334000" cy="2286000"/>
            </a:xfrm>
            <a:prstGeom prst="roundRect">
              <a:avLst>
                <a:gd name="adj" fmla="val 3333"/>
              </a:avLst>
            </a:prstGeom>
            <a:solidFill>
              <a:srgbClr val="FFF5F5"/>
            </a:solidFill>
            <a:ln w="9525">
              <a:solidFill>
                <a:srgbClr val="D4C5C5"/>
              </a:solidFill>
            </a:ln>
            <a:effectLst>
              <a:outerShdw blurRad="76200" dist="19050" dir="5400000" algn="ctr" rotWithShape="0">
                <a:srgbClr val="0F172A">
                  <a:alpha val="3750"/>
                </a:srgbClr>
              </a:outerShdw>
            </a:effectLst>
          </p:spPr>
        </p:sp>
        <p:sp>
          <p:nvSpPr>
            <p:cNvPr id="9" name="Rectangle 9"/>
            <p:cNvSpPr/>
            <p:nvPr/>
          </p:nvSpPr>
          <p:spPr>
            <a:xfrm>
              <a:off x="571500" y="1047750"/>
              <a:ext cx="57150" cy="2286000"/>
            </a:xfrm>
            <a:prstGeom prst="roundRect">
              <a:avLst>
                <a:gd name="adj" fmla="val 50000"/>
              </a:avLst>
            </a:prstGeom>
            <a:solidFill>
              <a:srgbClr val="C41E3A"/>
            </a:solidFill>
            <a:ln>
              <a:noFill/>
            </a:ln>
            <a:effectLst>
              <a:outerShdw blurRad="76200" dist="19050" dir="5400000" algn="ctr" rotWithShape="0">
                <a:srgbClr val="0F172A">
                  <a:alpha val="3750"/>
                </a:srgbClr>
              </a:outerShdw>
            </a:effectLst>
          </p:spPr>
        </p:sp>
        <p:sp>
          <p:nvSpPr>
            <p:cNvPr id="10" name="TextBox 10"/>
            <p:cNvSpPr txBox="1"/>
            <p:nvPr/>
          </p:nvSpPr>
          <p:spPr>
            <a:xfrm>
              <a:off x="933450" y="1219200"/>
              <a:ext cx="878205" cy="3048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500" b="1" dirty="0">
                  <a:solidFill>
                    <a:srgbClr val="8B0000"/>
                  </a:solidFill>
                  <a:latin typeface="Arial"/>
                  <a:ea typeface="Microsoft YaHei"/>
                  <a:cs typeface="Arial"/>
                </a:rPr>
                <a:t>问题分析</a:t>
              </a:r>
            </a:p>
          </p:txBody>
        </p:sp>
        <p:sp>
          <p:nvSpPr>
            <p:cNvPr id="11" name="Freeform 11"/>
            <p:cNvSpPr/>
            <p:nvPr/>
          </p:nvSpPr>
          <p:spPr>
            <a:xfrm>
              <a:off x="1047750" y="1695450"/>
              <a:ext cx="304800" cy="285750"/>
            </a:xfrm>
            <a:custGeom>
              <a:avLst/>
              <a:gdLst/>
              <a:ahLst/>
              <a:cxnLst/>
              <a:rect l="l" t="t" r="r" b="b"/>
              <a:pathLst>
                <a:path w="304800" h="285750">
                  <a:moveTo>
                    <a:pt x="304800" y="285750"/>
                  </a:moveTo>
                  <a:lnTo>
                    <a:pt x="0" y="285750"/>
                  </a:lnTo>
                  <a:lnTo>
                    <a:pt x="0" y="228600"/>
                  </a:lnTo>
                  <a:lnTo>
                    <a:pt x="133350" y="0"/>
                  </a:lnTo>
                  <a:lnTo>
                    <a:pt x="171450" y="0"/>
                  </a:lnTo>
                  <a:lnTo>
                    <a:pt x="304800" y="228600"/>
                  </a:lnTo>
                  <a:lnTo>
                    <a:pt x="304800" y="285750"/>
                  </a:lnTo>
                  <a:close/>
                  <a:moveTo>
                    <a:pt x="133350" y="76200"/>
                  </a:moveTo>
                  <a:lnTo>
                    <a:pt x="171450" y="76200"/>
                  </a:lnTo>
                  <a:lnTo>
                    <a:pt x="171450" y="171450"/>
                  </a:lnTo>
                  <a:lnTo>
                    <a:pt x="133350" y="171450"/>
                  </a:lnTo>
                  <a:lnTo>
                    <a:pt x="133350" y="76200"/>
                  </a:lnTo>
                  <a:close/>
                  <a:moveTo>
                    <a:pt x="133350" y="209550"/>
                  </a:moveTo>
                  <a:lnTo>
                    <a:pt x="171450" y="209550"/>
                  </a:lnTo>
                  <a:lnTo>
                    <a:pt x="171450" y="247650"/>
                  </a:lnTo>
                  <a:lnTo>
                    <a:pt x="133350" y="247650"/>
                  </a:lnTo>
                  <a:lnTo>
                    <a:pt x="133350" y="209550"/>
                  </a:lnTo>
                  <a:close/>
                </a:path>
              </a:pathLst>
            </a:custGeom>
            <a:solidFill>
              <a:srgbClr val="C41E3A"/>
            </a:solidFill>
            <a:ln>
              <a:noFill/>
            </a:ln>
            <a:effectLst>
              <a:outerShdw blurRad="76200" dist="19050" dir="5400000" algn="ctr" rotWithShape="0">
                <a:srgbClr val="0F172A">
                  <a:alpha val="3750"/>
                </a:srgbClr>
              </a:outerShdw>
            </a:effectLst>
          </p:spPr>
        </p:sp>
        <p:sp>
          <p:nvSpPr>
            <p:cNvPr id="12" name="TextBox 12"/>
            <p:cNvSpPr txBox="1"/>
            <p:nvPr/>
          </p:nvSpPr>
          <p:spPr>
            <a:xfrm>
              <a:off x="1460182" y="1653064"/>
              <a:ext cx="2752725"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75" dirty="0">
                  <a:solidFill>
                    <a:srgbClr val="2D2D2D"/>
                  </a:solidFill>
                  <a:latin typeface="Arial"/>
                  <a:ea typeface="Microsoft YaHei"/>
                  <a:cs typeface="Arial"/>
                </a:rPr>
                <a:t>复杂动态场景中多平台自主协同决策</a:t>
              </a:r>
            </a:p>
          </p:txBody>
        </p:sp>
        <p:sp>
          <p:nvSpPr>
            <p:cNvPr id="13" name="TextBox 13"/>
            <p:cNvSpPr txBox="1"/>
            <p:nvPr/>
          </p:nvSpPr>
          <p:spPr>
            <a:xfrm>
              <a:off x="1460182" y="1938814"/>
              <a:ext cx="2582704"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75" dirty="0">
                  <a:solidFill>
                    <a:srgbClr val="2D2D2D"/>
                  </a:solidFill>
                  <a:latin typeface="Arial"/>
                  <a:ea typeface="Microsoft YaHei"/>
                  <a:cs typeface="Arial"/>
                </a:rPr>
                <a:t>任务多发不可预知、环境瞬息万变</a:t>
              </a:r>
            </a:p>
          </p:txBody>
        </p:sp>
        <p:sp>
          <p:nvSpPr>
            <p:cNvPr id="14" name="TextBox 14"/>
            <p:cNvSpPr txBox="1"/>
            <p:nvPr/>
          </p:nvSpPr>
          <p:spPr>
            <a:xfrm>
              <a:off x="1460182" y="2224564"/>
              <a:ext cx="2582704"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75" dirty="0">
                  <a:solidFill>
                    <a:srgbClr val="2D2D2D"/>
                  </a:solidFill>
                  <a:latin typeface="Arial"/>
                  <a:ea typeface="Microsoft YaHei"/>
                  <a:cs typeface="Arial"/>
                </a:rPr>
                <a:t>通信约束与不确定性影响规划质量</a:t>
              </a:r>
            </a:p>
          </p:txBody>
        </p:sp>
        <p:sp>
          <p:nvSpPr>
            <p:cNvPr id="15" name="TextBox 15"/>
            <p:cNvSpPr txBox="1"/>
            <p:nvPr/>
          </p:nvSpPr>
          <p:spPr>
            <a:xfrm>
              <a:off x="1460182" y="2510314"/>
              <a:ext cx="2922746"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75" dirty="0">
                  <a:solidFill>
                    <a:srgbClr val="2D2D2D"/>
                  </a:solidFill>
                  <a:latin typeface="Arial"/>
                  <a:ea typeface="Microsoft YaHei"/>
                  <a:cs typeface="Arial"/>
                </a:rPr>
                <a:t>需在整体效率与单体灵活性间取得平衡</a:t>
              </a:r>
            </a:p>
          </p:txBody>
        </p:sp>
      </p:grpSp>
      <p:grpSp>
        <p:nvGrpSpPr>
          <p:cNvPr id="25" name="Group 25"/>
          <p:cNvGrpSpPr/>
          <p:nvPr/>
        </p:nvGrpSpPr>
        <p:grpSpPr>
          <a:xfrm>
            <a:off x="6286500" y="1047750"/>
            <a:ext cx="5334000" cy="2286000"/>
            <a:chOff x="6286500" y="1047750"/>
            <a:chExt cx="5334000" cy="2286000"/>
          </a:xfrm>
          <a:effectLst>
            <a:outerShdw blurRad="76200" dist="19050" dir="5400000" algn="ctr" rotWithShape="0">
              <a:srgbClr val="0F172A">
                <a:alpha val="3750"/>
              </a:srgbClr>
            </a:outerShdw>
          </a:effectLst>
        </p:grpSpPr>
        <p:sp>
          <p:nvSpPr>
            <p:cNvPr id="17" name="Rectangle 17"/>
            <p:cNvSpPr/>
            <p:nvPr/>
          </p:nvSpPr>
          <p:spPr>
            <a:xfrm>
              <a:off x="6286500" y="1047750"/>
              <a:ext cx="5334000" cy="2286000"/>
            </a:xfrm>
            <a:prstGeom prst="roundRect">
              <a:avLst>
                <a:gd name="adj" fmla="val 3333"/>
              </a:avLst>
            </a:prstGeom>
            <a:solidFill>
              <a:srgbClr val="F0F4F8"/>
            </a:solidFill>
            <a:ln w="9525">
              <a:solidFill>
                <a:srgbClr val="D4C5C5"/>
              </a:solidFill>
            </a:ln>
            <a:effectLst>
              <a:outerShdw blurRad="76200" dist="19050" dir="5400000" algn="ctr" rotWithShape="0">
                <a:srgbClr val="0F172A">
                  <a:alpha val="3750"/>
                </a:srgbClr>
              </a:outerShdw>
            </a:effectLst>
          </p:spPr>
        </p:sp>
        <p:sp>
          <p:nvSpPr>
            <p:cNvPr id="18" name="Rectangle 18"/>
            <p:cNvSpPr/>
            <p:nvPr/>
          </p:nvSpPr>
          <p:spPr>
            <a:xfrm>
              <a:off x="6286500" y="1047750"/>
              <a:ext cx="57150" cy="2286000"/>
            </a:xfrm>
            <a:prstGeom prst="roundRect">
              <a:avLst>
                <a:gd name="adj" fmla="val 50000"/>
              </a:avLst>
            </a:prstGeom>
            <a:solidFill>
              <a:srgbClr val="1A3C5E"/>
            </a:solidFill>
            <a:ln>
              <a:noFill/>
            </a:ln>
            <a:effectLst>
              <a:outerShdw blurRad="76200" dist="19050" dir="5400000" algn="ctr" rotWithShape="0">
                <a:srgbClr val="0F172A">
                  <a:alpha val="3750"/>
                </a:srgbClr>
              </a:outerShdw>
            </a:effectLst>
          </p:spPr>
        </p:sp>
        <p:sp>
          <p:nvSpPr>
            <p:cNvPr id="19" name="TextBox 19"/>
            <p:cNvSpPr txBox="1"/>
            <p:nvPr/>
          </p:nvSpPr>
          <p:spPr>
            <a:xfrm>
              <a:off x="6648450" y="1219200"/>
              <a:ext cx="2852452" cy="3048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500" b="1" dirty="0">
                  <a:solidFill>
                    <a:srgbClr val="1A3C5E"/>
                  </a:solidFill>
                  <a:latin typeface="Arial"/>
                  <a:ea typeface="Microsoft YaHei"/>
                  <a:cs typeface="Arial"/>
                </a:rPr>
                <a:t>解决方案: 全局-局部分层决策</a:t>
              </a:r>
            </a:p>
          </p:txBody>
        </p:sp>
        <p:sp>
          <p:nvSpPr>
            <p:cNvPr id="20" name="Freeform 20"/>
            <p:cNvSpPr/>
            <p:nvPr/>
          </p:nvSpPr>
          <p:spPr>
            <a:xfrm>
              <a:off x="6762750" y="1695450"/>
              <a:ext cx="304800" cy="304800"/>
            </a:xfrm>
            <a:custGeom>
              <a:avLst/>
              <a:gdLst/>
              <a:ahLst/>
              <a:cxnLst/>
              <a:rect l="l" t="t" r="r" b="b"/>
              <a:pathLst>
                <a:path w="304800" h="304800">
                  <a:moveTo>
                    <a:pt x="152400" y="304800"/>
                  </a:moveTo>
                  <a:cubicBezTo>
                    <a:pt x="236569" y="304800"/>
                    <a:pt x="304800" y="236569"/>
                    <a:pt x="304800" y="152400"/>
                  </a:cubicBezTo>
                  <a:cubicBezTo>
                    <a:pt x="304800" y="68232"/>
                    <a:pt x="236569" y="0"/>
                    <a:pt x="152400" y="0"/>
                  </a:cubicBezTo>
                  <a:cubicBezTo>
                    <a:pt x="68232" y="0"/>
                    <a:pt x="0" y="68232"/>
                    <a:pt x="0" y="152400"/>
                  </a:cubicBezTo>
                  <a:cubicBezTo>
                    <a:pt x="0" y="236569"/>
                    <a:pt x="68232" y="304800"/>
                    <a:pt x="152400" y="304800"/>
                  </a:cubicBezTo>
                  <a:close/>
                  <a:moveTo>
                    <a:pt x="242070" y="108720"/>
                  </a:moveTo>
                  <a:lnTo>
                    <a:pt x="215130" y="81780"/>
                  </a:lnTo>
                  <a:lnTo>
                    <a:pt x="123825" y="173084"/>
                  </a:lnTo>
                  <a:lnTo>
                    <a:pt x="89670" y="138930"/>
                  </a:lnTo>
                  <a:lnTo>
                    <a:pt x="62730" y="165870"/>
                  </a:lnTo>
                  <a:lnTo>
                    <a:pt x="123825" y="226966"/>
                  </a:lnTo>
                  <a:lnTo>
                    <a:pt x="242070" y="108720"/>
                  </a:lnTo>
                  <a:close/>
                </a:path>
              </a:pathLst>
            </a:custGeom>
            <a:solidFill>
              <a:srgbClr val="1A3C5E"/>
            </a:solidFill>
            <a:ln>
              <a:noFill/>
            </a:ln>
            <a:effectLst>
              <a:outerShdw blurRad="76200" dist="19050" dir="5400000" algn="ctr" rotWithShape="0">
                <a:srgbClr val="0F172A">
                  <a:alpha val="3750"/>
                </a:srgbClr>
              </a:outerShdw>
            </a:effectLst>
          </p:spPr>
        </p:sp>
        <p:sp>
          <p:nvSpPr>
            <p:cNvPr id="21" name="TextBox 21"/>
            <p:cNvSpPr txBox="1"/>
            <p:nvPr/>
          </p:nvSpPr>
          <p:spPr>
            <a:xfrm>
              <a:off x="7175182" y="1653064"/>
              <a:ext cx="2820734"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75" dirty="0">
                  <a:solidFill>
                    <a:srgbClr val="2D2D2D"/>
                  </a:solidFill>
                  <a:latin typeface="Arial"/>
                  <a:ea typeface="Microsoft YaHei"/>
                  <a:cs typeface="Arial"/>
                </a:rPr>
                <a:t>全局层: 博弈论/分布式强化学习进行</a:t>
              </a:r>
            </a:p>
          </p:txBody>
        </p:sp>
        <p:sp>
          <p:nvSpPr>
            <p:cNvPr id="22" name="TextBox 22"/>
            <p:cNvSpPr txBox="1"/>
            <p:nvPr/>
          </p:nvSpPr>
          <p:spPr>
            <a:xfrm>
              <a:off x="7175182" y="1938814"/>
              <a:ext cx="2072640"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75" dirty="0">
                  <a:solidFill>
                    <a:srgbClr val="2D2D2D"/>
                  </a:solidFill>
                  <a:latin typeface="Arial"/>
                  <a:ea typeface="Microsoft YaHei"/>
                  <a:cs typeface="Arial"/>
                </a:rPr>
                <a:t>任务分配与粗粒度路径规划</a:t>
              </a:r>
            </a:p>
          </p:txBody>
        </p:sp>
        <p:sp>
          <p:nvSpPr>
            <p:cNvPr id="23" name="TextBox 23"/>
            <p:cNvSpPr txBox="1"/>
            <p:nvPr/>
          </p:nvSpPr>
          <p:spPr>
            <a:xfrm>
              <a:off x="7175182" y="2224564"/>
              <a:ext cx="2727222"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75" dirty="0">
                  <a:solidFill>
                    <a:srgbClr val="2D2D2D"/>
                  </a:solidFill>
                  <a:latin typeface="Arial"/>
                  <a:ea typeface="Microsoft YaHei"/>
                  <a:cs typeface="Arial"/>
                </a:rPr>
                <a:t>局部层: 基于实时感知的自主避障与</a:t>
              </a:r>
            </a:p>
          </p:txBody>
        </p:sp>
        <p:sp>
          <p:nvSpPr>
            <p:cNvPr id="24" name="TextBox 24"/>
            <p:cNvSpPr txBox="1"/>
            <p:nvPr/>
          </p:nvSpPr>
          <p:spPr>
            <a:xfrm>
              <a:off x="7175182" y="2510314"/>
              <a:ext cx="2336173"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75" dirty="0">
                  <a:solidFill>
                    <a:srgbClr val="2D2D2D"/>
                  </a:solidFill>
                  <a:latin typeface="Arial"/>
                  <a:ea typeface="Microsoft YaHei"/>
                  <a:cs typeface="Arial"/>
                </a:rPr>
                <a:t>灵巧穿行 (MPPI在线轨迹规划)</a:t>
              </a:r>
            </a:p>
          </p:txBody>
        </p:sp>
      </p:grpSp>
      <p:grpSp>
        <p:nvGrpSpPr>
          <p:cNvPr id="40" name="Group 40"/>
          <p:cNvGrpSpPr/>
          <p:nvPr/>
        </p:nvGrpSpPr>
        <p:grpSpPr>
          <a:xfrm>
            <a:off x="571500" y="3619500"/>
            <a:ext cx="11049000" cy="2476500"/>
            <a:chOff x="571500" y="3619500"/>
            <a:chExt cx="11049000" cy="2476500"/>
          </a:xfrm>
          <a:effectLst>
            <a:outerShdw blurRad="76200" dist="19050" dir="5400000" algn="ctr" rotWithShape="0">
              <a:srgbClr val="0F172A">
                <a:alpha val="3750"/>
              </a:srgbClr>
            </a:outerShdw>
          </a:effectLst>
        </p:grpSpPr>
        <p:sp>
          <p:nvSpPr>
            <p:cNvPr id="26" name="Rectangle 26"/>
            <p:cNvSpPr/>
            <p:nvPr/>
          </p:nvSpPr>
          <p:spPr>
            <a:xfrm>
              <a:off x="571500" y="3619500"/>
              <a:ext cx="11049000" cy="2476500"/>
            </a:xfrm>
            <a:prstGeom prst="roundRect">
              <a:avLst>
                <a:gd name="adj" fmla="val 3077"/>
              </a:avLst>
            </a:prstGeom>
            <a:solidFill>
              <a:srgbClr val="FFFFFF"/>
            </a:solidFill>
            <a:ln w="9525">
              <a:solidFill>
                <a:srgbClr val="D4C5C5"/>
              </a:solidFill>
            </a:ln>
            <a:effectLst>
              <a:outerShdw blurRad="76200" dist="19050" dir="5400000" algn="ctr" rotWithShape="0">
                <a:srgbClr val="0F172A">
                  <a:alpha val="3750"/>
                </a:srgbClr>
              </a:outerShdw>
            </a:effectLst>
          </p:spPr>
        </p:sp>
        <p:sp>
          <p:nvSpPr>
            <p:cNvPr id="27" name="TextBox 27"/>
            <p:cNvSpPr txBox="1"/>
            <p:nvPr/>
          </p:nvSpPr>
          <p:spPr>
            <a:xfrm>
              <a:off x="4354014" y="3854768"/>
              <a:ext cx="3483971" cy="27432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350" b="1" dirty="0">
                  <a:solidFill>
                    <a:srgbClr val="8B0000"/>
                  </a:solidFill>
                  <a:latin typeface="Arial"/>
                  <a:ea typeface="Microsoft YaHei"/>
                  <a:cs typeface="Arial"/>
                </a:rPr>
                <a:t>"全局指导局部, 局部反馈全局" 双重闭环</a:t>
              </a:r>
            </a:p>
          </p:txBody>
        </p:sp>
        <p:sp>
          <p:nvSpPr>
            <p:cNvPr id="28" name="Rectangle 28"/>
            <p:cNvSpPr/>
            <p:nvPr/>
          </p:nvSpPr>
          <p:spPr>
            <a:xfrm>
              <a:off x="2857500" y="4171950"/>
              <a:ext cx="6477000" cy="9525"/>
            </a:xfrm>
            <a:prstGeom prst="rect">
              <a:avLst/>
            </a:prstGeom>
            <a:solidFill>
              <a:srgbClr val="D4C5C5"/>
            </a:solidFill>
            <a:ln>
              <a:noFill/>
            </a:ln>
            <a:effectLst>
              <a:outerShdw blurRad="76200" dist="19050" dir="5400000" algn="ctr" rotWithShape="0">
                <a:srgbClr val="0F172A">
                  <a:alpha val="3750"/>
                </a:srgbClr>
              </a:outerShdw>
            </a:effectLst>
          </p:spPr>
        </p:sp>
        <p:sp>
          <p:nvSpPr>
            <p:cNvPr id="29" name="Rectangle 29"/>
            <p:cNvSpPr/>
            <p:nvPr/>
          </p:nvSpPr>
          <p:spPr>
            <a:xfrm>
              <a:off x="952500" y="4429125"/>
              <a:ext cx="4476750" cy="1428750"/>
            </a:xfrm>
            <a:prstGeom prst="roundRect">
              <a:avLst>
                <a:gd name="adj" fmla="val 5333"/>
              </a:avLst>
            </a:prstGeom>
            <a:solidFill>
              <a:srgbClr val="F8F2F2"/>
            </a:solidFill>
            <a:ln w="9525">
              <a:solidFill>
                <a:srgbClr val="D4C5C5"/>
              </a:solidFill>
            </a:ln>
            <a:effectLst>
              <a:outerShdw blurRad="76200" dist="19050" dir="5400000" algn="ctr" rotWithShape="0">
                <a:srgbClr val="0F172A">
                  <a:alpha val="3750"/>
                </a:srgbClr>
              </a:outerShdw>
            </a:effectLst>
          </p:spPr>
        </p:sp>
        <p:sp>
          <p:nvSpPr>
            <p:cNvPr id="30" name="TextBox 30"/>
            <p:cNvSpPr txBox="1"/>
            <p:nvPr/>
          </p:nvSpPr>
          <p:spPr>
            <a:xfrm>
              <a:off x="2190807" y="4664392"/>
              <a:ext cx="2000136" cy="27432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350" b="1" dirty="0">
                  <a:solidFill>
                    <a:srgbClr val="8B0000"/>
                  </a:solidFill>
                  <a:latin typeface="Arial"/>
                  <a:ea typeface="Microsoft YaHei"/>
                  <a:cs typeface="Arial"/>
                </a:rPr>
                <a:t>全局决策层 (群体层面)</a:t>
              </a:r>
            </a:p>
          </p:txBody>
        </p:sp>
        <p:sp>
          <p:nvSpPr>
            <p:cNvPr id="31" name="Rectangle 31"/>
            <p:cNvSpPr/>
            <p:nvPr/>
          </p:nvSpPr>
          <p:spPr>
            <a:xfrm>
              <a:off x="1238250" y="4953000"/>
              <a:ext cx="3905250" cy="714375"/>
            </a:xfrm>
            <a:prstGeom prst="roundRect">
              <a:avLst>
                <a:gd name="adj" fmla="val 8000"/>
              </a:avLst>
            </a:prstGeom>
            <a:solidFill>
              <a:srgbClr val="FFFFFF"/>
            </a:solidFill>
            <a:ln>
              <a:noFill/>
            </a:ln>
            <a:effectLst>
              <a:outerShdw blurRad="76200" dist="19050" dir="5400000" algn="ctr" rotWithShape="0">
                <a:srgbClr val="0F172A">
                  <a:alpha val="3750"/>
                </a:srgbClr>
              </a:outerShdw>
            </a:effectLst>
          </p:spPr>
        </p:sp>
        <p:sp>
          <p:nvSpPr>
            <p:cNvPr id="32" name="TextBox 32"/>
            <p:cNvSpPr txBox="1"/>
            <p:nvPr/>
          </p:nvSpPr>
          <p:spPr>
            <a:xfrm>
              <a:off x="2340233" y="5069681"/>
              <a:ext cx="1701284"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125" dirty="0">
                  <a:solidFill>
                    <a:srgbClr val="2D2D2D"/>
                  </a:solidFill>
                  <a:latin typeface="Arial"/>
                  <a:ea typeface="Microsoft YaHei"/>
                  <a:cs typeface="Arial"/>
                </a:rPr>
                <a:t>博弈论 / 分布式强化学习</a:t>
              </a:r>
            </a:p>
          </p:txBody>
        </p:sp>
        <p:sp>
          <p:nvSpPr>
            <p:cNvPr id="33" name="TextBox 33"/>
            <p:cNvSpPr txBox="1"/>
            <p:nvPr/>
          </p:nvSpPr>
          <p:spPr>
            <a:xfrm>
              <a:off x="2351484" y="5326856"/>
              <a:ext cx="1678781"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125" dirty="0">
                  <a:solidFill>
                    <a:srgbClr val="2D2D2D"/>
                  </a:solidFill>
                  <a:latin typeface="Arial"/>
                  <a:ea typeface="Microsoft YaHei"/>
                  <a:cs typeface="Arial"/>
                </a:rPr>
                <a:t>宏观任务分配与路径寻优</a:t>
              </a:r>
            </a:p>
          </p:txBody>
        </p:sp>
        <p:sp>
          <p:nvSpPr>
            <p:cNvPr id="34" name="TextBox 34"/>
            <p:cNvSpPr txBox="1"/>
            <p:nvPr/>
          </p:nvSpPr>
          <p:spPr>
            <a:xfrm>
              <a:off x="5702720" y="4916805"/>
              <a:ext cx="215060" cy="42672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2100" b="1" dirty="0">
                  <a:solidFill>
                    <a:srgbClr val="C41E3A"/>
                  </a:solidFill>
                  <a:latin typeface="Arial"/>
                  <a:ea typeface="Microsoft YaHei"/>
                  <a:cs typeface="Arial"/>
                </a:rPr>
                <a:t>↔</a:t>
              </a:r>
            </a:p>
          </p:txBody>
        </p:sp>
        <p:sp>
          <p:nvSpPr>
            <p:cNvPr id="35" name="Rectangle 35"/>
            <p:cNvSpPr/>
            <p:nvPr/>
          </p:nvSpPr>
          <p:spPr>
            <a:xfrm>
              <a:off x="6762750" y="4429125"/>
              <a:ext cx="4476750" cy="1428750"/>
            </a:xfrm>
            <a:prstGeom prst="roundRect">
              <a:avLst>
                <a:gd name="adj" fmla="val 5333"/>
              </a:avLst>
            </a:prstGeom>
            <a:solidFill>
              <a:srgbClr val="F0F4F8"/>
            </a:solidFill>
            <a:ln w="9525">
              <a:solidFill>
                <a:srgbClr val="D4C5C5"/>
              </a:solidFill>
            </a:ln>
            <a:effectLst>
              <a:outerShdw blurRad="76200" dist="19050" dir="5400000" algn="ctr" rotWithShape="0">
                <a:srgbClr val="0F172A">
                  <a:alpha val="3750"/>
                </a:srgbClr>
              </a:outerShdw>
            </a:effectLst>
          </p:spPr>
        </p:sp>
        <p:sp>
          <p:nvSpPr>
            <p:cNvPr id="36" name="TextBox 36"/>
            <p:cNvSpPr txBox="1"/>
            <p:nvPr/>
          </p:nvSpPr>
          <p:spPr>
            <a:xfrm>
              <a:off x="8001057" y="4664392"/>
              <a:ext cx="2000136" cy="27432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350" b="1" dirty="0">
                  <a:solidFill>
                    <a:srgbClr val="1A3C5E"/>
                  </a:solidFill>
                  <a:latin typeface="Arial"/>
                  <a:ea typeface="Microsoft YaHei"/>
                  <a:cs typeface="Arial"/>
                </a:rPr>
                <a:t>局部执行层 (个体层面)</a:t>
              </a:r>
            </a:p>
          </p:txBody>
        </p:sp>
        <p:sp>
          <p:nvSpPr>
            <p:cNvPr id="37" name="Rectangle 37"/>
            <p:cNvSpPr/>
            <p:nvPr/>
          </p:nvSpPr>
          <p:spPr>
            <a:xfrm>
              <a:off x="7048500" y="4953000"/>
              <a:ext cx="3905250" cy="714375"/>
            </a:xfrm>
            <a:prstGeom prst="roundRect">
              <a:avLst>
                <a:gd name="adj" fmla="val 8000"/>
              </a:avLst>
            </a:prstGeom>
            <a:solidFill>
              <a:srgbClr val="FFFFFF"/>
            </a:solidFill>
            <a:ln>
              <a:noFill/>
            </a:ln>
            <a:effectLst>
              <a:outerShdw blurRad="76200" dist="19050" dir="5400000" algn="ctr" rotWithShape="0">
                <a:srgbClr val="0F172A">
                  <a:alpha val="3750"/>
                </a:srgbClr>
              </a:outerShdw>
            </a:effectLst>
          </p:spPr>
        </p:sp>
        <p:sp>
          <p:nvSpPr>
            <p:cNvPr id="38" name="TextBox 38"/>
            <p:cNvSpPr txBox="1"/>
            <p:nvPr/>
          </p:nvSpPr>
          <p:spPr>
            <a:xfrm>
              <a:off x="7996714" y="5069681"/>
              <a:ext cx="2008822"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125" dirty="0">
                  <a:solidFill>
                    <a:srgbClr val="2D2D2D"/>
                  </a:solidFill>
                  <a:latin typeface="Arial"/>
                  <a:ea typeface="Microsoft YaHei"/>
                  <a:cs typeface="Arial"/>
                </a:rPr>
                <a:t>MPPI在线轨迹规划 (GPU加速)</a:t>
              </a:r>
            </a:p>
          </p:txBody>
        </p:sp>
        <p:sp>
          <p:nvSpPr>
            <p:cNvPr id="39" name="TextBox 39"/>
            <p:cNvSpPr txBox="1"/>
            <p:nvPr/>
          </p:nvSpPr>
          <p:spPr>
            <a:xfrm>
              <a:off x="8300502" y="5326856"/>
              <a:ext cx="1401247"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125" dirty="0">
                  <a:solidFill>
                    <a:srgbClr val="2D2D2D"/>
                  </a:solidFill>
                  <a:latin typeface="Arial"/>
                  <a:ea typeface="Microsoft YaHei"/>
                  <a:cs typeface="Arial"/>
                </a:rPr>
                <a:t>自主避障 + 灵巧穿行</a:t>
              </a:r>
            </a:p>
          </p:txBody>
        </p:sp>
      </p:grpSp>
      <p:grpSp>
        <p:nvGrpSpPr>
          <p:cNvPr id="44" name="Group 44"/>
          <p:cNvGrpSpPr/>
          <p:nvPr/>
        </p:nvGrpSpPr>
        <p:grpSpPr>
          <a:xfrm>
            <a:off x="0" y="6578441"/>
            <a:ext cx="12192000" cy="279559"/>
            <a:chOff x="0" y="6578441"/>
            <a:chExt cx="12192000" cy="279559"/>
          </a:xfrm>
        </p:grpSpPr>
        <p:sp>
          <p:nvSpPr>
            <p:cNvPr id="41" name="Rectangle 41"/>
            <p:cNvSpPr/>
            <p:nvPr/>
          </p:nvSpPr>
          <p:spPr>
            <a:xfrm>
              <a:off x="0" y="6819900"/>
              <a:ext cx="12192000" cy="38100"/>
            </a:xfrm>
            <a:prstGeom prst="rect">
              <a:avLst/>
            </a:prstGeom>
            <a:solidFill>
              <a:srgbClr val="D4C5C5"/>
            </a:solidFill>
            <a:ln>
              <a:noFill/>
            </a:ln>
          </p:spPr>
        </p:sp>
        <p:sp>
          <p:nvSpPr>
            <p:cNvPr id="42" name="TextBox 42"/>
            <p:cNvSpPr txBox="1"/>
            <p:nvPr/>
          </p:nvSpPr>
          <p:spPr>
            <a:xfrm>
              <a:off x="11296483" y="6578441"/>
              <a:ext cx="334494" cy="167640"/>
            </a:xfrm>
            <a:prstGeom prst="rect">
              <a:avLst/>
            </a:prstGeom>
            <a:noFill/>
            <a:ln>
              <a:noFill/>
            </a:ln>
          </p:spPr>
          <p:txBody>
            <a:bodyPr wrap="none" lIns="0" tIns="0" rIns="0" bIns="0" anchor="t" anchorCtr="0">
              <a:spAutoFit/>
            </a:bodyPr>
            <a:lstStyle/>
            <a:p>
              <a:pPr algn="r"/>
              <a:r>
                <a:rPr lang="zh-CN" sz="825" dirty="0">
                  <a:solidFill>
                    <a:srgbClr val="999999"/>
                  </a:solidFill>
                  <a:latin typeface="Arial"/>
                  <a:ea typeface="Microsoft YaHei"/>
                  <a:cs typeface="Arial"/>
                </a:rPr>
                <a:t>10 / 16</a:t>
              </a:r>
            </a:p>
          </p:txBody>
        </p:sp>
        <p:sp>
          <p:nvSpPr>
            <p:cNvPr id="43" name="TextBox 43"/>
            <p:cNvSpPr txBox="1"/>
            <p:nvPr/>
          </p:nvSpPr>
          <p:spPr>
            <a:xfrm>
              <a:off x="561022" y="6578441"/>
              <a:ext cx="1814179" cy="167640"/>
            </a:xfrm>
            <a:prstGeom prst="rect">
              <a:avLst/>
            </a:prstGeom>
            <a:noFill/>
            <a:ln>
              <a:noFill/>
            </a:ln>
          </p:spPr>
          <p:txBody>
            <a:bodyPr wrap="none" lIns="0" tIns="0" rIns="0" bIns="0" anchor="t" anchorCtr="0">
              <a:spAutoFit/>
            </a:bodyPr>
            <a:lstStyle/>
            <a:p>
              <a:pPr algn="l"/>
              <a:r>
                <a:rPr lang="zh-CN" sz="825" dirty="0">
                  <a:solidFill>
                    <a:srgbClr val="999999"/>
                  </a:solidFill>
                  <a:latin typeface="Arial"/>
                  <a:ea typeface="Microsoft YaHei"/>
                  <a:cs typeface="Arial"/>
                </a:rPr>
                <a:t>华中科技大学 人工智能与自动化学院</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slide(fromBottom)">
                                      <p:cBhvr>
                                        <p:cTn id="7" dur="400"/>
                                        <p:tgtEl>
                                          <p:spTgt spid="16"/>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image">
                                      <p:cBhvr>
                                        <p:cTn id="11" dur="400"/>
                                        <p:tgtEl>
                                          <p:spTgt spid="25"/>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fade">
                                      <p:cBhvr>
                                        <p:cTn id="15"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5" grpId="0"/>
      <p:bldP spid="4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gradFill>
              <a:gsLst>
                <a:gs pos="0">
                  <a:srgbClr val="8B0000"/>
                </a:gs>
                <a:gs pos="100000">
                  <a:srgbClr val="C41E3A"/>
                </a:gs>
              </a:gsLst>
              <a:lin ang="0" scaled="1"/>
            </a:gradFill>
            <a:ln>
              <a:noFill/>
            </a:ln>
          </p:spPr>
        </p:sp>
      </p:grpSp>
      <p:grpSp>
        <p:nvGrpSpPr>
          <p:cNvPr id="7" name="Group 7"/>
          <p:cNvGrpSpPr/>
          <p:nvPr/>
        </p:nvGrpSpPr>
        <p:grpSpPr>
          <a:xfrm>
            <a:off x="731520" y="264795"/>
            <a:ext cx="6395352" cy="487680"/>
            <a:chOff x="731520" y="264795"/>
            <a:chExt cx="6395352" cy="487680"/>
          </a:xfrm>
        </p:grpSpPr>
        <p:sp>
          <p:nvSpPr>
            <p:cNvPr id="5" name="TextBox 5"/>
            <p:cNvSpPr txBox="1"/>
            <p:nvPr/>
          </p:nvSpPr>
          <p:spPr>
            <a:xfrm>
              <a:off x="731520" y="264795"/>
              <a:ext cx="6395352" cy="487680"/>
            </a:xfrm>
            <a:prstGeom prst="rect">
              <a:avLst/>
            </a:prstGeom>
            <a:noFill/>
            <a:ln>
              <a:noFill/>
            </a:ln>
          </p:spPr>
          <p:txBody>
            <a:bodyPr wrap="none" lIns="0" tIns="0" rIns="0" bIns="0" anchor="t" anchorCtr="0">
              <a:spAutoFit/>
            </a:bodyPr>
            <a:lstStyle/>
            <a:p>
              <a:pPr algn="l"/>
              <a:r>
                <a:rPr lang="zh-CN" sz="2400" b="1" dirty="0">
                  <a:solidFill>
                    <a:srgbClr val="8B0000"/>
                  </a:solidFill>
                  <a:latin typeface="Arial"/>
                  <a:ea typeface="Microsoft YaHei"/>
                  <a:cs typeface="Arial"/>
                </a:rPr>
                <a:t>关键问题三: 异构平台协同控制与跨域衔接</a:t>
              </a:r>
            </a:p>
          </p:txBody>
        </p:sp>
        <p:sp>
          <p:nvSpPr>
            <p:cNvPr id="6" name="Rectangle 6"/>
            <p:cNvSpPr/>
            <p:nvPr/>
          </p:nvSpPr>
          <p:spPr>
            <a:xfrm>
              <a:off x="762000" y="647700"/>
              <a:ext cx="476250" cy="28575"/>
            </a:xfrm>
            <a:prstGeom prst="rect">
              <a:avLst/>
            </a:prstGeom>
            <a:solidFill>
              <a:srgbClr val="C41E3A"/>
            </a:solidFill>
            <a:ln>
              <a:noFill/>
            </a:ln>
          </p:spPr>
        </p:sp>
      </p:grpSp>
      <p:grpSp>
        <p:nvGrpSpPr>
          <p:cNvPr id="16" name="Group 16"/>
          <p:cNvGrpSpPr/>
          <p:nvPr/>
        </p:nvGrpSpPr>
        <p:grpSpPr>
          <a:xfrm>
            <a:off x="571500" y="1047750"/>
            <a:ext cx="5334000" cy="2095500"/>
            <a:chOff x="571500" y="1047750"/>
            <a:chExt cx="5334000" cy="2095500"/>
          </a:xfrm>
          <a:effectLst>
            <a:outerShdw blurRad="76200" dist="19050" dir="5400000" algn="ctr" rotWithShape="0">
              <a:srgbClr val="0F172A">
                <a:alpha val="3750"/>
              </a:srgbClr>
            </a:outerShdw>
          </a:effectLst>
        </p:grpSpPr>
        <p:sp>
          <p:nvSpPr>
            <p:cNvPr id="8" name="Rectangle 8"/>
            <p:cNvSpPr/>
            <p:nvPr/>
          </p:nvSpPr>
          <p:spPr>
            <a:xfrm>
              <a:off x="571500" y="1047750"/>
              <a:ext cx="5334000" cy="2095500"/>
            </a:xfrm>
            <a:prstGeom prst="roundRect">
              <a:avLst>
                <a:gd name="adj" fmla="val 3636"/>
              </a:avLst>
            </a:prstGeom>
            <a:solidFill>
              <a:srgbClr val="FFF5F5"/>
            </a:solidFill>
            <a:ln w="9525">
              <a:solidFill>
                <a:srgbClr val="D4C5C5"/>
              </a:solidFill>
            </a:ln>
            <a:effectLst>
              <a:outerShdw blurRad="76200" dist="19050" dir="5400000" algn="ctr" rotWithShape="0">
                <a:srgbClr val="0F172A">
                  <a:alpha val="3750"/>
                </a:srgbClr>
              </a:outerShdw>
            </a:effectLst>
          </p:spPr>
        </p:sp>
        <p:sp>
          <p:nvSpPr>
            <p:cNvPr id="9" name="Rectangle 9"/>
            <p:cNvSpPr/>
            <p:nvPr/>
          </p:nvSpPr>
          <p:spPr>
            <a:xfrm>
              <a:off x="571500" y="1047750"/>
              <a:ext cx="57150" cy="2095500"/>
            </a:xfrm>
            <a:prstGeom prst="roundRect">
              <a:avLst>
                <a:gd name="adj" fmla="val 50000"/>
              </a:avLst>
            </a:prstGeom>
            <a:solidFill>
              <a:srgbClr val="C41E3A"/>
            </a:solidFill>
            <a:ln>
              <a:noFill/>
            </a:ln>
            <a:effectLst>
              <a:outerShdw blurRad="76200" dist="19050" dir="5400000" algn="ctr" rotWithShape="0">
                <a:srgbClr val="0F172A">
                  <a:alpha val="3750"/>
                </a:srgbClr>
              </a:outerShdw>
            </a:effectLst>
          </p:spPr>
        </p:sp>
        <p:sp>
          <p:nvSpPr>
            <p:cNvPr id="10" name="TextBox 10"/>
            <p:cNvSpPr txBox="1"/>
            <p:nvPr/>
          </p:nvSpPr>
          <p:spPr>
            <a:xfrm>
              <a:off x="933450" y="1219200"/>
              <a:ext cx="878205" cy="3048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500" b="1" dirty="0">
                  <a:solidFill>
                    <a:srgbClr val="8B0000"/>
                  </a:solidFill>
                  <a:latin typeface="Arial"/>
                  <a:ea typeface="Microsoft YaHei"/>
                  <a:cs typeface="Arial"/>
                </a:rPr>
                <a:t>问题分析</a:t>
              </a:r>
            </a:p>
          </p:txBody>
        </p:sp>
        <p:sp>
          <p:nvSpPr>
            <p:cNvPr id="11" name="Freeform 11"/>
            <p:cNvSpPr/>
            <p:nvPr/>
          </p:nvSpPr>
          <p:spPr>
            <a:xfrm>
              <a:off x="1047750" y="1695450"/>
              <a:ext cx="304800" cy="285750"/>
            </a:xfrm>
            <a:custGeom>
              <a:avLst/>
              <a:gdLst/>
              <a:ahLst/>
              <a:cxnLst/>
              <a:rect l="l" t="t" r="r" b="b"/>
              <a:pathLst>
                <a:path w="304800" h="285750">
                  <a:moveTo>
                    <a:pt x="304800" y="285750"/>
                  </a:moveTo>
                  <a:lnTo>
                    <a:pt x="0" y="285750"/>
                  </a:lnTo>
                  <a:lnTo>
                    <a:pt x="0" y="228600"/>
                  </a:lnTo>
                  <a:lnTo>
                    <a:pt x="133350" y="0"/>
                  </a:lnTo>
                  <a:lnTo>
                    <a:pt x="171450" y="0"/>
                  </a:lnTo>
                  <a:lnTo>
                    <a:pt x="304800" y="228600"/>
                  </a:lnTo>
                  <a:lnTo>
                    <a:pt x="304800" y="285750"/>
                  </a:lnTo>
                  <a:close/>
                  <a:moveTo>
                    <a:pt x="133350" y="76200"/>
                  </a:moveTo>
                  <a:lnTo>
                    <a:pt x="171450" y="76200"/>
                  </a:lnTo>
                  <a:lnTo>
                    <a:pt x="171450" y="171450"/>
                  </a:lnTo>
                  <a:lnTo>
                    <a:pt x="133350" y="171450"/>
                  </a:lnTo>
                  <a:lnTo>
                    <a:pt x="133350" y="76200"/>
                  </a:lnTo>
                  <a:close/>
                  <a:moveTo>
                    <a:pt x="133350" y="209550"/>
                  </a:moveTo>
                  <a:lnTo>
                    <a:pt x="171450" y="209550"/>
                  </a:lnTo>
                  <a:lnTo>
                    <a:pt x="171450" y="247650"/>
                  </a:lnTo>
                  <a:lnTo>
                    <a:pt x="133350" y="247650"/>
                  </a:lnTo>
                  <a:lnTo>
                    <a:pt x="133350" y="209550"/>
                  </a:lnTo>
                  <a:close/>
                </a:path>
              </a:pathLst>
            </a:custGeom>
            <a:solidFill>
              <a:srgbClr val="C41E3A"/>
            </a:solidFill>
            <a:ln>
              <a:noFill/>
            </a:ln>
            <a:effectLst>
              <a:outerShdw blurRad="76200" dist="19050" dir="5400000" algn="ctr" rotWithShape="0">
                <a:srgbClr val="0F172A">
                  <a:alpha val="3750"/>
                </a:srgbClr>
              </a:outerShdw>
            </a:effectLst>
          </p:spPr>
        </p:sp>
        <p:sp>
          <p:nvSpPr>
            <p:cNvPr id="12" name="TextBox 12"/>
            <p:cNvSpPr txBox="1"/>
            <p:nvPr/>
          </p:nvSpPr>
          <p:spPr>
            <a:xfrm>
              <a:off x="1460182" y="1653064"/>
              <a:ext cx="2820733"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75" dirty="0">
                  <a:solidFill>
                    <a:srgbClr val="2D2D2D"/>
                  </a:solidFill>
                  <a:latin typeface="Arial"/>
                  <a:ea typeface="Microsoft YaHei"/>
                  <a:cs typeface="Arial"/>
                </a:rPr>
                <a:t>无人机 (空) 与机器狗 (地) 系统异构</a:t>
              </a:r>
            </a:p>
          </p:txBody>
        </p:sp>
        <p:sp>
          <p:nvSpPr>
            <p:cNvPr id="13" name="TextBox 13"/>
            <p:cNvSpPr txBox="1"/>
            <p:nvPr/>
          </p:nvSpPr>
          <p:spPr>
            <a:xfrm>
              <a:off x="1460182" y="1938814"/>
              <a:ext cx="2752725"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75" dirty="0">
                  <a:solidFill>
                    <a:srgbClr val="2D2D2D"/>
                  </a:solidFill>
                  <a:latin typeface="Arial"/>
                  <a:ea typeface="Microsoft YaHei"/>
                  <a:cs typeface="Arial"/>
                </a:rPr>
                <a:t>运动模型、传感器配置、算力差异大</a:t>
              </a:r>
            </a:p>
          </p:txBody>
        </p:sp>
        <p:sp>
          <p:nvSpPr>
            <p:cNvPr id="14" name="TextBox 14"/>
            <p:cNvSpPr txBox="1"/>
            <p:nvPr/>
          </p:nvSpPr>
          <p:spPr>
            <a:xfrm>
              <a:off x="1460182" y="2224564"/>
              <a:ext cx="2412682"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75" dirty="0">
                  <a:solidFill>
                    <a:srgbClr val="2D2D2D"/>
                  </a:solidFill>
                  <a:latin typeface="Arial"/>
                  <a:ea typeface="Microsoft YaHei"/>
                  <a:cs typeface="Arial"/>
                </a:rPr>
                <a:t>空地指令语义与行为映射不一致</a:t>
              </a:r>
            </a:p>
          </p:txBody>
        </p:sp>
        <p:sp>
          <p:nvSpPr>
            <p:cNvPr id="15" name="TextBox 15"/>
            <p:cNvSpPr txBox="1"/>
            <p:nvPr/>
          </p:nvSpPr>
          <p:spPr>
            <a:xfrm>
              <a:off x="1460182" y="2510314"/>
              <a:ext cx="2242661"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75" dirty="0">
                  <a:solidFill>
                    <a:srgbClr val="2D2D2D"/>
                  </a:solidFill>
                  <a:latin typeface="Arial"/>
                  <a:ea typeface="Microsoft YaHei"/>
                  <a:cs typeface="Arial"/>
                </a:rPr>
                <a:t>缺乏统一的协同任务描述框架</a:t>
              </a:r>
            </a:p>
          </p:txBody>
        </p:sp>
      </p:grpSp>
      <p:grpSp>
        <p:nvGrpSpPr>
          <p:cNvPr id="25" name="Group 25"/>
          <p:cNvGrpSpPr/>
          <p:nvPr/>
        </p:nvGrpSpPr>
        <p:grpSpPr>
          <a:xfrm>
            <a:off x="6286500" y="1047750"/>
            <a:ext cx="5334000" cy="2095500"/>
            <a:chOff x="6286500" y="1047750"/>
            <a:chExt cx="5334000" cy="2095500"/>
          </a:xfrm>
          <a:effectLst>
            <a:outerShdw blurRad="76200" dist="19050" dir="5400000" algn="ctr" rotWithShape="0">
              <a:srgbClr val="0F172A">
                <a:alpha val="3750"/>
              </a:srgbClr>
            </a:outerShdw>
          </a:effectLst>
        </p:grpSpPr>
        <p:sp>
          <p:nvSpPr>
            <p:cNvPr id="17" name="Rectangle 17"/>
            <p:cNvSpPr/>
            <p:nvPr/>
          </p:nvSpPr>
          <p:spPr>
            <a:xfrm>
              <a:off x="6286500" y="1047750"/>
              <a:ext cx="5334000" cy="2095500"/>
            </a:xfrm>
            <a:prstGeom prst="roundRect">
              <a:avLst>
                <a:gd name="adj" fmla="val 3636"/>
              </a:avLst>
            </a:prstGeom>
            <a:solidFill>
              <a:srgbClr val="F0F4F8"/>
            </a:solidFill>
            <a:ln w="9525">
              <a:solidFill>
                <a:srgbClr val="D4C5C5"/>
              </a:solidFill>
            </a:ln>
            <a:effectLst>
              <a:outerShdw blurRad="76200" dist="19050" dir="5400000" algn="ctr" rotWithShape="0">
                <a:srgbClr val="0F172A">
                  <a:alpha val="3750"/>
                </a:srgbClr>
              </a:outerShdw>
            </a:effectLst>
          </p:spPr>
        </p:sp>
        <p:sp>
          <p:nvSpPr>
            <p:cNvPr id="18" name="Rectangle 18"/>
            <p:cNvSpPr/>
            <p:nvPr/>
          </p:nvSpPr>
          <p:spPr>
            <a:xfrm>
              <a:off x="6286500" y="1047750"/>
              <a:ext cx="57150" cy="2095500"/>
            </a:xfrm>
            <a:prstGeom prst="roundRect">
              <a:avLst>
                <a:gd name="adj" fmla="val 50000"/>
              </a:avLst>
            </a:prstGeom>
            <a:solidFill>
              <a:srgbClr val="1A3C5E"/>
            </a:solidFill>
            <a:ln>
              <a:noFill/>
            </a:ln>
            <a:effectLst>
              <a:outerShdw blurRad="76200" dist="19050" dir="5400000" algn="ctr" rotWithShape="0">
                <a:srgbClr val="0F172A">
                  <a:alpha val="3750"/>
                </a:srgbClr>
              </a:outerShdw>
            </a:effectLst>
          </p:spPr>
        </p:sp>
        <p:sp>
          <p:nvSpPr>
            <p:cNvPr id="19" name="TextBox 19"/>
            <p:cNvSpPr txBox="1"/>
            <p:nvPr/>
          </p:nvSpPr>
          <p:spPr>
            <a:xfrm>
              <a:off x="6648450" y="1219200"/>
              <a:ext cx="878205" cy="3048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500" b="1" dirty="0">
                  <a:solidFill>
                    <a:srgbClr val="1A3C5E"/>
                  </a:solidFill>
                  <a:latin typeface="Arial"/>
                  <a:ea typeface="Microsoft YaHei"/>
                  <a:cs typeface="Arial"/>
                </a:rPr>
                <a:t>解决方案</a:t>
              </a:r>
            </a:p>
          </p:txBody>
        </p:sp>
        <p:sp>
          <p:nvSpPr>
            <p:cNvPr id="20" name="Freeform 20"/>
            <p:cNvSpPr/>
            <p:nvPr/>
          </p:nvSpPr>
          <p:spPr>
            <a:xfrm>
              <a:off x="6762750" y="1695450"/>
              <a:ext cx="304800" cy="304800"/>
            </a:xfrm>
            <a:custGeom>
              <a:avLst/>
              <a:gdLst/>
              <a:ahLst/>
              <a:cxnLst/>
              <a:rect l="l" t="t" r="r" b="b"/>
              <a:pathLst>
                <a:path w="304800" h="304800">
                  <a:moveTo>
                    <a:pt x="152400" y="304800"/>
                  </a:moveTo>
                  <a:cubicBezTo>
                    <a:pt x="236569" y="304800"/>
                    <a:pt x="304800" y="236569"/>
                    <a:pt x="304800" y="152400"/>
                  </a:cubicBezTo>
                  <a:cubicBezTo>
                    <a:pt x="304800" y="68232"/>
                    <a:pt x="236569" y="0"/>
                    <a:pt x="152400" y="0"/>
                  </a:cubicBezTo>
                  <a:cubicBezTo>
                    <a:pt x="68232" y="0"/>
                    <a:pt x="0" y="68232"/>
                    <a:pt x="0" y="152400"/>
                  </a:cubicBezTo>
                  <a:cubicBezTo>
                    <a:pt x="0" y="236569"/>
                    <a:pt x="68232" y="304800"/>
                    <a:pt x="152400" y="304800"/>
                  </a:cubicBezTo>
                  <a:close/>
                  <a:moveTo>
                    <a:pt x="242070" y="108720"/>
                  </a:moveTo>
                  <a:lnTo>
                    <a:pt x="215130" y="81780"/>
                  </a:lnTo>
                  <a:lnTo>
                    <a:pt x="123825" y="173084"/>
                  </a:lnTo>
                  <a:lnTo>
                    <a:pt x="89670" y="138930"/>
                  </a:lnTo>
                  <a:lnTo>
                    <a:pt x="62730" y="165870"/>
                  </a:lnTo>
                  <a:lnTo>
                    <a:pt x="123825" y="226966"/>
                  </a:lnTo>
                  <a:lnTo>
                    <a:pt x="242070" y="108720"/>
                  </a:lnTo>
                  <a:close/>
                </a:path>
              </a:pathLst>
            </a:custGeom>
            <a:solidFill>
              <a:srgbClr val="1A3C5E"/>
            </a:solidFill>
            <a:ln>
              <a:noFill/>
            </a:ln>
            <a:effectLst>
              <a:outerShdw blurRad="76200" dist="19050" dir="5400000" algn="ctr" rotWithShape="0">
                <a:srgbClr val="0F172A">
                  <a:alpha val="3750"/>
                </a:srgbClr>
              </a:outerShdw>
            </a:effectLst>
          </p:spPr>
        </p:sp>
        <p:sp>
          <p:nvSpPr>
            <p:cNvPr id="21" name="TextBox 21"/>
            <p:cNvSpPr txBox="1"/>
            <p:nvPr/>
          </p:nvSpPr>
          <p:spPr>
            <a:xfrm>
              <a:off x="7175182" y="1653064"/>
              <a:ext cx="2582704"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75" dirty="0">
                  <a:solidFill>
                    <a:srgbClr val="2D2D2D"/>
                  </a:solidFill>
                  <a:latin typeface="Arial"/>
                  <a:ea typeface="Microsoft YaHei"/>
                  <a:cs typeface="Arial"/>
                </a:rPr>
                <a:t>设计统一协同任务描述语言与接口</a:t>
              </a:r>
            </a:p>
          </p:txBody>
        </p:sp>
        <p:sp>
          <p:nvSpPr>
            <p:cNvPr id="22" name="TextBox 22"/>
            <p:cNvSpPr txBox="1"/>
            <p:nvPr/>
          </p:nvSpPr>
          <p:spPr>
            <a:xfrm>
              <a:off x="7175182" y="1938814"/>
              <a:ext cx="2582704"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75" dirty="0">
                  <a:solidFill>
                    <a:srgbClr val="2D2D2D"/>
                  </a:solidFill>
                  <a:latin typeface="Arial"/>
                  <a:ea typeface="Microsoft YaHei"/>
                  <a:cs typeface="Arial"/>
                </a:rPr>
                <a:t>研究空地协同指令翻译与行为映射</a:t>
              </a:r>
            </a:p>
          </p:txBody>
        </p:sp>
        <p:sp>
          <p:nvSpPr>
            <p:cNvPr id="23" name="TextBox 23"/>
            <p:cNvSpPr txBox="1"/>
            <p:nvPr/>
          </p:nvSpPr>
          <p:spPr>
            <a:xfrm>
              <a:off x="7175182" y="2224564"/>
              <a:ext cx="2412682"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75" dirty="0">
                  <a:solidFill>
                    <a:srgbClr val="2D2D2D"/>
                  </a:solidFill>
                  <a:latin typeface="Arial"/>
                  <a:ea typeface="Microsoft YaHei"/>
                  <a:cs typeface="Arial"/>
                </a:rPr>
                <a:t>确保异构平台理解执行统一策略</a:t>
              </a:r>
            </a:p>
          </p:txBody>
        </p:sp>
        <p:sp>
          <p:nvSpPr>
            <p:cNvPr id="24" name="TextBox 24"/>
            <p:cNvSpPr txBox="1"/>
            <p:nvPr/>
          </p:nvSpPr>
          <p:spPr>
            <a:xfrm>
              <a:off x="7175182" y="2510314"/>
              <a:ext cx="2446687"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75" dirty="0">
                  <a:solidFill>
                    <a:srgbClr val="2D2D2D"/>
                  </a:solidFill>
                  <a:latin typeface="Arial"/>
                  <a:ea typeface="Microsoft YaHei"/>
                  <a:cs typeface="Arial"/>
                </a:rPr>
                <a:t>实现"观察-决策-行动"顺畅闭环</a:t>
              </a:r>
            </a:p>
          </p:txBody>
        </p:sp>
      </p:grpSp>
      <p:grpSp>
        <p:nvGrpSpPr>
          <p:cNvPr id="52" name="Group 52"/>
          <p:cNvGrpSpPr/>
          <p:nvPr/>
        </p:nvGrpSpPr>
        <p:grpSpPr>
          <a:xfrm>
            <a:off x="571500" y="3429000"/>
            <a:ext cx="11049000" cy="2667000"/>
            <a:chOff x="571500" y="3429000"/>
            <a:chExt cx="11049000" cy="2667000"/>
          </a:xfrm>
          <a:effectLst>
            <a:outerShdw blurRad="76200" dist="19050" dir="5400000" algn="ctr" rotWithShape="0">
              <a:srgbClr val="0F172A">
                <a:alpha val="3750"/>
              </a:srgbClr>
            </a:outerShdw>
          </a:effectLst>
        </p:grpSpPr>
        <p:sp>
          <p:nvSpPr>
            <p:cNvPr id="26" name="Rectangle 26"/>
            <p:cNvSpPr/>
            <p:nvPr/>
          </p:nvSpPr>
          <p:spPr>
            <a:xfrm>
              <a:off x="571500" y="3429000"/>
              <a:ext cx="11049000" cy="2667000"/>
            </a:xfrm>
            <a:prstGeom prst="roundRect">
              <a:avLst>
                <a:gd name="adj" fmla="val 2857"/>
              </a:avLst>
            </a:prstGeom>
            <a:solidFill>
              <a:srgbClr val="FFFFFF"/>
            </a:solidFill>
            <a:ln w="9525">
              <a:solidFill>
                <a:srgbClr val="D4C5C5"/>
              </a:solidFill>
            </a:ln>
            <a:effectLst>
              <a:outerShdw blurRad="76200" dist="19050" dir="5400000" algn="ctr" rotWithShape="0">
                <a:srgbClr val="0F172A">
                  <a:alpha val="3750"/>
                </a:srgbClr>
              </a:outerShdw>
            </a:effectLst>
          </p:spPr>
        </p:sp>
        <p:sp>
          <p:nvSpPr>
            <p:cNvPr id="27" name="TextBox 27"/>
            <p:cNvSpPr txBox="1"/>
            <p:nvPr/>
          </p:nvSpPr>
          <p:spPr>
            <a:xfrm>
              <a:off x="3994870" y="3664268"/>
              <a:ext cx="4202261" cy="27432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350" b="1" dirty="0">
                  <a:solidFill>
                    <a:srgbClr val="8B0000"/>
                  </a:solidFill>
                  <a:latin typeface="Arial"/>
                  <a:ea typeface="Microsoft YaHei"/>
                  <a:cs typeface="Arial"/>
                </a:rPr>
                <a:t>空地协同作业流程: "侦测-进入-处置"三阶段接力</a:t>
              </a:r>
            </a:p>
          </p:txBody>
        </p:sp>
        <p:sp>
          <p:nvSpPr>
            <p:cNvPr id="28" name="Rectangle 28"/>
            <p:cNvSpPr/>
            <p:nvPr/>
          </p:nvSpPr>
          <p:spPr>
            <a:xfrm>
              <a:off x="1905000" y="3981450"/>
              <a:ext cx="8382000" cy="9525"/>
            </a:xfrm>
            <a:prstGeom prst="rect">
              <a:avLst/>
            </a:prstGeom>
            <a:solidFill>
              <a:srgbClr val="D4C5C5"/>
            </a:solidFill>
            <a:ln>
              <a:noFill/>
            </a:ln>
            <a:effectLst>
              <a:outerShdw blurRad="76200" dist="19050" dir="5400000" algn="ctr" rotWithShape="0">
                <a:srgbClr val="0F172A">
                  <a:alpha val="3750"/>
                </a:srgbClr>
              </a:outerShdw>
            </a:effectLst>
          </p:spPr>
        </p:sp>
        <p:grpSp>
          <p:nvGrpSpPr>
            <p:cNvPr id="34" name="Group 34"/>
            <p:cNvGrpSpPr/>
            <p:nvPr/>
          </p:nvGrpSpPr>
          <p:grpSpPr>
            <a:xfrm>
              <a:off x="952500" y="4286250"/>
              <a:ext cx="3048000" cy="1524000"/>
              <a:chOff x="952500" y="4286250"/>
              <a:chExt cx="3048000" cy="1524000"/>
            </a:xfrm>
          </p:grpSpPr>
          <p:sp>
            <p:nvSpPr>
              <p:cNvPr id="29" name="Rectangle 29"/>
              <p:cNvSpPr/>
              <p:nvPr/>
            </p:nvSpPr>
            <p:spPr>
              <a:xfrm>
                <a:off x="952500" y="4286250"/>
                <a:ext cx="3048000" cy="1524000"/>
              </a:xfrm>
              <a:prstGeom prst="roundRect">
                <a:avLst>
                  <a:gd name="adj" fmla="val 5000"/>
                </a:avLst>
              </a:prstGeom>
              <a:solidFill>
                <a:srgbClr val="F8F2F2"/>
              </a:solidFill>
              <a:ln w="9525">
                <a:solidFill>
                  <a:srgbClr val="D4C5C5"/>
                </a:solidFill>
              </a:ln>
              <a:effectLst>
                <a:outerShdw blurRad="76200" dist="19050" dir="5400000" algn="ctr" rotWithShape="0">
                  <a:srgbClr val="0F172A">
                    <a:alpha val="3750"/>
                  </a:srgbClr>
                </a:outerShdw>
              </a:effectLst>
            </p:spPr>
          </p:sp>
          <p:sp>
            <p:nvSpPr>
              <p:cNvPr id="30" name="Freeform 30"/>
              <p:cNvSpPr/>
              <p:nvPr/>
            </p:nvSpPr>
            <p:spPr>
              <a:xfrm>
                <a:off x="2286000" y="4572000"/>
                <a:ext cx="304800" cy="304800"/>
              </a:xfrm>
              <a:custGeom>
                <a:avLst/>
                <a:gdLst/>
                <a:ahLst/>
                <a:cxnLst/>
                <a:rect l="l" t="t" r="r" b="b"/>
                <a:pathLst>
                  <a:path w="304800" h="304800">
                    <a:moveTo>
                      <a:pt x="152400" y="38100"/>
                    </a:moveTo>
                    <a:cubicBezTo>
                      <a:pt x="89274" y="38100"/>
                      <a:pt x="38100" y="89274"/>
                      <a:pt x="38100" y="152400"/>
                    </a:cubicBezTo>
                    <a:cubicBezTo>
                      <a:pt x="38100" y="215526"/>
                      <a:pt x="89274" y="266700"/>
                      <a:pt x="152400" y="266700"/>
                    </a:cubicBezTo>
                    <a:cubicBezTo>
                      <a:pt x="215526" y="266700"/>
                      <a:pt x="266700" y="215526"/>
                      <a:pt x="266700" y="152400"/>
                    </a:cubicBezTo>
                    <a:cubicBezTo>
                      <a:pt x="266700" y="142161"/>
                      <a:pt x="265353" y="132237"/>
                      <a:pt x="262829" y="122794"/>
                    </a:cubicBezTo>
                    <a:lnTo>
                      <a:pt x="292739" y="92882"/>
                    </a:lnTo>
                    <a:cubicBezTo>
                      <a:pt x="300504" y="111168"/>
                      <a:pt x="304800" y="131282"/>
                      <a:pt x="304800" y="152400"/>
                    </a:cubicBezTo>
                    <a:cubicBezTo>
                      <a:pt x="304800" y="236569"/>
                      <a:pt x="236569" y="304800"/>
                      <a:pt x="152400" y="304800"/>
                    </a:cubicBezTo>
                    <a:cubicBezTo>
                      <a:pt x="68232" y="304800"/>
                      <a:pt x="0" y="236569"/>
                      <a:pt x="0" y="152400"/>
                    </a:cubicBezTo>
                    <a:cubicBezTo>
                      <a:pt x="0" y="68232"/>
                      <a:pt x="68232" y="0"/>
                      <a:pt x="152400" y="0"/>
                    </a:cubicBezTo>
                    <a:cubicBezTo>
                      <a:pt x="187618" y="0"/>
                      <a:pt x="220047" y="11946"/>
                      <a:pt x="245852" y="32007"/>
                    </a:cubicBezTo>
                    <a:lnTo>
                      <a:pt x="272280" y="5580"/>
                    </a:lnTo>
                    <a:lnTo>
                      <a:pt x="299220" y="32520"/>
                    </a:lnTo>
                    <a:lnTo>
                      <a:pt x="165870" y="165870"/>
                    </a:lnTo>
                    <a:lnTo>
                      <a:pt x="138930" y="138930"/>
                    </a:lnTo>
                    <a:lnTo>
                      <a:pt x="162266" y="115593"/>
                    </a:lnTo>
                    <a:cubicBezTo>
                      <a:pt x="149555" y="112199"/>
                      <a:pt x="135431" y="115487"/>
                      <a:pt x="125459" y="125459"/>
                    </a:cubicBezTo>
                    <a:cubicBezTo>
                      <a:pt x="110580" y="140338"/>
                      <a:pt x="110580" y="164462"/>
                      <a:pt x="125459" y="179341"/>
                    </a:cubicBezTo>
                    <a:cubicBezTo>
                      <a:pt x="140338" y="194220"/>
                      <a:pt x="164462" y="194220"/>
                      <a:pt x="179341" y="179341"/>
                    </a:cubicBezTo>
                    <a:lnTo>
                      <a:pt x="206281" y="206281"/>
                    </a:lnTo>
                    <a:cubicBezTo>
                      <a:pt x="176524" y="236039"/>
                      <a:pt x="128276" y="236039"/>
                      <a:pt x="98518" y="206281"/>
                    </a:cubicBezTo>
                    <a:cubicBezTo>
                      <a:pt x="68761" y="176524"/>
                      <a:pt x="68761" y="128276"/>
                      <a:pt x="98518" y="98518"/>
                    </a:cubicBezTo>
                    <a:cubicBezTo>
                      <a:pt x="123625" y="73412"/>
                      <a:pt x="161893" y="69488"/>
                      <a:pt x="191113" y="86746"/>
                    </a:cubicBezTo>
                    <a:lnTo>
                      <a:pt x="218627" y="59231"/>
                    </a:lnTo>
                    <a:cubicBezTo>
                      <a:pt x="199943" y="45926"/>
                      <a:pt x="177086" y="38100"/>
                      <a:pt x="152400" y="38100"/>
                    </a:cubicBezTo>
                    <a:close/>
                  </a:path>
                </a:pathLst>
              </a:custGeom>
              <a:solidFill>
                <a:srgbClr val="8B0000"/>
              </a:solidFill>
              <a:ln>
                <a:noFill/>
              </a:ln>
              <a:effectLst>
                <a:outerShdw blurRad="76200" dist="19050" dir="5400000" algn="ctr" rotWithShape="0">
                  <a:srgbClr val="0F172A">
                    <a:alpha val="3750"/>
                  </a:srgbClr>
                </a:outerShdw>
              </a:effectLst>
            </p:spPr>
          </p:sp>
          <p:sp>
            <p:nvSpPr>
              <p:cNvPr id="31" name="TextBox 31"/>
              <p:cNvSpPr txBox="1"/>
              <p:nvPr/>
            </p:nvSpPr>
            <p:spPr>
              <a:xfrm>
                <a:off x="1938130" y="4958239"/>
                <a:ext cx="1076741"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275" b="1" dirty="0">
                    <a:solidFill>
                      <a:srgbClr val="8B0000"/>
                    </a:solidFill>
                    <a:latin typeface="Arial"/>
                    <a:ea typeface="Microsoft YaHei"/>
                    <a:cs typeface="Arial"/>
                  </a:rPr>
                  <a:t>阶段一: 侦测</a:t>
                </a:r>
              </a:p>
            </p:txBody>
          </p:sp>
          <p:sp>
            <p:nvSpPr>
              <p:cNvPr id="32" name="TextBox 32"/>
              <p:cNvSpPr txBox="1"/>
              <p:nvPr/>
            </p:nvSpPr>
            <p:spPr>
              <a:xfrm>
                <a:off x="1973104" y="5268278"/>
                <a:ext cx="1006792"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050" dirty="0">
                    <a:solidFill>
                      <a:srgbClr val="2D2D2D"/>
                    </a:solidFill>
                    <a:latin typeface="Arial"/>
                    <a:ea typeface="Microsoft YaHei"/>
                    <a:cs typeface="Arial"/>
                  </a:rPr>
                  <a:t>无人机快速侦察</a:t>
                </a:r>
              </a:p>
            </p:txBody>
          </p:sp>
          <p:sp>
            <p:nvSpPr>
              <p:cNvPr id="33" name="TextBox 33"/>
              <p:cNvSpPr txBox="1"/>
              <p:nvPr/>
            </p:nvSpPr>
            <p:spPr>
              <a:xfrm>
                <a:off x="1903095" y="5506402"/>
                <a:ext cx="1146810"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050" dirty="0">
                    <a:solidFill>
                      <a:srgbClr val="2D2D2D"/>
                    </a:solidFill>
                    <a:latin typeface="Arial"/>
                    <a:ea typeface="Microsoft YaHei"/>
                    <a:cs typeface="Arial"/>
                  </a:rPr>
                  <a:t>生成热力图态势图</a:t>
                </a:r>
              </a:p>
            </p:txBody>
          </p:sp>
        </p:grpSp>
        <p:sp>
          <p:nvSpPr>
            <p:cNvPr id="35" name="TextBox 35"/>
            <p:cNvSpPr txBox="1"/>
            <p:nvPr/>
          </p:nvSpPr>
          <p:spPr>
            <a:xfrm>
              <a:off x="4194081" y="4853940"/>
              <a:ext cx="184337" cy="3657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800" b="1" dirty="0">
                  <a:solidFill>
                    <a:srgbClr val="C41E3A"/>
                  </a:solidFill>
                  <a:latin typeface="Arial"/>
                  <a:ea typeface="Microsoft YaHei"/>
                  <a:cs typeface="Arial"/>
                </a:rPr>
                <a:t>→</a:t>
              </a:r>
            </a:p>
          </p:txBody>
        </p:sp>
        <p:grpSp>
          <p:nvGrpSpPr>
            <p:cNvPr id="44" name="Group 44"/>
            <p:cNvGrpSpPr/>
            <p:nvPr/>
          </p:nvGrpSpPr>
          <p:grpSpPr>
            <a:xfrm>
              <a:off x="4572000" y="4286250"/>
              <a:ext cx="3048000" cy="1524000"/>
              <a:chOff x="4572000" y="4286250"/>
              <a:chExt cx="3048000" cy="1524000"/>
            </a:xfrm>
          </p:grpSpPr>
          <p:sp>
            <p:nvSpPr>
              <p:cNvPr id="36" name="Rectangle 36"/>
              <p:cNvSpPr/>
              <p:nvPr/>
            </p:nvSpPr>
            <p:spPr>
              <a:xfrm>
                <a:off x="4572000" y="4286250"/>
                <a:ext cx="3048000" cy="1524000"/>
              </a:xfrm>
              <a:prstGeom prst="roundRect">
                <a:avLst>
                  <a:gd name="adj" fmla="val 5000"/>
                </a:avLst>
              </a:prstGeom>
              <a:solidFill>
                <a:srgbClr val="F0F4F8"/>
              </a:solidFill>
              <a:ln w="9525">
                <a:solidFill>
                  <a:srgbClr val="D4C5C5"/>
                </a:solidFill>
              </a:ln>
              <a:effectLst>
                <a:outerShdw blurRad="76200" dist="19050" dir="5400000" algn="ctr" rotWithShape="0">
                  <a:srgbClr val="0F172A">
                    <a:alpha val="3750"/>
                  </a:srgbClr>
                </a:outerShdw>
              </a:effectLst>
            </p:spPr>
          </p:sp>
          <p:grpSp>
            <p:nvGrpSpPr>
              <p:cNvPr id="40" name="Group 40"/>
              <p:cNvGrpSpPr/>
              <p:nvPr/>
            </p:nvGrpSpPr>
            <p:grpSpPr>
              <a:xfrm>
                <a:off x="5905500" y="4572000"/>
                <a:ext cx="304800" cy="304800"/>
                <a:chOff x="5905500" y="4572000"/>
                <a:chExt cx="304800" cy="304800"/>
              </a:xfrm>
            </p:grpSpPr>
            <p:sp>
              <p:nvSpPr>
                <p:cNvPr id="37" name="Freeform 37"/>
                <p:cNvSpPr/>
                <p:nvPr/>
              </p:nvSpPr>
              <p:spPr>
                <a:xfrm>
                  <a:off x="6000750" y="4572000"/>
                  <a:ext cx="209550" cy="209550"/>
                </a:xfrm>
                <a:custGeom>
                  <a:avLst/>
                  <a:gdLst/>
                  <a:ahLst/>
                  <a:cxnLst/>
                  <a:rect l="l" t="t" r="r" b="b"/>
                  <a:pathLst>
                    <a:path w="209550" h="209550">
                      <a:moveTo>
                        <a:pt x="39057" y="29252"/>
                      </a:moveTo>
                      <a:cubicBezTo>
                        <a:pt x="57787" y="10522"/>
                        <a:pt x="83190" y="0"/>
                        <a:pt x="109678" y="0"/>
                      </a:cubicBezTo>
                      <a:cubicBezTo>
                        <a:pt x="164836" y="0"/>
                        <a:pt x="209550" y="44714"/>
                        <a:pt x="209550" y="99872"/>
                      </a:cubicBezTo>
                      <a:cubicBezTo>
                        <a:pt x="209550" y="126360"/>
                        <a:pt x="199029" y="151763"/>
                        <a:pt x="180299" y="170493"/>
                      </a:cubicBezTo>
                      <a:lnTo>
                        <a:pt x="141241" y="209550"/>
                      </a:lnTo>
                      <a:lnTo>
                        <a:pt x="114300" y="182609"/>
                      </a:lnTo>
                      <a:lnTo>
                        <a:pt x="153358" y="143552"/>
                      </a:lnTo>
                      <a:cubicBezTo>
                        <a:pt x="164943" y="131967"/>
                        <a:pt x="171450" y="116255"/>
                        <a:pt x="171450" y="99872"/>
                      </a:cubicBezTo>
                      <a:cubicBezTo>
                        <a:pt x="171450" y="65756"/>
                        <a:pt x="143793" y="38100"/>
                        <a:pt x="109678" y="38100"/>
                      </a:cubicBezTo>
                      <a:cubicBezTo>
                        <a:pt x="93295" y="38100"/>
                        <a:pt x="77583" y="44608"/>
                        <a:pt x="65998" y="56193"/>
                      </a:cubicBezTo>
                      <a:lnTo>
                        <a:pt x="26941" y="95250"/>
                      </a:lnTo>
                      <a:lnTo>
                        <a:pt x="0" y="68309"/>
                      </a:lnTo>
                      <a:lnTo>
                        <a:pt x="39057" y="29252"/>
                      </a:lnTo>
                      <a:close/>
                    </a:path>
                  </a:pathLst>
                </a:custGeom>
                <a:solidFill>
                  <a:srgbClr val="1A3C5E"/>
                </a:solidFill>
                <a:ln>
                  <a:noFill/>
                </a:ln>
                <a:effectLst>
                  <a:outerShdw blurRad="76200" dist="19050" dir="5400000" algn="ctr" rotWithShape="0">
                    <a:srgbClr val="0F172A">
                      <a:alpha val="3750"/>
                    </a:srgbClr>
                  </a:outerShdw>
                </a:effectLst>
              </p:spPr>
            </p:sp>
            <p:sp>
              <p:nvSpPr>
                <p:cNvPr id="38" name="Freeform 38"/>
                <p:cNvSpPr/>
                <p:nvPr/>
              </p:nvSpPr>
              <p:spPr>
                <a:xfrm>
                  <a:off x="5905500" y="4667250"/>
                  <a:ext cx="209550" cy="209550"/>
                </a:xfrm>
                <a:custGeom>
                  <a:avLst/>
                  <a:gdLst/>
                  <a:ahLst/>
                  <a:cxnLst/>
                  <a:rect l="l" t="t" r="r" b="b"/>
                  <a:pathLst>
                    <a:path w="209550" h="209550">
                      <a:moveTo>
                        <a:pt x="143552" y="153358"/>
                      </a:moveTo>
                      <a:lnTo>
                        <a:pt x="182609" y="114300"/>
                      </a:lnTo>
                      <a:lnTo>
                        <a:pt x="209550" y="141241"/>
                      </a:lnTo>
                      <a:lnTo>
                        <a:pt x="170493" y="180299"/>
                      </a:lnTo>
                      <a:cubicBezTo>
                        <a:pt x="151763" y="199029"/>
                        <a:pt x="126360" y="209550"/>
                        <a:pt x="99872" y="209550"/>
                      </a:cubicBezTo>
                      <a:cubicBezTo>
                        <a:pt x="44714" y="209550"/>
                        <a:pt x="0" y="164836"/>
                        <a:pt x="0" y="109678"/>
                      </a:cubicBezTo>
                      <a:cubicBezTo>
                        <a:pt x="0" y="83190"/>
                        <a:pt x="10522" y="57787"/>
                        <a:pt x="29252" y="39057"/>
                      </a:cubicBezTo>
                      <a:lnTo>
                        <a:pt x="68309" y="0"/>
                      </a:lnTo>
                      <a:lnTo>
                        <a:pt x="95250" y="26941"/>
                      </a:lnTo>
                      <a:lnTo>
                        <a:pt x="56193" y="65998"/>
                      </a:lnTo>
                      <a:cubicBezTo>
                        <a:pt x="44608" y="77583"/>
                        <a:pt x="38100" y="93295"/>
                        <a:pt x="38100" y="109678"/>
                      </a:cubicBezTo>
                      <a:cubicBezTo>
                        <a:pt x="38100" y="143793"/>
                        <a:pt x="65756" y="171450"/>
                        <a:pt x="99872" y="171450"/>
                      </a:cubicBezTo>
                      <a:cubicBezTo>
                        <a:pt x="116255" y="171450"/>
                        <a:pt x="131967" y="164943"/>
                        <a:pt x="143552" y="153358"/>
                      </a:cubicBezTo>
                      <a:close/>
                    </a:path>
                  </a:pathLst>
                </a:custGeom>
                <a:solidFill>
                  <a:srgbClr val="1A3C5E"/>
                </a:solidFill>
                <a:ln>
                  <a:noFill/>
                </a:ln>
                <a:effectLst>
                  <a:outerShdw blurRad="76200" dist="19050" dir="5400000" algn="ctr" rotWithShape="0">
                    <a:srgbClr val="0F172A">
                      <a:alpha val="3750"/>
                    </a:srgbClr>
                  </a:outerShdw>
                </a:effectLst>
              </p:spPr>
            </p:sp>
            <p:sp>
              <p:nvSpPr>
                <p:cNvPr id="39" name="Freeform 39"/>
                <p:cNvSpPr/>
                <p:nvPr/>
              </p:nvSpPr>
              <p:spPr>
                <a:xfrm>
                  <a:off x="5987280" y="4653780"/>
                  <a:ext cx="141241" cy="141241"/>
                </a:xfrm>
                <a:custGeom>
                  <a:avLst/>
                  <a:gdLst/>
                  <a:ahLst/>
                  <a:cxnLst/>
                  <a:rect l="l" t="t" r="r" b="b"/>
                  <a:pathLst>
                    <a:path w="141241" h="141241">
                      <a:moveTo>
                        <a:pt x="26941" y="141241"/>
                      </a:moveTo>
                      <a:lnTo>
                        <a:pt x="141241" y="26941"/>
                      </a:lnTo>
                      <a:lnTo>
                        <a:pt x="114300" y="0"/>
                      </a:lnTo>
                      <a:lnTo>
                        <a:pt x="0" y="114300"/>
                      </a:lnTo>
                      <a:lnTo>
                        <a:pt x="26941" y="141241"/>
                      </a:lnTo>
                      <a:close/>
                    </a:path>
                  </a:pathLst>
                </a:custGeom>
                <a:solidFill>
                  <a:srgbClr val="1A3C5E"/>
                </a:solidFill>
                <a:ln>
                  <a:noFill/>
                </a:ln>
                <a:effectLst>
                  <a:outerShdw blurRad="76200" dist="19050" dir="5400000" algn="ctr" rotWithShape="0">
                    <a:srgbClr val="0F172A">
                      <a:alpha val="3750"/>
                    </a:srgbClr>
                  </a:outerShdw>
                </a:effectLst>
              </p:spPr>
            </p:sp>
          </p:grpSp>
          <p:sp>
            <p:nvSpPr>
              <p:cNvPr id="41" name="TextBox 41"/>
              <p:cNvSpPr txBox="1"/>
              <p:nvPr/>
            </p:nvSpPr>
            <p:spPr>
              <a:xfrm>
                <a:off x="5557630" y="4958239"/>
                <a:ext cx="1076741"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275" b="1" dirty="0">
                    <a:solidFill>
                      <a:srgbClr val="1A3C5E"/>
                    </a:solidFill>
                    <a:latin typeface="Arial"/>
                    <a:ea typeface="Microsoft YaHei"/>
                    <a:cs typeface="Arial"/>
                  </a:rPr>
                  <a:t>阶段二: 进入</a:t>
                </a:r>
              </a:p>
            </p:txBody>
          </p:sp>
          <p:sp>
            <p:nvSpPr>
              <p:cNvPr id="42" name="TextBox 42"/>
              <p:cNvSpPr txBox="1"/>
              <p:nvPr/>
            </p:nvSpPr>
            <p:spPr>
              <a:xfrm>
                <a:off x="5312569" y="5268278"/>
                <a:ext cx="1566863"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050" dirty="0">
                    <a:solidFill>
                      <a:srgbClr val="2D2D2D"/>
                    </a:solidFill>
                    <a:latin typeface="Arial"/>
                    <a:ea typeface="Microsoft YaHei"/>
                    <a:cs typeface="Arial"/>
                  </a:rPr>
                  <a:t>信息处理并发送给机器狗</a:t>
                </a:r>
              </a:p>
            </p:txBody>
          </p:sp>
          <p:sp>
            <p:nvSpPr>
              <p:cNvPr id="43" name="TextBox 43"/>
              <p:cNvSpPr txBox="1"/>
              <p:nvPr/>
            </p:nvSpPr>
            <p:spPr>
              <a:xfrm>
                <a:off x="5312569" y="5506402"/>
                <a:ext cx="1566863"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050" dirty="0">
                    <a:solidFill>
                      <a:srgbClr val="2D2D2D"/>
                    </a:solidFill>
                    <a:latin typeface="Arial"/>
                    <a:ea typeface="Microsoft YaHei"/>
                    <a:cs typeface="Arial"/>
                  </a:rPr>
                  <a:t>机器狗自动解读规划路径</a:t>
                </a:r>
              </a:p>
            </p:txBody>
          </p:sp>
        </p:grpSp>
        <p:sp>
          <p:nvSpPr>
            <p:cNvPr id="45" name="TextBox 45"/>
            <p:cNvSpPr txBox="1"/>
            <p:nvPr/>
          </p:nvSpPr>
          <p:spPr>
            <a:xfrm>
              <a:off x="7813581" y="4853940"/>
              <a:ext cx="184337" cy="3657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800" b="1" dirty="0">
                  <a:solidFill>
                    <a:srgbClr val="C41E3A"/>
                  </a:solidFill>
                  <a:latin typeface="Arial"/>
                  <a:ea typeface="Microsoft YaHei"/>
                  <a:cs typeface="Arial"/>
                </a:rPr>
                <a:t>→</a:t>
              </a:r>
            </a:p>
          </p:txBody>
        </p:sp>
        <p:grpSp>
          <p:nvGrpSpPr>
            <p:cNvPr id="51" name="Group 51"/>
            <p:cNvGrpSpPr/>
            <p:nvPr/>
          </p:nvGrpSpPr>
          <p:grpSpPr>
            <a:xfrm>
              <a:off x="8191500" y="4286250"/>
              <a:ext cx="3048000" cy="1524000"/>
              <a:chOff x="8191500" y="4286250"/>
              <a:chExt cx="3048000" cy="1524000"/>
            </a:xfrm>
          </p:grpSpPr>
          <p:sp>
            <p:nvSpPr>
              <p:cNvPr id="46" name="Rectangle 46"/>
              <p:cNvSpPr/>
              <p:nvPr/>
            </p:nvSpPr>
            <p:spPr>
              <a:xfrm>
                <a:off x="8191500" y="4286250"/>
                <a:ext cx="3048000" cy="1524000"/>
              </a:xfrm>
              <a:prstGeom prst="roundRect">
                <a:avLst>
                  <a:gd name="adj" fmla="val 5000"/>
                </a:avLst>
              </a:prstGeom>
              <a:solidFill>
                <a:srgbClr val="F8F2F2"/>
              </a:solidFill>
              <a:ln w="9525">
                <a:solidFill>
                  <a:srgbClr val="D4C5C5"/>
                </a:solidFill>
              </a:ln>
              <a:effectLst>
                <a:outerShdw blurRad="76200" dist="19050" dir="5400000" algn="ctr" rotWithShape="0">
                  <a:srgbClr val="0F172A">
                    <a:alpha val="3750"/>
                  </a:srgbClr>
                </a:outerShdw>
              </a:effectLst>
            </p:spPr>
          </p:sp>
          <p:sp>
            <p:nvSpPr>
              <p:cNvPr id="47" name="Freeform 47"/>
              <p:cNvSpPr/>
              <p:nvPr/>
            </p:nvSpPr>
            <p:spPr>
              <a:xfrm>
                <a:off x="9525000" y="4572000"/>
                <a:ext cx="304800" cy="285750"/>
              </a:xfrm>
              <a:custGeom>
                <a:avLst/>
                <a:gdLst/>
                <a:ahLst/>
                <a:cxnLst/>
                <a:rect l="l" t="t" r="r" b="b"/>
                <a:pathLst>
                  <a:path w="304800" h="285750">
                    <a:moveTo>
                      <a:pt x="171450" y="0"/>
                    </a:moveTo>
                    <a:lnTo>
                      <a:pt x="171450" y="38100"/>
                    </a:lnTo>
                    <a:lnTo>
                      <a:pt x="247650" y="38100"/>
                    </a:lnTo>
                    <a:lnTo>
                      <a:pt x="304800" y="161925"/>
                    </a:lnTo>
                    <a:lnTo>
                      <a:pt x="247650" y="285750"/>
                    </a:lnTo>
                    <a:lnTo>
                      <a:pt x="57150" y="285750"/>
                    </a:lnTo>
                    <a:lnTo>
                      <a:pt x="0" y="161925"/>
                    </a:lnTo>
                    <a:lnTo>
                      <a:pt x="57150" y="38100"/>
                    </a:lnTo>
                    <a:lnTo>
                      <a:pt x="133350" y="38100"/>
                    </a:lnTo>
                    <a:lnTo>
                      <a:pt x="133350" y="0"/>
                    </a:lnTo>
                    <a:lnTo>
                      <a:pt x="171450" y="0"/>
                    </a:lnTo>
                    <a:close/>
                    <a:moveTo>
                      <a:pt x="87591" y="223617"/>
                    </a:moveTo>
                    <a:lnTo>
                      <a:pt x="152400" y="233587"/>
                    </a:lnTo>
                    <a:lnTo>
                      <a:pt x="217210" y="223617"/>
                    </a:lnTo>
                    <a:lnTo>
                      <a:pt x="211415" y="185959"/>
                    </a:lnTo>
                    <a:lnTo>
                      <a:pt x="152400" y="195038"/>
                    </a:lnTo>
                    <a:lnTo>
                      <a:pt x="93384" y="185959"/>
                    </a:lnTo>
                    <a:lnTo>
                      <a:pt x="87591" y="223617"/>
                    </a:lnTo>
                    <a:close/>
                    <a:moveTo>
                      <a:pt x="133350" y="128588"/>
                    </a:moveTo>
                    <a:cubicBezTo>
                      <a:pt x="133350" y="141739"/>
                      <a:pt x="122689" y="152400"/>
                      <a:pt x="109538" y="152400"/>
                    </a:cubicBezTo>
                    <a:cubicBezTo>
                      <a:pt x="96386" y="152400"/>
                      <a:pt x="85725" y="141739"/>
                      <a:pt x="85725" y="128588"/>
                    </a:cubicBezTo>
                    <a:cubicBezTo>
                      <a:pt x="85725" y="115436"/>
                      <a:pt x="96386" y="104775"/>
                      <a:pt x="109538" y="104775"/>
                    </a:cubicBezTo>
                    <a:cubicBezTo>
                      <a:pt x="122689" y="104775"/>
                      <a:pt x="133350" y="115436"/>
                      <a:pt x="133350" y="128588"/>
                    </a:cubicBezTo>
                    <a:close/>
                    <a:moveTo>
                      <a:pt x="195262" y="152400"/>
                    </a:moveTo>
                    <a:cubicBezTo>
                      <a:pt x="208415" y="152400"/>
                      <a:pt x="219075" y="141739"/>
                      <a:pt x="219075" y="128588"/>
                    </a:cubicBezTo>
                    <a:cubicBezTo>
                      <a:pt x="219075" y="115436"/>
                      <a:pt x="208415" y="104775"/>
                      <a:pt x="195262" y="104775"/>
                    </a:cubicBezTo>
                    <a:cubicBezTo>
                      <a:pt x="182111" y="104775"/>
                      <a:pt x="171450" y="115436"/>
                      <a:pt x="171450" y="128588"/>
                    </a:cubicBezTo>
                    <a:cubicBezTo>
                      <a:pt x="171450" y="141739"/>
                      <a:pt x="182111" y="152400"/>
                      <a:pt x="195262" y="152400"/>
                    </a:cubicBezTo>
                    <a:close/>
                  </a:path>
                </a:pathLst>
              </a:custGeom>
              <a:solidFill>
                <a:srgbClr val="8B0000"/>
              </a:solidFill>
              <a:ln>
                <a:noFill/>
              </a:ln>
              <a:effectLst>
                <a:outerShdw blurRad="76200" dist="19050" dir="5400000" algn="ctr" rotWithShape="0">
                  <a:srgbClr val="0F172A">
                    <a:alpha val="3750"/>
                  </a:srgbClr>
                </a:outerShdw>
              </a:effectLst>
            </p:spPr>
          </p:sp>
          <p:sp>
            <p:nvSpPr>
              <p:cNvPr id="48" name="TextBox 48"/>
              <p:cNvSpPr txBox="1"/>
              <p:nvPr/>
            </p:nvSpPr>
            <p:spPr>
              <a:xfrm>
                <a:off x="9177130" y="4958239"/>
                <a:ext cx="1076741" cy="2590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275" b="1" dirty="0">
                    <a:solidFill>
                      <a:srgbClr val="8B0000"/>
                    </a:solidFill>
                    <a:latin typeface="Arial"/>
                    <a:ea typeface="Microsoft YaHei"/>
                    <a:cs typeface="Arial"/>
                  </a:rPr>
                  <a:t>阶段三: 处置</a:t>
                </a:r>
              </a:p>
            </p:txBody>
          </p:sp>
          <p:sp>
            <p:nvSpPr>
              <p:cNvPr id="49" name="TextBox 49"/>
              <p:cNvSpPr txBox="1"/>
              <p:nvPr/>
            </p:nvSpPr>
            <p:spPr>
              <a:xfrm>
                <a:off x="9072086" y="5268278"/>
                <a:ext cx="1286828"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050" dirty="0">
                    <a:solidFill>
                      <a:srgbClr val="2D2D2D"/>
                    </a:solidFill>
                    <a:latin typeface="Arial"/>
                    <a:ea typeface="Microsoft YaHei"/>
                    <a:cs typeface="Arial"/>
                  </a:rPr>
                  <a:t>机器狗执行精细搜索</a:t>
                </a:r>
              </a:p>
            </p:txBody>
          </p:sp>
          <p:sp>
            <p:nvSpPr>
              <p:cNvPr id="50" name="TextBox 50"/>
              <p:cNvSpPr txBox="1"/>
              <p:nvPr/>
            </p:nvSpPr>
            <p:spPr>
              <a:xfrm>
                <a:off x="9142095" y="5506402"/>
                <a:ext cx="1146810" cy="21336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050" dirty="0">
                    <a:solidFill>
                      <a:srgbClr val="2D2D2D"/>
                    </a:solidFill>
                    <a:latin typeface="Arial"/>
                    <a:ea typeface="Microsoft YaHei"/>
                    <a:cs typeface="Arial"/>
                  </a:rPr>
                  <a:t>空地接力协同作业</a:t>
                </a:r>
              </a:p>
            </p:txBody>
          </p:sp>
        </p:grpSp>
      </p:grpSp>
      <p:grpSp>
        <p:nvGrpSpPr>
          <p:cNvPr id="56" name="Group 56"/>
          <p:cNvGrpSpPr/>
          <p:nvPr/>
        </p:nvGrpSpPr>
        <p:grpSpPr>
          <a:xfrm>
            <a:off x="0" y="6578441"/>
            <a:ext cx="12192000" cy="279559"/>
            <a:chOff x="0" y="6578441"/>
            <a:chExt cx="12192000" cy="279559"/>
          </a:xfrm>
        </p:grpSpPr>
        <p:sp>
          <p:nvSpPr>
            <p:cNvPr id="53" name="Rectangle 53"/>
            <p:cNvSpPr/>
            <p:nvPr/>
          </p:nvSpPr>
          <p:spPr>
            <a:xfrm>
              <a:off x="0" y="6819900"/>
              <a:ext cx="12192000" cy="38100"/>
            </a:xfrm>
            <a:prstGeom prst="rect">
              <a:avLst/>
            </a:prstGeom>
            <a:solidFill>
              <a:srgbClr val="D4C5C5"/>
            </a:solidFill>
            <a:ln>
              <a:noFill/>
            </a:ln>
          </p:spPr>
        </p:sp>
        <p:sp>
          <p:nvSpPr>
            <p:cNvPr id="54" name="TextBox 54"/>
            <p:cNvSpPr txBox="1"/>
            <p:nvPr/>
          </p:nvSpPr>
          <p:spPr>
            <a:xfrm>
              <a:off x="11323987" y="6578441"/>
              <a:ext cx="306991" cy="167640"/>
            </a:xfrm>
            <a:prstGeom prst="rect">
              <a:avLst/>
            </a:prstGeom>
            <a:noFill/>
            <a:ln>
              <a:noFill/>
            </a:ln>
          </p:spPr>
          <p:txBody>
            <a:bodyPr wrap="none" lIns="0" tIns="0" rIns="0" bIns="0" anchor="t" anchorCtr="0">
              <a:spAutoFit/>
            </a:bodyPr>
            <a:lstStyle/>
            <a:p>
              <a:pPr algn="r"/>
              <a:r>
                <a:rPr lang="zh-CN" sz="825" dirty="0">
                  <a:solidFill>
                    <a:srgbClr val="999999"/>
                  </a:solidFill>
                  <a:latin typeface="Arial"/>
                  <a:ea typeface="Microsoft YaHei"/>
                  <a:cs typeface="Arial"/>
                </a:rPr>
                <a:t>11 / 16</a:t>
              </a:r>
            </a:p>
          </p:txBody>
        </p:sp>
        <p:sp>
          <p:nvSpPr>
            <p:cNvPr id="55" name="TextBox 55"/>
            <p:cNvSpPr txBox="1"/>
            <p:nvPr/>
          </p:nvSpPr>
          <p:spPr>
            <a:xfrm>
              <a:off x="561022" y="6578441"/>
              <a:ext cx="1814179" cy="167640"/>
            </a:xfrm>
            <a:prstGeom prst="rect">
              <a:avLst/>
            </a:prstGeom>
            <a:noFill/>
            <a:ln>
              <a:noFill/>
            </a:ln>
          </p:spPr>
          <p:txBody>
            <a:bodyPr wrap="none" lIns="0" tIns="0" rIns="0" bIns="0" anchor="t" anchorCtr="0">
              <a:spAutoFit/>
            </a:bodyPr>
            <a:lstStyle/>
            <a:p>
              <a:pPr algn="l"/>
              <a:r>
                <a:rPr lang="zh-CN" sz="825" dirty="0">
                  <a:solidFill>
                    <a:srgbClr val="999999"/>
                  </a:solidFill>
                  <a:latin typeface="Arial"/>
                  <a:ea typeface="Microsoft YaHei"/>
                  <a:cs typeface="Arial"/>
                </a:rPr>
                <a:t>华中科技大学 人工智能与自动化学院</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400"/>
                                        <p:tgtEl>
                                          <p:spTgt spid="16"/>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slide(fromBottom)">
                                      <p:cBhvr>
                                        <p:cTn id="11" dur="400"/>
                                        <p:tgtEl>
                                          <p:spTgt spid="25"/>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image">
                                      <p:cBhvr>
                                        <p:cTn id="15"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5" grpId="0"/>
      <p:bldP spid="5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gradFill>
              <a:gsLst>
                <a:gs pos="0">
                  <a:srgbClr val="8B0000"/>
                </a:gs>
                <a:gs pos="100000">
                  <a:srgbClr val="C41E3A"/>
                </a:gs>
              </a:gsLst>
              <a:lin ang="0" scaled="1"/>
            </a:gradFill>
            <a:ln>
              <a:noFill/>
            </a:ln>
          </p:spPr>
        </p:sp>
      </p:grpSp>
      <p:grpSp>
        <p:nvGrpSpPr>
          <p:cNvPr id="8" name="Group 8"/>
          <p:cNvGrpSpPr/>
          <p:nvPr/>
        </p:nvGrpSpPr>
        <p:grpSpPr>
          <a:xfrm>
            <a:off x="731520" y="264795"/>
            <a:ext cx="3219755" cy="601980"/>
            <a:chOff x="731520" y="264795"/>
            <a:chExt cx="3219755" cy="601980"/>
          </a:xfrm>
        </p:grpSpPr>
        <p:sp>
          <p:nvSpPr>
            <p:cNvPr id="5" name="TextBox 5"/>
            <p:cNvSpPr txBox="1"/>
            <p:nvPr/>
          </p:nvSpPr>
          <p:spPr>
            <a:xfrm>
              <a:off x="731520" y="264795"/>
              <a:ext cx="3219755" cy="487680"/>
            </a:xfrm>
            <a:prstGeom prst="rect">
              <a:avLst/>
            </a:prstGeom>
            <a:noFill/>
            <a:ln>
              <a:noFill/>
            </a:ln>
          </p:spPr>
          <p:txBody>
            <a:bodyPr wrap="none" lIns="0" tIns="0" rIns="0" bIns="0" anchor="t" anchorCtr="0">
              <a:spAutoFit/>
            </a:bodyPr>
            <a:lstStyle/>
            <a:p>
              <a:pPr algn="l"/>
              <a:r>
                <a:rPr lang="zh-CN" sz="2400" b="1" dirty="0">
                  <a:solidFill>
                    <a:srgbClr val="8B0000"/>
                  </a:solidFill>
                  <a:latin typeface="Arial"/>
                  <a:ea typeface="Microsoft YaHei"/>
                  <a:cs typeface="Arial"/>
                </a:rPr>
                <a:t>项目创新与特色 (上)</a:t>
              </a:r>
            </a:p>
          </p:txBody>
        </p:sp>
        <p:sp>
          <p:nvSpPr>
            <p:cNvPr id="6" name="TextBox 6"/>
            <p:cNvSpPr txBox="1"/>
            <p:nvPr/>
          </p:nvSpPr>
          <p:spPr>
            <a:xfrm>
              <a:off x="749618" y="637699"/>
              <a:ext cx="934879" cy="198120"/>
            </a:xfrm>
            <a:prstGeom prst="rect">
              <a:avLst/>
            </a:prstGeom>
            <a:noFill/>
            <a:ln>
              <a:noFill/>
            </a:ln>
          </p:spPr>
          <p:txBody>
            <a:bodyPr wrap="none" lIns="0" tIns="0" rIns="0" bIns="0" anchor="t" anchorCtr="0">
              <a:spAutoFit/>
            </a:bodyPr>
            <a:lstStyle/>
            <a:p>
              <a:pPr algn="l"/>
              <a:r>
                <a:rPr lang="zh-CN" sz="975" dirty="0">
                  <a:solidFill>
                    <a:srgbClr val="999999"/>
                  </a:solidFill>
                  <a:latin typeface="Arial"/>
                  <a:ea typeface="Microsoft YaHei"/>
                  <a:cs typeface="Arial"/>
                </a:rPr>
                <a:t>六大创新点概览</a:t>
              </a:r>
            </a:p>
          </p:txBody>
        </p:sp>
        <p:sp>
          <p:nvSpPr>
            <p:cNvPr id="7" name="Rectangle 7"/>
            <p:cNvSpPr/>
            <p:nvPr/>
          </p:nvSpPr>
          <p:spPr>
            <a:xfrm>
              <a:off x="762000" y="838200"/>
              <a:ext cx="476250" cy="28575"/>
            </a:xfrm>
            <a:prstGeom prst="rect">
              <a:avLst/>
            </a:prstGeom>
            <a:solidFill>
              <a:srgbClr val="C41E3A"/>
            </a:solidFill>
            <a:ln>
              <a:noFill/>
            </a:ln>
          </p:spPr>
        </p:sp>
      </p:grpSp>
      <p:grpSp>
        <p:nvGrpSpPr>
          <p:cNvPr id="21" name="Group 21"/>
          <p:cNvGrpSpPr/>
          <p:nvPr/>
        </p:nvGrpSpPr>
        <p:grpSpPr>
          <a:xfrm>
            <a:off x="476250" y="1143000"/>
            <a:ext cx="3619500" cy="2571750"/>
            <a:chOff x="476250" y="1143000"/>
            <a:chExt cx="3619500" cy="2571750"/>
          </a:xfrm>
          <a:effectLst>
            <a:outerShdw blurRad="76200" dist="19050" dir="5400000" algn="ctr" rotWithShape="0">
              <a:srgbClr val="0F172A">
                <a:alpha val="3750"/>
              </a:srgbClr>
            </a:outerShdw>
          </a:effectLst>
        </p:grpSpPr>
        <p:sp>
          <p:nvSpPr>
            <p:cNvPr id="9" name="Rectangle 9"/>
            <p:cNvSpPr/>
            <p:nvPr/>
          </p:nvSpPr>
          <p:spPr>
            <a:xfrm>
              <a:off x="476250" y="1143000"/>
              <a:ext cx="3619500" cy="2571750"/>
            </a:xfrm>
            <a:prstGeom prst="roundRect">
              <a:avLst>
                <a:gd name="adj" fmla="val 2963"/>
              </a:avLst>
            </a:prstGeom>
            <a:solidFill>
              <a:srgbClr val="FFFFFF"/>
            </a:solidFill>
            <a:ln w="9525">
              <a:solidFill>
                <a:srgbClr val="D4C5C5"/>
              </a:solidFill>
            </a:ln>
            <a:effectLst>
              <a:outerShdw blurRad="76200" dist="19050" dir="5400000" algn="ctr" rotWithShape="0">
                <a:srgbClr val="0F172A">
                  <a:alpha val="3750"/>
                </a:srgbClr>
              </a:outerShdw>
            </a:effectLst>
          </p:spPr>
        </p:sp>
        <p:sp>
          <p:nvSpPr>
            <p:cNvPr id="10" name="TextBox 10"/>
            <p:cNvSpPr txBox="1"/>
            <p:nvPr/>
          </p:nvSpPr>
          <p:spPr>
            <a:xfrm>
              <a:off x="3335826" y="1278255"/>
              <a:ext cx="519894" cy="73152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r"/>
              <a:r>
                <a:rPr lang="zh-CN" sz="3600" b="1" dirty="0">
                  <a:solidFill>
                    <a:srgbClr val="8B0000">
                      <a:alphaMod val="8000"/>
                    </a:srgbClr>
                  </a:solidFill>
                  <a:latin typeface="Arial"/>
                  <a:ea typeface="Microsoft YaHei"/>
                  <a:cs typeface="Arial"/>
                </a:rPr>
                <a:t>01</a:t>
              </a:r>
            </a:p>
          </p:txBody>
        </p:sp>
        <p:grpSp>
          <p:nvGrpSpPr>
            <p:cNvPr id="14" name="Group 14"/>
            <p:cNvGrpSpPr/>
            <p:nvPr/>
          </p:nvGrpSpPr>
          <p:grpSpPr>
            <a:xfrm>
              <a:off x="833438" y="1476375"/>
              <a:ext cx="333375" cy="380999"/>
              <a:chOff x="833438" y="1476375"/>
              <a:chExt cx="333375" cy="380999"/>
            </a:xfrm>
          </p:grpSpPr>
          <p:sp>
            <p:nvSpPr>
              <p:cNvPr id="11" name="Freeform 11"/>
              <p:cNvSpPr/>
              <p:nvPr/>
            </p:nvSpPr>
            <p:spPr>
              <a:xfrm>
                <a:off x="833438" y="1476375"/>
                <a:ext cx="333375" cy="190500"/>
              </a:xfrm>
              <a:custGeom>
                <a:avLst/>
                <a:gdLst/>
                <a:ahLst/>
                <a:cxnLst/>
                <a:rect l="l" t="t" r="r" b="b"/>
                <a:pathLst>
                  <a:path w="333375" h="190500">
                    <a:moveTo>
                      <a:pt x="0" y="119062"/>
                    </a:moveTo>
                    <a:lnTo>
                      <a:pt x="0" y="71438"/>
                    </a:lnTo>
                    <a:lnTo>
                      <a:pt x="166688" y="0"/>
                    </a:lnTo>
                    <a:lnTo>
                      <a:pt x="333375" y="71438"/>
                    </a:lnTo>
                    <a:lnTo>
                      <a:pt x="333375" y="119062"/>
                    </a:lnTo>
                    <a:lnTo>
                      <a:pt x="166688" y="190500"/>
                    </a:lnTo>
                    <a:lnTo>
                      <a:pt x="0" y="119062"/>
                    </a:lnTo>
                    <a:close/>
                  </a:path>
                </a:pathLst>
              </a:custGeom>
              <a:solidFill>
                <a:srgbClr val="8B0000"/>
              </a:solidFill>
              <a:ln>
                <a:noFill/>
              </a:ln>
              <a:effectLst>
                <a:outerShdw blurRad="76200" dist="19050" dir="5400000" algn="ctr" rotWithShape="0">
                  <a:srgbClr val="0F172A">
                    <a:alpha val="3750"/>
                  </a:srgbClr>
                </a:outerShdw>
              </a:effectLst>
            </p:spPr>
          </p:sp>
          <p:sp>
            <p:nvSpPr>
              <p:cNvPr id="12" name="Freeform 12"/>
              <p:cNvSpPr/>
              <p:nvPr/>
            </p:nvSpPr>
            <p:spPr>
              <a:xfrm>
                <a:off x="833438" y="1738312"/>
                <a:ext cx="333375" cy="119062"/>
              </a:xfrm>
              <a:custGeom>
                <a:avLst/>
                <a:gdLst/>
                <a:ahLst/>
                <a:cxnLst/>
                <a:rect l="l" t="t" r="r" b="b"/>
                <a:pathLst>
                  <a:path w="333375" h="119062">
                    <a:moveTo>
                      <a:pt x="166688" y="119062"/>
                    </a:moveTo>
                    <a:lnTo>
                      <a:pt x="0" y="47625"/>
                    </a:lnTo>
                    <a:lnTo>
                      <a:pt x="0" y="0"/>
                    </a:lnTo>
                    <a:lnTo>
                      <a:pt x="166688" y="71438"/>
                    </a:lnTo>
                    <a:lnTo>
                      <a:pt x="333375" y="0"/>
                    </a:lnTo>
                    <a:lnTo>
                      <a:pt x="333375" y="47625"/>
                    </a:lnTo>
                    <a:lnTo>
                      <a:pt x="166688" y="119062"/>
                    </a:lnTo>
                    <a:close/>
                  </a:path>
                </a:pathLst>
              </a:custGeom>
              <a:solidFill>
                <a:srgbClr val="8B0000"/>
              </a:solidFill>
              <a:ln>
                <a:noFill/>
              </a:ln>
              <a:effectLst>
                <a:outerShdw blurRad="76200" dist="19050" dir="5400000" algn="ctr" rotWithShape="0">
                  <a:srgbClr val="0F172A">
                    <a:alpha val="3750"/>
                  </a:srgbClr>
                </a:outerShdw>
              </a:effectLst>
            </p:spPr>
          </p:sp>
          <p:sp>
            <p:nvSpPr>
              <p:cNvPr id="13" name="Freeform 13"/>
              <p:cNvSpPr/>
              <p:nvPr/>
            </p:nvSpPr>
            <p:spPr>
              <a:xfrm>
                <a:off x="833438" y="1643062"/>
                <a:ext cx="333375" cy="119062"/>
              </a:xfrm>
              <a:custGeom>
                <a:avLst/>
                <a:gdLst/>
                <a:ahLst/>
                <a:cxnLst/>
                <a:rect l="l" t="t" r="r" b="b"/>
                <a:pathLst>
                  <a:path w="333375" h="119062">
                    <a:moveTo>
                      <a:pt x="0" y="47625"/>
                    </a:moveTo>
                    <a:lnTo>
                      <a:pt x="166688" y="119062"/>
                    </a:lnTo>
                    <a:lnTo>
                      <a:pt x="333375" y="47625"/>
                    </a:lnTo>
                    <a:lnTo>
                      <a:pt x="333375" y="0"/>
                    </a:lnTo>
                    <a:lnTo>
                      <a:pt x="166688" y="71438"/>
                    </a:lnTo>
                    <a:lnTo>
                      <a:pt x="0" y="0"/>
                    </a:lnTo>
                    <a:lnTo>
                      <a:pt x="0" y="47625"/>
                    </a:lnTo>
                    <a:close/>
                  </a:path>
                </a:pathLst>
              </a:custGeom>
              <a:solidFill>
                <a:srgbClr val="8B0000"/>
              </a:solidFill>
              <a:ln>
                <a:noFill/>
              </a:ln>
              <a:effectLst>
                <a:outerShdw blurRad="76200" dist="19050" dir="5400000" algn="ctr" rotWithShape="0">
                  <a:srgbClr val="0F172A">
                    <a:alpha val="3750"/>
                  </a:srgbClr>
                </a:outerShdw>
              </a:effectLst>
            </p:spPr>
          </p:sp>
        </p:grpSp>
        <p:sp>
          <p:nvSpPr>
            <p:cNvPr id="15" name="TextBox 15"/>
            <p:cNvSpPr txBox="1"/>
            <p:nvPr/>
          </p:nvSpPr>
          <p:spPr>
            <a:xfrm>
              <a:off x="792480" y="1997392"/>
              <a:ext cx="1735503" cy="27432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350" b="1" dirty="0">
                  <a:solidFill>
                    <a:srgbClr val="8B0000"/>
                  </a:solidFill>
                  <a:latin typeface="Arial"/>
                  <a:ea typeface="Microsoft YaHei"/>
                  <a:cs typeface="Arial"/>
                </a:rPr>
                <a:t>一体化协同架构创新</a:t>
              </a:r>
            </a:p>
          </p:txBody>
        </p:sp>
        <p:sp>
          <p:nvSpPr>
            <p:cNvPr id="16" name="TextBox 16"/>
            <p:cNvSpPr txBox="1"/>
            <p:nvPr/>
          </p:nvSpPr>
          <p:spPr>
            <a:xfrm>
              <a:off x="798195" y="2284095"/>
              <a:ext cx="1247013" cy="1828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900" dirty="0">
                  <a:solidFill>
                    <a:srgbClr val="999999"/>
                  </a:solidFill>
                  <a:latin typeface="Arial"/>
                  <a:ea typeface="Microsoft YaHei"/>
                  <a:cs typeface="Arial"/>
                </a:rPr>
                <a:t>"感知-规划-控制"闭环</a:t>
              </a:r>
            </a:p>
          </p:txBody>
        </p:sp>
        <p:sp>
          <p:nvSpPr>
            <p:cNvPr id="17" name="Rectangle 17"/>
            <p:cNvSpPr/>
            <p:nvPr/>
          </p:nvSpPr>
          <p:spPr>
            <a:xfrm>
              <a:off x="809625" y="2552700"/>
              <a:ext cx="2952750" cy="9525"/>
            </a:xfrm>
            <a:prstGeom prst="rect">
              <a:avLst/>
            </a:prstGeom>
            <a:solidFill>
              <a:srgbClr val="D4C5C5"/>
            </a:solidFill>
            <a:ln>
              <a:noFill/>
            </a:ln>
            <a:effectLst>
              <a:outerShdw blurRad="76200" dist="19050" dir="5400000" algn="ctr" rotWithShape="0">
                <a:srgbClr val="0F172A">
                  <a:alpha val="3750"/>
                </a:srgbClr>
              </a:outerShdw>
            </a:effectLst>
          </p:spPr>
        </p:sp>
        <p:sp>
          <p:nvSpPr>
            <p:cNvPr id="18" name="TextBox 18"/>
            <p:cNvSpPr txBox="1"/>
            <p:nvPr/>
          </p:nvSpPr>
          <p:spPr>
            <a:xfrm>
              <a:off x="795338" y="2736056"/>
              <a:ext cx="2128838"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聚焦未知、动态、非结构化极端</a:t>
              </a:r>
            </a:p>
          </p:txBody>
        </p:sp>
        <p:sp>
          <p:nvSpPr>
            <p:cNvPr id="19" name="TextBox 19"/>
            <p:cNvSpPr txBox="1"/>
            <p:nvPr/>
          </p:nvSpPr>
          <p:spPr>
            <a:xfrm>
              <a:off x="795338" y="2993231"/>
              <a:ext cx="1828800"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环境，多源异构传感器动态</a:t>
              </a:r>
            </a:p>
          </p:txBody>
        </p:sp>
        <p:sp>
          <p:nvSpPr>
            <p:cNvPr id="20" name="TextBox 20"/>
            <p:cNvSpPr txBox="1"/>
            <p:nvPr/>
          </p:nvSpPr>
          <p:spPr>
            <a:xfrm>
              <a:off x="795338" y="3250406"/>
              <a:ext cx="1378744"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任务分配与实时融合</a:t>
              </a:r>
            </a:p>
          </p:txBody>
        </p:sp>
      </p:grpSp>
      <p:grpSp>
        <p:nvGrpSpPr>
          <p:cNvPr id="34" name="Group 34"/>
          <p:cNvGrpSpPr/>
          <p:nvPr/>
        </p:nvGrpSpPr>
        <p:grpSpPr>
          <a:xfrm>
            <a:off x="4286250" y="1143000"/>
            <a:ext cx="3619500" cy="2571750"/>
            <a:chOff x="4286250" y="1143000"/>
            <a:chExt cx="3619500" cy="2571750"/>
          </a:xfrm>
          <a:effectLst>
            <a:outerShdw blurRad="76200" dist="19050" dir="5400000" algn="ctr" rotWithShape="0">
              <a:srgbClr val="0F172A">
                <a:alpha val="3750"/>
              </a:srgbClr>
            </a:outerShdw>
          </a:effectLst>
        </p:grpSpPr>
        <p:sp>
          <p:nvSpPr>
            <p:cNvPr id="22" name="Rectangle 22"/>
            <p:cNvSpPr/>
            <p:nvPr/>
          </p:nvSpPr>
          <p:spPr>
            <a:xfrm>
              <a:off x="4286250" y="1143000"/>
              <a:ext cx="3619500" cy="2571750"/>
            </a:xfrm>
            <a:prstGeom prst="roundRect">
              <a:avLst>
                <a:gd name="adj" fmla="val 2963"/>
              </a:avLst>
            </a:prstGeom>
            <a:solidFill>
              <a:srgbClr val="FFFFFF"/>
            </a:solidFill>
            <a:ln w="9525">
              <a:solidFill>
                <a:srgbClr val="D4C5C5"/>
              </a:solidFill>
            </a:ln>
            <a:effectLst>
              <a:outerShdw blurRad="76200" dist="19050" dir="5400000" algn="ctr" rotWithShape="0">
                <a:srgbClr val="0F172A">
                  <a:alpha val="3750"/>
                </a:srgbClr>
              </a:outerShdw>
            </a:effectLst>
          </p:spPr>
        </p:sp>
        <p:sp>
          <p:nvSpPr>
            <p:cNvPr id="23" name="TextBox 23"/>
            <p:cNvSpPr txBox="1"/>
            <p:nvPr/>
          </p:nvSpPr>
          <p:spPr>
            <a:xfrm>
              <a:off x="7019811" y="1278255"/>
              <a:ext cx="645909" cy="73152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r"/>
              <a:r>
                <a:rPr lang="zh-CN" sz="3600" b="1" dirty="0">
                  <a:solidFill>
                    <a:srgbClr val="C41E3A">
                      <a:alphaMod val="8000"/>
                    </a:srgbClr>
                  </a:solidFill>
                  <a:latin typeface="Arial"/>
                  <a:ea typeface="Microsoft YaHei"/>
                  <a:cs typeface="Arial"/>
                </a:rPr>
                <a:t>02</a:t>
              </a:r>
            </a:p>
          </p:txBody>
        </p:sp>
        <p:grpSp>
          <p:nvGrpSpPr>
            <p:cNvPr id="27" name="Group 27"/>
            <p:cNvGrpSpPr/>
            <p:nvPr/>
          </p:nvGrpSpPr>
          <p:grpSpPr>
            <a:xfrm>
              <a:off x="4619625" y="1500188"/>
              <a:ext cx="381000" cy="333375"/>
              <a:chOff x="4619625" y="1500188"/>
              <a:chExt cx="381000" cy="333375"/>
            </a:xfrm>
          </p:grpSpPr>
          <p:sp>
            <p:nvSpPr>
              <p:cNvPr id="24" name="Freeform 24"/>
              <p:cNvSpPr/>
              <p:nvPr/>
            </p:nvSpPr>
            <p:spPr>
              <a:xfrm>
                <a:off x="4619625" y="1500188"/>
                <a:ext cx="95250" cy="333375"/>
              </a:xfrm>
              <a:custGeom>
                <a:avLst/>
                <a:gdLst/>
                <a:ahLst/>
                <a:cxnLst/>
                <a:rect l="l" t="t" r="r" b="b"/>
                <a:pathLst>
                  <a:path w="95250" h="333375">
                    <a:moveTo>
                      <a:pt x="95250" y="23812"/>
                    </a:moveTo>
                    <a:lnTo>
                      <a:pt x="0" y="0"/>
                    </a:lnTo>
                    <a:lnTo>
                      <a:pt x="0" y="309562"/>
                    </a:lnTo>
                    <a:lnTo>
                      <a:pt x="95250" y="333375"/>
                    </a:lnTo>
                    <a:lnTo>
                      <a:pt x="95250" y="23812"/>
                    </a:lnTo>
                    <a:close/>
                  </a:path>
                </a:pathLst>
              </a:custGeom>
              <a:solidFill>
                <a:srgbClr val="C41E3A"/>
              </a:solidFill>
              <a:ln>
                <a:noFill/>
              </a:ln>
              <a:effectLst>
                <a:outerShdw blurRad="76200" dist="19050" dir="5400000" algn="ctr" rotWithShape="0">
                  <a:srgbClr val="0F172A">
                    <a:alpha val="3750"/>
                  </a:srgbClr>
                </a:outerShdw>
              </a:effectLst>
            </p:spPr>
          </p:sp>
          <p:sp>
            <p:nvSpPr>
              <p:cNvPr id="25" name="Freeform 25"/>
              <p:cNvSpPr/>
              <p:nvPr/>
            </p:nvSpPr>
            <p:spPr>
              <a:xfrm>
                <a:off x="4905375" y="1500188"/>
                <a:ext cx="95250" cy="333375"/>
              </a:xfrm>
              <a:custGeom>
                <a:avLst/>
                <a:gdLst/>
                <a:ahLst/>
                <a:cxnLst/>
                <a:rect l="l" t="t" r="r" b="b"/>
                <a:pathLst>
                  <a:path w="95250" h="333375">
                    <a:moveTo>
                      <a:pt x="95250" y="23812"/>
                    </a:moveTo>
                    <a:lnTo>
                      <a:pt x="0" y="0"/>
                    </a:lnTo>
                    <a:lnTo>
                      <a:pt x="0" y="309562"/>
                    </a:lnTo>
                    <a:lnTo>
                      <a:pt x="95250" y="333375"/>
                    </a:lnTo>
                    <a:lnTo>
                      <a:pt x="95250" y="23812"/>
                    </a:lnTo>
                    <a:close/>
                  </a:path>
                </a:pathLst>
              </a:custGeom>
              <a:solidFill>
                <a:srgbClr val="C41E3A"/>
              </a:solidFill>
              <a:ln>
                <a:noFill/>
              </a:ln>
              <a:effectLst>
                <a:outerShdw blurRad="76200" dist="19050" dir="5400000" algn="ctr" rotWithShape="0">
                  <a:srgbClr val="0F172A">
                    <a:alpha val="3750"/>
                  </a:srgbClr>
                </a:outerShdw>
              </a:effectLst>
            </p:spPr>
          </p:sp>
          <p:sp>
            <p:nvSpPr>
              <p:cNvPr id="26" name="Freeform 26"/>
              <p:cNvSpPr/>
              <p:nvPr/>
            </p:nvSpPr>
            <p:spPr>
              <a:xfrm>
                <a:off x="4762500" y="1500188"/>
                <a:ext cx="95250" cy="333375"/>
              </a:xfrm>
              <a:custGeom>
                <a:avLst/>
                <a:gdLst/>
                <a:ahLst/>
                <a:cxnLst/>
                <a:rect l="l" t="t" r="r" b="b"/>
                <a:pathLst>
                  <a:path w="95250" h="333375">
                    <a:moveTo>
                      <a:pt x="95250" y="0"/>
                    </a:moveTo>
                    <a:lnTo>
                      <a:pt x="0" y="23812"/>
                    </a:lnTo>
                    <a:lnTo>
                      <a:pt x="0" y="333375"/>
                    </a:lnTo>
                    <a:lnTo>
                      <a:pt x="95250" y="309562"/>
                    </a:lnTo>
                    <a:lnTo>
                      <a:pt x="95250" y="0"/>
                    </a:lnTo>
                    <a:close/>
                  </a:path>
                </a:pathLst>
              </a:custGeom>
              <a:solidFill>
                <a:srgbClr val="C41E3A"/>
              </a:solidFill>
              <a:ln>
                <a:noFill/>
              </a:ln>
              <a:effectLst>
                <a:outerShdw blurRad="76200" dist="19050" dir="5400000" algn="ctr" rotWithShape="0">
                  <a:srgbClr val="0F172A">
                    <a:alpha val="3750"/>
                  </a:srgbClr>
                </a:outerShdw>
              </a:effectLst>
            </p:spPr>
          </p:sp>
        </p:grpSp>
        <p:sp>
          <p:nvSpPr>
            <p:cNvPr id="28" name="TextBox 28"/>
            <p:cNvSpPr txBox="1"/>
            <p:nvPr/>
          </p:nvSpPr>
          <p:spPr>
            <a:xfrm>
              <a:off x="4602480" y="1997392"/>
              <a:ext cx="1735503" cy="27432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350" b="1" dirty="0">
                  <a:solidFill>
                    <a:srgbClr val="C41E3A"/>
                  </a:solidFill>
                  <a:latin typeface="Arial"/>
                  <a:ea typeface="Microsoft YaHei"/>
                  <a:cs typeface="Arial"/>
                </a:rPr>
                <a:t>闭环分布式决策创新</a:t>
              </a:r>
            </a:p>
          </p:txBody>
        </p:sp>
        <p:sp>
          <p:nvSpPr>
            <p:cNvPr id="29" name="TextBox 29"/>
            <p:cNvSpPr txBox="1"/>
            <p:nvPr/>
          </p:nvSpPr>
          <p:spPr>
            <a:xfrm>
              <a:off x="4608195" y="2284095"/>
              <a:ext cx="1181005" cy="1828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900" dirty="0">
                  <a:solidFill>
                    <a:srgbClr val="999999"/>
                  </a:solidFill>
                  <a:latin typeface="Arial"/>
                  <a:ea typeface="Microsoft YaHei"/>
                  <a:cs typeface="Arial"/>
                </a:rPr>
                <a:t>"全局-局部"双重闭环</a:t>
              </a:r>
            </a:p>
          </p:txBody>
        </p:sp>
        <p:sp>
          <p:nvSpPr>
            <p:cNvPr id="30" name="Rectangle 30"/>
            <p:cNvSpPr/>
            <p:nvPr/>
          </p:nvSpPr>
          <p:spPr>
            <a:xfrm>
              <a:off x="4619625" y="2552700"/>
              <a:ext cx="2952750" cy="9525"/>
            </a:xfrm>
            <a:prstGeom prst="rect">
              <a:avLst/>
            </a:prstGeom>
            <a:solidFill>
              <a:srgbClr val="D4C5C5"/>
            </a:solidFill>
            <a:ln>
              <a:noFill/>
            </a:ln>
            <a:effectLst>
              <a:outerShdw blurRad="76200" dist="19050" dir="5400000" algn="ctr" rotWithShape="0">
                <a:srgbClr val="0F172A">
                  <a:alpha val="3750"/>
                </a:srgbClr>
              </a:outerShdw>
            </a:effectLst>
          </p:spPr>
        </p:sp>
        <p:sp>
          <p:nvSpPr>
            <p:cNvPr id="31" name="TextBox 31"/>
            <p:cNvSpPr txBox="1"/>
            <p:nvPr/>
          </p:nvSpPr>
          <p:spPr>
            <a:xfrm>
              <a:off x="4605338" y="2736056"/>
              <a:ext cx="1911310"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博弈论/分布式强化学习进行</a:t>
              </a:r>
            </a:p>
          </p:txBody>
        </p:sp>
        <p:sp>
          <p:nvSpPr>
            <p:cNvPr id="32" name="TextBox 32"/>
            <p:cNvSpPr txBox="1"/>
            <p:nvPr/>
          </p:nvSpPr>
          <p:spPr>
            <a:xfrm>
              <a:off x="4605338" y="2993231"/>
              <a:ext cx="1678781"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宏观任务分配，局部层面</a:t>
              </a:r>
            </a:p>
          </p:txBody>
        </p:sp>
        <p:sp>
          <p:nvSpPr>
            <p:cNvPr id="33" name="TextBox 33"/>
            <p:cNvSpPr txBox="1"/>
            <p:nvPr/>
          </p:nvSpPr>
          <p:spPr>
            <a:xfrm>
              <a:off x="4605338" y="3250406"/>
              <a:ext cx="1378744"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自主避障与灵巧穿行</a:t>
              </a:r>
            </a:p>
          </p:txBody>
        </p:sp>
      </p:grpSp>
      <p:grpSp>
        <p:nvGrpSpPr>
          <p:cNvPr id="47" name="Group 47"/>
          <p:cNvGrpSpPr/>
          <p:nvPr/>
        </p:nvGrpSpPr>
        <p:grpSpPr>
          <a:xfrm>
            <a:off x="8096250" y="1143000"/>
            <a:ext cx="3619500" cy="2571750"/>
            <a:chOff x="8096250" y="1143000"/>
            <a:chExt cx="3619500" cy="2571750"/>
          </a:xfrm>
          <a:effectLst>
            <a:outerShdw blurRad="76200" dist="19050" dir="5400000" algn="ctr" rotWithShape="0">
              <a:srgbClr val="0F172A">
                <a:alpha val="3750"/>
              </a:srgbClr>
            </a:outerShdw>
          </a:effectLst>
        </p:grpSpPr>
        <p:sp>
          <p:nvSpPr>
            <p:cNvPr id="35" name="Rectangle 35"/>
            <p:cNvSpPr/>
            <p:nvPr/>
          </p:nvSpPr>
          <p:spPr>
            <a:xfrm>
              <a:off x="8096250" y="1143000"/>
              <a:ext cx="3619500" cy="2571750"/>
            </a:xfrm>
            <a:prstGeom prst="roundRect">
              <a:avLst>
                <a:gd name="adj" fmla="val 2963"/>
              </a:avLst>
            </a:prstGeom>
            <a:solidFill>
              <a:srgbClr val="FFFFFF"/>
            </a:solidFill>
            <a:ln w="9525">
              <a:solidFill>
                <a:srgbClr val="D4C5C5"/>
              </a:solidFill>
            </a:ln>
            <a:effectLst>
              <a:outerShdw blurRad="76200" dist="19050" dir="5400000" algn="ctr" rotWithShape="0">
                <a:srgbClr val="0F172A">
                  <a:alpha val="3750"/>
                </a:srgbClr>
              </a:outerShdw>
            </a:effectLst>
          </p:spPr>
        </p:sp>
        <p:sp>
          <p:nvSpPr>
            <p:cNvPr id="36" name="TextBox 36"/>
            <p:cNvSpPr txBox="1"/>
            <p:nvPr/>
          </p:nvSpPr>
          <p:spPr>
            <a:xfrm>
              <a:off x="10829811" y="1278255"/>
              <a:ext cx="645909" cy="73152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r"/>
              <a:r>
                <a:rPr lang="zh-CN" sz="3600" b="1" dirty="0">
                  <a:solidFill>
                    <a:srgbClr val="1A3C5E">
                      <a:alphaMod val="8000"/>
                    </a:srgbClr>
                  </a:solidFill>
                  <a:latin typeface="Arial"/>
                  <a:ea typeface="Microsoft YaHei"/>
                  <a:cs typeface="Arial"/>
                </a:rPr>
                <a:t>03</a:t>
              </a:r>
            </a:p>
          </p:txBody>
        </p:sp>
        <p:grpSp>
          <p:nvGrpSpPr>
            <p:cNvPr id="40" name="Group 40"/>
            <p:cNvGrpSpPr/>
            <p:nvPr/>
          </p:nvGrpSpPr>
          <p:grpSpPr>
            <a:xfrm>
              <a:off x="8429625" y="1476375"/>
              <a:ext cx="381001" cy="381001"/>
              <a:chOff x="8429625" y="1476375"/>
              <a:chExt cx="381001" cy="381001"/>
            </a:xfrm>
          </p:grpSpPr>
          <p:sp>
            <p:nvSpPr>
              <p:cNvPr id="37" name="Freeform 37"/>
              <p:cNvSpPr/>
              <p:nvPr/>
            </p:nvSpPr>
            <p:spPr>
              <a:xfrm>
                <a:off x="8548688" y="1476375"/>
                <a:ext cx="261938" cy="261938"/>
              </a:xfrm>
              <a:custGeom>
                <a:avLst/>
                <a:gdLst/>
                <a:ahLst/>
                <a:cxnLst/>
                <a:rect l="l" t="t" r="r" b="b"/>
                <a:pathLst>
                  <a:path w="261938" h="261938">
                    <a:moveTo>
                      <a:pt x="48822" y="36565"/>
                    </a:moveTo>
                    <a:cubicBezTo>
                      <a:pt x="72234" y="13153"/>
                      <a:pt x="103987" y="0"/>
                      <a:pt x="137098" y="0"/>
                    </a:cubicBezTo>
                    <a:cubicBezTo>
                      <a:pt x="206045" y="0"/>
                      <a:pt x="261938" y="55893"/>
                      <a:pt x="261938" y="124840"/>
                    </a:cubicBezTo>
                    <a:cubicBezTo>
                      <a:pt x="261938" y="157950"/>
                      <a:pt x="248786" y="189704"/>
                      <a:pt x="225373" y="213116"/>
                    </a:cubicBezTo>
                    <a:lnTo>
                      <a:pt x="176551" y="261938"/>
                    </a:lnTo>
                    <a:lnTo>
                      <a:pt x="142875" y="228262"/>
                    </a:lnTo>
                    <a:lnTo>
                      <a:pt x="191698" y="179440"/>
                    </a:lnTo>
                    <a:cubicBezTo>
                      <a:pt x="206178" y="164959"/>
                      <a:pt x="214312" y="145319"/>
                      <a:pt x="214312" y="124840"/>
                    </a:cubicBezTo>
                    <a:cubicBezTo>
                      <a:pt x="214312" y="82196"/>
                      <a:pt x="179742" y="47625"/>
                      <a:pt x="137098" y="47625"/>
                    </a:cubicBezTo>
                    <a:cubicBezTo>
                      <a:pt x="116618" y="47625"/>
                      <a:pt x="96978" y="55760"/>
                      <a:pt x="82498" y="70241"/>
                    </a:cubicBezTo>
                    <a:lnTo>
                      <a:pt x="33676" y="119062"/>
                    </a:lnTo>
                    <a:lnTo>
                      <a:pt x="0" y="85387"/>
                    </a:lnTo>
                    <a:lnTo>
                      <a:pt x="48822" y="36565"/>
                    </a:lnTo>
                    <a:close/>
                  </a:path>
                </a:pathLst>
              </a:custGeom>
              <a:solidFill>
                <a:srgbClr val="1A3C5E"/>
              </a:solidFill>
              <a:ln>
                <a:noFill/>
              </a:ln>
              <a:effectLst>
                <a:outerShdw blurRad="76200" dist="19050" dir="5400000" algn="ctr" rotWithShape="0">
                  <a:srgbClr val="0F172A">
                    <a:alpha val="3750"/>
                  </a:srgbClr>
                </a:outerShdw>
              </a:effectLst>
            </p:spPr>
          </p:sp>
          <p:sp>
            <p:nvSpPr>
              <p:cNvPr id="38" name="Freeform 38"/>
              <p:cNvSpPr/>
              <p:nvPr/>
            </p:nvSpPr>
            <p:spPr>
              <a:xfrm>
                <a:off x="8429625" y="1595438"/>
                <a:ext cx="261938" cy="261938"/>
              </a:xfrm>
              <a:custGeom>
                <a:avLst/>
                <a:gdLst/>
                <a:ahLst/>
                <a:cxnLst/>
                <a:rect l="l" t="t" r="r" b="b"/>
                <a:pathLst>
                  <a:path w="261938" h="261938">
                    <a:moveTo>
                      <a:pt x="179440" y="191698"/>
                    </a:moveTo>
                    <a:lnTo>
                      <a:pt x="228262" y="142875"/>
                    </a:lnTo>
                    <a:lnTo>
                      <a:pt x="261938" y="176551"/>
                    </a:lnTo>
                    <a:lnTo>
                      <a:pt x="213116" y="225373"/>
                    </a:lnTo>
                    <a:cubicBezTo>
                      <a:pt x="189704" y="248786"/>
                      <a:pt x="157950" y="261938"/>
                      <a:pt x="124840" y="261938"/>
                    </a:cubicBezTo>
                    <a:cubicBezTo>
                      <a:pt x="55893" y="261938"/>
                      <a:pt x="0" y="206045"/>
                      <a:pt x="0" y="137098"/>
                    </a:cubicBezTo>
                    <a:cubicBezTo>
                      <a:pt x="0" y="103988"/>
                      <a:pt x="13153" y="72234"/>
                      <a:pt x="36565" y="48822"/>
                    </a:cubicBezTo>
                    <a:lnTo>
                      <a:pt x="85387" y="0"/>
                    </a:lnTo>
                    <a:lnTo>
                      <a:pt x="119062" y="33676"/>
                    </a:lnTo>
                    <a:lnTo>
                      <a:pt x="70241" y="82498"/>
                    </a:lnTo>
                    <a:cubicBezTo>
                      <a:pt x="55760" y="96978"/>
                      <a:pt x="47625" y="116618"/>
                      <a:pt x="47625" y="137098"/>
                    </a:cubicBezTo>
                    <a:cubicBezTo>
                      <a:pt x="47625" y="179742"/>
                      <a:pt x="82196" y="214312"/>
                      <a:pt x="124840" y="214312"/>
                    </a:cubicBezTo>
                    <a:cubicBezTo>
                      <a:pt x="145319" y="214312"/>
                      <a:pt x="164959" y="206178"/>
                      <a:pt x="179440" y="191698"/>
                    </a:cubicBezTo>
                    <a:close/>
                  </a:path>
                </a:pathLst>
              </a:custGeom>
              <a:solidFill>
                <a:srgbClr val="1A3C5E"/>
              </a:solidFill>
              <a:ln>
                <a:noFill/>
              </a:ln>
              <a:effectLst>
                <a:outerShdw blurRad="76200" dist="19050" dir="5400000" algn="ctr" rotWithShape="0">
                  <a:srgbClr val="0F172A">
                    <a:alpha val="3750"/>
                  </a:srgbClr>
                </a:outerShdw>
              </a:effectLst>
            </p:spPr>
          </p:sp>
          <p:sp>
            <p:nvSpPr>
              <p:cNvPr id="39" name="Freeform 39"/>
              <p:cNvSpPr/>
              <p:nvPr/>
            </p:nvSpPr>
            <p:spPr>
              <a:xfrm>
                <a:off x="8531849" y="1578599"/>
                <a:ext cx="176551" cy="176551"/>
              </a:xfrm>
              <a:custGeom>
                <a:avLst/>
                <a:gdLst/>
                <a:ahLst/>
                <a:cxnLst/>
                <a:rect l="l" t="t" r="r" b="b"/>
                <a:pathLst>
                  <a:path w="176551" h="176551">
                    <a:moveTo>
                      <a:pt x="33676" y="176551"/>
                    </a:moveTo>
                    <a:lnTo>
                      <a:pt x="176551" y="33676"/>
                    </a:lnTo>
                    <a:lnTo>
                      <a:pt x="142875" y="0"/>
                    </a:lnTo>
                    <a:lnTo>
                      <a:pt x="0" y="142875"/>
                    </a:lnTo>
                    <a:lnTo>
                      <a:pt x="33676" y="176551"/>
                    </a:lnTo>
                    <a:close/>
                  </a:path>
                </a:pathLst>
              </a:custGeom>
              <a:solidFill>
                <a:srgbClr val="1A3C5E"/>
              </a:solidFill>
              <a:ln>
                <a:noFill/>
              </a:ln>
              <a:effectLst>
                <a:outerShdw blurRad="76200" dist="19050" dir="5400000" algn="ctr" rotWithShape="0">
                  <a:srgbClr val="0F172A">
                    <a:alpha val="3750"/>
                  </a:srgbClr>
                </a:outerShdw>
              </a:effectLst>
            </p:spPr>
          </p:sp>
        </p:grpSp>
        <p:sp>
          <p:nvSpPr>
            <p:cNvPr id="41" name="TextBox 41"/>
            <p:cNvSpPr txBox="1"/>
            <p:nvPr/>
          </p:nvSpPr>
          <p:spPr>
            <a:xfrm>
              <a:off x="8412480" y="1997392"/>
              <a:ext cx="1546479" cy="27432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350" b="1" dirty="0">
                  <a:solidFill>
                    <a:srgbClr val="1A3C5E"/>
                  </a:solidFill>
                  <a:latin typeface="Arial"/>
                  <a:ea typeface="Microsoft YaHei"/>
                  <a:cs typeface="Arial"/>
                </a:rPr>
                <a:t>跨域交互范式创新</a:t>
              </a:r>
            </a:p>
          </p:txBody>
        </p:sp>
        <p:sp>
          <p:nvSpPr>
            <p:cNvPr id="42" name="TextBox 42"/>
            <p:cNvSpPr txBox="1"/>
            <p:nvPr/>
          </p:nvSpPr>
          <p:spPr>
            <a:xfrm>
              <a:off x="8418195" y="2284095"/>
              <a:ext cx="1223010" cy="1828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900" dirty="0">
                  <a:solidFill>
                    <a:srgbClr val="999999"/>
                  </a:solidFill>
                  <a:latin typeface="Arial"/>
                  <a:ea typeface="Microsoft YaHei"/>
                  <a:cs typeface="Arial"/>
                </a:rPr>
                <a:t>空地统一任务描述语言</a:t>
              </a:r>
            </a:p>
          </p:txBody>
        </p:sp>
        <p:sp>
          <p:nvSpPr>
            <p:cNvPr id="43" name="Rectangle 43"/>
            <p:cNvSpPr/>
            <p:nvPr/>
          </p:nvSpPr>
          <p:spPr>
            <a:xfrm>
              <a:off x="8429625" y="2552700"/>
              <a:ext cx="2952750" cy="9525"/>
            </a:xfrm>
            <a:prstGeom prst="rect">
              <a:avLst/>
            </a:prstGeom>
            <a:solidFill>
              <a:srgbClr val="D4C5C5"/>
            </a:solidFill>
            <a:ln>
              <a:noFill/>
            </a:ln>
            <a:effectLst>
              <a:outerShdw blurRad="76200" dist="19050" dir="5400000" algn="ctr" rotWithShape="0">
                <a:srgbClr val="0F172A">
                  <a:alpha val="3750"/>
                </a:srgbClr>
              </a:outerShdw>
            </a:effectLst>
          </p:spPr>
        </p:sp>
        <p:sp>
          <p:nvSpPr>
            <p:cNvPr id="44" name="TextBox 44"/>
            <p:cNvSpPr txBox="1"/>
            <p:nvPr/>
          </p:nvSpPr>
          <p:spPr>
            <a:xfrm>
              <a:off x="8415338" y="2736056"/>
              <a:ext cx="1678781"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自适应接口使空、地平台</a:t>
              </a:r>
            </a:p>
          </p:txBody>
        </p:sp>
        <p:sp>
          <p:nvSpPr>
            <p:cNvPr id="45" name="TextBox 45"/>
            <p:cNvSpPr txBox="1"/>
            <p:nvPr/>
          </p:nvSpPr>
          <p:spPr>
            <a:xfrm>
              <a:off x="8415338" y="2993231"/>
              <a:ext cx="1678781"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相互理解意图、共享态势</a:t>
              </a:r>
            </a:p>
          </p:txBody>
        </p:sp>
        <p:sp>
          <p:nvSpPr>
            <p:cNvPr id="46" name="TextBox 46"/>
            <p:cNvSpPr txBox="1"/>
            <p:nvPr/>
          </p:nvSpPr>
          <p:spPr>
            <a:xfrm>
              <a:off x="8415338" y="3250406"/>
              <a:ext cx="778669"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并接力作业</a:t>
              </a:r>
            </a:p>
          </p:txBody>
        </p:sp>
      </p:grpSp>
      <p:grpSp>
        <p:nvGrpSpPr>
          <p:cNvPr id="56" name="Group 56"/>
          <p:cNvGrpSpPr/>
          <p:nvPr/>
        </p:nvGrpSpPr>
        <p:grpSpPr>
          <a:xfrm>
            <a:off x="476250" y="3952875"/>
            <a:ext cx="3619500" cy="2190750"/>
            <a:chOff x="476250" y="3952875"/>
            <a:chExt cx="3619500" cy="2190750"/>
          </a:xfrm>
          <a:effectLst>
            <a:outerShdw blurRad="76200" dist="19050" dir="5400000" algn="ctr" rotWithShape="0">
              <a:srgbClr val="0F172A">
                <a:alpha val="3750"/>
              </a:srgbClr>
            </a:outerShdw>
          </a:effectLst>
        </p:grpSpPr>
        <p:sp>
          <p:nvSpPr>
            <p:cNvPr id="48" name="Rectangle 48"/>
            <p:cNvSpPr/>
            <p:nvPr/>
          </p:nvSpPr>
          <p:spPr>
            <a:xfrm>
              <a:off x="476250" y="3952875"/>
              <a:ext cx="3619500" cy="2190750"/>
            </a:xfrm>
            <a:prstGeom prst="roundRect">
              <a:avLst>
                <a:gd name="adj" fmla="val 3478"/>
              </a:avLst>
            </a:prstGeom>
            <a:solidFill>
              <a:srgbClr val="FFFFFF"/>
            </a:solidFill>
            <a:ln w="9525">
              <a:solidFill>
                <a:srgbClr val="D4C5C5"/>
              </a:solidFill>
            </a:ln>
            <a:effectLst>
              <a:outerShdw blurRad="76200" dist="19050" dir="5400000" algn="ctr" rotWithShape="0">
                <a:srgbClr val="0F172A">
                  <a:alpha val="3750"/>
                </a:srgbClr>
              </a:outerShdw>
            </a:effectLst>
          </p:spPr>
        </p:sp>
        <p:sp>
          <p:nvSpPr>
            <p:cNvPr id="49" name="TextBox 49"/>
            <p:cNvSpPr txBox="1"/>
            <p:nvPr/>
          </p:nvSpPr>
          <p:spPr>
            <a:xfrm>
              <a:off x="3209811" y="4088130"/>
              <a:ext cx="645909" cy="73152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r"/>
              <a:r>
                <a:rPr lang="zh-CN" sz="3600" b="1" dirty="0">
                  <a:solidFill>
                    <a:srgbClr val="8B0000">
                      <a:alphaMod val="8000"/>
                    </a:srgbClr>
                  </a:solidFill>
                  <a:latin typeface="Arial"/>
                  <a:ea typeface="Microsoft YaHei"/>
                  <a:cs typeface="Arial"/>
                </a:rPr>
                <a:t>04</a:t>
              </a:r>
            </a:p>
          </p:txBody>
        </p:sp>
        <p:sp>
          <p:nvSpPr>
            <p:cNvPr id="50" name="Freeform 50"/>
            <p:cNvSpPr/>
            <p:nvPr/>
          </p:nvSpPr>
          <p:spPr>
            <a:xfrm>
              <a:off x="809625" y="4286250"/>
              <a:ext cx="381000" cy="381000"/>
            </a:xfrm>
            <a:custGeom>
              <a:avLst/>
              <a:gdLst/>
              <a:ahLst/>
              <a:cxnLst/>
              <a:rect l="l" t="t" r="r" b="b"/>
              <a:pathLst>
                <a:path w="381000" h="381000">
                  <a:moveTo>
                    <a:pt x="190500" y="47625"/>
                  </a:moveTo>
                  <a:cubicBezTo>
                    <a:pt x="111592" y="47625"/>
                    <a:pt x="47625" y="111592"/>
                    <a:pt x="47625" y="190500"/>
                  </a:cubicBezTo>
                  <a:cubicBezTo>
                    <a:pt x="47625" y="269407"/>
                    <a:pt x="111592" y="333375"/>
                    <a:pt x="190500" y="333375"/>
                  </a:cubicBezTo>
                  <a:cubicBezTo>
                    <a:pt x="269407" y="333375"/>
                    <a:pt x="333375" y="269407"/>
                    <a:pt x="333375" y="190500"/>
                  </a:cubicBezTo>
                  <a:cubicBezTo>
                    <a:pt x="333375" y="177701"/>
                    <a:pt x="331691" y="165296"/>
                    <a:pt x="328536" y="153492"/>
                  </a:cubicBezTo>
                  <a:lnTo>
                    <a:pt x="365924" y="116103"/>
                  </a:lnTo>
                  <a:cubicBezTo>
                    <a:pt x="375630" y="138960"/>
                    <a:pt x="381000" y="164103"/>
                    <a:pt x="381000" y="190500"/>
                  </a:cubicBezTo>
                  <a:cubicBezTo>
                    <a:pt x="381000" y="295711"/>
                    <a:pt x="295711" y="381000"/>
                    <a:pt x="190500" y="381000"/>
                  </a:cubicBezTo>
                  <a:cubicBezTo>
                    <a:pt x="85290" y="381000"/>
                    <a:pt x="0" y="295711"/>
                    <a:pt x="0" y="190500"/>
                  </a:cubicBezTo>
                  <a:cubicBezTo>
                    <a:pt x="0" y="85290"/>
                    <a:pt x="85290" y="0"/>
                    <a:pt x="190500" y="0"/>
                  </a:cubicBezTo>
                  <a:cubicBezTo>
                    <a:pt x="234522" y="0"/>
                    <a:pt x="275058" y="14932"/>
                    <a:pt x="307315" y="40008"/>
                  </a:cubicBezTo>
                  <a:lnTo>
                    <a:pt x="340350" y="6975"/>
                  </a:lnTo>
                  <a:lnTo>
                    <a:pt x="374025" y="40651"/>
                  </a:lnTo>
                  <a:lnTo>
                    <a:pt x="207338" y="207338"/>
                  </a:lnTo>
                  <a:lnTo>
                    <a:pt x="173662" y="173662"/>
                  </a:lnTo>
                  <a:lnTo>
                    <a:pt x="202833" y="144491"/>
                  </a:lnTo>
                  <a:cubicBezTo>
                    <a:pt x="186944" y="140248"/>
                    <a:pt x="169289" y="144359"/>
                    <a:pt x="156824" y="156824"/>
                  </a:cubicBezTo>
                  <a:cubicBezTo>
                    <a:pt x="138225" y="175423"/>
                    <a:pt x="138225" y="205577"/>
                    <a:pt x="156824" y="224176"/>
                  </a:cubicBezTo>
                  <a:cubicBezTo>
                    <a:pt x="175423" y="242776"/>
                    <a:pt x="205577" y="242776"/>
                    <a:pt x="224176" y="224176"/>
                  </a:cubicBezTo>
                  <a:lnTo>
                    <a:pt x="257851" y="257851"/>
                  </a:lnTo>
                  <a:cubicBezTo>
                    <a:pt x="220654" y="295049"/>
                    <a:pt x="160346" y="295049"/>
                    <a:pt x="123148" y="257851"/>
                  </a:cubicBezTo>
                  <a:cubicBezTo>
                    <a:pt x="85951" y="220654"/>
                    <a:pt x="85951" y="160346"/>
                    <a:pt x="123148" y="123148"/>
                  </a:cubicBezTo>
                  <a:cubicBezTo>
                    <a:pt x="154531" y="91765"/>
                    <a:pt x="202366" y="86859"/>
                    <a:pt x="238892" y="108432"/>
                  </a:cubicBezTo>
                  <a:lnTo>
                    <a:pt x="273284" y="74039"/>
                  </a:lnTo>
                  <a:cubicBezTo>
                    <a:pt x="249929" y="57407"/>
                    <a:pt x="221357" y="47625"/>
                    <a:pt x="190500" y="47625"/>
                  </a:cubicBezTo>
                  <a:close/>
                </a:path>
              </a:pathLst>
            </a:custGeom>
            <a:solidFill>
              <a:srgbClr val="8B0000"/>
            </a:solidFill>
            <a:ln>
              <a:noFill/>
            </a:ln>
            <a:effectLst>
              <a:outerShdw blurRad="76200" dist="19050" dir="5400000" algn="ctr" rotWithShape="0">
                <a:srgbClr val="0F172A">
                  <a:alpha val="3750"/>
                </a:srgbClr>
              </a:outerShdw>
            </a:effectLst>
          </p:spPr>
        </p:sp>
        <p:sp>
          <p:nvSpPr>
            <p:cNvPr id="51" name="TextBox 51"/>
            <p:cNvSpPr txBox="1"/>
            <p:nvPr/>
          </p:nvSpPr>
          <p:spPr>
            <a:xfrm>
              <a:off x="792480" y="4807268"/>
              <a:ext cx="1357455" cy="27432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350" b="1" dirty="0">
                  <a:solidFill>
                    <a:srgbClr val="8B0000"/>
                  </a:solidFill>
                  <a:latin typeface="Arial"/>
                  <a:ea typeface="Microsoft YaHei"/>
                  <a:cs typeface="Arial"/>
                </a:rPr>
                <a:t>空间关键性图谱</a:t>
              </a:r>
            </a:p>
          </p:txBody>
        </p:sp>
        <p:sp>
          <p:nvSpPr>
            <p:cNvPr id="52" name="TextBox 52"/>
            <p:cNvSpPr txBox="1"/>
            <p:nvPr/>
          </p:nvSpPr>
          <p:spPr>
            <a:xfrm>
              <a:off x="798195" y="5093970"/>
              <a:ext cx="742950" cy="1828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900" dirty="0">
                  <a:solidFill>
                    <a:srgbClr val="999999"/>
                  </a:solidFill>
                  <a:latin typeface="Arial"/>
                  <a:ea typeface="Microsoft YaHei"/>
                  <a:cs typeface="Arial"/>
                </a:rPr>
                <a:t>稀疏特征传输</a:t>
              </a:r>
            </a:p>
          </p:txBody>
        </p:sp>
        <p:sp>
          <p:nvSpPr>
            <p:cNvPr id="53" name="Rectangle 53"/>
            <p:cNvSpPr/>
            <p:nvPr/>
          </p:nvSpPr>
          <p:spPr>
            <a:xfrm>
              <a:off x="809625" y="5334000"/>
              <a:ext cx="2952750" cy="9525"/>
            </a:xfrm>
            <a:prstGeom prst="rect">
              <a:avLst/>
            </a:prstGeom>
            <a:solidFill>
              <a:srgbClr val="D4C5C5"/>
            </a:solidFill>
            <a:ln>
              <a:noFill/>
            </a:ln>
            <a:effectLst>
              <a:outerShdw blurRad="76200" dist="19050" dir="5400000" algn="ctr" rotWithShape="0">
                <a:srgbClr val="0F172A">
                  <a:alpha val="3750"/>
                </a:srgbClr>
              </a:outerShdw>
            </a:effectLst>
          </p:spPr>
        </p:sp>
        <p:sp>
          <p:nvSpPr>
            <p:cNvPr id="54" name="TextBox 54"/>
            <p:cNvSpPr txBox="1"/>
            <p:nvPr/>
          </p:nvSpPr>
          <p:spPr>
            <a:xfrm>
              <a:off x="795338" y="5498306"/>
              <a:ext cx="1978819"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实时评估环境区域感知重要性</a:t>
              </a:r>
            </a:p>
          </p:txBody>
        </p:sp>
        <p:sp>
          <p:nvSpPr>
            <p:cNvPr id="55" name="TextBox 55"/>
            <p:cNvSpPr txBox="1"/>
            <p:nvPr/>
          </p:nvSpPr>
          <p:spPr>
            <a:xfrm>
              <a:off x="795338" y="5755481"/>
              <a:ext cx="3298984"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仅传输关键区域稀疏特征，通信带宽降低10-100倍</a:t>
              </a:r>
            </a:p>
          </p:txBody>
        </p:sp>
      </p:grpSp>
      <p:grpSp>
        <p:nvGrpSpPr>
          <p:cNvPr id="69" name="Group 69"/>
          <p:cNvGrpSpPr/>
          <p:nvPr/>
        </p:nvGrpSpPr>
        <p:grpSpPr>
          <a:xfrm>
            <a:off x="4286250" y="3952875"/>
            <a:ext cx="3619500" cy="2190750"/>
            <a:chOff x="4286250" y="3952875"/>
            <a:chExt cx="3619500" cy="2190750"/>
          </a:xfrm>
          <a:effectLst>
            <a:outerShdw blurRad="76200" dist="19050" dir="5400000" algn="ctr" rotWithShape="0">
              <a:srgbClr val="0F172A">
                <a:alpha val="3750"/>
              </a:srgbClr>
            </a:outerShdw>
          </a:effectLst>
        </p:grpSpPr>
        <p:sp>
          <p:nvSpPr>
            <p:cNvPr id="57" name="Rectangle 57"/>
            <p:cNvSpPr/>
            <p:nvPr/>
          </p:nvSpPr>
          <p:spPr>
            <a:xfrm>
              <a:off x="4286250" y="3952875"/>
              <a:ext cx="3619500" cy="2190750"/>
            </a:xfrm>
            <a:prstGeom prst="roundRect">
              <a:avLst>
                <a:gd name="adj" fmla="val 3478"/>
              </a:avLst>
            </a:prstGeom>
            <a:solidFill>
              <a:srgbClr val="FFFFFF"/>
            </a:solidFill>
            <a:ln w="9525">
              <a:solidFill>
                <a:srgbClr val="D4C5C5"/>
              </a:solidFill>
            </a:ln>
            <a:effectLst>
              <a:outerShdw blurRad="76200" dist="19050" dir="5400000" algn="ctr" rotWithShape="0">
                <a:srgbClr val="0F172A">
                  <a:alpha val="3750"/>
                </a:srgbClr>
              </a:outerShdw>
            </a:effectLst>
          </p:spPr>
        </p:sp>
        <p:sp>
          <p:nvSpPr>
            <p:cNvPr id="58" name="TextBox 58"/>
            <p:cNvSpPr txBox="1"/>
            <p:nvPr/>
          </p:nvSpPr>
          <p:spPr>
            <a:xfrm>
              <a:off x="7019811" y="4088130"/>
              <a:ext cx="645909" cy="73152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r"/>
              <a:r>
                <a:rPr lang="zh-CN" sz="3600" b="1" dirty="0">
                  <a:solidFill>
                    <a:srgbClr val="C41E3A">
                      <a:alphaMod val="8000"/>
                    </a:srgbClr>
                  </a:solidFill>
                  <a:latin typeface="Arial"/>
                  <a:ea typeface="Microsoft YaHei"/>
                  <a:cs typeface="Arial"/>
                </a:rPr>
                <a:t>05</a:t>
              </a:r>
            </a:p>
          </p:txBody>
        </p:sp>
        <p:grpSp>
          <p:nvGrpSpPr>
            <p:cNvPr id="63" name="Group 63"/>
            <p:cNvGrpSpPr/>
            <p:nvPr/>
          </p:nvGrpSpPr>
          <p:grpSpPr>
            <a:xfrm>
              <a:off x="4643438" y="4310062"/>
              <a:ext cx="333375" cy="333376"/>
              <a:chOff x="4643438" y="4310062"/>
              <a:chExt cx="333375" cy="333376"/>
            </a:xfrm>
          </p:grpSpPr>
          <p:sp>
            <p:nvSpPr>
              <p:cNvPr id="59" name="Freeform 59"/>
              <p:cNvSpPr/>
              <p:nvPr/>
            </p:nvSpPr>
            <p:spPr>
              <a:xfrm>
                <a:off x="4929188" y="4310062"/>
                <a:ext cx="47625" cy="333375"/>
              </a:xfrm>
              <a:custGeom>
                <a:avLst/>
                <a:gdLst/>
                <a:ahLst/>
                <a:cxnLst/>
                <a:rect l="l" t="t" r="r" b="b"/>
                <a:pathLst>
                  <a:path w="47625" h="333375">
                    <a:moveTo>
                      <a:pt x="0" y="0"/>
                    </a:moveTo>
                    <a:lnTo>
                      <a:pt x="0" y="333375"/>
                    </a:lnTo>
                    <a:lnTo>
                      <a:pt x="47625" y="333375"/>
                    </a:lnTo>
                    <a:lnTo>
                      <a:pt x="47625" y="0"/>
                    </a:lnTo>
                    <a:lnTo>
                      <a:pt x="0" y="0"/>
                    </a:lnTo>
                    <a:close/>
                  </a:path>
                </a:pathLst>
              </a:custGeom>
              <a:solidFill>
                <a:srgbClr val="C41E3A"/>
              </a:solidFill>
              <a:ln>
                <a:noFill/>
              </a:ln>
              <a:effectLst>
                <a:outerShdw blurRad="76200" dist="19050" dir="5400000" algn="ctr" rotWithShape="0">
                  <a:srgbClr val="0F172A">
                    <a:alpha val="3750"/>
                  </a:srgbClr>
                </a:outerShdw>
              </a:effectLst>
            </p:spPr>
          </p:sp>
          <p:sp>
            <p:nvSpPr>
              <p:cNvPr id="60" name="Freeform 60"/>
              <p:cNvSpPr/>
              <p:nvPr/>
            </p:nvSpPr>
            <p:spPr>
              <a:xfrm>
                <a:off x="4833938" y="4381500"/>
                <a:ext cx="47625" cy="261938"/>
              </a:xfrm>
              <a:custGeom>
                <a:avLst/>
                <a:gdLst/>
                <a:ahLst/>
                <a:cxnLst/>
                <a:rect l="l" t="t" r="r" b="b"/>
                <a:pathLst>
                  <a:path w="47625" h="261938">
                    <a:moveTo>
                      <a:pt x="0" y="0"/>
                    </a:moveTo>
                    <a:lnTo>
                      <a:pt x="0" y="261938"/>
                    </a:lnTo>
                    <a:lnTo>
                      <a:pt x="47625" y="261938"/>
                    </a:lnTo>
                    <a:lnTo>
                      <a:pt x="47625" y="0"/>
                    </a:lnTo>
                    <a:lnTo>
                      <a:pt x="0" y="0"/>
                    </a:lnTo>
                    <a:close/>
                  </a:path>
                </a:pathLst>
              </a:custGeom>
              <a:solidFill>
                <a:srgbClr val="C41E3A"/>
              </a:solidFill>
              <a:ln>
                <a:noFill/>
              </a:ln>
              <a:effectLst>
                <a:outerShdw blurRad="76200" dist="19050" dir="5400000" algn="ctr" rotWithShape="0">
                  <a:srgbClr val="0F172A">
                    <a:alpha val="3750"/>
                  </a:srgbClr>
                </a:outerShdw>
              </a:effectLst>
            </p:spPr>
          </p:sp>
          <p:sp>
            <p:nvSpPr>
              <p:cNvPr id="61" name="Freeform 61"/>
              <p:cNvSpPr/>
              <p:nvPr/>
            </p:nvSpPr>
            <p:spPr>
              <a:xfrm>
                <a:off x="4738688" y="4452938"/>
                <a:ext cx="47625" cy="190500"/>
              </a:xfrm>
              <a:custGeom>
                <a:avLst/>
                <a:gdLst/>
                <a:ahLst/>
                <a:cxnLst/>
                <a:rect l="l" t="t" r="r" b="b"/>
                <a:pathLst>
                  <a:path w="47625" h="190500">
                    <a:moveTo>
                      <a:pt x="0" y="190500"/>
                    </a:moveTo>
                    <a:lnTo>
                      <a:pt x="0" y="0"/>
                    </a:lnTo>
                    <a:lnTo>
                      <a:pt x="47625" y="0"/>
                    </a:lnTo>
                    <a:lnTo>
                      <a:pt x="47625" y="190500"/>
                    </a:lnTo>
                    <a:lnTo>
                      <a:pt x="0" y="190500"/>
                    </a:lnTo>
                    <a:close/>
                  </a:path>
                </a:pathLst>
              </a:custGeom>
              <a:solidFill>
                <a:srgbClr val="C41E3A"/>
              </a:solidFill>
              <a:ln>
                <a:noFill/>
              </a:ln>
              <a:effectLst>
                <a:outerShdw blurRad="76200" dist="19050" dir="5400000" algn="ctr" rotWithShape="0">
                  <a:srgbClr val="0F172A">
                    <a:alpha val="3750"/>
                  </a:srgbClr>
                </a:outerShdw>
              </a:effectLst>
            </p:spPr>
          </p:sp>
          <p:sp>
            <p:nvSpPr>
              <p:cNvPr id="62" name="Freeform 62"/>
              <p:cNvSpPr/>
              <p:nvPr/>
            </p:nvSpPr>
            <p:spPr>
              <a:xfrm>
                <a:off x="4643438" y="4524375"/>
                <a:ext cx="47625" cy="119062"/>
              </a:xfrm>
              <a:custGeom>
                <a:avLst/>
                <a:gdLst/>
                <a:ahLst/>
                <a:cxnLst/>
                <a:rect l="l" t="t" r="r" b="b"/>
                <a:pathLst>
                  <a:path w="47625" h="119062">
                    <a:moveTo>
                      <a:pt x="0" y="0"/>
                    </a:moveTo>
                    <a:lnTo>
                      <a:pt x="0" y="119062"/>
                    </a:lnTo>
                    <a:lnTo>
                      <a:pt x="47625" y="119062"/>
                    </a:lnTo>
                    <a:lnTo>
                      <a:pt x="47625" y="0"/>
                    </a:lnTo>
                    <a:lnTo>
                      <a:pt x="0" y="0"/>
                    </a:lnTo>
                    <a:close/>
                  </a:path>
                </a:pathLst>
              </a:custGeom>
              <a:solidFill>
                <a:srgbClr val="C41E3A"/>
              </a:solidFill>
              <a:ln>
                <a:noFill/>
              </a:ln>
              <a:effectLst>
                <a:outerShdw blurRad="76200" dist="19050" dir="5400000" algn="ctr" rotWithShape="0">
                  <a:srgbClr val="0F172A">
                    <a:alpha val="3750"/>
                  </a:srgbClr>
                </a:outerShdw>
              </a:effectLst>
            </p:spPr>
          </p:sp>
        </p:grpSp>
        <p:sp>
          <p:nvSpPr>
            <p:cNvPr id="64" name="TextBox 64"/>
            <p:cNvSpPr txBox="1"/>
            <p:nvPr/>
          </p:nvSpPr>
          <p:spPr>
            <a:xfrm>
              <a:off x="4602480" y="4807268"/>
              <a:ext cx="1735503" cy="27432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350" b="1" dirty="0">
                  <a:solidFill>
                    <a:srgbClr val="C41E3A"/>
                  </a:solidFill>
                  <a:latin typeface="Arial"/>
                  <a:ea typeface="Microsoft YaHei"/>
                  <a:cs typeface="Arial"/>
                </a:rPr>
                <a:t>渐进式带宽协商协议</a:t>
              </a:r>
            </a:p>
          </p:txBody>
        </p:sp>
        <p:sp>
          <p:nvSpPr>
            <p:cNvPr id="65" name="TextBox 65"/>
            <p:cNvSpPr txBox="1"/>
            <p:nvPr/>
          </p:nvSpPr>
          <p:spPr>
            <a:xfrm>
              <a:off x="4608195" y="5093970"/>
              <a:ext cx="862965" cy="1828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900" dirty="0">
                  <a:solidFill>
                    <a:srgbClr val="999999"/>
                  </a:solidFill>
                  <a:latin typeface="Arial"/>
                  <a:ea typeface="Microsoft YaHei"/>
                  <a:cs typeface="Arial"/>
                </a:rPr>
                <a:t>分布式决策方案</a:t>
              </a:r>
            </a:p>
          </p:txBody>
        </p:sp>
        <p:sp>
          <p:nvSpPr>
            <p:cNvPr id="66" name="Rectangle 66"/>
            <p:cNvSpPr/>
            <p:nvPr/>
          </p:nvSpPr>
          <p:spPr>
            <a:xfrm>
              <a:off x="4619625" y="5334000"/>
              <a:ext cx="2952750" cy="9525"/>
            </a:xfrm>
            <a:prstGeom prst="rect">
              <a:avLst/>
            </a:prstGeom>
            <a:solidFill>
              <a:srgbClr val="D4C5C5"/>
            </a:solidFill>
            <a:ln>
              <a:noFill/>
            </a:ln>
            <a:effectLst>
              <a:outerShdw blurRad="76200" dist="19050" dir="5400000" algn="ctr" rotWithShape="0">
                <a:srgbClr val="0F172A">
                  <a:alpha val="3750"/>
                </a:srgbClr>
              </a:outerShdw>
            </a:effectLst>
          </p:spPr>
        </p:sp>
        <p:sp>
          <p:nvSpPr>
            <p:cNvPr id="67" name="TextBox 67"/>
            <p:cNvSpPr txBox="1"/>
            <p:nvPr/>
          </p:nvSpPr>
          <p:spPr>
            <a:xfrm>
              <a:off x="4605338" y="5498306"/>
              <a:ext cx="1978819"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逐轮次下发带宽优先满足需求</a:t>
              </a:r>
            </a:p>
          </p:txBody>
        </p:sp>
        <p:sp>
          <p:nvSpPr>
            <p:cNvPr id="68" name="TextBox 68"/>
            <p:cNvSpPr txBox="1"/>
            <p:nvPr/>
          </p:nvSpPr>
          <p:spPr>
            <a:xfrm>
              <a:off x="4605338" y="5755481"/>
              <a:ext cx="3178969"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不同无人机可调度不同资源，支持百个以上节点</a:t>
              </a:r>
            </a:p>
          </p:txBody>
        </p:sp>
      </p:grpSp>
      <p:grpSp>
        <p:nvGrpSpPr>
          <p:cNvPr id="80" name="Group 80"/>
          <p:cNvGrpSpPr/>
          <p:nvPr/>
        </p:nvGrpSpPr>
        <p:grpSpPr>
          <a:xfrm>
            <a:off x="8096250" y="3952875"/>
            <a:ext cx="3619500" cy="2190750"/>
            <a:chOff x="8096250" y="3952875"/>
            <a:chExt cx="3619500" cy="2190750"/>
          </a:xfrm>
          <a:effectLst>
            <a:outerShdw blurRad="76200" dist="19050" dir="5400000" algn="ctr" rotWithShape="0">
              <a:srgbClr val="0F172A">
                <a:alpha val="3750"/>
              </a:srgbClr>
            </a:outerShdw>
          </a:effectLst>
        </p:grpSpPr>
        <p:sp>
          <p:nvSpPr>
            <p:cNvPr id="70" name="Rectangle 70"/>
            <p:cNvSpPr/>
            <p:nvPr/>
          </p:nvSpPr>
          <p:spPr>
            <a:xfrm>
              <a:off x="8096250" y="3952875"/>
              <a:ext cx="3619500" cy="2190750"/>
            </a:xfrm>
            <a:prstGeom prst="roundRect">
              <a:avLst>
                <a:gd name="adj" fmla="val 3478"/>
              </a:avLst>
            </a:prstGeom>
            <a:solidFill>
              <a:srgbClr val="FFFFFF"/>
            </a:solidFill>
            <a:ln w="9525">
              <a:solidFill>
                <a:srgbClr val="D4C5C5"/>
              </a:solidFill>
            </a:ln>
            <a:effectLst>
              <a:outerShdw blurRad="76200" dist="19050" dir="5400000" algn="ctr" rotWithShape="0">
                <a:srgbClr val="0F172A">
                  <a:alpha val="3750"/>
                </a:srgbClr>
              </a:outerShdw>
            </a:effectLst>
          </p:spPr>
        </p:sp>
        <p:sp>
          <p:nvSpPr>
            <p:cNvPr id="71" name="TextBox 71"/>
            <p:cNvSpPr txBox="1"/>
            <p:nvPr/>
          </p:nvSpPr>
          <p:spPr>
            <a:xfrm>
              <a:off x="10829811" y="4088130"/>
              <a:ext cx="645909" cy="73152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r"/>
              <a:r>
                <a:rPr lang="zh-CN" sz="3600" b="1" dirty="0">
                  <a:solidFill>
                    <a:srgbClr val="1A3C5E">
                      <a:alphaMod val="8000"/>
                    </a:srgbClr>
                  </a:solidFill>
                  <a:latin typeface="Arial"/>
                  <a:ea typeface="Microsoft YaHei"/>
                  <a:cs typeface="Arial"/>
                </a:rPr>
                <a:t>06</a:t>
              </a:r>
            </a:p>
          </p:txBody>
        </p:sp>
        <p:grpSp>
          <p:nvGrpSpPr>
            <p:cNvPr id="74" name="Group 74"/>
            <p:cNvGrpSpPr/>
            <p:nvPr/>
          </p:nvGrpSpPr>
          <p:grpSpPr>
            <a:xfrm>
              <a:off x="8429625" y="4286250"/>
              <a:ext cx="381000" cy="381000"/>
              <a:chOff x="8429625" y="4286250"/>
              <a:chExt cx="381000" cy="381000"/>
            </a:xfrm>
          </p:grpSpPr>
          <p:sp>
            <p:nvSpPr>
              <p:cNvPr id="72" name="Freeform 72"/>
              <p:cNvSpPr/>
              <p:nvPr/>
            </p:nvSpPr>
            <p:spPr>
              <a:xfrm>
                <a:off x="8572500" y="4429125"/>
                <a:ext cx="95250" cy="95250"/>
              </a:xfrm>
              <a:custGeom>
                <a:avLst/>
                <a:gdLst/>
                <a:ahLst/>
                <a:cxnLst/>
                <a:rect l="l" t="t" r="r" b="b"/>
                <a:pathLst>
                  <a:path w="95250" h="95250">
                    <a:moveTo>
                      <a:pt x="0" y="95250"/>
                    </a:moveTo>
                    <a:lnTo>
                      <a:pt x="0" y="0"/>
                    </a:lnTo>
                    <a:lnTo>
                      <a:pt x="95250" y="0"/>
                    </a:lnTo>
                    <a:lnTo>
                      <a:pt x="95250" y="95250"/>
                    </a:lnTo>
                    <a:lnTo>
                      <a:pt x="0" y="95250"/>
                    </a:lnTo>
                    <a:close/>
                  </a:path>
                </a:pathLst>
              </a:custGeom>
              <a:solidFill>
                <a:srgbClr val="1A3C5E"/>
              </a:solidFill>
              <a:ln>
                <a:noFill/>
              </a:ln>
              <a:effectLst>
                <a:outerShdw blurRad="76200" dist="19050" dir="5400000" algn="ctr" rotWithShape="0">
                  <a:srgbClr val="0F172A">
                    <a:alpha val="3750"/>
                  </a:srgbClr>
                </a:outerShdw>
              </a:effectLst>
            </p:spPr>
          </p:sp>
          <p:sp>
            <p:nvSpPr>
              <p:cNvPr id="73" name="Freeform 73"/>
              <p:cNvSpPr/>
              <p:nvPr/>
            </p:nvSpPr>
            <p:spPr>
              <a:xfrm>
                <a:off x="8429625" y="4286250"/>
                <a:ext cx="381000" cy="381000"/>
              </a:xfrm>
              <a:custGeom>
                <a:avLst/>
                <a:gdLst/>
                <a:ahLst/>
                <a:cxnLst/>
                <a:rect l="l" t="t" r="r" b="b"/>
                <a:pathLst>
                  <a:path w="381000" h="381000">
                    <a:moveTo>
                      <a:pt x="71438" y="47625"/>
                    </a:moveTo>
                    <a:lnTo>
                      <a:pt x="71438" y="0"/>
                    </a:lnTo>
                    <a:lnTo>
                      <a:pt x="119062" y="0"/>
                    </a:lnTo>
                    <a:lnTo>
                      <a:pt x="119062" y="47625"/>
                    </a:lnTo>
                    <a:lnTo>
                      <a:pt x="166688" y="47625"/>
                    </a:lnTo>
                    <a:lnTo>
                      <a:pt x="166688" y="0"/>
                    </a:lnTo>
                    <a:lnTo>
                      <a:pt x="214312" y="0"/>
                    </a:lnTo>
                    <a:lnTo>
                      <a:pt x="214312" y="47625"/>
                    </a:lnTo>
                    <a:lnTo>
                      <a:pt x="261938" y="47625"/>
                    </a:lnTo>
                    <a:lnTo>
                      <a:pt x="261938" y="0"/>
                    </a:lnTo>
                    <a:lnTo>
                      <a:pt x="309562" y="0"/>
                    </a:lnTo>
                    <a:lnTo>
                      <a:pt x="309562" y="47625"/>
                    </a:lnTo>
                    <a:lnTo>
                      <a:pt x="333375" y="47625"/>
                    </a:lnTo>
                    <a:lnTo>
                      <a:pt x="333375" y="71438"/>
                    </a:lnTo>
                    <a:lnTo>
                      <a:pt x="381000" y="71438"/>
                    </a:lnTo>
                    <a:lnTo>
                      <a:pt x="381000" y="119062"/>
                    </a:lnTo>
                    <a:lnTo>
                      <a:pt x="333375" y="119062"/>
                    </a:lnTo>
                    <a:lnTo>
                      <a:pt x="333375" y="166688"/>
                    </a:lnTo>
                    <a:lnTo>
                      <a:pt x="381000" y="166688"/>
                    </a:lnTo>
                    <a:lnTo>
                      <a:pt x="381000" y="214312"/>
                    </a:lnTo>
                    <a:lnTo>
                      <a:pt x="333375" y="214312"/>
                    </a:lnTo>
                    <a:lnTo>
                      <a:pt x="333375" y="261938"/>
                    </a:lnTo>
                    <a:lnTo>
                      <a:pt x="381000" y="261938"/>
                    </a:lnTo>
                    <a:lnTo>
                      <a:pt x="381000" y="309562"/>
                    </a:lnTo>
                    <a:lnTo>
                      <a:pt x="333375" y="309562"/>
                    </a:lnTo>
                    <a:lnTo>
                      <a:pt x="333375" y="333375"/>
                    </a:lnTo>
                    <a:lnTo>
                      <a:pt x="309562" y="333375"/>
                    </a:lnTo>
                    <a:lnTo>
                      <a:pt x="309562" y="381000"/>
                    </a:lnTo>
                    <a:lnTo>
                      <a:pt x="261938" y="381000"/>
                    </a:lnTo>
                    <a:lnTo>
                      <a:pt x="261938" y="333375"/>
                    </a:lnTo>
                    <a:lnTo>
                      <a:pt x="214312" y="333375"/>
                    </a:lnTo>
                    <a:lnTo>
                      <a:pt x="214312" y="381000"/>
                    </a:lnTo>
                    <a:lnTo>
                      <a:pt x="166688" y="381000"/>
                    </a:lnTo>
                    <a:lnTo>
                      <a:pt x="166688" y="333375"/>
                    </a:lnTo>
                    <a:lnTo>
                      <a:pt x="119062" y="333375"/>
                    </a:lnTo>
                    <a:lnTo>
                      <a:pt x="119062" y="381000"/>
                    </a:lnTo>
                    <a:lnTo>
                      <a:pt x="71438" y="381000"/>
                    </a:lnTo>
                    <a:lnTo>
                      <a:pt x="71438" y="333375"/>
                    </a:lnTo>
                    <a:lnTo>
                      <a:pt x="47625" y="333375"/>
                    </a:lnTo>
                    <a:lnTo>
                      <a:pt x="47625" y="309562"/>
                    </a:lnTo>
                    <a:lnTo>
                      <a:pt x="0" y="309562"/>
                    </a:lnTo>
                    <a:lnTo>
                      <a:pt x="0" y="261938"/>
                    </a:lnTo>
                    <a:lnTo>
                      <a:pt x="47625" y="261938"/>
                    </a:lnTo>
                    <a:lnTo>
                      <a:pt x="47625" y="214312"/>
                    </a:lnTo>
                    <a:lnTo>
                      <a:pt x="0" y="214312"/>
                    </a:lnTo>
                    <a:lnTo>
                      <a:pt x="0" y="166688"/>
                    </a:lnTo>
                    <a:lnTo>
                      <a:pt x="47625" y="166688"/>
                    </a:lnTo>
                    <a:lnTo>
                      <a:pt x="47625" y="119062"/>
                    </a:lnTo>
                    <a:lnTo>
                      <a:pt x="0" y="119062"/>
                    </a:lnTo>
                    <a:lnTo>
                      <a:pt x="0" y="71438"/>
                    </a:lnTo>
                    <a:lnTo>
                      <a:pt x="47625" y="71438"/>
                    </a:lnTo>
                    <a:lnTo>
                      <a:pt x="47625" y="47625"/>
                    </a:lnTo>
                    <a:lnTo>
                      <a:pt x="71438" y="47625"/>
                    </a:lnTo>
                    <a:close/>
                    <a:moveTo>
                      <a:pt x="95250" y="95250"/>
                    </a:moveTo>
                    <a:lnTo>
                      <a:pt x="95250" y="285750"/>
                    </a:lnTo>
                    <a:lnTo>
                      <a:pt x="285750" y="285750"/>
                    </a:lnTo>
                    <a:lnTo>
                      <a:pt x="285750" y="95250"/>
                    </a:lnTo>
                    <a:lnTo>
                      <a:pt x="95250" y="95250"/>
                    </a:lnTo>
                    <a:close/>
                  </a:path>
                </a:pathLst>
              </a:custGeom>
              <a:solidFill>
                <a:srgbClr val="1A3C5E"/>
              </a:solidFill>
              <a:ln>
                <a:noFill/>
              </a:ln>
              <a:effectLst>
                <a:outerShdw blurRad="76200" dist="19050" dir="5400000" algn="ctr" rotWithShape="0">
                  <a:srgbClr val="0F172A">
                    <a:alpha val="3750"/>
                  </a:srgbClr>
                </a:outerShdw>
              </a:effectLst>
            </p:spPr>
          </p:sp>
        </p:grpSp>
        <p:sp>
          <p:nvSpPr>
            <p:cNvPr id="75" name="TextBox 75"/>
            <p:cNvSpPr txBox="1"/>
            <p:nvPr/>
          </p:nvSpPr>
          <p:spPr>
            <a:xfrm>
              <a:off x="8412480" y="4807268"/>
              <a:ext cx="2160806" cy="27432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350" b="1" dirty="0">
                  <a:solidFill>
                    <a:srgbClr val="1A3C5E"/>
                  </a:solidFill>
                  <a:latin typeface="Arial"/>
                  <a:ea typeface="Microsoft YaHei"/>
                  <a:cs typeface="Arial"/>
                </a:rPr>
                <a:t>轻量级Transformer融合</a:t>
              </a:r>
            </a:p>
          </p:txBody>
        </p:sp>
        <p:sp>
          <p:nvSpPr>
            <p:cNvPr id="76" name="TextBox 76"/>
            <p:cNvSpPr txBox="1"/>
            <p:nvPr/>
          </p:nvSpPr>
          <p:spPr>
            <a:xfrm>
              <a:off x="8418195" y="5093970"/>
              <a:ext cx="1169003" cy="1828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900" dirty="0">
                  <a:solidFill>
                    <a:srgbClr val="999999"/>
                  </a:solidFill>
                  <a:latin typeface="Arial"/>
                  <a:ea typeface="Microsoft YaHei"/>
                  <a:cs typeface="Arial"/>
                </a:rPr>
                <a:t>多头注意力+课程学习</a:t>
              </a:r>
            </a:p>
          </p:txBody>
        </p:sp>
        <p:sp>
          <p:nvSpPr>
            <p:cNvPr id="77" name="Rectangle 77"/>
            <p:cNvSpPr/>
            <p:nvPr/>
          </p:nvSpPr>
          <p:spPr>
            <a:xfrm>
              <a:off x="8429625" y="5334000"/>
              <a:ext cx="2952750" cy="9525"/>
            </a:xfrm>
            <a:prstGeom prst="rect">
              <a:avLst/>
            </a:prstGeom>
            <a:solidFill>
              <a:srgbClr val="D4C5C5"/>
            </a:solidFill>
            <a:ln>
              <a:noFill/>
            </a:ln>
            <a:effectLst>
              <a:outerShdw blurRad="76200" dist="19050" dir="5400000" algn="ctr" rotWithShape="0">
                <a:srgbClr val="0F172A">
                  <a:alpha val="3750"/>
                </a:srgbClr>
              </a:outerShdw>
            </a:effectLst>
          </p:spPr>
        </p:sp>
        <p:sp>
          <p:nvSpPr>
            <p:cNvPr id="78" name="TextBox 78"/>
            <p:cNvSpPr txBox="1"/>
            <p:nvPr/>
          </p:nvSpPr>
          <p:spPr>
            <a:xfrm>
              <a:off x="8415338" y="5498306"/>
              <a:ext cx="2136338"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相机+LiDAR多模态统一线性输入</a:t>
              </a:r>
            </a:p>
          </p:txBody>
        </p:sp>
        <p:sp>
          <p:nvSpPr>
            <p:cNvPr id="79" name="TextBox 79"/>
            <p:cNvSpPr txBox="1"/>
            <p:nvPr/>
          </p:nvSpPr>
          <p:spPr>
            <a:xfrm>
              <a:off x="8415338" y="5755481"/>
              <a:ext cx="1978819"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注意力权重动态调整信息分配</a:t>
              </a:r>
            </a:p>
          </p:txBody>
        </p:sp>
      </p:grpSp>
      <p:grpSp>
        <p:nvGrpSpPr>
          <p:cNvPr id="84" name="Group 84"/>
          <p:cNvGrpSpPr/>
          <p:nvPr/>
        </p:nvGrpSpPr>
        <p:grpSpPr>
          <a:xfrm>
            <a:off x="0" y="6578441"/>
            <a:ext cx="12192000" cy="279559"/>
            <a:chOff x="0" y="6578441"/>
            <a:chExt cx="12192000" cy="279559"/>
          </a:xfrm>
        </p:grpSpPr>
        <p:sp>
          <p:nvSpPr>
            <p:cNvPr id="81" name="Rectangle 81"/>
            <p:cNvSpPr/>
            <p:nvPr/>
          </p:nvSpPr>
          <p:spPr>
            <a:xfrm>
              <a:off x="0" y="6819900"/>
              <a:ext cx="12192000" cy="38100"/>
            </a:xfrm>
            <a:prstGeom prst="rect">
              <a:avLst/>
            </a:prstGeom>
            <a:solidFill>
              <a:srgbClr val="D4C5C5"/>
            </a:solidFill>
            <a:ln>
              <a:noFill/>
            </a:ln>
          </p:spPr>
        </p:sp>
        <p:sp>
          <p:nvSpPr>
            <p:cNvPr id="82" name="TextBox 82"/>
            <p:cNvSpPr txBox="1"/>
            <p:nvPr/>
          </p:nvSpPr>
          <p:spPr>
            <a:xfrm>
              <a:off x="11296483" y="6578441"/>
              <a:ext cx="334494" cy="167640"/>
            </a:xfrm>
            <a:prstGeom prst="rect">
              <a:avLst/>
            </a:prstGeom>
            <a:noFill/>
            <a:ln>
              <a:noFill/>
            </a:ln>
          </p:spPr>
          <p:txBody>
            <a:bodyPr wrap="none" lIns="0" tIns="0" rIns="0" bIns="0" anchor="t" anchorCtr="0">
              <a:spAutoFit/>
            </a:bodyPr>
            <a:lstStyle/>
            <a:p>
              <a:pPr algn="r"/>
              <a:r>
                <a:rPr lang="zh-CN" sz="825" dirty="0">
                  <a:solidFill>
                    <a:srgbClr val="999999"/>
                  </a:solidFill>
                  <a:latin typeface="Arial"/>
                  <a:ea typeface="Microsoft YaHei"/>
                  <a:cs typeface="Arial"/>
                </a:rPr>
                <a:t>12 / 16</a:t>
              </a:r>
            </a:p>
          </p:txBody>
        </p:sp>
        <p:sp>
          <p:nvSpPr>
            <p:cNvPr id="83" name="TextBox 83"/>
            <p:cNvSpPr txBox="1"/>
            <p:nvPr/>
          </p:nvSpPr>
          <p:spPr>
            <a:xfrm>
              <a:off x="561022" y="6578441"/>
              <a:ext cx="1814179" cy="167640"/>
            </a:xfrm>
            <a:prstGeom prst="rect">
              <a:avLst/>
            </a:prstGeom>
            <a:noFill/>
            <a:ln>
              <a:noFill/>
            </a:ln>
          </p:spPr>
          <p:txBody>
            <a:bodyPr wrap="none" lIns="0" tIns="0" rIns="0" bIns="0" anchor="t" anchorCtr="0">
              <a:spAutoFit/>
            </a:bodyPr>
            <a:lstStyle/>
            <a:p>
              <a:pPr algn="l"/>
              <a:r>
                <a:rPr lang="zh-CN" sz="825" dirty="0">
                  <a:solidFill>
                    <a:srgbClr val="999999"/>
                  </a:solidFill>
                  <a:latin typeface="Arial"/>
                  <a:ea typeface="Microsoft YaHei"/>
                  <a:cs typeface="Arial"/>
                </a:rPr>
                <a:t>华中科技大学 人工智能与自动化学院</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left)">
                                      <p:cBhvr>
                                        <p:cTn id="11" dur="400"/>
                                        <p:tgtEl>
                                          <p:spTgt spid="34"/>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slide(fromBottom)">
                                      <p:cBhvr>
                                        <p:cTn id="15" dur="400"/>
                                        <p:tgtEl>
                                          <p:spTgt spid="47"/>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image">
                                      <p:cBhvr>
                                        <p:cTn id="19" dur="400"/>
                                        <p:tgtEl>
                                          <p:spTgt spid="56"/>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69"/>
                                        </p:tgtEl>
                                        <p:attrNameLst>
                                          <p:attrName>style.visibility</p:attrName>
                                        </p:attrNameLst>
                                      </p:cBhvr>
                                      <p:to>
                                        <p:strVal val="visible"/>
                                      </p:to>
                                    </p:set>
                                    <p:animEffect transition="in" filter="fade">
                                      <p:cBhvr>
                                        <p:cTn id="23" dur="400"/>
                                        <p:tgtEl>
                                          <p:spTgt spid="69"/>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80"/>
                                        </p:tgtEl>
                                        <p:attrNameLst>
                                          <p:attrName>style.visibility</p:attrName>
                                        </p:attrNameLst>
                                      </p:cBhvr>
                                      <p:to>
                                        <p:strVal val="visible"/>
                                      </p:to>
                                    </p:set>
                                    <p:animEffect transition="in" filter="wipe(left)">
                                      <p:cBhvr>
                                        <p:cTn id="27" dur="4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4" grpId="0"/>
      <p:bldP spid="47" grpId="0"/>
      <p:bldP spid="56" grpId="0"/>
      <p:bldP spid="69" grpId="0"/>
      <p:bldP spid="8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gradFill>
              <a:gsLst>
                <a:gs pos="0">
                  <a:srgbClr val="8B0000"/>
                </a:gs>
                <a:gs pos="100000">
                  <a:srgbClr val="C41E3A"/>
                </a:gs>
              </a:gsLst>
              <a:lin ang="0" scaled="1"/>
            </a:gradFill>
            <a:ln>
              <a:noFill/>
            </a:ln>
          </p:spPr>
        </p:sp>
      </p:grpSp>
      <p:grpSp>
        <p:nvGrpSpPr>
          <p:cNvPr id="8" name="Group 8"/>
          <p:cNvGrpSpPr/>
          <p:nvPr/>
        </p:nvGrpSpPr>
        <p:grpSpPr>
          <a:xfrm>
            <a:off x="731520" y="264795"/>
            <a:ext cx="3219755" cy="601980"/>
            <a:chOff x="731520" y="264795"/>
            <a:chExt cx="3219755" cy="601980"/>
          </a:xfrm>
        </p:grpSpPr>
        <p:sp>
          <p:nvSpPr>
            <p:cNvPr id="5" name="TextBox 5"/>
            <p:cNvSpPr txBox="1"/>
            <p:nvPr/>
          </p:nvSpPr>
          <p:spPr>
            <a:xfrm>
              <a:off x="731520" y="264795"/>
              <a:ext cx="3219755" cy="487680"/>
            </a:xfrm>
            <a:prstGeom prst="rect">
              <a:avLst/>
            </a:prstGeom>
            <a:noFill/>
            <a:ln>
              <a:noFill/>
            </a:ln>
          </p:spPr>
          <p:txBody>
            <a:bodyPr wrap="none" lIns="0" tIns="0" rIns="0" bIns="0" anchor="t" anchorCtr="0">
              <a:spAutoFit/>
            </a:bodyPr>
            <a:lstStyle/>
            <a:p>
              <a:pPr algn="l"/>
              <a:r>
                <a:rPr lang="zh-CN" sz="2400" b="1" dirty="0">
                  <a:solidFill>
                    <a:srgbClr val="8B0000"/>
                  </a:solidFill>
                  <a:latin typeface="Arial"/>
                  <a:ea typeface="Microsoft YaHei"/>
                  <a:cs typeface="Arial"/>
                </a:rPr>
                <a:t>项目创新与特色 (下)</a:t>
              </a:r>
            </a:p>
          </p:txBody>
        </p:sp>
        <p:sp>
          <p:nvSpPr>
            <p:cNvPr id="6" name="TextBox 6"/>
            <p:cNvSpPr txBox="1"/>
            <p:nvPr/>
          </p:nvSpPr>
          <p:spPr>
            <a:xfrm>
              <a:off x="749618" y="637699"/>
              <a:ext cx="1454944" cy="198120"/>
            </a:xfrm>
            <a:prstGeom prst="rect">
              <a:avLst/>
            </a:prstGeom>
            <a:noFill/>
            <a:ln>
              <a:noFill/>
            </a:ln>
          </p:spPr>
          <p:txBody>
            <a:bodyPr wrap="none" lIns="0" tIns="0" rIns="0" bIns="0" anchor="t" anchorCtr="0">
              <a:spAutoFit/>
            </a:bodyPr>
            <a:lstStyle/>
            <a:p>
              <a:pPr algn="l"/>
              <a:r>
                <a:rPr lang="zh-CN" sz="975" dirty="0">
                  <a:solidFill>
                    <a:srgbClr val="999999"/>
                  </a:solidFill>
                  <a:latin typeface="Arial"/>
                  <a:ea typeface="Microsoft YaHei"/>
                  <a:cs typeface="Arial"/>
                </a:rPr>
                <a:t>核心创新理念与技术深化</a:t>
              </a:r>
            </a:p>
          </p:txBody>
        </p:sp>
        <p:sp>
          <p:nvSpPr>
            <p:cNvPr id="7" name="Rectangle 7"/>
            <p:cNvSpPr/>
            <p:nvPr/>
          </p:nvSpPr>
          <p:spPr>
            <a:xfrm>
              <a:off x="762000" y="838200"/>
              <a:ext cx="476250" cy="28575"/>
            </a:xfrm>
            <a:prstGeom prst="rect">
              <a:avLst/>
            </a:prstGeom>
            <a:solidFill>
              <a:srgbClr val="C41E3A"/>
            </a:solidFill>
            <a:ln>
              <a:noFill/>
            </a:ln>
          </p:spPr>
        </p:sp>
      </p:grpSp>
      <p:grpSp>
        <p:nvGrpSpPr>
          <p:cNvPr id="13" name="Group 13"/>
          <p:cNvGrpSpPr/>
          <p:nvPr/>
        </p:nvGrpSpPr>
        <p:grpSpPr>
          <a:xfrm>
            <a:off x="571500" y="1095375"/>
            <a:ext cx="11049000" cy="1238250"/>
            <a:chOff x="571500" y="1095375"/>
            <a:chExt cx="11049000" cy="1238250"/>
          </a:xfrm>
          <a:effectLst>
            <a:outerShdw blurRad="76200" dist="19050" dir="5400000" algn="ctr" rotWithShape="0">
              <a:srgbClr val="0F172A">
                <a:alpha val="3750"/>
              </a:srgbClr>
            </a:outerShdw>
          </a:effectLst>
        </p:grpSpPr>
        <p:sp>
          <p:nvSpPr>
            <p:cNvPr id="9" name="Rectangle 9"/>
            <p:cNvSpPr/>
            <p:nvPr/>
          </p:nvSpPr>
          <p:spPr>
            <a:xfrm>
              <a:off x="571500" y="1095375"/>
              <a:ext cx="11049000" cy="1238250"/>
            </a:xfrm>
            <a:prstGeom prst="roundRect">
              <a:avLst>
                <a:gd name="adj" fmla="val 6154"/>
              </a:avLst>
            </a:prstGeom>
            <a:solidFill>
              <a:srgbClr val="F8F2F2"/>
            </a:solidFill>
            <a:ln w="9525">
              <a:solidFill>
                <a:srgbClr val="D4C5C5"/>
              </a:solidFill>
            </a:ln>
            <a:effectLst>
              <a:outerShdw blurRad="76200" dist="19050" dir="5400000" algn="ctr" rotWithShape="0">
                <a:srgbClr val="0F172A">
                  <a:alpha val="3750"/>
                </a:srgbClr>
              </a:outerShdw>
            </a:effectLst>
          </p:spPr>
        </p:sp>
        <p:sp>
          <p:nvSpPr>
            <p:cNvPr id="10" name="Rectangle 10"/>
            <p:cNvSpPr/>
            <p:nvPr/>
          </p:nvSpPr>
          <p:spPr>
            <a:xfrm>
              <a:off x="571500" y="1095375"/>
              <a:ext cx="57150" cy="1238250"/>
            </a:xfrm>
            <a:prstGeom prst="roundRect">
              <a:avLst>
                <a:gd name="adj" fmla="val 50000"/>
              </a:avLst>
            </a:prstGeom>
            <a:gradFill>
              <a:gsLst>
                <a:gs pos="0">
                  <a:srgbClr val="8B0000"/>
                </a:gs>
                <a:gs pos="100000">
                  <a:srgbClr val="C41E3A"/>
                </a:gs>
              </a:gsLst>
              <a:lin ang="0" scaled="1"/>
            </a:gradFill>
            <a:ln>
              <a:noFill/>
            </a:ln>
            <a:effectLst>
              <a:outerShdw blurRad="76200" dist="19050" dir="5400000" algn="ctr" rotWithShape="0">
                <a:srgbClr val="0F172A">
                  <a:alpha val="3750"/>
                </a:srgbClr>
              </a:outerShdw>
            </a:effectLst>
          </p:spPr>
        </p:sp>
        <p:sp>
          <p:nvSpPr>
            <p:cNvPr id="11" name="TextBox 11"/>
            <p:cNvSpPr txBox="1"/>
            <p:nvPr/>
          </p:nvSpPr>
          <p:spPr>
            <a:xfrm>
              <a:off x="933450" y="1362075"/>
              <a:ext cx="1298258" cy="3048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500" b="1" dirty="0">
                  <a:solidFill>
                    <a:srgbClr val="8B0000"/>
                  </a:solidFill>
                  <a:latin typeface="Arial"/>
                  <a:ea typeface="Microsoft YaHei"/>
                  <a:cs typeface="Arial"/>
                </a:rPr>
                <a:t>核心创新理念</a:t>
              </a:r>
            </a:p>
          </p:txBody>
        </p:sp>
        <p:sp>
          <p:nvSpPr>
            <p:cNvPr id="12" name="TextBox 12"/>
            <p:cNvSpPr txBox="1"/>
            <p:nvPr/>
          </p:nvSpPr>
          <p:spPr>
            <a:xfrm>
              <a:off x="936309" y="1767364"/>
              <a:ext cx="10280750" cy="392415"/>
            </a:xfrm>
            <a:prstGeom prst="rect">
              <a:avLst/>
            </a:prstGeom>
            <a:noFill/>
            <a:ln>
              <a:noFill/>
            </a:ln>
            <a:effectLst>
              <a:outerShdw blurRad="76200" dist="19050" dir="5400000" algn="ctr" rotWithShape="0">
                <a:srgbClr val="0F172A">
                  <a:alpha val="3750"/>
                </a:srgbClr>
              </a:outerShdw>
            </a:effectLst>
          </p:spPr>
          <p:txBody>
            <a:bodyPr wrap="square" lIns="0" tIns="0" rIns="0" bIns="0" anchor="t" anchorCtr="0">
              <a:spAutoFit/>
            </a:bodyPr>
            <a:lstStyle/>
            <a:p>
              <a:pPr algn="l"/>
              <a:r>
                <a:rPr lang="zh-CN" sz="1275" dirty="0">
                  <a:solidFill>
                    <a:srgbClr val="2D2D2D"/>
                  </a:solidFill>
                  <a:latin typeface="Arial"/>
                  <a:ea typeface="Microsoft YaHei"/>
                  <a:cs typeface="Arial"/>
                </a:rPr>
                <a:t>以应对未知灾害环境为导向，以多机协同为基本范式，通过构建自适应协同架构、研发闭环协同决策算法、打造跨域协同交互能力，形成一套完整的、面向极端环境作业的无人系统群体智能解决方案。</a:t>
              </a:r>
            </a:p>
          </p:txBody>
        </p:sp>
      </p:grpSp>
      <p:grpSp>
        <p:nvGrpSpPr>
          <p:cNvPr id="25" name="Group 25"/>
          <p:cNvGrpSpPr/>
          <p:nvPr/>
        </p:nvGrpSpPr>
        <p:grpSpPr>
          <a:xfrm>
            <a:off x="571500" y="2571750"/>
            <a:ext cx="5334000" cy="1809750"/>
            <a:chOff x="571500" y="2571750"/>
            <a:chExt cx="5334000" cy="1809750"/>
          </a:xfrm>
          <a:effectLst>
            <a:outerShdw blurRad="76200" dist="19050" dir="5400000" algn="ctr" rotWithShape="0">
              <a:srgbClr val="0F172A">
                <a:alpha val="3750"/>
              </a:srgbClr>
            </a:outerShdw>
          </a:effectLst>
        </p:grpSpPr>
        <p:sp>
          <p:nvSpPr>
            <p:cNvPr id="14" name="Rectangle 14"/>
            <p:cNvSpPr/>
            <p:nvPr/>
          </p:nvSpPr>
          <p:spPr>
            <a:xfrm>
              <a:off x="571500" y="2571750"/>
              <a:ext cx="5334000" cy="1809750"/>
            </a:xfrm>
            <a:prstGeom prst="roundRect">
              <a:avLst>
                <a:gd name="adj" fmla="val 4211"/>
              </a:avLst>
            </a:prstGeom>
            <a:solidFill>
              <a:srgbClr val="FFFFFF"/>
            </a:solidFill>
            <a:ln w="9525">
              <a:solidFill>
                <a:srgbClr val="D4C5C5"/>
              </a:solidFill>
            </a:ln>
            <a:effectLst>
              <a:outerShdw blurRad="76200" dist="19050" dir="5400000" algn="ctr" rotWithShape="0">
                <a:srgbClr val="0F172A">
                  <a:alpha val="3750"/>
                </a:srgbClr>
              </a:outerShdw>
            </a:effectLst>
          </p:spPr>
        </p:sp>
        <p:sp>
          <p:nvSpPr>
            <p:cNvPr id="15" name="Rectangle 15"/>
            <p:cNvSpPr/>
            <p:nvPr/>
          </p:nvSpPr>
          <p:spPr>
            <a:xfrm>
              <a:off x="571500" y="2571750"/>
              <a:ext cx="5334000" cy="47625"/>
            </a:xfrm>
            <a:prstGeom prst="rect">
              <a:avLst/>
            </a:prstGeom>
            <a:solidFill>
              <a:srgbClr val="8B0000"/>
            </a:solidFill>
            <a:ln>
              <a:noFill/>
            </a:ln>
            <a:effectLst>
              <a:outerShdw blurRad="76200" dist="19050" dir="5400000" algn="ctr" rotWithShape="0">
                <a:srgbClr val="0F172A">
                  <a:alpha val="3750"/>
                </a:srgbClr>
              </a:outerShdw>
            </a:effectLst>
          </p:spPr>
        </p:sp>
        <p:sp>
          <p:nvSpPr>
            <p:cNvPr id="16" name="Freeform 16"/>
            <p:cNvSpPr/>
            <p:nvPr/>
          </p:nvSpPr>
          <p:spPr>
            <a:xfrm>
              <a:off x="952500" y="2905125"/>
              <a:ext cx="342900" cy="342900"/>
            </a:xfrm>
            <a:custGeom>
              <a:avLst/>
              <a:gdLst/>
              <a:ahLst/>
              <a:cxnLst/>
              <a:rect l="l" t="t" r="r" b="b"/>
              <a:pathLst>
                <a:path w="342900" h="342900">
                  <a:moveTo>
                    <a:pt x="171450" y="42862"/>
                  </a:moveTo>
                  <a:cubicBezTo>
                    <a:pt x="100433" y="42862"/>
                    <a:pt x="42862" y="100433"/>
                    <a:pt x="42862" y="171450"/>
                  </a:cubicBezTo>
                  <a:cubicBezTo>
                    <a:pt x="42862" y="242467"/>
                    <a:pt x="100433" y="300038"/>
                    <a:pt x="171450" y="300038"/>
                  </a:cubicBezTo>
                  <a:cubicBezTo>
                    <a:pt x="242467" y="300038"/>
                    <a:pt x="300038" y="242467"/>
                    <a:pt x="300038" y="171450"/>
                  </a:cubicBezTo>
                  <a:cubicBezTo>
                    <a:pt x="300038" y="159931"/>
                    <a:pt x="298522" y="148766"/>
                    <a:pt x="295683" y="138143"/>
                  </a:cubicBezTo>
                  <a:lnTo>
                    <a:pt x="329332" y="104492"/>
                  </a:lnTo>
                  <a:cubicBezTo>
                    <a:pt x="338067" y="125064"/>
                    <a:pt x="342900" y="147692"/>
                    <a:pt x="342900" y="171450"/>
                  </a:cubicBezTo>
                  <a:cubicBezTo>
                    <a:pt x="342900" y="266140"/>
                    <a:pt x="266140" y="342900"/>
                    <a:pt x="171450" y="342900"/>
                  </a:cubicBezTo>
                  <a:cubicBezTo>
                    <a:pt x="76761" y="342900"/>
                    <a:pt x="0" y="266140"/>
                    <a:pt x="0" y="171450"/>
                  </a:cubicBezTo>
                  <a:cubicBezTo>
                    <a:pt x="0" y="76761"/>
                    <a:pt x="76761" y="0"/>
                    <a:pt x="171450" y="0"/>
                  </a:cubicBezTo>
                  <a:cubicBezTo>
                    <a:pt x="211070" y="0"/>
                    <a:pt x="247552" y="13439"/>
                    <a:pt x="276583" y="36008"/>
                  </a:cubicBezTo>
                  <a:lnTo>
                    <a:pt x="306315" y="6277"/>
                  </a:lnTo>
                  <a:lnTo>
                    <a:pt x="336623" y="36586"/>
                  </a:lnTo>
                  <a:lnTo>
                    <a:pt x="186604" y="186604"/>
                  </a:lnTo>
                  <a:lnTo>
                    <a:pt x="156296" y="156296"/>
                  </a:lnTo>
                  <a:lnTo>
                    <a:pt x="182549" y="130042"/>
                  </a:lnTo>
                  <a:cubicBezTo>
                    <a:pt x="168250" y="126223"/>
                    <a:pt x="152360" y="129923"/>
                    <a:pt x="141142" y="141142"/>
                  </a:cubicBezTo>
                  <a:cubicBezTo>
                    <a:pt x="124403" y="157881"/>
                    <a:pt x="124403" y="185020"/>
                    <a:pt x="141142" y="201758"/>
                  </a:cubicBezTo>
                  <a:cubicBezTo>
                    <a:pt x="157881" y="218498"/>
                    <a:pt x="185020" y="218498"/>
                    <a:pt x="201758" y="201758"/>
                  </a:cubicBezTo>
                  <a:lnTo>
                    <a:pt x="232066" y="232066"/>
                  </a:lnTo>
                  <a:cubicBezTo>
                    <a:pt x="198589" y="265544"/>
                    <a:pt x="144311" y="265544"/>
                    <a:pt x="110833" y="232066"/>
                  </a:cubicBezTo>
                  <a:cubicBezTo>
                    <a:pt x="77356" y="198589"/>
                    <a:pt x="77356" y="144311"/>
                    <a:pt x="110833" y="110833"/>
                  </a:cubicBezTo>
                  <a:cubicBezTo>
                    <a:pt x="139078" y="82588"/>
                    <a:pt x="182129" y="78173"/>
                    <a:pt x="215003" y="97589"/>
                  </a:cubicBezTo>
                  <a:lnTo>
                    <a:pt x="245956" y="66635"/>
                  </a:lnTo>
                  <a:cubicBezTo>
                    <a:pt x="224936" y="51666"/>
                    <a:pt x="199221" y="42862"/>
                    <a:pt x="171450" y="42862"/>
                  </a:cubicBezTo>
                  <a:close/>
                </a:path>
              </a:pathLst>
            </a:custGeom>
            <a:solidFill>
              <a:srgbClr val="8B0000"/>
            </a:solidFill>
            <a:ln>
              <a:noFill/>
            </a:ln>
            <a:effectLst>
              <a:outerShdw blurRad="76200" dist="19050" dir="5400000" algn="ctr" rotWithShape="0">
                <a:srgbClr val="0F172A">
                  <a:alpha val="3750"/>
                </a:srgbClr>
              </a:outerShdw>
            </a:effectLst>
          </p:spPr>
        </p:sp>
        <p:sp>
          <p:nvSpPr>
            <p:cNvPr id="17" name="TextBox 17"/>
            <p:cNvSpPr txBox="1"/>
            <p:nvPr/>
          </p:nvSpPr>
          <p:spPr>
            <a:xfrm>
              <a:off x="1459230" y="2997518"/>
              <a:ext cx="1357455" cy="27432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350" b="1" dirty="0">
                  <a:solidFill>
                    <a:srgbClr val="8B0000"/>
                  </a:solidFill>
                  <a:latin typeface="Arial"/>
                  <a:ea typeface="Microsoft YaHei"/>
                  <a:cs typeface="Arial"/>
                </a:rPr>
                <a:t>空间关键性图谱</a:t>
              </a:r>
            </a:p>
          </p:txBody>
        </p:sp>
        <p:sp>
          <p:nvSpPr>
            <p:cNvPr id="18" name="Rectangle 18"/>
            <p:cNvSpPr/>
            <p:nvPr/>
          </p:nvSpPr>
          <p:spPr>
            <a:xfrm>
              <a:off x="857250" y="3314700"/>
              <a:ext cx="4762500" cy="9525"/>
            </a:xfrm>
            <a:prstGeom prst="rect">
              <a:avLst/>
            </a:prstGeom>
            <a:solidFill>
              <a:srgbClr val="D4C5C5"/>
            </a:solidFill>
            <a:ln>
              <a:noFill/>
            </a:ln>
            <a:effectLst>
              <a:outerShdw blurRad="76200" dist="19050" dir="5400000" algn="ctr" rotWithShape="0">
                <a:srgbClr val="0F172A">
                  <a:alpha val="3750"/>
                </a:srgbClr>
              </a:outerShdw>
            </a:effectLst>
          </p:spPr>
        </p:sp>
        <p:sp>
          <p:nvSpPr>
            <p:cNvPr id="19" name="Ellipse 19"/>
            <p:cNvSpPr/>
            <p:nvPr/>
          </p:nvSpPr>
          <p:spPr>
            <a:xfrm>
              <a:off x="971550" y="3571875"/>
              <a:ext cx="57150" cy="57150"/>
            </a:xfrm>
            <a:prstGeom prst="ellipse">
              <a:avLst/>
            </a:prstGeom>
            <a:solidFill>
              <a:srgbClr val="C41E3A"/>
            </a:solidFill>
            <a:ln>
              <a:noFill/>
            </a:ln>
            <a:effectLst>
              <a:outerShdw blurRad="76200" dist="19050" dir="5400000" algn="ctr" rotWithShape="0">
                <a:srgbClr val="0F172A">
                  <a:alpha val="3750"/>
                </a:srgbClr>
              </a:outerShdw>
            </a:effectLst>
          </p:spPr>
        </p:sp>
        <p:sp>
          <p:nvSpPr>
            <p:cNvPr id="20" name="TextBox 20"/>
            <p:cNvSpPr txBox="1"/>
            <p:nvPr/>
          </p:nvSpPr>
          <p:spPr>
            <a:xfrm>
              <a:off x="1128712" y="3536156"/>
              <a:ext cx="3989070"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实时评估环境中各区域的感知重要性 (物体密度、遮挡程度)</a:t>
              </a:r>
            </a:p>
          </p:txBody>
        </p:sp>
        <p:sp>
          <p:nvSpPr>
            <p:cNvPr id="21" name="Ellipse 21"/>
            <p:cNvSpPr/>
            <p:nvPr/>
          </p:nvSpPr>
          <p:spPr>
            <a:xfrm>
              <a:off x="971550" y="3857625"/>
              <a:ext cx="57150" cy="57150"/>
            </a:xfrm>
            <a:prstGeom prst="ellipse">
              <a:avLst/>
            </a:prstGeom>
            <a:solidFill>
              <a:srgbClr val="C41E3A"/>
            </a:solidFill>
            <a:ln>
              <a:noFill/>
            </a:ln>
            <a:effectLst>
              <a:outerShdw blurRad="76200" dist="19050" dir="5400000" algn="ctr" rotWithShape="0">
                <a:srgbClr val="0F172A">
                  <a:alpha val="3750"/>
                </a:srgbClr>
              </a:outerShdw>
            </a:effectLst>
          </p:spPr>
        </p:sp>
        <p:sp>
          <p:nvSpPr>
            <p:cNvPr id="22" name="TextBox 22"/>
            <p:cNvSpPr txBox="1"/>
            <p:nvPr/>
          </p:nvSpPr>
          <p:spPr>
            <a:xfrm>
              <a:off x="1128712" y="3821906"/>
              <a:ext cx="3479006"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仅传输关键区域稀疏特征，结合动态二进制选择算法</a:t>
              </a:r>
            </a:p>
          </p:txBody>
        </p:sp>
        <p:sp>
          <p:nvSpPr>
            <p:cNvPr id="23" name="Ellipse 23"/>
            <p:cNvSpPr/>
            <p:nvPr/>
          </p:nvSpPr>
          <p:spPr>
            <a:xfrm>
              <a:off x="971550" y="4143375"/>
              <a:ext cx="57150" cy="57150"/>
            </a:xfrm>
            <a:prstGeom prst="ellipse">
              <a:avLst/>
            </a:prstGeom>
            <a:solidFill>
              <a:srgbClr val="C41E3A"/>
            </a:solidFill>
            <a:ln>
              <a:noFill/>
            </a:ln>
            <a:effectLst>
              <a:outerShdw blurRad="76200" dist="19050" dir="5400000" algn="ctr" rotWithShape="0">
                <a:srgbClr val="0F172A">
                  <a:alpha val="3750"/>
                </a:srgbClr>
              </a:outerShdw>
            </a:effectLst>
          </p:spPr>
        </p:sp>
        <p:sp>
          <p:nvSpPr>
            <p:cNvPr id="24" name="TextBox 24"/>
            <p:cNvSpPr txBox="1"/>
            <p:nvPr/>
          </p:nvSpPr>
          <p:spPr>
            <a:xfrm>
              <a:off x="1128712" y="4107656"/>
              <a:ext cx="3163967"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参考Where2comm架构，通信带宽降低10-100倍</a:t>
              </a:r>
            </a:p>
          </p:txBody>
        </p:sp>
      </p:grpSp>
      <p:grpSp>
        <p:nvGrpSpPr>
          <p:cNvPr id="41" name="Group 41"/>
          <p:cNvGrpSpPr/>
          <p:nvPr/>
        </p:nvGrpSpPr>
        <p:grpSpPr>
          <a:xfrm>
            <a:off x="6286500" y="2571750"/>
            <a:ext cx="5334000" cy="1809750"/>
            <a:chOff x="6286500" y="2571750"/>
            <a:chExt cx="5334000" cy="1809750"/>
          </a:xfrm>
          <a:effectLst>
            <a:outerShdw blurRad="76200" dist="19050" dir="5400000" algn="ctr" rotWithShape="0">
              <a:srgbClr val="0F172A">
                <a:alpha val="3750"/>
              </a:srgbClr>
            </a:outerShdw>
          </a:effectLst>
        </p:grpSpPr>
        <p:sp>
          <p:nvSpPr>
            <p:cNvPr id="26" name="Rectangle 26"/>
            <p:cNvSpPr/>
            <p:nvPr/>
          </p:nvSpPr>
          <p:spPr>
            <a:xfrm>
              <a:off x="6286500" y="2571750"/>
              <a:ext cx="5334000" cy="1809750"/>
            </a:xfrm>
            <a:prstGeom prst="roundRect">
              <a:avLst>
                <a:gd name="adj" fmla="val 4211"/>
              </a:avLst>
            </a:prstGeom>
            <a:solidFill>
              <a:srgbClr val="FFFFFF"/>
            </a:solidFill>
            <a:ln w="9525">
              <a:solidFill>
                <a:srgbClr val="D4C5C5"/>
              </a:solidFill>
            </a:ln>
            <a:effectLst>
              <a:outerShdw blurRad="76200" dist="19050" dir="5400000" algn="ctr" rotWithShape="0">
                <a:srgbClr val="0F172A">
                  <a:alpha val="3750"/>
                </a:srgbClr>
              </a:outerShdw>
            </a:effectLst>
          </p:spPr>
        </p:sp>
        <p:sp>
          <p:nvSpPr>
            <p:cNvPr id="27" name="Rectangle 27"/>
            <p:cNvSpPr/>
            <p:nvPr/>
          </p:nvSpPr>
          <p:spPr>
            <a:xfrm>
              <a:off x="6286500" y="2571750"/>
              <a:ext cx="5334000" cy="47625"/>
            </a:xfrm>
            <a:prstGeom prst="rect">
              <a:avLst/>
            </a:prstGeom>
            <a:solidFill>
              <a:srgbClr val="1A3C5E"/>
            </a:solidFill>
            <a:ln>
              <a:noFill/>
            </a:ln>
            <a:effectLst>
              <a:outerShdw blurRad="76200" dist="19050" dir="5400000" algn="ctr" rotWithShape="0">
                <a:srgbClr val="0F172A">
                  <a:alpha val="3750"/>
                </a:srgbClr>
              </a:outerShdw>
            </a:effectLst>
          </p:spPr>
        </p:sp>
        <p:grpSp>
          <p:nvGrpSpPr>
            <p:cNvPr id="32" name="Group 32"/>
            <p:cNvGrpSpPr/>
            <p:nvPr/>
          </p:nvGrpSpPr>
          <p:grpSpPr>
            <a:xfrm>
              <a:off x="6688931" y="2926556"/>
              <a:ext cx="300037" cy="300038"/>
              <a:chOff x="6688931" y="2926556"/>
              <a:chExt cx="300037" cy="300038"/>
            </a:xfrm>
          </p:grpSpPr>
          <p:sp>
            <p:nvSpPr>
              <p:cNvPr id="28" name="Freeform 28"/>
              <p:cNvSpPr/>
              <p:nvPr/>
            </p:nvSpPr>
            <p:spPr>
              <a:xfrm>
                <a:off x="6946106" y="2926556"/>
                <a:ext cx="42862" cy="300038"/>
              </a:xfrm>
              <a:custGeom>
                <a:avLst/>
                <a:gdLst/>
                <a:ahLst/>
                <a:cxnLst/>
                <a:rect l="l" t="t" r="r" b="b"/>
                <a:pathLst>
                  <a:path w="42862" h="300038">
                    <a:moveTo>
                      <a:pt x="0" y="0"/>
                    </a:moveTo>
                    <a:lnTo>
                      <a:pt x="0" y="300038"/>
                    </a:lnTo>
                    <a:lnTo>
                      <a:pt x="42862" y="300038"/>
                    </a:lnTo>
                    <a:lnTo>
                      <a:pt x="42862" y="0"/>
                    </a:lnTo>
                    <a:lnTo>
                      <a:pt x="0" y="0"/>
                    </a:lnTo>
                    <a:close/>
                  </a:path>
                </a:pathLst>
              </a:custGeom>
              <a:solidFill>
                <a:srgbClr val="1A3C5E"/>
              </a:solidFill>
              <a:ln>
                <a:noFill/>
              </a:ln>
              <a:effectLst>
                <a:outerShdw blurRad="76200" dist="19050" dir="5400000" algn="ctr" rotWithShape="0">
                  <a:srgbClr val="0F172A">
                    <a:alpha val="3750"/>
                  </a:srgbClr>
                </a:outerShdw>
              </a:effectLst>
            </p:spPr>
          </p:sp>
          <p:sp>
            <p:nvSpPr>
              <p:cNvPr id="29" name="Freeform 29"/>
              <p:cNvSpPr/>
              <p:nvPr/>
            </p:nvSpPr>
            <p:spPr>
              <a:xfrm>
                <a:off x="6860381" y="2990850"/>
                <a:ext cx="42862" cy="235744"/>
              </a:xfrm>
              <a:custGeom>
                <a:avLst/>
                <a:gdLst/>
                <a:ahLst/>
                <a:cxnLst/>
                <a:rect l="l" t="t" r="r" b="b"/>
                <a:pathLst>
                  <a:path w="42862" h="235744">
                    <a:moveTo>
                      <a:pt x="0" y="0"/>
                    </a:moveTo>
                    <a:lnTo>
                      <a:pt x="0" y="235744"/>
                    </a:lnTo>
                    <a:lnTo>
                      <a:pt x="42862" y="235744"/>
                    </a:lnTo>
                    <a:lnTo>
                      <a:pt x="42862" y="0"/>
                    </a:lnTo>
                    <a:lnTo>
                      <a:pt x="0" y="0"/>
                    </a:lnTo>
                    <a:close/>
                  </a:path>
                </a:pathLst>
              </a:custGeom>
              <a:solidFill>
                <a:srgbClr val="1A3C5E"/>
              </a:solidFill>
              <a:ln>
                <a:noFill/>
              </a:ln>
              <a:effectLst>
                <a:outerShdw blurRad="76200" dist="19050" dir="5400000" algn="ctr" rotWithShape="0">
                  <a:srgbClr val="0F172A">
                    <a:alpha val="3750"/>
                  </a:srgbClr>
                </a:outerShdw>
              </a:effectLst>
            </p:spPr>
          </p:sp>
          <p:sp>
            <p:nvSpPr>
              <p:cNvPr id="30" name="Freeform 30"/>
              <p:cNvSpPr/>
              <p:nvPr/>
            </p:nvSpPr>
            <p:spPr>
              <a:xfrm>
                <a:off x="6774656" y="3055144"/>
                <a:ext cx="42862" cy="171450"/>
              </a:xfrm>
              <a:custGeom>
                <a:avLst/>
                <a:gdLst/>
                <a:ahLst/>
                <a:cxnLst/>
                <a:rect l="l" t="t" r="r" b="b"/>
                <a:pathLst>
                  <a:path w="42862" h="171450">
                    <a:moveTo>
                      <a:pt x="0" y="171450"/>
                    </a:moveTo>
                    <a:lnTo>
                      <a:pt x="0" y="0"/>
                    </a:lnTo>
                    <a:lnTo>
                      <a:pt x="42862" y="0"/>
                    </a:lnTo>
                    <a:lnTo>
                      <a:pt x="42862" y="171450"/>
                    </a:lnTo>
                    <a:lnTo>
                      <a:pt x="0" y="171450"/>
                    </a:lnTo>
                    <a:close/>
                  </a:path>
                </a:pathLst>
              </a:custGeom>
              <a:solidFill>
                <a:srgbClr val="1A3C5E"/>
              </a:solidFill>
              <a:ln>
                <a:noFill/>
              </a:ln>
              <a:effectLst>
                <a:outerShdw blurRad="76200" dist="19050" dir="5400000" algn="ctr" rotWithShape="0">
                  <a:srgbClr val="0F172A">
                    <a:alpha val="3750"/>
                  </a:srgbClr>
                </a:outerShdw>
              </a:effectLst>
            </p:spPr>
          </p:sp>
          <p:sp>
            <p:nvSpPr>
              <p:cNvPr id="31" name="Freeform 31"/>
              <p:cNvSpPr/>
              <p:nvPr/>
            </p:nvSpPr>
            <p:spPr>
              <a:xfrm>
                <a:off x="6688931" y="3119438"/>
                <a:ext cx="42862" cy="107156"/>
              </a:xfrm>
              <a:custGeom>
                <a:avLst/>
                <a:gdLst/>
                <a:ahLst/>
                <a:cxnLst/>
                <a:rect l="l" t="t" r="r" b="b"/>
                <a:pathLst>
                  <a:path w="42862" h="107156">
                    <a:moveTo>
                      <a:pt x="0" y="0"/>
                    </a:moveTo>
                    <a:lnTo>
                      <a:pt x="0" y="107156"/>
                    </a:lnTo>
                    <a:lnTo>
                      <a:pt x="42862" y="107156"/>
                    </a:lnTo>
                    <a:lnTo>
                      <a:pt x="42862" y="0"/>
                    </a:lnTo>
                    <a:lnTo>
                      <a:pt x="0" y="0"/>
                    </a:lnTo>
                    <a:close/>
                  </a:path>
                </a:pathLst>
              </a:custGeom>
              <a:solidFill>
                <a:srgbClr val="1A3C5E"/>
              </a:solidFill>
              <a:ln>
                <a:noFill/>
              </a:ln>
              <a:effectLst>
                <a:outerShdw blurRad="76200" dist="19050" dir="5400000" algn="ctr" rotWithShape="0">
                  <a:srgbClr val="0F172A">
                    <a:alpha val="3750"/>
                  </a:srgbClr>
                </a:outerShdw>
              </a:effectLst>
            </p:spPr>
          </p:sp>
        </p:grpSp>
        <p:sp>
          <p:nvSpPr>
            <p:cNvPr id="33" name="TextBox 33"/>
            <p:cNvSpPr txBox="1"/>
            <p:nvPr/>
          </p:nvSpPr>
          <p:spPr>
            <a:xfrm>
              <a:off x="7174230" y="2997518"/>
              <a:ext cx="1735503" cy="27432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350" b="1" dirty="0">
                  <a:solidFill>
                    <a:srgbClr val="1A3C5E"/>
                  </a:solidFill>
                  <a:latin typeface="Arial"/>
                  <a:ea typeface="Microsoft YaHei"/>
                  <a:cs typeface="Arial"/>
                </a:rPr>
                <a:t>渐进式带宽协商协议</a:t>
              </a:r>
            </a:p>
          </p:txBody>
        </p:sp>
        <p:sp>
          <p:nvSpPr>
            <p:cNvPr id="34" name="Rectangle 34"/>
            <p:cNvSpPr/>
            <p:nvPr/>
          </p:nvSpPr>
          <p:spPr>
            <a:xfrm>
              <a:off x="6572250" y="3314700"/>
              <a:ext cx="4762500" cy="9525"/>
            </a:xfrm>
            <a:prstGeom prst="rect">
              <a:avLst/>
            </a:prstGeom>
            <a:solidFill>
              <a:srgbClr val="D4C5C5"/>
            </a:solidFill>
            <a:ln>
              <a:noFill/>
            </a:ln>
            <a:effectLst>
              <a:outerShdw blurRad="76200" dist="19050" dir="5400000" algn="ctr" rotWithShape="0">
                <a:srgbClr val="0F172A">
                  <a:alpha val="3750"/>
                </a:srgbClr>
              </a:outerShdw>
            </a:effectLst>
          </p:spPr>
        </p:sp>
        <p:sp>
          <p:nvSpPr>
            <p:cNvPr id="35" name="Ellipse 35"/>
            <p:cNvSpPr/>
            <p:nvPr/>
          </p:nvSpPr>
          <p:spPr>
            <a:xfrm>
              <a:off x="6686550" y="3571875"/>
              <a:ext cx="57150" cy="57150"/>
            </a:xfrm>
            <a:prstGeom prst="ellipse">
              <a:avLst/>
            </a:prstGeom>
            <a:solidFill>
              <a:srgbClr val="1A3C5E"/>
            </a:solidFill>
            <a:ln>
              <a:noFill/>
            </a:ln>
            <a:effectLst>
              <a:outerShdw blurRad="76200" dist="19050" dir="5400000" algn="ctr" rotWithShape="0">
                <a:srgbClr val="0F172A">
                  <a:alpha val="3750"/>
                </a:srgbClr>
              </a:outerShdw>
            </a:effectLst>
          </p:spPr>
        </p:sp>
        <p:sp>
          <p:nvSpPr>
            <p:cNvPr id="36" name="TextBox 36"/>
            <p:cNvSpPr txBox="1"/>
            <p:nvPr/>
          </p:nvSpPr>
          <p:spPr>
            <a:xfrm>
              <a:off x="6843712" y="3536156"/>
              <a:ext cx="3178969"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初始轮次广播元数据开启协作，逐轮次下发带宽</a:t>
              </a:r>
            </a:p>
          </p:txBody>
        </p:sp>
        <p:sp>
          <p:nvSpPr>
            <p:cNvPr id="37" name="Ellipse 37"/>
            <p:cNvSpPr/>
            <p:nvPr/>
          </p:nvSpPr>
          <p:spPr>
            <a:xfrm>
              <a:off x="6686550" y="3857625"/>
              <a:ext cx="57150" cy="57150"/>
            </a:xfrm>
            <a:prstGeom prst="ellipse">
              <a:avLst/>
            </a:prstGeom>
            <a:solidFill>
              <a:srgbClr val="1A3C5E"/>
            </a:solidFill>
            <a:ln>
              <a:noFill/>
            </a:ln>
            <a:effectLst>
              <a:outerShdw blurRad="76200" dist="19050" dir="5400000" algn="ctr" rotWithShape="0">
                <a:srgbClr val="0F172A">
                  <a:alpha val="3750"/>
                </a:srgbClr>
              </a:outerShdw>
            </a:effectLst>
          </p:spPr>
        </p:sp>
        <p:sp>
          <p:nvSpPr>
            <p:cNvPr id="38" name="TextBox 38"/>
            <p:cNvSpPr txBox="1"/>
            <p:nvPr/>
          </p:nvSpPr>
          <p:spPr>
            <a:xfrm>
              <a:off x="6843712" y="3821906"/>
              <a:ext cx="2878931"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不同无人机可调度不同带宽资源，异构适配</a:t>
              </a:r>
            </a:p>
          </p:txBody>
        </p:sp>
        <p:sp>
          <p:nvSpPr>
            <p:cNvPr id="39" name="Ellipse 39"/>
            <p:cNvSpPr/>
            <p:nvPr/>
          </p:nvSpPr>
          <p:spPr>
            <a:xfrm>
              <a:off x="6686550" y="4143375"/>
              <a:ext cx="57150" cy="57150"/>
            </a:xfrm>
            <a:prstGeom prst="ellipse">
              <a:avLst/>
            </a:prstGeom>
            <a:solidFill>
              <a:srgbClr val="1A3C5E"/>
            </a:solidFill>
            <a:ln>
              <a:noFill/>
            </a:ln>
            <a:effectLst>
              <a:outerShdw blurRad="76200" dist="19050" dir="5400000" algn="ctr" rotWithShape="0">
                <a:srgbClr val="0F172A">
                  <a:alpha val="3750"/>
                </a:srgbClr>
              </a:outerShdw>
            </a:effectLst>
          </p:spPr>
        </p:sp>
        <p:sp>
          <p:nvSpPr>
            <p:cNvPr id="40" name="TextBox 40"/>
            <p:cNvSpPr txBox="1"/>
            <p:nvPr/>
          </p:nvSpPr>
          <p:spPr>
            <a:xfrm>
              <a:off x="6843712" y="4107656"/>
              <a:ext cx="3328988"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分布式决策避免中心节点瓶颈，支持百个以上节点</a:t>
              </a:r>
            </a:p>
          </p:txBody>
        </p:sp>
      </p:grpSp>
      <p:grpSp>
        <p:nvGrpSpPr>
          <p:cNvPr id="53" name="Group 53"/>
          <p:cNvGrpSpPr/>
          <p:nvPr/>
        </p:nvGrpSpPr>
        <p:grpSpPr>
          <a:xfrm>
            <a:off x="571500" y="4619625"/>
            <a:ext cx="5334000" cy="1619250"/>
            <a:chOff x="571500" y="4619625"/>
            <a:chExt cx="5334000" cy="1619250"/>
          </a:xfrm>
          <a:effectLst>
            <a:outerShdw blurRad="76200" dist="19050" dir="5400000" algn="ctr" rotWithShape="0">
              <a:srgbClr val="0F172A">
                <a:alpha val="3750"/>
              </a:srgbClr>
            </a:outerShdw>
          </a:effectLst>
        </p:grpSpPr>
        <p:sp>
          <p:nvSpPr>
            <p:cNvPr id="42" name="Rectangle 42"/>
            <p:cNvSpPr/>
            <p:nvPr/>
          </p:nvSpPr>
          <p:spPr>
            <a:xfrm>
              <a:off x="571500" y="4619625"/>
              <a:ext cx="5334000" cy="1619250"/>
            </a:xfrm>
            <a:prstGeom prst="roundRect">
              <a:avLst>
                <a:gd name="adj" fmla="val 4706"/>
              </a:avLst>
            </a:prstGeom>
            <a:solidFill>
              <a:srgbClr val="FFFFFF"/>
            </a:solidFill>
            <a:ln w="9525">
              <a:solidFill>
                <a:srgbClr val="D4C5C5"/>
              </a:solidFill>
            </a:ln>
            <a:effectLst>
              <a:outerShdw blurRad="76200" dist="19050" dir="5400000" algn="ctr" rotWithShape="0">
                <a:srgbClr val="0F172A">
                  <a:alpha val="3750"/>
                </a:srgbClr>
              </a:outerShdw>
            </a:effectLst>
          </p:spPr>
        </p:sp>
        <p:sp>
          <p:nvSpPr>
            <p:cNvPr id="43" name="Rectangle 43"/>
            <p:cNvSpPr/>
            <p:nvPr/>
          </p:nvSpPr>
          <p:spPr>
            <a:xfrm>
              <a:off x="571500" y="4619625"/>
              <a:ext cx="5334000" cy="47625"/>
            </a:xfrm>
            <a:prstGeom prst="rect">
              <a:avLst/>
            </a:prstGeom>
            <a:solidFill>
              <a:srgbClr val="C41E3A"/>
            </a:solidFill>
            <a:ln>
              <a:noFill/>
            </a:ln>
            <a:effectLst>
              <a:outerShdw blurRad="76200" dist="19050" dir="5400000" algn="ctr" rotWithShape="0">
                <a:srgbClr val="0F172A">
                  <a:alpha val="3750"/>
                </a:srgbClr>
              </a:outerShdw>
            </a:effectLst>
          </p:spPr>
        </p:sp>
        <p:grpSp>
          <p:nvGrpSpPr>
            <p:cNvPr id="46" name="Group 46"/>
            <p:cNvGrpSpPr/>
            <p:nvPr/>
          </p:nvGrpSpPr>
          <p:grpSpPr>
            <a:xfrm>
              <a:off x="952500" y="4953000"/>
              <a:ext cx="342900" cy="342900"/>
              <a:chOff x="952500" y="4953000"/>
              <a:chExt cx="342900" cy="342900"/>
            </a:xfrm>
          </p:grpSpPr>
          <p:sp>
            <p:nvSpPr>
              <p:cNvPr id="44" name="Freeform 44"/>
              <p:cNvSpPr/>
              <p:nvPr/>
            </p:nvSpPr>
            <p:spPr>
              <a:xfrm>
                <a:off x="1081088" y="5081588"/>
                <a:ext cx="85725" cy="85725"/>
              </a:xfrm>
              <a:custGeom>
                <a:avLst/>
                <a:gdLst/>
                <a:ahLst/>
                <a:cxnLst/>
                <a:rect l="l" t="t" r="r" b="b"/>
                <a:pathLst>
                  <a:path w="85725" h="85725">
                    <a:moveTo>
                      <a:pt x="0" y="85725"/>
                    </a:moveTo>
                    <a:lnTo>
                      <a:pt x="0" y="0"/>
                    </a:lnTo>
                    <a:lnTo>
                      <a:pt x="85725" y="0"/>
                    </a:lnTo>
                    <a:lnTo>
                      <a:pt x="85725" y="85725"/>
                    </a:lnTo>
                    <a:lnTo>
                      <a:pt x="0" y="85725"/>
                    </a:lnTo>
                    <a:close/>
                  </a:path>
                </a:pathLst>
              </a:custGeom>
              <a:solidFill>
                <a:srgbClr val="C41E3A"/>
              </a:solidFill>
              <a:ln>
                <a:noFill/>
              </a:ln>
              <a:effectLst>
                <a:outerShdw blurRad="76200" dist="19050" dir="5400000" algn="ctr" rotWithShape="0">
                  <a:srgbClr val="0F172A">
                    <a:alpha val="3750"/>
                  </a:srgbClr>
                </a:outerShdw>
              </a:effectLst>
            </p:spPr>
          </p:sp>
          <p:sp>
            <p:nvSpPr>
              <p:cNvPr id="45" name="Freeform 45"/>
              <p:cNvSpPr/>
              <p:nvPr/>
            </p:nvSpPr>
            <p:spPr>
              <a:xfrm>
                <a:off x="952500" y="4953000"/>
                <a:ext cx="342900" cy="342900"/>
              </a:xfrm>
              <a:custGeom>
                <a:avLst/>
                <a:gdLst/>
                <a:ahLst/>
                <a:cxnLst/>
                <a:rect l="l" t="t" r="r" b="b"/>
                <a:pathLst>
                  <a:path w="342900" h="342900">
                    <a:moveTo>
                      <a:pt x="64294" y="42862"/>
                    </a:moveTo>
                    <a:lnTo>
                      <a:pt x="64294" y="0"/>
                    </a:lnTo>
                    <a:lnTo>
                      <a:pt x="107156" y="0"/>
                    </a:lnTo>
                    <a:lnTo>
                      <a:pt x="107156" y="42862"/>
                    </a:lnTo>
                    <a:lnTo>
                      <a:pt x="150019" y="42862"/>
                    </a:lnTo>
                    <a:lnTo>
                      <a:pt x="150019" y="0"/>
                    </a:lnTo>
                    <a:lnTo>
                      <a:pt x="192881" y="0"/>
                    </a:lnTo>
                    <a:lnTo>
                      <a:pt x="192881" y="42862"/>
                    </a:lnTo>
                    <a:lnTo>
                      <a:pt x="235744" y="42862"/>
                    </a:lnTo>
                    <a:lnTo>
                      <a:pt x="235744" y="0"/>
                    </a:lnTo>
                    <a:lnTo>
                      <a:pt x="278606" y="0"/>
                    </a:lnTo>
                    <a:lnTo>
                      <a:pt x="278606" y="42862"/>
                    </a:lnTo>
                    <a:lnTo>
                      <a:pt x="300038" y="42862"/>
                    </a:lnTo>
                    <a:lnTo>
                      <a:pt x="300038" y="64294"/>
                    </a:lnTo>
                    <a:lnTo>
                      <a:pt x="342900" y="64294"/>
                    </a:lnTo>
                    <a:lnTo>
                      <a:pt x="342900" y="107156"/>
                    </a:lnTo>
                    <a:lnTo>
                      <a:pt x="300038" y="107156"/>
                    </a:lnTo>
                    <a:lnTo>
                      <a:pt x="300038" y="150019"/>
                    </a:lnTo>
                    <a:lnTo>
                      <a:pt x="342900" y="150019"/>
                    </a:lnTo>
                    <a:lnTo>
                      <a:pt x="342900" y="192881"/>
                    </a:lnTo>
                    <a:lnTo>
                      <a:pt x="300038" y="192881"/>
                    </a:lnTo>
                    <a:lnTo>
                      <a:pt x="300038" y="235744"/>
                    </a:lnTo>
                    <a:lnTo>
                      <a:pt x="342900" y="235744"/>
                    </a:lnTo>
                    <a:lnTo>
                      <a:pt x="342900" y="278606"/>
                    </a:lnTo>
                    <a:lnTo>
                      <a:pt x="300038" y="278606"/>
                    </a:lnTo>
                    <a:lnTo>
                      <a:pt x="300038" y="300038"/>
                    </a:lnTo>
                    <a:lnTo>
                      <a:pt x="278606" y="300038"/>
                    </a:lnTo>
                    <a:lnTo>
                      <a:pt x="278606" y="342900"/>
                    </a:lnTo>
                    <a:lnTo>
                      <a:pt x="235744" y="342900"/>
                    </a:lnTo>
                    <a:lnTo>
                      <a:pt x="235744" y="300038"/>
                    </a:lnTo>
                    <a:lnTo>
                      <a:pt x="192881" y="300038"/>
                    </a:lnTo>
                    <a:lnTo>
                      <a:pt x="192881" y="342900"/>
                    </a:lnTo>
                    <a:lnTo>
                      <a:pt x="150019" y="342900"/>
                    </a:lnTo>
                    <a:lnTo>
                      <a:pt x="150019" y="300038"/>
                    </a:lnTo>
                    <a:lnTo>
                      <a:pt x="107156" y="300038"/>
                    </a:lnTo>
                    <a:lnTo>
                      <a:pt x="107156" y="342900"/>
                    </a:lnTo>
                    <a:lnTo>
                      <a:pt x="64294" y="342900"/>
                    </a:lnTo>
                    <a:lnTo>
                      <a:pt x="64294" y="300038"/>
                    </a:lnTo>
                    <a:lnTo>
                      <a:pt x="42862" y="300038"/>
                    </a:lnTo>
                    <a:lnTo>
                      <a:pt x="42862" y="278606"/>
                    </a:lnTo>
                    <a:lnTo>
                      <a:pt x="0" y="278606"/>
                    </a:lnTo>
                    <a:lnTo>
                      <a:pt x="0" y="235744"/>
                    </a:lnTo>
                    <a:lnTo>
                      <a:pt x="42862" y="235744"/>
                    </a:lnTo>
                    <a:lnTo>
                      <a:pt x="42862" y="192881"/>
                    </a:lnTo>
                    <a:lnTo>
                      <a:pt x="0" y="192881"/>
                    </a:lnTo>
                    <a:lnTo>
                      <a:pt x="0" y="150019"/>
                    </a:lnTo>
                    <a:lnTo>
                      <a:pt x="42862" y="150019"/>
                    </a:lnTo>
                    <a:lnTo>
                      <a:pt x="42862" y="107156"/>
                    </a:lnTo>
                    <a:lnTo>
                      <a:pt x="0" y="107156"/>
                    </a:lnTo>
                    <a:lnTo>
                      <a:pt x="0" y="64294"/>
                    </a:lnTo>
                    <a:lnTo>
                      <a:pt x="42862" y="64294"/>
                    </a:lnTo>
                    <a:lnTo>
                      <a:pt x="42862" y="42862"/>
                    </a:lnTo>
                    <a:lnTo>
                      <a:pt x="64294" y="42862"/>
                    </a:lnTo>
                    <a:close/>
                    <a:moveTo>
                      <a:pt x="85725" y="85725"/>
                    </a:moveTo>
                    <a:lnTo>
                      <a:pt x="85725" y="257175"/>
                    </a:lnTo>
                    <a:lnTo>
                      <a:pt x="257175" y="257175"/>
                    </a:lnTo>
                    <a:lnTo>
                      <a:pt x="257175" y="85725"/>
                    </a:lnTo>
                    <a:lnTo>
                      <a:pt x="85725" y="85725"/>
                    </a:lnTo>
                    <a:close/>
                  </a:path>
                </a:pathLst>
              </a:custGeom>
              <a:solidFill>
                <a:srgbClr val="C41E3A"/>
              </a:solidFill>
              <a:ln>
                <a:noFill/>
              </a:ln>
              <a:effectLst>
                <a:outerShdw blurRad="76200" dist="19050" dir="5400000" algn="ctr" rotWithShape="0">
                  <a:srgbClr val="0F172A">
                    <a:alpha val="3750"/>
                  </a:srgbClr>
                </a:outerShdw>
              </a:effectLst>
            </p:spPr>
          </p:sp>
        </p:grpSp>
        <p:sp>
          <p:nvSpPr>
            <p:cNvPr id="47" name="TextBox 47"/>
            <p:cNvSpPr txBox="1"/>
            <p:nvPr/>
          </p:nvSpPr>
          <p:spPr>
            <a:xfrm>
              <a:off x="1459230" y="5045392"/>
              <a:ext cx="2538853" cy="27432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350" b="1" dirty="0">
                  <a:solidFill>
                    <a:srgbClr val="C41E3A"/>
                  </a:solidFill>
                  <a:latin typeface="Arial"/>
                  <a:ea typeface="Microsoft YaHei"/>
                  <a:cs typeface="Arial"/>
                </a:rPr>
                <a:t>轻量级Transformer融合网络</a:t>
              </a:r>
            </a:p>
          </p:txBody>
        </p:sp>
        <p:sp>
          <p:nvSpPr>
            <p:cNvPr id="48" name="Rectangle 48"/>
            <p:cNvSpPr/>
            <p:nvPr/>
          </p:nvSpPr>
          <p:spPr>
            <a:xfrm>
              <a:off x="857250" y="5362575"/>
              <a:ext cx="4762500" cy="9525"/>
            </a:xfrm>
            <a:prstGeom prst="rect">
              <a:avLst/>
            </a:prstGeom>
            <a:solidFill>
              <a:srgbClr val="D4C5C5"/>
            </a:solidFill>
            <a:ln>
              <a:noFill/>
            </a:ln>
            <a:effectLst>
              <a:outerShdw blurRad="76200" dist="19050" dir="5400000" algn="ctr" rotWithShape="0">
                <a:srgbClr val="0F172A">
                  <a:alpha val="3750"/>
                </a:srgbClr>
              </a:outerShdw>
            </a:effectLst>
          </p:spPr>
        </p:sp>
        <p:sp>
          <p:nvSpPr>
            <p:cNvPr id="49" name="Ellipse 49"/>
            <p:cNvSpPr/>
            <p:nvPr/>
          </p:nvSpPr>
          <p:spPr>
            <a:xfrm>
              <a:off x="971550" y="5619750"/>
              <a:ext cx="57150" cy="57150"/>
            </a:xfrm>
            <a:prstGeom prst="ellipse">
              <a:avLst/>
            </a:prstGeom>
            <a:solidFill>
              <a:srgbClr val="C41E3A"/>
            </a:solidFill>
            <a:ln>
              <a:noFill/>
            </a:ln>
            <a:effectLst>
              <a:outerShdw blurRad="76200" dist="19050" dir="5400000" algn="ctr" rotWithShape="0">
                <a:srgbClr val="0F172A">
                  <a:alpha val="3750"/>
                </a:srgbClr>
              </a:outerShdw>
            </a:effectLst>
          </p:spPr>
        </p:sp>
        <p:sp>
          <p:nvSpPr>
            <p:cNvPr id="50" name="TextBox 50"/>
            <p:cNvSpPr txBox="1"/>
            <p:nvPr/>
          </p:nvSpPr>
          <p:spPr>
            <a:xfrm>
              <a:off x="1128712" y="5584031"/>
              <a:ext cx="2128838"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融入位置编码和关键性先验知识</a:t>
              </a:r>
            </a:p>
          </p:txBody>
        </p:sp>
        <p:sp>
          <p:nvSpPr>
            <p:cNvPr id="51" name="Ellipse 51"/>
            <p:cNvSpPr/>
            <p:nvPr/>
          </p:nvSpPr>
          <p:spPr>
            <a:xfrm>
              <a:off x="971550" y="5905500"/>
              <a:ext cx="57150" cy="57150"/>
            </a:xfrm>
            <a:prstGeom prst="ellipse">
              <a:avLst/>
            </a:prstGeom>
            <a:solidFill>
              <a:srgbClr val="C41E3A"/>
            </a:solidFill>
            <a:ln>
              <a:noFill/>
            </a:ln>
            <a:effectLst>
              <a:outerShdw blurRad="76200" dist="19050" dir="5400000" algn="ctr" rotWithShape="0">
                <a:srgbClr val="0F172A">
                  <a:alpha val="3750"/>
                </a:srgbClr>
              </a:outerShdw>
            </a:effectLst>
          </p:spPr>
        </p:sp>
        <p:sp>
          <p:nvSpPr>
            <p:cNvPr id="52" name="TextBox 52"/>
            <p:cNvSpPr txBox="1"/>
            <p:nvPr/>
          </p:nvSpPr>
          <p:spPr>
            <a:xfrm>
              <a:off x="1128712" y="5869781"/>
              <a:ext cx="4604147"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125" dirty="0">
                  <a:solidFill>
                    <a:srgbClr val="2D2D2D"/>
                  </a:solidFill>
                  <a:latin typeface="Arial"/>
                  <a:ea typeface="Microsoft YaHei"/>
                  <a:cs typeface="Arial"/>
                </a:rPr>
                <a:t>相机、LiDAR等多模态数据统一线性输入，课程学习降低通信延时影响</a:t>
              </a:r>
            </a:p>
          </p:txBody>
        </p:sp>
      </p:grpSp>
      <p:grpSp>
        <p:nvGrpSpPr>
          <p:cNvPr id="59" name="Group 59"/>
          <p:cNvGrpSpPr/>
          <p:nvPr/>
        </p:nvGrpSpPr>
        <p:grpSpPr>
          <a:xfrm>
            <a:off x="6286500" y="4619625"/>
            <a:ext cx="5334000" cy="1619250"/>
            <a:chOff x="6286500" y="4619625"/>
            <a:chExt cx="5334000" cy="1619250"/>
          </a:xfrm>
          <a:effectLst>
            <a:outerShdw blurRad="76200" dist="19050" dir="5400000" algn="ctr" rotWithShape="0">
              <a:srgbClr val="0F172A">
                <a:alpha val="3750"/>
              </a:srgbClr>
            </a:outerShdw>
          </a:effectLst>
        </p:grpSpPr>
        <p:sp>
          <p:nvSpPr>
            <p:cNvPr id="54" name="Rectangle 54"/>
            <p:cNvSpPr/>
            <p:nvPr/>
          </p:nvSpPr>
          <p:spPr>
            <a:xfrm>
              <a:off x="6286500" y="4619625"/>
              <a:ext cx="5334000" cy="1619250"/>
            </a:xfrm>
            <a:prstGeom prst="roundRect">
              <a:avLst>
                <a:gd name="adj" fmla="val 4706"/>
              </a:avLst>
            </a:prstGeom>
            <a:solidFill>
              <a:srgbClr val="FFF5F5"/>
            </a:solidFill>
            <a:ln w="19050">
              <a:solidFill>
                <a:srgbClr val="C41E3A"/>
              </a:solidFill>
            </a:ln>
            <a:effectLst>
              <a:outerShdw blurRad="76200" dist="19050" dir="5400000" algn="ctr" rotWithShape="0">
                <a:srgbClr val="0F172A">
                  <a:alpha val="3750"/>
                </a:srgbClr>
              </a:outerShdw>
            </a:effectLst>
          </p:spPr>
        </p:sp>
        <p:sp>
          <p:nvSpPr>
            <p:cNvPr id="55" name="TextBox 55"/>
            <p:cNvSpPr txBox="1"/>
            <p:nvPr/>
          </p:nvSpPr>
          <p:spPr>
            <a:xfrm>
              <a:off x="8094345" y="4933950"/>
              <a:ext cx="1718310" cy="3048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500" b="1" dirty="0">
                  <a:solidFill>
                    <a:srgbClr val="8B0000"/>
                  </a:solidFill>
                  <a:latin typeface="Arial"/>
                  <a:ea typeface="Microsoft YaHei"/>
                  <a:cs typeface="Arial"/>
                </a:rPr>
                <a:t>群体智能核心范式</a:t>
              </a:r>
            </a:p>
          </p:txBody>
        </p:sp>
        <p:sp>
          <p:nvSpPr>
            <p:cNvPr id="56" name="Rectangle 56"/>
            <p:cNvSpPr/>
            <p:nvPr/>
          </p:nvSpPr>
          <p:spPr>
            <a:xfrm>
              <a:off x="7239000" y="5286375"/>
              <a:ext cx="3429000" cy="9525"/>
            </a:xfrm>
            <a:prstGeom prst="rect">
              <a:avLst/>
            </a:prstGeom>
            <a:solidFill>
              <a:srgbClr val="C41E3A"/>
            </a:solidFill>
            <a:ln>
              <a:noFill/>
            </a:ln>
            <a:effectLst>
              <a:outerShdw blurRad="76200" dist="19050" dir="5400000" algn="ctr" rotWithShape="0">
                <a:srgbClr val="0F172A">
                  <a:alpha val="3750"/>
                </a:srgbClr>
              </a:outerShdw>
            </a:effectLst>
          </p:spPr>
        </p:sp>
        <p:sp>
          <p:nvSpPr>
            <p:cNvPr id="57" name="TextBox 57"/>
            <p:cNvSpPr txBox="1"/>
            <p:nvPr/>
          </p:nvSpPr>
          <p:spPr>
            <a:xfrm>
              <a:off x="7188277" y="5441632"/>
              <a:ext cx="3530446" cy="3352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650" b="1" dirty="0">
                  <a:solidFill>
                    <a:srgbClr val="C41E3A"/>
                  </a:solidFill>
                  <a:latin typeface="Arial"/>
                  <a:ea typeface="Microsoft YaHei"/>
                  <a:cs typeface="Arial"/>
                </a:rPr>
                <a:t>"感知共享、决策共商、行动共协"</a:t>
              </a:r>
            </a:p>
          </p:txBody>
        </p:sp>
        <p:sp>
          <p:nvSpPr>
            <p:cNvPr id="58" name="TextBox 58"/>
            <p:cNvSpPr txBox="1"/>
            <p:nvPr/>
          </p:nvSpPr>
          <p:spPr>
            <a:xfrm>
              <a:off x="7499032" y="5831681"/>
              <a:ext cx="2908935" cy="22860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125" dirty="0">
                  <a:solidFill>
                    <a:srgbClr val="666666"/>
                  </a:solidFill>
                  <a:latin typeface="Arial"/>
                  <a:ea typeface="Microsoft YaHei"/>
                  <a:cs typeface="Arial"/>
                </a:rPr>
                <a:t>从"有序协作"到"自主涌现"的群体智能进化</a:t>
              </a:r>
            </a:p>
          </p:txBody>
        </p:sp>
      </p:grpSp>
      <p:grpSp>
        <p:nvGrpSpPr>
          <p:cNvPr id="63" name="Group 63"/>
          <p:cNvGrpSpPr/>
          <p:nvPr/>
        </p:nvGrpSpPr>
        <p:grpSpPr>
          <a:xfrm>
            <a:off x="0" y="6578441"/>
            <a:ext cx="12192000" cy="279559"/>
            <a:chOff x="0" y="6578441"/>
            <a:chExt cx="12192000" cy="279559"/>
          </a:xfrm>
        </p:grpSpPr>
        <p:sp>
          <p:nvSpPr>
            <p:cNvPr id="60" name="Rectangle 60"/>
            <p:cNvSpPr/>
            <p:nvPr/>
          </p:nvSpPr>
          <p:spPr>
            <a:xfrm>
              <a:off x="0" y="6819900"/>
              <a:ext cx="12192000" cy="38100"/>
            </a:xfrm>
            <a:prstGeom prst="rect">
              <a:avLst/>
            </a:prstGeom>
            <a:solidFill>
              <a:srgbClr val="D4C5C5"/>
            </a:solidFill>
            <a:ln>
              <a:noFill/>
            </a:ln>
          </p:spPr>
        </p:sp>
        <p:sp>
          <p:nvSpPr>
            <p:cNvPr id="61" name="TextBox 61"/>
            <p:cNvSpPr txBox="1"/>
            <p:nvPr/>
          </p:nvSpPr>
          <p:spPr>
            <a:xfrm>
              <a:off x="11296483" y="6578441"/>
              <a:ext cx="334494" cy="167640"/>
            </a:xfrm>
            <a:prstGeom prst="rect">
              <a:avLst/>
            </a:prstGeom>
            <a:noFill/>
            <a:ln>
              <a:noFill/>
            </a:ln>
          </p:spPr>
          <p:txBody>
            <a:bodyPr wrap="none" lIns="0" tIns="0" rIns="0" bIns="0" anchor="t" anchorCtr="0">
              <a:spAutoFit/>
            </a:bodyPr>
            <a:lstStyle/>
            <a:p>
              <a:pPr algn="r"/>
              <a:r>
                <a:rPr lang="zh-CN" sz="825" dirty="0">
                  <a:solidFill>
                    <a:srgbClr val="999999"/>
                  </a:solidFill>
                  <a:latin typeface="Arial"/>
                  <a:ea typeface="Microsoft YaHei"/>
                  <a:cs typeface="Arial"/>
                </a:rPr>
                <a:t>13 / 16</a:t>
              </a:r>
            </a:p>
          </p:txBody>
        </p:sp>
        <p:sp>
          <p:nvSpPr>
            <p:cNvPr id="62" name="TextBox 62"/>
            <p:cNvSpPr txBox="1"/>
            <p:nvPr/>
          </p:nvSpPr>
          <p:spPr>
            <a:xfrm>
              <a:off x="561022" y="6578441"/>
              <a:ext cx="1814179" cy="167640"/>
            </a:xfrm>
            <a:prstGeom prst="rect">
              <a:avLst/>
            </a:prstGeom>
            <a:noFill/>
            <a:ln>
              <a:noFill/>
            </a:ln>
          </p:spPr>
          <p:txBody>
            <a:bodyPr wrap="none" lIns="0" tIns="0" rIns="0" bIns="0" anchor="t" anchorCtr="0">
              <a:spAutoFit/>
            </a:bodyPr>
            <a:lstStyle/>
            <a:p>
              <a:pPr algn="l"/>
              <a:r>
                <a:rPr lang="zh-CN" sz="825" dirty="0">
                  <a:solidFill>
                    <a:srgbClr val="999999"/>
                  </a:solidFill>
                  <a:latin typeface="Arial"/>
                  <a:ea typeface="Microsoft YaHei"/>
                  <a:cs typeface="Arial"/>
                </a:rPr>
                <a:t>华中科技大学 人工智能与自动化学院</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lide(fromBottom)">
                                      <p:cBhvr>
                                        <p:cTn id="7" dur="400"/>
                                        <p:tgtEl>
                                          <p:spTgt spid="13"/>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image">
                                      <p:cBhvr>
                                        <p:cTn id="11" dur="400"/>
                                        <p:tgtEl>
                                          <p:spTgt spid="25"/>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fade">
                                      <p:cBhvr>
                                        <p:cTn id="15" dur="400"/>
                                        <p:tgtEl>
                                          <p:spTgt spid="41"/>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53"/>
                                        </p:tgtEl>
                                        <p:attrNameLst>
                                          <p:attrName>style.visibility</p:attrName>
                                        </p:attrNameLst>
                                      </p:cBhvr>
                                      <p:to>
                                        <p:strVal val="visible"/>
                                      </p:to>
                                    </p:set>
                                    <p:animEffect transition="in" filter="wipe(left)">
                                      <p:cBhvr>
                                        <p:cTn id="19" dur="400"/>
                                        <p:tgtEl>
                                          <p:spTgt spid="53"/>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59"/>
                                        </p:tgtEl>
                                        <p:attrNameLst>
                                          <p:attrName>style.visibility</p:attrName>
                                        </p:attrNameLst>
                                      </p:cBhvr>
                                      <p:to>
                                        <p:strVal val="visible"/>
                                      </p:to>
                                    </p:set>
                                    <p:animEffect transition="in" filter="slide(fromBottom)">
                                      <p:cBhvr>
                                        <p:cTn id="23" dur="4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5" grpId="0"/>
      <p:bldP spid="41" grpId="0"/>
      <p:bldP spid="53" grpId="0"/>
      <p:bldP spid="5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gradFill>
              <a:gsLst>
                <a:gs pos="0">
                  <a:srgbClr val="8B0000"/>
                </a:gs>
                <a:gs pos="100000">
                  <a:srgbClr val="C41E3A"/>
                </a:gs>
              </a:gsLst>
              <a:lin ang="0" scaled="1"/>
            </a:gradFill>
            <a:ln>
              <a:noFill/>
            </a:ln>
          </p:spPr>
        </p:sp>
      </p:grpSp>
      <p:grpSp>
        <p:nvGrpSpPr>
          <p:cNvPr id="8" name="Group 8"/>
          <p:cNvGrpSpPr/>
          <p:nvPr/>
        </p:nvGrpSpPr>
        <p:grpSpPr>
          <a:xfrm>
            <a:off x="731520" y="264795"/>
            <a:ext cx="3085338" cy="601980"/>
            <a:chOff x="731520" y="264795"/>
            <a:chExt cx="3085338" cy="601980"/>
          </a:xfrm>
        </p:grpSpPr>
        <p:sp>
          <p:nvSpPr>
            <p:cNvPr id="5" name="TextBox 5"/>
            <p:cNvSpPr txBox="1"/>
            <p:nvPr/>
          </p:nvSpPr>
          <p:spPr>
            <a:xfrm>
              <a:off x="731520" y="264795"/>
              <a:ext cx="3085338" cy="487680"/>
            </a:xfrm>
            <a:prstGeom prst="rect">
              <a:avLst/>
            </a:prstGeom>
            <a:noFill/>
            <a:ln>
              <a:noFill/>
            </a:ln>
          </p:spPr>
          <p:txBody>
            <a:bodyPr wrap="none" lIns="0" tIns="0" rIns="0" bIns="0" anchor="t" anchorCtr="0">
              <a:spAutoFit/>
            </a:bodyPr>
            <a:lstStyle/>
            <a:p>
              <a:pPr algn="l"/>
              <a:r>
                <a:rPr lang="zh-CN" sz="2400" b="1" dirty="0">
                  <a:solidFill>
                    <a:srgbClr val="8B0000"/>
                  </a:solidFill>
                  <a:latin typeface="Arial"/>
                  <a:ea typeface="Microsoft YaHei"/>
                  <a:cs typeface="Arial"/>
                </a:rPr>
                <a:t>实施方案与预期成果</a:t>
              </a:r>
            </a:p>
          </p:txBody>
        </p:sp>
        <p:sp>
          <p:nvSpPr>
            <p:cNvPr id="6" name="TextBox 6"/>
            <p:cNvSpPr txBox="1"/>
            <p:nvPr/>
          </p:nvSpPr>
          <p:spPr>
            <a:xfrm>
              <a:off x="749618" y="637699"/>
              <a:ext cx="2287048" cy="198120"/>
            </a:xfrm>
            <a:prstGeom prst="rect">
              <a:avLst/>
            </a:prstGeom>
            <a:noFill/>
            <a:ln>
              <a:noFill/>
            </a:ln>
          </p:spPr>
          <p:txBody>
            <a:bodyPr wrap="none" lIns="0" tIns="0" rIns="0" bIns="0" anchor="t" anchorCtr="0">
              <a:spAutoFit/>
            </a:bodyPr>
            <a:lstStyle/>
            <a:p>
              <a:pPr algn="l"/>
              <a:r>
                <a:rPr lang="zh-CN" sz="975" dirty="0">
                  <a:solidFill>
                    <a:srgbClr val="999999"/>
                  </a:solidFill>
                  <a:latin typeface="Arial"/>
                  <a:ea typeface="Microsoft YaHei"/>
                  <a:cs typeface="Arial"/>
                </a:rPr>
                <a:t>"仿真先行、实物验证" 三阶段推进策略</a:t>
              </a:r>
            </a:p>
          </p:txBody>
        </p:sp>
        <p:sp>
          <p:nvSpPr>
            <p:cNvPr id="7" name="Rectangle 7"/>
            <p:cNvSpPr/>
            <p:nvPr/>
          </p:nvSpPr>
          <p:spPr>
            <a:xfrm>
              <a:off x="762000" y="838200"/>
              <a:ext cx="476250" cy="28575"/>
            </a:xfrm>
            <a:prstGeom prst="rect">
              <a:avLst/>
            </a:prstGeom>
            <a:solidFill>
              <a:srgbClr val="C41E3A"/>
            </a:solidFill>
            <a:ln>
              <a:noFill/>
            </a:ln>
          </p:spPr>
        </p:sp>
      </p:grpSp>
      <p:grpSp>
        <p:nvGrpSpPr>
          <p:cNvPr id="14" name="Group 14"/>
          <p:cNvGrpSpPr/>
          <p:nvPr/>
        </p:nvGrpSpPr>
        <p:grpSpPr>
          <a:xfrm>
            <a:off x="762000" y="1190625"/>
            <a:ext cx="10668000" cy="1000125"/>
            <a:chOff x="762000" y="1190625"/>
            <a:chExt cx="10668000" cy="1000125"/>
          </a:xfrm>
        </p:grpSpPr>
        <p:sp>
          <p:nvSpPr>
            <p:cNvPr id="9" name="Rectangle 9"/>
            <p:cNvSpPr/>
            <p:nvPr/>
          </p:nvSpPr>
          <p:spPr>
            <a:xfrm>
              <a:off x="762000" y="1190625"/>
              <a:ext cx="10668000" cy="47625"/>
            </a:xfrm>
            <a:prstGeom prst="rect">
              <a:avLst/>
            </a:prstGeom>
            <a:solidFill>
              <a:srgbClr val="F8F2F2"/>
            </a:solidFill>
            <a:ln>
              <a:noFill/>
            </a:ln>
          </p:spPr>
        </p:sp>
        <p:sp>
          <p:nvSpPr>
            <p:cNvPr id="10" name="Rectangle 10"/>
            <p:cNvSpPr/>
            <p:nvPr/>
          </p:nvSpPr>
          <p:spPr>
            <a:xfrm>
              <a:off x="762000" y="1238250"/>
              <a:ext cx="47625" cy="952500"/>
            </a:xfrm>
            <a:prstGeom prst="rect">
              <a:avLst/>
            </a:prstGeom>
            <a:solidFill>
              <a:srgbClr val="8B0000"/>
            </a:solidFill>
            <a:ln>
              <a:noFill/>
            </a:ln>
          </p:spPr>
        </p:sp>
        <p:sp>
          <p:nvSpPr>
            <p:cNvPr id="11" name="TextBox 11"/>
            <p:cNvSpPr txBox="1"/>
            <p:nvPr/>
          </p:nvSpPr>
          <p:spPr>
            <a:xfrm>
              <a:off x="1116330" y="1392555"/>
              <a:ext cx="935450" cy="426720"/>
            </a:xfrm>
            <a:prstGeom prst="rect">
              <a:avLst/>
            </a:prstGeom>
            <a:noFill/>
            <a:ln>
              <a:noFill/>
            </a:ln>
          </p:spPr>
          <p:txBody>
            <a:bodyPr wrap="none" lIns="0" tIns="0" rIns="0" bIns="0" anchor="t" anchorCtr="0">
              <a:spAutoFit/>
            </a:bodyPr>
            <a:lstStyle/>
            <a:p>
              <a:pPr algn="l"/>
              <a:r>
                <a:rPr lang="zh-CN" sz="2100" b="1" dirty="0">
                  <a:solidFill>
                    <a:srgbClr val="8B0000"/>
                  </a:solidFill>
                  <a:latin typeface="Arial"/>
                  <a:ea typeface="Microsoft YaHei"/>
                  <a:cs typeface="Arial"/>
                </a:rPr>
                <a:t>阶段一</a:t>
              </a:r>
            </a:p>
          </p:txBody>
        </p:sp>
        <p:sp>
          <p:nvSpPr>
            <p:cNvPr id="12" name="TextBox 12"/>
            <p:cNvSpPr txBox="1"/>
            <p:nvPr/>
          </p:nvSpPr>
          <p:spPr>
            <a:xfrm>
              <a:off x="2455545" y="1393508"/>
              <a:ext cx="3507343" cy="335280"/>
            </a:xfrm>
            <a:prstGeom prst="rect">
              <a:avLst/>
            </a:prstGeom>
            <a:noFill/>
            <a:ln>
              <a:noFill/>
            </a:ln>
          </p:spPr>
          <p:txBody>
            <a:bodyPr wrap="none" lIns="0" tIns="0" rIns="0" bIns="0" anchor="t" anchorCtr="0">
              <a:spAutoFit/>
            </a:bodyPr>
            <a:lstStyle/>
            <a:p>
              <a:pPr algn="l"/>
              <a:r>
                <a:rPr lang="zh-CN" sz="1650" b="1" dirty="0">
                  <a:solidFill>
                    <a:srgbClr val="2D2D2D"/>
                  </a:solidFill>
                  <a:latin typeface="Arial"/>
                  <a:ea typeface="Microsoft YaHei"/>
                  <a:cs typeface="Arial"/>
                </a:rPr>
                <a:t>多机器人传感器信息融合技术研究</a:t>
              </a:r>
            </a:p>
          </p:txBody>
        </p:sp>
        <p:sp>
          <p:nvSpPr>
            <p:cNvPr id="13" name="TextBox 13"/>
            <p:cNvSpPr txBox="1"/>
            <p:nvPr/>
          </p:nvSpPr>
          <p:spPr>
            <a:xfrm>
              <a:off x="2461260" y="1728788"/>
              <a:ext cx="8835223" cy="369332"/>
            </a:xfrm>
            <a:prstGeom prst="rect">
              <a:avLst/>
            </a:prstGeom>
            <a:noFill/>
            <a:ln>
              <a:noFill/>
            </a:ln>
          </p:spPr>
          <p:txBody>
            <a:bodyPr wrap="square" lIns="0" tIns="0" rIns="0" bIns="0" anchor="t" anchorCtr="0">
              <a:spAutoFit/>
            </a:bodyPr>
            <a:lstStyle/>
            <a:p>
              <a:pPr algn="l"/>
              <a:r>
                <a:rPr lang="zh-CN" sz="1200" dirty="0">
                  <a:solidFill>
                    <a:srgbClr val="666666"/>
                  </a:solidFill>
                  <a:latin typeface="Arial"/>
                  <a:ea typeface="Microsoft YaHei"/>
                  <a:cs typeface="Arial"/>
                </a:rPr>
                <a:t>融合激光雷达、视觉相机等多模态数据，采用分布式协同SLAM与语义融合、稀疏特征发送等先进方法，构建全局一致动态环境地图。完成无人机、机器狗单体的基本感知、定位、导航功能的研发和测试。</a:t>
              </a:r>
            </a:p>
          </p:txBody>
        </p:sp>
      </p:grpSp>
      <p:grpSp>
        <p:nvGrpSpPr>
          <p:cNvPr id="20" name="Group 20"/>
          <p:cNvGrpSpPr/>
          <p:nvPr/>
        </p:nvGrpSpPr>
        <p:grpSpPr>
          <a:xfrm>
            <a:off x="762000" y="2667000"/>
            <a:ext cx="10668000" cy="1000125"/>
            <a:chOff x="762000" y="2667000"/>
            <a:chExt cx="10668000" cy="1000125"/>
          </a:xfrm>
        </p:grpSpPr>
        <p:sp>
          <p:nvSpPr>
            <p:cNvPr id="15" name="Rectangle 15"/>
            <p:cNvSpPr/>
            <p:nvPr/>
          </p:nvSpPr>
          <p:spPr>
            <a:xfrm>
              <a:off x="762000" y="2667000"/>
              <a:ext cx="10668000" cy="47625"/>
            </a:xfrm>
            <a:prstGeom prst="rect">
              <a:avLst/>
            </a:prstGeom>
            <a:solidFill>
              <a:srgbClr val="F8F2F2"/>
            </a:solidFill>
            <a:ln>
              <a:noFill/>
            </a:ln>
          </p:spPr>
        </p:sp>
        <p:sp>
          <p:nvSpPr>
            <p:cNvPr id="16" name="Rectangle 16"/>
            <p:cNvSpPr/>
            <p:nvPr/>
          </p:nvSpPr>
          <p:spPr>
            <a:xfrm>
              <a:off x="762000" y="2714625"/>
              <a:ext cx="47625" cy="952500"/>
            </a:xfrm>
            <a:prstGeom prst="rect">
              <a:avLst/>
            </a:prstGeom>
            <a:solidFill>
              <a:srgbClr val="C41E3A"/>
            </a:solidFill>
            <a:ln>
              <a:noFill/>
            </a:ln>
          </p:spPr>
        </p:sp>
        <p:sp>
          <p:nvSpPr>
            <p:cNvPr id="17" name="TextBox 17"/>
            <p:cNvSpPr txBox="1"/>
            <p:nvPr/>
          </p:nvSpPr>
          <p:spPr>
            <a:xfrm>
              <a:off x="1116330" y="2868930"/>
              <a:ext cx="935450" cy="426720"/>
            </a:xfrm>
            <a:prstGeom prst="rect">
              <a:avLst/>
            </a:prstGeom>
            <a:noFill/>
            <a:ln>
              <a:noFill/>
            </a:ln>
          </p:spPr>
          <p:txBody>
            <a:bodyPr wrap="none" lIns="0" tIns="0" rIns="0" bIns="0" anchor="t" anchorCtr="0">
              <a:spAutoFit/>
            </a:bodyPr>
            <a:lstStyle/>
            <a:p>
              <a:pPr algn="l"/>
              <a:r>
                <a:rPr lang="zh-CN" sz="2100" b="1" dirty="0">
                  <a:solidFill>
                    <a:srgbClr val="C41E3A"/>
                  </a:solidFill>
                  <a:latin typeface="Arial"/>
                  <a:ea typeface="Microsoft YaHei"/>
                  <a:cs typeface="Arial"/>
                </a:rPr>
                <a:t>阶段二</a:t>
              </a:r>
            </a:p>
          </p:txBody>
        </p:sp>
        <p:sp>
          <p:nvSpPr>
            <p:cNvPr id="18" name="TextBox 18"/>
            <p:cNvSpPr txBox="1"/>
            <p:nvPr/>
          </p:nvSpPr>
          <p:spPr>
            <a:xfrm>
              <a:off x="2455545" y="2869882"/>
              <a:ext cx="2583228" cy="335280"/>
            </a:xfrm>
            <a:prstGeom prst="rect">
              <a:avLst/>
            </a:prstGeom>
            <a:noFill/>
            <a:ln>
              <a:noFill/>
            </a:ln>
          </p:spPr>
          <p:txBody>
            <a:bodyPr wrap="none" lIns="0" tIns="0" rIns="0" bIns="0" anchor="t" anchorCtr="0">
              <a:spAutoFit/>
            </a:bodyPr>
            <a:lstStyle/>
            <a:p>
              <a:pPr algn="l"/>
              <a:r>
                <a:rPr lang="zh-CN" sz="1650" b="1" dirty="0">
                  <a:solidFill>
                    <a:srgbClr val="2D2D2D"/>
                  </a:solidFill>
                  <a:latin typeface="Arial"/>
                  <a:ea typeface="Microsoft YaHei"/>
                  <a:cs typeface="Arial"/>
                </a:rPr>
                <a:t>分层式协同规划方法研究</a:t>
              </a:r>
            </a:p>
          </p:txBody>
        </p:sp>
        <p:sp>
          <p:nvSpPr>
            <p:cNvPr id="19" name="TextBox 19"/>
            <p:cNvSpPr txBox="1"/>
            <p:nvPr/>
          </p:nvSpPr>
          <p:spPr>
            <a:xfrm>
              <a:off x="2461260" y="3178969"/>
              <a:ext cx="8835223" cy="369332"/>
            </a:xfrm>
            <a:prstGeom prst="rect">
              <a:avLst/>
            </a:prstGeom>
            <a:noFill/>
            <a:ln>
              <a:noFill/>
            </a:ln>
          </p:spPr>
          <p:txBody>
            <a:bodyPr wrap="square" lIns="0" tIns="0" rIns="0" bIns="0" anchor="t" anchorCtr="0">
              <a:spAutoFit/>
            </a:bodyPr>
            <a:lstStyle/>
            <a:p>
              <a:pPr algn="l"/>
              <a:r>
                <a:rPr lang="zh-CN" sz="1200" dirty="0">
                  <a:solidFill>
                    <a:srgbClr val="666666"/>
                  </a:solidFill>
                  <a:latin typeface="Arial"/>
                  <a:ea typeface="Microsoft YaHei"/>
                  <a:cs typeface="Arial"/>
                </a:rPr>
                <a:t>群体层面 -- 基于优化或智能算法的任务动态分配与宏观路径规划；个体层面 -- 基于全局任务和局部实时感知信息的自主导航与局部避障规划。确保系统整体目标达成的同时应对局部突发状况。</a:t>
              </a:r>
            </a:p>
          </p:txBody>
        </p:sp>
      </p:grpSp>
      <p:grpSp>
        <p:nvGrpSpPr>
          <p:cNvPr id="26" name="Group 26"/>
          <p:cNvGrpSpPr/>
          <p:nvPr/>
        </p:nvGrpSpPr>
        <p:grpSpPr>
          <a:xfrm>
            <a:off x="762000" y="4191000"/>
            <a:ext cx="10668000" cy="1000125"/>
            <a:chOff x="762000" y="4191000"/>
            <a:chExt cx="10668000" cy="1000125"/>
          </a:xfrm>
        </p:grpSpPr>
        <p:sp>
          <p:nvSpPr>
            <p:cNvPr id="21" name="Rectangle 21"/>
            <p:cNvSpPr/>
            <p:nvPr/>
          </p:nvSpPr>
          <p:spPr>
            <a:xfrm>
              <a:off x="762000" y="4191000"/>
              <a:ext cx="10668000" cy="47625"/>
            </a:xfrm>
            <a:prstGeom prst="rect">
              <a:avLst/>
            </a:prstGeom>
            <a:solidFill>
              <a:srgbClr val="F8F2F2"/>
            </a:solidFill>
            <a:ln>
              <a:noFill/>
            </a:ln>
          </p:spPr>
        </p:sp>
        <p:sp>
          <p:nvSpPr>
            <p:cNvPr id="22" name="Rectangle 22"/>
            <p:cNvSpPr/>
            <p:nvPr/>
          </p:nvSpPr>
          <p:spPr>
            <a:xfrm>
              <a:off x="762000" y="4238625"/>
              <a:ext cx="47625" cy="952500"/>
            </a:xfrm>
            <a:prstGeom prst="rect">
              <a:avLst/>
            </a:prstGeom>
            <a:solidFill>
              <a:srgbClr val="1A3C5E"/>
            </a:solidFill>
            <a:ln>
              <a:noFill/>
            </a:ln>
          </p:spPr>
        </p:sp>
        <p:sp>
          <p:nvSpPr>
            <p:cNvPr id="23" name="TextBox 23"/>
            <p:cNvSpPr txBox="1"/>
            <p:nvPr/>
          </p:nvSpPr>
          <p:spPr>
            <a:xfrm>
              <a:off x="1116330" y="4392930"/>
              <a:ext cx="935450" cy="426720"/>
            </a:xfrm>
            <a:prstGeom prst="rect">
              <a:avLst/>
            </a:prstGeom>
            <a:noFill/>
            <a:ln>
              <a:noFill/>
            </a:ln>
          </p:spPr>
          <p:txBody>
            <a:bodyPr wrap="none" lIns="0" tIns="0" rIns="0" bIns="0" anchor="t" anchorCtr="0">
              <a:spAutoFit/>
            </a:bodyPr>
            <a:lstStyle/>
            <a:p>
              <a:pPr algn="l"/>
              <a:r>
                <a:rPr lang="zh-CN" sz="2100" b="1" dirty="0">
                  <a:solidFill>
                    <a:srgbClr val="1A3C5E"/>
                  </a:solidFill>
                  <a:latin typeface="Arial"/>
                  <a:ea typeface="Microsoft YaHei"/>
                  <a:cs typeface="Arial"/>
                </a:rPr>
                <a:t>阶段三</a:t>
              </a:r>
            </a:p>
          </p:txBody>
        </p:sp>
        <p:sp>
          <p:nvSpPr>
            <p:cNvPr id="24" name="TextBox 24"/>
            <p:cNvSpPr txBox="1"/>
            <p:nvPr/>
          </p:nvSpPr>
          <p:spPr>
            <a:xfrm>
              <a:off x="2455545" y="4393882"/>
              <a:ext cx="3299417" cy="335280"/>
            </a:xfrm>
            <a:prstGeom prst="rect">
              <a:avLst/>
            </a:prstGeom>
            <a:noFill/>
            <a:ln>
              <a:noFill/>
            </a:ln>
          </p:spPr>
          <p:txBody>
            <a:bodyPr wrap="none" lIns="0" tIns="0" rIns="0" bIns="0" anchor="t" anchorCtr="0">
              <a:spAutoFit/>
            </a:bodyPr>
            <a:lstStyle/>
            <a:p>
              <a:pPr algn="l"/>
              <a:r>
                <a:rPr lang="zh-CN" sz="1650" b="1" dirty="0">
                  <a:solidFill>
                    <a:srgbClr val="2D2D2D"/>
                  </a:solidFill>
                  <a:latin typeface="Arial"/>
                  <a:ea typeface="Microsoft YaHei"/>
                  <a:cs typeface="Arial"/>
                </a:rPr>
                <a:t>"仿真先行、实物验证"集成测试</a:t>
              </a:r>
            </a:p>
          </p:txBody>
        </p:sp>
        <p:sp>
          <p:nvSpPr>
            <p:cNvPr id="25" name="TextBox 25"/>
            <p:cNvSpPr txBox="1"/>
            <p:nvPr/>
          </p:nvSpPr>
          <p:spPr>
            <a:xfrm>
              <a:off x="2461260" y="4665345"/>
              <a:ext cx="8835223" cy="369332"/>
            </a:xfrm>
            <a:prstGeom prst="rect">
              <a:avLst/>
            </a:prstGeom>
            <a:noFill/>
            <a:ln>
              <a:noFill/>
            </a:ln>
          </p:spPr>
          <p:txBody>
            <a:bodyPr wrap="square" lIns="0" tIns="0" rIns="0" bIns="0" anchor="t" anchorCtr="0">
              <a:spAutoFit/>
            </a:bodyPr>
            <a:lstStyle/>
            <a:p>
              <a:pPr algn="l"/>
              <a:r>
                <a:rPr lang="zh-CN" sz="1200" dirty="0">
                  <a:solidFill>
                    <a:srgbClr val="666666"/>
                  </a:solidFill>
                  <a:latin typeface="Arial"/>
                  <a:ea typeface="Microsoft YaHei"/>
                  <a:cs typeface="Arial"/>
                </a:rPr>
                <a:t>在AirSim/Gazebo高保真仿真环境中构建灾害救援场景，对协同算法进行大规模测试与迭代优化。搭建实物平台 (多旋翼无人机 + 四足机器狗)，在模拟灾害现场完成系统集成与全流程协同任务验证。</a:t>
              </a:r>
            </a:p>
          </p:txBody>
        </p:sp>
      </p:grpSp>
      <p:sp>
        <p:nvSpPr>
          <p:cNvPr id="27" name="Rectangle 27"/>
          <p:cNvSpPr/>
          <p:nvPr/>
        </p:nvSpPr>
        <p:spPr>
          <a:xfrm>
            <a:off x="762000" y="5619750"/>
            <a:ext cx="10668000" cy="9525"/>
          </a:xfrm>
          <a:prstGeom prst="rect">
            <a:avLst/>
          </a:prstGeom>
          <a:solidFill>
            <a:srgbClr val="D4C5C5"/>
          </a:solidFill>
          <a:ln>
            <a:noFill/>
          </a:ln>
        </p:spPr>
      </p:sp>
      <p:grpSp>
        <p:nvGrpSpPr>
          <p:cNvPr id="40" name="Group 40"/>
          <p:cNvGrpSpPr/>
          <p:nvPr/>
        </p:nvGrpSpPr>
        <p:grpSpPr>
          <a:xfrm>
            <a:off x="744855" y="5807392"/>
            <a:ext cx="10875645" cy="812483"/>
            <a:chOff x="744855" y="5807392"/>
            <a:chExt cx="10875645" cy="812483"/>
          </a:xfrm>
        </p:grpSpPr>
        <p:sp>
          <p:nvSpPr>
            <p:cNvPr id="28" name="TextBox 28"/>
            <p:cNvSpPr txBox="1"/>
            <p:nvPr/>
          </p:nvSpPr>
          <p:spPr>
            <a:xfrm>
              <a:off x="744855" y="5807392"/>
              <a:ext cx="894347" cy="274320"/>
            </a:xfrm>
            <a:prstGeom prst="rect">
              <a:avLst/>
            </a:prstGeom>
            <a:noFill/>
            <a:ln>
              <a:noFill/>
            </a:ln>
          </p:spPr>
          <p:txBody>
            <a:bodyPr wrap="none" lIns="0" tIns="0" rIns="0" bIns="0" anchor="t" anchorCtr="0">
              <a:spAutoFit/>
            </a:bodyPr>
            <a:lstStyle/>
            <a:p>
              <a:pPr algn="l"/>
              <a:r>
                <a:rPr lang="zh-CN" sz="1350" b="1" dirty="0">
                  <a:solidFill>
                    <a:srgbClr val="8B0000"/>
                  </a:solidFill>
                  <a:latin typeface="Arial"/>
                  <a:ea typeface="Microsoft YaHei"/>
                  <a:cs typeface="Arial"/>
                </a:rPr>
                <a:t>预期成果:</a:t>
              </a:r>
            </a:p>
          </p:txBody>
        </p:sp>
        <p:sp>
          <p:nvSpPr>
            <p:cNvPr id="29" name="Rectangle 29"/>
            <p:cNvSpPr/>
            <p:nvPr/>
          </p:nvSpPr>
          <p:spPr>
            <a:xfrm>
              <a:off x="857250" y="6143625"/>
              <a:ext cx="2476500" cy="476250"/>
            </a:xfrm>
            <a:prstGeom prst="roundRect">
              <a:avLst>
                <a:gd name="adj" fmla="val 12000"/>
              </a:avLst>
            </a:prstGeom>
            <a:solidFill>
              <a:srgbClr val="F8F2F2"/>
            </a:solidFill>
            <a:ln>
              <a:noFill/>
            </a:ln>
          </p:spPr>
        </p:sp>
        <p:sp>
          <p:nvSpPr>
            <p:cNvPr id="30" name="TextBox 30"/>
            <p:cNvSpPr txBox="1"/>
            <p:nvPr/>
          </p:nvSpPr>
          <p:spPr>
            <a:xfrm>
              <a:off x="1631156" y="6307931"/>
              <a:ext cx="928688" cy="228600"/>
            </a:xfrm>
            <a:prstGeom prst="rect">
              <a:avLst/>
            </a:prstGeom>
            <a:noFill/>
            <a:ln>
              <a:noFill/>
            </a:ln>
          </p:spPr>
          <p:txBody>
            <a:bodyPr wrap="none" lIns="0" tIns="0" rIns="0" bIns="0" anchor="t" anchorCtr="0">
              <a:spAutoFit/>
            </a:bodyPr>
            <a:lstStyle/>
            <a:p>
              <a:pPr algn="ctr"/>
              <a:r>
                <a:rPr lang="zh-CN" sz="1125" dirty="0">
                  <a:solidFill>
                    <a:srgbClr val="2D2D2D"/>
                  </a:solidFill>
                  <a:latin typeface="Arial"/>
                  <a:ea typeface="Microsoft YaHei"/>
                  <a:cs typeface="Arial"/>
                </a:rPr>
                <a:t>硬件验证平台</a:t>
              </a:r>
            </a:p>
          </p:txBody>
        </p:sp>
        <p:sp>
          <p:nvSpPr>
            <p:cNvPr id="31" name="TextBox 31"/>
            <p:cNvSpPr txBox="1"/>
            <p:nvPr/>
          </p:nvSpPr>
          <p:spPr>
            <a:xfrm>
              <a:off x="3552849" y="6283642"/>
              <a:ext cx="133302" cy="274320"/>
            </a:xfrm>
            <a:prstGeom prst="rect">
              <a:avLst/>
            </a:prstGeom>
            <a:noFill/>
            <a:ln>
              <a:noFill/>
            </a:ln>
          </p:spPr>
          <p:txBody>
            <a:bodyPr wrap="none" lIns="0" tIns="0" rIns="0" bIns="0" anchor="t" anchorCtr="0">
              <a:spAutoFit/>
            </a:bodyPr>
            <a:lstStyle/>
            <a:p>
              <a:pPr algn="ctr"/>
              <a:r>
                <a:rPr lang="zh-CN" sz="1350" dirty="0">
                  <a:solidFill>
                    <a:srgbClr val="C41E3A"/>
                  </a:solidFill>
                  <a:latin typeface="Segoe UI"/>
                  <a:ea typeface="Microsoft YaHei"/>
                  <a:cs typeface="Segoe UI"/>
                </a:rPr>
                <a:t>→</a:t>
              </a:r>
            </a:p>
          </p:txBody>
        </p:sp>
        <p:sp>
          <p:nvSpPr>
            <p:cNvPr id="32" name="Rectangle 32"/>
            <p:cNvSpPr/>
            <p:nvPr/>
          </p:nvSpPr>
          <p:spPr>
            <a:xfrm>
              <a:off x="3905250" y="6143625"/>
              <a:ext cx="2476500" cy="476250"/>
            </a:xfrm>
            <a:prstGeom prst="roundRect">
              <a:avLst>
                <a:gd name="adj" fmla="val 12000"/>
              </a:avLst>
            </a:prstGeom>
            <a:solidFill>
              <a:srgbClr val="F8F2F2"/>
            </a:solidFill>
            <a:ln>
              <a:noFill/>
            </a:ln>
          </p:spPr>
        </p:sp>
        <p:sp>
          <p:nvSpPr>
            <p:cNvPr id="33" name="TextBox 33"/>
            <p:cNvSpPr txBox="1"/>
            <p:nvPr/>
          </p:nvSpPr>
          <p:spPr>
            <a:xfrm>
              <a:off x="4454128" y="6307931"/>
              <a:ext cx="1378744" cy="228600"/>
            </a:xfrm>
            <a:prstGeom prst="rect">
              <a:avLst/>
            </a:prstGeom>
            <a:noFill/>
            <a:ln>
              <a:noFill/>
            </a:ln>
          </p:spPr>
          <p:txBody>
            <a:bodyPr wrap="none" lIns="0" tIns="0" rIns="0" bIns="0" anchor="t" anchorCtr="0">
              <a:spAutoFit/>
            </a:bodyPr>
            <a:lstStyle/>
            <a:p>
              <a:pPr algn="ctr"/>
              <a:r>
                <a:rPr lang="zh-CN" sz="1125" dirty="0">
                  <a:solidFill>
                    <a:srgbClr val="2D2D2D"/>
                  </a:solidFill>
                  <a:latin typeface="Arial"/>
                  <a:ea typeface="Microsoft YaHei"/>
                  <a:cs typeface="Arial"/>
                </a:rPr>
                <a:t>高精度协同感知系统</a:t>
              </a:r>
            </a:p>
          </p:txBody>
        </p:sp>
        <p:sp>
          <p:nvSpPr>
            <p:cNvPr id="34" name="TextBox 34"/>
            <p:cNvSpPr txBox="1"/>
            <p:nvPr/>
          </p:nvSpPr>
          <p:spPr>
            <a:xfrm>
              <a:off x="6600849" y="6283642"/>
              <a:ext cx="133302" cy="274320"/>
            </a:xfrm>
            <a:prstGeom prst="rect">
              <a:avLst/>
            </a:prstGeom>
            <a:noFill/>
            <a:ln>
              <a:noFill/>
            </a:ln>
          </p:spPr>
          <p:txBody>
            <a:bodyPr wrap="none" lIns="0" tIns="0" rIns="0" bIns="0" anchor="t" anchorCtr="0">
              <a:spAutoFit/>
            </a:bodyPr>
            <a:lstStyle/>
            <a:p>
              <a:pPr algn="ctr"/>
              <a:r>
                <a:rPr lang="zh-CN" sz="1350" dirty="0">
                  <a:solidFill>
                    <a:srgbClr val="C41E3A"/>
                  </a:solidFill>
                  <a:latin typeface="Segoe UI"/>
                  <a:ea typeface="Microsoft YaHei"/>
                  <a:cs typeface="Segoe UI"/>
                </a:rPr>
                <a:t>→</a:t>
              </a:r>
            </a:p>
          </p:txBody>
        </p:sp>
        <p:sp>
          <p:nvSpPr>
            <p:cNvPr id="35" name="Rectangle 35"/>
            <p:cNvSpPr/>
            <p:nvPr/>
          </p:nvSpPr>
          <p:spPr>
            <a:xfrm>
              <a:off x="6953250" y="6143625"/>
              <a:ext cx="2476500" cy="476250"/>
            </a:xfrm>
            <a:prstGeom prst="roundRect">
              <a:avLst>
                <a:gd name="adj" fmla="val 12000"/>
              </a:avLst>
            </a:prstGeom>
            <a:solidFill>
              <a:srgbClr val="F8F2F2"/>
            </a:solidFill>
            <a:ln>
              <a:noFill/>
            </a:ln>
          </p:spPr>
        </p:sp>
        <p:sp>
          <p:nvSpPr>
            <p:cNvPr id="36" name="TextBox 36"/>
            <p:cNvSpPr txBox="1"/>
            <p:nvPr/>
          </p:nvSpPr>
          <p:spPr>
            <a:xfrm>
              <a:off x="7502128" y="6307931"/>
              <a:ext cx="1378744" cy="228600"/>
            </a:xfrm>
            <a:prstGeom prst="rect">
              <a:avLst/>
            </a:prstGeom>
            <a:noFill/>
            <a:ln>
              <a:noFill/>
            </a:ln>
          </p:spPr>
          <p:txBody>
            <a:bodyPr wrap="none" lIns="0" tIns="0" rIns="0" bIns="0" anchor="t" anchorCtr="0">
              <a:spAutoFit/>
            </a:bodyPr>
            <a:lstStyle/>
            <a:p>
              <a:pPr algn="ctr"/>
              <a:r>
                <a:rPr lang="zh-CN" sz="1125" dirty="0">
                  <a:solidFill>
                    <a:srgbClr val="2D2D2D"/>
                  </a:solidFill>
                  <a:latin typeface="Arial"/>
                  <a:ea typeface="Microsoft YaHei"/>
                  <a:cs typeface="Arial"/>
                </a:rPr>
                <a:t>智能分布式规划系统</a:t>
              </a:r>
            </a:p>
          </p:txBody>
        </p:sp>
        <p:sp>
          <p:nvSpPr>
            <p:cNvPr id="37" name="TextBox 37"/>
            <p:cNvSpPr txBox="1"/>
            <p:nvPr/>
          </p:nvSpPr>
          <p:spPr>
            <a:xfrm>
              <a:off x="9648849" y="6283642"/>
              <a:ext cx="133302" cy="274320"/>
            </a:xfrm>
            <a:prstGeom prst="rect">
              <a:avLst/>
            </a:prstGeom>
            <a:noFill/>
            <a:ln>
              <a:noFill/>
            </a:ln>
          </p:spPr>
          <p:txBody>
            <a:bodyPr wrap="none" lIns="0" tIns="0" rIns="0" bIns="0" anchor="t" anchorCtr="0">
              <a:spAutoFit/>
            </a:bodyPr>
            <a:lstStyle/>
            <a:p>
              <a:pPr algn="ctr"/>
              <a:r>
                <a:rPr lang="zh-CN" sz="1350" dirty="0">
                  <a:solidFill>
                    <a:srgbClr val="C41E3A"/>
                  </a:solidFill>
                  <a:latin typeface="Segoe UI"/>
                  <a:ea typeface="Microsoft YaHei"/>
                  <a:cs typeface="Segoe UI"/>
                </a:rPr>
                <a:t>→</a:t>
              </a:r>
            </a:p>
          </p:txBody>
        </p:sp>
        <p:sp>
          <p:nvSpPr>
            <p:cNvPr id="38" name="Rectangle 38"/>
            <p:cNvSpPr/>
            <p:nvPr/>
          </p:nvSpPr>
          <p:spPr>
            <a:xfrm>
              <a:off x="10001250" y="6143625"/>
              <a:ext cx="1619250" cy="476250"/>
            </a:xfrm>
            <a:prstGeom prst="roundRect">
              <a:avLst>
                <a:gd name="adj" fmla="val 12000"/>
              </a:avLst>
            </a:prstGeom>
            <a:gradFill>
              <a:gsLst>
                <a:gs pos="0">
                  <a:srgbClr val="8B0000"/>
                </a:gs>
                <a:gs pos="100000">
                  <a:srgbClr val="C41E3A"/>
                </a:gs>
              </a:gsLst>
              <a:lin ang="0" scaled="1"/>
            </a:gradFill>
            <a:ln>
              <a:noFill/>
            </a:ln>
          </p:spPr>
        </p:sp>
        <p:sp>
          <p:nvSpPr>
            <p:cNvPr id="39" name="TextBox 39"/>
            <p:cNvSpPr txBox="1"/>
            <p:nvPr/>
          </p:nvSpPr>
          <p:spPr>
            <a:xfrm>
              <a:off x="10402788" y="6307931"/>
              <a:ext cx="816173"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全流程验证</a:t>
              </a:r>
            </a:p>
          </p:txBody>
        </p:sp>
      </p:grpSp>
      <p:grpSp>
        <p:nvGrpSpPr>
          <p:cNvPr id="44" name="Group 44"/>
          <p:cNvGrpSpPr/>
          <p:nvPr/>
        </p:nvGrpSpPr>
        <p:grpSpPr>
          <a:xfrm>
            <a:off x="0" y="6578441"/>
            <a:ext cx="12192000" cy="279559"/>
            <a:chOff x="0" y="6578441"/>
            <a:chExt cx="12192000" cy="279559"/>
          </a:xfrm>
        </p:grpSpPr>
        <p:sp>
          <p:nvSpPr>
            <p:cNvPr id="41" name="Rectangle 41"/>
            <p:cNvSpPr/>
            <p:nvPr/>
          </p:nvSpPr>
          <p:spPr>
            <a:xfrm>
              <a:off x="0" y="6819900"/>
              <a:ext cx="12192000" cy="38100"/>
            </a:xfrm>
            <a:prstGeom prst="rect">
              <a:avLst/>
            </a:prstGeom>
            <a:solidFill>
              <a:srgbClr val="D4C5C5"/>
            </a:solidFill>
            <a:ln>
              <a:noFill/>
            </a:ln>
          </p:spPr>
        </p:sp>
        <p:sp>
          <p:nvSpPr>
            <p:cNvPr id="42" name="TextBox 42"/>
            <p:cNvSpPr txBox="1"/>
            <p:nvPr/>
          </p:nvSpPr>
          <p:spPr>
            <a:xfrm>
              <a:off x="11296483" y="6578441"/>
              <a:ext cx="334494" cy="167640"/>
            </a:xfrm>
            <a:prstGeom prst="rect">
              <a:avLst/>
            </a:prstGeom>
            <a:noFill/>
            <a:ln>
              <a:noFill/>
            </a:ln>
          </p:spPr>
          <p:txBody>
            <a:bodyPr wrap="none" lIns="0" tIns="0" rIns="0" bIns="0" anchor="t" anchorCtr="0">
              <a:spAutoFit/>
            </a:bodyPr>
            <a:lstStyle/>
            <a:p>
              <a:pPr algn="r"/>
              <a:r>
                <a:rPr lang="zh-CN" sz="825" dirty="0">
                  <a:solidFill>
                    <a:srgbClr val="999999"/>
                  </a:solidFill>
                  <a:latin typeface="Arial"/>
                  <a:ea typeface="Microsoft YaHei"/>
                  <a:cs typeface="Arial"/>
                </a:rPr>
                <a:t>14 / 16</a:t>
              </a:r>
            </a:p>
          </p:txBody>
        </p:sp>
        <p:sp>
          <p:nvSpPr>
            <p:cNvPr id="43" name="TextBox 43"/>
            <p:cNvSpPr txBox="1"/>
            <p:nvPr/>
          </p:nvSpPr>
          <p:spPr>
            <a:xfrm>
              <a:off x="561022" y="6578441"/>
              <a:ext cx="1814179" cy="167640"/>
            </a:xfrm>
            <a:prstGeom prst="rect">
              <a:avLst/>
            </a:prstGeom>
            <a:noFill/>
            <a:ln>
              <a:noFill/>
            </a:ln>
          </p:spPr>
          <p:txBody>
            <a:bodyPr wrap="none" lIns="0" tIns="0" rIns="0" bIns="0" anchor="t" anchorCtr="0">
              <a:spAutoFit/>
            </a:bodyPr>
            <a:lstStyle/>
            <a:p>
              <a:pPr algn="l"/>
              <a:r>
                <a:rPr lang="zh-CN" sz="825" dirty="0">
                  <a:solidFill>
                    <a:srgbClr val="999999"/>
                  </a:solidFill>
                  <a:latin typeface="Arial"/>
                  <a:ea typeface="Microsoft YaHei"/>
                  <a:cs typeface="Arial"/>
                </a:rPr>
                <a:t>华中科技大学 人工智能与自动化学院</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image">
                                      <p:cBhvr>
                                        <p:cTn id="7" dur="400"/>
                                        <p:tgtEl>
                                          <p:spTgt spid="14"/>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wipe(left)">
                                      <p:cBhvr>
                                        <p:cTn id="15" dur="400"/>
                                        <p:tgtEl>
                                          <p:spTgt spid="26"/>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slide(fromBottom)">
                                      <p:cBhvr>
                                        <p:cTn id="19"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0" grpId="0"/>
      <p:bldP spid="26" grpId="0"/>
      <p:bldP spid="4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gradFill>
              <a:gsLst>
                <a:gs pos="0">
                  <a:srgbClr val="8B0000"/>
                </a:gs>
                <a:gs pos="100000">
                  <a:srgbClr val="C41E3A"/>
                </a:gs>
              </a:gsLst>
              <a:lin ang="0" scaled="1"/>
            </a:gradFill>
            <a:ln>
              <a:noFill/>
            </a:ln>
          </p:spPr>
        </p:sp>
      </p:grpSp>
      <p:grpSp>
        <p:nvGrpSpPr>
          <p:cNvPr id="7" name="Group 7"/>
          <p:cNvGrpSpPr/>
          <p:nvPr/>
        </p:nvGrpSpPr>
        <p:grpSpPr>
          <a:xfrm>
            <a:off x="731520" y="264795"/>
            <a:ext cx="1405128" cy="487680"/>
            <a:chOff x="731520" y="264795"/>
            <a:chExt cx="1405128" cy="487680"/>
          </a:xfrm>
        </p:grpSpPr>
        <p:sp>
          <p:nvSpPr>
            <p:cNvPr id="5" name="TextBox 5"/>
            <p:cNvSpPr txBox="1"/>
            <p:nvPr/>
          </p:nvSpPr>
          <p:spPr>
            <a:xfrm>
              <a:off x="731520" y="264795"/>
              <a:ext cx="1405128" cy="487680"/>
            </a:xfrm>
            <a:prstGeom prst="rect">
              <a:avLst/>
            </a:prstGeom>
            <a:noFill/>
            <a:ln>
              <a:noFill/>
            </a:ln>
          </p:spPr>
          <p:txBody>
            <a:bodyPr wrap="none" lIns="0" tIns="0" rIns="0" bIns="0" anchor="t" anchorCtr="0">
              <a:spAutoFit/>
            </a:bodyPr>
            <a:lstStyle/>
            <a:p>
              <a:pPr algn="l"/>
              <a:r>
                <a:rPr lang="zh-CN" sz="2400" b="1" dirty="0">
                  <a:solidFill>
                    <a:srgbClr val="8B0000"/>
                  </a:solidFill>
                  <a:latin typeface="Arial"/>
                  <a:ea typeface="Microsoft YaHei"/>
                  <a:cs typeface="Arial"/>
                </a:rPr>
                <a:t>项目总结</a:t>
              </a:r>
            </a:p>
          </p:txBody>
        </p:sp>
        <p:sp>
          <p:nvSpPr>
            <p:cNvPr id="6" name="Rectangle 6"/>
            <p:cNvSpPr/>
            <p:nvPr/>
          </p:nvSpPr>
          <p:spPr>
            <a:xfrm>
              <a:off x="762000" y="647700"/>
              <a:ext cx="476250" cy="28575"/>
            </a:xfrm>
            <a:prstGeom prst="rect">
              <a:avLst/>
            </a:prstGeom>
            <a:solidFill>
              <a:srgbClr val="C41E3A"/>
            </a:solidFill>
            <a:ln>
              <a:noFill/>
            </a:ln>
          </p:spPr>
        </p:sp>
      </p:grpSp>
      <p:grpSp>
        <p:nvGrpSpPr>
          <p:cNvPr id="11" name="Group 11"/>
          <p:cNvGrpSpPr/>
          <p:nvPr/>
        </p:nvGrpSpPr>
        <p:grpSpPr>
          <a:xfrm>
            <a:off x="2381250" y="1047750"/>
            <a:ext cx="7429500" cy="1238250"/>
            <a:chOff x="2381250" y="1047750"/>
            <a:chExt cx="7429500" cy="1238250"/>
          </a:xfrm>
        </p:grpSpPr>
        <p:sp>
          <p:nvSpPr>
            <p:cNvPr id="8" name="Rectangle 8"/>
            <p:cNvSpPr/>
            <p:nvPr/>
          </p:nvSpPr>
          <p:spPr>
            <a:xfrm>
              <a:off x="2381250" y="1047750"/>
              <a:ext cx="7429500" cy="1238250"/>
            </a:xfrm>
            <a:prstGeom prst="roundRect">
              <a:avLst>
                <a:gd name="adj" fmla="val 6154"/>
              </a:avLst>
            </a:prstGeom>
            <a:gradFill>
              <a:gsLst>
                <a:gs pos="0">
                  <a:srgbClr val="8B0000"/>
                </a:gs>
                <a:gs pos="100000">
                  <a:srgbClr val="C41E3A"/>
                </a:gs>
              </a:gsLst>
              <a:lin ang="0" scaled="1"/>
            </a:gradFill>
            <a:ln>
              <a:noFill/>
            </a:ln>
          </p:spPr>
        </p:sp>
        <p:sp>
          <p:nvSpPr>
            <p:cNvPr id="9" name="TextBox 9"/>
            <p:cNvSpPr txBox="1"/>
            <p:nvPr/>
          </p:nvSpPr>
          <p:spPr>
            <a:xfrm>
              <a:off x="4170302" y="1329690"/>
              <a:ext cx="3851396" cy="365760"/>
            </a:xfrm>
            <a:prstGeom prst="rect">
              <a:avLst/>
            </a:prstGeom>
            <a:noFill/>
            <a:ln>
              <a:noFill/>
            </a:ln>
          </p:spPr>
          <p:txBody>
            <a:bodyPr wrap="none" lIns="0" tIns="0" rIns="0" bIns="0" anchor="t" anchorCtr="0">
              <a:spAutoFit/>
            </a:bodyPr>
            <a:lstStyle/>
            <a:p>
              <a:pPr algn="ctr"/>
              <a:r>
                <a:rPr lang="zh-CN" sz="1800" b="1" dirty="0">
                  <a:solidFill>
                    <a:srgbClr val="FFFFFF"/>
                  </a:solidFill>
                  <a:latin typeface="Arial"/>
                  <a:ea typeface="Microsoft YaHei"/>
                  <a:cs typeface="Arial"/>
                </a:rPr>
                <a:t>"感知共享、决策共商、行动共协"</a:t>
              </a:r>
            </a:p>
          </p:txBody>
        </p:sp>
        <p:sp>
          <p:nvSpPr>
            <p:cNvPr id="10" name="TextBox 10"/>
            <p:cNvSpPr txBox="1"/>
            <p:nvPr/>
          </p:nvSpPr>
          <p:spPr>
            <a:xfrm>
              <a:off x="4464606" y="1767364"/>
              <a:ext cx="3262789" cy="259080"/>
            </a:xfrm>
            <a:prstGeom prst="rect">
              <a:avLst/>
            </a:prstGeom>
            <a:noFill/>
            <a:ln>
              <a:noFill/>
            </a:ln>
          </p:spPr>
          <p:txBody>
            <a:bodyPr wrap="none" lIns="0" tIns="0" rIns="0" bIns="0" anchor="t" anchorCtr="0">
              <a:spAutoFit/>
            </a:bodyPr>
            <a:lstStyle/>
            <a:p>
              <a:pPr algn="ctr"/>
              <a:r>
                <a:rPr lang="zh-CN" sz="1275" dirty="0">
                  <a:solidFill>
                    <a:srgbClr val="FFFFFF">
                      <a:alphaMod val="85000"/>
                    </a:srgbClr>
                  </a:solidFill>
                  <a:latin typeface="Arial"/>
                  <a:ea typeface="Microsoft YaHei"/>
                  <a:cs typeface="Arial"/>
                </a:rPr>
                <a:t>面向极端环境的无人系统群体智能解决方案</a:t>
              </a:r>
            </a:p>
          </p:txBody>
        </p:sp>
      </p:grpSp>
      <p:grpSp>
        <p:nvGrpSpPr>
          <p:cNvPr id="21" name="Group 21"/>
          <p:cNvGrpSpPr/>
          <p:nvPr/>
        </p:nvGrpSpPr>
        <p:grpSpPr>
          <a:xfrm>
            <a:off x="571500" y="2667000"/>
            <a:ext cx="3524250" cy="2762250"/>
            <a:chOff x="571500" y="2667000"/>
            <a:chExt cx="3524250" cy="2762250"/>
          </a:xfrm>
          <a:effectLst>
            <a:outerShdw blurRad="76200" dist="19050" dir="5400000" algn="ctr" rotWithShape="0">
              <a:srgbClr val="0F172A">
                <a:alpha val="3750"/>
              </a:srgbClr>
            </a:outerShdw>
          </a:effectLst>
        </p:grpSpPr>
        <p:sp>
          <p:nvSpPr>
            <p:cNvPr id="12" name="Rectangle 12"/>
            <p:cNvSpPr/>
            <p:nvPr/>
          </p:nvSpPr>
          <p:spPr>
            <a:xfrm>
              <a:off x="571500" y="2667000"/>
              <a:ext cx="3524250" cy="2762250"/>
            </a:xfrm>
            <a:prstGeom prst="roundRect">
              <a:avLst>
                <a:gd name="adj" fmla="val 2759"/>
              </a:avLst>
            </a:prstGeom>
            <a:solidFill>
              <a:srgbClr val="FFFFFF"/>
            </a:solidFill>
            <a:ln w="9525">
              <a:solidFill>
                <a:srgbClr val="D4C5C5"/>
              </a:solidFill>
            </a:ln>
            <a:effectLst>
              <a:outerShdw blurRad="76200" dist="19050" dir="5400000" algn="ctr" rotWithShape="0">
                <a:srgbClr val="0F172A">
                  <a:alpha val="3750"/>
                </a:srgbClr>
              </a:outerShdw>
            </a:effectLst>
          </p:spPr>
        </p:sp>
        <p:sp>
          <p:nvSpPr>
            <p:cNvPr id="13" name="Rectangle 13"/>
            <p:cNvSpPr/>
            <p:nvPr/>
          </p:nvSpPr>
          <p:spPr>
            <a:xfrm>
              <a:off x="571500" y="2667000"/>
              <a:ext cx="3524250" cy="47625"/>
            </a:xfrm>
            <a:prstGeom prst="rect">
              <a:avLst/>
            </a:prstGeom>
            <a:solidFill>
              <a:srgbClr val="8B0000"/>
            </a:solidFill>
            <a:ln>
              <a:noFill/>
            </a:ln>
            <a:effectLst>
              <a:outerShdw blurRad="76200" dist="19050" dir="5400000" algn="ctr" rotWithShape="0">
                <a:srgbClr val="0F172A">
                  <a:alpha val="3750"/>
                </a:srgbClr>
              </a:outerShdw>
            </a:effectLst>
          </p:spPr>
        </p:sp>
        <p:sp>
          <p:nvSpPr>
            <p:cNvPr id="14" name="Freeform 14"/>
            <p:cNvSpPr/>
            <p:nvPr/>
          </p:nvSpPr>
          <p:spPr>
            <a:xfrm>
              <a:off x="2095500" y="3195638"/>
              <a:ext cx="419100" cy="314325"/>
            </a:xfrm>
            <a:custGeom>
              <a:avLst/>
              <a:gdLst/>
              <a:ahLst/>
              <a:cxnLst/>
              <a:rect l="l" t="t" r="r" b="b"/>
              <a:pathLst>
                <a:path w="419100" h="314325">
                  <a:moveTo>
                    <a:pt x="0" y="157162"/>
                  </a:moveTo>
                  <a:lnTo>
                    <a:pt x="80662" y="60368"/>
                  </a:lnTo>
                  <a:cubicBezTo>
                    <a:pt x="112538" y="22116"/>
                    <a:pt x="159758" y="0"/>
                    <a:pt x="209550" y="0"/>
                  </a:cubicBezTo>
                  <a:cubicBezTo>
                    <a:pt x="259342" y="0"/>
                    <a:pt x="306561" y="22116"/>
                    <a:pt x="338439" y="60368"/>
                  </a:cubicBezTo>
                  <a:lnTo>
                    <a:pt x="419100" y="157162"/>
                  </a:lnTo>
                  <a:lnTo>
                    <a:pt x="338439" y="253956"/>
                  </a:lnTo>
                  <a:cubicBezTo>
                    <a:pt x="306561" y="292210"/>
                    <a:pt x="259342" y="314325"/>
                    <a:pt x="209550" y="314325"/>
                  </a:cubicBezTo>
                  <a:cubicBezTo>
                    <a:pt x="159758" y="314325"/>
                    <a:pt x="112538" y="292210"/>
                    <a:pt x="80662" y="253956"/>
                  </a:cubicBezTo>
                  <a:lnTo>
                    <a:pt x="0" y="157162"/>
                  </a:lnTo>
                  <a:close/>
                  <a:moveTo>
                    <a:pt x="209550" y="235744"/>
                  </a:moveTo>
                  <a:cubicBezTo>
                    <a:pt x="252949" y="235744"/>
                    <a:pt x="288131" y="200562"/>
                    <a:pt x="288131" y="157162"/>
                  </a:cubicBezTo>
                  <a:cubicBezTo>
                    <a:pt x="288131" y="113763"/>
                    <a:pt x="252949" y="78581"/>
                    <a:pt x="209550" y="78581"/>
                  </a:cubicBezTo>
                  <a:cubicBezTo>
                    <a:pt x="166151" y="78581"/>
                    <a:pt x="130969" y="113763"/>
                    <a:pt x="130969" y="157162"/>
                  </a:cubicBezTo>
                  <a:cubicBezTo>
                    <a:pt x="130969" y="200562"/>
                    <a:pt x="166151" y="235744"/>
                    <a:pt x="209550" y="235744"/>
                  </a:cubicBezTo>
                  <a:close/>
                </a:path>
              </a:pathLst>
            </a:custGeom>
            <a:solidFill>
              <a:srgbClr val="8B0000"/>
            </a:solidFill>
            <a:ln>
              <a:noFill/>
            </a:ln>
            <a:effectLst>
              <a:outerShdw blurRad="76200" dist="19050" dir="5400000" algn="ctr" rotWithShape="0">
                <a:srgbClr val="0F172A">
                  <a:alpha val="3750"/>
                </a:srgbClr>
              </a:outerShdw>
            </a:effectLst>
          </p:spPr>
        </p:sp>
        <p:sp>
          <p:nvSpPr>
            <p:cNvPr id="15" name="TextBox 15"/>
            <p:cNvSpPr txBox="1"/>
            <p:nvPr/>
          </p:nvSpPr>
          <p:spPr>
            <a:xfrm>
              <a:off x="1850612" y="3679508"/>
              <a:ext cx="966026" cy="3352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650" b="1" dirty="0">
                  <a:solidFill>
                    <a:srgbClr val="8B0000"/>
                  </a:solidFill>
                  <a:latin typeface="Arial"/>
                  <a:ea typeface="Microsoft YaHei"/>
                  <a:cs typeface="Arial"/>
                </a:rPr>
                <a:t>感知共享</a:t>
              </a:r>
            </a:p>
          </p:txBody>
        </p:sp>
        <p:sp>
          <p:nvSpPr>
            <p:cNvPr id="16" name="Rectangle 16"/>
            <p:cNvSpPr/>
            <p:nvPr/>
          </p:nvSpPr>
          <p:spPr>
            <a:xfrm>
              <a:off x="952500" y="4048125"/>
              <a:ext cx="2762250" cy="9525"/>
            </a:xfrm>
            <a:prstGeom prst="rect">
              <a:avLst/>
            </a:prstGeom>
            <a:solidFill>
              <a:srgbClr val="D4C5C5"/>
            </a:solidFill>
            <a:ln>
              <a:noFill/>
            </a:ln>
            <a:effectLst>
              <a:outerShdw blurRad="76200" dist="19050" dir="5400000" algn="ctr" rotWithShape="0">
                <a:srgbClr val="0F172A">
                  <a:alpha val="3750"/>
                </a:srgbClr>
              </a:outerShdw>
            </a:effectLst>
          </p:spPr>
        </p:sp>
        <p:sp>
          <p:nvSpPr>
            <p:cNvPr id="17" name="TextBox 17"/>
            <p:cNvSpPr txBox="1"/>
            <p:nvPr/>
          </p:nvSpPr>
          <p:spPr>
            <a:xfrm>
              <a:off x="1032510" y="4251960"/>
              <a:ext cx="1470660" cy="24384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00" dirty="0">
                  <a:solidFill>
                    <a:srgbClr val="2D2D2D"/>
                  </a:solidFill>
                  <a:latin typeface="Arial"/>
                  <a:ea typeface="Microsoft YaHei"/>
                  <a:cs typeface="Arial"/>
                </a:rPr>
                <a:t>多源异构传感器融合</a:t>
              </a:r>
            </a:p>
          </p:txBody>
        </p:sp>
        <p:sp>
          <p:nvSpPr>
            <p:cNvPr id="18" name="TextBox 18"/>
            <p:cNvSpPr txBox="1"/>
            <p:nvPr/>
          </p:nvSpPr>
          <p:spPr>
            <a:xfrm>
              <a:off x="1032510" y="4537710"/>
              <a:ext cx="1534668" cy="24384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00" dirty="0">
                  <a:solidFill>
                    <a:srgbClr val="2D2D2D"/>
                  </a:solidFill>
                  <a:latin typeface="Arial"/>
                  <a:ea typeface="Microsoft YaHei"/>
                  <a:cs typeface="Arial"/>
                </a:rPr>
                <a:t>分布式协同SLAM建图</a:t>
              </a:r>
            </a:p>
          </p:txBody>
        </p:sp>
        <p:sp>
          <p:nvSpPr>
            <p:cNvPr id="19" name="TextBox 19"/>
            <p:cNvSpPr txBox="1"/>
            <p:nvPr/>
          </p:nvSpPr>
          <p:spPr>
            <a:xfrm>
              <a:off x="1032510" y="4823460"/>
              <a:ext cx="1310640" cy="24384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00" dirty="0">
                  <a:solidFill>
                    <a:srgbClr val="2D2D2D"/>
                  </a:solidFill>
                  <a:latin typeface="Arial"/>
                  <a:ea typeface="Microsoft YaHei"/>
                  <a:cs typeface="Arial"/>
                </a:rPr>
                <a:t>打破单体视野局限</a:t>
              </a:r>
            </a:p>
          </p:txBody>
        </p:sp>
        <p:sp>
          <p:nvSpPr>
            <p:cNvPr id="20" name="TextBox 20"/>
            <p:cNvSpPr txBox="1"/>
            <p:nvPr/>
          </p:nvSpPr>
          <p:spPr>
            <a:xfrm>
              <a:off x="1032510" y="5109210"/>
              <a:ext cx="1790700" cy="24384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00" dirty="0">
                  <a:solidFill>
                    <a:srgbClr val="2D2D2D"/>
                  </a:solidFill>
                  <a:latin typeface="Arial"/>
                  <a:ea typeface="Microsoft YaHei"/>
                  <a:cs typeface="Arial"/>
                </a:rPr>
                <a:t>全局一致的实时环境模型</a:t>
              </a:r>
            </a:p>
          </p:txBody>
        </p:sp>
      </p:grpSp>
      <p:grpSp>
        <p:nvGrpSpPr>
          <p:cNvPr id="34" name="Group 34"/>
          <p:cNvGrpSpPr/>
          <p:nvPr/>
        </p:nvGrpSpPr>
        <p:grpSpPr>
          <a:xfrm>
            <a:off x="4333875" y="2667000"/>
            <a:ext cx="3524250" cy="2762250"/>
            <a:chOff x="4333875" y="2667000"/>
            <a:chExt cx="3524250" cy="2762250"/>
          </a:xfrm>
          <a:effectLst>
            <a:outerShdw blurRad="76200" dist="19050" dir="5400000" algn="ctr" rotWithShape="0">
              <a:srgbClr val="0F172A">
                <a:alpha val="3750"/>
              </a:srgbClr>
            </a:outerShdw>
          </a:effectLst>
        </p:grpSpPr>
        <p:sp>
          <p:nvSpPr>
            <p:cNvPr id="22" name="Rectangle 22"/>
            <p:cNvSpPr/>
            <p:nvPr/>
          </p:nvSpPr>
          <p:spPr>
            <a:xfrm>
              <a:off x="4333875" y="2667000"/>
              <a:ext cx="3524250" cy="2762250"/>
            </a:xfrm>
            <a:prstGeom prst="roundRect">
              <a:avLst>
                <a:gd name="adj" fmla="val 2759"/>
              </a:avLst>
            </a:prstGeom>
            <a:solidFill>
              <a:srgbClr val="FFFFFF"/>
            </a:solidFill>
            <a:ln w="9525">
              <a:solidFill>
                <a:srgbClr val="D4C5C5"/>
              </a:solidFill>
            </a:ln>
            <a:effectLst>
              <a:outerShdw blurRad="76200" dist="19050" dir="5400000" algn="ctr" rotWithShape="0">
                <a:srgbClr val="0F172A">
                  <a:alpha val="3750"/>
                </a:srgbClr>
              </a:outerShdw>
            </a:effectLst>
          </p:spPr>
        </p:sp>
        <p:sp>
          <p:nvSpPr>
            <p:cNvPr id="23" name="Rectangle 23"/>
            <p:cNvSpPr/>
            <p:nvPr/>
          </p:nvSpPr>
          <p:spPr>
            <a:xfrm>
              <a:off x="4333875" y="2667000"/>
              <a:ext cx="3524250" cy="47625"/>
            </a:xfrm>
            <a:prstGeom prst="rect">
              <a:avLst/>
            </a:prstGeom>
            <a:solidFill>
              <a:srgbClr val="C41E3A"/>
            </a:solidFill>
            <a:ln>
              <a:noFill/>
            </a:ln>
            <a:effectLst>
              <a:outerShdw blurRad="76200" dist="19050" dir="5400000" algn="ctr" rotWithShape="0">
                <a:srgbClr val="0F172A">
                  <a:alpha val="3750"/>
                </a:srgbClr>
              </a:outerShdw>
            </a:effectLst>
          </p:spPr>
        </p:sp>
        <p:grpSp>
          <p:nvGrpSpPr>
            <p:cNvPr id="27" name="Group 27"/>
            <p:cNvGrpSpPr/>
            <p:nvPr/>
          </p:nvGrpSpPr>
          <p:grpSpPr>
            <a:xfrm>
              <a:off x="5857875" y="3169444"/>
              <a:ext cx="419100" cy="366712"/>
              <a:chOff x="5857875" y="3169444"/>
              <a:chExt cx="419100" cy="366712"/>
            </a:xfrm>
          </p:grpSpPr>
          <p:sp>
            <p:nvSpPr>
              <p:cNvPr id="24" name="Freeform 24"/>
              <p:cNvSpPr/>
              <p:nvPr/>
            </p:nvSpPr>
            <p:spPr>
              <a:xfrm>
                <a:off x="5857875" y="3169444"/>
                <a:ext cx="104775" cy="366712"/>
              </a:xfrm>
              <a:custGeom>
                <a:avLst/>
                <a:gdLst/>
                <a:ahLst/>
                <a:cxnLst/>
                <a:rect l="l" t="t" r="r" b="b"/>
                <a:pathLst>
                  <a:path w="104775" h="366712">
                    <a:moveTo>
                      <a:pt x="104775" y="26194"/>
                    </a:moveTo>
                    <a:lnTo>
                      <a:pt x="0" y="0"/>
                    </a:lnTo>
                    <a:lnTo>
                      <a:pt x="0" y="340519"/>
                    </a:lnTo>
                    <a:lnTo>
                      <a:pt x="104775" y="366712"/>
                    </a:lnTo>
                    <a:lnTo>
                      <a:pt x="104775" y="26194"/>
                    </a:lnTo>
                    <a:close/>
                  </a:path>
                </a:pathLst>
              </a:custGeom>
              <a:solidFill>
                <a:srgbClr val="C41E3A"/>
              </a:solidFill>
              <a:ln>
                <a:noFill/>
              </a:ln>
              <a:effectLst>
                <a:outerShdw blurRad="76200" dist="19050" dir="5400000" algn="ctr" rotWithShape="0">
                  <a:srgbClr val="0F172A">
                    <a:alpha val="3750"/>
                  </a:srgbClr>
                </a:outerShdw>
              </a:effectLst>
            </p:spPr>
          </p:sp>
          <p:sp>
            <p:nvSpPr>
              <p:cNvPr id="25" name="Freeform 25"/>
              <p:cNvSpPr/>
              <p:nvPr/>
            </p:nvSpPr>
            <p:spPr>
              <a:xfrm>
                <a:off x="6172200" y="3169444"/>
                <a:ext cx="104775" cy="366712"/>
              </a:xfrm>
              <a:custGeom>
                <a:avLst/>
                <a:gdLst/>
                <a:ahLst/>
                <a:cxnLst/>
                <a:rect l="l" t="t" r="r" b="b"/>
                <a:pathLst>
                  <a:path w="104775" h="366712">
                    <a:moveTo>
                      <a:pt x="104775" y="26194"/>
                    </a:moveTo>
                    <a:lnTo>
                      <a:pt x="0" y="0"/>
                    </a:lnTo>
                    <a:lnTo>
                      <a:pt x="0" y="340519"/>
                    </a:lnTo>
                    <a:lnTo>
                      <a:pt x="104775" y="366712"/>
                    </a:lnTo>
                    <a:lnTo>
                      <a:pt x="104775" y="26194"/>
                    </a:lnTo>
                    <a:close/>
                  </a:path>
                </a:pathLst>
              </a:custGeom>
              <a:solidFill>
                <a:srgbClr val="C41E3A"/>
              </a:solidFill>
              <a:ln>
                <a:noFill/>
              </a:ln>
              <a:effectLst>
                <a:outerShdw blurRad="76200" dist="19050" dir="5400000" algn="ctr" rotWithShape="0">
                  <a:srgbClr val="0F172A">
                    <a:alpha val="3750"/>
                  </a:srgbClr>
                </a:outerShdw>
              </a:effectLst>
            </p:spPr>
          </p:sp>
          <p:sp>
            <p:nvSpPr>
              <p:cNvPr id="26" name="Freeform 26"/>
              <p:cNvSpPr/>
              <p:nvPr/>
            </p:nvSpPr>
            <p:spPr>
              <a:xfrm>
                <a:off x="6015038" y="3169444"/>
                <a:ext cx="104775" cy="366712"/>
              </a:xfrm>
              <a:custGeom>
                <a:avLst/>
                <a:gdLst/>
                <a:ahLst/>
                <a:cxnLst/>
                <a:rect l="l" t="t" r="r" b="b"/>
                <a:pathLst>
                  <a:path w="104775" h="366712">
                    <a:moveTo>
                      <a:pt x="104775" y="0"/>
                    </a:moveTo>
                    <a:lnTo>
                      <a:pt x="0" y="26194"/>
                    </a:lnTo>
                    <a:lnTo>
                      <a:pt x="0" y="366712"/>
                    </a:lnTo>
                    <a:lnTo>
                      <a:pt x="104775" y="340519"/>
                    </a:lnTo>
                    <a:lnTo>
                      <a:pt x="104775" y="0"/>
                    </a:lnTo>
                    <a:close/>
                  </a:path>
                </a:pathLst>
              </a:custGeom>
              <a:solidFill>
                <a:srgbClr val="C41E3A"/>
              </a:solidFill>
              <a:ln>
                <a:noFill/>
              </a:ln>
              <a:effectLst>
                <a:outerShdw blurRad="76200" dist="19050" dir="5400000" algn="ctr" rotWithShape="0">
                  <a:srgbClr val="0F172A">
                    <a:alpha val="3750"/>
                  </a:srgbClr>
                </a:outerShdw>
              </a:effectLst>
            </p:spPr>
          </p:sp>
        </p:grpSp>
        <p:sp>
          <p:nvSpPr>
            <p:cNvPr id="28" name="TextBox 28"/>
            <p:cNvSpPr txBox="1"/>
            <p:nvPr/>
          </p:nvSpPr>
          <p:spPr>
            <a:xfrm>
              <a:off x="5612987" y="3679508"/>
              <a:ext cx="966026" cy="3352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650" b="1" dirty="0">
                  <a:solidFill>
                    <a:srgbClr val="C41E3A"/>
                  </a:solidFill>
                  <a:latin typeface="Arial"/>
                  <a:ea typeface="Microsoft YaHei"/>
                  <a:cs typeface="Arial"/>
                </a:rPr>
                <a:t>决策共商</a:t>
              </a:r>
            </a:p>
          </p:txBody>
        </p:sp>
        <p:sp>
          <p:nvSpPr>
            <p:cNvPr id="29" name="Rectangle 29"/>
            <p:cNvSpPr/>
            <p:nvPr/>
          </p:nvSpPr>
          <p:spPr>
            <a:xfrm>
              <a:off x="4714875" y="4048125"/>
              <a:ext cx="2762250" cy="9525"/>
            </a:xfrm>
            <a:prstGeom prst="rect">
              <a:avLst/>
            </a:prstGeom>
            <a:solidFill>
              <a:srgbClr val="D4C5C5"/>
            </a:solidFill>
            <a:ln>
              <a:noFill/>
            </a:ln>
            <a:effectLst>
              <a:outerShdw blurRad="76200" dist="19050" dir="5400000" algn="ctr" rotWithShape="0">
                <a:srgbClr val="0F172A">
                  <a:alpha val="3750"/>
                </a:srgbClr>
              </a:outerShdw>
            </a:effectLst>
          </p:spPr>
        </p:sp>
        <p:sp>
          <p:nvSpPr>
            <p:cNvPr id="30" name="TextBox 30"/>
            <p:cNvSpPr txBox="1"/>
            <p:nvPr/>
          </p:nvSpPr>
          <p:spPr>
            <a:xfrm>
              <a:off x="4794885" y="4251960"/>
              <a:ext cx="2054733" cy="24384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00" dirty="0">
                  <a:solidFill>
                    <a:srgbClr val="2D2D2D"/>
                  </a:solidFill>
                  <a:latin typeface="Arial"/>
                  <a:ea typeface="Microsoft YaHei"/>
                  <a:cs typeface="Arial"/>
                </a:rPr>
                <a:t>"全局-局部"分层分布式决策</a:t>
              </a:r>
            </a:p>
          </p:txBody>
        </p:sp>
        <p:sp>
          <p:nvSpPr>
            <p:cNvPr id="31" name="TextBox 31"/>
            <p:cNvSpPr txBox="1"/>
            <p:nvPr/>
          </p:nvSpPr>
          <p:spPr>
            <a:xfrm>
              <a:off x="4794885" y="4537710"/>
              <a:ext cx="1718691" cy="24384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00" dirty="0">
                  <a:solidFill>
                    <a:srgbClr val="2D2D2D"/>
                  </a:solidFill>
                  <a:latin typeface="Arial"/>
                  <a:ea typeface="Microsoft YaHei"/>
                  <a:cs typeface="Arial"/>
                </a:rPr>
                <a:t>博弈论+分布式强化学习</a:t>
              </a:r>
            </a:p>
          </p:txBody>
        </p:sp>
        <p:sp>
          <p:nvSpPr>
            <p:cNvPr id="32" name="TextBox 32"/>
            <p:cNvSpPr txBox="1"/>
            <p:nvPr/>
          </p:nvSpPr>
          <p:spPr>
            <a:xfrm>
              <a:off x="4794885" y="4823460"/>
              <a:ext cx="1310640" cy="24384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00" dirty="0">
                  <a:solidFill>
                    <a:srgbClr val="2D2D2D"/>
                  </a:solidFill>
                  <a:latin typeface="Arial"/>
                  <a:ea typeface="Microsoft YaHei"/>
                  <a:cs typeface="Arial"/>
                </a:rPr>
                <a:t>实现群体智能涌现</a:t>
              </a:r>
            </a:p>
          </p:txBody>
        </p:sp>
        <p:sp>
          <p:nvSpPr>
            <p:cNvPr id="33" name="TextBox 33"/>
            <p:cNvSpPr txBox="1"/>
            <p:nvPr/>
          </p:nvSpPr>
          <p:spPr>
            <a:xfrm>
              <a:off x="4794885" y="5109210"/>
              <a:ext cx="1982724" cy="24384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00" dirty="0">
                  <a:solidFill>
                    <a:srgbClr val="2D2D2D"/>
                  </a:solidFill>
                  <a:latin typeface="Arial"/>
                  <a:ea typeface="Microsoft YaHei"/>
                  <a:cs typeface="Arial"/>
                </a:rPr>
                <a:t>从"有序协作"到"自主涌现"</a:t>
              </a:r>
            </a:p>
          </p:txBody>
        </p:sp>
      </p:grpSp>
      <p:grpSp>
        <p:nvGrpSpPr>
          <p:cNvPr id="47" name="Group 47"/>
          <p:cNvGrpSpPr/>
          <p:nvPr/>
        </p:nvGrpSpPr>
        <p:grpSpPr>
          <a:xfrm>
            <a:off x="8096250" y="2667000"/>
            <a:ext cx="3524250" cy="2762250"/>
            <a:chOff x="8096250" y="2667000"/>
            <a:chExt cx="3524250" cy="2762250"/>
          </a:xfrm>
          <a:effectLst>
            <a:outerShdw blurRad="76200" dist="19050" dir="5400000" algn="ctr" rotWithShape="0">
              <a:srgbClr val="0F172A">
                <a:alpha val="3750"/>
              </a:srgbClr>
            </a:outerShdw>
          </a:effectLst>
        </p:grpSpPr>
        <p:sp>
          <p:nvSpPr>
            <p:cNvPr id="35" name="Rectangle 35"/>
            <p:cNvSpPr/>
            <p:nvPr/>
          </p:nvSpPr>
          <p:spPr>
            <a:xfrm>
              <a:off x="8096250" y="2667000"/>
              <a:ext cx="3524250" cy="2762250"/>
            </a:xfrm>
            <a:prstGeom prst="roundRect">
              <a:avLst>
                <a:gd name="adj" fmla="val 2759"/>
              </a:avLst>
            </a:prstGeom>
            <a:solidFill>
              <a:srgbClr val="FFFFFF"/>
            </a:solidFill>
            <a:ln w="9525">
              <a:solidFill>
                <a:srgbClr val="D4C5C5"/>
              </a:solidFill>
            </a:ln>
            <a:effectLst>
              <a:outerShdw blurRad="76200" dist="19050" dir="5400000" algn="ctr" rotWithShape="0">
                <a:srgbClr val="0F172A">
                  <a:alpha val="3750"/>
                </a:srgbClr>
              </a:outerShdw>
            </a:effectLst>
          </p:spPr>
        </p:sp>
        <p:sp>
          <p:nvSpPr>
            <p:cNvPr id="36" name="Rectangle 36"/>
            <p:cNvSpPr/>
            <p:nvPr/>
          </p:nvSpPr>
          <p:spPr>
            <a:xfrm>
              <a:off x="8096250" y="2667000"/>
              <a:ext cx="3524250" cy="47625"/>
            </a:xfrm>
            <a:prstGeom prst="rect">
              <a:avLst/>
            </a:prstGeom>
            <a:solidFill>
              <a:srgbClr val="1A3C5E"/>
            </a:solidFill>
            <a:ln>
              <a:noFill/>
            </a:ln>
            <a:effectLst>
              <a:outerShdw blurRad="76200" dist="19050" dir="5400000" algn="ctr" rotWithShape="0">
                <a:srgbClr val="0F172A">
                  <a:alpha val="3750"/>
                </a:srgbClr>
              </a:outerShdw>
            </a:effectLst>
          </p:spPr>
        </p:sp>
        <p:grpSp>
          <p:nvGrpSpPr>
            <p:cNvPr id="40" name="Group 40"/>
            <p:cNvGrpSpPr/>
            <p:nvPr/>
          </p:nvGrpSpPr>
          <p:grpSpPr>
            <a:xfrm>
              <a:off x="9646444" y="3143250"/>
              <a:ext cx="366712" cy="419100"/>
              <a:chOff x="9646444" y="3143250"/>
              <a:chExt cx="366712" cy="419100"/>
            </a:xfrm>
          </p:grpSpPr>
          <p:sp>
            <p:nvSpPr>
              <p:cNvPr id="37" name="Freeform 37"/>
              <p:cNvSpPr/>
              <p:nvPr/>
            </p:nvSpPr>
            <p:spPr>
              <a:xfrm>
                <a:off x="9646444" y="3143250"/>
                <a:ext cx="366712" cy="209550"/>
              </a:xfrm>
              <a:custGeom>
                <a:avLst/>
                <a:gdLst/>
                <a:ahLst/>
                <a:cxnLst/>
                <a:rect l="l" t="t" r="r" b="b"/>
                <a:pathLst>
                  <a:path w="366712" h="209550">
                    <a:moveTo>
                      <a:pt x="0" y="130969"/>
                    </a:moveTo>
                    <a:lnTo>
                      <a:pt x="0" y="78581"/>
                    </a:lnTo>
                    <a:lnTo>
                      <a:pt x="183356" y="0"/>
                    </a:lnTo>
                    <a:lnTo>
                      <a:pt x="366712" y="78581"/>
                    </a:lnTo>
                    <a:lnTo>
                      <a:pt x="366712" y="130969"/>
                    </a:lnTo>
                    <a:lnTo>
                      <a:pt x="183356" y="209550"/>
                    </a:lnTo>
                    <a:lnTo>
                      <a:pt x="0" y="130969"/>
                    </a:lnTo>
                    <a:close/>
                  </a:path>
                </a:pathLst>
              </a:custGeom>
              <a:solidFill>
                <a:srgbClr val="1A3C5E"/>
              </a:solidFill>
              <a:ln>
                <a:noFill/>
              </a:ln>
              <a:effectLst>
                <a:outerShdw blurRad="76200" dist="19050" dir="5400000" algn="ctr" rotWithShape="0">
                  <a:srgbClr val="0F172A">
                    <a:alpha val="3750"/>
                  </a:srgbClr>
                </a:outerShdw>
              </a:effectLst>
            </p:spPr>
          </p:sp>
          <p:sp>
            <p:nvSpPr>
              <p:cNvPr id="38" name="Freeform 38"/>
              <p:cNvSpPr/>
              <p:nvPr/>
            </p:nvSpPr>
            <p:spPr>
              <a:xfrm>
                <a:off x="9646444" y="3431381"/>
                <a:ext cx="366712" cy="130969"/>
              </a:xfrm>
              <a:custGeom>
                <a:avLst/>
                <a:gdLst/>
                <a:ahLst/>
                <a:cxnLst/>
                <a:rect l="l" t="t" r="r" b="b"/>
                <a:pathLst>
                  <a:path w="366712" h="130969">
                    <a:moveTo>
                      <a:pt x="183356" y="130969"/>
                    </a:moveTo>
                    <a:lnTo>
                      <a:pt x="0" y="52388"/>
                    </a:lnTo>
                    <a:lnTo>
                      <a:pt x="0" y="0"/>
                    </a:lnTo>
                    <a:lnTo>
                      <a:pt x="183356" y="78581"/>
                    </a:lnTo>
                    <a:lnTo>
                      <a:pt x="366712" y="0"/>
                    </a:lnTo>
                    <a:lnTo>
                      <a:pt x="366712" y="52388"/>
                    </a:lnTo>
                    <a:lnTo>
                      <a:pt x="183356" y="130969"/>
                    </a:lnTo>
                    <a:close/>
                  </a:path>
                </a:pathLst>
              </a:custGeom>
              <a:solidFill>
                <a:srgbClr val="1A3C5E"/>
              </a:solidFill>
              <a:ln>
                <a:noFill/>
              </a:ln>
              <a:effectLst>
                <a:outerShdw blurRad="76200" dist="19050" dir="5400000" algn="ctr" rotWithShape="0">
                  <a:srgbClr val="0F172A">
                    <a:alpha val="3750"/>
                  </a:srgbClr>
                </a:outerShdw>
              </a:effectLst>
            </p:spPr>
          </p:sp>
          <p:sp>
            <p:nvSpPr>
              <p:cNvPr id="39" name="Freeform 39"/>
              <p:cNvSpPr/>
              <p:nvPr/>
            </p:nvSpPr>
            <p:spPr>
              <a:xfrm>
                <a:off x="9646444" y="3326606"/>
                <a:ext cx="366712" cy="130969"/>
              </a:xfrm>
              <a:custGeom>
                <a:avLst/>
                <a:gdLst/>
                <a:ahLst/>
                <a:cxnLst/>
                <a:rect l="l" t="t" r="r" b="b"/>
                <a:pathLst>
                  <a:path w="366712" h="130969">
                    <a:moveTo>
                      <a:pt x="0" y="52388"/>
                    </a:moveTo>
                    <a:lnTo>
                      <a:pt x="183356" y="130969"/>
                    </a:lnTo>
                    <a:lnTo>
                      <a:pt x="366712" y="52388"/>
                    </a:lnTo>
                    <a:lnTo>
                      <a:pt x="366712" y="0"/>
                    </a:lnTo>
                    <a:lnTo>
                      <a:pt x="183356" y="78581"/>
                    </a:lnTo>
                    <a:lnTo>
                      <a:pt x="0" y="0"/>
                    </a:lnTo>
                    <a:lnTo>
                      <a:pt x="0" y="52388"/>
                    </a:lnTo>
                    <a:close/>
                  </a:path>
                </a:pathLst>
              </a:custGeom>
              <a:solidFill>
                <a:srgbClr val="1A3C5E"/>
              </a:solidFill>
              <a:ln>
                <a:noFill/>
              </a:ln>
              <a:effectLst>
                <a:outerShdw blurRad="76200" dist="19050" dir="5400000" algn="ctr" rotWithShape="0">
                  <a:srgbClr val="0F172A">
                    <a:alpha val="3750"/>
                  </a:srgbClr>
                </a:outerShdw>
              </a:effectLst>
            </p:spPr>
          </p:sp>
        </p:grpSp>
        <p:sp>
          <p:nvSpPr>
            <p:cNvPr id="41" name="TextBox 41"/>
            <p:cNvSpPr txBox="1"/>
            <p:nvPr/>
          </p:nvSpPr>
          <p:spPr>
            <a:xfrm>
              <a:off x="9375362" y="3679508"/>
              <a:ext cx="966026" cy="33528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ctr"/>
              <a:r>
                <a:rPr lang="zh-CN" sz="1650" b="1" dirty="0">
                  <a:solidFill>
                    <a:srgbClr val="1A3C5E"/>
                  </a:solidFill>
                  <a:latin typeface="Arial"/>
                  <a:ea typeface="Microsoft YaHei"/>
                  <a:cs typeface="Arial"/>
                </a:rPr>
                <a:t>行动共协</a:t>
              </a:r>
            </a:p>
          </p:txBody>
        </p:sp>
        <p:sp>
          <p:nvSpPr>
            <p:cNvPr id="42" name="Rectangle 42"/>
            <p:cNvSpPr/>
            <p:nvPr/>
          </p:nvSpPr>
          <p:spPr>
            <a:xfrm>
              <a:off x="8477250" y="4048125"/>
              <a:ext cx="2762250" cy="9525"/>
            </a:xfrm>
            <a:prstGeom prst="rect">
              <a:avLst/>
            </a:prstGeom>
            <a:solidFill>
              <a:srgbClr val="D4C5C5"/>
            </a:solidFill>
            <a:ln>
              <a:noFill/>
            </a:ln>
            <a:effectLst>
              <a:outerShdw blurRad="76200" dist="19050" dir="5400000" algn="ctr" rotWithShape="0">
                <a:srgbClr val="0F172A">
                  <a:alpha val="3750"/>
                </a:srgbClr>
              </a:outerShdw>
            </a:effectLst>
          </p:spPr>
        </p:sp>
        <p:sp>
          <p:nvSpPr>
            <p:cNvPr id="43" name="TextBox 43"/>
            <p:cNvSpPr txBox="1"/>
            <p:nvPr/>
          </p:nvSpPr>
          <p:spPr>
            <a:xfrm>
              <a:off x="8604885" y="4251960"/>
              <a:ext cx="1790700" cy="24384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00" dirty="0">
                  <a:solidFill>
                    <a:srgbClr val="2D2D2D"/>
                  </a:solidFill>
                  <a:latin typeface="Arial"/>
                  <a:ea typeface="Microsoft YaHei"/>
                  <a:cs typeface="Arial"/>
                </a:rPr>
                <a:t>异构平台空地一体化作业</a:t>
              </a:r>
            </a:p>
          </p:txBody>
        </p:sp>
        <p:sp>
          <p:nvSpPr>
            <p:cNvPr id="44" name="TextBox 44"/>
            <p:cNvSpPr txBox="1"/>
            <p:nvPr/>
          </p:nvSpPr>
          <p:spPr>
            <a:xfrm>
              <a:off x="8604885" y="4537710"/>
              <a:ext cx="1790700" cy="24384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00" dirty="0">
                  <a:solidFill>
                    <a:srgbClr val="2D2D2D"/>
                  </a:solidFill>
                  <a:latin typeface="Arial"/>
                  <a:ea typeface="Microsoft YaHei"/>
                  <a:cs typeface="Arial"/>
                </a:rPr>
                <a:t>统一任务描述语言与接口</a:t>
              </a:r>
            </a:p>
          </p:txBody>
        </p:sp>
        <p:sp>
          <p:nvSpPr>
            <p:cNvPr id="45" name="TextBox 45"/>
            <p:cNvSpPr txBox="1"/>
            <p:nvPr/>
          </p:nvSpPr>
          <p:spPr>
            <a:xfrm>
              <a:off x="8604885" y="4823460"/>
              <a:ext cx="1982724" cy="24384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00" dirty="0">
                  <a:solidFill>
                    <a:srgbClr val="2D2D2D"/>
                  </a:solidFill>
                  <a:latin typeface="Arial"/>
                  <a:ea typeface="Microsoft YaHei"/>
                  <a:cs typeface="Arial"/>
                </a:rPr>
                <a:t>"侦测-进入-处置"接力作业</a:t>
              </a:r>
            </a:p>
          </p:txBody>
        </p:sp>
        <p:sp>
          <p:nvSpPr>
            <p:cNvPr id="46" name="TextBox 46"/>
            <p:cNvSpPr txBox="1"/>
            <p:nvPr/>
          </p:nvSpPr>
          <p:spPr>
            <a:xfrm>
              <a:off x="8604885" y="5109210"/>
              <a:ext cx="1790700" cy="243840"/>
            </a:xfrm>
            <a:prstGeom prst="rect">
              <a:avLst/>
            </a:prstGeom>
            <a:noFill/>
            <a:ln>
              <a:noFill/>
            </a:ln>
            <a:effectLst>
              <a:outerShdw blurRad="76200" dist="19050" dir="5400000" algn="ctr" rotWithShape="0">
                <a:srgbClr val="0F172A">
                  <a:alpha val="3750"/>
                </a:srgbClr>
              </a:outerShdw>
            </a:effectLst>
          </p:spPr>
          <p:txBody>
            <a:bodyPr wrap="none" lIns="0" tIns="0" rIns="0" bIns="0" anchor="t" anchorCtr="0">
              <a:spAutoFit/>
            </a:bodyPr>
            <a:lstStyle/>
            <a:p>
              <a:pPr algn="l"/>
              <a:r>
                <a:rPr lang="zh-CN" sz="1200" dirty="0">
                  <a:solidFill>
                    <a:srgbClr val="2D2D2D"/>
                  </a:solidFill>
                  <a:latin typeface="Arial"/>
                  <a:ea typeface="Microsoft YaHei"/>
                  <a:cs typeface="Arial"/>
                </a:rPr>
                <a:t>灾害救援场景全流程覆盖</a:t>
              </a:r>
            </a:p>
          </p:txBody>
        </p:sp>
      </p:grpSp>
      <p:grpSp>
        <p:nvGrpSpPr>
          <p:cNvPr id="50" name="Group 50"/>
          <p:cNvGrpSpPr/>
          <p:nvPr/>
        </p:nvGrpSpPr>
        <p:grpSpPr>
          <a:xfrm>
            <a:off x="3512487" y="5958364"/>
            <a:ext cx="5167027" cy="544830"/>
            <a:chOff x="3512487" y="5958364"/>
            <a:chExt cx="5167027" cy="544830"/>
          </a:xfrm>
        </p:grpSpPr>
        <p:sp>
          <p:nvSpPr>
            <p:cNvPr id="48" name="TextBox 48"/>
            <p:cNvSpPr txBox="1"/>
            <p:nvPr/>
          </p:nvSpPr>
          <p:spPr>
            <a:xfrm>
              <a:off x="3512487" y="5958364"/>
              <a:ext cx="5167027" cy="259080"/>
            </a:xfrm>
            <a:prstGeom prst="rect">
              <a:avLst/>
            </a:prstGeom>
            <a:noFill/>
            <a:ln>
              <a:noFill/>
            </a:ln>
          </p:spPr>
          <p:txBody>
            <a:bodyPr wrap="none" lIns="0" tIns="0" rIns="0" bIns="0" anchor="t" anchorCtr="0">
              <a:spAutoFit/>
            </a:bodyPr>
            <a:lstStyle/>
            <a:p>
              <a:pPr algn="ctr"/>
              <a:r>
                <a:rPr lang="zh-CN" sz="1275" dirty="0">
                  <a:solidFill>
                    <a:srgbClr val="666666"/>
                  </a:solidFill>
                  <a:latin typeface="Arial"/>
                  <a:ea typeface="Microsoft YaHei"/>
                  <a:cs typeface="Arial"/>
                </a:rPr>
                <a:t>本项目致力于推动无人系统从"单兵作战"向"集群协同"的跨越式发展</a:t>
              </a:r>
            </a:p>
          </p:txBody>
        </p:sp>
        <p:sp>
          <p:nvSpPr>
            <p:cNvPr id="49" name="TextBox 49"/>
            <p:cNvSpPr txBox="1"/>
            <p:nvPr/>
          </p:nvSpPr>
          <p:spPr>
            <a:xfrm>
              <a:off x="3529489" y="6244114"/>
              <a:ext cx="5133022" cy="259080"/>
            </a:xfrm>
            <a:prstGeom prst="rect">
              <a:avLst/>
            </a:prstGeom>
            <a:noFill/>
            <a:ln>
              <a:noFill/>
            </a:ln>
          </p:spPr>
          <p:txBody>
            <a:bodyPr wrap="none" lIns="0" tIns="0" rIns="0" bIns="0" anchor="t" anchorCtr="0">
              <a:spAutoFit/>
            </a:bodyPr>
            <a:lstStyle/>
            <a:p>
              <a:pPr algn="ctr"/>
              <a:r>
                <a:rPr lang="zh-CN" sz="1275" dirty="0">
                  <a:solidFill>
                    <a:srgbClr val="666666"/>
                  </a:solidFill>
                  <a:latin typeface="Arial"/>
                  <a:ea typeface="Microsoft YaHei"/>
                  <a:cs typeface="Arial"/>
                </a:rPr>
                <a:t>为灾害响应、基础设施巡检及城市治理等领域提供关键技术解决方案</a:t>
              </a:r>
            </a:p>
          </p:txBody>
        </p:sp>
      </p:grpSp>
      <p:grpSp>
        <p:nvGrpSpPr>
          <p:cNvPr id="54" name="Group 54"/>
          <p:cNvGrpSpPr/>
          <p:nvPr/>
        </p:nvGrpSpPr>
        <p:grpSpPr>
          <a:xfrm>
            <a:off x="0" y="6578441"/>
            <a:ext cx="12192000" cy="279559"/>
            <a:chOff x="0" y="6578441"/>
            <a:chExt cx="12192000" cy="279559"/>
          </a:xfrm>
        </p:grpSpPr>
        <p:sp>
          <p:nvSpPr>
            <p:cNvPr id="51" name="Rectangle 51"/>
            <p:cNvSpPr/>
            <p:nvPr/>
          </p:nvSpPr>
          <p:spPr>
            <a:xfrm>
              <a:off x="0" y="6819900"/>
              <a:ext cx="12192000" cy="38100"/>
            </a:xfrm>
            <a:prstGeom prst="rect">
              <a:avLst/>
            </a:prstGeom>
            <a:solidFill>
              <a:srgbClr val="D4C5C5"/>
            </a:solidFill>
            <a:ln>
              <a:noFill/>
            </a:ln>
          </p:spPr>
        </p:sp>
        <p:sp>
          <p:nvSpPr>
            <p:cNvPr id="52" name="TextBox 52"/>
            <p:cNvSpPr txBox="1"/>
            <p:nvPr/>
          </p:nvSpPr>
          <p:spPr>
            <a:xfrm>
              <a:off x="11296483" y="6578441"/>
              <a:ext cx="334494" cy="167640"/>
            </a:xfrm>
            <a:prstGeom prst="rect">
              <a:avLst/>
            </a:prstGeom>
            <a:noFill/>
            <a:ln>
              <a:noFill/>
            </a:ln>
          </p:spPr>
          <p:txBody>
            <a:bodyPr wrap="none" lIns="0" tIns="0" rIns="0" bIns="0" anchor="t" anchorCtr="0">
              <a:spAutoFit/>
            </a:bodyPr>
            <a:lstStyle/>
            <a:p>
              <a:pPr algn="r"/>
              <a:r>
                <a:rPr lang="zh-CN" sz="825" dirty="0">
                  <a:solidFill>
                    <a:srgbClr val="999999"/>
                  </a:solidFill>
                  <a:latin typeface="Arial"/>
                  <a:ea typeface="Microsoft YaHei"/>
                  <a:cs typeface="Arial"/>
                </a:rPr>
                <a:t>15 / 16</a:t>
              </a:r>
            </a:p>
          </p:txBody>
        </p:sp>
        <p:sp>
          <p:nvSpPr>
            <p:cNvPr id="53" name="TextBox 53"/>
            <p:cNvSpPr txBox="1"/>
            <p:nvPr/>
          </p:nvSpPr>
          <p:spPr>
            <a:xfrm>
              <a:off x="561022" y="6578441"/>
              <a:ext cx="1814179" cy="167640"/>
            </a:xfrm>
            <a:prstGeom prst="rect">
              <a:avLst/>
            </a:prstGeom>
            <a:noFill/>
            <a:ln>
              <a:noFill/>
            </a:ln>
          </p:spPr>
          <p:txBody>
            <a:bodyPr wrap="none" lIns="0" tIns="0" rIns="0" bIns="0" anchor="t" anchorCtr="0">
              <a:spAutoFit/>
            </a:bodyPr>
            <a:lstStyle/>
            <a:p>
              <a:pPr algn="l"/>
              <a:r>
                <a:rPr lang="zh-CN" sz="825" dirty="0">
                  <a:solidFill>
                    <a:srgbClr val="999999"/>
                  </a:solidFill>
                  <a:latin typeface="Arial"/>
                  <a:ea typeface="Microsoft YaHei"/>
                  <a:cs typeface="Arial"/>
                </a:rPr>
                <a:t>华中科技大学 人工智能与自动化学院</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image">
                                      <p:cBhvr>
                                        <p:cTn id="7" dur="400"/>
                                        <p:tgtEl>
                                          <p:spTgt spid="11"/>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slide(fromBottom)">
                                      <p:cBhvr>
                                        <p:cTn id="11" dur="400"/>
                                        <p:tgtEl>
                                          <p:spTgt spid="21"/>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slide(fromBottom)">
                                      <p:cBhvr>
                                        <p:cTn id="15" dur="400"/>
                                        <p:tgtEl>
                                          <p:spTgt spid="34"/>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slide(fromBottom)">
                                      <p:cBhvr>
                                        <p:cTn id="19" dur="400"/>
                                        <p:tgtEl>
                                          <p:spTgt spid="47"/>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50"/>
                                        </p:tgtEl>
                                        <p:attrNameLst>
                                          <p:attrName>style.visibility</p:attrName>
                                        </p:attrNameLst>
                                      </p:cBhvr>
                                      <p:to>
                                        <p:strVal val="visible"/>
                                      </p:to>
                                    </p:set>
                                    <p:animEffect transition="in" filter="image">
                                      <p:cBhvr>
                                        <p:cTn id="23"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1" grpId="0"/>
      <p:bldP spid="34" grpId="0"/>
      <p:bldP spid="47" grpId="0"/>
      <p:bldP spid="5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gradFill>
            <a:gsLst>
              <a:gs pos="0">
                <a:srgbClr val="8B0000"/>
              </a:gs>
              <a:gs pos="100000">
                <a:srgbClr val="C41E3A"/>
              </a:gs>
            </a:gsLst>
            <a:lin ang="0" scaled="1"/>
          </a:gradFill>
          <a:ln>
            <a:noFill/>
          </a:ln>
        </p:spPr>
      </p:sp>
      <p:grpSp>
        <p:nvGrpSpPr>
          <p:cNvPr id="10" name="Group 10"/>
          <p:cNvGrpSpPr/>
          <p:nvPr/>
        </p:nvGrpSpPr>
        <p:grpSpPr>
          <a:xfrm>
            <a:off x="3238500" y="1714500"/>
            <a:ext cx="5715000" cy="2476500"/>
            <a:chOff x="3238500" y="1714500"/>
            <a:chExt cx="5715000" cy="2476500"/>
          </a:xfrm>
        </p:grpSpPr>
        <p:sp>
          <p:nvSpPr>
            <p:cNvPr id="4" name="Rectangle 4"/>
            <p:cNvSpPr/>
            <p:nvPr/>
          </p:nvSpPr>
          <p:spPr>
            <a:xfrm>
              <a:off x="3238500" y="1714500"/>
              <a:ext cx="5715000" cy="2476500"/>
            </a:xfrm>
            <a:prstGeom prst="rect">
              <a:avLst/>
            </a:prstGeom>
            <a:solidFill>
              <a:srgbClr val="F8F2F2"/>
            </a:solidFill>
            <a:ln>
              <a:noFill/>
            </a:ln>
          </p:spPr>
        </p:sp>
        <p:sp>
          <p:nvSpPr>
            <p:cNvPr id="5" name="Rectangle 5"/>
            <p:cNvSpPr/>
            <p:nvPr/>
          </p:nvSpPr>
          <p:spPr>
            <a:xfrm>
              <a:off x="3238500" y="1714500"/>
              <a:ext cx="76200" cy="2476500"/>
            </a:xfrm>
            <a:prstGeom prst="rect">
              <a:avLst/>
            </a:prstGeom>
            <a:gradFill>
              <a:gsLst>
                <a:gs pos="0">
                  <a:srgbClr val="8B0000"/>
                </a:gs>
                <a:gs pos="100000">
                  <a:srgbClr val="C41E3A"/>
                </a:gs>
              </a:gsLst>
              <a:lin ang="0" scaled="1"/>
            </a:gradFill>
            <a:ln>
              <a:noFill/>
            </a:ln>
          </p:spPr>
        </p:sp>
        <p:sp>
          <p:nvSpPr>
            <p:cNvPr id="6" name="TextBox 6"/>
            <p:cNvSpPr txBox="1"/>
            <p:nvPr/>
          </p:nvSpPr>
          <p:spPr>
            <a:xfrm>
              <a:off x="5523309" y="2262188"/>
              <a:ext cx="1145381" cy="762000"/>
            </a:xfrm>
            <a:prstGeom prst="rect">
              <a:avLst/>
            </a:prstGeom>
            <a:noFill/>
            <a:ln>
              <a:noFill/>
            </a:ln>
          </p:spPr>
          <p:txBody>
            <a:bodyPr wrap="none" lIns="0" tIns="0" rIns="0" bIns="0" anchor="t" anchorCtr="0">
              <a:spAutoFit/>
            </a:bodyPr>
            <a:lstStyle/>
            <a:p>
              <a:pPr algn="ctr"/>
              <a:r>
                <a:rPr lang="zh-CN" sz="3750" b="1" dirty="0">
                  <a:solidFill>
                    <a:srgbClr val="8B0000"/>
                  </a:solidFill>
                  <a:latin typeface="Arial"/>
                  <a:ea typeface="Microsoft YaHei"/>
                  <a:cs typeface="Arial"/>
                </a:rPr>
                <a:t>致谢</a:t>
              </a:r>
            </a:p>
          </p:txBody>
        </p:sp>
        <p:sp>
          <p:nvSpPr>
            <p:cNvPr id="7" name="Rectangle 7"/>
            <p:cNvSpPr/>
            <p:nvPr/>
          </p:nvSpPr>
          <p:spPr>
            <a:xfrm>
              <a:off x="5524500" y="2952750"/>
              <a:ext cx="1143000" cy="28575"/>
            </a:xfrm>
            <a:prstGeom prst="rect">
              <a:avLst/>
            </a:prstGeom>
            <a:solidFill>
              <a:srgbClr val="C41E3A"/>
            </a:solidFill>
            <a:ln>
              <a:noFill/>
            </a:ln>
          </p:spPr>
        </p:sp>
        <p:sp>
          <p:nvSpPr>
            <p:cNvPr id="8" name="TextBox 8"/>
            <p:cNvSpPr txBox="1"/>
            <p:nvPr/>
          </p:nvSpPr>
          <p:spPr>
            <a:xfrm>
              <a:off x="4676775" y="3314700"/>
              <a:ext cx="2838450" cy="304800"/>
            </a:xfrm>
            <a:prstGeom prst="rect">
              <a:avLst/>
            </a:prstGeom>
            <a:noFill/>
            <a:ln>
              <a:noFill/>
            </a:ln>
          </p:spPr>
          <p:txBody>
            <a:bodyPr wrap="none" lIns="0" tIns="0" rIns="0" bIns="0" anchor="t" anchorCtr="0">
              <a:spAutoFit/>
            </a:bodyPr>
            <a:lstStyle/>
            <a:p>
              <a:pPr algn="ctr"/>
              <a:r>
                <a:rPr lang="zh-CN" sz="1500" dirty="0">
                  <a:solidFill>
                    <a:srgbClr val="2D2D2D"/>
                  </a:solidFill>
                  <a:latin typeface="Arial"/>
                  <a:ea typeface="Microsoft YaHei"/>
                  <a:cs typeface="Arial"/>
                </a:rPr>
                <a:t>感谢导师高常鑫教授的悉心指导</a:t>
              </a:r>
            </a:p>
          </p:txBody>
        </p:sp>
        <p:sp>
          <p:nvSpPr>
            <p:cNvPr id="9" name="TextBox 9"/>
            <p:cNvSpPr txBox="1"/>
            <p:nvPr/>
          </p:nvSpPr>
          <p:spPr>
            <a:xfrm>
              <a:off x="4676775" y="3648075"/>
              <a:ext cx="2838450" cy="304800"/>
            </a:xfrm>
            <a:prstGeom prst="rect">
              <a:avLst/>
            </a:prstGeom>
            <a:noFill/>
            <a:ln>
              <a:noFill/>
            </a:ln>
          </p:spPr>
          <p:txBody>
            <a:bodyPr wrap="none" lIns="0" tIns="0" rIns="0" bIns="0" anchor="t" anchorCtr="0">
              <a:spAutoFit/>
            </a:bodyPr>
            <a:lstStyle/>
            <a:p>
              <a:pPr algn="ctr"/>
              <a:r>
                <a:rPr lang="zh-CN" sz="1500" dirty="0">
                  <a:solidFill>
                    <a:srgbClr val="2D2D2D"/>
                  </a:solidFill>
                  <a:latin typeface="Arial"/>
                  <a:ea typeface="Microsoft YaHei"/>
                  <a:cs typeface="Arial"/>
                </a:rPr>
                <a:t>感谢团队成员的共同努力与协作</a:t>
              </a:r>
            </a:p>
          </p:txBody>
        </p:sp>
      </p:grpSp>
      <p:grpSp>
        <p:nvGrpSpPr>
          <p:cNvPr id="15" name="Group 15"/>
          <p:cNvGrpSpPr/>
          <p:nvPr/>
        </p:nvGrpSpPr>
        <p:grpSpPr>
          <a:xfrm>
            <a:off x="0" y="5048250"/>
            <a:ext cx="12192000" cy="1809750"/>
            <a:chOff x="0" y="5048250"/>
            <a:chExt cx="12192000" cy="1809750"/>
          </a:xfrm>
        </p:grpSpPr>
        <p:sp>
          <p:nvSpPr>
            <p:cNvPr id="11" name="Rectangle 11"/>
            <p:cNvSpPr/>
            <p:nvPr/>
          </p:nvSpPr>
          <p:spPr>
            <a:xfrm>
              <a:off x="0" y="5048250"/>
              <a:ext cx="12192000" cy="1809750"/>
            </a:xfrm>
            <a:prstGeom prst="rect">
              <a:avLst/>
            </a:prstGeom>
            <a:gradFill>
              <a:gsLst>
                <a:gs pos="0">
                  <a:srgbClr val="8B0000"/>
                </a:gs>
                <a:gs pos="100000">
                  <a:srgbClr val="5C0000"/>
                </a:gs>
              </a:gsLst>
              <a:lin ang="5400000" scaled="1"/>
            </a:gradFill>
            <a:ln>
              <a:noFill/>
            </a:ln>
          </p:spPr>
        </p:sp>
        <p:sp>
          <p:nvSpPr>
            <p:cNvPr id="12" name="TextBox 12"/>
            <p:cNvSpPr txBox="1"/>
            <p:nvPr/>
          </p:nvSpPr>
          <p:spPr>
            <a:xfrm>
              <a:off x="5076825" y="5362575"/>
              <a:ext cx="2038350" cy="304800"/>
            </a:xfrm>
            <a:prstGeom prst="rect">
              <a:avLst/>
            </a:prstGeom>
            <a:noFill/>
            <a:ln>
              <a:noFill/>
            </a:ln>
          </p:spPr>
          <p:txBody>
            <a:bodyPr wrap="none" lIns="0" tIns="0" rIns="0" bIns="0" anchor="t" anchorCtr="0">
              <a:spAutoFit/>
            </a:bodyPr>
            <a:lstStyle/>
            <a:p>
              <a:pPr algn="ctr"/>
              <a:r>
                <a:rPr lang="zh-CN" sz="1500" dirty="0">
                  <a:solidFill>
                    <a:srgbClr val="FFFFFF">
                      <a:alphaMod val="90000"/>
                    </a:srgbClr>
                  </a:solidFill>
                  <a:latin typeface="Arial"/>
                  <a:ea typeface="Microsoft YaHei"/>
                  <a:cs typeface="Arial"/>
                </a:rPr>
                <a:t>恳请各位老师批评指正</a:t>
              </a:r>
            </a:p>
          </p:txBody>
        </p:sp>
        <p:sp>
          <p:nvSpPr>
            <p:cNvPr id="13" name="TextBox 13"/>
            <p:cNvSpPr txBox="1"/>
            <p:nvPr/>
          </p:nvSpPr>
          <p:spPr>
            <a:xfrm>
              <a:off x="4492562" y="5918835"/>
              <a:ext cx="3206877" cy="243840"/>
            </a:xfrm>
            <a:prstGeom prst="rect">
              <a:avLst/>
            </a:prstGeom>
            <a:noFill/>
            <a:ln>
              <a:noFill/>
            </a:ln>
          </p:spPr>
          <p:txBody>
            <a:bodyPr wrap="none" lIns="0" tIns="0" rIns="0" bIns="0" anchor="t" anchorCtr="0">
              <a:spAutoFit/>
            </a:bodyPr>
            <a:lstStyle/>
            <a:p>
              <a:pPr algn="ctr"/>
              <a:r>
                <a:rPr lang="zh-CN" sz="1200" dirty="0">
                  <a:solidFill>
                    <a:srgbClr val="FFFFFF">
                      <a:alphaMod val="60000"/>
                    </a:srgbClr>
                  </a:solidFill>
                  <a:latin typeface="Arial"/>
                  <a:ea typeface="Microsoft YaHei"/>
                  <a:cs typeface="Arial"/>
                </a:rPr>
                <a:t>汇报人: 陈宇凡 / 团队成员: 高子涵、迟泰炎</a:t>
              </a:r>
            </a:p>
          </p:txBody>
        </p:sp>
        <p:sp>
          <p:nvSpPr>
            <p:cNvPr id="14" name="TextBox 14"/>
            <p:cNvSpPr txBox="1"/>
            <p:nvPr/>
          </p:nvSpPr>
          <p:spPr>
            <a:xfrm>
              <a:off x="4776597" y="6204585"/>
              <a:ext cx="2638806" cy="243840"/>
            </a:xfrm>
            <a:prstGeom prst="rect">
              <a:avLst/>
            </a:prstGeom>
            <a:noFill/>
            <a:ln>
              <a:noFill/>
            </a:ln>
          </p:spPr>
          <p:txBody>
            <a:bodyPr wrap="none" lIns="0" tIns="0" rIns="0" bIns="0" anchor="t" anchorCtr="0">
              <a:spAutoFit/>
            </a:bodyPr>
            <a:lstStyle/>
            <a:p>
              <a:pPr algn="ctr"/>
              <a:r>
                <a:rPr lang="zh-CN" sz="1200" dirty="0">
                  <a:solidFill>
                    <a:srgbClr val="FFFFFF">
                      <a:alphaMod val="60000"/>
                    </a:srgbClr>
                  </a:solidFill>
                  <a:latin typeface="Arial"/>
                  <a:ea typeface="Microsoft YaHei"/>
                  <a:cs typeface="Arial"/>
                </a:rPr>
                <a:t>华中科技大学 人工智能与自动化学院</a:t>
              </a:r>
            </a:p>
          </p:txBody>
        </p:sp>
      </p:grpSp>
      <p:grpSp>
        <p:nvGrpSpPr>
          <p:cNvPr id="17" name="Group 17"/>
          <p:cNvGrpSpPr/>
          <p:nvPr/>
        </p:nvGrpSpPr>
        <p:grpSpPr>
          <a:xfrm>
            <a:off x="5917406" y="4572000"/>
            <a:ext cx="357188" cy="476250"/>
            <a:chOff x="5917406" y="4572000"/>
            <a:chExt cx="357188" cy="476250"/>
          </a:xfrm>
        </p:grpSpPr>
        <p:sp>
          <p:nvSpPr>
            <p:cNvPr id="16" name="Freeform 16"/>
            <p:cNvSpPr/>
            <p:nvPr/>
          </p:nvSpPr>
          <p:spPr>
            <a:xfrm>
              <a:off x="5917406" y="4572000"/>
              <a:ext cx="357188" cy="476250"/>
            </a:xfrm>
            <a:custGeom>
              <a:avLst/>
              <a:gdLst/>
              <a:ahLst/>
              <a:cxnLst/>
              <a:rect l="l" t="t" r="r" b="b"/>
              <a:pathLst>
                <a:path w="357188" h="476250">
                  <a:moveTo>
                    <a:pt x="357188" y="0"/>
                  </a:moveTo>
                  <a:lnTo>
                    <a:pt x="0" y="0"/>
                  </a:lnTo>
                  <a:lnTo>
                    <a:pt x="0" y="476250"/>
                  </a:lnTo>
                  <a:lnTo>
                    <a:pt x="119062" y="476250"/>
                  </a:lnTo>
                  <a:lnTo>
                    <a:pt x="119062" y="357188"/>
                  </a:lnTo>
                  <a:lnTo>
                    <a:pt x="238125" y="357188"/>
                  </a:lnTo>
                  <a:lnTo>
                    <a:pt x="238125" y="476250"/>
                  </a:lnTo>
                  <a:lnTo>
                    <a:pt x="357188" y="476250"/>
                  </a:lnTo>
                  <a:lnTo>
                    <a:pt x="357188" y="0"/>
                  </a:lnTo>
                  <a:close/>
                  <a:moveTo>
                    <a:pt x="89297" y="89297"/>
                  </a:moveTo>
                  <a:lnTo>
                    <a:pt x="148828" y="89297"/>
                  </a:lnTo>
                  <a:lnTo>
                    <a:pt x="148828" y="148828"/>
                  </a:lnTo>
                  <a:lnTo>
                    <a:pt x="89297" y="148828"/>
                  </a:lnTo>
                  <a:lnTo>
                    <a:pt x="89297" y="89297"/>
                  </a:lnTo>
                  <a:close/>
                  <a:moveTo>
                    <a:pt x="148828" y="208359"/>
                  </a:moveTo>
                  <a:lnTo>
                    <a:pt x="89297" y="208359"/>
                  </a:lnTo>
                  <a:lnTo>
                    <a:pt x="89297" y="267891"/>
                  </a:lnTo>
                  <a:lnTo>
                    <a:pt x="148828" y="267891"/>
                  </a:lnTo>
                  <a:lnTo>
                    <a:pt x="148828" y="208359"/>
                  </a:lnTo>
                  <a:close/>
                  <a:moveTo>
                    <a:pt x="208359" y="89297"/>
                  </a:moveTo>
                  <a:lnTo>
                    <a:pt x="267891" y="89297"/>
                  </a:lnTo>
                  <a:lnTo>
                    <a:pt x="267891" y="148828"/>
                  </a:lnTo>
                  <a:lnTo>
                    <a:pt x="208359" y="148828"/>
                  </a:lnTo>
                  <a:lnTo>
                    <a:pt x="208359" y="89297"/>
                  </a:lnTo>
                  <a:close/>
                  <a:moveTo>
                    <a:pt x="267891" y="208359"/>
                  </a:moveTo>
                  <a:lnTo>
                    <a:pt x="208359" y="208359"/>
                  </a:lnTo>
                  <a:lnTo>
                    <a:pt x="208359" y="267891"/>
                  </a:lnTo>
                  <a:lnTo>
                    <a:pt x="267891" y="267891"/>
                  </a:lnTo>
                  <a:lnTo>
                    <a:pt x="267891" y="208359"/>
                  </a:lnTo>
                  <a:close/>
                </a:path>
              </a:pathLst>
            </a:custGeom>
            <a:solidFill>
              <a:srgbClr val="FFFFFF"/>
            </a:solidFill>
            <a:ln>
              <a:noFill/>
            </a:ln>
          </p:spPr>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image">
                                      <p:cBhvr>
                                        <p:cTn id="7" dur="400"/>
                                        <p:tgtEl>
                                          <p:spTgt spid="10"/>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400"/>
                                        <p:tgtEl>
                                          <p:spTgt spid="15"/>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slide(fromBottom)">
                                      <p:cBhvr>
                                        <p:cTn id="15"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P spid="1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3757</Words>
  <Application>Microsoft Office PowerPoint</Application>
  <PresentationFormat>宽屏</PresentationFormat>
  <Paragraphs>392</Paragraphs>
  <Slides>16</Slides>
  <Notes>16</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16</vt:i4>
      </vt:variant>
    </vt:vector>
  </HeadingPairs>
  <TitlesOfParts>
    <vt:vector size="20" baseType="lpstr">
      <vt:lpstr>Arial</vt:lpstr>
      <vt:lpstr>Calibri</vt:lpstr>
      <vt:lpstr>Segoe UI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Taiyan Chi</cp:lastModifiedBy>
  <cp:revision>3</cp:revision>
  <dcterms:created xsi:type="dcterms:W3CDTF">2013-01-27T09:14:16Z</dcterms:created>
  <dcterms:modified xsi:type="dcterms:W3CDTF">2026-05-22T13:38:52Z</dcterms:modified>
  <cp:category/>
</cp:coreProperties>
</file>