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embeddedFontLst>
    <p:embeddedFont>
      <p:font typeface="Calibri" panose="020F0502020204030204" pitchFamily="34" charset="0"/>
      <p:regular r:id="rId32"/>
      <p:bold r:id="rId33"/>
      <p:italic r:id="rId34"/>
      <p:boldItalic r:id="rId35"/>
    </p:embeddedFont>
    <p:embeddedFont>
      <p:font typeface="Noto Sans SC" panose="02010600030101010101" charset="-122"/>
      <p:regular r:id="rId36"/>
    </p:embeddedFont>
    <p:embeddedFont>
      <p:font typeface="Microsoft Yahei" panose="020B0503020204020204" pitchFamily="34" charset="-122"/>
      <p:regular r:id="rId37"/>
      <p:bold r:id="rId38"/>
    </p:embeddedFont>
    <p:embeddedFont>
      <p:font typeface="Helvetica" panose="020B0604020202020204" pitchFamily="34" charset="0"/>
      <p:regular r:id="rId39"/>
      <p:bold r:id="rId40"/>
      <p:italic r:id="rId41"/>
      <p:bold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109" d="100"/>
          <a:sy n="109" d="100"/>
        </p:scale>
        <p:origin x="100" y="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0.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6.jpe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7.jpe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2.jpeg"/><Relationship Id="rId4" Type="http://schemas.openxmlformats.org/officeDocument/2006/relationships/image" Target="../media/image31.jpeg"/></Relationships>
</file>

<file path=ppt/slides/_rels/slide2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3545600" y="4694960"/>
            <a:ext cx="2059305" cy="434734"/>
          </a:xfrm>
          <a:prstGeom prst="rect">
            <a:avLst/>
          </a:prstGeom>
          <a:ln/>
        </p:spPr>
        <p:txBody>
          <a:bodyPr vert="horz" wrap="square" lIns="91440" tIns="45720" rIns="91440" bIns="45720" rtlCol="0" anchor="t" anchorCtr="0">
            <a:spAutoFit/>
          </a:bodyPr>
          <a:lstStyle/>
          <a:p>
            <a:pPr>
              <a:lnSpc>
                <a:spcPct val="120000"/>
              </a:lnSpc>
              <a:spcBef>
                <a:spcPts val="375"/>
              </a:spcBef>
            </a:pPr>
            <a:r>
              <a:rPr lang="en-US" sz="2025" dirty="0">
                <a:solidFill>
                  <a:schemeClr val="lt2">
                    <a:alpha val="100000"/>
                  </a:schemeClr>
                </a:solidFill>
                <a:latin typeface="Noto Sans SC"/>
                <a:ea typeface="Noto Sans SC"/>
                <a:cs typeface="Noto Sans SC"/>
              </a:rPr>
              <a:t>汇报人</a:t>
            </a:r>
            <a:r>
              <a:rPr lang="en-US" sz="2025" dirty="0" smtClean="0">
                <a:solidFill>
                  <a:schemeClr val="lt2">
                    <a:alpha val="100000"/>
                  </a:schemeClr>
                </a:solidFill>
                <a:latin typeface="Noto Sans SC"/>
                <a:ea typeface="Noto Sans SC"/>
                <a:cs typeface="Noto Sans SC"/>
              </a:rPr>
              <a:t>：</a:t>
            </a:r>
            <a:r>
              <a:rPr lang="en-US" altLang="zh-CN" sz="2025" dirty="0" smtClean="0">
                <a:solidFill>
                  <a:schemeClr val="lt2">
                    <a:alpha val="100000"/>
                  </a:schemeClr>
                </a:solidFill>
                <a:latin typeface="Noto Sans SC"/>
                <a:ea typeface="Noto Sans SC"/>
                <a:cs typeface="Noto Sans SC"/>
              </a:rPr>
              <a:t>AIA</a:t>
            </a:r>
            <a:endParaRPr lang="en-US" sz="2025" dirty="0">
              <a:solidFill>
                <a:schemeClr val="lt2">
                  <a:alpha val="100000"/>
                </a:schemeClr>
              </a:solidFill>
              <a:latin typeface="Noto Sans SC"/>
              <a:ea typeface="Noto Sans SC"/>
              <a:cs typeface="Noto Sans SC"/>
            </a:endParaRPr>
          </a:p>
        </p:txBody>
      </p:sp>
      <p:sp>
        <p:nvSpPr>
          <p:cNvPr id="3" name="TextBox 3"/>
          <p:cNvSpPr txBox="1"/>
          <p:nvPr/>
        </p:nvSpPr>
        <p:spPr>
          <a:xfrm>
            <a:off x="6686798" y="4694960"/>
            <a:ext cx="2364105" cy="481965"/>
          </a:xfrm>
          <a:prstGeom prst="rect">
            <a:avLst/>
          </a:prstGeom>
          <a:ln/>
        </p:spPr>
        <p:txBody>
          <a:bodyPr vert="horz" wrap="square" lIns="91440" tIns="45720" rIns="91440" bIns="45720" rtlCol="0" anchor="t" anchorCtr="0">
            <a:spAutoFit/>
          </a:bodyPr>
          <a:lstStyle/>
          <a:p>
            <a:pPr>
              <a:lnSpc>
                <a:spcPct val="120000"/>
              </a:lnSpc>
              <a:spcBef>
                <a:spcPts val="375"/>
              </a:spcBef>
            </a:pPr>
            <a:r>
              <a:rPr lang="en-US" sz="2025">
                <a:solidFill>
                  <a:srgbClr val="FFFFFF">
                    <a:alpha val="100000"/>
                  </a:srgbClr>
                </a:solidFill>
                <a:latin typeface="Noto Sans SC"/>
                <a:ea typeface="Noto Sans SC"/>
                <a:cs typeface="Noto Sans SC"/>
              </a:rPr>
              <a:t>2025-04-17</a:t>
            </a:r>
          </a:p>
        </p:txBody>
      </p:sp>
      <p:sp>
        <p:nvSpPr>
          <p:cNvPr id="4" name="TextBox 4"/>
          <p:cNvSpPr txBox="1"/>
          <p:nvPr/>
        </p:nvSpPr>
        <p:spPr>
          <a:xfrm>
            <a:off x="2554150" y="1664931"/>
            <a:ext cx="7504249" cy="2000250"/>
          </a:xfrm>
          <a:prstGeom prst="rect">
            <a:avLst/>
          </a:prstGeom>
          <a:ln/>
        </p:spPr>
        <p:txBody>
          <a:bodyPr vert="horz" wrap="square" lIns="114300" tIns="57150" rIns="114300" bIns="57150" rtlCol="0" anchor="t" anchorCtr="0">
            <a:noAutofit/>
          </a:bodyPr>
          <a:lstStyle/>
          <a:p>
            <a:pPr algn="ctr">
              <a:lnSpc>
                <a:spcPct val="100000"/>
              </a:lnSpc>
              <a:spcBef>
                <a:spcPct val="0"/>
              </a:spcBef>
            </a:pPr>
            <a:r>
              <a:rPr lang="en-US" sz="5400" b="1" dirty="0">
                <a:solidFill>
                  <a:schemeClr val="dk1">
                    <a:alpha val="100000"/>
                  </a:schemeClr>
                </a:solidFill>
                <a:latin typeface="Noto Sans SC"/>
                <a:ea typeface="Noto Sans SC"/>
                <a:cs typeface="Noto Sans SC"/>
              </a:rPr>
              <a:t>面向对象编程（OOP）</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2793684" y="2559207"/>
            <a:ext cx="6318985" cy="701040"/>
          </a:xfrm>
          <a:prstGeom prst="rect">
            <a:avLst/>
          </a:prstGeom>
          <a:ln/>
        </p:spPr>
        <p:txBody>
          <a:bodyPr vert="horz" wrap="square" lIns="91440" tIns="45720" rIns="91440" bIns="45720" rtlCol="0" anchor="t" anchorCtr="0">
            <a:spAutoFit/>
          </a:bodyPr>
          <a:lstStyle/>
          <a:p>
            <a:pPr algn="ctr">
              <a:lnSpc>
                <a:spcPct val="100000"/>
              </a:lnSpc>
              <a:spcBef>
                <a:spcPts val="375"/>
              </a:spcBef>
            </a:pPr>
            <a:r>
              <a:rPr lang="en-US" sz="3600" b="1">
                <a:solidFill>
                  <a:srgbClr val="000000">
                    <a:alpha val="100000"/>
                  </a:srgbClr>
                </a:solidFill>
                <a:latin typeface="Noto Sans SC"/>
                <a:ea typeface="Noto Sans SC"/>
                <a:cs typeface="Noto Sans SC"/>
              </a:rPr>
              <a:t>未找到bdjson</a:t>
            </a:r>
          </a:p>
        </p:txBody>
      </p:sp>
      <p:pic>
        <p:nvPicPr>
          <p:cNvPr id="3" name="Picture 3"/>
          <p:cNvPicPr>
            <a:picLocks noChangeAspect="1"/>
          </p:cNvPicPr>
          <p:nvPr/>
        </p:nvPicPr>
        <p:blipFill>
          <a:blip r:embed="rId3"/>
          <a:srcRect/>
          <a:stretch>
            <a:fillRect/>
          </a:stretch>
        </p:blipFill>
        <p:spPr>
          <a:xfrm>
            <a:off x="0" y="0"/>
            <a:ext cx="12192000" cy="6858000"/>
          </a:xfrm>
          <a:prstGeom prst="rect">
            <a:avLst/>
          </a:prstGeom>
        </p:spPr>
      </p:pic>
      <p:sp>
        <p:nvSpPr>
          <p:cNvPr id="4" name="TextBox 4"/>
          <p:cNvSpPr txBox="1"/>
          <p:nvPr/>
        </p:nvSpPr>
        <p:spPr>
          <a:xfrm>
            <a:off x="847110" y="2566823"/>
            <a:ext cx="2792730" cy="1301115"/>
          </a:xfrm>
          <a:prstGeom prst="rect">
            <a:avLst/>
          </a:prstGeom>
          <a:ln/>
        </p:spPr>
        <p:txBody>
          <a:bodyPr vert="horz" wrap="square" lIns="91440" tIns="45720" rIns="91440" bIns="45720" rtlCol="0" anchor="ctr" anchorCtr="0">
            <a:spAutoFit/>
          </a:bodyPr>
          <a:lstStyle/>
          <a:p>
            <a:pPr algn="ctr">
              <a:lnSpc>
                <a:spcPct val="100000"/>
              </a:lnSpc>
              <a:spcBef>
                <a:spcPts val="375"/>
              </a:spcBef>
            </a:pPr>
            <a:r>
              <a:rPr lang="en-US" sz="7200" b="1">
                <a:solidFill>
                  <a:schemeClr val="dk1">
                    <a:alpha val="100000"/>
                  </a:schemeClr>
                </a:solidFill>
                <a:latin typeface="Noto Sans SC"/>
                <a:ea typeface="Noto Sans SC"/>
                <a:cs typeface="Noto Sans SC"/>
              </a:rPr>
              <a:t>目录</a:t>
            </a:r>
          </a:p>
        </p:txBody>
      </p:sp>
      <p:sp>
        <p:nvSpPr>
          <p:cNvPr id="5" name="TextBox 5"/>
          <p:cNvSpPr txBox="1"/>
          <p:nvPr/>
        </p:nvSpPr>
        <p:spPr>
          <a:xfrm>
            <a:off x="847110" y="3721338"/>
            <a:ext cx="2792730" cy="501015"/>
          </a:xfrm>
          <a:prstGeom prst="rect">
            <a:avLst/>
          </a:prstGeom>
          <a:ln/>
        </p:spPr>
        <p:txBody>
          <a:bodyPr vert="horz" wrap="square" lIns="91440" tIns="45720" rIns="91440" bIns="45720" rtlCol="0" anchor="ctr" anchorCtr="0">
            <a:spAutoFit/>
          </a:bodyPr>
          <a:lstStyle/>
          <a:p>
            <a:pPr algn="ctr">
              <a:lnSpc>
                <a:spcPct val="100000"/>
              </a:lnSpc>
              <a:spcBef>
                <a:spcPts val="375"/>
              </a:spcBef>
            </a:pPr>
            <a:r>
              <a:rPr lang="en-US" sz="2400" b="1">
                <a:solidFill>
                  <a:schemeClr val="accent3">
                    <a:alpha val="100000"/>
                  </a:schemeClr>
                </a:solidFill>
                <a:latin typeface="Noto Sans SC"/>
                <a:ea typeface="Noto Sans SC"/>
                <a:cs typeface="Noto Sans SC"/>
              </a:rPr>
              <a:t>CONTENTS</a:t>
            </a:r>
          </a:p>
        </p:txBody>
      </p:sp>
      <p:sp>
        <p:nvSpPr>
          <p:cNvPr id="6" name="TextBox 6"/>
          <p:cNvSpPr txBox="1"/>
          <p:nvPr/>
        </p:nvSpPr>
        <p:spPr>
          <a:xfrm>
            <a:off x="4514842" y="1287605"/>
            <a:ext cx="571500" cy="504825"/>
          </a:xfrm>
          <a:prstGeom prst="rect">
            <a:avLst/>
          </a:prstGeom>
          <a:ln/>
        </p:spPr>
        <p:txBody>
          <a:bodyPr vert="horz" wrap="square" lIns="0" tIns="0" rIns="0" bIns="0" rtlCol="0" anchor="ctr" anchorCtr="0">
            <a:spAutoFit/>
          </a:bodyPr>
          <a:lstStyle/>
          <a:p>
            <a:pPr algn="ctr">
              <a:lnSpc>
                <a:spcPct val="100000"/>
              </a:lnSpc>
              <a:spcBef>
                <a:spcPts val="375"/>
              </a:spcBef>
            </a:pPr>
            <a:r>
              <a:rPr lang="en-US" sz="3000">
                <a:solidFill>
                  <a:schemeClr val="accent1">
                    <a:alpha val="100000"/>
                  </a:schemeClr>
                </a:solidFill>
                <a:latin typeface="Noto Sans SC"/>
                <a:ea typeface="Noto Sans SC"/>
                <a:cs typeface="Noto Sans SC"/>
              </a:rPr>
              <a:t>01</a:t>
            </a:r>
          </a:p>
        </p:txBody>
      </p:sp>
      <p:sp>
        <p:nvSpPr>
          <p:cNvPr id="7" name="TextBox 7"/>
          <p:cNvSpPr txBox="1"/>
          <p:nvPr/>
        </p:nvSpPr>
        <p:spPr>
          <a:xfrm>
            <a:off x="5286367" y="1325705"/>
            <a:ext cx="4667250" cy="428625"/>
          </a:xfrm>
          <a:prstGeom prst="rect">
            <a:avLst/>
          </a:prstGeom>
          <a:ln/>
        </p:spPr>
        <p:txBody>
          <a:bodyPr vert="horz" wrap="square" lIns="0" tIns="0" rIns="0" bIns="0" rtlCol="0" anchor="ctr" anchorCtr="0">
            <a:noAutofit/>
          </a:bodyPr>
          <a:lstStyle/>
          <a:p>
            <a:pPr>
              <a:lnSpc>
                <a:spcPct val="100000"/>
              </a:lnSpc>
              <a:spcBef>
                <a:spcPts val="375"/>
              </a:spcBef>
            </a:pPr>
            <a:r>
              <a:rPr lang="en-US" sz="2400" b="1">
                <a:solidFill>
                  <a:schemeClr val="dk1">
                    <a:alpha val="100000"/>
                  </a:schemeClr>
                </a:solidFill>
                <a:latin typeface="Noto Sans SC"/>
                <a:ea typeface="Noto Sans SC"/>
                <a:cs typeface="Noto Sans SC"/>
              </a:rPr>
              <a:t>编程范式基础</a:t>
            </a:r>
          </a:p>
        </p:txBody>
      </p:sp>
      <p:sp>
        <p:nvSpPr>
          <p:cNvPr id="8" name="TextBox 8"/>
          <p:cNvSpPr txBox="1"/>
          <p:nvPr/>
        </p:nvSpPr>
        <p:spPr>
          <a:xfrm>
            <a:off x="4514842" y="2036363"/>
            <a:ext cx="571500" cy="504825"/>
          </a:xfrm>
          <a:prstGeom prst="rect">
            <a:avLst/>
          </a:prstGeom>
          <a:ln/>
        </p:spPr>
        <p:txBody>
          <a:bodyPr vert="horz" wrap="square" lIns="0" tIns="0" rIns="0" bIns="0" rtlCol="0" anchor="ctr" anchorCtr="0">
            <a:spAutoFit/>
          </a:bodyPr>
          <a:lstStyle/>
          <a:p>
            <a:pPr algn="ctr">
              <a:lnSpc>
                <a:spcPct val="100000"/>
              </a:lnSpc>
              <a:spcBef>
                <a:spcPts val="375"/>
              </a:spcBef>
            </a:pPr>
            <a:r>
              <a:rPr lang="en-US" sz="3000">
                <a:solidFill>
                  <a:schemeClr val="accent1">
                    <a:alpha val="100000"/>
                  </a:schemeClr>
                </a:solidFill>
                <a:latin typeface="Noto Sans SC"/>
                <a:ea typeface="Noto Sans SC"/>
                <a:cs typeface="Noto Sans SC"/>
              </a:rPr>
              <a:t>02</a:t>
            </a:r>
          </a:p>
        </p:txBody>
      </p:sp>
      <p:sp>
        <p:nvSpPr>
          <p:cNvPr id="9" name="TextBox 9"/>
          <p:cNvSpPr txBox="1"/>
          <p:nvPr/>
        </p:nvSpPr>
        <p:spPr>
          <a:xfrm>
            <a:off x="5286613" y="2074463"/>
            <a:ext cx="4667250" cy="428625"/>
          </a:xfrm>
          <a:prstGeom prst="rect">
            <a:avLst/>
          </a:prstGeom>
          <a:ln/>
        </p:spPr>
        <p:txBody>
          <a:bodyPr vert="horz" wrap="square" lIns="0" tIns="0" rIns="0" bIns="0" rtlCol="0" anchor="ctr" anchorCtr="0">
            <a:noAutofit/>
          </a:bodyPr>
          <a:lstStyle/>
          <a:p>
            <a:pPr>
              <a:lnSpc>
                <a:spcPct val="100000"/>
              </a:lnSpc>
              <a:spcBef>
                <a:spcPts val="375"/>
              </a:spcBef>
            </a:pPr>
            <a:r>
              <a:rPr lang="en-US" sz="2400" b="1">
                <a:solidFill>
                  <a:schemeClr val="dk1">
                    <a:alpha val="100000"/>
                  </a:schemeClr>
                </a:solidFill>
                <a:latin typeface="Noto Sans SC"/>
                <a:ea typeface="Noto Sans SC"/>
                <a:cs typeface="Noto Sans SC"/>
              </a:rPr>
              <a:t>核心四大特性</a:t>
            </a:r>
          </a:p>
        </p:txBody>
      </p:sp>
      <p:sp>
        <p:nvSpPr>
          <p:cNvPr id="10" name="TextBox 10"/>
          <p:cNvSpPr txBox="1"/>
          <p:nvPr/>
        </p:nvSpPr>
        <p:spPr>
          <a:xfrm>
            <a:off x="4514842" y="2797012"/>
            <a:ext cx="571500" cy="504825"/>
          </a:xfrm>
          <a:prstGeom prst="rect">
            <a:avLst/>
          </a:prstGeom>
          <a:ln/>
        </p:spPr>
        <p:txBody>
          <a:bodyPr vert="horz" wrap="square" lIns="0" tIns="0" rIns="0" bIns="0" rtlCol="0" anchor="ctr" anchorCtr="0">
            <a:spAutoFit/>
          </a:bodyPr>
          <a:lstStyle/>
          <a:p>
            <a:pPr algn="ctr">
              <a:lnSpc>
                <a:spcPct val="100000"/>
              </a:lnSpc>
              <a:spcBef>
                <a:spcPts val="375"/>
              </a:spcBef>
            </a:pPr>
            <a:r>
              <a:rPr lang="en-US" sz="3000">
                <a:solidFill>
                  <a:schemeClr val="accent1">
                    <a:alpha val="100000"/>
                  </a:schemeClr>
                </a:solidFill>
                <a:latin typeface="Noto Sans SC"/>
                <a:ea typeface="Noto Sans SC"/>
                <a:cs typeface="Noto Sans SC"/>
              </a:rPr>
              <a:t>03</a:t>
            </a:r>
          </a:p>
        </p:txBody>
      </p:sp>
      <p:sp>
        <p:nvSpPr>
          <p:cNvPr id="11" name="TextBox 11"/>
          <p:cNvSpPr txBox="1"/>
          <p:nvPr/>
        </p:nvSpPr>
        <p:spPr>
          <a:xfrm>
            <a:off x="5286367" y="2835112"/>
            <a:ext cx="4667250" cy="428625"/>
          </a:xfrm>
          <a:prstGeom prst="rect">
            <a:avLst/>
          </a:prstGeom>
          <a:ln/>
        </p:spPr>
        <p:txBody>
          <a:bodyPr vert="horz" wrap="square" lIns="0" tIns="0" rIns="0" bIns="0" rtlCol="0" anchor="ctr" anchorCtr="0">
            <a:noAutofit/>
          </a:bodyPr>
          <a:lstStyle/>
          <a:p>
            <a:pPr>
              <a:lnSpc>
                <a:spcPct val="100000"/>
              </a:lnSpc>
              <a:spcBef>
                <a:spcPts val="375"/>
              </a:spcBef>
            </a:pPr>
            <a:r>
              <a:rPr lang="en-US" sz="2400" b="1">
                <a:solidFill>
                  <a:schemeClr val="dk1">
                    <a:alpha val="100000"/>
                  </a:schemeClr>
                </a:solidFill>
                <a:latin typeface="Noto Sans SC"/>
                <a:ea typeface="Noto Sans SC"/>
                <a:cs typeface="Noto Sans SC"/>
              </a:rPr>
              <a:t>类关系设计</a:t>
            </a:r>
          </a:p>
        </p:txBody>
      </p:sp>
      <p:sp>
        <p:nvSpPr>
          <p:cNvPr id="12" name="TextBox 12"/>
          <p:cNvSpPr txBox="1"/>
          <p:nvPr/>
        </p:nvSpPr>
        <p:spPr>
          <a:xfrm>
            <a:off x="4524367" y="3537200"/>
            <a:ext cx="561975" cy="504825"/>
          </a:xfrm>
          <a:prstGeom prst="rect">
            <a:avLst/>
          </a:prstGeom>
          <a:ln/>
        </p:spPr>
        <p:txBody>
          <a:bodyPr vert="horz" wrap="square" lIns="0" tIns="0" rIns="0" bIns="0" rtlCol="0" anchor="ctr" anchorCtr="0">
            <a:spAutoFit/>
          </a:bodyPr>
          <a:lstStyle/>
          <a:p>
            <a:pPr algn="ctr">
              <a:lnSpc>
                <a:spcPct val="100000"/>
              </a:lnSpc>
              <a:spcBef>
                <a:spcPts val="375"/>
              </a:spcBef>
            </a:pPr>
            <a:r>
              <a:rPr lang="en-US" sz="3000">
                <a:solidFill>
                  <a:schemeClr val="accent1">
                    <a:alpha val="100000"/>
                  </a:schemeClr>
                </a:solidFill>
                <a:latin typeface="Noto Sans SC"/>
                <a:ea typeface="Noto Sans SC"/>
                <a:cs typeface="Noto Sans SC"/>
              </a:rPr>
              <a:t>04</a:t>
            </a:r>
          </a:p>
        </p:txBody>
      </p:sp>
      <p:sp>
        <p:nvSpPr>
          <p:cNvPr id="13" name="TextBox 13"/>
          <p:cNvSpPr txBox="1"/>
          <p:nvPr/>
        </p:nvSpPr>
        <p:spPr>
          <a:xfrm>
            <a:off x="5286613" y="3575300"/>
            <a:ext cx="4667250" cy="428625"/>
          </a:xfrm>
          <a:prstGeom prst="rect">
            <a:avLst/>
          </a:prstGeom>
          <a:ln/>
        </p:spPr>
        <p:txBody>
          <a:bodyPr vert="horz" wrap="square" lIns="0" tIns="0" rIns="0" bIns="0" rtlCol="0" anchor="ctr" anchorCtr="0">
            <a:noAutofit/>
          </a:bodyPr>
          <a:lstStyle/>
          <a:p>
            <a:pPr>
              <a:lnSpc>
                <a:spcPct val="100000"/>
              </a:lnSpc>
              <a:spcBef>
                <a:spcPts val="375"/>
              </a:spcBef>
            </a:pPr>
            <a:r>
              <a:rPr lang="en-US" sz="2400" b="1">
                <a:solidFill>
                  <a:schemeClr val="dk1">
                    <a:alpha val="100000"/>
                  </a:schemeClr>
                </a:solidFill>
                <a:latin typeface="Noto Sans SC"/>
                <a:ea typeface="Noto Sans SC"/>
                <a:cs typeface="Noto Sans SC"/>
              </a:rPr>
              <a:t>设计原则体系</a:t>
            </a:r>
          </a:p>
        </p:txBody>
      </p:sp>
      <p:sp>
        <p:nvSpPr>
          <p:cNvPr id="14" name="TextBox 14"/>
          <p:cNvSpPr txBox="1"/>
          <p:nvPr/>
        </p:nvSpPr>
        <p:spPr>
          <a:xfrm>
            <a:off x="4514842" y="4296187"/>
            <a:ext cx="571500" cy="504825"/>
          </a:xfrm>
          <a:prstGeom prst="rect">
            <a:avLst/>
          </a:prstGeom>
          <a:ln/>
        </p:spPr>
        <p:txBody>
          <a:bodyPr vert="horz" wrap="square" lIns="0" tIns="0" rIns="0" bIns="0" rtlCol="0" anchor="ctr" anchorCtr="0">
            <a:spAutoFit/>
          </a:bodyPr>
          <a:lstStyle/>
          <a:p>
            <a:pPr algn="ctr">
              <a:lnSpc>
                <a:spcPct val="100000"/>
              </a:lnSpc>
              <a:spcBef>
                <a:spcPts val="375"/>
              </a:spcBef>
            </a:pPr>
            <a:r>
              <a:rPr lang="en-US" sz="3000">
                <a:solidFill>
                  <a:schemeClr val="accent1">
                    <a:alpha val="100000"/>
                  </a:schemeClr>
                </a:solidFill>
                <a:latin typeface="Noto Sans SC"/>
                <a:ea typeface="Noto Sans SC"/>
                <a:cs typeface="Noto Sans SC"/>
              </a:rPr>
              <a:t>05</a:t>
            </a:r>
          </a:p>
        </p:txBody>
      </p:sp>
      <p:sp>
        <p:nvSpPr>
          <p:cNvPr id="15" name="TextBox 15"/>
          <p:cNvSpPr txBox="1"/>
          <p:nvPr/>
        </p:nvSpPr>
        <p:spPr>
          <a:xfrm>
            <a:off x="5286367" y="4334287"/>
            <a:ext cx="4667250" cy="428625"/>
          </a:xfrm>
          <a:prstGeom prst="rect">
            <a:avLst/>
          </a:prstGeom>
          <a:ln/>
        </p:spPr>
        <p:txBody>
          <a:bodyPr vert="horz" wrap="square" lIns="0" tIns="0" rIns="0" bIns="0" rtlCol="0" anchor="ctr" anchorCtr="0">
            <a:noAutofit/>
          </a:bodyPr>
          <a:lstStyle/>
          <a:p>
            <a:pPr>
              <a:lnSpc>
                <a:spcPct val="100000"/>
              </a:lnSpc>
              <a:spcBef>
                <a:spcPts val="375"/>
              </a:spcBef>
            </a:pPr>
            <a:r>
              <a:rPr lang="en-US" sz="2400" b="1">
                <a:solidFill>
                  <a:schemeClr val="dk1">
                    <a:alpha val="100000"/>
                  </a:schemeClr>
                </a:solidFill>
                <a:latin typeface="Noto Sans SC"/>
                <a:ea typeface="Noto Sans SC"/>
                <a:cs typeface="Noto Sans SC"/>
              </a:rPr>
              <a:t>典型应用场景</a:t>
            </a:r>
          </a:p>
        </p:txBody>
      </p:sp>
      <p:sp>
        <p:nvSpPr>
          <p:cNvPr id="16" name="TextBox 16"/>
          <p:cNvSpPr txBox="1"/>
          <p:nvPr/>
        </p:nvSpPr>
        <p:spPr>
          <a:xfrm>
            <a:off x="4518181" y="5043106"/>
            <a:ext cx="571500" cy="504825"/>
          </a:xfrm>
          <a:prstGeom prst="rect">
            <a:avLst/>
          </a:prstGeom>
          <a:ln/>
        </p:spPr>
        <p:txBody>
          <a:bodyPr vert="horz" wrap="square" lIns="0" tIns="0" rIns="0" bIns="0" rtlCol="0" anchor="ctr" anchorCtr="0">
            <a:spAutoFit/>
          </a:bodyPr>
          <a:lstStyle/>
          <a:p>
            <a:pPr algn="ctr">
              <a:lnSpc>
                <a:spcPct val="100000"/>
              </a:lnSpc>
              <a:spcBef>
                <a:spcPts val="375"/>
              </a:spcBef>
            </a:pPr>
            <a:r>
              <a:rPr lang="en-US" sz="3000">
                <a:solidFill>
                  <a:schemeClr val="accent1">
                    <a:alpha val="100000"/>
                  </a:schemeClr>
                </a:solidFill>
                <a:latin typeface="Noto Sans SC"/>
                <a:ea typeface="Noto Sans SC"/>
                <a:cs typeface="Noto Sans SC"/>
              </a:rPr>
              <a:t>06</a:t>
            </a:r>
          </a:p>
        </p:txBody>
      </p:sp>
      <p:sp>
        <p:nvSpPr>
          <p:cNvPr id="17" name="TextBox 17"/>
          <p:cNvSpPr txBox="1"/>
          <p:nvPr/>
        </p:nvSpPr>
        <p:spPr>
          <a:xfrm>
            <a:off x="5289706" y="5081206"/>
            <a:ext cx="4667250" cy="428625"/>
          </a:xfrm>
          <a:prstGeom prst="rect">
            <a:avLst/>
          </a:prstGeom>
          <a:ln/>
        </p:spPr>
        <p:txBody>
          <a:bodyPr vert="horz" wrap="square" lIns="0" tIns="0" rIns="0" bIns="0" rtlCol="0" anchor="ctr" anchorCtr="0">
            <a:noAutofit/>
          </a:bodyPr>
          <a:lstStyle/>
          <a:p>
            <a:pPr>
              <a:lnSpc>
                <a:spcPct val="100000"/>
              </a:lnSpc>
              <a:spcBef>
                <a:spcPts val="375"/>
              </a:spcBef>
            </a:pPr>
            <a:r>
              <a:rPr lang="en-US" sz="2400" b="1">
                <a:solidFill>
                  <a:schemeClr val="dk1">
                    <a:alpha val="100000"/>
                  </a:schemeClr>
                </a:solidFill>
                <a:latin typeface="Noto Sans SC"/>
                <a:ea typeface="Noto Sans SC"/>
                <a:cs typeface="Noto Sans SC"/>
              </a:rPr>
              <a:t>开发实践要点</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5280874" y="2017809"/>
            <a:ext cx="1630253" cy="1138956"/>
          </a:xfrm>
          <a:prstGeom prst="rect">
            <a:avLst/>
          </a:prstGeom>
          <a:ln/>
        </p:spPr>
        <p:txBody>
          <a:bodyPr vert="horz" wrap="square" lIns="66008" tIns="33052" rIns="66008" bIns="33052" rtlCol="0" anchor="ctr" anchorCtr="0">
            <a:noAutofit/>
          </a:bodyPr>
          <a:lstStyle/>
          <a:p>
            <a:pPr algn="ctr">
              <a:lnSpc>
                <a:spcPct val="100000"/>
              </a:lnSpc>
            </a:pPr>
            <a:r>
              <a:rPr lang="en-US" sz="8025" b="1">
                <a:solidFill>
                  <a:schemeClr val="accent1">
                    <a:alpha val="100000"/>
                  </a:schemeClr>
                </a:solidFill>
                <a:latin typeface="Noto Sans SC"/>
                <a:ea typeface="Noto Sans SC"/>
                <a:cs typeface="Noto Sans SC"/>
              </a:rPr>
              <a:t>01</a:t>
            </a:r>
          </a:p>
        </p:txBody>
      </p:sp>
      <p:sp>
        <p:nvSpPr>
          <p:cNvPr id="3" name="TextBox 3"/>
          <p:cNvSpPr txBox="1"/>
          <p:nvPr/>
        </p:nvSpPr>
        <p:spPr>
          <a:xfrm>
            <a:off x="3013710" y="3156765"/>
            <a:ext cx="6164580" cy="1615440"/>
          </a:xfrm>
          <a:prstGeom prst="rect">
            <a:avLst/>
          </a:prstGeom>
          <a:ln/>
        </p:spPr>
        <p:txBody>
          <a:bodyPr vert="horz" wrap="square" lIns="91440" tIns="45720" rIns="91440" bIns="45720" rtlCol="0" anchor="t" anchorCtr="0">
            <a:noAutofit/>
          </a:bodyPr>
          <a:lstStyle/>
          <a:p>
            <a:pPr algn="ctr">
              <a:lnSpc>
                <a:spcPct val="100000"/>
              </a:lnSpc>
              <a:spcBef>
                <a:spcPct val="0"/>
              </a:spcBef>
            </a:pPr>
            <a:r>
              <a:rPr lang="en-US" sz="4500" b="1">
                <a:solidFill>
                  <a:schemeClr val="dk1">
                    <a:alpha val="100000"/>
                  </a:schemeClr>
                </a:solidFill>
                <a:latin typeface="Noto Sans SC"/>
                <a:ea typeface="Noto Sans SC"/>
                <a:cs typeface="Noto Sans SC"/>
              </a:rPr>
              <a:t>编程范式基础</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79391" y="1631119"/>
            <a:ext cx="638131" cy="638131"/>
          </a:xfrm>
          <a:prstGeom prst="ellipse">
            <a:avLst/>
          </a:prstGeom>
          <a:solidFill>
            <a:schemeClr val="accent1">
              <a:alpha val="20000"/>
            </a:schemeClr>
          </a:solidFill>
          <a:ln/>
        </p:spPr>
      </p:sp>
      <p:sp>
        <p:nvSpPr>
          <p:cNvPr id="3" name="AutoShape 3"/>
          <p:cNvSpPr/>
          <p:nvPr/>
        </p:nvSpPr>
        <p:spPr>
          <a:xfrm>
            <a:off x="914135" y="1765863"/>
            <a:ext cx="368642" cy="368642"/>
          </a:xfrm>
          <a:prstGeom prst="ellipse">
            <a:avLst/>
          </a:prstGeom>
          <a:solidFill>
            <a:schemeClr val="accent1">
              <a:alpha val="100000"/>
            </a:schemeClr>
          </a:solidFill>
          <a:ln/>
        </p:spPr>
      </p:sp>
      <p:sp>
        <p:nvSpPr>
          <p:cNvPr id="4" name="AutoShape 4"/>
          <p:cNvSpPr/>
          <p:nvPr/>
        </p:nvSpPr>
        <p:spPr>
          <a:xfrm>
            <a:off x="779391" y="3993147"/>
            <a:ext cx="638131" cy="638131"/>
          </a:xfrm>
          <a:prstGeom prst="ellipse">
            <a:avLst/>
          </a:prstGeom>
          <a:solidFill>
            <a:schemeClr val="accent1">
              <a:alpha val="20000"/>
            </a:schemeClr>
          </a:solidFill>
          <a:ln/>
        </p:spPr>
      </p:sp>
      <p:sp>
        <p:nvSpPr>
          <p:cNvPr id="5" name="AutoShape 5"/>
          <p:cNvSpPr/>
          <p:nvPr/>
        </p:nvSpPr>
        <p:spPr>
          <a:xfrm>
            <a:off x="914135" y="4127891"/>
            <a:ext cx="368642" cy="368642"/>
          </a:xfrm>
          <a:prstGeom prst="ellipse">
            <a:avLst/>
          </a:prstGeom>
          <a:solidFill>
            <a:schemeClr val="accent1">
              <a:alpha val="100000"/>
            </a:schemeClr>
          </a:solidFill>
          <a:ln/>
        </p:spPr>
      </p:sp>
      <p:sp>
        <p:nvSpPr>
          <p:cNvPr id="6" name="AutoShape 6"/>
          <p:cNvSpPr/>
          <p:nvPr/>
        </p:nvSpPr>
        <p:spPr>
          <a:xfrm>
            <a:off x="6360328" y="1631119"/>
            <a:ext cx="638131" cy="638131"/>
          </a:xfrm>
          <a:prstGeom prst="ellipse">
            <a:avLst/>
          </a:prstGeom>
          <a:solidFill>
            <a:schemeClr val="accent1">
              <a:alpha val="20000"/>
            </a:schemeClr>
          </a:solidFill>
          <a:ln/>
        </p:spPr>
      </p:sp>
      <p:sp>
        <p:nvSpPr>
          <p:cNvPr id="7" name="AutoShape 7"/>
          <p:cNvSpPr/>
          <p:nvPr/>
        </p:nvSpPr>
        <p:spPr>
          <a:xfrm>
            <a:off x="6495073" y="1765863"/>
            <a:ext cx="368642" cy="368642"/>
          </a:xfrm>
          <a:prstGeom prst="ellipse">
            <a:avLst/>
          </a:prstGeom>
          <a:solidFill>
            <a:schemeClr val="accent1">
              <a:alpha val="100000"/>
            </a:schemeClr>
          </a:solidFill>
          <a:ln/>
        </p:spPr>
      </p:sp>
      <p:sp>
        <p:nvSpPr>
          <p:cNvPr id="8" name="AutoShape 8"/>
          <p:cNvSpPr/>
          <p:nvPr/>
        </p:nvSpPr>
        <p:spPr>
          <a:xfrm>
            <a:off x="6360328" y="3993147"/>
            <a:ext cx="638131" cy="638131"/>
          </a:xfrm>
          <a:prstGeom prst="ellipse">
            <a:avLst/>
          </a:prstGeom>
          <a:solidFill>
            <a:schemeClr val="accent1">
              <a:alpha val="20000"/>
            </a:schemeClr>
          </a:solidFill>
          <a:ln/>
        </p:spPr>
      </p:sp>
      <p:sp>
        <p:nvSpPr>
          <p:cNvPr id="9" name="AutoShape 9"/>
          <p:cNvSpPr/>
          <p:nvPr/>
        </p:nvSpPr>
        <p:spPr>
          <a:xfrm>
            <a:off x="6495073" y="4127891"/>
            <a:ext cx="368642" cy="368642"/>
          </a:xfrm>
          <a:prstGeom prst="ellipse">
            <a:avLst/>
          </a:prstGeom>
          <a:solidFill>
            <a:schemeClr val="accent1">
              <a:alpha val="100000"/>
            </a:schemeClr>
          </a:solidFill>
          <a:ln/>
        </p:spPr>
      </p:sp>
      <p:sp>
        <p:nvSpPr>
          <p:cNvPr id="10" name="TextBox 10"/>
          <p:cNvSpPr txBox="1"/>
          <p:nvPr/>
        </p:nvSpPr>
        <p:spPr>
          <a:xfrm>
            <a:off x="1588687" y="1602522"/>
            <a:ext cx="3905250" cy="695325"/>
          </a:xfrm>
          <a:prstGeom prst="rect">
            <a:avLst/>
          </a:prstGeom>
          <a:ln/>
        </p:spPr>
        <p:txBody>
          <a:bodyPr vert="horz" wrap="square" lIns="123825" tIns="123825" rIns="57150" bIns="123825" rtlCol="0" anchor="b" anchorCtr="0">
            <a:noAutofit/>
          </a:bodyPr>
          <a:lstStyle/>
          <a:p>
            <a:pPr>
              <a:lnSpc>
                <a:spcPct val="120000"/>
              </a:lnSpc>
            </a:pPr>
            <a:r>
              <a:rPr lang="en-US" sz="2400" b="1">
                <a:solidFill>
                  <a:schemeClr val="accent1">
                    <a:alpha val="100000"/>
                  </a:schemeClr>
                </a:solidFill>
                <a:latin typeface="Noto Sans SC"/>
                <a:ea typeface="Noto Sans SC"/>
                <a:cs typeface="Noto Sans SC"/>
              </a:rPr>
              <a:t>编程思想</a:t>
            </a:r>
          </a:p>
        </p:txBody>
      </p:sp>
      <p:sp>
        <p:nvSpPr>
          <p:cNvPr id="11" name="TextBox 11"/>
          <p:cNvSpPr txBox="1"/>
          <p:nvPr/>
        </p:nvSpPr>
        <p:spPr>
          <a:xfrm>
            <a:off x="1588687" y="2078224"/>
            <a:ext cx="3905250" cy="1533525"/>
          </a:xfrm>
          <a:prstGeom prst="rect">
            <a:avLst/>
          </a:prstGeom>
          <a:ln/>
        </p:spPr>
        <p:txBody>
          <a:bodyPr vert="horz" wrap="square" lIns="123825" tIns="123825" rIns="57150" bIns="123825" rtlCol="0" anchor="t" anchorCtr="0">
            <a:noAutofit/>
          </a:bodyPr>
          <a:lstStyle/>
          <a:p>
            <a:pPr>
              <a:lnSpc>
                <a:spcPct val="140000"/>
              </a:lnSpc>
            </a:pPr>
            <a:r>
              <a:rPr lang="en-US" sz="1500">
                <a:solidFill>
                  <a:schemeClr val="dk1">
                    <a:alpha val="100000"/>
                  </a:schemeClr>
                </a:solidFill>
                <a:latin typeface="Noto Sans SC"/>
                <a:ea typeface="Noto Sans SC"/>
                <a:cs typeface="Noto Sans SC"/>
              </a:rPr>
              <a:t>面向过程以步骤和流程为中心，关注如何通过函数和顺序执行来解决问题；而面向对象以对象为核心，关注如何通过对象的交互来模拟现实世界中的实体和关系。</a:t>
            </a:r>
          </a:p>
        </p:txBody>
      </p:sp>
      <p:sp>
        <p:nvSpPr>
          <p:cNvPr id="12" name="TextBox 12"/>
          <p:cNvSpPr txBox="1"/>
          <p:nvPr/>
        </p:nvSpPr>
        <p:spPr>
          <a:xfrm>
            <a:off x="1574907" y="3964550"/>
            <a:ext cx="3905250" cy="695325"/>
          </a:xfrm>
          <a:prstGeom prst="rect">
            <a:avLst/>
          </a:prstGeom>
          <a:ln/>
        </p:spPr>
        <p:txBody>
          <a:bodyPr vert="horz" wrap="square" lIns="123825" tIns="123825" rIns="57150" bIns="123825" rtlCol="0" anchor="b" anchorCtr="0">
            <a:noAutofit/>
          </a:bodyPr>
          <a:lstStyle/>
          <a:p>
            <a:pPr>
              <a:lnSpc>
                <a:spcPct val="120000"/>
              </a:lnSpc>
            </a:pPr>
            <a:r>
              <a:rPr lang="en-US" sz="2400" b="1">
                <a:solidFill>
                  <a:schemeClr val="accent1">
                    <a:alpha val="100000"/>
                  </a:schemeClr>
                </a:solidFill>
                <a:latin typeface="Noto Sans SC"/>
                <a:ea typeface="Noto Sans SC"/>
                <a:cs typeface="Noto Sans SC"/>
              </a:rPr>
              <a:t>代码结构</a:t>
            </a:r>
          </a:p>
        </p:txBody>
      </p:sp>
      <p:sp>
        <p:nvSpPr>
          <p:cNvPr id="13" name="TextBox 13"/>
          <p:cNvSpPr txBox="1"/>
          <p:nvPr/>
        </p:nvSpPr>
        <p:spPr>
          <a:xfrm>
            <a:off x="1574907" y="4495320"/>
            <a:ext cx="3905250" cy="1533525"/>
          </a:xfrm>
          <a:prstGeom prst="rect">
            <a:avLst/>
          </a:prstGeom>
          <a:ln/>
        </p:spPr>
        <p:txBody>
          <a:bodyPr vert="horz" wrap="square" lIns="123825" tIns="123825" rIns="57150" bIns="123825" rtlCol="0" anchor="t" anchorCtr="0">
            <a:noAutofit/>
          </a:bodyPr>
          <a:lstStyle/>
          <a:p>
            <a:pPr>
              <a:lnSpc>
                <a:spcPct val="140000"/>
              </a:lnSpc>
            </a:pPr>
            <a:r>
              <a:rPr lang="en-US" sz="1500">
                <a:solidFill>
                  <a:schemeClr val="dk1">
                    <a:alpha val="100000"/>
                  </a:schemeClr>
                </a:solidFill>
                <a:latin typeface="Noto Sans SC"/>
                <a:ea typeface="Noto Sans SC"/>
                <a:cs typeface="Noto Sans SC"/>
              </a:rPr>
              <a:t>面向过程的代码结构通常较为线性，函数和数据分离；面向对象的代码结构通过类和对象封装数据和方法，具有更高的模块化和复用性。</a:t>
            </a:r>
          </a:p>
        </p:txBody>
      </p:sp>
      <p:sp>
        <p:nvSpPr>
          <p:cNvPr id="14" name="TextBox 14"/>
          <p:cNvSpPr txBox="1"/>
          <p:nvPr/>
        </p:nvSpPr>
        <p:spPr>
          <a:xfrm>
            <a:off x="7237966" y="3964550"/>
            <a:ext cx="3905250" cy="695325"/>
          </a:xfrm>
          <a:prstGeom prst="rect">
            <a:avLst/>
          </a:prstGeom>
          <a:ln/>
        </p:spPr>
        <p:txBody>
          <a:bodyPr vert="horz" wrap="square" lIns="123825" tIns="123825" rIns="57150" bIns="123825" rtlCol="0" anchor="b" anchorCtr="0">
            <a:noAutofit/>
          </a:bodyPr>
          <a:lstStyle/>
          <a:p>
            <a:pPr>
              <a:lnSpc>
                <a:spcPct val="120000"/>
              </a:lnSpc>
            </a:pPr>
            <a:r>
              <a:rPr lang="en-US" sz="2400" b="1">
                <a:solidFill>
                  <a:schemeClr val="accent1">
                    <a:alpha val="100000"/>
                  </a:schemeClr>
                </a:solidFill>
                <a:latin typeface="Noto Sans SC"/>
                <a:ea typeface="Noto Sans SC"/>
                <a:cs typeface="Noto Sans SC"/>
              </a:rPr>
              <a:t>扩展性</a:t>
            </a:r>
          </a:p>
        </p:txBody>
      </p:sp>
      <p:sp>
        <p:nvSpPr>
          <p:cNvPr id="15" name="TextBox 15"/>
          <p:cNvSpPr txBox="1"/>
          <p:nvPr/>
        </p:nvSpPr>
        <p:spPr>
          <a:xfrm>
            <a:off x="7237966" y="4495320"/>
            <a:ext cx="3905250" cy="1533525"/>
          </a:xfrm>
          <a:prstGeom prst="rect">
            <a:avLst/>
          </a:prstGeom>
          <a:ln/>
        </p:spPr>
        <p:txBody>
          <a:bodyPr vert="horz" wrap="square" lIns="123825" tIns="123825" rIns="57150" bIns="123825" rtlCol="0" anchor="t" anchorCtr="0">
            <a:noAutofit/>
          </a:bodyPr>
          <a:lstStyle/>
          <a:p>
            <a:pPr>
              <a:lnSpc>
                <a:spcPct val="140000"/>
              </a:lnSpc>
            </a:pPr>
            <a:r>
              <a:rPr lang="en-US" sz="1500">
                <a:solidFill>
                  <a:schemeClr val="dk1">
                    <a:alpha val="100000"/>
                  </a:schemeClr>
                </a:solidFill>
                <a:latin typeface="Noto Sans SC"/>
                <a:ea typeface="Noto Sans SC"/>
                <a:cs typeface="Noto Sans SC"/>
              </a:rPr>
              <a:t>面向过程的扩展性较差，修改函数结构可能影响整体流程；面向对象通过继承和多态提供更好的扩展性和灵活性。</a:t>
            </a:r>
          </a:p>
        </p:txBody>
      </p:sp>
      <p:sp>
        <p:nvSpPr>
          <p:cNvPr id="16" name="TextBox 16"/>
          <p:cNvSpPr txBox="1"/>
          <p:nvPr/>
        </p:nvSpPr>
        <p:spPr>
          <a:xfrm>
            <a:off x="7259955" y="1602522"/>
            <a:ext cx="3905250" cy="695325"/>
          </a:xfrm>
          <a:prstGeom prst="rect">
            <a:avLst/>
          </a:prstGeom>
          <a:ln/>
        </p:spPr>
        <p:txBody>
          <a:bodyPr vert="horz" wrap="square" lIns="123825" tIns="123825" rIns="57150" bIns="123825" rtlCol="0" anchor="b" anchorCtr="0">
            <a:noAutofit/>
          </a:bodyPr>
          <a:lstStyle/>
          <a:p>
            <a:pPr>
              <a:lnSpc>
                <a:spcPct val="120000"/>
              </a:lnSpc>
            </a:pPr>
            <a:r>
              <a:rPr lang="en-US" sz="2400" b="1">
                <a:solidFill>
                  <a:schemeClr val="accent1">
                    <a:alpha val="100000"/>
                  </a:schemeClr>
                </a:solidFill>
                <a:latin typeface="Noto Sans SC"/>
                <a:ea typeface="Noto Sans SC"/>
                <a:cs typeface="Noto Sans SC"/>
              </a:rPr>
              <a:t>设计视角</a:t>
            </a:r>
          </a:p>
        </p:txBody>
      </p:sp>
      <p:sp>
        <p:nvSpPr>
          <p:cNvPr id="17" name="TextBox 17"/>
          <p:cNvSpPr txBox="1"/>
          <p:nvPr/>
        </p:nvSpPr>
        <p:spPr>
          <a:xfrm>
            <a:off x="7259955" y="2078224"/>
            <a:ext cx="3905250" cy="1533525"/>
          </a:xfrm>
          <a:prstGeom prst="rect">
            <a:avLst/>
          </a:prstGeom>
          <a:ln/>
        </p:spPr>
        <p:txBody>
          <a:bodyPr vert="horz" wrap="square" lIns="123825" tIns="123825" rIns="57150" bIns="123825" rtlCol="0" anchor="t" anchorCtr="0">
            <a:noAutofit/>
          </a:bodyPr>
          <a:lstStyle/>
          <a:p>
            <a:pPr>
              <a:lnSpc>
                <a:spcPct val="140000"/>
              </a:lnSpc>
            </a:pPr>
            <a:r>
              <a:rPr lang="en-US" sz="1500">
                <a:solidFill>
                  <a:schemeClr val="dk1">
                    <a:alpha val="100000"/>
                  </a:schemeClr>
                </a:solidFill>
                <a:latin typeface="Noto Sans SC"/>
                <a:ea typeface="Noto Sans SC"/>
                <a:cs typeface="Noto Sans SC"/>
              </a:rPr>
              <a:t>面向过程强调线性步骤和流程控制，适合解决简单问题；面向对象关注对象之间的交互和抽象，适合解决复杂问题。</a:t>
            </a:r>
          </a:p>
        </p:txBody>
      </p:sp>
      <p:sp>
        <p:nvSpPr>
          <p:cNvPr id="18" name="TextBox 18"/>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Noto Sans SC"/>
                <a:ea typeface="Noto Sans SC"/>
                <a:cs typeface="Noto Sans SC"/>
              </a:rPr>
              <a:t>面向过程与面向对象对比</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1859868" y="1598622"/>
            <a:ext cx="3148677" cy="633576"/>
          </a:xfrm>
          <a:prstGeom prst="rect">
            <a:avLst/>
          </a:prstGeom>
          <a:ln/>
        </p:spPr>
        <p:txBody>
          <a:bodyPr vert="horz" wrap="square" lIns="66008" tIns="33052" rIns="66008" bIns="33052" rtlCol="0" anchor="t" anchorCtr="0">
            <a:noAutofit/>
          </a:bodyPr>
          <a:lstStyle/>
          <a:p>
            <a:pPr algn="r">
              <a:lnSpc>
                <a:spcPct val="120000"/>
              </a:lnSpc>
            </a:pPr>
            <a:r>
              <a:rPr lang="en-US" sz="2400" b="1">
                <a:solidFill>
                  <a:schemeClr val="accent1">
                    <a:alpha val="100000"/>
                  </a:schemeClr>
                </a:solidFill>
                <a:latin typeface="Noto Sans SC"/>
                <a:ea typeface="Noto Sans SC"/>
                <a:cs typeface="Noto Sans SC"/>
              </a:rPr>
              <a:t>对象定义</a:t>
            </a:r>
          </a:p>
        </p:txBody>
      </p:sp>
      <p:sp>
        <p:nvSpPr>
          <p:cNvPr id="3" name="TextBox 3"/>
          <p:cNvSpPr txBox="1"/>
          <p:nvPr/>
        </p:nvSpPr>
        <p:spPr>
          <a:xfrm>
            <a:off x="912795" y="2094426"/>
            <a:ext cx="4095750" cy="1147014"/>
          </a:xfrm>
          <a:prstGeom prst="rect">
            <a:avLst/>
          </a:prstGeom>
          <a:ln/>
        </p:spPr>
        <p:txBody>
          <a:bodyPr vert="horz" wrap="square" lIns="66008" tIns="33052" rIns="66008" bIns="33052" rtlCol="0" anchor="t" anchorCtr="0">
            <a:noAutofit/>
          </a:bodyPr>
          <a:lstStyle/>
          <a:p>
            <a:pPr algn="r">
              <a:lnSpc>
                <a:spcPct val="140000"/>
              </a:lnSpc>
            </a:pPr>
            <a:r>
              <a:rPr lang="en-US" sz="1500">
                <a:solidFill>
                  <a:schemeClr val="dk1">
                    <a:alpha val="100000"/>
                  </a:schemeClr>
                </a:solidFill>
                <a:latin typeface="Noto Sans SC"/>
                <a:ea typeface="Noto Sans SC"/>
                <a:cs typeface="Noto Sans SC"/>
              </a:rPr>
              <a:t>对象是面向对象编程的基本单位，是数据和方法的集合。对象通过封装将数据和行为绑定在一起，形成一个独立的实体。</a:t>
            </a:r>
          </a:p>
        </p:txBody>
      </p:sp>
      <p:sp>
        <p:nvSpPr>
          <p:cNvPr id="4" name="TextBox 4"/>
          <p:cNvSpPr txBox="1"/>
          <p:nvPr/>
        </p:nvSpPr>
        <p:spPr>
          <a:xfrm>
            <a:off x="1859868" y="3620384"/>
            <a:ext cx="3148677" cy="639549"/>
          </a:xfrm>
          <a:prstGeom prst="rect">
            <a:avLst/>
          </a:prstGeom>
          <a:ln/>
        </p:spPr>
        <p:txBody>
          <a:bodyPr vert="horz" wrap="square" lIns="66008" tIns="33052" rIns="66008" bIns="33052" rtlCol="0" anchor="t" anchorCtr="0">
            <a:noAutofit/>
          </a:bodyPr>
          <a:lstStyle/>
          <a:p>
            <a:pPr algn="r">
              <a:lnSpc>
                <a:spcPct val="120000"/>
              </a:lnSpc>
            </a:pPr>
            <a:r>
              <a:rPr lang="en-US" sz="2400" b="1">
                <a:solidFill>
                  <a:schemeClr val="accent1">
                    <a:alpha val="100000"/>
                  </a:schemeClr>
                </a:solidFill>
                <a:latin typeface="Noto Sans SC"/>
                <a:ea typeface="Noto Sans SC"/>
                <a:cs typeface="Noto Sans SC"/>
              </a:rPr>
              <a:t>实例化</a:t>
            </a:r>
          </a:p>
        </p:txBody>
      </p:sp>
      <p:sp>
        <p:nvSpPr>
          <p:cNvPr id="5" name="TextBox 5"/>
          <p:cNvSpPr txBox="1"/>
          <p:nvPr/>
        </p:nvSpPr>
        <p:spPr>
          <a:xfrm>
            <a:off x="1143000" y="4122161"/>
            <a:ext cx="3865545" cy="1147014"/>
          </a:xfrm>
          <a:prstGeom prst="rect">
            <a:avLst/>
          </a:prstGeom>
          <a:ln/>
        </p:spPr>
        <p:txBody>
          <a:bodyPr vert="horz" wrap="square" lIns="66008" tIns="33052" rIns="66008" bIns="33052" rtlCol="0" anchor="t" anchorCtr="0">
            <a:noAutofit/>
          </a:bodyPr>
          <a:lstStyle/>
          <a:p>
            <a:pPr algn="r">
              <a:lnSpc>
                <a:spcPct val="140000"/>
              </a:lnSpc>
            </a:pPr>
            <a:r>
              <a:rPr lang="en-US" sz="1500" dirty="0">
                <a:solidFill>
                  <a:schemeClr val="dk1">
                    <a:alpha val="100000"/>
                  </a:schemeClr>
                </a:solidFill>
                <a:latin typeface="Noto Sans SC"/>
                <a:ea typeface="Noto Sans SC"/>
                <a:cs typeface="Noto Sans SC"/>
              </a:rPr>
              <a:t>通过类创建对象的过程称为实例化。每个对象都是类的一个实例，具有类定义的属性和方法。</a:t>
            </a:r>
          </a:p>
        </p:txBody>
      </p:sp>
      <p:sp>
        <p:nvSpPr>
          <p:cNvPr id="6" name="TextBox 6"/>
          <p:cNvSpPr txBox="1"/>
          <p:nvPr/>
        </p:nvSpPr>
        <p:spPr>
          <a:xfrm>
            <a:off x="7163124" y="2511193"/>
            <a:ext cx="3148677" cy="633576"/>
          </a:xfrm>
          <a:prstGeom prst="rect">
            <a:avLst/>
          </a:prstGeom>
          <a:ln/>
        </p:spPr>
        <p:txBody>
          <a:bodyPr vert="horz" wrap="square" lIns="66008" tIns="33052" rIns="66008" bIns="33052" rtlCol="0" anchor="ctr" anchorCtr="0">
            <a:noAutofit/>
          </a:bodyPr>
          <a:lstStyle/>
          <a:p>
            <a:pPr algn="l">
              <a:lnSpc>
                <a:spcPct val="120000"/>
              </a:lnSpc>
            </a:pPr>
            <a:r>
              <a:rPr lang="en-US" sz="2400" b="1">
                <a:solidFill>
                  <a:schemeClr val="accent1">
                    <a:alpha val="100000"/>
                  </a:schemeClr>
                </a:solidFill>
                <a:latin typeface="Noto Sans SC"/>
                <a:ea typeface="Noto Sans SC"/>
                <a:cs typeface="Noto Sans SC"/>
              </a:rPr>
              <a:t>类定义</a:t>
            </a:r>
          </a:p>
        </p:txBody>
      </p:sp>
      <p:sp>
        <p:nvSpPr>
          <p:cNvPr id="7" name="TextBox 7"/>
          <p:cNvSpPr txBox="1"/>
          <p:nvPr/>
        </p:nvSpPr>
        <p:spPr>
          <a:xfrm>
            <a:off x="7163124" y="3006996"/>
            <a:ext cx="4095750" cy="1147014"/>
          </a:xfrm>
          <a:prstGeom prst="rect">
            <a:avLst/>
          </a:prstGeom>
          <a:ln/>
        </p:spPr>
        <p:txBody>
          <a:bodyPr vert="horz" wrap="square" lIns="66008" tIns="33052" rIns="66008" bIns="33052" rtlCol="0" anchor="t" anchorCtr="0">
            <a:noAutofit/>
          </a:bodyPr>
          <a:lstStyle/>
          <a:p>
            <a:pPr algn="l">
              <a:lnSpc>
                <a:spcPct val="140000"/>
              </a:lnSpc>
            </a:pPr>
            <a:r>
              <a:rPr lang="en-US" sz="1500">
                <a:solidFill>
                  <a:schemeClr val="dk1">
                    <a:alpha val="100000"/>
                  </a:schemeClr>
                </a:solidFill>
                <a:latin typeface="Noto Sans SC"/>
                <a:ea typeface="Noto Sans SC"/>
                <a:cs typeface="Noto Sans SC"/>
              </a:rPr>
              <a:t>类是对象的模板或蓝图，定义了对象的属性和方法。通过类可以创建多个具有相同属性和行为的对象。</a:t>
            </a:r>
          </a:p>
        </p:txBody>
      </p:sp>
      <p:sp>
        <p:nvSpPr>
          <p:cNvPr id="8" name="TextBox 8"/>
          <p:cNvSpPr txBox="1"/>
          <p:nvPr/>
        </p:nvSpPr>
        <p:spPr>
          <a:xfrm>
            <a:off x="7163124" y="4459481"/>
            <a:ext cx="3148677" cy="643554"/>
          </a:xfrm>
          <a:prstGeom prst="rect">
            <a:avLst/>
          </a:prstGeom>
          <a:ln/>
        </p:spPr>
        <p:txBody>
          <a:bodyPr vert="horz" wrap="square" lIns="66008" tIns="33052" rIns="66008" bIns="33052" rtlCol="0" anchor="ctr" anchorCtr="0">
            <a:noAutofit/>
          </a:bodyPr>
          <a:lstStyle/>
          <a:p>
            <a:pPr algn="l">
              <a:lnSpc>
                <a:spcPct val="120000"/>
              </a:lnSpc>
            </a:pPr>
            <a:r>
              <a:rPr lang="en-US" sz="2400" b="1">
                <a:solidFill>
                  <a:schemeClr val="accent1">
                    <a:alpha val="100000"/>
                  </a:schemeClr>
                </a:solidFill>
                <a:latin typeface="Noto Sans SC"/>
                <a:ea typeface="Noto Sans SC"/>
                <a:cs typeface="Noto Sans SC"/>
              </a:rPr>
              <a:t>封装性</a:t>
            </a:r>
          </a:p>
        </p:txBody>
      </p:sp>
      <p:sp>
        <p:nvSpPr>
          <p:cNvPr id="9" name="TextBox 9"/>
          <p:cNvSpPr txBox="1"/>
          <p:nvPr/>
        </p:nvSpPr>
        <p:spPr>
          <a:xfrm>
            <a:off x="7163124" y="4965263"/>
            <a:ext cx="4095750" cy="1147014"/>
          </a:xfrm>
          <a:prstGeom prst="rect">
            <a:avLst/>
          </a:prstGeom>
          <a:ln/>
        </p:spPr>
        <p:txBody>
          <a:bodyPr vert="horz" wrap="square" lIns="66008" tIns="33052" rIns="66008" bIns="33052" rtlCol="0" anchor="t" anchorCtr="0">
            <a:noAutofit/>
          </a:bodyPr>
          <a:lstStyle/>
          <a:p>
            <a:pPr algn="l">
              <a:lnSpc>
                <a:spcPct val="140000"/>
              </a:lnSpc>
            </a:pPr>
            <a:r>
              <a:rPr lang="en-US" sz="1500">
                <a:solidFill>
                  <a:schemeClr val="dk1">
                    <a:alpha val="100000"/>
                  </a:schemeClr>
                </a:solidFill>
                <a:latin typeface="Noto Sans SC"/>
                <a:ea typeface="Noto Sans SC"/>
                <a:cs typeface="Noto Sans SC"/>
              </a:rPr>
              <a:t>类通过封装隐藏了内部实现细节，只暴露必要的接口，提高了代码的安全性和可维护性。</a:t>
            </a:r>
          </a:p>
        </p:txBody>
      </p:sp>
      <p:sp>
        <p:nvSpPr>
          <p:cNvPr id="10" name="TextBox 10"/>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Noto Sans SC"/>
                <a:ea typeface="Noto Sans SC"/>
                <a:cs typeface="Noto Sans SC"/>
              </a:rPr>
              <a:t>对象与类基本定义</a:t>
            </a:r>
          </a:p>
        </p:txBody>
      </p:sp>
      <p:sp>
        <p:nvSpPr>
          <p:cNvPr id="11" name="Freeform 11"/>
          <p:cNvSpPr/>
          <p:nvPr/>
        </p:nvSpPr>
        <p:spPr>
          <a:xfrm>
            <a:off x="5192617" y="1984822"/>
            <a:ext cx="966788" cy="967073"/>
          </a:xfrm>
          <a:custGeom>
            <a:avLst/>
            <a:gdLst/>
            <a:ahLst/>
            <a:cxnLst/>
            <a:rect l="l" t="t" r="r" b="b"/>
            <a:pathLst>
              <a:path w="4870" h="4872">
                <a:moveTo>
                  <a:pt x="4870" y="2508"/>
                </a:moveTo>
                <a:lnTo>
                  <a:pt x="4869" y="2510"/>
                </a:lnTo>
                <a:lnTo>
                  <a:pt x="4867" y="2512"/>
                </a:lnTo>
                <a:lnTo>
                  <a:pt x="4869" y="2493"/>
                </a:lnTo>
                <a:lnTo>
                  <a:pt x="4869" y="2474"/>
                </a:lnTo>
                <a:lnTo>
                  <a:pt x="4870" y="2455"/>
                </a:lnTo>
                <a:lnTo>
                  <a:pt x="4870" y="2435"/>
                </a:lnTo>
                <a:lnTo>
                  <a:pt x="4866" y="2310"/>
                </a:lnTo>
                <a:lnTo>
                  <a:pt x="4857" y="2186"/>
                </a:lnTo>
                <a:lnTo>
                  <a:pt x="4842" y="2064"/>
                </a:lnTo>
                <a:lnTo>
                  <a:pt x="4820" y="1945"/>
                </a:lnTo>
                <a:lnTo>
                  <a:pt x="4793" y="1827"/>
                </a:lnTo>
                <a:lnTo>
                  <a:pt x="4760" y="1712"/>
                </a:lnTo>
                <a:lnTo>
                  <a:pt x="4722" y="1599"/>
                </a:lnTo>
                <a:lnTo>
                  <a:pt x="4678" y="1487"/>
                </a:lnTo>
                <a:lnTo>
                  <a:pt x="4630" y="1380"/>
                </a:lnTo>
                <a:lnTo>
                  <a:pt x="4576" y="1275"/>
                </a:lnTo>
                <a:lnTo>
                  <a:pt x="4517" y="1173"/>
                </a:lnTo>
                <a:lnTo>
                  <a:pt x="4454" y="1073"/>
                </a:lnTo>
                <a:lnTo>
                  <a:pt x="4386" y="979"/>
                </a:lnTo>
                <a:lnTo>
                  <a:pt x="4313" y="886"/>
                </a:lnTo>
                <a:lnTo>
                  <a:pt x="4238" y="798"/>
                </a:lnTo>
                <a:lnTo>
                  <a:pt x="4156" y="714"/>
                </a:lnTo>
                <a:lnTo>
                  <a:pt x="4072" y="633"/>
                </a:lnTo>
                <a:lnTo>
                  <a:pt x="3984" y="556"/>
                </a:lnTo>
                <a:lnTo>
                  <a:pt x="3892" y="484"/>
                </a:lnTo>
                <a:lnTo>
                  <a:pt x="3796" y="416"/>
                </a:lnTo>
                <a:lnTo>
                  <a:pt x="3698" y="353"/>
                </a:lnTo>
                <a:lnTo>
                  <a:pt x="3595" y="294"/>
                </a:lnTo>
                <a:lnTo>
                  <a:pt x="3490" y="240"/>
                </a:lnTo>
                <a:lnTo>
                  <a:pt x="3382" y="192"/>
                </a:lnTo>
                <a:lnTo>
                  <a:pt x="3272" y="148"/>
                </a:lnTo>
                <a:lnTo>
                  <a:pt x="3159" y="109"/>
                </a:lnTo>
                <a:lnTo>
                  <a:pt x="3043" y="77"/>
                </a:lnTo>
                <a:lnTo>
                  <a:pt x="2926" y="50"/>
                </a:lnTo>
                <a:lnTo>
                  <a:pt x="2805" y="28"/>
                </a:lnTo>
                <a:lnTo>
                  <a:pt x="2684" y="12"/>
                </a:lnTo>
                <a:lnTo>
                  <a:pt x="2561" y="3"/>
                </a:lnTo>
                <a:lnTo>
                  <a:pt x="2434" y="0"/>
                </a:lnTo>
                <a:lnTo>
                  <a:pt x="2309" y="3"/>
                </a:lnTo>
                <a:lnTo>
                  <a:pt x="2187" y="12"/>
                </a:lnTo>
                <a:lnTo>
                  <a:pt x="2064" y="28"/>
                </a:lnTo>
                <a:lnTo>
                  <a:pt x="1944" y="50"/>
                </a:lnTo>
                <a:lnTo>
                  <a:pt x="1826" y="77"/>
                </a:lnTo>
                <a:lnTo>
                  <a:pt x="1711" y="109"/>
                </a:lnTo>
                <a:lnTo>
                  <a:pt x="1598" y="148"/>
                </a:lnTo>
                <a:lnTo>
                  <a:pt x="1488" y="192"/>
                </a:lnTo>
                <a:lnTo>
                  <a:pt x="1380" y="240"/>
                </a:lnTo>
                <a:lnTo>
                  <a:pt x="1275" y="294"/>
                </a:lnTo>
                <a:lnTo>
                  <a:pt x="1172" y="353"/>
                </a:lnTo>
                <a:lnTo>
                  <a:pt x="1074" y="416"/>
                </a:lnTo>
                <a:lnTo>
                  <a:pt x="979" y="484"/>
                </a:lnTo>
                <a:lnTo>
                  <a:pt x="886" y="556"/>
                </a:lnTo>
                <a:lnTo>
                  <a:pt x="798" y="633"/>
                </a:lnTo>
                <a:lnTo>
                  <a:pt x="714" y="714"/>
                </a:lnTo>
                <a:lnTo>
                  <a:pt x="633" y="798"/>
                </a:lnTo>
                <a:lnTo>
                  <a:pt x="556" y="886"/>
                </a:lnTo>
                <a:lnTo>
                  <a:pt x="484" y="979"/>
                </a:lnTo>
                <a:lnTo>
                  <a:pt x="416" y="1073"/>
                </a:lnTo>
                <a:lnTo>
                  <a:pt x="353" y="1173"/>
                </a:lnTo>
                <a:lnTo>
                  <a:pt x="295" y="1275"/>
                </a:lnTo>
                <a:lnTo>
                  <a:pt x="240" y="1380"/>
                </a:lnTo>
                <a:lnTo>
                  <a:pt x="192" y="1487"/>
                </a:lnTo>
                <a:lnTo>
                  <a:pt x="148" y="1599"/>
                </a:lnTo>
                <a:lnTo>
                  <a:pt x="110" y="1712"/>
                </a:lnTo>
                <a:lnTo>
                  <a:pt x="77" y="1827"/>
                </a:lnTo>
                <a:lnTo>
                  <a:pt x="50" y="1945"/>
                </a:lnTo>
                <a:lnTo>
                  <a:pt x="29" y="2064"/>
                </a:lnTo>
                <a:lnTo>
                  <a:pt x="13" y="2186"/>
                </a:lnTo>
                <a:lnTo>
                  <a:pt x="4" y="2310"/>
                </a:lnTo>
                <a:lnTo>
                  <a:pt x="0" y="2435"/>
                </a:lnTo>
                <a:lnTo>
                  <a:pt x="4" y="2562"/>
                </a:lnTo>
                <a:lnTo>
                  <a:pt x="13" y="2685"/>
                </a:lnTo>
                <a:lnTo>
                  <a:pt x="29" y="2806"/>
                </a:lnTo>
                <a:lnTo>
                  <a:pt x="50" y="2927"/>
                </a:lnTo>
                <a:lnTo>
                  <a:pt x="77" y="3044"/>
                </a:lnTo>
                <a:lnTo>
                  <a:pt x="110" y="3160"/>
                </a:lnTo>
                <a:lnTo>
                  <a:pt x="148" y="3273"/>
                </a:lnTo>
                <a:lnTo>
                  <a:pt x="192" y="3384"/>
                </a:lnTo>
                <a:lnTo>
                  <a:pt x="240" y="3492"/>
                </a:lnTo>
                <a:lnTo>
                  <a:pt x="295" y="3597"/>
                </a:lnTo>
                <a:lnTo>
                  <a:pt x="353" y="3699"/>
                </a:lnTo>
                <a:lnTo>
                  <a:pt x="416" y="3797"/>
                </a:lnTo>
                <a:lnTo>
                  <a:pt x="484" y="3893"/>
                </a:lnTo>
                <a:lnTo>
                  <a:pt x="556" y="3985"/>
                </a:lnTo>
                <a:lnTo>
                  <a:pt x="633" y="4074"/>
                </a:lnTo>
                <a:lnTo>
                  <a:pt x="714" y="4158"/>
                </a:lnTo>
                <a:lnTo>
                  <a:pt x="798" y="4238"/>
                </a:lnTo>
                <a:lnTo>
                  <a:pt x="886" y="4315"/>
                </a:lnTo>
                <a:lnTo>
                  <a:pt x="979" y="4387"/>
                </a:lnTo>
                <a:lnTo>
                  <a:pt x="1074" y="4456"/>
                </a:lnTo>
                <a:lnTo>
                  <a:pt x="1172" y="4519"/>
                </a:lnTo>
                <a:lnTo>
                  <a:pt x="1275" y="4578"/>
                </a:lnTo>
                <a:lnTo>
                  <a:pt x="1380" y="4632"/>
                </a:lnTo>
                <a:lnTo>
                  <a:pt x="1488" y="4680"/>
                </a:lnTo>
                <a:lnTo>
                  <a:pt x="1598" y="4724"/>
                </a:lnTo>
                <a:lnTo>
                  <a:pt x="1711" y="4761"/>
                </a:lnTo>
                <a:lnTo>
                  <a:pt x="1826" y="4795"/>
                </a:lnTo>
                <a:lnTo>
                  <a:pt x="1944" y="4822"/>
                </a:lnTo>
                <a:lnTo>
                  <a:pt x="2064" y="4844"/>
                </a:lnTo>
                <a:lnTo>
                  <a:pt x="2187" y="4858"/>
                </a:lnTo>
                <a:lnTo>
                  <a:pt x="2309" y="4869"/>
                </a:lnTo>
                <a:lnTo>
                  <a:pt x="2434" y="4872"/>
                </a:lnTo>
                <a:lnTo>
                  <a:pt x="2480" y="4871"/>
                </a:lnTo>
                <a:lnTo>
                  <a:pt x="2525" y="4870"/>
                </a:lnTo>
                <a:lnTo>
                  <a:pt x="2569" y="4869"/>
                </a:lnTo>
                <a:lnTo>
                  <a:pt x="2614" y="4865"/>
                </a:lnTo>
                <a:lnTo>
                  <a:pt x="2656" y="4862"/>
                </a:lnTo>
                <a:lnTo>
                  <a:pt x="2700" y="4857"/>
                </a:lnTo>
                <a:lnTo>
                  <a:pt x="2743" y="4853"/>
                </a:lnTo>
                <a:lnTo>
                  <a:pt x="2786" y="4847"/>
                </a:lnTo>
                <a:lnTo>
                  <a:pt x="2829" y="4840"/>
                </a:lnTo>
                <a:lnTo>
                  <a:pt x="2872" y="4832"/>
                </a:lnTo>
                <a:lnTo>
                  <a:pt x="2913" y="4825"/>
                </a:lnTo>
                <a:lnTo>
                  <a:pt x="2955" y="4817"/>
                </a:lnTo>
                <a:lnTo>
                  <a:pt x="2997" y="4807"/>
                </a:lnTo>
                <a:lnTo>
                  <a:pt x="3038" y="4796"/>
                </a:lnTo>
                <a:lnTo>
                  <a:pt x="3079" y="4785"/>
                </a:lnTo>
                <a:lnTo>
                  <a:pt x="3120" y="4774"/>
                </a:lnTo>
                <a:lnTo>
                  <a:pt x="3160" y="4761"/>
                </a:lnTo>
                <a:lnTo>
                  <a:pt x="3201" y="4748"/>
                </a:lnTo>
                <a:lnTo>
                  <a:pt x="3241" y="4734"/>
                </a:lnTo>
                <a:lnTo>
                  <a:pt x="3281" y="4720"/>
                </a:lnTo>
                <a:lnTo>
                  <a:pt x="3320" y="4704"/>
                </a:lnTo>
                <a:lnTo>
                  <a:pt x="3360" y="4688"/>
                </a:lnTo>
                <a:lnTo>
                  <a:pt x="3399" y="4671"/>
                </a:lnTo>
                <a:lnTo>
                  <a:pt x="3439" y="4654"/>
                </a:lnTo>
                <a:lnTo>
                  <a:pt x="3477" y="4636"/>
                </a:lnTo>
                <a:lnTo>
                  <a:pt x="3516" y="4617"/>
                </a:lnTo>
                <a:lnTo>
                  <a:pt x="3555" y="4597"/>
                </a:lnTo>
                <a:lnTo>
                  <a:pt x="3593" y="4577"/>
                </a:lnTo>
                <a:lnTo>
                  <a:pt x="3630" y="4556"/>
                </a:lnTo>
                <a:lnTo>
                  <a:pt x="3668" y="4535"/>
                </a:lnTo>
                <a:lnTo>
                  <a:pt x="3707" y="4512"/>
                </a:lnTo>
                <a:lnTo>
                  <a:pt x="3744" y="4489"/>
                </a:lnTo>
                <a:lnTo>
                  <a:pt x="3763" y="4477"/>
                </a:lnTo>
                <a:lnTo>
                  <a:pt x="3787" y="4463"/>
                </a:lnTo>
                <a:lnTo>
                  <a:pt x="3813" y="4447"/>
                </a:lnTo>
                <a:lnTo>
                  <a:pt x="3843" y="4428"/>
                </a:lnTo>
                <a:lnTo>
                  <a:pt x="3863" y="4415"/>
                </a:lnTo>
                <a:lnTo>
                  <a:pt x="3884" y="4406"/>
                </a:lnTo>
                <a:lnTo>
                  <a:pt x="3902" y="4401"/>
                </a:lnTo>
                <a:lnTo>
                  <a:pt x="3920" y="4397"/>
                </a:lnTo>
                <a:lnTo>
                  <a:pt x="3937" y="4396"/>
                </a:lnTo>
                <a:lnTo>
                  <a:pt x="3952" y="4398"/>
                </a:lnTo>
                <a:lnTo>
                  <a:pt x="3968" y="4402"/>
                </a:lnTo>
                <a:lnTo>
                  <a:pt x="3983" y="4407"/>
                </a:lnTo>
                <a:lnTo>
                  <a:pt x="3997" y="4415"/>
                </a:lnTo>
                <a:lnTo>
                  <a:pt x="4013" y="4424"/>
                </a:lnTo>
                <a:lnTo>
                  <a:pt x="4028" y="4436"/>
                </a:lnTo>
                <a:lnTo>
                  <a:pt x="4044" y="4448"/>
                </a:lnTo>
                <a:lnTo>
                  <a:pt x="4077" y="4475"/>
                </a:lnTo>
                <a:lnTo>
                  <a:pt x="4114" y="4505"/>
                </a:lnTo>
                <a:lnTo>
                  <a:pt x="4134" y="4521"/>
                </a:lnTo>
                <a:lnTo>
                  <a:pt x="4155" y="4538"/>
                </a:lnTo>
                <a:lnTo>
                  <a:pt x="4178" y="4554"/>
                </a:lnTo>
                <a:lnTo>
                  <a:pt x="4203" y="4570"/>
                </a:lnTo>
                <a:lnTo>
                  <a:pt x="4230" y="4586"/>
                </a:lnTo>
                <a:lnTo>
                  <a:pt x="4258" y="4601"/>
                </a:lnTo>
                <a:lnTo>
                  <a:pt x="4289" y="4616"/>
                </a:lnTo>
                <a:lnTo>
                  <a:pt x="4322" y="4630"/>
                </a:lnTo>
                <a:lnTo>
                  <a:pt x="4358" y="4642"/>
                </a:lnTo>
                <a:lnTo>
                  <a:pt x="4398" y="4653"/>
                </a:lnTo>
                <a:lnTo>
                  <a:pt x="4439" y="4663"/>
                </a:lnTo>
                <a:lnTo>
                  <a:pt x="4483" y="4671"/>
                </a:lnTo>
                <a:lnTo>
                  <a:pt x="4532" y="4678"/>
                </a:lnTo>
                <a:lnTo>
                  <a:pt x="4583" y="4683"/>
                </a:lnTo>
                <a:lnTo>
                  <a:pt x="4639" y="4686"/>
                </a:lnTo>
                <a:lnTo>
                  <a:pt x="4697" y="4686"/>
                </a:lnTo>
                <a:lnTo>
                  <a:pt x="4677" y="4675"/>
                </a:lnTo>
                <a:lnTo>
                  <a:pt x="4657" y="4662"/>
                </a:lnTo>
                <a:lnTo>
                  <a:pt x="4639" y="4649"/>
                </a:lnTo>
                <a:lnTo>
                  <a:pt x="4621" y="4635"/>
                </a:lnTo>
                <a:lnTo>
                  <a:pt x="4604" y="4620"/>
                </a:lnTo>
                <a:lnTo>
                  <a:pt x="4589" y="4606"/>
                </a:lnTo>
                <a:lnTo>
                  <a:pt x="4574" y="4590"/>
                </a:lnTo>
                <a:lnTo>
                  <a:pt x="4561" y="4574"/>
                </a:lnTo>
                <a:lnTo>
                  <a:pt x="4547" y="4557"/>
                </a:lnTo>
                <a:lnTo>
                  <a:pt x="4536" y="4540"/>
                </a:lnTo>
                <a:lnTo>
                  <a:pt x="4525" y="4522"/>
                </a:lnTo>
                <a:lnTo>
                  <a:pt x="4515" y="4504"/>
                </a:lnTo>
                <a:lnTo>
                  <a:pt x="4506" y="4486"/>
                </a:lnTo>
                <a:lnTo>
                  <a:pt x="4497" y="4467"/>
                </a:lnTo>
                <a:lnTo>
                  <a:pt x="4489" y="4448"/>
                </a:lnTo>
                <a:lnTo>
                  <a:pt x="4482" y="4429"/>
                </a:lnTo>
                <a:lnTo>
                  <a:pt x="4476" y="4410"/>
                </a:lnTo>
                <a:lnTo>
                  <a:pt x="4471" y="4390"/>
                </a:lnTo>
                <a:lnTo>
                  <a:pt x="4466" y="4370"/>
                </a:lnTo>
                <a:lnTo>
                  <a:pt x="4462" y="4351"/>
                </a:lnTo>
                <a:lnTo>
                  <a:pt x="4458" y="4332"/>
                </a:lnTo>
                <a:lnTo>
                  <a:pt x="4455" y="4312"/>
                </a:lnTo>
                <a:lnTo>
                  <a:pt x="4453" y="4292"/>
                </a:lnTo>
                <a:lnTo>
                  <a:pt x="4452" y="4273"/>
                </a:lnTo>
                <a:lnTo>
                  <a:pt x="4449" y="4235"/>
                </a:lnTo>
                <a:lnTo>
                  <a:pt x="4450" y="4198"/>
                </a:lnTo>
                <a:lnTo>
                  <a:pt x="4453" y="4163"/>
                </a:lnTo>
                <a:lnTo>
                  <a:pt x="4457" y="4129"/>
                </a:lnTo>
                <a:lnTo>
                  <a:pt x="4463" y="4093"/>
                </a:lnTo>
                <a:lnTo>
                  <a:pt x="4471" y="4057"/>
                </a:lnTo>
                <a:lnTo>
                  <a:pt x="4480" y="4020"/>
                </a:lnTo>
                <a:lnTo>
                  <a:pt x="4490" y="3982"/>
                </a:lnTo>
                <a:lnTo>
                  <a:pt x="4502" y="3944"/>
                </a:lnTo>
                <a:lnTo>
                  <a:pt x="4516" y="3906"/>
                </a:lnTo>
                <a:lnTo>
                  <a:pt x="4529" y="3866"/>
                </a:lnTo>
                <a:lnTo>
                  <a:pt x="4545" y="3826"/>
                </a:lnTo>
                <a:lnTo>
                  <a:pt x="4577" y="3743"/>
                </a:lnTo>
                <a:lnTo>
                  <a:pt x="4612" y="3656"/>
                </a:lnTo>
                <a:lnTo>
                  <a:pt x="4648" y="3566"/>
                </a:lnTo>
                <a:lnTo>
                  <a:pt x="4684" y="3470"/>
                </a:lnTo>
                <a:lnTo>
                  <a:pt x="4702" y="3421"/>
                </a:lnTo>
                <a:lnTo>
                  <a:pt x="4720" y="3371"/>
                </a:lnTo>
                <a:lnTo>
                  <a:pt x="4737" y="3319"/>
                </a:lnTo>
                <a:lnTo>
                  <a:pt x="4754" y="3266"/>
                </a:lnTo>
                <a:lnTo>
                  <a:pt x="4769" y="3211"/>
                </a:lnTo>
                <a:lnTo>
                  <a:pt x="4785" y="3156"/>
                </a:lnTo>
                <a:lnTo>
                  <a:pt x="4800" y="3098"/>
                </a:lnTo>
                <a:lnTo>
                  <a:pt x="4812" y="3039"/>
                </a:lnTo>
                <a:lnTo>
                  <a:pt x="4825" y="2979"/>
                </a:lnTo>
                <a:lnTo>
                  <a:pt x="4836" y="2917"/>
                </a:lnTo>
                <a:lnTo>
                  <a:pt x="4846" y="2853"/>
                </a:lnTo>
                <a:lnTo>
                  <a:pt x="4854" y="2787"/>
                </a:lnTo>
                <a:lnTo>
                  <a:pt x="4861" y="2721"/>
                </a:lnTo>
                <a:lnTo>
                  <a:pt x="4865" y="2652"/>
                </a:lnTo>
                <a:lnTo>
                  <a:pt x="4869" y="2581"/>
                </a:lnTo>
                <a:lnTo>
                  <a:pt x="4870" y="2508"/>
                </a:lnTo>
              </a:path>
            </a:pathLst>
          </a:custGeom>
          <a:solidFill>
            <a:schemeClr val="accent1">
              <a:alpha val="100000"/>
            </a:schemeClr>
          </a:solidFill>
          <a:ln/>
        </p:spPr>
      </p:sp>
      <p:sp>
        <p:nvSpPr>
          <p:cNvPr id="12" name="Freeform 12"/>
          <p:cNvSpPr/>
          <p:nvPr/>
        </p:nvSpPr>
        <p:spPr>
          <a:xfrm>
            <a:off x="5321204" y="2113409"/>
            <a:ext cx="709613" cy="709803"/>
          </a:xfrm>
          <a:custGeom>
            <a:avLst/>
            <a:gdLst/>
            <a:ahLst/>
            <a:cxnLst/>
            <a:rect l="l" t="t" r="r" b="b"/>
            <a:pathLst>
              <a:path w="3576" h="3578">
                <a:moveTo>
                  <a:pt x="3576" y="1788"/>
                </a:moveTo>
                <a:lnTo>
                  <a:pt x="3574" y="1881"/>
                </a:lnTo>
                <a:lnTo>
                  <a:pt x="3567" y="1972"/>
                </a:lnTo>
                <a:lnTo>
                  <a:pt x="3556" y="2061"/>
                </a:lnTo>
                <a:lnTo>
                  <a:pt x="3540" y="2149"/>
                </a:lnTo>
                <a:lnTo>
                  <a:pt x="3520" y="2236"/>
                </a:lnTo>
                <a:lnTo>
                  <a:pt x="3496" y="2321"/>
                </a:lnTo>
                <a:lnTo>
                  <a:pt x="3468" y="2404"/>
                </a:lnTo>
                <a:lnTo>
                  <a:pt x="3435" y="2485"/>
                </a:lnTo>
                <a:lnTo>
                  <a:pt x="3400" y="2564"/>
                </a:lnTo>
                <a:lnTo>
                  <a:pt x="3361" y="2642"/>
                </a:lnTo>
                <a:lnTo>
                  <a:pt x="3317" y="2716"/>
                </a:lnTo>
                <a:lnTo>
                  <a:pt x="3270" y="2788"/>
                </a:lnTo>
                <a:lnTo>
                  <a:pt x="3221" y="2860"/>
                </a:lnTo>
                <a:lnTo>
                  <a:pt x="3168" y="2927"/>
                </a:lnTo>
                <a:lnTo>
                  <a:pt x="3112" y="2991"/>
                </a:lnTo>
                <a:lnTo>
                  <a:pt x="3052" y="3053"/>
                </a:lnTo>
                <a:lnTo>
                  <a:pt x="2990" y="3113"/>
                </a:lnTo>
                <a:lnTo>
                  <a:pt x="2926" y="3170"/>
                </a:lnTo>
                <a:lnTo>
                  <a:pt x="2858" y="3223"/>
                </a:lnTo>
                <a:lnTo>
                  <a:pt x="2788" y="3272"/>
                </a:lnTo>
                <a:lnTo>
                  <a:pt x="2715" y="3318"/>
                </a:lnTo>
                <a:lnTo>
                  <a:pt x="2641" y="3362"/>
                </a:lnTo>
                <a:lnTo>
                  <a:pt x="2563" y="3402"/>
                </a:lnTo>
                <a:lnTo>
                  <a:pt x="2484" y="3437"/>
                </a:lnTo>
                <a:lnTo>
                  <a:pt x="2403" y="3470"/>
                </a:lnTo>
                <a:lnTo>
                  <a:pt x="2319" y="3498"/>
                </a:lnTo>
                <a:lnTo>
                  <a:pt x="2235" y="3521"/>
                </a:lnTo>
                <a:lnTo>
                  <a:pt x="2148" y="3542"/>
                </a:lnTo>
                <a:lnTo>
                  <a:pt x="2060" y="3557"/>
                </a:lnTo>
                <a:lnTo>
                  <a:pt x="1971" y="3569"/>
                </a:lnTo>
                <a:lnTo>
                  <a:pt x="1880" y="3575"/>
                </a:lnTo>
                <a:lnTo>
                  <a:pt x="1787" y="3578"/>
                </a:lnTo>
                <a:lnTo>
                  <a:pt x="1696" y="3575"/>
                </a:lnTo>
                <a:lnTo>
                  <a:pt x="1605" y="3569"/>
                </a:lnTo>
                <a:lnTo>
                  <a:pt x="1516" y="3557"/>
                </a:lnTo>
                <a:lnTo>
                  <a:pt x="1428" y="3542"/>
                </a:lnTo>
                <a:lnTo>
                  <a:pt x="1341" y="3521"/>
                </a:lnTo>
                <a:lnTo>
                  <a:pt x="1257" y="3498"/>
                </a:lnTo>
                <a:lnTo>
                  <a:pt x="1173" y="3470"/>
                </a:lnTo>
                <a:lnTo>
                  <a:pt x="1092" y="3437"/>
                </a:lnTo>
                <a:lnTo>
                  <a:pt x="1013" y="3402"/>
                </a:lnTo>
                <a:lnTo>
                  <a:pt x="936" y="3362"/>
                </a:lnTo>
                <a:lnTo>
                  <a:pt x="861" y="3318"/>
                </a:lnTo>
                <a:lnTo>
                  <a:pt x="788" y="3272"/>
                </a:lnTo>
                <a:lnTo>
                  <a:pt x="718" y="3223"/>
                </a:lnTo>
                <a:lnTo>
                  <a:pt x="650" y="3170"/>
                </a:lnTo>
                <a:lnTo>
                  <a:pt x="586" y="3113"/>
                </a:lnTo>
                <a:lnTo>
                  <a:pt x="523" y="3053"/>
                </a:lnTo>
                <a:lnTo>
                  <a:pt x="465" y="2991"/>
                </a:lnTo>
                <a:lnTo>
                  <a:pt x="408" y="2927"/>
                </a:lnTo>
                <a:lnTo>
                  <a:pt x="355" y="2860"/>
                </a:lnTo>
                <a:lnTo>
                  <a:pt x="306" y="2788"/>
                </a:lnTo>
                <a:lnTo>
                  <a:pt x="258" y="2716"/>
                </a:lnTo>
                <a:lnTo>
                  <a:pt x="215" y="2642"/>
                </a:lnTo>
                <a:lnTo>
                  <a:pt x="176" y="2564"/>
                </a:lnTo>
                <a:lnTo>
                  <a:pt x="140" y="2485"/>
                </a:lnTo>
                <a:lnTo>
                  <a:pt x="108" y="2404"/>
                </a:lnTo>
                <a:lnTo>
                  <a:pt x="80" y="2321"/>
                </a:lnTo>
                <a:lnTo>
                  <a:pt x="57" y="2236"/>
                </a:lnTo>
                <a:lnTo>
                  <a:pt x="36" y="2149"/>
                </a:lnTo>
                <a:lnTo>
                  <a:pt x="21" y="2061"/>
                </a:lnTo>
                <a:lnTo>
                  <a:pt x="9" y="1972"/>
                </a:lnTo>
                <a:lnTo>
                  <a:pt x="2" y="1881"/>
                </a:lnTo>
                <a:lnTo>
                  <a:pt x="0" y="1788"/>
                </a:lnTo>
                <a:lnTo>
                  <a:pt x="2" y="1697"/>
                </a:lnTo>
                <a:lnTo>
                  <a:pt x="9" y="1606"/>
                </a:lnTo>
                <a:lnTo>
                  <a:pt x="21" y="1517"/>
                </a:lnTo>
                <a:lnTo>
                  <a:pt x="36" y="1429"/>
                </a:lnTo>
                <a:lnTo>
                  <a:pt x="57" y="1342"/>
                </a:lnTo>
                <a:lnTo>
                  <a:pt x="80" y="1256"/>
                </a:lnTo>
                <a:lnTo>
                  <a:pt x="108" y="1174"/>
                </a:lnTo>
                <a:lnTo>
                  <a:pt x="140" y="1093"/>
                </a:lnTo>
                <a:lnTo>
                  <a:pt x="176" y="1013"/>
                </a:lnTo>
                <a:lnTo>
                  <a:pt x="215" y="936"/>
                </a:lnTo>
                <a:lnTo>
                  <a:pt x="258" y="862"/>
                </a:lnTo>
                <a:lnTo>
                  <a:pt x="306" y="788"/>
                </a:lnTo>
                <a:lnTo>
                  <a:pt x="355" y="718"/>
                </a:lnTo>
                <a:lnTo>
                  <a:pt x="408" y="651"/>
                </a:lnTo>
                <a:lnTo>
                  <a:pt x="465" y="585"/>
                </a:lnTo>
                <a:lnTo>
                  <a:pt x="523" y="523"/>
                </a:lnTo>
                <a:lnTo>
                  <a:pt x="586" y="465"/>
                </a:lnTo>
                <a:lnTo>
                  <a:pt x="650" y="408"/>
                </a:lnTo>
                <a:lnTo>
                  <a:pt x="718" y="355"/>
                </a:lnTo>
                <a:lnTo>
                  <a:pt x="788" y="306"/>
                </a:lnTo>
                <a:lnTo>
                  <a:pt x="861" y="258"/>
                </a:lnTo>
                <a:lnTo>
                  <a:pt x="936" y="216"/>
                </a:lnTo>
                <a:lnTo>
                  <a:pt x="1013" y="176"/>
                </a:lnTo>
                <a:lnTo>
                  <a:pt x="1092" y="140"/>
                </a:lnTo>
                <a:lnTo>
                  <a:pt x="1173" y="108"/>
                </a:lnTo>
                <a:lnTo>
                  <a:pt x="1257" y="80"/>
                </a:lnTo>
                <a:lnTo>
                  <a:pt x="1341" y="57"/>
                </a:lnTo>
                <a:lnTo>
                  <a:pt x="1428" y="36"/>
                </a:lnTo>
                <a:lnTo>
                  <a:pt x="1516" y="20"/>
                </a:lnTo>
                <a:lnTo>
                  <a:pt x="1605" y="9"/>
                </a:lnTo>
                <a:lnTo>
                  <a:pt x="1696" y="2"/>
                </a:lnTo>
                <a:lnTo>
                  <a:pt x="1787" y="0"/>
                </a:lnTo>
                <a:lnTo>
                  <a:pt x="1880" y="2"/>
                </a:lnTo>
                <a:lnTo>
                  <a:pt x="1971" y="9"/>
                </a:lnTo>
                <a:lnTo>
                  <a:pt x="2060" y="20"/>
                </a:lnTo>
                <a:lnTo>
                  <a:pt x="2148" y="36"/>
                </a:lnTo>
                <a:lnTo>
                  <a:pt x="2235" y="57"/>
                </a:lnTo>
                <a:lnTo>
                  <a:pt x="2319" y="80"/>
                </a:lnTo>
                <a:lnTo>
                  <a:pt x="2403" y="108"/>
                </a:lnTo>
                <a:lnTo>
                  <a:pt x="2484" y="140"/>
                </a:lnTo>
                <a:lnTo>
                  <a:pt x="2563" y="176"/>
                </a:lnTo>
                <a:lnTo>
                  <a:pt x="2641" y="216"/>
                </a:lnTo>
                <a:lnTo>
                  <a:pt x="2715" y="258"/>
                </a:lnTo>
                <a:lnTo>
                  <a:pt x="2788" y="306"/>
                </a:lnTo>
                <a:lnTo>
                  <a:pt x="2858" y="355"/>
                </a:lnTo>
                <a:lnTo>
                  <a:pt x="2926" y="408"/>
                </a:lnTo>
                <a:lnTo>
                  <a:pt x="2990" y="465"/>
                </a:lnTo>
                <a:lnTo>
                  <a:pt x="3052" y="523"/>
                </a:lnTo>
                <a:lnTo>
                  <a:pt x="3112" y="585"/>
                </a:lnTo>
                <a:lnTo>
                  <a:pt x="3168" y="651"/>
                </a:lnTo>
                <a:lnTo>
                  <a:pt x="3221" y="718"/>
                </a:lnTo>
                <a:lnTo>
                  <a:pt x="3270" y="788"/>
                </a:lnTo>
                <a:lnTo>
                  <a:pt x="3317" y="862"/>
                </a:lnTo>
                <a:lnTo>
                  <a:pt x="3361" y="936"/>
                </a:lnTo>
                <a:lnTo>
                  <a:pt x="3400" y="1013"/>
                </a:lnTo>
                <a:lnTo>
                  <a:pt x="3435" y="1093"/>
                </a:lnTo>
                <a:lnTo>
                  <a:pt x="3468" y="1174"/>
                </a:lnTo>
                <a:lnTo>
                  <a:pt x="3496" y="1256"/>
                </a:lnTo>
                <a:lnTo>
                  <a:pt x="3520" y="1342"/>
                </a:lnTo>
                <a:lnTo>
                  <a:pt x="3540" y="1429"/>
                </a:lnTo>
                <a:lnTo>
                  <a:pt x="3556" y="1517"/>
                </a:lnTo>
                <a:lnTo>
                  <a:pt x="3567" y="1606"/>
                </a:lnTo>
                <a:lnTo>
                  <a:pt x="3574" y="1697"/>
                </a:lnTo>
                <a:lnTo>
                  <a:pt x="3576" y="1788"/>
                </a:lnTo>
              </a:path>
            </a:pathLst>
          </a:custGeom>
          <a:solidFill>
            <a:schemeClr val="lt1">
              <a:alpha val="100000"/>
            </a:schemeClr>
          </a:solidFill>
          <a:ln/>
        </p:spPr>
      </p:sp>
      <p:sp>
        <p:nvSpPr>
          <p:cNvPr id="13" name="Freeform 13"/>
          <p:cNvSpPr/>
          <p:nvPr/>
        </p:nvSpPr>
        <p:spPr>
          <a:xfrm>
            <a:off x="6116542" y="2881981"/>
            <a:ext cx="966788" cy="967073"/>
          </a:xfrm>
          <a:custGeom>
            <a:avLst/>
            <a:gdLst/>
            <a:ahLst/>
            <a:cxnLst/>
            <a:rect l="l" t="t" r="r" b="b"/>
            <a:pathLst>
              <a:path w="4869" h="4872">
                <a:moveTo>
                  <a:pt x="0" y="2508"/>
                </a:moveTo>
                <a:lnTo>
                  <a:pt x="1" y="2510"/>
                </a:lnTo>
                <a:lnTo>
                  <a:pt x="2" y="2512"/>
                </a:lnTo>
                <a:lnTo>
                  <a:pt x="2" y="2493"/>
                </a:lnTo>
                <a:lnTo>
                  <a:pt x="1" y="2474"/>
                </a:lnTo>
                <a:lnTo>
                  <a:pt x="0" y="2455"/>
                </a:lnTo>
                <a:lnTo>
                  <a:pt x="0" y="2436"/>
                </a:lnTo>
                <a:lnTo>
                  <a:pt x="3" y="2311"/>
                </a:lnTo>
                <a:lnTo>
                  <a:pt x="12" y="2187"/>
                </a:lnTo>
                <a:lnTo>
                  <a:pt x="28" y="2065"/>
                </a:lnTo>
                <a:lnTo>
                  <a:pt x="49" y="1945"/>
                </a:lnTo>
                <a:lnTo>
                  <a:pt x="76" y="1827"/>
                </a:lnTo>
                <a:lnTo>
                  <a:pt x="109" y="1712"/>
                </a:lnTo>
                <a:lnTo>
                  <a:pt x="147" y="1598"/>
                </a:lnTo>
                <a:lnTo>
                  <a:pt x="191" y="1488"/>
                </a:lnTo>
                <a:lnTo>
                  <a:pt x="240" y="1380"/>
                </a:lnTo>
                <a:lnTo>
                  <a:pt x="294" y="1276"/>
                </a:lnTo>
                <a:lnTo>
                  <a:pt x="352" y="1173"/>
                </a:lnTo>
                <a:lnTo>
                  <a:pt x="416" y="1074"/>
                </a:lnTo>
                <a:lnTo>
                  <a:pt x="484" y="979"/>
                </a:lnTo>
                <a:lnTo>
                  <a:pt x="556" y="887"/>
                </a:lnTo>
                <a:lnTo>
                  <a:pt x="633" y="799"/>
                </a:lnTo>
                <a:lnTo>
                  <a:pt x="713" y="714"/>
                </a:lnTo>
                <a:lnTo>
                  <a:pt x="798" y="633"/>
                </a:lnTo>
                <a:lnTo>
                  <a:pt x="887" y="556"/>
                </a:lnTo>
                <a:lnTo>
                  <a:pt x="978" y="484"/>
                </a:lnTo>
                <a:lnTo>
                  <a:pt x="1074" y="416"/>
                </a:lnTo>
                <a:lnTo>
                  <a:pt x="1172" y="353"/>
                </a:lnTo>
                <a:lnTo>
                  <a:pt x="1274" y="295"/>
                </a:lnTo>
                <a:lnTo>
                  <a:pt x="1379" y="241"/>
                </a:lnTo>
                <a:lnTo>
                  <a:pt x="1487" y="192"/>
                </a:lnTo>
                <a:lnTo>
                  <a:pt x="1598" y="148"/>
                </a:lnTo>
                <a:lnTo>
                  <a:pt x="1710" y="110"/>
                </a:lnTo>
                <a:lnTo>
                  <a:pt x="1826" y="77"/>
                </a:lnTo>
                <a:lnTo>
                  <a:pt x="1944" y="50"/>
                </a:lnTo>
                <a:lnTo>
                  <a:pt x="2064" y="29"/>
                </a:lnTo>
                <a:lnTo>
                  <a:pt x="2186" y="13"/>
                </a:lnTo>
                <a:lnTo>
                  <a:pt x="2310" y="4"/>
                </a:lnTo>
                <a:lnTo>
                  <a:pt x="2435" y="0"/>
                </a:lnTo>
                <a:lnTo>
                  <a:pt x="2560" y="4"/>
                </a:lnTo>
                <a:lnTo>
                  <a:pt x="2684" y="13"/>
                </a:lnTo>
                <a:lnTo>
                  <a:pt x="2806" y="29"/>
                </a:lnTo>
                <a:lnTo>
                  <a:pt x="2925" y="50"/>
                </a:lnTo>
                <a:lnTo>
                  <a:pt x="3043" y="77"/>
                </a:lnTo>
                <a:lnTo>
                  <a:pt x="3158" y="110"/>
                </a:lnTo>
                <a:lnTo>
                  <a:pt x="3271" y="148"/>
                </a:lnTo>
                <a:lnTo>
                  <a:pt x="3383" y="192"/>
                </a:lnTo>
                <a:lnTo>
                  <a:pt x="3490" y="241"/>
                </a:lnTo>
                <a:lnTo>
                  <a:pt x="3594" y="295"/>
                </a:lnTo>
                <a:lnTo>
                  <a:pt x="3697" y="353"/>
                </a:lnTo>
                <a:lnTo>
                  <a:pt x="3796" y="416"/>
                </a:lnTo>
                <a:lnTo>
                  <a:pt x="3891" y="484"/>
                </a:lnTo>
                <a:lnTo>
                  <a:pt x="3983" y="556"/>
                </a:lnTo>
                <a:lnTo>
                  <a:pt x="4071" y="633"/>
                </a:lnTo>
                <a:lnTo>
                  <a:pt x="4156" y="714"/>
                </a:lnTo>
                <a:lnTo>
                  <a:pt x="4237" y="799"/>
                </a:lnTo>
                <a:lnTo>
                  <a:pt x="4313" y="887"/>
                </a:lnTo>
                <a:lnTo>
                  <a:pt x="4386" y="979"/>
                </a:lnTo>
                <a:lnTo>
                  <a:pt x="4453" y="1074"/>
                </a:lnTo>
                <a:lnTo>
                  <a:pt x="4516" y="1173"/>
                </a:lnTo>
                <a:lnTo>
                  <a:pt x="4575" y="1276"/>
                </a:lnTo>
                <a:lnTo>
                  <a:pt x="4629" y="1380"/>
                </a:lnTo>
                <a:lnTo>
                  <a:pt x="4677" y="1488"/>
                </a:lnTo>
                <a:lnTo>
                  <a:pt x="4721" y="1598"/>
                </a:lnTo>
                <a:lnTo>
                  <a:pt x="4760" y="1712"/>
                </a:lnTo>
                <a:lnTo>
                  <a:pt x="4792" y="1827"/>
                </a:lnTo>
                <a:lnTo>
                  <a:pt x="4819" y="1945"/>
                </a:lnTo>
                <a:lnTo>
                  <a:pt x="4841" y="2065"/>
                </a:lnTo>
                <a:lnTo>
                  <a:pt x="4857" y="2187"/>
                </a:lnTo>
                <a:lnTo>
                  <a:pt x="4866" y="2311"/>
                </a:lnTo>
                <a:lnTo>
                  <a:pt x="4869" y="2436"/>
                </a:lnTo>
                <a:lnTo>
                  <a:pt x="4866" y="2561"/>
                </a:lnTo>
                <a:lnTo>
                  <a:pt x="4857" y="2685"/>
                </a:lnTo>
                <a:lnTo>
                  <a:pt x="4841" y="2807"/>
                </a:lnTo>
                <a:lnTo>
                  <a:pt x="4819" y="2927"/>
                </a:lnTo>
                <a:lnTo>
                  <a:pt x="4792" y="3045"/>
                </a:lnTo>
                <a:lnTo>
                  <a:pt x="4760" y="3161"/>
                </a:lnTo>
                <a:lnTo>
                  <a:pt x="4721" y="3274"/>
                </a:lnTo>
                <a:lnTo>
                  <a:pt x="4677" y="3384"/>
                </a:lnTo>
                <a:lnTo>
                  <a:pt x="4629" y="3492"/>
                </a:lnTo>
                <a:lnTo>
                  <a:pt x="4575" y="3597"/>
                </a:lnTo>
                <a:lnTo>
                  <a:pt x="4516" y="3699"/>
                </a:lnTo>
                <a:lnTo>
                  <a:pt x="4453" y="3798"/>
                </a:lnTo>
                <a:lnTo>
                  <a:pt x="4386" y="3894"/>
                </a:lnTo>
                <a:lnTo>
                  <a:pt x="4313" y="3985"/>
                </a:lnTo>
                <a:lnTo>
                  <a:pt x="4237" y="4074"/>
                </a:lnTo>
                <a:lnTo>
                  <a:pt x="4156" y="4159"/>
                </a:lnTo>
                <a:lnTo>
                  <a:pt x="4071" y="4239"/>
                </a:lnTo>
                <a:lnTo>
                  <a:pt x="3983" y="4315"/>
                </a:lnTo>
                <a:lnTo>
                  <a:pt x="3891" y="4388"/>
                </a:lnTo>
                <a:lnTo>
                  <a:pt x="3796" y="4456"/>
                </a:lnTo>
                <a:lnTo>
                  <a:pt x="3697" y="4519"/>
                </a:lnTo>
                <a:lnTo>
                  <a:pt x="3594" y="4578"/>
                </a:lnTo>
                <a:lnTo>
                  <a:pt x="3490" y="4631"/>
                </a:lnTo>
                <a:lnTo>
                  <a:pt x="3383" y="4681"/>
                </a:lnTo>
                <a:lnTo>
                  <a:pt x="3271" y="4724"/>
                </a:lnTo>
                <a:lnTo>
                  <a:pt x="3158" y="4762"/>
                </a:lnTo>
                <a:lnTo>
                  <a:pt x="3043" y="4796"/>
                </a:lnTo>
                <a:lnTo>
                  <a:pt x="2925" y="4823"/>
                </a:lnTo>
                <a:lnTo>
                  <a:pt x="2806" y="4844"/>
                </a:lnTo>
                <a:lnTo>
                  <a:pt x="2684" y="4859"/>
                </a:lnTo>
                <a:lnTo>
                  <a:pt x="2560" y="4869"/>
                </a:lnTo>
                <a:lnTo>
                  <a:pt x="2435" y="4872"/>
                </a:lnTo>
                <a:lnTo>
                  <a:pt x="2390" y="4871"/>
                </a:lnTo>
                <a:lnTo>
                  <a:pt x="2345" y="4870"/>
                </a:lnTo>
                <a:lnTo>
                  <a:pt x="2301" y="4868"/>
                </a:lnTo>
                <a:lnTo>
                  <a:pt x="2257" y="4866"/>
                </a:lnTo>
                <a:lnTo>
                  <a:pt x="2213" y="4862"/>
                </a:lnTo>
                <a:lnTo>
                  <a:pt x="2169" y="4858"/>
                </a:lnTo>
                <a:lnTo>
                  <a:pt x="2126" y="4853"/>
                </a:lnTo>
                <a:lnTo>
                  <a:pt x="2083" y="4848"/>
                </a:lnTo>
                <a:lnTo>
                  <a:pt x="2041" y="4841"/>
                </a:lnTo>
                <a:lnTo>
                  <a:pt x="1998" y="4833"/>
                </a:lnTo>
                <a:lnTo>
                  <a:pt x="1956" y="4825"/>
                </a:lnTo>
                <a:lnTo>
                  <a:pt x="1914" y="4817"/>
                </a:lnTo>
                <a:lnTo>
                  <a:pt x="1873" y="4807"/>
                </a:lnTo>
                <a:lnTo>
                  <a:pt x="1831" y="4797"/>
                </a:lnTo>
                <a:lnTo>
                  <a:pt x="1790" y="4786"/>
                </a:lnTo>
                <a:lnTo>
                  <a:pt x="1750" y="4774"/>
                </a:lnTo>
                <a:lnTo>
                  <a:pt x="1709" y="4762"/>
                </a:lnTo>
                <a:lnTo>
                  <a:pt x="1669" y="4748"/>
                </a:lnTo>
                <a:lnTo>
                  <a:pt x="1628" y="4735"/>
                </a:lnTo>
                <a:lnTo>
                  <a:pt x="1589" y="4720"/>
                </a:lnTo>
                <a:lnTo>
                  <a:pt x="1549" y="4704"/>
                </a:lnTo>
                <a:lnTo>
                  <a:pt x="1510" y="4689"/>
                </a:lnTo>
                <a:lnTo>
                  <a:pt x="1470" y="4672"/>
                </a:lnTo>
                <a:lnTo>
                  <a:pt x="1431" y="4655"/>
                </a:lnTo>
                <a:lnTo>
                  <a:pt x="1393" y="4637"/>
                </a:lnTo>
                <a:lnTo>
                  <a:pt x="1353" y="4618"/>
                </a:lnTo>
                <a:lnTo>
                  <a:pt x="1315" y="4597"/>
                </a:lnTo>
                <a:lnTo>
                  <a:pt x="1276" y="4577"/>
                </a:lnTo>
                <a:lnTo>
                  <a:pt x="1239" y="4557"/>
                </a:lnTo>
                <a:lnTo>
                  <a:pt x="1201" y="4535"/>
                </a:lnTo>
                <a:lnTo>
                  <a:pt x="1164" y="4513"/>
                </a:lnTo>
                <a:lnTo>
                  <a:pt x="1125" y="4489"/>
                </a:lnTo>
                <a:lnTo>
                  <a:pt x="1106" y="4478"/>
                </a:lnTo>
                <a:lnTo>
                  <a:pt x="1083" y="4463"/>
                </a:lnTo>
                <a:lnTo>
                  <a:pt x="1057" y="4447"/>
                </a:lnTo>
                <a:lnTo>
                  <a:pt x="1026" y="4428"/>
                </a:lnTo>
                <a:lnTo>
                  <a:pt x="1006" y="4416"/>
                </a:lnTo>
                <a:lnTo>
                  <a:pt x="986" y="4407"/>
                </a:lnTo>
                <a:lnTo>
                  <a:pt x="968" y="4401"/>
                </a:lnTo>
                <a:lnTo>
                  <a:pt x="950" y="4398"/>
                </a:lnTo>
                <a:lnTo>
                  <a:pt x="933" y="4397"/>
                </a:lnTo>
                <a:lnTo>
                  <a:pt x="917" y="4399"/>
                </a:lnTo>
                <a:lnTo>
                  <a:pt x="901" y="4402"/>
                </a:lnTo>
                <a:lnTo>
                  <a:pt x="887" y="4408"/>
                </a:lnTo>
                <a:lnTo>
                  <a:pt x="872" y="4416"/>
                </a:lnTo>
                <a:lnTo>
                  <a:pt x="856" y="4425"/>
                </a:lnTo>
                <a:lnTo>
                  <a:pt x="841" y="4436"/>
                </a:lnTo>
                <a:lnTo>
                  <a:pt x="826" y="4448"/>
                </a:lnTo>
                <a:lnTo>
                  <a:pt x="793" y="4475"/>
                </a:lnTo>
                <a:lnTo>
                  <a:pt x="756" y="4506"/>
                </a:lnTo>
                <a:lnTo>
                  <a:pt x="736" y="4522"/>
                </a:lnTo>
                <a:lnTo>
                  <a:pt x="714" y="4539"/>
                </a:lnTo>
                <a:lnTo>
                  <a:pt x="692" y="4554"/>
                </a:lnTo>
                <a:lnTo>
                  <a:pt x="667" y="4570"/>
                </a:lnTo>
                <a:lnTo>
                  <a:pt x="640" y="4586"/>
                </a:lnTo>
                <a:lnTo>
                  <a:pt x="612" y="4602"/>
                </a:lnTo>
                <a:lnTo>
                  <a:pt x="580" y="4616"/>
                </a:lnTo>
                <a:lnTo>
                  <a:pt x="547" y="4630"/>
                </a:lnTo>
                <a:lnTo>
                  <a:pt x="511" y="4642"/>
                </a:lnTo>
                <a:lnTo>
                  <a:pt x="472" y="4654"/>
                </a:lnTo>
                <a:lnTo>
                  <a:pt x="430" y="4664"/>
                </a:lnTo>
                <a:lnTo>
                  <a:pt x="386" y="4672"/>
                </a:lnTo>
                <a:lnTo>
                  <a:pt x="338" y="4678"/>
                </a:lnTo>
                <a:lnTo>
                  <a:pt x="286" y="4683"/>
                </a:lnTo>
                <a:lnTo>
                  <a:pt x="231" y="4686"/>
                </a:lnTo>
                <a:lnTo>
                  <a:pt x="172" y="4686"/>
                </a:lnTo>
                <a:lnTo>
                  <a:pt x="192" y="4675"/>
                </a:lnTo>
                <a:lnTo>
                  <a:pt x="213" y="4663"/>
                </a:lnTo>
                <a:lnTo>
                  <a:pt x="231" y="4649"/>
                </a:lnTo>
                <a:lnTo>
                  <a:pt x="249" y="4636"/>
                </a:lnTo>
                <a:lnTo>
                  <a:pt x="266" y="4621"/>
                </a:lnTo>
                <a:lnTo>
                  <a:pt x="280" y="4606"/>
                </a:lnTo>
                <a:lnTo>
                  <a:pt x="295" y="4590"/>
                </a:lnTo>
                <a:lnTo>
                  <a:pt x="310" y="4575"/>
                </a:lnTo>
                <a:lnTo>
                  <a:pt x="322" y="4558"/>
                </a:lnTo>
                <a:lnTo>
                  <a:pt x="333" y="4541"/>
                </a:lnTo>
                <a:lnTo>
                  <a:pt x="345" y="4523"/>
                </a:lnTo>
                <a:lnTo>
                  <a:pt x="355" y="4505"/>
                </a:lnTo>
                <a:lnTo>
                  <a:pt x="364" y="4487"/>
                </a:lnTo>
                <a:lnTo>
                  <a:pt x="373" y="4468"/>
                </a:lnTo>
                <a:lnTo>
                  <a:pt x="381" y="4448"/>
                </a:lnTo>
                <a:lnTo>
                  <a:pt x="387" y="4429"/>
                </a:lnTo>
                <a:lnTo>
                  <a:pt x="393" y="4410"/>
                </a:lnTo>
                <a:lnTo>
                  <a:pt x="399" y="4391"/>
                </a:lnTo>
                <a:lnTo>
                  <a:pt x="403" y="4371"/>
                </a:lnTo>
                <a:lnTo>
                  <a:pt x="408" y="4351"/>
                </a:lnTo>
                <a:lnTo>
                  <a:pt x="411" y="4332"/>
                </a:lnTo>
                <a:lnTo>
                  <a:pt x="414" y="4312"/>
                </a:lnTo>
                <a:lnTo>
                  <a:pt x="417" y="4293"/>
                </a:lnTo>
                <a:lnTo>
                  <a:pt x="418" y="4274"/>
                </a:lnTo>
                <a:lnTo>
                  <a:pt x="420" y="4235"/>
                </a:lnTo>
                <a:lnTo>
                  <a:pt x="419" y="4198"/>
                </a:lnTo>
                <a:lnTo>
                  <a:pt x="417" y="4163"/>
                </a:lnTo>
                <a:lnTo>
                  <a:pt x="413" y="4129"/>
                </a:lnTo>
                <a:lnTo>
                  <a:pt x="407" y="4093"/>
                </a:lnTo>
                <a:lnTo>
                  <a:pt x="399" y="4057"/>
                </a:lnTo>
                <a:lnTo>
                  <a:pt x="390" y="4020"/>
                </a:lnTo>
                <a:lnTo>
                  <a:pt x="379" y="3983"/>
                </a:lnTo>
                <a:lnTo>
                  <a:pt x="367" y="3944"/>
                </a:lnTo>
                <a:lnTo>
                  <a:pt x="354" y="3906"/>
                </a:lnTo>
                <a:lnTo>
                  <a:pt x="340" y="3867"/>
                </a:lnTo>
                <a:lnTo>
                  <a:pt x="324" y="3826"/>
                </a:lnTo>
                <a:lnTo>
                  <a:pt x="293" y="3744"/>
                </a:lnTo>
                <a:lnTo>
                  <a:pt x="258" y="3657"/>
                </a:lnTo>
                <a:lnTo>
                  <a:pt x="222" y="3567"/>
                </a:lnTo>
                <a:lnTo>
                  <a:pt x="186" y="3471"/>
                </a:lnTo>
                <a:lnTo>
                  <a:pt x="168" y="3421"/>
                </a:lnTo>
                <a:lnTo>
                  <a:pt x="150" y="3372"/>
                </a:lnTo>
                <a:lnTo>
                  <a:pt x="133" y="3320"/>
                </a:lnTo>
                <a:lnTo>
                  <a:pt x="116" y="3266"/>
                </a:lnTo>
                <a:lnTo>
                  <a:pt x="100" y="3212"/>
                </a:lnTo>
                <a:lnTo>
                  <a:pt x="84" y="3155"/>
                </a:lnTo>
                <a:lnTo>
                  <a:pt x="70" y="3099"/>
                </a:lnTo>
                <a:lnTo>
                  <a:pt x="57" y="3039"/>
                </a:lnTo>
                <a:lnTo>
                  <a:pt x="45" y="2979"/>
                </a:lnTo>
                <a:lnTo>
                  <a:pt x="34" y="2917"/>
                </a:lnTo>
                <a:lnTo>
                  <a:pt x="23" y="2853"/>
                </a:lnTo>
                <a:lnTo>
                  <a:pt x="15" y="2788"/>
                </a:lnTo>
                <a:lnTo>
                  <a:pt x="9" y="2721"/>
                </a:lnTo>
                <a:lnTo>
                  <a:pt x="4" y="2651"/>
                </a:lnTo>
                <a:lnTo>
                  <a:pt x="1" y="2581"/>
                </a:lnTo>
                <a:lnTo>
                  <a:pt x="0" y="2508"/>
                </a:lnTo>
              </a:path>
            </a:pathLst>
          </a:custGeom>
          <a:solidFill>
            <a:schemeClr val="accent1">
              <a:alpha val="100000"/>
            </a:schemeClr>
          </a:solidFill>
          <a:ln/>
        </p:spPr>
      </p:sp>
      <p:sp>
        <p:nvSpPr>
          <p:cNvPr id="14" name="Freeform 14"/>
          <p:cNvSpPr/>
          <p:nvPr/>
        </p:nvSpPr>
        <p:spPr>
          <a:xfrm>
            <a:off x="6245129" y="3010664"/>
            <a:ext cx="709613" cy="709803"/>
          </a:xfrm>
          <a:custGeom>
            <a:avLst/>
            <a:gdLst/>
            <a:ahLst/>
            <a:cxnLst/>
            <a:rect l="l" t="t" r="r" b="b"/>
            <a:pathLst>
              <a:path w="3575" h="3577">
                <a:moveTo>
                  <a:pt x="0" y="1788"/>
                </a:moveTo>
                <a:lnTo>
                  <a:pt x="2" y="1880"/>
                </a:lnTo>
                <a:lnTo>
                  <a:pt x="9" y="1972"/>
                </a:lnTo>
                <a:lnTo>
                  <a:pt x="20" y="2061"/>
                </a:lnTo>
                <a:lnTo>
                  <a:pt x="36" y="2149"/>
                </a:lnTo>
                <a:lnTo>
                  <a:pt x="56" y="2235"/>
                </a:lnTo>
                <a:lnTo>
                  <a:pt x="80" y="2320"/>
                </a:lnTo>
                <a:lnTo>
                  <a:pt x="108" y="2403"/>
                </a:lnTo>
                <a:lnTo>
                  <a:pt x="140" y="2485"/>
                </a:lnTo>
                <a:lnTo>
                  <a:pt x="175" y="2564"/>
                </a:lnTo>
                <a:lnTo>
                  <a:pt x="216" y="2641"/>
                </a:lnTo>
                <a:lnTo>
                  <a:pt x="259" y="2716"/>
                </a:lnTo>
                <a:lnTo>
                  <a:pt x="305" y="2788"/>
                </a:lnTo>
                <a:lnTo>
                  <a:pt x="355" y="2859"/>
                </a:lnTo>
                <a:lnTo>
                  <a:pt x="407" y="2927"/>
                </a:lnTo>
                <a:lnTo>
                  <a:pt x="464" y="2991"/>
                </a:lnTo>
                <a:lnTo>
                  <a:pt x="524" y="3053"/>
                </a:lnTo>
                <a:lnTo>
                  <a:pt x="586" y="3113"/>
                </a:lnTo>
                <a:lnTo>
                  <a:pt x="650" y="3169"/>
                </a:lnTo>
                <a:lnTo>
                  <a:pt x="717" y="3222"/>
                </a:lnTo>
                <a:lnTo>
                  <a:pt x="788" y="3272"/>
                </a:lnTo>
                <a:lnTo>
                  <a:pt x="860" y="3318"/>
                </a:lnTo>
                <a:lnTo>
                  <a:pt x="935" y="3361"/>
                </a:lnTo>
                <a:lnTo>
                  <a:pt x="1013" y="3400"/>
                </a:lnTo>
                <a:lnTo>
                  <a:pt x="1091" y="3436"/>
                </a:lnTo>
                <a:lnTo>
                  <a:pt x="1173" y="3469"/>
                </a:lnTo>
                <a:lnTo>
                  <a:pt x="1256" y="3497"/>
                </a:lnTo>
                <a:lnTo>
                  <a:pt x="1341" y="3521"/>
                </a:lnTo>
                <a:lnTo>
                  <a:pt x="1427" y="3541"/>
                </a:lnTo>
                <a:lnTo>
                  <a:pt x="1515" y="3557"/>
                </a:lnTo>
                <a:lnTo>
                  <a:pt x="1604" y="3568"/>
                </a:lnTo>
                <a:lnTo>
                  <a:pt x="1696" y="3575"/>
                </a:lnTo>
                <a:lnTo>
                  <a:pt x="1788" y="3577"/>
                </a:lnTo>
                <a:lnTo>
                  <a:pt x="1879" y="3575"/>
                </a:lnTo>
                <a:lnTo>
                  <a:pt x="1970" y="3568"/>
                </a:lnTo>
                <a:lnTo>
                  <a:pt x="2059" y="3557"/>
                </a:lnTo>
                <a:lnTo>
                  <a:pt x="2147" y="3541"/>
                </a:lnTo>
                <a:lnTo>
                  <a:pt x="2234" y="3521"/>
                </a:lnTo>
                <a:lnTo>
                  <a:pt x="2319" y="3497"/>
                </a:lnTo>
                <a:lnTo>
                  <a:pt x="2402" y="3469"/>
                </a:lnTo>
                <a:lnTo>
                  <a:pt x="2483" y="3436"/>
                </a:lnTo>
                <a:lnTo>
                  <a:pt x="2563" y="3400"/>
                </a:lnTo>
                <a:lnTo>
                  <a:pt x="2640" y="3361"/>
                </a:lnTo>
                <a:lnTo>
                  <a:pt x="2714" y="3318"/>
                </a:lnTo>
                <a:lnTo>
                  <a:pt x="2787" y="3272"/>
                </a:lnTo>
                <a:lnTo>
                  <a:pt x="2857" y="3222"/>
                </a:lnTo>
                <a:lnTo>
                  <a:pt x="2925" y="3169"/>
                </a:lnTo>
                <a:lnTo>
                  <a:pt x="2989" y="3113"/>
                </a:lnTo>
                <a:lnTo>
                  <a:pt x="3052" y="3053"/>
                </a:lnTo>
                <a:lnTo>
                  <a:pt x="3111" y="2991"/>
                </a:lnTo>
                <a:lnTo>
                  <a:pt x="3167" y="2927"/>
                </a:lnTo>
                <a:lnTo>
                  <a:pt x="3220" y="2859"/>
                </a:lnTo>
                <a:lnTo>
                  <a:pt x="3270" y="2788"/>
                </a:lnTo>
                <a:lnTo>
                  <a:pt x="3317" y="2716"/>
                </a:lnTo>
                <a:lnTo>
                  <a:pt x="3360" y="2641"/>
                </a:lnTo>
                <a:lnTo>
                  <a:pt x="3399" y="2564"/>
                </a:lnTo>
                <a:lnTo>
                  <a:pt x="3435" y="2485"/>
                </a:lnTo>
                <a:lnTo>
                  <a:pt x="3467" y="2403"/>
                </a:lnTo>
                <a:lnTo>
                  <a:pt x="3495" y="2320"/>
                </a:lnTo>
                <a:lnTo>
                  <a:pt x="3519" y="2235"/>
                </a:lnTo>
                <a:lnTo>
                  <a:pt x="3539" y="2149"/>
                </a:lnTo>
                <a:lnTo>
                  <a:pt x="3555" y="2061"/>
                </a:lnTo>
                <a:lnTo>
                  <a:pt x="3566" y="1972"/>
                </a:lnTo>
                <a:lnTo>
                  <a:pt x="3573" y="1880"/>
                </a:lnTo>
                <a:lnTo>
                  <a:pt x="3575" y="1788"/>
                </a:lnTo>
                <a:lnTo>
                  <a:pt x="3573" y="1696"/>
                </a:lnTo>
                <a:lnTo>
                  <a:pt x="3566" y="1605"/>
                </a:lnTo>
                <a:lnTo>
                  <a:pt x="3555" y="1516"/>
                </a:lnTo>
                <a:lnTo>
                  <a:pt x="3539" y="1427"/>
                </a:lnTo>
                <a:lnTo>
                  <a:pt x="3519" y="1341"/>
                </a:lnTo>
                <a:lnTo>
                  <a:pt x="3495" y="1256"/>
                </a:lnTo>
                <a:lnTo>
                  <a:pt x="3467" y="1173"/>
                </a:lnTo>
                <a:lnTo>
                  <a:pt x="3435" y="1092"/>
                </a:lnTo>
                <a:lnTo>
                  <a:pt x="3399" y="1012"/>
                </a:lnTo>
                <a:lnTo>
                  <a:pt x="3360" y="935"/>
                </a:lnTo>
                <a:lnTo>
                  <a:pt x="3317" y="861"/>
                </a:lnTo>
                <a:lnTo>
                  <a:pt x="3270" y="788"/>
                </a:lnTo>
                <a:lnTo>
                  <a:pt x="3220" y="718"/>
                </a:lnTo>
                <a:lnTo>
                  <a:pt x="3167" y="650"/>
                </a:lnTo>
                <a:lnTo>
                  <a:pt x="3111" y="585"/>
                </a:lnTo>
                <a:lnTo>
                  <a:pt x="3052" y="523"/>
                </a:lnTo>
                <a:lnTo>
                  <a:pt x="2989" y="464"/>
                </a:lnTo>
                <a:lnTo>
                  <a:pt x="2925" y="408"/>
                </a:lnTo>
                <a:lnTo>
                  <a:pt x="2857" y="355"/>
                </a:lnTo>
                <a:lnTo>
                  <a:pt x="2787" y="305"/>
                </a:lnTo>
                <a:lnTo>
                  <a:pt x="2714" y="258"/>
                </a:lnTo>
                <a:lnTo>
                  <a:pt x="2640" y="215"/>
                </a:lnTo>
                <a:lnTo>
                  <a:pt x="2563" y="175"/>
                </a:lnTo>
                <a:lnTo>
                  <a:pt x="2483" y="139"/>
                </a:lnTo>
                <a:lnTo>
                  <a:pt x="2402" y="108"/>
                </a:lnTo>
                <a:lnTo>
                  <a:pt x="2319" y="80"/>
                </a:lnTo>
                <a:lnTo>
                  <a:pt x="2234" y="56"/>
                </a:lnTo>
                <a:lnTo>
                  <a:pt x="2147" y="36"/>
                </a:lnTo>
                <a:lnTo>
                  <a:pt x="2059" y="20"/>
                </a:lnTo>
                <a:lnTo>
                  <a:pt x="1970" y="9"/>
                </a:lnTo>
                <a:lnTo>
                  <a:pt x="1879" y="2"/>
                </a:lnTo>
                <a:lnTo>
                  <a:pt x="1788" y="0"/>
                </a:lnTo>
                <a:lnTo>
                  <a:pt x="1696" y="2"/>
                </a:lnTo>
                <a:lnTo>
                  <a:pt x="1604" y="9"/>
                </a:lnTo>
                <a:lnTo>
                  <a:pt x="1515" y="20"/>
                </a:lnTo>
                <a:lnTo>
                  <a:pt x="1427" y="36"/>
                </a:lnTo>
                <a:lnTo>
                  <a:pt x="1341" y="56"/>
                </a:lnTo>
                <a:lnTo>
                  <a:pt x="1256" y="80"/>
                </a:lnTo>
                <a:lnTo>
                  <a:pt x="1173" y="108"/>
                </a:lnTo>
                <a:lnTo>
                  <a:pt x="1091" y="139"/>
                </a:lnTo>
                <a:lnTo>
                  <a:pt x="1013" y="175"/>
                </a:lnTo>
                <a:lnTo>
                  <a:pt x="935" y="215"/>
                </a:lnTo>
                <a:lnTo>
                  <a:pt x="860" y="258"/>
                </a:lnTo>
                <a:lnTo>
                  <a:pt x="788" y="305"/>
                </a:lnTo>
                <a:lnTo>
                  <a:pt x="717" y="355"/>
                </a:lnTo>
                <a:lnTo>
                  <a:pt x="650" y="408"/>
                </a:lnTo>
                <a:lnTo>
                  <a:pt x="586" y="464"/>
                </a:lnTo>
                <a:lnTo>
                  <a:pt x="524" y="523"/>
                </a:lnTo>
                <a:lnTo>
                  <a:pt x="464" y="585"/>
                </a:lnTo>
                <a:lnTo>
                  <a:pt x="407" y="650"/>
                </a:lnTo>
                <a:lnTo>
                  <a:pt x="355" y="718"/>
                </a:lnTo>
                <a:lnTo>
                  <a:pt x="305" y="788"/>
                </a:lnTo>
                <a:lnTo>
                  <a:pt x="259" y="861"/>
                </a:lnTo>
                <a:lnTo>
                  <a:pt x="216" y="935"/>
                </a:lnTo>
                <a:lnTo>
                  <a:pt x="175" y="1012"/>
                </a:lnTo>
                <a:lnTo>
                  <a:pt x="140" y="1092"/>
                </a:lnTo>
                <a:lnTo>
                  <a:pt x="108" y="1173"/>
                </a:lnTo>
                <a:lnTo>
                  <a:pt x="80" y="1256"/>
                </a:lnTo>
                <a:lnTo>
                  <a:pt x="56" y="1341"/>
                </a:lnTo>
                <a:lnTo>
                  <a:pt x="36" y="1427"/>
                </a:lnTo>
                <a:lnTo>
                  <a:pt x="20" y="1516"/>
                </a:lnTo>
                <a:lnTo>
                  <a:pt x="9" y="1605"/>
                </a:lnTo>
                <a:lnTo>
                  <a:pt x="2" y="1696"/>
                </a:lnTo>
                <a:lnTo>
                  <a:pt x="0" y="1788"/>
                </a:lnTo>
              </a:path>
            </a:pathLst>
          </a:custGeom>
          <a:solidFill>
            <a:schemeClr val="lt1">
              <a:alpha val="100000"/>
            </a:schemeClr>
          </a:solidFill>
          <a:ln w="19050">
            <a:solidFill>
              <a:schemeClr val="accent1">
                <a:alpha val="100000"/>
              </a:schemeClr>
            </a:solidFill>
            <a:prstDash val="solid"/>
          </a:ln>
        </p:spPr>
      </p:sp>
      <p:sp>
        <p:nvSpPr>
          <p:cNvPr id="15" name="Freeform 15"/>
          <p:cNvSpPr/>
          <p:nvPr/>
        </p:nvSpPr>
        <p:spPr>
          <a:xfrm>
            <a:off x="6043485" y="4598672"/>
            <a:ext cx="966788" cy="967073"/>
          </a:xfrm>
          <a:custGeom>
            <a:avLst/>
            <a:gdLst/>
            <a:ahLst/>
            <a:cxnLst/>
            <a:rect l="l" t="t" r="r" b="b"/>
            <a:pathLst>
              <a:path w="4869" h="4872">
                <a:moveTo>
                  <a:pt x="0" y="2509"/>
                </a:moveTo>
                <a:lnTo>
                  <a:pt x="1" y="2510"/>
                </a:lnTo>
                <a:lnTo>
                  <a:pt x="2" y="2512"/>
                </a:lnTo>
                <a:lnTo>
                  <a:pt x="1" y="2493"/>
                </a:lnTo>
                <a:lnTo>
                  <a:pt x="1" y="2474"/>
                </a:lnTo>
                <a:lnTo>
                  <a:pt x="0" y="2456"/>
                </a:lnTo>
                <a:lnTo>
                  <a:pt x="0" y="2437"/>
                </a:lnTo>
                <a:lnTo>
                  <a:pt x="3" y="2311"/>
                </a:lnTo>
                <a:lnTo>
                  <a:pt x="12" y="2187"/>
                </a:lnTo>
                <a:lnTo>
                  <a:pt x="28" y="2066"/>
                </a:lnTo>
                <a:lnTo>
                  <a:pt x="49" y="1945"/>
                </a:lnTo>
                <a:lnTo>
                  <a:pt x="76" y="1828"/>
                </a:lnTo>
                <a:lnTo>
                  <a:pt x="109" y="1712"/>
                </a:lnTo>
                <a:lnTo>
                  <a:pt x="147" y="1599"/>
                </a:lnTo>
                <a:lnTo>
                  <a:pt x="191" y="1488"/>
                </a:lnTo>
                <a:lnTo>
                  <a:pt x="240" y="1380"/>
                </a:lnTo>
                <a:lnTo>
                  <a:pt x="294" y="1275"/>
                </a:lnTo>
                <a:lnTo>
                  <a:pt x="353" y="1174"/>
                </a:lnTo>
                <a:lnTo>
                  <a:pt x="416" y="1075"/>
                </a:lnTo>
                <a:lnTo>
                  <a:pt x="483" y="979"/>
                </a:lnTo>
                <a:lnTo>
                  <a:pt x="555" y="887"/>
                </a:lnTo>
                <a:lnTo>
                  <a:pt x="632" y="798"/>
                </a:lnTo>
                <a:lnTo>
                  <a:pt x="713" y="714"/>
                </a:lnTo>
                <a:lnTo>
                  <a:pt x="798" y="634"/>
                </a:lnTo>
                <a:lnTo>
                  <a:pt x="886" y="557"/>
                </a:lnTo>
                <a:lnTo>
                  <a:pt x="978" y="485"/>
                </a:lnTo>
                <a:lnTo>
                  <a:pt x="1073" y="416"/>
                </a:lnTo>
                <a:lnTo>
                  <a:pt x="1172" y="353"/>
                </a:lnTo>
                <a:lnTo>
                  <a:pt x="1274" y="294"/>
                </a:lnTo>
                <a:lnTo>
                  <a:pt x="1379" y="240"/>
                </a:lnTo>
                <a:lnTo>
                  <a:pt x="1486" y="192"/>
                </a:lnTo>
                <a:lnTo>
                  <a:pt x="1598" y="148"/>
                </a:lnTo>
                <a:lnTo>
                  <a:pt x="1710" y="111"/>
                </a:lnTo>
                <a:lnTo>
                  <a:pt x="1825" y="77"/>
                </a:lnTo>
                <a:lnTo>
                  <a:pt x="1944" y="50"/>
                </a:lnTo>
                <a:lnTo>
                  <a:pt x="2063" y="28"/>
                </a:lnTo>
                <a:lnTo>
                  <a:pt x="2185" y="14"/>
                </a:lnTo>
                <a:lnTo>
                  <a:pt x="2309" y="3"/>
                </a:lnTo>
                <a:lnTo>
                  <a:pt x="2434" y="0"/>
                </a:lnTo>
                <a:lnTo>
                  <a:pt x="2559" y="3"/>
                </a:lnTo>
                <a:lnTo>
                  <a:pt x="2683" y="14"/>
                </a:lnTo>
                <a:lnTo>
                  <a:pt x="2805" y="28"/>
                </a:lnTo>
                <a:lnTo>
                  <a:pt x="2925" y="50"/>
                </a:lnTo>
                <a:lnTo>
                  <a:pt x="3042" y="77"/>
                </a:lnTo>
                <a:lnTo>
                  <a:pt x="3159" y="111"/>
                </a:lnTo>
                <a:lnTo>
                  <a:pt x="3271" y="148"/>
                </a:lnTo>
                <a:lnTo>
                  <a:pt x="3382" y="192"/>
                </a:lnTo>
                <a:lnTo>
                  <a:pt x="3490" y="240"/>
                </a:lnTo>
                <a:lnTo>
                  <a:pt x="3595" y="294"/>
                </a:lnTo>
                <a:lnTo>
                  <a:pt x="3697" y="353"/>
                </a:lnTo>
                <a:lnTo>
                  <a:pt x="3795" y="416"/>
                </a:lnTo>
                <a:lnTo>
                  <a:pt x="3891" y="485"/>
                </a:lnTo>
                <a:lnTo>
                  <a:pt x="3982" y="557"/>
                </a:lnTo>
                <a:lnTo>
                  <a:pt x="4071" y="634"/>
                </a:lnTo>
                <a:lnTo>
                  <a:pt x="4156" y="714"/>
                </a:lnTo>
                <a:lnTo>
                  <a:pt x="4236" y="798"/>
                </a:lnTo>
                <a:lnTo>
                  <a:pt x="4312" y="887"/>
                </a:lnTo>
                <a:lnTo>
                  <a:pt x="4385" y="979"/>
                </a:lnTo>
                <a:lnTo>
                  <a:pt x="4453" y="1075"/>
                </a:lnTo>
                <a:lnTo>
                  <a:pt x="4516" y="1174"/>
                </a:lnTo>
                <a:lnTo>
                  <a:pt x="4575" y="1275"/>
                </a:lnTo>
                <a:lnTo>
                  <a:pt x="4629" y="1380"/>
                </a:lnTo>
                <a:lnTo>
                  <a:pt x="4678" y="1488"/>
                </a:lnTo>
                <a:lnTo>
                  <a:pt x="4722" y="1599"/>
                </a:lnTo>
                <a:lnTo>
                  <a:pt x="4759" y="1712"/>
                </a:lnTo>
                <a:lnTo>
                  <a:pt x="4792" y="1828"/>
                </a:lnTo>
                <a:lnTo>
                  <a:pt x="4820" y="1945"/>
                </a:lnTo>
                <a:lnTo>
                  <a:pt x="4841" y="2066"/>
                </a:lnTo>
                <a:lnTo>
                  <a:pt x="4856" y="2187"/>
                </a:lnTo>
                <a:lnTo>
                  <a:pt x="4866" y="2311"/>
                </a:lnTo>
                <a:lnTo>
                  <a:pt x="4869" y="2437"/>
                </a:lnTo>
                <a:lnTo>
                  <a:pt x="4866" y="2562"/>
                </a:lnTo>
                <a:lnTo>
                  <a:pt x="4856" y="2686"/>
                </a:lnTo>
                <a:lnTo>
                  <a:pt x="4841" y="2808"/>
                </a:lnTo>
                <a:lnTo>
                  <a:pt x="4820" y="2927"/>
                </a:lnTo>
                <a:lnTo>
                  <a:pt x="4792" y="3045"/>
                </a:lnTo>
                <a:lnTo>
                  <a:pt x="4759" y="3160"/>
                </a:lnTo>
                <a:lnTo>
                  <a:pt x="4722" y="3274"/>
                </a:lnTo>
                <a:lnTo>
                  <a:pt x="4678" y="3385"/>
                </a:lnTo>
                <a:lnTo>
                  <a:pt x="4629" y="3492"/>
                </a:lnTo>
                <a:lnTo>
                  <a:pt x="4575" y="3597"/>
                </a:lnTo>
                <a:lnTo>
                  <a:pt x="4516" y="3699"/>
                </a:lnTo>
                <a:lnTo>
                  <a:pt x="4453" y="3799"/>
                </a:lnTo>
                <a:lnTo>
                  <a:pt x="4385" y="3893"/>
                </a:lnTo>
                <a:lnTo>
                  <a:pt x="4312" y="3986"/>
                </a:lnTo>
                <a:lnTo>
                  <a:pt x="4236" y="4074"/>
                </a:lnTo>
                <a:lnTo>
                  <a:pt x="4156" y="4158"/>
                </a:lnTo>
                <a:lnTo>
                  <a:pt x="4071" y="4239"/>
                </a:lnTo>
                <a:lnTo>
                  <a:pt x="3982" y="4316"/>
                </a:lnTo>
                <a:lnTo>
                  <a:pt x="3891" y="4388"/>
                </a:lnTo>
                <a:lnTo>
                  <a:pt x="3795" y="4456"/>
                </a:lnTo>
                <a:lnTo>
                  <a:pt x="3697" y="4519"/>
                </a:lnTo>
                <a:lnTo>
                  <a:pt x="3595" y="4578"/>
                </a:lnTo>
                <a:lnTo>
                  <a:pt x="3490" y="4632"/>
                </a:lnTo>
                <a:lnTo>
                  <a:pt x="3382" y="4680"/>
                </a:lnTo>
                <a:lnTo>
                  <a:pt x="3271" y="4724"/>
                </a:lnTo>
                <a:lnTo>
                  <a:pt x="3159" y="4763"/>
                </a:lnTo>
                <a:lnTo>
                  <a:pt x="3042" y="4795"/>
                </a:lnTo>
                <a:lnTo>
                  <a:pt x="2925" y="4822"/>
                </a:lnTo>
                <a:lnTo>
                  <a:pt x="2805" y="4844"/>
                </a:lnTo>
                <a:lnTo>
                  <a:pt x="2683" y="4860"/>
                </a:lnTo>
                <a:lnTo>
                  <a:pt x="2559" y="4869"/>
                </a:lnTo>
                <a:lnTo>
                  <a:pt x="2434" y="4872"/>
                </a:lnTo>
                <a:lnTo>
                  <a:pt x="2389" y="4872"/>
                </a:lnTo>
                <a:lnTo>
                  <a:pt x="2345" y="4871"/>
                </a:lnTo>
                <a:lnTo>
                  <a:pt x="2300" y="4869"/>
                </a:lnTo>
                <a:lnTo>
                  <a:pt x="2256" y="4866"/>
                </a:lnTo>
                <a:lnTo>
                  <a:pt x="2212" y="4862"/>
                </a:lnTo>
                <a:lnTo>
                  <a:pt x="2169" y="4858"/>
                </a:lnTo>
                <a:lnTo>
                  <a:pt x="2125" y="4853"/>
                </a:lnTo>
                <a:lnTo>
                  <a:pt x="2082" y="4847"/>
                </a:lnTo>
                <a:lnTo>
                  <a:pt x="2040" y="4840"/>
                </a:lnTo>
                <a:lnTo>
                  <a:pt x="1998" y="4834"/>
                </a:lnTo>
                <a:lnTo>
                  <a:pt x="1956" y="4826"/>
                </a:lnTo>
                <a:lnTo>
                  <a:pt x="1913" y="4817"/>
                </a:lnTo>
                <a:lnTo>
                  <a:pt x="1873" y="4808"/>
                </a:lnTo>
                <a:lnTo>
                  <a:pt x="1831" y="4798"/>
                </a:lnTo>
                <a:lnTo>
                  <a:pt x="1789" y="4786"/>
                </a:lnTo>
                <a:lnTo>
                  <a:pt x="1749" y="4774"/>
                </a:lnTo>
                <a:lnTo>
                  <a:pt x="1708" y="4762"/>
                </a:lnTo>
                <a:lnTo>
                  <a:pt x="1668" y="4749"/>
                </a:lnTo>
                <a:lnTo>
                  <a:pt x="1628" y="4734"/>
                </a:lnTo>
                <a:lnTo>
                  <a:pt x="1588" y="4720"/>
                </a:lnTo>
                <a:lnTo>
                  <a:pt x="1548" y="4705"/>
                </a:lnTo>
                <a:lnTo>
                  <a:pt x="1509" y="4689"/>
                </a:lnTo>
                <a:lnTo>
                  <a:pt x="1469" y="4672"/>
                </a:lnTo>
                <a:lnTo>
                  <a:pt x="1431" y="4654"/>
                </a:lnTo>
                <a:lnTo>
                  <a:pt x="1392" y="4636"/>
                </a:lnTo>
                <a:lnTo>
                  <a:pt x="1353" y="4617"/>
                </a:lnTo>
                <a:lnTo>
                  <a:pt x="1315" y="4598"/>
                </a:lnTo>
                <a:lnTo>
                  <a:pt x="1277" y="4578"/>
                </a:lnTo>
                <a:lnTo>
                  <a:pt x="1238" y="4556"/>
                </a:lnTo>
                <a:lnTo>
                  <a:pt x="1201" y="4535"/>
                </a:lnTo>
                <a:lnTo>
                  <a:pt x="1163" y="4512"/>
                </a:lnTo>
                <a:lnTo>
                  <a:pt x="1126" y="4490"/>
                </a:lnTo>
                <a:lnTo>
                  <a:pt x="1105" y="4477"/>
                </a:lnTo>
                <a:lnTo>
                  <a:pt x="1083" y="4464"/>
                </a:lnTo>
                <a:lnTo>
                  <a:pt x="1057" y="4447"/>
                </a:lnTo>
                <a:lnTo>
                  <a:pt x="1026" y="4428"/>
                </a:lnTo>
                <a:lnTo>
                  <a:pt x="1005" y="4416"/>
                </a:lnTo>
                <a:lnTo>
                  <a:pt x="986" y="4407"/>
                </a:lnTo>
                <a:lnTo>
                  <a:pt x="967" y="4401"/>
                </a:lnTo>
                <a:lnTo>
                  <a:pt x="950" y="4397"/>
                </a:lnTo>
                <a:lnTo>
                  <a:pt x="933" y="4397"/>
                </a:lnTo>
                <a:lnTo>
                  <a:pt x="917" y="4398"/>
                </a:lnTo>
                <a:lnTo>
                  <a:pt x="901" y="4403"/>
                </a:lnTo>
                <a:lnTo>
                  <a:pt x="887" y="4409"/>
                </a:lnTo>
                <a:lnTo>
                  <a:pt x="871" y="4416"/>
                </a:lnTo>
                <a:lnTo>
                  <a:pt x="856" y="4426"/>
                </a:lnTo>
                <a:lnTo>
                  <a:pt x="840" y="4436"/>
                </a:lnTo>
                <a:lnTo>
                  <a:pt x="825" y="4448"/>
                </a:lnTo>
                <a:lnTo>
                  <a:pt x="792" y="4476"/>
                </a:lnTo>
                <a:lnTo>
                  <a:pt x="756" y="4507"/>
                </a:lnTo>
                <a:lnTo>
                  <a:pt x="736" y="4522"/>
                </a:lnTo>
                <a:lnTo>
                  <a:pt x="714" y="4538"/>
                </a:lnTo>
                <a:lnTo>
                  <a:pt x="692" y="4554"/>
                </a:lnTo>
                <a:lnTo>
                  <a:pt x="667" y="4571"/>
                </a:lnTo>
                <a:lnTo>
                  <a:pt x="640" y="4587"/>
                </a:lnTo>
                <a:lnTo>
                  <a:pt x="612" y="4601"/>
                </a:lnTo>
                <a:lnTo>
                  <a:pt x="580" y="4616"/>
                </a:lnTo>
                <a:lnTo>
                  <a:pt x="546" y="4630"/>
                </a:lnTo>
                <a:lnTo>
                  <a:pt x="510" y="4642"/>
                </a:lnTo>
                <a:lnTo>
                  <a:pt x="472" y="4653"/>
                </a:lnTo>
                <a:lnTo>
                  <a:pt x="430" y="4663"/>
                </a:lnTo>
                <a:lnTo>
                  <a:pt x="385" y="4672"/>
                </a:lnTo>
                <a:lnTo>
                  <a:pt x="338" y="4679"/>
                </a:lnTo>
                <a:lnTo>
                  <a:pt x="286" y="4684"/>
                </a:lnTo>
                <a:lnTo>
                  <a:pt x="231" y="4686"/>
                </a:lnTo>
                <a:lnTo>
                  <a:pt x="172" y="4686"/>
                </a:lnTo>
                <a:lnTo>
                  <a:pt x="193" y="4675"/>
                </a:lnTo>
                <a:lnTo>
                  <a:pt x="212" y="4662"/>
                </a:lnTo>
                <a:lnTo>
                  <a:pt x="231" y="4650"/>
                </a:lnTo>
                <a:lnTo>
                  <a:pt x="249" y="4636"/>
                </a:lnTo>
                <a:lnTo>
                  <a:pt x="265" y="4622"/>
                </a:lnTo>
                <a:lnTo>
                  <a:pt x="280" y="4606"/>
                </a:lnTo>
                <a:lnTo>
                  <a:pt x="295" y="4591"/>
                </a:lnTo>
                <a:lnTo>
                  <a:pt x="309" y="4574"/>
                </a:lnTo>
                <a:lnTo>
                  <a:pt x="321" y="4557"/>
                </a:lnTo>
                <a:lnTo>
                  <a:pt x="333" y="4541"/>
                </a:lnTo>
                <a:lnTo>
                  <a:pt x="345" y="4522"/>
                </a:lnTo>
                <a:lnTo>
                  <a:pt x="355" y="4504"/>
                </a:lnTo>
                <a:lnTo>
                  <a:pt x="364" y="4486"/>
                </a:lnTo>
                <a:lnTo>
                  <a:pt x="373" y="4467"/>
                </a:lnTo>
                <a:lnTo>
                  <a:pt x="380" y="4449"/>
                </a:lnTo>
                <a:lnTo>
                  <a:pt x="386" y="4430"/>
                </a:lnTo>
                <a:lnTo>
                  <a:pt x="393" y="4410"/>
                </a:lnTo>
                <a:lnTo>
                  <a:pt x="399" y="4391"/>
                </a:lnTo>
                <a:lnTo>
                  <a:pt x="403" y="4371"/>
                </a:lnTo>
                <a:lnTo>
                  <a:pt x="408" y="4351"/>
                </a:lnTo>
                <a:lnTo>
                  <a:pt x="411" y="4332"/>
                </a:lnTo>
                <a:lnTo>
                  <a:pt x="413" y="4313"/>
                </a:lnTo>
                <a:lnTo>
                  <a:pt x="416" y="4292"/>
                </a:lnTo>
                <a:lnTo>
                  <a:pt x="418" y="4273"/>
                </a:lnTo>
                <a:lnTo>
                  <a:pt x="419" y="4235"/>
                </a:lnTo>
                <a:lnTo>
                  <a:pt x="419" y="4199"/>
                </a:lnTo>
                <a:lnTo>
                  <a:pt x="417" y="4163"/>
                </a:lnTo>
                <a:lnTo>
                  <a:pt x="412" y="4129"/>
                </a:lnTo>
                <a:lnTo>
                  <a:pt x="407" y="4093"/>
                </a:lnTo>
                <a:lnTo>
                  <a:pt x="399" y="4057"/>
                </a:lnTo>
                <a:lnTo>
                  <a:pt x="390" y="4021"/>
                </a:lnTo>
                <a:lnTo>
                  <a:pt x="378" y="3984"/>
                </a:lnTo>
                <a:lnTo>
                  <a:pt x="367" y="3945"/>
                </a:lnTo>
                <a:lnTo>
                  <a:pt x="354" y="3907"/>
                </a:lnTo>
                <a:lnTo>
                  <a:pt x="339" y="3867"/>
                </a:lnTo>
                <a:lnTo>
                  <a:pt x="324" y="3827"/>
                </a:lnTo>
                <a:lnTo>
                  <a:pt x="292" y="3743"/>
                </a:lnTo>
                <a:lnTo>
                  <a:pt x="258" y="3657"/>
                </a:lnTo>
                <a:lnTo>
                  <a:pt x="222" y="3566"/>
                </a:lnTo>
                <a:lnTo>
                  <a:pt x="186" y="3472"/>
                </a:lnTo>
                <a:lnTo>
                  <a:pt x="168" y="3422"/>
                </a:lnTo>
                <a:lnTo>
                  <a:pt x="150" y="3371"/>
                </a:lnTo>
                <a:lnTo>
                  <a:pt x="133" y="3319"/>
                </a:lnTo>
                <a:lnTo>
                  <a:pt x="116" y="3266"/>
                </a:lnTo>
                <a:lnTo>
                  <a:pt x="100" y="3212"/>
                </a:lnTo>
                <a:lnTo>
                  <a:pt x="84" y="3156"/>
                </a:lnTo>
                <a:lnTo>
                  <a:pt x="70" y="3098"/>
                </a:lnTo>
                <a:lnTo>
                  <a:pt x="56" y="3040"/>
                </a:lnTo>
                <a:lnTo>
                  <a:pt x="44" y="2979"/>
                </a:lnTo>
                <a:lnTo>
                  <a:pt x="33" y="2917"/>
                </a:lnTo>
                <a:lnTo>
                  <a:pt x="23" y="2854"/>
                </a:lnTo>
                <a:lnTo>
                  <a:pt x="16" y="2788"/>
                </a:lnTo>
                <a:lnTo>
                  <a:pt x="9" y="2721"/>
                </a:lnTo>
                <a:lnTo>
                  <a:pt x="4" y="2652"/>
                </a:lnTo>
                <a:lnTo>
                  <a:pt x="1" y="2581"/>
                </a:lnTo>
                <a:lnTo>
                  <a:pt x="0" y="2509"/>
                </a:lnTo>
              </a:path>
            </a:pathLst>
          </a:custGeom>
          <a:solidFill>
            <a:schemeClr val="accent1">
              <a:alpha val="100000"/>
            </a:schemeClr>
          </a:solidFill>
          <a:ln/>
        </p:spPr>
      </p:sp>
      <p:sp>
        <p:nvSpPr>
          <p:cNvPr id="16" name="Freeform 16"/>
          <p:cNvSpPr/>
          <p:nvPr/>
        </p:nvSpPr>
        <p:spPr>
          <a:xfrm>
            <a:off x="6172072" y="4727260"/>
            <a:ext cx="709613" cy="709803"/>
          </a:xfrm>
          <a:custGeom>
            <a:avLst/>
            <a:gdLst/>
            <a:ahLst/>
            <a:cxnLst/>
            <a:rect l="l" t="t" r="r" b="b"/>
            <a:pathLst>
              <a:path w="3575" h="3578">
                <a:moveTo>
                  <a:pt x="0" y="1790"/>
                </a:moveTo>
                <a:lnTo>
                  <a:pt x="2" y="1881"/>
                </a:lnTo>
                <a:lnTo>
                  <a:pt x="9" y="1972"/>
                </a:lnTo>
                <a:lnTo>
                  <a:pt x="20" y="2061"/>
                </a:lnTo>
                <a:lnTo>
                  <a:pt x="36" y="2150"/>
                </a:lnTo>
                <a:lnTo>
                  <a:pt x="56" y="2236"/>
                </a:lnTo>
                <a:lnTo>
                  <a:pt x="80" y="2322"/>
                </a:lnTo>
                <a:lnTo>
                  <a:pt x="108" y="2404"/>
                </a:lnTo>
                <a:lnTo>
                  <a:pt x="139" y="2485"/>
                </a:lnTo>
                <a:lnTo>
                  <a:pt x="175" y="2565"/>
                </a:lnTo>
                <a:lnTo>
                  <a:pt x="215" y="2642"/>
                </a:lnTo>
                <a:lnTo>
                  <a:pt x="258" y="2718"/>
                </a:lnTo>
                <a:lnTo>
                  <a:pt x="305" y="2790"/>
                </a:lnTo>
                <a:lnTo>
                  <a:pt x="355" y="2860"/>
                </a:lnTo>
                <a:lnTo>
                  <a:pt x="408" y="2927"/>
                </a:lnTo>
                <a:lnTo>
                  <a:pt x="464" y="2993"/>
                </a:lnTo>
                <a:lnTo>
                  <a:pt x="523" y="3055"/>
                </a:lnTo>
                <a:lnTo>
                  <a:pt x="585" y="3113"/>
                </a:lnTo>
                <a:lnTo>
                  <a:pt x="650" y="3170"/>
                </a:lnTo>
                <a:lnTo>
                  <a:pt x="717" y="3223"/>
                </a:lnTo>
                <a:lnTo>
                  <a:pt x="787" y="3272"/>
                </a:lnTo>
                <a:lnTo>
                  <a:pt x="861" y="3320"/>
                </a:lnTo>
                <a:lnTo>
                  <a:pt x="935" y="3362"/>
                </a:lnTo>
                <a:lnTo>
                  <a:pt x="1012" y="3402"/>
                </a:lnTo>
                <a:lnTo>
                  <a:pt x="1092" y="3438"/>
                </a:lnTo>
                <a:lnTo>
                  <a:pt x="1173" y="3470"/>
                </a:lnTo>
                <a:lnTo>
                  <a:pt x="1255" y="3498"/>
                </a:lnTo>
                <a:lnTo>
                  <a:pt x="1341" y="3521"/>
                </a:lnTo>
                <a:lnTo>
                  <a:pt x="1427" y="3542"/>
                </a:lnTo>
                <a:lnTo>
                  <a:pt x="1515" y="3558"/>
                </a:lnTo>
                <a:lnTo>
                  <a:pt x="1604" y="3569"/>
                </a:lnTo>
                <a:lnTo>
                  <a:pt x="1696" y="3576"/>
                </a:lnTo>
                <a:lnTo>
                  <a:pt x="1787" y="3578"/>
                </a:lnTo>
                <a:lnTo>
                  <a:pt x="1879" y="3576"/>
                </a:lnTo>
                <a:lnTo>
                  <a:pt x="1971" y="3569"/>
                </a:lnTo>
                <a:lnTo>
                  <a:pt x="2060" y="3558"/>
                </a:lnTo>
                <a:lnTo>
                  <a:pt x="2148" y="3542"/>
                </a:lnTo>
                <a:lnTo>
                  <a:pt x="2234" y="3521"/>
                </a:lnTo>
                <a:lnTo>
                  <a:pt x="2319" y="3498"/>
                </a:lnTo>
                <a:lnTo>
                  <a:pt x="2402" y="3470"/>
                </a:lnTo>
                <a:lnTo>
                  <a:pt x="2483" y="3438"/>
                </a:lnTo>
                <a:lnTo>
                  <a:pt x="2562" y="3402"/>
                </a:lnTo>
                <a:lnTo>
                  <a:pt x="2640" y="3362"/>
                </a:lnTo>
                <a:lnTo>
                  <a:pt x="2714" y="3320"/>
                </a:lnTo>
                <a:lnTo>
                  <a:pt x="2786" y="3272"/>
                </a:lnTo>
                <a:lnTo>
                  <a:pt x="2857" y="3223"/>
                </a:lnTo>
                <a:lnTo>
                  <a:pt x="2925" y="3170"/>
                </a:lnTo>
                <a:lnTo>
                  <a:pt x="2989" y="3113"/>
                </a:lnTo>
                <a:lnTo>
                  <a:pt x="3051" y="3055"/>
                </a:lnTo>
                <a:lnTo>
                  <a:pt x="3111" y="2993"/>
                </a:lnTo>
                <a:lnTo>
                  <a:pt x="3167" y="2927"/>
                </a:lnTo>
                <a:lnTo>
                  <a:pt x="3220" y="2860"/>
                </a:lnTo>
                <a:lnTo>
                  <a:pt x="3270" y="2790"/>
                </a:lnTo>
                <a:lnTo>
                  <a:pt x="3316" y="2718"/>
                </a:lnTo>
                <a:lnTo>
                  <a:pt x="3359" y="2642"/>
                </a:lnTo>
                <a:lnTo>
                  <a:pt x="3398" y="2565"/>
                </a:lnTo>
                <a:lnTo>
                  <a:pt x="3434" y="2485"/>
                </a:lnTo>
                <a:lnTo>
                  <a:pt x="3467" y="2404"/>
                </a:lnTo>
                <a:lnTo>
                  <a:pt x="3495" y="2322"/>
                </a:lnTo>
                <a:lnTo>
                  <a:pt x="3519" y="2236"/>
                </a:lnTo>
                <a:lnTo>
                  <a:pt x="3539" y="2150"/>
                </a:lnTo>
                <a:lnTo>
                  <a:pt x="3555" y="2061"/>
                </a:lnTo>
                <a:lnTo>
                  <a:pt x="3566" y="1972"/>
                </a:lnTo>
                <a:lnTo>
                  <a:pt x="3573" y="1881"/>
                </a:lnTo>
                <a:lnTo>
                  <a:pt x="3575" y="1790"/>
                </a:lnTo>
                <a:lnTo>
                  <a:pt x="3573" y="1697"/>
                </a:lnTo>
                <a:lnTo>
                  <a:pt x="3566" y="1607"/>
                </a:lnTo>
                <a:lnTo>
                  <a:pt x="3555" y="1517"/>
                </a:lnTo>
                <a:lnTo>
                  <a:pt x="3539" y="1429"/>
                </a:lnTo>
                <a:lnTo>
                  <a:pt x="3519" y="1342"/>
                </a:lnTo>
                <a:lnTo>
                  <a:pt x="3495" y="1257"/>
                </a:lnTo>
                <a:lnTo>
                  <a:pt x="3467" y="1174"/>
                </a:lnTo>
                <a:lnTo>
                  <a:pt x="3434" y="1093"/>
                </a:lnTo>
                <a:lnTo>
                  <a:pt x="3398" y="1014"/>
                </a:lnTo>
                <a:lnTo>
                  <a:pt x="3359" y="936"/>
                </a:lnTo>
                <a:lnTo>
                  <a:pt x="3316" y="862"/>
                </a:lnTo>
                <a:lnTo>
                  <a:pt x="3270" y="790"/>
                </a:lnTo>
                <a:lnTo>
                  <a:pt x="3220" y="718"/>
                </a:lnTo>
                <a:lnTo>
                  <a:pt x="3167" y="651"/>
                </a:lnTo>
                <a:lnTo>
                  <a:pt x="3111" y="587"/>
                </a:lnTo>
                <a:lnTo>
                  <a:pt x="3051" y="525"/>
                </a:lnTo>
                <a:lnTo>
                  <a:pt x="2989" y="465"/>
                </a:lnTo>
                <a:lnTo>
                  <a:pt x="2925" y="408"/>
                </a:lnTo>
                <a:lnTo>
                  <a:pt x="2857" y="355"/>
                </a:lnTo>
                <a:lnTo>
                  <a:pt x="2786" y="306"/>
                </a:lnTo>
                <a:lnTo>
                  <a:pt x="2714" y="260"/>
                </a:lnTo>
                <a:lnTo>
                  <a:pt x="2640" y="217"/>
                </a:lnTo>
                <a:lnTo>
                  <a:pt x="2562" y="177"/>
                </a:lnTo>
                <a:lnTo>
                  <a:pt x="2483" y="141"/>
                </a:lnTo>
                <a:lnTo>
                  <a:pt x="2402" y="108"/>
                </a:lnTo>
                <a:lnTo>
                  <a:pt x="2319" y="80"/>
                </a:lnTo>
                <a:lnTo>
                  <a:pt x="2234" y="57"/>
                </a:lnTo>
                <a:lnTo>
                  <a:pt x="2148" y="36"/>
                </a:lnTo>
                <a:lnTo>
                  <a:pt x="2060" y="21"/>
                </a:lnTo>
                <a:lnTo>
                  <a:pt x="1971" y="9"/>
                </a:lnTo>
                <a:lnTo>
                  <a:pt x="1879" y="3"/>
                </a:lnTo>
                <a:lnTo>
                  <a:pt x="1787" y="0"/>
                </a:lnTo>
                <a:lnTo>
                  <a:pt x="1696" y="3"/>
                </a:lnTo>
                <a:lnTo>
                  <a:pt x="1604" y="9"/>
                </a:lnTo>
                <a:lnTo>
                  <a:pt x="1515" y="21"/>
                </a:lnTo>
                <a:lnTo>
                  <a:pt x="1427" y="36"/>
                </a:lnTo>
                <a:lnTo>
                  <a:pt x="1341" y="57"/>
                </a:lnTo>
                <a:lnTo>
                  <a:pt x="1255" y="80"/>
                </a:lnTo>
                <a:lnTo>
                  <a:pt x="1173" y="108"/>
                </a:lnTo>
                <a:lnTo>
                  <a:pt x="1092" y="141"/>
                </a:lnTo>
                <a:lnTo>
                  <a:pt x="1012" y="177"/>
                </a:lnTo>
                <a:lnTo>
                  <a:pt x="935" y="217"/>
                </a:lnTo>
                <a:lnTo>
                  <a:pt x="861" y="260"/>
                </a:lnTo>
                <a:lnTo>
                  <a:pt x="787" y="306"/>
                </a:lnTo>
                <a:lnTo>
                  <a:pt x="717" y="355"/>
                </a:lnTo>
                <a:lnTo>
                  <a:pt x="650" y="408"/>
                </a:lnTo>
                <a:lnTo>
                  <a:pt x="585" y="465"/>
                </a:lnTo>
                <a:lnTo>
                  <a:pt x="523" y="525"/>
                </a:lnTo>
                <a:lnTo>
                  <a:pt x="464" y="587"/>
                </a:lnTo>
                <a:lnTo>
                  <a:pt x="408" y="651"/>
                </a:lnTo>
                <a:lnTo>
                  <a:pt x="355" y="718"/>
                </a:lnTo>
                <a:lnTo>
                  <a:pt x="305" y="790"/>
                </a:lnTo>
                <a:lnTo>
                  <a:pt x="258" y="862"/>
                </a:lnTo>
                <a:lnTo>
                  <a:pt x="215" y="936"/>
                </a:lnTo>
                <a:lnTo>
                  <a:pt x="175" y="1014"/>
                </a:lnTo>
                <a:lnTo>
                  <a:pt x="139" y="1093"/>
                </a:lnTo>
                <a:lnTo>
                  <a:pt x="108" y="1174"/>
                </a:lnTo>
                <a:lnTo>
                  <a:pt x="80" y="1257"/>
                </a:lnTo>
                <a:lnTo>
                  <a:pt x="56" y="1342"/>
                </a:lnTo>
                <a:lnTo>
                  <a:pt x="36" y="1429"/>
                </a:lnTo>
                <a:lnTo>
                  <a:pt x="20" y="1517"/>
                </a:lnTo>
                <a:lnTo>
                  <a:pt x="9" y="1607"/>
                </a:lnTo>
                <a:lnTo>
                  <a:pt x="2" y="1697"/>
                </a:lnTo>
                <a:lnTo>
                  <a:pt x="0" y="1790"/>
                </a:lnTo>
              </a:path>
            </a:pathLst>
          </a:custGeom>
          <a:solidFill>
            <a:schemeClr val="lt1">
              <a:alpha val="100000"/>
            </a:schemeClr>
          </a:solidFill>
          <a:ln w="19050">
            <a:solidFill>
              <a:schemeClr val="accent1">
                <a:alpha val="100000"/>
              </a:schemeClr>
            </a:solidFill>
            <a:prstDash val="solid"/>
          </a:ln>
        </p:spPr>
      </p:sp>
      <p:sp>
        <p:nvSpPr>
          <p:cNvPr id="17" name="Freeform 17"/>
          <p:cNvSpPr/>
          <p:nvPr/>
        </p:nvSpPr>
        <p:spPr>
          <a:xfrm>
            <a:off x="5146516" y="3660174"/>
            <a:ext cx="966788" cy="967073"/>
          </a:xfrm>
          <a:custGeom>
            <a:avLst/>
            <a:gdLst/>
            <a:ahLst/>
            <a:cxnLst/>
            <a:rect l="l" t="t" r="r" b="b"/>
            <a:pathLst>
              <a:path w="4869" h="4872">
                <a:moveTo>
                  <a:pt x="4869" y="2508"/>
                </a:moveTo>
                <a:lnTo>
                  <a:pt x="4868" y="2510"/>
                </a:lnTo>
                <a:lnTo>
                  <a:pt x="4867" y="2512"/>
                </a:lnTo>
                <a:lnTo>
                  <a:pt x="4867" y="2493"/>
                </a:lnTo>
                <a:lnTo>
                  <a:pt x="4868" y="2473"/>
                </a:lnTo>
                <a:lnTo>
                  <a:pt x="4869" y="2454"/>
                </a:lnTo>
                <a:lnTo>
                  <a:pt x="4869" y="2436"/>
                </a:lnTo>
                <a:lnTo>
                  <a:pt x="4866" y="2310"/>
                </a:lnTo>
                <a:lnTo>
                  <a:pt x="4857" y="2187"/>
                </a:lnTo>
                <a:lnTo>
                  <a:pt x="4841" y="2065"/>
                </a:lnTo>
                <a:lnTo>
                  <a:pt x="4820" y="1945"/>
                </a:lnTo>
                <a:lnTo>
                  <a:pt x="4793" y="1827"/>
                </a:lnTo>
                <a:lnTo>
                  <a:pt x="4760" y="1711"/>
                </a:lnTo>
                <a:lnTo>
                  <a:pt x="4722" y="1599"/>
                </a:lnTo>
                <a:lnTo>
                  <a:pt x="4678" y="1488"/>
                </a:lnTo>
                <a:lnTo>
                  <a:pt x="4629" y="1380"/>
                </a:lnTo>
                <a:lnTo>
                  <a:pt x="4575" y="1275"/>
                </a:lnTo>
                <a:lnTo>
                  <a:pt x="4517" y="1172"/>
                </a:lnTo>
                <a:lnTo>
                  <a:pt x="4453" y="1074"/>
                </a:lnTo>
                <a:lnTo>
                  <a:pt x="4385" y="978"/>
                </a:lnTo>
                <a:lnTo>
                  <a:pt x="4313" y="886"/>
                </a:lnTo>
                <a:lnTo>
                  <a:pt x="4236" y="798"/>
                </a:lnTo>
                <a:lnTo>
                  <a:pt x="4156" y="713"/>
                </a:lnTo>
                <a:lnTo>
                  <a:pt x="4071" y="632"/>
                </a:lnTo>
                <a:lnTo>
                  <a:pt x="3982" y="557"/>
                </a:lnTo>
                <a:lnTo>
                  <a:pt x="3891" y="483"/>
                </a:lnTo>
                <a:lnTo>
                  <a:pt x="3795" y="416"/>
                </a:lnTo>
                <a:lnTo>
                  <a:pt x="3697" y="353"/>
                </a:lnTo>
                <a:lnTo>
                  <a:pt x="3595" y="294"/>
                </a:lnTo>
                <a:lnTo>
                  <a:pt x="3490" y="240"/>
                </a:lnTo>
                <a:lnTo>
                  <a:pt x="3382" y="191"/>
                </a:lnTo>
                <a:lnTo>
                  <a:pt x="3271" y="147"/>
                </a:lnTo>
                <a:lnTo>
                  <a:pt x="3159" y="109"/>
                </a:lnTo>
                <a:lnTo>
                  <a:pt x="3043" y="76"/>
                </a:lnTo>
                <a:lnTo>
                  <a:pt x="2925" y="49"/>
                </a:lnTo>
                <a:lnTo>
                  <a:pt x="2805" y="28"/>
                </a:lnTo>
                <a:lnTo>
                  <a:pt x="2683" y="12"/>
                </a:lnTo>
                <a:lnTo>
                  <a:pt x="2559" y="3"/>
                </a:lnTo>
                <a:lnTo>
                  <a:pt x="2434" y="0"/>
                </a:lnTo>
                <a:lnTo>
                  <a:pt x="2309" y="3"/>
                </a:lnTo>
                <a:lnTo>
                  <a:pt x="2185" y="12"/>
                </a:lnTo>
                <a:lnTo>
                  <a:pt x="2063" y="28"/>
                </a:lnTo>
                <a:lnTo>
                  <a:pt x="1944" y="49"/>
                </a:lnTo>
                <a:lnTo>
                  <a:pt x="1826" y="76"/>
                </a:lnTo>
                <a:lnTo>
                  <a:pt x="1711" y="109"/>
                </a:lnTo>
                <a:lnTo>
                  <a:pt x="1598" y="147"/>
                </a:lnTo>
                <a:lnTo>
                  <a:pt x="1486" y="191"/>
                </a:lnTo>
                <a:lnTo>
                  <a:pt x="1379" y="240"/>
                </a:lnTo>
                <a:lnTo>
                  <a:pt x="1275" y="294"/>
                </a:lnTo>
                <a:lnTo>
                  <a:pt x="1172" y="353"/>
                </a:lnTo>
                <a:lnTo>
                  <a:pt x="1073" y="416"/>
                </a:lnTo>
                <a:lnTo>
                  <a:pt x="978" y="483"/>
                </a:lnTo>
                <a:lnTo>
                  <a:pt x="886" y="557"/>
                </a:lnTo>
                <a:lnTo>
                  <a:pt x="798" y="632"/>
                </a:lnTo>
                <a:lnTo>
                  <a:pt x="713" y="713"/>
                </a:lnTo>
                <a:lnTo>
                  <a:pt x="632" y="798"/>
                </a:lnTo>
                <a:lnTo>
                  <a:pt x="556" y="886"/>
                </a:lnTo>
                <a:lnTo>
                  <a:pt x="483" y="978"/>
                </a:lnTo>
                <a:lnTo>
                  <a:pt x="416" y="1074"/>
                </a:lnTo>
                <a:lnTo>
                  <a:pt x="353" y="1172"/>
                </a:lnTo>
                <a:lnTo>
                  <a:pt x="294" y="1275"/>
                </a:lnTo>
                <a:lnTo>
                  <a:pt x="240" y="1380"/>
                </a:lnTo>
                <a:lnTo>
                  <a:pt x="192" y="1488"/>
                </a:lnTo>
                <a:lnTo>
                  <a:pt x="148" y="1599"/>
                </a:lnTo>
                <a:lnTo>
                  <a:pt x="109" y="1711"/>
                </a:lnTo>
                <a:lnTo>
                  <a:pt x="77" y="1827"/>
                </a:lnTo>
                <a:lnTo>
                  <a:pt x="50" y="1945"/>
                </a:lnTo>
                <a:lnTo>
                  <a:pt x="28" y="2065"/>
                </a:lnTo>
                <a:lnTo>
                  <a:pt x="12" y="2187"/>
                </a:lnTo>
                <a:lnTo>
                  <a:pt x="3" y="2310"/>
                </a:lnTo>
                <a:lnTo>
                  <a:pt x="0" y="2436"/>
                </a:lnTo>
                <a:lnTo>
                  <a:pt x="3" y="2561"/>
                </a:lnTo>
                <a:lnTo>
                  <a:pt x="12" y="2684"/>
                </a:lnTo>
                <a:lnTo>
                  <a:pt x="28" y="2807"/>
                </a:lnTo>
                <a:lnTo>
                  <a:pt x="50" y="2927"/>
                </a:lnTo>
                <a:lnTo>
                  <a:pt x="77" y="3044"/>
                </a:lnTo>
                <a:lnTo>
                  <a:pt x="109" y="3160"/>
                </a:lnTo>
                <a:lnTo>
                  <a:pt x="148" y="3273"/>
                </a:lnTo>
                <a:lnTo>
                  <a:pt x="192" y="3383"/>
                </a:lnTo>
                <a:lnTo>
                  <a:pt x="240" y="3492"/>
                </a:lnTo>
                <a:lnTo>
                  <a:pt x="294" y="3596"/>
                </a:lnTo>
                <a:lnTo>
                  <a:pt x="353" y="3699"/>
                </a:lnTo>
                <a:lnTo>
                  <a:pt x="416" y="3797"/>
                </a:lnTo>
                <a:lnTo>
                  <a:pt x="483" y="3893"/>
                </a:lnTo>
                <a:lnTo>
                  <a:pt x="556" y="3985"/>
                </a:lnTo>
                <a:lnTo>
                  <a:pt x="632" y="4073"/>
                </a:lnTo>
                <a:lnTo>
                  <a:pt x="713" y="4158"/>
                </a:lnTo>
                <a:lnTo>
                  <a:pt x="798" y="4239"/>
                </a:lnTo>
                <a:lnTo>
                  <a:pt x="886" y="4316"/>
                </a:lnTo>
                <a:lnTo>
                  <a:pt x="978" y="4388"/>
                </a:lnTo>
                <a:lnTo>
                  <a:pt x="1073" y="4456"/>
                </a:lnTo>
                <a:lnTo>
                  <a:pt x="1172" y="4519"/>
                </a:lnTo>
                <a:lnTo>
                  <a:pt x="1275" y="4577"/>
                </a:lnTo>
                <a:lnTo>
                  <a:pt x="1379" y="4631"/>
                </a:lnTo>
                <a:lnTo>
                  <a:pt x="1486" y="4680"/>
                </a:lnTo>
                <a:lnTo>
                  <a:pt x="1598" y="4724"/>
                </a:lnTo>
                <a:lnTo>
                  <a:pt x="1711" y="4762"/>
                </a:lnTo>
                <a:lnTo>
                  <a:pt x="1826" y="4795"/>
                </a:lnTo>
                <a:lnTo>
                  <a:pt x="1944" y="4822"/>
                </a:lnTo>
                <a:lnTo>
                  <a:pt x="2063" y="4843"/>
                </a:lnTo>
                <a:lnTo>
                  <a:pt x="2185" y="4859"/>
                </a:lnTo>
                <a:lnTo>
                  <a:pt x="2309" y="4868"/>
                </a:lnTo>
                <a:lnTo>
                  <a:pt x="2434" y="4872"/>
                </a:lnTo>
                <a:lnTo>
                  <a:pt x="2479" y="4871"/>
                </a:lnTo>
                <a:lnTo>
                  <a:pt x="2524" y="4869"/>
                </a:lnTo>
                <a:lnTo>
                  <a:pt x="2568" y="4868"/>
                </a:lnTo>
                <a:lnTo>
                  <a:pt x="2612" y="4865"/>
                </a:lnTo>
                <a:lnTo>
                  <a:pt x="2656" y="4862"/>
                </a:lnTo>
                <a:lnTo>
                  <a:pt x="2700" y="4857"/>
                </a:lnTo>
                <a:lnTo>
                  <a:pt x="2743" y="4852"/>
                </a:lnTo>
                <a:lnTo>
                  <a:pt x="2786" y="4847"/>
                </a:lnTo>
                <a:lnTo>
                  <a:pt x="2828" y="4840"/>
                </a:lnTo>
                <a:lnTo>
                  <a:pt x="2871" y="4833"/>
                </a:lnTo>
                <a:lnTo>
                  <a:pt x="2913" y="4825"/>
                </a:lnTo>
                <a:lnTo>
                  <a:pt x="2955" y="4816"/>
                </a:lnTo>
                <a:lnTo>
                  <a:pt x="2996" y="4806"/>
                </a:lnTo>
                <a:lnTo>
                  <a:pt x="3038" y="4796"/>
                </a:lnTo>
                <a:lnTo>
                  <a:pt x="3079" y="4786"/>
                </a:lnTo>
                <a:lnTo>
                  <a:pt x="3119" y="4774"/>
                </a:lnTo>
                <a:lnTo>
                  <a:pt x="3160" y="4761"/>
                </a:lnTo>
                <a:lnTo>
                  <a:pt x="3200" y="4748"/>
                </a:lnTo>
                <a:lnTo>
                  <a:pt x="3241" y="4734"/>
                </a:lnTo>
                <a:lnTo>
                  <a:pt x="3280" y="4719"/>
                </a:lnTo>
                <a:lnTo>
                  <a:pt x="3320" y="4705"/>
                </a:lnTo>
                <a:lnTo>
                  <a:pt x="3359" y="4688"/>
                </a:lnTo>
                <a:lnTo>
                  <a:pt x="3399" y="4671"/>
                </a:lnTo>
                <a:lnTo>
                  <a:pt x="3438" y="4654"/>
                </a:lnTo>
                <a:lnTo>
                  <a:pt x="3476" y="4636"/>
                </a:lnTo>
                <a:lnTo>
                  <a:pt x="3516" y="4617"/>
                </a:lnTo>
                <a:lnTo>
                  <a:pt x="3554" y="4598"/>
                </a:lnTo>
                <a:lnTo>
                  <a:pt x="3593" y="4577"/>
                </a:lnTo>
                <a:lnTo>
                  <a:pt x="3630" y="4556"/>
                </a:lnTo>
                <a:lnTo>
                  <a:pt x="3668" y="4535"/>
                </a:lnTo>
                <a:lnTo>
                  <a:pt x="3705" y="4512"/>
                </a:lnTo>
                <a:lnTo>
                  <a:pt x="3744" y="4489"/>
                </a:lnTo>
                <a:lnTo>
                  <a:pt x="3763" y="4477"/>
                </a:lnTo>
                <a:lnTo>
                  <a:pt x="3786" y="4462"/>
                </a:lnTo>
                <a:lnTo>
                  <a:pt x="3812" y="4447"/>
                </a:lnTo>
                <a:lnTo>
                  <a:pt x="3843" y="4427"/>
                </a:lnTo>
                <a:lnTo>
                  <a:pt x="3863" y="4415"/>
                </a:lnTo>
                <a:lnTo>
                  <a:pt x="3883" y="4407"/>
                </a:lnTo>
                <a:lnTo>
                  <a:pt x="3901" y="4400"/>
                </a:lnTo>
                <a:lnTo>
                  <a:pt x="3919" y="4397"/>
                </a:lnTo>
                <a:lnTo>
                  <a:pt x="3936" y="4397"/>
                </a:lnTo>
                <a:lnTo>
                  <a:pt x="3952" y="4398"/>
                </a:lnTo>
                <a:lnTo>
                  <a:pt x="3968" y="4401"/>
                </a:lnTo>
                <a:lnTo>
                  <a:pt x="3982" y="4408"/>
                </a:lnTo>
                <a:lnTo>
                  <a:pt x="3997" y="4415"/>
                </a:lnTo>
                <a:lnTo>
                  <a:pt x="4013" y="4425"/>
                </a:lnTo>
                <a:lnTo>
                  <a:pt x="4028" y="4435"/>
                </a:lnTo>
                <a:lnTo>
                  <a:pt x="4043" y="4448"/>
                </a:lnTo>
                <a:lnTo>
                  <a:pt x="4076" y="4475"/>
                </a:lnTo>
                <a:lnTo>
                  <a:pt x="4113" y="4505"/>
                </a:lnTo>
                <a:lnTo>
                  <a:pt x="4133" y="4522"/>
                </a:lnTo>
                <a:lnTo>
                  <a:pt x="4155" y="4538"/>
                </a:lnTo>
                <a:lnTo>
                  <a:pt x="4177" y="4554"/>
                </a:lnTo>
                <a:lnTo>
                  <a:pt x="4202" y="4569"/>
                </a:lnTo>
                <a:lnTo>
                  <a:pt x="4229" y="4585"/>
                </a:lnTo>
                <a:lnTo>
                  <a:pt x="4257" y="4601"/>
                </a:lnTo>
                <a:lnTo>
                  <a:pt x="4289" y="4616"/>
                </a:lnTo>
                <a:lnTo>
                  <a:pt x="4322" y="4629"/>
                </a:lnTo>
                <a:lnTo>
                  <a:pt x="4358" y="4642"/>
                </a:lnTo>
                <a:lnTo>
                  <a:pt x="4397" y="4653"/>
                </a:lnTo>
                <a:lnTo>
                  <a:pt x="4439" y="4663"/>
                </a:lnTo>
                <a:lnTo>
                  <a:pt x="4483" y="4672"/>
                </a:lnTo>
                <a:lnTo>
                  <a:pt x="4531" y="4678"/>
                </a:lnTo>
                <a:lnTo>
                  <a:pt x="4583" y="4683"/>
                </a:lnTo>
                <a:lnTo>
                  <a:pt x="4638" y="4686"/>
                </a:lnTo>
                <a:lnTo>
                  <a:pt x="4697" y="4686"/>
                </a:lnTo>
                <a:lnTo>
                  <a:pt x="4677" y="4674"/>
                </a:lnTo>
                <a:lnTo>
                  <a:pt x="4656" y="4662"/>
                </a:lnTo>
                <a:lnTo>
                  <a:pt x="4638" y="4650"/>
                </a:lnTo>
                <a:lnTo>
                  <a:pt x="4620" y="4635"/>
                </a:lnTo>
                <a:lnTo>
                  <a:pt x="4603" y="4621"/>
                </a:lnTo>
                <a:lnTo>
                  <a:pt x="4589" y="4606"/>
                </a:lnTo>
                <a:lnTo>
                  <a:pt x="4574" y="4590"/>
                </a:lnTo>
                <a:lnTo>
                  <a:pt x="4559" y="4574"/>
                </a:lnTo>
                <a:lnTo>
                  <a:pt x="4547" y="4557"/>
                </a:lnTo>
                <a:lnTo>
                  <a:pt x="4536" y="4540"/>
                </a:lnTo>
                <a:lnTo>
                  <a:pt x="4524" y="4522"/>
                </a:lnTo>
                <a:lnTo>
                  <a:pt x="4514" y="4504"/>
                </a:lnTo>
                <a:lnTo>
                  <a:pt x="4505" y="4486"/>
                </a:lnTo>
                <a:lnTo>
                  <a:pt x="4496" y="4467"/>
                </a:lnTo>
                <a:lnTo>
                  <a:pt x="4488" y="4448"/>
                </a:lnTo>
                <a:lnTo>
                  <a:pt x="4482" y="4429"/>
                </a:lnTo>
                <a:lnTo>
                  <a:pt x="4476" y="4409"/>
                </a:lnTo>
                <a:lnTo>
                  <a:pt x="4470" y="4390"/>
                </a:lnTo>
                <a:lnTo>
                  <a:pt x="4466" y="4371"/>
                </a:lnTo>
                <a:lnTo>
                  <a:pt x="4461" y="4351"/>
                </a:lnTo>
                <a:lnTo>
                  <a:pt x="4458" y="4332"/>
                </a:lnTo>
                <a:lnTo>
                  <a:pt x="4455" y="4311"/>
                </a:lnTo>
                <a:lnTo>
                  <a:pt x="4452" y="4292"/>
                </a:lnTo>
                <a:lnTo>
                  <a:pt x="4451" y="4273"/>
                </a:lnTo>
                <a:lnTo>
                  <a:pt x="4449" y="4235"/>
                </a:lnTo>
                <a:lnTo>
                  <a:pt x="4450" y="4197"/>
                </a:lnTo>
                <a:lnTo>
                  <a:pt x="4452" y="4162"/>
                </a:lnTo>
                <a:lnTo>
                  <a:pt x="4456" y="4129"/>
                </a:lnTo>
                <a:lnTo>
                  <a:pt x="4462" y="4093"/>
                </a:lnTo>
                <a:lnTo>
                  <a:pt x="4470" y="4056"/>
                </a:lnTo>
                <a:lnTo>
                  <a:pt x="4479" y="4019"/>
                </a:lnTo>
                <a:lnTo>
                  <a:pt x="4490" y="3982"/>
                </a:lnTo>
                <a:lnTo>
                  <a:pt x="4502" y="3945"/>
                </a:lnTo>
                <a:lnTo>
                  <a:pt x="4515" y="3905"/>
                </a:lnTo>
                <a:lnTo>
                  <a:pt x="4529" y="3866"/>
                </a:lnTo>
                <a:lnTo>
                  <a:pt x="4545" y="3826"/>
                </a:lnTo>
                <a:lnTo>
                  <a:pt x="4576" y="3743"/>
                </a:lnTo>
                <a:lnTo>
                  <a:pt x="4611" y="3656"/>
                </a:lnTo>
                <a:lnTo>
                  <a:pt x="4647" y="3566"/>
                </a:lnTo>
                <a:lnTo>
                  <a:pt x="4683" y="3470"/>
                </a:lnTo>
                <a:lnTo>
                  <a:pt x="4701" y="3422"/>
                </a:lnTo>
                <a:lnTo>
                  <a:pt x="4719" y="3371"/>
                </a:lnTo>
                <a:lnTo>
                  <a:pt x="4736" y="3319"/>
                </a:lnTo>
                <a:lnTo>
                  <a:pt x="4753" y="3266"/>
                </a:lnTo>
                <a:lnTo>
                  <a:pt x="4769" y="3211"/>
                </a:lnTo>
                <a:lnTo>
                  <a:pt x="4785" y="3156"/>
                </a:lnTo>
                <a:lnTo>
                  <a:pt x="4799" y="3098"/>
                </a:lnTo>
                <a:lnTo>
                  <a:pt x="4812" y="3039"/>
                </a:lnTo>
                <a:lnTo>
                  <a:pt x="4824" y="2979"/>
                </a:lnTo>
                <a:lnTo>
                  <a:pt x="4835" y="2917"/>
                </a:lnTo>
                <a:lnTo>
                  <a:pt x="4846" y="2852"/>
                </a:lnTo>
                <a:lnTo>
                  <a:pt x="4854" y="2787"/>
                </a:lnTo>
                <a:lnTo>
                  <a:pt x="4860" y="2720"/>
                </a:lnTo>
                <a:lnTo>
                  <a:pt x="4865" y="2652"/>
                </a:lnTo>
                <a:lnTo>
                  <a:pt x="4868" y="2581"/>
                </a:lnTo>
                <a:lnTo>
                  <a:pt x="4869" y="2508"/>
                </a:lnTo>
              </a:path>
            </a:pathLst>
          </a:custGeom>
          <a:solidFill>
            <a:schemeClr val="accent1">
              <a:alpha val="100000"/>
            </a:schemeClr>
          </a:solidFill>
          <a:ln/>
        </p:spPr>
      </p:sp>
      <p:sp>
        <p:nvSpPr>
          <p:cNvPr id="18" name="Freeform 18"/>
          <p:cNvSpPr/>
          <p:nvPr/>
        </p:nvSpPr>
        <p:spPr>
          <a:xfrm>
            <a:off x="5275103" y="3788761"/>
            <a:ext cx="709613" cy="709803"/>
          </a:xfrm>
          <a:custGeom>
            <a:avLst/>
            <a:gdLst/>
            <a:ahLst/>
            <a:cxnLst/>
            <a:rect l="l" t="t" r="r" b="b"/>
            <a:pathLst>
              <a:path w="3575" h="3577">
                <a:moveTo>
                  <a:pt x="3575" y="1789"/>
                </a:moveTo>
                <a:lnTo>
                  <a:pt x="3573" y="1881"/>
                </a:lnTo>
                <a:lnTo>
                  <a:pt x="3566" y="1972"/>
                </a:lnTo>
                <a:lnTo>
                  <a:pt x="3555" y="2061"/>
                </a:lnTo>
                <a:lnTo>
                  <a:pt x="3539" y="2149"/>
                </a:lnTo>
                <a:lnTo>
                  <a:pt x="3519" y="2236"/>
                </a:lnTo>
                <a:lnTo>
                  <a:pt x="3495" y="2320"/>
                </a:lnTo>
                <a:lnTo>
                  <a:pt x="3467" y="2404"/>
                </a:lnTo>
                <a:lnTo>
                  <a:pt x="3435" y="2485"/>
                </a:lnTo>
                <a:lnTo>
                  <a:pt x="3400" y="2564"/>
                </a:lnTo>
                <a:lnTo>
                  <a:pt x="3359" y="2642"/>
                </a:lnTo>
                <a:lnTo>
                  <a:pt x="3316" y="2716"/>
                </a:lnTo>
                <a:lnTo>
                  <a:pt x="3270" y="2789"/>
                </a:lnTo>
                <a:lnTo>
                  <a:pt x="3220" y="2859"/>
                </a:lnTo>
                <a:lnTo>
                  <a:pt x="3168" y="2927"/>
                </a:lnTo>
                <a:lnTo>
                  <a:pt x="3111" y="2991"/>
                </a:lnTo>
                <a:lnTo>
                  <a:pt x="3051" y="3054"/>
                </a:lnTo>
                <a:lnTo>
                  <a:pt x="2989" y="3113"/>
                </a:lnTo>
                <a:lnTo>
                  <a:pt x="2925" y="3169"/>
                </a:lnTo>
                <a:lnTo>
                  <a:pt x="2858" y="3222"/>
                </a:lnTo>
                <a:lnTo>
                  <a:pt x="2787" y="3272"/>
                </a:lnTo>
                <a:lnTo>
                  <a:pt x="2715" y="3319"/>
                </a:lnTo>
                <a:lnTo>
                  <a:pt x="2640" y="3362"/>
                </a:lnTo>
                <a:lnTo>
                  <a:pt x="2562" y="3402"/>
                </a:lnTo>
                <a:lnTo>
                  <a:pt x="2484" y="3438"/>
                </a:lnTo>
                <a:lnTo>
                  <a:pt x="2402" y="3469"/>
                </a:lnTo>
                <a:lnTo>
                  <a:pt x="2319" y="3497"/>
                </a:lnTo>
                <a:lnTo>
                  <a:pt x="2234" y="3521"/>
                </a:lnTo>
                <a:lnTo>
                  <a:pt x="2148" y="3541"/>
                </a:lnTo>
                <a:lnTo>
                  <a:pt x="2060" y="3557"/>
                </a:lnTo>
                <a:lnTo>
                  <a:pt x="1971" y="3568"/>
                </a:lnTo>
                <a:lnTo>
                  <a:pt x="1879" y="3575"/>
                </a:lnTo>
                <a:lnTo>
                  <a:pt x="1787" y="3577"/>
                </a:lnTo>
                <a:lnTo>
                  <a:pt x="1696" y="3575"/>
                </a:lnTo>
                <a:lnTo>
                  <a:pt x="1605" y="3568"/>
                </a:lnTo>
                <a:lnTo>
                  <a:pt x="1516" y="3557"/>
                </a:lnTo>
                <a:lnTo>
                  <a:pt x="1428" y="3541"/>
                </a:lnTo>
                <a:lnTo>
                  <a:pt x="1341" y="3521"/>
                </a:lnTo>
                <a:lnTo>
                  <a:pt x="1256" y="3497"/>
                </a:lnTo>
                <a:lnTo>
                  <a:pt x="1173" y="3469"/>
                </a:lnTo>
                <a:lnTo>
                  <a:pt x="1092" y="3438"/>
                </a:lnTo>
                <a:lnTo>
                  <a:pt x="1012" y="3402"/>
                </a:lnTo>
                <a:lnTo>
                  <a:pt x="935" y="3362"/>
                </a:lnTo>
                <a:lnTo>
                  <a:pt x="861" y="3319"/>
                </a:lnTo>
                <a:lnTo>
                  <a:pt x="788" y="3272"/>
                </a:lnTo>
                <a:lnTo>
                  <a:pt x="718" y="3222"/>
                </a:lnTo>
                <a:lnTo>
                  <a:pt x="650" y="3169"/>
                </a:lnTo>
                <a:lnTo>
                  <a:pt x="586" y="3113"/>
                </a:lnTo>
                <a:lnTo>
                  <a:pt x="523" y="3054"/>
                </a:lnTo>
                <a:lnTo>
                  <a:pt x="464" y="2991"/>
                </a:lnTo>
                <a:lnTo>
                  <a:pt x="408" y="2927"/>
                </a:lnTo>
                <a:lnTo>
                  <a:pt x="355" y="2859"/>
                </a:lnTo>
                <a:lnTo>
                  <a:pt x="305" y="2789"/>
                </a:lnTo>
                <a:lnTo>
                  <a:pt x="258" y="2716"/>
                </a:lnTo>
                <a:lnTo>
                  <a:pt x="215" y="2642"/>
                </a:lnTo>
                <a:lnTo>
                  <a:pt x="176" y="2564"/>
                </a:lnTo>
                <a:lnTo>
                  <a:pt x="140" y="2485"/>
                </a:lnTo>
                <a:lnTo>
                  <a:pt x="108" y="2404"/>
                </a:lnTo>
                <a:lnTo>
                  <a:pt x="80" y="2320"/>
                </a:lnTo>
                <a:lnTo>
                  <a:pt x="56" y="2236"/>
                </a:lnTo>
                <a:lnTo>
                  <a:pt x="36" y="2149"/>
                </a:lnTo>
                <a:lnTo>
                  <a:pt x="20" y="2061"/>
                </a:lnTo>
                <a:lnTo>
                  <a:pt x="9" y="1972"/>
                </a:lnTo>
                <a:lnTo>
                  <a:pt x="2" y="1881"/>
                </a:lnTo>
                <a:lnTo>
                  <a:pt x="0" y="1789"/>
                </a:lnTo>
                <a:lnTo>
                  <a:pt x="2" y="1697"/>
                </a:lnTo>
                <a:lnTo>
                  <a:pt x="9" y="1605"/>
                </a:lnTo>
                <a:lnTo>
                  <a:pt x="20" y="1516"/>
                </a:lnTo>
                <a:lnTo>
                  <a:pt x="36" y="1428"/>
                </a:lnTo>
                <a:lnTo>
                  <a:pt x="56" y="1342"/>
                </a:lnTo>
                <a:lnTo>
                  <a:pt x="80" y="1257"/>
                </a:lnTo>
                <a:lnTo>
                  <a:pt x="108" y="1174"/>
                </a:lnTo>
                <a:lnTo>
                  <a:pt x="140" y="1092"/>
                </a:lnTo>
                <a:lnTo>
                  <a:pt x="176" y="1014"/>
                </a:lnTo>
                <a:lnTo>
                  <a:pt x="215" y="936"/>
                </a:lnTo>
                <a:lnTo>
                  <a:pt x="258" y="861"/>
                </a:lnTo>
                <a:lnTo>
                  <a:pt x="305" y="788"/>
                </a:lnTo>
                <a:lnTo>
                  <a:pt x="355" y="718"/>
                </a:lnTo>
                <a:lnTo>
                  <a:pt x="408" y="650"/>
                </a:lnTo>
                <a:lnTo>
                  <a:pt x="464" y="586"/>
                </a:lnTo>
                <a:lnTo>
                  <a:pt x="523" y="524"/>
                </a:lnTo>
                <a:lnTo>
                  <a:pt x="586" y="464"/>
                </a:lnTo>
                <a:lnTo>
                  <a:pt x="650" y="408"/>
                </a:lnTo>
                <a:lnTo>
                  <a:pt x="718" y="355"/>
                </a:lnTo>
                <a:lnTo>
                  <a:pt x="788" y="305"/>
                </a:lnTo>
                <a:lnTo>
                  <a:pt x="861" y="259"/>
                </a:lnTo>
                <a:lnTo>
                  <a:pt x="935" y="215"/>
                </a:lnTo>
                <a:lnTo>
                  <a:pt x="1012" y="176"/>
                </a:lnTo>
                <a:lnTo>
                  <a:pt x="1092" y="141"/>
                </a:lnTo>
                <a:lnTo>
                  <a:pt x="1173" y="108"/>
                </a:lnTo>
                <a:lnTo>
                  <a:pt x="1256" y="80"/>
                </a:lnTo>
                <a:lnTo>
                  <a:pt x="1341" y="56"/>
                </a:lnTo>
                <a:lnTo>
                  <a:pt x="1428" y="36"/>
                </a:lnTo>
                <a:lnTo>
                  <a:pt x="1516" y="20"/>
                </a:lnTo>
                <a:lnTo>
                  <a:pt x="1605" y="9"/>
                </a:lnTo>
                <a:lnTo>
                  <a:pt x="1696" y="2"/>
                </a:lnTo>
                <a:lnTo>
                  <a:pt x="1787" y="0"/>
                </a:lnTo>
                <a:lnTo>
                  <a:pt x="1879" y="2"/>
                </a:lnTo>
                <a:lnTo>
                  <a:pt x="1971" y="9"/>
                </a:lnTo>
                <a:lnTo>
                  <a:pt x="2060" y="20"/>
                </a:lnTo>
                <a:lnTo>
                  <a:pt x="2148" y="36"/>
                </a:lnTo>
                <a:lnTo>
                  <a:pt x="2234" y="56"/>
                </a:lnTo>
                <a:lnTo>
                  <a:pt x="2319" y="80"/>
                </a:lnTo>
                <a:lnTo>
                  <a:pt x="2402" y="108"/>
                </a:lnTo>
                <a:lnTo>
                  <a:pt x="2484" y="141"/>
                </a:lnTo>
                <a:lnTo>
                  <a:pt x="2562" y="176"/>
                </a:lnTo>
                <a:lnTo>
                  <a:pt x="2640" y="215"/>
                </a:lnTo>
                <a:lnTo>
                  <a:pt x="2715" y="259"/>
                </a:lnTo>
                <a:lnTo>
                  <a:pt x="2787" y="305"/>
                </a:lnTo>
                <a:lnTo>
                  <a:pt x="2858" y="355"/>
                </a:lnTo>
                <a:lnTo>
                  <a:pt x="2925" y="408"/>
                </a:lnTo>
                <a:lnTo>
                  <a:pt x="2989" y="464"/>
                </a:lnTo>
                <a:lnTo>
                  <a:pt x="3051" y="524"/>
                </a:lnTo>
                <a:lnTo>
                  <a:pt x="3111" y="586"/>
                </a:lnTo>
                <a:lnTo>
                  <a:pt x="3168" y="650"/>
                </a:lnTo>
                <a:lnTo>
                  <a:pt x="3220" y="718"/>
                </a:lnTo>
                <a:lnTo>
                  <a:pt x="3270" y="788"/>
                </a:lnTo>
                <a:lnTo>
                  <a:pt x="3316" y="861"/>
                </a:lnTo>
                <a:lnTo>
                  <a:pt x="3359" y="936"/>
                </a:lnTo>
                <a:lnTo>
                  <a:pt x="3400" y="1014"/>
                </a:lnTo>
                <a:lnTo>
                  <a:pt x="3435" y="1092"/>
                </a:lnTo>
                <a:lnTo>
                  <a:pt x="3467" y="1174"/>
                </a:lnTo>
                <a:lnTo>
                  <a:pt x="3495" y="1257"/>
                </a:lnTo>
                <a:lnTo>
                  <a:pt x="3519" y="1342"/>
                </a:lnTo>
                <a:lnTo>
                  <a:pt x="3539" y="1428"/>
                </a:lnTo>
                <a:lnTo>
                  <a:pt x="3555" y="1516"/>
                </a:lnTo>
                <a:lnTo>
                  <a:pt x="3566" y="1605"/>
                </a:lnTo>
                <a:lnTo>
                  <a:pt x="3573" y="1697"/>
                </a:lnTo>
                <a:lnTo>
                  <a:pt x="3575" y="1789"/>
                </a:lnTo>
              </a:path>
            </a:pathLst>
          </a:custGeom>
          <a:solidFill>
            <a:schemeClr val="lt1">
              <a:alpha val="100000"/>
            </a:schemeClr>
          </a:solidFill>
          <a:ln w="19050">
            <a:solidFill>
              <a:schemeClr val="accent1">
                <a:alpha val="100000"/>
              </a:schemeClr>
            </a:solidFill>
            <a:prstDash val="solid"/>
          </a:ln>
        </p:spPr>
      </p:sp>
      <p:sp>
        <p:nvSpPr>
          <p:cNvPr id="19" name="TextBox 19"/>
          <p:cNvSpPr txBox="1"/>
          <p:nvPr/>
        </p:nvSpPr>
        <p:spPr>
          <a:xfrm>
            <a:off x="5366020" y="2263016"/>
            <a:ext cx="582930" cy="424815"/>
          </a:xfrm>
          <a:prstGeom prst="rect">
            <a:avLst/>
          </a:prstGeom>
          <a:ln/>
        </p:spPr>
        <p:txBody>
          <a:bodyPr vert="horz" wrap="square" lIns="91440" tIns="45720" rIns="91440" bIns="45720" rtlCol="0" anchor="ctr" anchorCtr="1">
            <a:normAutofit/>
          </a:bodyPr>
          <a:lstStyle/>
          <a:p>
            <a:pPr algn="ctr">
              <a:lnSpc>
                <a:spcPct val="100000"/>
              </a:lnSpc>
              <a:spcBef>
                <a:spcPts val="375"/>
              </a:spcBef>
            </a:pPr>
            <a:r>
              <a:rPr lang="en-US" sz="1950">
                <a:solidFill>
                  <a:schemeClr val="accent1">
                    <a:alpha val="100000"/>
                  </a:schemeClr>
                </a:solidFill>
                <a:latin typeface="Noto Sans SC"/>
                <a:ea typeface="Noto Sans SC"/>
                <a:cs typeface="Noto Sans SC"/>
              </a:rPr>
              <a:t>01</a:t>
            </a:r>
          </a:p>
        </p:txBody>
      </p:sp>
      <p:sp>
        <p:nvSpPr>
          <p:cNvPr id="20" name="TextBox 20"/>
          <p:cNvSpPr txBox="1"/>
          <p:nvPr/>
        </p:nvSpPr>
        <p:spPr>
          <a:xfrm>
            <a:off x="6299470" y="3158366"/>
            <a:ext cx="582930" cy="424815"/>
          </a:xfrm>
          <a:prstGeom prst="rect">
            <a:avLst/>
          </a:prstGeom>
          <a:ln/>
        </p:spPr>
        <p:txBody>
          <a:bodyPr vert="horz" wrap="square" lIns="91440" tIns="45720" rIns="91440" bIns="45720" rtlCol="0" anchor="ctr" anchorCtr="1">
            <a:normAutofit/>
          </a:bodyPr>
          <a:lstStyle/>
          <a:p>
            <a:pPr algn="ctr">
              <a:lnSpc>
                <a:spcPct val="100000"/>
              </a:lnSpc>
              <a:spcBef>
                <a:spcPts val="375"/>
              </a:spcBef>
            </a:pPr>
            <a:r>
              <a:rPr lang="en-US" sz="1950">
                <a:solidFill>
                  <a:schemeClr val="accent1">
                    <a:alpha val="100000"/>
                  </a:schemeClr>
                </a:solidFill>
                <a:latin typeface="Noto Sans SC"/>
                <a:ea typeface="Noto Sans SC"/>
                <a:cs typeface="Noto Sans SC"/>
              </a:rPr>
              <a:t>02</a:t>
            </a:r>
          </a:p>
        </p:txBody>
      </p:sp>
      <p:sp>
        <p:nvSpPr>
          <p:cNvPr id="21" name="TextBox 21"/>
          <p:cNvSpPr txBox="1"/>
          <p:nvPr/>
        </p:nvSpPr>
        <p:spPr>
          <a:xfrm>
            <a:off x="5318395" y="3948941"/>
            <a:ext cx="582930" cy="424815"/>
          </a:xfrm>
          <a:prstGeom prst="rect">
            <a:avLst/>
          </a:prstGeom>
          <a:ln/>
        </p:spPr>
        <p:txBody>
          <a:bodyPr vert="horz" wrap="square" lIns="91440" tIns="45720" rIns="91440" bIns="45720" rtlCol="0" anchor="ctr" anchorCtr="1">
            <a:normAutofit/>
          </a:bodyPr>
          <a:lstStyle/>
          <a:p>
            <a:pPr algn="ctr">
              <a:lnSpc>
                <a:spcPct val="100000"/>
              </a:lnSpc>
              <a:spcBef>
                <a:spcPts val="375"/>
              </a:spcBef>
            </a:pPr>
            <a:r>
              <a:rPr lang="en-US" sz="1950">
                <a:solidFill>
                  <a:schemeClr val="accent1">
                    <a:alpha val="100000"/>
                  </a:schemeClr>
                </a:solidFill>
                <a:latin typeface="Noto Sans SC"/>
                <a:ea typeface="Noto Sans SC"/>
                <a:cs typeface="Noto Sans SC"/>
              </a:rPr>
              <a:t>03</a:t>
            </a:r>
          </a:p>
        </p:txBody>
      </p:sp>
      <p:sp>
        <p:nvSpPr>
          <p:cNvPr id="22" name="TextBox 22"/>
          <p:cNvSpPr txBox="1"/>
          <p:nvPr/>
        </p:nvSpPr>
        <p:spPr>
          <a:xfrm>
            <a:off x="6223270" y="4882391"/>
            <a:ext cx="582930" cy="424815"/>
          </a:xfrm>
          <a:prstGeom prst="rect">
            <a:avLst/>
          </a:prstGeom>
          <a:ln/>
        </p:spPr>
        <p:txBody>
          <a:bodyPr vert="horz" wrap="square" lIns="91440" tIns="45720" rIns="91440" bIns="45720" rtlCol="0" anchor="ctr" anchorCtr="1">
            <a:normAutofit/>
          </a:bodyPr>
          <a:lstStyle/>
          <a:p>
            <a:pPr algn="ctr">
              <a:lnSpc>
                <a:spcPct val="100000"/>
              </a:lnSpc>
              <a:spcBef>
                <a:spcPts val="375"/>
              </a:spcBef>
            </a:pPr>
            <a:r>
              <a:rPr lang="en-US" sz="1950">
                <a:solidFill>
                  <a:schemeClr val="accent1">
                    <a:alpha val="100000"/>
                  </a:schemeClr>
                </a:solidFill>
                <a:latin typeface="Noto Sans SC"/>
                <a:ea typeface="Noto Sans SC"/>
                <a:cs typeface="Noto Sans SC"/>
              </a:rPr>
              <a:t>04</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546039" y="1389220"/>
            <a:ext cx="4171701" cy="2379487"/>
          </a:xfrm>
          <a:prstGeom prst="roundRect">
            <a:avLst>
              <a:gd name="adj" fmla="val 7377"/>
            </a:avLst>
          </a:prstGeom>
          <a:solidFill>
            <a:schemeClr val="lt2">
              <a:alpha val="100000"/>
            </a:schemeClr>
          </a:solidFill>
          <a:ln/>
        </p:spPr>
      </p:sp>
      <p:sp>
        <p:nvSpPr>
          <p:cNvPr id="3" name="TextBox 3"/>
          <p:cNvSpPr txBox="1"/>
          <p:nvPr/>
        </p:nvSpPr>
        <p:spPr>
          <a:xfrm>
            <a:off x="822139" y="1830441"/>
            <a:ext cx="3158271" cy="490334"/>
          </a:xfrm>
          <a:prstGeom prst="rect">
            <a:avLst/>
          </a:prstGeom>
          <a:ln/>
        </p:spPr>
        <p:txBody>
          <a:bodyPr vert="horz" wrap="square" lIns="0" tIns="0" rIns="0" bIns="0" rtlCol="0" anchor="ctr" anchorCtr="0">
            <a:noAutofit/>
          </a:bodyPr>
          <a:lstStyle/>
          <a:p>
            <a:pPr algn="l">
              <a:lnSpc>
                <a:spcPct val="120000"/>
              </a:lnSpc>
            </a:pPr>
            <a:r>
              <a:rPr lang="en-US" sz="2400" b="1">
                <a:solidFill>
                  <a:schemeClr val="accent1">
                    <a:alpha val="100000"/>
                  </a:schemeClr>
                </a:solidFill>
                <a:latin typeface="Noto Sans SC"/>
                <a:ea typeface="Noto Sans SC"/>
                <a:cs typeface="Noto Sans SC"/>
              </a:rPr>
              <a:t>早期编程</a:t>
            </a:r>
          </a:p>
        </p:txBody>
      </p:sp>
      <p:sp>
        <p:nvSpPr>
          <p:cNvPr id="4" name="TextBox 4"/>
          <p:cNvSpPr txBox="1"/>
          <p:nvPr/>
        </p:nvSpPr>
        <p:spPr>
          <a:xfrm>
            <a:off x="822139" y="2482476"/>
            <a:ext cx="3619500" cy="976931"/>
          </a:xfrm>
          <a:prstGeom prst="rect">
            <a:avLst/>
          </a:prstGeom>
          <a:ln/>
        </p:spPr>
        <p:txBody>
          <a:bodyPr vert="horz" wrap="square" lIns="0" tIns="0" rIns="0" bIns="0" rtlCol="0" anchor="t" anchorCtr="0">
            <a:noAutofit/>
          </a:bodyPr>
          <a:lstStyle/>
          <a:p>
            <a:pPr algn="l">
              <a:lnSpc>
                <a:spcPct val="140000"/>
              </a:lnSpc>
            </a:pPr>
            <a:r>
              <a:rPr lang="en-US" sz="1350">
                <a:solidFill>
                  <a:schemeClr val="dk1">
                    <a:alpha val="100000"/>
                  </a:schemeClr>
                </a:solidFill>
                <a:latin typeface="Noto Sans SC"/>
                <a:ea typeface="Noto Sans SC"/>
                <a:cs typeface="Noto Sans SC"/>
              </a:rPr>
              <a:t>早期的编程范式主要是面向过程，程序被分解为一系列函数和步骤，强调流程控制和线性执行。</a:t>
            </a:r>
          </a:p>
        </p:txBody>
      </p:sp>
      <p:sp>
        <p:nvSpPr>
          <p:cNvPr id="5" name="TextBox 5"/>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Noto Sans SC"/>
                <a:ea typeface="Noto Sans SC"/>
                <a:cs typeface="Noto Sans SC"/>
              </a:rPr>
              <a:t>程序设计范式演变</a:t>
            </a:r>
          </a:p>
        </p:txBody>
      </p:sp>
      <p:sp>
        <p:nvSpPr>
          <p:cNvPr id="6" name="TextBox 6"/>
          <p:cNvSpPr txBox="1"/>
          <p:nvPr/>
        </p:nvSpPr>
        <p:spPr>
          <a:xfrm>
            <a:off x="3672579" y="1510049"/>
            <a:ext cx="854271" cy="490334"/>
          </a:xfrm>
          <a:prstGeom prst="rect">
            <a:avLst/>
          </a:prstGeom>
          <a:ln/>
        </p:spPr>
        <p:txBody>
          <a:bodyPr vert="horz" wrap="square" lIns="0" tIns="0" rIns="0" bIns="0" rtlCol="0" anchor="ctr" anchorCtr="0">
            <a:noAutofit/>
          </a:bodyPr>
          <a:lstStyle/>
          <a:p>
            <a:pPr algn="r">
              <a:lnSpc>
                <a:spcPct val="120000"/>
              </a:lnSpc>
            </a:pPr>
            <a:r>
              <a:rPr lang="en-US" sz="2400" b="1">
                <a:solidFill>
                  <a:schemeClr val="accent1">
                    <a:alpha val="100000"/>
                  </a:schemeClr>
                </a:solidFill>
                <a:latin typeface="Noto Sans SC"/>
                <a:ea typeface="Noto Sans SC"/>
                <a:cs typeface="Noto Sans SC"/>
              </a:rPr>
              <a:t>01</a:t>
            </a:r>
          </a:p>
        </p:txBody>
      </p:sp>
      <p:sp>
        <p:nvSpPr>
          <p:cNvPr id="7" name="AutoShape 7"/>
          <p:cNvSpPr/>
          <p:nvPr/>
        </p:nvSpPr>
        <p:spPr>
          <a:xfrm>
            <a:off x="5590622" y="1399137"/>
            <a:ext cx="4171701" cy="2379487"/>
          </a:xfrm>
          <a:prstGeom prst="roundRect">
            <a:avLst>
              <a:gd name="adj" fmla="val 7377"/>
            </a:avLst>
          </a:prstGeom>
          <a:solidFill>
            <a:schemeClr val="lt2">
              <a:alpha val="100000"/>
            </a:schemeClr>
          </a:solidFill>
          <a:ln/>
        </p:spPr>
      </p:sp>
      <p:sp>
        <p:nvSpPr>
          <p:cNvPr id="8" name="TextBox 8"/>
          <p:cNvSpPr txBox="1"/>
          <p:nvPr/>
        </p:nvSpPr>
        <p:spPr>
          <a:xfrm>
            <a:off x="5866723" y="1840357"/>
            <a:ext cx="3158271" cy="490334"/>
          </a:xfrm>
          <a:prstGeom prst="rect">
            <a:avLst/>
          </a:prstGeom>
          <a:ln/>
        </p:spPr>
        <p:txBody>
          <a:bodyPr vert="horz" wrap="square" lIns="0" tIns="0" rIns="0" bIns="0" rtlCol="0" anchor="ctr" anchorCtr="0">
            <a:noAutofit/>
          </a:bodyPr>
          <a:lstStyle/>
          <a:p>
            <a:pPr algn="l">
              <a:lnSpc>
                <a:spcPct val="120000"/>
              </a:lnSpc>
            </a:pPr>
            <a:r>
              <a:rPr lang="en-US" sz="2400" b="1">
                <a:solidFill>
                  <a:schemeClr val="accent1">
                    <a:alpha val="100000"/>
                  </a:schemeClr>
                </a:solidFill>
                <a:latin typeface="Noto Sans SC"/>
                <a:ea typeface="Noto Sans SC"/>
                <a:cs typeface="Noto Sans SC"/>
              </a:rPr>
              <a:t>对象兴起</a:t>
            </a:r>
          </a:p>
        </p:txBody>
      </p:sp>
      <p:sp>
        <p:nvSpPr>
          <p:cNvPr id="9" name="TextBox 9"/>
          <p:cNvSpPr txBox="1"/>
          <p:nvPr/>
        </p:nvSpPr>
        <p:spPr>
          <a:xfrm>
            <a:off x="5866723" y="2492393"/>
            <a:ext cx="3619500" cy="976931"/>
          </a:xfrm>
          <a:prstGeom prst="rect">
            <a:avLst/>
          </a:prstGeom>
          <a:ln/>
        </p:spPr>
        <p:txBody>
          <a:bodyPr vert="horz" wrap="square" lIns="0" tIns="0" rIns="0" bIns="0" rtlCol="0" anchor="t" anchorCtr="0">
            <a:noAutofit/>
          </a:bodyPr>
          <a:lstStyle/>
          <a:p>
            <a:pPr algn="l">
              <a:lnSpc>
                <a:spcPct val="140000"/>
              </a:lnSpc>
            </a:pPr>
            <a:r>
              <a:rPr lang="en-US" sz="1350">
                <a:solidFill>
                  <a:schemeClr val="dk1">
                    <a:alpha val="100000"/>
                  </a:schemeClr>
                </a:solidFill>
                <a:latin typeface="Noto Sans SC"/>
                <a:ea typeface="Noto Sans SC"/>
                <a:cs typeface="Noto Sans SC"/>
              </a:rPr>
              <a:t>随着软件复杂性的增加，面向对象编程逐渐兴起，通过对象和类的概念，提供了更高的抽象和模块化能力。</a:t>
            </a:r>
          </a:p>
        </p:txBody>
      </p:sp>
      <p:sp>
        <p:nvSpPr>
          <p:cNvPr id="10" name="TextBox 10"/>
          <p:cNvSpPr txBox="1"/>
          <p:nvPr/>
        </p:nvSpPr>
        <p:spPr>
          <a:xfrm>
            <a:off x="8717162" y="1519966"/>
            <a:ext cx="854271" cy="490334"/>
          </a:xfrm>
          <a:prstGeom prst="rect">
            <a:avLst/>
          </a:prstGeom>
          <a:ln/>
        </p:spPr>
        <p:txBody>
          <a:bodyPr vert="horz" wrap="square" lIns="0" tIns="0" rIns="0" bIns="0" rtlCol="0" anchor="ctr" anchorCtr="0">
            <a:noAutofit/>
          </a:bodyPr>
          <a:lstStyle/>
          <a:p>
            <a:pPr algn="r">
              <a:lnSpc>
                <a:spcPct val="120000"/>
              </a:lnSpc>
            </a:pPr>
            <a:r>
              <a:rPr lang="en-US" sz="2400" b="1">
                <a:solidFill>
                  <a:schemeClr val="accent1">
                    <a:alpha val="100000"/>
                  </a:schemeClr>
                </a:solidFill>
                <a:latin typeface="Noto Sans SC"/>
                <a:ea typeface="Noto Sans SC"/>
                <a:cs typeface="Noto Sans SC"/>
              </a:rPr>
              <a:t>02</a:t>
            </a:r>
          </a:p>
        </p:txBody>
      </p:sp>
      <p:sp>
        <p:nvSpPr>
          <p:cNvPr id="11" name="AutoShape 11"/>
          <p:cNvSpPr/>
          <p:nvPr/>
        </p:nvSpPr>
        <p:spPr>
          <a:xfrm>
            <a:off x="2518622" y="4065804"/>
            <a:ext cx="4171701" cy="2379487"/>
          </a:xfrm>
          <a:prstGeom prst="roundRect">
            <a:avLst>
              <a:gd name="adj" fmla="val 7377"/>
            </a:avLst>
          </a:prstGeom>
          <a:solidFill>
            <a:schemeClr val="lt2">
              <a:alpha val="100000"/>
            </a:schemeClr>
          </a:solidFill>
          <a:ln/>
        </p:spPr>
      </p:sp>
      <p:sp>
        <p:nvSpPr>
          <p:cNvPr id="12" name="TextBox 12"/>
          <p:cNvSpPr txBox="1"/>
          <p:nvPr/>
        </p:nvSpPr>
        <p:spPr>
          <a:xfrm>
            <a:off x="2794723" y="4507024"/>
            <a:ext cx="3158271" cy="490334"/>
          </a:xfrm>
          <a:prstGeom prst="rect">
            <a:avLst/>
          </a:prstGeom>
          <a:ln/>
        </p:spPr>
        <p:txBody>
          <a:bodyPr vert="horz" wrap="square" lIns="0" tIns="0" rIns="0" bIns="0" rtlCol="0" anchor="ctr" anchorCtr="0">
            <a:noAutofit/>
          </a:bodyPr>
          <a:lstStyle/>
          <a:p>
            <a:pPr algn="l">
              <a:lnSpc>
                <a:spcPct val="120000"/>
              </a:lnSpc>
            </a:pPr>
            <a:r>
              <a:rPr lang="en-US" sz="2400" b="1">
                <a:solidFill>
                  <a:schemeClr val="accent1">
                    <a:alpha val="100000"/>
                  </a:schemeClr>
                </a:solidFill>
                <a:latin typeface="Noto Sans SC"/>
                <a:ea typeface="Noto Sans SC"/>
                <a:cs typeface="Noto Sans SC"/>
              </a:rPr>
              <a:t>多范式融合</a:t>
            </a:r>
          </a:p>
        </p:txBody>
      </p:sp>
      <p:sp>
        <p:nvSpPr>
          <p:cNvPr id="13" name="TextBox 13"/>
          <p:cNvSpPr txBox="1"/>
          <p:nvPr/>
        </p:nvSpPr>
        <p:spPr>
          <a:xfrm>
            <a:off x="2794723" y="5159060"/>
            <a:ext cx="3619500" cy="976931"/>
          </a:xfrm>
          <a:prstGeom prst="rect">
            <a:avLst/>
          </a:prstGeom>
          <a:ln/>
        </p:spPr>
        <p:txBody>
          <a:bodyPr vert="horz" wrap="square" lIns="0" tIns="0" rIns="0" bIns="0" rtlCol="0" anchor="t" anchorCtr="0">
            <a:noAutofit/>
          </a:bodyPr>
          <a:lstStyle/>
          <a:p>
            <a:pPr algn="l">
              <a:lnSpc>
                <a:spcPct val="140000"/>
              </a:lnSpc>
            </a:pPr>
            <a:r>
              <a:rPr lang="en-US" sz="1350">
                <a:solidFill>
                  <a:schemeClr val="dk1">
                    <a:alpha val="100000"/>
                  </a:schemeClr>
                </a:solidFill>
                <a:latin typeface="Noto Sans SC"/>
                <a:ea typeface="Noto Sans SC"/>
                <a:cs typeface="Noto Sans SC"/>
              </a:rPr>
              <a:t>现代编程语言通常支持多种编程范式，如函数式编程、面向对象编程和面向过程编程，开发者可以根据需求选择合适的范式。</a:t>
            </a:r>
          </a:p>
        </p:txBody>
      </p:sp>
      <p:sp>
        <p:nvSpPr>
          <p:cNvPr id="14" name="TextBox 14"/>
          <p:cNvSpPr txBox="1"/>
          <p:nvPr/>
        </p:nvSpPr>
        <p:spPr>
          <a:xfrm>
            <a:off x="5645162" y="4186633"/>
            <a:ext cx="854271" cy="490334"/>
          </a:xfrm>
          <a:prstGeom prst="rect">
            <a:avLst/>
          </a:prstGeom>
          <a:ln/>
        </p:spPr>
        <p:txBody>
          <a:bodyPr vert="horz" wrap="square" lIns="0" tIns="0" rIns="0" bIns="0" rtlCol="0" anchor="ctr" anchorCtr="0">
            <a:noAutofit/>
          </a:bodyPr>
          <a:lstStyle/>
          <a:p>
            <a:pPr algn="r">
              <a:lnSpc>
                <a:spcPct val="120000"/>
              </a:lnSpc>
            </a:pPr>
            <a:r>
              <a:rPr lang="en-US" sz="2400" b="1">
                <a:solidFill>
                  <a:schemeClr val="accent1">
                    <a:alpha val="100000"/>
                  </a:schemeClr>
                </a:solidFill>
                <a:latin typeface="Noto Sans SC"/>
                <a:ea typeface="Noto Sans SC"/>
                <a:cs typeface="Noto Sans SC"/>
              </a:rPr>
              <a:t>03</a:t>
            </a:r>
          </a:p>
        </p:txBody>
      </p:sp>
      <p:sp>
        <p:nvSpPr>
          <p:cNvPr id="15" name="AutoShape 15"/>
          <p:cNvSpPr/>
          <p:nvPr/>
        </p:nvSpPr>
        <p:spPr>
          <a:xfrm>
            <a:off x="7563205" y="4075720"/>
            <a:ext cx="4171701" cy="2379487"/>
          </a:xfrm>
          <a:prstGeom prst="roundRect">
            <a:avLst>
              <a:gd name="adj" fmla="val 7377"/>
            </a:avLst>
          </a:prstGeom>
          <a:solidFill>
            <a:schemeClr val="lt2">
              <a:alpha val="100000"/>
            </a:schemeClr>
          </a:solidFill>
          <a:ln/>
        </p:spPr>
      </p:sp>
      <p:sp>
        <p:nvSpPr>
          <p:cNvPr id="16" name="TextBox 16"/>
          <p:cNvSpPr txBox="1"/>
          <p:nvPr/>
        </p:nvSpPr>
        <p:spPr>
          <a:xfrm>
            <a:off x="7839306" y="4516941"/>
            <a:ext cx="3158271" cy="490334"/>
          </a:xfrm>
          <a:prstGeom prst="rect">
            <a:avLst/>
          </a:prstGeom>
          <a:ln/>
        </p:spPr>
        <p:txBody>
          <a:bodyPr vert="horz" wrap="square" lIns="0" tIns="0" rIns="0" bIns="0" rtlCol="0" anchor="ctr" anchorCtr="0">
            <a:noAutofit/>
          </a:bodyPr>
          <a:lstStyle/>
          <a:p>
            <a:pPr algn="l">
              <a:lnSpc>
                <a:spcPct val="120000"/>
              </a:lnSpc>
            </a:pPr>
            <a:r>
              <a:rPr lang="en-US" sz="2400" b="1">
                <a:solidFill>
                  <a:schemeClr val="accent1">
                    <a:alpha val="100000"/>
                  </a:schemeClr>
                </a:solidFill>
                <a:latin typeface="Noto Sans SC"/>
                <a:ea typeface="Noto Sans SC"/>
                <a:cs typeface="Noto Sans SC"/>
              </a:rPr>
              <a:t>未来趋势</a:t>
            </a:r>
          </a:p>
        </p:txBody>
      </p:sp>
      <p:sp>
        <p:nvSpPr>
          <p:cNvPr id="17" name="TextBox 17"/>
          <p:cNvSpPr txBox="1"/>
          <p:nvPr/>
        </p:nvSpPr>
        <p:spPr>
          <a:xfrm>
            <a:off x="7839306" y="5168976"/>
            <a:ext cx="3619500" cy="976931"/>
          </a:xfrm>
          <a:prstGeom prst="rect">
            <a:avLst/>
          </a:prstGeom>
          <a:ln/>
        </p:spPr>
        <p:txBody>
          <a:bodyPr vert="horz" wrap="square" lIns="0" tIns="0" rIns="0" bIns="0" rtlCol="0" anchor="t" anchorCtr="0">
            <a:noAutofit/>
          </a:bodyPr>
          <a:lstStyle/>
          <a:p>
            <a:pPr algn="l">
              <a:lnSpc>
                <a:spcPct val="140000"/>
              </a:lnSpc>
            </a:pPr>
            <a:r>
              <a:rPr lang="en-US" sz="1350">
                <a:solidFill>
                  <a:schemeClr val="dk1">
                    <a:alpha val="100000"/>
                  </a:schemeClr>
                </a:solidFill>
                <a:latin typeface="Noto Sans SC"/>
                <a:ea typeface="Noto Sans SC"/>
                <a:cs typeface="Noto Sans SC"/>
              </a:rPr>
              <a:t>随着人工智能和大数据的发展，编程范式也在不断演变，如面向数据编程和面向事件编程等新范式逐渐崭露头角。</a:t>
            </a:r>
          </a:p>
        </p:txBody>
      </p:sp>
      <p:sp>
        <p:nvSpPr>
          <p:cNvPr id="18" name="TextBox 18"/>
          <p:cNvSpPr txBox="1"/>
          <p:nvPr/>
        </p:nvSpPr>
        <p:spPr>
          <a:xfrm>
            <a:off x="10689745" y="4196549"/>
            <a:ext cx="854271" cy="490334"/>
          </a:xfrm>
          <a:prstGeom prst="rect">
            <a:avLst/>
          </a:prstGeom>
          <a:ln/>
        </p:spPr>
        <p:txBody>
          <a:bodyPr vert="horz" wrap="square" lIns="0" tIns="0" rIns="0" bIns="0" rtlCol="0" anchor="ctr" anchorCtr="0">
            <a:noAutofit/>
          </a:bodyPr>
          <a:lstStyle/>
          <a:p>
            <a:pPr algn="r">
              <a:lnSpc>
                <a:spcPct val="120000"/>
              </a:lnSpc>
            </a:pPr>
            <a:r>
              <a:rPr lang="en-US" sz="2400" b="1">
                <a:solidFill>
                  <a:schemeClr val="accent1">
                    <a:alpha val="100000"/>
                  </a:schemeClr>
                </a:solidFill>
                <a:latin typeface="Noto Sans SC"/>
                <a:ea typeface="Noto Sans SC"/>
                <a:cs typeface="Noto Sans SC"/>
              </a:rPr>
              <a:t>04</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5280874" y="2017809"/>
            <a:ext cx="1630253" cy="1138956"/>
          </a:xfrm>
          <a:prstGeom prst="rect">
            <a:avLst/>
          </a:prstGeom>
          <a:ln/>
        </p:spPr>
        <p:txBody>
          <a:bodyPr vert="horz" wrap="square" lIns="66008" tIns="33052" rIns="66008" bIns="33052" rtlCol="0" anchor="ctr" anchorCtr="0">
            <a:noAutofit/>
          </a:bodyPr>
          <a:lstStyle/>
          <a:p>
            <a:pPr algn="ctr">
              <a:lnSpc>
                <a:spcPct val="100000"/>
              </a:lnSpc>
            </a:pPr>
            <a:r>
              <a:rPr lang="en-US" sz="8025" b="1">
                <a:solidFill>
                  <a:schemeClr val="accent1">
                    <a:alpha val="100000"/>
                  </a:schemeClr>
                </a:solidFill>
                <a:latin typeface="Noto Sans SC"/>
                <a:ea typeface="Noto Sans SC"/>
                <a:cs typeface="Noto Sans SC"/>
              </a:rPr>
              <a:t>02</a:t>
            </a:r>
          </a:p>
        </p:txBody>
      </p:sp>
      <p:sp>
        <p:nvSpPr>
          <p:cNvPr id="3" name="TextBox 3"/>
          <p:cNvSpPr txBox="1"/>
          <p:nvPr/>
        </p:nvSpPr>
        <p:spPr>
          <a:xfrm>
            <a:off x="3013710" y="3156765"/>
            <a:ext cx="6164580" cy="1615440"/>
          </a:xfrm>
          <a:prstGeom prst="rect">
            <a:avLst/>
          </a:prstGeom>
          <a:ln/>
        </p:spPr>
        <p:txBody>
          <a:bodyPr vert="horz" wrap="square" lIns="91440" tIns="45720" rIns="91440" bIns="45720" rtlCol="0" anchor="t" anchorCtr="0">
            <a:noAutofit/>
          </a:bodyPr>
          <a:lstStyle/>
          <a:p>
            <a:pPr algn="ctr">
              <a:lnSpc>
                <a:spcPct val="100000"/>
              </a:lnSpc>
              <a:spcBef>
                <a:spcPct val="0"/>
              </a:spcBef>
            </a:pPr>
            <a:r>
              <a:rPr lang="en-US" sz="4500" b="1">
                <a:solidFill>
                  <a:schemeClr val="dk1">
                    <a:alpha val="100000"/>
                  </a:schemeClr>
                </a:solidFill>
                <a:latin typeface="Noto Sans SC"/>
                <a:ea typeface="Noto Sans SC"/>
                <a:cs typeface="Noto Sans SC"/>
              </a:rPr>
              <a:t>核心四大特性</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Noto Sans SC"/>
                <a:ea typeface="Noto Sans SC"/>
                <a:cs typeface="Noto Sans SC"/>
              </a:rPr>
              <a:t>封装与访问控制</a:t>
            </a:r>
          </a:p>
        </p:txBody>
      </p:sp>
      <p:sp>
        <p:nvSpPr>
          <p:cNvPr id="3" name="AutoShape 3"/>
          <p:cNvSpPr/>
          <p:nvPr/>
        </p:nvSpPr>
        <p:spPr>
          <a:xfrm>
            <a:off x="537512" y="1664304"/>
            <a:ext cx="638131" cy="638131"/>
          </a:xfrm>
          <a:prstGeom prst="ellipse">
            <a:avLst/>
          </a:prstGeom>
          <a:solidFill>
            <a:schemeClr val="accent1">
              <a:alpha val="20000"/>
            </a:schemeClr>
          </a:solidFill>
          <a:ln/>
        </p:spPr>
      </p:sp>
      <p:sp>
        <p:nvSpPr>
          <p:cNvPr id="4" name="TextBox 4"/>
          <p:cNvSpPr txBox="1"/>
          <p:nvPr/>
        </p:nvSpPr>
        <p:spPr>
          <a:xfrm>
            <a:off x="1300882" y="1463721"/>
            <a:ext cx="6886575" cy="765904"/>
          </a:xfrm>
          <a:prstGeom prst="rect">
            <a:avLst/>
          </a:prstGeom>
          <a:ln/>
        </p:spPr>
        <p:txBody>
          <a:bodyPr vert="horz" wrap="square" lIns="123825" tIns="123825" rIns="57150" bIns="123825" rtlCol="0" anchor="b" anchorCtr="0">
            <a:noAutofit/>
          </a:bodyPr>
          <a:lstStyle/>
          <a:p>
            <a:pPr>
              <a:lnSpc>
                <a:spcPct val="140000"/>
              </a:lnSpc>
            </a:pPr>
            <a:r>
              <a:rPr lang="en-US" sz="2400" b="1">
                <a:solidFill>
                  <a:schemeClr val="accent1">
                    <a:alpha val="100000"/>
                  </a:schemeClr>
                </a:solidFill>
                <a:latin typeface="Noto Sans SC"/>
                <a:ea typeface="Noto Sans SC"/>
                <a:cs typeface="Noto Sans SC"/>
              </a:rPr>
              <a:t>数据保护</a:t>
            </a:r>
          </a:p>
        </p:txBody>
      </p:sp>
      <p:sp>
        <p:nvSpPr>
          <p:cNvPr id="5" name="TextBox 5"/>
          <p:cNvSpPr txBox="1"/>
          <p:nvPr/>
        </p:nvSpPr>
        <p:spPr>
          <a:xfrm>
            <a:off x="1300882" y="1998589"/>
            <a:ext cx="6891292" cy="1083679"/>
          </a:xfrm>
          <a:prstGeom prst="rect">
            <a:avLst/>
          </a:prstGeom>
          <a:ln/>
        </p:spPr>
        <p:txBody>
          <a:bodyPr vert="horz" wrap="square" lIns="123825" tIns="123825" rIns="57150" bIns="123825" rtlCol="0" anchor="t" anchorCtr="0">
            <a:noAutofit/>
          </a:bodyPr>
          <a:lstStyle/>
          <a:p>
            <a:pPr>
              <a:lnSpc>
                <a:spcPct val="140000"/>
              </a:lnSpc>
            </a:pPr>
            <a:r>
              <a:rPr lang="en-US" sz="1350">
                <a:solidFill>
                  <a:schemeClr val="dk1">
                    <a:alpha val="100000"/>
                  </a:schemeClr>
                </a:solidFill>
                <a:latin typeface="Noto Sans SC"/>
                <a:ea typeface="Noto Sans SC"/>
                <a:cs typeface="Noto Sans SC"/>
              </a:rPr>
              <a:t>封装通过隐藏对象的内部状态，仅暴露有限的接口，防止外部直接访问或修改内部数据，从而保护数据的完整性和安全性。例如，使用`private`关键字限制对类成员的访问。</a:t>
            </a:r>
          </a:p>
        </p:txBody>
      </p:sp>
      <p:sp>
        <p:nvSpPr>
          <p:cNvPr id="6" name="AutoShape 6"/>
          <p:cNvSpPr/>
          <p:nvPr/>
        </p:nvSpPr>
        <p:spPr>
          <a:xfrm>
            <a:off x="537512" y="3384629"/>
            <a:ext cx="638131" cy="638131"/>
          </a:xfrm>
          <a:prstGeom prst="ellipse">
            <a:avLst/>
          </a:prstGeom>
          <a:solidFill>
            <a:schemeClr val="accent1">
              <a:alpha val="20000"/>
            </a:schemeClr>
          </a:solidFill>
          <a:ln/>
        </p:spPr>
      </p:sp>
      <p:sp>
        <p:nvSpPr>
          <p:cNvPr id="7" name="TextBox 7"/>
          <p:cNvSpPr txBox="1"/>
          <p:nvPr/>
        </p:nvSpPr>
        <p:spPr>
          <a:xfrm>
            <a:off x="1300882" y="3182098"/>
            <a:ext cx="6886575" cy="769800"/>
          </a:xfrm>
          <a:prstGeom prst="rect">
            <a:avLst/>
          </a:prstGeom>
          <a:ln/>
        </p:spPr>
        <p:txBody>
          <a:bodyPr vert="horz" wrap="square" lIns="123825" tIns="123825" rIns="57150" bIns="123825" rtlCol="0" anchor="b" anchorCtr="0">
            <a:noAutofit/>
          </a:bodyPr>
          <a:lstStyle/>
          <a:p>
            <a:pPr>
              <a:lnSpc>
                <a:spcPct val="140000"/>
              </a:lnSpc>
            </a:pPr>
            <a:r>
              <a:rPr lang="en-US" sz="2400" b="1">
                <a:solidFill>
                  <a:schemeClr val="accent1">
                    <a:alpha val="100000"/>
                  </a:schemeClr>
                </a:solidFill>
                <a:latin typeface="Noto Sans SC"/>
                <a:ea typeface="Noto Sans SC"/>
                <a:cs typeface="Noto Sans SC"/>
              </a:rPr>
              <a:t>权限控制</a:t>
            </a:r>
          </a:p>
        </p:txBody>
      </p:sp>
      <p:sp>
        <p:nvSpPr>
          <p:cNvPr id="8" name="AutoShape 8"/>
          <p:cNvSpPr/>
          <p:nvPr/>
        </p:nvSpPr>
        <p:spPr>
          <a:xfrm>
            <a:off x="537512" y="5104954"/>
            <a:ext cx="638131" cy="638131"/>
          </a:xfrm>
          <a:prstGeom prst="ellipse">
            <a:avLst/>
          </a:prstGeom>
          <a:solidFill>
            <a:schemeClr val="accent1">
              <a:alpha val="20000"/>
            </a:schemeClr>
          </a:solidFill>
          <a:ln/>
        </p:spPr>
      </p:sp>
      <p:sp>
        <p:nvSpPr>
          <p:cNvPr id="9" name="TextBox 9"/>
          <p:cNvSpPr txBox="1"/>
          <p:nvPr/>
        </p:nvSpPr>
        <p:spPr>
          <a:xfrm>
            <a:off x="1300882" y="4920230"/>
            <a:ext cx="6886575" cy="734184"/>
          </a:xfrm>
          <a:prstGeom prst="rect">
            <a:avLst/>
          </a:prstGeom>
          <a:ln/>
        </p:spPr>
        <p:txBody>
          <a:bodyPr vert="horz" wrap="square" lIns="123825" tIns="123825" rIns="57150" bIns="123825" rtlCol="0" anchor="b" anchorCtr="0">
            <a:noAutofit/>
          </a:bodyPr>
          <a:lstStyle/>
          <a:p>
            <a:pPr>
              <a:lnSpc>
                <a:spcPct val="140000"/>
              </a:lnSpc>
            </a:pPr>
            <a:r>
              <a:rPr lang="en-US" sz="2400" b="1">
                <a:solidFill>
                  <a:schemeClr val="accent1">
                    <a:alpha val="100000"/>
                  </a:schemeClr>
                </a:solidFill>
                <a:latin typeface="Noto Sans SC"/>
                <a:ea typeface="Noto Sans SC"/>
                <a:cs typeface="Noto Sans SC"/>
              </a:rPr>
              <a:t>接口简化</a:t>
            </a:r>
          </a:p>
        </p:txBody>
      </p:sp>
      <p:sp>
        <p:nvSpPr>
          <p:cNvPr id="10" name="TextBox 10"/>
          <p:cNvSpPr txBox="1"/>
          <p:nvPr/>
        </p:nvSpPr>
        <p:spPr>
          <a:xfrm>
            <a:off x="1300882" y="3741456"/>
            <a:ext cx="6891292" cy="1074439"/>
          </a:xfrm>
          <a:prstGeom prst="rect">
            <a:avLst/>
          </a:prstGeom>
          <a:ln/>
        </p:spPr>
        <p:txBody>
          <a:bodyPr vert="horz" wrap="square" lIns="123825" tIns="123825" rIns="57150" bIns="123825" rtlCol="0" anchor="t" anchorCtr="0">
            <a:noAutofit/>
          </a:bodyPr>
          <a:lstStyle/>
          <a:p>
            <a:pPr>
              <a:lnSpc>
                <a:spcPct val="140000"/>
              </a:lnSpc>
            </a:pPr>
            <a:r>
              <a:rPr lang="en-US" sz="1350">
                <a:solidFill>
                  <a:schemeClr val="dk1">
                    <a:alpha val="100000"/>
                  </a:schemeClr>
                </a:solidFill>
                <a:latin typeface="Noto Sans SC"/>
                <a:ea typeface="Noto Sans SC"/>
                <a:cs typeface="Noto Sans SC"/>
              </a:rPr>
              <a:t>封装允许通过访问修饰符（如`public`、`protected`、`private`）精确控制类成员的可见性，确保只有授权的代码可以访问特定数据或方法，增强了代码的可维护性和安全性。</a:t>
            </a:r>
          </a:p>
        </p:txBody>
      </p:sp>
      <p:sp>
        <p:nvSpPr>
          <p:cNvPr id="11" name="TextBox 11"/>
          <p:cNvSpPr txBox="1"/>
          <p:nvPr/>
        </p:nvSpPr>
        <p:spPr>
          <a:xfrm>
            <a:off x="1300882" y="5424019"/>
            <a:ext cx="6891292" cy="1092920"/>
          </a:xfrm>
          <a:prstGeom prst="rect">
            <a:avLst/>
          </a:prstGeom>
          <a:ln/>
        </p:spPr>
        <p:txBody>
          <a:bodyPr vert="horz" wrap="square" lIns="123825" tIns="123825" rIns="57150" bIns="123825" rtlCol="0" anchor="t" anchorCtr="0">
            <a:noAutofit/>
          </a:bodyPr>
          <a:lstStyle/>
          <a:p>
            <a:pPr>
              <a:lnSpc>
                <a:spcPct val="140000"/>
              </a:lnSpc>
            </a:pPr>
            <a:r>
              <a:rPr lang="en-US" sz="1350">
                <a:solidFill>
                  <a:schemeClr val="dk1">
                    <a:alpha val="100000"/>
                  </a:schemeClr>
                </a:solidFill>
                <a:latin typeface="Noto Sans SC"/>
                <a:ea typeface="Noto Sans SC"/>
                <a:cs typeface="Noto Sans SC"/>
              </a:rPr>
              <a:t>封装通过暴露简洁的接口，隐藏复杂的实现细节，使得类的使用更加直观和方便。用户只需关心类提供的功能，而无需了解其内部实现，降低了使用复杂度。</a:t>
            </a:r>
          </a:p>
        </p:txBody>
      </p:sp>
      <p:pic>
        <p:nvPicPr>
          <p:cNvPr id="12" name="Picture 12"/>
          <p:cNvPicPr>
            <a:picLocks noChangeAspect="1"/>
          </p:cNvPicPr>
          <p:nvPr/>
        </p:nvPicPr>
        <p:blipFill>
          <a:blip r:embed="rId3">
            <a:alphaModFix/>
          </a:blip>
          <a:srcRect l="38167" r="38167"/>
          <a:stretch>
            <a:fillRect/>
          </a:stretch>
        </p:blipFill>
        <p:spPr>
          <a:xfrm>
            <a:off x="8604472" y="1741145"/>
            <a:ext cx="4421505" cy="4421505"/>
          </a:xfrm>
          <a:prstGeom prst="ellipse">
            <a:avLst/>
          </a:prstGeom>
        </p:spPr>
      </p:pic>
      <p:cxnSp>
        <p:nvCxnSpPr>
          <p:cNvPr id="13" name="Connector 13"/>
          <p:cNvCxnSpPr/>
          <p:nvPr/>
        </p:nvCxnSpPr>
        <p:spPr>
          <a:xfrm>
            <a:off x="856577" y="2403263"/>
            <a:ext cx="0" cy="896335"/>
          </a:xfrm>
          <a:prstGeom prst="line">
            <a:avLst/>
          </a:prstGeom>
          <a:ln w="19050">
            <a:solidFill>
              <a:schemeClr val="accent1"/>
            </a:solidFill>
            <a:prstDash val="solid"/>
            <a:headEnd type="none"/>
            <a:tailEnd type="none"/>
          </a:ln>
        </p:spPr>
        <p:style>
          <a:lnRef idx="0">
            <a:schemeClr val="accent1"/>
          </a:lnRef>
          <a:fillRef idx="1">
            <a:schemeClr val="accent1"/>
          </a:fillRef>
          <a:effectRef idx="0">
            <a:schemeClr val="accent1"/>
          </a:effectRef>
          <a:fontRef idx="minor">
            <a:schemeClr val="lt1"/>
          </a:fontRef>
        </p:style>
      </p:cxnSp>
      <p:cxnSp>
        <p:nvCxnSpPr>
          <p:cNvPr id="14" name="Connector 14"/>
          <p:cNvCxnSpPr/>
          <p:nvPr/>
        </p:nvCxnSpPr>
        <p:spPr>
          <a:xfrm>
            <a:off x="856577" y="4124852"/>
            <a:ext cx="0" cy="896335"/>
          </a:xfrm>
          <a:prstGeom prst="line">
            <a:avLst/>
          </a:prstGeom>
          <a:ln w="19050">
            <a:solidFill>
              <a:schemeClr val="accent1"/>
            </a:solidFill>
            <a:prstDash val="solid"/>
            <a:headEnd type="none"/>
            <a:tailEnd type="none"/>
          </a:ln>
        </p:spPr>
        <p:style>
          <a:lnRef idx="0">
            <a:schemeClr val="accent1"/>
          </a:lnRef>
          <a:fillRef idx="1">
            <a:schemeClr val="accent1"/>
          </a:fillRef>
          <a:effectRef idx="0">
            <a:schemeClr val="accent1"/>
          </a:effectRef>
          <a:fontRef idx="minor">
            <a:schemeClr val="lt1"/>
          </a:fontRef>
        </p:style>
      </p:cxnSp>
      <p:sp>
        <p:nvSpPr>
          <p:cNvPr id="15" name="TextBox 15"/>
          <p:cNvSpPr txBox="1"/>
          <p:nvPr/>
        </p:nvSpPr>
        <p:spPr>
          <a:xfrm>
            <a:off x="688937" y="1685237"/>
            <a:ext cx="335280" cy="596265"/>
          </a:xfrm>
          <a:prstGeom prst="rect">
            <a:avLst/>
          </a:prstGeom>
          <a:ln/>
        </p:spPr>
        <p:txBody>
          <a:bodyPr vert="horz" wrap="square" lIns="91440" tIns="45720" rIns="91440" bIns="45720" rtlCol="0" anchor="ctr" anchorCtr="0">
            <a:spAutoFit/>
          </a:bodyPr>
          <a:lstStyle/>
          <a:p>
            <a:pPr algn="ctr">
              <a:lnSpc>
                <a:spcPct val="100000"/>
              </a:lnSpc>
              <a:spcBef>
                <a:spcPts val="375"/>
              </a:spcBef>
            </a:pPr>
            <a:r>
              <a:rPr lang="en-US" sz="3000">
                <a:solidFill>
                  <a:schemeClr val="accent1">
                    <a:alpha val="100000"/>
                  </a:schemeClr>
                </a:solidFill>
                <a:latin typeface="Microsoft Yahei"/>
                <a:ea typeface="Microsoft Yahei"/>
                <a:cs typeface="Microsoft Yahei"/>
              </a:rPr>
              <a:t>1</a:t>
            </a:r>
          </a:p>
        </p:txBody>
      </p:sp>
      <p:sp>
        <p:nvSpPr>
          <p:cNvPr id="16" name="TextBox 16"/>
          <p:cNvSpPr txBox="1"/>
          <p:nvPr/>
        </p:nvSpPr>
        <p:spPr>
          <a:xfrm>
            <a:off x="588925" y="3405562"/>
            <a:ext cx="535305" cy="596265"/>
          </a:xfrm>
          <a:prstGeom prst="rect">
            <a:avLst/>
          </a:prstGeom>
          <a:ln/>
        </p:spPr>
        <p:txBody>
          <a:bodyPr vert="horz" wrap="square" lIns="91440" tIns="45720" rIns="91440" bIns="45720" rtlCol="0" anchor="ctr" anchorCtr="0">
            <a:spAutoFit/>
          </a:bodyPr>
          <a:lstStyle/>
          <a:p>
            <a:pPr algn="ctr">
              <a:lnSpc>
                <a:spcPct val="100000"/>
              </a:lnSpc>
              <a:spcBef>
                <a:spcPts val="375"/>
              </a:spcBef>
            </a:pPr>
            <a:r>
              <a:rPr lang="en-US" sz="3000">
                <a:solidFill>
                  <a:schemeClr val="accent1">
                    <a:alpha val="100000"/>
                  </a:schemeClr>
                </a:solidFill>
                <a:latin typeface="Microsoft Yahei"/>
                <a:ea typeface="Microsoft Yahei"/>
                <a:cs typeface="Microsoft Yahei"/>
              </a:rPr>
              <a:t>2</a:t>
            </a:r>
          </a:p>
        </p:txBody>
      </p:sp>
      <p:sp>
        <p:nvSpPr>
          <p:cNvPr id="17" name="TextBox 17"/>
          <p:cNvSpPr txBox="1"/>
          <p:nvPr/>
        </p:nvSpPr>
        <p:spPr>
          <a:xfrm>
            <a:off x="588925" y="5125887"/>
            <a:ext cx="535305" cy="596265"/>
          </a:xfrm>
          <a:prstGeom prst="rect">
            <a:avLst/>
          </a:prstGeom>
          <a:ln/>
        </p:spPr>
        <p:txBody>
          <a:bodyPr vert="horz" wrap="square" lIns="91440" tIns="45720" rIns="91440" bIns="45720" rtlCol="0" anchor="ctr" anchorCtr="0">
            <a:spAutoFit/>
          </a:bodyPr>
          <a:lstStyle/>
          <a:p>
            <a:pPr algn="ctr">
              <a:lnSpc>
                <a:spcPct val="100000"/>
              </a:lnSpc>
              <a:spcBef>
                <a:spcPts val="375"/>
              </a:spcBef>
            </a:pPr>
            <a:r>
              <a:rPr lang="en-US" sz="3000">
                <a:solidFill>
                  <a:schemeClr val="accent1">
                    <a:alpha val="100000"/>
                  </a:schemeClr>
                </a:solidFill>
                <a:latin typeface="Microsoft Yahei"/>
                <a:ea typeface="Microsoft Yahei"/>
                <a:cs typeface="Microsoft Yahei"/>
              </a:rPr>
              <a:t>3</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476023" y="265328"/>
            <a:ext cx="11239500" cy="942975"/>
          </a:xfrm>
          <a:prstGeom prst="rect">
            <a:avLst/>
          </a:prstGeom>
          <a:ln/>
        </p:spPr>
        <p:txBody>
          <a:bodyPr vert="horz" wrap="square" lIns="123825" tIns="123825" rIns="57150" bIns="123825" rtlCol="0" anchor="t" anchorCtr="0">
            <a:spAutoFit/>
          </a:bodyPr>
          <a:lstStyle/>
          <a:p>
            <a:pPr>
              <a:lnSpc>
                <a:spcPct val="140000"/>
              </a:lnSpc>
            </a:pPr>
            <a:r>
              <a:rPr lang="en-US" sz="3000" b="1">
                <a:solidFill>
                  <a:schemeClr val="dk2">
                    <a:alpha val="100000"/>
                  </a:schemeClr>
                </a:solidFill>
                <a:latin typeface="Noto Sans SC"/>
                <a:ea typeface="Noto Sans SC"/>
                <a:cs typeface="Noto Sans SC"/>
              </a:rPr>
              <a:t>继承与代码复用</a:t>
            </a:r>
          </a:p>
        </p:txBody>
      </p:sp>
      <p:sp>
        <p:nvSpPr>
          <p:cNvPr id="3" name="AutoShape 3"/>
          <p:cNvSpPr/>
          <p:nvPr/>
        </p:nvSpPr>
        <p:spPr>
          <a:xfrm>
            <a:off x="592974" y="2169076"/>
            <a:ext cx="3456116" cy="4146148"/>
          </a:xfrm>
          <a:prstGeom prst="roundRect">
            <a:avLst>
              <a:gd name="adj" fmla="val 7847"/>
            </a:avLst>
          </a:prstGeom>
          <a:noFill/>
          <a:ln w="12668">
            <a:solidFill>
              <a:schemeClr val="accent1">
                <a:alpha val="100000"/>
              </a:schemeClr>
            </a:solidFill>
            <a:prstDash val="solid"/>
          </a:ln>
        </p:spPr>
        <p:txBody>
          <a:bodyPr vert="horz" wrap="square" rtlCol="0" anchor="ctr" anchorCtr="0">
            <a:noAutofit/>
          </a:bodyPr>
          <a:lstStyle/>
          <a:p>
            <a:pPr algn="ctr">
              <a:lnSpc>
                <a:spcPct val="100000"/>
              </a:lnSpc>
              <a:spcBef>
                <a:spcPts val="375"/>
              </a:spcBef>
              <a:defRPr/>
            </a:pPr>
            <a:endParaRPr lang="en-US" sz="1100"/>
          </a:p>
        </p:txBody>
      </p:sp>
      <p:sp>
        <p:nvSpPr>
          <p:cNvPr id="4" name="TextBox 4"/>
          <p:cNvSpPr txBox="1"/>
          <p:nvPr/>
        </p:nvSpPr>
        <p:spPr>
          <a:xfrm>
            <a:off x="808710" y="2748604"/>
            <a:ext cx="3024645" cy="579431"/>
          </a:xfrm>
          <a:prstGeom prst="rect">
            <a:avLst/>
          </a:prstGeom>
          <a:ln/>
        </p:spPr>
        <p:txBody>
          <a:bodyPr vert="horz" wrap="square" lIns="114300" tIns="57150" rIns="114300" bIns="57150" rtlCol="0" anchor="ctr" anchorCtr="0">
            <a:noAutofit/>
          </a:bodyPr>
          <a:lstStyle/>
          <a:p>
            <a:pPr algn="ctr">
              <a:lnSpc>
                <a:spcPct val="120000"/>
              </a:lnSpc>
            </a:pPr>
            <a:r>
              <a:rPr lang="en-US" sz="2400" b="1">
                <a:solidFill>
                  <a:schemeClr val="accent1">
                    <a:alpha val="100000"/>
                  </a:schemeClr>
                </a:solidFill>
                <a:latin typeface="Noto Sans SC"/>
                <a:ea typeface="Noto Sans SC"/>
                <a:cs typeface="Noto Sans SC"/>
              </a:rPr>
              <a:t>代码复用</a:t>
            </a:r>
          </a:p>
        </p:txBody>
      </p:sp>
      <p:sp>
        <p:nvSpPr>
          <p:cNvPr id="5" name="TextBox 5"/>
          <p:cNvSpPr txBox="1"/>
          <p:nvPr/>
        </p:nvSpPr>
        <p:spPr>
          <a:xfrm>
            <a:off x="733628" y="3345379"/>
            <a:ext cx="3174808" cy="2713563"/>
          </a:xfrm>
          <a:prstGeom prst="rect">
            <a:avLst/>
          </a:prstGeom>
          <a:ln/>
        </p:spPr>
        <p:txBody>
          <a:bodyPr vert="horz" wrap="square" lIns="114300" tIns="57150" rIns="114300" bIns="57150" rtlCol="0" anchor="ctr" anchorCtr="0">
            <a:noAutofit/>
          </a:bodyPr>
          <a:lstStyle/>
          <a:p>
            <a:pPr algn="ctr">
              <a:lnSpc>
                <a:spcPct val="150000"/>
              </a:lnSpc>
              <a:spcBef>
                <a:spcPts val="375"/>
              </a:spcBef>
            </a:pPr>
            <a:r>
              <a:rPr lang="en-US" sz="1500">
                <a:solidFill>
                  <a:schemeClr val="dk1">
                    <a:alpha val="100000"/>
                  </a:schemeClr>
                </a:solidFill>
                <a:latin typeface="Microsoft Yahei"/>
                <a:ea typeface="Microsoft Yahei"/>
                <a:cs typeface="Microsoft Yahei"/>
              </a:rPr>
              <a:t>继承允许子类复用父类的属性和方法，避免了重复编写相同的代码，提高了开发效率和代码的可维护性。例如，子类可以直接调用父类的方法，而无需重新实现。</a:t>
            </a:r>
          </a:p>
        </p:txBody>
      </p:sp>
      <p:pic>
        <p:nvPicPr>
          <p:cNvPr id="6" name="Picture 6"/>
          <p:cNvPicPr>
            <a:picLocks noChangeAspect="1"/>
          </p:cNvPicPr>
          <p:nvPr/>
        </p:nvPicPr>
        <p:blipFill>
          <a:blip r:embed="rId3">
            <a:alphaModFix/>
          </a:blip>
          <a:srcRect/>
          <a:stretch>
            <a:fillRect/>
          </a:stretch>
        </p:blipFill>
        <p:spPr>
          <a:xfrm>
            <a:off x="1583319" y="1148842"/>
            <a:ext cx="1475427" cy="1475427"/>
          </a:xfrm>
          <a:prstGeom prst="ellipse">
            <a:avLst/>
          </a:prstGeom>
        </p:spPr>
      </p:pic>
      <p:sp>
        <p:nvSpPr>
          <p:cNvPr id="7" name="AutoShape 7"/>
          <p:cNvSpPr/>
          <p:nvPr/>
        </p:nvSpPr>
        <p:spPr>
          <a:xfrm>
            <a:off x="4495337" y="2169076"/>
            <a:ext cx="3456116" cy="4146148"/>
          </a:xfrm>
          <a:prstGeom prst="roundRect">
            <a:avLst>
              <a:gd name="adj" fmla="val 7847"/>
            </a:avLst>
          </a:prstGeom>
          <a:noFill/>
          <a:ln w="12668">
            <a:solidFill>
              <a:schemeClr val="accent1">
                <a:alpha val="100000"/>
              </a:schemeClr>
            </a:solidFill>
            <a:prstDash val="solid"/>
          </a:ln>
        </p:spPr>
        <p:txBody>
          <a:bodyPr vert="horz" wrap="square" rtlCol="0" anchor="ctr" anchorCtr="0">
            <a:noAutofit/>
          </a:bodyPr>
          <a:lstStyle/>
          <a:p>
            <a:pPr algn="ctr">
              <a:lnSpc>
                <a:spcPct val="100000"/>
              </a:lnSpc>
              <a:spcBef>
                <a:spcPts val="375"/>
              </a:spcBef>
              <a:defRPr/>
            </a:pPr>
            <a:endParaRPr lang="en-US" sz="1100"/>
          </a:p>
        </p:txBody>
      </p:sp>
      <p:sp>
        <p:nvSpPr>
          <p:cNvPr id="8" name="TextBox 8"/>
          <p:cNvSpPr txBox="1"/>
          <p:nvPr/>
        </p:nvSpPr>
        <p:spPr>
          <a:xfrm>
            <a:off x="4711072" y="2748604"/>
            <a:ext cx="3024645" cy="579431"/>
          </a:xfrm>
          <a:prstGeom prst="rect">
            <a:avLst/>
          </a:prstGeom>
          <a:ln/>
        </p:spPr>
        <p:txBody>
          <a:bodyPr vert="horz" wrap="square" lIns="114300" tIns="57150" rIns="114300" bIns="57150" rtlCol="0" anchor="ctr" anchorCtr="0">
            <a:noAutofit/>
          </a:bodyPr>
          <a:lstStyle/>
          <a:p>
            <a:pPr algn="ctr">
              <a:lnSpc>
                <a:spcPct val="120000"/>
              </a:lnSpc>
            </a:pPr>
            <a:r>
              <a:rPr lang="en-US" sz="2400" b="1">
                <a:solidFill>
                  <a:schemeClr val="accent1">
                    <a:alpha val="100000"/>
                  </a:schemeClr>
                </a:solidFill>
                <a:latin typeface="Noto Sans SC"/>
                <a:ea typeface="Noto Sans SC"/>
                <a:cs typeface="Noto Sans SC"/>
              </a:rPr>
              <a:t>扩展功能</a:t>
            </a:r>
          </a:p>
        </p:txBody>
      </p:sp>
      <p:sp>
        <p:nvSpPr>
          <p:cNvPr id="9" name="TextBox 9"/>
          <p:cNvSpPr txBox="1"/>
          <p:nvPr/>
        </p:nvSpPr>
        <p:spPr>
          <a:xfrm>
            <a:off x="4635991" y="3345379"/>
            <a:ext cx="3174808" cy="2713563"/>
          </a:xfrm>
          <a:prstGeom prst="rect">
            <a:avLst/>
          </a:prstGeom>
          <a:ln/>
        </p:spPr>
        <p:txBody>
          <a:bodyPr vert="horz" wrap="square" lIns="114300" tIns="57150" rIns="114300" bIns="57150" rtlCol="0" anchor="ctr" anchorCtr="0">
            <a:noAutofit/>
          </a:bodyPr>
          <a:lstStyle/>
          <a:p>
            <a:pPr algn="ctr">
              <a:lnSpc>
                <a:spcPct val="150000"/>
              </a:lnSpc>
              <a:spcBef>
                <a:spcPts val="375"/>
              </a:spcBef>
            </a:pPr>
            <a:r>
              <a:rPr lang="en-US" sz="1500" dirty="0">
                <a:solidFill>
                  <a:schemeClr val="dk1">
                    <a:alpha val="100000"/>
                  </a:schemeClr>
                </a:solidFill>
                <a:latin typeface="Microsoft Yahei"/>
                <a:ea typeface="Microsoft Yahei"/>
                <a:cs typeface="Microsoft Yahei"/>
              </a:rPr>
              <a:t>继承不仅支持代码复用，还允许子类在父类的基础上扩展或修改功能。子类可以通过重写父类的方法或添加新的方法，实现更复杂的行为，</a:t>
            </a:r>
            <a:r>
              <a:rPr lang="en-US" sz="1500" dirty="0" smtClean="0">
                <a:solidFill>
                  <a:schemeClr val="dk1">
                    <a:alpha val="100000"/>
                  </a:schemeClr>
                </a:solidFill>
                <a:latin typeface="Microsoft Yahei"/>
                <a:ea typeface="Microsoft Yahei"/>
                <a:cs typeface="Microsoft Yahei"/>
              </a:rPr>
              <a:t>增强了代码灵活性和可扩展性</a:t>
            </a:r>
            <a:r>
              <a:rPr lang="en-US" sz="1500" dirty="0">
                <a:solidFill>
                  <a:schemeClr val="dk1">
                    <a:alpha val="100000"/>
                  </a:schemeClr>
                </a:solidFill>
                <a:latin typeface="Microsoft Yahei"/>
                <a:ea typeface="Microsoft Yahei"/>
                <a:cs typeface="Microsoft Yahei"/>
              </a:rPr>
              <a:t>。</a:t>
            </a:r>
          </a:p>
        </p:txBody>
      </p:sp>
      <p:pic>
        <p:nvPicPr>
          <p:cNvPr id="10" name="Picture 10"/>
          <p:cNvPicPr>
            <a:picLocks noChangeAspect="1"/>
          </p:cNvPicPr>
          <p:nvPr/>
        </p:nvPicPr>
        <p:blipFill>
          <a:blip r:embed="rId4">
            <a:alphaModFix/>
          </a:blip>
          <a:srcRect/>
          <a:stretch>
            <a:fillRect/>
          </a:stretch>
        </p:blipFill>
        <p:spPr>
          <a:xfrm>
            <a:off x="5485681" y="1148842"/>
            <a:ext cx="1475427" cy="1475427"/>
          </a:xfrm>
          <a:prstGeom prst="ellipse">
            <a:avLst/>
          </a:prstGeom>
        </p:spPr>
      </p:pic>
      <p:sp>
        <p:nvSpPr>
          <p:cNvPr id="11" name="AutoShape 11"/>
          <p:cNvSpPr/>
          <p:nvPr/>
        </p:nvSpPr>
        <p:spPr>
          <a:xfrm>
            <a:off x="8351496" y="2169076"/>
            <a:ext cx="3456116" cy="4146148"/>
          </a:xfrm>
          <a:prstGeom prst="roundRect">
            <a:avLst>
              <a:gd name="adj" fmla="val 7847"/>
            </a:avLst>
          </a:prstGeom>
          <a:noFill/>
          <a:ln w="12668">
            <a:solidFill>
              <a:schemeClr val="accent1">
                <a:alpha val="100000"/>
              </a:schemeClr>
            </a:solidFill>
            <a:prstDash val="solid"/>
          </a:ln>
        </p:spPr>
        <p:txBody>
          <a:bodyPr vert="horz" wrap="square" rtlCol="0" anchor="ctr" anchorCtr="0">
            <a:noAutofit/>
          </a:bodyPr>
          <a:lstStyle/>
          <a:p>
            <a:pPr algn="ctr">
              <a:lnSpc>
                <a:spcPct val="100000"/>
              </a:lnSpc>
              <a:spcBef>
                <a:spcPts val="375"/>
              </a:spcBef>
              <a:defRPr/>
            </a:pPr>
            <a:endParaRPr lang="en-US" sz="1100"/>
          </a:p>
        </p:txBody>
      </p:sp>
      <p:sp>
        <p:nvSpPr>
          <p:cNvPr id="12" name="TextBox 12"/>
          <p:cNvSpPr txBox="1"/>
          <p:nvPr/>
        </p:nvSpPr>
        <p:spPr>
          <a:xfrm>
            <a:off x="8567232" y="2748604"/>
            <a:ext cx="3024645" cy="579431"/>
          </a:xfrm>
          <a:prstGeom prst="rect">
            <a:avLst/>
          </a:prstGeom>
          <a:ln/>
        </p:spPr>
        <p:txBody>
          <a:bodyPr vert="horz" wrap="square" lIns="114300" tIns="57150" rIns="114300" bIns="57150" rtlCol="0" anchor="ctr" anchorCtr="0">
            <a:noAutofit/>
          </a:bodyPr>
          <a:lstStyle/>
          <a:p>
            <a:pPr algn="ctr">
              <a:lnSpc>
                <a:spcPct val="120000"/>
              </a:lnSpc>
            </a:pPr>
            <a:r>
              <a:rPr lang="en-US" sz="2400" b="1">
                <a:solidFill>
                  <a:schemeClr val="accent1">
                    <a:alpha val="100000"/>
                  </a:schemeClr>
                </a:solidFill>
                <a:latin typeface="Noto Sans SC"/>
                <a:ea typeface="Noto Sans SC"/>
                <a:cs typeface="Noto Sans SC"/>
              </a:rPr>
              <a:t>层次结构</a:t>
            </a:r>
          </a:p>
        </p:txBody>
      </p:sp>
      <p:sp>
        <p:nvSpPr>
          <p:cNvPr id="13" name="TextBox 13"/>
          <p:cNvSpPr txBox="1"/>
          <p:nvPr/>
        </p:nvSpPr>
        <p:spPr>
          <a:xfrm>
            <a:off x="8492150" y="3345379"/>
            <a:ext cx="3174808" cy="2713563"/>
          </a:xfrm>
          <a:prstGeom prst="rect">
            <a:avLst/>
          </a:prstGeom>
          <a:ln/>
        </p:spPr>
        <p:txBody>
          <a:bodyPr vert="horz" wrap="square" lIns="114300" tIns="57150" rIns="114300" bIns="57150" rtlCol="0" anchor="ctr" anchorCtr="0">
            <a:noAutofit/>
          </a:bodyPr>
          <a:lstStyle/>
          <a:p>
            <a:pPr algn="ctr">
              <a:lnSpc>
                <a:spcPct val="150000"/>
              </a:lnSpc>
              <a:spcBef>
                <a:spcPts val="375"/>
              </a:spcBef>
            </a:pPr>
            <a:r>
              <a:rPr lang="en-US" sz="1500" dirty="0">
                <a:solidFill>
                  <a:schemeClr val="dk1">
                    <a:alpha val="100000"/>
                  </a:schemeClr>
                </a:solidFill>
                <a:latin typeface="Microsoft Yahei"/>
                <a:ea typeface="Microsoft Yahei"/>
                <a:cs typeface="Microsoft Yahei"/>
              </a:rPr>
              <a:t>继承通过建立类的层次结构，清晰地表达了类之间的关系，使得代码的组织更加合理和易于理解。</a:t>
            </a:r>
            <a:r>
              <a:rPr lang="en-US" sz="1500" dirty="0" smtClean="0">
                <a:solidFill>
                  <a:schemeClr val="dk1">
                    <a:alpha val="100000"/>
                  </a:schemeClr>
                </a:solidFill>
                <a:latin typeface="Microsoft Yahei"/>
                <a:ea typeface="Microsoft Yahei"/>
                <a:cs typeface="Microsoft Yahei"/>
              </a:rPr>
              <a:t>例如`</a:t>
            </a:r>
            <a:r>
              <a:rPr lang="en-US" sz="1500" dirty="0">
                <a:solidFill>
                  <a:schemeClr val="dk1">
                    <a:alpha val="100000"/>
                  </a:schemeClr>
                </a:solidFill>
                <a:latin typeface="Microsoft Yahei"/>
                <a:ea typeface="Microsoft Yahei"/>
                <a:cs typeface="Microsoft Yahei"/>
              </a:rPr>
              <a:t>Animal`类可以作为`Dog`和`Cat`类的父类，表示它们之间的“is-a”关系。</a:t>
            </a:r>
          </a:p>
        </p:txBody>
      </p:sp>
      <p:pic>
        <p:nvPicPr>
          <p:cNvPr id="14" name="Picture 14"/>
          <p:cNvPicPr>
            <a:picLocks noChangeAspect="1"/>
          </p:cNvPicPr>
          <p:nvPr/>
        </p:nvPicPr>
        <p:blipFill>
          <a:blip r:embed="rId5">
            <a:alphaModFix/>
          </a:blip>
          <a:srcRect/>
          <a:stretch>
            <a:fillRect/>
          </a:stretch>
        </p:blipFill>
        <p:spPr>
          <a:xfrm>
            <a:off x="9341840" y="1148842"/>
            <a:ext cx="1475427" cy="1475427"/>
          </a:xfrm>
          <a:prstGeom prst="ellipse">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576687" y="1256209"/>
            <a:ext cx="3308352" cy="3640782"/>
          </a:xfrm>
          <a:prstGeom prst="rect">
            <a:avLst/>
          </a:prstGeom>
          <a:solidFill>
            <a:schemeClr val="lt2">
              <a:alpha val="100000"/>
            </a:schemeClr>
          </a:solidFill>
          <a:ln/>
        </p:spPr>
      </p:sp>
      <p:sp>
        <p:nvSpPr>
          <p:cNvPr id="3" name="TextBox 3"/>
          <p:cNvSpPr txBox="1"/>
          <p:nvPr/>
        </p:nvSpPr>
        <p:spPr>
          <a:xfrm>
            <a:off x="802113" y="1434529"/>
            <a:ext cx="2857500" cy="447675"/>
          </a:xfrm>
          <a:prstGeom prst="rect">
            <a:avLst/>
          </a:prstGeom>
          <a:ln/>
        </p:spPr>
        <p:txBody>
          <a:bodyPr vert="horz" wrap="square" lIns="114300" tIns="57150" rIns="114300" bIns="57150" rtlCol="0" anchor="ctr" anchorCtr="0">
            <a:noAutofit/>
          </a:bodyPr>
          <a:lstStyle/>
          <a:p>
            <a:pPr algn="ctr">
              <a:lnSpc>
                <a:spcPct val="120000"/>
              </a:lnSpc>
            </a:pPr>
            <a:r>
              <a:rPr lang="en-US" sz="2400" b="1">
                <a:solidFill>
                  <a:schemeClr val="accent1">
                    <a:alpha val="100000"/>
                  </a:schemeClr>
                </a:solidFill>
                <a:latin typeface="Noto Sans SC"/>
                <a:ea typeface="Noto Sans SC"/>
                <a:cs typeface="Noto Sans SC"/>
              </a:rPr>
              <a:t>行为多样性</a:t>
            </a:r>
          </a:p>
        </p:txBody>
      </p:sp>
      <p:sp>
        <p:nvSpPr>
          <p:cNvPr id="4" name="TextBox 4"/>
          <p:cNvSpPr txBox="1"/>
          <p:nvPr/>
        </p:nvSpPr>
        <p:spPr>
          <a:xfrm>
            <a:off x="620970" y="1909320"/>
            <a:ext cx="3219785" cy="2592766"/>
          </a:xfrm>
          <a:prstGeom prst="rect">
            <a:avLst/>
          </a:prstGeom>
          <a:ln/>
        </p:spPr>
        <p:txBody>
          <a:bodyPr vert="horz" wrap="square" lIns="114300" tIns="57150" rIns="114300" bIns="57150" rtlCol="0" anchor="t" anchorCtr="0">
            <a:noAutofit/>
          </a:bodyPr>
          <a:lstStyle/>
          <a:p>
            <a:pPr algn="ctr">
              <a:lnSpc>
                <a:spcPct val="140000"/>
              </a:lnSpc>
            </a:pPr>
            <a:r>
              <a:rPr lang="en-US" sz="1500" dirty="0" err="1">
                <a:solidFill>
                  <a:schemeClr val="dk1">
                    <a:alpha val="100000"/>
                  </a:schemeClr>
                </a:solidFill>
                <a:latin typeface="Noto Sans SC"/>
                <a:ea typeface="Noto Sans SC"/>
                <a:cs typeface="Noto Sans SC"/>
              </a:rPr>
              <a:t>多态允许同一操作在不同对象上产生不同的行为，</a:t>
            </a:r>
            <a:r>
              <a:rPr lang="en-US" sz="1500" dirty="0" err="1" smtClean="0">
                <a:solidFill>
                  <a:schemeClr val="dk1">
                    <a:alpha val="100000"/>
                  </a:schemeClr>
                </a:solidFill>
                <a:latin typeface="Noto Sans SC"/>
                <a:ea typeface="Noto Sans SC"/>
                <a:cs typeface="Noto Sans SC"/>
              </a:rPr>
              <a:t>增强了代码灵活性和扩展性</a:t>
            </a:r>
            <a:r>
              <a:rPr lang="en-US" sz="1500" dirty="0" err="1">
                <a:solidFill>
                  <a:schemeClr val="dk1">
                    <a:alpha val="100000"/>
                  </a:schemeClr>
                </a:solidFill>
                <a:latin typeface="Noto Sans SC"/>
                <a:ea typeface="Noto Sans SC"/>
                <a:cs typeface="Noto Sans SC"/>
              </a:rPr>
              <a:t>。例如，通过方法重写（Override</a:t>
            </a:r>
            <a:r>
              <a:rPr lang="en-US" sz="1500" dirty="0">
                <a:solidFill>
                  <a:schemeClr val="dk1">
                    <a:alpha val="100000"/>
                  </a:schemeClr>
                </a:solidFill>
                <a:latin typeface="Noto Sans SC"/>
                <a:ea typeface="Noto Sans SC"/>
                <a:cs typeface="Noto Sans SC"/>
              </a:rPr>
              <a:t>），</a:t>
            </a:r>
            <a:r>
              <a:rPr lang="en-US" sz="1500" dirty="0" err="1">
                <a:solidFill>
                  <a:schemeClr val="dk1">
                    <a:alpha val="100000"/>
                  </a:schemeClr>
                </a:solidFill>
                <a:latin typeface="Noto Sans SC"/>
                <a:ea typeface="Noto Sans SC"/>
                <a:cs typeface="Noto Sans SC"/>
              </a:rPr>
              <a:t>子类可以提供与父类不同的实现，实现行为的多态性</a:t>
            </a:r>
            <a:r>
              <a:rPr lang="en-US" sz="1500" dirty="0">
                <a:solidFill>
                  <a:schemeClr val="dk1">
                    <a:alpha val="100000"/>
                  </a:schemeClr>
                </a:solidFill>
                <a:latin typeface="Noto Sans SC"/>
                <a:ea typeface="Noto Sans SC"/>
                <a:cs typeface="Noto Sans SC"/>
              </a:rPr>
              <a:t>。</a:t>
            </a:r>
          </a:p>
        </p:txBody>
      </p:sp>
      <p:sp>
        <p:nvSpPr>
          <p:cNvPr id="5" name="TextBox 5"/>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Noto Sans SC"/>
                <a:ea typeface="Noto Sans SC"/>
                <a:cs typeface="Noto Sans SC"/>
              </a:rPr>
              <a:t>多态与接口设计</a:t>
            </a:r>
          </a:p>
        </p:txBody>
      </p:sp>
      <p:pic>
        <p:nvPicPr>
          <p:cNvPr id="6" name="Picture 6"/>
          <p:cNvPicPr>
            <a:picLocks noChangeAspect="1"/>
          </p:cNvPicPr>
          <p:nvPr/>
        </p:nvPicPr>
        <p:blipFill>
          <a:blip r:embed="rId3">
            <a:alphaModFix/>
          </a:blip>
          <a:srcRect t="5587" b="38547"/>
          <a:stretch>
            <a:fillRect/>
          </a:stretch>
        </p:blipFill>
        <p:spPr>
          <a:xfrm>
            <a:off x="570387" y="4616837"/>
            <a:ext cx="3320950" cy="1756392"/>
          </a:xfrm>
          <a:prstGeom prst="rect">
            <a:avLst/>
          </a:prstGeom>
        </p:spPr>
      </p:pic>
      <p:sp>
        <p:nvSpPr>
          <p:cNvPr id="7" name="AutoShape 7"/>
          <p:cNvSpPr/>
          <p:nvPr/>
        </p:nvSpPr>
        <p:spPr>
          <a:xfrm>
            <a:off x="4413022" y="2732446"/>
            <a:ext cx="3308352" cy="3640782"/>
          </a:xfrm>
          <a:prstGeom prst="rect">
            <a:avLst/>
          </a:prstGeom>
          <a:solidFill>
            <a:schemeClr val="lt2">
              <a:alpha val="100000"/>
            </a:schemeClr>
          </a:solidFill>
          <a:ln/>
        </p:spPr>
      </p:sp>
      <p:sp>
        <p:nvSpPr>
          <p:cNvPr id="8" name="TextBox 8"/>
          <p:cNvSpPr txBox="1"/>
          <p:nvPr/>
        </p:nvSpPr>
        <p:spPr>
          <a:xfrm>
            <a:off x="4638448" y="3162514"/>
            <a:ext cx="2857500" cy="447675"/>
          </a:xfrm>
          <a:prstGeom prst="rect">
            <a:avLst/>
          </a:prstGeom>
          <a:ln/>
        </p:spPr>
        <p:txBody>
          <a:bodyPr vert="horz" wrap="square" lIns="114300" tIns="57150" rIns="114300" bIns="57150" rtlCol="0" anchor="ctr" anchorCtr="0">
            <a:noAutofit/>
          </a:bodyPr>
          <a:lstStyle/>
          <a:p>
            <a:pPr algn="ctr">
              <a:lnSpc>
                <a:spcPct val="120000"/>
              </a:lnSpc>
            </a:pPr>
            <a:r>
              <a:rPr lang="en-US" sz="2400" b="1">
                <a:solidFill>
                  <a:schemeClr val="accent1">
                    <a:alpha val="100000"/>
                  </a:schemeClr>
                </a:solidFill>
                <a:latin typeface="Noto Sans SC"/>
                <a:ea typeface="Noto Sans SC"/>
                <a:cs typeface="Noto Sans SC"/>
              </a:rPr>
              <a:t>接口统一</a:t>
            </a:r>
          </a:p>
        </p:txBody>
      </p:sp>
      <p:sp>
        <p:nvSpPr>
          <p:cNvPr id="9" name="TextBox 9"/>
          <p:cNvSpPr txBox="1"/>
          <p:nvPr/>
        </p:nvSpPr>
        <p:spPr>
          <a:xfrm>
            <a:off x="4457306" y="3649390"/>
            <a:ext cx="3219785" cy="2592766"/>
          </a:xfrm>
          <a:prstGeom prst="rect">
            <a:avLst/>
          </a:prstGeom>
          <a:ln/>
        </p:spPr>
        <p:txBody>
          <a:bodyPr vert="horz" wrap="square" lIns="114300" tIns="57150" rIns="114300" bIns="57150" rtlCol="0" anchor="t" anchorCtr="0">
            <a:noAutofit/>
          </a:bodyPr>
          <a:lstStyle/>
          <a:p>
            <a:pPr algn="ctr">
              <a:lnSpc>
                <a:spcPct val="140000"/>
              </a:lnSpc>
            </a:pPr>
            <a:r>
              <a:rPr lang="en-US" sz="1500" dirty="0" smtClean="0">
                <a:solidFill>
                  <a:schemeClr val="dk1">
                    <a:alpha val="100000"/>
                  </a:schemeClr>
                </a:solidFill>
                <a:latin typeface="Noto Sans SC"/>
                <a:ea typeface="Noto Sans SC"/>
                <a:cs typeface="Noto Sans SC"/>
              </a:rPr>
              <a:t>多态通过统一接口调用不同实现</a:t>
            </a:r>
            <a:r>
              <a:rPr lang="en-US" sz="1500" dirty="0">
                <a:solidFill>
                  <a:schemeClr val="dk1">
                    <a:alpha val="100000"/>
                  </a:schemeClr>
                </a:solidFill>
                <a:latin typeface="Noto Sans SC"/>
                <a:ea typeface="Noto Sans SC"/>
                <a:cs typeface="Noto Sans SC"/>
              </a:rPr>
              <a:t>，使得代码的扩展更加方便。例如，通过接口或抽象类定义通用行为，具体类实现这些行为，调用者只需关注接口，而无需关心具体实现。</a:t>
            </a:r>
          </a:p>
        </p:txBody>
      </p:sp>
      <p:pic>
        <p:nvPicPr>
          <p:cNvPr id="10" name="Picture 10"/>
          <p:cNvPicPr>
            <a:picLocks noChangeAspect="1"/>
          </p:cNvPicPr>
          <p:nvPr/>
        </p:nvPicPr>
        <p:blipFill>
          <a:blip r:embed="rId4">
            <a:alphaModFix/>
          </a:blip>
          <a:srcRect t="5587" b="38547"/>
          <a:stretch>
            <a:fillRect/>
          </a:stretch>
        </p:blipFill>
        <p:spPr>
          <a:xfrm>
            <a:off x="4406723" y="1256208"/>
            <a:ext cx="3320950" cy="1756392"/>
          </a:xfrm>
          <a:prstGeom prst="rect">
            <a:avLst/>
          </a:prstGeom>
        </p:spPr>
      </p:pic>
      <p:sp>
        <p:nvSpPr>
          <p:cNvPr id="11" name="AutoShape 11"/>
          <p:cNvSpPr/>
          <p:nvPr/>
        </p:nvSpPr>
        <p:spPr>
          <a:xfrm>
            <a:off x="8289006" y="1256209"/>
            <a:ext cx="3308352" cy="3640782"/>
          </a:xfrm>
          <a:prstGeom prst="rect">
            <a:avLst/>
          </a:prstGeom>
          <a:solidFill>
            <a:schemeClr val="lt2">
              <a:alpha val="100000"/>
            </a:schemeClr>
          </a:solidFill>
          <a:ln/>
        </p:spPr>
      </p:sp>
      <p:sp>
        <p:nvSpPr>
          <p:cNvPr id="12" name="TextBox 12"/>
          <p:cNvSpPr txBox="1"/>
          <p:nvPr/>
        </p:nvSpPr>
        <p:spPr>
          <a:xfrm>
            <a:off x="8514431" y="1434529"/>
            <a:ext cx="2857500" cy="447675"/>
          </a:xfrm>
          <a:prstGeom prst="rect">
            <a:avLst/>
          </a:prstGeom>
          <a:ln/>
        </p:spPr>
        <p:txBody>
          <a:bodyPr vert="horz" wrap="square" lIns="114300" tIns="57150" rIns="114300" bIns="57150" rtlCol="0" anchor="ctr" anchorCtr="0">
            <a:noAutofit/>
          </a:bodyPr>
          <a:lstStyle/>
          <a:p>
            <a:pPr algn="ctr">
              <a:lnSpc>
                <a:spcPct val="120000"/>
              </a:lnSpc>
            </a:pPr>
            <a:r>
              <a:rPr lang="en-US" sz="2400" b="1">
                <a:solidFill>
                  <a:schemeClr val="accent1">
                    <a:alpha val="100000"/>
                  </a:schemeClr>
                </a:solidFill>
                <a:latin typeface="Noto Sans SC"/>
                <a:ea typeface="Noto Sans SC"/>
                <a:cs typeface="Noto Sans SC"/>
              </a:rPr>
              <a:t>动态绑定</a:t>
            </a:r>
          </a:p>
        </p:txBody>
      </p:sp>
      <p:sp>
        <p:nvSpPr>
          <p:cNvPr id="13" name="TextBox 13"/>
          <p:cNvSpPr txBox="1"/>
          <p:nvPr/>
        </p:nvSpPr>
        <p:spPr>
          <a:xfrm>
            <a:off x="8333289" y="1924249"/>
            <a:ext cx="3219785" cy="2592766"/>
          </a:xfrm>
          <a:prstGeom prst="rect">
            <a:avLst/>
          </a:prstGeom>
          <a:ln/>
        </p:spPr>
        <p:txBody>
          <a:bodyPr vert="horz" wrap="square" lIns="114300" tIns="57150" rIns="114300" bIns="57150" rtlCol="0" anchor="t" anchorCtr="0">
            <a:noAutofit/>
          </a:bodyPr>
          <a:lstStyle/>
          <a:p>
            <a:pPr algn="ctr">
              <a:lnSpc>
                <a:spcPct val="140000"/>
              </a:lnSpc>
            </a:pPr>
            <a:r>
              <a:rPr lang="en-US" sz="1500" dirty="0">
                <a:solidFill>
                  <a:schemeClr val="dk1">
                    <a:alpha val="100000"/>
                  </a:schemeClr>
                </a:solidFill>
                <a:latin typeface="Noto Sans SC"/>
                <a:ea typeface="Noto Sans SC"/>
                <a:cs typeface="Noto Sans SC"/>
              </a:rPr>
              <a:t>多态通过动态绑定机制，在运行时确定调用哪个方法，</a:t>
            </a:r>
            <a:r>
              <a:rPr lang="en-US" sz="1500" dirty="0" smtClean="0">
                <a:solidFill>
                  <a:schemeClr val="dk1">
                    <a:alpha val="100000"/>
                  </a:schemeClr>
                </a:solidFill>
                <a:latin typeface="Noto Sans SC"/>
                <a:ea typeface="Noto Sans SC"/>
                <a:cs typeface="Noto Sans SC"/>
              </a:rPr>
              <a:t>使得代码行为更加灵活和动态</a:t>
            </a:r>
            <a:r>
              <a:rPr lang="en-US" sz="1500" dirty="0">
                <a:solidFill>
                  <a:schemeClr val="dk1">
                    <a:alpha val="100000"/>
                  </a:schemeClr>
                </a:solidFill>
                <a:latin typeface="Noto Sans SC"/>
                <a:ea typeface="Noto Sans SC"/>
                <a:cs typeface="Noto Sans SC"/>
              </a:rPr>
              <a:t>。例如，Java中的方法调用在运行时根据对象的实际类型决定，而不是根据引用类型。</a:t>
            </a:r>
          </a:p>
        </p:txBody>
      </p:sp>
      <p:pic>
        <p:nvPicPr>
          <p:cNvPr id="14" name="Picture 14"/>
          <p:cNvPicPr>
            <a:picLocks noChangeAspect="1"/>
          </p:cNvPicPr>
          <p:nvPr/>
        </p:nvPicPr>
        <p:blipFill>
          <a:blip r:embed="rId5">
            <a:alphaModFix/>
          </a:blip>
          <a:srcRect t="10234" b="10234"/>
          <a:stretch>
            <a:fillRect/>
          </a:stretch>
        </p:blipFill>
        <p:spPr>
          <a:xfrm>
            <a:off x="8282707" y="4616836"/>
            <a:ext cx="3320950" cy="1756392"/>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5280874" y="2017809"/>
            <a:ext cx="1630253" cy="1138956"/>
          </a:xfrm>
          <a:prstGeom prst="rect">
            <a:avLst/>
          </a:prstGeom>
          <a:ln/>
        </p:spPr>
        <p:txBody>
          <a:bodyPr vert="horz" wrap="square" lIns="66008" tIns="33052" rIns="66008" bIns="33052" rtlCol="0" anchor="ctr" anchorCtr="0">
            <a:noAutofit/>
          </a:bodyPr>
          <a:lstStyle/>
          <a:p>
            <a:pPr algn="ctr">
              <a:lnSpc>
                <a:spcPct val="100000"/>
              </a:lnSpc>
            </a:pPr>
            <a:r>
              <a:rPr lang="en-US" sz="8025" b="1">
                <a:solidFill>
                  <a:schemeClr val="accent1">
                    <a:alpha val="100000"/>
                  </a:schemeClr>
                </a:solidFill>
                <a:latin typeface="Noto Sans SC"/>
                <a:ea typeface="Noto Sans SC"/>
                <a:cs typeface="Noto Sans SC"/>
              </a:rPr>
              <a:t>03</a:t>
            </a:r>
          </a:p>
        </p:txBody>
      </p:sp>
      <p:sp>
        <p:nvSpPr>
          <p:cNvPr id="3" name="TextBox 3"/>
          <p:cNvSpPr txBox="1"/>
          <p:nvPr/>
        </p:nvSpPr>
        <p:spPr>
          <a:xfrm>
            <a:off x="3013710" y="3156765"/>
            <a:ext cx="6164580" cy="1615440"/>
          </a:xfrm>
          <a:prstGeom prst="rect">
            <a:avLst/>
          </a:prstGeom>
          <a:ln/>
        </p:spPr>
        <p:txBody>
          <a:bodyPr vert="horz" wrap="square" lIns="91440" tIns="45720" rIns="91440" bIns="45720" rtlCol="0" anchor="t" anchorCtr="0">
            <a:noAutofit/>
          </a:bodyPr>
          <a:lstStyle/>
          <a:p>
            <a:pPr algn="ctr">
              <a:lnSpc>
                <a:spcPct val="100000"/>
              </a:lnSpc>
              <a:spcBef>
                <a:spcPct val="0"/>
              </a:spcBef>
            </a:pPr>
            <a:r>
              <a:rPr lang="en-US" sz="4500" b="1">
                <a:solidFill>
                  <a:schemeClr val="dk1">
                    <a:alpha val="100000"/>
                  </a:schemeClr>
                </a:solidFill>
                <a:latin typeface="Noto Sans SC"/>
                <a:ea typeface="Noto Sans SC"/>
                <a:cs typeface="Noto Sans SC"/>
              </a:rPr>
              <a:t>类关系设计</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blip>
          <a:srcRect/>
          <a:stretch>
            <a:fillRect/>
          </a:stretch>
        </p:blipFill>
        <p:spPr>
          <a:xfrm>
            <a:off x="640619" y="1239230"/>
            <a:ext cx="2397494" cy="5044771"/>
          </a:xfrm>
          <a:prstGeom prst="rect">
            <a:avLst/>
          </a:prstGeom>
        </p:spPr>
      </p:pic>
      <p:sp>
        <p:nvSpPr>
          <p:cNvPr id="3" name="TextBox 3"/>
          <p:cNvSpPr txBox="1"/>
          <p:nvPr/>
        </p:nvSpPr>
        <p:spPr>
          <a:xfrm>
            <a:off x="476023" y="265328"/>
            <a:ext cx="11239500" cy="942975"/>
          </a:xfrm>
          <a:prstGeom prst="rect">
            <a:avLst/>
          </a:prstGeom>
          <a:ln/>
        </p:spPr>
        <p:txBody>
          <a:bodyPr vert="horz" wrap="square" lIns="123825" tIns="123825" rIns="57150" bIns="123825" rtlCol="0" anchor="t" anchorCtr="0">
            <a:spAutoFit/>
          </a:bodyPr>
          <a:lstStyle/>
          <a:p>
            <a:pPr>
              <a:lnSpc>
                <a:spcPct val="140000"/>
              </a:lnSpc>
            </a:pPr>
            <a:r>
              <a:rPr lang="en-US" sz="3000" b="1">
                <a:solidFill>
                  <a:schemeClr val="dk2">
                    <a:alpha val="100000"/>
                  </a:schemeClr>
                </a:solidFill>
                <a:latin typeface="Noto Sans SC"/>
                <a:ea typeface="Noto Sans SC"/>
                <a:cs typeface="Noto Sans SC"/>
              </a:rPr>
              <a:t>依赖与关联关系</a:t>
            </a:r>
          </a:p>
        </p:txBody>
      </p:sp>
      <p:sp>
        <p:nvSpPr>
          <p:cNvPr id="4" name="AutoShape 4"/>
          <p:cNvSpPr/>
          <p:nvPr/>
        </p:nvSpPr>
        <p:spPr>
          <a:xfrm>
            <a:off x="2651850" y="4787018"/>
            <a:ext cx="701468" cy="550104"/>
          </a:xfrm>
          <a:prstGeom prst="rect">
            <a:avLst/>
          </a:prstGeom>
          <a:solidFill>
            <a:schemeClr val="accent1">
              <a:alpha val="100000"/>
            </a:schemeClr>
          </a:solidFill>
          <a:ln/>
        </p:spPr>
      </p:sp>
      <p:sp>
        <p:nvSpPr>
          <p:cNvPr id="5" name="AutoShape 5"/>
          <p:cNvSpPr/>
          <p:nvPr/>
        </p:nvSpPr>
        <p:spPr>
          <a:xfrm>
            <a:off x="2651850" y="3018088"/>
            <a:ext cx="701468" cy="550104"/>
          </a:xfrm>
          <a:prstGeom prst="rect">
            <a:avLst/>
          </a:prstGeom>
          <a:solidFill>
            <a:schemeClr val="accent1">
              <a:alpha val="100000"/>
            </a:schemeClr>
          </a:solidFill>
          <a:ln/>
        </p:spPr>
      </p:sp>
      <p:sp>
        <p:nvSpPr>
          <p:cNvPr id="6" name="AutoShape 6"/>
          <p:cNvSpPr/>
          <p:nvPr/>
        </p:nvSpPr>
        <p:spPr>
          <a:xfrm>
            <a:off x="2651850" y="1237957"/>
            <a:ext cx="701468" cy="550104"/>
          </a:xfrm>
          <a:prstGeom prst="rect">
            <a:avLst/>
          </a:prstGeom>
          <a:solidFill>
            <a:schemeClr val="accent1">
              <a:alpha val="100000"/>
            </a:schemeClr>
          </a:solidFill>
          <a:ln/>
        </p:spPr>
      </p:sp>
      <p:sp>
        <p:nvSpPr>
          <p:cNvPr id="7" name="TextBox 7"/>
          <p:cNvSpPr txBox="1"/>
          <p:nvPr/>
        </p:nvSpPr>
        <p:spPr>
          <a:xfrm>
            <a:off x="3729047" y="1165346"/>
            <a:ext cx="6286500" cy="695325"/>
          </a:xfrm>
          <a:prstGeom prst="rect">
            <a:avLst/>
          </a:prstGeom>
          <a:ln/>
        </p:spPr>
        <p:txBody>
          <a:bodyPr vert="horz" wrap="square" lIns="123825" tIns="123825" rIns="57150" bIns="123825" rtlCol="0" anchor="ctr" anchorCtr="0">
            <a:noAutofit/>
          </a:bodyPr>
          <a:lstStyle/>
          <a:p>
            <a:pPr>
              <a:lnSpc>
                <a:spcPct val="140000"/>
              </a:lnSpc>
            </a:pPr>
            <a:r>
              <a:rPr lang="en-US" sz="2400" b="1">
                <a:solidFill>
                  <a:schemeClr val="accent1">
                    <a:alpha val="100000"/>
                  </a:schemeClr>
                </a:solidFill>
                <a:latin typeface="Noto Sans SC"/>
                <a:ea typeface="Noto Sans SC"/>
                <a:cs typeface="Noto Sans SC"/>
              </a:rPr>
              <a:t>依赖关系</a:t>
            </a:r>
          </a:p>
        </p:txBody>
      </p:sp>
      <p:sp>
        <p:nvSpPr>
          <p:cNvPr id="8" name="TextBox 8"/>
          <p:cNvSpPr txBox="1"/>
          <p:nvPr/>
        </p:nvSpPr>
        <p:spPr>
          <a:xfrm>
            <a:off x="3729047" y="1788061"/>
            <a:ext cx="8249905" cy="1081445"/>
          </a:xfrm>
          <a:prstGeom prst="rect">
            <a:avLst/>
          </a:prstGeom>
          <a:ln/>
        </p:spPr>
        <p:txBody>
          <a:bodyPr vert="horz" wrap="square" lIns="123825" tIns="123825" rIns="57150" bIns="123825" rtlCol="0" anchor="ctr" anchorCtr="0">
            <a:noAutofit/>
          </a:bodyPr>
          <a:lstStyle/>
          <a:p>
            <a:pPr>
              <a:lnSpc>
                <a:spcPct val="140000"/>
              </a:lnSpc>
            </a:pPr>
            <a:r>
              <a:rPr lang="en-US" sz="1425">
                <a:solidFill>
                  <a:schemeClr val="dk1">
                    <a:alpha val="100000"/>
                  </a:schemeClr>
                </a:solidFill>
                <a:latin typeface="Noto Sans SC"/>
                <a:ea typeface="Noto Sans SC"/>
                <a:cs typeface="Noto Sans SC"/>
              </a:rPr>
              <a:t>依赖关系是一种临时性的关系，表示一个类在某个功能实现中需要引用另一个类。这种关系通常通过局部变量、方法参数或静态方法调用来体现。例如，学生类（Student）在执行编程任务时，可能需要使用电脑类（Computer）的启动方法，此时学生类依赖于电脑类。</a:t>
            </a:r>
          </a:p>
        </p:txBody>
      </p:sp>
      <p:sp>
        <p:nvSpPr>
          <p:cNvPr id="9" name="AutoShape 9"/>
          <p:cNvSpPr/>
          <p:nvPr/>
        </p:nvSpPr>
        <p:spPr>
          <a:xfrm>
            <a:off x="3086434" y="4787018"/>
            <a:ext cx="550104" cy="550104"/>
          </a:xfrm>
          <a:prstGeom prst="ellipse">
            <a:avLst/>
          </a:prstGeom>
          <a:solidFill>
            <a:schemeClr val="accent1">
              <a:alpha val="100000"/>
            </a:schemeClr>
          </a:solidFill>
          <a:ln/>
        </p:spPr>
      </p:sp>
      <p:sp>
        <p:nvSpPr>
          <p:cNvPr id="10" name="AutoShape 10"/>
          <p:cNvSpPr/>
          <p:nvPr/>
        </p:nvSpPr>
        <p:spPr>
          <a:xfrm>
            <a:off x="2368630" y="4787018"/>
            <a:ext cx="550104" cy="550104"/>
          </a:xfrm>
          <a:prstGeom prst="ellipse">
            <a:avLst/>
          </a:prstGeom>
          <a:solidFill>
            <a:schemeClr val="accent1">
              <a:alpha val="100000"/>
            </a:schemeClr>
          </a:solidFill>
          <a:ln/>
        </p:spPr>
      </p:sp>
      <p:sp>
        <p:nvSpPr>
          <p:cNvPr id="11" name="AutoShape 11"/>
          <p:cNvSpPr/>
          <p:nvPr/>
        </p:nvSpPr>
        <p:spPr>
          <a:xfrm>
            <a:off x="3086434" y="3018088"/>
            <a:ext cx="550104" cy="550104"/>
          </a:xfrm>
          <a:prstGeom prst="ellipse">
            <a:avLst/>
          </a:prstGeom>
          <a:solidFill>
            <a:schemeClr val="accent1">
              <a:alpha val="100000"/>
            </a:schemeClr>
          </a:solidFill>
          <a:ln/>
        </p:spPr>
      </p:sp>
      <p:sp>
        <p:nvSpPr>
          <p:cNvPr id="12" name="AutoShape 12"/>
          <p:cNvSpPr/>
          <p:nvPr/>
        </p:nvSpPr>
        <p:spPr>
          <a:xfrm>
            <a:off x="2368630" y="3018088"/>
            <a:ext cx="550104" cy="550104"/>
          </a:xfrm>
          <a:prstGeom prst="ellipse">
            <a:avLst/>
          </a:prstGeom>
          <a:solidFill>
            <a:schemeClr val="accent1">
              <a:alpha val="100000"/>
            </a:schemeClr>
          </a:solidFill>
          <a:ln/>
        </p:spPr>
      </p:sp>
      <p:sp>
        <p:nvSpPr>
          <p:cNvPr id="13" name="AutoShape 13"/>
          <p:cNvSpPr/>
          <p:nvPr/>
        </p:nvSpPr>
        <p:spPr>
          <a:xfrm>
            <a:off x="3086434" y="1237957"/>
            <a:ext cx="550104" cy="550104"/>
          </a:xfrm>
          <a:prstGeom prst="ellipse">
            <a:avLst/>
          </a:prstGeom>
          <a:solidFill>
            <a:schemeClr val="accent1">
              <a:alpha val="100000"/>
            </a:schemeClr>
          </a:solidFill>
          <a:ln/>
        </p:spPr>
      </p:sp>
      <p:sp>
        <p:nvSpPr>
          <p:cNvPr id="14" name="AutoShape 14"/>
          <p:cNvSpPr/>
          <p:nvPr/>
        </p:nvSpPr>
        <p:spPr>
          <a:xfrm>
            <a:off x="2368630" y="1237957"/>
            <a:ext cx="550104" cy="550104"/>
          </a:xfrm>
          <a:prstGeom prst="ellipse">
            <a:avLst/>
          </a:prstGeom>
          <a:solidFill>
            <a:schemeClr val="accent1">
              <a:alpha val="100000"/>
            </a:schemeClr>
          </a:solidFill>
          <a:ln/>
        </p:spPr>
      </p:sp>
      <p:sp>
        <p:nvSpPr>
          <p:cNvPr id="15" name="TextBox 15"/>
          <p:cNvSpPr txBox="1"/>
          <p:nvPr/>
        </p:nvSpPr>
        <p:spPr>
          <a:xfrm>
            <a:off x="2619589" y="4825850"/>
            <a:ext cx="765990" cy="472440"/>
          </a:xfrm>
          <a:prstGeom prst="rect">
            <a:avLst/>
          </a:prstGeom>
          <a:ln/>
        </p:spPr>
        <p:txBody>
          <a:bodyPr vert="horz" wrap="square" lIns="91440" tIns="45720" rIns="91440" bIns="45720" rtlCol="0" anchor="ctr" anchorCtr="0">
            <a:noAutofit/>
          </a:bodyPr>
          <a:lstStyle/>
          <a:p>
            <a:pPr algn="ctr">
              <a:lnSpc>
                <a:spcPct val="100000"/>
              </a:lnSpc>
              <a:spcBef>
                <a:spcPts val="375"/>
              </a:spcBef>
            </a:pPr>
            <a:r>
              <a:rPr lang="en-US" sz="2325" b="1">
                <a:solidFill>
                  <a:srgbClr val="FFFFFF">
                    <a:alpha val="100000"/>
                  </a:srgbClr>
                </a:solidFill>
                <a:latin typeface="Noto Sans SC"/>
                <a:ea typeface="Noto Sans SC"/>
                <a:cs typeface="Noto Sans SC"/>
              </a:rPr>
              <a:t>03</a:t>
            </a:r>
          </a:p>
        </p:txBody>
      </p:sp>
      <p:sp>
        <p:nvSpPr>
          <p:cNvPr id="16" name="TextBox 16"/>
          <p:cNvSpPr txBox="1"/>
          <p:nvPr/>
        </p:nvSpPr>
        <p:spPr>
          <a:xfrm>
            <a:off x="2619589" y="3056920"/>
            <a:ext cx="765990" cy="472440"/>
          </a:xfrm>
          <a:prstGeom prst="rect">
            <a:avLst/>
          </a:prstGeom>
          <a:ln/>
        </p:spPr>
        <p:txBody>
          <a:bodyPr vert="horz" wrap="square" lIns="91440" tIns="45720" rIns="91440" bIns="45720" rtlCol="0" anchor="ctr" anchorCtr="0">
            <a:noAutofit/>
          </a:bodyPr>
          <a:lstStyle/>
          <a:p>
            <a:pPr algn="ctr">
              <a:lnSpc>
                <a:spcPct val="100000"/>
              </a:lnSpc>
              <a:spcBef>
                <a:spcPts val="375"/>
              </a:spcBef>
            </a:pPr>
            <a:r>
              <a:rPr lang="en-US" sz="2325" b="1">
                <a:solidFill>
                  <a:srgbClr val="FFFFFF">
                    <a:alpha val="100000"/>
                  </a:srgbClr>
                </a:solidFill>
                <a:latin typeface="Noto Sans SC"/>
                <a:ea typeface="Noto Sans SC"/>
                <a:cs typeface="Noto Sans SC"/>
              </a:rPr>
              <a:t>02</a:t>
            </a:r>
          </a:p>
        </p:txBody>
      </p:sp>
      <p:sp>
        <p:nvSpPr>
          <p:cNvPr id="17" name="TextBox 17"/>
          <p:cNvSpPr txBox="1"/>
          <p:nvPr/>
        </p:nvSpPr>
        <p:spPr>
          <a:xfrm>
            <a:off x="2619589" y="1276789"/>
            <a:ext cx="765990" cy="472440"/>
          </a:xfrm>
          <a:prstGeom prst="rect">
            <a:avLst/>
          </a:prstGeom>
          <a:ln/>
        </p:spPr>
        <p:txBody>
          <a:bodyPr vert="horz" wrap="square" lIns="91440" tIns="45720" rIns="91440" bIns="45720" rtlCol="0" anchor="ctr" anchorCtr="0">
            <a:noAutofit/>
          </a:bodyPr>
          <a:lstStyle/>
          <a:p>
            <a:pPr algn="ctr">
              <a:lnSpc>
                <a:spcPct val="100000"/>
              </a:lnSpc>
              <a:spcBef>
                <a:spcPts val="375"/>
              </a:spcBef>
            </a:pPr>
            <a:r>
              <a:rPr lang="en-US" sz="2325" b="1">
                <a:solidFill>
                  <a:srgbClr val="FFFFFF">
                    <a:alpha val="100000"/>
                  </a:srgbClr>
                </a:solidFill>
                <a:latin typeface="Noto Sans SC"/>
                <a:ea typeface="Noto Sans SC"/>
                <a:cs typeface="Noto Sans SC"/>
              </a:rPr>
              <a:t>01</a:t>
            </a:r>
          </a:p>
        </p:txBody>
      </p:sp>
      <p:sp>
        <p:nvSpPr>
          <p:cNvPr id="18" name="TextBox 18"/>
          <p:cNvSpPr txBox="1"/>
          <p:nvPr/>
        </p:nvSpPr>
        <p:spPr>
          <a:xfrm>
            <a:off x="3729047" y="2951620"/>
            <a:ext cx="6286500" cy="695325"/>
          </a:xfrm>
          <a:prstGeom prst="rect">
            <a:avLst/>
          </a:prstGeom>
          <a:ln/>
        </p:spPr>
        <p:txBody>
          <a:bodyPr vert="horz" wrap="square" lIns="123825" tIns="123825" rIns="57150" bIns="123825" rtlCol="0" anchor="ctr" anchorCtr="0">
            <a:noAutofit/>
          </a:bodyPr>
          <a:lstStyle/>
          <a:p>
            <a:pPr>
              <a:lnSpc>
                <a:spcPct val="140000"/>
              </a:lnSpc>
            </a:pPr>
            <a:r>
              <a:rPr lang="en-US" sz="2400" b="1">
                <a:solidFill>
                  <a:schemeClr val="accent1">
                    <a:alpha val="100000"/>
                  </a:schemeClr>
                </a:solidFill>
                <a:latin typeface="Noto Sans SC"/>
                <a:ea typeface="Noto Sans SC"/>
                <a:cs typeface="Noto Sans SC"/>
              </a:rPr>
              <a:t>单向关联</a:t>
            </a:r>
          </a:p>
        </p:txBody>
      </p:sp>
      <p:sp>
        <p:nvSpPr>
          <p:cNvPr id="19" name="TextBox 19"/>
          <p:cNvSpPr txBox="1"/>
          <p:nvPr/>
        </p:nvSpPr>
        <p:spPr>
          <a:xfrm>
            <a:off x="3729047" y="3574334"/>
            <a:ext cx="8249905" cy="1081445"/>
          </a:xfrm>
          <a:prstGeom prst="rect">
            <a:avLst/>
          </a:prstGeom>
          <a:ln/>
        </p:spPr>
        <p:txBody>
          <a:bodyPr vert="horz" wrap="square" lIns="123825" tIns="123825" rIns="57150" bIns="123825" rtlCol="0" anchor="ctr" anchorCtr="0">
            <a:noAutofit/>
          </a:bodyPr>
          <a:lstStyle/>
          <a:p>
            <a:pPr>
              <a:lnSpc>
                <a:spcPct val="140000"/>
              </a:lnSpc>
            </a:pPr>
            <a:r>
              <a:rPr lang="en-US" sz="1425">
                <a:solidFill>
                  <a:schemeClr val="dk1">
                    <a:alpha val="100000"/>
                  </a:schemeClr>
                </a:solidFill>
                <a:latin typeface="Noto Sans SC"/>
                <a:ea typeface="Noto Sans SC"/>
                <a:cs typeface="Noto Sans SC"/>
              </a:rPr>
              <a:t>单向关联是一种对象之间的引用关系，通常通过将一个类的对象作为另一个类的成员变量来实现。例如，老师类（Teacher）可以包含学生类（Student）的引用，表示老师可以教授学生，但学生并不直接引用老师。</a:t>
            </a:r>
          </a:p>
        </p:txBody>
      </p:sp>
      <p:sp>
        <p:nvSpPr>
          <p:cNvPr id="20" name="TextBox 20"/>
          <p:cNvSpPr txBox="1"/>
          <p:nvPr/>
        </p:nvSpPr>
        <p:spPr>
          <a:xfrm>
            <a:off x="3729047" y="4737324"/>
            <a:ext cx="6286500" cy="695325"/>
          </a:xfrm>
          <a:prstGeom prst="rect">
            <a:avLst/>
          </a:prstGeom>
          <a:ln/>
        </p:spPr>
        <p:txBody>
          <a:bodyPr vert="horz" wrap="square" lIns="123825" tIns="123825" rIns="57150" bIns="123825" rtlCol="0" anchor="ctr" anchorCtr="0">
            <a:noAutofit/>
          </a:bodyPr>
          <a:lstStyle/>
          <a:p>
            <a:pPr>
              <a:lnSpc>
                <a:spcPct val="140000"/>
              </a:lnSpc>
            </a:pPr>
            <a:r>
              <a:rPr lang="en-US" sz="2400" b="1">
                <a:solidFill>
                  <a:schemeClr val="accent1">
                    <a:alpha val="100000"/>
                  </a:schemeClr>
                </a:solidFill>
                <a:latin typeface="Noto Sans SC"/>
                <a:ea typeface="Noto Sans SC"/>
                <a:cs typeface="Noto Sans SC"/>
              </a:rPr>
              <a:t>双向关联</a:t>
            </a:r>
          </a:p>
        </p:txBody>
      </p:sp>
      <p:sp>
        <p:nvSpPr>
          <p:cNvPr id="21" name="TextBox 21"/>
          <p:cNvSpPr txBox="1"/>
          <p:nvPr/>
        </p:nvSpPr>
        <p:spPr>
          <a:xfrm>
            <a:off x="3729047" y="5360039"/>
            <a:ext cx="8249905" cy="1081445"/>
          </a:xfrm>
          <a:prstGeom prst="rect">
            <a:avLst/>
          </a:prstGeom>
          <a:ln/>
        </p:spPr>
        <p:txBody>
          <a:bodyPr vert="horz" wrap="square" lIns="123825" tIns="123825" rIns="57150" bIns="123825" rtlCol="0" anchor="ctr" anchorCtr="0">
            <a:noAutofit/>
          </a:bodyPr>
          <a:lstStyle/>
          <a:p>
            <a:pPr>
              <a:lnSpc>
                <a:spcPct val="140000"/>
              </a:lnSpc>
            </a:pPr>
            <a:r>
              <a:rPr lang="en-US" sz="1425">
                <a:solidFill>
                  <a:schemeClr val="dk1">
                    <a:alpha val="100000"/>
                  </a:schemeClr>
                </a:solidFill>
                <a:latin typeface="Noto Sans SC"/>
                <a:ea typeface="Noto Sans SC"/>
                <a:cs typeface="Noto Sans SC"/>
              </a:rPr>
              <a:t>双向关联表示两个类之间存在相互引用的关系。例如，学生类（Student）和课程类（Course）之间可以存在双向关联，学生可以选择课程，课程也可以包含学生。这种关系通常通过两个类之间的成员变量来实现。</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503731" y="1707455"/>
            <a:ext cx="8109936" cy="1151241"/>
          </a:xfrm>
          <a:prstGeom prst="rect">
            <a:avLst/>
          </a:prstGeom>
          <a:ln/>
        </p:spPr>
        <p:txBody>
          <a:bodyPr vert="horz" wrap="square" lIns="114300" tIns="57150" rIns="114300" bIns="57150" rtlCol="0" anchor="t" anchorCtr="0">
            <a:noAutofit/>
          </a:bodyPr>
          <a:lstStyle/>
          <a:p>
            <a:pPr>
              <a:lnSpc>
                <a:spcPct val="140000"/>
              </a:lnSpc>
            </a:pPr>
            <a:r>
              <a:rPr lang="en-US" sz="1500">
                <a:solidFill>
                  <a:schemeClr val="dk1">
                    <a:alpha val="100000"/>
                  </a:schemeClr>
                </a:solidFill>
                <a:latin typeface="Noto Sans SC"/>
                <a:ea typeface="Noto Sans SC"/>
                <a:cs typeface="Noto Sans SC"/>
              </a:rPr>
              <a:t>组合关系是一种强聚合关系，表示部分对象不能脱离整体对象而单独存在。例如，头类（Head）和嘴类（Mouth）之间存在组合关系，嘴是头的一部分，不能脱离头而存在。在UML类图中，组合关系用带实心菱形的实线表示，菱形指向整体。</a:t>
            </a:r>
          </a:p>
        </p:txBody>
      </p:sp>
      <p:pic>
        <p:nvPicPr>
          <p:cNvPr id="3" name="Picture 3"/>
          <p:cNvPicPr>
            <a:picLocks noChangeAspect="1"/>
          </p:cNvPicPr>
          <p:nvPr/>
        </p:nvPicPr>
        <p:blipFill>
          <a:blip r:embed="rId3">
            <a:alphaModFix/>
          </a:blip>
          <a:srcRect l="30585" r="30585"/>
          <a:stretch>
            <a:fillRect/>
          </a:stretch>
        </p:blipFill>
        <p:spPr>
          <a:xfrm>
            <a:off x="8969009" y="1328023"/>
            <a:ext cx="2420772" cy="4888921"/>
          </a:xfrm>
          <a:prstGeom prst="rect">
            <a:avLst/>
          </a:prstGeom>
        </p:spPr>
      </p:pic>
      <p:sp>
        <p:nvSpPr>
          <p:cNvPr id="4" name="TextBox 4"/>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Noto Sans SC"/>
                <a:ea typeface="Noto Sans SC"/>
                <a:cs typeface="Noto Sans SC"/>
              </a:rPr>
              <a:t>组合与聚合原则</a:t>
            </a:r>
          </a:p>
        </p:txBody>
      </p:sp>
      <p:sp>
        <p:nvSpPr>
          <p:cNvPr id="5" name="TextBox 5"/>
          <p:cNvSpPr txBox="1"/>
          <p:nvPr/>
        </p:nvSpPr>
        <p:spPr>
          <a:xfrm>
            <a:off x="503731" y="1268717"/>
            <a:ext cx="7146070" cy="449970"/>
          </a:xfrm>
          <a:prstGeom prst="rect">
            <a:avLst/>
          </a:prstGeom>
          <a:ln/>
        </p:spPr>
        <p:txBody>
          <a:bodyPr vert="horz" wrap="square" lIns="114300" tIns="57150" rIns="114300" bIns="57150" rtlCol="0" anchor="ctr" anchorCtr="0">
            <a:noAutofit/>
          </a:bodyPr>
          <a:lstStyle/>
          <a:p>
            <a:pPr>
              <a:lnSpc>
                <a:spcPct val="77000"/>
              </a:lnSpc>
            </a:pPr>
            <a:r>
              <a:rPr lang="en-US" sz="2000" b="1">
                <a:solidFill>
                  <a:schemeClr val="accent1">
                    <a:alpha val="100000"/>
                  </a:schemeClr>
                </a:solidFill>
                <a:latin typeface="Noto Sans SC"/>
                <a:ea typeface="Noto Sans SC"/>
                <a:cs typeface="Noto Sans SC"/>
              </a:rPr>
              <a:t>组合关系</a:t>
            </a:r>
          </a:p>
        </p:txBody>
      </p:sp>
      <p:sp>
        <p:nvSpPr>
          <p:cNvPr id="6" name="TextBox 6"/>
          <p:cNvSpPr txBox="1"/>
          <p:nvPr/>
        </p:nvSpPr>
        <p:spPr>
          <a:xfrm>
            <a:off x="497335" y="3427906"/>
            <a:ext cx="8109936" cy="1151241"/>
          </a:xfrm>
          <a:prstGeom prst="rect">
            <a:avLst/>
          </a:prstGeom>
          <a:ln/>
        </p:spPr>
        <p:txBody>
          <a:bodyPr vert="horz" wrap="square" lIns="114300" tIns="57150" rIns="114300" bIns="57150" rtlCol="0" anchor="t" anchorCtr="0">
            <a:noAutofit/>
          </a:bodyPr>
          <a:lstStyle/>
          <a:p>
            <a:pPr>
              <a:lnSpc>
                <a:spcPct val="140000"/>
              </a:lnSpc>
            </a:pPr>
            <a:r>
              <a:rPr lang="en-US" sz="1500">
                <a:solidFill>
                  <a:schemeClr val="dk1">
                    <a:alpha val="100000"/>
                  </a:schemeClr>
                </a:solidFill>
                <a:latin typeface="Noto Sans SC"/>
                <a:ea typeface="Noto Sans SC"/>
                <a:cs typeface="Noto Sans SC"/>
              </a:rPr>
              <a:t>聚合关系是一种弱关联关系，表示部分对象可以脱离整体对象而单独存在。例如，学校类（School）和老师类（Teacher）之间存在聚合关系，老师是学校的一部分，但即使学校停办，老师仍然可以存在。在UML类图中，聚合关系用带空心菱形的实线表示，菱形指向整体。</a:t>
            </a:r>
          </a:p>
        </p:txBody>
      </p:sp>
      <p:sp>
        <p:nvSpPr>
          <p:cNvPr id="7" name="TextBox 7"/>
          <p:cNvSpPr txBox="1"/>
          <p:nvPr/>
        </p:nvSpPr>
        <p:spPr>
          <a:xfrm>
            <a:off x="497335" y="2989168"/>
            <a:ext cx="7146070" cy="449970"/>
          </a:xfrm>
          <a:prstGeom prst="rect">
            <a:avLst/>
          </a:prstGeom>
          <a:ln/>
        </p:spPr>
        <p:txBody>
          <a:bodyPr vert="horz" wrap="square" lIns="114300" tIns="57150" rIns="114300" bIns="57150" rtlCol="0" anchor="ctr" anchorCtr="0">
            <a:noAutofit/>
          </a:bodyPr>
          <a:lstStyle/>
          <a:p>
            <a:pPr>
              <a:lnSpc>
                <a:spcPct val="77000"/>
              </a:lnSpc>
            </a:pPr>
            <a:r>
              <a:rPr lang="en-US" sz="2000" b="1">
                <a:solidFill>
                  <a:schemeClr val="accent1">
                    <a:alpha val="100000"/>
                  </a:schemeClr>
                </a:solidFill>
                <a:latin typeface="Noto Sans SC"/>
                <a:ea typeface="Noto Sans SC"/>
                <a:cs typeface="Noto Sans SC"/>
              </a:rPr>
              <a:t>聚合关系</a:t>
            </a:r>
          </a:p>
        </p:txBody>
      </p:sp>
      <p:sp>
        <p:nvSpPr>
          <p:cNvPr id="8" name="TextBox 8"/>
          <p:cNvSpPr txBox="1"/>
          <p:nvPr/>
        </p:nvSpPr>
        <p:spPr>
          <a:xfrm>
            <a:off x="490939" y="5118361"/>
            <a:ext cx="8109936" cy="1151241"/>
          </a:xfrm>
          <a:prstGeom prst="rect">
            <a:avLst/>
          </a:prstGeom>
          <a:ln/>
        </p:spPr>
        <p:txBody>
          <a:bodyPr vert="horz" wrap="square" lIns="114300" tIns="57150" rIns="114300" bIns="57150" rtlCol="0" anchor="t" anchorCtr="0">
            <a:noAutofit/>
          </a:bodyPr>
          <a:lstStyle/>
          <a:p>
            <a:pPr>
              <a:lnSpc>
                <a:spcPct val="140000"/>
              </a:lnSpc>
            </a:pPr>
            <a:r>
              <a:rPr lang="en-US" sz="1500">
                <a:solidFill>
                  <a:schemeClr val="dk1">
                    <a:alpha val="100000"/>
                  </a:schemeClr>
                </a:solidFill>
                <a:latin typeface="Noto Sans SC"/>
                <a:ea typeface="Noto Sans SC"/>
                <a:cs typeface="Noto Sans SC"/>
              </a:rPr>
              <a:t>无论是组合关系还是聚合关系，都表示整体与部分之间的关系。组合关系强调部分的不可分离性，而聚合关系则允许部分的独立存在。这种关系在面向对象设计中用于描述复杂对象的组成部分及其生命周期管理。</a:t>
            </a:r>
          </a:p>
        </p:txBody>
      </p:sp>
      <p:sp>
        <p:nvSpPr>
          <p:cNvPr id="9" name="TextBox 9"/>
          <p:cNvSpPr txBox="1"/>
          <p:nvPr/>
        </p:nvSpPr>
        <p:spPr>
          <a:xfrm>
            <a:off x="490939" y="4679623"/>
            <a:ext cx="7146070" cy="449970"/>
          </a:xfrm>
          <a:prstGeom prst="rect">
            <a:avLst/>
          </a:prstGeom>
          <a:ln/>
        </p:spPr>
        <p:txBody>
          <a:bodyPr vert="horz" wrap="square" lIns="114300" tIns="57150" rIns="114300" bIns="57150" rtlCol="0" anchor="ctr" anchorCtr="0">
            <a:noAutofit/>
          </a:bodyPr>
          <a:lstStyle/>
          <a:p>
            <a:pPr>
              <a:lnSpc>
                <a:spcPct val="77000"/>
              </a:lnSpc>
            </a:pPr>
            <a:r>
              <a:rPr lang="en-US" sz="2000" b="1">
                <a:solidFill>
                  <a:schemeClr val="accent1">
                    <a:alpha val="100000"/>
                  </a:schemeClr>
                </a:solidFill>
                <a:latin typeface="Noto Sans SC"/>
                <a:ea typeface="Noto Sans SC"/>
                <a:cs typeface="Noto Sans SC"/>
              </a:rPr>
              <a:t>整体与部分关系</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2589139" y="4907596"/>
            <a:ext cx="8609341" cy="1478267"/>
          </a:xfrm>
          <a:prstGeom prst="roundRect">
            <a:avLst>
              <a:gd name="adj" fmla="val 16667"/>
            </a:avLst>
          </a:prstGeom>
          <a:solidFill>
            <a:schemeClr val="lt2">
              <a:alpha val="100000"/>
            </a:schemeClr>
          </a:solidFill>
          <a:ln/>
        </p:spPr>
      </p:sp>
      <p:sp>
        <p:nvSpPr>
          <p:cNvPr id="3" name="AutoShape 3"/>
          <p:cNvSpPr/>
          <p:nvPr/>
        </p:nvSpPr>
        <p:spPr>
          <a:xfrm>
            <a:off x="965148" y="3145225"/>
            <a:ext cx="8609341" cy="1478267"/>
          </a:xfrm>
          <a:prstGeom prst="roundRect">
            <a:avLst>
              <a:gd name="adj" fmla="val 16667"/>
            </a:avLst>
          </a:prstGeom>
          <a:solidFill>
            <a:schemeClr val="lt2">
              <a:alpha val="100000"/>
            </a:schemeClr>
          </a:solidFill>
          <a:ln/>
        </p:spPr>
      </p:sp>
      <p:sp>
        <p:nvSpPr>
          <p:cNvPr id="4" name="AutoShape 4"/>
          <p:cNvSpPr/>
          <p:nvPr/>
        </p:nvSpPr>
        <p:spPr>
          <a:xfrm>
            <a:off x="2493889" y="1358958"/>
            <a:ext cx="8609341" cy="1478267"/>
          </a:xfrm>
          <a:prstGeom prst="roundRect">
            <a:avLst>
              <a:gd name="adj" fmla="val 16667"/>
            </a:avLst>
          </a:prstGeom>
          <a:solidFill>
            <a:schemeClr val="lt2">
              <a:alpha val="100000"/>
            </a:schemeClr>
          </a:solidFill>
          <a:ln/>
        </p:spPr>
      </p:sp>
      <p:sp>
        <p:nvSpPr>
          <p:cNvPr id="5" name="TextBox 5"/>
          <p:cNvSpPr txBox="1"/>
          <p:nvPr/>
        </p:nvSpPr>
        <p:spPr>
          <a:xfrm>
            <a:off x="3283333" y="1834943"/>
            <a:ext cx="7497178" cy="972854"/>
          </a:xfrm>
          <a:prstGeom prst="rect">
            <a:avLst/>
          </a:prstGeom>
          <a:ln/>
        </p:spPr>
        <p:txBody>
          <a:bodyPr vert="horz" wrap="square" lIns="114300" tIns="57150" rIns="114300" bIns="57150" rtlCol="0" anchor="ctr" anchorCtr="0">
            <a:noAutofit/>
          </a:bodyPr>
          <a:lstStyle/>
          <a:p>
            <a:pPr>
              <a:lnSpc>
                <a:spcPct val="140000"/>
              </a:lnSpc>
            </a:pPr>
            <a:r>
              <a:rPr lang="en-US" sz="1200">
                <a:solidFill>
                  <a:schemeClr val="dk1">
                    <a:alpha val="100000"/>
                  </a:schemeClr>
                </a:solidFill>
                <a:latin typeface="Noto Sans SC"/>
                <a:ea typeface="Noto Sans SC"/>
                <a:cs typeface="Noto Sans SC"/>
              </a:rPr>
              <a:t>泛化关系表示类与类之间的继承关系，子类继承父类的属性和方法，并可以扩展或重写这些属性和方法。例如，动物类（Animal）可以作为父类，狗类（Dog）和猫类（Cat）作为子类继承动物类的属性和方法。在UML类图中，泛化关系用带空心箭头的实线表示，箭头指向父类。</a:t>
            </a:r>
          </a:p>
        </p:txBody>
      </p:sp>
      <p:pic>
        <p:nvPicPr>
          <p:cNvPr id="6" name="Picture 6"/>
          <p:cNvPicPr>
            <a:picLocks noChangeAspect="1"/>
          </p:cNvPicPr>
          <p:nvPr/>
        </p:nvPicPr>
        <p:blipFill>
          <a:blip r:embed="rId3"/>
          <a:srcRect l="28533" r="28533"/>
          <a:stretch>
            <a:fillRect/>
          </a:stretch>
        </p:blipFill>
        <p:spPr>
          <a:xfrm>
            <a:off x="1113196" y="1262384"/>
            <a:ext cx="1926336" cy="1682496"/>
          </a:xfrm>
          <a:prstGeom prst="hexagon">
            <a:avLst/>
          </a:prstGeom>
        </p:spPr>
      </p:pic>
      <p:pic>
        <p:nvPicPr>
          <p:cNvPr id="7" name="Picture 7"/>
          <p:cNvPicPr>
            <a:picLocks noChangeAspect="1"/>
          </p:cNvPicPr>
          <p:nvPr/>
        </p:nvPicPr>
        <p:blipFill>
          <a:blip r:embed="rId4"/>
          <a:srcRect/>
          <a:stretch>
            <a:fillRect/>
          </a:stretch>
        </p:blipFill>
        <p:spPr>
          <a:xfrm>
            <a:off x="9176895" y="3043110"/>
            <a:ext cx="1926336" cy="1682496"/>
          </a:xfrm>
          <a:prstGeom prst="hexagon">
            <a:avLst/>
          </a:prstGeom>
        </p:spPr>
      </p:pic>
      <p:pic>
        <p:nvPicPr>
          <p:cNvPr id="8" name="Picture 8"/>
          <p:cNvPicPr>
            <a:picLocks noChangeAspect="1"/>
          </p:cNvPicPr>
          <p:nvPr/>
        </p:nvPicPr>
        <p:blipFill>
          <a:blip r:embed="rId5"/>
          <a:srcRect/>
          <a:stretch>
            <a:fillRect/>
          </a:stretch>
        </p:blipFill>
        <p:spPr>
          <a:xfrm>
            <a:off x="1113196" y="4824531"/>
            <a:ext cx="1926336" cy="1682496"/>
          </a:xfrm>
          <a:prstGeom prst="hexagon">
            <a:avLst/>
          </a:prstGeom>
        </p:spPr>
      </p:pic>
      <p:sp>
        <p:nvSpPr>
          <p:cNvPr id="9" name="TextBox 9"/>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Noto Sans SC"/>
                <a:ea typeface="Noto Sans SC"/>
                <a:cs typeface="Noto Sans SC"/>
              </a:rPr>
              <a:t>泛化与实现机制</a:t>
            </a:r>
          </a:p>
        </p:txBody>
      </p:sp>
      <p:sp>
        <p:nvSpPr>
          <p:cNvPr id="10" name="TextBox 10"/>
          <p:cNvSpPr txBox="1"/>
          <p:nvPr/>
        </p:nvSpPr>
        <p:spPr>
          <a:xfrm>
            <a:off x="3273808" y="1423073"/>
            <a:ext cx="6148089" cy="449970"/>
          </a:xfrm>
          <a:prstGeom prst="rect">
            <a:avLst/>
          </a:prstGeom>
          <a:ln/>
        </p:spPr>
        <p:txBody>
          <a:bodyPr vert="horz" wrap="square" lIns="114300" tIns="57150" rIns="114300" bIns="57150" rtlCol="0" anchor="ctr" anchorCtr="0">
            <a:noAutofit/>
          </a:bodyPr>
          <a:lstStyle/>
          <a:p>
            <a:pPr>
              <a:lnSpc>
                <a:spcPct val="77000"/>
              </a:lnSpc>
            </a:pPr>
            <a:r>
              <a:rPr lang="en-US" sz="2000" b="1">
                <a:solidFill>
                  <a:schemeClr val="accent1">
                    <a:alpha val="100000"/>
                  </a:schemeClr>
                </a:solidFill>
                <a:latin typeface="Noto Sans SC"/>
                <a:ea typeface="Noto Sans SC"/>
                <a:cs typeface="Noto Sans SC"/>
              </a:rPr>
              <a:t>泛化关系</a:t>
            </a:r>
          </a:p>
        </p:txBody>
      </p:sp>
      <p:sp>
        <p:nvSpPr>
          <p:cNvPr id="11" name="TextBox 11"/>
          <p:cNvSpPr txBox="1"/>
          <p:nvPr/>
        </p:nvSpPr>
        <p:spPr>
          <a:xfrm>
            <a:off x="1530470" y="3585107"/>
            <a:ext cx="7497178" cy="972854"/>
          </a:xfrm>
          <a:prstGeom prst="rect">
            <a:avLst/>
          </a:prstGeom>
          <a:ln/>
        </p:spPr>
        <p:txBody>
          <a:bodyPr vert="horz" wrap="square" lIns="114300" tIns="57150" rIns="114300" bIns="57150" rtlCol="0" anchor="ctr" anchorCtr="0">
            <a:noAutofit/>
          </a:bodyPr>
          <a:lstStyle/>
          <a:p>
            <a:pPr>
              <a:lnSpc>
                <a:spcPct val="140000"/>
              </a:lnSpc>
            </a:pPr>
            <a:r>
              <a:rPr lang="en-US" sz="1200">
                <a:solidFill>
                  <a:schemeClr val="dk1">
                    <a:alpha val="100000"/>
                  </a:schemeClr>
                </a:solidFill>
                <a:latin typeface="Noto Sans SC"/>
                <a:ea typeface="Noto Sans SC"/>
                <a:cs typeface="Noto Sans SC"/>
              </a:rPr>
              <a:t>实现关系表示类与接口之间的关系，类实现接口中定义的方法。例如，飞行接口（Flyable）定义了飞行方法，鸟类（Bird）和飞机类（Airplane）可以实现该接口并实现飞行方法。在UML类图中，实现关系用带空心箭头的虚线表示，箭头指向接口。</a:t>
            </a:r>
          </a:p>
        </p:txBody>
      </p:sp>
      <p:sp>
        <p:nvSpPr>
          <p:cNvPr id="12" name="TextBox 12"/>
          <p:cNvSpPr txBox="1"/>
          <p:nvPr/>
        </p:nvSpPr>
        <p:spPr>
          <a:xfrm>
            <a:off x="1520945" y="3173238"/>
            <a:ext cx="6148089" cy="449970"/>
          </a:xfrm>
          <a:prstGeom prst="rect">
            <a:avLst/>
          </a:prstGeom>
          <a:ln/>
        </p:spPr>
        <p:txBody>
          <a:bodyPr vert="horz" wrap="square" lIns="114300" tIns="57150" rIns="114300" bIns="57150" rtlCol="0" anchor="ctr" anchorCtr="0">
            <a:noAutofit/>
          </a:bodyPr>
          <a:lstStyle/>
          <a:p>
            <a:pPr>
              <a:lnSpc>
                <a:spcPct val="77000"/>
              </a:lnSpc>
            </a:pPr>
            <a:r>
              <a:rPr lang="en-US" sz="2000" b="1">
                <a:solidFill>
                  <a:schemeClr val="accent1">
                    <a:alpha val="100000"/>
                  </a:schemeClr>
                </a:solidFill>
                <a:latin typeface="Noto Sans SC"/>
                <a:ea typeface="Noto Sans SC"/>
                <a:cs typeface="Noto Sans SC"/>
              </a:rPr>
              <a:t>实现关系</a:t>
            </a:r>
          </a:p>
        </p:txBody>
      </p:sp>
      <p:sp>
        <p:nvSpPr>
          <p:cNvPr id="13" name="TextBox 13"/>
          <p:cNvSpPr txBox="1"/>
          <p:nvPr/>
        </p:nvSpPr>
        <p:spPr>
          <a:xfrm>
            <a:off x="3325984" y="5371096"/>
            <a:ext cx="7497178" cy="972854"/>
          </a:xfrm>
          <a:prstGeom prst="rect">
            <a:avLst/>
          </a:prstGeom>
          <a:ln/>
        </p:spPr>
        <p:txBody>
          <a:bodyPr vert="horz" wrap="square" lIns="114300" tIns="57150" rIns="114300" bIns="57150" rtlCol="0" anchor="ctr" anchorCtr="0">
            <a:noAutofit/>
          </a:bodyPr>
          <a:lstStyle/>
          <a:p>
            <a:pPr>
              <a:lnSpc>
                <a:spcPct val="140000"/>
              </a:lnSpc>
            </a:pPr>
            <a:r>
              <a:rPr lang="en-US" sz="1200">
                <a:solidFill>
                  <a:schemeClr val="dk1">
                    <a:alpha val="100000"/>
                  </a:schemeClr>
                </a:solidFill>
                <a:latin typeface="Noto Sans SC"/>
                <a:ea typeface="Noto Sans SC"/>
                <a:cs typeface="Noto Sans SC"/>
              </a:rPr>
              <a:t>泛化和实现机制支持多态性，允许子类或实现类以不同的方式实现父类或接口中的方法。多态性使得程序可以在运行时根据对象的实际类型调用相应的方法，增强了代码的灵活性和可扩展性。</a:t>
            </a:r>
          </a:p>
        </p:txBody>
      </p:sp>
      <p:sp>
        <p:nvSpPr>
          <p:cNvPr id="14" name="TextBox 14"/>
          <p:cNvSpPr txBox="1"/>
          <p:nvPr/>
        </p:nvSpPr>
        <p:spPr>
          <a:xfrm>
            <a:off x="3316459" y="4959226"/>
            <a:ext cx="6148089" cy="449970"/>
          </a:xfrm>
          <a:prstGeom prst="rect">
            <a:avLst/>
          </a:prstGeom>
          <a:ln/>
        </p:spPr>
        <p:txBody>
          <a:bodyPr vert="horz" wrap="square" lIns="114300" tIns="57150" rIns="114300" bIns="57150" rtlCol="0" anchor="ctr" anchorCtr="0">
            <a:noAutofit/>
          </a:bodyPr>
          <a:lstStyle/>
          <a:p>
            <a:pPr>
              <a:lnSpc>
                <a:spcPct val="77000"/>
              </a:lnSpc>
            </a:pPr>
            <a:r>
              <a:rPr lang="en-US" sz="2000" b="1">
                <a:solidFill>
                  <a:schemeClr val="accent1">
                    <a:alpha val="100000"/>
                  </a:schemeClr>
                </a:solidFill>
                <a:latin typeface="Noto Sans SC"/>
                <a:ea typeface="Noto Sans SC"/>
                <a:cs typeface="Noto Sans SC"/>
              </a:rPr>
              <a:t>多态性</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5280874" y="2017809"/>
            <a:ext cx="1630253" cy="1138956"/>
          </a:xfrm>
          <a:prstGeom prst="rect">
            <a:avLst/>
          </a:prstGeom>
          <a:ln/>
        </p:spPr>
        <p:txBody>
          <a:bodyPr vert="horz" wrap="square" lIns="66008" tIns="33052" rIns="66008" bIns="33052" rtlCol="0" anchor="ctr" anchorCtr="0">
            <a:noAutofit/>
          </a:bodyPr>
          <a:lstStyle/>
          <a:p>
            <a:pPr algn="ctr">
              <a:lnSpc>
                <a:spcPct val="100000"/>
              </a:lnSpc>
            </a:pPr>
            <a:r>
              <a:rPr lang="en-US" sz="8025" b="1">
                <a:solidFill>
                  <a:schemeClr val="accent1">
                    <a:alpha val="100000"/>
                  </a:schemeClr>
                </a:solidFill>
                <a:latin typeface="Noto Sans SC"/>
                <a:ea typeface="Noto Sans SC"/>
                <a:cs typeface="Noto Sans SC"/>
              </a:rPr>
              <a:t>04</a:t>
            </a:r>
          </a:p>
        </p:txBody>
      </p:sp>
      <p:sp>
        <p:nvSpPr>
          <p:cNvPr id="3" name="TextBox 3"/>
          <p:cNvSpPr txBox="1"/>
          <p:nvPr/>
        </p:nvSpPr>
        <p:spPr>
          <a:xfrm>
            <a:off x="3013710" y="3156765"/>
            <a:ext cx="6164580" cy="1615440"/>
          </a:xfrm>
          <a:prstGeom prst="rect">
            <a:avLst/>
          </a:prstGeom>
          <a:ln/>
        </p:spPr>
        <p:txBody>
          <a:bodyPr vert="horz" wrap="square" lIns="91440" tIns="45720" rIns="91440" bIns="45720" rtlCol="0" anchor="t" anchorCtr="0">
            <a:noAutofit/>
          </a:bodyPr>
          <a:lstStyle/>
          <a:p>
            <a:pPr algn="ctr">
              <a:lnSpc>
                <a:spcPct val="100000"/>
              </a:lnSpc>
              <a:spcBef>
                <a:spcPct val="0"/>
              </a:spcBef>
            </a:pPr>
            <a:r>
              <a:rPr lang="en-US" sz="4500" b="1">
                <a:solidFill>
                  <a:schemeClr val="dk1">
                    <a:alpha val="100000"/>
                  </a:schemeClr>
                </a:solidFill>
                <a:latin typeface="Noto Sans SC"/>
                <a:ea typeface="Noto Sans SC"/>
                <a:cs typeface="Noto Sans SC"/>
              </a:rPr>
              <a:t>设计原则体系</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Noto Sans SC"/>
                <a:ea typeface="Noto Sans SC"/>
                <a:cs typeface="Noto Sans SC"/>
              </a:rPr>
              <a:t>单一职责原则（SRP）</a:t>
            </a:r>
          </a:p>
        </p:txBody>
      </p:sp>
      <p:sp>
        <p:nvSpPr>
          <p:cNvPr id="3" name="TextBox 3"/>
          <p:cNvSpPr txBox="1"/>
          <p:nvPr/>
        </p:nvSpPr>
        <p:spPr>
          <a:xfrm>
            <a:off x="5828906" y="1179728"/>
            <a:ext cx="5548808" cy="5208952"/>
          </a:xfrm>
          <a:prstGeom prst="rect">
            <a:avLst/>
          </a:prstGeom>
          <a:ln/>
        </p:spPr>
        <p:txBody>
          <a:bodyPr vert="horz" wrap="square" lIns="123825" tIns="123825" rIns="57150" bIns="123825" rtlCol="0" anchor="t" anchorCtr="0">
            <a:normAutofit/>
          </a:bodyPr>
          <a:lstStyle/>
          <a:p>
            <a:pPr>
              <a:lnSpc>
                <a:spcPct val="140000"/>
              </a:lnSpc>
            </a:pPr>
            <a:r>
              <a:rPr lang="en-US" sz="1500" b="1">
                <a:solidFill>
                  <a:schemeClr val="accent1">
                    <a:alpha val="100000"/>
                  </a:schemeClr>
                </a:solidFill>
                <a:latin typeface="Noto Sans SC"/>
                <a:ea typeface="Noto Sans SC"/>
                <a:cs typeface="Noto Sans SC"/>
              </a:rPr>
              <a:t>职责分离</a:t>
            </a:r>
          </a:p>
          <a:p>
            <a:pPr>
              <a:lnSpc>
                <a:spcPct val="140000"/>
              </a:lnSpc>
            </a:pPr>
            <a:r>
              <a:rPr lang="en-US" sz="1500">
                <a:solidFill>
                  <a:schemeClr val="dk1">
                    <a:alpha val="100000"/>
                  </a:schemeClr>
                </a:solidFill>
                <a:latin typeface="Noto Sans SC"/>
                <a:ea typeface="Noto Sans SC"/>
                <a:cs typeface="Noto Sans SC"/>
              </a:rPr>
              <a:t>每个类或模块应专注于一项特定的功能或职责，避免将多个不相关的功能耦合在一起。这有助于降低代码的复杂度，使系统更易于理解和维护。例如，一个用户管理模块应只负责用户的增删改查，而不应包含与权限管理相关的逻辑。</a:t>
            </a:r>
          </a:p>
          <a:p>
            <a:pPr>
              <a:lnSpc>
                <a:spcPct val="140000"/>
              </a:lnSpc>
            </a:pPr>
            <a:r>
              <a:rPr lang="en-US" sz="1500" b="1">
                <a:solidFill>
                  <a:schemeClr val="accent1">
                    <a:alpha val="100000"/>
                  </a:schemeClr>
                </a:solidFill>
                <a:latin typeface="Noto Sans SC"/>
                <a:ea typeface="Noto Sans SC"/>
                <a:cs typeface="Noto Sans SC"/>
              </a:rPr>
              <a:t>高内聚性</a:t>
            </a:r>
          </a:p>
          <a:p>
            <a:pPr>
              <a:lnSpc>
                <a:spcPct val="140000"/>
              </a:lnSpc>
            </a:pPr>
            <a:r>
              <a:rPr lang="en-US" sz="1500">
                <a:solidFill>
                  <a:schemeClr val="dk1">
                    <a:alpha val="100000"/>
                  </a:schemeClr>
                </a:solidFill>
                <a:latin typeface="Noto Sans SC"/>
                <a:ea typeface="Noto Sans SC"/>
                <a:cs typeface="Noto Sans SC"/>
              </a:rPr>
              <a:t>通过将相关功能集中在一个类或模块中，可以提高代码的内聚性。高内聚性的代码更易于测试和重用，因为它减少了对外部依赖的需求，使得模块的独立性更强。</a:t>
            </a:r>
          </a:p>
          <a:p>
            <a:pPr>
              <a:lnSpc>
                <a:spcPct val="140000"/>
              </a:lnSpc>
            </a:pPr>
            <a:r>
              <a:rPr lang="en-US" sz="1500" b="1">
                <a:solidFill>
                  <a:schemeClr val="accent1">
                    <a:alpha val="100000"/>
                  </a:schemeClr>
                </a:solidFill>
                <a:latin typeface="Noto Sans SC"/>
                <a:ea typeface="Noto Sans SC"/>
                <a:cs typeface="Noto Sans SC"/>
              </a:rPr>
              <a:t>降低耦合度</a:t>
            </a:r>
          </a:p>
          <a:p>
            <a:pPr>
              <a:lnSpc>
                <a:spcPct val="140000"/>
              </a:lnSpc>
            </a:pPr>
            <a:r>
              <a:rPr lang="en-US" sz="1500">
                <a:solidFill>
                  <a:schemeClr val="dk1">
                    <a:alpha val="100000"/>
                  </a:schemeClr>
                </a:solidFill>
                <a:latin typeface="Noto Sans SC"/>
                <a:ea typeface="Noto Sans SC"/>
                <a:cs typeface="Noto Sans SC"/>
              </a:rPr>
              <a:t>单一职责原则有助于降低模块之间的耦合度。当一个模块只负责一项职责时，修改该模块对其他模块的影响会降到最低，从而减少了系统在维护和扩展时的风险。</a:t>
            </a:r>
          </a:p>
        </p:txBody>
      </p:sp>
      <p:pic>
        <p:nvPicPr>
          <p:cNvPr id="4" name="Picture 4"/>
          <p:cNvPicPr>
            <a:picLocks noChangeAspect="1"/>
          </p:cNvPicPr>
          <p:nvPr/>
        </p:nvPicPr>
        <p:blipFill>
          <a:blip r:embed="rId3">
            <a:alphaModFix/>
          </a:blip>
          <a:srcRect t="22891" b="22891"/>
          <a:stretch>
            <a:fillRect/>
          </a:stretch>
        </p:blipFill>
        <p:spPr>
          <a:xfrm>
            <a:off x="702758" y="1182984"/>
            <a:ext cx="4663894" cy="2507593"/>
          </a:xfrm>
          <a:prstGeom prst="rect">
            <a:avLst/>
          </a:prstGeom>
        </p:spPr>
      </p:pic>
      <p:pic>
        <p:nvPicPr>
          <p:cNvPr id="5" name="Picture 5"/>
          <p:cNvPicPr>
            <a:picLocks noChangeAspect="1"/>
          </p:cNvPicPr>
          <p:nvPr/>
        </p:nvPicPr>
        <p:blipFill>
          <a:blip r:embed="rId4">
            <a:alphaModFix/>
          </a:blip>
          <a:srcRect t="21849" b="21849"/>
          <a:stretch>
            <a:fillRect/>
          </a:stretch>
        </p:blipFill>
        <p:spPr>
          <a:xfrm>
            <a:off x="702758" y="3881087"/>
            <a:ext cx="4663894" cy="250759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606080" y="1416215"/>
            <a:ext cx="5583600" cy="4733343"/>
          </a:xfrm>
          <a:prstGeom prst="rect">
            <a:avLst/>
          </a:prstGeom>
        </p:spPr>
      </p:pic>
      <p:sp>
        <p:nvSpPr>
          <p:cNvPr id="3" name="AutoShape 3"/>
          <p:cNvSpPr/>
          <p:nvPr/>
        </p:nvSpPr>
        <p:spPr>
          <a:xfrm>
            <a:off x="5247872" y="2648731"/>
            <a:ext cx="6270967" cy="2268310"/>
          </a:xfrm>
          <a:prstGeom prst="roundRect">
            <a:avLst>
              <a:gd name="adj" fmla="val 5898"/>
            </a:avLst>
          </a:prstGeom>
          <a:solidFill>
            <a:srgbClr val="FFFFFF">
              <a:alpha val="100000"/>
            </a:srgbClr>
          </a:solidFill>
          <a:ln/>
          <a:effectLst>
            <a:outerShdw blurRad="361950">
              <a:srgbClr val="000000">
                <a:alpha val="6000"/>
              </a:srgbClr>
            </a:outerShdw>
          </a:effectLst>
        </p:spPr>
      </p:sp>
      <p:sp>
        <p:nvSpPr>
          <p:cNvPr id="4" name="TextBox 4"/>
          <p:cNvSpPr txBox="1"/>
          <p:nvPr/>
        </p:nvSpPr>
        <p:spPr>
          <a:xfrm>
            <a:off x="5576989" y="3026204"/>
            <a:ext cx="5612735" cy="1513364"/>
          </a:xfrm>
          <a:prstGeom prst="rect">
            <a:avLst/>
          </a:prstGeom>
          <a:ln/>
        </p:spPr>
        <p:txBody>
          <a:bodyPr vert="horz" wrap="square" lIns="114300" tIns="57150" rIns="114300" bIns="57150" rtlCol="0" anchor="ctr" anchorCtr="0">
            <a:normAutofit/>
          </a:bodyPr>
          <a:lstStyle/>
          <a:p>
            <a:pPr>
              <a:lnSpc>
                <a:spcPct val="150000"/>
              </a:lnSpc>
            </a:pPr>
            <a:r>
              <a:rPr lang="en-US" sz="1500" b="1">
                <a:solidFill>
                  <a:schemeClr val="accent1">
                    <a:alpha val="100000"/>
                  </a:schemeClr>
                </a:solidFill>
                <a:latin typeface="Noto Sans SC"/>
                <a:ea typeface="Noto Sans SC"/>
                <a:cs typeface="Noto Sans SC"/>
              </a:rPr>
              <a:t>提高可维护性</a:t>
            </a:r>
          </a:p>
          <a:p>
            <a:pPr>
              <a:lnSpc>
                <a:spcPct val="150000"/>
              </a:lnSpc>
            </a:pPr>
            <a:r>
              <a:rPr lang="en-US" sz="1500">
                <a:solidFill>
                  <a:srgbClr val="000000">
                    <a:alpha val="100000"/>
                  </a:srgbClr>
                </a:solidFill>
                <a:latin typeface="Noto Sans SC"/>
                <a:ea typeface="Noto Sans SC"/>
                <a:cs typeface="Noto Sans SC"/>
              </a:rPr>
              <a:t>遵循单一职责原则的代码更容易维护，因为每个模块的功能明确且独立。当系统需要修改或扩展时，开发者可以快速定位到相关的模块，而不必担心修改会影响到其他部分。</a:t>
            </a:r>
          </a:p>
        </p:txBody>
      </p:sp>
      <p:sp>
        <p:nvSpPr>
          <p:cNvPr id="5" name="TextBox 5"/>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Noto Sans SC"/>
                <a:ea typeface="Noto Sans SC"/>
                <a:cs typeface="Noto Sans SC"/>
              </a:rPr>
              <a:t>单一职责原则（SRP）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476023" y="265328"/>
            <a:ext cx="8727915" cy="856184"/>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Noto Sans SC"/>
                <a:ea typeface="Noto Sans SC"/>
                <a:cs typeface="Noto Sans SC"/>
              </a:rPr>
              <a:t>开放封闭原则（OCP）</a:t>
            </a:r>
          </a:p>
        </p:txBody>
      </p:sp>
      <p:sp>
        <p:nvSpPr>
          <p:cNvPr id="3" name="TextBox 3"/>
          <p:cNvSpPr txBox="1"/>
          <p:nvPr/>
        </p:nvSpPr>
        <p:spPr>
          <a:xfrm>
            <a:off x="529829" y="1200966"/>
            <a:ext cx="8364532" cy="3314040"/>
          </a:xfrm>
          <a:prstGeom prst="rect">
            <a:avLst/>
          </a:prstGeom>
          <a:ln/>
        </p:spPr>
        <p:txBody>
          <a:bodyPr vert="horz" wrap="square" lIns="123825" tIns="123825" rIns="57150" bIns="123825" rtlCol="0" anchor="t" anchorCtr="0">
            <a:normAutofit/>
          </a:bodyPr>
          <a:lstStyle/>
          <a:p>
            <a:pPr>
              <a:lnSpc>
                <a:spcPct val="140000"/>
              </a:lnSpc>
            </a:pPr>
            <a:r>
              <a:rPr lang="en-US" sz="1500" b="1">
                <a:solidFill>
                  <a:schemeClr val="accent1">
                    <a:alpha val="100000"/>
                  </a:schemeClr>
                </a:solidFill>
                <a:latin typeface="Noto Sans SC"/>
                <a:ea typeface="Noto Sans SC"/>
                <a:cs typeface="Noto Sans SC"/>
              </a:rPr>
              <a:t>扩展性优先</a:t>
            </a:r>
          </a:p>
          <a:p>
            <a:pPr>
              <a:lnSpc>
                <a:spcPct val="140000"/>
              </a:lnSpc>
            </a:pPr>
            <a:r>
              <a:rPr lang="en-US" sz="1500">
                <a:solidFill>
                  <a:schemeClr val="dk1">
                    <a:alpha val="100000"/>
                  </a:schemeClr>
                </a:solidFill>
                <a:latin typeface="Noto Sans SC"/>
                <a:ea typeface="Noto Sans SC"/>
                <a:cs typeface="Noto Sans SC"/>
              </a:rPr>
              <a:t>开放封闭原则强调系统应通过扩展来实现新功能，而不是通过修改现有代码。这意味着在设计时应考虑未来可能的变化，并通过抽象、接口或继承等方式预留扩展点。例如，可以通过定义抽象类或接口来实现新功能，而不必修改现有的类。</a:t>
            </a:r>
          </a:p>
          <a:p>
            <a:pPr>
              <a:lnSpc>
                <a:spcPct val="140000"/>
              </a:lnSpc>
            </a:pPr>
            <a:r>
              <a:rPr lang="en-US" sz="1500" b="1">
                <a:solidFill>
                  <a:schemeClr val="accent1">
                    <a:alpha val="100000"/>
                  </a:schemeClr>
                </a:solidFill>
                <a:latin typeface="Noto Sans SC"/>
                <a:ea typeface="Noto Sans SC"/>
                <a:cs typeface="Noto Sans SC"/>
              </a:rPr>
              <a:t>稳定性保障</a:t>
            </a:r>
          </a:p>
          <a:p>
            <a:pPr>
              <a:lnSpc>
                <a:spcPct val="140000"/>
              </a:lnSpc>
            </a:pPr>
            <a:r>
              <a:rPr lang="en-US" sz="1500">
                <a:solidFill>
                  <a:schemeClr val="dk1">
                    <a:alpha val="100000"/>
                  </a:schemeClr>
                </a:solidFill>
                <a:latin typeface="Noto Sans SC"/>
                <a:ea typeface="Noto Sans SC"/>
                <a:cs typeface="Noto Sans SC"/>
              </a:rPr>
              <a:t>对修改封闭意味着现有代码的稳定性得到了保障。通过避免直接修改已有代码，可以减少引入新错误的风险，确保系统的核心功能始终稳定运行。</a:t>
            </a:r>
          </a:p>
        </p:txBody>
      </p:sp>
      <p:pic>
        <p:nvPicPr>
          <p:cNvPr id="4" name="Picture 4"/>
          <p:cNvPicPr>
            <a:picLocks noChangeAspect="1"/>
          </p:cNvPicPr>
          <p:nvPr/>
        </p:nvPicPr>
        <p:blipFill>
          <a:blip r:embed="rId3">
            <a:alphaModFix/>
          </a:blip>
          <a:srcRect t="26310" b="26310"/>
          <a:stretch>
            <a:fillRect/>
          </a:stretch>
        </p:blipFill>
        <p:spPr>
          <a:xfrm>
            <a:off x="-227" y="4888259"/>
            <a:ext cx="10008917" cy="1991767"/>
          </a:xfrm>
          <a:prstGeom prst="rect">
            <a:avLst/>
          </a:prstGeom>
        </p:spPr>
      </p:pic>
      <p:pic>
        <p:nvPicPr>
          <p:cNvPr id="5" name="Picture 5"/>
          <p:cNvPicPr>
            <a:picLocks noChangeAspect="1"/>
          </p:cNvPicPr>
          <p:nvPr/>
        </p:nvPicPr>
        <p:blipFill>
          <a:blip r:embed="rId4">
            <a:alphaModFix/>
          </a:blip>
          <a:srcRect l="37827" r="37827"/>
          <a:stretch>
            <a:fillRect/>
          </a:stretch>
        </p:blipFill>
        <p:spPr>
          <a:xfrm>
            <a:off x="10008690" y="0"/>
            <a:ext cx="2209637" cy="4888258"/>
          </a:xfrm>
          <a:prstGeom prst="rect">
            <a:avLst/>
          </a:prstGeom>
        </p:spPr>
      </p:pic>
      <p:sp>
        <p:nvSpPr>
          <p:cNvPr id="6" name="AutoShape 6"/>
          <p:cNvSpPr/>
          <p:nvPr/>
        </p:nvSpPr>
        <p:spPr>
          <a:xfrm>
            <a:off x="9546545" y="5890550"/>
            <a:ext cx="1214210" cy="99798"/>
          </a:xfrm>
          <a:prstGeom prst="rect">
            <a:avLst/>
          </a:prstGeom>
          <a:solidFill>
            <a:schemeClr val="accent1">
              <a:alpha val="100000"/>
            </a:schemeClr>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8738993" y="3493684"/>
            <a:ext cx="3040146" cy="2772169"/>
          </a:xfrm>
          <a:prstGeom prst="rect">
            <a:avLst/>
          </a:prstGeom>
          <a:solidFill>
            <a:schemeClr val="lt2">
              <a:alpha val="100000"/>
            </a:schemeClr>
          </a:solidFill>
          <a:ln/>
        </p:spPr>
      </p:sp>
      <p:sp>
        <p:nvSpPr>
          <p:cNvPr id="3" name="TextBox 3"/>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Noto Sans SC"/>
                <a:ea typeface="Noto Sans SC"/>
                <a:cs typeface="Noto Sans SC"/>
              </a:rPr>
              <a:t>开放封闭原则（OCP）</a:t>
            </a:r>
          </a:p>
        </p:txBody>
      </p:sp>
      <p:sp>
        <p:nvSpPr>
          <p:cNvPr id="4" name="TextBox 4"/>
          <p:cNvSpPr txBox="1"/>
          <p:nvPr/>
        </p:nvSpPr>
        <p:spPr>
          <a:xfrm>
            <a:off x="534431" y="1493674"/>
            <a:ext cx="5561342" cy="4423901"/>
          </a:xfrm>
          <a:prstGeom prst="rect">
            <a:avLst/>
          </a:prstGeom>
          <a:ln/>
        </p:spPr>
        <p:txBody>
          <a:bodyPr vert="horz" wrap="square" lIns="123825" tIns="123825" rIns="57150" bIns="123825" rtlCol="0" anchor="t" anchorCtr="0">
            <a:normAutofit/>
          </a:bodyPr>
          <a:lstStyle/>
          <a:p>
            <a:pPr>
              <a:lnSpc>
                <a:spcPct val="140000"/>
              </a:lnSpc>
            </a:pPr>
            <a:r>
              <a:rPr lang="en-US" sz="1500" b="1">
                <a:solidFill>
                  <a:schemeClr val="accent1">
                    <a:alpha val="100000"/>
                  </a:schemeClr>
                </a:solidFill>
                <a:latin typeface="Noto Sans SC"/>
                <a:ea typeface="Noto Sans SC"/>
                <a:cs typeface="Noto Sans SC"/>
              </a:rPr>
              <a:t>抽象化设计</a:t>
            </a:r>
          </a:p>
          <a:p>
            <a:pPr>
              <a:lnSpc>
                <a:spcPct val="140000"/>
              </a:lnSpc>
            </a:pPr>
            <a:r>
              <a:rPr lang="en-US" sz="1500">
                <a:solidFill>
                  <a:schemeClr val="dk1">
                    <a:alpha val="100000"/>
                  </a:schemeClr>
                </a:solidFill>
                <a:latin typeface="Noto Sans SC"/>
                <a:ea typeface="Noto Sans SC"/>
                <a:cs typeface="Noto Sans SC"/>
              </a:rPr>
              <a:t>开放封闭原则鼓励使用抽象化设计，通过定义抽象类或接口来隔离具体实现。这样，当需要添加新功能时，只需扩展这些抽象类或接口，而不必修改依赖于它们的现有代码。</a:t>
            </a:r>
          </a:p>
          <a:p>
            <a:pPr>
              <a:lnSpc>
                <a:spcPct val="140000"/>
              </a:lnSpc>
            </a:pPr>
            <a:r>
              <a:rPr lang="en-US" sz="1500" b="1">
                <a:solidFill>
                  <a:schemeClr val="accent1">
                    <a:alpha val="100000"/>
                  </a:schemeClr>
                </a:solidFill>
                <a:latin typeface="Noto Sans SC"/>
                <a:ea typeface="Noto Sans SC"/>
                <a:cs typeface="Noto Sans SC"/>
              </a:rPr>
              <a:t>减少回归测试</a:t>
            </a:r>
          </a:p>
          <a:p>
            <a:pPr>
              <a:lnSpc>
                <a:spcPct val="140000"/>
              </a:lnSpc>
            </a:pPr>
            <a:r>
              <a:rPr lang="en-US" sz="1500">
                <a:solidFill>
                  <a:schemeClr val="dk1">
                    <a:alpha val="100000"/>
                  </a:schemeClr>
                </a:solidFill>
                <a:latin typeface="Noto Sans SC"/>
                <a:ea typeface="Noto Sans SC"/>
                <a:cs typeface="Noto Sans SC"/>
              </a:rPr>
              <a:t>由于开放封闭原则避免了直接修改现有代码，因此在进行扩展时，回归测试的范围会大大减少。这不仅可以降低测试成本，还可以加快新功能的交付速度。</a:t>
            </a:r>
          </a:p>
        </p:txBody>
      </p:sp>
      <p:pic>
        <p:nvPicPr>
          <p:cNvPr id="5" name="Picture 5"/>
          <p:cNvPicPr>
            <a:picLocks noChangeAspect="1"/>
          </p:cNvPicPr>
          <p:nvPr/>
        </p:nvPicPr>
        <p:blipFill>
          <a:blip r:embed="rId3">
            <a:alphaModFix/>
          </a:blip>
          <a:srcRect l="18838" r="18838"/>
          <a:stretch>
            <a:fillRect/>
          </a:stretch>
        </p:blipFill>
        <p:spPr>
          <a:xfrm>
            <a:off x="6898504" y="1493674"/>
            <a:ext cx="4586005" cy="448858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522226" y="1950718"/>
            <a:ext cx="4049774" cy="3215301"/>
          </a:xfrm>
          <a:prstGeom prst="rect">
            <a:avLst/>
          </a:prstGeom>
          <a:ln/>
        </p:spPr>
        <p:txBody>
          <a:bodyPr vert="horz" wrap="square" lIns="123825" tIns="123825" rIns="57150" bIns="123825" rtlCol="0" anchor="ctr" anchorCtr="0">
            <a:noAutofit/>
          </a:bodyPr>
          <a:lstStyle/>
          <a:p>
            <a:pPr>
              <a:lnSpc>
                <a:spcPct val="140000"/>
              </a:lnSpc>
            </a:pPr>
            <a:r>
              <a:rPr lang="en-US" sz="3000" b="1" dirty="0">
                <a:solidFill>
                  <a:schemeClr val="accent1">
                    <a:alpha val="100000"/>
                  </a:schemeClr>
                </a:solidFill>
                <a:latin typeface="Noto Sans SC"/>
                <a:ea typeface="Noto Sans SC"/>
                <a:cs typeface="Noto Sans SC"/>
              </a:rPr>
              <a:t>里氏替换原则（LSP）</a:t>
            </a:r>
          </a:p>
        </p:txBody>
      </p:sp>
      <p:sp>
        <p:nvSpPr>
          <p:cNvPr id="3" name="TextBox 3"/>
          <p:cNvSpPr txBox="1"/>
          <p:nvPr/>
        </p:nvSpPr>
        <p:spPr>
          <a:xfrm>
            <a:off x="10803939" y="0"/>
            <a:ext cx="982980" cy="2615565"/>
          </a:xfrm>
          <a:prstGeom prst="rect">
            <a:avLst/>
          </a:prstGeom>
          <a:ln/>
        </p:spPr>
        <p:txBody>
          <a:bodyPr vert="horz" wrap="square" lIns="91440" tIns="45720" rIns="91440" bIns="45720" rtlCol="0" anchor="t" anchorCtr="0">
            <a:spAutoFit/>
          </a:bodyPr>
          <a:lstStyle/>
          <a:p>
            <a:pPr>
              <a:lnSpc>
                <a:spcPct val="100000"/>
              </a:lnSpc>
              <a:spcBef>
                <a:spcPts val="375"/>
              </a:spcBef>
            </a:pPr>
            <a:r>
              <a:rPr lang="en-US" sz="15000">
                <a:solidFill>
                  <a:schemeClr val="dk1">
                    <a:alpha val="13000"/>
                  </a:schemeClr>
                </a:solidFill>
                <a:latin typeface="Helvetica"/>
                <a:ea typeface="Helvetica"/>
                <a:cs typeface="Helvetica"/>
              </a:rPr>
              <a:t>”</a:t>
            </a:r>
          </a:p>
        </p:txBody>
      </p:sp>
      <p:sp>
        <p:nvSpPr>
          <p:cNvPr id="4" name="TextBox 4"/>
          <p:cNvSpPr txBox="1"/>
          <p:nvPr/>
        </p:nvSpPr>
        <p:spPr>
          <a:xfrm>
            <a:off x="4854674" y="1222166"/>
            <a:ext cx="6839839" cy="4672403"/>
          </a:xfrm>
          <a:prstGeom prst="rect">
            <a:avLst/>
          </a:prstGeom>
          <a:ln/>
        </p:spPr>
        <p:txBody>
          <a:bodyPr vert="horz" wrap="square" lIns="123825" tIns="123825" rIns="57150" bIns="123825" rtlCol="0" anchor="t" anchorCtr="0">
            <a:normAutofit/>
          </a:bodyPr>
          <a:lstStyle/>
          <a:p>
            <a:pPr>
              <a:lnSpc>
                <a:spcPct val="140000"/>
              </a:lnSpc>
            </a:pPr>
            <a:r>
              <a:rPr lang="en-US" sz="1500" b="1">
                <a:solidFill>
                  <a:schemeClr val="accent1">
                    <a:alpha val="100000"/>
                  </a:schemeClr>
                </a:solidFill>
                <a:latin typeface="Noto Sans SC"/>
                <a:ea typeface="Noto Sans SC"/>
                <a:cs typeface="Noto Sans SC"/>
              </a:rPr>
              <a:t>子类可替换性</a:t>
            </a:r>
          </a:p>
          <a:p>
            <a:pPr>
              <a:lnSpc>
                <a:spcPct val="140000"/>
              </a:lnSpc>
            </a:pPr>
            <a:r>
              <a:rPr lang="en-US" sz="1500">
                <a:solidFill>
                  <a:schemeClr val="dk1">
                    <a:alpha val="100000"/>
                  </a:schemeClr>
                </a:solidFill>
                <a:latin typeface="Noto Sans SC"/>
                <a:ea typeface="Noto Sans SC"/>
                <a:cs typeface="Noto Sans SC"/>
              </a:rPr>
              <a:t>里氏替换原则要求子类必须能够替换父类而不影响程序的正确性。这意味着子类应继承父类的行为，并且不应破坏父类的功能。例如，如果父类定义了一个方法，子类在重写该方法时不应改变其预期的行为。</a:t>
            </a:r>
          </a:p>
          <a:p>
            <a:pPr>
              <a:lnSpc>
                <a:spcPct val="140000"/>
              </a:lnSpc>
            </a:pPr>
            <a:r>
              <a:rPr lang="en-US" sz="1500" b="1">
                <a:solidFill>
                  <a:schemeClr val="accent1">
                    <a:alpha val="100000"/>
                  </a:schemeClr>
                </a:solidFill>
                <a:latin typeface="Noto Sans SC"/>
                <a:ea typeface="Noto Sans SC"/>
                <a:cs typeface="Noto Sans SC"/>
              </a:rPr>
              <a:t>行为一致性</a:t>
            </a:r>
          </a:p>
          <a:p>
            <a:pPr>
              <a:lnSpc>
                <a:spcPct val="140000"/>
              </a:lnSpc>
            </a:pPr>
            <a:r>
              <a:rPr lang="en-US" sz="1500">
                <a:solidFill>
                  <a:schemeClr val="dk1">
                    <a:alpha val="100000"/>
                  </a:schemeClr>
                </a:solidFill>
                <a:latin typeface="Noto Sans SC"/>
                <a:ea typeface="Noto Sans SC"/>
                <a:cs typeface="Noto Sans SC"/>
              </a:rPr>
              <a:t>子类应保持与父类一致的行为，确保在替换父类时不会引发意外的错误。这要求子类在重写父类方法时，应遵循父类的契约（即方法的预期输入和输出），而不是随意改变其逻辑。</a:t>
            </a:r>
          </a:p>
          <a:p>
            <a:pPr>
              <a:lnSpc>
                <a:spcPct val="140000"/>
              </a:lnSpc>
            </a:pPr>
            <a:r>
              <a:rPr lang="en-US" sz="1500" b="1">
                <a:solidFill>
                  <a:schemeClr val="accent1">
                    <a:alpha val="100000"/>
                  </a:schemeClr>
                </a:solidFill>
                <a:latin typeface="Noto Sans SC"/>
                <a:ea typeface="Noto Sans SC"/>
                <a:cs typeface="Noto Sans SC"/>
              </a:rPr>
              <a:t>增强可扩展性</a:t>
            </a:r>
          </a:p>
          <a:p>
            <a:pPr>
              <a:lnSpc>
                <a:spcPct val="140000"/>
              </a:lnSpc>
            </a:pPr>
            <a:r>
              <a:rPr lang="en-US" sz="1500">
                <a:solidFill>
                  <a:schemeClr val="dk1">
                    <a:alpha val="100000"/>
                  </a:schemeClr>
                </a:solidFill>
                <a:latin typeface="Noto Sans SC"/>
                <a:ea typeface="Noto Sans SC"/>
                <a:cs typeface="Noto Sans SC"/>
              </a:rPr>
              <a:t>遵循里氏替换原则可以增强系统的可扩展性。通过设计可替换的子类，可以在不修改现有代码的情况下添加新功能。例如，可以通过继承父类并实现新功能来扩展系统，而不必修改依赖于父类的代码。</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3748" r="3748"/>
          <a:stretch>
            <a:fillRect/>
          </a:stretch>
        </p:blipFill>
        <p:spPr>
          <a:xfrm>
            <a:off x="606080" y="1416215"/>
            <a:ext cx="5583600" cy="4733343"/>
          </a:xfrm>
          <a:prstGeom prst="rect">
            <a:avLst/>
          </a:prstGeom>
        </p:spPr>
      </p:pic>
      <p:sp>
        <p:nvSpPr>
          <p:cNvPr id="3" name="AutoShape 3"/>
          <p:cNvSpPr/>
          <p:nvPr/>
        </p:nvSpPr>
        <p:spPr>
          <a:xfrm>
            <a:off x="5247872" y="1964929"/>
            <a:ext cx="6270967" cy="3635914"/>
          </a:xfrm>
          <a:prstGeom prst="roundRect">
            <a:avLst>
              <a:gd name="adj" fmla="val 5898"/>
            </a:avLst>
          </a:prstGeom>
          <a:solidFill>
            <a:srgbClr val="FFFFFF">
              <a:alpha val="100000"/>
            </a:srgbClr>
          </a:solidFill>
          <a:ln/>
          <a:effectLst>
            <a:outerShdw blurRad="361950">
              <a:schemeClr val="dk1">
                <a:alpha val="6000"/>
              </a:schemeClr>
            </a:outerShdw>
          </a:effectLst>
        </p:spPr>
      </p:sp>
      <p:sp>
        <p:nvSpPr>
          <p:cNvPr id="4" name="TextBox 4"/>
          <p:cNvSpPr txBox="1"/>
          <p:nvPr/>
        </p:nvSpPr>
        <p:spPr>
          <a:xfrm>
            <a:off x="5576989" y="2314681"/>
            <a:ext cx="5612735" cy="2936411"/>
          </a:xfrm>
          <a:prstGeom prst="rect">
            <a:avLst/>
          </a:prstGeom>
          <a:ln/>
        </p:spPr>
        <p:txBody>
          <a:bodyPr vert="horz" wrap="square" lIns="114300" tIns="57150" rIns="114300" bIns="57150" rtlCol="0" anchor="t" anchorCtr="0">
            <a:normAutofit/>
          </a:bodyPr>
          <a:lstStyle/>
          <a:p>
            <a:pPr>
              <a:lnSpc>
                <a:spcPct val="150000"/>
              </a:lnSpc>
            </a:pPr>
            <a:r>
              <a:rPr lang="en-US" sz="1500" b="1">
                <a:solidFill>
                  <a:schemeClr val="accent1">
                    <a:alpha val="100000"/>
                  </a:schemeClr>
                </a:solidFill>
                <a:latin typeface="Noto Sans SC"/>
                <a:ea typeface="Noto Sans SC"/>
                <a:cs typeface="Noto Sans SC"/>
              </a:rPr>
              <a:t>降低维护成本</a:t>
            </a:r>
          </a:p>
          <a:p>
            <a:pPr>
              <a:lnSpc>
                <a:spcPct val="150000"/>
              </a:lnSpc>
            </a:pPr>
            <a:r>
              <a:rPr lang="en-US" sz="1500">
                <a:solidFill>
                  <a:srgbClr val="000000">
                    <a:alpha val="100000"/>
                  </a:srgbClr>
                </a:solidFill>
                <a:latin typeface="Noto Sans SC"/>
                <a:ea typeface="Noto Sans SC"/>
                <a:cs typeface="Noto Sans SC"/>
              </a:rPr>
              <a:t>里氏替换原则有助于降低系统的维护成本。由于子类保持了与父类一致的行为，因此在修改或扩展系统时，开发者可以放心地替换父类，而不必担心会引入新的问题。这减少了调试和修复错误的时间，提高了开发效率。</a:t>
            </a:r>
          </a:p>
        </p:txBody>
      </p:sp>
      <p:sp>
        <p:nvSpPr>
          <p:cNvPr id="5" name="TextBox 5"/>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Noto Sans SC"/>
                <a:ea typeface="Noto Sans SC"/>
                <a:cs typeface="Noto Sans SC"/>
              </a:rPr>
              <a:t>里氏替换原则（LSP）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5280874" y="2017809"/>
            <a:ext cx="1630253" cy="1138956"/>
          </a:xfrm>
          <a:prstGeom prst="rect">
            <a:avLst/>
          </a:prstGeom>
          <a:ln/>
        </p:spPr>
        <p:txBody>
          <a:bodyPr vert="horz" wrap="square" lIns="66008" tIns="33052" rIns="66008" bIns="33052" rtlCol="0" anchor="ctr" anchorCtr="0">
            <a:noAutofit/>
          </a:bodyPr>
          <a:lstStyle/>
          <a:p>
            <a:pPr algn="ctr">
              <a:lnSpc>
                <a:spcPct val="100000"/>
              </a:lnSpc>
            </a:pPr>
            <a:r>
              <a:rPr lang="en-US" sz="8025" b="1">
                <a:solidFill>
                  <a:schemeClr val="accent1">
                    <a:alpha val="100000"/>
                  </a:schemeClr>
                </a:solidFill>
                <a:latin typeface="Noto Sans SC"/>
                <a:ea typeface="Noto Sans SC"/>
                <a:cs typeface="Noto Sans SC"/>
              </a:rPr>
              <a:t>05</a:t>
            </a:r>
          </a:p>
        </p:txBody>
      </p:sp>
      <p:sp>
        <p:nvSpPr>
          <p:cNvPr id="3" name="TextBox 3"/>
          <p:cNvSpPr txBox="1"/>
          <p:nvPr/>
        </p:nvSpPr>
        <p:spPr>
          <a:xfrm>
            <a:off x="3013710" y="3156765"/>
            <a:ext cx="6164580" cy="1615440"/>
          </a:xfrm>
          <a:prstGeom prst="rect">
            <a:avLst/>
          </a:prstGeom>
          <a:ln/>
        </p:spPr>
        <p:txBody>
          <a:bodyPr vert="horz" wrap="square" lIns="91440" tIns="45720" rIns="91440" bIns="45720" rtlCol="0" anchor="t" anchorCtr="0">
            <a:noAutofit/>
          </a:bodyPr>
          <a:lstStyle/>
          <a:p>
            <a:pPr algn="ctr">
              <a:lnSpc>
                <a:spcPct val="100000"/>
              </a:lnSpc>
              <a:spcBef>
                <a:spcPct val="0"/>
              </a:spcBef>
            </a:pPr>
            <a:r>
              <a:rPr lang="en-US" sz="4500" b="1">
                <a:solidFill>
                  <a:schemeClr val="dk1">
                    <a:alpha val="100000"/>
                  </a:schemeClr>
                </a:solidFill>
                <a:latin typeface="Noto Sans SC"/>
                <a:ea typeface="Noto Sans SC"/>
                <a:cs typeface="Noto Sans SC"/>
              </a:rPr>
              <a:t>典型应用场景</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Noto Sans SC"/>
                <a:ea typeface="Noto Sans SC"/>
                <a:cs typeface="Noto Sans SC"/>
              </a:rPr>
              <a:t>GUI框架开发</a:t>
            </a:r>
          </a:p>
        </p:txBody>
      </p:sp>
      <p:sp>
        <p:nvSpPr>
          <p:cNvPr id="3" name="AutoShape 3"/>
          <p:cNvSpPr/>
          <p:nvPr/>
        </p:nvSpPr>
        <p:spPr>
          <a:xfrm>
            <a:off x="537512" y="1664304"/>
            <a:ext cx="638131" cy="638131"/>
          </a:xfrm>
          <a:prstGeom prst="ellipse">
            <a:avLst/>
          </a:prstGeom>
          <a:solidFill>
            <a:schemeClr val="accent1">
              <a:alpha val="20000"/>
            </a:schemeClr>
          </a:solidFill>
          <a:ln/>
        </p:spPr>
      </p:sp>
      <p:sp>
        <p:nvSpPr>
          <p:cNvPr id="4" name="TextBox 4"/>
          <p:cNvSpPr txBox="1"/>
          <p:nvPr/>
        </p:nvSpPr>
        <p:spPr>
          <a:xfrm>
            <a:off x="1300882" y="1463721"/>
            <a:ext cx="6886575" cy="765904"/>
          </a:xfrm>
          <a:prstGeom prst="rect">
            <a:avLst/>
          </a:prstGeom>
          <a:ln/>
        </p:spPr>
        <p:txBody>
          <a:bodyPr vert="horz" wrap="square" lIns="123825" tIns="123825" rIns="57150" bIns="123825" rtlCol="0" anchor="b" anchorCtr="0">
            <a:noAutofit/>
          </a:bodyPr>
          <a:lstStyle/>
          <a:p>
            <a:pPr>
              <a:lnSpc>
                <a:spcPct val="140000"/>
              </a:lnSpc>
            </a:pPr>
            <a:r>
              <a:rPr lang="en-US" sz="2400" b="1">
                <a:solidFill>
                  <a:schemeClr val="accent1">
                    <a:alpha val="100000"/>
                  </a:schemeClr>
                </a:solidFill>
                <a:latin typeface="Noto Sans SC"/>
                <a:ea typeface="Noto Sans SC"/>
                <a:cs typeface="Noto Sans SC"/>
              </a:rPr>
              <a:t>组件封装</a:t>
            </a:r>
          </a:p>
        </p:txBody>
      </p:sp>
      <p:sp>
        <p:nvSpPr>
          <p:cNvPr id="5" name="TextBox 5"/>
          <p:cNvSpPr txBox="1"/>
          <p:nvPr/>
        </p:nvSpPr>
        <p:spPr>
          <a:xfrm>
            <a:off x="1300882" y="1998589"/>
            <a:ext cx="6891292" cy="1083679"/>
          </a:xfrm>
          <a:prstGeom prst="rect">
            <a:avLst/>
          </a:prstGeom>
          <a:ln/>
        </p:spPr>
        <p:txBody>
          <a:bodyPr vert="horz" wrap="square" lIns="123825" tIns="123825" rIns="57150" bIns="123825" rtlCol="0" anchor="t" anchorCtr="0">
            <a:noAutofit/>
          </a:bodyPr>
          <a:lstStyle/>
          <a:p>
            <a:pPr>
              <a:lnSpc>
                <a:spcPct val="140000"/>
              </a:lnSpc>
            </a:pPr>
            <a:r>
              <a:rPr lang="en-US" sz="1350">
                <a:solidFill>
                  <a:schemeClr val="dk1">
                    <a:alpha val="100000"/>
                  </a:schemeClr>
                </a:solidFill>
                <a:latin typeface="Noto Sans SC"/>
                <a:ea typeface="Noto Sans SC"/>
                <a:cs typeface="Noto Sans SC"/>
              </a:rPr>
              <a:t>在GUI框架开发中，OOP通过将用户界面元素（如按钮、文本框、菜单等）封装成独立的类，实现了代码的高度模块化。每个类负责特定元素的显示和行为，使得代码更易于维护和扩展。</a:t>
            </a:r>
          </a:p>
        </p:txBody>
      </p:sp>
      <p:sp>
        <p:nvSpPr>
          <p:cNvPr id="6" name="AutoShape 6"/>
          <p:cNvSpPr/>
          <p:nvPr/>
        </p:nvSpPr>
        <p:spPr>
          <a:xfrm>
            <a:off x="537512" y="3384629"/>
            <a:ext cx="638131" cy="638131"/>
          </a:xfrm>
          <a:prstGeom prst="ellipse">
            <a:avLst/>
          </a:prstGeom>
          <a:solidFill>
            <a:schemeClr val="accent1">
              <a:alpha val="20000"/>
            </a:schemeClr>
          </a:solidFill>
          <a:ln/>
        </p:spPr>
      </p:sp>
      <p:sp>
        <p:nvSpPr>
          <p:cNvPr id="7" name="TextBox 7"/>
          <p:cNvSpPr txBox="1"/>
          <p:nvPr/>
        </p:nvSpPr>
        <p:spPr>
          <a:xfrm>
            <a:off x="1300882" y="3182098"/>
            <a:ext cx="6886575" cy="769800"/>
          </a:xfrm>
          <a:prstGeom prst="rect">
            <a:avLst/>
          </a:prstGeom>
          <a:ln/>
        </p:spPr>
        <p:txBody>
          <a:bodyPr vert="horz" wrap="square" lIns="123825" tIns="123825" rIns="57150" bIns="123825" rtlCol="0" anchor="b" anchorCtr="0">
            <a:noAutofit/>
          </a:bodyPr>
          <a:lstStyle/>
          <a:p>
            <a:pPr>
              <a:lnSpc>
                <a:spcPct val="140000"/>
              </a:lnSpc>
            </a:pPr>
            <a:r>
              <a:rPr lang="en-US" sz="2400" b="1">
                <a:solidFill>
                  <a:schemeClr val="accent1">
                    <a:alpha val="100000"/>
                  </a:schemeClr>
                </a:solidFill>
                <a:latin typeface="Noto Sans SC"/>
                <a:ea typeface="Noto Sans SC"/>
                <a:cs typeface="Noto Sans SC"/>
              </a:rPr>
              <a:t>事件驱动模型</a:t>
            </a:r>
          </a:p>
        </p:txBody>
      </p:sp>
      <p:sp>
        <p:nvSpPr>
          <p:cNvPr id="8" name="AutoShape 8"/>
          <p:cNvSpPr/>
          <p:nvPr/>
        </p:nvSpPr>
        <p:spPr>
          <a:xfrm>
            <a:off x="537512" y="5104954"/>
            <a:ext cx="638131" cy="638131"/>
          </a:xfrm>
          <a:prstGeom prst="ellipse">
            <a:avLst/>
          </a:prstGeom>
          <a:solidFill>
            <a:schemeClr val="accent1">
              <a:alpha val="20000"/>
            </a:schemeClr>
          </a:solidFill>
          <a:ln/>
        </p:spPr>
      </p:sp>
      <p:sp>
        <p:nvSpPr>
          <p:cNvPr id="9" name="TextBox 9"/>
          <p:cNvSpPr txBox="1"/>
          <p:nvPr/>
        </p:nvSpPr>
        <p:spPr>
          <a:xfrm>
            <a:off x="1300882" y="4920230"/>
            <a:ext cx="6886575" cy="734184"/>
          </a:xfrm>
          <a:prstGeom prst="rect">
            <a:avLst/>
          </a:prstGeom>
          <a:ln/>
        </p:spPr>
        <p:txBody>
          <a:bodyPr vert="horz" wrap="square" lIns="123825" tIns="123825" rIns="57150" bIns="123825" rtlCol="0" anchor="b" anchorCtr="0">
            <a:noAutofit/>
          </a:bodyPr>
          <a:lstStyle/>
          <a:p>
            <a:pPr>
              <a:lnSpc>
                <a:spcPct val="140000"/>
              </a:lnSpc>
            </a:pPr>
            <a:r>
              <a:rPr lang="en-US" sz="2400" b="1">
                <a:solidFill>
                  <a:schemeClr val="accent1">
                    <a:alpha val="100000"/>
                  </a:schemeClr>
                </a:solidFill>
                <a:latin typeface="Noto Sans SC"/>
                <a:ea typeface="Noto Sans SC"/>
                <a:cs typeface="Noto Sans SC"/>
              </a:rPr>
              <a:t>继承与多态</a:t>
            </a:r>
          </a:p>
        </p:txBody>
      </p:sp>
      <p:sp>
        <p:nvSpPr>
          <p:cNvPr id="10" name="TextBox 10"/>
          <p:cNvSpPr txBox="1"/>
          <p:nvPr/>
        </p:nvSpPr>
        <p:spPr>
          <a:xfrm>
            <a:off x="1300882" y="3741456"/>
            <a:ext cx="6891292" cy="1074439"/>
          </a:xfrm>
          <a:prstGeom prst="rect">
            <a:avLst/>
          </a:prstGeom>
          <a:ln/>
        </p:spPr>
        <p:txBody>
          <a:bodyPr vert="horz" wrap="square" lIns="123825" tIns="123825" rIns="57150" bIns="123825" rtlCol="0" anchor="t" anchorCtr="0">
            <a:noAutofit/>
          </a:bodyPr>
          <a:lstStyle/>
          <a:p>
            <a:pPr>
              <a:lnSpc>
                <a:spcPct val="140000"/>
              </a:lnSpc>
            </a:pPr>
            <a:r>
              <a:rPr lang="en-US" sz="1350">
                <a:solidFill>
                  <a:schemeClr val="dk1">
                    <a:alpha val="100000"/>
                  </a:schemeClr>
                </a:solidFill>
                <a:latin typeface="Noto Sans SC"/>
                <a:ea typeface="Noto Sans SC"/>
                <a:cs typeface="Noto Sans SC"/>
              </a:rPr>
              <a:t>OOP支持事件驱动编程，通过定义事件处理器类来响应用户操作，如点击按钮或输入文本。这种模型使得GUI应用程序的交互逻辑更加清晰和灵活。</a:t>
            </a:r>
          </a:p>
        </p:txBody>
      </p:sp>
      <p:sp>
        <p:nvSpPr>
          <p:cNvPr id="11" name="TextBox 11"/>
          <p:cNvSpPr txBox="1"/>
          <p:nvPr/>
        </p:nvSpPr>
        <p:spPr>
          <a:xfrm>
            <a:off x="1300882" y="5424019"/>
            <a:ext cx="6891292" cy="1092920"/>
          </a:xfrm>
          <a:prstGeom prst="rect">
            <a:avLst/>
          </a:prstGeom>
          <a:ln/>
        </p:spPr>
        <p:txBody>
          <a:bodyPr vert="horz" wrap="square" lIns="123825" tIns="123825" rIns="57150" bIns="123825" rtlCol="0" anchor="t" anchorCtr="0">
            <a:noAutofit/>
          </a:bodyPr>
          <a:lstStyle/>
          <a:p>
            <a:pPr>
              <a:lnSpc>
                <a:spcPct val="140000"/>
              </a:lnSpc>
            </a:pPr>
            <a:r>
              <a:rPr lang="en-US" sz="1350">
                <a:solidFill>
                  <a:schemeClr val="dk1">
                    <a:alpha val="100000"/>
                  </a:schemeClr>
                </a:solidFill>
                <a:latin typeface="Noto Sans SC"/>
                <a:ea typeface="Noto Sans SC"/>
                <a:cs typeface="Noto Sans SC"/>
              </a:rPr>
              <a:t>通过继承和多态，开发者可以创建通用的基类，然后派生出具体的子类来实现特定的功能。这不仅减少了代码重复，还提高了代码的可重用性和可扩展性。</a:t>
            </a:r>
          </a:p>
        </p:txBody>
      </p:sp>
      <p:pic>
        <p:nvPicPr>
          <p:cNvPr id="12" name="Picture 12"/>
          <p:cNvPicPr>
            <a:picLocks noChangeAspect="1"/>
          </p:cNvPicPr>
          <p:nvPr/>
        </p:nvPicPr>
        <p:blipFill>
          <a:blip r:embed="rId3">
            <a:alphaModFix/>
          </a:blip>
          <a:srcRect/>
          <a:stretch>
            <a:fillRect/>
          </a:stretch>
        </p:blipFill>
        <p:spPr>
          <a:xfrm>
            <a:off x="8604472" y="1741145"/>
            <a:ext cx="4421505" cy="4421505"/>
          </a:xfrm>
          <a:prstGeom prst="ellipse">
            <a:avLst/>
          </a:prstGeom>
        </p:spPr>
      </p:pic>
      <p:cxnSp>
        <p:nvCxnSpPr>
          <p:cNvPr id="13" name="Connector 13"/>
          <p:cNvCxnSpPr/>
          <p:nvPr/>
        </p:nvCxnSpPr>
        <p:spPr>
          <a:xfrm>
            <a:off x="856577" y="2403263"/>
            <a:ext cx="0" cy="896335"/>
          </a:xfrm>
          <a:prstGeom prst="line">
            <a:avLst/>
          </a:prstGeom>
          <a:ln w="19050">
            <a:solidFill>
              <a:schemeClr val="accent1"/>
            </a:solidFill>
            <a:prstDash val="solid"/>
            <a:headEnd type="none"/>
            <a:tailEnd type="none"/>
          </a:ln>
        </p:spPr>
        <p:style>
          <a:lnRef idx="0">
            <a:schemeClr val="accent1"/>
          </a:lnRef>
          <a:fillRef idx="1">
            <a:schemeClr val="accent1"/>
          </a:fillRef>
          <a:effectRef idx="0">
            <a:schemeClr val="accent1"/>
          </a:effectRef>
          <a:fontRef idx="minor">
            <a:schemeClr val="lt1"/>
          </a:fontRef>
        </p:style>
      </p:cxnSp>
      <p:cxnSp>
        <p:nvCxnSpPr>
          <p:cNvPr id="14" name="Connector 14"/>
          <p:cNvCxnSpPr/>
          <p:nvPr/>
        </p:nvCxnSpPr>
        <p:spPr>
          <a:xfrm>
            <a:off x="856577" y="4124852"/>
            <a:ext cx="0" cy="896335"/>
          </a:xfrm>
          <a:prstGeom prst="line">
            <a:avLst/>
          </a:prstGeom>
          <a:ln w="19050">
            <a:solidFill>
              <a:schemeClr val="accent1"/>
            </a:solidFill>
            <a:prstDash val="solid"/>
            <a:headEnd type="none"/>
            <a:tailEnd type="none"/>
          </a:ln>
        </p:spPr>
        <p:style>
          <a:lnRef idx="0">
            <a:schemeClr val="accent1"/>
          </a:lnRef>
          <a:fillRef idx="1">
            <a:schemeClr val="accent1"/>
          </a:fillRef>
          <a:effectRef idx="0">
            <a:schemeClr val="accent1"/>
          </a:effectRef>
          <a:fontRef idx="minor">
            <a:schemeClr val="lt1"/>
          </a:fontRef>
        </p:style>
      </p:cxnSp>
      <p:sp>
        <p:nvSpPr>
          <p:cNvPr id="15" name="TextBox 15"/>
          <p:cNvSpPr txBox="1"/>
          <p:nvPr/>
        </p:nvSpPr>
        <p:spPr>
          <a:xfrm>
            <a:off x="688937" y="1685237"/>
            <a:ext cx="335280" cy="596265"/>
          </a:xfrm>
          <a:prstGeom prst="rect">
            <a:avLst/>
          </a:prstGeom>
          <a:ln/>
        </p:spPr>
        <p:txBody>
          <a:bodyPr vert="horz" wrap="square" lIns="91440" tIns="45720" rIns="91440" bIns="45720" rtlCol="0" anchor="ctr" anchorCtr="0">
            <a:spAutoFit/>
          </a:bodyPr>
          <a:lstStyle/>
          <a:p>
            <a:pPr algn="ctr">
              <a:lnSpc>
                <a:spcPct val="100000"/>
              </a:lnSpc>
              <a:spcBef>
                <a:spcPts val="375"/>
              </a:spcBef>
            </a:pPr>
            <a:r>
              <a:rPr lang="en-US" sz="3000">
                <a:solidFill>
                  <a:schemeClr val="accent1">
                    <a:alpha val="100000"/>
                  </a:schemeClr>
                </a:solidFill>
                <a:latin typeface="Microsoft Yahei"/>
                <a:ea typeface="Microsoft Yahei"/>
                <a:cs typeface="Microsoft Yahei"/>
              </a:rPr>
              <a:t>1</a:t>
            </a:r>
          </a:p>
        </p:txBody>
      </p:sp>
      <p:sp>
        <p:nvSpPr>
          <p:cNvPr id="16" name="TextBox 16"/>
          <p:cNvSpPr txBox="1"/>
          <p:nvPr/>
        </p:nvSpPr>
        <p:spPr>
          <a:xfrm>
            <a:off x="588925" y="3405562"/>
            <a:ext cx="535305" cy="596265"/>
          </a:xfrm>
          <a:prstGeom prst="rect">
            <a:avLst/>
          </a:prstGeom>
          <a:ln/>
        </p:spPr>
        <p:txBody>
          <a:bodyPr vert="horz" wrap="square" lIns="91440" tIns="45720" rIns="91440" bIns="45720" rtlCol="0" anchor="ctr" anchorCtr="0">
            <a:spAutoFit/>
          </a:bodyPr>
          <a:lstStyle/>
          <a:p>
            <a:pPr algn="ctr">
              <a:lnSpc>
                <a:spcPct val="100000"/>
              </a:lnSpc>
              <a:spcBef>
                <a:spcPts val="375"/>
              </a:spcBef>
            </a:pPr>
            <a:r>
              <a:rPr lang="en-US" sz="3000">
                <a:solidFill>
                  <a:schemeClr val="accent1">
                    <a:alpha val="100000"/>
                  </a:schemeClr>
                </a:solidFill>
                <a:latin typeface="Microsoft Yahei"/>
                <a:ea typeface="Microsoft Yahei"/>
                <a:cs typeface="Microsoft Yahei"/>
              </a:rPr>
              <a:t>2</a:t>
            </a:r>
          </a:p>
        </p:txBody>
      </p:sp>
      <p:sp>
        <p:nvSpPr>
          <p:cNvPr id="17" name="TextBox 17"/>
          <p:cNvSpPr txBox="1"/>
          <p:nvPr/>
        </p:nvSpPr>
        <p:spPr>
          <a:xfrm>
            <a:off x="588925" y="5125887"/>
            <a:ext cx="535305" cy="596265"/>
          </a:xfrm>
          <a:prstGeom prst="rect">
            <a:avLst/>
          </a:prstGeom>
          <a:ln/>
        </p:spPr>
        <p:txBody>
          <a:bodyPr vert="horz" wrap="square" lIns="91440" tIns="45720" rIns="91440" bIns="45720" rtlCol="0" anchor="ctr" anchorCtr="0">
            <a:spAutoFit/>
          </a:bodyPr>
          <a:lstStyle/>
          <a:p>
            <a:pPr algn="ctr">
              <a:lnSpc>
                <a:spcPct val="100000"/>
              </a:lnSpc>
              <a:spcBef>
                <a:spcPts val="375"/>
              </a:spcBef>
            </a:pPr>
            <a:r>
              <a:rPr lang="en-US" sz="3000">
                <a:solidFill>
                  <a:schemeClr val="accent1">
                    <a:alpha val="100000"/>
                  </a:schemeClr>
                </a:solidFill>
                <a:latin typeface="Microsoft Yahei"/>
                <a:ea typeface="Microsoft Yahei"/>
                <a:cs typeface="Microsoft Yahei"/>
              </a:rPr>
              <a:t>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cxnSp>
        <p:nvCxnSpPr>
          <p:cNvPr id="2" name="Connector 2"/>
          <p:cNvCxnSpPr/>
          <p:nvPr/>
        </p:nvCxnSpPr>
        <p:spPr>
          <a:xfrm>
            <a:off x="6833714" y="2030630"/>
            <a:ext cx="2299541" cy="0"/>
          </a:xfrm>
          <a:prstGeom prst="line">
            <a:avLst/>
          </a:prstGeom>
          <a:ln w="19050">
            <a:solidFill>
              <a:schemeClr val="accent1"/>
            </a:solidFill>
            <a:prstDash val="dash"/>
            <a:headEnd type="none"/>
            <a:tailEnd type="triangle"/>
          </a:ln>
        </p:spPr>
        <p:style>
          <a:lnRef idx="0">
            <a:schemeClr val="accent1"/>
          </a:lnRef>
          <a:fillRef idx="1">
            <a:schemeClr val="accent1"/>
          </a:fillRef>
          <a:effectRef idx="0">
            <a:schemeClr val="accent1"/>
          </a:effectRef>
          <a:fontRef idx="minor">
            <a:schemeClr val="lt1"/>
          </a:fontRef>
        </p:style>
      </p:cxnSp>
      <p:sp>
        <p:nvSpPr>
          <p:cNvPr id="3" name="TextBox 3"/>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Noto Sans SC"/>
                <a:ea typeface="Noto Sans SC"/>
                <a:cs typeface="Noto Sans SC"/>
              </a:rPr>
              <a:t>游戏实体建模</a:t>
            </a:r>
          </a:p>
        </p:txBody>
      </p:sp>
      <p:sp>
        <p:nvSpPr>
          <p:cNvPr id="4" name="AutoShape 4"/>
          <p:cNvSpPr/>
          <p:nvPr/>
        </p:nvSpPr>
        <p:spPr>
          <a:xfrm>
            <a:off x="592974" y="2516443"/>
            <a:ext cx="3456116" cy="3702601"/>
          </a:xfrm>
          <a:prstGeom prst="roundRect">
            <a:avLst>
              <a:gd name="adj" fmla="val 7847"/>
            </a:avLst>
          </a:prstGeom>
          <a:noFill/>
          <a:ln w="12668">
            <a:solidFill>
              <a:schemeClr val="accent1">
                <a:alpha val="100000"/>
              </a:schemeClr>
            </a:solidFill>
            <a:prstDash val="solid"/>
          </a:ln>
        </p:spPr>
        <p:txBody>
          <a:bodyPr vert="horz" wrap="square" rtlCol="0" anchor="ctr" anchorCtr="0">
            <a:noAutofit/>
          </a:bodyPr>
          <a:lstStyle/>
          <a:p>
            <a:pPr algn="ctr">
              <a:lnSpc>
                <a:spcPct val="100000"/>
              </a:lnSpc>
              <a:spcBef>
                <a:spcPts val="375"/>
              </a:spcBef>
              <a:defRPr/>
            </a:pPr>
            <a:endParaRPr lang="en-US" sz="1100"/>
          </a:p>
        </p:txBody>
      </p:sp>
      <p:sp>
        <p:nvSpPr>
          <p:cNvPr id="5" name="TextBox 5"/>
          <p:cNvSpPr txBox="1"/>
          <p:nvPr/>
        </p:nvSpPr>
        <p:spPr>
          <a:xfrm>
            <a:off x="808710" y="2910022"/>
            <a:ext cx="3024645" cy="579431"/>
          </a:xfrm>
          <a:prstGeom prst="rect">
            <a:avLst/>
          </a:prstGeom>
          <a:ln/>
        </p:spPr>
        <p:txBody>
          <a:bodyPr vert="horz" wrap="square" lIns="114300" tIns="57150" rIns="114300" bIns="57150" rtlCol="0" anchor="ctr" anchorCtr="0">
            <a:noAutofit/>
          </a:bodyPr>
          <a:lstStyle/>
          <a:p>
            <a:pPr algn="ctr">
              <a:lnSpc>
                <a:spcPct val="120000"/>
              </a:lnSpc>
            </a:pPr>
            <a:r>
              <a:rPr lang="en-US" sz="2400" b="1">
                <a:solidFill>
                  <a:schemeClr val="accent1">
                    <a:alpha val="100000"/>
                  </a:schemeClr>
                </a:solidFill>
                <a:latin typeface="Noto Sans SC"/>
                <a:ea typeface="Noto Sans SC"/>
                <a:cs typeface="Noto Sans SC"/>
              </a:rPr>
              <a:t>角色与道具管理</a:t>
            </a:r>
          </a:p>
        </p:txBody>
      </p:sp>
      <p:sp>
        <p:nvSpPr>
          <p:cNvPr id="6" name="TextBox 6"/>
          <p:cNvSpPr txBox="1"/>
          <p:nvPr/>
        </p:nvSpPr>
        <p:spPr>
          <a:xfrm>
            <a:off x="742869" y="3537078"/>
            <a:ext cx="3156327" cy="2427106"/>
          </a:xfrm>
          <a:prstGeom prst="rect">
            <a:avLst/>
          </a:prstGeom>
          <a:ln/>
        </p:spPr>
        <p:txBody>
          <a:bodyPr vert="horz" wrap="square" lIns="114300" tIns="57150" rIns="114300" bIns="57150" rtlCol="0" anchor="t" anchorCtr="0">
            <a:noAutofit/>
          </a:bodyPr>
          <a:lstStyle/>
          <a:p>
            <a:pPr algn="ctr">
              <a:lnSpc>
                <a:spcPct val="150000"/>
              </a:lnSpc>
            </a:pPr>
            <a:r>
              <a:rPr lang="en-US" sz="1350">
                <a:solidFill>
                  <a:schemeClr val="dk1">
                    <a:alpha val="100000"/>
                  </a:schemeClr>
                </a:solidFill>
                <a:latin typeface="Noto Sans SC"/>
                <a:ea typeface="Noto Sans SC"/>
                <a:cs typeface="Noto Sans SC"/>
              </a:rPr>
              <a:t>在游戏开发中，OOP用于将游戏角色、道具、场景等元素建模为类。每个类包含特定的属性和方法，如角色的移动、攻击和道具的使用，使得游戏逻辑更加模块化和易于管理。</a:t>
            </a:r>
          </a:p>
        </p:txBody>
      </p:sp>
      <p:sp>
        <p:nvSpPr>
          <p:cNvPr id="7" name="AutoShape 7"/>
          <p:cNvSpPr/>
          <p:nvPr/>
        </p:nvSpPr>
        <p:spPr>
          <a:xfrm>
            <a:off x="4366124" y="2516443"/>
            <a:ext cx="3456116" cy="3702601"/>
          </a:xfrm>
          <a:prstGeom prst="roundRect">
            <a:avLst>
              <a:gd name="adj" fmla="val 7847"/>
            </a:avLst>
          </a:prstGeom>
          <a:noFill/>
          <a:ln w="12668">
            <a:solidFill>
              <a:schemeClr val="accent1">
                <a:alpha val="100000"/>
              </a:schemeClr>
            </a:solidFill>
            <a:prstDash val="solid"/>
          </a:ln>
        </p:spPr>
        <p:txBody>
          <a:bodyPr vert="horz" wrap="square" rtlCol="0" anchor="ctr" anchorCtr="0">
            <a:noAutofit/>
          </a:bodyPr>
          <a:lstStyle/>
          <a:p>
            <a:pPr algn="ctr">
              <a:lnSpc>
                <a:spcPct val="100000"/>
              </a:lnSpc>
              <a:spcBef>
                <a:spcPts val="375"/>
              </a:spcBef>
              <a:defRPr/>
            </a:pPr>
            <a:endParaRPr lang="en-US" sz="1100"/>
          </a:p>
        </p:txBody>
      </p:sp>
      <p:sp>
        <p:nvSpPr>
          <p:cNvPr id="8" name="TextBox 8"/>
          <p:cNvSpPr txBox="1"/>
          <p:nvPr/>
        </p:nvSpPr>
        <p:spPr>
          <a:xfrm>
            <a:off x="4581860" y="2910022"/>
            <a:ext cx="3024645" cy="579431"/>
          </a:xfrm>
          <a:prstGeom prst="rect">
            <a:avLst/>
          </a:prstGeom>
          <a:ln/>
        </p:spPr>
        <p:txBody>
          <a:bodyPr vert="horz" wrap="square" lIns="114300" tIns="57150" rIns="114300" bIns="57150" rtlCol="0" anchor="ctr" anchorCtr="0">
            <a:noAutofit/>
          </a:bodyPr>
          <a:lstStyle/>
          <a:p>
            <a:pPr algn="ctr">
              <a:lnSpc>
                <a:spcPct val="120000"/>
              </a:lnSpc>
            </a:pPr>
            <a:r>
              <a:rPr lang="en-US" sz="2400" b="1">
                <a:solidFill>
                  <a:schemeClr val="accent1">
                    <a:alpha val="100000"/>
                  </a:schemeClr>
                </a:solidFill>
                <a:latin typeface="Noto Sans SC"/>
                <a:ea typeface="Noto Sans SC"/>
                <a:cs typeface="Noto Sans SC"/>
              </a:rPr>
              <a:t>状态与行为封装</a:t>
            </a:r>
          </a:p>
        </p:txBody>
      </p:sp>
      <p:sp>
        <p:nvSpPr>
          <p:cNvPr id="9" name="TextBox 9"/>
          <p:cNvSpPr txBox="1"/>
          <p:nvPr/>
        </p:nvSpPr>
        <p:spPr>
          <a:xfrm>
            <a:off x="4552981" y="3537078"/>
            <a:ext cx="3082402" cy="2427106"/>
          </a:xfrm>
          <a:prstGeom prst="rect">
            <a:avLst/>
          </a:prstGeom>
          <a:ln/>
        </p:spPr>
        <p:txBody>
          <a:bodyPr vert="horz" wrap="square" lIns="114300" tIns="57150" rIns="114300" bIns="57150" rtlCol="0" anchor="t" anchorCtr="0">
            <a:noAutofit/>
          </a:bodyPr>
          <a:lstStyle/>
          <a:p>
            <a:pPr algn="ctr">
              <a:lnSpc>
                <a:spcPct val="150000"/>
              </a:lnSpc>
            </a:pPr>
            <a:r>
              <a:rPr lang="en-US" sz="1350">
                <a:solidFill>
                  <a:schemeClr val="dk1">
                    <a:alpha val="100000"/>
                  </a:schemeClr>
                </a:solidFill>
                <a:latin typeface="Noto Sans SC"/>
                <a:ea typeface="Noto Sans SC"/>
                <a:cs typeface="Noto Sans SC"/>
              </a:rPr>
              <a:t>通过封装角色的状态和行为，OOP使得游戏开发更加灵活。例如，角色的健康值、攻击力和防御力等状态可以封装在类中，而攻击、防御和移动等行为可以通过方法来实现。</a:t>
            </a:r>
          </a:p>
        </p:txBody>
      </p:sp>
      <p:sp>
        <p:nvSpPr>
          <p:cNvPr id="10" name="AutoShape 10"/>
          <p:cNvSpPr/>
          <p:nvPr/>
        </p:nvSpPr>
        <p:spPr>
          <a:xfrm>
            <a:off x="8139274" y="2516443"/>
            <a:ext cx="3456116" cy="3702601"/>
          </a:xfrm>
          <a:prstGeom prst="roundRect">
            <a:avLst>
              <a:gd name="adj" fmla="val 7847"/>
            </a:avLst>
          </a:prstGeom>
          <a:noFill/>
          <a:ln w="12668">
            <a:solidFill>
              <a:schemeClr val="accent1">
                <a:alpha val="100000"/>
              </a:schemeClr>
            </a:solidFill>
            <a:prstDash val="solid"/>
          </a:ln>
        </p:spPr>
        <p:txBody>
          <a:bodyPr vert="horz" wrap="square" rtlCol="0" anchor="ctr" anchorCtr="0">
            <a:noAutofit/>
          </a:bodyPr>
          <a:lstStyle/>
          <a:p>
            <a:pPr algn="ctr">
              <a:lnSpc>
                <a:spcPct val="100000"/>
              </a:lnSpc>
              <a:spcBef>
                <a:spcPts val="375"/>
              </a:spcBef>
              <a:defRPr/>
            </a:pPr>
            <a:endParaRPr lang="en-US" sz="1100"/>
          </a:p>
        </p:txBody>
      </p:sp>
      <p:sp>
        <p:nvSpPr>
          <p:cNvPr id="11" name="TextBox 11"/>
          <p:cNvSpPr txBox="1"/>
          <p:nvPr/>
        </p:nvSpPr>
        <p:spPr>
          <a:xfrm>
            <a:off x="8355010" y="2910022"/>
            <a:ext cx="3024645" cy="579431"/>
          </a:xfrm>
          <a:prstGeom prst="rect">
            <a:avLst/>
          </a:prstGeom>
          <a:ln/>
        </p:spPr>
        <p:txBody>
          <a:bodyPr vert="horz" wrap="square" lIns="114300" tIns="57150" rIns="114300" bIns="57150" rtlCol="0" anchor="ctr" anchorCtr="0">
            <a:noAutofit/>
          </a:bodyPr>
          <a:lstStyle/>
          <a:p>
            <a:pPr algn="ctr">
              <a:lnSpc>
                <a:spcPct val="120000"/>
              </a:lnSpc>
            </a:pPr>
            <a:r>
              <a:rPr lang="en-US" sz="2400" b="1">
                <a:solidFill>
                  <a:schemeClr val="accent1">
                    <a:alpha val="100000"/>
                  </a:schemeClr>
                </a:solidFill>
                <a:latin typeface="Noto Sans SC"/>
                <a:ea typeface="Noto Sans SC"/>
                <a:cs typeface="Noto Sans SC"/>
              </a:rPr>
              <a:t>继承与组合</a:t>
            </a:r>
          </a:p>
        </p:txBody>
      </p:sp>
      <p:sp>
        <p:nvSpPr>
          <p:cNvPr id="12" name="TextBox 12"/>
          <p:cNvSpPr txBox="1"/>
          <p:nvPr/>
        </p:nvSpPr>
        <p:spPr>
          <a:xfrm>
            <a:off x="8262734" y="3537078"/>
            <a:ext cx="3209195" cy="2427106"/>
          </a:xfrm>
          <a:prstGeom prst="rect">
            <a:avLst/>
          </a:prstGeom>
          <a:ln/>
        </p:spPr>
        <p:txBody>
          <a:bodyPr vert="horz" wrap="square" lIns="114300" tIns="57150" rIns="114300" bIns="57150" rtlCol="0" anchor="t" anchorCtr="0">
            <a:noAutofit/>
          </a:bodyPr>
          <a:lstStyle/>
          <a:p>
            <a:pPr algn="ctr">
              <a:lnSpc>
                <a:spcPct val="150000"/>
              </a:lnSpc>
            </a:pPr>
            <a:r>
              <a:rPr lang="en-US" sz="1350">
                <a:solidFill>
                  <a:schemeClr val="dk1">
                    <a:alpha val="100000"/>
                  </a:schemeClr>
                </a:solidFill>
                <a:latin typeface="Noto Sans SC"/>
                <a:ea typeface="Noto Sans SC"/>
                <a:cs typeface="Noto Sans SC"/>
              </a:rPr>
              <a:t>OOP支持继承和组合，使得开发者可以创建通用的游戏元素类，然后通过继承或组合来实现特定的游戏元素。这不仅提高了代码的可重用性，还使得游戏元素的扩展更加方便。</a:t>
            </a:r>
          </a:p>
        </p:txBody>
      </p:sp>
      <p:pic>
        <p:nvPicPr>
          <p:cNvPr id="13" name="Picture 13"/>
          <p:cNvPicPr>
            <a:picLocks noChangeAspect="1"/>
          </p:cNvPicPr>
          <p:nvPr/>
        </p:nvPicPr>
        <p:blipFill>
          <a:blip r:embed="rId3">
            <a:alphaModFix/>
          </a:blip>
          <a:srcRect/>
          <a:stretch>
            <a:fillRect/>
          </a:stretch>
        </p:blipFill>
        <p:spPr>
          <a:xfrm>
            <a:off x="5358286" y="1292917"/>
            <a:ext cx="1475427" cy="1475427"/>
          </a:xfrm>
          <a:prstGeom prst="ellipse">
            <a:avLst/>
          </a:prstGeom>
        </p:spPr>
      </p:pic>
      <p:pic>
        <p:nvPicPr>
          <p:cNvPr id="14" name="Picture 14"/>
          <p:cNvPicPr>
            <a:picLocks noChangeAspect="1"/>
          </p:cNvPicPr>
          <p:nvPr/>
        </p:nvPicPr>
        <p:blipFill>
          <a:blip r:embed="rId4">
            <a:alphaModFix/>
          </a:blip>
          <a:srcRect/>
          <a:stretch>
            <a:fillRect/>
          </a:stretch>
        </p:blipFill>
        <p:spPr>
          <a:xfrm>
            <a:off x="9121095" y="1292917"/>
            <a:ext cx="1475427" cy="1475427"/>
          </a:xfrm>
          <a:prstGeom prst="ellipse">
            <a:avLst/>
          </a:prstGeom>
        </p:spPr>
      </p:pic>
      <p:pic>
        <p:nvPicPr>
          <p:cNvPr id="15" name="Picture 15"/>
          <p:cNvPicPr>
            <a:picLocks noChangeAspect="1"/>
          </p:cNvPicPr>
          <p:nvPr/>
        </p:nvPicPr>
        <p:blipFill>
          <a:blip r:embed="rId5">
            <a:alphaModFix/>
          </a:blip>
          <a:srcRect/>
          <a:stretch>
            <a:fillRect/>
          </a:stretch>
        </p:blipFill>
        <p:spPr>
          <a:xfrm>
            <a:off x="1583319" y="1292917"/>
            <a:ext cx="1475427" cy="1475427"/>
          </a:xfrm>
          <a:prstGeom prst="ellipse">
            <a:avLst/>
          </a:prstGeom>
        </p:spPr>
      </p:pic>
      <p:cxnSp>
        <p:nvCxnSpPr>
          <p:cNvPr id="16" name="Connector 16"/>
          <p:cNvCxnSpPr/>
          <p:nvPr/>
        </p:nvCxnSpPr>
        <p:spPr>
          <a:xfrm>
            <a:off x="3058746" y="2030630"/>
            <a:ext cx="2299541" cy="0"/>
          </a:xfrm>
          <a:prstGeom prst="line">
            <a:avLst/>
          </a:prstGeom>
          <a:ln w="19050">
            <a:solidFill>
              <a:schemeClr val="accent1"/>
            </a:solidFill>
            <a:prstDash val="dash"/>
            <a:headEnd type="none"/>
            <a:tailEnd type="triangle"/>
          </a:ln>
        </p:spPr>
        <p:style>
          <a:lnRef idx="0">
            <a:schemeClr val="accent1"/>
          </a:lnRef>
          <a:fillRef idx="1">
            <a:schemeClr val="accent1"/>
          </a:fillRef>
          <a:effectRef idx="0">
            <a:schemeClr val="accent1"/>
          </a:effectRef>
          <a:fontRef idx="minor">
            <a:schemeClr val="lt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blip>
          <a:srcRect t="1640" b="1640"/>
          <a:stretch>
            <a:fillRect/>
          </a:stretch>
        </p:blipFill>
        <p:spPr>
          <a:xfrm>
            <a:off x="6591755" y="1559288"/>
            <a:ext cx="4993629" cy="4492828"/>
          </a:xfrm>
          <a:prstGeom prst="rect">
            <a:avLst/>
          </a:prstGeom>
        </p:spPr>
      </p:pic>
      <p:sp>
        <p:nvSpPr>
          <p:cNvPr id="3" name="Freeform 3"/>
          <p:cNvSpPr/>
          <p:nvPr/>
        </p:nvSpPr>
        <p:spPr>
          <a:xfrm>
            <a:off x="585516" y="1557734"/>
            <a:ext cx="1143000" cy="1143000"/>
          </a:xfrm>
          <a:custGeom>
            <a:avLst/>
            <a:gdLst/>
            <a:ahLst/>
            <a:cxnLst/>
            <a:rect l="l" t="t" r="r" b="b"/>
            <a:pathLst>
              <a:path w="1181062" h="1073360">
                <a:moveTo>
                  <a:pt x="0" y="0"/>
                </a:moveTo>
                <a:lnTo>
                  <a:pt x="1046892" y="0"/>
                </a:lnTo>
                <a:quadBezTo>
                  <a:pt x="1181062" y="0"/>
                  <a:pt x="1181062" y="134170"/>
                </a:quadBezTo>
                <a:lnTo>
                  <a:pt x="1181062" y="1073360"/>
                </a:lnTo>
                <a:lnTo>
                  <a:pt x="134170" y="1073360"/>
                </a:lnTo>
                <a:quadBezTo>
                  <a:pt x="0" y="1073360"/>
                  <a:pt x="0" y="939190"/>
                </a:quadBezTo>
                <a:lnTo>
                  <a:pt x="0" y="0"/>
                </a:lnTo>
              </a:path>
            </a:pathLst>
          </a:custGeom>
          <a:noFill/>
          <a:ln w="19050">
            <a:solidFill>
              <a:schemeClr val="accent1">
                <a:alpha val="100000"/>
              </a:schemeClr>
            </a:solidFill>
            <a:prstDash val="solid"/>
          </a:ln>
        </p:spPr>
      </p:sp>
      <p:sp>
        <p:nvSpPr>
          <p:cNvPr id="4" name="TextBox 4"/>
          <p:cNvSpPr txBox="1"/>
          <p:nvPr/>
        </p:nvSpPr>
        <p:spPr>
          <a:xfrm>
            <a:off x="599803" y="1495821"/>
            <a:ext cx="1114425" cy="1266825"/>
          </a:xfrm>
          <a:prstGeom prst="rect">
            <a:avLst/>
          </a:prstGeom>
          <a:ln/>
        </p:spPr>
        <p:txBody>
          <a:bodyPr vert="horz" wrap="square" lIns="95250" tIns="95250" rIns="47625" bIns="95250" rtlCol="0" anchor="t" anchorCtr="0">
            <a:spAutoFit/>
          </a:bodyPr>
          <a:lstStyle/>
          <a:p>
            <a:pPr algn="ctr">
              <a:lnSpc>
                <a:spcPct val="150000"/>
              </a:lnSpc>
            </a:pPr>
            <a:r>
              <a:rPr lang="en-US" sz="4500" b="1">
                <a:solidFill>
                  <a:schemeClr val="accent1">
                    <a:alpha val="100000"/>
                  </a:schemeClr>
                </a:solidFill>
                <a:latin typeface="Noto Sans SC"/>
                <a:ea typeface="Noto Sans SC"/>
                <a:cs typeface="Noto Sans SC"/>
              </a:rPr>
              <a:t>1</a:t>
            </a:r>
          </a:p>
        </p:txBody>
      </p:sp>
      <p:sp>
        <p:nvSpPr>
          <p:cNvPr id="5" name="Freeform 5"/>
          <p:cNvSpPr/>
          <p:nvPr/>
        </p:nvSpPr>
        <p:spPr>
          <a:xfrm>
            <a:off x="585516" y="3259964"/>
            <a:ext cx="1143000" cy="1143000"/>
          </a:xfrm>
          <a:custGeom>
            <a:avLst/>
            <a:gdLst/>
            <a:ahLst/>
            <a:cxnLst/>
            <a:rect l="l" t="t" r="r" b="b"/>
            <a:pathLst>
              <a:path w="1181062" h="1073360">
                <a:moveTo>
                  <a:pt x="0" y="0"/>
                </a:moveTo>
                <a:lnTo>
                  <a:pt x="1046892" y="0"/>
                </a:lnTo>
                <a:quadBezTo>
                  <a:pt x="1181062" y="0"/>
                  <a:pt x="1181062" y="134170"/>
                </a:quadBezTo>
                <a:lnTo>
                  <a:pt x="1181062" y="1073360"/>
                </a:lnTo>
                <a:lnTo>
                  <a:pt x="134170" y="1073360"/>
                </a:lnTo>
                <a:quadBezTo>
                  <a:pt x="0" y="1073360"/>
                  <a:pt x="0" y="939190"/>
                </a:quadBezTo>
                <a:lnTo>
                  <a:pt x="0" y="0"/>
                </a:lnTo>
              </a:path>
            </a:pathLst>
          </a:custGeom>
          <a:noFill/>
          <a:ln w="19050">
            <a:solidFill>
              <a:schemeClr val="accent1">
                <a:alpha val="100000"/>
              </a:schemeClr>
            </a:solidFill>
            <a:prstDash val="solid"/>
          </a:ln>
        </p:spPr>
      </p:sp>
      <p:sp>
        <p:nvSpPr>
          <p:cNvPr id="6" name="TextBox 6"/>
          <p:cNvSpPr txBox="1"/>
          <p:nvPr/>
        </p:nvSpPr>
        <p:spPr>
          <a:xfrm>
            <a:off x="599803" y="3198051"/>
            <a:ext cx="1114425" cy="1266825"/>
          </a:xfrm>
          <a:prstGeom prst="rect">
            <a:avLst/>
          </a:prstGeom>
          <a:ln/>
        </p:spPr>
        <p:txBody>
          <a:bodyPr vert="horz" wrap="square" lIns="95250" tIns="95250" rIns="47625" bIns="95250" rtlCol="0" anchor="t" anchorCtr="0">
            <a:spAutoFit/>
          </a:bodyPr>
          <a:lstStyle/>
          <a:p>
            <a:pPr algn="ctr">
              <a:lnSpc>
                <a:spcPct val="150000"/>
              </a:lnSpc>
            </a:pPr>
            <a:r>
              <a:rPr lang="en-US" sz="4500" b="1">
                <a:solidFill>
                  <a:schemeClr val="accent1">
                    <a:alpha val="100000"/>
                  </a:schemeClr>
                </a:solidFill>
                <a:latin typeface="Noto Sans SC"/>
                <a:ea typeface="Noto Sans SC"/>
                <a:cs typeface="Noto Sans SC"/>
              </a:rPr>
              <a:t>2</a:t>
            </a:r>
          </a:p>
        </p:txBody>
      </p:sp>
      <p:sp>
        <p:nvSpPr>
          <p:cNvPr id="7" name="Freeform 7"/>
          <p:cNvSpPr/>
          <p:nvPr/>
        </p:nvSpPr>
        <p:spPr>
          <a:xfrm>
            <a:off x="585516" y="4965242"/>
            <a:ext cx="1143000" cy="1143000"/>
          </a:xfrm>
          <a:custGeom>
            <a:avLst/>
            <a:gdLst/>
            <a:ahLst/>
            <a:cxnLst/>
            <a:rect l="l" t="t" r="r" b="b"/>
            <a:pathLst>
              <a:path w="1181062" h="1073360">
                <a:moveTo>
                  <a:pt x="0" y="0"/>
                </a:moveTo>
                <a:lnTo>
                  <a:pt x="1046892" y="0"/>
                </a:lnTo>
                <a:quadBezTo>
                  <a:pt x="1181062" y="0"/>
                  <a:pt x="1181062" y="134170"/>
                </a:quadBezTo>
                <a:lnTo>
                  <a:pt x="1181062" y="1073360"/>
                </a:lnTo>
                <a:lnTo>
                  <a:pt x="134170" y="1073360"/>
                </a:lnTo>
                <a:quadBezTo>
                  <a:pt x="0" y="1073360"/>
                  <a:pt x="0" y="939190"/>
                </a:quadBezTo>
                <a:lnTo>
                  <a:pt x="0" y="0"/>
                </a:lnTo>
              </a:path>
            </a:pathLst>
          </a:custGeom>
          <a:noFill/>
          <a:ln w="19050">
            <a:solidFill>
              <a:schemeClr val="accent1">
                <a:alpha val="100000"/>
              </a:schemeClr>
            </a:solidFill>
            <a:prstDash val="solid"/>
          </a:ln>
        </p:spPr>
      </p:sp>
      <p:sp>
        <p:nvSpPr>
          <p:cNvPr id="8" name="TextBox 8"/>
          <p:cNvSpPr txBox="1"/>
          <p:nvPr/>
        </p:nvSpPr>
        <p:spPr>
          <a:xfrm>
            <a:off x="646157" y="4903330"/>
            <a:ext cx="1019175" cy="1266825"/>
          </a:xfrm>
          <a:prstGeom prst="rect">
            <a:avLst/>
          </a:prstGeom>
          <a:ln/>
        </p:spPr>
        <p:txBody>
          <a:bodyPr vert="horz" wrap="square" lIns="95250" tIns="95250" rIns="47625" bIns="95250" rtlCol="0" anchor="t" anchorCtr="0">
            <a:spAutoFit/>
          </a:bodyPr>
          <a:lstStyle/>
          <a:p>
            <a:pPr algn="ctr">
              <a:lnSpc>
                <a:spcPct val="150000"/>
              </a:lnSpc>
            </a:pPr>
            <a:r>
              <a:rPr lang="en-US" sz="4500" b="1">
                <a:solidFill>
                  <a:schemeClr val="accent1">
                    <a:alpha val="100000"/>
                  </a:schemeClr>
                </a:solidFill>
                <a:latin typeface="Noto Sans SC"/>
                <a:ea typeface="Noto Sans SC"/>
                <a:cs typeface="Noto Sans SC"/>
              </a:rPr>
              <a:t>3</a:t>
            </a:r>
          </a:p>
        </p:txBody>
      </p:sp>
      <p:sp>
        <p:nvSpPr>
          <p:cNvPr id="9" name="TextBox 9"/>
          <p:cNvSpPr txBox="1"/>
          <p:nvPr/>
        </p:nvSpPr>
        <p:spPr>
          <a:xfrm>
            <a:off x="1934210" y="1442283"/>
            <a:ext cx="4235703" cy="1373901"/>
          </a:xfrm>
          <a:prstGeom prst="rect">
            <a:avLst/>
          </a:prstGeom>
          <a:ln/>
        </p:spPr>
        <p:txBody>
          <a:bodyPr vert="horz" wrap="square" lIns="95250" tIns="95250" rIns="47625" bIns="95250" rtlCol="0" anchor="ctr" anchorCtr="0">
            <a:noAutofit/>
          </a:bodyPr>
          <a:lstStyle/>
          <a:p>
            <a:pPr>
              <a:lnSpc>
                <a:spcPct val="140000"/>
              </a:lnSpc>
            </a:pPr>
            <a:r>
              <a:rPr lang="en-US" sz="1500">
                <a:solidFill>
                  <a:schemeClr val="dk1">
                    <a:alpha val="100000"/>
                  </a:schemeClr>
                </a:solidFill>
                <a:latin typeface="Noto Sans SC"/>
                <a:ea typeface="Noto Sans SC"/>
                <a:cs typeface="Noto Sans SC"/>
              </a:rPr>
              <a:t>基础设施全面覆盖硬件与软件资源，确保系统高效稳定运行。</a:t>
            </a:r>
          </a:p>
        </p:txBody>
      </p:sp>
      <p:sp>
        <p:nvSpPr>
          <p:cNvPr id="10" name="TextBox 10"/>
          <p:cNvSpPr txBox="1"/>
          <p:nvPr/>
        </p:nvSpPr>
        <p:spPr>
          <a:xfrm>
            <a:off x="1934210" y="3144514"/>
            <a:ext cx="4235703" cy="1373901"/>
          </a:xfrm>
          <a:prstGeom prst="rect">
            <a:avLst/>
          </a:prstGeom>
          <a:ln/>
        </p:spPr>
        <p:txBody>
          <a:bodyPr vert="horz" wrap="square" lIns="95250" tIns="95250" rIns="47625" bIns="95250" rtlCol="0" anchor="ctr" anchorCtr="0">
            <a:noAutofit/>
          </a:bodyPr>
          <a:lstStyle/>
          <a:p>
            <a:pPr>
              <a:lnSpc>
                <a:spcPct val="140000"/>
              </a:lnSpc>
            </a:pPr>
            <a:r>
              <a:rPr lang="en-US" sz="1500">
                <a:solidFill>
                  <a:schemeClr val="dk1">
                    <a:alpha val="100000"/>
                  </a:schemeClr>
                </a:solidFill>
                <a:latin typeface="Noto Sans SC"/>
                <a:ea typeface="Noto Sans SC"/>
                <a:cs typeface="Noto Sans SC"/>
              </a:rPr>
              <a:t>应用服务模块化设计，支持业务灵活扩展与高效管理。</a:t>
            </a:r>
          </a:p>
        </p:txBody>
      </p:sp>
      <p:sp>
        <p:nvSpPr>
          <p:cNvPr id="11" name="TextBox 11"/>
          <p:cNvSpPr txBox="1"/>
          <p:nvPr/>
        </p:nvSpPr>
        <p:spPr>
          <a:xfrm>
            <a:off x="1934210" y="4849792"/>
            <a:ext cx="4235703" cy="1373901"/>
          </a:xfrm>
          <a:prstGeom prst="rect">
            <a:avLst/>
          </a:prstGeom>
          <a:ln/>
        </p:spPr>
        <p:txBody>
          <a:bodyPr vert="horz" wrap="square" lIns="95250" tIns="95250" rIns="47625" bIns="95250" rtlCol="0" anchor="ctr" anchorCtr="0">
            <a:noAutofit/>
          </a:bodyPr>
          <a:lstStyle/>
          <a:p>
            <a:pPr>
              <a:lnSpc>
                <a:spcPct val="140000"/>
              </a:lnSpc>
            </a:pPr>
            <a:r>
              <a:rPr lang="en-US" sz="1500">
                <a:solidFill>
                  <a:schemeClr val="dk1">
                    <a:alpha val="100000"/>
                  </a:schemeClr>
                </a:solidFill>
                <a:latin typeface="Noto Sans SC"/>
                <a:ea typeface="Noto Sans SC"/>
                <a:cs typeface="Noto Sans SC"/>
              </a:rPr>
              <a:t>运维管控集成监控与处理工具，保障系统持续优化与故障应对。</a:t>
            </a:r>
          </a:p>
        </p:txBody>
      </p:sp>
      <p:sp>
        <p:nvSpPr>
          <p:cNvPr id="12" name="TextBox 12"/>
          <p:cNvSpPr txBox="1"/>
          <p:nvPr/>
        </p:nvSpPr>
        <p:spPr>
          <a:xfrm>
            <a:off x="476023" y="265328"/>
            <a:ext cx="11239500" cy="914400"/>
          </a:xfrm>
          <a:prstGeom prst="rect">
            <a:avLst/>
          </a:prstGeom>
          <a:ln/>
        </p:spPr>
        <p:txBody>
          <a:bodyPr vert="horz" wrap="square" lIns="123825" tIns="123825" rIns="57150" bIns="123825" rtlCol="0" anchor="t" anchorCtr="0">
            <a:spAutoFit/>
          </a:bodyPr>
          <a:lstStyle/>
          <a:p>
            <a:pPr>
              <a:lnSpc>
                <a:spcPct val="140000"/>
              </a:lnSpc>
            </a:pPr>
            <a:r>
              <a:rPr lang="en-US" sz="3000" b="1">
                <a:solidFill>
                  <a:schemeClr val="dk2">
                    <a:alpha val="100000"/>
                  </a:schemeClr>
                </a:solidFill>
                <a:latin typeface="Noto Sans SC"/>
                <a:ea typeface="Noto Sans SC"/>
                <a:cs typeface="Noto Sans SC"/>
              </a:rPr>
              <a:t>企业级系统架构</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5280874" y="2017809"/>
            <a:ext cx="1630253" cy="1138956"/>
          </a:xfrm>
          <a:prstGeom prst="rect">
            <a:avLst/>
          </a:prstGeom>
          <a:ln/>
        </p:spPr>
        <p:txBody>
          <a:bodyPr vert="horz" wrap="square" lIns="66008" tIns="33052" rIns="66008" bIns="33052" rtlCol="0" anchor="ctr" anchorCtr="0">
            <a:noAutofit/>
          </a:bodyPr>
          <a:lstStyle/>
          <a:p>
            <a:pPr algn="ctr">
              <a:lnSpc>
                <a:spcPct val="100000"/>
              </a:lnSpc>
            </a:pPr>
            <a:r>
              <a:rPr lang="en-US" sz="8025" b="1">
                <a:solidFill>
                  <a:schemeClr val="accent1">
                    <a:alpha val="100000"/>
                  </a:schemeClr>
                </a:solidFill>
                <a:latin typeface="Noto Sans SC"/>
                <a:ea typeface="Noto Sans SC"/>
                <a:cs typeface="Noto Sans SC"/>
              </a:rPr>
              <a:t>06</a:t>
            </a:r>
          </a:p>
        </p:txBody>
      </p:sp>
      <p:sp>
        <p:nvSpPr>
          <p:cNvPr id="3" name="TextBox 3"/>
          <p:cNvSpPr txBox="1"/>
          <p:nvPr/>
        </p:nvSpPr>
        <p:spPr>
          <a:xfrm>
            <a:off x="3013710" y="3156765"/>
            <a:ext cx="6164580" cy="1615440"/>
          </a:xfrm>
          <a:prstGeom prst="rect">
            <a:avLst/>
          </a:prstGeom>
          <a:ln/>
        </p:spPr>
        <p:txBody>
          <a:bodyPr vert="horz" wrap="square" lIns="91440" tIns="45720" rIns="91440" bIns="45720" rtlCol="0" anchor="t" anchorCtr="0">
            <a:noAutofit/>
          </a:bodyPr>
          <a:lstStyle/>
          <a:p>
            <a:pPr algn="ctr">
              <a:lnSpc>
                <a:spcPct val="100000"/>
              </a:lnSpc>
              <a:spcBef>
                <a:spcPct val="0"/>
              </a:spcBef>
            </a:pPr>
            <a:r>
              <a:rPr lang="en-US" sz="4500" b="1">
                <a:solidFill>
                  <a:schemeClr val="dk1">
                    <a:alpha val="100000"/>
                  </a:schemeClr>
                </a:solidFill>
                <a:latin typeface="Noto Sans SC"/>
                <a:ea typeface="Noto Sans SC"/>
                <a:cs typeface="Noto Sans SC"/>
              </a:rPr>
              <a:t>开发实践要点</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4462463" y="2088071"/>
            <a:ext cx="3267075" cy="3267075"/>
          </a:xfrm>
          <a:prstGeom prst="ellipse">
            <a:avLst/>
          </a:prstGeom>
          <a:ln w="57150">
            <a:solidFill>
              <a:schemeClr val="accent1"/>
            </a:solidFill>
            <a:prstDash val="solid"/>
          </a:ln>
        </p:spPr>
      </p:pic>
      <p:sp>
        <p:nvSpPr>
          <p:cNvPr id="3" name="TextBox 3"/>
          <p:cNvSpPr txBox="1"/>
          <p:nvPr/>
        </p:nvSpPr>
        <p:spPr>
          <a:xfrm>
            <a:off x="742971" y="2306715"/>
            <a:ext cx="3314231" cy="647995"/>
          </a:xfrm>
          <a:prstGeom prst="rect">
            <a:avLst/>
          </a:prstGeom>
          <a:ln/>
        </p:spPr>
        <p:txBody>
          <a:bodyPr vert="horz" wrap="square" lIns="114300" tIns="57150" rIns="114300" bIns="57150" rtlCol="0" anchor="ctr" anchorCtr="0">
            <a:noAutofit/>
          </a:bodyPr>
          <a:lstStyle/>
          <a:p>
            <a:pPr algn="r">
              <a:lnSpc>
                <a:spcPct val="120000"/>
              </a:lnSpc>
            </a:pPr>
            <a:r>
              <a:rPr lang="en-US" sz="2400" b="1">
                <a:solidFill>
                  <a:schemeClr val="accent1">
                    <a:alpha val="100000"/>
                  </a:schemeClr>
                </a:solidFill>
                <a:latin typeface="Noto Sans SC"/>
                <a:ea typeface="Noto Sans SC"/>
                <a:cs typeface="Noto Sans SC"/>
              </a:rPr>
              <a:t>统一建模语言</a:t>
            </a:r>
          </a:p>
        </p:txBody>
      </p:sp>
      <p:sp>
        <p:nvSpPr>
          <p:cNvPr id="4" name="TextBox 4"/>
          <p:cNvSpPr txBox="1"/>
          <p:nvPr/>
        </p:nvSpPr>
        <p:spPr>
          <a:xfrm>
            <a:off x="8059848" y="1716027"/>
            <a:ext cx="3794740" cy="1968111"/>
          </a:xfrm>
          <a:prstGeom prst="rect">
            <a:avLst/>
          </a:prstGeom>
          <a:ln/>
        </p:spPr>
        <p:txBody>
          <a:bodyPr vert="horz" wrap="square" lIns="114300" tIns="57150" rIns="114300" bIns="57150" rtlCol="0" anchor="t" anchorCtr="0">
            <a:noAutofit/>
          </a:bodyPr>
          <a:lstStyle/>
          <a:p>
            <a:pPr algn="l">
              <a:lnSpc>
                <a:spcPct val="140000"/>
              </a:lnSpc>
            </a:pPr>
            <a:r>
              <a:rPr lang="en-US" sz="1350">
                <a:solidFill>
                  <a:schemeClr val="dk1">
                    <a:alpha val="100000"/>
                  </a:schemeClr>
                </a:solidFill>
                <a:latin typeface="Noto Sans SC"/>
                <a:ea typeface="Noto Sans SC"/>
                <a:cs typeface="Noto Sans SC"/>
              </a:rPr>
              <a:t>常用的UML建模工具包括Enterprise Architect、Visual Paradigm、Lucidchart等。这些工具不仅支持多种UML图表的绘制，还提供了代码生成、逆向工程等功能，极大地提高了开发效率。</a:t>
            </a:r>
          </a:p>
        </p:txBody>
      </p:sp>
      <p:sp>
        <p:nvSpPr>
          <p:cNvPr id="5" name="TextBox 5"/>
          <p:cNvSpPr txBox="1"/>
          <p:nvPr/>
        </p:nvSpPr>
        <p:spPr>
          <a:xfrm>
            <a:off x="8059848" y="1097369"/>
            <a:ext cx="3314231" cy="622955"/>
          </a:xfrm>
          <a:prstGeom prst="rect">
            <a:avLst/>
          </a:prstGeom>
          <a:ln/>
        </p:spPr>
        <p:txBody>
          <a:bodyPr vert="horz" wrap="square" lIns="114300" tIns="57150" rIns="114300" bIns="57150" rtlCol="0" anchor="ctr" anchorCtr="0">
            <a:noAutofit/>
          </a:bodyPr>
          <a:lstStyle/>
          <a:p>
            <a:pPr>
              <a:lnSpc>
                <a:spcPct val="96000"/>
              </a:lnSpc>
            </a:pPr>
            <a:r>
              <a:rPr lang="en-US" sz="2400" b="1">
                <a:solidFill>
                  <a:schemeClr val="accent1">
                    <a:alpha val="100000"/>
                  </a:schemeClr>
                </a:solidFill>
                <a:latin typeface="Noto Sans SC"/>
                <a:ea typeface="Noto Sans SC"/>
                <a:cs typeface="Noto Sans SC"/>
              </a:rPr>
              <a:t>工具选择与使用</a:t>
            </a:r>
          </a:p>
        </p:txBody>
      </p:sp>
      <p:sp>
        <p:nvSpPr>
          <p:cNvPr id="6" name="TextBox 6"/>
          <p:cNvSpPr txBox="1"/>
          <p:nvPr/>
        </p:nvSpPr>
        <p:spPr>
          <a:xfrm>
            <a:off x="8059848" y="4019931"/>
            <a:ext cx="3314231" cy="547835"/>
          </a:xfrm>
          <a:prstGeom prst="rect">
            <a:avLst/>
          </a:prstGeom>
          <a:ln/>
        </p:spPr>
        <p:txBody>
          <a:bodyPr vert="horz" wrap="square" lIns="114300" tIns="57150" rIns="114300" bIns="57150" rtlCol="0" anchor="b" anchorCtr="0">
            <a:noAutofit/>
          </a:bodyPr>
          <a:lstStyle/>
          <a:p>
            <a:pPr>
              <a:lnSpc>
                <a:spcPct val="120000"/>
              </a:lnSpc>
            </a:pPr>
            <a:r>
              <a:rPr lang="en-US" sz="2400" b="1">
                <a:solidFill>
                  <a:schemeClr val="accent1">
                    <a:alpha val="100000"/>
                  </a:schemeClr>
                </a:solidFill>
                <a:latin typeface="Noto Sans SC"/>
                <a:ea typeface="Noto Sans SC"/>
                <a:cs typeface="Noto Sans SC"/>
              </a:rPr>
              <a:t>团队协作与文档化</a:t>
            </a:r>
          </a:p>
        </p:txBody>
      </p:sp>
      <p:sp>
        <p:nvSpPr>
          <p:cNvPr id="7" name="TextBox 7"/>
          <p:cNvSpPr txBox="1"/>
          <p:nvPr/>
        </p:nvSpPr>
        <p:spPr>
          <a:xfrm>
            <a:off x="8059848" y="4565142"/>
            <a:ext cx="3794740" cy="1995832"/>
          </a:xfrm>
          <a:prstGeom prst="rect">
            <a:avLst/>
          </a:prstGeom>
          <a:ln/>
        </p:spPr>
        <p:txBody>
          <a:bodyPr vert="horz" wrap="square" lIns="114300" tIns="57150" rIns="114300" bIns="57150" rtlCol="0" anchor="t" anchorCtr="0">
            <a:noAutofit/>
          </a:bodyPr>
          <a:lstStyle/>
          <a:p>
            <a:pPr algn="l">
              <a:lnSpc>
                <a:spcPct val="140000"/>
              </a:lnSpc>
            </a:pPr>
            <a:r>
              <a:rPr lang="en-US" sz="1350">
                <a:solidFill>
                  <a:schemeClr val="dk1">
                    <a:alpha val="100000"/>
                  </a:schemeClr>
                </a:solidFill>
                <a:latin typeface="Noto Sans SC"/>
                <a:ea typeface="Noto Sans SC"/>
                <a:cs typeface="Noto Sans SC"/>
              </a:rPr>
              <a:t>UML建模工具支持团队协作，允许多个开发者同时参与设计过程。此外，UML图表可以作为项目文档的一部分，帮助团队成员理解系统设计，确保设计的一致性和可维护性。</a:t>
            </a:r>
          </a:p>
        </p:txBody>
      </p:sp>
      <p:sp>
        <p:nvSpPr>
          <p:cNvPr id="8" name="TextBox 8"/>
          <p:cNvSpPr txBox="1"/>
          <p:nvPr/>
        </p:nvSpPr>
        <p:spPr>
          <a:xfrm>
            <a:off x="401071" y="2954711"/>
            <a:ext cx="3656131" cy="2115960"/>
          </a:xfrm>
          <a:prstGeom prst="rect">
            <a:avLst/>
          </a:prstGeom>
          <a:ln/>
        </p:spPr>
        <p:txBody>
          <a:bodyPr vert="horz" wrap="square" lIns="114300" tIns="57150" rIns="114300" bIns="57150" rtlCol="0" anchor="t" anchorCtr="0">
            <a:noAutofit/>
          </a:bodyPr>
          <a:lstStyle/>
          <a:p>
            <a:pPr algn="r">
              <a:lnSpc>
                <a:spcPct val="140000"/>
              </a:lnSpc>
            </a:pPr>
            <a:r>
              <a:rPr lang="en-US" sz="1350">
                <a:solidFill>
                  <a:schemeClr val="dk1">
                    <a:alpha val="100000"/>
                  </a:schemeClr>
                </a:solidFill>
                <a:latin typeface="Noto Sans SC"/>
                <a:ea typeface="Noto Sans SC"/>
                <a:cs typeface="Noto Sans SC"/>
              </a:rPr>
              <a:t>UML是一种标准化的建模语言，用于描述、设计、可视化软件系统。它提供了多种图表类型，如类图、用例图、序列图等，帮助开发者在设计阶段清晰地表达系统结构和行为。</a:t>
            </a:r>
          </a:p>
        </p:txBody>
      </p:sp>
      <p:sp>
        <p:nvSpPr>
          <p:cNvPr id="9" name="TextBox 9"/>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Noto Sans SC"/>
                <a:ea typeface="Noto Sans SC"/>
                <a:cs typeface="Noto Sans SC"/>
              </a:rPr>
              <a:t>UML建模工具使用</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576687" y="1256209"/>
            <a:ext cx="3308352" cy="3640782"/>
          </a:xfrm>
          <a:prstGeom prst="rect">
            <a:avLst/>
          </a:prstGeom>
          <a:solidFill>
            <a:schemeClr val="lt2">
              <a:alpha val="100000"/>
            </a:schemeClr>
          </a:solidFill>
          <a:ln/>
        </p:spPr>
      </p:sp>
      <p:sp>
        <p:nvSpPr>
          <p:cNvPr id="3" name="TextBox 3"/>
          <p:cNvSpPr txBox="1"/>
          <p:nvPr/>
        </p:nvSpPr>
        <p:spPr>
          <a:xfrm>
            <a:off x="802113" y="1434529"/>
            <a:ext cx="2857500" cy="447675"/>
          </a:xfrm>
          <a:prstGeom prst="rect">
            <a:avLst/>
          </a:prstGeom>
          <a:ln/>
        </p:spPr>
        <p:txBody>
          <a:bodyPr vert="horz" wrap="square" lIns="114300" tIns="57150" rIns="114300" bIns="57150" rtlCol="0" anchor="ctr" anchorCtr="0">
            <a:noAutofit/>
          </a:bodyPr>
          <a:lstStyle/>
          <a:p>
            <a:pPr algn="ctr">
              <a:lnSpc>
                <a:spcPct val="120000"/>
              </a:lnSpc>
            </a:pPr>
            <a:r>
              <a:rPr lang="en-US" sz="2400" b="1">
                <a:solidFill>
                  <a:schemeClr val="accent1">
                    <a:alpha val="100000"/>
                  </a:schemeClr>
                </a:solidFill>
                <a:latin typeface="Noto Sans SC"/>
                <a:ea typeface="Noto Sans SC"/>
                <a:cs typeface="Noto Sans SC"/>
              </a:rPr>
              <a:t>理解问题域</a:t>
            </a:r>
          </a:p>
        </p:txBody>
      </p:sp>
      <p:sp>
        <p:nvSpPr>
          <p:cNvPr id="4" name="TextBox 4"/>
          <p:cNvSpPr txBox="1"/>
          <p:nvPr/>
        </p:nvSpPr>
        <p:spPr>
          <a:xfrm>
            <a:off x="620970" y="1909320"/>
            <a:ext cx="3219785" cy="2592766"/>
          </a:xfrm>
          <a:prstGeom prst="rect">
            <a:avLst/>
          </a:prstGeom>
          <a:ln/>
        </p:spPr>
        <p:txBody>
          <a:bodyPr vert="horz" wrap="square" lIns="114300" tIns="57150" rIns="114300" bIns="57150" rtlCol="0" anchor="t" anchorCtr="0">
            <a:noAutofit/>
          </a:bodyPr>
          <a:lstStyle/>
          <a:p>
            <a:pPr algn="ctr">
              <a:lnSpc>
                <a:spcPct val="140000"/>
              </a:lnSpc>
            </a:pPr>
            <a:r>
              <a:rPr lang="en-US" sz="1500">
                <a:solidFill>
                  <a:schemeClr val="dk1">
                    <a:alpha val="100000"/>
                  </a:schemeClr>
                </a:solidFill>
                <a:latin typeface="Noto Sans SC"/>
                <a:ea typeface="Noto Sans SC"/>
                <a:cs typeface="Noto Sans SC"/>
              </a:rPr>
              <a:t>在设计模式选型时，首先需要深入理解问题域，明确系统的需求和约束条件。只有准确识别问题，才能选择合适的设计模式来解决它。</a:t>
            </a:r>
          </a:p>
        </p:txBody>
      </p:sp>
      <p:sp>
        <p:nvSpPr>
          <p:cNvPr id="5" name="TextBox 5"/>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Noto Sans SC"/>
                <a:ea typeface="Noto Sans SC"/>
                <a:cs typeface="Noto Sans SC"/>
              </a:rPr>
              <a:t>设计模式选型策略</a:t>
            </a:r>
          </a:p>
        </p:txBody>
      </p:sp>
      <p:pic>
        <p:nvPicPr>
          <p:cNvPr id="6" name="Picture 6"/>
          <p:cNvPicPr>
            <a:picLocks noChangeAspect="1"/>
          </p:cNvPicPr>
          <p:nvPr/>
        </p:nvPicPr>
        <p:blipFill>
          <a:blip r:embed="rId3">
            <a:alphaModFix/>
          </a:blip>
          <a:srcRect t="5587" b="38547"/>
          <a:stretch>
            <a:fillRect/>
          </a:stretch>
        </p:blipFill>
        <p:spPr>
          <a:xfrm>
            <a:off x="570387" y="4616837"/>
            <a:ext cx="3320950" cy="1756392"/>
          </a:xfrm>
          <a:prstGeom prst="rect">
            <a:avLst/>
          </a:prstGeom>
        </p:spPr>
      </p:pic>
      <p:sp>
        <p:nvSpPr>
          <p:cNvPr id="7" name="AutoShape 7"/>
          <p:cNvSpPr/>
          <p:nvPr/>
        </p:nvSpPr>
        <p:spPr>
          <a:xfrm>
            <a:off x="4413022" y="2732446"/>
            <a:ext cx="3308352" cy="3640782"/>
          </a:xfrm>
          <a:prstGeom prst="rect">
            <a:avLst/>
          </a:prstGeom>
          <a:solidFill>
            <a:schemeClr val="lt2">
              <a:alpha val="100000"/>
            </a:schemeClr>
          </a:solidFill>
          <a:ln/>
        </p:spPr>
      </p:sp>
      <p:sp>
        <p:nvSpPr>
          <p:cNvPr id="8" name="TextBox 8"/>
          <p:cNvSpPr txBox="1"/>
          <p:nvPr/>
        </p:nvSpPr>
        <p:spPr>
          <a:xfrm>
            <a:off x="4638448" y="3162514"/>
            <a:ext cx="2857500" cy="447675"/>
          </a:xfrm>
          <a:prstGeom prst="rect">
            <a:avLst/>
          </a:prstGeom>
          <a:ln/>
        </p:spPr>
        <p:txBody>
          <a:bodyPr vert="horz" wrap="square" lIns="114300" tIns="57150" rIns="114300" bIns="57150" rtlCol="0" anchor="ctr" anchorCtr="0">
            <a:noAutofit/>
          </a:bodyPr>
          <a:lstStyle/>
          <a:p>
            <a:pPr algn="ctr">
              <a:lnSpc>
                <a:spcPct val="120000"/>
              </a:lnSpc>
            </a:pPr>
            <a:r>
              <a:rPr lang="en-US" sz="2400" b="1">
                <a:solidFill>
                  <a:schemeClr val="accent1">
                    <a:alpha val="100000"/>
                  </a:schemeClr>
                </a:solidFill>
                <a:latin typeface="Noto Sans SC"/>
                <a:ea typeface="Noto Sans SC"/>
                <a:cs typeface="Noto Sans SC"/>
              </a:rPr>
              <a:t>模式匹配与权衡</a:t>
            </a:r>
          </a:p>
        </p:txBody>
      </p:sp>
      <p:sp>
        <p:nvSpPr>
          <p:cNvPr id="9" name="TextBox 9"/>
          <p:cNvSpPr txBox="1"/>
          <p:nvPr/>
        </p:nvSpPr>
        <p:spPr>
          <a:xfrm>
            <a:off x="4457306" y="3649390"/>
            <a:ext cx="3219785" cy="2592766"/>
          </a:xfrm>
          <a:prstGeom prst="rect">
            <a:avLst/>
          </a:prstGeom>
          <a:ln/>
        </p:spPr>
        <p:txBody>
          <a:bodyPr vert="horz" wrap="square" lIns="114300" tIns="57150" rIns="114300" bIns="57150" rtlCol="0" anchor="t" anchorCtr="0">
            <a:noAutofit/>
          </a:bodyPr>
          <a:lstStyle/>
          <a:p>
            <a:pPr algn="ctr">
              <a:lnSpc>
                <a:spcPct val="140000"/>
              </a:lnSpc>
            </a:pPr>
            <a:r>
              <a:rPr lang="en-US" sz="1500">
                <a:solidFill>
                  <a:schemeClr val="dk1">
                    <a:alpha val="100000"/>
                  </a:schemeClr>
                </a:solidFill>
                <a:latin typeface="Noto Sans SC"/>
                <a:ea typeface="Noto Sans SC"/>
                <a:cs typeface="Noto Sans SC"/>
              </a:rPr>
              <a:t>不同的设计模式适用于不同的场景，开发者需要根据系统的具体需求进行模式匹配。同时，还需要权衡模式的优缺点，选择最适合当前项目的模式。</a:t>
            </a:r>
          </a:p>
        </p:txBody>
      </p:sp>
      <p:pic>
        <p:nvPicPr>
          <p:cNvPr id="10" name="Picture 10"/>
          <p:cNvPicPr>
            <a:picLocks noChangeAspect="1"/>
          </p:cNvPicPr>
          <p:nvPr/>
        </p:nvPicPr>
        <p:blipFill>
          <a:blip r:embed="rId4">
            <a:alphaModFix/>
          </a:blip>
          <a:srcRect/>
          <a:stretch>
            <a:fillRect/>
          </a:stretch>
        </p:blipFill>
        <p:spPr>
          <a:xfrm>
            <a:off x="4406723" y="1256209"/>
            <a:ext cx="3320950" cy="1756392"/>
          </a:xfrm>
          <a:prstGeom prst="rect">
            <a:avLst/>
          </a:prstGeom>
        </p:spPr>
      </p:pic>
      <p:sp>
        <p:nvSpPr>
          <p:cNvPr id="11" name="AutoShape 11"/>
          <p:cNvSpPr/>
          <p:nvPr/>
        </p:nvSpPr>
        <p:spPr>
          <a:xfrm>
            <a:off x="8289006" y="1256209"/>
            <a:ext cx="3308352" cy="3640782"/>
          </a:xfrm>
          <a:prstGeom prst="rect">
            <a:avLst/>
          </a:prstGeom>
          <a:solidFill>
            <a:schemeClr val="lt2">
              <a:alpha val="100000"/>
            </a:schemeClr>
          </a:solidFill>
          <a:ln/>
        </p:spPr>
      </p:sp>
      <p:sp>
        <p:nvSpPr>
          <p:cNvPr id="12" name="TextBox 12"/>
          <p:cNvSpPr txBox="1"/>
          <p:nvPr/>
        </p:nvSpPr>
        <p:spPr>
          <a:xfrm>
            <a:off x="8514431" y="1434529"/>
            <a:ext cx="2857500" cy="447675"/>
          </a:xfrm>
          <a:prstGeom prst="rect">
            <a:avLst/>
          </a:prstGeom>
          <a:ln/>
        </p:spPr>
        <p:txBody>
          <a:bodyPr vert="horz" wrap="square" lIns="114300" tIns="57150" rIns="114300" bIns="57150" rtlCol="0" anchor="ctr" anchorCtr="0">
            <a:noAutofit/>
          </a:bodyPr>
          <a:lstStyle/>
          <a:p>
            <a:pPr algn="ctr">
              <a:lnSpc>
                <a:spcPct val="120000"/>
              </a:lnSpc>
            </a:pPr>
            <a:r>
              <a:rPr lang="en-US" sz="2400" b="1">
                <a:solidFill>
                  <a:schemeClr val="accent1">
                    <a:alpha val="100000"/>
                  </a:schemeClr>
                </a:solidFill>
                <a:latin typeface="Noto Sans SC"/>
                <a:ea typeface="Noto Sans SC"/>
                <a:cs typeface="Noto Sans SC"/>
              </a:rPr>
              <a:t>模式组合与扩展</a:t>
            </a:r>
          </a:p>
        </p:txBody>
      </p:sp>
      <p:sp>
        <p:nvSpPr>
          <p:cNvPr id="13" name="TextBox 13"/>
          <p:cNvSpPr txBox="1"/>
          <p:nvPr/>
        </p:nvSpPr>
        <p:spPr>
          <a:xfrm>
            <a:off x="8333289" y="1924249"/>
            <a:ext cx="3219785" cy="2592766"/>
          </a:xfrm>
          <a:prstGeom prst="rect">
            <a:avLst/>
          </a:prstGeom>
          <a:ln/>
        </p:spPr>
        <p:txBody>
          <a:bodyPr vert="horz" wrap="square" lIns="114300" tIns="57150" rIns="114300" bIns="57150" rtlCol="0" anchor="t" anchorCtr="0">
            <a:noAutofit/>
          </a:bodyPr>
          <a:lstStyle/>
          <a:p>
            <a:pPr algn="ctr">
              <a:lnSpc>
                <a:spcPct val="140000"/>
              </a:lnSpc>
            </a:pPr>
            <a:r>
              <a:rPr lang="en-US" sz="1500">
                <a:solidFill>
                  <a:schemeClr val="dk1">
                    <a:alpha val="100000"/>
                  </a:schemeClr>
                </a:solidFill>
                <a:latin typeface="Noto Sans SC"/>
                <a:ea typeface="Noto Sans SC"/>
                <a:cs typeface="Noto Sans SC"/>
              </a:rPr>
              <a:t>在实际开发中，常常需要将多个设计模式组合使用，以解决复杂的问题。此外，设计模式本身也需要根据项目需求进行扩展和定制，以适应不断变化的业务需求。</a:t>
            </a:r>
          </a:p>
        </p:txBody>
      </p:sp>
      <p:pic>
        <p:nvPicPr>
          <p:cNvPr id="14" name="Picture 14"/>
          <p:cNvPicPr>
            <a:picLocks noChangeAspect="1"/>
          </p:cNvPicPr>
          <p:nvPr/>
        </p:nvPicPr>
        <p:blipFill>
          <a:blip r:embed="rId5">
            <a:alphaModFix/>
          </a:blip>
          <a:srcRect t="5587" b="38547"/>
          <a:stretch>
            <a:fillRect/>
          </a:stretch>
        </p:blipFill>
        <p:spPr>
          <a:xfrm>
            <a:off x="8282707" y="4616837"/>
            <a:ext cx="3320950" cy="175639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476023" y="265328"/>
            <a:ext cx="11239500" cy="914400"/>
          </a:xfrm>
          <a:prstGeom prst="rect">
            <a:avLst/>
          </a:prstGeom>
          <a:ln/>
        </p:spPr>
        <p:txBody>
          <a:bodyPr vert="horz" wrap="square" lIns="123825" tIns="123825" rIns="57150" bIns="123825" rtlCol="0" anchor="ctr" anchorCtr="0">
            <a:noAutofit/>
          </a:bodyPr>
          <a:lstStyle/>
          <a:p>
            <a:pPr>
              <a:lnSpc>
                <a:spcPct val="140000"/>
              </a:lnSpc>
            </a:pPr>
            <a:r>
              <a:rPr lang="en-US" sz="3000" b="1">
                <a:solidFill>
                  <a:schemeClr val="dk2">
                    <a:alpha val="100000"/>
                  </a:schemeClr>
                </a:solidFill>
                <a:latin typeface="Noto Sans SC"/>
                <a:ea typeface="Noto Sans SC"/>
                <a:cs typeface="Noto Sans SC"/>
              </a:rPr>
              <a:t>重构与代码优化</a:t>
            </a:r>
          </a:p>
        </p:txBody>
      </p:sp>
      <p:sp>
        <p:nvSpPr>
          <p:cNvPr id="3" name="AutoShape 3"/>
          <p:cNvSpPr/>
          <p:nvPr/>
        </p:nvSpPr>
        <p:spPr>
          <a:xfrm>
            <a:off x="537512" y="1664304"/>
            <a:ext cx="638131" cy="638131"/>
          </a:xfrm>
          <a:prstGeom prst="ellipse">
            <a:avLst/>
          </a:prstGeom>
          <a:solidFill>
            <a:schemeClr val="accent1">
              <a:alpha val="20000"/>
            </a:schemeClr>
          </a:solidFill>
          <a:ln/>
        </p:spPr>
      </p:sp>
      <p:sp>
        <p:nvSpPr>
          <p:cNvPr id="4" name="TextBox 4"/>
          <p:cNvSpPr txBox="1"/>
          <p:nvPr/>
        </p:nvSpPr>
        <p:spPr>
          <a:xfrm>
            <a:off x="1300882" y="1463721"/>
            <a:ext cx="6886575" cy="765904"/>
          </a:xfrm>
          <a:prstGeom prst="rect">
            <a:avLst/>
          </a:prstGeom>
          <a:ln/>
        </p:spPr>
        <p:txBody>
          <a:bodyPr vert="horz" wrap="square" lIns="123825" tIns="123825" rIns="57150" bIns="123825" rtlCol="0" anchor="b" anchorCtr="0">
            <a:noAutofit/>
          </a:bodyPr>
          <a:lstStyle/>
          <a:p>
            <a:pPr>
              <a:lnSpc>
                <a:spcPct val="140000"/>
              </a:lnSpc>
            </a:pPr>
            <a:r>
              <a:rPr lang="en-US" sz="2400" b="1">
                <a:solidFill>
                  <a:schemeClr val="accent1">
                    <a:alpha val="100000"/>
                  </a:schemeClr>
                </a:solidFill>
                <a:latin typeface="Noto Sans SC"/>
                <a:ea typeface="Noto Sans SC"/>
                <a:cs typeface="Noto Sans SC"/>
              </a:rPr>
              <a:t>代码异味识别</a:t>
            </a:r>
          </a:p>
        </p:txBody>
      </p:sp>
      <p:sp>
        <p:nvSpPr>
          <p:cNvPr id="5" name="TextBox 5"/>
          <p:cNvSpPr txBox="1"/>
          <p:nvPr/>
        </p:nvSpPr>
        <p:spPr>
          <a:xfrm>
            <a:off x="1300882" y="1998589"/>
            <a:ext cx="6891292" cy="1083679"/>
          </a:xfrm>
          <a:prstGeom prst="rect">
            <a:avLst/>
          </a:prstGeom>
          <a:ln/>
        </p:spPr>
        <p:txBody>
          <a:bodyPr vert="horz" wrap="square" lIns="123825" tIns="123825" rIns="57150" bIns="123825" rtlCol="0" anchor="t" anchorCtr="0">
            <a:noAutofit/>
          </a:bodyPr>
          <a:lstStyle/>
          <a:p>
            <a:pPr>
              <a:lnSpc>
                <a:spcPct val="140000"/>
              </a:lnSpc>
            </a:pPr>
            <a:r>
              <a:rPr lang="en-US" sz="1350">
                <a:solidFill>
                  <a:schemeClr val="dk1">
                    <a:alpha val="100000"/>
                  </a:schemeClr>
                </a:solidFill>
                <a:latin typeface="Noto Sans SC"/>
                <a:ea typeface="Noto Sans SC"/>
                <a:cs typeface="Noto Sans SC"/>
              </a:rPr>
              <a:t>重构的第一步是识别代码中的异味，如重复代码、过长方法、过大类等。通过识别这些异味，可以明确需要重构的部分，提高代码的可读性和可维护性。</a:t>
            </a:r>
          </a:p>
        </p:txBody>
      </p:sp>
      <p:sp>
        <p:nvSpPr>
          <p:cNvPr id="6" name="AutoShape 6"/>
          <p:cNvSpPr/>
          <p:nvPr/>
        </p:nvSpPr>
        <p:spPr>
          <a:xfrm>
            <a:off x="537512" y="3384629"/>
            <a:ext cx="638131" cy="638131"/>
          </a:xfrm>
          <a:prstGeom prst="ellipse">
            <a:avLst/>
          </a:prstGeom>
          <a:solidFill>
            <a:schemeClr val="accent1">
              <a:alpha val="20000"/>
            </a:schemeClr>
          </a:solidFill>
          <a:ln/>
        </p:spPr>
      </p:sp>
      <p:sp>
        <p:nvSpPr>
          <p:cNvPr id="7" name="TextBox 7"/>
          <p:cNvSpPr txBox="1"/>
          <p:nvPr/>
        </p:nvSpPr>
        <p:spPr>
          <a:xfrm>
            <a:off x="1300882" y="3182098"/>
            <a:ext cx="6886575" cy="769800"/>
          </a:xfrm>
          <a:prstGeom prst="rect">
            <a:avLst/>
          </a:prstGeom>
          <a:ln/>
        </p:spPr>
        <p:txBody>
          <a:bodyPr vert="horz" wrap="square" lIns="123825" tIns="123825" rIns="57150" bIns="123825" rtlCol="0" anchor="b" anchorCtr="0">
            <a:noAutofit/>
          </a:bodyPr>
          <a:lstStyle/>
          <a:p>
            <a:pPr>
              <a:lnSpc>
                <a:spcPct val="140000"/>
              </a:lnSpc>
            </a:pPr>
            <a:r>
              <a:rPr lang="en-US" sz="2400" b="1">
                <a:solidFill>
                  <a:schemeClr val="accent1">
                    <a:alpha val="100000"/>
                  </a:schemeClr>
                </a:solidFill>
                <a:latin typeface="Noto Sans SC"/>
                <a:ea typeface="Noto Sans SC"/>
                <a:cs typeface="Noto Sans SC"/>
              </a:rPr>
              <a:t>重构技术应用</a:t>
            </a:r>
          </a:p>
        </p:txBody>
      </p:sp>
      <p:sp>
        <p:nvSpPr>
          <p:cNvPr id="8" name="AutoShape 8"/>
          <p:cNvSpPr/>
          <p:nvPr/>
        </p:nvSpPr>
        <p:spPr>
          <a:xfrm>
            <a:off x="537512" y="5104954"/>
            <a:ext cx="638131" cy="638131"/>
          </a:xfrm>
          <a:prstGeom prst="ellipse">
            <a:avLst/>
          </a:prstGeom>
          <a:solidFill>
            <a:schemeClr val="accent1">
              <a:alpha val="20000"/>
            </a:schemeClr>
          </a:solidFill>
          <a:ln/>
        </p:spPr>
      </p:sp>
      <p:sp>
        <p:nvSpPr>
          <p:cNvPr id="9" name="TextBox 9"/>
          <p:cNvSpPr txBox="1"/>
          <p:nvPr/>
        </p:nvSpPr>
        <p:spPr>
          <a:xfrm>
            <a:off x="1300882" y="4920230"/>
            <a:ext cx="6886575" cy="734184"/>
          </a:xfrm>
          <a:prstGeom prst="rect">
            <a:avLst/>
          </a:prstGeom>
          <a:ln/>
        </p:spPr>
        <p:txBody>
          <a:bodyPr vert="horz" wrap="square" lIns="123825" tIns="123825" rIns="57150" bIns="123825" rtlCol="0" anchor="b" anchorCtr="0">
            <a:noAutofit/>
          </a:bodyPr>
          <a:lstStyle/>
          <a:p>
            <a:pPr>
              <a:lnSpc>
                <a:spcPct val="140000"/>
              </a:lnSpc>
            </a:pPr>
            <a:r>
              <a:rPr lang="en-US" sz="2400" b="1">
                <a:solidFill>
                  <a:schemeClr val="accent1">
                    <a:alpha val="100000"/>
                  </a:schemeClr>
                </a:solidFill>
                <a:latin typeface="Noto Sans SC"/>
                <a:ea typeface="Noto Sans SC"/>
                <a:cs typeface="Noto Sans SC"/>
              </a:rPr>
              <a:t>持续集成与自动化测试</a:t>
            </a:r>
          </a:p>
        </p:txBody>
      </p:sp>
      <p:sp>
        <p:nvSpPr>
          <p:cNvPr id="10" name="TextBox 10"/>
          <p:cNvSpPr txBox="1"/>
          <p:nvPr/>
        </p:nvSpPr>
        <p:spPr>
          <a:xfrm>
            <a:off x="1300882" y="3741456"/>
            <a:ext cx="6891292" cy="1074439"/>
          </a:xfrm>
          <a:prstGeom prst="rect">
            <a:avLst/>
          </a:prstGeom>
          <a:ln/>
        </p:spPr>
        <p:txBody>
          <a:bodyPr vert="horz" wrap="square" lIns="123825" tIns="123825" rIns="57150" bIns="123825" rtlCol="0" anchor="t" anchorCtr="0">
            <a:noAutofit/>
          </a:bodyPr>
          <a:lstStyle/>
          <a:p>
            <a:pPr>
              <a:lnSpc>
                <a:spcPct val="140000"/>
              </a:lnSpc>
            </a:pPr>
            <a:r>
              <a:rPr lang="en-US" sz="1350">
                <a:solidFill>
                  <a:schemeClr val="dk1">
                    <a:alpha val="100000"/>
                  </a:schemeClr>
                </a:solidFill>
                <a:latin typeface="Noto Sans SC"/>
                <a:ea typeface="Noto Sans SC"/>
                <a:cs typeface="Noto Sans SC"/>
              </a:rPr>
              <a:t>常用的重构技术包括提取方法、内联方法、移动方法、提取类等。这些技术可以帮助开发者在不改变系统外部行为的情况下，优化代码结构，提高代码质量。</a:t>
            </a:r>
          </a:p>
        </p:txBody>
      </p:sp>
      <p:sp>
        <p:nvSpPr>
          <p:cNvPr id="11" name="TextBox 11"/>
          <p:cNvSpPr txBox="1"/>
          <p:nvPr/>
        </p:nvSpPr>
        <p:spPr>
          <a:xfrm>
            <a:off x="1300882" y="5424019"/>
            <a:ext cx="6891292" cy="1092920"/>
          </a:xfrm>
          <a:prstGeom prst="rect">
            <a:avLst/>
          </a:prstGeom>
          <a:ln/>
        </p:spPr>
        <p:txBody>
          <a:bodyPr vert="horz" wrap="square" lIns="123825" tIns="123825" rIns="57150" bIns="123825" rtlCol="0" anchor="t" anchorCtr="0">
            <a:noAutofit/>
          </a:bodyPr>
          <a:lstStyle/>
          <a:p>
            <a:pPr>
              <a:lnSpc>
                <a:spcPct val="140000"/>
              </a:lnSpc>
            </a:pPr>
            <a:r>
              <a:rPr lang="en-US" sz="1350">
                <a:solidFill>
                  <a:schemeClr val="dk1">
                    <a:alpha val="100000"/>
                  </a:schemeClr>
                </a:solidFill>
                <a:latin typeface="Noto Sans SC"/>
                <a:ea typeface="Noto Sans SC"/>
                <a:cs typeface="Noto Sans SC"/>
              </a:rPr>
              <a:t>重构过程中，持续集成和自动化测试是确保代码质量的重要手段。通过自动化测试，可以快速发现重构引入的错误，确保重构后的代码仍然满足功能需求。</a:t>
            </a:r>
          </a:p>
        </p:txBody>
      </p:sp>
      <p:pic>
        <p:nvPicPr>
          <p:cNvPr id="12" name="Picture 12"/>
          <p:cNvPicPr>
            <a:picLocks noChangeAspect="1"/>
          </p:cNvPicPr>
          <p:nvPr/>
        </p:nvPicPr>
        <p:blipFill>
          <a:blip r:embed="rId3">
            <a:alphaModFix/>
          </a:blip>
          <a:srcRect/>
          <a:stretch>
            <a:fillRect/>
          </a:stretch>
        </p:blipFill>
        <p:spPr>
          <a:xfrm>
            <a:off x="8604472" y="1741145"/>
            <a:ext cx="4421505" cy="4421505"/>
          </a:xfrm>
          <a:prstGeom prst="ellipse">
            <a:avLst/>
          </a:prstGeom>
        </p:spPr>
      </p:pic>
      <p:cxnSp>
        <p:nvCxnSpPr>
          <p:cNvPr id="13" name="Connector 13"/>
          <p:cNvCxnSpPr/>
          <p:nvPr/>
        </p:nvCxnSpPr>
        <p:spPr>
          <a:xfrm>
            <a:off x="856577" y="2403263"/>
            <a:ext cx="0" cy="896335"/>
          </a:xfrm>
          <a:prstGeom prst="line">
            <a:avLst/>
          </a:prstGeom>
          <a:ln w="19050">
            <a:solidFill>
              <a:schemeClr val="accent1"/>
            </a:solidFill>
            <a:prstDash val="solid"/>
            <a:headEnd type="none"/>
            <a:tailEnd type="none"/>
          </a:ln>
        </p:spPr>
        <p:style>
          <a:lnRef idx="0">
            <a:schemeClr val="accent1"/>
          </a:lnRef>
          <a:fillRef idx="1">
            <a:schemeClr val="accent1"/>
          </a:fillRef>
          <a:effectRef idx="0">
            <a:schemeClr val="accent1"/>
          </a:effectRef>
          <a:fontRef idx="minor">
            <a:schemeClr val="lt1"/>
          </a:fontRef>
        </p:style>
      </p:cxnSp>
      <p:cxnSp>
        <p:nvCxnSpPr>
          <p:cNvPr id="14" name="Connector 14"/>
          <p:cNvCxnSpPr/>
          <p:nvPr/>
        </p:nvCxnSpPr>
        <p:spPr>
          <a:xfrm>
            <a:off x="856577" y="4124852"/>
            <a:ext cx="0" cy="896335"/>
          </a:xfrm>
          <a:prstGeom prst="line">
            <a:avLst/>
          </a:prstGeom>
          <a:ln w="19050">
            <a:solidFill>
              <a:schemeClr val="accent1"/>
            </a:solidFill>
            <a:prstDash val="solid"/>
            <a:headEnd type="none"/>
            <a:tailEnd type="none"/>
          </a:ln>
        </p:spPr>
        <p:style>
          <a:lnRef idx="0">
            <a:schemeClr val="accent1"/>
          </a:lnRef>
          <a:fillRef idx="1">
            <a:schemeClr val="accent1"/>
          </a:fillRef>
          <a:effectRef idx="0">
            <a:schemeClr val="accent1"/>
          </a:effectRef>
          <a:fontRef idx="minor">
            <a:schemeClr val="lt1"/>
          </a:fontRef>
        </p:style>
      </p:cxnSp>
      <p:sp>
        <p:nvSpPr>
          <p:cNvPr id="15" name="TextBox 15"/>
          <p:cNvSpPr txBox="1"/>
          <p:nvPr/>
        </p:nvSpPr>
        <p:spPr>
          <a:xfrm>
            <a:off x="688937" y="1685237"/>
            <a:ext cx="335280" cy="596265"/>
          </a:xfrm>
          <a:prstGeom prst="rect">
            <a:avLst/>
          </a:prstGeom>
          <a:ln/>
        </p:spPr>
        <p:txBody>
          <a:bodyPr vert="horz" wrap="square" lIns="91440" tIns="45720" rIns="91440" bIns="45720" rtlCol="0" anchor="ctr" anchorCtr="0">
            <a:spAutoFit/>
          </a:bodyPr>
          <a:lstStyle/>
          <a:p>
            <a:pPr algn="ctr">
              <a:lnSpc>
                <a:spcPct val="100000"/>
              </a:lnSpc>
              <a:spcBef>
                <a:spcPts val="375"/>
              </a:spcBef>
            </a:pPr>
            <a:r>
              <a:rPr lang="en-US" sz="3000">
                <a:solidFill>
                  <a:schemeClr val="accent1">
                    <a:alpha val="100000"/>
                  </a:schemeClr>
                </a:solidFill>
                <a:latin typeface="Microsoft Yahei"/>
                <a:ea typeface="Microsoft Yahei"/>
                <a:cs typeface="Microsoft Yahei"/>
              </a:rPr>
              <a:t>1</a:t>
            </a:r>
          </a:p>
        </p:txBody>
      </p:sp>
      <p:sp>
        <p:nvSpPr>
          <p:cNvPr id="16" name="TextBox 16"/>
          <p:cNvSpPr txBox="1"/>
          <p:nvPr/>
        </p:nvSpPr>
        <p:spPr>
          <a:xfrm>
            <a:off x="588925" y="3405562"/>
            <a:ext cx="535305" cy="596265"/>
          </a:xfrm>
          <a:prstGeom prst="rect">
            <a:avLst/>
          </a:prstGeom>
          <a:ln/>
        </p:spPr>
        <p:txBody>
          <a:bodyPr vert="horz" wrap="square" lIns="91440" tIns="45720" rIns="91440" bIns="45720" rtlCol="0" anchor="ctr" anchorCtr="0">
            <a:spAutoFit/>
          </a:bodyPr>
          <a:lstStyle/>
          <a:p>
            <a:pPr algn="ctr">
              <a:lnSpc>
                <a:spcPct val="100000"/>
              </a:lnSpc>
              <a:spcBef>
                <a:spcPts val="375"/>
              </a:spcBef>
            </a:pPr>
            <a:r>
              <a:rPr lang="en-US" sz="3000">
                <a:solidFill>
                  <a:schemeClr val="accent1">
                    <a:alpha val="100000"/>
                  </a:schemeClr>
                </a:solidFill>
                <a:latin typeface="Microsoft Yahei"/>
                <a:ea typeface="Microsoft Yahei"/>
                <a:cs typeface="Microsoft Yahei"/>
              </a:rPr>
              <a:t>2</a:t>
            </a:r>
          </a:p>
        </p:txBody>
      </p:sp>
      <p:sp>
        <p:nvSpPr>
          <p:cNvPr id="17" name="TextBox 17"/>
          <p:cNvSpPr txBox="1"/>
          <p:nvPr/>
        </p:nvSpPr>
        <p:spPr>
          <a:xfrm>
            <a:off x="588925" y="5125887"/>
            <a:ext cx="535305" cy="596265"/>
          </a:xfrm>
          <a:prstGeom prst="rect">
            <a:avLst/>
          </a:prstGeom>
          <a:ln/>
        </p:spPr>
        <p:txBody>
          <a:bodyPr vert="horz" wrap="square" lIns="91440" tIns="45720" rIns="91440" bIns="45720" rtlCol="0" anchor="ctr" anchorCtr="0">
            <a:spAutoFit/>
          </a:bodyPr>
          <a:lstStyle/>
          <a:p>
            <a:pPr algn="ctr">
              <a:lnSpc>
                <a:spcPct val="100000"/>
              </a:lnSpc>
              <a:spcBef>
                <a:spcPts val="375"/>
              </a:spcBef>
            </a:pPr>
            <a:r>
              <a:rPr lang="en-US" sz="3000">
                <a:solidFill>
                  <a:schemeClr val="accent1">
                    <a:alpha val="100000"/>
                  </a:schemeClr>
                </a:solidFill>
                <a:latin typeface="Microsoft Yahei"/>
                <a:ea typeface="Microsoft Yahei"/>
                <a:cs typeface="Microsoft Yahei"/>
              </a:rPr>
              <a:t>3</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3257550" y="2085975"/>
            <a:ext cx="5676900" cy="1343025"/>
          </a:xfrm>
          <a:prstGeom prst="rect">
            <a:avLst/>
          </a:prstGeom>
          <a:ln/>
        </p:spPr>
        <p:txBody>
          <a:bodyPr vert="horz" wrap="square" lIns="114300" tIns="57150" rIns="114300" bIns="57150" rtlCol="0" anchor="ctr" anchorCtr="0">
            <a:spAutoFit/>
          </a:bodyPr>
          <a:lstStyle/>
          <a:p>
            <a:pPr algn="ctr">
              <a:lnSpc>
                <a:spcPct val="64000"/>
              </a:lnSpc>
            </a:pPr>
            <a:r>
              <a:rPr lang="en-US" sz="8775" b="1">
                <a:solidFill>
                  <a:srgbClr val="000000">
                    <a:alpha val="100000"/>
                  </a:srgbClr>
                </a:solidFill>
                <a:latin typeface="Noto Sans SC"/>
                <a:ea typeface="Noto Sans SC"/>
                <a:cs typeface="Noto Sans SC"/>
              </a:rPr>
              <a:t>THANKS</a:t>
            </a:r>
          </a:p>
        </p:txBody>
      </p:sp>
      <p:sp>
        <p:nvSpPr>
          <p:cNvPr id="3" name="TextBox 3"/>
          <p:cNvSpPr txBox="1"/>
          <p:nvPr/>
        </p:nvSpPr>
        <p:spPr>
          <a:xfrm>
            <a:off x="4471988" y="3586159"/>
            <a:ext cx="3248025" cy="628650"/>
          </a:xfrm>
          <a:prstGeom prst="rect">
            <a:avLst/>
          </a:prstGeom>
          <a:ln/>
        </p:spPr>
        <p:txBody>
          <a:bodyPr vert="horz" wrap="square" lIns="114300" tIns="57150" rIns="114300" bIns="57150" rtlCol="0" anchor="ctr" anchorCtr="0">
            <a:spAutoFit/>
          </a:bodyPr>
          <a:lstStyle/>
          <a:p>
            <a:pPr algn="ctr">
              <a:lnSpc>
                <a:spcPct val="100000"/>
              </a:lnSpc>
            </a:pPr>
            <a:r>
              <a:rPr lang="en-US" sz="3000">
                <a:solidFill>
                  <a:srgbClr val="FFFFFF">
                    <a:alpha val="100000"/>
                  </a:srgbClr>
                </a:solidFill>
                <a:latin typeface="Noto Sans SC"/>
                <a:ea typeface="Noto Sans SC"/>
                <a:cs typeface="Noto Sans SC"/>
              </a:rPr>
              <a:t>感谢您的观看</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2F2F2"/>
      </a:lt1>
      <a:dk2>
        <a:srgbClr val="000000"/>
      </a:dk2>
      <a:lt2>
        <a:srgbClr val="EDEFED"/>
      </a:lt2>
      <a:accent1>
        <a:srgbClr val="318A46"/>
      </a:accent1>
      <a:accent2>
        <a:srgbClr val="318A46"/>
      </a:accent2>
      <a:accent3>
        <a:srgbClr val="1B7930"/>
      </a:accent3>
      <a:accent4>
        <a:srgbClr val="136C53"/>
      </a:accent4>
      <a:accent5>
        <a:srgbClr val="437908"/>
      </a:accent5>
      <a:accent6>
        <a:srgbClr val="238D17"/>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935</Words>
  <Application>Microsoft Office PowerPoint</Application>
  <PresentationFormat>宽屏</PresentationFormat>
  <Paragraphs>194</Paragraphs>
  <Slides>30</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30</vt:i4>
      </vt:variant>
    </vt:vector>
  </HeadingPairs>
  <TitlesOfParts>
    <vt:vector size="36" baseType="lpstr">
      <vt:lpstr>Calibri</vt:lpstr>
      <vt:lpstr>Noto Sans SC</vt:lpstr>
      <vt:lpstr>Microsoft Yahei</vt:lpstr>
      <vt:lpstr>Helvetica</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XJW</cp:lastModifiedBy>
  <cp:revision>4</cp:revision>
  <dcterms:created xsi:type="dcterms:W3CDTF">2006-08-16T00:00:00Z</dcterms:created>
  <dcterms:modified xsi:type="dcterms:W3CDTF">2025-04-17T02:43:28Z</dcterms:modified>
</cp:coreProperties>
</file>