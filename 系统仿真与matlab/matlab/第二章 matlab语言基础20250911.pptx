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65"/>
  </p:notesMasterIdLst>
  <p:sldIdLst>
    <p:sldId id="256" r:id="rId2"/>
    <p:sldId id="276" r:id="rId3"/>
    <p:sldId id="311" r:id="rId4"/>
    <p:sldId id="312" r:id="rId5"/>
    <p:sldId id="315" r:id="rId6"/>
    <p:sldId id="313" r:id="rId7"/>
    <p:sldId id="379" r:id="rId8"/>
    <p:sldId id="314" r:id="rId9"/>
    <p:sldId id="257" r:id="rId10"/>
    <p:sldId id="316" r:id="rId11"/>
    <p:sldId id="317" r:id="rId12"/>
    <p:sldId id="277" r:id="rId13"/>
    <p:sldId id="269" r:id="rId14"/>
    <p:sldId id="322" r:id="rId15"/>
    <p:sldId id="323" r:id="rId16"/>
    <p:sldId id="324" r:id="rId17"/>
    <p:sldId id="325" r:id="rId18"/>
    <p:sldId id="326" r:id="rId19"/>
    <p:sldId id="364" r:id="rId20"/>
    <p:sldId id="327" r:id="rId21"/>
    <p:sldId id="357" r:id="rId22"/>
    <p:sldId id="328" r:id="rId23"/>
    <p:sldId id="329" r:id="rId24"/>
    <p:sldId id="358" r:id="rId25"/>
    <p:sldId id="330" r:id="rId26"/>
    <p:sldId id="365" r:id="rId27"/>
    <p:sldId id="366" r:id="rId28"/>
    <p:sldId id="367" r:id="rId29"/>
    <p:sldId id="368" r:id="rId30"/>
    <p:sldId id="369" r:id="rId31"/>
    <p:sldId id="370" r:id="rId32"/>
    <p:sldId id="371" r:id="rId33"/>
    <p:sldId id="372" r:id="rId34"/>
    <p:sldId id="373" r:id="rId35"/>
    <p:sldId id="318" r:id="rId36"/>
    <p:sldId id="359" r:id="rId37"/>
    <p:sldId id="376" r:id="rId38"/>
    <p:sldId id="377" r:id="rId39"/>
    <p:sldId id="374" r:id="rId40"/>
    <p:sldId id="375" r:id="rId41"/>
    <p:sldId id="348" r:id="rId42"/>
    <p:sldId id="319" r:id="rId43"/>
    <p:sldId id="378" r:id="rId44"/>
    <p:sldId id="360" r:id="rId45"/>
    <p:sldId id="320" r:id="rId46"/>
    <p:sldId id="321" r:id="rId47"/>
    <p:sldId id="270" r:id="rId48"/>
    <p:sldId id="361" r:id="rId49"/>
    <p:sldId id="272" r:id="rId50"/>
    <p:sldId id="273" r:id="rId51"/>
    <p:sldId id="274" r:id="rId52"/>
    <p:sldId id="275" r:id="rId53"/>
    <p:sldId id="362" r:id="rId54"/>
    <p:sldId id="278" r:id="rId55"/>
    <p:sldId id="281" r:id="rId56"/>
    <p:sldId id="282" r:id="rId57"/>
    <p:sldId id="283" r:id="rId58"/>
    <p:sldId id="284" r:id="rId59"/>
    <p:sldId id="286" r:id="rId60"/>
    <p:sldId id="363" r:id="rId61"/>
    <p:sldId id="289" r:id="rId62"/>
    <p:sldId id="346" r:id="rId63"/>
    <p:sldId id="349" r:id="rId64"/>
  </p:sldIdLst>
  <p:sldSz cx="9906000" cy="6858000" type="A4"/>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4" autoAdjust="0"/>
    <p:restoredTop sz="75088" autoAdjust="0"/>
  </p:normalViewPr>
  <p:slideViewPr>
    <p:cSldViewPr>
      <p:cViewPr varScale="1">
        <p:scale>
          <a:sx n="81" d="100"/>
          <a:sy n="81" d="100"/>
        </p:scale>
        <p:origin x="2214" y="9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65123EE-0721-41DE-AF09-FC9F07D0CC8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39939" name="Rectangle 3">
            <a:extLst>
              <a:ext uri="{FF2B5EF4-FFF2-40B4-BE49-F238E27FC236}">
                <a16:creationId xmlns:a16="http://schemas.microsoft.com/office/drawing/2014/main" id="{7D8032F3-039D-43FF-89C4-D55C9E14CC1C}"/>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A21B988F-CE61-4A58-A894-F14BB515863A}"/>
              </a:ext>
            </a:extLst>
          </p:cNvPr>
          <p:cNvSpPr>
            <a:spLocks noGrp="1" noRot="1" noChangeAspec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1" name="Rectangle 5">
            <a:extLst>
              <a:ext uri="{FF2B5EF4-FFF2-40B4-BE49-F238E27FC236}">
                <a16:creationId xmlns:a16="http://schemas.microsoft.com/office/drawing/2014/main" id="{A54446E5-4F4E-4739-A6F5-7442F030B0D7}"/>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9942" name="Rectangle 6">
            <a:extLst>
              <a:ext uri="{FF2B5EF4-FFF2-40B4-BE49-F238E27FC236}">
                <a16:creationId xmlns:a16="http://schemas.microsoft.com/office/drawing/2014/main" id="{B5497BF1-40A0-4E03-8FCC-00857CA2182E}"/>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39943" name="Rectangle 7">
            <a:extLst>
              <a:ext uri="{FF2B5EF4-FFF2-40B4-BE49-F238E27FC236}">
                <a16:creationId xmlns:a16="http://schemas.microsoft.com/office/drawing/2014/main" id="{3927A8A9-3796-4070-A4FA-D30FE6EE68C5}"/>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135C7FB5-1F62-482F-AF54-C3F8D2B41B3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D81B57C9-3D87-49E6-B28D-2BD3B4E32BF1}"/>
              </a:ext>
            </a:extLst>
          </p:cNvPr>
          <p:cNvSpPr>
            <a:spLocks noGrp="1" noRot="1" noChangeAspect="1" noChangeArrowheads="1" noTextEdit="1"/>
          </p:cNvSpPr>
          <p:nvPr>
            <p:ph type="sldImg"/>
          </p:nvPr>
        </p:nvSpPr>
        <p:spPr>
          <a:ln/>
        </p:spPr>
      </p:sp>
      <p:sp>
        <p:nvSpPr>
          <p:cNvPr id="5123" name="备注占位符 2">
            <a:extLst>
              <a:ext uri="{FF2B5EF4-FFF2-40B4-BE49-F238E27FC236}">
                <a16:creationId xmlns:a16="http://schemas.microsoft.com/office/drawing/2014/main" id="{DD451664-9C0B-460E-8627-B91AC807FA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124" name="灯片编号占位符 3">
            <a:extLst>
              <a:ext uri="{FF2B5EF4-FFF2-40B4-BE49-F238E27FC236}">
                <a16:creationId xmlns:a16="http://schemas.microsoft.com/office/drawing/2014/main" id="{BC654464-F4E8-4EAB-A960-8FB02D35A9D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4A95946-D938-4BF3-8EFF-90A005F058A6}" type="slidenum">
              <a:rPr lang="en-US" altLang="zh-CN" smtClean="0"/>
              <a:pPr>
                <a:spcBef>
                  <a:spcPct val="0"/>
                </a:spcBef>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23549486-C5A6-4359-A0C3-2B5462997B29}"/>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D274CF9D-8F76-42D8-8F91-437A67CCB4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20" name="灯片编号占位符 3">
            <a:extLst>
              <a:ext uri="{FF2B5EF4-FFF2-40B4-BE49-F238E27FC236}">
                <a16:creationId xmlns:a16="http://schemas.microsoft.com/office/drawing/2014/main" id="{6D1CEC68-DC27-4FAA-9768-AB4FF33457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6EFD3CB-928F-43DA-97E3-BF272A203033}"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BD4B18A8-3F6D-4331-972D-5B2FE7668C43}"/>
              </a:ext>
            </a:extLst>
          </p:cNvPr>
          <p:cNvSpPr>
            <a:spLocks noGrp="1" noRot="1" noChangeAspect="1" noChangeArrowheads="1" noTextEdit="1"/>
          </p:cNvSpPr>
          <p:nvPr>
            <p:ph type="sldImg"/>
          </p:nvPr>
        </p:nvSpPr>
        <p:spPr>
          <a:ln/>
        </p:spPr>
      </p:sp>
      <p:sp>
        <p:nvSpPr>
          <p:cNvPr id="12291" name="备注占位符 2">
            <a:extLst>
              <a:ext uri="{FF2B5EF4-FFF2-40B4-BE49-F238E27FC236}">
                <a16:creationId xmlns:a16="http://schemas.microsoft.com/office/drawing/2014/main" id="{AFD171CE-AB07-44C1-BD23-9A61D6CD2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92" name="灯片编号占位符 3">
            <a:extLst>
              <a:ext uri="{FF2B5EF4-FFF2-40B4-BE49-F238E27FC236}">
                <a16:creationId xmlns:a16="http://schemas.microsoft.com/office/drawing/2014/main" id="{4BD75F88-D687-4703-A8F8-9DBF4F1561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D46BCF0-EFE1-4FF1-9CE9-E91C927C3D0D}" type="slidenum">
              <a:rPr lang="en-US" altLang="zh-CN" smtClean="0">
                <a:latin typeface="Times New Roman" panose="02020603050405020304" pitchFamily="18" charset="0"/>
              </a:rPr>
              <a:pPr/>
              <a:t>6</a:t>
            </a:fld>
            <a:endParaRPr lang="en-US" altLang="zh-CN">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3E34ABAD-62BF-4661-ACB7-2E4301EAE268}"/>
              </a:ext>
            </a:extLst>
          </p:cNvPr>
          <p:cNvSpPr>
            <a:spLocks noGrp="1" noRot="1" noChangeAspect="1" noChangeArrowheads="1" noTextEdit="1"/>
          </p:cNvSpPr>
          <p:nvPr>
            <p:ph type="sldImg"/>
          </p:nvPr>
        </p:nvSpPr>
        <p:spPr>
          <a:ln/>
        </p:spPr>
      </p:sp>
      <p:sp>
        <p:nvSpPr>
          <p:cNvPr id="14339" name="备注占位符 2">
            <a:extLst>
              <a:ext uri="{FF2B5EF4-FFF2-40B4-BE49-F238E27FC236}">
                <a16:creationId xmlns:a16="http://schemas.microsoft.com/office/drawing/2014/main" id="{B2EEEAFE-1352-4A7F-9800-D3FE2E3AEF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40" name="灯片编号占位符 3">
            <a:extLst>
              <a:ext uri="{FF2B5EF4-FFF2-40B4-BE49-F238E27FC236}">
                <a16:creationId xmlns:a16="http://schemas.microsoft.com/office/drawing/2014/main" id="{B2ADA963-C9EC-4D55-B2A9-6365048BFA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D9E42F5-1316-47D1-8208-93531B12E97F}" type="slidenum">
              <a:rPr lang="en-US" altLang="zh-CN" smtClean="0">
                <a:latin typeface="Times New Roman" panose="02020603050405020304" pitchFamily="18" charset="0"/>
              </a:rPr>
              <a:pPr/>
              <a:t>7</a:t>
            </a:fld>
            <a:endParaRPr lang="en-US"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35C7FB5-1F62-482F-AF54-C3F8D2B41B34}" type="slidenum">
              <a:rPr lang="en-US" altLang="zh-CN" smtClean="0"/>
              <a:pPr>
                <a:defRPr/>
              </a:pPr>
              <a:t>8</a:t>
            </a:fld>
            <a:endParaRPr lang="en-US" altLang="zh-CN"/>
          </a:p>
        </p:txBody>
      </p:sp>
    </p:spTree>
    <p:extLst>
      <p:ext uri="{BB962C8B-B14F-4D97-AF65-F5344CB8AC3E}">
        <p14:creationId xmlns:p14="http://schemas.microsoft.com/office/powerpoint/2010/main" val="456925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35C7FB5-1F62-482F-AF54-C3F8D2B41B34}" type="slidenum">
              <a:rPr lang="en-US" altLang="zh-CN" smtClean="0"/>
              <a:pPr>
                <a:defRPr/>
              </a:pPr>
              <a:t>9</a:t>
            </a:fld>
            <a:endParaRPr lang="en-US" altLang="zh-CN"/>
          </a:p>
        </p:txBody>
      </p:sp>
    </p:spTree>
    <p:extLst>
      <p:ext uri="{BB962C8B-B14F-4D97-AF65-F5344CB8AC3E}">
        <p14:creationId xmlns:p14="http://schemas.microsoft.com/office/powerpoint/2010/main" val="2226970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CA5B366D-856C-440E-A7CC-054734E8921E}"/>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59794985-FEF5-4AD0-B3B7-2FAD7AD9E4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a:extLst>
              <a:ext uri="{FF2B5EF4-FFF2-40B4-BE49-F238E27FC236}">
                <a16:creationId xmlns:a16="http://schemas.microsoft.com/office/drawing/2014/main" id="{6FE0535D-4BD2-4568-94D5-FBBBCF9A4B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45117A-F41A-4303-8CE0-57125D25866A}" type="slidenum">
              <a:rPr lang="en-US" altLang="zh-CN" smtClean="0">
                <a:latin typeface="Times New Roman" panose="02020603050405020304" pitchFamily="18" charset="0"/>
              </a:rPr>
              <a:pPr/>
              <a:t>11</a:t>
            </a:fld>
            <a:endParaRPr lang="en-US" altLang="zh-CN">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4E72CCA2-536D-49FF-B79F-8ECB5FB166AF}"/>
              </a:ext>
            </a:extLst>
          </p:cNvPr>
          <p:cNvSpPr>
            <a:spLocks noGrp="1" noRot="1" noChangeAspect="1" noChangeArrowheads="1" noTextEdit="1"/>
          </p:cNvSpPr>
          <p:nvPr>
            <p:ph type="sldImg"/>
          </p:nvPr>
        </p:nvSpPr>
        <p:spPr>
          <a:ln/>
        </p:spPr>
      </p:sp>
      <p:sp>
        <p:nvSpPr>
          <p:cNvPr id="23555" name="备注占位符 2">
            <a:extLst>
              <a:ext uri="{FF2B5EF4-FFF2-40B4-BE49-F238E27FC236}">
                <a16:creationId xmlns:a16="http://schemas.microsoft.com/office/drawing/2014/main" id="{89D8DD38-474A-481F-AAE4-1FBD1AB2C7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6" name="灯片编号占位符 3">
            <a:extLst>
              <a:ext uri="{FF2B5EF4-FFF2-40B4-BE49-F238E27FC236}">
                <a16:creationId xmlns:a16="http://schemas.microsoft.com/office/drawing/2014/main" id="{85EEEB6B-EA54-433E-A2A8-0F807521A9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26789C-6ACE-4890-B35E-DC639CBDCC24}" type="slidenum">
              <a:rPr lang="en-US" altLang="zh-CN" smtClean="0">
                <a:latin typeface="Times New Roman" panose="02020603050405020304" pitchFamily="18" charset="0"/>
              </a:rPr>
              <a:pPr/>
              <a:t>14</a:t>
            </a:fld>
            <a:endParaRPr lang="en-US"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6C94070F-6EC9-4BF8-9CE5-11DAB84DCBA2}"/>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8837590D-7031-442C-85F2-30A25871A2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a=linspace(1,10,1)</a:t>
            </a:r>
            <a:r>
              <a:rPr lang="zh-CN" altLang="en-US"/>
              <a:t>，   </a:t>
            </a:r>
            <a:r>
              <a:rPr lang="en-US" altLang="zh-CN"/>
              <a:t>a =10</a:t>
            </a:r>
          </a:p>
          <a:p>
            <a:endParaRPr lang="en-US" altLang="zh-CN"/>
          </a:p>
          <a:p>
            <a:pPr eaLnBrk="1" hangingPunct="1">
              <a:buFont typeface="Wingdings" panose="05000000000000000000" pitchFamily="2" charset="2"/>
              <a:buNone/>
            </a:pPr>
            <a:r>
              <a:rPr lang="en-US" altLang="zh-CN"/>
              <a:t>a=[1:2:9]</a:t>
            </a:r>
            <a:r>
              <a:rPr lang="zh-CN" altLang="en-US"/>
              <a:t>，</a:t>
            </a:r>
            <a:r>
              <a:rPr lang="en-US" altLang="zh-CN"/>
              <a:t>a=1  3  5  7  9</a:t>
            </a:r>
          </a:p>
          <a:p>
            <a:endParaRPr lang="en-US" altLang="zh-CN"/>
          </a:p>
          <a:p>
            <a:endParaRPr lang="zh-CN" altLang="en-US"/>
          </a:p>
        </p:txBody>
      </p:sp>
      <p:sp>
        <p:nvSpPr>
          <p:cNvPr id="25604" name="灯片编号占位符 3">
            <a:extLst>
              <a:ext uri="{FF2B5EF4-FFF2-40B4-BE49-F238E27FC236}">
                <a16:creationId xmlns:a16="http://schemas.microsoft.com/office/drawing/2014/main" id="{01F56EFC-6A0E-460E-BAEC-CA8778D1B7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86751D3-C90F-4DB4-A1E8-9319B025D98E}"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C183733F-FF0E-4403-8474-3E5E92B843F1}"/>
              </a:ext>
            </a:extLst>
          </p:cNvPr>
          <p:cNvSpPr>
            <a:spLocks noGrp="1" noRot="1" noChangeAspect="1" noChangeArrowheads="1" noTextEdit="1"/>
          </p:cNvSpPr>
          <p:nvPr>
            <p:ph type="sldImg"/>
          </p:nvPr>
        </p:nvSpPr>
        <p:spPr>
          <a:ln/>
        </p:spPr>
      </p:sp>
      <p:sp>
        <p:nvSpPr>
          <p:cNvPr id="27651" name="备注占位符 2">
            <a:extLst>
              <a:ext uri="{FF2B5EF4-FFF2-40B4-BE49-F238E27FC236}">
                <a16:creationId xmlns:a16="http://schemas.microsoft.com/office/drawing/2014/main" id="{BC846E65-4F1F-43FF-87DE-D6BE85B436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652" name="灯片编号占位符 3">
            <a:extLst>
              <a:ext uri="{FF2B5EF4-FFF2-40B4-BE49-F238E27FC236}">
                <a16:creationId xmlns:a16="http://schemas.microsoft.com/office/drawing/2014/main" id="{E860899C-C8C4-4368-A854-8A3682AA51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131C19C-B8A2-4AB8-8FEE-00C52ABD04C7}" type="slidenum">
              <a:rPr lang="en-US" altLang="zh-CN" smtClean="0">
                <a:latin typeface="Times New Roman" panose="02020603050405020304" pitchFamily="18" charset="0"/>
              </a:rPr>
              <a:pPr/>
              <a:t>16</a:t>
            </a:fld>
            <a:endParaRPr lang="en-US" altLang="zh-CN">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88C23CA2-9E19-484B-A869-5EE95D77129A}"/>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17847449-0FA9-45A9-B9CA-CD6D60145F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8" name="灯片编号占位符 3">
            <a:extLst>
              <a:ext uri="{FF2B5EF4-FFF2-40B4-BE49-F238E27FC236}">
                <a16:creationId xmlns:a16="http://schemas.microsoft.com/office/drawing/2014/main" id="{AA86FF64-4E6A-4214-BE06-F806C1B893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45F6932-F06D-4D8E-8EF8-48CB4C9D569A}" type="slidenum">
              <a:rPr lang="en-US" altLang="zh-CN" smtClean="0">
                <a:latin typeface="Times New Roman" panose="02020603050405020304" pitchFamily="18" charset="0"/>
              </a:rPr>
              <a:pPr/>
              <a:t>19</a:t>
            </a:fld>
            <a:endParaRPr lang="en-US"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C58B45C3-B7E0-418A-B415-55F554107D0F}"/>
              </a:ext>
            </a:extLst>
          </p:cNvPr>
          <p:cNvSpPr>
            <a:spLocks noGrp="1" noRot="1" noChangeAspect="1" noChangeArrowheads="1" noTextEdit="1"/>
          </p:cNvSpPr>
          <p:nvPr>
            <p:ph type="sldImg"/>
          </p:nvPr>
        </p:nvSpPr>
        <p:spPr>
          <a:ln/>
        </p:spPr>
      </p:sp>
      <p:sp>
        <p:nvSpPr>
          <p:cNvPr id="33795" name="备注占位符 2">
            <a:extLst>
              <a:ext uri="{FF2B5EF4-FFF2-40B4-BE49-F238E27FC236}">
                <a16:creationId xmlns:a16="http://schemas.microsoft.com/office/drawing/2014/main" id="{2D7BB50B-34EC-4D08-8DB8-6CDC27D522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6" name="灯片编号占位符 3">
            <a:extLst>
              <a:ext uri="{FF2B5EF4-FFF2-40B4-BE49-F238E27FC236}">
                <a16:creationId xmlns:a16="http://schemas.microsoft.com/office/drawing/2014/main" id="{F9F55E8F-1DAD-4379-9079-0BA44DED4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99EA2D4-C098-41E5-9A62-C3C420FCDFEC}" type="slidenum">
              <a:rPr lang="en-US" altLang="zh-CN" smtClean="0">
                <a:latin typeface="Times New Roman" panose="02020603050405020304" pitchFamily="18" charset="0"/>
              </a:rPr>
              <a:pPr/>
              <a:t>20</a:t>
            </a:fld>
            <a:endParaRPr lang="en-US" altLang="zh-CN">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74DE0698-7DA7-495E-9923-B7E5C7C944D6}"/>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A436D7F8-9A95-47D8-89B4-B902184E19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8" name="灯片编号占位符 3">
            <a:extLst>
              <a:ext uri="{FF2B5EF4-FFF2-40B4-BE49-F238E27FC236}">
                <a16:creationId xmlns:a16="http://schemas.microsoft.com/office/drawing/2014/main" id="{19F98810-8EEE-4654-943A-4E9FA06FF5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3B3ACE-50CD-42F8-AC36-E996C4F32A83}" type="slidenum">
              <a:rPr lang="en-US" altLang="zh-CN" smtClean="0">
                <a:latin typeface="Times New Roman" panose="02020603050405020304" pitchFamily="18" charset="0"/>
              </a:rPr>
              <a:pPr/>
              <a:t>22</a:t>
            </a:fld>
            <a:endParaRPr lang="en-US" altLang="zh-CN">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7C6E9C69-40ED-4372-9689-B60E51B1EF88}"/>
              </a:ext>
            </a:extLst>
          </p:cNvPr>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CFC426C1-9B42-44FE-B5DD-B9E201754F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灯片编号占位符 3">
            <a:extLst>
              <a:ext uri="{FF2B5EF4-FFF2-40B4-BE49-F238E27FC236}">
                <a16:creationId xmlns:a16="http://schemas.microsoft.com/office/drawing/2014/main" id="{C1C25377-9834-4E71-97F2-1C7F573A74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781ADE3-95A1-4FA3-A91B-F17A73028B8B}"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AED5109A-7485-4323-96F7-581583B22188}"/>
              </a:ext>
            </a:extLst>
          </p:cNvPr>
          <p:cNvSpPr>
            <a:spLocks noGrp="1" noRot="1" noChangeAspect="1" noChangeArrowheads="1" noTextEdit="1"/>
          </p:cNvSpPr>
          <p:nvPr>
            <p:ph type="sldImg"/>
          </p:nvPr>
        </p:nvSpPr>
        <p:spPr>
          <a:ln/>
        </p:spPr>
      </p:sp>
      <p:sp>
        <p:nvSpPr>
          <p:cNvPr id="46083" name="备注占位符 2">
            <a:extLst>
              <a:ext uri="{FF2B5EF4-FFF2-40B4-BE49-F238E27FC236}">
                <a16:creationId xmlns:a16="http://schemas.microsoft.com/office/drawing/2014/main" id="{F58F4D23-2746-4C6F-B0CC-2BE0A15EE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4" name="灯片编号占位符 3">
            <a:extLst>
              <a:ext uri="{FF2B5EF4-FFF2-40B4-BE49-F238E27FC236}">
                <a16:creationId xmlns:a16="http://schemas.microsoft.com/office/drawing/2014/main" id="{CFD83D6E-C6A6-40A0-B738-6C78E47F8F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EA5415-92D8-4FBA-A674-681AF0E96BE4}" type="slidenum">
              <a:rPr lang="en-US" altLang="zh-CN" smtClean="0">
                <a:latin typeface="Times New Roman" panose="02020603050405020304" pitchFamily="18" charset="0"/>
              </a:rPr>
              <a:pPr/>
              <a:t>29</a:t>
            </a:fld>
            <a:endParaRPr lang="en-US" altLang="zh-CN">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D121E7A0-CA4E-4B3E-BBE2-10D917FA48B2}"/>
              </a:ext>
            </a:extLst>
          </p:cNvPr>
          <p:cNvSpPr>
            <a:spLocks noGrp="1" noRot="1" noChangeAspect="1" noChangeArrowheads="1" noTextEdit="1"/>
          </p:cNvSpPr>
          <p:nvPr>
            <p:ph type="sldImg"/>
          </p:nvPr>
        </p:nvSpPr>
        <p:spPr>
          <a:ln/>
        </p:spPr>
      </p:sp>
      <p:sp>
        <p:nvSpPr>
          <p:cNvPr id="48131" name="备注占位符 2">
            <a:extLst>
              <a:ext uri="{FF2B5EF4-FFF2-40B4-BE49-F238E27FC236}">
                <a16:creationId xmlns:a16="http://schemas.microsoft.com/office/drawing/2014/main" id="{EF7FF7E8-9341-4F24-8F51-E3F6ABB3D9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S</a:t>
            </a:r>
            <a:r>
              <a:rPr lang="zh-CN" altLang="en-US"/>
              <a:t>的维数与</a:t>
            </a:r>
            <a:r>
              <a:rPr lang="en-US" altLang="zh-CN"/>
              <a:t>A</a:t>
            </a:r>
            <a:r>
              <a:rPr lang="zh-CN" altLang="en-US"/>
              <a:t>同维，</a:t>
            </a:r>
            <a:r>
              <a:rPr lang="en-US" altLang="zh-CN"/>
              <a:t>m*n.  </a:t>
            </a:r>
            <a:r>
              <a:rPr lang="zh-CN" altLang="en-US"/>
              <a:t>对角线上的元素为</a:t>
            </a:r>
            <a:r>
              <a:rPr lang="en-US" altLang="zh-CN"/>
              <a:t>v1,v2,…,vp</a:t>
            </a:r>
            <a:r>
              <a:rPr lang="zh-CN" altLang="en-US"/>
              <a:t>，</a:t>
            </a:r>
            <a:r>
              <a:rPr lang="en-US" altLang="zh-CN"/>
              <a:t>p=min(m,n).</a:t>
            </a:r>
          </a:p>
          <a:p>
            <a:r>
              <a:rPr lang="zh-CN" altLang="en-US"/>
              <a:t>例如：</a:t>
            </a:r>
            <a:endParaRPr lang="en-US" altLang="zh-CN"/>
          </a:p>
          <a:p>
            <a:r>
              <a:rPr lang="en-US" altLang="zh-CN"/>
              <a:t>aa = 1     2     3</a:t>
            </a:r>
          </a:p>
          <a:p>
            <a:r>
              <a:rPr lang="en-US" altLang="zh-CN"/>
              <a:t>     4     5     6</a:t>
            </a:r>
          </a:p>
          <a:p>
            <a:r>
              <a:rPr lang="en-US" altLang="zh-CN"/>
              <a:t>&gt;&gt; [u,s,v]=svd(aa)</a:t>
            </a:r>
          </a:p>
          <a:p>
            <a:r>
              <a:rPr lang="en-US" altLang="zh-CN"/>
              <a:t>s =    9.5080         0         0</a:t>
            </a:r>
          </a:p>
          <a:p>
            <a:r>
              <a:rPr lang="en-US" altLang="zh-CN"/>
              <a:t>         0    0.7729         0</a:t>
            </a:r>
          </a:p>
          <a:p>
            <a:r>
              <a:rPr lang="en-US" altLang="zh-CN"/>
              <a:t>&gt;&gt; [u,s,v]=svd(aa')</a:t>
            </a:r>
          </a:p>
          <a:p>
            <a:r>
              <a:rPr lang="en-US" altLang="zh-CN"/>
              <a:t>s =     9.5080         0</a:t>
            </a:r>
          </a:p>
          <a:p>
            <a:r>
              <a:rPr lang="en-US" altLang="zh-CN"/>
              <a:t>         0    0.7729</a:t>
            </a:r>
          </a:p>
          <a:p>
            <a:r>
              <a:rPr lang="en-US" altLang="zh-CN"/>
              <a:t>         0         0</a:t>
            </a:r>
          </a:p>
        </p:txBody>
      </p:sp>
      <p:sp>
        <p:nvSpPr>
          <p:cNvPr id="48132" name="灯片编号占位符 3">
            <a:extLst>
              <a:ext uri="{FF2B5EF4-FFF2-40B4-BE49-F238E27FC236}">
                <a16:creationId xmlns:a16="http://schemas.microsoft.com/office/drawing/2014/main" id="{31044EA8-FCBA-4DDF-B87B-4318DC5F7E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7742FC6-4326-4DDB-AC4B-FFBFB29F746D}" type="slidenum">
              <a:rPr lang="en-US" altLang="zh-CN" smtClean="0">
                <a:latin typeface="Times New Roman" panose="02020603050405020304" pitchFamily="18" charset="0"/>
              </a:rPr>
              <a:pPr/>
              <a:t>30</a:t>
            </a:fld>
            <a:endParaRPr lang="en-US" altLang="zh-CN">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1871BF60-6381-4C16-B76E-D29D449EF5EB}"/>
              </a:ext>
            </a:extLst>
          </p:cNvPr>
          <p:cNvSpPr>
            <a:spLocks noGrp="1" noRot="1" noChangeAspect="1" noChangeArrowheads="1" noTextEdit="1"/>
          </p:cNvSpPr>
          <p:nvPr>
            <p:ph type="sldImg"/>
          </p:nvPr>
        </p:nvSpPr>
        <p:spPr>
          <a:ln/>
        </p:spPr>
      </p:sp>
      <p:sp>
        <p:nvSpPr>
          <p:cNvPr id="51203" name="备注占位符 2">
            <a:extLst>
              <a:ext uri="{FF2B5EF4-FFF2-40B4-BE49-F238E27FC236}">
                <a16:creationId xmlns:a16="http://schemas.microsoft.com/office/drawing/2014/main" id="{8F8469FD-4771-49AF-9680-6912747465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a:extLst>
              <a:ext uri="{FF2B5EF4-FFF2-40B4-BE49-F238E27FC236}">
                <a16:creationId xmlns:a16="http://schemas.microsoft.com/office/drawing/2014/main" id="{B58194A5-4F0C-4C1D-AC30-882FDAF614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400626-D451-48F3-846C-42C1EA815C3D}" type="slidenum">
              <a:rPr lang="en-US" altLang="zh-CN" smtClean="0">
                <a:latin typeface="Times New Roman" panose="02020603050405020304" pitchFamily="18" charset="0"/>
              </a:rPr>
              <a:pPr/>
              <a:t>32</a:t>
            </a:fld>
            <a:endParaRPr lang="en-US" altLang="zh-CN">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55610A05-1ED8-47BD-ADF4-3453ABF7C035}"/>
              </a:ext>
            </a:extLst>
          </p:cNvPr>
          <p:cNvSpPr>
            <a:spLocks noGrp="1" noRot="1" noChangeAspect="1" noChangeArrowheads="1" noTextEdit="1"/>
          </p:cNvSpPr>
          <p:nvPr>
            <p:ph type="sldImg"/>
          </p:nvPr>
        </p:nvSpPr>
        <p:spPr>
          <a:ln/>
        </p:spPr>
      </p:sp>
      <p:sp>
        <p:nvSpPr>
          <p:cNvPr id="53251" name="备注占位符 2">
            <a:extLst>
              <a:ext uri="{FF2B5EF4-FFF2-40B4-BE49-F238E27FC236}">
                <a16:creationId xmlns:a16="http://schemas.microsoft.com/office/drawing/2014/main" id="{DFA5EFB0-9177-4C49-93F0-E3F8CD23EB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置换矩阵是一个方形二进制矩阵，它在每行和每列中只有一个</a:t>
            </a:r>
            <a:r>
              <a:rPr lang="en-US" altLang="zh-CN" dirty="0"/>
              <a:t>1</a:t>
            </a:r>
            <a:r>
              <a:rPr lang="zh-CN" altLang="en-US" dirty="0"/>
              <a:t>，而在其他地方则为</a:t>
            </a:r>
            <a:r>
              <a:rPr lang="en-US" altLang="zh-CN" dirty="0"/>
              <a:t>0</a:t>
            </a:r>
            <a:r>
              <a:rPr lang="zh-CN" altLang="en-US" dirty="0"/>
              <a:t>。</a:t>
            </a:r>
          </a:p>
          <a:p>
            <a:r>
              <a:rPr lang="zh-CN" altLang="en-US" dirty="0"/>
              <a:t>设</a:t>
            </a:r>
            <a:r>
              <a:rPr lang="en-US" altLang="zh-CN" dirty="0"/>
              <a:t>P </a:t>
            </a:r>
            <a:r>
              <a:rPr lang="zh-CN" altLang="en-US" dirty="0"/>
              <a:t>是一个 </a:t>
            </a:r>
            <a:r>
              <a:rPr lang="en-US" altLang="zh-CN" dirty="0" err="1"/>
              <a:t>m×n</a:t>
            </a:r>
            <a:r>
              <a:rPr lang="en-US" altLang="zh-CN" dirty="0"/>
              <a:t> </a:t>
            </a:r>
            <a:r>
              <a:rPr lang="zh-CN" altLang="en-US" dirty="0"/>
              <a:t>的 </a:t>
            </a:r>
            <a:r>
              <a:rPr lang="en-US" altLang="zh-CN" dirty="0"/>
              <a:t>(0,1) </a:t>
            </a:r>
            <a:r>
              <a:rPr lang="zh-CN" altLang="en-US" dirty="0"/>
              <a:t>矩阵，如果 </a:t>
            </a:r>
            <a:r>
              <a:rPr lang="en-US" altLang="zh-CN" dirty="0" err="1"/>
              <a:t>m≤n</a:t>
            </a:r>
            <a:r>
              <a:rPr lang="zh-CN" altLang="en-US" dirty="0"/>
              <a:t>且 </a:t>
            </a:r>
            <a:r>
              <a:rPr lang="en-US" altLang="zh-CN" dirty="0"/>
              <a:t>PP′=E</a:t>
            </a:r>
            <a:r>
              <a:rPr lang="zh-CN" altLang="en-US" dirty="0"/>
              <a:t>，则称 </a:t>
            </a:r>
            <a:r>
              <a:rPr lang="en-US" altLang="zh-CN" dirty="0"/>
              <a:t>P</a:t>
            </a:r>
            <a:r>
              <a:rPr lang="zh-CN" altLang="en-US" dirty="0"/>
              <a:t>为一个 </a:t>
            </a:r>
            <a:r>
              <a:rPr lang="en-US" altLang="zh-CN" dirty="0" err="1"/>
              <a:t>m×n</a:t>
            </a:r>
            <a:r>
              <a:rPr lang="zh-CN" altLang="en-US" dirty="0"/>
              <a:t>的置换矩阵。其中</a:t>
            </a:r>
            <a:r>
              <a:rPr lang="en-US" altLang="zh-CN" dirty="0"/>
              <a:t>P′</a:t>
            </a:r>
            <a:r>
              <a:rPr lang="zh-CN" altLang="en-US" dirty="0"/>
              <a:t>是</a:t>
            </a:r>
            <a:r>
              <a:rPr lang="en-US" altLang="zh-CN" dirty="0"/>
              <a:t>P</a:t>
            </a:r>
            <a:r>
              <a:rPr lang="zh-CN" altLang="en-US" dirty="0"/>
              <a:t>的转置矩阵，</a:t>
            </a:r>
            <a:r>
              <a:rPr lang="en-US" altLang="zh-CN" dirty="0"/>
              <a:t>E</a:t>
            </a:r>
            <a:r>
              <a:rPr lang="zh-CN" altLang="en-US" dirty="0"/>
              <a:t>是</a:t>
            </a:r>
            <a:r>
              <a:rPr lang="en-US" altLang="zh-CN" dirty="0"/>
              <a:t>m</a:t>
            </a:r>
            <a:r>
              <a:rPr lang="zh-CN" altLang="en-US" dirty="0"/>
              <a:t>阶单位方阵。</a:t>
            </a:r>
          </a:p>
        </p:txBody>
      </p:sp>
      <p:sp>
        <p:nvSpPr>
          <p:cNvPr id="53252" name="灯片编号占位符 3">
            <a:extLst>
              <a:ext uri="{FF2B5EF4-FFF2-40B4-BE49-F238E27FC236}">
                <a16:creationId xmlns:a16="http://schemas.microsoft.com/office/drawing/2014/main" id="{A669CC2F-D188-4FF5-A485-C1A0B17AA4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8AD6CF2-10B3-4E99-A11D-393C0E6F604B}"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3047223E-CB1A-4DE4-B251-89508CB96E3A}"/>
              </a:ext>
            </a:extLst>
          </p:cNvPr>
          <p:cNvSpPr>
            <a:spLocks noGrp="1" noRot="1" noChangeAspect="1" noChangeArrowheads="1" noTextEdit="1"/>
          </p:cNvSpPr>
          <p:nvPr>
            <p:ph type="sldImg"/>
          </p:nvPr>
        </p:nvSpPr>
        <p:spPr>
          <a:ln/>
        </p:spPr>
      </p:sp>
      <p:sp>
        <p:nvSpPr>
          <p:cNvPr id="55299" name="备注占位符 2">
            <a:extLst>
              <a:ext uri="{FF2B5EF4-FFF2-40B4-BE49-F238E27FC236}">
                <a16:creationId xmlns:a16="http://schemas.microsoft.com/office/drawing/2014/main" id="{DAF5C508-FEFE-4955-B24C-88E7A3AD24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p*a=l1*u1</a:t>
            </a:r>
            <a:endParaRPr lang="en-US" altLang="zh-CN"/>
          </a:p>
          <a:p>
            <a:r>
              <a:rPr lang="en-US" altLang="zh-CN"/>
              <a:t>A=inv(p)*l1*u1</a:t>
            </a:r>
            <a:endParaRPr kumimoji="1" lang="en-US" altLang="zh-CN" sz="1100"/>
          </a:p>
        </p:txBody>
      </p:sp>
      <p:sp>
        <p:nvSpPr>
          <p:cNvPr id="55300" name="灯片编号占位符 3">
            <a:extLst>
              <a:ext uri="{FF2B5EF4-FFF2-40B4-BE49-F238E27FC236}">
                <a16:creationId xmlns:a16="http://schemas.microsoft.com/office/drawing/2014/main" id="{5DBDF3A3-5215-48A1-A2E4-E5862F1611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3DCAB2C-602B-405C-9F7D-94A5961DCD3A}"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35C7FB5-1F62-482F-AF54-C3F8D2B41B34}" type="slidenum">
              <a:rPr lang="en-US" altLang="zh-CN" smtClean="0"/>
              <a:pPr>
                <a:defRPr/>
              </a:pPr>
              <a:t>39</a:t>
            </a:fld>
            <a:endParaRPr lang="en-US" altLang="zh-CN"/>
          </a:p>
        </p:txBody>
      </p:sp>
    </p:spTree>
    <p:extLst>
      <p:ext uri="{BB962C8B-B14F-4D97-AF65-F5344CB8AC3E}">
        <p14:creationId xmlns:p14="http://schemas.microsoft.com/office/powerpoint/2010/main" val="3054745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99439EC0-8B45-4125-8A9B-EB334DBAAF53}"/>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1AC53B80-C6BB-445E-A6A8-1F50778F81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a:extLst>
              <a:ext uri="{FF2B5EF4-FFF2-40B4-BE49-F238E27FC236}">
                <a16:creationId xmlns:a16="http://schemas.microsoft.com/office/drawing/2014/main" id="{133692C8-A4E9-4055-AC76-A7D177398A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8C5B3DE-2936-4E92-86A0-A68376EFA988}"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053C001A-7313-42AA-8772-2CA949084A4E}"/>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ED9D35F2-9C22-4023-ABAD-65592B1CCB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set(gca,'xtick',[pi 2*pi 3*pi 4*pi 5*pi 6*pi 7*pi 8*pi 9*pi])</a:t>
            </a:r>
          </a:p>
          <a:p>
            <a:endParaRPr lang="zh-CN" altLang="en-US"/>
          </a:p>
        </p:txBody>
      </p:sp>
      <p:sp>
        <p:nvSpPr>
          <p:cNvPr id="65540" name="灯片编号占位符 3">
            <a:extLst>
              <a:ext uri="{FF2B5EF4-FFF2-40B4-BE49-F238E27FC236}">
                <a16:creationId xmlns:a16="http://schemas.microsoft.com/office/drawing/2014/main" id="{29E9CF13-60FD-46FC-A959-EE33F8576B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33D0C35-6C6C-4104-A84C-5357A961C08D}"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DBC8598C-33F8-4F2F-8C6A-45A02A6AA7AC}"/>
              </a:ext>
            </a:extLst>
          </p:cNvPr>
          <p:cNvSpPr>
            <a:spLocks noGrp="1" noRot="1" noChangeAspect="1" noChangeArrowheads="1" noTextEdit="1"/>
          </p:cNvSpPr>
          <p:nvPr>
            <p:ph type="sldImg"/>
          </p:nvPr>
        </p:nvSpPr>
        <p:spPr>
          <a:ln/>
        </p:spPr>
      </p:sp>
      <p:sp>
        <p:nvSpPr>
          <p:cNvPr id="67587" name="备注占位符 2">
            <a:extLst>
              <a:ext uri="{FF2B5EF4-FFF2-40B4-BE49-F238E27FC236}">
                <a16:creationId xmlns:a16="http://schemas.microsoft.com/office/drawing/2014/main" id="{C9F2E7FC-0A0E-4B8C-B11F-59D0B7A9D2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8" name="灯片编号占位符 3">
            <a:extLst>
              <a:ext uri="{FF2B5EF4-FFF2-40B4-BE49-F238E27FC236}">
                <a16:creationId xmlns:a16="http://schemas.microsoft.com/office/drawing/2014/main" id="{79E74427-6385-45EB-BC2E-7E8FAA9DBF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E92EBE0-8D87-4329-87DC-D34E26E85AFE}" type="slidenum">
              <a:rPr lang="en-US" altLang="zh-CN" smtClean="0">
                <a:latin typeface="Times New Roman" panose="02020603050405020304" pitchFamily="18" charset="0"/>
              </a:rPr>
              <a:pPr/>
              <a:t>43</a:t>
            </a:fld>
            <a:endParaRPr lang="en-US" altLang="zh-CN">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E3F174C-370E-4D59-9118-6C2E277928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EC1DACE-D0DF-472D-A692-B0A076E23D60}" type="slidenum">
              <a:rPr lang="en-US" altLang="zh-CN" smtClean="0"/>
              <a:pPr>
                <a:spcBef>
                  <a:spcPct val="0"/>
                </a:spcBef>
              </a:pPr>
              <a:t>45</a:t>
            </a:fld>
            <a:endParaRPr lang="en-US" altLang="zh-CN"/>
          </a:p>
        </p:txBody>
      </p:sp>
      <p:sp>
        <p:nvSpPr>
          <p:cNvPr id="70659" name="Rectangle 2">
            <a:extLst>
              <a:ext uri="{FF2B5EF4-FFF2-40B4-BE49-F238E27FC236}">
                <a16:creationId xmlns:a16="http://schemas.microsoft.com/office/drawing/2014/main" id="{FD3BCC81-453C-4447-8860-9006ECFDEC30}"/>
              </a:ext>
            </a:extLst>
          </p:cNvPr>
          <p:cNvSpPr>
            <a:spLocks noGrp="1" noRot="1" noChangeAspect="1" noChangeArrowheads="1" noTextEdit="1"/>
          </p:cNvSpPr>
          <p:nvPr>
            <p:ph type="sldImg"/>
          </p:nvPr>
        </p:nvSpPr>
        <p:spPr>
          <a:solidFill>
            <a:srgbClr val="FFFFFF"/>
          </a:solidFill>
          <a:ln/>
        </p:spPr>
      </p:sp>
      <p:sp>
        <p:nvSpPr>
          <p:cNvPr id="70660" name="Rectangle 3">
            <a:extLst>
              <a:ext uri="{FF2B5EF4-FFF2-40B4-BE49-F238E27FC236}">
                <a16:creationId xmlns:a16="http://schemas.microsoft.com/office/drawing/2014/main" id="{103A2B20-5C51-4202-8ADF-B3048026A81F}"/>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dirty="0" err="1"/>
              <a:t>Mnk</a:t>
            </a:r>
            <a:r>
              <a:rPr lang="zh-CN" altLang="en-US" dirty="0"/>
              <a:t>必须为</a:t>
            </a:r>
            <a:r>
              <a:rPr lang="en-US" altLang="zh-CN" dirty="0"/>
              <a:t>3</a:t>
            </a:r>
            <a:r>
              <a:rPr lang="zh-CN" altLang="en-US" dirty="0"/>
              <a:t>个数字</a:t>
            </a:r>
            <a:endParaRPr lang="en-US" altLang="zh-CN" dirty="0"/>
          </a:p>
          <a:p>
            <a:pPr eaLnBrk="1" hangingPunct="1"/>
            <a:endParaRPr lang="en-US" altLang="zh-CN" dirty="0"/>
          </a:p>
          <a:p>
            <a:pPr eaLnBrk="1" hangingPunct="1"/>
            <a:r>
              <a:rPr kumimoji="1" lang="en-US" altLang="zh-CN" dirty="0"/>
              <a:t>bar</a:t>
            </a:r>
            <a:r>
              <a:rPr kumimoji="1" lang="zh-CN" altLang="en-US" dirty="0"/>
              <a:t>（</a:t>
            </a:r>
            <a:r>
              <a:rPr kumimoji="1" lang="en-US" altLang="zh-CN" dirty="0" err="1"/>
              <a:t>x,y</a:t>
            </a:r>
            <a:r>
              <a:rPr kumimoji="1" lang="zh-CN" altLang="en-US" dirty="0"/>
              <a:t>）；绘制每个输入</a:t>
            </a:r>
            <a:r>
              <a:rPr kumimoji="1" lang="en-US" altLang="zh-CN" dirty="0"/>
              <a:t>x</a:t>
            </a:r>
            <a:r>
              <a:rPr kumimoji="1" lang="zh-CN" altLang="en-US" dirty="0"/>
              <a:t>的输出</a:t>
            </a:r>
            <a:r>
              <a:rPr kumimoji="1" lang="en-US" altLang="zh-CN" dirty="0"/>
              <a:t>Y</a:t>
            </a:r>
            <a:r>
              <a:rPr kumimoji="1" lang="zh-CN" altLang="en-US" dirty="0"/>
              <a:t>高度条形图</a:t>
            </a:r>
            <a:endParaRPr kumimoji="1" lang="en-US" altLang="zh-CN" dirty="0"/>
          </a:p>
          <a:p>
            <a:pPr eaLnBrk="1" hangingPunct="1"/>
            <a:r>
              <a:rPr kumimoji="1" lang="en-US" altLang="zh-CN" dirty="0"/>
              <a:t>hist</a:t>
            </a:r>
            <a:r>
              <a:rPr kumimoji="1" lang="zh-CN" altLang="en-US" dirty="0"/>
              <a:t>（</a:t>
            </a:r>
            <a:r>
              <a:rPr kumimoji="1" lang="en-US" altLang="zh-CN" dirty="0" err="1"/>
              <a:t>x,y</a:t>
            </a:r>
            <a:r>
              <a:rPr kumimoji="1" lang="zh-CN" altLang="en-US" dirty="0"/>
              <a:t>）；</a:t>
            </a:r>
            <a:r>
              <a:rPr kumimoji="1" lang="en-US" altLang="zh-CN" dirty="0"/>
              <a:t>x</a:t>
            </a:r>
            <a:r>
              <a:rPr kumimoji="1" lang="zh-CN" altLang="en-US" dirty="0"/>
              <a:t>在以</a:t>
            </a:r>
            <a:r>
              <a:rPr kumimoji="1" lang="en-US" altLang="zh-CN" dirty="0"/>
              <a:t>Y</a:t>
            </a:r>
            <a:r>
              <a:rPr kumimoji="1" lang="zh-CN" altLang="en-US" dirty="0"/>
              <a:t>为中心的区间中分布的个数 条形图</a:t>
            </a:r>
            <a:endParaRPr kumimoji="1" lang="en-US" altLang="zh-CN" dirty="0"/>
          </a:p>
          <a:p>
            <a:pPr eaLnBrk="1" hangingPunct="1"/>
            <a:r>
              <a:rPr kumimoji="1" lang="en-US" altLang="zh-CN" dirty="0"/>
              <a:t>stairs</a:t>
            </a:r>
            <a:r>
              <a:rPr kumimoji="1" lang="zh-CN" altLang="en-US" dirty="0"/>
              <a:t>（</a:t>
            </a:r>
            <a:r>
              <a:rPr kumimoji="1" lang="en-US" altLang="zh-CN" dirty="0" err="1"/>
              <a:t>x,y</a:t>
            </a:r>
            <a:r>
              <a:rPr kumimoji="1" lang="zh-CN" altLang="en-US" dirty="0"/>
              <a:t>）；</a:t>
            </a:r>
            <a:r>
              <a:rPr kumimoji="1" lang="en-US" altLang="zh-CN" dirty="0"/>
              <a:t>y</a:t>
            </a:r>
            <a:r>
              <a:rPr kumimoji="1" lang="zh-CN" altLang="en-US" dirty="0"/>
              <a:t>对应于</a:t>
            </a:r>
            <a:r>
              <a:rPr kumimoji="1" lang="en-US" altLang="zh-CN" dirty="0"/>
              <a:t>x</a:t>
            </a:r>
            <a:r>
              <a:rPr kumimoji="1" lang="zh-CN" altLang="en-US" dirty="0"/>
              <a:t>的梯形图</a:t>
            </a:r>
            <a:endParaRPr kumimoji="1" lang="en-US" altLang="zh-CN" dirty="0"/>
          </a:p>
          <a:p>
            <a:pPr eaLnBrk="1" hangingPunct="1"/>
            <a:r>
              <a:rPr kumimoji="1" lang="en-US" altLang="zh-CN" dirty="0"/>
              <a:t>Stem(</a:t>
            </a:r>
            <a:r>
              <a:rPr kumimoji="1" lang="en-US" altLang="zh-CN" dirty="0" err="1"/>
              <a:t>x,y</a:t>
            </a:r>
            <a:r>
              <a:rPr kumimoji="1" lang="en-US" altLang="zh-CN" dirty="0"/>
              <a:t>); y</a:t>
            </a:r>
            <a:r>
              <a:rPr kumimoji="1" lang="zh-CN" altLang="en-US" dirty="0"/>
              <a:t>对应于</a:t>
            </a:r>
            <a:r>
              <a:rPr kumimoji="1" lang="en-US" altLang="zh-CN" dirty="0"/>
              <a:t>x</a:t>
            </a:r>
            <a:r>
              <a:rPr kumimoji="1" lang="zh-CN" altLang="en-US" dirty="0"/>
              <a:t>的散点图</a:t>
            </a:r>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A46E3F99-C78C-4074-96CC-60100EA98D27}"/>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26DADD54-7014-4994-ABBC-00EA601DD2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32" name="灯片编号占位符 3">
            <a:extLst>
              <a:ext uri="{FF2B5EF4-FFF2-40B4-BE49-F238E27FC236}">
                <a16:creationId xmlns:a16="http://schemas.microsoft.com/office/drawing/2014/main" id="{FF243E5A-12DB-4E02-8775-F2DF9B1AB1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F754D3A-9EB6-4AA4-835D-D313FC098736}" type="slidenum">
              <a:rPr lang="en-US" altLang="zh-CN" smtClean="0">
                <a:latin typeface="Times New Roman" panose="02020603050405020304" pitchFamily="18" charset="0"/>
              </a:rPr>
              <a:pPr/>
              <a:t>47</a:t>
            </a:fld>
            <a:endParaRPr lang="en-US" altLang="zh-CN">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73E36CF6-798A-4063-A89F-8AEED51E7DA1}"/>
              </a:ext>
            </a:extLst>
          </p:cNvPr>
          <p:cNvSpPr>
            <a:spLocks noGrp="1" noRot="1" noChangeAspect="1" noChangeArrowheads="1" noTextEdit="1"/>
          </p:cNvSpPr>
          <p:nvPr>
            <p:ph type="sldImg"/>
          </p:nvPr>
        </p:nvSpPr>
        <p:spPr>
          <a:ln/>
        </p:spPr>
      </p:sp>
      <p:sp>
        <p:nvSpPr>
          <p:cNvPr id="79875" name="备注占位符 2">
            <a:extLst>
              <a:ext uri="{FF2B5EF4-FFF2-40B4-BE49-F238E27FC236}">
                <a16:creationId xmlns:a16="http://schemas.microsoft.com/office/drawing/2014/main" id="{27E22512-3089-4644-87DA-A3C685362A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6" name="灯片编号占位符 3">
            <a:extLst>
              <a:ext uri="{FF2B5EF4-FFF2-40B4-BE49-F238E27FC236}">
                <a16:creationId xmlns:a16="http://schemas.microsoft.com/office/drawing/2014/main" id="{4AE737EF-61AA-479A-B188-63FE5BE32E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CD4E771-719A-475A-A3CF-74C7B4065C8C}" type="slidenum">
              <a:rPr lang="en-US" altLang="zh-CN" smtClean="0">
                <a:latin typeface="Times New Roman" panose="02020603050405020304" pitchFamily="18" charset="0"/>
              </a:rPr>
              <a:pPr/>
              <a:t>52</a:t>
            </a:fld>
            <a:endParaRPr lang="en-US" altLang="zh-CN">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8F7B91D1-F266-461C-A59E-EBAF7F99073E}"/>
              </a:ext>
            </a:extLst>
          </p:cNvPr>
          <p:cNvSpPr>
            <a:spLocks noGrp="1" noRot="1" noChangeAspect="1" noChangeArrowheads="1" noTextEdit="1"/>
          </p:cNvSpPr>
          <p:nvPr>
            <p:ph type="sldImg"/>
          </p:nvPr>
        </p:nvSpPr>
        <p:spPr>
          <a:ln/>
        </p:spPr>
      </p:sp>
      <p:sp>
        <p:nvSpPr>
          <p:cNvPr id="82947" name="备注占位符 2">
            <a:extLst>
              <a:ext uri="{FF2B5EF4-FFF2-40B4-BE49-F238E27FC236}">
                <a16:creationId xmlns:a16="http://schemas.microsoft.com/office/drawing/2014/main" id="{62178F30-4486-4077-B62A-27DEE42BB0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a:extLst>
              <a:ext uri="{FF2B5EF4-FFF2-40B4-BE49-F238E27FC236}">
                <a16:creationId xmlns:a16="http://schemas.microsoft.com/office/drawing/2014/main" id="{9BEFEDFB-D4F8-4652-BF28-0D989B9D50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927CF80-E02D-487A-B8FC-09A87C3D25E3}" type="slidenum">
              <a:rPr lang="en-US" altLang="zh-CN" smtClean="0">
                <a:latin typeface="Times New Roman" panose="02020603050405020304" pitchFamily="18" charset="0"/>
              </a:rPr>
              <a:pPr/>
              <a:t>54</a:t>
            </a:fld>
            <a:endParaRPr lang="en-US" altLang="zh-CN">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50C1A57F-C91A-4481-B9CA-965C66B278F4}"/>
              </a:ext>
            </a:extLst>
          </p:cNvPr>
          <p:cNvSpPr>
            <a:spLocks noGrp="1" noRot="1" noChangeAspect="1" noChangeArrowheads="1" noTextEdit="1"/>
          </p:cNvSpPr>
          <p:nvPr>
            <p:ph type="sldImg"/>
          </p:nvPr>
        </p:nvSpPr>
        <p:spPr>
          <a:ln/>
        </p:spPr>
      </p:sp>
      <p:sp>
        <p:nvSpPr>
          <p:cNvPr id="84995" name="备注占位符 2">
            <a:extLst>
              <a:ext uri="{FF2B5EF4-FFF2-40B4-BE49-F238E27FC236}">
                <a16:creationId xmlns:a16="http://schemas.microsoft.com/office/drawing/2014/main" id="{7CFE54B8-06D1-4AA0-B8B9-A9A1E12258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4-5&gt;1-2&amp;1+2&lt;4+5</a:t>
            </a:r>
          </a:p>
          <a:p>
            <a:endParaRPr lang="en-US" altLang="zh-CN"/>
          </a:p>
          <a:p>
            <a:r>
              <a:rPr lang="en-US" altLang="zh-CN"/>
              <a:t>ans =</a:t>
            </a:r>
          </a:p>
          <a:p>
            <a:endParaRPr lang="en-US" altLang="zh-CN"/>
          </a:p>
          <a:p>
            <a:r>
              <a:rPr lang="en-US" altLang="zh-CN"/>
              <a:t>     0</a:t>
            </a:r>
            <a:endParaRPr lang="zh-CN" altLang="en-US"/>
          </a:p>
        </p:txBody>
      </p:sp>
      <p:sp>
        <p:nvSpPr>
          <p:cNvPr id="84996" name="灯片编号占位符 3">
            <a:extLst>
              <a:ext uri="{FF2B5EF4-FFF2-40B4-BE49-F238E27FC236}">
                <a16:creationId xmlns:a16="http://schemas.microsoft.com/office/drawing/2014/main" id="{E684D59F-9537-4B67-8579-4B01ACF46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FC8A9C-F45E-4C12-B0CE-C511A171FF46}" type="slidenum">
              <a:rPr lang="en-US" altLang="zh-CN" smtClean="0">
                <a:latin typeface="Times New Roman" panose="02020603050405020304" pitchFamily="18" charset="0"/>
              </a:rPr>
              <a:pPr/>
              <a:t>55</a:t>
            </a:fld>
            <a:endParaRPr lang="en-US" altLang="zh-CN">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D87C14F1-1BE3-463D-927B-940B436EAFB9}"/>
              </a:ext>
            </a:extLst>
          </p:cNvPr>
          <p:cNvSpPr>
            <a:spLocks noGrp="1" noRot="1" noChangeAspect="1" noChangeArrowheads="1" noTextEdit="1"/>
          </p:cNvSpPr>
          <p:nvPr>
            <p:ph type="sldImg"/>
          </p:nvPr>
        </p:nvSpPr>
        <p:spPr>
          <a:ln/>
        </p:spPr>
      </p:sp>
      <p:sp>
        <p:nvSpPr>
          <p:cNvPr id="92163" name="备注占位符 2">
            <a:extLst>
              <a:ext uri="{FF2B5EF4-FFF2-40B4-BE49-F238E27FC236}">
                <a16:creationId xmlns:a16="http://schemas.microsoft.com/office/drawing/2014/main" id="{E8B4721A-51E1-4104-AAEB-1D44D73C4B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4" name="灯片编号占位符 3">
            <a:extLst>
              <a:ext uri="{FF2B5EF4-FFF2-40B4-BE49-F238E27FC236}">
                <a16:creationId xmlns:a16="http://schemas.microsoft.com/office/drawing/2014/main" id="{C0871AB3-40FA-479C-B89F-875AE716C6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EF3791-DA66-4429-9290-DB00779B0E56}"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C06AE747-7415-4201-9BD9-BA19046D1988}"/>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9C77FF70-6AF6-4E94-A88C-01B41747AA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212" name="灯片编号占位符 3">
            <a:extLst>
              <a:ext uri="{FF2B5EF4-FFF2-40B4-BE49-F238E27FC236}">
                <a16:creationId xmlns:a16="http://schemas.microsoft.com/office/drawing/2014/main" id="{70193DCC-F021-4EA0-A27E-953CFFA0C1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B887EC-A219-4300-958C-408F41E0A980}"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B0A03367-4FB7-4988-95EC-9E642BE33DBE}"/>
              </a:ext>
            </a:extLst>
          </p:cNvPr>
          <p:cNvSpPr>
            <a:spLocks noGrp="1" noRot="1" noChangeAspect="1" noChangeArrowheads="1" noTextEdit="1"/>
          </p:cNvSpPr>
          <p:nvPr>
            <p:ph type="sldImg"/>
          </p:nvPr>
        </p:nvSpPr>
        <p:spPr>
          <a:ln/>
        </p:spPr>
      </p:sp>
      <p:sp>
        <p:nvSpPr>
          <p:cNvPr id="96259" name="备注占位符 2">
            <a:extLst>
              <a:ext uri="{FF2B5EF4-FFF2-40B4-BE49-F238E27FC236}">
                <a16:creationId xmlns:a16="http://schemas.microsoft.com/office/drawing/2014/main" id="{51C107D0-CB97-4A98-BB69-B5C310A46E5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a:extLst>
              <a:ext uri="{FF2B5EF4-FFF2-40B4-BE49-F238E27FC236}">
                <a16:creationId xmlns:a16="http://schemas.microsoft.com/office/drawing/2014/main" id="{162B1A73-A82B-4B8E-A03C-5580A50D13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EEECAA-1E2D-410A-A04B-308AF93739CF}"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19A784D9-155C-4DCA-9451-30F07A7F76B2}"/>
              </a:ext>
            </a:extLst>
          </p:cNvPr>
          <p:cNvSpPr>
            <a:spLocks noChangeArrowheads="1"/>
          </p:cNvSpPr>
          <p:nvPr/>
        </p:nvSpPr>
        <p:spPr bwMode="auto">
          <a:xfrm>
            <a:off x="660400" y="1219200"/>
            <a:ext cx="85852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a:extLst>
              <a:ext uri="{FF2B5EF4-FFF2-40B4-BE49-F238E27FC236}">
                <a16:creationId xmlns:a16="http://schemas.microsoft.com/office/drawing/2014/main" id="{71A8175B-432B-4D43-A8BD-D502D3A9A093}"/>
              </a:ext>
            </a:extLst>
          </p:cNvPr>
          <p:cNvSpPr>
            <a:spLocks noChangeShapeType="1"/>
          </p:cNvSpPr>
          <p:nvPr/>
        </p:nvSpPr>
        <p:spPr bwMode="auto">
          <a:xfrm>
            <a:off x="2146300" y="3962400"/>
            <a:ext cx="705485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914" name="Rectangle 2"/>
          <p:cNvSpPr>
            <a:spLocks noGrp="1" noChangeArrowheads="1"/>
          </p:cNvSpPr>
          <p:nvPr>
            <p:ph type="ctrTitle"/>
          </p:nvPr>
        </p:nvSpPr>
        <p:spPr>
          <a:xfrm>
            <a:off x="990600" y="1524000"/>
            <a:ext cx="8258175" cy="1752600"/>
          </a:xfrm>
        </p:spPr>
        <p:txBody>
          <a:bodyPr/>
          <a:lstStyle>
            <a:lvl1pPr>
              <a:defRPr sz="5000"/>
            </a:lvl1pPr>
          </a:lstStyle>
          <a:p>
            <a:r>
              <a:rPr lang="zh-CN" altLang="en-US"/>
              <a:t>单击此处编辑母版标题样式</a:t>
            </a:r>
          </a:p>
        </p:txBody>
      </p:sp>
      <p:sp>
        <p:nvSpPr>
          <p:cNvPr id="166915" name="Rectangle 3"/>
          <p:cNvSpPr>
            <a:spLocks noGrp="1" noChangeArrowheads="1"/>
          </p:cNvSpPr>
          <p:nvPr>
            <p:ph type="subTitle" idx="1"/>
          </p:nvPr>
        </p:nvSpPr>
        <p:spPr>
          <a:xfrm>
            <a:off x="2146300" y="3962400"/>
            <a:ext cx="7099300" cy="1752600"/>
          </a:xfrm>
        </p:spPr>
        <p:txBody>
          <a:bodyPr/>
          <a:lstStyle>
            <a:lvl1pPr marL="0" indent="0">
              <a:buFont typeface="Wingdings" pitchFamily="2" charset="2"/>
              <a:buNone/>
              <a:defRPr sz="2800"/>
            </a:lvl1pPr>
          </a:lstStyle>
          <a:p>
            <a:r>
              <a:rPr lang="zh-CN" altLang="en-US"/>
              <a:t>单击此处编辑母版副标题样式</a:t>
            </a:r>
          </a:p>
        </p:txBody>
      </p:sp>
      <p:sp>
        <p:nvSpPr>
          <p:cNvPr id="6" name="Rectangle 4">
            <a:extLst>
              <a:ext uri="{FF2B5EF4-FFF2-40B4-BE49-F238E27FC236}">
                <a16:creationId xmlns:a16="http://schemas.microsoft.com/office/drawing/2014/main" id="{4B941F28-E29E-41F9-980B-802519FD94D1}"/>
              </a:ext>
            </a:extLst>
          </p:cNvPr>
          <p:cNvSpPr>
            <a:spLocks noGrp="1" noChangeArrowheads="1"/>
          </p:cNvSpPr>
          <p:nvPr>
            <p:ph type="dt" sz="half" idx="10"/>
          </p:nvPr>
        </p:nvSpPr>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EA856433-436D-4ED9-B832-AE40E3E3FD8D}"/>
              </a:ext>
            </a:extLst>
          </p:cNvPr>
          <p:cNvSpPr>
            <a:spLocks noGrp="1" noChangeArrowheads="1"/>
          </p:cNvSpPr>
          <p:nvPr>
            <p:ph type="ftr" sz="quarter" idx="11"/>
          </p:nvPr>
        </p:nvSpPr>
        <p:spPr>
          <a:xfrm>
            <a:off x="3384550" y="6243638"/>
            <a:ext cx="3136900" cy="457200"/>
          </a:xfrm>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2E4890AB-A7AE-4BA9-9267-6C96B9D25F58}"/>
              </a:ext>
            </a:extLst>
          </p:cNvPr>
          <p:cNvSpPr>
            <a:spLocks noGrp="1" noChangeArrowheads="1"/>
          </p:cNvSpPr>
          <p:nvPr>
            <p:ph type="sldNum" sz="quarter" idx="12"/>
          </p:nvPr>
        </p:nvSpPr>
        <p:spPr/>
        <p:txBody>
          <a:bodyPr/>
          <a:lstStyle>
            <a:lvl1pPr>
              <a:defRPr/>
            </a:lvl1pPr>
          </a:lstStyle>
          <a:p>
            <a:pPr>
              <a:defRPr/>
            </a:pPr>
            <a:fld id="{059D6657-E722-4119-8249-48ABB808ED41}" type="slidenum">
              <a:rPr lang="en-US" altLang="zh-CN"/>
              <a:pPr>
                <a:defRPr/>
              </a:pPr>
              <a:t>‹#›</a:t>
            </a:fld>
            <a:endParaRPr lang="en-US" altLang="zh-CN"/>
          </a:p>
        </p:txBody>
      </p:sp>
    </p:spTree>
    <p:extLst>
      <p:ext uri="{BB962C8B-B14F-4D97-AF65-F5344CB8AC3E}">
        <p14:creationId xmlns:p14="http://schemas.microsoft.com/office/powerpoint/2010/main" val="1545590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AA2C2F1-F4E4-4166-9D98-F630EA2B53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DC1B153-E8C8-4C4F-9C5B-48414C563A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BD5EDCF-39E1-4ECA-ABE5-49BEA65CF285}"/>
              </a:ext>
            </a:extLst>
          </p:cNvPr>
          <p:cNvSpPr>
            <a:spLocks noGrp="1" noChangeArrowheads="1"/>
          </p:cNvSpPr>
          <p:nvPr>
            <p:ph type="sldNum" sz="quarter" idx="12"/>
          </p:nvPr>
        </p:nvSpPr>
        <p:spPr>
          <a:ln/>
        </p:spPr>
        <p:txBody>
          <a:bodyPr/>
          <a:lstStyle>
            <a:lvl1pPr>
              <a:defRPr/>
            </a:lvl1pPr>
          </a:lstStyle>
          <a:p>
            <a:pPr>
              <a:defRPr/>
            </a:pPr>
            <a:fld id="{83DB1177-F645-4BC3-BEBE-7AC82853BD47}" type="slidenum">
              <a:rPr lang="en-US" altLang="zh-CN"/>
              <a:pPr>
                <a:defRPr/>
              </a:pPr>
              <a:t>‹#›</a:t>
            </a:fld>
            <a:endParaRPr lang="en-US" altLang="zh-CN"/>
          </a:p>
        </p:txBody>
      </p:sp>
    </p:spTree>
    <p:extLst>
      <p:ext uri="{BB962C8B-B14F-4D97-AF65-F5344CB8AC3E}">
        <p14:creationId xmlns:p14="http://schemas.microsoft.com/office/powerpoint/2010/main" val="158962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FDE9A72-19D6-43C9-8300-C506138B94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9F9AA0D-BB9E-4630-85C4-AD095B1D81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10E3577-650B-4B19-B753-8BC266485607}"/>
              </a:ext>
            </a:extLst>
          </p:cNvPr>
          <p:cNvSpPr>
            <a:spLocks noGrp="1" noChangeArrowheads="1"/>
          </p:cNvSpPr>
          <p:nvPr>
            <p:ph type="sldNum" sz="quarter" idx="12"/>
          </p:nvPr>
        </p:nvSpPr>
        <p:spPr>
          <a:ln/>
        </p:spPr>
        <p:txBody>
          <a:bodyPr/>
          <a:lstStyle>
            <a:lvl1pPr>
              <a:defRPr/>
            </a:lvl1pPr>
          </a:lstStyle>
          <a:p>
            <a:pPr>
              <a:defRPr/>
            </a:pPr>
            <a:fld id="{3823CD45-944B-46E6-9BC8-7A6CD8CC4E06}" type="slidenum">
              <a:rPr lang="en-US" altLang="zh-CN"/>
              <a:pPr>
                <a:defRPr/>
              </a:pPr>
              <a:t>‹#›</a:t>
            </a:fld>
            <a:endParaRPr lang="en-US" altLang="zh-CN"/>
          </a:p>
        </p:txBody>
      </p:sp>
    </p:spTree>
    <p:extLst>
      <p:ext uri="{BB962C8B-B14F-4D97-AF65-F5344CB8AC3E}">
        <p14:creationId xmlns:p14="http://schemas.microsoft.com/office/powerpoint/2010/main" val="176506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5300" y="1600200"/>
            <a:ext cx="43815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9200" y="1600200"/>
            <a:ext cx="43815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D364D43-04E0-4CC0-8E5E-5DD35137DE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D0733BE-B9AE-4E99-95ED-160A12765C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09E43A0-40AE-4645-AB91-733E1D3290BF}"/>
              </a:ext>
            </a:extLst>
          </p:cNvPr>
          <p:cNvSpPr>
            <a:spLocks noGrp="1" noChangeArrowheads="1"/>
          </p:cNvSpPr>
          <p:nvPr>
            <p:ph type="sldNum" sz="quarter" idx="12"/>
          </p:nvPr>
        </p:nvSpPr>
        <p:spPr>
          <a:ln/>
        </p:spPr>
        <p:txBody>
          <a:bodyPr/>
          <a:lstStyle>
            <a:lvl1pPr>
              <a:defRPr/>
            </a:lvl1pPr>
          </a:lstStyle>
          <a:p>
            <a:pPr>
              <a:defRPr/>
            </a:pPr>
            <a:fld id="{007ABB74-2BA5-464F-9CD3-98DE78FFFF00}" type="slidenum">
              <a:rPr lang="en-US" altLang="zh-CN"/>
              <a:pPr>
                <a:defRPr/>
              </a:pPr>
              <a:t>‹#›</a:t>
            </a:fld>
            <a:endParaRPr lang="en-US" altLang="zh-CN"/>
          </a:p>
        </p:txBody>
      </p:sp>
    </p:spTree>
    <p:extLst>
      <p:ext uri="{BB962C8B-B14F-4D97-AF65-F5344CB8AC3E}">
        <p14:creationId xmlns:p14="http://schemas.microsoft.com/office/powerpoint/2010/main" val="164740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BB7EBD5-52C2-4AF6-8B4F-153ED4C0E00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B1F71C7-8D7E-4F3F-A6EF-E199816420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9180FC82-F39F-43D8-B67A-64C971E21CC9}"/>
              </a:ext>
            </a:extLst>
          </p:cNvPr>
          <p:cNvSpPr>
            <a:spLocks noGrp="1" noChangeArrowheads="1"/>
          </p:cNvSpPr>
          <p:nvPr>
            <p:ph type="sldNum" sz="quarter" idx="12"/>
          </p:nvPr>
        </p:nvSpPr>
        <p:spPr>
          <a:ln/>
        </p:spPr>
        <p:txBody>
          <a:bodyPr/>
          <a:lstStyle>
            <a:lvl1pPr>
              <a:defRPr/>
            </a:lvl1pPr>
          </a:lstStyle>
          <a:p>
            <a:pPr>
              <a:defRPr/>
            </a:pPr>
            <a:fld id="{C397D61E-ADFF-4B3A-BEFF-B3B9BAE799D2}" type="slidenum">
              <a:rPr lang="en-US" altLang="zh-CN"/>
              <a:pPr>
                <a:defRPr/>
              </a:pPr>
              <a:t>‹#›</a:t>
            </a:fld>
            <a:endParaRPr lang="en-US" altLang="zh-CN"/>
          </a:p>
        </p:txBody>
      </p:sp>
    </p:spTree>
    <p:extLst>
      <p:ext uri="{BB962C8B-B14F-4D97-AF65-F5344CB8AC3E}">
        <p14:creationId xmlns:p14="http://schemas.microsoft.com/office/powerpoint/2010/main" val="90160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8E1B6214-EFCA-4633-8CFB-EFC4E78C431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27AC4A6-A914-46FF-9A0A-FA573C8AC4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71AF09B-4867-44B0-953F-9734C70A98D5}"/>
              </a:ext>
            </a:extLst>
          </p:cNvPr>
          <p:cNvSpPr>
            <a:spLocks noGrp="1" noChangeArrowheads="1"/>
          </p:cNvSpPr>
          <p:nvPr>
            <p:ph type="sldNum" sz="quarter" idx="12"/>
          </p:nvPr>
        </p:nvSpPr>
        <p:spPr>
          <a:ln/>
        </p:spPr>
        <p:txBody>
          <a:bodyPr/>
          <a:lstStyle>
            <a:lvl1pPr>
              <a:defRPr/>
            </a:lvl1pPr>
          </a:lstStyle>
          <a:p>
            <a:pPr>
              <a:defRPr/>
            </a:pPr>
            <a:fld id="{8598FC68-DF4A-4AAB-8180-9B6E8A82A92C}" type="slidenum">
              <a:rPr lang="en-US" altLang="zh-CN"/>
              <a:pPr>
                <a:defRPr/>
              </a:pPr>
              <a:t>‹#›</a:t>
            </a:fld>
            <a:endParaRPr lang="en-US" altLang="zh-CN"/>
          </a:p>
        </p:txBody>
      </p:sp>
    </p:spTree>
    <p:extLst>
      <p:ext uri="{BB962C8B-B14F-4D97-AF65-F5344CB8AC3E}">
        <p14:creationId xmlns:p14="http://schemas.microsoft.com/office/powerpoint/2010/main" val="315820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A95506F-3B77-45C3-ABDC-498EDD5FB67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F6AC8735-54A3-4ADA-A268-D6B62C5188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65DDF3DF-09AC-4C07-9A89-7700643CDA77}"/>
              </a:ext>
            </a:extLst>
          </p:cNvPr>
          <p:cNvSpPr>
            <a:spLocks noGrp="1" noChangeArrowheads="1"/>
          </p:cNvSpPr>
          <p:nvPr>
            <p:ph type="sldNum" sz="quarter" idx="12"/>
          </p:nvPr>
        </p:nvSpPr>
        <p:spPr>
          <a:ln/>
        </p:spPr>
        <p:txBody>
          <a:bodyPr/>
          <a:lstStyle>
            <a:lvl1pPr>
              <a:defRPr/>
            </a:lvl1pPr>
          </a:lstStyle>
          <a:p>
            <a:pPr>
              <a:defRPr/>
            </a:pPr>
            <a:fld id="{EFF0B706-B235-481A-B9B1-15B9A912E99B}" type="slidenum">
              <a:rPr lang="en-US" altLang="zh-CN"/>
              <a:pPr>
                <a:defRPr/>
              </a:pPr>
              <a:t>‹#›</a:t>
            </a:fld>
            <a:endParaRPr lang="en-US" altLang="zh-CN"/>
          </a:p>
        </p:txBody>
      </p:sp>
    </p:spTree>
    <p:extLst>
      <p:ext uri="{BB962C8B-B14F-4D97-AF65-F5344CB8AC3E}">
        <p14:creationId xmlns:p14="http://schemas.microsoft.com/office/powerpoint/2010/main" val="383785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F85953F-D911-4AB7-8526-DF2CC3FEEB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2E1EAFC-46EB-45B2-B456-4AD37744D7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E24A6F5-9522-4DC0-A5EB-7066D6675CEB}"/>
              </a:ext>
            </a:extLst>
          </p:cNvPr>
          <p:cNvSpPr>
            <a:spLocks noGrp="1" noChangeArrowheads="1"/>
          </p:cNvSpPr>
          <p:nvPr>
            <p:ph type="sldNum" sz="quarter" idx="12"/>
          </p:nvPr>
        </p:nvSpPr>
        <p:spPr>
          <a:ln/>
        </p:spPr>
        <p:txBody>
          <a:bodyPr/>
          <a:lstStyle>
            <a:lvl1pPr>
              <a:defRPr/>
            </a:lvl1pPr>
          </a:lstStyle>
          <a:p>
            <a:pPr>
              <a:defRPr/>
            </a:pPr>
            <a:fld id="{4AF96534-D306-467B-9C1D-94D36ECF48A7}" type="slidenum">
              <a:rPr lang="en-US" altLang="zh-CN"/>
              <a:pPr>
                <a:defRPr/>
              </a:pPr>
              <a:t>‹#›</a:t>
            </a:fld>
            <a:endParaRPr lang="en-US" altLang="zh-CN"/>
          </a:p>
        </p:txBody>
      </p:sp>
    </p:spTree>
    <p:extLst>
      <p:ext uri="{BB962C8B-B14F-4D97-AF65-F5344CB8AC3E}">
        <p14:creationId xmlns:p14="http://schemas.microsoft.com/office/powerpoint/2010/main" val="3346425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659A9F5-32E8-4974-A5DB-9D365203F2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A3CEAAD-B619-4C84-8465-1D8732BB186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E2BDF97-AA94-4A94-A1D6-BD1FDBF2C51E}"/>
              </a:ext>
            </a:extLst>
          </p:cNvPr>
          <p:cNvSpPr>
            <a:spLocks noGrp="1" noChangeArrowheads="1"/>
          </p:cNvSpPr>
          <p:nvPr>
            <p:ph type="sldNum" sz="quarter" idx="12"/>
          </p:nvPr>
        </p:nvSpPr>
        <p:spPr>
          <a:ln/>
        </p:spPr>
        <p:txBody>
          <a:bodyPr/>
          <a:lstStyle>
            <a:lvl1pPr>
              <a:defRPr/>
            </a:lvl1pPr>
          </a:lstStyle>
          <a:p>
            <a:pPr>
              <a:defRPr/>
            </a:pPr>
            <a:fld id="{194F772C-4B52-423E-92BA-3419C151C794}" type="slidenum">
              <a:rPr lang="en-US" altLang="zh-CN"/>
              <a:pPr>
                <a:defRPr/>
              </a:pPr>
              <a:t>‹#›</a:t>
            </a:fld>
            <a:endParaRPr lang="en-US" altLang="zh-CN"/>
          </a:p>
        </p:txBody>
      </p:sp>
    </p:spTree>
    <p:extLst>
      <p:ext uri="{BB962C8B-B14F-4D97-AF65-F5344CB8AC3E}">
        <p14:creationId xmlns:p14="http://schemas.microsoft.com/office/powerpoint/2010/main" val="104151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DCA2E7E-48BC-43B5-84F4-FBB1B183EF8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37E364A-CD49-40AE-8370-886111434E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03F196E-0856-48CD-993F-794697975322}"/>
              </a:ext>
            </a:extLst>
          </p:cNvPr>
          <p:cNvSpPr>
            <a:spLocks noGrp="1" noChangeArrowheads="1"/>
          </p:cNvSpPr>
          <p:nvPr>
            <p:ph type="sldNum" sz="quarter" idx="12"/>
          </p:nvPr>
        </p:nvSpPr>
        <p:spPr>
          <a:ln/>
        </p:spPr>
        <p:txBody>
          <a:bodyPr/>
          <a:lstStyle>
            <a:lvl1pPr>
              <a:defRPr/>
            </a:lvl1pPr>
          </a:lstStyle>
          <a:p>
            <a:pPr>
              <a:defRPr/>
            </a:pPr>
            <a:fld id="{25A31E2B-BC08-4F5D-A730-C14346804726}" type="slidenum">
              <a:rPr lang="en-US" altLang="zh-CN"/>
              <a:pPr>
                <a:defRPr/>
              </a:pPr>
              <a:t>‹#›</a:t>
            </a:fld>
            <a:endParaRPr lang="en-US" altLang="zh-CN"/>
          </a:p>
        </p:txBody>
      </p:sp>
    </p:spTree>
    <p:extLst>
      <p:ext uri="{BB962C8B-B14F-4D97-AF65-F5344CB8AC3E}">
        <p14:creationId xmlns:p14="http://schemas.microsoft.com/office/powerpoint/2010/main" val="3225796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22885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3E19879-C5C8-46F6-B57B-09B01C23D6F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D6A11C6-AD19-45F3-8F62-907E1D0CB26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1CBF91F-978E-41A9-86D4-7F13ED16A9CF}"/>
              </a:ext>
            </a:extLst>
          </p:cNvPr>
          <p:cNvSpPr>
            <a:spLocks noGrp="1" noChangeArrowheads="1"/>
          </p:cNvSpPr>
          <p:nvPr>
            <p:ph type="sldNum" sz="quarter" idx="12"/>
          </p:nvPr>
        </p:nvSpPr>
        <p:spPr>
          <a:ln/>
        </p:spPr>
        <p:txBody>
          <a:bodyPr/>
          <a:lstStyle>
            <a:lvl1pPr>
              <a:defRPr/>
            </a:lvl1pPr>
          </a:lstStyle>
          <a:p>
            <a:pPr>
              <a:defRPr/>
            </a:pPr>
            <a:fld id="{581234EA-E288-460E-9194-C956E8715258}" type="slidenum">
              <a:rPr lang="en-US" altLang="zh-CN"/>
              <a:pPr>
                <a:defRPr/>
              </a:pPr>
              <a:t>‹#›</a:t>
            </a:fld>
            <a:endParaRPr lang="en-US" altLang="zh-CN"/>
          </a:p>
        </p:txBody>
      </p:sp>
    </p:spTree>
    <p:extLst>
      <p:ext uri="{BB962C8B-B14F-4D97-AF65-F5344CB8AC3E}">
        <p14:creationId xmlns:p14="http://schemas.microsoft.com/office/powerpoint/2010/main" val="3838477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B8279F2-4BFB-41EC-ABCD-134D035837F0}"/>
              </a:ext>
            </a:extLst>
          </p:cNvPr>
          <p:cNvSpPr>
            <a:spLocks noGrp="1" noChangeArrowheads="1"/>
          </p:cNvSpPr>
          <p:nvPr>
            <p:ph type="title"/>
          </p:nvPr>
        </p:nvSpPr>
        <p:spPr bwMode="auto">
          <a:xfrm>
            <a:off x="495300" y="277813"/>
            <a:ext cx="89154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6DF5C82-06D5-4F97-9947-0C4975A0A969}"/>
              </a:ext>
            </a:extLst>
          </p:cNvPr>
          <p:cNvSpPr>
            <a:spLocks noGrp="1" noChangeArrowheads="1"/>
          </p:cNvSpPr>
          <p:nvPr>
            <p:ph type="body" idx="1"/>
          </p:nvPr>
        </p:nvSpPr>
        <p:spPr bwMode="auto">
          <a:xfrm>
            <a:off x="495300" y="1600200"/>
            <a:ext cx="89154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5892" name="Rectangle 4">
            <a:extLst>
              <a:ext uri="{FF2B5EF4-FFF2-40B4-BE49-F238E27FC236}">
                <a16:creationId xmlns:a16="http://schemas.microsoft.com/office/drawing/2014/main" id="{8CFDBCEB-9F68-4142-9DB3-4AB67D06D04A}"/>
              </a:ext>
            </a:extLst>
          </p:cNvPr>
          <p:cNvSpPr>
            <a:spLocks noGrp="1" noChangeArrowheads="1"/>
          </p:cNvSpPr>
          <p:nvPr>
            <p:ph type="dt" sz="half" idx="2"/>
          </p:nvPr>
        </p:nvSpPr>
        <p:spPr bwMode="auto">
          <a:xfrm>
            <a:off x="495300" y="6243638"/>
            <a:ext cx="2311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j-lt"/>
                <a:ea typeface="宋体" pitchFamily="2" charset="-122"/>
              </a:defRPr>
            </a:lvl1pPr>
          </a:lstStyle>
          <a:p>
            <a:pPr>
              <a:defRPr/>
            </a:pPr>
            <a:endParaRPr lang="en-US" altLang="zh-CN"/>
          </a:p>
        </p:txBody>
      </p:sp>
      <p:sp>
        <p:nvSpPr>
          <p:cNvPr id="165893" name="Rectangle 5">
            <a:extLst>
              <a:ext uri="{FF2B5EF4-FFF2-40B4-BE49-F238E27FC236}">
                <a16:creationId xmlns:a16="http://schemas.microsoft.com/office/drawing/2014/main" id="{8B2AF5CE-94E2-4A85-8FB2-DE61B9F106A6}"/>
              </a:ext>
            </a:extLst>
          </p:cNvPr>
          <p:cNvSpPr>
            <a:spLocks noGrp="1" noChangeArrowheads="1"/>
          </p:cNvSpPr>
          <p:nvPr>
            <p:ph type="ftr" sz="quarter" idx="3"/>
          </p:nvPr>
        </p:nvSpPr>
        <p:spPr bwMode="auto">
          <a:xfrm>
            <a:off x="3384550" y="6248400"/>
            <a:ext cx="31369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j-lt"/>
                <a:ea typeface="宋体" pitchFamily="2" charset="-122"/>
              </a:defRPr>
            </a:lvl1pPr>
          </a:lstStyle>
          <a:p>
            <a:pPr>
              <a:defRPr/>
            </a:pPr>
            <a:endParaRPr lang="en-US" altLang="zh-CN"/>
          </a:p>
        </p:txBody>
      </p:sp>
      <p:sp>
        <p:nvSpPr>
          <p:cNvPr id="165894" name="Rectangle 6">
            <a:extLst>
              <a:ext uri="{FF2B5EF4-FFF2-40B4-BE49-F238E27FC236}">
                <a16:creationId xmlns:a16="http://schemas.microsoft.com/office/drawing/2014/main" id="{B0517F26-B2B3-45F7-B379-6DACBD11C971}"/>
              </a:ext>
            </a:extLst>
          </p:cNvPr>
          <p:cNvSpPr>
            <a:spLocks noGrp="1" noChangeArrowheads="1"/>
          </p:cNvSpPr>
          <p:nvPr>
            <p:ph type="sldNum" sz="quarter" idx="4"/>
          </p:nvPr>
        </p:nvSpPr>
        <p:spPr bwMode="auto">
          <a:xfrm>
            <a:off x="7099300" y="6243638"/>
            <a:ext cx="2311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58151510-C7F1-404F-B51B-742C01A04A11}" type="slidenum">
              <a:rPr lang="en-US" altLang="zh-CN"/>
              <a:pPr>
                <a:defRPr/>
              </a:pPr>
              <a:t>‹#›</a:t>
            </a:fld>
            <a:endParaRPr lang="en-US" altLang="zh-CN"/>
          </a:p>
        </p:txBody>
      </p:sp>
      <p:sp>
        <p:nvSpPr>
          <p:cNvPr id="1031" name="Freeform 7">
            <a:extLst>
              <a:ext uri="{FF2B5EF4-FFF2-40B4-BE49-F238E27FC236}">
                <a16:creationId xmlns:a16="http://schemas.microsoft.com/office/drawing/2014/main" id="{F34D8A66-63D0-40D7-90FF-89F2F7CC9487}"/>
              </a:ext>
            </a:extLst>
          </p:cNvPr>
          <p:cNvSpPr>
            <a:spLocks noChangeArrowheads="1"/>
          </p:cNvSpPr>
          <p:nvPr/>
        </p:nvSpPr>
        <p:spPr bwMode="auto">
          <a:xfrm>
            <a:off x="412750" y="228600"/>
            <a:ext cx="89154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C1B8B544-16C8-44F6-926E-EB47975F097B}"/>
              </a:ext>
            </a:extLst>
          </p:cNvPr>
          <p:cNvSpPr>
            <a:spLocks noChangeShapeType="1"/>
          </p:cNvSpPr>
          <p:nvPr/>
        </p:nvSpPr>
        <p:spPr bwMode="auto">
          <a:xfrm>
            <a:off x="495300" y="6172200"/>
            <a:ext cx="89154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035"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2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a:extLst>
              <a:ext uri="{FF2B5EF4-FFF2-40B4-BE49-F238E27FC236}">
                <a16:creationId xmlns:a16="http://schemas.microsoft.com/office/drawing/2014/main" id="{F81320F6-091C-4423-9BF4-343E5F6B29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A249C7D-D53D-486C-8BA9-013C21728D91}" type="slidenum">
              <a:rPr lang="en-US" altLang="zh-CN" sz="1200" smtClean="0">
                <a:latin typeface="Garamond" panose="02020404030301010803" pitchFamily="18" charset="0"/>
              </a:rPr>
              <a:pPr>
                <a:spcBef>
                  <a:spcPct val="0"/>
                </a:spcBef>
                <a:buClrTx/>
                <a:buSzTx/>
                <a:buFontTx/>
                <a:buNone/>
              </a:pPr>
              <a:t>1</a:t>
            </a:fld>
            <a:endParaRPr lang="en-US" altLang="zh-CN" sz="1200">
              <a:latin typeface="Garamond" panose="02020404030301010803" pitchFamily="18" charset="0"/>
            </a:endParaRPr>
          </a:p>
        </p:txBody>
      </p:sp>
      <p:sp>
        <p:nvSpPr>
          <p:cNvPr id="4099" name="Rectangle 2">
            <a:extLst>
              <a:ext uri="{FF2B5EF4-FFF2-40B4-BE49-F238E27FC236}">
                <a16:creationId xmlns:a16="http://schemas.microsoft.com/office/drawing/2014/main" id="{AC03A118-4209-4F86-AB33-886CFB818147}"/>
              </a:ext>
            </a:extLst>
          </p:cNvPr>
          <p:cNvSpPr>
            <a:spLocks noGrp="1" noChangeArrowheads="1"/>
          </p:cNvSpPr>
          <p:nvPr>
            <p:ph type="title"/>
          </p:nvPr>
        </p:nvSpPr>
        <p:spPr>
          <a:xfrm>
            <a:off x="1149350" y="304800"/>
            <a:ext cx="8756650" cy="914400"/>
          </a:xfrm>
        </p:spPr>
        <p:txBody>
          <a:bodyPr/>
          <a:lstStyle/>
          <a:p>
            <a:pPr algn="ctr" eaLnBrk="1" hangingPunct="1"/>
            <a:r>
              <a:rPr lang="en-US" altLang="zh-CN" sz="3800"/>
              <a:t>CH2</a:t>
            </a:r>
            <a:r>
              <a:rPr lang="zh-CN" altLang="en-US" sz="3800"/>
              <a:t>、  </a:t>
            </a:r>
            <a:r>
              <a:rPr lang="en-US" altLang="zh-CN" sz="3800"/>
              <a:t>MATLAB</a:t>
            </a:r>
            <a:r>
              <a:rPr lang="zh-CN" altLang="en-US" sz="3800"/>
              <a:t>语言基础</a:t>
            </a:r>
          </a:p>
        </p:txBody>
      </p:sp>
      <p:sp>
        <p:nvSpPr>
          <p:cNvPr id="4100" name="Rectangle 3">
            <a:extLst>
              <a:ext uri="{FF2B5EF4-FFF2-40B4-BE49-F238E27FC236}">
                <a16:creationId xmlns:a16="http://schemas.microsoft.com/office/drawing/2014/main" id="{07CAACC8-9CC4-4DB5-B300-A41C6B02D053}"/>
              </a:ext>
            </a:extLst>
          </p:cNvPr>
          <p:cNvSpPr>
            <a:spLocks noGrp="1" noChangeArrowheads="1"/>
          </p:cNvSpPr>
          <p:nvPr>
            <p:ph type="body" sz="half" idx="1"/>
          </p:nvPr>
        </p:nvSpPr>
        <p:spPr>
          <a:xfrm>
            <a:off x="704850" y="1066800"/>
            <a:ext cx="8858250" cy="5181600"/>
          </a:xfrm>
        </p:spPr>
        <p:txBody>
          <a:bodyPr/>
          <a:lstStyle/>
          <a:p>
            <a:pPr eaLnBrk="1" hangingPunct="1">
              <a:lnSpc>
                <a:spcPct val="90000"/>
              </a:lnSpc>
              <a:buFont typeface="Wingdings" panose="05000000000000000000" pitchFamily="2" charset="2"/>
              <a:buNone/>
            </a:pPr>
            <a:r>
              <a:rPr lang="zh-CN" altLang="en-US" dirty="0">
                <a:solidFill>
                  <a:schemeClr val="tx2"/>
                </a:solidFill>
              </a:rPr>
              <a:t>第一节 	使用</a:t>
            </a:r>
            <a:r>
              <a:rPr lang="en-US" altLang="zh-CN" dirty="0">
                <a:solidFill>
                  <a:schemeClr val="tx2"/>
                </a:solidFill>
              </a:rPr>
              <a:t>MATLAB</a:t>
            </a:r>
            <a:r>
              <a:rPr lang="zh-CN" altLang="en-US" dirty="0">
                <a:solidFill>
                  <a:schemeClr val="tx2"/>
                </a:solidFill>
              </a:rPr>
              <a:t>的窗口环境</a:t>
            </a:r>
            <a:endParaRPr lang="zh-CN" altLang="en-US" sz="2600" dirty="0">
              <a:solidFill>
                <a:schemeClr val="tx2"/>
              </a:solidFill>
            </a:endParaRPr>
          </a:p>
          <a:p>
            <a:pPr eaLnBrk="1" hangingPunct="1">
              <a:lnSpc>
                <a:spcPct val="90000"/>
              </a:lnSpc>
              <a:buFont typeface="Wingdings" panose="05000000000000000000" pitchFamily="2" charset="2"/>
              <a:buNone/>
            </a:pPr>
            <a:r>
              <a:rPr lang="zh-CN" altLang="en-US" sz="2600" dirty="0">
                <a:solidFill>
                  <a:schemeClr val="tx2"/>
                </a:solidFill>
              </a:rPr>
              <a:t>一、</a:t>
            </a:r>
            <a:r>
              <a:rPr lang="en-US" altLang="zh-CN" sz="2600" dirty="0">
                <a:solidFill>
                  <a:schemeClr val="tx2"/>
                </a:solidFill>
              </a:rPr>
              <a:t>MATLAB</a:t>
            </a:r>
            <a:r>
              <a:rPr lang="zh-CN" altLang="en-US" sz="2600" dirty="0">
                <a:solidFill>
                  <a:schemeClr val="tx2"/>
                </a:solidFill>
              </a:rPr>
              <a:t>语言的显著特点</a:t>
            </a:r>
          </a:p>
          <a:p>
            <a:pPr eaLnBrk="1" hangingPunct="1">
              <a:lnSpc>
                <a:spcPct val="90000"/>
              </a:lnSpc>
              <a:buFont typeface="Wingdings" panose="05000000000000000000" pitchFamily="2" charset="2"/>
              <a:buNone/>
            </a:pPr>
            <a:r>
              <a:rPr lang="en-US" altLang="zh-CN" sz="2200" dirty="0"/>
              <a:t>1</a:t>
            </a:r>
            <a:r>
              <a:rPr lang="zh-CN" altLang="en-US" sz="2200" dirty="0"/>
              <a:t>、</a:t>
            </a:r>
            <a:r>
              <a:rPr lang="zh-CN" altLang="en-US" sz="2800" dirty="0"/>
              <a:t>具有强大的矩阵运算能力：</a:t>
            </a:r>
            <a:r>
              <a:rPr lang="en-US" altLang="zh-CN" sz="2800" dirty="0"/>
              <a:t>Matrix Laboratory</a:t>
            </a:r>
            <a:r>
              <a:rPr lang="zh-CN" altLang="en-US" sz="2800" dirty="0"/>
              <a:t>（矩阵实验室），使得矩阵运算非常简单。</a:t>
            </a:r>
          </a:p>
          <a:p>
            <a:pPr eaLnBrk="1" hangingPunct="1">
              <a:lnSpc>
                <a:spcPct val="90000"/>
              </a:lnSpc>
              <a:buFont typeface="Wingdings" panose="05000000000000000000" pitchFamily="2" charset="2"/>
              <a:buNone/>
            </a:pPr>
            <a:r>
              <a:rPr lang="en-US" altLang="zh-CN" sz="2800" dirty="0"/>
              <a:t>2</a:t>
            </a:r>
            <a:r>
              <a:rPr lang="zh-CN" altLang="en-US" sz="2800" dirty="0"/>
              <a:t>、是一种演算式语言</a:t>
            </a:r>
          </a:p>
          <a:p>
            <a:pPr eaLnBrk="1" hangingPunct="1">
              <a:lnSpc>
                <a:spcPct val="90000"/>
              </a:lnSpc>
            </a:pPr>
            <a:r>
              <a:rPr lang="en-US" altLang="zh-CN" sz="2800" dirty="0"/>
              <a:t>MATLAB</a:t>
            </a:r>
            <a:r>
              <a:rPr lang="zh-CN" altLang="en-US" sz="2800" dirty="0"/>
              <a:t>的基本数据单元是既不需要指定维数，也不需要说明数据类型的矩阵（向量和标量为矩阵的特例），而且数学表达式和运算规则与通常的习惯相同。</a:t>
            </a:r>
            <a:endParaRPr lang="zh-CN" altLang="en-US" sz="2800" dirty="0">
              <a:solidFill>
                <a:schemeClr val="tx2"/>
              </a:solidFill>
            </a:endParaRPr>
          </a:p>
          <a:p>
            <a:pPr eaLnBrk="1" hangingPunct="1">
              <a:lnSpc>
                <a:spcPct val="90000"/>
              </a:lnSpc>
              <a:buFont typeface="Wingdings" panose="05000000000000000000" pitchFamily="2" charset="2"/>
              <a:buNone/>
            </a:pPr>
            <a:r>
              <a:rPr lang="zh-CN" altLang="en-US" sz="2800" dirty="0">
                <a:solidFill>
                  <a:schemeClr val="tx2"/>
                </a:solidFill>
              </a:rPr>
              <a:t>    因此</a:t>
            </a:r>
            <a:r>
              <a:rPr lang="en-US" altLang="zh-CN" sz="2800" dirty="0">
                <a:solidFill>
                  <a:schemeClr val="tx2"/>
                </a:solidFill>
              </a:rPr>
              <a:t>MATLAB</a:t>
            </a:r>
            <a:r>
              <a:rPr lang="zh-CN" altLang="en-US" sz="2800" dirty="0">
                <a:solidFill>
                  <a:schemeClr val="tx2"/>
                </a:solidFill>
              </a:rPr>
              <a:t>语言编程简单，使用方便。</a:t>
            </a:r>
            <a:endParaRPr lang="zh-CN" altLang="en-US" sz="2800" dirty="0"/>
          </a:p>
          <a:p>
            <a:pPr eaLnBrk="1" hangingPunct="1">
              <a:lnSpc>
                <a:spcPct val="90000"/>
              </a:lnSpc>
              <a:buFont typeface="Wingdings" panose="05000000000000000000" pitchFamily="2" charset="2"/>
              <a:buNone/>
            </a:pPr>
            <a:r>
              <a:rPr lang="zh-CN" altLang="en-US" sz="2800" dirty="0"/>
              <a:t>       例 </a:t>
            </a:r>
            <a:r>
              <a:rPr lang="en-US" altLang="zh-CN" sz="2800" dirty="0"/>
              <a:t>exp2_1.m</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a:extLst>
              <a:ext uri="{FF2B5EF4-FFF2-40B4-BE49-F238E27FC236}">
                <a16:creationId xmlns:a16="http://schemas.microsoft.com/office/drawing/2014/main" id="{5696A785-43E0-431B-A6A0-C53456F23D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41A0B1E-88C9-4B93-BB02-C47BBA83C4D3}" type="slidenum">
              <a:rPr lang="en-US" altLang="zh-CN" sz="1200" smtClean="0">
                <a:latin typeface="Garamond" panose="02020404030301010803" pitchFamily="18" charset="0"/>
              </a:rPr>
              <a:pPr>
                <a:spcBef>
                  <a:spcPct val="0"/>
                </a:spcBef>
                <a:buClrTx/>
                <a:buSzTx/>
                <a:buFontTx/>
                <a:buNone/>
              </a:pPr>
              <a:t>2</a:t>
            </a:fld>
            <a:endParaRPr lang="en-US" altLang="zh-CN" sz="1200">
              <a:latin typeface="Garamond" panose="02020404030301010803" pitchFamily="18" charset="0"/>
            </a:endParaRPr>
          </a:p>
        </p:txBody>
      </p:sp>
      <p:sp>
        <p:nvSpPr>
          <p:cNvPr id="6147" name="Rectangle 3">
            <a:extLst>
              <a:ext uri="{FF2B5EF4-FFF2-40B4-BE49-F238E27FC236}">
                <a16:creationId xmlns:a16="http://schemas.microsoft.com/office/drawing/2014/main" id="{68B36E35-DED8-4BB1-BE99-9852BDE96C1D}"/>
              </a:ext>
            </a:extLst>
          </p:cNvPr>
          <p:cNvSpPr>
            <a:spLocks noGrp="1" noChangeArrowheads="1"/>
          </p:cNvSpPr>
          <p:nvPr>
            <p:ph type="body" idx="1"/>
          </p:nvPr>
        </p:nvSpPr>
        <p:spPr>
          <a:xfrm>
            <a:off x="631825" y="404813"/>
            <a:ext cx="9007475" cy="5614987"/>
          </a:xfrm>
        </p:spPr>
        <p:txBody>
          <a:bodyPr/>
          <a:lstStyle/>
          <a:p>
            <a:pPr eaLnBrk="1" hangingPunct="1">
              <a:lnSpc>
                <a:spcPct val="90000"/>
              </a:lnSpc>
              <a:buFont typeface="Wingdings" panose="05000000000000000000" pitchFamily="2" charset="2"/>
              <a:buNone/>
            </a:pPr>
            <a:r>
              <a:rPr lang="zh-CN" altLang="en-US" dirty="0">
                <a:solidFill>
                  <a:schemeClr val="tx2"/>
                </a:solidFill>
              </a:rPr>
              <a:t>二、</a:t>
            </a:r>
            <a:r>
              <a:rPr lang="en-US" altLang="zh-CN" dirty="0">
                <a:solidFill>
                  <a:schemeClr val="tx2"/>
                </a:solidFill>
              </a:rPr>
              <a:t>MATLAB</a:t>
            </a:r>
            <a:r>
              <a:rPr lang="zh-CN" altLang="en-US" dirty="0">
                <a:solidFill>
                  <a:schemeClr val="tx2"/>
                </a:solidFill>
              </a:rPr>
              <a:t>命令窗口</a:t>
            </a:r>
            <a:endParaRPr lang="zh-CN" altLang="en-US" sz="2600" dirty="0"/>
          </a:p>
          <a:p>
            <a:pPr eaLnBrk="1" hangingPunct="1">
              <a:lnSpc>
                <a:spcPct val="90000"/>
              </a:lnSpc>
              <a:buFont typeface="Wingdings" panose="05000000000000000000" pitchFamily="2" charset="2"/>
              <a:buNone/>
            </a:pPr>
            <a:r>
              <a:rPr lang="en-US" altLang="zh-CN" sz="2600" dirty="0"/>
              <a:t>1</a:t>
            </a:r>
            <a:r>
              <a:rPr lang="zh-CN" altLang="en-US" sz="2600" dirty="0"/>
              <a:t>、启动</a:t>
            </a:r>
            <a:r>
              <a:rPr lang="en-US" altLang="zh-CN" sz="2600" dirty="0"/>
              <a:t>MATLAB</a:t>
            </a:r>
            <a:r>
              <a:rPr lang="zh-CN" altLang="en-US" sz="2600" dirty="0"/>
              <a:t>命令窗口</a:t>
            </a:r>
          </a:p>
          <a:p>
            <a:pPr eaLnBrk="1" hangingPunct="1">
              <a:lnSpc>
                <a:spcPct val="90000"/>
              </a:lnSpc>
            </a:pPr>
            <a:r>
              <a:rPr lang="zh-CN" altLang="en-US" sz="2600" dirty="0"/>
              <a:t>计算机安装好</a:t>
            </a:r>
            <a:r>
              <a:rPr lang="en-US" altLang="zh-CN" sz="2600" dirty="0"/>
              <a:t>MATLAB</a:t>
            </a:r>
            <a:r>
              <a:rPr lang="zh-CN" altLang="en-US" sz="2600" dirty="0"/>
              <a:t>之后，双击</a:t>
            </a:r>
            <a:r>
              <a:rPr lang="en-US" altLang="zh-CN" sz="2600" dirty="0"/>
              <a:t>MATLAB</a:t>
            </a:r>
            <a:r>
              <a:rPr lang="zh-CN" altLang="en-US" sz="2600" dirty="0"/>
              <a:t>图标，就可以进入命令窗口，此时意味着系统处于准备接受命令的状态，可以在命令窗口中直接输入命令语句。</a:t>
            </a:r>
          </a:p>
          <a:p>
            <a:pPr eaLnBrk="1" hangingPunct="1">
              <a:lnSpc>
                <a:spcPct val="90000"/>
              </a:lnSpc>
            </a:pPr>
            <a:r>
              <a:rPr lang="en-US" altLang="zh-CN" sz="2600" dirty="0"/>
              <a:t>MATLAB</a:t>
            </a:r>
            <a:r>
              <a:rPr lang="zh-CN" altLang="en-US" sz="2600" dirty="0"/>
              <a:t>语句形式</a:t>
            </a:r>
          </a:p>
          <a:p>
            <a:pPr eaLnBrk="1" hangingPunct="1">
              <a:lnSpc>
                <a:spcPct val="90000"/>
              </a:lnSpc>
              <a:buFont typeface="Wingdings" panose="05000000000000000000" pitchFamily="2" charset="2"/>
              <a:buNone/>
            </a:pPr>
            <a:r>
              <a:rPr lang="en-US" altLang="zh-CN" sz="2600" dirty="0"/>
              <a:t>》</a:t>
            </a:r>
            <a:r>
              <a:rPr lang="zh-CN" altLang="en-US" sz="2600" dirty="0"/>
              <a:t>变量＝表达式；</a:t>
            </a:r>
          </a:p>
          <a:p>
            <a:pPr eaLnBrk="1" hangingPunct="1">
              <a:lnSpc>
                <a:spcPct val="90000"/>
              </a:lnSpc>
              <a:buFont typeface="Wingdings" panose="05000000000000000000" pitchFamily="2" charset="2"/>
              <a:buNone/>
            </a:pPr>
            <a:r>
              <a:rPr lang="zh-CN" altLang="en-US" sz="2600" dirty="0"/>
              <a:t>	通过等于符号将表达式的值赋予变量。当键入回车键时，该语句被执行。语句执行之后，窗口自动显示出语句执行的结果。如果希望结果不被显示，则只要在语句之后加上一个分号（；）即可。此时尽管结果没有显示，但它依然被赋值并在</a:t>
            </a:r>
            <a:r>
              <a:rPr lang="en-US" altLang="zh-CN" sz="2600" dirty="0"/>
              <a:t>MATLAB</a:t>
            </a:r>
            <a:r>
              <a:rPr lang="zh-CN" altLang="en-US" sz="2600" dirty="0"/>
              <a:t>工作空间中分配了内存。</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a:extLst>
              <a:ext uri="{FF2B5EF4-FFF2-40B4-BE49-F238E27FC236}">
                <a16:creationId xmlns:a16="http://schemas.microsoft.com/office/drawing/2014/main" id="{931B9B01-DD12-44C3-B777-BA65C2D66E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80C5743-D1EB-45DD-9349-064B10E78D52}" type="slidenum">
              <a:rPr lang="en-US" altLang="zh-CN" sz="1200" smtClean="0">
                <a:latin typeface="Garamond" panose="02020404030301010803" pitchFamily="18" charset="0"/>
              </a:rPr>
              <a:pPr>
                <a:spcBef>
                  <a:spcPct val="0"/>
                </a:spcBef>
                <a:buClrTx/>
                <a:buSzTx/>
                <a:buFontTx/>
                <a:buNone/>
              </a:pPr>
              <a:t>3</a:t>
            </a:fld>
            <a:endParaRPr lang="en-US" altLang="zh-CN" sz="1200">
              <a:latin typeface="Garamond" panose="02020404030301010803" pitchFamily="18" charset="0"/>
            </a:endParaRPr>
          </a:p>
        </p:txBody>
      </p:sp>
      <p:sp>
        <p:nvSpPr>
          <p:cNvPr id="7171" name="Rectangle 2">
            <a:extLst>
              <a:ext uri="{FF2B5EF4-FFF2-40B4-BE49-F238E27FC236}">
                <a16:creationId xmlns:a16="http://schemas.microsoft.com/office/drawing/2014/main" id="{4D5BB9B3-B204-4886-B6D9-2E341D1C6253}"/>
              </a:ext>
            </a:extLst>
          </p:cNvPr>
          <p:cNvSpPr>
            <a:spLocks noGrp="1" noChangeArrowheads="1"/>
          </p:cNvSpPr>
          <p:nvPr>
            <p:ph type="body" idx="1"/>
          </p:nvPr>
        </p:nvSpPr>
        <p:spPr>
          <a:xfrm>
            <a:off x="776288" y="620713"/>
            <a:ext cx="8420100" cy="5334000"/>
          </a:xfrm>
        </p:spPr>
        <p:txBody>
          <a:bodyPr/>
          <a:lstStyle/>
          <a:p>
            <a:pPr eaLnBrk="1" hangingPunct="1">
              <a:lnSpc>
                <a:spcPct val="90000"/>
              </a:lnSpc>
              <a:buFont typeface="Wingdings" panose="05000000000000000000" pitchFamily="2" charset="2"/>
              <a:buNone/>
            </a:pPr>
            <a:r>
              <a:rPr lang="en-US" altLang="zh-CN" sz="2600" dirty="0"/>
              <a:t>2</a:t>
            </a:r>
            <a:r>
              <a:rPr lang="zh-CN" altLang="en-US" sz="2600" dirty="0"/>
              <a:t>、命令行编辑器</a:t>
            </a:r>
            <a:endParaRPr lang="zh-CN" altLang="en-US" sz="2600" dirty="0">
              <a:solidFill>
                <a:schemeClr val="tx2"/>
              </a:solidFill>
            </a:endParaRPr>
          </a:p>
          <a:p>
            <a:pPr eaLnBrk="1" hangingPunct="1">
              <a:lnSpc>
                <a:spcPct val="90000"/>
              </a:lnSpc>
              <a:buFont typeface="Wingdings" panose="05000000000000000000" pitchFamily="2" charset="2"/>
              <a:buNone/>
            </a:pPr>
            <a:r>
              <a:rPr lang="zh-CN" altLang="en-US" sz="2600" dirty="0"/>
              <a:t>（</a:t>
            </a:r>
            <a:r>
              <a:rPr lang="en-US" altLang="zh-CN" sz="2600" dirty="0"/>
              <a:t>1</a:t>
            </a:r>
            <a:r>
              <a:rPr lang="zh-CN" altLang="en-US" sz="2600" dirty="0"/>
              <a:t>）方向键和控制键可以编辑修改已输入的命令</a:t>
            </a:r>
          </a:p>
          <a:p>
            <a:pPr eaLnBrk="1" hangingPunct="1">
              <a:lnSpc>
                <a:spcPct val="90000"/>
              </a:lnSpc>
              <a:buFont typeface="Wingdings" panose="05000000000000000000" pitchFamily="2" charset="2"/>
              <a:buNone/>
            </a:pPr>
            <a:r>
              <a:rPr lang="zh-CN" altLang="en-US" sz="2600" dirty="0"/>
              <a:t>            ：回调上一行命令         ：回调下一行命令</a:t>
            </a:r>
          </a:p>
          <a:p>
            <a:pPr eaLnBrk="1" hangingPunct="1">
              <a:lnSpc>
                <a:spcPct val="90000"/>
              </a:lnSpc>
              <a:buFont typeface="Wingdings" panose="05000000000000000000" pitchFamily="2" charset="2"/>
              <a:buNone/>
            </a:pPr>
            <a:r>
              <a:rPr lang="zh-CN" altLang="en-US" sz="2600" dirty="0"/>
              <a:t>（</a:t>
            </a:r>
            <a:r>
              <a:rPr lang="en-US" altLang="zh-CN" sz="2600" dirty="0"/>
              <a:t>2</a:t>
            </a:r>
            <a:r>
              <a:rPr lang="zh-CN" altLang="en-US" sz="2600" dirty="0"/>
              <a:t>）命令窗口的分页输出</a:t>
            </a:r>
          </a:p>
          <a:p>
            <a:pPr eaLnBrk="1" hangingPunct="1">
              <a:lnSpc>
                <a:spcPct val="90000"/>
              </a:lnSpc>
            </a:pPr>
            <a:r>
              <a:rPr lang="en-US" altLang="zh-CN" sz="2600" dirty="0"/>
              <a:t>more off</a:t>
            </a:r>
            <a:r>
              <a:rPr lang="zh-CN" altLang="en-US" sz="2600" dirty="0"/>
              <a:t>：不允许分页    </a:t>
            </a:r>
            <a:r>
              <a:rPr lang="en-US" altLang="zh-CN" sz="2600" dirty="0"/>
              <a:t>more on</a:t>
            </a:r>
            <a:r>
              <a:rPr lang="zh-CN" altLang="en-US" sz="2600" dirty="0"/>
              <a:t>：允许分页</a:t>
            </a:r>
          </a:p>
          <a:p>
            <a:pPr eaLnBrk="1" hangingPunct="1">
              <a:lnSpc>
                <a:spcPct val="90000"/>
              </a:lnSpc>
            </a:pPr>
            <a:r>
              <a:rPr lang="en-US" altLang="zh-CN" sz="2600" dirty="0"/>
              <a:t>more(n)</a:t>
            </a:r>
            <a:r>
              <a:rPr lang="zh-CN" altLang="en-US" sz="2600" dirty="0"/>
              <a:t>：指定每页输出的行数</a:t>
            </a:r>
          </a:p>
          <a:p>
            <a:pPr eaLnBrk="1" hangingPunct="1">
              <a:lnSpc>
                <a:spcPct val="90000"/>
              </a:lnSpc>
            </a:pPr>
            <a:r>
              <a:rPr lang="zh-CN" altLang="en-US" sz="2600" dirty="0"/>
              <a:t>回车前进一行，空格键显示下一页，</a:t>
            </a:r>
            <a:r>
              <a:rPr lang="en-US" altLang="zh-CN" sz="2600" dirty="0"/>
              <a:t>q</a:t>
            </a:r>
            <a:r>
              <a:rPr lang="zh-CN" altLang="en-US" sz="2600" dirty="0"/>
              <a:t>结束当前显示。</a:t>
            </a:r>
          </a:p>
          <a:p>
            <a:pPr eaLnBrk="1" hangingPunct="1">
              <a:lnSpc>
                <a:spcPct val="90000"/>
              </a:lnSpc>
              <a:buFont typeface="Wingdings" panose="05000000000000000000" pitchFamily="2" charset="2"/>
              <a:buNone/>
            </a:pPr>
            <a:r>
              <a:rPr lang="zh-CN" altLang="en-US" sz="2600" dirty="0"/>
              <a:t>（</a:t>
            </a:r>
            <a:r>
              <a:rPr lang="en-US" altLang="zh-CN" sz="2600" dirty="0"/>
              <a:t>3</a:t>
            </a:r>
            <a:r>
              <a:rPr lang="zh-CN" altLang="en-US" sz="2600" dirty="0"/>
              <a:t>）多行命令（</a:t>
            </a:r>
            <a:r>
              <a:rPr lang="en-US" altLang="zh-CN" sz="2600" dirty="0"/>
              <a:t>…</a:t>
            </a:r>
            <a:r>
              <a:rPr lang="zh-CN" altLang="en-US" sz="2600" dirty="0"/>
              <a:t>）</a:t>
            </a:r>
          </a:p>
          <a:p>
            <a:pPr eaLnBrk="1" hangingPunct="1">
              <a:lnSpc>
                <a:spcPct val="90000"/>
              </a:lnSpc>
            </a:pPr>
            <a:r>
              <a:rPr lang="zh-CN" altLang="en-US" sz="2600" dirty="0"/>
              <a:t>如果命令语句超过一行或者太长希望分行输入，则可以使用多行命令继续输入。</a:t>
            </a:r>
          </a:p>
          <a:p>
            <a:pPr eaLnBrk="1" hangingPunct="1">
              <a:lnSpc>
                <a:spcPct val="90000"/>
              </a:lnSpc>
            </a:pPr>
            <a:r>
              <a:rPr lang="en-US" altLang="zh-CN" sz="2600" dirty="0"/>
              <a:t>S=1-12+13+4+…</a:t>
            </a:r>
          </a:p>
          <a:p>
            <a:pPr eaLnBrk="1" hangingPunct="1">
              <a:lnSpc>
                <a:spcPct val="90000"/>
              </a:lnSpc>
              <a:buFont typeface="Wingdings" panose="05000000000000000000" pitchFamily="2" charset="2"/>
              <a:buNone/>
            </a:pPr>
            <a:r>
              <a:rPr lang="en-US" altLang="zh-CN" sz="2600" dirty="0"/>
              <a:t>9-4-18;</a:t>
            </a:r>
          </a:p>
        </p:txBody>
      </p:sp>
      <p:sp>
        <p:nvSpPr>
          <p:cNvPr id="7172" name="Line 3">
            <a:extLst>
              <a:ext uri="{FF2B5EF4-FFF2-40B4-BE49-F238E27FC236}">
                <a16:creationId xmlns:a16="http://schemas.microsoft.com/office/drawing/2014/main" id="{75811E35-2871-401B-BD14-FD85269EE18E}"/>
              </a:ext>
            </a:extLst>
          </p:cNvPr>
          <p:cNvSpPr>
            <a:spLocks noChangeShapeType="1"/>
          </p:cNvSpPr>
          <p:nvPr/>
        </p:nvSpPr>
        <p:spPr bwMode="auto">
          <a:xfrm flipV="1">
            <a:off x="1828800" y="1484313"/>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 name="Line 4">
            <a:extLst>
              <a:ext uri="{FF2B5EF4-FFF2-40B4-BE49-F238E27FC236}">
                <a16:creationId xmlns:a16="http://schemas.microsoft.com/office/drawing/2014/main" id="{A4EC7291-24FE-48C6-897E-4F9975798F39}"/>
              </a:ext>
            </a:extLst>
          </p:cNvPr>
          <p:cNvSpPr>
            <a:spLocks noChangeShapeType="1"/>
          </p:cNvSpPr>
          <p:nvPr/>
        </p:nvSpPr>
        <p:spPr bwMode="auto">
          <a:xfrm>
            <a:off x="5257800" y="155733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4477BE86-BAC0-4989-B76E-EF8917C00C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33D311F-BB7A-4B45-849A-1DCAEA3F90C8}" type="slidenum">
              <a:rPr lang="en-US" altLang="zh-CN" sz="1200" smtClean="0">
                <a:latin typeface="Garamond" panose="02020404030301010803" pitchFamily="18" charset="0"/>
              </a:rPr>
              <a:pPr>
                <a:spcBef>
                  <a:spcPct val="0"/>
                </a:spcBef>
                <a:buClrTx/>
                <a:buSzTx/>
                <a:buFontTx/>
                <a:buNone/>
              </a:pPr>
              <a:t>4</a:t>
            </a:fld>
            <a:endParaRPr lang="en-US" altLang="zh-CN" sz="1200">
              <a:latin typeface="Garamond" panose="02020404030301010803" pitchFamily="18" charset="0"/>
            </a:endParaRPr>
          </a:p>
        </p:txBody>
      </p:sp>
      <p:sp>
        <p:nvSpPr>
          <p:cNvPr id="8195" name="Rectangle 1026">
            <a:extLst>
              <a:ext uri="{FF2B5EF4-FFF2-40B4-BE49-F238E27FC236}">
                <a16:creationId xmlns:a16="http://schemas.microsoft.com/office/drawing/2014/main" id="{A04F6B7E-EDF6-48E3-9022-9B5229E1315A}"/>
              </a:ext>
            </a:extLst>
          </p:cNvPr>
          <p:cNvSpPr>
            <a:spLocks noGrp="1" noChangeArrowheads="1"/>
          </p:cNvSpPr>
          <p:nvPr>
            <p:ph type="body" idx="1"/>
          </p:nvPr>
        </p:nvSpPr>
        <p:spPr>
          <a:xfrm>
            <a:off x="776288" y="476250"/>
            <a:ext cx="8902700" cy="5486400"/>
          </a:xfrm>
        </p:spPr>
        <p:txBody>
          <a:bodyPr/>
          <a:lstStyle/>
          <a:p>
            <a:pPr eaLnBrk="1" hangingPunct="1">
              <a:lnSpc>
                <a:spcPct val="90000"/>
              </a:lnSpc>
              <a:buFont typeface="Wingdings" panose="05000000000000000000" pitchFamily="2" charset="2"/>
              <a:buNone/>
            </a:pPr>
            <a:r>
              <a:rPr lang="zh-CN" altLang="en-US" dirty="0">
                <a:solidFill>
                  <a:schemeClr val="tx2"/>
                </a:solidFill>
                <a:latin typeface="Times New Roman" panose="02020603050405020304" pitchFamily="18" charset="0"/>
                <a:cs typeface="Times New Roman" panose="02020603050405020304" pitchFamily="18" charset="0"/>
              </a:rPr>
              <a:t>三、变量和数值显示格式</a:t>
            </a:r>
            <a:br>
              <a:rPr lang="zh-CN" altLang="en-US" sz="2600" dirty="0">
                <a:latin typeface="Times New Roman" panose="02020603050405020304" pitchFamily="18" charset="0"/>
                <a:cs typeface="Times New Roman" panose="02020603050405020304" pitchFamily="18" charset="0"/>
              </a:rPr>
            </a:br>
            <a:r>
              <a:rPr lang="en-US" altLang="zh-CN" sz="2600" dirty="0">
                <a:latin typeface="Times New Roman" panose="02020603050405020304" pitchFamily="18" charset="0"/>
                <a:cs typeface="Times New Roman" panose="02020603050405020304" pitchFamily="18" charset="0"/>
              </a:rPr>
              <a:t>1</a:t>
            </a:r>
            <a:r>
              <a:rPr lang="zh-CN" altLang="en-US" sz="2600" dirty="0">
                <a:latin typeface="Times New Roman" panose="02020603050405020304" pitchFamily="18" charset="0"/>
                <a:cs typeface="Times New Roman" panose="02020603050405020304" pitchFamily="18" charset="0"/>
              </a:rPr>
              <a:t>、变量</a:t>
            </a:r>
          </a:p>
          <a:p>
            <a:pPr eaLnBrk="1" hangingPunct="1">
              <a:lnSpc>
                <a:spcPct val="90000"/>
              </a:lnSpc>
              <a:buFont typeface="Wingdings" panose="05000000000000000000" pitchFamily="2" charset="2"/>
              <a:buNone/>
            </a:pP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1</a:t>
            </a:r>
            <a:r>
              <a:rPr lang="zh-CN" altLang="en-US" sz="2600" dirty="0">
                <a:latin typeface="Times New Roman" panose="02020603050405020304" pitchFamily="18" charset="0"/>
                <a:cs typeface="Times New Roman" panose="02020603050405020304" pitchFamily="18" charset="0"/>
              </a:rPr>
              <a:t>）变量的命名：变量的名字必须以字母开头，之后可以是任意字母、数字或下划线；变量名称区分字母的大小写；变量中不能包含有标点符号。最大长度为</a:t>
            </a:r>
            <a:r>
              <a:rPr lang="en-US" altLang="zh-CN" sz="2600" dirty="0">
                <a:latin typeface="Times New Roman" panose="02020603050405020304" pitchFamily="18" charset="0"/>
                <a:cs typeface="Times New Roman" panose="02020603050405020304" pitchFamily="18" charset="0"/>
              </a:rPr>
              <a:t>63</a:t>
            </a:r>
            <a:r>
              <a:rPr lang="zh-CN" altLang="en-US" sz="2600" dirty="0">
                <a:latin typeface="Times New Roman" panose="02020603050405020304" pitchFamily="18" charset="0"/>
                <a:cs typeface="Times New Roman" panose="02020603050405020304" pitchFamily="18" charset="0"/>
              </a:rPr>
              <a:t>字符。</a:t>
            </a:r>
          </a:p>
          <a:p>
            <a:pPr eaLnBrk="1" hangingPunct="1">
              <a:lnSpc>
                <a:spcPct val="90000"/>
              </a:lnSpc>
              <a:buFont typeface="Wingdings" panose="05000000000000000000" pitchFamily="2" charset="2"/>
              <a:buNone/>
            </a:pP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2</a:t>
            </a:r>
            <a:r>
              <a:rPr lang="zh-CN" altLang="en-US" sz="2600" dirty="0">
                <a:latin typeface="Times New Roman" panose="02020603050405020304" pitchFamily="18" charset="0"/>
                <a:cs typeface="Times New Roman" panose="02020603050405020304" pitchFamily="18" charset="0"/>
              </a:rPr>
              <a:t>）一些特殊的变量</a:t>
            </a:r>
          </a:p>
          <a:p>
            <a:pPr eaLnBrk="1" hangingPunct="1">
              <a:lnSpc>
                <a:spcPct val="90000"/>
              </a:lnSpc>
              <a:buFont typeface="Wingdings" panose="05000000000000000000" pitchFamily="2" charset="2"/>
              <a:buNone/>
            </a:pPr>
            <a:r>
              <a:rPr lang="en-US" altLang="zh-CN" sz="2600" dirty="0" err="1">
                <a:latin typeface="Times New Roman" panose="02020603050405020304" pitchFamily="18" charset="0"/>
                <a:cs typeface="Times New Roman" panose="02020603050405020304" pitchFamily="18" charset="0"/>
              </a:rPr>
              <a:t>ans</a:t>
            </a:r>
            <a:r>
              <a:rPr lang="zh-CN" altLang="en-US" sz="2600" dirty="0">
                <a:latin typeface="Times New Roman" panose="02020603050405020304" pitchFamily="18" charset="0"/>
                <a:cs typeface="Times New Roman" panose="02020603050405020304" pitchFamily="18" charset="0"/>
              </a:rPr>
              <a:t>：用于结果的缺省变量名   </a:t>
            </a:r>
            <a:r>
              <a:rPr lang="en-US" altLang="zh-CN" sz="2600" dirty="0" err="1">
                <a:latin typeface="Times New Roman" panose="02020603050405020304" pitchFamily="18" charset="0"/>
                <a:cs typeface="Times New Roman" panose="02020603050405020304" pitchFamily="18" charset="0"/>
              </a:rPr>
              <a:t>i</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j</a:t>
            </a:r>
            <a:r>
              <a:rPr lang="zh-CN" altLang="en-US" sz="2600" dirty="0">
                <a:latin typeface="Times New Roman" panose="02020603050405020304" pitchFamily="18" charset="0"/>
                <a:cs typeface="Times New Roman" panose="02020603050405020304" pitchFamily="18" charset="0"/>
              </a:rPr>
              <a:t>：虚数单位</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pi</a:t>
            </a:r>
            <a:r>
              <a:rPr lang="zh-CN" altLang="en-US" sz="2600" dirty="0">
                <a:latin typeface="Times New Roman" panose="02020603050405020304" pitchFamily="18" charset="0"/>
                <a:cs typeface="Times New Roman" panose="02020603050405020304" pitchFamily="18" charset="0"/>
              </a:rPr>
              <a:t>：圆周率                                 </a:t>
            </a:r>
            <a:r>
              <a:rPr lang="en-US" altLang="zh-CN" sz="2600" dirty="0" err="1">
                <a:latin typeface="Times New Roman" panose="02020603050405020304" pitchFamily="18" charset="0"/>
                <a:cs typeface="Times New Roman" panose="02020603050405020304" pitchFamily="18" charset="0"/>
              </a:rPr>
              <a:t>nargin</a:t>
            </a:r>
            <a:r>
              <a:rPr lang="zh-CN" altLang="en-US" sz="2600" dirty="0">
                <a:latin typeface="Times New Roman" panose="02020603050405020304" pitchFamily="18" charset="0"/>
                <a:cs typeface="Times New Roman" panose="02020603050405020304" pitchFamily="18" charset="0"/>
              </a:rPr>
              <a:t>：函数的输入变量个数</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eps</a:t>
            </a:r>
            <a:r>
              <a:rPr lang="zh-CN" altLang="en-US" sz="2600" dirty="0">
                <a:latin typeface="Times New Roman" panose="02020603050405020304" pitchFamily="18" charset="0"/>
                <a:cs typeface="Times New Roman" panose="02020603050405020304" pitchFamily="18" charset="0"/>
              </a:rPr>
              <a:t>：计算机的最小数               </a:t>
            </a:r>
            <a:r>
              <a:rPr lang="en-US" altLang="zh-CN" sz="2600" dirty="0" err="1">
                <a:latin typeface="Times New Roman" panose="02020603050405020304" pitchFamily="18" charset="0"/>
                <a:cs typeface="Times New Roman" panose="02020603050405020304" pitchFamily="18" charset="0"/>
              </a:rPr>
              <a:t>nargout</a:t>
            </a:r>
            <a:r>
              <a:rPr lang="zh-CN" altLang="en-US" sz="2600" dirty="0">
                <a:latin typeface="Times New Roman" panose="02020603050405020304" pitchFamily="18" charset="0"/>
                <a:cs typeface="Times New Roman" panose="02020603050405020304" pitchFamily="18" charset="0"/>
              </a:rPr>
              <a:t>：函数的输出变量个数</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inf</a:t>
            </a:r>
            <a:r>
              <a:rPr lang="zh-CN" altLang="en-US" sz="2600" dirty="0">
                <a:latin typeface="Times New Roman" panose="02020603050405020304" pitchFamily="18" charset="0"/>
                <a:cs typeface="Times New Roman" panose="02020603050405020304" pitchFamily="18" charset="0"/>
              </a:rPr>
              <a:t>：无穷大                                </a:t>
            </a:r>
            <a:r>
              <a:rPr lang="en-US" altLang="zh-CN" sz="2600" dirty="0" err="1">
                <a:latin typeface="Times New Roman" panose="02020603050405020304" pitchFamily="18" charset="0"/>
                <a:cs typeface="Times New Roman" panose="02020603050405020304" pitchFamily="18" charset="0"/>
              </a:rPr>
              <a:t>realmin</a:t>
            </a:r>
            <a:r>
              <a:rPr lang="zh-CN" altLang="en-US" sz="2600" dirty="0">
                <a:latin typeface="Times New Roman" panose="02020603050405020304" pitchFamily="18" charset="0"/>
                <a:cs typeface="Times New Roman" panose="02020603050405020304" pitchFamily="18" charset="0"/>
              </a:rPr>
              <a:t>：最小正实数</a:t>
            </a:r>
          </a:p>
          <a:p>
            <a:pPr eaLnBrk="1" hangingPunct="1">
              <a:lnSpc>
                <a:spcPct val="90000"/>
              </a:lnSpc>
              <a:buFont typeface="Wingdings" panose="05000000000000000000" pitchFamily="2" charset="2"/>
              <a:buNone/>
            </a:pPr>
            <a:r>
              <a:rPr lang="en-US" altLang="zh-CN" sz="2600" dirty="0" err="1">
                <a:latin typeface="Times New Roman" panose="02020603050405020304" pitchFamily="18" charset="0"/>
                <a:cs typeface="Times New Roman" panose="02020603050405020304" pitchFamily="18" charset="0"/>
              </a:rPr>
              <a:t>realmax</a:t>
            </a:r>
            <a:r>
              <a:rPr lang="zh-CN" altLang="en-US" sz="2600" dirty="0">
                <a:latin typeface="Times New Roman" panose="02020603050405020304" pitchFamily="18" charset="0"/>
                <a:cs typeface="Times New Roman" panose="02020603050405020304" pitchFamily="18" charset="0"/>
              </a:rPr>
              <a:t>：最大正实数                </a:t>
            </a:r>
            <a:r>
              <a:rPr lang="en-US" altLang="zh-CN" sz="2600" dirty="0">
                <a:latin typeface="Times New Roman" panose="02020603050405020304" pitchFamily="18" charset="0"/>
                <a:cs typeface="Times New Roman" panose="02020603050405020304" pitchFamily="18" charset="0"/>
              </a:rPr>
              <a:t>nan</a:t>
            </a:r>
            <a:r>
              <a:rPr lang="zh-CN" altLang="en-US" sz="2600" dirty="0">
                <a:latin typeface="Times New Roman" panose="02020603050405020304" pitchFamily="18" charset="0"/>
                <a:cs typeface="Times New Roman" panose="02020603050405020304" pitchFamily="18" charset="0"/>
              </a:rPr>
              <a:t>：不定量</a:t>
            </a:r>
          </a:p>
          <a:p>
            <a:pPr eaLnBrk="1" hangingPunct="1">
              <a:lnSpc>
                <a:spcPct val="90000"/>
              </a:lnSpc>
              <a:buFont typeface="Wingdings" panose="05000000000000000000" pitchFamily="2" charset="2"/>
              <a:buNone/>
            </a:pPr>
            <a:r>
              <a:rPr lang="en-US" altLang="zh-CN" sz="2600" dirty="0">
                <a:latin typeface="Times New Roman" panose="02020603050405020304" pitchFamily="18" charset="0"/>
                <a:cs typeface="Times New Roman" panose="02020603050405020304" pitchFamily="18" charset="0"/>
              </a:rPr>
              <a:t>flops</a:t>
            </a:r>
            <a:r>
              <a:rPr lang="zh-CN" altLang="en-US" sz="2600" dirty="0">
                <a:latin typeface="Times New Roman" panose="02020603050405020304" pitchFamily="18" charset="0"/>
                <a:cs typeface="Times New Roman" panose="02020603050405020304" pitchFamily="18" charset="0"/>
              </a:rPr>
              <a:t>：浮点运算数</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a:extLst>
              <a:ext uri="{FF2B5EF4-FFF2-40B4-BE49-F238E27FC236}">
                <a16:creationId xmlns:a16="http://schemas.microsoft.com/office/drawing/2014/main" id="{5E8884FD-09BF-4ACD-AF7B-95F62F9769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4B3AF26-E534-4FE1-9A4A-386D01EDC201}" type="slidenum">
              <a:rPr lang="en-US" altLang="zh-CN" sz="1200" smtClean="0">
                <a:latin typeface="Garamond" panose="02020404030301010803" pitchFamily="18" charset="0"/>
              </a:rPr>
              <a:pPr>
                <a:spcBef>
                  <a:spcPct val="0"/>
                </a:spcBef>
                <a:buClrTx/>
                <a:buSzTx/>
                <a:buFontTx/>
                <a:buNone/>
              </a:pPr>
              <a:t>5</a:t>
            </a:fld>
            <a:endParaRPr lang="en-US" altLang="zh-CN" sz="1200">
              <a:latin typeface="Garamond" panose="02020404030301010803" pitchFamily="18" charset="0"/>
            </a:endParaRPr>
          </a:p>
        </p:txBody>
      </p:sp>
      <p:sp>
        <p:nvSpPr>
          <p:cNvPr id="10243" name="Rectangle 1026">
            <a:extLst>
              <a:ext uri="{FF2B5EF4-FFF2-40B4-BE49-F238E27FC236}">
                <a16:creationId xmlns:a16="http://schemas.microsoft.com/office/drawing/2014/main" id="{C394CB4D-AE02-4B0D-8229-07631B161DF4}"/>
              </a:ext>
            </a:extLst>
          </p:cNvPr>
          <p:cNvSpPr>
            <a:spLocks noGrp="1" noChangeArrowheads="1"/>
          </p:cNvSpPr>
          <p:nvPr>
            <p:ph type="body" idx="1"/>
          </p:nvPr>
        </p:nvSpPr>
        <p:spPr>
          <a:xfrm>
            <a:off x="704850" y="620713"/>
            <a:ext cx="8420100" cy="5181600"/>
          </a:xfrm>
        </p:spPr>
        <p:txBody>
          <a:bodyPr/>
          <a:lstStyle/>
          <a:p>
            <a:pPr eaLnBrk="1" hangingPunct="1">
              <a:lnSpc>
                <a:spcPct val="90000"/>
              </a:lnSpc>
              <a:buFont typeface="Wingdings" panose="05000000000000000000" pitchFamily="2" charset="2"/>
              <a:buNone/>
            </a:pPr>
            <a:r>
              <a:rPr lang="zh-CN" altLang="en-US" sz="2600" dirty="0"/>
              <a:t>（</a:t>
            </a:r>
            <a:r>
              <a:rPr lang="en-US" altLang="zh-CN" sz="2600" dirty="0"/>
              <a:t>3</a:t>
            </a:r>
            <a:r>
              <a:rPr lang="zh-CN" altLang="en-US" sz="2600" dirty="0"/>
              <a:t>）变量操作</a:t>
            </a:r>
          </a:p>
          <a:p>
            <a:pPr eaLnBrk="1" hangingPunct="1">
              <a:lnSpc>
                <a:spcPct val="90000"/>
              </a:lnSpc>
            </a:pPr>
            <a:r>
              <a:rPr lang="zh-CN" altLang="en-US" sz="2600" dirty="0"/>
              <a:t>在命令窗口中，同时存储着输入的命令和创建的所有变量值，它们可以在任何需要的时候被调用。如要察看变量</a:t>
            </a:r>
            <a:r>
              <a:rPr lang="en-US" altLang="zh-CN" sz="2600" dirty="0"/>
              <a:t>a</a:t>
            </a:r>
            <a:r>
              <a:rPr lang="zh-CN" altLang="en-US" sz="2600" dirty="0"/>
              <a:t>的值，只需要在命令窗口中输入变量的名称即可：</a:t>
            </a:r>
            <a:r>
              <a:rPr lang="en-US" altLang="zh-CN" sz="2600" dirty="0"/>
              <a:t>》a</a:t>
            </a:r>
          </a:p>
          <a:p>
            <a:pPr eaLnBrk="1" hangingPunct="1">
              <a:lnSpc>
                <a:spcPct val="90000"/>
              </a:lnSpc>
              <a:buFont typeface="Wingdings" panose="05000000000000000000" pitchFamily="2" charset="2"/>
              <a:buNone/>
            </a:pPr>
            <a:r>
              <a:rPr lang="en-US" altLang="zh-CN" sz="2600" dirty="0"/>
              <a:t>2</a:t>
            </a:r>
            <a:r>
              <a:rPr lang="zh-CN" altLang="en-US" sz="2600" dirty="0"/>
              <a:t>、数值显示格式</a:t>
            </a:r>
          </a:p>
          <a:p>
            <a:pPr eaLnBrk="1" hangingPunct="1">
              <a:lnSpc>
                <a:spcPct val="90000"/>
              </a:lnSpc>
            </a:pPr>
            <a:r>
              <a:rPr lang="zh-CN" altLang="en-US" sz="2600" dirty="0"/>
              <a:t>任何</a:t>
            </a:r>
            <a:r>
              <a:rPr lang="en-US" altLang="zh-CN" sz="2600" dirty="0"/>
              <a:t>MATLAB</a:t>
            </a:r>
            <a:r>
              <a:rPr lang="zh-CN" altLang="en-US" sz="2600" dirty="0"/>
              <a:t>的语句的执行结果都可以在屏幕上显示，同时赋值给指定的变量，没有指定变量时，赋值给一个特殊的变量</a:t>
            </a:r>
            <a:r>
              <a:rPr lang="en-US" altLang="zh-CN" sz="2600" dirty="0" err="1"/>
              <a:t>ans</a:t>
            </a:r>
            <a:r>
              <a:rPr lang="zh-CN" altLang="en-US" sz="2600" dirty="0"/>
              <a:t>，数据的显示格式由</a:t>
            </a:r>
            <a:r>
              <a:rPr lang="en-US" altLang="zh-CN" sz="2600" dirty="0"/>
              <a:t>format</a:t>
            </a:r>
            <a:r>
              <a:rPr lang="zh-CN" altLang="en-US" sz="2600" dirty="0"/>
              <a:t>命令控制。</a:t>
            </a:r>
          </a:p>
          <a:p>
            <a:pPr eaLnBrk="1" hangingPunct="1">
              <a:lnSpc>
                <a:spcPct val="90000"/>
              </a:lnSpc>
            </a:pPr>
            <a:r>
              <a:rPr lang="en-US" altLang="zh-CN" sz="2600" dirty="0"/>
              <a:t>format</a:t>
            </a:r>
            <a:r>
              <a:rPr lang="zh-CN" altLang="en-US" sz="2600" dirty="0"/>
              <a:t>只是影响结果的显示，不影响其计算与存储；</a:t>
            </a:r>
            <a:r>
              <a:rPr lang="en-US" altLang="zh-CN" sz="2600" dirty="0"/>
              <a:t>MATLAB</a:t>
            </a:r>
            <a:r>
              <a:rPr lang="zh-CN" altLang="en-US" sz="2600" dirty="0"/>
              <a:t>总是以双字长浮点数（双精度）来执行所有的运算。</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018DDC60-BB41-4043-B8A3-61827B326D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1CA9128-885B-49EB-988E-28AFD0E4E4F9}" type="slidenum">
              <a:rPr lang="en-US" altLang="zh-CN" sz="1200" smtClean="0">
                <a:latin typeface="Garamond" panose="02020404030301010803" pitchFamily="18" charset="0"/>
              </a:rPr>
              <a:pPr>
                <a:spcBef>
                  <a:spcPct val="0"/>
                </a:spcBef>
                <a:buClrTx/>
                <a:buSzTx/>
                <a:buFontTx/>
                <a:buNone/>
              </a:pPr>
              <a:t>6</a:t>
            </a:fld>
            <a:endParaRPr lang="en-US" altLang="zh-CN" sz="1200">
              <a:latin typeface="Garamond" panose="02020404030301010803" pitchFamily="18" charset="0"/>
            </a:endParaRPr>
          </a:p>
        </p:txBody>
      </p:sp>
      <p:sp>
        <p:nvSpPr>
          <p:cNvPr id="11267" name="Rectangle 1026">
            <a:extLst>
              <a:ext uri="{FF2B5EF4-FFF2-40B4-BE49-F238E27FC236}">
                <a16:creationId xmlns:a16="http://schemas.microsoft.com/office/drawing/2014/main" id="{B82309F9-44A4-48E4-9EE7-F5B7533AAC12}"/>
              </a:ext>
            </a:extLst>
          </p:cNvPr>
          <p:cNvSpPr>
            <a:spLocks noGrp="1" noChangeArrowheads="1"/>
          </p:cNvSpPr>
          <p:nvPr>
            <p:ph type="body" idx="1"/>
          </p:nvPr>
        </p:nvSpPr>
        <p:spPr>
          <a:xfrm>
            <a:off x="416496" y="364703"/>
            <a:ext cx="9272588" cy="6016625"/>
          </a:xfrm>
        </p:spPr>
        <p:txBody>
          <a:bodyPr/>
          <a:lstStyle/>
          <a:p>
            <a:pPr eaLnBrk="1" hangingPunct="1">
              <a:lnSpc>
                <a:spcPct val="150000"/>
              </a:lnSpc>
              <a:buSzPct val="100000"/>
            </a:pPr>
            <a:r>
              <a:rPr lang="zh-CN" altLang="en-US" sz="2600" dirty="0"/>
              <a:t>如果结果为整数，则显示没有小数；如果结果不是整数，则输出形式有：</a:t>
            </a:r>
          </a:p>
          <a:p>
            <a:pPr eaLnBrk="1" hangingPunct="1">
              <a:lnSpc>
                <a:spcPct val="150000"/>
              </a:lnSpc>
              <a:buFont typeface="Wingdings" panose="05000000000000000000" pitchFamily="2" charset="2"/>
              <a:buNone/>
            </a:pPr>
            <a:r>
              <a:rPr lang="en-US" altLang="zh-CN" sz="2600" dirty="0"/>
              <a:t>format  short</a:t>
            </a:r>
            <a:r>
              <a:rPr lang="zh-CN" altLang="en-US" sz="2600" dirty="0"/>
              <a:t>：短格式（四舍五入，小数点后保留</a:t>
            </a:r>
            <a:r>
              <a:rPr lang="en-US" altLang="zh-CN" sz="2600" dirty="0"/>
              <a:t>4</a:t>
            </a:r>
            <a:r>
              <a:rPr lang="zh-CN" altLang="en-US" sz="2600" dirty="0"/>
              <a:t>位）</a:t>
            </a:r>
            <a:r>
              <a:rPr lang="en-US" altLang="zh-CN" sz="2600" dirty="0"/>
              <a:t>99.1253</a:t>
            </a:r>
          </a:p>
          <a:p>
            <a:pPr eaLnBrk="1" hangingPunct="1">
              <a:lnSpc>
                <a:spcPct val="150000"/>
              </a:lnSpc>
              <a:buFont typeface="Wingdings" panose="05000000000000000000" pitchFamily="2" charset="2"/>
              <a:buNone/>
            </a:pPr>
            <a:r>
              <a:rPr lang="en-US" altLang="zh-CN" sz="2600" dirty="0"/>
              <a:t>format long</a:t>
            </a:r>
            <a:r>
              <a:rPr lang="zh-CN" altLang="en-US" sz="2600" dirty="0"/>
              <a:t>：长格式（四舍五入，</a:t>
            </a:r>
            <a:r>
              <a:rPr lang="en-US" altLang="zh-CN" sz="2600" dirty="0"/>
              <a:t>double</a:t>
            </a:r>
            <a:r>
              <a:rPr lang="zh-CN" altLang="en-US" sz="2600" dirty="0"/>
              <a:t>类型小数点后保留</a:t>
            </a:r>
            <a:r>
              <a:rPr lang="en-US" altLang="zh-CN" sz="2600" dirty="0"/>
              <a:t>15</a:t>
            </a:r>
            <a:r>
              <a:rPr lang="zh-CN" altLang="en-US" sz="2600" dirty="0"/>
              <a:t>位，</a:t>
            </a:r>
            <a:r>
              <a:rPr lang="en-US" altLang="zh-CN" sz="2600" dirty="0"/>
              <a:t>single</a:t>
            </a:r>
            <a:r>
              <a:rPr lang="zh-CN" altLang="en-US" sz="2600" dirty="0"/>
              <a:t>类型小数点后保留</a:t>
            </a:r>
            <a:r>
              <a:rPr lang="en-US" altLang="zh-CN" sz="2600" dirty="0"/>
              <a:t>7</a:t>
            </a:r>
            <a:r>
              <a:rPr lang="zh-CN" altLang="en-US" sz="2600" dirty="0"/>
              <a:t>位数）   </a:t>
            </a:r>
            <a:r>
              <a:rPr lang="en-US" altLang="zh-CN" sz="2600" dirty="0"/>
              <a:t>99.123456789000002</a:t>
            </a:r>
          </a:p>
          <a:p>
            <a:pPr eaLnBrk="1" hangingPunct="1">
              <a:lnSpc>
                <a:spcPct val="150000"/>
              </a:lnSpc>
              <a:buFont typeface="Wingdings" panose="05000000000000000000" pitchFamily="2" charset="2"/>
              <a:buNone/>
            </a:pPr>
            <a:r>
              <a:rPr lang="en-US" altLang="zh-CN" sz="2600" dirty="0"/>
              <a:t>format short e</a:t>
            </a:r>
            <a:r>
              <a:rPr lang="zh-CN" altLang="en-US" sz="2600" dirty="0"/>
              <a:t>：短格式</a:t>
            </a:r>
            <a:r>
              <a:rPr lang="en-US" altLang="zh-CN" sz="2600" dirty="0"/>
              <a:t>e</a:t>
            </a:r>
            <a:r>
              <a:rPr lang="zh-CN" altLang="en-US" sz="2600" dirty="0"/>
              <a:t>方式 </a:t>
            </a:r>
            <a:r>
              <a:rPr lang="en-US" altLang="zh-CN" sz="2600" dirty="0"/>
              <a:t>9.9123e+001</a:t>
            </a:r>
          </a:p>
          <a:p>
            <a:pPr eaLnBrk="1" hangingPunct="1">
              <a:lnSpc>
                <a:spcPct val="150000"/>
              </a:lnSpc>
              <a:buFont typeface="Wingdings" panose="05000000000000000000" pitchFamily="2" charset="2"/>
              <a:buNone/>
            </a:pPr>
            <a:r>
              <a:rPr lang="en-US" altLang="zh-CN" sz="2600" dirty="0"/>
              <a:t>format long e</a:t>
            </a:r>
            <a:r>
              <a:rPr lang="zh-CN" altLang="en-US" sz="2600" dirty="0"/>
              <a:t>：长格式</a:t>
            </a:r>
            <a:r>
              <a:rPr lang="en-US" altLang="zh-CN" sz="2600" dirty="0"/>
              <a:t>e</a:t>
            </a:r>
            <a:r>
              <a:rPr lang="zh-CN" altLang="en-US" sz="2600" dirty="0"/>
              <a:t>方式 </a:t>
            </a:r>
            <a:r>
              <a:rPr lang="en-US" altLang="zh-CN" sz="2600" dirty="0"/>
              <a:t>9.912345678900000e+001</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24844EBD-1BA4-41C9-9E7E-7BD22C7011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17DB619-A0FF-433E-B664-877E7670DC2A}" type="slidenum">
              <a:rPr lang="en-US" altLang="zh-CN" sz="1200" smtClean="0">
                <a:latin typeface="Garamond" panose="02020404030301010803" pitchFamily="18" charset="0"/>
              </a:rPr>
              <a:pPr>
                <a:spcBef>
                  <a:spcPct val="0"/>
                </a:spcBef>
                <a:buClrTx/>
                <a:buSzTx/>
                <a:buFontTx/>
                <a:buNone/>
              </a:pPr>
              <a:t>7</a:t>
            </a:fld>
            <a:endParaRPr lang="en-US" altLang="zh-CN" sz="1200">
              <a:latin typeface="Garamond" panose="02020404030301010803" pitchFamily="18" charset="0"/>
            </a:endParaRPr>
          </a:p>
        </p:txBody>
      </p:sp>
      <p:sp>
        <p:nvSpPr>
          <p:cNvPr id="10243" name="Rectangle 1026">
            <a:extLst>
              <a:ext uri="{FF2B5EF4-FFF2-40B4-BE49-F238E27FC236}">
                <a16:creationId xmlns:a16="http://schemas.microsoft.com/office/drawing/2014/main" id="{DE5C93F6-B362-4164-9BC1-59E6E66F26B4}"/>
              </a:ext>
            </a:extLst>
          </p:cNvPr>
          <p:cNvSpPr>
            <a:spLocks noGrp="1" noChangeArrowheads="1"/>
          </p:cNvSpPr>
          <p:nvPr>
            <p:ph type="body" idx="1"/>
          </p:nvPr>
        </p:nvSpPr>
        <p:spPr>
          <a:xfrm>
            <a:off x="488950" y="620713"/>
            <a:ext cx="9272588" cy="4824412"/>
          </a:xfrm>
        </p:spPr>
        <p:txBody>
          <a:bodyPr/>
          <a:lstStyle/>
          <a:p>
            <a:pPr marL="0" indent="0" eaLnBrk="1" hangingPunct="1">
              <a:lnSpc>
                <a:spcPct val="150000"/>
              </a:lnSpc>
              <a:buSzPct val="100000"/>
              <a:buFont typeface="Wingdings" panose="05000000000000000000" pitchFamily="2" charset="2"/>
              <a:buNone/>
              <a:defRPr/>
            </a:pPr>
            <a:r>
              <a:rPr lang="en-US" altLang="zh-CN" sz="2600" dirty="0"/>
              <a:t>format </a:t>
            </a:r>
            <a:r>
              <a:rPr lang="en-US" altLang="zh-CN" sz="2600" dirty="0" err="1"/>
              <a:t>shorteng</a:t>
            </a:r>
            <a:r>
              <a:rPr lang="en-US" altLang="zh-CN" sz="2600" dirty="0"/>
              <a:t>: </a:t>
            </a:r>
            <a:r>
              <a:rPr lang="zh-CN" altLang="en-US" sz="2600" dirty="0"/>
              <a:t>工程短格式，指数全部为</a:t>
            </a:r>
            <a:r>
              <a:rPr lang="en-US" altLang="zh-CN" sz="2600" dirty="0"/>
              <a:t>3</a:t>
            </a:r>
            <a:r>
              <a:rPr lang="zh-CN" altLang="en-US" sz="2600" dirty="0"/>
              <a:t>的倍数</a:t>
            </a:r>
            <a:endParaRPr lang="en-US" altLang="zh-CN" sz="2600" dirty="0"/>
          </a:p>
          <a:p>
            <a:pPr marL="0" indent="0" eaLnBrk="1" hangingPunct="1">
              <a:lnSpc>
                <a:spcPct val="150000"/>
              </a:lnSpc>
              <a:buSzPct val="100000"/>
              <a:buFont typeface="Wingdings" panose="05000000000000000000" pitchFamily="2" charset="2"/>
              <a:buNone/>
              <a:defRPr/>
            </a:pPr>
            <a:r>
              <a:rPr lang="en-US" altLang="zh-CN" sz="2600" dirty="0"/>
              <a:t>format </a:t>
            </a:r>
            <a:r>
              <a:rPr lang="en-US" altLang="zh-CN" sz="2600" dirty="0" err="1"/>
              <a:t>longeng</a:t>
            </a:r>
            <a:r>
              <a:rPr lang="en-US" altLang="zh-CN" sz="2600" dirty="0"/>
              <a:t>: </a:t>
            </a:r>
            <a:r>
              <a:rPr lang="zh-CN" altLang="en-US" sz="2600" dirty="0"/>
              <a:t>工程长格式，指数全部为</a:t>
            </a:r>
            <a:r>
              <a:rPr lang="en-US" altLang="zh-CN" sz="2600" dirty="0"/>
              <a:t>3</a:t>
            </a:r>
            <a:r>
              <a:rPr lang="zh-CN" altLang="en-US" sz="2600" dirty="0"/>
              <a:t>的倍数</a:t>
            </a:r>
            <a:endParaRPr lang="en-US" altLang="zh-CN" sz="2600" dirty="0"/>
          </a:p>
          <a:p>
            <a:pPr eaLnBrk="1" hangingPunct="1">
              <a:buFont typeface="Wingdings" panose="05000000000000000000" pitchFamily="2" charset="2"/>
              <a:buNone/>
              <a:defRPr/>
            </a:pPr>
            <a:r>
              <a:rPr lang="en-US" altLang="zh-CN" sz="2600" dirty="0"/>
              <a:t>format rational</a:t>
            </a:r>
            <a:r>
              <a:rPr lang="zh-CN" altLang="en-US" sz="2600" dirty="0"/>
              <a:t>：分数的形式表示（最小整数的比值）</a:t>
            </a:r>
            <a:endParaRPr lang="en-US" altLang="zh-CN" sz="2600" dirty="0"/>
          </a:p>
          <a:p>
            <a:pPr eaLnBrk="1" hangingPunct="1">
              <a:buFont typeface="Wingdings" panose="05000000000000000000" pitchFamily="2" charset="2"/>
              <a:buNone/>
              <a:defRPr/>
            </a:pPr>
            <a:endParaRPr lang="en-US" altLang="zh-CN" sz="2600" dirty="0"/>
          </a:p>
          <a:p>
            <a:pPr eaLnBrk="1" hangingPunct="1">
              <a:buSzPct val="100000"/>
              <a:defRPr/>
            </a:pPr>
            <a:r>
              <a:rPr lang="zh-CN" altLang="en-US" sz="2600" dirty="0"/>
              <a:t>结果无论整数，还是有小数部分，输出形式有：</a:t>
            </a:r>
            <a:endParaRPr lang="en-US" altLang="zh-CN" sz="2600" dirty="0"/>
          </a:p>
          <a:p>
            <a:pPr eaLnBrk="1" hangingPunct="1">
              <a:buFont typeface="Wingdings" panose="05000000000000000000" pitchFamily="2" charset="2"/>
              <a:buNone/>
              <a:defRPr/>
            </a:pPr>
            <a:r>
              <a:rPr lang="en-US" altLang="zh-CN" sz="2600" dirty="0"/>
              <a:t>format bank</a:t>
            </a:r>
            <a:r>
              <a:rPr lang="zh-CN" altLang="en-US" sz="2600" dirty="0">
                <a:sym typeface="Wingdings" panose="05000000000000000000" pitchFamily="2" charset="2"/>
              </a:rPr>
              <a:t>：（保留</a:t>
            </a:r>
            <a:r>
              <a:rPr lang="en-US" altLang="zh-CN" sz="2600" dirty="0">
                <a:sym typeface="Wingdings" panose="05000000000000000000" pitchFamily="2" charset="2"/>
              </a:rPr>
              <a:t>2</a:t>
            </a:r>
            <a:r>
              <a:rPr lang="zh-CN" altLang="en-US" sz="2600" dirty="0">
                <a:sym typeface="Wingdings" panose="05000000000000000000" pitchFamily="2" charset="2"/>
              </a:rPr>
              <a:t>位小数，不是四舍五入）</a:t>
            </a:r>
            <a:r>
              <a:rPr lang="en-US" altLang="zh-CN" sz="2600" dirty="0"/>
              <a:t>99.12</a:t>
            </a:r>
          </a:p>
          <a:p>
            <a:pPr eaLnBrk="1" hangingPunct="1">
              <a:buFont typeface="Wingdings" panose="05000000000000000000" pitchFamily="2" charset="2"/>
              <a:buNone/>
              <a:defRPr/>
            </a:pPr>
            <a:r>
              <a:rPr lang="en-US" altLang="zh-CN" sz="2600" dirty="0"/>
              <a:t>format hex</a:t>
            </a:r>
            <a:r>
              <a:rPr lang="zh-CN" altLang="en-US" sz="2600" dirty="0"/>
              <a:t>：十六进制格式</a:t>
            </a:r>
            <a:endParaRPr lang="en-US" altLang="zh-CN" sz="2600" dirty="0"/>
          </a:p>
          <a:p>
            <a:pPr eaLnBrk="1" hangingPunct="1">
              <a:buFont typeface="Wingdings" panose="05000000000000000000" pitchFamily="2" charset="2"/>
              <a:buNone/>
              <a:defRPr/>
            </a:pPr>
            <a:r>
              <a:rPr lang="en-US" altLang="zh-CN" sz="2600" dirty="0"/>
              <a:t>format +</a:t>
            </a:r>
            <a:r>
              <a:rPr lang="zh-CN" altLang="en-US" sz="2600" dirty="0"/>
              <a:t>：正、负或空格（表示</a:t>
            </a:r>
            <a:r>
              <a:rPr lang="en-US" altLang="zh-CN" sz="2600" dirty="0"/>
              <a:t>0</a:t>
            </a:r>
            <a:r>
              <a:rPr lang="zh-CN" altLang="en-US" sz="2600" dirty="0"/>
              <a:t>）</a:t>
            </a:r>
            <a:endParaRPr lang="en-US" altLang="zh-CN" sz="26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DBB12ED7-38DE-4BA5-B72F-A44A95C94F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70BAC6A-12E0-488D-97FC-459FEDEA0581}" type="slidenum">
              <a:rPr lang="en-US" altLang="zh-CN" sz="1200" smtClean="0">
                <a:latin typeface="Garamond" panose="02020404030301010803" pitchFamily="18" charset="0"/>
              </a:rPr>
              <a:pPr>
                <a:spcBef>
                  <a:spcPct val="0"/>
                </a:spcBef>
                <a:buClrTx/>
                <a:buSzTx/>
                <a:buFontTx/>
                <a:buNone/>
              </a:pPr>
              <a:t>8</a:t>
            </a:fld>
            <a:endParaRPr lang="en-US" altLang="zh-CN" sz="1200">
              <a:latin typeface="Garamond" panose="02020404030301010803" pitchFamily="18" charset="0"/>
            </a:endParaRPr>
          </a:p>
        </p:txBody>
      </p:sp>
      <p:sp>
        <p:nvSpPr>
          <p:cNvPr id="15363" name="Rectangle 1026">
            <a:extLst>
              <a:ext uri="{FF2B5EF4-FFF2-40B4-BE49-F238E27FC236}">
                <a16:creationId xmlns:a16="http://schemas.microsoft.com/office/drawing/2014/main" id="{C146D3B4-DB53-481C-BA15-79ECC9149955}"/>
              </a:ext>
            </a:extLst>
          </p:cNvPr>
          <p:cNvSpPr>
            <a:spLocks noGrp="1" noChangeArrowheads="1"/>
          </p:cNvSpPr>
          <p:nvPr>
            <p:ph type="body" idx="1"/>
          </p:nvPr>
        </p:nvSpPr>
        <p:spPr>
          <a:xfrm>
            <a:off x="631825" y="393700"/>
            <a:ext cx="8785225" cy="5915025"/>
          </a:xfrm>
        </p:spPr>
        <p:txBody>
          <a:bodyPr/>
          <a:lstStyle/>
          <a:p>
            <a:pPr eaLnBrk="1" hangingPunct="1">
              <a:buFont typeface="Wingdings" panose="05000000000000000000" pitchFamily="2" charset="2"/>
              <a:buNone/>
            </a:pPr>
            <a:r>
              <a:rPr lang="zh-CN" altLang="en-US" sz="2900" dirty="0">
                <a:solidFill>
                  <a:schemeClr val="tx2"/>
                </a:solidFill>
              </a:rPr>
              <a:t>四、简单的数学运算</a:t>
            </a:r>
            <a:r>
              <a:rPr lang="zh-CN" altLang="en-US" sz="2500" dirty="0"/>
              <a:t>（例</a:t>
            </a:r>
            <a:r>
              <a:rPr lang="en-US" altLang="zh-CN" sz="2500" dirty="0"/>
              <a:t>exp2_2.m</a:t>
            </a:r>
            <a:r>
              <a:rPr lang="zh-CN" altLang="en-US" sz="2500" dirty="0"/>
              <a:t>）</a:t>
            </a:r>
            <a:endParaRPr lang="zh-CN" altLang="en-US" sz="2900" dirty="0"/>
          </a:p>
          <a:p>
            <a:pPr eaLnBrk="1" hangingPunct="1">
              <a:buFont typeface="Wingdings" panose="05000000000000000000" pitchFamily="2" charset="2"/>
              <a:buNone/>
            </a:pPr>
            <a:r>
              <a:rPr lang="en-US" altLang="zh-CN" sz="2100" dirty="0"/>
              <a:t>1</a:t>
            </a:r>
            <a:r>
              <a:rPr lang="zh-CN" altLang="en-US" sz="2100" dirty="0"/>
              <a:t>、</a:t>
            </a:r>
            <a:r>
              <a:rPr lang="zh-CN" altLang="en-US" sz="2400" dirty="0"/>
              <a:t>常用的数学运算符</a:t>
            </a:r>
          </a:p>
          <a:p>
            <a:pPr eaLnBrk="1" hangingPunct="1"/>
            <a:r>
              <a:rPr lang="zh-CN" altLang="en-US" sz="2400" dirty="0"/>
              <a:t>＋，</a:t>
            </a:r>
            <a:r>
              <a:rPr lang="en-US" altLang="zh-CN" sz="2400" dirty="0"/>
              <a:t>—</a:t>
            </a:r>
            <a:r>
              <a:rPr lang="zh-CN" altLang="en-US" sz="2400" dirty="0"/>
              <a:t>，*（乘），</a:t>
            </a:r>
            <a:r>
              <a:rPr lang="en-US" altLang="zh-CN" sz="2400" dirty="0"/>
              <a:t>/</a:t>
            </a:r>
            <a:r>
              <a:rPr lang="zh-CN" altLang="en-US" sz="2400" dirty="0"/>
              <a:t>（左除），</a:t>
            </a:r>
            <a:r>
              <a:rPr lang="en-US" altLang="zh-CN" sz="2400" dirty="0"/>
              <a:t>\</a:t>
            </a:r>
            <a:r>
              <a:rPr lang="zh-CN" altLang="en-US" sz="2400" dirty="0"/>
              <a:t>（右除），</a:t>
            </a:r>
            <a:r>
              <a:rPr lang="en-US" altLang="zh-CN" sz="2400" dirty="0"/>
              <a:t>^</a:t>
            </a:r>
            <a:r>
              <a:rPr lang="zh-CN" altLang="en-US" sz="2400" dirty="0"/>
              <a:t>（幂）</a:t>
            </a:r>
          </a:p>
          <a:p>
            <a:pPr eaLnBrk="1" hangingPunct="1"/>
            <a:r>
              <a:rPr lang="zh-CN" altLang="en-US" sz="2400" dirty="0"/>
              <a:t>在运算式中，</a:t>
            </a:r>
            <a:r>
              <a:rPr lang="en-US" altLang="zh-CN" sz="2400" dirty="0"/>
              <a:t>MATLAB</a:t>
            </a:r>
            <a:r>
              <a:rPr lang="zh-CN" altLang="en-US" sz="2400" dirty="0"/>
              <a:t>通常不需要考虑空格；多条命令可以放在一行中，它们之间需要用分号隔开；逗号告诉</a:t>
            </a:r>
            <a:r>
              <a:rPr lang="en-US" altLang="zh-CN" sz="2400" dirty="0"/>
              <a:t>MATLAB</a:t>
            </a:r>
            <a:r>
              <a:rPr lang="zh-CN" altLang="en-US" sz="2400" dirty="0"/>
              <a:t>显示结果，而分号则禁止结果显示。</a:t>
            </a:r>
          </a:p>
          <a:p>
            <a:pPr eaLnBrk="1" hangingPunct="1">
              <a:buFont typeface="Wingdings" panose="05000000000000000000" pitchFamily="2" charset="2"/>
              <a:buNone/>
            </a:pPr>
            <a:r>
              <a:rPr lang="en-US" altLang="zh-CN" sz="2400" dirty="0"/>
              <a:t>2</a:t>
            </a:r>
            <a:r>
              <a:rPr lang="zh-CN" altLang="en-US" sz="2400" dirty="0"/>
              <a:t>、常用数学函数</a:t>
            </a:r>
            <a:r>
              <a:rPr lang="en-US" altLang="zh-CN" sz="2400" dirty="0" err="1"/>
              <a:t>abs,sin,cos,tan,asin,acos,atan,sqrt,exp,imag,real,sign</a:t>
            </a:r>
            <a:r>
              <a:rPr lang="en-US" altLang="zh-CN" sz="2400" dirty="0"/>
              <a:t>,</a:t>
            </a:r>
          </a:p>
          <a:p>
            <a:pPr eaLnBrk="1" hangingPunct="1">
              <a:buFont typeface="Wingdings" panose="05000000000000000000" pitchFamily="2" charset="2"/>
              <a:buNone/>
            </a:pPr>
            <a:r>
              <a:rPr lang="en-US" altLang="zh-CN" sz="2400" dirty="0"/>
              <a:t>    log,log10,conj</a:t>
            </a:r>
            <a:r>
              <a:rPr lang="zh-CN" altLang="en-US" sz="2400" dirty="0"/>
              <a:t>（共扼复数）等      </a:t>
            </a:r>
          </a:p>
          <a:p>
            <a:pPr eaLnBrk="1" hangingPunct="1">
              <a:buFont typeface="Wingdings" panose="05000000000000000000" pitchFamily="2" charset="2"/>
              <a:buNone/>
            </a:pPr>
            <a:r>
              <a:rPr lang="zh-CN" altLang="en-US" sz="2400" dirty="0">
                <a:solidFill>
                  <a:schemeClr val="tx2"/>
                </a:solidFill>
              </a:rPr>
              <a:t>五、</a:t>
            </a:r>
            <a:r>
              <a:rPr lang="en-US" altLang="zh-CN" sz="2400" dirty="0">
                <a:solidFill>
                  <a:schemeClr val="tx2"/>
                </a:solidFill>
              </a:rPr>
              <a:t>MATLAB</a:t>
            </a:r>
            <a:r>
              <a:rPr lang="zh-CN" altLang="en-US" sz="2400" dirty="0">
                <a:solidFill>
                  <a:schemeClr val="tx2"/>
                </a:solidFill>
              </a:rPr>
              <a:t>的工作空间</a:t>
            </a:r>
            <a:endParaRPr lang="zh-CN" altLang="en-US" sz="2400" dirty="0"/>
          </a:p>
          <a:p>
            <a:pPr eaLnBrk="1" hangingPunct="1">
              <a:buFont typeface="Wingdings" panose="05000000000000000000" pitchFamily="2" charset="2"/>
              <a:buNone/>
            </a:pPr>
            <a:r>
              <a:rPr lang="en-US" altLang="zh-CN" sz="2400" dirty="0"/>
              <a:t>1</a:t>
            </a:r>
            <a:r>
              <a:rPr lang="zh-CN" altLang="en-US" sz="2400" dirty="0"/>
              <a:t>、</a:t>
            </a:r>
            <a:r>
              <a:rPr lang="en-US" altLang="zh-CN" sz="2400" dirty="0"/>
              <a:t>MATLAB</a:t>
            </a:r>
            <a:r>
              <a:rPr lang="zh-CN" altLang="en-US" sz="2400" dirty="0"/>
              <a:t>的工作空间包含了一组可以在命令窗口中调整（调用）的参数</a:t>
            </a:r>
          </a:p>
          <a:p>
            <a:pPr eaLnBrk="1" hangingPunct="1"/>
            <a:r>
              <a:rPr lang="en-US" altLang="zh-CN" sz="2400" dirty="0"/>
              <a:t>who</a:t>
            </a:r>
            <a:r>
              <a:rPr lang="zh-CN" altLang="en-US" sz="2400" dirty="0"/>
              <a:t>：显示当前工作空间中所有变量的一个简单列表</a:t>
            </a:r>
            <a:r>
              <a:rPr lang="zh-CN" altLang="en-US" sz="2500" dirty="0"/>
              <a:t>	</a:t>
            </a:r>
            <a:endParaRPr lang="zh-CN" altLang="en-US" sz="29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1D4D6A08-7864-47BD-AFAB-77093A63B6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37930DA-8923-4C35-AF41-CB6931C7EB7D}" type="slidenum">
              <a:rPr lang="en-US" altLang="zh-CN" sz="1200" smtClean="0">
                <a:latin typeface="Garamond" panose="02020404030301010803" pitchFamily="18" charset="0"/>
              </a:rPr>
              <a:pPr>
                <a:spcBef>
                  <a:spcPct val="0"/>
                </a:spcBef>
                <a:buClrTx/>
                <a:buSzTx/>
                <a:buFontTx/>
                <a:buNone/>
              </a:pPr>
              <a:t>9</a:t>
            </a:fld>
            <a:endParaRPr lang="en-US" altLang="zh-CN" sz="1200">
              <a:latin typeface="Garamond" panose="02020404030301010803" pitchFamily="18" charset="0"/>
            </a:endParaRPr>
          </a:p>
        </p:txBody>
      </p:sp>
      <p:sp>
        <p:nvSpPr>
          <p:cNvPr id="16387" name="Rectangle 3">
            <a:extLst>
              <a:ext uri="{FF2B5EF4-FFF2-40B4-BE49-F238E27FC236}">
                <a16:creationId xmlns:a16="http://schemas.microsoft.com/office/drawing/2014/main" id="{3AAB70F8-8546-4C31-9322-04A5E140603F}"/>
              </a:ext>
            </a:extLst>
          </p:cNvPr>
          <p:cNvSpPr>
            <a:spLocks noGrp="1" noChangeArrowheads="1"/>
          </p:cNvSpPr>
          <p:nvPr>
            <p:ph type="body" idx="1"/>
          </p:nvPr>
        </p:nvSpPr>
        <p:spPr>
          <a:xfrm>
            <a:off x="920750" y="476250"/>
            <a:ext cx="8489950" cy="5543550"/>
          </a:xfrm>
        </p:spPr>
        <p:txBody>
          <a:bodyPr/>
          <a:lstStyle/>
          <a:p>
            <a:pPr eaLnBrk="1" hangingPunct="1">
              <a:lnSpc>
                <a:spcPct val="90000"/>
              </a:lnSpc>
            </a:pPr>
            <a:r>
              <a:rPr lang="en-US" altLang="zh-CN" sz="2600" dirty="0" err="1"/>
              <a:t>whos</a:t>
            </a:r>
            <a:r>
              <a:rPr lang="zh-CN" altLang="en-US" sz="2600" dirty="0"/>
              <a:t>：则列出变量的大小、数据格式等详细信息</a:t>
            </a:r>
          </a:p>
          <a:p>
            <a:pPr eaLnBrk="1" hangingPunct="1">
              <a:lnSpc>
                <a:spcPct val="90000"/>
              </a:lnSpc>
            </a:pPr>
            <a:r>
              <a:rPr lang="en-US" altLang="zh-CN" sz="2600" dirty="0"/>
              <a:t>clear</a:t>
            </a:r>
            <a:r>
              <a:rPr lang="zh-CN" altLang="en-US" sz="2600" dirty="0"/>
              <a:t>：清除工作空间中所有的变量</a:t>
            </a:r>
          </a:p>
          <a:p>
            <a:pPr eaLnBrk="1" hangingPunct="1">
              <a:lnSpc>
                <a:spcPct val="90000"/>
              </a:lnSpc>
            </a:pPr>
            <a:r>
              <a:rPr lang="en-US" altLang="zh-CN" sz="2600" dirty="0"/>
              <a:t>clear  </a:t>
            </a:r>
            <a:r>
              <a:rPr lang="zh-CN" altLang="en-US" sz="2600" dirty="0"/>
              <a:t>变量名：清除指定的变量</a:t>
            </a:r>
          </a:p>
          <a:p>
            <a:pPr eaLnBrk="1" hangingPunct="1">
              <a:lnSpc>
                <a:spcPct val="90000"/>
              </a:lnSpc>
              <a:buFont typeface="Wingdings" panose="05000000000000000000" pitchFamily="2" charset="2"/>
              <a:buNone/>
            </a:pPr>
            <a:r>
              <a:rPr lang="en-US" altLang="zh-CN" sz="2600" dirty="0"/>
              <a:t>2</a:t>
            </a:r>
            <a:r>
              <a:rPr lang="zh-CN" altLang="en-US" sz="2600" dirty="0"/>
              <a:t>、保存和载入</a:t>
            </a:r>
            <a:r>
              <a:rPr lang="en-US" altLang="zh-CN" sz="2600" dirty="0"/>
              <a:t>workspace</a:t>
            </a:r>
          </a:p>
          <a:p>
            <a:pPr eaLnBrk="1" hangingPunct="1">
              <a:lnSpc>
                <a:spcPct val="90000"/>
              </a:lnSpc>
              <a:buFont typeface="Wingdings" panose="05000000000000000000" pitchFamily="2" charset="2"/>
              <a:buNone/>
            </a:pPr>
            <a:r>
              <a:rPr lang="zh-CN" altLang="en-US" sz="2600" dirty="0"/>
              <a:t>（</a:t>
            </a:r>
            <a:r>
              <a:rPr lang="en-US" altLang="zh-CN" sz="2600" dirty="0"/>
              <a:t>1</a:t>
            </a:r>
            <a:r>
              <a:rPr lang="zh-CN" altLang="en-US" sz="2600" dirty="0"/>
              <a:t>）</a:t>
            </a:r>
            <a:r>
              <a:rPr lang="en-US" altLang="zh-CN" sz="2600" dirty="0"/>
              <a:t>save filename variables</a:t>
            </a:r>
          </a:p>
          <a:p>
            <a:pPr eaLnBrk="1" hangingPunct="1">
              <a:lnSpc>
                <a:spcPct val="90000"/>
              </a:lnSpc>
            </a:pPr>
            <a:r>
              <a:rPr lang="zh-CN" altLang="en-US" sz="2600" dirty="0"/>
              <a:t>将变量列表</a:t>
            </a:r>
            <a:r>
              <a:rPr lang="en-US" altLang="zh-CN" sz="2600" dirty="0"/>
              <a:t>variables</a:t>
            </a:r>
            <a:r>
              <a:rPr lang="zh-CN" altLang="en-US" sz="2600" dirty="0"/>
              <a:t>所列出的变量保存到磁盘文件</a:t>
            </a:r>
            <a:r>
              <a:rPr lang="en-US" altLang="zh-CN" sz="2600" dirty="0"/>
              <a:t>filename</a:t>
            </a:r>
            <a:r>
              <a:rPr lang="zh-CN" altLang="en-US" sz="2600" dirty="0"/>
              <a:t>中</a:t>
            </a:r>
          </a:p>
          <a:p>
            <a:pPr eaLnBrk="1" hangingPunct="1">
              <a:lnSpc>
                <a:spcPct val="90000"/>
              </a:lnSpc>
            </a:pPr>
            <a:r>
              <a:rPr lang="en-US" altLang="zh-CN" sz="2600" dirty="0"/>
              <a:t>Variables</a:t>
            </a:r>
            <a:r>
              <a:rPr lang="zh-CN" altLang="en-US" sz="2600" dirty="0"/>
              <a:t>所表示的变量列表中，不能用逗号，各个不同的变量之间只能用空格来分隔。</a:t>
            </a:r>
          </a:p>
          <a:p>
            <a:pPr eaLnBrk="1" hangingPunct="1">
              <a:lnSpc>
                <a:spcPct val="90000"/>
              </a:lnSpc>
            </a:pPr>
            <a:r>
              <a:rPr lang="zh-CN" altLang="en-US" sz="2600" dirty="0"/>
              <a:t>未列出</a:t>
            </a:r>
            <a:r>
              <a:rPr lang="en-US" altLang="zh-CN" sz="2600" dirty="0"/>
              <a:t>variables</a:t>
            </a:r>
            <a:r>
              <a:rPr lang="zh-CN" altLang="en-US" sz="2600" dirty="0"/>
              <a:t>时，表示将当前工作空间中所有变量都保存到磁盘文件中。</a:t>
            </a:r>
          </a:p>
          <a:p>
            <a:pPr eaLnBrk="1" hangingPunct="1">
              <a:lnSpc>
                <a:spcPct val="90000"/>
              </a:lnSpc>
            </a:pPr>
            <a:r>
              <a:rPr lang="zh-CN" altLang="en-US" sz="2600" dirty="0"/>
              <a:t>缺省的磁盘文件扩展名为“</a:t>
            </a:r>
            <a:r>
              <a:rPr lang="en-US" altLang="zh-CN" sz="2600" dirty="0"/>
              <a:t>.mat”</a:t>
            </a:r>
            <a:r>
              <a:rPr lang="zh-CN" altLang="en-US" sz="2600" dirty="0"/>
              <a:t>，可以使用“</a:t>
            </a:r>
            <a:r>
              <a:rPr lang="en-US" altLang="zh-CN" sz="2600" dirty="0"/>
              <a:t>-”</a:t>
            </a:r>
            <a:r>
              <a:rPr lang="zh-CN" altLang="en-US" sz="2600" dirty="0"/>
              <a:t>定义不同的存储格式（</a:t>
            </a:r>
            <a:r>
              <a:rPr lang="en-US" altLang="zh-CN" sz="2600" dirty="0"/>
              <a:t>ASCII</a:t>
            </a:r>
            <a:r>
              <a:rPr lang="zh-CN" altLang="en-US" sz="2600" dirty="0"/>
              <a:t>等）</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7FBCE227-122B-46C3-9884-88E048CAE5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2F3F0D-0348-4681-9509-CD785ECAC9C4}" type="slidenum">
              <a:rPr lang="en-US" altLang="zh-CN" sz="1200" smtClean="0">
                <a:latin typeface="Garamond" panose="02020404030301010803" pitchFamily="18" charset="0"/>
              </a:rPr>
              <a:pPr>
                <a:spcBef>
                  <a:spcPct val="0"/>
                </a:spcBef>
                <a:buClrTx/>
                <a:buSzTx/>
                <a:buFontTx/>
                <a:buNone/>
              </a:pPr>
              <a:t>10</a:t>
            </a:fld>
            <a:endParaRPr lang="en-US" altLang="zh-CN" sz="1200">
              <a:latin typeface="Garamond" panose="02020404030301010803" pitchFamily="18" charset="0"/>
            </a:endParaRPr>
          </a:p>
        </p:txBody>
      </p:sp>
      <p:sp>
        <p:nvSpPr>
          <p:cNvPr id="17411" name="Rectangle 1026">
            <a:extLst>
              <a:ext uri="{FF2B5EF4-FFF2-40B4-BE49-F238E27FC236}">
                <a16:creationId xmlns:a16="http://schemas.microsoft.com/office/drawing/2014/main" id="{85FEE8BD-46E5-4D6A-8BA2-EE8ED1DA640D}"/>
              </a:ext>
            </a:extLst>
          </p:cNvPr>
          <p:cNvSpPr>
            <a:spLocks noGrp="1" noChangeArrowheads="1"/>
          </p:cNvSpPr>
          <p:nvPr>
            <p:ph type="body" idx="1"/>
          </p:nvPr>
        </p:nvSpPr>
        <p:spPr>
          <a:xfrm>
            <a:off x="1143000" y="609600"/>
            <a:ext cx="8420100" cy="4343400"/>
          </a:xfrm>
        </p:spPr>
        <p:txBody>
          <a:bodyPr/>
          <a:lstStyle/>
          <a:p>
            <a:pPr eaLnBrk="1" hangingPunct="1">
              <a:lnSpc>
                <a:spcPct val="90000"/>
              </a:lnSpc>
              <a:buFont typeface="Wingdings" panose="05000000000000000000" pitchFamily="2" charset="2"/>
              <a:buNone/>
            </a:pPr>
            <a:r>
              <a:rPr lang="zh-CN" altLang="en-US" sz="2600"/>
              <a:t>（</a:t>
            </a:r>
            <a:r>
              <a:rPr lang="en-US" altLang="zh-CN" sz="2600"/>
              <a:t>2</a:t>
            </a:r>
            <a:r>
              <a:rPr lang="zh-CN" altLang="en-US" sz="2600"/>
              <a:t>）</a:t>
            </a:r>
            <a:r>
              <a:rPr lang="en-US" altLang="zh-CN" sz="2600"/>
              <a:t>load filename variables</a:t>
            </a:r>
          </a:p>
          <a:p>
            <a:pPr eaLnBrk="1" hangingPunct="1">
              <a:lnSpc>
                <a:spcPct val="90000"/>
              </a:lnSpc>
            </a:pPr>
            <a:r>
              <a:rPr lang="zh-CN" altLang="en-US" sz="2600"/>
              <a:t>将以前用</a:t>
            </a:r>
            <a:r>
              <a:rPr lang="en-US" altLang="zh-CN" sz="2600"/>
              <a:t>save</a:t>
            </a:r>
            <a:r>
              <a:rPr lang="zh-CN" altLang="en-US" sz="2600"/>
              <a:t>命令保存的变量</a:t>
            </a:r>
            <a:r>
              <a:rPr lang="en-US" altLang="zh-CN" sz="2600"/>
              <a:t>variables</a:t>
            </a:r>
            <a:r>
              <a:rPr lang="zh-CN" altLang="en-US" sz="2600"/>
              <a:t>从磁盘文件中调入</a:t>
            </a:r>
            <a:r>
              <a:rPr lang="en-US" altLang="zh-CN" sz="2600"/>
              <a:t>MATLAB</a:t>
            </a:r>
            <a:r>
              <a:rPr lang="zh-CN" altLang="en-US" sz="2600"/>
              <a:t>工作空间。</a:t>
            </a:r>
          </a:p>
          <a:p>
            <a:pPr eaLnBrk="1" hangingPunct="1">
              <a:lnSpc>
                <a:spcPct val="90000"/>
              </a:lnSpc>
            </a:pPr>
            <a:r>
              <a:rPr lang="zh-CN" altLang="en-US" sz="2600"/>
              <a:t>用</a:t>
            </a:r>
            <a:r>
              <a:rPr lang="en-US" altLang="zh-CN" sz="2600"/>
              <a:t>load </a:t>
            </a:r>
            <a:r>
              <a:rPr lang="zh-CN" altLang="en-US" sz="2600"/>
              <a:t>命令调入的变量，其名称为用</a:t>
            </a:r>
            <a:r>
              <a:rPr lang="en-US" altLang="zh-CN" sz="2600"/>
              <a:t>save</a:t>
            </a:r>
            <a:r>
              <a:rPr lang="zh-CN" altLang="en-US" sz="2600"/>
              <a:t>命令保存时的名称，取值也一样。</a:t>
            </a:r>
          </a:p>
          <a:p>
            <a:pPr eaLnBrk="1" hangingPunct="1">
              <a:lnSpc>
                <a:spcPct val="90000"/>
              </a:lnSpc>
            </a:pPr>
            <a:r>
              <a:rPr lang="en-US" altLang="zh-CN" sz="2600"/>
              <a:t>Variables</a:t>
            </a:r>
            <a:r>
              <a:rPr lang="zh-CN" altLang="en-US" sz="2600"/>
              <a:t>所表示的变量列表中，不能用逗号，各个不同的变量之间只能用空格来分隔。</a:t>
            </a:r>
          </a:p>
          <a:p>
            <a:pPr eaLnBrk="1" hangingPunct="1">
              <a:lnSpc>
                <a:spcPct val="90000"/>
              </a:lnSpc>
            </a:pPr>
            <a:r>
              <a:rPr lang="zh-CN" altLang="en-US" sz="2600"/>
              <a:t>未列出</a:t>
            </a:r>
            <a:r>
              <a:rPr lang="en-US" altLang="zh-CN" sz="2600"/>
              <a:t>variables</a:t>
            </a:r>
            <a:r>
              <a:rPr lang="zh-CN" altLang="en-US" sz="2600"/>
              <a:t>时，表示将磁盘文件中的所有变量都调入工作空间。</a:t>
            </a:r>
          </a:p>
          <a:p>
            <a:pPr eaLnBrk="1" hangingPunct="1">
              <a:lnSpc>
                <a:spcPct val="90000"/>
              </a:lnSpc>
              <a:buFont typeface="Wingdings" panose="05000000000000000000" pitchFamily="2" charset="2"/>
              <a:buNone/>
            </a:pPr>
            <a:r>
              <a:rPr lang="en-US" altLang="zh-CN" sz="2600"/>
              <a:t>3</a:t>
            </a:r>
            <a:r>
              <a:rPr lang="zh-CN" altLang="en-US" sz="2600"/>
              <a:t>、退出工作空间</a:t>
            </a:r>
          </a:p>
          <a:p>
            <a:pPr eaLnBrk="1" hangingPunct="1">
              <a:lnSpc>
                <a:spcPct val="90000"/>
              </a:lnSpc>
            </a:pPr>
            <a:r>
              <a:rPr lang="en-US" altLang="zh-CN" sz="2600"/>
              <a:t>quit  </a:t>
            </a:r>
            <a:r>
              <a:rPr lang="zh-CN" altLang="en-US" sz="2600"/>
              <a:t>或  </a:t>
            </a:r>
            <a:r>
              <a:rPr lang="en-US" altLang="zh-CN" sz="2600"/>
              <a:t>exit</a:t>
            </a:r>
            <a:endParaRPr lang="en-US" altLang="zh-CN"/>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5BC7AECA-A2DD-44D7-B5AA-8C109C4883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F156C4-9276-4F3D-87FE-B85C35B7194E}" type="slidenum">
              <a:rPr lang="en-US" altLang="zh-CN" sz="1200" smtClean="0">
                <a:latin typeface="Garamond" panose="02020404030301010803" pitchFamily="18" charset="0"/>
              </a:rPr>
              <a:pPr>
                <a:spcBef>
                  <a:spcPct val="0"/>
                </a:spcBef>
                <a:buClrTx/>
                <a:buSzTx/>
                <a:buFontTx/>
                <a:buNone/>
              </a:pPr>
              <a:t>11</a:t>
            </a:fld>
            <a:endParaRPr lang="en-US" altLang="zh-CN" sz="1200">
              <a:latin typeface="Garamond" panose="02020404030301010803" pitchFamily="18" charset="0"/>
            </a:endParaRPr>
          </a:p>
        </p:txBody>
      </p:sp>
      <p:sp>
        <p:nvSpPr>
          <p:cNvPr id="18435" name="Rectangle 2">
            <a:extLst>
              <a:ext uri="{FF2B5EF4-FFF2-40B4-BE49-F238E27FC236}">
                <a16:creationId xmlns:a16="http://schemas.microsoft.com/office/drawing/2014/main" id="{404281DA-D54B-480E-A7A2-F5B268685DC6}"/>
              </a:ext>
            </a:extLst>
          </p:cNvPr>
          <p:cNvSpPr>
            <a:spLocks noGrp="1" noChangeArrowheads="1"/>
          </p:cNvSpPr>
          <p:nvPr>
            <p:ph type="body" idx="1"/>
          </p:nvPr>
        </p:nvSpPr>
        <p:spPr>
          <a:xfrm>
            <a:off x="560512" y="476672"/>
            <a:ext cx="8784778" cy="5543550"/>
          </a:xfrm>
        </p:spPr>
        <p:txBody>
          <a:bodyPr/>
          <a:lstStyle/>
          <a:p>
            <a:pPr eaLnBrk="1" hangingPunct="1">
              <a:lnSpc>
                <a:spcPct val="90000"/>
              </a:lnSpc>
              <a:buFont typeface="Wingdings" panose="05000000000000000000" pitchFamily="2" charset="2"/>
              <a:buNone/>
            </a:pPr>
            <a:r>
              <a:rPr lang="zh-CN" altLang="en-US" dirty="0">
                <a:solidFill>
                  <a:schemeClr val="tx2"/>
                </a:solidFill>
              </a:rPr>
              <a:t>六、文件管理</a:t>
            </a:r>
          </a:p>
          <a:p>
            <a:pPr eaLnBrk="1" hangingPunct="1">
              <a:lnSpc>
                <a:spcPct val="90000"/>
              </a:lnSpc>
            </a:pPr>
            <a:r>
              <a:rPr lang="zh-CN" altLang="en-US" sz="2600" dirty="0"/>
              <a:t>文件管理的命令，包括列文件名、显示或删除文件、显示或改变当前目录等。（</a:t>
            </a:r>
            <a:r>
              <a:rPr lang="en-US" altLang="zh-CN" sz="2600" dirty="0"/>
              <a:t>what</a:t>
            </a:r>
            <a:r>
              <a:rPr lang="zh-CN" altLang="en-US" sz="2600" dirty="0"/>
              <a:t>、</a:t>
            </a:r>
            <a:r>
              <a:rPr lang="en-US" altLang="zh-CN" sz="2600" dirty="0" err="1"/>
              <a:t>dir</a:t>
            </a:r>
            <a:r>
              <a:rPr lang="zh-CN" altLang="en-US" sz="2600" dirty="0"/>
              <a:t>、</a:t>
            </a:r>
            <a:r>
              <a:rPr lang="en-US" altLang="zh-CN" sz="2600" dirty="0"/>
              <a:t>type</a:t>
            </a:r>
            <a:r>
              <a:rPr lang="zh-CN" altLang="en-US" sz="2600" dirty="0"/>
              <a:t>、</a:t>
            </a:r>
            <a:r>
              <a:rPr lang="en-US" altLang="zh-CN" sz="2600" dirty="0"/>
              <a:t>delete</a:t>
            </a:r>
            <a:r>
              <a:rPr lang="zh-CN" altLang="en-US" sz="2600" dirty="0"/>
              <a:t>、</a:t>
            </a:r>
            <a:r>
              <a:rPr lang="en-US" altLang="zh-CN" sz="2600" dirty="0"/>
              <a:t>cd</a:t>
            </a:r>
            <a:r>
              <a:rPr lang="zh-CN" altLang="en-US" sz="2600" dirty="0"/>
              <a:t>、</a:t>
            </a:r>
            <a:r>
              <a:rPr lang="en-US" altLang="zh-CN" sz="2600" dirty="0"/>
              <a:t>which</a:t>
            </a:r>
            <a:r>
              <a:rPr lang="zh-CN" altLang="en-US" sz="2600" dirty="0"/>
              <a:t>）</a:t>
            </a:r>
          </a:p>
          <a:p>
            <a:pPr eaLnBrk="1" hangingPunct="1">
              <a:lnSpc>
                <a:spcPct val="90000"/>
              </a:lnSpc>
            </a:pPr>
            <a:r>
              <a:rPr lang="en-US" altLang="zh-CN" sz="2600" dirty="0">
                <a:latin typeface="宋体" panose="02010600030101010101" pitchFamily="2" charset="-122"/>
              </a:rPr>
              <a:t>what</a:t>
            </a:r>
            <a:r>
              <a:rPr lang="zh-CN" altLang="en-US" sz="2600" dirty="0">
                <a:latin typeface="宋体" panose="02010600030101010101" pitchFamily="2" charset="-122"/>
              </a:rPr>
              <a:t>：显示当前目录下所有与</a:t>
            </a:r>
            <a:r>
              <a:rPr lang="en-US" altLang="zh-CN" sz="2600" dirty="0" err="1">
                <a:latin typeface="宋体" panose="02010600030101010101" pitchFamily="2" charset="-122"/>
              </a:rPr>
              <a:t>matlab</a:t>
            </a:r>
            <a:r>
              <a:rPr lang="zh-CN" altLang="en-US" sz="2600" dirty="0">
                <a:latin typeface="宋体" panose="02010600030101010101" pitchFamily="2" charset="-122"/>
              </a:rPr>
              <a:t>相关的文件及它们的路径。</a:t>
            </a:r>
          </a:p>
          <a:p>
            <a:pPr eaLnBrk="1" hangingPunct="1">
              <a:lnSpc>
                <a:spcPct val="90000"/>
              </a:lnSpc>
            </a:pPr>
            <a:r>
              <a:rPr lang="en-US" altLang="zh-CN" sz="2600" dirty="0" err="1">
                <a:latin typeface="宋体" panose="02010600030101010101" pitchFamily="2" charset="-122"/>
              </a:rPr>
              <a:t>dir</a:t>
            </a:r>
            <a:r>
              <a:rPr lang="zh-CN" altLang="en-US" sz="2600" dirty="0">
                <a:latin typeface="宋体" panose="02010600030101010101" pitchFamily="2" charset="-122"/>
              </a:rPr>
              <a:t>：显示当前目录下所有的文件</a:t>
            </a:r>
          </a:p>
          <a:p>
            <a:pPr eaLnBrk="1" hangingPunct="1">
              <a:lnSpc>
                <a:spcPct val="90000"/>
              </a:lnSpc>
            </a:pPr>
            <a:r>
              <a:rPr lang="en-US" altLang="zh-CN" sz="2600" dirty="0">
                <a:latin typeface="宋体" panose="02010600030101010101" pitchFamily="2" charset="-122"/>
              </a:rPr>
              <a:t>which</a:t>
            </a:r>
            <a:r>
              <a:rPr lang="zh-CN" altLang="en-US" sz="2600" dirty="0">
                <a:latin typeface="宋体" panose="02010600030101010101" pitchFamily="2" charset="-122"/>
              </a:rPr>
              <a:t>：显示某个文件的路径</a:t>
            </a:r>
          </a:p>
          <a:p>
            <a:pPr eaLnBrk="1" hangingPunct="1">
              <a:lnSpc>
                <a:spcPct val="90000"/>
              </a:lnSpc>
            </a:pPr>
            <a:r>
              <a:rPr lang="en-US" altLang="zh-CN" sz="2600" dirty="0">
                <a:latin typeface="宋体" panose="02010600030101010101" pitchFamily="2" charset="-122"/>
              </a:rPr>
              <a:t>cd path</a:t>
            </a:r>
            <a:r>
              <a:rPr lang="zh-CN" altLang="en-US" sz="2600" dirty="0">
                <a:latin typeface="宋体" panose="02010600030101010101" pitchFamily="2" charset="-122"/>
              </a:rPr>
              <a:t>：由当前目录进入</a:t>
            </a:r>
            <a:r>
              <a:rPr lang="en-US" altLang="zh-CN" sz="2600" dirty="0">
                <a:latin typeface="宋体" panose="02010600030101010101" pitchFamily="2" charset="-122"/>
              </a:rPr>
              <a:t>path</a:t>
            </a:r>
            <a:r>
              <a:rPr lang="zh-CN" altLang="en-US" sz="2600" dirty="0">
                <a:latin typeface="宋体" panose="02010600030101010101" pitchFamily="2" charset="-122"/>
              </a:rPr>
              <a:t>目录</a:t>
            </a:r>
          </a:p>
          <a:p>
            <a:pPr eaLnBrk="1" hangingPunct="1">
              <a:lnSpc>
                <a:spcPct val="90000"/>
              </a:lnSpc>
            </a:pPr>
            <a:r>
              <a:rPr lang="en-US" altLang="zh-CN" sz="2600" dirty="0">
                <a:latin typeface="宋体" panose="02010600030101010101" pitchFamily="2" charset="-122"/>
              </a:rPr>
              <a:t>cd ..</a:t>
            </a:r>
            <a:r>
              <a:rPr lang="zh-CN" altLang="en-US" sz="2600" dirty="0">
                <a:latin typeface="宋体" panose="02010600030101010101" pitchFamily="2" charset="-122"/>
              </a:rPr>
              <a:t>：返回上一级目录</a:t>
            </a:r>
          </a:p>
          <a:p>
            <a:pPr eaLnBrk="1" hangingPunct="1">
              <a:lnSpc>
                <a:spcPct val="90000"/>
              </a:lnSpc>
            </a:pPr>
            <a:r>
              <a:rPr lang="en-US" altLang="zh-CN" sz="2600" dirty="0">
                <a:latin typeface="宋体" panose="02010600030101010101" pitchFamily="2" charset="-122"/>
              </a:rPr>
              <a:t>cd</a:t>
            </a:r>
            <a:r>
              <a:rPr lang="zh-CN" altLang="en-US" sz="2600" dirty="0">
                <a:latin typeface="宋体" panose="02010600030101010101" pitchFamily="2" charset="-122"/>
              </a:rPr>
              <a:t>：显示当前目录</a:t>
            </a:r>
          </a:p>
          <a:p>
            <a:pPr eaLnBrk="1" hangingPunct="1">
              <a:lnSpc>
                <a:spcPct val="90000"/>
              </a:lnSpc>
            </a:pPr>
            <a:r>
              <a:rPr lang="en-US" altLang="zh-CN" sz="2600" dirty="0">
                <a:latin typeface="宋体" panose="02010600030101010101" pitchFamily="2" charset="-122"/>
              </a:rPr>
              <a:t>type filename</a:t>
            </a:r>
            <a:r>
              <a:rPr lang="zh-CN" altLang="en-US" sz="2600" dirty="0">
                <a:latin typeface="宋体" panose="02010600030101010101" pitchFamily="2" charset="-122"/>
              </a:rPr>
              <a:t>：在命令窗口中显示文件</a:t>
            </a:r>
            <a:r>
              <a:rPr lang="en-US" altLang="zh-CN" sz="2600" dirty="0">
                <a:latin typeface="宋体" panose="02010600030101010101" pitchFamily="2" charset="-122"/>
              </a:rPr>
              <a:t>filename</a:t>
            </a:r>
          </a:p>
          <a:p>
            <a:pPr eaLnBrk="1" hangingPunct="1">
              <a:lnSpc>
                <a:spcPct val="90000"/>
              </a:lnSpc>
            </a:pPr>
            <a:r>
              <a:rPr lang="en-US" altLang="zh-CN" sz="2600" dirty="0">
                <a:latin typeface="宋体" panose="02010600030101010101" pitchFamily="2" charset="-122"/>
              </a:rPr>
              <a:t>delete filename</a:t>
            </a:r>
            <a:r>
              <a:rPr lang="zh-CN" altLang="en-US" sz="2600" dirty="0">
                <a:latin typeface="宋体" panose="02010600030101010101" pitchFamily="2" charset="-122"/>
              </a:rPr>
              <a:t>：删除文件</a:t>
            </a:r>
            <a:r>
              <a:rPr lang="en-US" altLang="zh-CN" sz="2600" dirty="0">
                <a:latin typeface="宋体" panose="02010600030101010101" pitchFamily="2" charset="-122"/>
              </a:rPr>
              <a:t>filename(</a:t>
            </a:r>
            <a:r>
              <a:rPr lang="zh-CN" altLang="en-US" sz="2600" dirty="0">
                <a:latin typeface="宋体" panose="02010600030101010101" pitchFamily="2" charset="-122"/>
              </a:rPr>
              <a:t>后缀也需要写上</a:t>
            </a:r>
            <a:r>
              <a:rPr lang="en-US" altLang="zh-CN" sz="2600" dirty="0">
                <a:latin typeface="宋体" panose="02010600030101010101" pitchFamily="2" charset="-122"/>
              </a:rPr>
              <a:t>)</a:t>
            </a:r>
            <a:endParaRPr lang="en-US" altLang="zh-CN" sz="26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7E4123F2-E3AF-4643-931C-FC6A71D829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5378506-B09F-47FF-AEE5-F4B945B3F1C9}" type="slidenum">
              <a:rPr lang="en-US" altLang="zh-CN" sz="1200" smtClean="0">
                <a:latin typeface="Garamond" panose="02020404030301010803" pitchFamily="18" charset="0"/>
              </a:rPr>
              <a:pPr>
                <a:spcBef>
                  <a:spcPct val="0"/>
                </a:spcBef>
                <a:buClrTx/>
                <a:buSzTx/>
                <a:buFontTx/>
                <a:buNone/>
              </a:pPr>
              <a:t>12</a:t>
            </a:fld>
            <a:endParaRPr lang="en-US" altLang="zh-CN" sz="1200">
              <a:latin typeface="Garamond" panose="02020404030301010803" pitchFamily="18" charset="0"/>
            </a:endParaRPr>
          </a:p>
        </p:txBody>
      </p:sp>
      <p:sp>
        <p:nvSpPr>
          <p:cNvPr id="20483" name="Rectangle 1027">
            <a:extLst>
              <a:ext uri="{FF2B5EF4-FFF2-40B4-BE49-F238E27FC236}">
                <a16:creationId xmlns:a16="http://schemas.microsoft.com/office/drawing/2014/main" id="{CAB06B4D-CFA1-4D79-92D4-6A233078B55F}"/>
              </a:ext>
            </a:extLst>
          </p:cNvPr>
          <p:cNvSpPr>
            <a:spLocks noGrp="1" noChangeArrowheads="1"/>
          </p:cNvSpPr>
          <p:nvPr>
            <p:ph type="body" idx="1"/>
          </p:nvPr>
        </p:nvSpPr>
        <p:spPr>
          <a:xfrm>
            <a:off x="920750" y="476250"/>
            <a:ext cx="8420100" cy="5638800"/>
          </a:xfrm>
        </p:spPr>
        <p:txBody>
          <a:bodyPr/>
          <a:lstStyle/>
          <a:p>
            <a:pPr eaLnBrk="1" hangingPunct="1">
              <a:buFont typeface="Wingdings" panose="05000000000000000000" pitchFamily="2" charset="2"/>
              <a:buNone/>
            </a:pPr>
            <a:r>
              <a:rPr lang="zh-CN" altLang="en-US" dirty="0">
                <a:solidFill>
                  <a:schemeClr val="tx2"/>
                </a:solidFill>
              </a:rPr>
              <a:t>七、使用帮助</a:t>
            </a:r>
            <a:endParaRPr lang="zh-CN" altLang="en-US" dirty="0"/>
          </a:p>
          <a:p>
            <a:pPr eaLnBrk="1" hangingPunct="1">
              <a:buFont typeface="Wingdings" panose="05000000000000000000" pitchFamily="2" charset="2"/>
              <a:buNone/>
            </a:pPr>
            <a:r>
              <a:rPr lang="en-US" altLang="zh-CN" sz="2600" dirty="0"/>
              <a:t>1</a:t>
            </a:r>
            <a:r>
              <a:rPr lang="zh-CN" altLang="en-US" sz="2600" dirty="0"/>
              <a:t>、</a:t>
            </a:r>
            <a:r>
              <a:rPr lang="en-US" altLang="zh-CN" sz="2600" dirty="0"/>
              <a:t>help</a:t>
            </a:r>
            <a:r>
              <a:rPr lang="zh-CN" altLang="en-US" sz="2600" dirty="0"/>
              <a:t>命令，在命令窗口中显示</a:t>
            </a:r>
          </a:p>
          <a:p>
            <a:pPr eaLnBrk="1" hangingPunct="1"/>
            <a:r>
              <a:rPr lang="en-US" altLang="zh-CN" sz="2600" dirty="0"/>
              <a:t>MATLBA</a:t>
            </a:r>
            <a:r>
              <a:rPr lang="zh-CN" altLang="en-US" sz="2600" dirty="0"/>
              <a:t>的所有函数都是以</a:t>
            </a:r>
            <a:r>
              <a:rPr lang="zh-CN" altLang="en-US" sz="2600" b="1" dirty="0">
                <a:solidFill>
                  <a:srgbClr val="FF0000"/>
                </a:solidFill>
              </a:rPr>
              <a:t>逻辑群组方式</a:t>
            </a:r>
            <a:r>
              <a:rPr lang="zh-CN" altLang="en-US" sz="2600" dirty="0"/>
              <a:t>进行组织的，而</a:t>
            </a:r>
            <a:r>
              <a:rPr lang="en-US" altLang="zh-CN" sz="2600" dirty="0"/>
              <a:t>MATLAB</a:t>
            </a:r>
            <a:r>
              <a:rPr lang="zh-CN" altLang="en-US" sz="2600" dirty="0"/>
              <a:t>的目录结构就是以这些群组方式来编排的。</a:t>
            </a:r>
          </a:p>
          <a:p>
            <a:pPr eaLnBrk="1" hangingPunct="1"/>
            <a:r>
              <a:rPr lang="en-US" altLang="zh-CN" sz="2600" dirty="0"/>
              <a:t>help  </a:t>
            </a:r>
            <a:r>
              <a:rPr lang="en-US" altLang="zh-CN" sz="2600" dirty="0" err="1"/>
              <a:t>matfun</a:t>
            </a:r>
            <a:r>
              <a:rPr lang="en-US" altLang="zh-CN" sz="2600" dirty="0"/>
              <a:t> </a:t>
            </a:r>
            <a:r>
              <a:rPr lang="zh-CN" altLang="en-US" sz="2600" dirty="0"/>
              <a:t>：矩阵函数－数值线性代数</a:t>
            </a:r>
          </a:p>
          <a:p>
            <a:pPr eaLnBrk="1" hangingPunct="1"/>
            <a:r>
              <a:rPr lang="en-US" altLang="zh-CN" sz="2600" dirty="0"/>
              <a:t>help general</a:t>
            </a:r>
            <a:r>
              <a:rPr lang="zh-CN" altLang="en-US" sz="2600" dirty="0"/>
              <a:t>：通用命令</a:t>
            </a:r>
          </a:p>
          <a:p>
            <a:pPr eaLnBrk="1" hangingPunct="1"/>
            <a:r>
              <a:rPr lang="en-US" altLang="zh-CN" sz="2600" dirty="0"/>
              <a:t>help graphics</a:t>
            </a:r>
            <a:r>
              <a:rPr lang="zh-CN" altLang="en-US" sz="2600" dirty="0"/>
              <a:t>：通用图形函数</a:t>
            </a:r>
          </a:p>
          <a:p>
            <a:pPr eaLnBrk="1" hangingPunct="1"/>
            <a:r>
              <a:rPr lang="en-US" altLang="zh-CN" sz="2600" dirty="0"/>
              <a:t>help </a:t>
            </a:r>
            <a:r>
              <a:rPr lang="en-US" altLang="zh-CN" sz="2600" dirty="0" err="1"/>
              <a:t>elfun</a:t>
            </a:r>
            <a:r>
              <a:rPr lang="zh-CN" altLang="en-US" sz="2600" dirty="0"/>
              <a:t>：基本的数学函数</a:t>
            </a:r>
          </a:p>
          <a:p>
            <a:pPr eaLnBrk="1" hangingPunct="1"/>
            <a:r>
              <a:rPr lang="en-US" altLang="zh-CN" sz="2600" dirty="0"/>
              <a:t>help </a:t>
            </a:r>
            <a:r>
              <a:rPr lang="en-US" altLang="zh-CN" sz="2600" dirty="0" err="1"/>
              <a:t>elmat</a:t>
            </a:r>
            <a:r>
              <a:rPr lang="zh-CN" altLang="en-US" sz="2600" dirty="0"/>
              <a:t>：基本矩阵和矩阵操作</a:t>
            </a:r>
          </a:p>
          <a:p>
            <a:pPr eaLnBrk="1" hangingPunct="1"/>
            <a:r>
              <a:rPr lang="en-US" altLang="zh-CN" sz="2600" dirty="0"/>
              <a:t>help </a:t>
            </a:r>
            <a:r>
              <a:rPr lang="en-US" altLang="zh-CN" sz="2600" dirty="0" err="1"/>
              <a:t>datafun</a:t>
            </a:r>
            <a:r>
              <a:rPr lang="zh-CN" altLang="en-US" sz="2600" dirty="0"/>
              <a:t>：数据分析和傅立叶变换函数</a:t>
            </a:r>
          </a:p>
          <a:p>
            <a:pPr eaLnBrk="1" hangingPunct="1"/>
            <a:r>
              <a:rPr lang="en-US" altLang="zh-CN" sz="2600" dirty="0"/>
              <a:t>help ops</a:t>
            </a:r>
            <a:r>
              <a:rPr lang="zh-CN" altLang="en-US" sz="2600" dirty="0"/>
              <a:t>：操作符和特殊字符</a:t>
            </a:r>
          </a:p>
          <a:p>
            <a:pPr eaLnBrk="1" hangingPunct="1">
              <a:buFont typeface="Wingdings" panose="05000000000000000000" pitchFamily="2" charset="2"/>
              <a:buNone/>
            </a:pPr>
            <a:endParaRPr lang="en-US" altLang="zh-CN" sz="26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73BF84A7-F23F-45D2-AE28-4E7C423E1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C9B6CD-AA74-4E14-8D27-71C518A7E799}" type="slidenum">
              <a:rPr lang="en-US" altLang="zh-CN" sz="1200" smtClean="0">
                <a:latin typeface="Garamond" panose="02020404030301010803" pitchFamily="18" charset="0"/>
              </a:rPr>
              <a:pPr>
                <a:spcBef>
                  <a:spcPct val="0"/>
                </a:spcBef>
                <a:buClrTx/>
                <a:buSzTx/>
                <a:buFontTx/>
                <a:buNone/>
              </a:pPr>
              <a:t>13</a:t>
            </a:fld>
            <a:endParaRPr lang="en-US" altLang="zh-CN" sz="1200">
              <a:latin typeface="Garamond" panose="02020404030301010803" pitchFamily="18" charset="0"/>
            </a:endParaRPr>
          </a:p>
        </p:txBody>
      </p:sp>
      <p:sp>
        <p:nvSpPr>
          <p:cNvPr id="21507" name="Rectangle 2">
            <a:extLst>
              <a:ext uri="{FF2B5EF4-FFF2-40B4-BE49-F238E27FC236}">
                <a16:creationId xmlns:a16="http://schemas.microsoft.com/office/drawing/2014/main" id="{E25365C8-824B-43FD-8E23-2EBDB4B20BB9}"/>
              </a:ext>
            </a:extLst>
          </p:cNvPr>
          <p:cNvSpPr>
            <a:spLocks noGrp="1" noChangeArrowheads="1"/>
          </p:cNvSpPr>
          <p:nvPr>
            <p:ph type="body" idx="1"/>
          </p:nvPr>
        </p:nvSpPr>
        <p:spPr>
          <a:xfrm>
            <a:off x="848544" y="609600"/>
            <a:ext cx="8600256" cy="4187552"/>
          </a:xfrm>
        </p:spPr>
        <p:txBody>
          <a:bodyPr/>
          <a:lstStyle/>
          <a:p>
            <a:pPr eaLnBrk="1" hangingPunct="1"/>
            <a:r>
              <a:rPr lang="en-US" altLang="zh-CN" sz="2600" dirty="0"/>
              <a:t>help </a:t>
            </a:r>
            <a:r>
              <a:rPr lang="en-US" altLang="zh-CN" sz="2600" dirty="0" err="1"/>
              <a:t>polyfun</a:t>
            </a:r>
            <a:r>
              <a:rPr lang="zh-CN" altLang="en-US" sz="2600" dirty="0"/>
              <a:t>：多项式和内插函数</a:t>
            </a:r>
          </a:p>
          <a:p>
            <a:pPr eaLnBrk="1" hangingPunct="1"/>
            <a:r>
              <a:rPr lang="en-US" altLang="zh-CN" sz="2600" dirty="0"/>
              <a:t>help lang</a:t>
            </a:r>
            <a:r>
              <a:rPr lang="zh-CN" altLang="en-US" sz="2600" dirty="0"/>
              <a:t>：语言结构和调试</a:t>
            </a:r>
          </a:p>
          <a:p>
            <a:pPr eaLnBrk="1" hangingPunct="1"/>
            <a:r>
              <a:rPr lang="en-US" altLang="zh-CN" sz="2600" dirty="0"/>
              <a:t>help </a:t>
            </a:r>
            <a:r>
              <a:rPr lang="en-US" altLang="zh-CN" sz="2600" dirty="0" err="1"/>
              <a:t>strfun</a:t>
            </a:r>
            <a:r>
              <a:rPr lang="zh-CN" altLang="en-US" sz="2600" dirty="0"/>
              <a:t>：字符串函数</a:t>
            </a:r>
          </a:p>
          <a:p>
            <a:pPr eaLnBrk="1" hangingPunct="1"/>
            <a:r>
              <a:rPr lang="en-US" altLang="zh-CN" sz="2600" dirty="0"/>
              <a:t>help control</a:t>
            </a:r>
            <a:r>
              <a:rPr lang="zh-CN" altLang="en-US" sz="2600" dirty="0"/>
              <a:t>：控制系统工具箱函数</a:t>
            </a:r>
          </a:p>
          <a:p>
            <a:pPr eaLnBrk="1" hangingPunct="1">
              <a:buFont typeface="Wingdings" panose="05000000000000000000" pitchFamily="2" charset="2"/>
              <a:buNone/>
            </a:pPr>
            <a:r>
              <a:rPr lang="en-US" altLang="zh-CN" sz="2600" dirty="0"/>
              <a:t>2</a:t>
            </a:r>
            <a:r>
              <a:rPr lang="zh-CN" altLang="en-US" sz="2600" dirty="0"/>
              <a:t>、</a:t>
            </a:r>
            <a:r>
              <a:rPr lang="en-US" altLang="zh-CN" sz="2600" dirty="0" err="1"/>
              <a:t>helpwin</a:t>
            </a:r>
            <a:r>
              <a:rPr lang="zh-CN" altLang="en-US" sz="2600" dirty="0"/>
              <a:t>：帮助窗口</a:t>
            </a:r>
          </a:p>
          <a:p>
            <a:pPr eaLnBrk="1" hangingPunct="1">
              <a:buFont typeface="Wingdings" panose="05000000000000000000" pitchFamily="2" charset="2"/>
              <a:buNone/>
            </a:pPr>
            <a:r>
              <a:rPr lang="en-US" altLang="zh-CN" sz="2600" dirty="0"/>
              <a:t>3</a:t>
            </a:r>
            <a:r>
              <a:rPr lang="zh-CN" altLang="en-US" sz="2600" dirty="0"/>
              <a:t>、</a:t>
            </a:r>
            <a:r>
              <a:rPr lang="en-US" altLang="zh-CN" sz="2600" dirty="0"/>
              <a:t>helpdesk</a:t>
            </a:r>
            <a:r>
              <a:rPr lang="zh-CN" altLang="en-US" sz="2600" dirty="0"/>
              <a:t>：帮助桌面，浏览器模式</a:t>
            </a:r>
          </a:p>
          <a:p>
            <a:pPr eaLnBrk="1" hangingPunct="1">
              <a:buFont typeface="Wingdings" panose="05000000000000000000" pitchFamily="2" charset="2"/>
              <a:buNone/>
            </a:pPr>
            <a:r>
              <a:rPr lang="en-US" altLang="zh-CN" sz="2600" dirty="0"/>
              <a:t>4</a:t>
            </a:r>
            <a:r>
              <a:rPr lang="zh-CN" altLang="en-US" sz="2600" dirty="0"/>
              <a:t>、</a:t>
            </a:r>
            <a:r>
              <a:rPr lang="en-US" altLang="zh-CN" sz="2600" dirty="0" err="1"/>
              <a:t>lookfor</a:t>
            </a:r>
            <a:r>
              <a:rPr lang="zh-CN" altLang="en-US" sz="2600" dirty="0"/>
              <a:t>命令：返回包含指定关键词的那些项</a:t>
            </a:r>
          </a:p>
          <a:p>
            <a:pPr eaLnBrk="1" hangingPunct="1">
              <a:buFont typeface="Wingdings" panose="05000000000000000000" pitchFamily="2" charset="2"/>
              <a:buNone/>
            </a:pPr>
            <a:r>
              <a:rPr lang="en-US" altLang="zh-CN" sz="2600" dirty="0"/>
              <a:t>5</a:t>
            </a:r>
            <a:r>
              <a:rPr lang="zh-CN" altLang="en-US" sz="2600" dirty="0"/>
              <a:t>、</a:t>
            </a:r>
            <a:r>
              <a:rPr lang="en-US" altLang="zh-CN" sz="2600" dirty="0"/>
              <a:t>demo</a:t>
            </a:r>
            <a:r>
              <a:rPr lang="zh-CN" altLang="en-US" sz="2600" dirty="0"/>
              <a:t>：打开示例窗口</a:t>
            </a:r>
            <a:endParaRPr lang="en-US" altLang="zh-CN" sz="21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C1931ADB-F198-435C-8F3F-9B3A0CB557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85AF136-2333-42C4-B4D2-CB4D505E4D5C}" type="slidenum">
              <a:rPr lang="en-US" altLang="zh-CN" sz="1200" smtClean="0">
                <a:latin typeface="Garamond" panose="02020404030301010803" pitchFamily="18" charset="0"/>
              </a:rPr>
              <a:pPr>
                <a:spcBef>
                  <a:spcPct val="0"/>
                </a:spcBef>
                <a:buClrTx/>
                <a:buSzTx/>
                <a:buFontTx/>
                <a:buNone/>
              </a:pPr>
              <a:t>14</a:t>
            </a:fld>
            <a:endParaRPr lang="en-US" altLang="zh-CN" sz="1200">
              <a:latin typeface="Garamond" panose="02020404030301010803" pitchFamily="18" charset="0"/>
            </a:endParaRPr>
          </a:p>
        </p:txBody>
      </p:sp>
      <p:sp>
        <p:nvSpPr>
          <p:cNvPr id="103426" name="Rectangle 2">
            <a:extLst>
              <a:ext uri="{FF2B5EF4-FFF2-40B4-BE49-F238E27FC236}">
                <a16:creationId xmlns:a16="http://schemas.microsoft.com/office/drawing/2014/main" id="{FC4C2612-278D-46DC-8C7F-54946D594BB3}"/>
              </a:ext>
            </a:extLst>
          </p:cNvPr>
          <p:cNvSpPr>
            <a:spLocks noGrp="1" noChangeArrowheads="1"/>
          </p:cNvSpPr>
          <p:nvPr>
            <p:ph type="body" idx="1"/>
          </p:nvPr>
        </p:nvSpPr>
        <p:spPr>
          <a:xfrm>
            <a:off x="920750" y="4398963"/>
            <a:ext cx="8475663" cy="1728787"/>
          </a:xfrm>
        </p:spPr>
        <p:txBody>
          <a:bodyPr/>
          <a:lstStyle/>
          <a:p>
            <a:pPr eaLnBrk="1" hangingPunct="1"/>
            <a:r>
              <a:rPr lang="zh-CN" altLang="en-US" sz="2400" dirty="0"/>
              <a:t>矩阵生成不但可以使用纯数字（含复数），也可以使用变量（或者说采用一个表达式）。矩阵的元素直接排列在方括号内，行与行之间用分号隔开，每行内的元素使用空格或逗号隔开。大的矩阵可以用分行输入，回车键代表分号。</a:t>
            </a:r>
          </a:p>
        </p:txBody>
      </p:sp>
      <p:sp>
        <p:nvSpPr>
          <p:cNvPr id="103427" name="Text Box 3">
            <a:extLst>
              <a:ext uri="{FF2B5EF4-FFF2-40B4-BE49-F238E27FC236}">
                <a16:creationId xmlns:a16="http://schemas.microsoft.com/office/drawing/2014/main" id="{8417CC85-1996-4C17-8B3C-0F3DC1040AAC}"/>
              </a:ext>
            </a:extLst>
          </p:cNvPr>
          <p:cNvSpPr txBox="1">
            <a:spLocks noChangeArrowheads="1"/>
          </p:cNvSpPr>
          <p:nvPr/>
        </p:nvSpPr>
        <p:spPr bwMode="auto">
          <a:xfrm>
            <a:off x="5791200" y="2470150"/>
            <a:ext cx="28956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dirty="0">
                <a:latin typeface="Times New Roman" panose="02020603050405020304" pitchFamily="18" charset="0"/>
              </a:rPr>
              <a:t>》</a:t>
            </a:r>
            <a:r>
              <a:rPr kumimoji="1" lang="en-US" altLang="zh-CN" sz="2400" dirty="0"/>
              <a:t>y=[2,4, 5</a:t>
            </a:r>
          </a:p>
          <a:p>
            <a:pPr eaLnBrk="1" hangingPunct="1">
              <a:spcBef>
                <a:spcPct val="0"/>
              </a:spcBef>
              <a:buClrTx/>
              <a:buSzTx/>
              <a:buFontTx/>
              <a:buNone/>
            </a:pPr>
            <a:r>
              <a:rPr kumimoji="1" lang="en-US" altLang="zh-CN" sz="2400" dirty="0"/>
              <a:t>3 6 8]</a:t>
            </a:r>
          </a:p>
          <a:p>
            <a:pPr eaLnBrk="1" hangingPunct="1">
              <a:spcBef>
                <a:spcPct val="0"/>
              </a:spcBef>
              <a:buClrTx/>
              <a:buSzTx/>
              <a:buFontTx/>
              <a:buNone/>
            </a:pPr>
            <a:r>
              <a:rPr kumimoji="1" lang="en-US" altLang="zh-CN" sz="2400" dirty="0"/>
              <a:t>y=</a:t>
            </a:r>
          </a:p>
          <a:p>
            <a:pPr eaLnBrk="1" hangingPunct="1">
              <a:spcBef>
                <a:spcPct val="0"/>
              </a:spcBef>
              <a:buClrTx/>
              <a:buSzTx/>
              <a:buFontTx/>
              <a:buNone/>
            </a:pPr>
            <a:r>
              <a:rPr kumimoji="1" lang="en-US" altLang="zh-CN" sz="2400" dirty="0"/>
              <a:t>    2 4 5</a:t>
            </a:r>
          </a:p>
          <a:p>
            <a:pPr eaLnBrk="1" hangingPunct="1">
              <a:spcBef>
                <a:spcPct val="0"/>
              </a:spcBef>
              <a:buClrTx/>
              <a:buSzTx/>
              <a:buFontTx/>
              <a:buNone/>
            </a:pPr>
            <a:r>
              <a:rPr kumimoji="1" lang="en-US" altLang="zh-CN" sz="2400" dirty="0"/>
              <a:t>    3 6 8</a:t>
            </a:r>
            <a:endParaRPr kumimoji="1" lang="en-US" altLang="zh-CN" sz="2400" dirty="0">
              <a:latin typeface="Times New Roman" panose="02020603050405020304" pitchFamily="18" charset="0"/>
            </a:endParaRPr>
          </a:p>
        </p:txBody>
      </p:sp>
      <p:sp>
        <p:nvSpPr>
          <p:cNvPr id="103428" name="Text Box 4">
            <a:extLst>
              <a:ext uri="{FF2B5EF4-FFF2-40B4-BE49-F238E27FC236}">
                <a16:creationId xmlns:a16="http://schemas.microsoft.com/office/drawing/2014/main" id="{8E71D75E-135C-493F-BAEF-31A88232F111}"/>
              </a:ext>
            </a:extLst>
          </p:cNvPr>
          <p:cNvSpPr txBox="1">
            <a:spLocks noChangeArrowheads="1"/>
          </p:cNvSpPr>
          <p:nvPr/>
        </p:nvSpPr>
        <p:spPr bwMode="auto">
          <a:xfrm>
            <a:off x="1295400" y="1219200"/>
            <a:ext cx="335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a:solidFill>
                  <a:schemeClr val="tx2"/>
                </a:solidFill>
                <a:latin typeface="Impact" panose="020B0806030902050204" pitchFamily="34" charset="0"/>
              </a:rPr>
              <a:t>一、矩阵的输入</a:t>
            </a:r>
          </a:p>
        </p:txBody>
      </p:sp>
      <p:sp>
        <p:nvSpPr>
          <p:cNvPr id="22534" name="Text Box 5">
            <a:extLst>
              <a:ext uri="{FF2B5EF4-FFF2-40B4-BE49-F238E27FC236}">
                <a16:creationId xmlns:a16="http://schemas.microsoft.com/office/drawing/2014/main" id="{4CF1E060-4995-4E3C-8BD8-6C0B413E163F}"/>
              </a:ext>
            </a:extLst>
          </p:cNvPr>
          <p:cNvSpPr txBox="1">
            <a:spLocks noChangeArrowheads="1"/>
          </p:cNvSpPr>
          <p:nvPr/>
        </p:nvSpPr>
        <p:spPr bwMode="auto">
          <a:xfrm>
            <a:off x="1524000" y="609600"/>
            <a:ext cx="7773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3200">
                <a:solidFill>
                  <a:schemeClr val="tx2"/>
                </a:solidFill>
              </a:rPr>
              <a:t>第二节     </a:t>
            </a:r>
            <a:r>
              <a:rPr kumimoji="1" lang="en-US" altLang="zh-CN" sz="3200">
                <a:solidFill>
                  <a:schemeClr val="tx2"/>
                </a:solidFill>
                <a:latin typeface="Impact" panose="020B0806030902050204" pitchFamily="34" charset="0"/>
              </a:rPr>
              <a:t>MATLAB</a:t>
            </a:r>
            <a:r>
              <a:rPr kumimoji="1" lang="zh-CN" altLang="en-US" sz="3200">
                <a:solidFill>
                  <a:schemeClr val="tx2"/>
                </a:solidFill>
              </a:rPr>
              <a:t>矩阵运算及多项式处理</a:t>
            </a:r>
          </a:p>
        </p:txBody>
      </p:sp>
      <p:sp>
        <p:nvSpPr>
          <p:cNvPr id="103430" name="Text Box 6">
            <a:extLst>
              <a:ext uri="{FF2B5EF4-FFF2-40B4-BE49-F238E27FC236}">
                <a16:creationId xmlns:a16="http://schemas.microsoft.com/office/drawing/2014/main" id="{FA677AEF-20B3-4203-90BC-C3B2146C67A1}"/>
              </a:ext>
            </a:extLst>
          </p:cNvPr>
          <p:cNvSpPr txBox="1">
            <a:spLocks noChangeArrowheads="1"/>
          </p:cNvSpPr>
          <p:nvPr/>
        </p:nvSpPr>
        <p:spPr bwMode="auto">
          <a:xfrm>
            <a:off x="1524000" y="2414588"/>
            <a:ext cx="3657600"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400" dirty="0">
                <a:latin typeface="Impact" panose="020B0806030902050204" pitchFamily="34" charset="0"/>
              </a:rPr>
              <a:t>》</a:t>
            </a:r>
            <a:r>
              <a:rPr kumimoji="1" lang="en-US" altLang="zh-CN" sz="2400" dirty="0"/>
              <a:t>a=1; b=2; c=3;</a:t>
            </a:r>
          </a:p>
          <a:p>
            <a:pPr eaLnBrk="1" hangingPunct="1">
              <a:lnSpc>
                <a:spcPct val="90000"/>
              </a:lnSpc>
              <a:buClrTx/>
              <a:buSzTx/>
              <a:buFontTx/>
              <a:buNone/>
            </a:pPr>
            <a:r>
              <a:rPr kumimoji="1" lang="en-US" altLang="zh-CN" sz="2400" dirty="0"/>
              <a:t>》x=[5 b c; a*b </a:t>
            </a:r>
            <a:r>
              <a:rPr kumimoji="1" lang="en-US" altLang="zh-CN" sz="2400" dirty="0" err="1"/>
              <a:t>a+c</a:t>
            </a:r>
            <a:r>
              <a:rPr kumimoji="1" lang="en-US" altLang="zh-CN" sz="2400" dirty="0"/>
              <a:t> c/b]</a:t>
            </a:r>
          </a:p>
          <a:p>
            <a:pPr eaLnBrk="1" hangingPunct="1">
              <a:lnSpc>
                <a:spcPct val="90000"/>
              </a:lnSpc>
              <a:buClrTx/>
              <a:buSzTx/>
              <a:buFontTx/>
              <a:buNone/>
            </a:pPr>
            <a:r>
              <a:rPr kumimoji="1" lang="en-US" altLang="zh-CN" sz="2400" dirty="0"/>
              <a:t>x=</a:t>
            </a:r>
          </a:p>
          <a:p>
            <a:pPr eaLnBrk="1" hangingPunct="1">
              <a:lnSpc>
                <a:spcPct val="90000"/>
              </a:lnSpc>
              <a:buClrTx/>
              <a:buSzTx/>
              <a:buFontTx/>
              <a:buNone/>
            </a:pPr>
            <a:r>
              <a:rPr kumimoji="1" lang="en-US" altLang="zh-CN" sz="2400" dirty="0"/>
              <a:t>    5.000 2.000 3.000</a:t>
            </a:r>
          </a:p>
          <a:p>
            <a:pPr eaLnBrk="1" hangingPunct="1">
              <a:lnSpc>
                <a:spcPct val="90000"/>
              </a:lnSpc>
              <a:buClrTx/>
              <a:buSzTx/>
              <a:buFontTx/>
              <a:buNone/>
            </a:pPr>
            <a:r>
              <a:rPr kumimoji="1" lang="en-US" altLang="zh-CN" sz="2400" dirty="0"/>
              <a:t>    2.000 4.000 1.500</a:t>
            </a:r>
          </a:p>
        </p:txBody>
      </p:sp>
      <p:sp>
        <p:nvSpPr>
          <p:cNvPr id="103431" name="Text Box 7">
            <a:extLst>
              <a:ext uri="{FF2B5EF4-FFF2-40B4-BE49-F238E27FC236}">
                <a16:creationId xmlns:a16="http://schemas.microsoft.com/office/drawing/2014/main" id="{EAE80226-FCB5-4C75-982C-7A277241DD40}"/>
              </a:ext>
            </a:extLst>
          </p:cNvPr>
          <p:cNvSpPr txBox="1">
            <a:spLocks noChangeArrowheads="1"/>
          </p:cNvSpPr>
          <p:nvPr/>
        </p:nvSpPr>
        <p:spPr bwMode="auto">
          <a:xfrm>
            <a:off x="1373188" y="1752600"/>
            <a:ext cx="4113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800">
                <a:latin typeface="Impact" panose="020B0806030902050204" pitchFamily="34" charset="0"/>
              </a:rPr>
              <a:t>1</a:t>
            </a:r>
            <a:r>
              <a:rPr kumimoji="1" lang="zh-CN" altLang="en-US" sz="2800">
                <a:latin typeface="Impact" panose="020B0806030902050204" pitchFamily="34" charset="0"/>
              </a:rPr>
              <a:t>、在命令窗口中输入</a:t>
            </a:r>
            <a:endParaRPr kumimoji="1" lang="zh-CN"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 calcmode="lin" valueType="num">
                                      <p:cBhvr additive="base">
                                        <p:cTn id="7" dur="500" fill="hold"/>
                                        <p:tgtEl>
                                          <p:spTgt spid="103428"/>
                                        </p:tgtEl>
                                        <p:attrNameLst>
                                          <p:attrName>ppt_x</p:attrName>
                                        </p:attrNameLst>
                                      </p:cBhvr>
                                      <p:tavLst>
                                        <p:tav tm="0">
                                          <p:val>
                                            <p:strVal val="0-#ppt_w/2"/>
                                          </p:val>
                                        </p:tav>
                                        <p:tav tm="100000">
                                          <p:val>
                                            <p:strVal val="#ppt_x"/>
                                          </p:val>
                                        </p:tav>
                                      </p:tavLst>
                                    </p:anim>
                                    <p:anim calcmode="lin" valueType="num">
                                      <p:cBhvr additive="base">
                                        <p:cTn id="8" dur="500" fill="hold"/>
                                        <p:tgtEl>
                                          <p:spTgt spid="10342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343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3430"/>
                                        </p:tgtEl>
                                        <p:attrNameLst>
                                          <p:attrName>style.visibility</p:attrName>
                                        </p:attrNameLst>
                                      </p:cBhvr>
                                      <p:to>
                                        <p:strVal val="visible"/>
                                      </p:to>
                                    </p:set>
                                    <p:anim calcmode="lin" valueType="num">
                                      <p:cBhvr additive="base">
                                        <p:cTn id="17" dur="500" fill="hold"/>
                                        <p:tgtEl>
                                          <p:spTgt spid="103430"/>
                                        </p:tgtEl>
                                        <p:attrNameLst>
                                          <p:attrName>ppt_x</p:attrName>
                                        </p:attrNameLst>
                                      </p:cBhvr>
                                      <p:tavLst>
                                        <p:tav tm="0">
                                          <p:val>
                                            <p:strVal val="0-#ppt_w/2"/>
                                          </p:val>
                                        </p:tav>
                                        <p:tav tm="100000">
                                          <p:val>
                                            <p:strVal val="#ppt_x"/>
                                          </p:val>
                                        </p:tav>
                                      </p:tavLst>
                                    </p:anim>
                                    <p:anim calcmode="lin" valueType="num">
                                      <p:cBhvr additive="base">
                                        <p:cTn id="18" dur="500" fill="hold"/>
                                        <p:tgtEl>
                                          <p:spTgt spid="103430"/>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03427"/>
                                        </p:tgtEl>
                                        <p:attrNameLst>
                                          <p:attrName>style.visibility</p:attrName>
                                        </p:attrNameLst>
                                      </p:cBhvr>
                                      <p:to>
                                        <p:strVal val="visible"/>
                                      </p:to>
                                    </p:set>
                                    <p:anim calcmode="lin" valueType="num">
                                      <p:cBhvr additive="base">
                                        <p:cTn id="23" dur="500" fill="hold"/>
                                        <p:tgtEl>
                                          <p:spTgt spid="103427"/>
                                        </p:tgtEl>
                                        <p:attrNameLst>
                                          <p:attrName>ppt_x</p:attrName>
                                        </p:attrNameLst>
                                      </p:cBhvr>
                                      <p:tavLst>
                                        <p:tav tm="0">
                                          <p:val>
                                            <p:strVal val="0-#ppt_w/2"/>
                                          </p:val>
                                        </p:tav>
                                        <p:tav tm="100000">
                                          <p:val>
                                            <p:strVal val="#ppt_x"/>
                                          </p:val>
                                        </p:tav>
                                      </p:tavLst>
                                    </p:anim>
                                    <p:anim calcmode="lin" valueType="num">
                                      <p:cBhvr additive="base">
                                        <p:cTn id="24" dur="500" fill="hold"/>
                                        <p:tgtEl>
                                          <p:spTgt spid="103427"/>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03426"/>
                                        </p:tgtEl>
                                        <p:attrNameLst>
                                          <p:attrName>style.visibility</p:attrName>
                                        </p:attrNameLst>
                                      </p:cBhvr>
                                      <p:to>
                                        <p:strVal val="visible"/>
                                      </p:to>
                                    </p:set>
                                    <p:animEffect transition="in" filter="blinds(horizontal)">
                                      <p:cBhvr>
                                        <p:cTn id="29" dur="500"/>
                                        <p:tgtEl>
                                          <p:spTgt spid="10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P spid="103427" grpId="0" autoUpdateAnimBg="0"/>
      <p:bldP spid="103428" grpId="0" autoUpdateAnimBg="0"/>
      <p:bldP spid="103430" grpId="0" autoUpdateAnimBg="0"/>
      <p:bldP spid="10343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A09EFB6A-5FAA-4C7C-8EBB-1885E5BBD0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EC26BB0-BC36-411A-A675-68EEF88430E2}" type="slidenum">
              <a:rPr lang="en-US" altLang="zh-CN" sz="1200" smtClean="0">
                <a:latin typeface="Garamond" panose="02020404030301010803" pitchFamily="18" charset="0"/>
              </a:rPr>
              <a:pPr>
                <a:spcBef>
                  <a:spcPct val="0"/>
                </a:spcBef>
                <a:buClrTx/>
                <a:buSzTx/>
                <a:buFontTx/>
                <a:buNone/>
              </a:pPr>
              <a:t>15</a:t>
            </a:fld>
            <a:endParaRPr lang="en-US" altLang="zh-CN" sz="1200">
              <a:latin typeface="Garamond" panose="02020404030301010803" pitchFamily="18" charset="0"/>
            </a:endParaRPr>
          </a:p>
        </p:txBody>
      </p:sp>
      <p:sp>
        <p:nvSpPr>
          <p:cNvPr id="104450" name="Rectangle 2">
            <a:extLst>
              <a:ext uri="{FF2B5EF4-FFF2-40B4-BE49-F238E27FC236}">
                <a16:creationId xmlns:a16="http://schemas.microsoft.com/office/drawing/2014/main" id="{BAC5F5A2-667C-46D6-878A-71E2FAF3EED3}"/>
              </a:ext>
            </a:extLst>
          </p:cNvPr>
          <p:cNvSpPr>
            <a:spLocks noGrp="1" noChangeArrowheads="1"/>
          </p:cNvSpPr>
          <p:nvPr>
            <p:ph type="body" idx="1"/>
          </p:nvPr>
        </p:nvSpPr>
        <p:spPr>
          <a:xfrm>
            <a:off x="1143000" y="1066800"/>
            <a:ext cx="8458200" cy="2362200"/>
          </a:xfrm>
        </p:spPr>
        <p:txBody>
          <a:bodyPr/>
          <a:lstStyle/>
          <a:p>
            <a:pPr eaLnBrk="1" hangingPunct="1">
              <a:buFont typeface="Wingdings" panose="05000000000000000000" pitchFamily="2" charset="2"/>
              <a:buNone/>
            </a:pPr>
            <a:r>
              <a:rPr lang="zh-CN" altLang="en-US" sz="2100"/>
              <a:t>（</a:t>
            </a:r>
            <a:r>
              <a:rPr lang="en-US" altLang="zh-CN" sz="2100"/>
              <a:t>1</a:t>
            </a:r>
            <a:r>
              <a:rPr lang="zh-CN" altLang="en-US" sz="2100"/>
              <a:t>）用线性等间距生成向量矩阵（</a:t>
            </a:r>
            <a:r>
              <a:rPr lang="en-US" altLang="zh-CN" sz="2100">
                <a:latin typeface="宋体" panose="02010600030101010101" pitchFamily="2" charset="-122"/>
              </a:rPr>
              <a:t>start:step:end</a:t>
            </a:r>
            <a:r>
              <a:rPr lang="zh-CN" altLang="en-US" sz="2100"/>
              <a:t>）</a:t>
            </a:r>
          </a:p>
          <a:p>
            <a:pPr eaLnBrk="1" hangingPunct="1">
              <a:buFont typeface="Wingdings" panose="05000000000000000000" pitchFamily="2" charset="2"/>
              <a:buNone/>
            </a:pPr>
            <a:r>
              <a:rPr lang="en-US" altLang="zh-CN" sz="2100"/>
              <a:t>》a=[1:2:10]</a:t>
            </a:r>
          </a:p>
          <a:p>
            <a:pPr eaLnBrk="1" hangingPunct="1">
              <a:buFont typeface="Wingdings" panose="05000000000000000000" pitchFamily="2" charset="2"/>
              <a:buNone/>
            </a:pPr>
            <a:r>
              <a:rPr lang="en-US" altLang="zh-CN" sz="2100"/>
              <a:t>a=</a:t>
            </a:r>
          </a:p>
          <a:p>
            <a:pPr eaLnBrk="1" hangingPunct="1">
              <a:buFont typeface="Wingdings" panose="05000000000000000000" pitchFamily="2" charset="2"/>
              <a:buNone/>
            </a:pPr>
            <a:r>
              <a:rPr lang="en-US" altLang="zh-CN" sz="2100"/>
              <a:t>    1  3  5  7  9</a:t>
            </a:r>
          </a:p>
          <a:p>
            <a:pPr eaLnBrk="1" hangingPunct="1">
              <a:buFont typeface="Wingdings" panose="05000000000000000000" pitchFamily="2" charset="2"/>
              <a:buNone/>
            </a:pPr>
            <a:endParaRPr lang="en-US" altLang="zh-CN" sz="2100"/>
          </a:p>
        </p:txBody>
      </p:sp>
      <p:sp>
        <p:nvSpPr>
          <p:cNvPr id="104451" name="Text Box 3">
            <a:extLst>
              <a:ext uri="{FF2B5EF4-FFF2-40B4-BE49-F238E27FC236}">
                <a16:creationId xmlns:a16="http://schemas.microsoft.com/office/drawing/2014/main" id="{30395A28-B898-48DA-8763-9E2A4DC9AF02}"/>
              </a:ext>
            </a:extLst>
          </p:cNvPr>
          <p:cNvSpPr txBox="1">
            <a:spLocks noChangeArrowheads="1"/>
          </p:cNvSpPr>
          <p:nvPr/>
        </p:nvSpPr>
        <p:spPr bwMode="auto">
          <a:xfrm>
            <a:off x="3429000" y="1676400"/>
            <a:ext cx="5257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Times New Roman" panose="02020603050405020304" pitchFamily="18" charset="0"/>
              </a:rPr>
              <a:t>其中</a:t>
            </a:r>
            <a:r>
              <a:rPr kumimoji="1" lang="en-US" altLang="zh-CN" sz="2400">
                <a:latin typeface="Times New Roman" panose="02020603050405020304" pitchFamily="18" charset="0"/>
              </a:rPr>
              <a:t>start</a:t>
            </a:r>
            <a:r>
              <a:rPr kumimoji="1" lang="zh-CN" altLang="en-US" sz="2400">
                <a:latin typeface="Times New Roman" panose="02020603050405020304" pitchFamily="18" charset="0"/>
              </a:rPr>
              <a:t>为起始值，</a:t>
            </a:r>
            <a:r>
              <a:rPr kumimoji="1" lang="en-US" altLang="zh-CN" sz="2400">
                <a:latin typeface="Times New Roman" panose="02020603050405020304" pitchFamily="18" charset="0"/>
              </a:rPr>
              <a:t>step</a:t>
            </a:r>
            <a:r>
              <a:rPr kumimoji="1" lang="zh-CN" altLang="en-US" sz="2400">
                <a:latin typeface="Times New Roman" panose="02020603050405020304" pitchFamily="18" charset="0"/>
              </a:rPr>
              <a:t>为步长，</a:t>
            </a:r>
            <a:r>
              <a:rPr kumimoji="1" lang="en-US" altLang="zh-CN" sz="2400">
                <a:latin typeface="Times New Roman" panose="02020603050405020304" pitchFamily="18" charset="0"/>
              </a:rPr>
              <a:t>end</a:t>
            </a:r>
            <a:r>
              <a:rPr kumimoji="1" lang="zh-CN" altLang="en-US" sz="2400">
                <a:latin typeface="Times New Roman" panose="02020603050405020304" pitchFamily="18" charset="0"/>
              </a:rPr>
              <a:t>为终止值。当步长为</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时可省略</a:t>
            </a:r>
            <a:r>
              <a:rPr kumimoji="1" lang="en-US" altLang="zh-CN" sz="2400">
                <a:latin typeface="Times New Roman" panose="02020603050405020304" pitchFamily="18" charset="0"/>
              </a:rPr>
              <a:t>step</a:t>
            </a:r>
            <a:r>
              <a:rPr kumimoji="1" lang="zh-CN" altLang="en-US" sz="2400">
                <a:latin typeface="Times New Roman" panose="02020603050405020304" pitchFamily="18" charset="0"/>
              </a:rPr>
              <a:t>参数；另外</a:t>
            </a:r>
            <a:r>
              <a:rPr kumimoji="1" lang="en-US" altLang="zh-CN" sz="2400">
                <a:latin typeface="Times New Roman" panose="02020603050405020304" pitchFamily="18" charset="0"/>
              </a:rPr>
              <a:t>step</a:t>
            </a:r>
            <a:r>
              <a:rPr kumimoji="1" lang="zh-CN" altLang="en-US" sz="2400">
                <a:latin typeface="Times New Roman" panose="02020603050405020304" pitchFamily="18" charset="0"/>
              </a:rPr>
              <a:t>也可以取负数。</a:t>
            </a:r>
          </a:p>
        </p:txBody>
      </p:sp>
      <p:sp>
        <p:nvSpPr>
          <p:cNvPr id="24581" name="Text Box 4">
            <a:extLst>
              <a:ext uri="{FF2B5EF4-FFF2-40B4-BE49-F238E27FC236}">
                <a16:creationId xmlns:a16="http://schemas.microsoft.com/office/drawing/2014/main" id="{307DF322-512B-444C-AC80-5D49D30CB664}"/>
              </a:ext>
            </a:extLst>
          </p:cNvPr>
          <p:cNvSpPr txBox="1">
            <a:spLocks noChangeArrowheads="1"/>
          </p:cNvSpPr>
          <p:nvPr/>
        </p:nvSpPr>
        <p:spPr bwMode="auto">
          <a:xfrm>
            <a:off x="1295400" y="6096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Impact" panose="020B0806030902050204" pitchFamily="34" charset="0"/>
              </a:rPr>
              <a:t>2</a:t>
            </a:r>
            <a:r>
              <a:rPr kumimoji="1" lang="zh-CN" altLang="en-US" sz="2400">
                <a:latin typeface="Impact" panose="020B0806030902050204" pitchFamily="34" charset="0"/>
              </a:rPr>
              <a:t>、语句生成</a:t>
            </a:r>
          </a:p>
        </p:txBody>
      </p:sp>
      <p:sp>
        <p:nvSpPr>
          <p:cNvPr id="104453" name="Text Box 5">
            <a:extLst>
              <a:ext uri="{FF2B5EF4-FFF2-40B4-BE49-F238E27FC236}">
                <a16:creationId xmlns:a16="http://schemas.microsoft.com/office/drawing/2014/main" id="{2CF3670C-59E3-4239-A9F7-11B9584326A0}"/>
              </a:ext>
            </a:extLst>
          </p:cNvPr>
          <p:cNvSpPr txBox="1">
            <a:spLocks noChangeArrowheads="1"/>
          </p:cNvSpPr>
          <p:nvPr/>
        </p:nvSpPr>
        <p:spPr bwMode="auto">
          <a:xfrm>
            <a:off x="1373188" y="3429000"/>
            <a:ext cx="7828284" cy="2382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zh-CN" altLang="en-US" sz="2400" dirty="0"/>
              <a:t>（</a:t>
            </a:r>
            <a:r>
              <a:rPr kumimoji="1" lang="en-US" altLang="zh-CN" sz="2400" dirty="0"/>
              <a:t>2</a:t>
            </a:r>
            <a:r>
              <a:rPr kumimoji="1" lang="zh-CN" altLang="en-US" sz="2400" dirty="0"/>
              <a:t>）</a:t>
            </a:r>
            <a:r>
              <a:rPr kumimoji="1" lang="en-US" altLang="zh-CN" sz="2400" dirty="0"/>
              <a:t>a=</a:t>
            </a:r>
            <a:r>
              <a:rPr kumimoji="1" lang="en-US" altLang="zh-CN" sz="2400" dirty="0" err="1"/>
              <a:t>linspace</a:t>
            </a:r>
            <a:r>
              <a:rPr kumimoji="1" lang="en-US" altLang="zh-CN" sz="2400" dirty="0"/>
              <a:t>(n1,n2,n)</a:t>
            </a:r>
          </a:p>
          <a:p>
            <a:pPr eaLnBrk="1" hangingPunct="1">
              <a:lnSpc>
                <a:spcPct val="90000"/>
              </a:lnSpc>
              <a:buClrTx/>
              <a:buSzTx/>
              <a:buFontTx/>
              <a:buChar char="•"/>
            </a:pPr>
            <a:r>
              <a:rPr kumimoji="1" lang="zh-CN" altLang="en-US" sz="2400" dirty="0"/>
              <a:t>在线性空间上，行矢量的值从</a:t>
            </a:r>
            <a:r>
              <a:rPr kumimoji="1" lang="en-US" altLang="zh-CN" sz="2400" dirty="0"/>
              <a:t>n1</a:t>
            </a:r>
            <a:r>
              <a:rPr kumimoji="1" lang="zh-CN" altLang="en-US" sz="2400" dirty="0"/>
              <a:t>到</a:t>
            </a:r>
            <a:r>
              <a:rPr kumimoji="1" lang="en-US" altLang="zh-CN" sz="2400" dirty="0"/>
              <a:t>n2</a:t>
            </a:r>
            <a:r>
              <a:rPr kumimoji="1" lang="zh-CN" altLang="en-US" sz="2400" dirty="0"/>
              <a:t>，数据个数为</a:t>
            </a:r>
            <a:r>
              <a:rPr kumimoji="1" lang="en-US" altLang="zh-CN" sz="2400" dirty="0"/>
              <a:t>n</a:t>
            </a:r>
            <a:r>
              <a:rPr kumimoji="1" lang="zh-CN" altLang="en-US" sz="2400" dirty="0"/>
              <a:t>，缺省</a:t>
            </a:r>
            <a:r>
              <a:rPr kumimoji="1" lang="en-US" altLang="zh-CN" sz="2400" dirty="0"/>
              <a:t>n</a:t>
            </a:r>
            <a:r>
              <a:rPr kumimoji="1" lang="zh-CN" altLang="en-US" sz="2400" dirty="0"/>
              <a:t>为</a:t>
            </a:r>
            <a:r>
              <a:rPr kumimoji="1" lang="en-US" altLang="zh-CN" sz="2400" dirty="0"/>
              <a:t>100</a:t>
            </a:r>
            <a:r>
              <a:rPr kumimoji="1" lang="zh-CN" altLang="en-US" sz="2400" dirty="0"/>
              <a:t>。</a:t>
            </a:r>
            <a:r>
              <a:rPr kumimoji="1" lang="en-US" altLang="zh-CN" sz="2400" dirty="0"/>
              <a:t>n&lt;2, </a:t>
            </a:r>
            <a:r>
              <a:rPr kumimoji="1" lang="zh-CN" altLang="en-US" sz="2400" dirty="0"/>
              <a:t>返回</a:t>
            </a:r>
            <a:r>
              <a:rPr kumimoji="1" lang="en-US" altLang="zh-CN" sz="2400" dirty="0"/>
              <a:t>n2.</a:t>
            </a:r>
            <a:endParaRPr kumimoji="1" lang="zh-CN" altLang="en-US" sz="2400" dirty="0"/>
          </a:p>
          <a:p>
            <a:pPr eaLnBrk="1" hangingPunct="1">
              <a:lnSpc>
                <a:spcPct val="90000"/>
              </a:lnSpc>
              <a:buClrTx/>
              <a:buSzTx/>
              <a:buFontTx/>
              <a:buNone/>
            </a:pPr>
            <a:r>
              <a:rPr kumimoji="1" lang="en-US" altLang="zh-CN" sz="2400" dirty="0">
                <a:latin typeface="Impact" panose="020B0806030902050204" pitchFamily="34" charset="0"/>
              </a:rPr>
              <a:t>》</a:t>
            </a:r>
            <a:r>
              <a:rPr kumimoji="1" lang="en-US" altLang="zh-CN" sz="2400" dirty="0"/>
              <a:t>a=</a:t>
            </a:r>
            <a:r>
              <a:rPr kumimoji="1" lang="en-US" altLang="zh-CN" sz="2400" dirty="0" err="1"/>
              <a:t>linspace</a:t>
            </a:r>
            <a:r>
              <a:rPr kumimoji="1" lang="en-US" altLang="zh-CN" sz="2400" dirty="0"/>
              <a:t>(1,10,10)</a:t>
            </a:r>
          </a:p>
          <a:p>
            <a:pPr eaLnBrk="1" hangingPunct="1">
              <a:lnSpc>
                <a:spcPct val="90000"/>
              </a:lnSpc>
              <a:buClrTx/>
              <a:buSzTx/>
              <a:buFontTx/>
              <a:buNone/>
            </a:pPr>
            <a:r>
              <a:rPr kumimoji="1" lang="en-US" altLang="zh-CN" sz="2400" dirty="0"/>
              <a:t>a=</a:t>
            </a:r>
          </a:p>
          <a:p>
            <a:pPr eaLnBrk="1" hangingPunct="1">
              <a:lnSpc>
                <a:spcPct val="90000"/>
              </a:lnSpc>
              <a:buClrTx/>
              <a:buSzTx/>
              <a:buFontTx/>
              <a:buNone/>
            </a:pPr>
            <a:r>
              <a:rPr kumimoji="1" lang="en-US" altLang="zh-CN" sz="2400" dirty="0"/>
              <a:t>    1  2  3  4  5  6  7  8  9  10</a:t>
            </a:r>
            <a:endParaRPr kumimoji="1" lang="en-US" altLang="zh-CN" sz="2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0-#ppt_w/2"/>
                                          </p:val>
                                        </p:tav>
                                        <p:tav tm="100000">
                                          <p:val>
                                            <p:strVal val="#ppt_x"/>
                                          </p:val>
                                        </p:tav>
                                      </p:tavLst>
                                    </p:anim>
                                    <p:anim calcmode="lin" valueType="num">
                                      <p:cBhvr additive="base">
                                        <p:cTn id="8" dur="500" fill="hold"/>
                                        <p:tgtEl>
                                          <p:spTgt spid="1044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4451"/>
                                        </p:tgtEl>
                                        <p:attrNameLst>
                                          <p:attrName>style.visibility</p:attrName>
                                        </p:attrNameLst>
                                      </p:cBhvr>
                                      <p:to>
                                        <p:strVal val="visible"/>
                                      </p:to>
                                    </p:set>
                                    <p:animEffect transition="in" filter="blinds(horizontal)">
                                      <p:cBhvr>
                                        <p:cTn id="13" dur="500"/>
                                        <p:tgtEl>
                                          <p:spTgt spid="1044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104453"/>
                                        </p:tgtEl>
                                        <p:attrNameLst>
                                          <p:attrName>style.visibility</p:attrName>
                                        </p:attrNameLst>
                                      </p:cBhvr>
                                      <p:to>
                                        <p:strVal val="visible"/>
                                      </p:to>
                                    </p:set>
                                    <p:animEffect transition="in" filter="barn(outHorizontal)">
                                      <p:cBhvr>
                                        <p:cTn id="18" dur="500"/>
                                        <p:tgtEl>
                                          <p:spTgt spid="104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autoUpdateAnimBg="0"/>
      <p:bldP spid="10445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E8ED8B2F-4D62-4139-A7AB-9CC4BDB7F4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EF4E88A-7A75-4715-86F2-46EF5E30CB4B}" type="slidenum">
              <a:rPr lang="en-US" altLang="zh-CN" sz="1200" smtClean="0">
                <a:latin typeface="Garamond" panose="02020404030301010803" pitchFamily="18" charset="0"/>
              </a:rPr>
              <a:pPr>
                <a:spcBef>
                  <a:spcPct val="0"/>
                </a:spcBef>
                <a:buClrTx/>
                <a:buSzTx/>
                <a:buFontTx/>
                <a:buNone/>
              </a:pPr>
              <a:t>16</a:t>
            </a:fld>
            <a:endParaRPr lang="en-US" altLang="zh-CN" sz="1200">
              <a:latin typeface="Garamond" panose="02020404030301010803" pitchFamily="18" charset="0"/>
            </a:endParaRPr>
          </a:p>
        </p:txBody>
      </p:sp>
      <p:sp>
        <p:nvSpPr>
          <p:cNvPr id="105474" name="Rectangle 2">
            <a:extLst>
              <a:ext uri="{FF2B5EF4-FFF2-40B4-BE49-F238E27FC236}">
                <a16:creationId xmlns:a16="http://schemas.microsoft.com/office/drawing/2014/main" id="{75542261-39BD-4E4C-8BA8-F7087B213C8A}"/>
              </a:ext>
            </a:extLst>
          </p:cNvPr>
          <p:cNvSpPr>
            <a:spLocks noGrp="1" noChangeArrowheads="1"/>
          </p:cNvSpPr>
          <p:nvPr>
            <p:ph type="body" idx="1"/>
          </p:nvPr>
        </p:nvSpPr>
        <p:spPr>
          <a:xfrm>
            <a:off x="1168572" y="3324376"/>
            <a:ext cx="8077200" cy="2879725"/>
          </a:xfrm>
        </p:spPr>
        <p:txBody>
          <a:bodyPr/>
          <a:lstStyle/>
          <a:p>
            <a:pPr eaLnBrk="1" hangingPunct="1">
              <a:lnSpc>
                <a:spcPct val="90000"/>
              </a:lnSpc>
              <a:buFont typeface="Wingdings" panose="05000000000000000000" pitchFamily="2" charset="2"/>
              <a:buNone/>
            </a:pPr>
            <a:r>
              <a:rPr lang="zh-CN" altLang="en-US" sz="2100" dirty="0"/>
              <a:t>（</a:t>
            </a:r>
            <a:r>
              <a:rPr lang="en-US" altLang="zh-CN" sz="2100" dirty="0"/>
              <a:t>4</a:t>
            </a:r>
            <a:r>
              <a:rPr lang="zh-CN" altLang="en-US" sz="2100" dirty="0"/>
              <a:t>）一些常用的特殊矩阵</a:t>
            </a:r>
          </a:p>
          <a:p>
            <a:pPr eaLnBrk="1" hangingPunct="1">
              <a:lnSpc>
                <a:spcPct val="90000"/>
              </a:lnSpc>
              <a:buFont typeface="Wingdings" panose="05000000000000000000" pitchFamily="2" charset="2"/>
              <a:buNone/>
            </a:pPr>
            <a:r>
              <a:rPr lang="zh-CN" altLang="en-US" sz="2400" dirty="0"/>
              <a:t>单位矩阵：</a:t>
            </a:r>
            <a:r>
              <a:rPr lang="en-US" altLang="zh-CN" sz="2400" dirty="0"/>
              <a:t>eye(</a:t>
            </a:r>
            <a:r>
              <a:rPr lang="en-US" altLang="zh-CN" sz="2400" dirty="0" err="1"/>
              <a:t>m,n</a:t>
            </a:r>
            <a:r>
              <a:rPr lang="en-US" altLang="zh-CN" sz="2400" dirty="0"/>
              <a:t>); eye(m)</a:t>
            </a:r>
          </a:p>
          <a:p>
            <a:pPr eaLnBrk="1" hangingPunct="1">
              <a:lnSpc>
                <a:spcPct val="90000"/>
              </a:lnSpc>
              <a:buFont typeface="Wingdings" panose="05000000000000000000" pitchFamily="2" charset="2"/>
              <a:buNone/>
            </a:pPr>
            <a:r>
              <a:rPr lang="zh-CN" altLang="en-US" sz="2400" dirty="0"/>
              <a:t>零矩阵：</a:t>
            </a:r>
            <a:r>
              <a:rPr lang="en-US" altLang="zh-CN" sz="2400" dirty="0"/>
              <a:t>zeros(</a:t>
            </a:r>
            <a:r>
              <a:rPr lang="en-US" altLang="zh-CN" sz="2400" dirty="0" err="1"/>
              <a:t>m,n</a:t>
            </a:r>
            <a:r>
              <a:rPr lang="en-US" altLang="zh-CN" sz="2400" dirty="0"/>
              <a:t>); zeros(m)</a:t>
            </a:r>
          </a:p>
          <a:p>
            <a:pPr eaLnBrk="1" hangingPunct="1">
              <a:lnSpc>
                <a:spcPct val="90000"/>
              </a:lnSpc>
              <a:buFont typeface="Wingdings" panose="05000000000000000000" pitchFamily="2" charset="2"/>
              <a:buNone/>
            </a:pPr>
            <a:r>
              <a:rPr lang="zh-CN" altLang="en-US" sz="2400" dirty="0"/>
              <a:t>一矩阵：</a:t>
            </a:r>
            <a:r>
              <a:rPr lang="en-US" altLang="zh-CN" sz="2400" dirty="0"/>
              <a:t>ones(</a:t>
            </a:r>
            <a:r>
              <a:rPr lang="en-US" altLang="zh-CN" sz="2400" dirty="0" err="1"/>
              <a:t>m,n</a:t>
            </a:r>
            <a:r>
              <a:rPr lang="en-US" altLang="zh-CN" sz="2400" dirty="0"/>
              <a:t>); ones(m)</a:t>
            </a:r>
          </a:p>
          <a:p>
            <a:pPr eaLnBrk="1" hangingPunct="1">
              <a:lnSpc>
                <a:spcPct val="90000"/>
              </a:lnSpc>
              <a:buFont typeface="Wingdings" panose="05000000000000000000" pitchFamily="2" charset="2"/>
              <a:buNone/>
            </a:pPr>
            <a:r>
              <a:rPr lang="zh-CN" altLang="en-US" sz="2400" dirty="0"/>
              <a:t>对角矩阵：对角元素向量   </a:t>
            </a:r>
            <a:r>
              <a:rPr lang="en-US" altLang="zh-CN" sz="2400" dirty="0"/>
              <a:t>V=[a1,a2,…,an]    A=</a:t>
            </a:r>
            <a:r>
              <a:rPr lang="en-US" altLang="zh-CN" sz="2400" dirty="0" err="1"/>
              <a:t>diag</a:t>
            </a:r>
            <a:r>
              <a:rPr lang="en-US" altLang="zh-CN" sz="2400" dirty="0"/>
              <a:t>(V)</a:t>
            </a:r>
          </a:p>
          <a:p>
            <a:pPr eaLnBrk="1" hangingPunct="1">
              <a:lnSpc>
                <a:spcPct val="90000"/>
              </a:lnSpc>
              <a:buFont typeface="Wingdings" panose="05000000000000000000" pitchFamily="2" charset="2"/>
              <a:buNone/>
            </a:pPr>
            <a:r>
              <a:rPr lang="zh-CN" altLang="en-US" sz="2400" dirty="0"/>
              <a:t>随机矩阵：</a:t>
            </a:r>
            <a:r>
              <a:rPr lang="en-US" altLang="zh-CN" sz="2400" dirty="0"/>
              <a:t>rand(</a:t>
            </a:r>
            <a:r>
              <a:rPr lang="en-US" altLang="zh-CN" sz="2400" dirty="0" err="1"/>
              <a:t>m,n</a:t>
            </a:r>
            <a:r>
              <a:rPr lang="en-US" altLang="zh-CN" sz="2400" dirty="0"/>
              <a:t>)</a:t>
            </a:r>
            <a:r>
              <a:rPr lang="zh-CN" altLang="en-US" sz="2400" dirty="0"/>
              <a:t>产生一个</a:t>
            </a:r>
            <a:r>
              <a:rPr lang="en-US" altLang="zh-CN" sz="2400" dirty="0" err="1"/>
              <a:t>m×n</a:t>
            </a:r>
            <a:r>
              <a:rPr lang="zh-CN" altLang="en-US" sz="2400" dirty="0"/>
              <a:t>的均匀分布的随机矩阵</a:t>
            </a:r>
          </a:p>
        </p:txBody>
      </p:sp>
      <p:sp>
        <p:nvSpPr>
          <p:cNvPr id="105475" name="Text Box 3">
            <a:extLst>
              <a:ext uri="{FF2B5EF4-FFF2-40B4-BE49-F238E27FC236}">
                <a16:creationId xmlns:a16="http://schemas.microsoft.com/office/drawing/2014/main" id="{E0EAEEF5-0945-4EC2-BDDF-0D5200074C1B}"/>
              </a:ext>
            </a:extLst>
          </p:cNvPr>
          <p:cNvSpPr txBox="1">
            <a:spLocks noChangeArrowheads="1"/>
          </p:cNvSpPr>
          <p:nvPr/>
        </p:nvSpPr>
        <p:spPr bwMode="auto">
          <a:xfrm>
            <a:off x="1144588" y="685800"/>
            <a:ext cx="8488362"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400" dirty="0">
                <a:latin typeface="Impact" panose="020B0806030902050204" pitchFamily="34" charset="0"/>
              </a:rPr>
              <a:t>（</a:t>
            </a:r>
            <a:r>
              <a:rPr kumimoji="1" lang="en-US" altLang="zh-CN" sz="2400" dirty="0">
                <a:latin typeface="Impact" panose="020B0806030902050204" pitchFamily="34" charset="0"/>
              </a:rPr>
              <a:t>3</a:t>
            </a:r>
            <a:r>
              <a:rPr kumimoji="1" lang="zh-CN" altLang="en-US" sz="2400" dirty="0">
                <a:latin typeface="Impact" panose="020B0806030902050204" pitchFamily="34" charset="0"/>
              </a:rPr>
              <a:t>）</a:t>
            </a:r>
            <a:r>
              <a:rPr kumimoji="1" lang="en-US" altLang="zh-CN" sz="2400" dirty="0"/>
              <a:t>a=</a:t>
            </a:r>
            <a:r>
              <a:rPr kumimoji="1" lang="en-US" altLang="zh-CN" sz="2400" dirty="0" err="1"/>
              <a:t>logspace</a:t>
            </a:r>
            <a:r>
              <a:rPr kumimoji="1" lang="en-US" altLang="zh-CN" sz="2400" dirty="0"/>
              <a:t>(n1,n2,n)</a:t>
            </a:r>
          </a:p>
          <a:p>
            <a:pPr eaLnBrk="1" hangingPunct="1">
              <a:buClrTx/>
              <a:buSzTx/>
              <a:buFontTx/>
              <a:buChar char="•"/>
            </a:pPr>
            <a:r>
              <a:rPr kumimoji="1" lang="zh-CN" altLang="en-US" sz="2400" dirty="0"/>
              <a:t>在对数空间上，行矢量的值从</a:t>
            </a:r>
            <a:r>
              <a:rPr kumimoji="1" lang="en-US" altLang="zh-CN" sz="2400" dirty="0"/>
              <a:t>10</a:t>
            </a:r>
            <a:r>
              <a:rPr kumimoji="1" lang="en-US" altLang="zh-CN" sz="2400" baseline="30000" dirty="0"/>
              <a:t>n1</a:t>
            </a:r>
            <a:r>
              <a:rPr kumimoji="1" lang="zh-CN" altLang="en-US" sz="2400" dirty="0"/>
              <a:t>到</a:t>
            </a:r>
            <a:r>
              <a:rPr kumimoji="1" lang="en-US" altLang="zh-CN" sz="2400" dirty="0"/>
              <a:t>10</a:t>
            </a:r>
            <a:r>
              <a:rPr kumimoji="1" lang="en-US" altLang="zh-CN" sz="2400" baseline="30000" dirty="0"/>
              <a:t>n2</a:t>
            </a:r>
            <a:r>
              <a:rPr kumimoji="1" lang="zh-CN" altLang="en-US" sz="2400" dirty="0"/>
              <a:t>，数据个数为</a:t>
            </a:r>
            <a:r>
              <a:rPr kumimoji="1" lang="en-US" altLang="zh-CN" sz="2400" dirty="0"/>
              <a:t>n</a:t>
            </a:r>
            <a:r>
              <a:rPr kumimoji="1" lang="zh-CN" altLang="en-US" sz="2400" dirty="0"/>
              <a:t>，缺省</a:t>
            </a:r>
            <a:r>
              <a:rPr kumimoji="1" lang="en-US" altLang="zh-CN" sz="2400" dirty="0"/>
              <a:t>n</a:t>
            </a:r>
            <a:r>
              <a:rPr kumimoji="1" lang="zh-CN" altLang="en-US" sz="2400" dirty="0"/>
              <a:t>为</a:t>
            </a:r>
            <a:r>
              <a:rPr kumimoji="1" lang="en-US" altLang="zh-CN" sz="2400" dirty="0"/>
              <a:t>50</a:t>
            </a:r>
            <a:r>
              <a:rPr kumimoji="1" lang="zh-CN" altLang="en-US" sz="2400" dirty="0"/>
              <a:t>。这个指令为建立对数频域轴坐标提供了方便。</a:t>
            </a:r>
            <a:r>
              <a:rPr kumimoji="1" lang="en-US" altLang="zh-CN" sz="2400" dirty="0"/>
              <a:t> </a:t>
            </a:r>
            <a:r>
              <a:rPr kumimoji="1" lang="zh-CN" altLang="en-US" sz="2400" dirty="0"/>
              <a:t>如果</a:t>
            </a:r>
            <a:r>
              <a:rPr kumimoji="1" lang="en-US" altLang="zh-CN" sz="2400" dirty="0"/>
              <a:t> n2</a:t>
            </a:r>
            <a:r>
              <a:rPr kumimoji="1" lang="zh-CN" altLang="en-US" sz="2400" dirty="0"/>
              <a:t>是</a:t>
            </a:r>
            <a:r>
              <a:rPr kumimoji="1" lang="en-US" altLang="zh-CN" sz="2400" dirty="0"/>
              <a:t>pi, </a:t>
            </a:r>
            <a:r>
              <a:rPr kumimoji="1" lang="zh-CN" altLang="en-US" sz="2400" dirty="0"/>
              <a:t>那么返回</a:t>
            </a:r>
            <a:r>
              <a:rPr kumimoji="1" lang="en-US" altLang="zh-CN" sz="2400" dirty="0"/>
              <a:t>10^n1</a:t>
            </a:r>
            <a:r>
              <a:rPr kumimoji="1" lang="zh-CN" altLang="en-US" sz="2400" dirty="0"/>
              <a:t>和</a:t>
            </a:r>
            <a:r>
              <a:rPr kumimoji="1" lang="en-US" altLang="zh-CN" sz="2400" dirty="0"/>
              <a:t>pi</a:t>
            </a:r>
            <a:r>
              <a:rPr kumimoji="1" lang="zh-CN" altLang="en-US" sz="2400" dirty="0"/>
              <a:t>之间的点。如果</a:t>
            </a:r>
            <a:r>
              <a:rPr kumimoji="1" lang="en-US" altLang="zh-CN" sz="2400" dirty="0"/>
              <a:t>n &lt; 2, </a:t>
            </a:r>
            <a:r>
              <a:rPr kumimoji="1" lang="zh-CN" altLang="en-US" sz="2400" dirty="0"/>
              <a:t>返回</a:t>
            </a:r>
            <a:r>
              <a:rPr kumimoji="1" lang="en-US" altLang="zh-CN" sz="2400" dirty="0"/>
              <a:t>10^n2</a:t>
            </a:r>
            <a:r>
              <a:rPr kumimoji="1" lang="zh-CN" altLang="en-US" sz="2400" dirty="0"/>
              <a:t>。</a:t>
            </a:r>
          </a:p>
          <a:p>
            <a:pPr eaLnBrk="1" hangingPunct="1">
              <a:buClrTx/>
              <a:buSzTx/>
              <a:buFontTx/>
              <a:buNone/>
            </a:pPr>
            <a:r>
              <a:rPr kumimoji="1" lang="en-US" altLang="zh-CN" sz="2400" dirty="0">
                <a:latin typeface="Impact" panose="020B0806030902050204" pitchFamily="34" charset="0"/>
              </a:rPr>
              <a:t>》</a:t>
            </a:r>
            <a:r>
              <a:rPr kumimoji="1" lang="en-US" altLang="zh-CN" sz="2400" dirty="0"/>
              <a:t>a=</a:t>
            </a:r>
            <a:r>
              <a:rPr kumimoji="1" lang="en-US" altLang="zh-CN" sz="2400" dirty="0" err="1"/>
              <a:t>logspace</a:t>
            </a:r>
            <a:r>
              <a:rPr kumimoji="1" lang="en-US" altLang="zh-CN" sz="2400" dirty="0"/>
              <a:t>(1,3,3)</a:t>
            </a:r>
          </a:p>
          <a:p>
            <a:pPr eaLnBrk="1" hangingPunct="1">
              <a:buClrTx/>
              <a:buSzTx/>
              <a:buFontTx/>
              <a:buNone/>
            </a:pPr>
            <a:r>
              <a:rPr kumimoji="1" lang="en-US" altLang="zh-CN" sz="2400" dirty="0"/>
              <a:t>a= 10   100   1000</a:t>
            </a:r>
          </a:p>
          <a:p>
            <a:pPr eaLnBrk="1" hangingPunct="1">
              <a:spcBef>
                <a:spcPct val="50000"/>
              </a:spcBef>
              <a:buClrTx/>
              <a:buSzTx/>
              <a:buFontTx/>
              <a:buNone/>
            </a:pPr>
            <a:endParaRPr kumimoji="1" lang="en-US" altLang="zh-CN" sz="2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5475"/>
                                        </p:tgtEl>
                                        <p:attrNameLst>
                                          <p:attrName>style.visibility</p:attrName>
                                        </p:attrNameLst>
                                      </p:cBhvr>
                                      <p:to>
                                        <p:strVal val="visible"/>
                                      </p:to>
                                    </p:set>
                                    <p:animEffect transition="in" filter="box(in)">
                                      <p:cBhvr>
                                        <p:cTn id="7" dur="500"/>
                                        <p:tgtEl>
                                          <p:spTgt spid="105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5474"/>
                                        </p:tgtEl>
                                        <p:attrNameLst>
                                          <p:attrName>style.visibility</p:attrName>
                                        </p:attrNameLst>
                                      </p:cBhvr>
                                      <p:to>
                                        <p:strVal val="visible"/>
                                      </p:to>
                                    </p:set>
                                    <p:animEffect transition="in" filter="blinds(horizontal)">
                                      <p:cBhvr>
                                        <p:cTn id="12" dur="500"/>
                                        <p:tgtEl>
                                          <p:spTgt spid="105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C0BDE51A-E001-4BAD-B186-5BFA5D4FB6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5E131B7-BEFE-4D18-B3A3-6203C2D8F8D0}" type="slidenum">
              <a:rPr lang="en-US" altLang="zh-CN" sz="1200" smtClean="0">
                <a:latin typeface="Garamond" panose="02020404030301010803" pitchFamily="18" charset="0"/>
              </a:rPr>
              <a:pPr>
                <a:spcBef>
                  <a:spcPct val="0"/>
                </a:spcBef>
                <a:buClrTx/>
                <a:buSzTx/>
                <a:buFontTx/>
                <a:buNone/>
              </a:pPr>
              <a:t>17</a:t>
            </a:fld>
            <a:endParaRPr lang="en-US" altLang="zh-CN" sz="1200">
              <a:latin typeface="Garamond" panose="02020404030301010803" pitchFamily="18" charset="0"/>
            </a:endParaRPr>
          </a:p>
        </p:txBody>
      </p:sp>
      <p:sp>
        <p:nvSpPr>
          <p:cNvPr id="28675" name="Rectangle 2">
            <a:extLst>
              <a:ext uri="{FF2B5EF4-FFF2-40B4-BE49-F238E27FC236}">
                <a16:creationId xmlns:a16="http://schemas.microsoft.com/office/drawing/2014/main" id="{7C683408-2F2B-4B91-938B-CAC41CF98A57}"/>
              </a:ext>
            </a:extLst>
          </p:cNvPr>
          <p:cNvSpPr>
            <a:spLocks noGrp="1" noChangeArrowheads="1"/>
          </p:cNvSpPr>
          <p:nvPr>
            <p:ph type="body" idx="1"/>
          </p:nvPr>
        </p:nvSpPr>
        <p:spPr>
          <a:xfrm>
            <a:off x="1065213" y="217488"/>
            <a:ext cx="4040187" cy="6019800"/>
          </a:xfrm>
        </p:spPr>
        <p:txBody>
          <a:bodyPr/>
          <a:lstStyle/>
          <a:p>
            <a:pPr eaLnBrk="1" hangingPunct="1">
              <a:lnSpc>
                <a:spcPct val="90000"/>
              </a:lnSpc>
              <a:buFont typeface="Wingdings" panose="05000000000000000000" pitchFamily="2" charset="2"/>
              <a:buNone/>
            </a:pPr>
            <a:r>
              <a:rPr lang="en-US" altLang="zh-CN" sz="2100" dirty="0"/>
              <a:t>》eye(2,3)</a:t>
            </a:r>
          </a:p>
          <a:p>
            <a:pPr eaLnBrk="1" hangingPunct="1">
              <a:lnSpc>
                <a:spcPct val="90000"/>
              </a:lnSpc>
              <a:buFont typeface="Wingdings" panose="05000000000000000000" pitchFamily="2" charset="2"/>
              <a:buNone/>
            </a:pPr>
            <a:r>
              <a:rPr lang="en-US" altLang="zh-CN" sz="2100" dirty="0" err="1"/>
              <a:t>ans</a:t>
            </a:r>
            <a:r>
              <a:rPr lang="en-US" altLang="zh-CN" sz="2100" dirty="0"/>
              <a:t>=</a:t>
            </a:r>
          </a:p>
          <a:p>
            <a:pPr eaLnBrk="1" hangingPunct="1">
              <a:lnSpc>
                <a:spcPct val="90000"/>
              </a:lnSpc>
              <a:buFont typeface="Wingdings" panose="05000000000000000000" pitchFamily="2" charset="2"/>
              <a:buNone/>
            </a:pPr>
            <a:r>
              <a:rPr lang="en-US" altLang="zh-CN" sz="2100" dirty="0"/>
              <a:t>        1 0 0 </a:t>
            </a:r>
          </a:p>
          <a:p>
            <a:pPr eaLnBrk="1" hangingPunct="1">
              <a:lnSpc>
                <a:spcPct val="90000"/>
              </a:lnSpc>
              <a:buFont typeface="Wingdings" panose="05000000000000000000" pitchFamily="2" charset="2"/>
              <a:buNone/>
            </a:pPr>
            <a:r>
              <a:rPr lang="en-US" altLang="zh-CN" sz="2100" dirty="0"/>
              <a:t>        0 1 0</a:t>
            </a:r>
          </a:p>
          <a:p>
            <a:pPr eaLnBrk="1" hangingPunct="1">
              <a:lnSpc>
                <a:spcPct val="90000"/>
              </a:lnSpc>
              <a:buFont typeface="Wingdings" panose="05000000000000000000" pitchFamily="2" charset="2"/>
              <a:buNone/>
            </a:pPr>
            <a:r>
              <a:rPr lang="en-US" altLang="zh-CN" sz="2100" dirty="0"/>
              <a:t>》zeros(2,3)</a:t>
            </a:r>
          </a:p>
          <a:p>
            <a:pPr eaLnBrk="1" hangingPunct="1">
              <a:lnSpc>
                <a:spcPct val="90000"/>
              </a:lnSpc>
              <a:buFont typeface="Wingdings" panose="05000000000000000000" pitchFamily="2" charset="2"/>
              <a:buNone/>
            </a:pPr>
            <a:r>
              <a:rPr lang="en-US" altLang="zh-CN" sz="2100" dirty="0" err="1"/>
              <a:t>ans</a:t>
            </a:r>
            <a:r>
              <a:rPr lang="en-US" altLang="zh-CN" sz="2100" dirty="0"/>
              <a:t>=</a:t>
            </a:r>
          </a:p>
          <a:p>
            <a:pPr eaLnBrk="1" hangingPunct="1">
              <a:lnSpc>
                <a:spcPct val="90000"/>
              </a:lnSpc>
              <a:buFont typeface="Wingdings" panose="05000000000000000000" pitchFamily="2" charset="2"/>
              <a:buNone/>
            </a:pPr>
            <a:r>
              <a:rPr lang="en-US" altLang="zh-CN" sz="2100" dirty="0"/>
              <a:t>        0 0 0</a:t>
            </a:r>
          </a:p>
          <a:p>
            <a:pPr eaLnBrk="1" hangingPunct="1">
              <a:lnSpc>
                <a:spcPct val="90000"/>
              </a:lnSpc>
              <a:buFont typeface="Wingdings" panose="05000000000000000000" pitchFamily="2" charset="2"/>
              <a:buNone/>
            </a:pPr>
            <a:r>
              <a:rPr lang="en-US" altLang="zh-CN" sz="2100" dirty="0"/>
              <a:t>        0 0 0</a:t>
            </a:r>
          </a:p>
          <a:p>
            <a:pPr eaLnBrk="1" hangingPunct="1">
              <a:lnSpc>
                <a:spcPct val="90000"/>
              </a:lnSpc>
              <a:buFont typeface="Wingdings" panose="05000000000000000000" pitchFamily="2" charset="2"/>
              <a:buNone/>
            </a:pPr>
            <a:r>
              <a:rPr lang="en-US" altLang="zh-CN" sz="2100" dirty="0"/>
              <a:t>》ones(2,3)</a:t>
            </a:r>
          </a:p>
          <a:p>
            <a:pPr eaLnBrk="1" hangingPunct="1">
              <a:lnSpc>
                <a:spcPct val="90000"/>
              </a:lnSpc>
              <a:buFont typeface="Wingdings" panose="05000000000000000000" pitchFamily="2" charset="2"/>
              <a:buNone/>
            </a:pPr>
            <a:r>
              <a:rPr lang="en-US" altLang="zh-CN" sz="2100" dirty="0" err="1"/>
              <a:t>ans</a:t>
            </a:r>
            <a:r>
              <a:rPr lang="en-US" altLang="zh-CN" sz="2100" dirty="0"/>
              <a:t>=</a:t>
            </a:r>
          </a:p>
          <a:p>
            <a:pPr eaLnBrk="1" hangingPunct="1">
              <a:lnSpc>
                <a:spcPct val="90000"/>
              </a:lnSpc>
              <a:buFont typeface="Wingdings" panose="05000000000000000000" pitchFamily="2" charset="2"/>
              <a:buNone/>
            </a:pPr>
            <a:r>
              <a:rPr lang="en-US" altLang="zh-CN" sz="2100" dirty="0"/>
              <a:t>        1 1 1</a:t>
            </a:r>
          </a:p>
          <a:p>
            <a:pPr eaLnBrk="1" hangingPunct="1">
              <a:lnSpc>
                <a:spcPct val="90000"/>
              </a:lnSpc>
              <a:buFont typeface="Wingdings" panose="05000000000000000000" pitchFamily="2" charset="2"/>
              <a:buNone/>
            </a:pPr>
            <a:r>
              <a:rPr lang="en-US" altLang="zh-CN" sz="2100" dirty="0"/>
              <a:t>        1 1 1</a:t>
            </a:r>
          </a:p>
          <a:p>
            <a:pPr eaLnBrk="1" hangingPunct="1">
              <a:lnSpc>
                <a:spcPct val="90000"/>
              </a:lnSpc>
              <a:buFont typeface="Wingdings" panose="05000000000000000000" pitchFamily="2" charset="2"/>
              <a:buNone/>
            </a:pPr>
            <a:r>
              <a:rPr lang="en-US" altLang="zh-CN" sz="2100" dirty="0"/>
              <a:t>》V=[5 7 2]; A=</a:t>
            </a:r>
            <a:r>
              <a:rPr lang="en-US" altLang="zh-CN" sz="2100" dirty="0" err="1"/>
              <a:t>diag</a:t>
            </a:r>
            <a:r>
              <a:rPr lang="en-US" altLang="zh-CN" sz="2100" dirty="0"/>
              <a:t>(V)</a:t>
            </a:r>
          </a:p>
          <a:p>
            <a:pPr eaLnBrk="1" hangingPunct="1">
              <a:lnSpc>
                <a:spcPct val="90000"/>
              </a:lnSpc>
              <a:buFont typeface="Wingdings" panose="05000000000000000000" pitchFamily="2" charset="2"/>
              <a:buNone/>
            </a:pPr>
            <a:r>
              <a:rPr lang="en-US" altLang="zh-CN" sz="2100" dirty="0"/>
              <a:t>A=</a:t>
            </a:r>
          </a:p>
          <a:p>
            <a:pPr eaLnBrk="1" hangingPunct="1">
              <a:lnSpc>
                <a:spcPct val="90000"/>
              </a:lnSpc>
              <a:buFont typeface="Wingdings" panose="05000000000000000000" pitchFamily="2" charset="2"/>
              <a:buNone/>
            </a:pPr>
            <a:r>
              <a:rPr lang="en-US" altLang="zh-CN" sz="2100" dirty="0"/>
              <a:t>     5 0 0</a:t>
            </a:r>
          </a:p>
          <a:p>
            <a:pPr eaLnBrk="1" hangingPunct="1">
              <a:lnSpc>
                <a:spcPct val="90000"/>
              </a:lnSpc>
              <a:buFont typeface="Wingdings" panose="05000000000000000000" pitchFamily="2" charset="2"/>
              <a:buNone/>
            </a:pPr>
            <a:r>
              <a:rPr lang="en-US" altLang="zh-CN" sz="2100" dirty="0"/>
              <a:t>     0 7 0</a:t>
            </a:r>
          </a:p>
          <a:p>
            <a:pPr eaLnBrk="1" hangingPunct="1">
              <a:lnSpc>
                <a:spcPct val="90000"/>
              </a:lnSpc>
              <a:buFont typeface="Wingdings" panose="05000000000000000000" pitchFamily="2" charset="2"/>
              <a:buNone/>
            </a:pPr>
            <a:r>
              <a:rPr lang="en-US" altLang="zh-CN" sz="2100" dirty="0"/>
              <a:t>     0 0 2</a:t>
            </a:r>
          </a:p>
        </p:txBody>
      </p:sp>
      <p:sp>
        <p:nvSpPr>
          <p:cNvPr id="28676" name="Text Box 3">
            <a:extLst>
              <a:ext uri="{FF2B5EF4-FFF2-40B4-BE49-F238E27FC236}">
                <a16:creationId xmlns:a16="http://schemas.microsoft.com/office/drawing/2014/main" id="{9C8FB98A-1863-4A04-AC11-7DDA7382457B}"/>
              </a:ext>
            </a:extLst>
          </p:cNvPr>
          <p:cNvSpPr txBox="1">
            <a:spLocks noChangeArrowheads="1"/>
          </p:cNvSpPr>
          <p:nvPr/>
        </p:nvSpPr>
        <p:spPr bwMode="auto">
          <a:xfrm>
            <a:off x="5410200" y="533400"/>
            <a:ext cx="4114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t>》eye(2)</a:t>
            </a:r>
          </a:p>
          <a:p>
            <a:pPr eaLnBrk="1" hangingPunct="1">
              <a:spcBef>
                <a:spcPct val="0"/>
              </a:spcBef>
              <a:buClrTx/>
              <a:buSzTx/>
              <a:buFontTx/>
              <a:buNone/>
            </a:pPr>
            <a:r>
              <a:rPr kumimoji="1" lang="en-US" altLang="zh-CN" sz="2000"/>
              <a:t>ans=</a:t>
            </a:r>
          </a:p>
          <a:p>
            <a:pPr eaLnBrk="1" hangingPunct="1">
              <a:spcBef>
                <a:spcPct val="0"/>
              </a:spcBef>
              <a:buClrTx/>
              <a:buSzTx/>
              <a:buFontTx/>
              <a:buNone/>
            </a:pPr>
            <a:r>
              <a:rPr kumimoji="1" lang="en-US" altLang="zh-CN" sz="2000"/>
              <a:t>        1 0 </a:t>
            </a:r>
          </a:p>
          <a:p>
            <a:pPr eaLnBrk="1" hangingPunct="1">
              <a:spcBef>
                <a:spcPct val="0"/>
              </a:spcBef>
              <a:buClrTx/>
              <a:buSzTx/>
              <a:buFontTx/>
              <a:buNone/>
            </a:pPr>
            <a:r>
              <a:rPr kumimoji="1" lang="en-US" altLang="zh-CN" sz="2000"/>
              <a:t>         0 1</a:t>
            </a:r>
          </a:p>
          <a:p>
            <a:pPr eaLnBrk="1" hangingPunct="1">
              <a:spcBef>
                <a:spcPct val="0"/>
              </a:spcBef>
              <a:buClrTx/>
              <a:buSzTx/>
              <a:buFontTx/>
              <a:buNone/>
            </a:pPr>
            <a:r>
              <a:rPr kumimoji="1" lang="en-US" altLang="zh-CN" sz="2000"/>
              <a:t>》zeros(2)</a:t>
            </a:r>
          </a:p>
          <a:p>
            <a:pPr eaLnBrk="1" hangingPunct="1">
              <a:spcBef>
                <a:spcPct val="0"/>
              </a:spcBef>
              <a:buClrTx/>
              <a:buSzTx/>
              <a:buFontTx/>
              <a:buNone/>
            </a:pPr>
            <a:r>
              <a:rPr kumimoji="1" lang="en-US" altLang="zh-CN" sz="2000"/>
              <a:t>ans=</a:t>
            </a:r>
          </a:p>
          <a:p>
            <a:pPr eaLnBrk="1" hangingPunct="1">
              <a:spcBef>
                <a:spcPct val="0"/>
              </a:spcBef>
              <a:buClrTx/>
              <a:buSzTx/>
              <a:buFontTx/>
              <a:buNone/>
            </a:pPr>
            <a:r>
              <a:rPr kumimoji="1" lang="en-US" altLang="zh-CN" sz="2000"/>
              <a:t>        0 0 </a:t>
            </a:r>
          </a:p>
          <a:p>
            <a:pPr eaLnBrk="1" hangingPunct="1">
              <a:spcBef>
                <a:spcPct val="0"/>
              </a:spcBef>
              <a:buClrTx/>
              <a:buSzTx/>
              <a:buFontTx/>
              <a:buNone/>
            </a:pPr>
            <a:r>
              <a:rPr kumimoji="1" lang="en-US" altLang="zh-CN" sz="2000"/>
              <a:t>        0 0</a:t>
            </a:r>
          </a:p>
          <a:p>
            <a:pPr eaLnBrk="1" hangingPunct="1">
              <a:spcBef>
                <a:spcPct val="0"/>
              </a:spcBef>
              <a:buClrTx/>
              <a:buSzTx/>
              <a:buFontTx/>
              <a:buNone/>
            </a:pPr>
            <a:r>
              <a:rPr kumimoji="1" lang="en-US" altLang="zh-CN" sz="2000"/>
              <a:t>》ones(2)</a:t>
            </a:r>
          </a:p>
          <a:p>
            <a:pPr eaLnBrk="1" hangingPunct="1">
              <a:spcBef>
                <a:spcPct val="0"/>
              </a:spcBef>
              <a:buClrTx/>
              <a:buSzTx/>
              <a:buFontTx/>
              <a:buNone/>
            </a:pPr>
            <a:r>
              <a:rPr kumimoji="1" lang="en-US" altLang="zh-CN" sz="2000"/>
              <a:t>ans=</a:t>
            </a:r>
          </a:p>
          <a:p>
            <a:pPr eaLnBrk="1" hangingPunct="1">
              <a:spcBef>
                <a:spcPct val="0"/>
              </a:spcBef>
              <a:buClrTx/>
              <a:buSzTx/>
              <a:buFontTx/>
              <a:buNone/>
            </a:pPr>
            <a:r>
              <a:rPr kumimoji="1" lang="en-US" altLang="zh-CN" sz="2000"/>
              <a:t>        1 1</a:t>
            </a:r>
          </a:p>
          <a:p>
            <a:pPr eaLnBrk="1" hangingPunct="1">
              <a:spcBef>
                <a:spcPct val="0"/>
              </a:spcBef>
              <a:buClrTx/>
              <a:buSzTx/>
              <a:buFontTx/>
              <a:buNone/>
            </a:pPr>
            <a:r>
              <a:rPr kumimoji="1" lang="en-US" altLang="zh-CN" sz="2000"/>
              <a:t>        1 1</a:t>
            </a:r>
          </a:p>
          <a:p>
            <a:pPr eaLnBrk="1" hangingPunct="1">
              <a:buClrTx/>
              <a:buSzTx/>
              <a:buFontTx/>
              <a:buNone/>
            </a:pPr>
            <a:endParaRPr kumimoji="1" lang="en-US" altLang="zh-CN" sz="2000">
              <a:latin typeface="Impact" panose="020B0806030902050204" pitchFamily="34" charset="0"/>
            </a:endParaRPr>
          </a:p>
          <a:p>
            <a:pPr eaLnBrk="1" hangingPunct="1">
              <a:spcBef>
                <a:spcPct val="0"/>
              </a:spcBef>
              <a:buClrTx/>
              <a:buSzTx/>
              <a:buFontTx/>
              <a:buNone/>
            </a:pPr>
            <a:endParaRPr kumimoji="1" lang="en-US" altLang="zh-CN" sz="2000"/>
          </a:p>
          <a:p>
            <a:pPr eaLnBrk="1" hangingPunct="1">
              <a:spcBef>
                <a:spcPct val="50000"/>
              </a:spcBef>
              <a:buClrTx/>
              <a:buSzTx/>
              <a:buFontTx/>
              <a:buNone/>
            </a:pPr>
            <a:endParaRPr kumimoji="1" lang="en-US" altLang="zh-CN" sz="2000"/>
          </a:p>
        </p:txBody>
      </p:sp>
      <p:sp>
        <p:nvSpPr>
          <p:cNvPr id="28677" name="Text Box 4">
            <a:extLst>
              <a:ext uri="{FF2B5EF4-FFF2-40B4-BE49-F238E27FC236}">
                <a16:creationId xmlns:a16="http://schemas.microsoft.com/office/drawing/2014/main" id="{74AD7D5C-DCBD-4769-8BFE-B4B2D2137644}"/>
              </a:ext>
            </a:extLst>
          </p:cNvPr>
          <p:cNvSpPr txBox="1">
            <a:spLocks noChangeArrowheads="1"/>
          </p:cNvSpPr>
          <p:nvPr/>
        </p:nvSpPr>
        <p:spPr bwMode="auto">
          <a:xfrm>
            <a:off x="4953000" y="4419600"/>
            <a:ext cx="46482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latin typeface="Times New Roman" panose="02020603050405020304" pitchFamily="18" charset="0"/>
              </a:rPr>
              <a:t>如果已知</a:t>
            </a:r>
            <a:r>
              <a:rPr kumimoji="1" lang="en-US" altLang="zh-CN" sz="2400">
                <a:latin typeface="Times New Roman" panose="02020603050405020304" pitchFamily="18" charset="0"/>
              </a:rPr>
              <a:t>A</a:t>
            </a:r>
            <a:r>
              <a:rPr kumimoji="1" lang="zh-CN" altLang="en-US" sz="2400">
                <a:latin typeface="Times New Roman" panose="02020603050405020304" pitchFamily="18" charset="0"/>
              </a:rPr>
              <a:t>为方阵，则</a:t>
            </a:r>
            <a:r>
              <a:rPr kumimoji="1" lang="en-US" altLang="zh-CN" sz="2400">
                <a:latin typeface="Times New Roman" panose="02020603050405020304" pitchFamily="18" charset="0"/>
              </a:rPr>
              <a:t>V=diag(A)</a:t>
            </a:r>
            <a:r>
              <a:rPr kumimoji="1" lang="zh-CN" altLang="en-US" sz="2400">
                <a:latin typeface="Times New Roman" panose="02020603050405020304" pitchFamily="18" charset="0"/>
              </a:rPr>
              <a:t>可以提取</a:t>
            </a:r>
            <a:r>
              <a:rPr kumimoji="1" lang="en-US" altLang="zh-CN" sz="2400">
                <a:latin typeface="Times New Roman" panose="02020603050405020304" pitchFamily="18" charset="0"/>
              </a:rPr>
              <a:t>A</a:t>
            </a:r>
            <a:r>
              <a:rPr kumimoji="1" lang="zh-CN" altLang="en-US" sz="2400">
                <a:latin typeface="Times New Roman" panose="02020603050405020304" pitchFamily="18" charset="0"/>
              </a:rPr>
              <a:t>的对角元素构成向量</a:t>
            </a:r>
            <a:r>
              <a:rPr kumimoji="1" lang="en-US" altLang="zh-CN" sz="2400">
                <a:latin typeface="Times New Roman" panose="02020603050405020304" pitchFamily="18" charset="0"/>
              </a:rPr>
              <a:t>V</a:t>
            </a:r>
            <a:r>
              <a:rPr kumimoji="1" lang="zh-CN" altLang="en-US" sz="2400">
                <a:latin typeface="Times New Roman" panose="02020603050405020304" pitchFamily="18" charset="0"/>
              </a:rPr>
              <a: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C169FFC6-9648-492B-A22C-3C209F8606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B3AE645-555F-48DB-839E-E01FFC83443B}" type="slidenum">
              <a:rPr lang="en-US" altLang="zh-CN" sz="1200" smtClean="0">
                <a:latin typeface="Garamond" panose="02020404030301010803" pitchFamily="18" charset="0"/>
              </a:rPr>
              <a:pPr>
                <a:spcBef>
                  <a:spcPct val="0"/>
                </a:spcBef>
                <a:buClrTx/>
                <a:buSzTx/>
                <a:buFontTx/>
                <a:buNone/>
              </a:pPr>
              <a:t>18</a:t>
            </a:fld>
            <a:endParaRPr lang="en-US" altLang="zh-CN" sz="1200">
              <a:latin typeface="Garamond" panose="02020404030301010803" pitchFamily="18" charset="0"/>
            </a:endParaRPr>
          </a:p>
        </p:txBody>
      </p:sp>
      <p:sp>
        <p:nvSpPr>
          <p:cNvPr id="107522" name="Rectangle 2">
            <a:extLst>
              <a:ext uri="{FF2B5EF4-FFF2-40B4-BE49-F238E27FC236}">
                <a16:creationId xmlns:a16="http://schemas.microsoft.com/office/drawing/2014/main" id="{40445C1A-6224-42F0-8A95-43468BB28CB5}"/>
              </a:ext>
            </a:extLst>
          </p:cNvPr>
          <p:cNvSpPr>
            <a:spLocks noGrp="1" noChangeArrowheads="1"/>
          </p:cNvSpPr>
          <p:nvPr>
            <p:ph type="body" idx="1"/>
          </p:nvPr>
        </p:nvSpPr>
        <p:spPr>
          <a:xfrm>
            <a:off x="1143000" y="1052513"/>
            <a:ext cx="8191500" cy="1600200"/>
          </a:xfrm>
        </p:spPr>
        <p:txBody>
          <a:bodyPr/>
          <a:lstStyle/>
          <a:p>
            <a:pPr eaLnBrk="1" hangingPunct="1">
              <a:lnSpc>
                <a:spcPct val="90000"/>
              </a:lnSpc>
              <a:buFont typeface="Wingdings" panose="05000000000000000000" pitchFamily="2" charset="2"/>
              <a:buNone/>
            </a:pPr>
            <a:r>
              <a:rPr lang="en-US" altLang="zh-CN" sz="2600" dirty="0"/>
              <a:t>1</a:t>
            </a:r>
            <a:r>
              <a:rPr lang="zh-CN" altLang="en-US" sz="2600" dirty="0"/>
              <a:t>、转置：对于实矩阵用（’）符号或（</a:t>
            </a:r>
            <a:r>
              <a:rPr lang="en-US" altLang="zh-CN" sz="2600" dirty="0"/>
              <a:t>.’</a:t>
            </a:r>
            <a:r>
              <a:rPr lang="zh-CN" altLang="en-US" sz="2600" dirty="0"/>
              <a:t>）求转置结果是一样的；然而对于含复数的矩阵，则（’）将同时对复数进行共轭处理，而 （</a:t>
            </a:r>
            <a:r>
              <a:rPr lang="en-US" altLang="zh-CN" sz="2600" dirty="0"/>
              <a:t>.’</a:t>
            </a:r>
            <a:r>
              <a:rPr lang="zh-CN" altLang="en-US" sz="2600" dirty="0"/>
              <a:t>）则只是将其排列形式进行转置。</a:t>
            </a:r>
          </a:p>
          <a:p>
            <a:pPr eaLnBrk="1" hangingPunct="1">
              <a:lnSpc>
                <a:spcPct val="90000"/>
              </a:lnSpc>
            </a:pPr>
            <a:endParaRPr lang="en-US" altLang="zh-CN" sz="2600" dirty="0"/>
          </a:p>
        </p:txBody>
      </p:sp>
      <p:sp>
        <p:nvSpPr>
          <p:cNvPr id="107524" name="Text Box 4">
            <a:extLst>
              <a:ext uri="{FF2B5EF4-FFF2-40B4-BE49-F238E27FC236}">
                <a16:creationId xmlns:a16="http://schemas.microsoft.com/office/drawing/2014/main" id="{FE4409CF-FC71-4C43-A170-B854DD577EBE}"/>
              </a:ext>
            </a:extLst>
          </p:cNvPr>
          <p:cNvSpPr txBox="1">
            <a:spLocks noChangeArrowheads="1"/>
          </p:cNvSpPr>
          <p:nvPr/>
        </p:nvSpPr>
        <p:spPr bwMode="auto">
          <a:xfrm>
            <a:off x="1208584" y="2681288"/>
            <a:ext cx="35052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000" dirty="0">
                <a:latin typeface="Times New Roman" panose="02020603050405020304" pitchFamily="18" charset="0"/>
              </a:rPr>
              <a:t>》</a:t>
            </a:r>
            <a:r>
              <a:rPr kumimoji="1" lang="en-US" altLang="zh-CN" sz="2400" dirty="0">
                <a:latin typeface="Times New Roman" panose="02020603050405020304" pitchFamily="18" charset="0"/>
              </a:rPr>
              <a:t>a=[1 2 3;4 5 6]'</a:t>
            </a:r>
          </a:p>
          <a:p>
            <a:pPr eaLnBrk="1" hangingPunct="1">
              <a:spcBef>
                <a:spcPct val="50000"/>
              </a:spcBef>
              <a:buClrTx/>
              <a:buSzTx/>
              <a:buFontTx/>
              <a:buNone/>
            </a:pPr>
            <a:r>
              <a:rPr kumimoji="1" lang="en-US" altLang="zh-CN" sz="2400" dirty="0">
                <a:latin typeface="Times New Roman" panose="02020603050405020304" pitchFamily="18" charset="0"/>
              </a:rPr>
              <a:t>a =</a:t>
            </a:r>
          </a:p>
          <a:p>
            <a:pPr eaLnBrk="1" hangingPunct="1">
              <a:spcBef>
                <a:spcPct val="50000"/>
              </a:spcBef>
              <a:buClrTx/>
              <a:buSzTx/>
              <a:buFontTx/>
              <a:buNone/>
            </a:pPr>
            <a:r>
              <a:rPr kumimoji="1" lang="en-US" altLang="zh-CN" sz="2400" dirty="0">
                <a:latin typeface="Times New Roman" panose="02020603050405020304" pitchFamily="18" charset="0"/>
              </a:rPr>
              <a:t>     1     4</a:t>
            </a:r>
          </a:p>
          <a:p>
            <a:pPr eaLnBrk="1" hangingPunct="1">
              <a:spcBef>
                <a:spcPct val="50000"/>
              </a:spcBef>
              <a:buClrTx/>
              <a:buSzTx/>
              <a:buFontTx/>
              <a:buNone/>
            </a:pPr>
            <a:r>
              <a:rPr kumimoji="1" lang="en-US" altLang="zh-CN" sz="2400" dirty="0">
                <a:latin typeface="Times New Roman" panose="02020603050405020304" pitchFamily="18" charset="0"/>
              </a:rPr>
              <a:t>     2     5</a:t>
            </a:r>
          </a:p>
          <a:p>
            <a:pPr eaLnBrk="1" hangingPunct="1">
              <a:spcBef>
                <a:spcPct val="50000"/>
              </a:spcBef>
              <a:buClrTx/>
              <a:buSzTx/>
              <a:buFontTx/>
              <a:buNone/>
            </a:pPr>
            <a:r>
              <a:rPr kumimoji="1" lang="en-US" altLang="zh-CN" sz="2400" dirty="0">
                <a:latin typeface="Times New Roman" panose="02020603050405020304" pitchFamily="18" charset="0"/>
              </a:rPr>
              <a:t>     3     6</a:t>
            </a:r>
          </a:p>
        </p:txBody>
      </p:sp>
      <p:sp>
        <p:nvSpPr>
          <p:cNvPr id="107525" name="Text Box 5">
            <a:extLst>
              <a:ext uri="{FF2B5EF4-FFF2-40B4-BE49-F238E27FC236}">
                <a16:creationId xmlns:a16="http://schemas.microsoft.com/office/drawing/2014/main" id="{0806AD61-DAC1-4B8E-8B85-1253143956A2}"/>
              </a:ext>
            </a:extLst>
          </p:cNvPr>
          <p:cNvSpPr txBox="1">
            <a:spLocks noChangeArrowheads="1"/>
          </p:cNvSpPr>
          <p:nvPr/>
        </p:nvSpPr>
        <p:spPr bwMode="auto">
          <a:xfrm>
            <a:off x="3584575" y="2681288"/>
            <a:ext cx="24384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dirty="0">
                <a:latin typeface="Times New Roman" panose="02020603050405020304" pitchFamily="18" charset="0"/>
              </a:rPr>
              <a:t>》a=[1 2 3;4 5 6].'</a:t>
            </a:r>
          </a:p>
          <a:p>
            <a:pPr eaLnBrk="1" hangingPunct="1">
              <a:spcBef>
                <a:spcPct val="50000"/>
              </a:spcBef>
              <a:buClrTx/>
              <a:buSzTx/>
              <a:buFontTx/>
              <a:buNone/>
            </a:pPr>
            <a:r>
              <a:rPr kumimoji="1" lang="en-US" altLang="zh-CN" sz="2400" dirty="0">
                <a:latin typeface="Times New Roman" panose="02020603050405020304" pitchFamily="18" charset="0"/>
              </a:rPr>
              <a:t>a =</a:t>
            </a:r>
          </a:p>
          <a:p>
            <a:pPr eaLnBrk="1" hangingPunct="1">
              <a:spcBef>
                <a:spcPct val="50000"/>
              </a:spcBef>
              <a:buClrTx/>
              <a:buSzTx/>
              <a:buFontTx/>
              <a:buNone/>
            </a:pPr>
            <a:r>
              <a:rPr kumimoji="1" lang="en-US" altLang="zh-CN" sz="2400" dirty="0">
                <a:latin typeface="Times New Roman" panose="02020603050405020304" pitchFamily="18" charset="0"/>
              </a:rPr>
              <a:t>     1     4</a:t>
            </a:r>
          </a:p>
          <a:p>
            <a:pPr eaLnBrk="1" hangingPunct="1">
              <a:spcBef>
                <a:spcPct val="50000"/>
              </a:spcBef>
              <a:buClrTx/>
              <a:buSzTx/>
              <a:buFontTx/>
              <a:buNone/>
            </a:pPr>
            <a:r>
              <a:rPr kumimoji="1" lang="en-US" altLang="zh-CN" sz="2400" dirty="0">
                <a:latin typeface="Times New Roman" panose="02020603050405020304" pitchFamily="18" charset="0"/>
              </a:rPr>
              <a:t>     2     5</a:t>
            </a:r>
          </a:p>
          <a:p>
            <a:pPr eaLnBrk="1" hangingPunct="1">
              <a:spcBef>
                <a:spcPct val="50000"/>
              </a:spcBef>
              <a:buClrTx/>
              <a:buSzTx/>
              <a:buFontTx/>
              <a:buNone/>
            </a:pPr>
            <a:r>
              <a:rPr kumimoji="1" lang="en-US" altLang="zh-CN" sz="2400" dirty="0">
                <a:latin typeface="Times New Roman" panose="02020603050405020304" pitchFamily="18" charset="0"/>
              </a:rPr>
              <a:t>     3     6</a:t>
            </a:r>
          </a:p>
        </p:txBody>
      </p:sp>
      <p:sp>
        <p:nvSpPr>
          <p:cNvPr id="107526" name="Text Box 6">
            <a:extLst>
              <a:ext uri="{FF2B5EF4-FFF2-40B4-BE49-F238E27FC236}">
                <a16:creationId xmlns:a16="http://schemas.microsoft.com/office/drawing/2014/main" id="{0FFB9D16-B919-498C-AAC7-66FEB523D378}"/>
              </a:ext>
            </a:extLst>
          </p:cNvPr>
          <p:cNvSpPr txBox="1">
            <a:spLocks noChangeArrowheads="1"/>
          </p:cNvSpPr>
          <p:nvPr/>
        </p:nvSpPr>
        <p:spPr bwMode="auto">
          <a:xfrm>
            <a:off x="6176963" y="2205038"/>
            <a:ext cx="2667000" cy="429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dirty="0">
                <a:latin typeface="Times New Roman" panose="02020603050405020304" pitchFamily="18" charset="0"/>
              </a:rPr>
              <a:t>》b=[1+2i 2-7i]'</a:t>
            </a:r>
          </a:p>
          <a:p>
            <a:pPr eaLnBrk="1" hangingPunct="1">
              <a:spcBef>
                <a:spcPct val="50000"/>
              </a:spcBef>
              <a:buClrTx/>
              <a:buSzTx/>
              <a:buFontTx/>
              <a:buNone/>
            </a:pPr>
            <a:r>
              <a:rPr kumimoji="1" lang="en-US" altLang="zh-CN" sz="2400" dirty="0">
                <a:latin typeface="Times New Roman" panose="02020603050405020304" pitchFamily="18" charset="0"/>
              </a:rPr>
              <a:t>b =</a:t>
            </a:r>
          </a:p>
          <a:p>
            <a:pPr eaLnBrk="1" hangingPunct="1">
              <a:spcBef>
                <a:spcPct val="50000"/>
              </a:spcBef>
              <a:buClrTx/>
              <a:buSzTx/>
              <a:buFontTx/>
              <a:buNone/>
            </a:pPr>
            <a:r>
              <a:rPr kumimoji="1" lang="en-US" altLang="zh-CN" sz="2400" dirty="0">
                <a:latin typeface="Times New Roman" panose="02020603050405020304" pitchFamily="18" charset="0"/>
              </a:rPr>
              <a:t>   1.0000 - 2.0000i</a:t>
            </a:r>
          </a:p>
          <a:p>
            <a:pPr eaLnBrk="1" hangingPunct="1">
              <a:spcBef>
                <a:spcPct val="50000"/>
              </a:spcBef>
              <a:buClrTx/>
              <a:buSzTx/>
              <a:buFontTx/>
              <a:buNone/>
            </a:pPr>
            <a:r>
              <a:rPr kumimoji="1" lang="en-US" altLang="zh-CN" sz="2400" dirty="0">
                <a:latin typeface="Times New Roman" panose="02020603050405020304" pitchFamily="18" charset="0"/>
              </a:rPr>
              <a:t>   2.0000 + 7.0000i</a:t>
            </a:r>
          </a:p>
          <a:p>
            <a:pPr eaLnBrk="1" hangingPunct="1">
              <a:spcBef>
                <a:spcPct val="50000"/>
              </a:spcBef>
              <a:buClrTx/>
              <a:buSzTx/>
              <a:buFontTx/>
              <a:buNone/>
            </a:pPr>
            <a:r>
              <a:rPr kumimoji="1" lang="en-US" altLang="zh-CN" sz="2400" dirty="0">
                <a:latin typeface="Times New Roman" panose="02020603050405020304" pitchFamily="18" charset="0"/>
              </a:rPr>
              <a:t>》b=[1+2i 2-7i].'</a:t>
            </a:r>
          </a:p>
          <a:p>
            <a:pPr eaLnBrk="1" hangingPunct="1">
              <a:spcBef>
                <a:spcPct val="50000"/>
              </a:spcBef>
              <a:buClrTx/>
              <a:buSzTx/>
              <a:buFontTx/>
              <a:buNone/>
            </a:pPr>
            <a:r>
              <a:rPr kumimoji="1" lang="en-US" altLang="zh-CN" sz="2400" dirty="0">
                <a:latin typeface="Times New Roman" panose="02020603050405020304" pitchFamily="18" charset="0"/>
              </a:rPr>
              <a:t>b =</a:t>
            </a:r>
          </a:p>
          <a:p>
            <a:pPr eaLnBrk="1" hangingPunct="1">
              <a:spcBef>
                <a:spcPct val="50000"/>
              </a:spcBef>
              <a:buClrTx/>
              <a:buSzTx/>
              <a:buFontTx/>
              <a:buNone/>
            </a:pPr>
            <a:r>
              <a:rPr kumimoji="1" lang="en-US" altLang="zh-CN" sz="2400" dirty="0">
                <a:latin typeface="Times New Roman" panose="02020603050405020304" pitchFamily="18" charset="0"/>
              </a:rPr>
              <a:t>   1.0000 + 2.0000i</a:t>
            </a:r>
          </a:p>
          <a:p>
            <a:pPr eaLnBrk="1" hangingPunct="1">
              <a:spcBef>
                <a:spcPct val="50000"/>
              </a:spcBef>
              <a:buClrTx/>
              <a:buSzTx/>
              <a:buFontTx/>
              <a:buNone/>
            </a:pPr>
            <a:r>
              <a:rPr kumimoji="1" lang="en-US" altLang="zh-CN" sz="2400" dirty="0">
                <a:latin typeface="Times New Roman" panose="02020603050405020304" pitchFamily="18" charset="0"/>
              </a:rPr>
              <a:t>   2.0000 - 7.0000i</a:t>
            </a:r>
          </a:p>
        </p:txBody>
      </p:sp>
      <p:sp>
        <p:nvSpPr>
          <p:cNvPr id="107527" name="Text Box 7">
            <a:extLst>
              <a:ext uri="{FF2B5EF4-FFF2-40B4-BE49-F238E27FC236}">
                <a16:creationId xmlns:a16="http://schemas.microsoft.com/office/drawing/2014/main" id="{C50A9D2E-06AA-49D7-A70F-B948A79A4D7F}"/>
              </a:ext>
            </a:extLst>
          </p:cNvPr>
          <p:cNvSpPr txBox="1">
            <a:spLocks noChangeArrowheads="1"/>
          </p:cNvSpPr>
          <p:nvPr/>
        </p:nvSpPr>
        <p:spPr bwMode="auto">
          <a:xfrm>
            <a:off x="1373188" y="476250"/>
            <a:ext cx="44180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3200" dirty="0">
                <a:solidFill>
                  <a:schemeClr val="tx2"/>
                </a:solidFill>
              </a:rPr>
              <a:t>二、矩阵的运算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7527"/>
                                        </p:tgtEl>
                                        <p:attrNameLst>
                                          <p:attrName>style.visibility</p:attrName>
                                        </p:attrNameLst>
                                      </p:cBhvr>
                                      <p:to>
                                        <p:strVal val="visible"/>
                                      </p:to>
                                    </p:set>
                                    <p:animEffect transition="in" filter="barn(outHorizontal)">
                                      <p:cBhvr>
                                        <p:cTn id="7" dur="500"/>
                                        <p:tgtEl>
                                          <p:spTgt spid="107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752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0752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752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07526"/>
                                        </p:tgtEl>
                                        <p:attrNameLst>
                                          <p:attrName>style.visibility</p:attrName>
                                        </p:attrNameLst>
                                      </p:cBhvr>
                                      <p:to>
                                        <p:strVal val="visible"/>
                                      </p:to>
                                    </p:set>
                                    <p:animEffect transition="in" filter="checkerboard(across)">
                                      <p:cBhvr>
                                        <p:cTn id="24" dur="500"/>
                                        <p:tgtEl>
                                          <p:spTgt spid="107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utoUpdateAnimBg="0"/>
      <p:bldP spid="107524" grpId="0" autoUpdateAnimBg="0"/>
      <p:bldP spid="107525" grpId="0" autoUpdateAnimBg="0"/>
      <p:bldP spid="107526" grpId="0" autoUpdateAnimBg="0"/>
      <p:bldP spid="10752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B5E03113-60AC-46D6-8F41-772855B147FC}"/>
              </a:ext>
            </a:extLst>
          </p:cNvPr>
          <p:cNvSpPr>
            <a:spLocks noGrp="1" noChangeArrowheads="1"/>
          </p:cNvSpPr>
          <p:nvPr>
            <p:ph type="title"/>
          </p:nvPr>
        </p:nvSpPr>
        <p:spPr/>
        <p:txBody>
          <a:bodyPr/>
          <a:lstStyle/>
          <a:p>
            <a:r>
              <a:rPr lang="zh-CN" altLang="en-US"/>
              <a:t>关于复数</a:t>
            </a:r>
          </a:p>
        </p:txBody>
      </p:sp>
      <p:sp>
        <p:nvSpPr>
          <p:cNvPr id="30723" name="内容占位符 2">
            <a:extLst>
              <a:ext uri="{FF2B5EF4-FFF2-40B4-BE49-F238E27FC236}">
                <a16:creationId xmlns:a16="http://schemas.microsoft.com/office/drawing/2014/main" id="{1D6AF932-8182-4454-AFC9-55A4B224D883}"/>
              </a:ext>
            </a:extLst>
          </p:cNvPr>
          <p:cNvSpPr>
            <a:spLocks noGrp="1" noChangeArrowheads="1"/>
          </p:cNvSpPr>
          <p:nvPr>
            <p:ph idx="1"/>
          </p:nvPr>
        </p:nvSpPr>
        <p:spPr>
          <a:xfrm>
            <a:off x="495300" y="981075"/>
            <a:ext cx="8915400" cy="5149850"/>
          </a:xfrm>
        </p:spPr>
        <p:txBody>
          <a:bodyPr/>
          <a:lstStyle/>
          <a:p>
            <a:r>
              <a:rPr lang="en-US" altLang="zh-CN" sz="2400" dirty="0" err="1"/>
              <a:t>Matlab</a:t>
            </a:r>
            <a:r>
              <a:rPr lang="zh-CN" altLang="en-US" sz="2400" dirty="0"/>
              <a:t>对复数不需要做特殊处理，能直接认识复数。预定义变量</a:t>
            </a:r>
            <a:r>
              <a:rPr lang="en-US" altLang="zh-CN" sz="2400" dirty="0" err="1"/>
              <a:t>i</a:t>
            </a:r>
            <a:r>
              <a:rPr lang="zh-CN" altLang="en-US" sz="2400" dirty="0"/>
              <a:t>和</a:t>
            </a:r>
            <a:r>
              <a:rPr lang="en-US" altLang="zh-CN" sz="2400" dirty="0"/>
              <a:t>j</a:t>
            </a:r>
            <a:r>
              <a:rPr lang="zh-CN" altLang="en-US" sz="2400" dirty="0"/>
              <a:t>作为虚数单位。</a:t>
            </a:r>
            <a:endParaRPr lang="en-US" altLang="zh-CN" sz="2400" dirty="0"/>
          </a:p>
          <a:p>
            <a:r>
              <a:rPr lang="en-US" altLang="zh-CN" sz="2400" dirty="0"/>
              <a:t>A1=1+2i</a:t>
            </a:r>
            <a:r>
              <a:rPr lang="zh-CN" altLang="en-US" sz="2400" dirty="0"/>
              <a:t>； </a:t>
            </a:r>
            <a:r>
              <a:rPr lang="en-US" altLang="zh-CN" sz="2400" dirty="0"/>
              <a:t>a2=1-2j;</a:t>
            </a:r>
          </a:p>
          <a:p>
            <a:r>
              <a:rPr lang="zh-CN" altLang="en-US" sz="2400" dirty="0"/>
              <a:t>还可以用默认值</a:t>
            </a:r>
            <a:r>
              <a:rPr lang="en-US" altLang="zh-CN" sz="2400" dirty="0" err="1"/>
              <a:t>i</a:t>
            </a:r>
            <a:r>
              <a:rPr lang="en-US" altLang="zh-CN" sz="2400" dirty="0"/>
              <a:t>=j=sqrt(-1)</a:t>
            </a:r>
            <a:r>
              <a:rPr lang="zh-CN" altLang="en-US" sz="2400" dirty="0"/>
              <a:t>来形成虚部。</a:t>
            </a:r>
            <a:endParaRPr lang="en-US" altLang="zh-CN" sz="2400" dirty="0"/>
          </a:p>
          <a:p>
            <a:r>
              <a:rPr lang="en-US" altLang="zh-CN" sz="2400" dirty="0"/>
              <a:t>A3=2*(3-sqrt(-1)*2)       A3=6-4i</a:t>
            </a:r>
          </a:p>
          <a:p>
            <a:r>
              <a:rPr lang="zh-CN" altLang="en-US" sz="2400" dirty="0"/>
              <a:t>注意这个表达式</a:t>
            </a:r>
            <a:endParaRPr lang="en-US" altLang="zh-CN" sz="2400" dirty="0"/>
          </a:p>
          <a:p>
            <a:r>
              <a:rPr lang="en-US" altLang="zh-CN" sz="2400" dirty="0"/>
              <a:t>A4=5+sin(.5)*</a:t>
            </a:r>
            <a:r>
              <a:rPr lang="en-US" altLang="zh-CN" sz="2400" dirty="0" err="1"/>
              <a:t>i</a:t>
            </a:r>
            <a:endParaRPr lang="en-US" altLang="zh-CN" sz="2400" dirty="0"/>
          </a:p>
          <a:p>
            <a:r>
              <a:rPr lang="en-US" altLang="zh-CN" sz="2400" dirty="0"/>
              <a:t>     A4=5.000+0.4794i</a:t>
            </a:r>
          </a:p>
          <a:p>
            <a:r>
              <a:rPr lang="en-US" altLang="zh-CN" sz="2400" dirty="0"/>
              <a:t>A4=5+sin(.5)</a:t>
            </a:r>
            <a:r>
              <a:rPr lang="en-US" altLang="zh-CN" sz="2400" dirty="0" err="1"/>
              <a:t>i</a:t>
            </a:r>
            <a:r>
              <a:rPr lang="en-US" altLang="zh-CN" sz="2400" dirty="0"/>
              <a:t>, </a:t>
            </a:r>
            <a:r>
              <a:rPr lang="en-US" altLang="zh-CN" sz="2400" dirty="0" err="1"/>
              <a:t>error:Missing</a:t>
            </a:r>
            <a:r>
              <a:rPr lang="en-US" altLang="zh-CN" sz="2400" dirty="0"/>
              <a:t> operator, </a:t>
            </a:r>
            <a:r>
              <a:rPr lang="en-US" altLang="zh-CN" sz="2400" dirty="0" err="1"/>
              <a:t>comma,or</a:t>
            </a:r>
            <a:r>
              <a:rPr lang="en-US" altLang="zh-CN" sz="2400" dirty="0"/>
              <a:t> semicolon.</a:t>
            </a:r>
          </a:p>
          <a:p>
            <a:r>
              <a:rPr lang="zh-CN" altLang="en-US" sz="2400" dirty="0"/>
              <a:t>直接以字符</a:t>
            </a:r>
            <a:r>
              <a:rPr lang="en-US" altLang="zh-CN" sz="2400" dirty="0" err="1"/>
              <a:t>i</a:t>
            </a:r>
            <a:r>
              <a:rPr lang="zh-CN" altLang="en-US" sz="2400" dirty="0"/>
              <a:t>和</a:t>
            </a:r>
            <a:r>
              <a:rPr lang="en-US" altLang="zh-CN" sz="2400" dirty="0"/>
              <a:t>j</a:t>
            </a:r>
            <a:r>
              <a:rPr lang="zh-CN" altLang="en-US" sz="2400" dirty="0"/>
              <a:t>结尾，只适用于简单数值，不适用于表达式。</a:t>
            </a:r>
            <a:endParaRPr lang="en-US" altLang="zh-CN" sz="2400" dirty="0"/>
          </a:p>
          <a:p>
            <a:r>
              <a:rPr lang="en-US" altLang="zh-CN" sz="2400" dirty="0"/>
              <a:t>real, </a:t>
            </a:r>
            <a:r>
              <a:rPr lang="en-US" altLang="zh-CN" sz="2400" dirty="0" err="1"/>
              <a:t>imag</a:t>
            </a:r>
            <a:r>
              <a:rPr lang="en-US" altLang="zh-CN" sz="2400" dirty="0"/>
              <a:t> </a:t>
            </a:r>
            <a:r>
              <a:rPr lang="zh-CN" altLang="en-US" sz="2400" dirty="0"/>
              <a:t>提取复数的实部和虚部；</a:t>
            </a:r>
            <a:endParaRPr lang="en-US" altLang="zh-CN" sz="2400" dirty="0"/>
          </a:p>
          <a:p>
            <a:r>
              <a:rPr lang="en-US" altLang="zh-CN" sz="2400" dirty="0"/>
              <a:t>abs, angle </a:t>
            </a:r>
            <a:r>
              <a:rPr lang="zh-CN" altLang="en-US" sz="2400" dirty="0"/>
              <a:t>提取复数的模和角度。</a:t>
            </a:r>
          </a:p>
        </p:txBody>
      </p:sp>
      <p:sp>
        <p:nvSpPr>
          <p:cNvPr id="30724" name="灯片编号占位符 3">
            <a:extLst>
              <a:ext uri="{FF2B5EF4-FFF2-40B4-BE49-F238E27FC236}">
                <a16:creationId xmlns:a16="http://schemas.microsoft.com/office/drawing/2014/main" id="{6471E229-713F-41A7-92A4-6EADE67DDC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A89F340-70A0-4060-AFC0-ED5DAF2BA287}" type="slidenum">
              <a:rPr lang="en-US" altLang="zh-CN" smtClean="0">
                <a:latin typeface="Garamond" panose="02020404030301010803" pitchFamily="18" charset="0"/>
              </a:rPr>
              <a:pPr/>
              <a:t>19</a:t>
            </a:fld>
            <a:endParaRPr lang="en-US" altLang="zh-CN">
              <a:latin typeface="Garamond" panose="020204040303010108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F6A233ED-3DC5-4CD7-88DB-35440FA1E8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525D5F1-7A1B-476A-B2E8-0B30AE3C9776}" type="slidenum">
              <a:rPr lang="en-US" altLang="zh-CN" sz="1200" smtClean="0">
                <a:latin typeface="Garamond" panose="02020404030301010803" pitchFamily="18" charset="0"/>
              </a:rPr>
              <a:pPr>
                <a:spcBef>
                  <a:spcPct val="0"/>
                </a:spcBef>
                <a:buClrTx/>
                <a:buSzTx/>
                <a:buFontTx/>
                <a:buNone/>
              </a:pPr>
              <a:t>20</a:t>
            </a:fld>
            <a:endParaRPr lang="en-US" altLang="zh-CN" sz="1200">
              <a:latin typeface="Garamond" panose="02020404030301010803" pitchFamily="18" charset="0"/>
            </a:endParaRPr>
          </a:p>
        </p:txBody>
      </p:sp>
      <p:sp>
        <p:nvSpPr>
          <p:cNvPr id="108546" name="Rectangle 2">
            <a:extLst>
              <a:ext uri="{FF2B5EF4-FFF2-40B4-BE49-F238E27FC236}">
                <a16:creationId xmlns:a16="http://schemas.microsoft.com/office/drawing/2014/main" id="{453081AA-7404-4417-ADA7-981E48BF5F16}"/>
              </a:ext>
            </a:extLst>
          </p:cNvPr>
          <p:cNvSpPr>
            <a:spLocks noGrp="1" noChangeArrowheads="1"/>
          </p:cNvSpPr>
          <p:nvPr>
            <p:ph type="body" idx="1"/>
          </p:nvPr>
        </p:nvSpPr>
        <p:spPr>
          <a:xfrm>
            <a:off x="488950" y="1052513"/>
            <a:ext cx="5073650" cy="4967287"/>
          </a:xfrm>
        </p:spPr>
        <p:txBody>
          <a:bodyPr/>
          <a:lstStyle/>
          <a:p>
            <a:pPr eaLnBrk="1" hangingPunct="1">
              <a:lnSpc>
                <a:spcPct val="90000"/>
              </a:lnSpc>
              <a:buFont typeface="Wingdings" panose="05000000000000000000" pitchFamily="2" charset="2"/>
              <a:buNone/>
            </a:pPr>
            <a:r>
              <a:rPr lang="en-US" altLang="zh-CN" sz="2800" dirty="0"/>
              <a:t>+ </a:t>
            </a:r>
            <a:r>
              <a:rPr lang="zh-CN" altLang="en-US" sz="2800" dirty="0"/>
              <a:t>；</a:t>
            </a:r>
            <a:r>
              <a:rPr lang="en-US" altLang="zh-CN" sz="2800" dirty="0"/>
              <a:t>- </a:t>
            </a:r>
            <a:r>
              <a:rPr lang="zh-CN" altLang="en-US" sz="2800" dirty="0"/>
              <a:t>；* ；</a:t>
            </a:r>
            <a:r>
              <a:rPr lang="en-US" altLang="zh-CN" sz="2800" dirty="0"/>
              <a:t>\</a:t>
            </a:r>
            <a:r>
              <a:rPr lang="zh-CN" altLang="en-US" sz="2800" dirty="0"/>
              <a:t>和</a:t>
            </a:r>
            <a:r>
              <a:rPr lang="en-US" altLang="zh-CN" sz="2800" dirty="0"/>
              <a:t>/ </a:t>
            </a:r>
            <a:r>
              <a:rPr lang="zh-CN" altLang="en-US" sz="2800" dirty="0"/>
              <a:t>；</a:t>
            </a:r>
            <a:r>
              <a:rPr lang="en-US" altLang="zh-CN" sz="2800" dirty="0"/>
              <a:t>^</a:t>
            </a:r>
            <a:r>
              <a:rPr lang="zh-CN" altLang="en-US" sz="2800" dirty="0"/>
              <a:t>；</a:t>
            </a:r>
            <a:r>
              <a:rPr lang="en-US" altLang="zh-CN" sz="2800" dirty="0"/>
              <a:t>.* </a:t>
            </a:r>
            <a:r>
              <a:rPr lang="zh-CN" altLang="en-US" sz="2800" dirty="0"/>
              <a:t>；</a:t>
            </a:r>
            <a:r>
              <a:rPr lang="en-US" altLang="zh-CN" sz="2800" dirty="0"/>
              <a:t>.\ </a:t>
            </a:r>
            <a:r>
              <a:rPr lang="zh-CN" altLang="en-US" sz="2800" dirty="0"/>
              <a:t>；</a:t>
            </a:r>
            <a:r>
              <a:rPr lang="en-US" altLang="zh-CN" sz="2800" dirty="0"/>
              <a:t>./</a:t>
            </a:r>
            <a:r>
              <a:rPr lang="zh-CN" altLang="en-US" sz="2800" dirty="0"/>
              <a:t>；</a:t>
            </a:r>
            <a:r>
              <a:rPr lang="en-US" altLang="zh-CN" sz="2800" dirty="0"/>
              <a:t>.^</a:t>
            </a:r>
          </a:p>
          <a:p>
            <a:pPr eaLnBrk="1" hangingPunct="1">
              <a:lnSpc>
                <a:spcPct val="90000"/>
              </a:lnSpc>
              <a:buFont typeface="Wingdings" panose="05000000000000000000" pitchFamily="2" charset="2"/>
              <a:buNone/>
            </a:pPr>
            <a:r>
              <a:rPr lang="zh-CN" altLang="en-US" sz="2800" dirty="0"/>
              <a:t>如：</a:t>
            </a:r>
            <a:r>
              <a:rPr lang="en-US" altLang="zh-CN" sz="2800" dirty="0"/>
              <a:t>a=[1 2;3 4]</a:t>
            </a:r>
            <a:r>
              <a:rPr lang="zh-CN" altLang="en-US" sz="2800" dirty="0"/>
              <a:t>；</a:t>
            </a:r>
            <a:r>
              <a:rPr lang="en-US" altLang="zh-CN" sz="2800" dirty="0"/>
              <a:t>b=[ 3 5; 5 9]</a:t>
            </a:r>
          </a:p>
          <a:p>
            <a:pPr eaLnBrk="1" hangingPunct="1">
              <a:lnSpc>
                <a:spcPct val="90000"/>
              </a:lnSpc>
              <a:buFont typeface="Wingdings" panose="05000000000000000000" pitchFamily="2" charset="2"/>
              <a:buNone/>
            </a:pPr>
            <a:r>
              <a:rPr lang="en-US" altLang="zh-CN" sz="2800" dirty="0"/>
              <a:t>》c=</a:t>
            </a:r>
            <a:r>
              <a:rPr lang="en-US" altLang="zh-CN" sz="2800" dirty="0" err="1"/>
              <a:t>a+b</a:t>
            </a:r>
            <a:r>
              <a:rPr lang="en-US" altLang="zh-CN" sz="2800" dirty="0"/>
              <a:t>               d=a-b</a:t>
            </a:r>
          </a:p>
          <a:p>
            <a:pPr eaLnBrk="1" hangingPunct="1">
              <a:lnSpc>
                <a:spcPct val="90000"/>
              </a:lnSpc>
              <a:buFont typeface="Wingdings" panose="05000000000000000000" pitchFamily="2" charset="2"/>
              <a:buNone/>
            </a:pPr>
            <a:r>
              <a:rPr lang="en-US" altLang="zh-CN" sz="2800" dirty="0"/>
              <a:t>》c=                     d=</a:t>
            </a:r>
          </a:p>
          <a:p>
            <a:pPr eaLnBrk="1" hangingPunct="1">
              <a:lnSpc>
                <a:spcPct val="90000"/>
              </a:lnSpc>
              <a:buFont typeface="Wingdings" panose="05000000000000000000" pitchFamily="2" charset="2"/>
              <a:buNone/>
            </a:pPr>
            <a:r>
              <a:rPr lang="en-US" altLang="zh-CN" sz="2800" dirty="0"/>
              <a:t>       4  7                    -2   -3</a:t>
            </a:r>
          </a:p>
          <a:p>
            <a:pPr eaLnBrk="1" hangingPunct="1">
              <a:lnSpc>
                <a:spcPct val="90000"/>
              </a:lnSpc>
              <a:buFont typeface="Wingdings" panose="05000000000000000000" pitchFamily="2" charset="2"/>
              <a:buNone/>
            </a:pPr>
            <a:r>
              <a:rPr lang="en-US" altLang="zh-CN" sz="2800" dirty="0"/>
              <a:t>       8   13                 -2   -5</a:t>
            </a:r>
          </a:p>
          <a:p>
            <a:pPr eaLnBrk="1" hangingPunct="1">
              <a:lnSpc>
                <a:spcPct val="90000"/>
              </a:lnSpc>
              <a:buFont typeface="Wingdings" panose="05000000000000000000" pitchFamily="2" charset="2"/>
              <a:buNone/>
            </a:pPr>
            <a:r>
              <a:rPr lang="en-US" altLang="zh-CN" sz="2800" dirty="0"/>
              <a:t>》a*b=[13 23; 29 51]</a:t>
            </a:r>
          </a:p>
          <a:p>
            <a:pPr eaLnBrk="1" hangingPunct="1">
              <a:lnSpc>
                <a:spcPct val="90000"/>
              </a:lnSpc>
              <a:buFont typeface="Wingdings" panose="05000000000000000000" pitchFamily="2" charset="2"/>
              <a:buNone/>
            </a:pPr>
            <a:r>
              <a:rPr lang="en-US" altLang="zh-CN" sz="2800" dirty="0"/>
              <a:t>》a/b=[-0.50 0.50;3.50 –1.50]</a:t>
            </a:r>
          </a:p>
          <a:p>
            <a:pPr eaLnBrk="1" hangingPunct="1">
              <a:lnSpc>
                <a:spcPct val="90000"/>
              </a:lnSpc>
              <a:buFont typeface="Wingdings" panose="05000000000000000000" pitchFamily="2" charset="2"/>
              <a:buNone/>
            </a:pPr>
            <a:r>
              <a:rPr lang="en-US" altLang="zh-CN" sz="2800" dirty="0"/>
              <a:t>》a\b=[-1 -1;2 3]</a:t>
            </a:r>
          </a:p>
        </p:txBody>
      </p:sp>
      <p:sp>
        <p:nvSpPr>
          <p:cNvPr id="108551" name="Text Box 7">
            <a:extLst>
              <a:ext uri="{FF2B5EF4-FFF2-40B4-BE49-F238E27FC236}">
                <a16:creationId xmlns:a16="http://schemas.microsoft.com/office/drawing/2014/main" id="{3E37EF8A-7069-4B58-B661-A15F00DE169F}"/>
              </a:ext>
            </a:extLst>
          </p:cNvPr>
          <p:cNvSpPr txBox="1">
            <a:spLocks noChangeArrowheads="1"/>
          </p:cNvSpPr>
          <p:nvPr/>
        </p:nvSpPr>
        <p:spPr bwMode="auto">
          <a:xfrm>
            <a:off x="992188" y="404813"/>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Impact" panose="020B0806030902050204" pitchFamily="34" charset="0"/>
              </a:rPr>
              <a:t>2</a:t>
            </a:r>
            <a:r>
              <a:rPr kumimoji="1" lang="zh-CN" altLang="en-US" sz="2400">
                <a:latin typeface="Impact" panose="020B0806030902050204" pitchFamily="34" charset="0"/>
              </a:rPr>
              <a:t>、四则运算与幂运算</a:t>
            </a:r>
          </a:p>
        </p:txBody>
      </p:sp>
      <p:sp>
        <p:nvSpPr>
          <p:cNvPr id="108552" name="Rectangle 8">
            <a:extLst>
              <a:ext uri="{FF2B5EF4-FFF2-40B4-BE49-F238E27FC236}">
                <a16:creationId xmlns:a16="http://schemas.microsoft.com/office/drawing/2014/main" id="{1BD1DF8B-0176-4540-8ADF-223F7B5C90DC}"/>
              </a:ext>
            </a:extLst>
          </p:cNvPr>
          <p:cNvSpPr>
            <a:spLocks noChangeArrowheads="1"/>
          </p:cNvSpPr>
          <p:nvPr/>
        </p:nvSpPr>
        <p:spPr bwMode="auto">
          <a:xfrm>
            <a:off x="5313363" y="908050"/>
            <a:ext cx="4287837"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Char char="•"/>
            </a:pPr>
            <a:r>
              <a:rPr kumimoji="1" lang="zh-CN" altLang="en-US" sz="2800" dirty="0">
                <a:latin typeface="Times New Roman" panose="02020603050405020304" pitchFamily="18" charset="0"/>
              </a:rPr>
              <a:t>只有维数相同的矩阵才能进行加减运算。</a:t>
            </a:r>
          </a:p>
          <a:p>
            <a:pPr eaLnBrk="1" hangingPunct="1">
              <a:lnSpc>
                <a:spcPct val="120000"/>
              </a:lnSpc>
              <a:buClrTx/>
              <a:buSzTx/>
              <a:buFontTx/>
              <a:buChar char="•"/>
            </a:pPr>
            <a:r>
              <a:rPr kumimoji="1" lang="zh-CN" altLang="en-US" sz="2800" dirty="0"/>
              <a:t>注意只有当两个矩阵中前一个矩阵的列数和后一个矩阵的行数相同时，才可以进行乘法运算。</a:t>
            </a:r>
            <a:r>
              <a:rPr kumimoji="1" lang="en-US" altLang="zh-CN" sz="2800" dirty="0"/>
              <a:t>a\b</a:t>
            </a:r>
            <a:r>
              <a:rPr kumimoji="1" lang="zh-CN" altLang="en-US" sz="2800" dirty="0"/>
              <a:t>运算等效于求</a:t>
            </a:r>
            <a:r>
              <a:rPr kumimoji="1" lang="en-US" altLang="zh-CN" sz="2800" dirty="0"/>
              <a:t>a*x=b</a:t>
            </a:r>
            <a:r>
              <a:rPr kumimoji="1" lang="zh-CN" altLang="en-US" sz="2800" dirty="0"/>
              <a:t>的解；而</a:t>
            </a:r>
            <a:r>
              <a:rPr kumimoji="1" lang="en-US" altLang="zh-CN" sz="2800" dirty="0"/>
              <a:t>a/b</a:t>
            </a:r>
            <a:r>
              <a:rPr kumimoji="1" lang="zh-CN" altLang="en-US" sz="2800" dirty="0"/>
              <a:t>等效于求</a:t>
            </a:r>
            <a:r>
              <a:rPr kumimoji="1" lang="en-US" altLang="zh-CN" sz="2800" dirty="0"/>
              <a:t>x*b=a</a:t>
            </a:r>
            <a:r>
              <a:rPr kumimoji="1" lang="zh-CN" altLang="en-US" sz="2800" dirty="0"/>
              <a:t>的解。只有方阵才可以求幂。</a:t>
            </a:r>
          </a:p>
          <a:p>
            <a:pPr eaLnBrk="1" hangingPunct="1">
              <a:lnSpc>
                <a:spcPct val="90000"/>
              </a:lnSpc>
              <a:buClrTx/>
              <a:buSzTx/>
              <a:buFontTx/>
              <a:buChar char="•"/>
            </a:pPr>
            <a:endParaRPr kumimoji="1" lang="en-US" altLang="zh-CN" sz="2800" dirty="0">
              <a:latin typeface="Impact" panose="020B080603090205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51"/>
                                        </p:tgtEl>
                                        <p:attrNameLst>
                                          <p:attrName>style.visibility</p:attrName>
                                        </p:attrNameLst>
                                      </p:cBhvr>
                                      <p:to>
                                        <p:strVal val="visible"/>
                                      </p:to>
                                    </p:set>
                                    <p:anim calcmode="lin" valueType="num">
                                      <p:cBhvr additive="base">
                                        <p:cTn id="7" dur="500" fill="hold"/>
                                        <p:tgtEl>
                                          <p:spTgt spid="108551"/>
                                        </p:tgtEl>
                                        <p:attrNameLst>
                                          <p:attrName>ppt_x</p:attrName>
                                        </p:attrNameLst>
                                      </p:cBhvr>
                                      <p:tavLst>
                                        <p:tav tm="0">
                                          <p:val>
                                            <p:strVal val="0-#ppt_w/2"/>
                                          </p:val>
                                        </p:tav>
                                        <p:tav tm="100000">
                                          <p:val>
                                            <p:strVal val="#ppt_x"/>
                                          </p:val>
                                        </p:tav>
                                      </p:tavLst>
                                    </p:anim>
                                    <p:anim calcmode="lin" valueType="num">
                                      <p:cBhvr additive="base">
                                        <p:cTn id="8" dur="500" fill="hold"/>
                                        <p:tgtEl>
                                          <p:spTgt spid="1085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08546"/>
                                        </p:tgtEl>
                                        <p:attrNameLst>
                                          <p:attrName>style.visibility</p:attrName>
                                        </p:attrNameLst>
                                      </p:cBhvr>
                                      <p:to>
                                        <p:strVal val="visible"/>
                                      </p:to>
                                    </p:set>
                                    <p:animEffect transition="in" filter="checkerboard(across)">
                                      <p:cBhvr>
                                        <p:cTn id="13" dur="500"/>
                                        <p:tgtEl>
                                          <p:spTgt spid="10854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108552">
                                            <p:txEl>
                                              <p:pRg st="0" end="0"/>
                                            </p:txEl>
                                          </p:spTgt>
                                        </p:tgtEl>
                                        <p:attrNameLst>
                                          <p:attrName>style.visibility</p:attrName>
                                        </p:attrNameLst>
                                      </p:cBhvr>
                                      <p:to>
                                        <p:strVal val="visible"/>
                                      </p:to>
                                    </p:set>
                                    <p:animEffect transition="in" filter="barn(outHorizontal)">
                                      <p:cBhvr>
                                        <p:cTn id="18" dur="500"/>
                                        <p:tgtEl>
                                          <p:spTgt spid="108552">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108552">
                                            <p:txEl>
                                              <p:pRg st="1" end="1"/>
                                            </p:txEl>
                                          </p:spTgt>
                                        </p:tgtEl>
                                        <p:attrNameLst>
                                          <p:attrName>style.visibility</p:attrName>
                                        </p:attrNameLst>
                                      </p:cBhvr>
                                      <p:to>
                                        <p:strVal val="visible"/>
                                      </p:to>
                                    </p:set>
                                    <p:animEffect transition="in" filter="barn(outHorizontal)">
                                      <p:cBhvr>
                                        <p:cTn id="23" dur="500"/>
                                        <p:tgtEl>
                                          <p:spTgt spid="10855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utoUpdateAnimBg="0"/>
      <p:bldP spid="108551" grpId="0" autoUpdateAnimBg="0"/>
      <p:bldP spid="108552"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BC703F26-8CB3-47D8-8A18-17B0F6CE39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DFC5AE-5253-4E05-882C-7F511C5D1F35}" type="slidenum">
              <a:rPr lang="en-US" altLang="zh-CN" sz="1200" smtClean="0">
                <a:latin typeface="Garamond" panose="02020404030301010803" pitchFamily="18" charset="0"/>
              </a:rPr>
              <a:pPr>
                <a:spcBef>
                  <a:spcPct val="0"/>
                </a:spcBef>
                <a:buClrTx/>
                <a:buSzTx/>
                <a:buFontTx/>
                <a:buNone/>
              </a:pPr>
              <a:t>21</a:t>
            </a:fld>
            <a:endParaRPr lang="en-US" altLang="zh-CN" sz="1200">
              <a:latin typeface="Garamond" panose="02020404030301010803" pitchFamily="18" charset="0"/>
            </a:endParaRPr>
          </a:p>
        </p:txBody>
      </p:sp>
      <p:sp>
        <p:nvSpPr>
          <p:cNvPr id="34819" name="Rectangle 2">
            <a:extLst>
              <a:ext uri="{FF2B5EF4-FFF2-40B4-BE49-F238E27FC236}">
                <a16:creationId xmlns:a16="http://schemas.microsoft.com/office/drawing/2014/main" id="{D2EE5A54-D322-447A-9C7C-FEC2F0ED68B8}"/>
              </a:ext>
            </a:extLst>
          </p:cNvPr>
          <p:cNvSpPr>
            <a:spLocks noGrp="1" noChangeArrowheads="1"/>
          </p:cNvSpPr>
          <p:nvPr>
            <p:ph type="title"/>
          </p:nvPr>
        </p:nvSpPr>
        <p:spPr/>
        <p:txBody>
          <a:bodyPr/>
          <a:lstStyle/>
          <a:p>
            <a:pPr eaLnBrk="1" hangingPunct="1"/>
            <a:endParaRPr lang="zh-CN" altLang="zh-CN"/>
          </a:p>
        </p:txBody>
      </p:sp>
      <p:sp>
        <p:nvSpPr>
          <p:cNvPr id="34820" name="Rectangle 3">
            <a:extLst>
              <a:ext uri="{FF2B5EF4-FFF2-40B4-BE49-F238E27FC236}">
                <a16:creationId xmlns:a16="http://schemas.microsoft.com/office/drawing/2014/main" id="{FA130B3E-C7D0-4958-B058-47858AB3050F}"/>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zh-CN" sz="3600"/>
              <a:t>a^3=[37 54; 81 118]</a:t>
            </a:r>
          </a:p>
          <a:p>
            <a:pPr eaLnBrk="1" hangingPunct="1">
              <a:buFont typeface="Wingdings" panose="05000000000000000000" pitchFamily="2" charset="2"/>
              <a:buNone/>
            </a:pPr>
            <a:r>
              <a:rPr lang="en-US" altLang="zh-CN" sz="3600"/>
              <a:t>》a.*b=[3 10;15 36]</a:t>
            </a:r>
          </a:p>
          <a:p>
            <a:pPr eaLnBrk="1" hangingPunct="1">
              <a:buFont typeface="Wingdings" panose="05000000000000000000" pitchFamily="2" charset="2"/>
              <a:buNone/>
            </a:pPr>
            <a:r>
              <a:rPr lang="en-US" altLang="zh-CN" sz="3600"/>
              <a:t>》a./b=[0.33 0.40;0.60 0.44]</a:t>
            </a:r>
          </a:p>
          <a:p>
            <a:pPr eaLnBrk="1" hangingPunct="1">
              <a:buFont typeface="Wingdings" panose="05000000000000000000" pitchFamily="2" charset="2"/>
              <a:buNone/>
            </a:pPr>
            <a:r>
              <a:rPr lang="en-US" altLang="zh-CN" sz="3600"/>
              <a:t>》a.\b=[3.00 2.50;1.67 2.25]</a:t>
            </a:r>
          </a:p>
          <a:p>
            <a:pPr eaLnBrk="1" hangingPunct="1">
              <a:buFont typeface="Wingdings" panose="05000000000000000000" pitchFamily="2" charset="2"/>
              <a:buNone/>
            </a:pPr>
            <a:r>
              <a:rPr lang="en-US" altLang="zh-CN" sz="3600"/>
              <a:t>》a.^3= [1 8; 27 64]</a:t>
            </a:r>
          </a:p>
          <a:p>
            <a:pPr eaLnBrk="1" hangingPunct="1"/>
            <a:endParaRPr lang="en-US" altLang="zh-CN"/>
          </a:p>
        </p:txBody>
      </p:sp>
      <p:sp>
        <p:nvSpPr>
          <p:cNvPr id="34821" name="Text Box 4">
            <a:extLst>
              <a:ext uri="{FF2B5EF4-FFF2-40B4-BE49-F238E27FC236}">
                <a16:creationId xmlns:a16="http://schemas.microsoft.com/office/drawing/2014/main" id="{8456A621-28E4-4C4D-B9F3-B88AEAD5F919}"/>
              </a:ext>
            </a:extLst>
          </p:cNvPr>
          <p:cNvSpPr txBox="1">
            <a:spLocks noChangeArrowheads="1"/>
          </p:cNvSpPr>
          <p:nvPr/>
        </p:nvSpPr>
        <p:spPr bwMode="auto">
          <a:xfrm>
            <a:off x="6753225" y="1700213"/>
            <a:ext cx="25209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dirty="0">
                <a:solidFill>
                  <a:schemeClr val="tx2"/>
                </a:solidFill>
              </a:rPr>
              <a:t>点运算是两个维数相同矩阵对应元素之间的运算，在有的教材中也定义为数组运算。</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9683EA0C-995A-47EC-80FF-B52CD9B7CA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6D8DA0-59DD-4D24-9954-CD6C4B4160AE}" type="slidenum">
              <a:rPr lang="en-US" altLang="zh-CN" sz="1200" smtClean="0">
                <a:latin typeface="Garamond" panose="02020404030301010803" pitchFamily="18" charset="0"/>
              </a:rPr>
              <a:pPr>
                <a:spcBef>
                  <a:spcPct val="0"/>
                </a:spcBef>
                <a:buClrTx/>
                <a:buSzTx/>
                <a:buFontTx/>
                <a:buNone/>
              </a:pPr>
              <a:t>22</a:t>
            </a:fld>
            <a:endParaRPr lang="en-US" altLang="zh-CN" sz="1200">
              <a:latin typeface="Garamond" panose="02020404030301010803" pitchFamily="18" charset="0"/>
            </a:endParaRPr>
          </a:p>
        </p:txBody>
      </p:sp>
      <p:sp>
        <p:nvSpPr>
          <p:cNvPr id="109570" name="Rectangle 2">
            <a:extLst>
              <a:ext uri="{FF2B5EF4-FFF2-40B4-BE49-F238E27FC236}">
                <a16:creationId xmlns:a16="http://schemas.microsoft.com/office/drawing/2014/main" id="{A83534A4-4C6C-40D0-BBC5-1E81BF8729BA}"/>
              </a:ext>
            </a:extLst>
          </p:cNvPr>
          <p:cNvSpPr>
            <a:spLocks noGrp="1" noChangeArrowheads="1"/>
          </p:cNvSpPr>
          <p:nvPr>
            <p:ph type="body" idx="1"/>
          </p:nvPr>
        </p:nvSpPr>
        <p:spPr>
          <a:xfrm>
            <a:off x="1136650" y="404813"/>
            <a:ext cx="3579813" cy="1524000"/>
          </a:xfrm>
        </p:spPr>
        <p:txBody>
          <a:bodyPr/>
          <a:lstStyle/>
          <a:p>
            <a:pPr eaLnBrk="1" hangingPunct="1">
              <a:lnSpc>
                <a:spcPct val="90000"/>
              </a:lnSpc>
              <a:buFont typeface="Wingdings" panose="05000000000000000000" pitchFamily="2" charset="2"/>
              <a:buNone/>
            </a:pPr>
            <a:r>
              <a:rPr lang="en-US" altLang="zh-CN" sz="2400"/>
              <a:t>3</a:t>
            </a:r>
            <a:r>
              <a:rPr lang="zh-CN" altLang="en-US" sz="2400"/>
              <a:t>、逆矩阵与行列式计算</a:t>
            </a:r>
          </a:p>
          <a:p>
            <a:pPr eaLnBrk="1" hangingPunct="1">
              <a:lnSpc>
                <a:spcPct val="90000"/>
              </a:lnSpc>
              <a:buFont typeface="Wingdings" panose="05000000000000000000" pitchFamily="2" charset="2"/>
              <a:buNone/>
            </a:pPr>
            <a:r>
              <a:rPr lang="zh-CN" altLang="en-US" sz="2400"/>
              <a:t>求逆：</a:t>
            </a:r>
            <a:r>
              <a:rPr lang="en-US" altLang="zh-CN" sz="2400"/>
              <a:t>inv(A)</a:t>
            </a:r>
            <a:r>
              <a:rPr lang="zh-CN" altLang="en-US" sz="2400"/>
              <a:t>；</a:t>
            </a:r>
          </a:p>
          <a:p>
            <a:pPr eaLnBrk="1" hangingPunct="1">
              <a:lnSpc>
                <a:spcPct val="90000"/>
              </a:lnSpc>
              <a:buFont typeface="Wingdings" panose="05000000000000000000" pitchFamily="2" charset="2"/>
              <a:buNone/>
            </a:pPr>
            <a:r>
              <a:rPr lang="zh-CN" altLang="en-US" sz="2400"/>
              <a:t>求行列式：</a:t>
            </a:r>
            <a:r>
              <a:rPr lang="en-US" altLang="zh-CN" sz="2400"/>
              <a:t>det(A)</a:t>
            </a:r>
          </a:p>
          <a:p>
            <a:pPr eaLnBrk="1" hangingPunct="1">
              <a:lnSpc>
                <a:spcPct val="90000"/>
              </a:lnSpc>
              <a:buFont typeface="Wingdings" panose="05000000000000000000" pitchFamily="2" charset="2"/>
              <a:buNone/>
            </a:pPr>
            <a:r>
              <a:rPr lang="zh-CN" altLang="en-US" sz="2400"/>
              <a:t>要求矩阵必须为方阵</a:t>
            </a:r>
          </a:p>
        </p:txBody>
      </p:sp>
      <p:sp>
        <p:nvSpPr>
          <p:cNvPr id="109571" name="Text Box 3">
            <a:extLst>
              <a:ext uri="{FF2B5EF4-FFF2-40B4-BE49-F238E27FC236}">
                <a16:creationId xmlns:a16="http://schemas.microsoft.com/office/drawing/2014/main" id="{1C6C20BF-5B99-4BDC-A265-D5B672A259A8}"/>
              </a:ext>
            </a:extLst>
          </p:cNvPr>
          <p:cNvSpPr txBox="1">
            <a:spLocks noChangeArrowheads="1"/>
          </p:cNvSpPr>
          <p:nvPr/>
        </p:nvSpPr>
        <p:spPr bwMode="auto">
          <a:xfrm>
            <a:off x="5313363" y="333375"/>
            <a:ext cx="4248150" cy="5435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800" dirty="0"/>
              <a:t>4</a:t>
            </a:r>
            <a:r>
              <a:rPr kumimoji="1" lang="zh-CN" altLang="en-US" sz="2800" dirty="0"/>
              <a:t>、了解矩阵超越函数</a:t>
            </a:r>
          </a:p>
          <a:p>
            <a:pPr eaLnBrk="1" hangingPunct="1">
              <a:buClrTx/>
              <a:buSzTx/>
              <a:buFontTx/>
              <a:buChar char="•"/>
            </a:pPr>
            <a:r>
              <a:rPr kumimoji="1" lang="zh-CN" altLang="en-US" sz="2800" dirty="0"/>
              <a:t>在</a:t>
            </a:r>
            <a:r>
              <a:rPr kumimoji="1" lang="en-US" altLang="zh-CN" sz="2800" dirty="0"/>
              <a:t>MATLAB</a:t>
            </a:r>
            <a:r>
              <a:rPr kumimoji="1" lang="zh-CN" altLang="en-US" sz="2800" dirty="0"/>
              <a:t>中</a:t>
            </a:r>
            <a:r>
              <a:rPr kumimoji="1" lang="en-US" altLang="zh-CN" sz="2800" dirty="0"/>
              <a:t>exp</a:t>
            </a:r>
            <a:r>
              <a:rPr kumimoji="1" lang="zh-CN" altLang="en-US" sz="2800" dirty="0"/>
              <a:t>、</a:t>
            </a:r>
            <a:r>
              <a:rPr kumimoji="1" lang="en-US" altLang="zh-CN" sz="2800" dirty="0"/>
              <a:t>sqrt</a:t>
            </a:r>
            <a:r>
              <a:rPr kumimoji="1" lang="zh-CN" altLang="en-US" sz="2800" dirty="0"/>
              <a:t>等命令也可以作用到矩阵上，但这种运算是定义在矩阵的单个元素上的，即分别对矩阵的每一个元素进行计算。</a:t>
            </a:r>
          </a:p>
          <a:p>
            <a:pPr eaLnBrk="1" hangingPunct="1">
              <a:buClrTx/>
              <a:buSzTx/>
              <a:buFontTx/>
              <a:buChar char="•"/>
            </a:pPr>
            <a:r>
              <a:rPr kumimoji="1" lang="zh-CN" altLang="en-US" sz="2800" dirty="0"/>
              <a:t>超越数学函数可以在函数后加上</a:t>
            </a:r>
            <a:r>
              <a:rPr kumimoji="1" lang="en-US" altLang="zh-CN" sz="2800" dirty="0"/>
              <a:t>m</a:t>
            </a:r>
            <a:r>
              <a:rPr kumimoji="1" lang="zh-CN" altLang="en-US" sz="2800" dirty="0"/>
              <a:t>而成为矩阵的超越函数，例如：</a:t>
            </a:r>
            <a:r>
              <a:rPr kumimoji="1" lang="en-US" altLang="zh-CN" sz="2800" dirty="0" err="1"/>
              <a:t>expm</a:t>
            </a:r>
            <a:r>
              <a:rPr kumimoji="1" lang="en-US" altLang="zh-CN" sz="2800" dirty="0"/>
              <a:t>, </a:t>
            </a:r>
            <a:r>
              <a:rPr kumimoji="1" lang="en-US" altLang="zh-CN" sz="2800" dirty="0" err="1"/>
              <a:t>sqrtm</a:t>
            </a:r>
            <a:r>
              <a:rPr kumimoji="1" lang="zh-CN" altLang="en-US" sz="2800" dirty="0"/>
              <a:t>。矩阵的超越函数要求运算矩阵为方阵。</a:t>
            </a:r>
            <a:endParaRPr kumimoji="1" lang="zh-CN" altLang="en-US" sz="2800" dirty="0">
              <a:latin typeface="Times New Roman" panose="02020603050405020304" pitchFamily="18" charset="0"/>
            </a:endParaRPr>
          </a:p>
        </p:txBody>
      </p:sp>
      <p:sp>
        <p:nvSpPr>
          <p:cNvPr id="109572" name="Text Box 4">
            <a:extLst>
              <a:ext uri="{FF2B5EF4-FFF2-40B4-BE49-F238E27FC236}">
                <a16:creationId xmlns:a16="http://schemas.microsoft.com/office/drawing/2014/main" id="{35E50AC6-2841-4706-A059-242DAC17FF5F}"/>
              </a:ext>
            </a:extLst>
          </p:cNvPr>
          <p:cNvSpPr txBox="1">
            <a:spLocks noChangeArrowheads="1"/>
          </p:cNvSpPr>
          <p:nvPr/>
        </p:nvSpPr>
        <p:spPr bwMode="auto">
          <a:xfrm>
            <a:off x="776288" y="1844675"/>
            <a:ext cx="4392612" cy="43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800">
                <a:latin typeface="Times New Roman" panose="02020603050405020304" pitchFamily="18" charset="0"/>
              </a:rPr>
              <a:t>》a=[1 2 3; 4 5 6; 2 3 5];</a:t>
            </a:r>
          </a:p>
          <a:p>
            <a:pPr eaLnBrk="1" hangingPunct="1">
              <a:spcBef>
                <a:spcPct val="50000"/>
              </a:spcBef>
              <a:buClrTx/>
              <a:buSzTx/>
              <a:buFontTx/>
              <a:buNone/>
            </a:pPr>
            <a:r>
              <a:rPr kumimoji="1" lang="en-US" altLang="zh-CN" sz="2800">
                <a:latin typeface="Times New Roman" panose="02020603050405020304" pitchFamily="18" charset="0"/>
              </a:rPr>
              <a:t>》b=inv(a)</a:t>
            </a:r>
          </a:p>
          <a:p>
            <a:pPr eaLnBrk="1" hangingPunct="1">
              <a:spcBef>
                <a:spcPct val="50000"/>
              </a:spcBef>
              <a:buClrTx/>
              <a:buSzTx/>
              <a:buFontTx/>
              <a:buNone/>
            </a:pPr>
            <a:r>
              <a:rPr kumimoji="1" lang="en-US" altLang="zh-CN" sz="2800">
                <a:latin typeface="Times New Roman" panose="02020603050405020304" pitchFamily="18" charset="0"/>
              </a:rPr>
              <a:t>b =</a:t>
            </a:r>
          </a:p>
          <a:p>
            <a:pPr eaLnBrk="1" hangingPunct="1">
              <a:spcBef>
                <a:spcPct val="50000"/>
              </a:spcBef>
              <a:buClrTx/>
              <a:buSzTx/>
              <a:buFontTx/>
              <a:buNone/>
            </a:pPr>
            <a:r>
              <a:rPr kumimoji="1" lang="en-US" altLang="zh-CN" sz="2800">
                <a:latin typeface="Times New Roman" panose="02020603050405020304" pitchFamily="18" charset="0"/>
              </a:rPr>
              <a:t>   -2.3333    0.3333    1.0000</a:t>
            </a:r>
          </a:p>
          <a:p>
            <a:pPr eaLnBrk="1" hangingPunct="1">
              <a:spcBef>
                <a:spcPct val="50000"/>
              </a:spcBef>
              <a:buClrTx/>
              <a:buSzTx/>
              <a:buFontTx/>
              <a:buNone/>
            </a:pPr>
            <a:r>
              <a:rPr kumimoji="1" lang="en-US" altLang="zh-CN" sz="2800">
                <a:latin typeface="Times New Roman" panose="02020603050405020304" pitchFamily="18" charset="0"/>
              </a:rPr>
              <a:t>    2.6667    0.3333   -2.0000</a:t>
            </a:r>
          </a:p>
          <a:p>
            <a:pPr eaLnBrk="1" hangingPunct="1">
              <a:spcBef>
                <a:spcPct val="50000"/>
              </a:spcBef>
              <a:buClrTx/>
              <a:buSzTx/>
              <a:buFontTx/>
              <a:buNone/>
            </a:pPr>
            <a:r>
              <a:rPr kumimoji="1" lang="en-US" altLang="zh-CN" sz="2800">
                <a:latin typeface="Times New Roman" panose="02020603050405020304" pitchFamily="18" charset="0"/>
              </a:rPr>
              <a:t>   -0.6667   -0.3333    1.0000</a:t>
            </a:r>
          </a:p>
          <a:p>
            <a:pPr eaLnBrk="1" hangingPunct="1">
              <a:spcBef>
                <a:spcPct val="50000"/>
              </a:spcBef>
              <a:buClrTx/>
              <a:buSzTx/>
              <a:buFontTx/>
              <a:buNone/>
            </a:pPr>
            <a:r>
              <a:rPr kumimoji="1" lang="en-US" altLang="zh-CN" sz="2800">
                <a:latin typeface="Times New Roman" panose="02020603050405020304" pitchFamily="18" charset="0"/>
              </a:rPr>
              <a:t>》det(a)           ans =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box(in)">
                                      <p:cBhvr>
                                        <p:cTn id="7" dur="500"/>
                                        <p:tgtEl>
                                          <p:spTgt spid="1095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09572"/>
                                        </p:tgtEl>
                                        <p:attrNameLst>
                                          <p:attrName>style.visibility</p:attrName>
                                        </p:attrNameLst>
                                      </p:cBhvr>
                                      <p:to>
                                        <p:strVal val="visible"/>
                                      </p:to>
                                    </p:set>
                                    <p:animEffect transition="in" filter="slide(fromLeft)">
                                      <p:cBhvr>
                                        <p:cTn id="12" dur="500"/>
                                        <p:tgtEl>
                                          <p:spTgt spid="1095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571">
                                            <p:txEl>
                                              <p:pRg st="0" end="0"/>
                                            </p:txEl>
                                          </p:spTgt>
                                        </p:tgtEl>
                                        <p:attrNameLst>
                                          <p:attrName>style.visibility</p:attrName>
                                        </p:attrNameLst>
                                      </p:cBhvr>
                                      <p:to>
                                        <p:strVal val="visible"/>
                                      </p:to>
                                    </p:set>
                                    <p:animEffect transition="in" filter="blinds(horizontal)">
                                      <p:cBhvr>
                                        <p:cTn id="17" dur="500"/>
                                        <p:tgtEl>
                                          <p:spTgt spid="10957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571">
                                            <p:txEl>
                                              <p:pRg st="1" end="1"/>
                                            </p:txEl>
                                          </p:spTgt>
                                        </p:tgtEl>
                                        <p:attrNameLst>
                                          <p:attrName>style.visibility</p:attrName>
                                        </p:attrNameLst>
                                      </p:cBhvr>
                                      <p:to>
                                        <p:strVal val="visible"/>
                                      </p:to>
                                    </p:set>
                                    <p:animEffect transition="in" filter="blinds(horizontal)">
                                      <p:cBhvr>
                                        <p:cTn id="22" dur="500"/>
                                        <p:tgtEl>
                                          <p:spTgt spid="109571">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9571">
                                            <p:txEl>
                                              <p:pRg st="2" end="2"/>
                                            </p:txEl>
                                          </p:spTgt>
                                        </p:tgtEl>
                                        <p:attrNameLst>
                                          <p:attrName>style.visibility</p:attrName>
                                        </p:attrNameLst>
                                      </p:cBhvr>
                                      <p:to>
                                        <p:strVal val="visible"/>
                                      </p:to>
                                    </p:set>
                                    <p:animEffect transition="in" filter="blinds(horizontal)">
                                      <p:cBhvr>
                                        <p:cTn id="27" dur="500"/>
                                        <p:tgtEl>
                                          <p:spTgt spid="109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utoUpdateAnimBg="0"/>
      <p:bldP spid="109571" grpId="0" build="p" autoUpdateAnimBg="0"/>
      <p:bldP spid="10957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916623BA-9A24-4A39-9027-8433F5BD82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51ADA5D-1928-4251-9A6F-7073BCB3D80C}" type="slidenum">
              <a:rPr lang="en-US" altLang="zh-CN" sz="1200" smtClean="0">
                <a:latin typeface="Garamond" panose="02020404030301010803" pitchFamily="18" charset="0"/>
              </a:rPr>
              <a:pPr>
                <a:spcBef>
                  <a:spcPct val="0"/>
                </a:spcBef>
                <a:buClrTx/>
                <a:buSzTx/>
                <a:buFontTx/>
                <a:buNone/>
              </a:pPr>
              <a:t>23</a:t>
            </a:fld>
            <a:endParaRPr lang="en-US" altLang="zh-CN" sz="1200">
              <a:latin typeface="Garamond" panose="02020404030301010803" pitchFamily="18" charset="0"/>
            </a:endParaRPr>
          </a:p>
        </p:txBody>
      </p:sp>
      <p:sp>
        <p:nvSpPr>
          <p:cNvPr id="110594" name="Rectangle 2">
            <a:extLst>
              <a:ext uri="{FF2B5EF4-FFF2-40B4-BE49-F238E27FC236}">
                <a16:creationId xmlns:a16="http://schemas.microsoft.com/office/drawing/2014/main" id="{E56F7232-E5B2-474A-94B5-4EE8BAC0D903}"/>
              </a:ext>
            </a:extLst>
          </p:cNvPr>
          <p:cNvSpPr>
            <a:spLocks noGrp="1" noChangeArrowheads="1"/>
          </p:cNvSpPr>
          <p:nvPr>
            <p:ph type="body" idx="1"/>
          </p:nvPr>
        </p:nvSpPr>
        <p:spPr>
          <a:xfrm>
            <a:off x="1447800" y="2625725"/>
            <a:ext cx="7772400" cy="3611563"/>
          </a:xfrm>
        </p:spPr>
        <p:txBody>
          <a:bodyPr/>
          <a:lstStyle/>
          <a:p>
            <a:pPr eaLnBrk="1" hangingPunct="1">
              <a:lnSpc>
                <a:spcPct val="90000"/>
              </a:lnSpc>
            </a:pPr>
            <a:r>
              <a:rPr lang="en-US" altLang="zh-CN" sz="2800" dirty="0"/>
              <a:t>A(</a:t>
            </a:r>
            <a:r>
              <a:rPr lang="en-US" altLang="zh-CN" sz="2800" dirty="0" err="1"/>
              <a:t>m,n</a:t>
            </a:r>
            <a:r>
              <a:rPr lang="en-US" altLang="zh-CN" sz="2800" dirty="0"/>
              <a:t>)</a:t>
            </a:r>
            <a:r>
              <a:rPr lang="zh-CN" altLang="en-US" sz="2800" dirty="0"/>
              <a:t>：提取第</a:t>
            </a:r>
            <a:r>
              <a:rPr lang="en-US" altLang="zh-CN" sz="2800" dirty="0"/>
              <a:t>m</a:t>
            </a:r>
            <a:r>
              <a:rPr lang="zh-CN" altLang="en-US" sz="2800" dirty="0"/>
              <a:t>行，第</a:t>
            </a:r>
            <a:r>
              <a:rPr lang="en-US" altLang="zh-CN" sz="2800" dirty="0"/>
              <a:t>n</a:t>
            </a:r>
            <a:r>
              <a:rPr lang="zh-CN" altLang="en-US" sz="2800" dirty="0"/>
              <a:t>列元素</a:t>
            </a:r>
          </a:p>
          <a:p>
            <a:pPr eaLnBrk="1" hangingPunct="1">
              <a:lnSpc>
                <a:spcPct val="90000"/>
              </a:lnSpc>
            </a:pPr>
            <a:r>
              <a:rPr lang="en-US" altLang="zh-CN" sz="2800" dirty="0"/>
              <a:t>A(:,n)</a:t>
            </a:r>
            <a:r>
              <a:rPr lang="zh-CN" altLang="en-US" sz="2800" dirty="0"/>
              <a:t>：提取第</a:t>
            </a:r>
            <a:r>
              <a:rPr lang="en-US" altLang="zh-CN" sz="2800" dirty="0"/>
              <a:t>n</a:t>
            </a:r>
            <a:r>
              <a:rPr lang="zh-CN" altLang="en-US" sz="2800" dirty="0"/>
              <a:t>列元素</a:t>
            </a:r>
          </a:p>
          <a:p>
            <a:pPr eaLnBrk="1" hangingPunct="1">
              <a:lnSpc>
                <a:spcPct val="90000"/>
              </a:lnSpc>
            </a:pPr>
            <a:r>
              <a:rPr lang="en-US" altLang="zh-CN" sz="2800" dirty="0"/>
              <a:t>A(m,:)</a:t>
            </a:r>
            <a:r>
              <a:rPr lang="zh-CN" altLang="en-US" sz="2800" dirty="0"/>
              <a:t>：提取第</a:t>
            </a:r>
            <a:r>
              <a:rPr lang="en-US" altLang="zh-CN" sz="2800" dirty="0"/>
              <a:t>m</a:t>
            </a:r>
            <a:r>
              <a:rPr lang="zh-CN" altLang="en-US" sz="2800" dirty="0"/>
              <a:t>行元素</a:t>
            </a:r>
          </a:p>
          <a:p>
            <a:pPr eaLnBrk="1" hangingPunct="1">
              <a:lnSpc>
                <a:spcPct val="90000"/>
              </a:lnSpc>
            </a:pPr>
            <a:r>
              <a:rPr lang="en-US" altLang="zh-CN" sz="2800" dirty="0"/>
              <a:t>A(m1:m2,n1:n2)</a:t>
            </a:r>
            <a:r>
              <a:rPr lang="zh-CN" altLang="en-US" sz="2800" dirty="0"/>
              <a:t>：提取第</a:t>
            </a:r>
            <a:r>
              <a:rPr lang="en-US" altLang="zh-CN" sz="2800" dirty="0"/>
              <a:t>m1</a:t>
            </a:r>
            <a:r>
              <a:rPr lang="zh-CN" altLang="en-US" sz="2800" dirty="0"/>
              <a:t>行到第</a:t>
            </a:r>
            <a:r>
              <a:rPr lang="en-US" altLang="zh-CN" sz="2800" dirty="0"/>
              <a:t>m2</a:t>
            </a:r>
            <a:r>
              <a:rPr lang="zh-CN" altLang="en-US" sz="2800" dirty="0"/>
              <a:t>行和第</a:t>
            </a:r>
            <a:r>
              <a:rPr lang="en-US" altLang="zh-CN" sz="2800" dirty="0"/>
              <a:t>n1</a:t>
            </a:r>
            <a:r>
              <a:rPr lang="zh-CN" altLang="en-US" sz="2800" dirty="0"/>
              <a:t>列到第</a:t>
            </a:r>
            <a:r>
              <a:rPr lang="en-US" altLang="zh-CN" sz="2800" dirty="0"/>
              <a:t>n2</a:t>
            </a:r>
            <a:r>
              <a:rPr lang="zh-CN" altLang="en-US" sz="2800" dirty="0"/>
              <a:t>列的所有元素（提取子块）。</a:t>
            </a:r>
          </a:p>
          <a:p>
            <a:pPr eaLnBrk="1" hangingPunct="1">
              <a:lnSpc>
                <a:spcPct val="90000"/>
              </a:lnSpc>
            </a:pPr>
            <a:r>
              <a:rPr lang="en-US" altLang="zh-CN" sz="2800" dirty="0"/>
              <a:t>A(:)</a:t>
            </a:r>
            <a:r>
              <a:rPr lang="zh-CN" altLang="en-US" sz="2800" dirty="0"/>
              <a:t>：得到一个长列矢量，该矢量的元素按矩阵的列进行排列。</a:t>
            </a:r>
          </a:p>
        </p:txBody>
      </p:sp>
      <p:sp>
        <p:nvSpPr>
          <p:cNvPr id="110595" name="Text Box 3">
            <a:extLst>
              <a:ext uri="{FF2B5EF4-FFF2-40B4-BE49-F238E27FC236}">
                <a16:creationId xmlns:a16="http://schemas.microsoft.com/office/drawing/2014/main" id="{EB6FB795-E133-4ADC-B1A2-C65B90B93B5E}"/>
              </a:ext>
            </a:extLst>
          </p:cNvPr>
          <p:cNvSpPr txBox="1">
            <a:spLocks noChangeArrowheads="1"/>
          </p:cNvSpPr>
          <p:nvPr/>
        </p:nvSpPr>
        <p:spPr bwMode="auto">
          <a:xfrm>
            <a:off x="1295400" y="609600"/>
            <a:ext cx="365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3200">
                <a:solidFill>
                  <a:schemeClr val="tx2"/>
                </a:solidFill>
              </a:rPr>
              <a:t>三、矩阵的操作</a:t>
            </a:r>
          </a:p>
        </p:txBody>
      </p:sp>
      <p:sp>
        <p:nvSpPr>
          <p:cNvPr id="110596" name="Text Box 4">
            <a:extLst>
              <a:ext uri="{FF2B5EF4-FFF2-40B4-BE49-F238E27FC236}">
                <a16:creationId xmlns:a16="http://schemas.microsoft.com/office/drawing/2014/main" id="{14A95741-81A0-4B65-ACF0-B0484927EA42}"/>
              </a:ext>
            </a:extLst>
          </p:cNvPr>
          <p:cNvSpPr txBox="1">
            <a:spLocks noChangeArrowheads="1"/>
          </p:cNvSpPr>
          <p:nvPr/>
        </p:nvSpPr>
        <p:spPr bwMode="auto">
          <a:xfrm>
            <a:off x="1524000" y="1219200"/>
            <a:ext cx="7315200"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800" dirty="0"/>
              <a:t>1</a:t>
            </a:r>
            <a:r>
              <a:rPr kumimoji="1" lang="zh-CN" altLang="en-US" sz="2800" dirty="0"/>
              <a:t>、矩阵下标</a:t>
            </a:r>
          </a:p>
          <a:p>
            <a:pPr eaLnBrk="1" hangingPunct="1">
              <a:lnSpc>
                <a:spcPct val="90000"/>
              </a:lnSpc>
              <a:buClrTx/>
              <a:buSzTx/>
              <a:buFontTx/>
              <a:buChar char="•"/>
            </a:pPr>
            <a:r>
              <a:rPr kumimoji="1" lang="en-US" altLang="zh-CN" sz="2800" dirty="0"/>
              <a:t>MATLAB</a:t>
            </a:r>
            <a:r>
              <a:rPr kumimoji="1" lang="zh-CN" altLang="en-US" sz="2800" dirty="0"/>
              <a:t>通过确认矩阵下标，可以对矩阵进行插入子块，提取子块和重排子块的操作。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5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110596"/>
                                        </p:tgtEl>
                                        <p:attrNameLst>
                                          <p:attrName>style.visibility</p:attrName>
                                        </p:attrNameLst>
                                      </p:cBhvr>
                                      <p:to>
                                        <p:strVal val="visible"/>
                                      </p:to>
                                    </p:set>
                                    <p:animEffect transition="in" filter="box(out)">
                                      <p:cBhvr>
                                        <p:cTn id="11" dur="500"/>
                                        <p:tgtEl>
                                          <p:spTgt spid="1105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0594">
                                            <p:txEl>
                                              <p:pRg st="0" end="0"/>
                                            </p:txEl>
                                          </p:spTgt>
                                        </p:tgtEl>
                                        <p:attrNameLst>
                                          <p:attrName>style.visibility</p:attrName>
                                        </p:attrNameLst>
                                      </p:cBhvr>
                                      <p:to>
                                        <p:strVal val="visible"/>
                                      </p:to>
                                    </p:set>
                                    <p:animEffect transition="in" filter="blinds(horizontal)">
                                      <p:cBhvr>
                                        <p:cTn id="16" dur="500"/>
                                        <p:tgtEl>
                                          <p:spTgt spid="110594">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0594">
                                            <p:txEl>
                                              <p:pRg st="1" end="1"/>
                                            </p:txEl>
                                          </p:spTgt>
                                        </p:tgtEl>
                                        <p:attrNameLst>
                                          <p:attrName>style.visibility</p:attrName>
                                        </p:attrNameLst>
                                      </p:cBhvr>
                                      <p:to>
                                        <p:strVal val="visible"/>
                                      </p:to>
                                    </p:set>
                                    <p:animEffect transition="in" filter="blinds(horizontal)">
                                      <p:cBhvr>
                                        <p:cTn id="21" dur="500"/>
                                        <p:tgtEl>
                                          <p:spTgt spid="110594">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0594">
                                            <p:txEl>
                                              <p:pRg st="2" end="2"/>
                                            </p:txEl>
                                          </p:spTgt>
                                        </p:tgtEl>
                                        <p:attrNameLst>
                                          <p:attrName>style.visibility</p:attrName>
                                        </p:attrNameLst>
                                      </p:cBhvr>
                                      <p:to>
                                        <p:strVal val="visible"/>
                                      </p:to>
                                    </p:set>
                                    <p:animEffect transition="in" filter="blinds(horizontal)">
                                      <p:cBhvr>
                                        <p:cTn id="26" dur="500"/>
                                        <p:tgtEl>
                                          <p:spTgt spid="110594">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0594">
                                            <p:txEl>
                                              <p:pRg st="3" end="3"/>
                                            </p:txEl>
                                          </p:spTgt>
                                        </p:tgtEl>
                                        <p:attrNameLst>
                                          <p:attrName>style.visibility</p:attrName>
                                        </p:attrNameLst>
                                      </p:cBhvr>
                                      <p:to>
                                        <p:strVal val="visible"/>
                                      </p:to>
                                    </p:set>
                                    <p:animEffect transition="in" filter="blinds(horizontal)">
                                      <p:cBhvr>
                                        <p:cTn id="31" dur="500"/>
                                        <p:tgtEl>
                                          <p:spTgt spid="110594">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10594">
                                            <p:txEl>
                                              <p:pRg st="4" end="4"/>
                                            </p:txEl>
                                          </p:spTgt>
                                        </p:tgtEl>
                                        <p:attrNameLst>
                                          <p:attrName>style.visibility</p:attrName>
                                        </p:attrNameLst>
                                      </p:cBhvr>
                                      <p:to>
                                        <p:strVal val="visible"/>
                                      </p:to>
                                    </p:set>
                                    <p:animEffect transition="in" filter="blinds(horizontal)">
                                      <p:cBhvr>
                                        <p:cTn id="36" dur="500"/>
                                        <p:tgtEl>
                                          <p:spTgt spid="1105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build="p" autoUpdateAnimBg="0"/>
      <p:bldP spid="110595" grpId="0" autoUpdateAnimBg="0"/>
      <p:bldP spid="11059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a:extLst>
              <a:ext uri="{FF2B5EF4-FFF2-40B4-BE49-F238E27FC236}">
                <a16:creationId xmlns:a16="http://schemas.microsoft.com/office/drawing/2014/main" id="{7034BEAD-A0BD-4ECD-83C6-A22F6FDF65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6DCF477-CD6A-4600-ADB8-F566FCDD5DB6}" type="slidenum">
              <a:rPr lang="en-US" altLang="zh-CN" sz="1200" smtClean="0">
                <a:latin typeface="Garamond" panose="02020404030301010803" pitchFamily="18" charset="0"/>
              </a:rPr>
              <a:pPr>
                <a:spcBef>
                  <a:spcPct val="0"/>
                </a:spcBef>
                <a:buClrTx/>
                <a:buSzTx/>
                <a:buFontTx/>
                <a:buNone/>
              </a:pPr>
              <a:t>24</a:t>
            </a:fld>
            <a:endParaRPr lang="en-US" altLang="zh-CN" sz="1200">
              <a:latin typeface="Garamond" panose="02020404030301010803" pitchFamily="18" charset="0"/>
            </a:endParaRPr>
          </a:p>
        </p:txBody>
      </p:sp>
      <p:sp>
        <p:nvSpPr>
          <p:cNvPr id="38915" name="Rectangle 2">
            <a:extLst>
              <a:ext uri="{FF2B5EF4-FFF2-40B4-BE49-F238E27FC236}">
                <a16:creationId xmlns:a16="http://schemas.microsoft.com/office/drawing/2014/main" id="{CF32374B-E92D-4E63-AF83-6C1844FBDD23}"/>
              </a:ext>
            </a:extLst>
          </p:cNvPr>
          <p:cNvSpPr>
            <a:spLocks noGrp="1" noChangeArrowheads="1"/>
          </p:cNvSpPr>
          <p:nvPr>
            <p:ph type="title"/>
          </p:nvPr>
        </p:nvSpPr>
        <p:spPr/>
        <p:txBody>
          <a:bodyPr/>
          <a:lstStyle/>
          <a:p>
            <a:pPr eaLnBrk="1" hangingPunct="1"/>
            <a:endParaRPr lang="zh-CN" altLang="zh-CN"/>
          </a:p>
        </p:txBody>
      </p:sp>
      <p:sp>
        <p:nvSpPr>
          <p:cNvPr id="38916" name="Rectangle 3">
            <a:extLst>
              <a:ext uri="{FF2B5EF4-FFF2-40B4-BE49-F238E27FC236}">
                <a16:creationId xmlns:a16="http://schemas.microsoft.com/office/drawing/2014/main" id="{02E8C6ED-0642-42BA-B0B2-6D2D46819B9A}"/>
              </a:ext>
            </a:extLst>
          </p:cNvPr>
          <p:cNvSpPr>
            <a:spLocks noGrp="1" noChangeArrowheads="1"/>
          </p:cNvSpPr>
          <p:nvPr>
            <p:ph type="body" idx="1"/>
          </p:nvPr>
        </p:nvSpPr>
        <p:spPr/>
        <p:txBody>
          <a:bodyPr/>
          <a:lstStyle/>
          <a:p>
            <a:pPr eaLnBrk="1" hangingPunct="1"/>
            <a:r>
              <a:rPr lang="zh-CN" altLang="en-US" sz="3700"/>
              <a:t>矩阵扩展：如果在原矩阵中一个不存在的地址位置上设定一个数（赋值），则该矩阵会自动扩展行列数，并在该位置上添加这个数，而且在其他没有指定的位置补零。</a:t>
            </a:r>
          </a:p>
          <a:p>
            <a:pPr eaLnBrk="1" hangingPunct="1"/>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56A16B5C-2D27-4A3A-9725-AE12993D79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E81F92E-3066-451C-9924-D45E59809C60}" type="slidenum">
              <a:rPr lang="en-US" altLang="zh-CN" sz="1200" smtClean="0">
                <a:latin typeface="Garamond" panose="02020404030301010803" pitchFamily="18" charset="0"/>
              </a:rPr>
              <a:pPr>
                <a:spcBef>
                  <a:spcPct val="0"/>
                </a:spcBef>
                <a:buClrTx/>
                <a:buSzTx/>
                <a:buFontTx/>
                <a:buNone/>
              </a:pPr>
              <a:t>25</a:t>
            </a:fld>
            <a:endParaRPr lang="en-US" altLang="zh-CN" sz="1200">
              <a:latin typeface="Garamond" panose="02020404030301010803" pitchFamily="18" charset="0"/>
            </a:endParaRPr>
          </a:p>
        </p:txBody>
      </p:sp>
      <p:sp>
        <p:nvSpPr>
          <p:cNvPr id="111618" name="Rectangle 2">
            <a:extLst>
              <a:ext uri="{FF2B5EF4-FFF2-40B4-BE49-F238E27FC236}">
                <a16:creationId xmlns:a16="http://schemas.microsoft.com/office/drawing/2014/main" id="{8FD4E20D-EA2C-4011-9260-42B57FE62EBF}"/>
              </a:ext>
            </a:extLst>
          </p:cNvPr>
          <p:cNvSpPr>
            <a:spLocks noGrp="1" noChangeArrowheads="1"/>
          </p:cNvSpPr>
          <p:nvPr>
            <p:ph type="body" idx="1"/>
          </p:nvPr>
        </p:nvSpPr>
        <p:spPr>
          <a:xfrm>
            <a:off x="1143000" y="685800"/>
            <a:ext cx="8458200" cy="2209800"/>
          </a:xfrm>
        </p:spPr>
        <p:txBody>
          <a:bodyPr/>
          <a:lstStyle/>
          <a:p>
            <a:pPr eaLnBrk="1" hangingPunct="1">
              <a:lnSpc>
                <a:spcPct val="90000"/>
              </a:lnSpc>
              <a:buFont typeface="Wingdings" panose="05000000000000000000" pitchFamily="2" charset="2"/>
              <a:buNone/>
            </a:pPr>
            <a:r>
              <a:rPr lang="en-US" altLang="zh-CN" sz="2600"/>
              <a:t>2</a:t>
            </a:r>
            <a:r>
              <a:rPr lang="zh-CN" altLang="en-US" sz="2600"/>
              <a:t>、矩阵的大小</a:t>
            </a:r>
          </a:p>
          <a:p>
            <a:pPr eaLnBrk="1" hangingPunct="1">
              <a:lnSpc>
                <a:spcPct val="90000"/>
              </a:lnSpc>
            </a:pPr>
            <a:r>
              <a:rPr lang="en-US" altLang="zh-CN" sz="2600"/>
              <a:t>[m,n]=size(A,x)</a:t>
            </a:r>
            <a:r>
              <a:rPr lang="zh-CN" altLang="en-US" sz="2600"/>
              <a:t>：返回矩阵的行列数</a:t>
            </a:r>
            <a:r>
              <a:rPr lang="en-US" altLang="zh-CN" sz="2600"/>
              <a:t>m</a:t>
            </a:r>
            <a:r>
              <a:rPr lang="zh-CN" altLang="en-US" sz="2600"/>
              <a:t>与</a:t>
            </a:r>
            <a:r>
              <a:rPr lang="en-US" altLang="zh-CN" sz="2600"/>
              <a:t>n</a:t>
            </a:r>
            <a:r>
              <a:rPr lang="zh-CN" altLang="en-US" sz="2600"/>
              <a:t>，当</a:t>
            </a:r>
            <a:r>
              <a:rPr lang="en-US" altLang="zh-CN" sz="2600"/>
              <a:t>x=1</a:t>
            </a:r>
            <a:r>
              <a:rPr lang="zh-CN" altLang="en-US" sz="2600"/>
              <a:t>，则只返回行数</a:t>
            </a:r>
            <a:r>
              <a:rPr lang="en-US" altLang="zh-CN" sz="2600"/>
              <a:t>m</a:t>
            </a:r>
            <a:r>
              <a:rPr lang="zh-CN" altLang="en-US" sz="2600"/>
              <a:t>，当</a:t>
            </a:r>
            <a:r>
              <a:rPr lang="en-US" altLang="zh-CN" sz="2600"/>
              <a:t>x=2</a:t>
            </a:r>
            <a:r>
              <a:rPr lang="zh-CN" altLang="en-US" sz="2600"/>
              <a:t>，则只返回列数</a:t>
            </a:r>
            <a:r>
              <a:rPr lang="en-US" altLang="zh-CN" sz="2600"/>
              <a:t>n</a:t>
            </a:r>
            <a:r>
              <a:rPr lang="zh-CN" altLang="en-US" sz="2600"/>
              <a:t>。</a:t>
            </a:r>
          </a:p>
          <a:p>
            <a:pPr eaLnBrk="1" hangingPunct="1">
              <a:lnSpc>
                <a:spcPct val="90000"/>
              </a:lnSpc>
            </a:pPr>
            <a:r>
              <a:rPr lang="en-US" altLang="zh-CN" sz="2600"/>
              <a:t>length(A)=max(size(A))</a:t>
            </a:r>
            <a:r>
              <a:rPr lang="zh-CN" altLang="en-US" sz="2600"/>
              <a:t>：返回行数或列数的最大值。</a:t>
            </a:r>
          </a:p>
          <a:p>
            <a:pPr eaLnBrk="1" hangingPunct="1">
              <a:lnSpc>
                <a:spcPct val="90000"/>
              </a:lnSpc>
            </a:pPr>
            <a:r>
              <a:rPr lang="en-US" altLang="zh-CN" sz="2600"/>
              <a:t>rank(A)</a:t>
            </a:r>
            <a:r>
              <a:rPr lang="zh-CN" altLang="en-US" sz="2600"/>
              <a:t>：求矩阵的秩</a:t>
            </a:r>
          </a:p>
          <a:p>
            <a:pPr eaLnBrk="1" hangingPunct="1">
              <a:lnSpc>
                <a:spcPct val="90000"/>
              </a:lnSpc>
              <a:buFont typeface="Wingdings" panose="05000000000000000000" pitchFamily="2" charset="2"/>
              <a:buNone/>
            </a:pPr>
            <a:endParaRPr lang="zh-CN" altLang="en-US" sz="2600"/>
          </a:p>
          <a:p>
            <a:pPr eaLnBrk="1" hangingPunct="1">
              <a:lnSpc>
                <a:spcPct val="90000"/>
              </a:lnSpc>
              <a:buFont typeface="Wingdings" panose="05000000000000000000" pitchFamily="2" charset="2"/>
              <a:buNone/>
            </a:pPr>
            <a:endParaRPr lang="zh-CN" altLang="en-US" sz="2600"/>
          </a:p>
          <a:p>
            <a:pPr eaLnBrk="1" hangingPunct="1">
              <a:lnSpc>
                <a:spcPct val="90000"/>
              </a:lnSpc>
            </a:pPr>
            <a:endParaRPr lang="en-US" altLang="zh-CN" sz="3500"/>
          </a:p>
        </p:txBody>
      </p:sp>
      <p:sp>
        <p:nvSpPr>
          <p:cNvPr id="111619" name="Text Box 3">
            <a:extLst>
              <a:ext uri="{FF2B5EF4-FFF2-40B4-BE49-F238E27FC236}">
                <a16:creationId xmlns:a16="http://schemas.microsoft.com/office/drawing/2014/main" id="{FDDDA899-ED04-4917-88FB-6DCB7808BA15}"/>
              </a:ext>
            </a:extLst>
          </p:cNvPr>
          <p:cNvSpPr txBox="1">
            <a:spLocks noChangeArrowheads="1"/>
          </p:cNvSpPr>
          <p:nvPr/>
        </p:nvSpPr>
        <p:spPr bwMode="auto">
          <a:xfrm>
            <a:off x="1295400" y="2895600"/>
            <a:ext cx="33528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rPr>
              <a:t>》a=[1 2 3;3 4 5];</a:t>
            </a:r>
          </a:p>
          <a:p>
            <a:pPr eaLnBrk="1" hangingPunct="1">
              <a:spcBef>
                <a:spcPct val="50000"/>
              </a:spcBef>
              <a:buClrTx/>
              <a:buSzTx/>
              <a:buFontTx/>
              <a:buNone/>
            </a:pPr>
            <a:r>
              <a:rPr kumimoji="1" lang="en-US" altLang="zh-CN" sz="2400">
                <a:latin typeface="Times New Roman" panose="02020603050405020304" pitchFamily="18" charset="0"/>
              </a:rPr>
              <a:t>》[m,n]=size(a)</a:t>
            </a:r>
          </a:p>
          <a:p>
            <a:pPr eaLnBrk="1" hangingPunct="1">
              <a:spcBef>
                <a:spcPct val="50000"/>
              </a:spcBef>
              <a:buClrTx/>
              <a:buSzTx/>
              <a:buFontTx/>
              <a:buNone/>
            </a:pPr>
            <a:r>
              <a:rPr kumimoji="1" lang="en-US" altLang="zh-CN" sz="2400">
                <a:latin typeface="Times New Roman" panose="02020603050405020304" pitchFamily="18" charset="0"/>
              </a:rPr>
              <a:t>m =     2</a:t>
            </a:r>
          </a:p>
          <a:p>
            <a:pPr eaLnBrk="1" hangingPunct="1">
              <a:spcBef>
                <a:spcPct val="50000"/>
              </a:spcBef>
              <a:buClrTx/>
              <a:buSzTx/>
              <a:buFontTx/>
              <a:buNone/>
            </a:pPr>
            <a:r>
              <a:rPr kumimoji="1" lang="en-US" altLang="zh-CN" sz="2400">
                <a:latin typeface="Times New Roman" panose="02020603050405020304" pitchFamily="18" charset="0"/>
              </a:rPr>
              <a:t>n =     3</a:t>
            </a:r>
          </a:p>
        </p:txBody>
      </p:sp>
      <p:sp>
        <p:nvSpPr>
          <p:cNvPr id="111620" name="Text Box 4">
            <a:extLst>
              <a:ext uri="{FF2B5EF4-FFF2-40B4-BE49-F238E27FC236}">
                <a16:creationId xmlns:a16="http://schemas.microsoft.com/office/drawing/2014/main" id="{A1401122-47AE-405D-A1E8-682141DAB049}"/>
              </a:ext>
            </a:extLst>
          </p:cNvPr>
          <p:cNvSpPr txBox="1">
            <a:spLocks noChangeArrowheads="1"/>
          </p:cNvSpPr>
          <p:nvPr/>
        </p:nvSpPr>
        <p:spPr bwMode="auto">
          <a:xfrm>
            <a:off x="1373188" y="5638800"/>
            <a:ext cx="639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t>3</a:t>
            </a:r>
            <a:r>
              <a:rPr kumimoji="1" lang="zh-CN" altLang="en-US" sz="2400"/>
              <a:t>、了解矩阵操作函数：</a:t>
            </a:r>
            <a:r>
              <a:rPr kumimoji="1" lang="en-US" altLang="zh-CN" sz="2400"/>
              <a:t>flipud</a:t>
            </a:r>
            <a:r>
              <a:rPr kumimoji="1" lang="zh-CN" altLang="en-US" sz="2400"/>
              <a:t>；</a:t>
            </a:r>
            <a:r>
              <a:rPr kumimoji="1" lang="en-US" altLang="zh-CN" sz="2400"/>
              <a:t>fliplr</a:t>
            </a:r>
            <a:r>
              <a:rPr kumimoji="1" lang="zh-CN" altLang="en-US" sz="2400"/>
              <a:t>；</a:t>
            </a:r>
            <a:r>
              <a:rPr kumimoji="1" lang="en-US" altLang="zh-CN" sz="2400"/>
              <a:t>rot90</a:t>
            </a:r>
            <a:endParaRPr kumimoji="1" lang="en-US" altLang="zh-CN" sz="2400">
              <a:latin typeface="Times New Roman" panose="02020603050405020304" pitchFamily="18" charset="0"/>
            </a:endParaRPr>
          </a:p>
        </p:txBody>
      </p:sp>
      <p:sp>
        <p:nvSpPr>
          <p:cNvPr id="111621" name="Text Box 5">
            <a:extLst>
              <a:ext uri="{FF2B5EF4-FFF2-40B4-BE49-F238E27FC236}">
                <a16:creationId xmlns:a16="http://schemas.microsoft.com/office/drawing/2014/main" id="{6BE49DEC-4E18-4ACD-B38C-6A4818825AA6}"/>
              </a:ext>
            </a:extLst>
          </p:cNvPr>
          <p:cNvSpPr txBox="1">
            <a:spLocks noChangeArrowheads="1"/>
          </p:cNvSpPr>
          <p:nvPr/>
        </p:nvSpPr>
        <p:spPr bwMode="auto">
          <a:xfrm>
            <a:off x="4305300" y="2924175"/>
            <a:ext cx="31242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rPr>
              <a:t>》length(a)</a:t>
            </a:r>
          </a:p>
          <a:p>
            <a:pPr eaLnBrk="1" hangingPunct="1">
              <a:spcBef>
                <a:spcPct val="50000"/>
              </a:spcBef>
              <a:buClrTx/>
              <a:buSzTx/>
              <a:buFontTx/>
              <a:buNone/>
            </a:pPr>
            <a:r>
              <a:rPr kumimoji="1" lang="en-US" altLang="zh-CN" sz="2400">
                <a:latin typeface="Times New Roman" panose="02020603050405020304" pitchFamily="18" charset="0"/>
              </a:rPr>
              <a:t>ans =     3</a:t>
            </a:r>
          </a:p>
          <a:p>
            <a:pPr eaLnBrk="1" hangingPunct="1">
              <a:spcBef>
                <a:spcPct val="50000"/>
              </a:spcBef>
              <a:buClrTx/>
              <a:buSzTx/>
              <a:buFontTx/>
              <a:buNone/>
            </a:pPr>
            <a:r>
              <a:rPr kumimoji="1" lang="en-US" altLang="zh-CN" sz="2400">
                <a:latin typeface="Times New Roman" panose="02020603050405020304" pitchFamily="18" charset="0"/>
              </a:rPr>
              <a:t>》max(size(a))</a:t>
            </a:r>
          </a:p>
          <a:p>
            <a:pPr eaLnBrk="1" hangingPunct="1">
              <a:spcBef>
                <a:spcPct val="50000"/>
              </a:spcBef>
              <a:buClrTx/>
              <a:buSzTx/>
              <a:buFontTx/>
              <a:buNone/>
            </a:pPr>
            <a:r>
              <a:rPr kumimoji="1" lang="en-US" altLang="zh-CN" sz="2400">
                <a:latin typeface="Times New Roman" panose="02020603050405020304" pitchFamily="18" charset="0"/>
              </a:rPr>
              <a:t>ans =     3</a:t>
            </a:r>
          </a:p>
        </p:txBody>
      </p:sp>
      <p:sp>
        <p:nvSpPr>
          <p:cNvPr id="111622" name="Text Box 6">
            <a:extLst>
              <a:ext uri="{FF2B5EF4-FFF2-40B4-BE49-F238E27FC236}">
                <a16:creationId xmlns:a16="http://schemas.microsoft.com/office/drawing/2014/main" id="{715D534E-48BA-4A8F-BCE5-A0452D0C944D}"/>
              </a:ext>
            </a:extLst>
          </p:cNvPr>
          <p:cNvSpPr txBox="1">
            <a:spLocks noChangeArrowheads="1"/>
          </p:cNvSpPr>
          <p:nvPr/>
        </p:nvSpPr>
        <p:spPr bwMode="auto">
          <a:xfrm>
            <a:off x="7400925" y="2924175"/>
            <a:ext cx="20558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Times New Roman" panose="02020603050405020304" pitchFamily="18" charset="0"/>
              </a:rPr>
              <a:t>》rank(a)</a:t>
            </a:r>
          </a:p>
          <a:p>
            <a:pPr eaLnBrk="1" hangingPunct="1">
              <a:spcBef>
                <a:spcPct val="50000"/>
              </a:spcBef>
              <a:buClrTx/>
              <a:buSzTx/>
              <a:buFontTx/>
              <a:buNone/>
            </a:pPr>
            <a:r>
              <a:rPr kumimoji="1" lang="en-US" altLang="zh-CN" sz="2400">
                <a:latin typeface="Times New Roman" panose="02020603050405020304" pitchFamily="18" charset="0"/>
              </a:rPr>
              <a:t>ans =</a:t>
            </a:r>
          </a:p>
          <a:p>
            <a:pPr eaLnBrk="1" hangingPunct="1">
              <a:spcBef>
                <a:spcPct val="50000"/>
              </a:spcBef>
              <a:buClrTx/>
              <a:buSzTx/>
              <a:buFontTx/>
              <a:buNone/>
            </a:pPr>
            <a:r>
              <a:rPr kumimoji="1" lang="en-US" altLang="zh-CN" sz="2400">
                <a:latin typeface="Times New Roman" panose="02020603050405020304" pitchFamily="18" charset="0"/>
              </a:rPr>
              <a:t>     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1618">
                                            <p:txEl>
                                              <p:pRg st="0" end="0"/>
                                            </p:txEl>
                                          </p:spTgt>
                                        </p:tgtEl>
                                        <p:attrNameLst>
                                          <p:attrName>style.visibility</p:attrName>
                                        </p:attrNameLst>
                                      </p:cBhvr>
                                      <p:to>
                                        <p:strVal val="visible"/>
                                      </p:to>
                                    </p:set>
                                    <p:animEffect transition="in" filter="box(out)">
                                      <p:cBhvr>
                                        <p:cTn id="7" dur="500"/>
                                        <p:tgtEl>
                                          <p:spTgt spid="1116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1618">
                                            <p:txEl>
                                              <p:pRg st="1" end="1"/>
                                            </p:txEl>
                                          </p:spTgt>
                                        </p:tgtEl>
                                        <p:attrNameLst>
                                          <p:attrName>style.visibility</p:attrName>
                                        </p:attrNameLst>
                                      </p:cBhvr>
                                      <p:to>
                                        <p:strVal val="visible"/>
                                      </p:to>
                                    </p:set>
                                    <p:animEffect transition="in" filter="box(out)">
                                      <p:cBhvr>
                                        <p:cTn id="12" dur="500"/>
                                        <p:tgtEl>
                                          <p:spTgt spid="11161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1618">
                                            <p:txEl>
                                              <p:pRg st="2" end="2"/>
                                            </p:txEl>
                                          </p:spTgt>
                                        </p:tgtEl>
                                        <p:attrNameLst>
                                          <p:attrName>style.visibility</p:attrName>
                                        </p:attrNameLst>
                                      </p:cBhvr>
                                      <p:to>
                                        <p:strVal val="visible"/>
                                      </p:to>
                                    </p:set>
                                    <p:animEffect transition="in" filter="box(out)">
                                      <p:cBhvr>
                                        <p:cTn id="17" dur="500"/>
                                        <p:tgtEl>
                                          <p:spTgt spid="11161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1618">
                                            <p:txEl>
                                              <p:pRg st="3" end="3"/>
                                            </p:txEl>
                                          </p:spTgt>
                                        </p:tgtEl>
                                        <p:attrNameLst>
                                          <p:attrName>style.visibility</p:attrName>
                                        </p:attrNameLst>
                                      </p:cBhvr>
                                      <p:to>
                                        <p:strVal val="visible"/>
                                      </p:to>
                                    </p:set>
                                    <p:animEffect transition="in" filter="box(out)">
                                      <p:cBhvr>
                                        <p:cTn id="22" dur="500"/>
                                        <p:tgtEl>
                                          <p:spTgt spid="11161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1619"/>
                                        </p:tgtEl>
                                        <p:attrNameLst>
                                          <p:attrName>style.visibility</p:attrName>
                                        </p:attrNameLst>
                                      </p:cBhvr>
                                      <p:to>
                                        <p:strVal val="visible"/>
                                      </p:to>
                                    </p:set>
                                    <p:animEffect transition="in" filter="checkerboard(across)">
                                      <p:cBhvr>
                                        <p:cTn id="27" dur="500"/>
                                        <p:tgtEl>
                                          <p:spTgt spid="1116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11621"/>
                                        </p:tgtEl>
                                        <p:attrNameLst>
                                          <p:attrName>style.visibility</p:attrName>
                                        </p:attrNameLst>
                                      </p:cBhvr>
                                      <p:to>
                                        <p:strVal val="visible"/>
                                      </p:to>
                                    </p:set>
                                    <p:animEffect transition="in" filter="box(in)">
                                      <p:cBhvr>
                                        <p:cTn id="32" dur="500"/>
                                        <p:tgtEl>
                                          <p:spTgt spid="1116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1622"/>
                                        </p:tgtEl>
                                        <p:attrNameLst>
                                          <p:attrName>style.visibility</p:attrName>
                                        </p:attrNameLst>
                                      </p:cBhvr>
                                      <p:to>
                                        <p:strVal val="visible"/>
                                      </p:to>
                                    </p:set>
                                    <p:animEffect transition="in" filter="blinds(horizontal)">
                                      <p:cBhvr>
                                        <p:cTn id="37" dur="500"/>
                                        <p:tgtEl>
                                          <p:spTgt spid="1116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11620"/>
                                        </p:tgtEl>
                                        <p:attrNameLst>
                                          <p:attrName>style.visibility</p:attrName>
                                        </p:attrNameLst>
                                      </p:cBhvr>
                                      <p:to>
                                        <p:strVal val="visible"/>
                                      </p:to>
                                    </p:set>
                                    <p:anim calcmode="lin" valueType="num">
                                      <p:cBhvr additive="base">
                                        <p:cTn id="42" dur="500" fill="hold"/>
                                        <p:tgtEl>
                                          <p:spTgt spid="111620"/>
                                        </p:tgtEl>
                                        <p:attrNameLst>
                                          <p:attrName>ppt_x</p:attrName>
                                        </p:attrNameLst>
                                      </p:cBhvr>
                                      <p:tavLst>
                                        <p:tav tm="0">
                                          <p:val>
                                            <p:strVal val="0-#ppt_w/2"/>
                                          </p:val>
                                        </p:tav>
                                        <p:tav tm="100000">
                                          <p:val>
                                            <p:strVal val="#ppt_x"/>
                                          </p:val>
                                        </p:tav>
                                      </p:tavLst>
                                    </p:anim>
                                    <p:anim calcmode="lin" valueType="num">
                                      <p:cBhvr additive="base">
                                        <p:cTn id="43" dur="500" fill="hold"/>
                                        <p:tgtEl>
                                          <p:spTgt spid="1116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build="p" autoUpdateAnimBg="0"/>
      <p:bldP spid="111619" grpId="0" autoUpdateAnimBg="0"/>
      <p:bldP spid="111620" grpId="0" autoUpdateAnimBg="0"/>
      <p:bldP spid="111621" grpId="0" autoUpdateAnimBg="0"/>
      <p:bldP spid="11162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5">
            <a:extLst>
              <a:ext uri="{FF2B5EF4-FFF2-40B4-BE49-F238E27FC236}">
                <a16:creationId xmlns:a16="http://schemas.microsoft.com/office/drawing/2014/main" id="{5683C1F5-8389-4A3E-BA27-08D79E81CB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6DF1B2-3179-4F9B-9074-E5A1790C9E4C}" type="slidenum">
              <a:rPr lang="en-US" altLang="zh-CN" smtClean="0">
                <a:latin typeface="Garamond" panose="02020404030301010803" pitchFamily="18" charset="0"/>
              </a:rPr>
              <a:pPr/>
              <a:t>26</a:t>
            </a:fld>
            <a:endParaRPr lang="en-US" altLang="zh-CN">
              <a:latin typeface="Garamond" panose="02020404030301010803" pitchFamily="18" charset="0"/>
            </a:endParaRPr>
          </a:p>
        </p:txBody>
      </p:sp>
      <p:sp>
        <p:nvSpPr>
          <p:cNvPr id="123906" name="Rectangle 1026">
            <a:extLst>
              <a:ext uri="{FF2B5EF4-FFF2-40B4-BE49-F238E27FC236}">
                <a16:creationId xmlns:a16="http://schemas.microsoft.com/office/drawing/2014/main" id="{2B0AF4E7-F83C-47EB-96B8-4F2386008F16}"/>
              </a:ext>
            </a:extLst>
          </p:cNvPr>
          <p:cNvSpPr>
            <a:spLocks noGrp="1" noChangeArrowheads="1"/>
          </p:cNvSpPr>
          <p:nvPr>
            <p:ph type="body" idx="1"/>
          </p:nvPr>
        </p:nvSpPr>
        <p:spPr>
          <a:xfrm>
            <a:off x="1373188" y="1830388"/>
            <a:ext cx="7810500" cy="2133600"/>
          </a:xfrm>
        </p:spPr>
        <p:txBody>
          <a:bodyPr/>
          <a:lstStyle/>
          <a:p>
            <a:pPr eaLnBrk="1" hangingPunct="1"/>
            <a:r>
              <a:rPr lang="zh-CN" altLang="en-US" sz="2400"/>
              <a:t>在</a:t>
            </a:r>
            <a:r>
              <a:rPr lang="en-US" altLang="zh-CN" sz="2400"/>
              <a:t>MATLAB</a:t>
            </a:r>
            <a:r>
              <a:rPr lang="zh-CN" altLang="en-US" sz="2400"/>
              <a:t>中，多项式使用降幂系数的行向量表示，如：多项式</a:t>
            </a:r>
          </a:p>
          <a:p>
            <a:pPr eaLnBrk="1" hangingPunct="1"/>
            <a:endParaRPr lang="en-US" altLang="zh-CN" sz="2100"/>
          </a:p>
        </p:txBody>
      </p:sp>
      <p:graphicFrame>
        <p:nvGraphicFramePr>
          <p:cNvPr id="123907" name="Object 1027">
            <a:extLst>
              <a:ext uri="{FF2B5EF4-FFF2-40B4-BE49-F238E27FC236}">
                <a16:creationId xmlns:a16="http://schemas.microsoft.com/office/drawing/2014/main" id="{D1BC5C20-39B1-4D15-8F0F-42975942BDDE}"/>
              </a:ext>
            </a:extLst>
          </p:cNvPr>
          <p:cNvGraphicFramePr>
            <a:graphicFrameLocks noChangeAspect="1"/>
          </p:cNvGraphicFramePr>
          <p:nvPr/>
        </p:nvGraphicFramePr>
        <p:xfrm>
          <a:off x="3492500" y="2209800"/>
          <a:ext cx="3981450" cy="468313"/>
        </p:xfrm>
        <a:graphic>
          <a:graphicData uri="http://schemas.openxmlformats.org/presentationml/2006/ole">
            <mc:AlternateContent xmlns:mc="http://schemas.openxmlformats.org/markup-compatibility/2006">
              <mc:Choice xmlns:v="urn:schemas-microsoft-com:vml" Requires="v">
                <p:oleObj spid="_x0000_s40985" name="公式" r:id="rId4" imgW="1714500" imgH="203200" progId="Equation.3">
                  <p:embed/>
                </p:oleObj>
              </mc:Choice>
              <mc:Fallback>
                <p:oleObj name="公式" r:id="rId4" imgW="1714500" imgH="203200" progId="Equation.3">
                  <p:embed/>
                  <p:pic>
                    <p:nvPicPr>
                      <p:cNvPr id="0" name="Object 10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2209800"/>
                        <a:ext cx="398145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08" name="Text Box 1028">
            <a:extLst>
              <a:ext uri="{FF2B5EF4-FFF2-40B4-BE49-F238E27FC236}">
                <a16:creationId xmlns:a16="http://schemas.microsoft.com/office/drawing/2014/main" id="{D98E4F75-DB3C-41C9-B10F-5E62B7F1172A}"/>
              </a:ext>
            </a:extLst>
          </p:cNvPr>
          <p:cNvSpPr txBox="1">
            <a:spLocks noChangeArrowheads="1"/>
          </p:cNvSpPr>
          <p:nvPr/>
        </p:nvSpPr>
        <p:spPr bwMode="auto">
          <a:xfrm>
            <a:off x="4953000" y="3886200"/>
            <a:ext cx="3962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rPr>
              <a:t>p=poly(r)</a:t>
            </a:r>
          </a:p>
          <a:p>
            <a:pPr eaLnBrk="1" hangingPunct="1"/>
            <a:r>
              <a:rPr kumimoji="1" lang="en-US" altLang="zh-CN" sz="2400" dirty="0">
                <a:latin typeface="Times New Roman" panose="02020603050405020304" pitchFamily="18" charset="0"/>
              </a:rPr>
              <a:t>p =</a:t>
            </a:r>
          </a:p>
          <a:p>
            <a:pPr eaLnBrk="1" hangingPunct="1"/>
            <a:r>
              <a:rPr kumimoji="1" lang="en-US" altLang="zh-CN" sz="2400" dirty="0">
                <a:latin typeface="Times New Roman" panose="02020603050405020304" pitchFamily="18" charset="0"/>
              </a:rPr>
              <a:t>    1  -12   -0   25  116</a:t>
            </a:r>
          </a:p>
        </p:txBody>
      </p:sp>
      <p:sp>
        <p:nvSpPr>
          <p:cNvPr id="123909" name="Text Box 1029">
            <a:extLst>
              <a:ext uri="{FF2B5EF4-FFF2-40B4-BE49-F238E27FC236}">
                <a16:creationId xmlns:a16="http://schemas.microsoft.com/office/drawing/2014/main" id="{805230CA-86F5-4C7C-BDEC-0F45CD071394}"/>
              </a:ext>
            </a:extLst>
          </p:cNvPr>
          <p:cNvSpPr txBox="1">
            <a:spLocks noChangeArrowheads="1"/>
          </p:cNvSpPr>
          <p:nvPr/>
        </p:nvSpPr>
        <p:spPr bwMode="auto">
          <a:xfrm>
            <a:off x="1373188" y="685800"/>
            <a:ext cx="4113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a:solidFill>
                  <a:schemeClr val="tx2"/>
                </a:solidFill>
                <a:latin typeface="Impact" panose="020B0806030902050204" pitchFamily="34" charset="0"/>
              </a:rPr>
              <a:t>四、多项式处理</a:t>
            </a:r>
          </a:p>
        </p:txBody>
      </p:sp>
      <p:sp>
        <p:nvSpPr>
          <p:cNvPr id="123910" name="Text Box 1030">
            <a:extLst>
              <a:ext uri="{FF2B5EF4-FFF2-40B4-BE49-F238E27FC236}">
                <a16:creationId xmlns:a16="http://schemas.microsoft.com/office/drawing/2014/main" id="{16687767-CC73-4B64-9DF4-E067385C3261}"/>
              </a:ext>
            </a:extLst>
          </p:cNvPr>
          <p:cNvSpPr txBox="1">
            <a:spLocks noChangeArrowheads="1"/>
          </p:cNvSpPr>
          <p:nvPr/>
        </p:nvSpPr>
        <p:spPr bwMode="auto">
          <a:xfrm>
            <a:off x="1295400" y="1295400"/>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Impact" panose="020B0806030902050204" pitchFamily="34" charset="0"/>
              </a:rPr>
              <a:t>（</a:t>
            </a:r>
            <a:r>
              <a:rPr kumimoji="1" lang="en-US" altLang="zh-CN" sz="2400">
                <a:latin typeface="Impact" panose="020B0806030902050204" pitchFamily="34" charset="0"/>
              </a:rPr>
              <a:t>1</a:t>
            </a:r>
            <a:r>
              <a:rPr kumimoji="1" lang="zh-CN" altLang="en-US" sz="2400">
                <a:latin typeface="Impact" panose="020B0806030902050204" pitchFamily="34" charset="0"/>
              </a:rPr>
              <a:t>）多项式的建立与表示方法</a:t>
            </a:r>
          </a:p>
        </p:txBody>
      </p:sp>
      <p:sp>
        <p:nvSpPr>
          <p:cNvPr id="123911" name="Text Box 1031">
            <a:extLst>
              <a:ext uri="{FF2B5EF4-FFF2-40B4-BE49-F238E27FC236}">
                <a16:creationId xmlns:a16="http://schemas.microsoft.com/office/drawing/2014/main" id="{3829458F-5D05-46DD-B114-9F6A58F07B7E}"/>
              </a:ext>
            </a:extLst>
          </p:cNvPr>
          <p:cNvSpPr txBox="1">
            <a:spLocks noChangeArrowheads="1"/>
          </p:cNvSpPr>
          <p:nvPr/>
        </p:nvSpPr>
        <p:spPr bwMode="auto">
          <a:xfrm>
            <a:off x="1639888" y="3860800"/>
            <a:ext cx="32766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400" dirty="0">
                <a:latin typeface="Times New Roman" panose="02020603050405020304" pitchFamily="18" charset="0"/>
              </a:rPr>
              <a:t>r=roots(p)</a:t>
            </a:r>
          </a:p>
          <a:p>
            <a:pPr eaLnBrk="1" hangingPunct="1">
              <a:spcBef>
                <a:spcPct val="20000"/>
              </a:spcBef>
            </a:pPr>
            <a:r>
              <a:rPr kumimoji="1" lang="en-US" altLang="zh-CN" sz="2400" dirty="0">
                <a:latin typeface="Times New Roman" panose="02020603050405020304" pitchFamily="18" charset="0"/>
              </a:rPr>
              <a:t>r =</a:t>
            </a:r>
          </a:p>
          <a:p>
            <a:pPr eaLnBrk="1" hangingPunct="1">
              <a:spcBef>
                <a:spcPct val="20000"/>
              </a:spcBef>
            </a:pPr>
            <a:r>
              <a:rPr kumimoji="1" lang="en-US" altLang="zh-CN" sz="2400" dirty="0">
                <a:latin typeface="Times New Roman" panose="02020603050405020304" pitchFamily="18" charset="0"/>
              </a:rPr>
              <a:t>  11.7473          </a:t>
            </a:r>
          </a:p>
          <a:p>
            <a:pPr eaLnBrk="1" hangingPunct="1">
              <a:spcBef>
                <a:spcPct val="20000"/>
              </a:spcBef>
            </a:pPr>
            <a:r>
              <a:rPr kumimoji="1" lang="en-US" altLang="zh-CN" sz="2400" dirty="0">
                <a:latin typeface="Times New Roman" panose="02020603050405020304" pitchFamily="18" charset="0"/>
              </a:rPr>
              <a:t>   2.7028          </a:t>
            </a:r>
          </a:p>
          <a:p>
            <a:pPr eaLnBrk="1" hangingPunct="1">
              <a:spcBef>
                <a:spcPct val="20000"/>
              </a:spcBef>
            </a:pPr>
            <a:r>
              <a:rPr kumimoji="1" lang="en-US" altLang="zh-CN" sz="2400" dirty="0">
                <a:latin typeface="Times New Roman" panose="02020603050405020304" pitchFamily="18" charset="0"/>
              </a:rPr>
              <a:t>  -1.2251 + 1.4672i</a:t>
            </a:r>
          </a:p>
          <a:p>
            <a:pPr eaLnBrk="1" hangingPunct="1">
              <a:spcBef>
                <a:spcPct val="20000"/>
              </a:spcBef>
            </a:pPr>
            <a:r>
              <a:rPr kumimoji="1" lang="en-US" altLang="zh-CN" sz="2400" dirty="0">
                <a:latin typeface="Times New Roman" panose="02020603050405020304" pitchFamily="18" charset="0"/>
              </a:rPr>
              <a:t>  -1.2251 - 1.4672i</a:t>
            </a:r>
          </a:p>
        </p:txBody>
      </p:sp>
      <p:sp>
        <p:nvSpPr>
          <p:cNvPr id="123912" name="Text Box 1032">
            <a:extLst>
              <a:ext uri="{FF2B5EF4-FFF2-40B4-BE49-F238E27FC236}">
                <a16:creationId xmlns:a16="http://schemas.microsoft.com/office/drawing/2014/main" id="{9604FEC6-D1D1-4AE5-B8F3-DAA61C7C52E1}"/>
              </a:ext>
            </a:extLst>
          </p:cNvPr>
          <p:cNvSpPr txBox="1">
            <a:spLocks noChangeArrowheads="1"/>
          </p:cNvSpPr>
          <p:nvPr/>
        </p:nvSpPr>
        <p:spPr bwMode="auto">
          <a:xfrm>
            <a:off x="1219200" y="2667000"/>
            <a:ext cx="7467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50000"/>
              </a:spcBef>
            </a:pPr>
            <a:r>
              <a:rPr kumimoji="1" lang="zh-CN" altLang="en-US" sz="2400" dirty="0">
                <a:latin typeface="Impact" panose="020B0806030902050204" pitchFamily="34" charset="0"/>
              </a:rPr>
              <a:t>表示为：</a:t>
            </a:r>
            <a:r>
              <a:rPr kumimoji="1" lang="en-US" altLang="zh-CN" sz="2400" dirty="0"/>
              <a:t>p=[1 -12 0 25 116]</a:t>
            </a:r>
            <a:r>
              <a:rPr kumimoji="1" lang="zh-CN" altLang="en-US" sz="2400" dirty="0"/>
              <a:t>，使用函数</a:t>
            </a:r>
            <a:r>
              <a:rPr kumimoji="1" lang="en-US" altLang="zh-CN" sz="2400" dirty="0"/>
              <a:t>roots</a:t>
            </a:r>
            <a:r>
              <a:rPr kumimoji="1" lang="zh-CN" altLang="en-US" sz="2400" dirty="0"/>
              <a:t>可以求出多项式等于</a:t>
            </a:r>
            <a:r>
              <a:rPr kumimoji="1" lang="en-US" altLang="zh-CN" sz="2400" dirty="0"/>
              <a:t>0</a:t>
            </a:r>
            <a:r>
              <a:rPr kumimoji="1" lang="zh-CN" altLang="en-US" sz="2400" dirty="0"/>
              <a:t>的根，根用列向量表示。若已知多项式等于</a:t>
            </a:r>
            <a:r>
              <a:rPr kumimoji="1" lang="en-US" altLang="zh-CN" sz="2400" dirty="0"/>
              <a:t>0</a:t>
            </a:r>
            <a:r>
              <a:rPr kumimoji="1" lang="zh-CN" altLang="en-US" sz="2400" dirty="0"/>
              <a:t>的根，函数</a:t>
            </a:r>
            <a:r>
              <a:rPr kumimoji="1" lang="en-US" altLang="zh-CN" sz="2400" dirty="0"/>
              <a:t>poly</a:t>
            </a:r>
            <a:r>
              <a:rPr kumimoji="1" lang="zh-CN" altLang="en-US" sz="2400" dirty="0"/>
              <a:t>可以求出相应多项式。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6" fill="hold" grpId="0" nodeType="clickEffect">
                                  <p:stCondLst>
                                    <p:cond delay="0"/>
                                  </p:stCondLst>
                                  <p:childTnLst>
                                    <p:set>
                                      <p:cBhvr>
                                        <p:cTn id="10" dur="1" fill="hold">
                                          <p:stCondLst>
                                            <p:cond delay="0"/>
                                          </p:stCondLst>
                                        </p:cTn>
                                        <p:tgtEl>
                                          <p:spTgt spid="123910"/>
                                        </p:tgtEl>
                                        <p:attrNameLst>
                                          <p:attrName>style.visibility</p:attrName>
                                        </p:attrNameLst>
                                      </p:cBhvr>
                                      <p:to>
                                        <p:strVal val="visible"/>
                                      </p:to>
                                    </p:set>
                                    <p:animEffect transition="in" filter="barn(inHorizontal)">
                                      <p:cBhvr>
                                        <p:cTn id="11" dur="500"/>
                                        <p:tgtEl>
                                          <p:spTgt spid="1239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3906">
                                            <p:txEl>
                                              <p:pRg st="0" end="0"/>
                                            </p:txEl>
                                          </p:spTgt>
                                        </p:tgtEl>
                                        <p:attrNameLst>
                                          <p:attrName>style.visibility</p:attrName>
                                        </p:attrNameLst>
                                      </p:cBhvr>
                                      <p:to>
                                        <p:strVal val="visible"/>
                                      </p:to>
                                    </p:set>
                                    <p:animEffect transition="in" filter="dissolve">
                                      <p:cBhvr>
                                        <p:cTn id="16" dur="500"/>
                                        <p:tgtEl>
                                          <p:spTgt spid="123906">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123907"/>
                                        </p:tgtEl>
                                        <p:attrNameLst>
                                          <p:attrName>style.visibility</p:attrName>
                                        </p:attrNameLst>
                                      </p:cBhvr>
                                      <p:to>
                                        <p:strVal val="visible"/>
                                      </p:to>
                                    </p:set>
                                    <p:anim calcmode="lin" valueType="num">
                                      <p:cBhvr additive="base">
                                        <p:cTn id="21" dur="500" fill="hold"/>
                                        <p:tgtEl>
                                          <p:spTgt spid="123907"/>
                                        </p:tgtEl>
                                        <p:attrNameLst>
                                          <p:attrName>ppt_x</p:attrName>
                                        </p:attrNameLst>
                                      </p:cBhvr>
                                      <p:tavLst>
                                        <p:tav tm="0">
                                          <p:val>
                                            <p:strVal val="0-#ppt_w/2"/>
                                          </p:val>
                                        </p:tav>
                                        <p:tav tm="100000">
                                          <p:val>
                                            <p:strVal val="#ppt_x"/>
                                          </p:val>
                                        </p:tav>
                                      </p:tavLst>
                                    </p:anim>
                                    <p:anim calcmode="lin" valueType="num">
                                      <p:cBhvr additive="base">
                                        <p:cTn id="22" dur="500" fill="hold"/>
                                        <p:tgtEl>
                                          <p:spTgt spid="123907"/>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23912"/>
                                        </p:tgtEl>
                                        <p:attrNameLst>
                                          <p:attrName>style.visibility</p:attrName>
                                        </p:attrNameLst>
                                      </p:cBhvr>
                                      <p:to>
                                        <p:strVal val="visible"/>
                                      </p:to>
                                    </p:set>
                                    <p:anim calcmode="lin" valueType="num">
                                      <p:cBhvr additive="base">
                                        <p:cTn id="27" dur="500" fill="hold"/>
                                        <p:tgtEl>
                                          <p:spTgt spid="123912"/>
                                        </p:tgtEl>
                                        <p:attrNameLst>
                                          <p:attrName>ppt_x</p:attrName>
                                        </p:attrNameLst>
                                      </p:cBhvr>
                                      <p:tavLst>
                                        <p:tav tm="0">
                                          <p:val>
                                            <p:strVal val="0-#ppt_w/2"/>
                                          </p:val>
                                        </p:tav>
                                        <p:tav tm="100000">
                                          <p:val>
                                            <p:strVal val="#ppt_x"/>
                                          </p:val>
                                        </p:tav>
                                      </p:tavLst>
                                    </p:anim>
                                    <p:anim calcmode="lin" valueType="num">
                                      <p:cBhvr additive="base">
                                        <p:cTn id="28" dur="500" fill="hold"/>
                                        <p:tgtEl>
                                          <p:spTgt spid="123912"/>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23911"/>
                                        </p:tgtEl>
                                        <p:attrNameLst>
                                          <p:attrName>style.visibility</p:attrName>
                                        </p:attrNameLst>
                                      </p:cBhvr>
                                      <p:to>
                                        <p:strVal val="visible"/>
                                      </p:to>
                                    </p:set>
                                    <p:animEffect transition="in" filter="checkerboard(across)">
                                      <p:cBhvr>
                                        <p:cTn id="33" dur="500"/>
                                        <p:tgtEl>
                                          <p:spTgt spid="12391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123908"/>
                                        </p:tgtEl>
                                        <p:attrNameLst>
                                          <p:attrName>style.visibility</p:attrName>
                                        </p:attrNameLst>
                                      </p:cBhvr>
                                      <p:to>
                                        <p:strVal val="visible"/>
                                      </p:to>
                                    </p:set>
                                    <p:animEffect transition="in" filter="barn(outHorizontal)">
                                      <p:cBhvr>
                                        <p:cTn id="38" dur="500"/>
                                        <p:tgtEl>
                                          <p:spTgt spid="12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uild="p" autoUpdateAnimBg="0"/>
      <p:bldP spid="123908" grpId="0" autoUpdateAnimBg="0"/>
      <p:bldP spid="123909" grpId="0" autoUpdateAnimBg="0"/>
      <p:bldP spid="123910" grpId="0" autoUpdateAnimBg="0"/>
      <p:bldP spid="123911" grpId="0" autoUpdateAnimBg="0"/>
      <p:bldP spid="123912"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FB643E47-97C2-470E-B89C-50F8D504DF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7FF7926-BA1D-4456-A48B-7E1C965E30D4}" type="slidenum">
              <a:rPr lang="en-US" altLang="zh-CN" smtClean="0">
                <a:latin typeface="Garamond" panose="02020404030301010803" pitchFamily="18" charset="0"/>
              </a:rPr>
              <a:pPr/>
              <a:t>27</a:t>
            </a:fld>
            <a:endParaRPr lang="en-US" altLang="zh-CN">
              <a:latin typeface="Garamond" panose="02020404030301010803" pitchFamily="18" charset="0"/>
            </a:endParaRPr>
          </a:p>
        </p:txBody>
      </p:sp>
      <p:sp>
        <p:nvSpPr>
          <p:cNvPr id="124930" name="Rectangle 1026">
            <a:extLst>
              <a:ext uri="{FF2B5EF4-FFF2-40B4-BE49-F238E27FC236}">
                <a16:creationId xmlns:a16="http://schemas.microsoft.com/office/drawing/2014/main" id="{64E9E446-D2F9-4491-8CFB-4DF20A4B6098}"/>
              </a:ext>
            </a:extLst>
          </p:cNvPr>
          <p:cNvSpPr>
            <a:spLocks noGrp="1" noChangeArrowheads="1"/>
          </p:cNvSpPr>
          <p:nvPr>
            <p:ph type="body" idx="1"/>
          </p:nvPr>
        </p:nvSpPr>
        <p:spPr>
          <a:xfrm>
            <a:off x="1143000" y="609600"/>
            <a:ext cx="4038600" cy="685800"/>
          </a:xfrm>
        </p:spPr>
        <p:txBody>
          <a:bodyPr/>
          <a:lstStyle/>
          <a:p>
            <a:pPr eaLnBrk="1" hangingPunct="1">
              <a:buFont typeface="Wingdings" panose="05000000000000000000" pitchFamily="2" charset="2"/>
              <a:buNone/>
            </a:pPr>
            <a:r>
              <a:rPr lang="zh-CN" altLang="en-US" sz="2100"/>
              <a:t>（</a:t>
            </a:r>
            <a:r>
              <a:rPr lang="en-US" altLang="zh-CN" sz="2100"/>
              <a:t>2</a:t>
            </a:r>
            <a:r>
              <a:rPr lang="zh-CN" altLang="en-US" sz="2100"/>
              <a:t>）多项式的运算</a:t>
            </a:r>
          </a:p>
          <a:p>
            <a:pPr eaLnBrk="1" hangingPunct="1"/>
            <a:endParaRPr lang="en-US" altLang="zh-CN" sz="2100">
              <a:latin typeface="Times New Roman" panose="02020603050405020304" pitchFamily="18" charset="0"/>
            </a:endParaRPr>
          </a:p>
        </p:txBody>
      </p:sp>
      <p:sp>
        <p:nvSpPr>
          <p:cNvPr id="124931" name="Text Box 1027">
            <a:extLst>
              <a:ext uri="{FF2B5EF4-FFF2-40B4-BE49-F238E27FC236}">
                <a16:creationId xmlns:a16="http://schemas.microsoft.com/office/drawing/2014/main" id="{C6A92281-DB2E-40B5-9DCA-6B6A559F9241}"/>
              </a:ext>
            </a:extLst>
          </p:cNvPr>
          <p:cNvSpPr txBox="1">
            <a:spLocks noChangeArrowheads="1"/>
          </p:cNvSpPr>
          <p:nvPr/>
        </p:nvSpPr>
        <p:spPr bwMode="auto">
          <a:xfrm>
            <a:off x="1257300" y="1143000"/>
            <a:ext cx="7391400"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kumimoji="1" lang="zh-CN" altLang="en-US" sz="2400">
                <a:latin typeface="Impact" panose="020B0806030902050204" pitchFamily="34" charset="0"/>
              </a:rPr>
              <a:t>相乘</a:t>
            </a:r>
            <a:r>
              <a:rPr kumimoji="1" lang="en-US" altLang="zh-CN" sz="2400"/>
              <a:t>conv</a:t>
            </a:r>
          </a:p>
          <a:p>
            <a:pPr eaLnBrk="1" hangingPunct="1">
              <a:spcBef>
                <a:spcPct val="20000"/>
              </a:spcBef>
            </a:pPr>
            <a:r>
              <a:rPr kumimoji="1" lang="en-US" altLang="zh-CN" sz="2400">
                <a:latin typeface="Times New Roman" panose="02020603050405020304" pitchFamily="18" charset="0"/>
              </a:rPr>
              <a:t>a=[1 2 3] ; b=[1 2]    c=conv(a,b)=1 4 7 6</a:t>
            </a:r>
          </a:p>
          <a:p>
            <a:pPr eaLnBrk="1" hangingPunct="1">
              <a:spcBef>
                <a:spcPct val="20000"/>
              </a:spcBef>
            </a:pPr>
            <a:r>
              <a:rPr kumimoji="1" lang="en-US" altLang="zh-CN" sz="2400"/>
              <a:t>conv</a:t>
            </a:r>
            <a:r>
              <a:rPr kumimoji="1" lang="zh-CN" altLang="en-US" sz="2400">
                <a:latin typeface="Times New Roman" panose="02020603050405020304" pitchFamily="18" charset="0"/>
              </a:rPr>
              <a:t>指令可以嵌套使用，如</a:t>
            </a:r>
            <a:r>
              <a:rPr kumimoji="1" lang="en-US" altLang="zh-CN" sz="2400"/>
              <a:t>conv(conv(a,b),c)</a:t>
            </a:r>
            <a:endParaRPr kumimoji="1" lang="en-US" altLang="zh-CN" sz="2400">
              <a:latin typeface="Times New Roman" panose="02020603050405020304" pitchFamily="18" charset="0"/>
            </a:endParaRPr>
          </a:p>
          <a:p>
            <a:pPr eaLnBrk="1" hangingPunct="1">
              <a:spcBef>
                <a:spcPct val="20000"/>
              </a:spcBef>
              <a:buFontTx/>
              <a:buChar char="•"/>
            </a:pPr>
            <a:r>
              <a:rPr kumimoji="1" lang="zh-CN" altLang="en-US" sz="2400">
                <a:latin typeface="Times New Roman" panose="02020603050405020304" pitchFamily="18" charset="0"/>
              </a:rPr>
              <a:t>相除</a:t>
            </a:r>
            <a:r>
              <a:rPr kumimoji="1" lang="en-US" altLang="zh-CN" sz="2400"/>
              <a:t>deconv</a:t>
            </a:r>
          </a:p>
          <a:p>
            <a:pPr eaLnBrk="1" hangingPunct="1">
              <a:spcBef>
                <a:spcPct val="20000"/>
              </a:spcBef>
            </a:pPr>
            <a:r>
              <a:rPr kumimoji="1" lang="en-US" altLang="zh-CN" sz="2400"/>
              <a:t>[q,r]=deconv(c,b)</a:t>
            </a:r>
          </a:p>
          <a:p>
            <a:pPr eaLnBrk="1" hangingPunct="1">
              <a:spcBef>
                <a:spcPct val="20000"/>
              </a:spcBef>
            </a:pPr>
            <a:r>
              <a:rPr kumimoji="1" lang="en-US" altLang="zh-CN" sz="2400"/>
              <a:t>q=1 2 3      </a:t>
            </a:r>
            <a:r>
              <a:rPr kumimoji="1" lang="zh-CN" altLang="en-US" sz="2400"/>
              <a:t>％商多项式</a:t>
            </a:r>
          </a:p>
          <a:p>
            <a:pPr eaLnBrk="1" hangingPunct="1">
              <a:spcBef>
                <a:spcPct val="20000"/>
              </a:spcBef>
            </a:pPr>
            <a:r>
              <a:rPr kumimoji="1" lang="en-US" altLang="zh-CN" sz="2400"/>
              <a:t>r=0 0 0       </a:t>
            </a:r>
            <a:r>
              <a:rPr kumimoji="1" lang="zh-CN" altLang="en-US" sz="2400"/>
              <a:t>％余多项式</a:t>
            </a:r>
          </a:p>
          <a:p>
            <a:pPr eaLnBrk="1" hangingPunct="1">
              <a:spcBef>
                <a:spcPct val="20000"/>
              </a:spcBef>
              <a:buFontTx/>
              <a:buChar char="•"/>
            </a:pPr>
            <a:r>
              <a:rPr kumimoji="1" lang="zh-CN" altLang="en-US" sz="2400">
                <a:latin typeface="Times New Roman" panose="02020603050405020304" pitchFamily="18" charset="0"/>
              </a:rPr>
              <a:t>求多项式的微分多项式</a:t>
            </a:r>
            <a:r>
              <a:rPr kumimoji="1" lang="en-US" altLang="zh-CN" sz="2400"/>
              <a:t>polyder</a:t>
            </a:r>
          </a:p>
          <a:p>
            <a:pPr eaLnBrk="1" hangingPunct="1">
              <a:spcBef>
                <a:spcPct val="20000"/>
              </a:spcBef>
            </a:pPr>
            <a:r>
              <a:rPr kumimoji="1" lang="en-US" altLang="zh-CN" sz="2400"/>
              <a:t>polyder(a)=2  2</a:t>
            </a:r>
          </a:p>
          <a:p>
            <a:pPr eaLnBrk="1" hangingPunct="1">
              <a:spcBef>
                <a:spcPct val="20000"/>
              </a:spcBef>
              <a:buFontTx/>
              <a:buChar char="•"/>
            </a:pPr>
            <a:r>
              <a:rPr kumimoji="1" lang="zh-CN" altLang="en-US" sz="2400"/>
              <a:t>求多项式函数值</a:t>
            </a:r>
            <a:r>
              <a:rPr kumimoji="1" lang="en-US" altLang="zh-CN" sz="2400"/>
              <a:t>polyval(p,n)</a:t>
            </a:r>
            <a:r>
              <a:rPr kumimoji="1" lang="zh-CN" altLang="en-US" sz="2400"/>
              <a:t>：将值</a:t>
            </a:r>
            <a:r>
              <a:rPr kumimoji="1" lang="en-US" altLang="zh-CN" sz="2400"/>
              <a:t>n</a:t>
            </a:r>
            <a:r>
              <a:rPr kumimoji="1" lang="zh-CN" altLang="en-US" sz="2400"/>
              <a:t>代入多项式求解。</a:t>
            </a:r>
            <a:r>
              <a:rPr kumimoji="1" lang="en-US" altLang="zh-CN" sz="2400"/>
              <a:t>polyval(a,2)=11</a:t>
            </a: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4930"/>
                                        </p:tgtEl>
                                        <p:attrNameLst>
                                          <p:attrName>style.visibility</p:attrName>
                                        </p:attrNameLst>
                                      </p:cBhvr>
                                      <p:to>
                                        <p:strVal val="visible"/>
                                      </p:to>
                                    </p:set>
                                    <p:anim calcmode="lin" valueType="num">
                                      <p:cBhvr additive="base">
                                        <p:cTn id="7" dur="500" fill="hold"/>
                                        <p:tgtEl>
                                          <p:spTgt spid="124930"/>
                                        </p:tgtEl>
                                        <p:attrNameLst>
                                          <p:attrName>ppt_x</p:attrName>
                                        </p:attrNameLst>
                                      </p:cBhvr>
                                      <p:tavLst>
                                        <p:tav tm="0">
                                          <p:val>
                                            <p:strVal val="0-#ppt_w/2"/>
                                          </p:val>
                                        </p:tav>
                                        <p:tav tm="100000">
                                          <p:val>
                                            <p:strVal val="#ppt_x"/>
                                          </p:val>
                                        </p:tav>
                                      </p:tavLst>
                                    </p:anim>
                                    <p:anim calcmode="lin" valueType="num">
                                      <p:cBhvr additive="base">
                                        <p:cTn id="8" dur="500" fill="hold"/>
                                        <p:tgtEl>
                                          <p:spTgt spid="1249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24931">
                                            <p:txEl>
                                              <p:pRg st="0" end="0"/>
                                            </p:txEl>
                                          </p:spTgt>
                                        </p:tgtEl>
                                        <p:attrNameLst>
                                          <p:attrName>style.visibility</p:attrName>
                                        </p:attrNameLst>
                                      </p:cBhvr>
                                      <p:to>
                                        <p:strVal val="visible"/>
                                      </p:to>
                                    </p:set>
                                    <p:animEffect transition="in" filter="box(out)">
                                      <p:cBhvr>
                                        <p:cTn id="13" dur="500"/>
                                        <p:tgtEl>
                                          <p:spTgt spid="12493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24931">
                                            <p:txEl>
                                              <p:pRg st="1" end="1"/>
                                            </p:txEl>
                                          </p:spTgt>
                                        </p:tgtEl>
                                        <p:attrNameLst>
                                          <p:attrName>style.visibility</p:attrName>
                                        </p:attrNameLst>
                                      </p:cBhvr>
                                      <p:to>
                                        <p:strVal val="visible"/>
                                      </p:to>
                                    </p:set>
                                    <p:animEffect transition="in" filter="box(out)">
                                      <p:cBhvr>
                                        <p:cTn id="18" dur="500"/>
                                        <p:tgtEl>
                                          <p:spTgt spid="124931">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24931">
                                            <p:txEl>
                                              <p:pRg st="2" end="2"/>
                                            </p:txEl>
                                          </p:spTgt>
                                        </p:tgtEl>
                                        <p:attrNameLst>
                                          <p:attrName>style.visibility</p:attrName>
                                        </p:attrNameLst>
                                      </p:cBhvr>
                                      <p:to>
                                        <p:strVal val="visible"/>
                                      </p:to>
                                    </p:set>
                                    <p:animEffect transition="in" filter="box(out)">
                                      <p:cBhvr>
                                        <p:cTn id="23" dur="500"/>
                                        <p:tgtEl>
                                          <p:spTgt spid="12493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4931">
                                            <p:txEl>
                                              <p:pRg st="3" end="3"/>
                                            </p:txEl>
                                          </p:spTgt>
                                        </p:tgtEl>
                                        <p:attrNameLst>
                                          <p:attrName>style.visibility</p:attrName>
                                        </p:attrNameLst>
                                      </p:cBhvr>
                                      <p:to>
                                        <p:strVal val="visible"/>
                                      </p:to>
                                    </p:set>
                                    <p:animEffect transition="in" filter="box(out)">
                                      <p:cBhvr>
                                        <p:cTn id="28" dur="500"/>
                                        <p:tgtEl>
                                          <p:spTgt spid="124931">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4931">
                                            <p:txEl>
                                              <p:pRg st="4" end="4"/>
                                            </p:txEl>
                                          </p:spTgt>
                                        </p:tgtEl>
                                        <p:attrNameLst>
                                          <p:attrName>style.visibility</p:attrName>
                                        </p:attrNameLst>
                                      </p:cBhvr>
                                      <p:to>
                                        <p:strVal val="visible"/>
                                      </p:to>
                                    </p:set>
                                    <p:animEffect transition="in" filter="box(out)">
                                      <p:cBhvr>
                                        <p:cTn id="33" dur="500"/>
                                        <p:tgtEl>
                                          <p:spTgt spid="124931">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4931">
                                            <p:txEl>
                                              <p:pRg st="5" end="5"/>
                                            </p:txEl>
                                          </p:spTgt>
                                        </p:tgtEl>
                                        <p:attrNameLst>
                                          <p:attrName>style.visibility</p:attrName>
                                        </p:attrNameLst>
                                      </p:cBhvr>
                                      <p:to>
                                        <p:strVal val="visible"/>
                                      </p:to>
                                    </p:set>
                                    <p:animEffect transition="in" filter="box(out)">
                                      <p:cBhvr>
                                        <p:cTn id="38" dur="500"/>
                                        <p:tgtEl>
                                          <p:spTgt spid="124931">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24931">
                                            <p:txEl>
                                              <p:pRg st="6" end="6"/>
                                            </p:txEl>
                                          </p:spTgt>
                                        </p:tgtEl>
                                        <p:attrNameLst>
                                          <p:attrName>style.visibility</p:attrName>
                                        </p:attrNameLst>
                                      </p:cBhvr>
                                      <p:to>
                                        <p:strVal val="visible"/>
                                      </p:to>
                                    </p:set>
                                    <p:animEffect transition="in" filter="box(out)">
                                      <p:cBhvr>
                                        <p:cTn id="43" dur="500"/>
                                        <p:tgtEl>
                                          <p:spTgt spid="124931">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124931">
                                            <p:txEl>
                                              <p:pRg st="7" end="7"/>
                                            </p:txEl>
                                          </p:spTgt>
                                        </p:tgtEl>
                                        <p:attrNameLst>
                                          <p:attrName>style.visibility</p:attrName>
                                        </p:attrNameLst>
                                      </p:cBhvr>
                                      <p:to>
                                        <p:strVal val="visible"/>
                                      </p:to>
                                    </p:set>
                                    <p:animEffect transition="in" filter="box(out)">
                                      <p:cBhvr>
                                        <p:cTn id="48" dur="500"/>
                                        <p:tgtEl>
                                          <p:spTgt spid="124931">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24931">
                                            <p:txEl>
                                              <p:pRg st="8" end="8"/>
                                            </p:txEl>
                                          </p:spTgt>
                                        </p:tgtEl>
                                        <p:attrNameLst>
                                          <p:attrName>style.visibility</p:attrName>
                                        </p:attrNameLst>
                                      </p:cBhvr>
                                      <p:to>
                                        <p:strVal val="visible"/>
                                      </p:to>
                                    </p:set>
                                    <p:animEffect transition="in" filter="box(out)">
                                      <p:cBhvr>
                                        <p:cTn id="53" dur="500"/>
                                        <p:tgtEl>
                                          <p:spTgt spid="124931">
                                            <p:txEl>
                                              <p:pRg st="8" end="8"/>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24931">
                                            <p:txEl>
                                              <p:pRg st="9" end="9"/>
                                            </p:txEl>
                                          </p:spTgt>
                                        </p:tgtEl>
                                        <p:attrNameLst>
                                          <p:attrName>style.visibility</p:attrName>
                                        </p:attrNameLst>
                                      </p:cBhvr>
                                      <p:to>
                                        <p:strVal val="visible"/>
                                      </p:to>
                                    </p:set>
                                    <p:animEffect transition="in" filter="box(out)">
                                      <p:cBhvr>
                                        <p:cTn id="58" dur="500"/>
                                        <p:tgtEl>
                                          <p:spTgt spid="1249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autoUpdateAnimBg="0"/>
      <p:bldP spid="12493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a:extLst>
              <a:ext uri="{FF2B5EF4-FFF2-40B4-BE49-F238E27FC236}">
                <a16:creationId xmlns:a16="http://schemas.microsoft.com/office/drawing/2014/main" id="{C651F719-298A-47D2-8887-8B1C03BFF3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06B5E3E-F6AA-4B64-8F71-2B224164402D}" type="slidenum">
              <a:rPr lang="en-US" altLang="zh-CN" smtClean="0">
                <a:latin typeface="Garamond" panose="02020404030301010803" pitchFamily="18" charset="0"/>
              </a:rPr>
              <a:pPr/>
              <a:t>28</a:t>
            </a:fld>
            <a:endParaRPr lang="en-US" altLang="zh-CN">
              <a:latin typeface="Garamond" panose="02020404030301010803" pitchFamily="18" charset="0"/>
            </a:endParaRPr>
          </a:p>
        </p:txBody>
      </p:sp>
      <p:sp>
        <p:nvSpPr>
          <p:cNvPr id="44035" name="Rectangle 2">
            <a:extLst>
              <a:ext uri="{FF2B5EF4-FFF2-40B4-BE49-F238E27FC236}">
                <a16:creationId xmlns:a16="http://schemas.microsoft.com/office/drawing/2014/main" id="{97D72E90-B6F7-40D1-B8C1-35A3EC40212A}"/>
              </a:ext>
            </a:extLst>
          </p:cNvPr>
          <p:cNvSpPr>
            <a:spLocks noGrp="1" noChangeArrowheads="1"/>
          </p:cNvSpPr>
          <p:nvPr>
            <p:ph type="body" idx="1"/>
          </p:nvPr>
        </p:nvSpPr>
        <p:spPr>
          <a:xfrm>
            <a:off x="849313" y="527050"/>
            <a:ext cx="8458200" cy="5638800"/>
          </a:xfrm>
        </p:spPr>
        <p:txBody>
          <a:bodyPr/>
          <a:lstStyle/>
          <a:p>
            <a:pPr eaLnBrk="1" hangingPunct="1">
              <a:buFont typeface="Wingdings" panose="05000000000000000000" pitchFamily="2" charset="2"/>
              <a:buNone/>
            </a:pPr>
            <a:r>
              <a:rPr lang="zh-CN" altLang="en-US" sz="2600" dirty="0"/>
              <a:t>（</a:t>
            </a:r>
            <a:r>
              <a:rPr lang="en-US" altLang="zh-CN" sz="2600" dirty="0"/>
              <a:t>3</a:t>
            </a:r>
            <a:r>
              <a:rPr lang="zh-CN" altLang="en-US" sz="2600" dirty="0"/>
              <a:t>）*多项式的拟合</a:t>
            </a:r>
          </a:p>
          <a:p>
            <a:pPr eaLnBrk="1" hangingPunct="1"/>
            <a:r>
              <a:rPr lang="zh-CN" altLang="en-US" sz="2600" dirty="0"/>
              <a:t>多项式拟合又称为曲线拟合，其目的就是在众多的样本点中进行拟合，找出满足样本点分布的多项式。这在分析实验数据，将实验数据做解析描述时非常有用。</a:t>
            </a:r>
          </a:p>
          <a:p>
            <a:pPr eaLnBrk="1" hangingPunct="1"/>
            <a:r>
              <a:rPr lang="zh-CN" altLang="en-US" sz="2600" dirty="0"/>
              <a:t>命令格式：</a:t>
            </a:r>
            <a:r>
              <a:rPr lang="en-US" altLang="zh-CN" sz="2600" dirty="0"/>
              <a:t>p=</a:t>
            </a:r>
            <a:r>
              <a:rPr lang="en-US" altLang="zh-CN" sz="2600" dirty="0" err="1"/>
              <a:t>polyfit</a:t>
            </a:r>
            <a:r>
              <a:rPr lang="en-US" altLang="zh-CN" sz="2600" dirty="0"/>
              <a:t>(</a:t>
            </a:r>
            <a:r>
              <a:rPr lang="en-US" altLang="zh-CN" sz="2600" dirty="0" err="1"/>
              <a:t>x,y,n</a:t>
            </a:r>
            <a:r>
              <a:rPr lang="en-US" altLang="zh-CN" sz="2600" dirty="0"/>
              <a:t>)</a:t>
            </a:r>
            <a:r>
              <a:rPr lang="zh-CN" altLang="en-US" sz="2600" dirty="0"/>
              <a:t>，其中</a:t>
            </a:r>
            <a:r>
              <a:rPr lang="en-US" altLang="zh-CN" sz="2600" dirty="0"/>
              <a:t>x</a:t>
            </a:r>
            <a:r>
              <a:rPr lang="zh-CN" altLang="en-US" sz="2600" dirty="0"/>
              <a:t>和</a:t>
            </a:r>
            <a:r>
              <a:rPr lang="en-US" altLang="zh-CN" sz="2600" dirty="0"/>
              <a:t>y</a:t>
            </a:r>
            <a:r>
              <a:rPr lang="zh-CN" altLang="en-US" sz="2600" dirty="0"/>
              <a:t>为样本点向量，</a:t>
            </a:r>
            <a:r>
              <a:rPr lang="en-US" altLang="zh-CN" sz="2600" dirty="0"/>
              <a:t>n</a:t>
            </a:r>
            <a:r>
              <a:rPr lang="zh-CN" altLang="en-US" sz="2600" dirty="0"/>
              <a:t>为所求多项式的阶数，</a:t>
            </a:r>
            <a:r>
              <a:rPr lang="en-US" altLang="zh-CN" sz="2600" dirty="0"/>
              <a:t>p</a:t>
            </a:r>
            <a:r>
              <a:rPr lang="zh-CN" altLang="en-US" sz="2600" dirty="0"/>
              <a:t>为求出的多项式。</a:t>
            </a:r>
          </a:p>
          <a:p>
            <a:pPr eaLnBrk="1" hangingPunct="1"/>
            <a:r>
              <a:rPr lang="zh-CN" altLang="en-US" sz="2600" dirty="0"/>
              <a:t>例</a:t>
            </a:r>
            <a:r>
              <a:rPr lang="en-US" altLang="zh-CN" sz="2600" dirty="0"/>
              <a:t>exp2_15.m</a:t>
            </a:r>
          </a:p>
          <a:p>
            <a:pPr eaLnBrk="1" hangingPunct="1">
              <a:buFont typeface="Wingdings" panose="05000000000000000000" pitchFamily="2" charset="2"/>
              <a:buNone/>
            </a:pPr>
            <a:r>
              <a:rPr lang="zh-CN" altLang="en-US" sz="2600" dirty="0"/>
              <a:t>（</a:t>
            </a:r>
            <a:r>
              <a:rPr lang="en-US" altLang="zh-CN" sz="2600" dirty="0"/>
              <a:t>4</a:t>
            </a:r>
            <a:r>
              <a:rPr lang="zh-CN" altLang="en-US" sz="2600" dirty="0"/>
              <a:t>）*多项式插值</a:t>
            </a:r>
          </a:p>
          <a:p>
            <a:pPr eaLnBrk="1" hangingPunct="1"/>
            <a:r>
              <a:rPr lang="zh-CN" altLang="en-US" sz="2600" dirty="0"/>
              <a:t>多项式插值是指根据给定的有限个样本点，产生另外的估计点以达到数据更为平滑的效果。该技巧在信号处理与图像处理上应用广泛。</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a:extLst>
              <a:ext uri="{FF2B5EF4-FFF2-40B4-BE49-F238E27FC236}">
                <a16:creationId xmlns:a16="http://schemas.microsoft.com/office/drawing/2014/main" id="{A900BA8C-46C4-41F0-A210-C7DFCFDCF2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B699FEB-AB75-42D7-9879-0AB9BB3D3C7E}" type="slidenum">
              <a:rPr lang="en-US" altLang="zh-CN" smtClean="0">
                <a:latin typeface="Garamond" panose="02020404030301010803" pitchFamily="18" charset="0"/>
              </a:rPr>
              <a:pPr/>
              <a:t>29</a:t>
            </a:fld>
            <a:endParaRPr lang="en-US" altLang="zh-CN">
              <a:latin typeface="Garamond" panose="02020404030301010803" pitchFamily="18" charset="0"/>
            </a:endParaRPr>
          </a:p>
        </p:txBody>
      </p:sp>
      <p:sp>
        <p:nvSpPr>
          <p:cNvPr id="45059" name="Rectangle 2">
            <a:extLst>
              <a:ext uri="{FF2B5EF4-FFF2-40B4-BE49-F238E27FC236}">
                <a16:creationId xmlns:a16="http://schemas.microsoft.com/office/drawing/2014/main" id="{548CFA74-1CC0-4083-B678-444C363A19AE}"/>
              </a:ext>
            </a:extLst>
          </p:cNvPr>
          <p:cNvSpPr>
            <a:spLocks noGrp="1" noChangeArrowheads="1"/>
          </p:cNvSpPr>
          <p:nvPr>
            <p:ph type="body" idx="1"/>
          </p:nvPr>
        </p:nvSpPr>
        <p:spPr>
          <a:xfrm>
            <a:off x="344488" y="382588"/>
            <a:ext cx="9432925" cy="5638800"/>
          </a:xfrm>
        </p:spPr>
        <p:txBody>
          <a:bodyPr/>
          <a:lstStyle/>
          <a:p>
            <a:pPr eaLnBrk="1" hangingPunct="1">
              <a:lnSpc>
                <a:spcPct val="90000"/>
              </a:lnSpc>
            </a:pPr>
            <a:r>
              <a:rPr lang="zh-CN" altLang="en-US" sz="2400" dirty="0"/>
              <a:t>所用指令有一维的</a:t>
            </a:r>
            <a:r>
              <a:rPr lang="en-US" altLang="zh-CN" sz="2400" dirty="0"/>
              <a:t>interp1</a:t>
            </a:r>
            <a:r>
              <a:rPr lang="zh-CN" altLang="en-US" sz="2400" dirty="0"/>
              <a:t>、二维的</a:t>
            </a:r>
            <a:r>
              <a:rPr lang="en-US" altLang="zh-CN" sz="2400" dirty="0"/>
              <a:t>interp2</a:t>
            </a:r>
            <a:r>
              <a:rPr lang="zh-CN" altLang="en-US" sz="2400" dirty="0"/>
              <a:t>、三维的</a:t>
            </a:r>
            <a:r>
              <a:rPr lang="en-US" altLang="zh-CN" sz="2400" dirty="0"/>
              <a:t>interp3</a:t>
            </a:r>
            <a:r>
              <a:rPr lang="zh-CN" altLang="en-US" sz="2400" dirty="0"/>
              <a:t>。这些指令分别有不同的方法（</a:t>
            </a:r>
            <a:r>
              <a:rPr lang="en-US" altLang="zh-CN" sz="2400" dirty="0"/>
              <a:t>method</a:t>
            </a:r>
            <a:r>
              <a:rPr lang="zh-CN" altLang="en-US" sz="2400" dirty="0"/>
              <a:t>），设计者可以根据需要选择适当的方法，以满足系统属性的要求。</a:t>
            </a:r>
            <a:r>
              <a:rPr lang="en-US" altLang="zh-CN" sz="2400" dirty="0"/>
              <a:t>Help </a:t>
            </a:r>
            <a:r>
              <a:rPr lang="en-US" altLang="zh-CN" sz="2400" dirty="0" err="1"/>
              <a:t>polyfun</a:t>
            </a:r>
            <a:r>
              <a:rPr lang="zh-CN" altLang="en-US" sz="2400" dirty="0"/>
              <a:t>可以得到更详细的内容。</a:t>
            </a:r>
          </a:p>
          <a:p>
            <a:pPr eaLnBrk="1" hangingPunct="1">
              <a:lnSpc>
                <a:spcPct val="90000"/>
              </a:lnSpc>
              <a:buFont typeface="Wingdings" panose="05000000000000000000" pitchFamily="2" charset="2"/>
              <a:buNone/>
            </a:pPr>
            <a:r>
              <a:rPr lang="en-US" altLang="zh-CN" sz="2400" dirty="0"/>
              <a:t>y=interp1(</a:t>
            </a:r>
            <a:r>
              <a:rPr lang="en-US" altLang="zh-CN" sz="2400" dirty="0" err="1"/>
              <a:t>xs,ys,x,’method</a:t>
            </a:r>
            <a:r>
              <a:rPr lang="en-US" altLang="zh-CN" sz="2400" dirty="0"/>
              <a:t>’)</a:t>
            </a:r>
          </a:p>
          <a:p>
            <a:pPr eaLnBrk="1" hangingPunct="1">
              <a:lnSpc>
                <a:spcPct val="90000"/>
              </a:lnSpc>
            </a:pPr>
            <a:r>
              <a:rPr lang="zh-CN" altLang="en-US" sz="2400" dirty="0"/>
              <a:t>在有限样本点向量</a:t>
            </a:r>
            <a:r>
              <a:rPr lang="en-US" altLang="zh-CN" sz="2400" dirty="0" err="1"/>
              <a:t>xs</a:t>
            </a:r>
            <a:r>
              <a:rPr lang="zh-CN" altLang="en-US" sz="2400" dirty="0"/>
              <a:t>与</a:t>
            </a:r>
            <a:r>
              <a:rPr lang="en-US" altLang="zh-CN" sz="2400" dirty="0" err="1"/>
              <a:t>ys</a:t>
            </a:r>
            <a:r>
              <a:rPr lang="zh-CN" altLang="en-US" sz="2400" dirty="0"/>
              <a:t>中，插值产生向量</a:t>
            </a:r>
            <a:r>
              <a:rPr lang="en-US" altLang="zh-CN" sz="2400" dirty="0"/>
              <a:t>x</a:t>
            </a:r>
            <a:r>
              <a:rPr lang="zh-CN" altLang="en-US" sz="2400" dirty="0"/>
              <a:t>和</a:t>
            </a:r>
            <a:r>
              <a:rPr lang="en-US" altLang="zh-CN" sz="2400" dirty="0"/>
              <a:t>y</a:t>
            </a:r>
            <a:r>
              <a:rPr lang="zh-CN" altLang="en-US" sz="2400" dirty="0"/>
              <a:t>，所用方法定义在</a:t>
            </a:r>
            <a:r>
              <a:rPr lang="en-US" altLang="zh-CN" sz="2400" dirty="0"/>
              <a:t>method</a:t>
            </a:r>
            <a:r>
              <a:rPr lang="zh-CN" altLang="en-US" sz="2400" dirty="0"/>
              <a:t>中，有</a:t>
            </a:r>
            <a:r>
              <a:rPr lang="en-US" altLang="zh-CN" sz="2400" dirty="0"/>
              <a:t>6</a:t>
            </a:r>
            <a:r>
              <a:rPr lang="zh-CN" altLang="en-US" sz="2400" dirty="0"/>
              <a:t>种选择：</a:t>
            </a:r>
          </a:p>
          <a:p>
            <a:pPr eaLnBrk="1" hangingPunct="1">
              <a:lnSpc>
                <a:spcPct val="90000"/>
              </a:lnSpc>
            </a:pPr>
            <a:r>
              <a:rPr lang="en-US" altLang="zh-CN" sz="2400" dirty="0"/>
              <a:t>nearest</a:t>
            </a:r>
            <a:r>
              <a:rPr lang="zh-CN" altLang="en-US" sz="2400" dirty="0"/>
              <a:t>：执行速度最快，输出结果为直角转折（最近点插值法）</a:t>
            </a:r>
          </a:p>
          <a:p>
            <a:pPr eaLnBrk="1" hangingPunct="1">
              <a:lnSpc>
                <a:spcPct val="90000"/>
              </a:lnSpc>
            </a:pPr>
            <a:r>
              <a:rPr lang="en-US" altLang="zh-CN" sz="2400" dirty="0"/>
              <a:t>linear</a:t>
            </a:r>
            <a:r>
              <a:rPr lang="zh-CN" altLang="en-US" sz="2400" dirty="0"/>
              <a:t>：默认值，在样本点上斜率变化很大（线性插值）</a:t>
            </a:r>
          </a:p>
          <a:p>
            <a:pPr eaLnBrk="1" hangingPunct="1">
              <a:lnSpc>
                <a:spcPct val="90000"/>
              </a:lnSpc>
            </a:pPr>
            <a:r>
              <a:rPr lang="en-US" altLang="zh-CN" sz="2400" dirty="0"/>
              <a:t>spline</a:t>
            </a:r>
            <a:r>
              <a:rPr lang="zh-CN" altLang="en-US" sz="2400" dirty="0"/>
              <a:t>：最花时间，但输出结果也最平滑（样条插值）</a:t>
            </a:r>
          </a:p>
          <a:p>
            <a:pPr eaLnBrk="1" hangingPunct="1">
              <a:lnSpc>
                <a:spcPct val="90000"/>
              </a:lnSpc>
            </a:pPr>
            <a:r>
              <a:rPr lang="en-US" altLang="zh-CN" sz="2400" dirty="0"/>
              <a:t>cubic</a:t>
            </a:r>
            <a:r>
              <a:rPr lang="zh-CN" altLang="en-US" sz="2400" dirty="0"/>
              <a:t>：最占内存，输出结果与</a:t>
            </a:r>
            <a:r>
              <a:rPr lang="en-US" altLang="zh-CN" sz="2400" dirty="0"/>
              <a:t>spline</a:t>
            </a:r>
            <a:r>
              <a:rPr lang="zh-CN" altLang="en-US" sz="2400" dirty="0"/>
              <a:t>差不多（立方插值）</a:t>
            </a:r>
            <a:endParaRPr lang="en-US" altLang="zh-CN" sz="2400" dirty="0"/>
          </a:p>
          <a:p>
            <a:pPr eaLnBrk="1" hangingPunct="1">
              <a:lnSpc>
                <a:spcPct val="90000"/>
              </a:lnSpc>
            </a:pPr>
            <a:r>
              <a:rPr lang="en-US" altLang="zh-CN" sz="2400" dirty="0" err="1"/>
              <a:t>pchip</a:t>
            </a:r>
            <a:r>
              <a:rPr lang="zh-CN" altLang="en-US" sz="2400" dirty="0"/>
              <a:t>：保形分段三次插值</a:t>
            </a:r>
            <a:endParaRPr lang="en-US" altLang="zh-CN" sz="2400" dirty="0"/>
          </a:p>
          <a:p>
            <a:pPr eaLnBrk="1" hangingPunct="1">
              <a:lnSpc>
                <a:spcPct val="90000"/>
              </a:lnSpc>
            </a:pPr>
            <a:r>
              <a:rPr lang="en-US" altLang="zh-CN" sz="2400" dirty="0"/>
              <a:t>v5cubic:</a:t>
            </a:r>
            <a:r>
              <a:rPr lang="zh-CN" altLang="en-US" sz="2400" dirty="0"/>
              <a:t>不进行外推的三次插值，如果</a:t>
            </a:r>
            <a:r>
              <a:rPr lang="en-US" altLang="zh-CN" sz="2400" dirty="0"/>
              <a:t>x</a:t>
            </a:r>
            <a:r>
              <a:rPr lang="zh-CN" altLang="en-US" sz="2400" dirty="0"/>
              <a:t>不是等间隔，则使用样条插值。</a:t>
            </a:r>
          </a:p>
          <a:p>
            <a:pPr eaLnBrk="1" hangingPunct="1">
              <a:lnSpc>
                <a:spcPct val="90000"/>
              </a:lnSpc>
              <a:buFont typeface="Wingdings" panose="05000000000000000000" pitchFamily="2" charset="2"/>
              <a:buNone/>
            </a:pPr>
            <a:r>
              <a:rPr lang="zh-CN" altLang="en-US" sz="2400" dirty="0"/>
              <a:t>例</a:t>
            </a:r>
            <a:r>
              <a:rPr lang="en-US" altLang="zh-CN" sz="2400" dirty="0"/>
              <a:t>exp2_16.m</a:t>
            </a:r>
            <a:r>
              <a:rPr lang="zh-CN" altLang="en-US" sz="2400" dirty="0"/>
              <a:t>。  这四种方法都要求</a:t>
            </a:r>
            <a:r>
              <a:rPr lang="en-US" altLang="zh-CN" sz="2400" dirty="0"/>
              <a:t>x</a:t>
            </a:r>
            <a:r>
              <a:rPr lang="zh-CN" altLang="en-US" sz="2400" dirty="0"/>
              <a:t>按升序或降序排列。</a:t>
            </a:r>
            <a:endParaRPr lang="en-US" altLang="zh-CN" sz="24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a:extLst>
              <a:ext uri="{FF2B5EF4-FFF2-40B4-BE49-F238E27FC236}">
                <a16:creationId xmlns:a16="http://schemas.microsoft.com/office/drawing/2014/main" id="{F37C2670-9A22-4CC3-B317-07CD6F3AF4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FD3CEE-27A9-4A55-924D-34D4F8F36D37}" type="slidenum">
              <a:rPr lang="en-US" altLang="zh-CN" smtClean="0">
                <a:latin typeface="Garamond" panose="02020404030301010803" pitchFamily="18" charset="0"/>
              </a:rPr>
              <a:pPr/>
              <a:t>30</a:t>
            </a:fld>
            <a:endParaRPr lang="en-US" altLang="zh-CN">
              <a:latin typeface="Garamond" panose="02020404030301010803" pitchFamily="18" charset="0"/>
            </a:endParaRPr>
          </a:p>
        </p:txBody>
      </p:sp>
      <p:sp>
        <p:nvSpPr>
          <p:cNvPr id="47107" name="Rectangle 2">
            <a:extLst>
              <a:ext uri="{FF2B5EF4-FFF2-40B4-BE49-F238E27FC236}">
                <a16:creationId xmlns:a16="http://schemas.microsoft.com/office/drawing/2014/main" id="{D494AA9F-13B9-4F33-9AAE-9CE55DA5F77E}"/>
              </a:ext>
            </a:extLst>
          </p:cNvPr>
          <p:cNvSpPr>
            <a:spLocks noGrp="1" noChangeArrowheads="1"/>
          </p:cNvSpPr>
          <p:nvPr>
            <p:ph type="body" idx="1"/>
          </p:nvPr>
        </p:nvSpPr>
        <p:spPr>
          <a:xfrm>
            <a:off x="1143000" y="609600"/>
            <a:ext cx="4192588" cy="5638800"/>
          </a:xfrm>
        </p:spPr>
        <p:txBody>
          <a:bodyPr/>
          <a:lstStyle/>
          <a:p>
            <a:pPr eaLnBrk="1" hangingPunct="1">
              <a:lnSpc>
                <a:spcPct val="90000"/>
              </a:lnSpc>
              <a:buFont typeface="Wingdings" panose="05000000000000000000" pitchFamily="2" charset="2"/>
              <a:buNone/>
            </a:pPr>
            <a:r>
              <a:rPr lang="zh-CN" altLang="en-US">
                <a:solidFill>
                  <a:schemeClr val="tx2"/>
                </a:solidFill>
              </a:rPr>
              <a:t>五*、</a:t>
            </a:r>
            <a:r>
              <a:rPr lang="en-US" altLang="zh-CN">
                <a:solidFill>
                  <a:schemeClr val="tx2"/>
                </a:solidFill>
              </a:rPr>
              <a:t>MATLAB</a:t>
            </a:r>
            <a:r>
              <a:rPr lang="zh-CN" altLang="en-US">
                <a:solidFill>
                  <a:schemeClr val="tx2"/>
                </a:solidFill>
              </a:rPr>
              <a:t>数据处理</a:t>
            </a:r>
            <a:endParaRPr lang="zh-CN" altLang="en-US" sz="2600"/>
          </a:p>
          <a:p>
            <a:pPr eaLnBrk="1" hangingPunct="1">
              <a:lnSpc>
                <a:spcPct val="90000"/>
              </a:lnSpc>
              <a:buFont typeface="Wingdings" panose="05000000000000000000" pitchFamily="2" charset="2"/>
              <a:buNone/>
            </a:pPr>
            <a:r>
              <a:rPr lang="en-US" altLang="zh-CN" sz="2600"/>
              <a:t>1</a:t>
            </a:r>
            <a:r>
              <a:rPr lang="zh-CN" altLang="en-US" sz="2600"/>
              <a:t>、矩阵分解</a:t>
            </a:r>
          </a:p>
          <a:p>
            <a:pPr eaLnBrk="1" hangingPunct="1">
              <a:lnSpc>
                <a:spcPct val="90000"/>
              </a:lnSpc>
              <a:buFont typeface="Wingdings" panose="05000000000000000000" pitchFamily="2" charset="2"/>
              <a:buNone/>
            </a:pPr>
            <a:r>
              <a:rPr lang="zh-CN" altLang="en-US" sz="2600"/>
              <a:t>（</a:t>
            </a:r>
            <a:r>
              <a:rPr lang="en-US" altLang="zh-CN" sz="2600"/>
              <a:t>1</a:t>
            </a:r>
            <a:r>
              <a:rPr lang="zh-CN" altLang="en-US" sz="2600"/>
              <a:t>）奇异值分解</a:t>
            </a:r>
          </a:p>
          <a:p>
            <a:pPr eaLnBrk="1" hangingPunct="1">
              <a:lnSpc>
                <a:spcPct val="90000"/>
              </a:lnSpc>
              <a:buFont typeface="Wingdings" panose="05000000000000000000" pitchFamily="2" charset="2"/>
              <a:buNone/>
            </a:pPr>
            <a:r>
              <a:rPr lang="en-US" altLang="zh-CN" sz="2600"/>
              <a:t>[U,S,V]=svd(A)</a:t>
            </a:r>
          </a:p>
          <a:p>
            <a:pPr eaLnBrk="1" hangingPunct="1">
              <a:lnSpc>
                <a:spcPct val="90000"/>
              </a:lnSpc>
              <a:buFont typeface="Wingdings" panose="05000000000000000000" pitchFamily="2" charset="2"/>
              <a:buNone/>
            </a:pPr>
            <a:r>
              <a:rPr lang="zh-CN" altLang="en-US" sz="2600"/>
              <a:t>例：</a:t>
            </a:r>
            <a:r>
              <a:rPr lang="en-US" altLang="zh-CN" sz="2600"/>
              <a:t>a =</a:t>
            </a:r>
          </a:p>
          <a:p>
            <a:pPr eaLnBrk="1" hangingPunct="1">
              <a:lnSpc>
                <a:spcPct val="90000"/>
              </a:lnSpc>
              <a:buFont typeface="Wingdings" panose="05000000000000000000" pitchFamily="2" charset="2"/>
              <a:buNone/>
            </a:pPr>
            <a:r>
              <a:rPr lang="en-US" altLang="zh-CN" sz="2600"/>
              <a:t>           9     8</a:t>
            </a:r>
          </a:p>
          <a:p>
            <a:pPr eaLnBrk="1" hangingPunct="1">
              <a:lnSpc>
                <a:spcPct val="90000"/>
              </a:lnSpc>
              <a:buFont typeface="Wingdings" panose="05000000000000000000" pitchFamily="2" charset="2"/>
              <a:buNone/>
            </a:pPr>
            <a:r>
              <a:rPr lang="en-US" altLang="zh-CN" sz="2600"/>
              <a:t>           6     8</a:t>
            </a:r>
          </a:p>
          <a:p>
            <a:pPr eaLnBrk="1" hangingPunct="1">
              <a:lnSpc>
                <a:spcPct val="90000"/>
              </a:lnSpc>
              <a:buFont typeface="Wingdings" panose="05000000000000000000" pitchFamily="2" charset="2"/>
              <a:buNone/>
            </a:pPr>
            <a:r>
              <a:rPr lang="zh-CN" altLang="en-US" sz="2600"/>
              <a:t>可以验证：</a:t>
            </a:r>
          </a:p>
          <a:p>
            <a:pPr eaLnBrk="1" hangingPunct="1">
              <a:lnSpc>
                <a:spcPct val="90000"/>
              </a:lnSpc>
              <a:buFont typeface="Wingdings" panose="05000000000000000000" pitchFamily="2" charset="2"/>
              <a:buNone/>
            </a:pPr>
            <a:r>
              <a:rPr lang="en-US" altLang="zh-CN" sz="2600"/>
              <a:t>u*u’=I</a:t>
            </a:r>
          </a:p>
          <a:p>
            <a:pPr eaLnBrk="1" hangingPunct="1">
              <a:lnSpc>
                <a:spcPct val="90000"/>
              </a:lnSpc>
              <a:buFont typeface="Wingdings" panose="05000000000000000000" pitchFamily="2" charset="2"/>
              <a:buNone/>
            </a:pPr>
            <a:r>
              <a:rPr lang="en-US" altLang="zh-CN" sz="2600"/>
              <a:t>v*v’=I</a:t>
            </a:r>
          </a:p>
          <a:p>
            <a:pPr eaLnBrk="1" hangingPunct="1">
              <a:lnSpc>
                <a:spcPct val="90000"/>
              </a:lnSpc>
              <a:buFont typeface="Wingdings" panose="05000000000000000000" pitchFamily="2" charset="2"/>
              <a:buNone/>
            </a:pPr>
            <a:r>
              <a:rPr lang="en-US" altLang="zh-CN" sz="2600"/>
              <a:t>u*s*v’=a</a:t>
            </a:r>
          </a:p>
        </p:txBody>
      </p:sp>
      <p:sp>
        <p:nvSpPr>
          <p:cNvPr id="47108" name="Text Box 3">
            <a:extLst>
              <a:ext uri="{FF2B5EF4-FFF2-40B4-BE49-F238E27FC236}">
                <a16:creationId xmlns:a16="http://schemas.microsoft.com/office/drawing/2014/main" id="{BDE29481-FFF4-429B-A26D-E9F950EA5CA2}"/>
              </a:ext>
            </a:extLst>
          </p:cNvPr>
          <p:cNvSpPr txBox="1">
            <a:spLocks noChangeArrowheads="1"/>
          </p:cNvSpPr>
          <p:nvPr/>
        </p:nvSpPr>
        <p:spPr bwMode="auto">
          <a:xfrm>
            <a:off x="4267200" y="981075"/>
            <a:ext cx="51054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t>求矩阵</a:t>
            </a:r>
            <a:r>
              <a:rPr kumimoji="1" lang="en-US" altLang="zh-CN" sz="2400"/>
              <a:t>A</a:t>
            </a:r>
            <a:r>
              <a:rPr kumimoji="1" lang="zh-CN" altLang="en-US" sz="2400"/>
              <a:t>的奇异值及分解矩阵，满足</a:t>
            </a:r>
            <a:r>
              <a:rPr kumimoji="1" lang="en-US" altLang="zh-CN" sz="2400"/>
              <a:t>U*S*V’=A</a:t>
            </a:r>
            <a:r>
              <a:rPr kumimoji="1" lang="zh-CN" altLang="en-US" sz="2400"/>
              <a:t>，其中</a:t>
            </a:r>
            <a:r>
              <a:rPr kumimoji="1" lang="en-US" altLang="zh-CN" sz="2400"/>
              <a:t>U</a:t>
            </a:r>
            <a:r>
              <a:rPr kumimoji="1" lang="zh-CN" altLang="en-US" sz="2400"/>
              <a:t>、</a:t>
            </a:r>
            <a:r>
              <a:rPr kumimoji="1" lang="en-US" altLang="zh-CN" sz="2400"/>
              <a:t>V</a:t>
            </a:r>
            <a:r>
              <a:rPr kumimoji="1" lang="zh-CN" altLang="en-US" sz="2400"/>
              <a:t>矩阵为正交矩阵（</a:t>
            </a:r>
            <a:r>
              <a:rPr kumimoji="1" lang="en-US" altLang="zh-CN" sz="2400"/>
              <a:t>U*U’=I</a:t>
            </a:r>
            <a:r>
              <a:rPr kumimoji="1" lang="zh-CN" altLang="en-US" sz="2400"/>
              <a:t>），</a:t>
            </a:r>
            <a:r>
              <a:rPr kumimoji="1" lang="en-US" altLang="zh-CN" sz="2400"/>
              <a:t>S</a:t>
            </a:r>
            <a:r>
              <a:rPr kumimoji="1" lang="zh-CN" altLang="en-US" sz="2400"/>
              <a:t>矩阵为对角矩阵（广义的，不一定是方阵），它的对角元素即</a:t>
            </a:r>
            <a:r>
              <a:rPr kumimoji="1" lang="en-US" altLang="zh-CN" sz="2400"/>
              <a:t>A</a:t>
            </a:r>
            <a:r>
              <a:rPr kumimoji="1" lang="zh-CN" altLang="en-US" sz="2400"/>
              <a:t>矩阵的奇异值。</a:t>
            </a:r>
            <a:endParaRPr kumimoji="1" lang="zh-CN" altLang="en-US" sz="2000"/>
          </a:p>
        </p:txBody>
      </p:sp>
      <p:sp>
        <p:nvSpPr>
          <p:cNvPr id="47109" name="Text Box 4">
            <a:extLst>
              <a:ext uri="{FF2B5EF4-FFF2-40B4-BE49-F238E27FC236}">
                <a16:creationId xmlns:a16="http://schemas.microsoft.com/office/drawing/2014/main" id="{BA6B09F9-F0AA-468B-B410-65C90B23484B}"/>
              </a:ext>
            </a:extLst>
          </p:cNvPr>
          <p:cNvSpPr txBox="1">
            <a:spLocks noChangeArrowheads="1"/>
          </p:cNvSpPr>
          <p:nvPr/>
        </p:nvSpPr>
        <p:spPr bwMode="auto">
          <a:xfrm>
            <a:off x="4899025" y="2852738"/>
            <a:ext cx="3941763" cy="378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t>[</a:t>
            </a:r>
            <a:r>
              <a:rPr kumimoji="1" lang="en-US" altLang="zh-CN" sz="2400" dirty="0" err="1"/>
              <a:t>u,s,v</a:t>
            </a:r>
            <a:r>
              <a:rPr kumimoji="1" lang="en-US" altLang="zh-CN" sz="2400" dirty="0"/>
              <a:t>]=</a:t>
            </a:r>
            <a:r>
              <a:rPr kumimoji="1" lang="en-US" altLang="zh-CN" sz="2400" dirty="0" err="1"/>
              <a:t>svd</a:t>
            </a:r>
            <a:r>
              <a:rPr kumimoji="1" lang="en-US" altLang="zh-CN" sz="2400" dirty="0"/>
              <a:t>(a)</a:t>
            </a:r>
          </a:p>
          <a:p>
            <a:pPr eaLnBrk="1" hangingPunct="1"/>
            <a:r>
              <a:rPr kumimoji="1" lang="en-US" altLang="zh-CN" sz="2400" dirty="0"/>
              <a:t>u =</a:t>
            </a:r>
          </a:p>
          <a:p>
            <a:pPr eaLnBrk="1" hangingPunct="1"/>
            <a:r>
              <a:rPr kumimoji="1" lang="en-US" altLang="zh-CN" sz="2400" dirty="0"/>
              <a:t>    0.7705   -0.6375</a:t>
            </a:r>
          </a:p>
          <a:p>
            <a:pPr eaLnBrk="1" hangingPunct="1"/>
            <a:r>
              <a:rPr kumimoji="1" lang="en-US" altLang="zh-CN" sz="2400" dirty="0"/>
              <a:t>    0.6375    0.7705</a:t>
            </a:r>
          </a:p>
          <a:p>
            <a:pPr eaLnBrk="1" hangingPunct="1"/>
            <a:r>
              <a:rPr kumimoji="1" lang="en-US" altLang="zh-CN" sz="2400" dirty="0"/>
              <a:t>s =</a:t>
            </a:r>
          </a:p>
          <a:p>
            <a:pPr eaLnBrk="1" hangingPunct="1"/>
            <a:r>
              <a:rPr kumimoji="1" lang="en-US" altLang="zh-CN" sz="2400" dirty="0"/>
              <a:t>    15.5765         0</a:t>
            </a:r>
          </a:p>
          <a:p>
            <a:pPr eaLnBrk="1" hangingPunct="1"/>
            <a:r>
              <a:rPr kumimoji="1" lang="en-US" altLang="zh-CN" sz="2400" dirty="0"/>
              <a:t>    0             1.5408</a:t>
            </a:r>
          </a:p>
          <a:p>
            <a:pPr eaLnBrk="1" hangingPunct="1"/>
            <a:r>
              <a:rPr kumimoji="1" lang="en-US" altLang="zh-CN" sz="2400" dirty="0"/>
              <a:t>v =</a:t>
            </a:r>
          </a:p>
          <a:p>
            <a:pPr eaLnBrk="1" hangingPunct="1"/>
            <a:r>
              <a:rPr kumimoji="1" lang="en-US" altLang="zh-CN" sz="2400" dirty="0"/>
              <a:t>    0.6907   -0.7231</a:t>
            </a:r>
          </a:p>
          <a:p>
            <a:pPr eaLnBrk="1" hangingPunct="1"/>
            <a:r>
              <a:rPr kumimoji="1" lang="en-US" altLang="zh-CN" sz="2400" dirty="0"/>
              <a:t>    0.7231    0.6907</a:t>
            </a:r>
            <a:endParaRPr kumimoji="1" lang="en-US" altLang="zh-CN" sz="20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a:extLst>
              <a:ext uri="{FF2B5EF4-FFF2-40B4-BE49-F238E27FC236}">
                <a16:creationId xmlns:a16="http://schemas.microsoft.com/office/drawing/2014/main" id="{1875EE8F-C325-4511-8AF9-4C91ACD975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675A54-4C08-4019-96CA-475351A7FED4}" type="slidenum">
              <a:rPr lang="en-US" altLang="zh-CN" smtClean="0">
                <a:latin typeface="Garamond" panose="02020404030301010803" pitchFamily="18" charset="0"/>
              </a:rPr>
              <a:pPr/>
              <a:t>31</a:t>
            </a:fld>
            <a:endParaRPr lang="en-US" altLang="zh-CN">
              <a:latin typeface="Garamond" panose="02020404030301010803" pitchFamily="18" charset="0"/>
            </a:endParaRPr>
          </a:p>
        </p:txBody>
      </p:sp>
      <p:sp>
        <p:nvSpPr>
          <p:cNvPr id="49155" name="Rectangle 2">
            <a:extLst>
              <a:ext uri="{FF2B5EF4-FFF2-40B4-BE49-F238E27FC236}">
                <a16:creationId xmlns:a16="http://schemas.microsoft.com/office/drawing/2014/main" id="{B8777FD5-2A94-4252-988E-FBFAAB0B3865}"/>
              </a:ext>
            </a:extLst>
          </p:cNvPr>
          <p:cNvSpPr>
            <a:spLocks noGrp="1" noChangeArrowheads="1"/>
          </p:cNvSpPr>
          <p:nvPr>
            <p:ph type="body" idx="1"/>
          </p:nvPr>
        </p:nvSpPr>
        <p:spPr>
          <a:xfrm>
            <a:off x="1143000" y="609600"/>
            <a:ext cx="8458200" cy="5638800"/>
          </a:xfrm>
        </p:spPr>
        <p:txBody>
          <a:bodyPr/>
          <a:lstStyle/>
          <a:p>
            <a:pPr eaLnBrk="1" hangingPunct="1">
              <a:lnSpc>
                <a:spcPct val="90000"/>
              </a:lnSpc>
              <a:buFont typeface="Wingdings" panose="05000000000000000000" pitchFamily="2" charset="2"/>
              <a:buNone/>
            </a:pPr>
            <a:r>
              <a:rPr lang="zh-CN" altLang="en-US" sz="2600" dirty="0"/>
              <a:t>（</a:t>
            </a:r>
            <a:r>
              <a:rPr lang="en-US" altLang="zh-CN" sz="2600" dirty="0"/>
              <a:t>2</a:t>
            </a:r>
            <a:r>
              <a:rPr lang="zh-CN" altLang="en-US" sz="2600" dirty="0"/>
              <a:t>）特征值分解</a:t>
            </a:r>
          </a:p>
          <a:p>
            <a:pPr eaLnBrk="1" hangingPunct="1">
              <a:lnSpc>
                <a:spcPct val="90000"/>
              </a:lnSpc>
              <a:buFont typeface="Wingdings" panose="05000000000000000000" pitchFamily="2" charset="2"/>
              <a:buNone/>
            </a:pPr>
            <a:r>
              <a:rPr lang="en-US" altLang="zh-CN" sz="2600" dirty="0"/>
              <a:t>[V,D]=</a:t>
            </a:r>
            <a:r>
              <a:rPr lang="en-US" altLang="zh-CN" sz="2600" dirty="0" err="1"/>
              <a:t>eig</a:t>
            </a:r>
            <a:r>
              <a:rPr lang="en-US" altLang="zh-CN" sz="2600" dirty="0"/>
              <a:t>(A)</a:t>
            </a:r>
          </a:p>
          <a:p>
            <a:pPr eaLnBrk="1" hangingPunct="1">
              <a:lnSpc>
                <a:spcPct val="90000"/>
              </a:lnSpc>
              <a:buFont typeface="Wingdings" panose="05000000000000000000" pitchFamily="2" charset="2"/>
              <a:buNone/>
            </a:pPr>
            <a:r>
              <a:rPr lang="zh-CN" altLang="en-US" sz="2600" dirty="0"/>
              <a:t>例： </a:t>
            </a:r>
            <a:r>
              <a:rPr lang="en-US" altLang="zh-CN" sz="2600" dirty="0"/>
              <a:t>a =</a:t>
            </a:r>
          </a:p>
          <a:p>
            <a:pPr eaLnBrk="1" hangingPunct="1">
              <a:lnSpc>
                <a:spcPct val="90000"/>
              </a:lnSpc>
              <a:buFont typeface="Wingdings" panose="05000000000000000000" pitchFamily="2" charset="2"/>
              <a:buNone/>
            </a:pPr>
            <a:r>
              <a:rPr lang="en-US" altLang="zh-CN" sz="2600" dirty="0"/>
              <a:t>           [9     8;</a:t>
            </a:r>
          </a:p>
          <a:p>
            <a:pPr eaLnBrk="1" hangingPunct="1">
              <a:lnSpc>
                <a:spcPct val="90000"/>
              </a:lnSpc>
              <a:buFont typeface="Wingdings" panose="05000000000000000000" pitchFamily="2" charset="2"/>
              <a:buNone/>
            </a:pPr>
            <a:r>
              <a:rPr lang="en-US" altLang="zh-CN" sz="2600" dirty="0"/>
              <a:t>           6     8]</a:t>
            </a:r>
          </a:p>
          <a:p>
            <a:pPr eaLnBrk="1" hangingPunct="1">
              <a:lnSpc>
                <a:spcPct val="90000"/>
              </a:lnSpc>
              <a:buFont typeface="Wingdings" panose="05000000000000000000" pitchFamily="2" charset="2"/>
              <a:buNone/>
            </a:pPr>
            <a:r>
              <a:rPr lang="en-US" altLang="zh-CN" sz="2600" dirty="0"/>
              <a:t>[</a:t>
            </a:r>
            <a:r>
              <a:rPr lang="en-US" altLang="zh-CN" sz="2600" dirty="0" err="1"/>
              <a:t>v,d</a:t>
            </a:r>
            <a:r>
              <a:rPr lang="en-US" altLang="zh-CN" sz="2600" dirty="0"/>
              <a:t>]=</a:t>
            </a:r>
            <a:r>
              <a:rPr lang="en-US" altLang="zh-CN" sz="2600" dirty="0" err="1"/>
              <a:t>eig</a:t>
            </a:r>
            <a:r>
              <a:rPr lang="en-US" altLang="zh-CN" sz="2600" dirty="0"/>
              <a:t>(a)</a:t>
            </a:r>
          </a:p>
          <a:p>
            <a:pPr eaLnBrk="1" hangingPunct="1">
              <a:lnSpc>
                <a:spcPct val="90000"/>
              </a:lnSpc>
              <a:buFont typeface="Wingdings" panose="05000000000000000000" pitchFamily="2" charset="2"/>
              <a:buNone/>
            </a:pPr>
            <a:r>
              <a:rPr lang="en-US" altLang="zh-CN" sz="2600" dirty="0"/>
              <a:t>v =</a:t>
            </a:r>
          </a:p>
          <a:p>
            <a:pPr eaLnBrk="1" hangingPunct="1">
              <a:lnSpc>
                <a:spcPct val="90000"/>
              </a:lnSpc>
              <a:buFont typeface="Wingdings" panose="05000000000000000000" pitchFamily="2" charset="2"/>
              <a:buNone/>
            </a:pPr>
            <a:r>
              <a:rPr lang="en-US" altLang="zh-CN" sz="2600" dirty="0"/>
              <a:t>    0.7787   -0.7320</a:t>
            </a:r>
          </a:p>
          <a:p>
            <a:pPr eaLnBrk="1" hangingPunct="1">
              <a:lnSpc>
                <a:spcPct val="90000"/>
              </a:lnSpc>
              <a:buFont typeface="Wingdings" panose="05000000000000000000" pitchFamily="2" charset="2"/>
              <a:buNone/>
            </a:pPr>
            <a:r>
              <a:rPr lang="en-US" altLang="zh-CN" sz="2600" dirty="0"/>
              <a:t>    0.6274    0.6813</a:t>
            </a:r>
          </a:p>
          <a:p>
            <a:pPr eaLnBrk="1" hangingPunct="1">
              <a:lnSpc>
                <a:spcPct val="90000"/>
              </a:lnSpc>
              <a:buFont typeface="Wingdings" panose="05000000000000000000" pitchFamily="2" charset="2"/>
              <a:buNone/>
            </a:pPr>
            <a:r>
              <a:rPr lang="en-US" altLang="zh-CN" sz="2600" dirty="0"/>
              <a:t>d =</a:t>
            </a:r>
          </a:p>
          <a:p>
            <a:pPr eaLnBrk="1" hangingPunct="1">
              <a:lnSpc>
                <a:spcPct val="90000"/>
              </a:lnSpc>
              <a:buFont typeface="Wingdings" panose="05000000000000000000" pitchFamily="2" charset="2"/>
              <a:buNone/>
            </a:pPr>
            <a:r>
              <a:rPr lang="en-US" altLang="zh-CN" sz="2600" dirty="0"/>
              <a:t>   15.4462         0</a:t>
            </a:r>
          </a:p>
          <a:p>
            <a:pPr eaLnBrk="1" hangingPunct="1">
              <a:lnSpc>
                <a:spcPct val="90000"/>
              </a:lnSpc>
              <a:buFont typeface="Wingdings" panose="05000000000000000000" pitchFamily="2" charset="2"/>
              <a:buNone/>
            </a:pPr>
            <a:r>
              <a:rPr lang="en-US" altLang="zh-CN" sz="2600" dirty="0"/>
              <a:t>         0    1.5538</a:t>
            </a:r>
          </a:p>
          <a:p>
            <a:pPr eaLnBrk="1" hangingPunct="1">
              <a:lnSpc>
                <a:spcPct val="90000"/>
              </a:lnSpc>
            </a:pPr>
            <a:endParaRPr lang="en-US" altLang="zh-CN" sz="2600" dirty="0"/>
          </a:p>
        </p:txBody>
      </p:sp>
      <p:sp>
        <p:nvSpPr>
          <p:cNvPr id="49156" name="Text Box 3">
            <a:extLst>
              <a:ext uri="{FF2B5EF4-FFF2-40B4-BE49-F238E27FC236}">
                <a16:creationId xmlns:a16="http://schemas.microsoft.com/office/drawing/2014/main" id="{2ECF0564-7942-42DC-9941-364168490FA9}"/>
              </a:ext>
            </a:extLst>
          </p:cNvPr>
          <p:cNvSpPr txBox="1">
            <a:spLocks noChangeArrowheads="1"/>
          </p:cNvSpPr>
          <p:nvPr/>
        </p:nvSpPr>
        <p:spPr bwMode="auto">
          <a:xfrm>
            <a:off x="4191000" y="914400"/>
            <a:ext cx="510698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t>求矩阵</a:t>
            </a:r>
            <a:r>
              <a:rPr kumimoji="1" lang="en-US" altLang="zh-CN" sz="2800"/>
              <a:t>A</a:t>
            </a:r>
            <a:r>
              <a:rPr kumimoji="1" lang="zh-CN" altLang="en-US" sz="2800"/>
              <a:t>的特征向量</a:t>
            </a:r>
            <a:r>
              <a:rPr kumimoji="1" lang="en-US" altLang="zh-CN" sz="2800"/>
              <a:t>V</a:t>
            </a:r>
            <a:r>
              <a:rPr kumimoji="1" lang="zh-CN" altLang="en-US" sz="2800"/>
              <a:t>及特征值</a:t>
            </a:r>
            <a:r>
              <a:rPr kumimoji="1" lang="en-US" altLang="zh-CN" sz="2800"/>
              <a:t>D</a:t>
            </a:r>
            <a:r>
              <a:rPr kumimoji="1" lang="zh-CN" altLang="en-US" sz="2800"/>
              <a:t>，满足</a:t>
            </a:r>
            <a:r>
              <a:rPr kumimoji="1" lang="en-US" altLang="zh-CN" sz="2800"/>
              <a:t>A*V=V*D</a:t>
            </a:r>
            <a:r>
              <a:rPr kumimoji="1" lang="zh-CN" altLang="en-US" sz="2800"/>
              <a:t>。其中</a:t>
            </a:r>
            <a:r>
              <a:rPr kumimoji="1" lang="en-US" altLang="zh-CN" sz="2800"/>
              <a:t>D</a:t>
            </a:r>
            <a:r>
              <a:rPr kumimoji="1" lang="zh-CN" altLang="en-US" sz="2800"/>
              <a:t>的对角线元素为特征值，</a:t>
            </a:r>
            <a:r>
              <a:rPr kumimoji="1" lang="en-US" altLang="zh-CN" sz="2800" b="1">
                <a:solidFill>
                  <a:srgbClr val="FF0000"/>
                </a:solidFill>
              </a:rPr>
              <a:t>V</a:t>
            </a:r>
            <a:r>
              <a:rPr kumimoji="1" lang="zh-CN" altLang="en-US" sz="2800" b="1">
                <a:solidFill>
                  <a:srgbClr val="FF0000"/>
                </a:solidFill>
              </a:rPr>
              <a:t>的列</a:t>
            </a:r>
            <a:r>
              <a:rPr kumimoji="1" lang="zh-CN" altLang="en-US" sz="2800"/>
              <a:t>为对应的特征向量。如果</a:t>
            </a:r>
            <a:r>
              <a:rPr kumimoji="1" lang="en-US" altLang="zh-CN" sz="2800"/>
              <a:t>D=eig(A)</a:t>
            </a:r>
            <a:r>
              <a:rPr kumimoji="1" lang="zh-CN" altLang="en-US" sz="2800"/>
              <a:t>则只返回特征值。</a:t>
            </a:r>
            <a:endParaRPr kumimoji="1" lang="zh-CN" altLang="en-US" sz="2400">
              <a:latin typeface="Times New Roman" panose="02020603050405020304" pitchFamily="18" charset="0"/>
            </a:endParaRPr>
          </a:p>
        </p:txBody>
      </p:sp>
      <p:sp>
        <p:nvSpPr>
          <p:cNvPr id="49157" name="Text Box 4">
            <a:extLst>
              <a:ext uri="{FF2B5EF4-FFF2-40B4-BE49-F238E27FC236}">
                <a16:creationId xmlns:a16="http://schemas.microsoft.com/office/drawing/2014/main" id="{63F1BF5E-672A-4DFF-9E05-CBE47F49820B}"/>
              </a:ext>
            </a:extLst>
          </p:cNvPr>
          <p:cNvSpPr txBox="1">
            <a:spLocks noChangeArrowheads="1"/>
          </p:cNvSpPr>
          <p:nvPr/>
        </p:nvSpPr>
        <p:spPr bwMode="auto">
          <a:xfrm>
            <a:off x="5029200" y="3657600"/>
            <a:ext cx="3740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rPr>
              <a:t>可以验证：</a:t>
            </a:r>
            <a:r>
              <a:rPr kumimoji="1" lang="en-US" altLang="zh-CN" sz="2800">
                <a:latin typeface="Times New Roman" panose="02020603050405020304" pitchFamily="18" charset="0"/>
              </a:rPr>
              <a:t>A*V=V*D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330B59F9-D42E-49D0-8585-1CF51E180C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13F6EC9-1633-4B93-AF05-447C4991B607}" type="slidenum">
              <a:rPr lang="en-US" altLang="zh-CN" smtClean="0">
                <a:latin typeface="Garamond" panose="02020404030301010803" pitchFamily="18" charset="0"/>
              </a:rPr>
              <a:pPr/>
              <a:t>32</a:t>
            </a:fld>
            <a:endParaRPr lang="en-US" altLang="zh-CN">
              <a:latin typeface="Garamond" panose="02020404030301010803" pitchFamily="18" charset="0"/>
            </a:endParaRPr>
          </a:p>
        </p:txBody>
      </p:sp>
      <p:sp>
        <p:nvSpPr>
          <p:cNvPr id="50179" name="Rectangle 2">
            <a:extLst>
              <a:ext uri="{FF2B5EF4-FFF2-40B4-BE49-F238E27FC236}">
                <a16:creationId xmlns:a16="http://schemas.microsoft.com/office/drawing/2014/main" id="{84B7DD09-C34E-4B5E-8197-A0B5DCDF1AFC}"/>
              </a:ext>
            </a:extLst>
          </p:cNvPr>
          <p:cNvSpPr>
            <a:spLocks noGrp="1" noChangeArrowheads="1"/>
          </p:cNvSpPr>
          <p:nvPr>
            <p:ph type="body" idx="1"/>
          </p:nvPr>
        </p:nvSpPr>
        <p:spPr>
          <a:xfrm>
            <a:off x="1143000" y="609600"/>
            <a:ext cx="8458200" cy="5638800"/>
          </a:xfrm>
        </p:spPr>
        <p:txBody>
          <a:bodyPr/>
          <a:lstStyle/>
          <a:p>
            <a:pPr eaLnBrk="1" hangingPunct="1">
              <a:lnSpc>
                <a:spcPct val="90000"/>
              </a:lnSpc>
              <a:buFont typeface="Wingdings" panose="05000000000000000000" pitchFamily="2" charset="2"/>
              <a:buNone/>
            </a:pPr>
            <a:r>
              <a:rPr lang="zh-CN" altLang="en-US" sz="2600" dirty="0"/>
              <a:t>（</a:t>
            </a:r>
            <a:r>
              <a:rPr lang="en-US" altLang="zh-CN" sz="2600" dirty="0"/>
              <a:t>3</a:t>
            </a:r>
            <a:r>
              <a:rPr lang="zh-CN" altLang="en-US" sz="2600" dirty="0"/>
              <a:t>）正交分解</a:t>
            </a:r>
          </a:p>
          <a:p>
            <a:pPr eaLnBrk="1" hangingPunct="1">
              <a:lnSpc>
                <a:spcPct val="90000"/>
              </a:lnSpc>
              <a:buFont typeface="Wingdings" panose="05000000000000000000" pitchFamily="2" charset="2"/>
              <a:buNone/>
            </a:pPr>
            <a:r>
              <a:rPr lang="en-US" altLang="zh-CN" sz="2600" dirty="0"/>
              <a:t>[Q,R]=</a:t>
            </a:r>
            <a:r>
              <a:rPr lang="en-US" altLang="zh-CN" sz="2600" dirty="0" err="1"/>
              <a:t>qr</a:t>
            </a:r>
            <a:r>
              <a:rPr lang="en-US" altLang="zh-CN" sz="2600" dirty="0"/>
              <a:t>(A)</a:t>
            </a:r>
          </a:p>
          <a:p>
            <a:pPr eaLnBrk="1" hangingPunct="1">
              <a:lnSpc>
                <a:spcPct val="90000"/>
              </a:lnSpc>
              <a:buFont typeface="Wingdings" panose="05000000000000000000" pitchFamily="2" charset="2"/>
              <a:buNone/>
            </a:pPr>
            <a:r>
              <a:rPr lang="zh-CN" altLang="en-US" sz="2600" dirty="0"/>
              <a:t>例： </a:t>
            </a:r>
            <a:r>
              <a:rPr lang="en-US" altLang="zh-CN" sz="2600" dirty="0"/>
              <a:t>a =</a:t>
            </a:r>
          </a:p>
          <a:p>
            <a:pPr eaLnBrk="1" hangingPunct="1">
              <a:lnSpc>
                <a:spcPct val="90000"/>
              </a:lnSpc>
              <a:buFont typeface="Wingdings" panose="05000000000000000000" pitchFamily="2" charset="2"/>
              <a:buNone/>
            </a:pPr>
            <a:r>
              <a:rPr lang="en-US" altLang="zh-CN" sz="2600" dirty="0"/>
              <a:t>           [9     8;</a:t>
            </a:r>
          </a:p>
          <a:p>
            <a:pPr eaLnBrk="1" hangingPunct="1">
              <a:lnSpc>
                <a:spcPct val="90000"/>
              </a:lnSpc>
              <a:buFont typeface="Wingdings" panose="05000000000000000000" pitchFamily="2" charset="2"/>
              <a:buNone/>
            </a:pPr>
            <a:r>
              <a:rPr lang="en-US" altLang="zh-CN" sz="2600" dirty="0"/>
              <a:t>           6     8]</a:t>
            </a:r>
          </a:p>
          <a:p>
            <a:pPr eaLnBrk="1" hangingPunct="1">
              <a:lnSpc>
                <a:spcPct val="90000"/>
              </a:lnSpc>
              <a:buFont typeface="Wingdings" panose="05000000000000000000" pitchFamily="2" charset="2"/>
              <a:buNone/>
            </a:pPr>
            <a:r>
              <a:rPr lang="en-US" altLang="zh-CN" sz="2600" dirty="0"/>
              <a:t>[</a:t>
            </a:r>
            <a:r>
              <a:rPr lang="en-US" altLang="zh-CN" sz="2600" dirty="0" err="1"/>
              <a:t>q,r</a:t>
            </a:r>
            <a:r>
              <a:rPr lang="en-US" altLang="zh-CN" sz="2600" dirty="0"/>
              <a:t>]=</a:t>
            </a:r>
            <a:r>
              <a:rPr lang="en-US" altLang="zh-CN" sz="2600" dirty="0" err="1"/>
              <a:t>qr</a:t>
            </a:r>
            <a:r>
              <a:rPr lang="en-US" altLang="zh-CN" sz="2600" dirty="0"/>
              <a:t>(a)</a:t>
            </a:r>
          </a:p>
          <a:p>
            <a:pPr eaLnBrk="1" hangingPunct="1">
              <a:lnSpc>
                <a:spcPct val="90000"/>
              </a:lnSpc>
              <a:buFont typeface="Wingdings" panose="05000000000000000000" pitchFamily="2" charset="2"/>
              <a:buNone/>
            </a:pPr>
            <a:r>
              <a:rPr lang="en-US" altLang="zh-CN" sz="2600" dirty="0"/>
              <a:t>q =</a:t>
            </a:r>
          </a:p>
          <a:p>
            <a:pPr eaLnBrk="1" hangingPunct="1">
              <a:lnSpc>
                <a:spcPct val="90000"/>
              </a:lnSpc>
              <a:buFont typeface="Wingdings" panose="05000000000000000000" pitchFamily="2" charset="2"/>
              <a:buNone/>
            </a:pPr>
            <a:r>
              <a:rPr lang="en-US" altLang="zh-CN" sz="2600" dirty="0"/>
              <a:t>   -0.8321   -0.5547</a:t>
            </a:r>
          </a:p>
          <a:p>
            <a:pPr eaLnBrk="1" hangingPunct="1">
              <a:lnSpc>
                <a:spcPct val="90000"/>
              </a:lnSpc>
              <a:buFont typeface="Wingdings" panose="05000000000000000000" pitchFamily="2" charset="2"/>
              <a:buNone/>
            </a:pPr>
            <a:r>
              <a:rPr lang="en-US" altLang="zh-CN" sz="2600" dirty="0"/>
              <a:t>   -0.5547    0.8321</a:t>
            </a:r>
          </a:p>
          <a:p>
            <a:pPr eaLnBrk="1" hangingPunct="1">
              <a:lnSpc>
                <a:spcPct val="90000"/>
              </a:lnSpc>
              <a:buFont typeface="Wingdings" panose="05000000000000000000" pitchFamily="2" charset="2"/>
              <a:buNone/>
            </a:pPr>
            <a:r>
              <a:rPr lang="en-US" altLang="zh-CN" sz="2600" dirty="0"/>
              <a:t>r =</a:t>
            </a:r>
          </a:p>
          <a:p>
            <a:pPr eaLnBrk="1" hangingPunct="1">
              <a:lnSpc>
                <a:spcPct val="90000"/>
              </a:lnSpc>
              <a:buFont typeface="Wingdings" panose="05000000000000000000" pitchFamily="2" charset="2"/>
              <a:buNone/>
            </a:pPr>
            <a:r>
              <a:rPr lang="en-US" altLang="zh-CN" sz="2600" dirty="0"/>
              <a:t>  -10.8167  -11.0940</a:t>
            </a:r>
          </a:p>
          <a:p>
            <a:pPr eaLnBrk="1" hangingPunct="1">
              <a:lnSpc>
                <a:spcPct val="90000"/>
              </a:lnSpc>
              <a:buFont typeface="Wingdings" panose="05000000000000000000" pitchFamily="2" charset="2"/>
              <a:buNone/>
            </a:pPr>
            <a:r>
              <a:rPr lang="en-US" altLang="zh-CN" sz="2600" dirty="0"/>
              <a:t>         0    2.2188</a:t>
            </a:r>
          </a:p>
          <a:p>
            <a:pPr eaLnBrk="1" hangingPunct="1">
              <a:lnSpc>
                <a:spcPct val="90000"/>
              </a:lnSpc>
            </a:pPr>
            <a:endParaRPr lang="en-US" altLang="zh-CN" sz="2600" dirty="0"/>
          </a:p>
        </p:txBody>
      </p:sp>
      <p:sp>
        <p:nvSpPr>
          <p:cNvPr id="50180" name="Text Box 3">
            <a:extLst>
              <a:ext uri="{FF2B5EF4-FFF2-40B4-BE49-F238E27FC236}">
                <a16:creationId xmlns:a16="http://schemas.microsoft.com/office/drawing/2014/main" id="{4EC7BFEF-F434-4436-A28F-F4A38980D477}"/>
              </a:ext>
            </a:extLst>
          </p:cNvPr>
          <p:cNvSpPr txBox="1">
            <a:spLocks noChangeArrowheads="1"/>
          </p:cNvSpPr>
          <p:nvPr/>
        </p:nvSpPr>
        <p:spPr bwMode="auto">
          <a:xfrm>
            <a:off x="4191000" y="914400"/>
            <a:ext cx="510698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t>将矩阵</a:t>
            </a:r>
            <a:r>
              <a:rPr kumimoji="1" lang="en-US" altLang="zh-CN" sz="2800" dirty="0"/>
              <a:t>A</a:t>
            </a:r>
            <a:r>
              <a:rPr kumimoji="1" lang="zh-CN" altLang="en-US" sz="2800" dirty="0"/>
              <a:t>做正交化分解，使得</a:t>
            </a:r>
            <a:r>
              <a:rPr kumimoji="1" lang="en-US" altLang="zh-CN" sz="2800" dirty="0"/>
              <a:t>Q*R=A</a:t>
            </a:r>
            <a:r>
              <a:rPr kumimoji="1" lang="zh-CN" altLang="en-US" sz="2800" dirty="0"/>
              <a:t>，其中</a:t>
            </a:r>
            <a:r>
              <a:rPr kumimoji="1" lang="en-US" altLang="zh-CN" sz="2800" dirty="0"/>
              <a:t>Q</a:t>
            </a:r>
            <a:r>
              <a:rPr kumimoji="1" lang="zh-CN" altLang="en-US" sz="2800" dirty="0"/>
              <a:t>为正交矩阵（其范数为</a:t>
            </a:r>
            <a:r>
              <a:rPr kumimoji="1" lang="en-US" altLang="zh-CN" sz="2800" dirty="0"/>
              <a:t>1</a:t>
            </a:r>
            <a:r>
              <a:rPr kumimoji="1" lang="zh-CN" altLang="en-US" sz="2800" dirty="0"/>
              <a:t>，指令</a:t>
            </a:r>
            <a:r>
              <a:rPr kumimoji="1" lang="en-US" altLang="zh-CN" sz="2800" dirty="0"/>
              <a:t>norm(Q)=1)</a:t>
            </a:r>
            <a:r>
              <a:rPr kumimoji="1" lang="zh-CN" altLang="en-US" sz="2800" dirty="0"/>
              <a:t>，</a:t>
            </a:r>
            <a:r>
              <a:rPr kumimoji="1" lang="en-US" altLang="zh-CN" sz="2800" dirty="0"/>
              <a:t>R</a:t>
            </a:r>
            <a:r>
              <a:rPr kumimoji="1" lang="zh-CN" altLang="en-US" sz="2800" dirty="0"/>
              <a:t>为对角化的上三角矩阵。</a:t>
            </a:r>
            <a:endParaRPr kumimoji="1" lang="zh-CN" altLang="en-US" sz="2400" dirty="0">
              <a:latin typeface="Times New Roman" panose="02020603050405020304" pitchFamily="18" charset="0"/>
            </a:endParaRPr>
          </a:p>
        </p:txBody>
      </p:sp>
      <p:sp>
        <p:nvSpPr>
          <p:cNvPr id="50181" name="Text Box 4">
            <a:extLst>
              <a:ext uri="{FF2B5EF4-FFF2-40B4-BE49-F238E27FC236}">
                <a16:creationId xmlns:a16="http://schemas.microsoft.com/office/drawing/2014/main" id="{25C822B6-D819-4987-B92A-940F41023A06}"/>
              </a:ext>
            </a:extLst>
          </p:cNvPr>
          <p:cNvSpPr txBox="1">
            <a:spLocks noChangeArrowheads="1"/>
          </p:cNvSpPr>
          <p:nvPr/>
        </p:nvSpPr>
        <p:spPr bwMode="auto">
          <a:xfrm>
            <a:off x="4876800" y="3657600"/>
            <a:ext cx="1676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norm(q)      </a:t>
            </a:r>
          </a:p>
          <a:p>
            <a:pPr eaLnBrk="1" hangingPunct="1"/>
            <a:r>
              <a:rPr kumimoji="1" lang="en-US" altLang="zh-CN" sz="2800">
                <a:latin typeface="Times New Roman" panose="02020603050405020304" pitchFamily="18" charset="0"/>
              </a:rPr>
              <a:t>ans =</a:t>
            </a:r>
          </a:p>
          <a:p>
            <a:pPr eaLnBrk="1" hangingPunct="1"/>
            <a:r>
              <a:rPr kumimoji="1" lang="en-US" altLang="zh-CN" sz="2800">
                <a:latin typeface="Times New Roman" panose="02020603050405020304" pitchFamily="18" charset="0"/>
              </a:rPr>
              <a:t>     1</a:t>
            </a:r>
          </a:p>
        </p:txBody>
      </p:sp>
      <p:sp>
        <p:nvSpPr>
          <p:cNvPr id="50182" name="Text Box 5">
            <a:extLst>
              <a:ext uri="{FF2B5EF4-FFF2-40B4-BE49-F238E27FC236}">
                <a16:creationId xmlns:a16="http://schemas.microsoft.com/office/drawing/2014/main" id="{01A20E72-9B84-496D-90AA-1FC02F1FA447}"/>
              </a:ext>
            </a:extLst>
          </p:cNvPr>
          <p:cNvSpPr txBox="1">
            <a:spLocks noChangeArrowheads="1"/>
          </p:cNvSpPr>
          <p:nvPr/>
        </p:nvSpPr>
        <p:spPr bwMode="auto">
          <a:xfrm>
            <a:off x="6477000" y="3657600"/>
            <a:ext cx="2971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dirty="0">
                <a:latin typeface="Times New Roman" panose="02020603050405020304" pitchFamily="18" charset="0"/>
              </a:rPr>
              <a:t>q*r</a:t>
            </a:r>
          </a:p>
          <a:p>
            <a:pPr eaLnBrk="1" hangingPunct="1"/>
            <a:r>
              <a:rPr kumimoji="1" lang="en-US" altLang="zh-CN" sz="2800" dirty="0" err="1">
                <a:latin typeface="Times New Roman" panose="02020603050405020304" pitchFamily="18" charset="0"/>
              </a:rPr>
              <a:t>ans</a:t>
            </a:r>
            <a:r>
              <a:rPr kumimoji="1" lang="en-US" altLang="zh-CN" sz="2800" dirty="0">
                <a:latin typeface="Times New Roman" panose="02020603050405020304" pitchFamily="18" charset="0"/>
              </a:rPr>
              <a:t> =</a:t>
            </a:r>
          </a:p>
          <a:p>
            <a:pPr eaLnBrk="1" hangingPunct="1"/>
            <a:r>
              <a:rPr kumimoji="1" lang="en-US" altLang="zh-CN" sz="2800" dirty="0">
                <a:latin typeface="Times New Roman" panose="02020603050405020304" pitchFamily="18" charset="0"/>
              </a:rPr>
              <a:t>    9.0000    8.0000</a:t>
            </a:r>
          </a:p>
          <a:p>
            <a:pPr eaLnBrk="1" hangingPunct="1"/>
            <a:r>
              <a:rPr kumimoji="1" lang="en-US" altLang="zh-CN" sz="2800" dirty="0">
                <a:latin typeface="Times New Roman" panose="02020603050405020304" pitchFamily="18" charset="0"/>
              </a:rPr>
              <a:t>    6.0000    8.0000</a:t>
            </a:r>
            <a:endParaRPr kumimoji="1" lang="en-US" altLang="zh-CN" sz="2400" dirty="0">
              <a:latin typeface="Times New Roman" panose="02020603050405020304" pitchFamily="18"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99C04E83-83A1-4289-9318-67EFFB46A2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3266ED-441C-45D0-A9DF-368995820821}" type="slidenum">
              <a:rPr lang="en-US" altLang="zh-CN" smtClean="0">
                <a:latin typeface="Garamond" panose="02020404030301010803" pitchFamily="18" charset="0"/>
              </a:rPr>
              <a:pPr/>
              <a:t>33</a:t>
            </a:fld>
            <a:endParaRPr lang="en-US" altLang="zh-CN">
              <a:latin typeface="Garamond" panose="02020404030301010803" pitchFamily="18" charset="0"/>
            </a:endParaRPr>
          </a:p>
        </p:txBody>
      </p:sp>
      <p:sp>
        <p:nvSpPr>
          <p:cNvPr id="52227" name="Rectangle 2">
            <a:extLst>
              <a:ext uri="{FF2B5EF4-FFF2-40B4-BE49-F238E27FC236}">
                <a16:creationId xmlns:a16="http://schemas.microsoft.com/office/drawing/2014/main" id="{35428458-9039-4193-ADF4-2B873EABCA16}"/>
              </a:ext>
            </a:extLst>
          </p:cNvPr>
          <p:cNvSpPr>
            <a:spLocks noGrp="1" noChangeArrowheads="1"/>
          </p:cNvSpPr>
          <p:nvPr>
            <p:ph type="body" idx="1"/>
          </p:nvPr>
        </p:nvSpPr>
        <p:spPr>
          <a:xfrm>
            <a:off x="920750" y="476250"/>
            <a:ext cx="8680450" cy="5772150"/>
          </a:xfrm>
        </p:spPr>
        <p:txBody>
          <a:bodyPr/>
          <a:lstStyle/>
          <a:p>
            <a:pPr eaLnBrk="1" hangingPunct="1">
              <a:buFont typeface="Wingdings" panose="05000000000000000000" pitchFamily="2" charset="2"/>
              <a:buNone/>
            </a:pPr>
            <a:r>
              <a:rPr lang="zh-CN" altLang="en-US" sz="2600" dirty="0"/>
              <a:t>（</a:t>
            </a:r>
            <a:r>
              <a:rPr lang="en-US" altLang="zh-CN" sz="2600" dirty="0"/>
              <a:t>4</a:t>
            </a:r>
            <a:r>
              <a:rPr lang="zh-CN" altLang="en-US" sz="2600" dirty="0"/>
              <a:t>）三角分解</a:t>
            </a:r>
          </a:p>
          <a:p>
            <a:pPr eaLnBrk="1" hangingPunct="1">
              <a:buFont typeface="Wingdings" panose="05000000000000000000" pitchFamily="2" charset="2"/>
              <a:buNone/>
            </a:pPr>
            <a:r>
              <a:rPr lang="en-US" altLang="zh-CN" sz="2600" dirty="0"/>
              <a:t>[L,U]=</a:t>
            </a:r>
            <a:r>
              <a:rPr lang="en-US" altLang="zh-CN" sz="2600" dirty="0" err="1"/>
              <a:t>lu</a:t>
            </a:r>
            <a:r>
              <a:rPr lang="en-US" altLang="zh-CN" sz="2600" dirty="0"/>
              <a:t>(A)</a:t>
            </a:r>
          </a:p>
          <a:p>
            <a:pPr eaLnBrk="1" hangingPunct="1"/>
            <a:r>
              <a:rPr lang="zh-CN" altLang="en-US" sz="2600" dirty="0"/>
              <a:t>将</a:t>
            </a:r>
            <a:r>
              <a:rPr lang="en-US" altLang="zh-CN" sz="2600" dirty="0"/>
              <a:t>A</a:t>
            </a:r>
            <a:r>
              <a:rPr lang="zh-CN" altLang="en-US" sz="2600" dirty="0"/>
              <a:t>做对角线分解，使得</a:t>
            </a:r>
            <a:r>
              <a:rPr lang="en-US" altLang="zh-CN" sz="2600" dirty="0"/>
              <a:t>A=L*U,</a:t>
            </a:r>
            <a:r>
              <a:rPr lang="zh-CN" altLang="en-US" sz="2600" dirty="0"/>
              <a:t>其中</a:t>
            </a:r>
            <a:r>
              <a:rPr lang="en-US" altLang="zh-CN" sz="2600" dirty="0"/>
              <a:t>L</a:t>
            </a:r>
            <a:r>
              <a:rPr lang="zh-CN" altLang="en-US" sz="2600" dirty="0"/>
              <a:t>为下三角矩阵，</a:t>
            </a:r>
            <a:r>
              <a:rPr lang="en-US" altLang="zh-CN" sz="2600" dirty="0"/>
              <a:t>U</a:t>
            </a:r>
            <a:r>
              <a:rPr lang="zh-CN" altLang="en-US" sz="2600" dirty="0"/>
              <a:t>为上三角矩阵。</a:t>
            </a:r>
          </a:p>
          <a:p>
            <a:pPr eaLnBrk="1" hangingPunct="1"/>
            <a:r>
              <a:rPr lang="zh-CN" altLang="en-US" sz="2600" dirty="0"/>
              <a:t>注意：</a:t>
            </a:r>
            <a:r>
              <a:rPr lang="en-US" altLang="zh-CN" sz="2600" dirty="0"/>
              <a:t>L</a:t>
            </a:r>
            <a:r>
              <a:rPr lang="zh-CN" altLang="en-US" sz="2600" dirty="0"/>
              <a:t>实际上是一个“心理上”的下三角矩阵，它事实上是一个置换矩阵</a:t>
            </a:r>
            <a:r>
              <a:rPr lang="en-US" altLang="zh-CN" sz="2600" dirty="0"/>
              <a:t>P</a:t>
            </a:r>
            <a:r>
              <a:rPr lang="zh-CN" altLang="en-US" sz="2600" dirty="0"/>
              <a:t>的逆矩阵与一个真正下三角矩阵</a:t>
            </a:r>
            <a:r>
              <a:rPr lang="en-US" altLang="zh-CN" sz="2600" dirty="0"/>
              <a:t>L1</a:t>
            </a:r>
            <a:r>
              <a:rPr lang="zh-CN" altLang="en-US" sz="2600" dirty="0"/>
              <a:t>（其对角线元素为</a:t>
            </a:r>
            <a:r>
              <a:rPr lang="en-US" altLang="zh-CN" sz="2600" dirty="0"/>
              <a:t>1</a:t>
            </a:r>
            <a:r>
              <a:rPr lang="zh-CN" altLang="en-US" sz="2600" dirty="0"/>
              <a:t>）的乘积。</a:t>
            </a:r>
          </a:p>
          <a:p>
            <a:pPr eaLnBrk="1" hangingPunct="1">
              <a:buFont typeface="Wingdings" panose="05000000000000000000" pitchFamily="2" charset="2"/>
              <a:buNone/>
            </a:pPr>
            <a:r>
              <a:rPr lang="en-US" altLang="zh-CN" sz="2600" dirty="0"/>
              <a:t>[L1,U1,P]=</a:t>
            </a:r>
            <a:r>
              <a:rPr lang="en-US" altLang="zh-CN" sz="2600" dirty="0" err="1"/>
              <a:t>lu</a:t>
            </a:r>
            <a:r>
              <a:rPr lang="en-US" altLang="zh-CN" sz="2600" dirty="0"/>
              <a:t>(A)</a:t>
            </a:r>
          </a:p>
          <a:p>
            <a:pPr eaLnBrk="1" hangingPunct="1">
              <a:buFont typeface="Wingdings" panose="05000000000000000000" pitchFamily="2" charset="2"/>
              <a:buNone/>
            </a:pPr>
            <a:r>
              <a:rPr lang="zh-CN" altLang="en-US" sz="2600" dirty="0"/>
              <a:t>例：</a:t>
            </a:r>
            <a:r>
              <a:rPr lang="en-US" altLang="zh-CN" sz="2600" dirty="0"/>
              <a:t>a=[1 2 3;4 5 6;7 8 9]</a:t>
            </a:r>
          </a:p>
          <a:p>
            <a:pPr eaLnBrk="1" hangingPunct="1">
              <a:buFont typeface="Wingdings" panose="05000000000000000000" pitchFamily="2" charset="2"/>
              <a:buNone/>
            </a:pPr>
            <a:r>
              <a:rPr lang="en-US" altLang="zh-CN" sz="2600" dirty="0"/>
              <a:t> </a:t>
            </a:r>
            <a:r>
              <a:rPr lang="zh-CN" altLang="en-US" sz="2600" dirty="0"/>
              <a:t>比较：  </a:t>
            </a:r>
            <a:r>
              <a:rPr lang="en-US" altLang="zh-CN" sz="2600" dirty="0"/>
              <a:t>[l1,u1,p]=</a:t>
            </a:r>
            <a:r>
              <a:rPr lang="en-US" altLang="zh-CN" sz="2600" dirty="0" err="1"/>
              <a:t>lu</a:t>
            </a:r>
            <a:r>
              <a:rPr lang="en-US" altLang="zh-CN" sz="2600" dirty="0"/>
              <a:t>(a)                    [</a:t>
            </a:r>
            <a:r>
              <a:rPr lang="en-US" altLang="zh-CN" sz="2600" dirty="0" err="1"/>
              <a:t>l,u</a:t>
            </a:r>
            <a:r>
              <a:rPr lang="en-US" altLang="zh-CN" sz="2600" dirty="0"/>
              <a:t>]=</a:t>
            </a:r>
            <a:r>
              <a:rPr lang="en-US" altLang="zh-CN" sz="2600" dirty="0" err="1"/>
              <a:t>lu</a:t>
            </a:r>
            <a:r>
              <a:rPr lang="en-US" altLang="zh-CN" sz="2600" dirty="0"/>
              <a:t>(a)</a:t>
            </a:r>
          </a:p>
          <a:p>
            <a:pPr eaLnBrk="1" hangingPunct="1">
              <a:buFont typeface="Wingdings" panose="05000000000000000000" pitchFamily="2" charset="2"/>
              <a:buNone/>
            </a:pPr>
            <a:endParaRPr lang="en-US" altLang="zh-CN" sz="2600"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D3FAC741-93E6-4A9C-93A3-864C0B488E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837236C-A8FE-4B99-BA77-2C8C115CA53C}" type="slidenum">
              <a:rPr lang="en-US" altLang="zh-CN" smtClean="0">
                <a:latin typeface="Garamond" panose="02020404030301010803" pitchFamily="18" charset="0"/>
              </a:rPr>
              <a:pPr/>
              <a:t>34</a:t>
            </a:fld>
            <a:endParaRPr lang="en-US" altLang="zh-CN">
              <a:latin typeface="Garamond" panose="02020404030301010803" pitchFamily="18" charset="0"/>
            </a:endParaRPr>
          </a:p>
        </p:txBody>
      </p:sp>
      <p:sp>
        <p:nvSpPr>
          <p:cNvPr id="54275" name="Rectangle 2">
            <a:extLst>
              <a:ext uri="{FF2B5EF4-FFF2-40B4-BE49-F238E27FC236}">
                <a16:creationId xmlns:a16="http://schemas.microsoft.com/office/drawing/2014/main" id="{D6449FA8-52A1-4590-B361-E07A2FCFB069}"/>
              </a:ext>
            </a:extLst>
          </p:cNvPr>
          <p:cNvSpPr>
            <a:spLocks noGrp="1" noChangeArrowheads="1"/>
          </p:cNvSpPr>
          <p:nvPr>
            <p:ph type="body" idx="1"/>
          </p:nvPr>
        </p:nvSpPr>
        <p:spPr>
          <a:xfrm>
            <a:off x="920750" y="336550"/>
            <a:ext cx="4191000" cy="6477000"/>
          </a:xfrm>
        </p:spPr>
        <p:txBody>
          <a:bodyPr/>
          <a:lstStyle/>
          <a:p>
            <a:pPr eaLnBrk="1" hangingPunct="1">
              <a:buFont typeface="Wingdings" panose="05000000000000000000" pitchFamily="2" charset="2"/>
              <a:buNone/>
            </a:pPr>
            <a:r>
              <a:rPr lang="en-US" altLang="zh-CN" sz="2600">
                <a:latin typeface="Times New Roman" panose="02020603050405020304" pitchFamily="18" charset="0"/>
              </a:rPr>
              <a:t>l1 =</a:t>
            </a:r>
          </a:p>
          <a:p>
            <a:pPr eaLnBrk="1" hangingPunct="1">
              <a:buFont typeface="Wingdings" panose="05000000000000000000" pitchFamily="2" charset="2"/>
              <a:buNone/>
            </a:pPr>
            <a:r>
              <a:rPr lang="en-US" altLang="zh-CN" sz="2600">
                <a:latin typeface="Times New Roman" panose="02020603050405020304" pitchFamily="18" charset="0"/>
              </a:rPr>
              <a:t>    1.00         0         0</a:t>
            </a:r>
          </a:p>
          <a:p>
            <a:pPr eaLnBrk="1" hangingPunct="1">
              <a:buFont typeface="Wingdings" panose="05000000000000000000" pitchFamily="2" charset="2"/>
              <a:buNone/>
            </a:pPr>
            <a:r>
              <a:rPr lang="en-US" altLang="zh-CN" sz="2600">
                <a:latin typeface="Times New Roman" panose="02020603050405020304" pitchFamily="18" charset="0"/>
              </a:rPr>
              <a:t>    0.14    1.00         0</a:t>
            </a:r>
          </a:p>
          <a:p>
            <a:pPr eaLnBrk="1" hangingPunct="1">
              <a:buFont typeface="Wingdings" panose="05000000000000000000" pitchFamily="2" charset="2"/>
              <a:buNone/>
            </a:pPr>
            <a:r>
              <a:rPr lang="en-US" altLang="zh-CN" sz="2600">
                <a:latin typeface="Times New Roman" panose="02020603050405020304" pitchFamily="18" charset="0"/>
              </a:rPr>
              <a:t>    0.57    0.50    1.00</a:t>
            </a:r>
          </a:p>
          <a:p>
            <a:pPr eaLnBrk="1" hangingPunct="1">
              <a:buFont typeface="Wingdings" panose="05000000000000000000" pitchFamily="2" charset="2"/>
              <a:buNone/>
            </a:pPr>
            <a:r>
              <a:rPr lang="en-US" altLang="zh-CN" sz="2600">
                <a:latin typeface="Times New Roman" panose="02020603050405020304" pitchFamily="18" charset="0"/>
              </a:rPr>
              <a:t>u1 =</a:t>
            </a:r>
          </a:p>
          <a:p>
            <a:pPr eaLnBrk="1" hangingPunct="1">
              <a:buFont typeface="Wingdings" panose="05000000000000000000" pitchFamily="2" charset="2"/>
              <a:buNone/>
            </a:pPr>
            <a:r>
              <a:rPr lang="en-US" altLang="zh-CN" sz="2600">
                <a:latin typeface="Times New Roman" panose="02020603050405020304" pitchFamily="18" charset="0"/>
              </a:rPr>
              <a:t>    7.00    8.00    9.00</a:t>
            </a:r>
          </a:p>
          <a:p>
            <a:pPr eaLnBrk="1" hangingPunct="1">
              <a:buFont typeface="Wingdings" panose="05000000000000000000" pitchFamily="2" charset="2"/>
              <a:buNone/>
            </a:pPr>
            <a:r>
              <a:rPr lang="en-US" altLang="zh-CN" sz="2600">
                <a:latin typeface="Times New Roman" panose="02020603050405020304" pitchFamily="18" charset="0"/>
              </a:rPr>
              <a:t>         0    0.86    1.71</a:t>
            </a:r>
          </a:p>
          <a:p>
            <a:pPr eaLnBrk="1" hangingPunct="1">
              <a:buFont typeface="Wingdings" panose="05000000000000000000" pitchFamily="2" charset="2"/>
              <a:buNone/>
            </a:pPr>
            <a:r>
              <a:rPr lang="en-US" altLang="zh-CN" sz="2600">
                <a:latin typeface="Times New Roman" panose="02020603050405020304" pitchFamily="18" charset="0"/>
              </a:rPr>
              <a:t>         0         0    0.00</a:t>
            </a:r>
          </a:p>
          <a:p>
            <a:pPr eaLnBrk="1" hangingPunct="1">
              <a:buFont typeface="Wingdings" panose="05000000000000000000" pitchFamily="2" charset="2"/>
              <a:buNone/>
            </a:pPr>
            <a:r>
              <a:rPr lang="en-US" altLang="zh-CN" sz="2600">
                <a:latin typeface="Times New Roman" panose="02020603050405020304" pitchFamily="18" charset="0"/>
              </a:rPr>
              <a:t>p =</a:t>
            </a:r>
          </a:p>
          <a:p>
            <a:pPr eaLnBrk="1" hangingPunct="1">
              <a:buFont typeface="Wingdings" panose="05000000000000000000" pitchFamily="2" charset="2"/>
              <a:buNone/>
            </a:pPr>
            <a:r>
              <a:rPr lang="en-US" altLang="zh-CN" sz="2600">
                <a:latin typeface="Times New Roman" panose="02020603050405020304" pitchFamily="18" charset="0"/>
              </a:rPr>
              <a:t>     0     0     1</a:t>
            </a:r>
          </a:p>
          <a:p>
            <a:pPr eaLnBrk="1" hangingPunct="1">
              <a:buFont typeface="Wingdings" panose="05000000000000000000" pitchFamily="2" charset="2"/>
              <a:buNone/>
            </a:pPr>
            <a:r>
              <a:rPr lang="en-US" altLang="zh-CN" sz="2600">
                <a:latin typeface="Times New Roman" panose="02020603050405020304" pitchFamily="18" charset="0"/>
              </a:rPr>
              <a:t>     1     0     0</a:t>
            </a:r>
          </a:p>
          <a:p>
            <a:pPr eaLnBrk="1" hangingPunct="1">
              <a:buFont typeface="Wingdings" panose="05000000000000000000" pitchFamily="2" charset="2"/>
              <a:buNone/>
            </a:pPr>
            <a:r>
              <a:rPr lang="en-US" altLang="zh-CN" sz="2600">
                <a:latin typeface="Times New Roman" panose="02020603050405020304" pitchFamily="18" charset="0"/>
              </a:rPr>
              <a:t>     0     1     0</a:t>
            </a:r>
            <a:endParaRPr lang="en-US" altLang="zh-CN" sz="2600"/>
          </a:p>
          <a:p>
            <a:pPr eaLnBrk="1" hangingPunct="1"/>
            <a:endParaRPr lang="en-US" altLang="zh-CN"/>
          </a:p>
        </p:txBody>
      </p:sp>
      <p:sp>
        <p:nvSpPr>
          <p:cNvPr id="54276" name="Rectangle 3">
            <a:extLst>
              <a:ext uri="{FF2B5EF4-FFF2-40B4-BE49-F238E27FC236}">
                <a16:creationId xmlns:a16="http://schemas.microsoft.com/office/drawing/2014/main" id="{7CACC870-9C8B-4BCE-81CC-C301EB3AF156}"/>
              </a:ext>
            </a:extLst>
          </p:cNvPr>
          <p:cNvSpPr>
            <a:spLocks noChangeArrowheads="1"/>
          </p:cNvSpPr>
          <p:nvPr/>
        </p:nvSpPr>
        <p:spPr bwMode="auto">
          <a:xfrm>
            <a:off x="5264150" y="260350"/>
            <a:ext cx="4343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latin typeface="Times New Roman" panose="02020603050405020304" pitchFamily="18" charset="0"/>
              </a:rPr>
              <a:t>l =                                                    </a:t>
            </a:r>
          </a:p>
          <a:p>
            <a:pPr eaLnBrk="1" hangingPunct="1"/>
            <a:r>
              <a:rPr kumimoji="1" lang="en-US" altLang="zh-CN" sz="2800">
                <a:latin typeface="Times New Roman" panose="02020603050405020304" pitchFamily="18" charset="0"/>
              </a:rPr>
              <a:t>    0.14    1.00         0</a:t>
            </a:r>
          </a:p>
          <a:p>
            <a:pPr eaLnBrk="1" hangingPunct="1"/>
            <a:r>
              <a:rPr kumimoji="1" lang="en-US" altLang="zh-CN" sz="2800">
                <a:latin typeface="Times New Roman" panose="02020603050405020304" pitchFamily="18" charset="0"/>
              </a:rPr>
              <a:t>    0.57    0.50    1.00</a:t>
            </a:r>
          </a:p>
          <a:p>
            <a:pPr eaLnBrk="1" hangingPunct="1"/>
            <a:r>
              <a:rPr kumimoji="1" lang="en-US" altLang="zh-CN" sz="2800">
                <a:latin typeface="Times New Roman" panose="02020603050405020304" pitchFamily="18" charset="0"/>
              </a:rPr>
              <a:t>    1.00         0         0</a:t>
            </a:r>
          </a:p>
          <a:p>
            <a:pPr eaLnBrk="1" hangingPunct="1"/>
            <a:r>
              <a:rPr kumimoji="1" lang="en-US" altLang="zh-CN" sz="2800">
                <a:latin typeface="Times New Roman" panose="02020603050405020304" pitchFamily="18" charset="0"/>
              </a:rPr>
              <a:t>u =</a:t>
            </a:r>
          </a:p>
          <a:p>
            <a:pPr eaLnBrk="1" hangingPunct="1"/>
            <a:r>
              <a:rPr kumimoji="1" lang="en-US" altLang="zh-CN" sz="2800">
                <a:latin typeface="Times New Roman" panose="02020603050405020304" pitchFamily="18" charset="0"/>
              </a:rPr>
              <a:t>    7.00    8.00    9.00</a:t>
            </a:r>
          </a:p>
          <a:p>
            <a:pPr eaLnBrk="1" hangingPunct="1"/>
            <a:r>
              <a:rPr kumimoji="1" lang="en-US" altLang="zh-CN" sz="2800">
                <a:latin typeface="Times New Roman" panose="02020603050405020304" pitchFamily="18" charset="0"/>
              </a:rPr>
              <a:t>         0    0.86    1.71</a:t>
            </a:r>
          </a:p>
          <a:p>
            <a:pPr eaLnBrk="1" hangingPunct="1"/>
            <a:r>
              <a:rPr kumimoji="1" lang="en-US" altLang="zh-CN" sz="2800">
                <a:latin typeface="Times New Roman" panose="02020603050405020304" pitchFamily="18" charset="0"/>
              </a:rPr>
              <a:t>         0         0    0.00</a:t>
            </a:r>
          </a:p>
        </p:txBody>
      </p:sp>
      <p:sp>
        <p:nvSpPr>
          <p:cNvPr id="54277" name="Text Box 4">
            <a:extLst>
              <a:ext uri="{FF2B5EF4-FFF2-40B4-BE49-F238E27FC236}">
                <a16:creationId xmlns:a16="http://schemas.microsoft.com/office/drawing/2014/main" id="{61401168-9641-4CC3-85A6-EECB639B0862}"/>
              </a:ext>
            </a:extLst>
          </p:cNvPr>
          <p:cNvSpPr txBox="1">
            <a:spLocks noChangeArrowheads="1"/>
          </p:cNvSpPr>
          <p:nvPr/>
        </p:nvSpPr>
        <p:spPr bwMode="auto">
          <a:xfrm>
            <a:off x="5264150" y="3765550"/>
            <a:ext cx="3810000" cy="244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rPr>
              <a:t>可以验证：</a:t>
            </a:r>
          </a:p>
          <a:p>
            <a:pPr eaLnBrk="1" hangingPunct="1">
              <a:spcBef>
                <a:spcPct val="50000"/>
              </a:spcBef>
            </a:pPr>
            <a:r>
              <a:rPr kumimoji="1" lang="en-US" altLang="zh-CN" sz="2800">
                <a:latin typeface="Times New Roman" panose="02020603050405020304" pitchFamily="18" charset="0"/>
              </a:rPr>
              <a:t>u1=u</a:t>
            </a:r>
            <a:r>
              <a:rPr kumimoji="1" lang="zh-CN" altLang="en-US" sz="2800">
                <a:latin typeface="Times New Roman" panose="02020603050405020304" pitchFamily="18" charset="0"/>
              </a:rPr>
              <a:t>，</a:t>
            </a:r>
            <a:r>
              <a:rPr kumimoji="1" lang="en-US" altLang="zh-CN" sz="2800">
                <a:latin typeface="Times New Roman" panose="02020603050405020304" pitchFamily="18" charset="0"/>
              </a:rPr>
              <a:t>inv(p)*l1=l</a:t>
            </a:r>
          </a:p>
          <a:p>
            <a:pPr eaLnBrk="1" hangingPunct="1">
              <a:spcBef>
                <a:spcPct val="50000"/>
              </a:spcBef>
            </a:pPr>
            <a:r>
              <a:rPr kumimoji="1" lang="en-US" altLang="zh-CN" sz="2800">
                <a:latin typeface="Times New Roman" panose="02020603050405020304" pitchFamily="18" charset="0"/>
              </a:rPr>
              <a:t>a=l*u</a:t>
            </a:r>
          </a:p>
          <a:p>
            <a:pPr eaLnBrk="1" hangingPunct="1">
              <a:spcBef>
                <a:spcPct val="50000"/>
              </a:spcBef>
            </a:pPr>
            <a:r>
              <a:rPr kumimoji="1" lang="en-US" altLang="zh-CN" sz="2800">
                <a:latin typeface="Times New Roman" panose="02020603050405020304" pitchFamily="18" charset="0"/>
              </a:rPr>
              <a:t>p*a=l1*u1</a:t>
            </a:r>
            <a:endParaRPr kumimoji="1" lang="en-US" altLang="zh-CN" sz="2400">
              <a:latin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B74C1241-E8F2-49CF-A7AC-975751823B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AED239B-86E2-4963-AD56-EB5968851944}" type="slidenum">
              <a:rPr lang="en-US" altLang="zh-CN" sz="1200" smtClean="0">
                <a:latin typeface="Garamond" panose="02020404030301010803" pitchFamily="18" charset="0"/>
              </a:rPr>
              <a:pPr>
                <a:spcBef>
                  <a:spcPct val="0"/>
                </a:spcBef>
                <a:buClrTx/>
                <a:buSzTx/>
                <a:buFontTx/>
                <a:buNone/>
              </a:pPr>
              <a:t>35</a:t>
            </a:fld>
            <a:endParaRPr lang="en-US" altLang="zh-CN" sz="1200">
              <a:latin typeface="Garamond" panose="02020404030301010803" pitchFamily="18" charset="0"/>
            </a:endParaRPr>
          </a:p>
        </p:txBody>
      </p:sp>
      <p:sp>
        <p:nvSpPr>
          <p:cNvPr id="56323" name="Rectangle 2">
            <a:extLst>
              <a:ext uri="{FF2B5EF4-FFF2-40B4-BE49-F238E27FC236}">
                <a16:creationId xmlns:a16="http://schemas.microsoft.com/office/drawing/2014/main" id="{57DABB4C-473E-4D4A-9154-5E65FF2E47EC}"/>
              </a:ext>
            </a:extLst>
          </p:cNvPr>
          <p:cNvSpPr>
            <a:spLocks noGrp="1" noChangeArrowheads="1"/>
          </p:cNvSpPr>
          <p:nvPr>
            <p:ph type="title"/>
          </p:nvPr>
        </p:nvSpPr>
        <p:spPr>
          <a:xfrm>
            <a:off x="1143000" y="457200"/>
            <a:ext cx="8420100" cy="762000"/>
          </a:xfrm>
        </p:spPr>
        <p:txBody>
          <a:bodyPr/>
          <a:lstStyle/>
          <a:p>
            <a:pPr eaLnBrk="1" hangingPunct="1"/>
            <a:r>
              <a:rPr lang="zh-CN" altLang="en-US" sz="2900"/>
              <a:t>第三节、绘图简介</a:t>
            </a:r>
          </a:p>
        </p:txBody>
      </p:sp>
      <p:sp>
        <p:nvSpPr>
          <p:cNvPr id="98307" name="Rectangle 3">
            <a:extLst>
              <a:ext uri="{FF2B5EF4-FFF2-40B4-BE49-F238E27FC236}">
                <a16:creationId xmlns:a16="http://schemas.microsoft.com/office/drawing/2014/main" id="{2231F8E7-9B24-480A-B4C6-D4135199F5D1}"/>
              </a:ext>
            </a:extLst>
          </p:cNvPr>
          <p:cNvSpPr>
            <a:spLocks noGrp="1" noChangeArrowheads="1"/>
          </p:cNvSpPr>
          <p:nvPr>
            <p:ph type="body" idx="1"/>
          </p:nvPr>
        </p:nvSpPr>
        <p:spPr>
          <a:xfrm>
            <a:off x="1219200" y="1066800"/>
            <a:ext cx="8229600" cy="1905000"/>
          </a:xfrm>
        </p:spPr>
        <p:txBody>
          <a:bodyPr/>
          <a:lstStyle/>
          <a:p>
            <a:pPr eaLnBrk="1" hangingPunct="1"/>
            <a:r>
              <a:rPr lang="en-US" altLang="zh-CN" sz="2800" dirty="0"/>
              <a:t>MATLAB</a:t>
            </a:r>
            <a:r>
              <a:rPr lang="zh-CN" altLang="en-US" sz="2800" dirty="0"/>
              <a:t>提供了丰富的绘图功能</a:t>
            </a:r>
          </a:p>
          <a:p>
            <a:pPr eaLnBrk="1" hangingPunct="1">
              <a:buFont typeface="Wingdings" panose="05000000000000000000" pitchFamily="2" charset="2"/>
              <a:buNone/>
            </a:pPr>
            <a:r>
              <a:rPr lang="en-US" altLang="zh-CN" sz="2800" dirty="0"/>
              <a:t>help  graph2d</a:t>
            </a:r>
            <a:r>
              <a:rPr lang="zh-CN" altLang="en-US" sz="2800" dirty="0"/>
              <a:t>可得到所有画二维图形的命令</a:t>
            </a:r>
          </a:p>
          <a:p>
            <a:pPr eaLnBrk="1" hangingPunct="1">
              <a:buFont typeface="Wingdings" panose="05000000000000000000" pitchFamily="2" charset="2"/>
              <a:buNone/>
            </a:pPr>
            <a:r>
              <a:rPr lang="en-US" altLang="zh-CN" sz="2800" dirty="0"/>
              <a:t>help  graph3d</a:t>
            </a:r>
            <a:r>
              <a:rPr lang="zh-CN" altLang="en-US" sz="2800" dirty="0"/>
              <a:t>可得到所有画三维图形的命令</a:t>
            </a:r>
          </a:p>
          <a:p>
            <a:pPr eaLnBrk="1" hangingPunct="1">
              <a:buFont typeface="Wingdings" panose="05000000000000000000" pitchFamily="2" charset="2"/>
              <a:buNone/>
            </a:pPr>
            <a:r>
              <a:rPr lang="zh-CN" altLang="en-US" sz="2800" dirty="0"/>
              <a:t>下面介绍常用的二维图形命令</a:t>
            </a:r>
          </a:p>
        </p:txBody>
      </p:sp>
      <p:sp>
        <p:nvSpPr>
          <p:cNvPr id="98308" name="Text Box 4">
            <a:extLst>
              <a:ext uri="{FF2B5EF4-FFF2-40B4-BE49-F238E27FC236}">
                <a16:creationId xmlns:a16="http://schemas.microsoft.com/office/drawing/2014/main" id="{EAF0CBB0-B8F4-4239-BEEB-0B598751A651}"/>
              </a:ext>
            </a:extLst>
          </p:cNvPr>
          <p:cNvSpPr txBox="1">
            <a:spLocks noChangeArrowheads="1"/>
          </p:cNvSpPr>
          <p:nvPr/>
        </p:nvSpPr>
        <p:spPr bwMode="auto">
          <a:xfrm>
            <a:off x="992560" y="3140968"/>
            <a:ext cx="8153400"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kumimoji="1" lang="en-US" altLang="zh-CN" sz="2800" dirty="0">
                <a:latin typeface="Impact" panose="020B0806030902050204" pitchFamily="34" charset="0"/>
              </a:rPr>
              <a:t>1</a:t>
            </a:r>
            <a:r>
              <a:rPr kumimoji="1" lang="zh-CN" altLang="en-US" sz="2800" dirty="0">
                <a:latin typeface="Impact" panose="020B0806030902050204" pitchFamily="34" charset="0"/>
              </a:rPr>
              <a:t>、基本的绘图命令</a:t>
            </a:r>
          </a:p>
          <a:p>
            <a:pPr eaLnBrk="1" hangingPunct="1">
              <a:lnSpc>
                <a:spcPct val="120000"/>
              </a:lnSpc>
              <a:buClrTx/>
              <a:buSzTx/>
              <a:buFontTx/>
              <a:buNone/>
            </a:pPr>
            <a:r>
              <a:rPr kumimoji="1" lang="en-US" altLang="zh-CN" sz="2800" dirty="0"/>
              <a:t>plot</a:t>
            </a:r>
            <a:r>
              <a:rPr kumimoji="1" lang="zh-CN" altLang="en-US" sz="2800" dirty="0">
                <a:latin typeface="Impact" panose="020B0806030902050204" pitchFamily="34" charset="0"/>
              </a:rPr>
              <a:t>（</a:t>
            </a:r>
            <a:r>
              <a:rPr kumimoji="1" lang="en-US" altLang="zh-CN" sz="2800" dirty="0"/>
              <a:t>x1,y1,option1,x2,y2,option2,…</a:t>
            </a:r>
            <a:r>
              <a:rPr kumimoji="1" lang="zh-CN" altLang="en-US" sz="2800" dirty="0">
                <a:latin typeface="Impact" panose="020B0806030902050204" pitchFamily="34" charset="0"/>
              </a:rPr>
              <a:t>）</a:t>
            </a:r>
          </a:p>
          <a:p>
            <a:pPr eaLnBrk="1" hangingPunct="1">
              <a:lnSpc>
                <a:spcPct val="120000"/>
              </a:lnSpc>
              <a:buClrTx/>
              <a:buSzTx/>
              <a:buFontTx/>
              <a:buNone/>
            </a:pPr>
            <a:r>
              <a:rPr kumimoji="1" lang="en-US" altLang="zh-CN" sz="2800" dirty="0">
                <a:latin typeface="宋体" panose="02010600030101010101" pitchFamily="2" charset="-122"/>
              </a:rPr>
              <a:t>x1,y1</a:t>
            </a:r>
            <a:r>
              <a:rPr kumimoji="1" lang="zh-CN" altLang="en-US" sz="2800" dirty="0">
                <a:latin typeface="宋体" panose="02010600030101010101" pitchFamily="2" charset="-122"/>
              </a:rPr>
              <a:t>给出的数据分别为</a:t>
            </a:r>
            <a:r>
              <a:rPr kumimoji="1" lang="en-US" altLang="zh-CN" sz="2800" dirty="0" err="1">
                <a:latin typeface="宋体" panose="02010600030101010101" pitchFamily="2" charset="-122"/>
              </a:rPr>
              <a:t>x,y</a:t>
            </a:r>
            <a:r>
              <a:rPr kumimoji="1" lang="zh-CN" altLang="en-US" sz="2800" dirty="0">
                <a:latin typeface="宋体" panose="02010600030101010101" pitchFamily="2" charset="-122"/>
              </a:rPr>
              <a:t>轴坐标值，</a:t>
            </a:r>
            <a:r>
              <a:rPr kumimoji="1" lang="en-US" altLang="zh-CN" sz="2800" dirty="0">
                <a:latin typeface="宋体" panose="02010600030101010101" pitchFamily="2" charset="-122"/>
              </a:rPr>
              <a:t>option1</a:t>
            </a:r>
            <a:r>
              <a:rPr kumimoji="1" lang="zh-CN" altLang="en-US" sz="2800" dirty="0">
                <a:latin typeface="宋体" panose="02010600030101010101" pitchFamily="2" charset="-122"/>
              </a:rPr>
              <a:t>为选项参数，以逐点连折线的方式绘制</a:t>
            </a:r>
            <a:r>
              <a:rPr kumimoji="1" lang="en-US" altLang="zh-CN" sz="2800" dirty="0">
                <a:latin typeface="宋体" panose="02010600030101010101" pitchFamily="2" charset="-122"/>
              </a:rPr>
              <a:t>1</a:t>
            </a:r>
            <a:r>
              <a:rPr kumimoji="1" lang="zh-CN" altLang="en-US" sz="2800" dirty="0">
                <a:latin typeface="宋体" panose="02010600030101010101" pitchFamily="2" charset="-122"/>
              </a:rPr>
              <a:t>个二维图形；同时类似地绘制第二个二维图形，</a:t>
            </a:r>
            <a:r>
              <a:rPr kumimoji="1" lang="en-US" altLang="zh-CN" sz="2800" dirty="0">
                <a:latin typeface="Impact" panose="020B0806030902050204" pitchFamily="34" charset="0"/>
              </a:rPr>
              <a:t>……</a:t>
            </a:r>
            <a:r>
              <a:rPr kumimoji="1" lang="zh-CN" altLang="en-US" sz="2800" dirty="0">
                <a:latin typeface="宋体" panose="02010600030101010101" pitchFamily="2" charset="-122"/>
              </a:rPr>
              <a:t>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randombar(horizontal)">
                                      <p:cBhvr>
                                        <p:cTn id="7" dur="500"/>
                                        <p:tgtEl>
                                          <p:spTgt spid="98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8308"/>
                                        </p:tgtEl>
                                        <p:attrNameLst>
                                          <p:attrName>style.visibility</p:attrName>
                                        </p:attrNameLst>
                                      </p:cBhvr>
                                      <p:to>
                                        <p:strVal val="visible"/>
                                      </p:to>
                                    </p:set>
                                    <p:animEffect transition="in" filter="box(in)">
                                      <p:cBhvr>
                                        <p:cTn id="12" dur="500"/>
                                        <p:tgtEl>
                                          <p:spTgt spid="98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autoUpdateAnimBg="0"/>
      <p:bldP spid="9830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a:extLst>
              <a:ext uri="{FF2B5EF4-FFF2-40B4-BE49-F238E27FC236}">
                <a16:creationId xmlns:a16="http://schemas.microsoft.com/office/drawing/2014/main" id="{1035AC6F-5453-47FB-A263-222E1405E9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244ACD7-736E-4863-BE15-17E1F468D3BD}" type="slidenum">
              <a:rPr lang="en-US" altLang="zh-CN" sz="1200" smtClean="0">
                <a:latin typeface="Garamond" panose="02020404030301010803" pitchFamily="18" charset="0"/>
              </a:rPr>
              <a:pPr>
                <a:spcBef>
                  <a:spcPct val="0"/>
                </a:spcBef>
                <a:buClrTx/>
                <a:buSzTx/>
                <a:buFontTx/>
                <a:buNone/>
              </a:pPr>
              <a:t>36</a:t>
            </a:fld>
            <a:endParaRPr lang="en-US" altLang="zh-CN" sz="1200">
              <a:latin typeface="Garamond" panose="02020404030301010803" pitchFamily="18" charset="0"/>
            </a:endParaRPr>
          </a:p>
        </p:txBody>
      </p:sp>
      <p:sp>
        <p:nvSpPr>
          <p:cNvPr id="57347" name="Rectangle 2">
            <a:extLst>
              <a:ext uri="{FF2B5EF4-FFF2-40B4-BE49-F238E27FC236}">
                <a16:creationId xmlns:a16="http://schemas.microsoft.com/office/drawing/2014/main" id="{A20C2DC4-2627-4FF3-91F5-7BFFC7B0FC05}"/>
              </a:ext>
            </a:extLst>
          </p:cNvPr>
          <p:cNvSpPr>
            <a:spLocks noGrp="1" noChangeArrowheads="1"/>
          </p:cNvSpPr>
          <p:nvPr>
            <p:ph type="title"/>
          </p:nvPr>
        </p:nvSpPr>
        <p:spPr/>
        <p:txBody>
          <a:bodyPr/>
          <a:lstStyle/>
          <a:p>
            <a:pPr eaLnBrk="1" hangingPunct="1"/>
            <a:endParaRPr lang="zh-CN" altLang="zh-CN"/>
          </a:p>
        </p:txBody>
      </p:sp>
      <p:sp>
        <p:nvSpPr>
          <p:cNvPr id="57348" name="Rectangle 3">
            <a:extLst>
              <a:ext uri="{FF2B5EF4-FFF2-40B4-BE49-F238E27FC236}">
                <a16:creationId xmlns:a16="http://schemas.microsoft.com/office/drawing/2014/main" id="{6E2838AD-091C-499E-A043-709EED9957DE}"/>
              </a:ext>
            </a:extLst>
          </p:cNvPr>
          <p:cNvSpPr>
            <a:spLocks noGrp="1" noChangeArrowheads="1"/>
          </p:cNvSpPr>
          <p:nvPr>
            <p:ph type="body" idx="1"/>
          </p:nvPr>
        </p:nvSpPr>
        <p:spPr/>
        <p:txBody>
          <a:bodyPr/>
          <a:lstStyle/>
          <a:p>
            <a:pPr eaLnBrk="1" hangingPunct="1"/>
            <a:r>
              <a:rPr kumimoji="1" lang="zh-CN" altLang="en-US"/>
              <a:t>这是</a:t>
            </a:r>
            <a:r>
              <a:rPr kumimoji="1" lang="en-US" altLang="zh-CN"/>
              <a:t>plot</a:t>
            </a:r>
            <a:r>
              <a:rPr kumimoji="1" lang="zh-CN" altLang="en-US"/>
              <a:t>命令的完全格式，在实际应用中可以根据需要进行简化。比如：</a:t>
            </a:r>
          </a:p>
          <a:p>
            <a:pPr eaLnBrk="1" hangingPunct="1"/>
            <a:r>
              <a:rPr kumimoji="1" lang="en-US" altLang="zh-CN"/>
              <a:t>plot(x,y)</a:t>
            </a:r>
            <a:r>
              <a:rPr kumimoji="1" lang="zh-CN" altLang="en-US"/>
              <a:t>；</a:t>
            </a:r>
            <a:r>
              <a:rPr kumimoji="1" lang="en-US" altLang="zh-CN"/>
              <a:t>plot(x,y,option)</a:t>
            </a:r>
          </a:p>
          <a:p>
            <a:pPr eaLnBrk="1" hangingPunct="1"/>
            <a:r>
              <a:rPr kumimoji="1" lang="zh-CN" altLang="en-US"/>
              <a:t>选项参数</a:t>
            </a:r>
            <a:r>
              <a:rPr kumimoji="1" lang="en-US" altLang="zh-CN"/>
              <a:t>option</a:t>
            </a:r>
            <a:r>
              <a:rPr kumimoji="1" lang="zh-CN" altLang="en-US"/>
              <a:t>定义了图形曲线的颜色、线型及标示符号，它由一对单引号括起来。</a:t>
            </a:r>
          </a:p>
          <a:p>
            <a:pPr eaLnBrk="1" hangingPunct="1"/>
            <a:r>
              <a:rPr kumimoji="1" lang="zh-CN" altLang="en-US"/>
              <a:t>例</a:t>
            </a:r>
            <a:r>
              <a:rPr kumimoji="1" lang="en-US" altLang="zh-CN"/>
              <a:t>exp2_3.m     exp2_3_.m</a:t>
            </a:r>
          </a:p>
          <a:p>
            <a:pPr eaLnBrk="1" hangingPunct="1"/>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00453C6A-C495-47DE-98AB-721A51C094F7}"/>
              </a:ext>
            </a:extLst>
          </p:cNvPr>
          <p:cNvSpPr>
            <a:spLocks noGrp="1" noChangeArrowheads="1"/>
          </p:cNvSpPr>
          <p:nvPr>
            <p:ph type="title"/>
          </p:nvPr>
        </p:nvSpPr>
        <p:spPr/>
        <p:txBody>
          <a:bodyPr/>
          <a:lstStyle/>
          <a:p>
            <a:r>
              <a:rPr lang="en-US" altLang="zh-CN"/>
              <a:t>Plot</a:t>
            </a:r>
            <a:r>
              <a:rPr lang="zh-CN" altLang="en-US"/>
              <a:t>的参数设置</a:t>
            </a:r>
          </a:p>
        </p:txBody>
      </p:sp>
      <p:sp>
        <p:nvSpPr>
          <p:cNvPr id="58371" name="内容占位符 2">
            <a:extLst>
              <a:ext uri="{FF2B5EF4-FFF2-40B4-BE49-F238E27FC236}">
                <a16:creationId xmlns:a16="http://schemas.microsoft.com/office/drawing/2014/main" id="{16C37582-F392-45ED-8BFC-EE7206C8DC61}"/>
              </a:ext>
            </a:extLst>
          </p:cNvPr>
          <p:cNvSpPr>
            <a:spLocks noGrp="1" noChangeArrowheads="1"/>
          </p:cNvSpPr>
          <p:nvPr>
            <p:ph idx="1"/>
          </p:nvPr>
        </p:nvSpPr>
        <p:spPr>
          <a:xfrm>
            <a:off x="488950" y="1052513"/>
            <a:ext cx="8915400" cy="4530725"/>
          </a:xfrm>
        </p:spPr>
        <p:txBody>
          <a:bodyPr/>
          <a:lstStyle/>
          <a:p>
            <a:r>
              <a:rPr lang="en-US" altLang="zh-CN" dirty="0"/>
              <a:t>Plot(x,y,’</a:t>
            </a:r>
            <a:r>
              <a:rPr lang="en-US" altLang="zh-CN" dirty="0" err="1"/>
              <a:t>color_linestyle_marker</a:t>
            </a:r>
            <a:r>
              <a:rPr lang="en-US" altLang="zh-CN" dirty="0"/>
              <a:t>’)</a:t>
            </a:r>
          </a:p>
          <a:p>
            <a:endParaRPr lang="zh-CN" altLang="en-US" dirty="0"/>
          </a:p>
        </p:txBody>
      </p:sp>
      <p:sp>
        <p:nvSpPr>
          <p:cNvPr id="58372" name="灯片编号占位符 3">
            <a:extLst>
              <a:ext uri="{FF2B5EF4-FFF2-40B4-BE49-F238E27FC236}">
                <a16:creationId xmlns:a16="http://schemas.microsoft.com/office/drawing/2014/main" id="{33122E06-E977-44D7-9CB3-47611ABD2C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F436B1E-471D-4D90-9AB1-BFE1B0DBB455}" type="slidenum">
              <a:rPr lang="en-US" altLang="zh-CN" smtClean="0">
                <a:latin typeface="Garamond" panose="02020404030301010803" pitchFamily="18" charset="0"/>
              </a:rPr>
              <a:pPr/>
              <a:t>37</a:t>
            </a:fld>
            <a:endParaRPr lang="en-US" altLang="zh-CN">
              <a:latin typeface="Garamond" panose="02020404030301010803" pitchFamily="18" charset="0"/>
            </a:endParaRPr>
          </a:p>
        </p:txBody>
      </p:sp>
      <p:graphicFrame>
        <p:nvGraphicFramePr>
          <p:cNvPr id="5" name="表格 4">
            <a:extLst>
              <a:ext uri="{FF2B5EF4-FFF2-40B4-BE49-F238E27FC236}">
                <a16:creationId xmlns:a16="http://schemas.microsoft.com/office/drawing/2014/main" id="{2FE04AEF-6083-4D89-8616-F757349193F8}"/>
              </a:ext>
            </a:extLst>
          </p:cNvPr>
          <p:cNvGraphicFramePr>
            <a:graphicFrameLocks noGrp="1"/>
          </p:cNvGraphicFramePr>
          <p:nvPr/>
        </p:nvGraphicFramePr>
        <p:xfrm>
          <a:off x="1352550" y="1771650"/>
          <a:ext cx="7200900" cy="4178299"/>
        </p:xfrm>
        <a:graphic>
          <a:graphicData uri="http://schemas.openxmlformats.org/drawingml/2006/table">
            <a:tbl>
              <a:tblPr firstRow="1" bandRow="1">
                <a:tableStyleId>{5C22544A-7EE6-4342-B048-85BDC9FD1C3A}</a:tableStyleId>
              </a:tblPr>
              <a:tblGrid>
                <a:gridCol w="1800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800225">
                  <a:extLst>
                    <a:ext uri="{9D8B030D-6E8A-4147-A177-3AD203B41FA5}">
                      <a16:colId xmlns:a16="http://schemas.microsoft.com/office/drawing/2014/main" val="20003"/>
                    </a:ext>
                  </a:extLst>
                </a:gridCol>
              </a:tblGrid>
              <a:tr h="433261">
                <a:tc>
                  <a:txBody>
                    <a:bodyPr/>
                    <a:lstStyle/>
                    <a:p>
                      <a:r>
                        <a:rPr lang="zh-CN" altLang="en-US" sz="1800" dirty="0"/>
                        <a:t>代表字符</a:t>
                      </a:r>
                    </a:p>
                  </a:txBody>
                  <a:tcPr marL="91433" marR="91433" marT="45736" marB="45736"/>
                </a:tc>
                <a:tc>
                  <a:txBody>
                    <a:bodyPr/>
                    <a:lstStyle/>
                    <a:p>
                      <a:r>
                        <a:rPr lang="zh-CN" altLang="en-US" sz="1800" dirty="0"/>
                        <a:t>颜色（</a:t>
                      </a:r>
                      <a:r>
                        <a:rPr lang="en-US" altLang="zh-CN" sz="1800" dirty="0"/>
                        <a:t>RGB</a:t>
                      </a:r>
                      <a:r>
                        <a:rPr lang="zh-CN" altLang="en-US" sz="1800" dirty="0"/>
                        <a:t>值）</a:t>
                      </a:r>
                    </a:p>
                  </a:txBody>
                  <a:tcPr marL="91433" marR="91433" marT="45736" marB="45736"/>
                </a:tc>
                <a:tc>
                  <a:txBody>
                    <a:bodyPr/>
                    <a:lstStyle/>
                    <a:p>
                      <a:r>
                        <a:rPr lang="zh-CN" altLang="en-US" sz="1800" dirty="0"/>
                        <a:t>代表符号</a:t>
                      </a:r>
                    </a:p>
                  </a:txBody>
                  <a:tcPr marL="91433" marR="91433" marT="45736" marB="45736"/>
                </a:tc>
                <a:tc>
                  <a:txBody>
                    <a:bodyPr/>
                    <a:lstStyle/>
                    <a:p>
                      <a:r>
                        <a:rPr lang="zh-CN" altLang="en-US" sz="1800" dirty="0"/>
                        <a:t>线型</a:t>
                      </a:r>
                    </a:p>
                  </a:txBody>
                  <a:tcPr marL="91433" marR="91433" marT="45736" marB="45736"/>
                </a:tc>
                <a:extLst>
                  <a:ext uri="{0D108BD9-81ED-4DB2-BD59-A6C34878D82A}">
                    <a16:rowId xmlns:a16="http://schemas.microsoft.com/office/drawing/2014/main" val="10000"/>
                  </a:ext>
                </a:extLst>
              </a:tr>
              <a:tr h="433261">
                <a:tc>
                  <a:txBody>
                    <a:bodyPr/>
                    <a:lstStyle/>
                    <a:p>
                      <a:r>
                        <a:rPr lang="en-US" altLang="zh-CN" sz="1600" dirty="0"/>
                        <a:t>c</a:t>
                      </a:r>
                      <a:endParaRPr lang="zh-CN" altLang="en-US" sz="1600" dirty="0"/>
                    </a:p>
                  </a:txBody>
                  <a:tcPr marL="91433" marR="91433" marT="45736" marB="45736"/>
                </a:tc>
                <a:tc>
                  <a:txBody>
                    <a:bodyPr/>
                    <a:lstStyle/>
                    <a:p>
                      <a:r>
                        <a:rPr lang="zh-CN" altLang="en-US" sz="1800" dirty="0"/>
                        <a:t>青（</a:t>
                      </a:r>
                      <a:r>
                        <a:rPr lang="en-US" altLang="zh-CN" sz="1800" dirty="0"/>
                        <a:t>0 1 1</a:t>
                      </a:r>
                      <a:r>
                        <a:rPr lang="zh-CN" altLang="en-US" sz="1800" dirty="0"/>
                        <a:t>）</a:t>
                      </a:r>
                    </a:p>
                  </a:txBody>
                  <a:tcPr marL="91433" marR="91433" marT="45736" marB="45736"/>
                </a:tc>
                <a:tc>
                  <a:txBody>
                    <a:bodyPr/>
                    <a:lstStyle/>
                    <a:p>
                      <a:r>
                        <a:rPr lang="en-US" altLang="zh-CN" sz="1800" dirty="0"/>
                        <a:t>-</a:t>
                      </a:r>
                      <a:endParaRPr lang="zh-CN" altLang="en-US" sz="1800" dirty="0"/>
                    </a:p>
                  </a:txBody>
                  <a:tcPr marL="91433" marR="91433" marT="45736" marB="45736"/>
                </a:tc>
                <a:tc>
                  <a:txBody>
                    <a:bodyPr/>
                    <a:lstStyle/>
                    <a:p>
                      <a:r>
                        <a:rPr lang="zh-CN" altLang="en-US" sz="1800" dirty="0"/>
                        <a:t>实线（默认值）</a:t>
                      </a:r>
                    </a:p>
                  </a:txBody>
                  <a:tcPr marL="91433" marR="91433" marT="45736" marB="45736"/>
                </a:tc>
                <a:extLst>
                  <a:ext uri="{0D108BD9-81ED-4DB2-BD59-A6C34878D82A}">
                    <a16:rowId xmlns:a16="http://schemas.microsoft.com/office/drawing/2014/main" val="10001"/>
                  </a:ext>
                </a:extLst>
              </a:tr>
              <a:tr h="433261">
                <a:tc>
                  <a:txBody>
                    <a:bodyPr/>
                    <a:lstStyle/>
                    <a:p>
                      <a:r>
                        <a:rPr lang="en-US" altLang="zh-CN" sz="1600" dirty="0"/>
                        <a:t>m</a:t>
                      </a:r>
                      <a:endParaRPr lang="zh-CN" altLang="en-US" sz="1600" dirty="0"/>
                    </a:p>
                  </a:txBody>
                  <a:tcPr marL="91433" marR="91433" marT="45736" marB="45736"/>
                </a:tc>
                <a:tc>
                  <a:txBody>
                    <a:bodyPr/>
                    <a:lstStyle/>
                    <a:p>
                      <a:r>
                        <a:rPr lang="zh-CN" altLang="en-US" sz="1800" dirty="0"/>
                        <a:t>洋红 （</a:t>
                      </a:r>
                      <a:r>
                        <a:rPr lang="en-US" altLang="zh-CN" sz="1800" dirty="0"/>
                        <a:t>1 0 1</a:t>
                      </a:r>
                      <a:r>
                        <a:rPr lang="zh-CN" altLang="en-US" sz="1800" dirty="0"/>
                        <a:t>）</a:t>
                      </a:r>
                    </a:p>
                  </a:txBody>
                  <a:tcPr marL="91433" marR="91433" marT="45736" marB="45736"/>
                </a:tc>
                <a:tc>
                  <a:txBody>
                    <a:bodyPr/>
                    <a:lstStyle/>
                    <a:p>
                      <a:r>
                        <a:rPr lang="en-US" altLang="zh-CN" sz="1800" dirty="0"/>
                        <a:t>--</a:t>
                      </a:r>
                      <a:endParaRPr lang="zh-CN" altLang="en-US" sz="1800" dirty="0"/>
                    </a:p>
                  </a:txBody>
                  <a:tcPr marL="91433" marR="91433" marT="45736" marB="45736"/>
                </a:tc>
                <a:tc>
                  <a:txBody>
                    <a:bodyPr/>
                    <a:lstStyle/>
                    <a:p>
                      <a:r>
                        <a:rPr lang="zh-CN" altLang="en-US" sz="1800" dirty="0"/>
                        <a:t>虚线</a:t>
                      </a:r>
                    </a:p>
                  </a:txBody>
                  <a:tcPr marL="91433" marR="91433" marT="45736" marB="45736"/>
                </a:tc>
                <a:extLst>
                  <a:ext uri="{0D108BD9-81ED-4DB2-BD59-A6C34878D82A}">
                    <a16:rowId xmlns:a16="http://schemas.microsoft.com/office/drawing/2014/main" val="10002"/>
                  </a:ext>
                </a:extLst>
              </a:tr>
              <a:tr h="433261">
                <a:tc>
                  <a:txBody>
                    <a:bodyPr/>
                    <a:lstStyle/>
                    <a:p>
                      <a:r>
                        <a:rPr lang="en-US" altLang="zh-CN" sz="1600" dirty="0"/>
                        <a:t>y</a:t>
                      </a:r>
                      <a:endParaRPr lang="zh-CN" altLang="en-US" sz="1600" dirty="0"/>
                    </a:p>
                  </a:txBody>
                  <a:tcPr marL="91433" marR="91433" marT="45736" marB="45736"/>
                </a:tc>
                <a:tc>
                  <a:txBody>
                    <a:bodyPr/>
                    <a:lstStyle/>
                    <a:p>
                      <a:r>
                        <a:rPr lang="zh-CN" altLang="en-US" sz="1800" dirty="0"/>
                        <a:t>黄色（</a:t>
                      </a:r>
                      <a:r>
                        <a:rPr lang="en-US" altLang="zh-CN" sz="1800" dirty="0"/>
                        <a:t>1 1 0</a:t>
                      </a:r>
                      <a:r>
                        <a:rPr lang="zh-CN" altLang="en-US" sz="1800" dirty="0"/>
                        <a:t>）</a:t>
                      </a:r>
                    </a:p>
                  </a:txBody>
                  <a:tcPr marL="91433" marR="91433" marT="45736" marB="45736"/>
                </a:tc>
                <a:tc>
                  <a:txBody>
                    <a:bodyPr/>
                    <a:lstStyle/>
                    <a:p>
                      <a:r>
                        <a:rPr lang="en-US" altLang="zh-CN" sz="1800" dirty="0"/>
                        <a:t>:</a:t>
                      </a:r>
                      <a:endParaRPr lang="zh-CN" altLang="en-US" sz="1800" dirty="0"/>
                    </a:p>
                  </a:txBody>
                  <a:tcPr marL="91433" marR="91433" marT="45736" marB="45736"/>
                </a:tc>
                <a:tc>
                  <a:txBody>
                    <a:bodyPr/>
                    <a:lstStyle/>
                    <a:p>
                      <a:r>
                        <a:rPr lang="zh-CN" altLang="en-US" sz="1800" dirty="0"/>
                        <a:t>点连线</a:t>
                      </a:r>
                    </a:p>
                  </a:txBody>
                  <a:tcPr marL="91433" marR="91433" marT="45736" marB="45736"/>
                </a:tc>
                <a:extLst>
                  <a:ext uri="{0D108BD9-81ED-4DB2-BD59-A6C34878D82A}">
                    <a16:rowId xmlns:a16="http://schemas.microsoft.com/office/drawing/2014/main" val="10003"/>
                  </a:ext>
                </a:extLst>
              </a:tr>
              <a:tr h="433261">
                <a:tc>
                  <a:txBody>
                    <a:bodyPr/>
                    <a:lstStyle/>
                    <a:p>
                      <a:r>
                        <a:rPr lang="en-US" altLang="zh-CN" sz="1600" dirty="0"/>
                        <a:t>r</a:t>
                      </a:r>
                      <a:endParaRPr lang="zh-CN" altLang="en-US" sz="1600" dirty="0"/>
                    </a:p>
                  </a:txBody>
                  <a:tcPr marL="91433" marR="91433" marT="45736" marB="45736"/>
                </a:tc>
                <a:tc>
                  <a:txBody>
                    <a:bodyPr/>
                    <a:lstStyle/>
                    <a:p>
                      <a:r>
                        <a:rPr lang="zh-CN" altLang="en-US" sz="1800" dirty="0"/>
                        <a:t>红色（</a:t>
                      </a:r>
                      <a:r>
                        <a:rPr lang="en-US" altLang="zh-CN" sz="1800" dirty="0"/>
                        <a:t>1 0 0</a:t>
                      </a:r>
                      <a:r>
                        <a:rPr lang="zh-CN" altLang="en-US" sz="1800" dirty="0"/>
                        <a:t>）</a:t>
                      </a:r>
                    </a:p>
                  </a:txBody>
                  <a:tcPr marL="91433" marR="91433" marT="45736" marB="4573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a:t>
                      </a:r>
                      <a:endParaRPr lang="zh-CN" altLang="en-US" sz="1800" dirty="0"/>
                    </a:p>
                  </a:txBody>
                  <a:tcPr marL="91433" marR="91433" marT="45736" marB="45736"/>
                </a:tc>
                <a:tc>
                  <a:txBody>
                    <a:bodyPr/>
                    <a:lstStyle/>
                    <a:p>
                      <a:r>
                        <a:rPr lang="zh-CN" altLang="en-US" sz="1800" dirty="0"/>
                        <a:t>点划线</a:t>
                      </a:r>
                    </a:p>
                  </a:txBody>
                  <a:tcPr marL="91433" marR="91433" marT="45736" marB="45736"/>
                </a:tc>
                <a:extLst>
                  <a:ext uri="{0D108BD9-81ED-4DB2-BD59-A6C34878D82A}">
                    <a16:rowId xmlns:a16="http://schemas.microsoft.com/office/drawing/2014/main" val="10004"/>
                  </a:ext>
                </a:extLst>
              </a:tr>
              <a:tr h="712211">
                <a:tc>
                  <a:txBody>
                    <a:bodyPr/>
                    <a:lstStyle/>
                    <a:p>
                      <a:r>
                        <a:rPr lang="en-US" altLang="zh-CN" sz="1600" dirty="0"/>
                        <a:t>g</a:t>
                      </a:r>
                      <a:endParaRPr lang="zh-CN" altLang="en-US" sz="1600" dirty="0"/>
                    </a:p>
                  </a:txBody>
                  <a:tcPr marL="91433" marR="91433" marT="45736" marB="45736"/>
                </a:tc>
                <a:tc>
                  <a:txBody>
                    <a:bodyPr/>
                    <a:lstStyle/>
                    <a:p>
                      <a:r>
                        <a:rPr lang="zh-CN" altLang="en-US" sz="1800" dirty="0"/>
                        <a:t>绿色（</a:t>
                      </a:r>
                      <a:r>
                        <a:rPr lang="en-US" altLang="zh-CN" sz="1800" dirty="0"/>
                        <a:t>0 1 0</a:t>
                      </a:r>
                      <a:r>
                        <a:rPr lang="zh-CN" altLang="en-US" sz="1800" dirty="0"/>
                        <a:t>）</a:t>
                      </a:r>
                    </a:p>
                  </a:txBody>
                  <a:tcPr marL="91433" marR="91433" marT="45736" marB="4573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kern="1200" dirty="0">
                          <a:solidFill>
                            <a:schemeClr val="dk1"/>
                          </a:solidFill>
                          <a:latin typeface="+mn-lt"/>
                          <a:ea typeface="+mn-ea"/>
                          <a:cs typeface="+mn-cs"/>
                        </a:rPr>
                        <a:t>none</a:t>
                      </a:r>
                      <a:endParaRPr lang="zh-CN" altLang="en-US" sz="1600" kern="1200" dirty="0">
                        <a:solidFill>
                          <a:schemeClr val="dk1"/>
                        </a:solidFill>
                        <a:latin typeface="+mn-lt"/>
                        <a:ea typeface="+mn-ea"/>
                        <a:cs typeface="+mn-cs"/>
                      </a:endParaRPr>
                    </a:p>
                    <a:p>
                      <a:endParaRPr lang="zh-CN" altLang="en-US" sz="1800" dirty="0"/>
                    </a:p>
                  </a:txBody>
                  <a:tcPr marL="91433" marR="91433" marT="45736" marB="45736"/>
                </a:tc>
                <a:tc>
                  <a:txBody>
                    <a:bodyPr/>
                    <a:lstStyle/>
                    <a:p>
                      <a:r>
                        <a:rPr lang="zh-CN" altLang="en-US" sz="1800" dirty="0"/>
                        <a:t>无线</a:t>
                      </a:r>
                    </a:p>
                  </a:txBody>
                  <a:tcPr marL="91433" marR="91433" marT="45736" marB="45736"/>
                </a:tc>
                <a:extLst>
                  <a:ext uri="{0D108BD9-81ED-4DB2-BD59-A6C34878D82A}">
                    <a16:rowId xmlns:a16="http://schemas.microsoft.com/office/drawing/2014/main" val="10005"/>
                  </a:ext>
                </a:extLst>
              </a:tr>
              <a:tr h="433261">
                <a:tc>
                  <a:txBody>
                    <a:bodyPr/>
                    <a:lstStyle/>
                    <a:p>
                      <a:r>
                        <a:rPr lang="en-US" altLang="zh-CN" sz="1600" dirty="0"/>
                        <a:t>b</a:t>
                      </a:r>
                      <a:endParaRPr lang="zh-CN" altLang="en-US" sz="1600" dirty="0"/>
                    </a:p>
                  </a:txBody>
                  <a:tcPr marL="91433" marR="91433" marT="45736" marB="45736"/>
                </a:tc>
                <a:tc>
                  <a:txBody>
                    <a:bodyPr/>
                    <a:lstStyle/>
                    <a:p>
                      <a:r>
                        <a:rPr lang="zh-CN" altLang="en-US" sz="1800" dirty="0"/>
                        <a:t>蓝色（</a:t>
                      </a:r>
                      <a:r>
                        <a:rPr lang="en-US" altLang="zh-CN" sz="1800" dirty="0"/>
                        <a:t>0 0 1</a:t>
                      </a:r>
                      <a:r>
                        <a:rPr lang="zh-CN" altLang="en-US" sz="1800" dirty="0"/>
                        <a:t>）</a:t>
                      </a:r>
                    </a:p>
                  </a:txBody>
                  <a:tcPr marL="91433" marR="91433" marT="45736" marB="45736"/>
                </a:tc>
                <a:tc>
                  <a:txBody>
                    <a:bodyPr/>
                    <a:lstStyle/>
                    <a:p>
                      <a:endParaRPr lang="zh-CN" altLang="en-US" sz="1800"/>
                    </a:p>
                  </a:txBody>
                  <a:tcPr marL="91433" marR="91433" marT="45736" marB="45736"/>
                </a:tc>
                <a:tc>
                  <a:txBody>
                    <a:bodyPr/>
                    <a:lstStyle/>
                    <a:p>
                      <a:endParaRPr lang="zh-CN" altLang="en-US" sz="1800"/>
                    </a:p>
                  </a:txBody>
                  <a:tcPr marL="91433" marR="91433" marT="45736" marB="45736"/>
                </a:tc>
                <a:extLst>
                  <a:ext uri="{0D108BD9-81ED-4DB2-BD59-A6C34878D82A}">
                    <a16:rowId xmlns:a16="http://schemas.microsoft.com/office/drawing/2014/main" val="10006"/>
                  </a:ext>
                </a:extLst>
              </a:tr>
              <a:tr h="433261">
                <a:tc>
                  <a:txBody>
                    <a:bodyPr/>
                    <a:lstStyle/>
                    <a:p>
                      <a:r>
                        <a:rPr lang="en-US" altLang="zh-CN" sz="1600" dirty="0"/>
                        <a:t>w</a:t>
                      </a:r>
                      <a:endParaRPr lang="zh-CN" altLang="en-US" sz="1600" dirty="0"/>
                    </a:p>
                  </a:txBody>
                  <a:tcPr marL="91433" marR="91433" marT="45736" marB="45736"/>
                </a:tc>
                <a:tc>
                  <a:txBody>
                    <a:bodyPr/>
                    <a:lstStyle/>
                    <a:p>
                      <a:r>
                        <a:rPr lang="zh-CN" altLang="en-US" sz="1800" dirty="0"/>
                        <a:t>白色（</a:t>
                      </a:r>
                      <a:r>
                        <a:rPr lang="en-US" altLang="zh-CN" sz="1800" dirty="0"/>
                        <a:t>1 1 1</a:t>
                      </a:r>
                      <a:r>
                        <a:rPr lang="zh-CN" altLang="en-US" sz="1800" dirty="0"/>
                        <a:t>）</a:t>
                      </a:r>
                    </a:p>
                  </a:txBody>
                  <a:tcPr marL="91433" marR="91433" marT="45736" marB="45736"/>
                </a:tc>
                <a:tc>
                  <a:txBody>
                    <a:bodyPr/>
                    <a:lstStyle/>
                    <a:p>
                      <a:endParaRPr lang="zh-CN" altLang="en-US" sz="1800"/>
                    </a:p>
                  </a:txBody>
                  <a:tcPr marL="91433" marR="91433" marT="45736" marB="45736"/>
                </a:tc>
                <a:tc>
                  <a:txBody>
                    <a:bodyPr/>
                    <a:lstStyle/>
                    <a:p>
                      <a:endParaRPr lang="zh-CN" altLang="en-US" sz="1800"/>
                    </a:p>
                  </a:txBody>
                  <a:tcPr marL="91433" marR="91433" marT="45736" marB="45736"/>
                </a:tc>
                <a:extLst>
                  <a:ext uri="{0D108BD9-81ED-4DB2-BD59-A6C34878D82A}">
                    <a16:rowId xmlns:a16="http://schemas.microsoft.com/office/drawing/2014/main" val="10007"/>
                  </a:ext>
                </a:extLst>
              </a:tr>
              <a:tr h="433261">
                <a:tc>
                  <a:txBody>
                    <a:bodyPr/>
                    <a:lstStyle/>
                    <a:p>
                      <a:r>
                        <a:rPr lang="en-US" altLang="zh-CN" sz="1600" dirty="0"/>
                        <a:t>k</a:t>
                      </a:r>
                      <a:endParaRPr lang="zh-CN" altLang="en-US" sz="1600" dirty="0"/>
                    </a:p>
                  </a:txBody>
                  <a:tcPr marL="91433" marR="91433" marT="45736" marB="45736"/>
                </a:tc>
                <a:tc>
                  <a:txBody>
                    <a:bodyPr/>
                    <a:lstStyle/>
                    <a:p>
                      <a:r>
                        <a:rPr lang="zh-CN" altLang="en-US" sz="1800" dirty="0"/>
                        <a:t>黑色（</a:t>
                      </a:r>
                      <a:r>
                        <a:rPr lang="en-US" altLang="zh-CN" sz="1800" dirty="0"/>
                        <a:t>0 0 0</a:t>
                      </a:r>
                      <a:r>
                        <a:rPr lang="zh-CN" altLang="en-US" sz="1800" dirty="0"/>
                        <a:t>）</a:t>
                      </a:r>
                    </a:p>
                  </a:txBody>
                  <a:tcPr marL="91433" marR="91433" marT="45736" marB="45736"/>
                </a:tc>
                <a:tc>
                  <a:txBody>
                    <a:bodyPr/>
                    <a:lstStyle/>
                    <a:p>
                      <a:endParaRPr lang="zh-CN" altLang="en-US" sz="1800"/>
                    </a:p>
                  </a:txBody>
                  <a:tcPr marL="91433" marR="91433" marT="45736" marB="45736"/>
                </a:tc>
                <a:tc>
                  <a:txBody>
                    <a:bodyPr/>
                    <a:lstStyle/>
                    <a:p>
                      <a:endParaRPr lang="zh-CN" altLang="en-US" sz="1800" dirty="0"/>
                    </a:p>
                  </a:txBody>
                  <a:tcPr marL="91433" marR="91433" marT="45736" marB="45736"/>
                </a:tc>
                <a:extLst>
                  <a:ext uri="{0D108BD9-81ED-4DB2-BD59-A6C34878D82A}">
                    <a16:rowId xmlns:a16="http://schemas.microsoft.com/office/drawing/2014/main" val="10008"/>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6BD1E531-BA03-4A1D-A134-3B50E03653AF}"/>
              </a:ext>
            </a:extLst>
          </p:cNvPr>
          <p:cNvSpPr>
            <a:spLocks noGrp="1" noChangeArrowheads="1"/>
          </p:cNvSpPr>
          <p:nvPr>
            <p:ph type="title"/>
          </p:nvPr>
        </p:nvSpPr>
        <p:spPr/>
        <p:txBody>
          <a:bodyPr/>
          <a:lstStyle/>
          <a:p>
            <a:r>
              <a:rPr lang="en-US" altLang="zh-CN"/>
              <a:t>Plot</a:t>
            </a:r>
            <a:r>
              <a:rPr lang="zh-CN" altLang="en-US"/>
              <a:t>的参数设置</a:t>
            </a:r>
          </a:p>
        </p:txBody>
      </p:sp>
      <p:sp>
        <p:nvSpPr>
          <p:cNvPr id="59395" name="内容占位符 2">
            <a:extLst>
              <a:ext uri="{FF2B5EF4-FFF2-40B4-BE49-F238E27FC236}">
                <a16:creationId xmlns:a16="http://schemas.microsoft.com/office/drawing/2014/main" id="{E5BB0821-FDC0-4C37-987C-8B9961731B9E}"/>
              </a:ext>
            </a:extLst>
          </p:cNvPr>
          <p:cNvSpPr>
            <a:spLocks noGrp="1" noChangeArrowheads="1"/>
          </p:cNvSpPr>
          <p:nvPr>
            <p:ph idx="1"/>
          </p:nvPr>
        </p:nvSpPr>
        <p:spPr>
          <a:xfrm>
            <a:off x="488950" y="1052513"/>
            <a:ext cx="8915400" cy="4530725"/>
          </a:xfrm>
        </p:spPr>
        <p:txBody>
          <a:bodyPr/>
          <a:lstStyle/>
          <a:p>
            <a:r>
              <a:rPr lang="en-US" altLang="zh-CN" dirty="0"/>
              <a:t>plot(x,y,’</a:t>
            </a:r>
            <a:r>
              <a:rPr lang="en-US" altLang="zh-CN" dirty="0" err="1"/>
              <a:t>color_linestyle_marker</a:t>
            </a:r>
            <a:r>
              <a:rPr lang="en-US" altLang="zh-CN" dirty="0"/>
              <a:t>’)</a:t>
            </a:r>
          </a:p>
          <a:p>
            <a:endParaRPr lang="zh-CN" altLang="en-US" dirty="0"/>
          </a:p>
        </p:txBody>
      </p:sp>
      <p:sp>
        <p:nvSpPr>
          <p:cNvPr id="59396" name="灯片编号占位符 3">
            <a:extLst>
              <a:ext uri="{FF2B5EF4-FFF2-40B4-BE49-F238E27FC236}">
                <a16:creationId xmlns:a16="http://schemas.microsoft.com/office/drawing/2014/main" id="{7B42FEB5-49AB-4196-8330-5511E7AD51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26A341D-36E4-4428-95F4-7EBCEE6CF358}" type="slidenum">
              <a:rPr lang="en-US" altLang="zh-CN" smtClean="0">
                <a:latin typeface="Garamond" panose="02020404030301010803" pitchFamily="18" charset="0"/>
              </a:rPr>
              <a:pPr/>
              <a:t>38</a:t>
            </a:fld>
            <a:endParaRPr lang="en-US" altLang="zh-CN">
              <a:latin typeface="Garamond" panose="02020404030301010803" pitchFamily="18" charset="0"/>
            </a:endParaRPr>
          </a:p>
        </p:txBody>
      </p:sp>
      <p:graphicFrame>
        <p:nvGraphicFramePr>
          <p:cNvPr id="5" name="表格 4">
            <a:extLst>
              <a:ext uri="{FF2B5EF4-FFF2-40B4-BE49-F238E27FC236}">
                <a16:creationId xmlns:a16="http://schemas.microsoft.com/office/drawing/2014/main" id="{5CBDAEE4-3D5F-41D8-AF2F-319188B58574}"/>
              </a:ext>
            </a:extLst>
          </p:cNvPr>
          <p:cNvGraphicFramePr>
            <a:graphicFrameLocks noGrp="1"/>
          </p:cNvGraphicFramePr>
          <p:nvPr/>
        </p:nvGraphicFramePr>
        <p:xfrm>
          <a:off x="1208584" y="1700811"/>
          <a:ext cx="7344816" cy="4392484"/>
        </p:xfrm>
        <a:graphic>
          <a:graphicData uri="http://schemas.openxmlformats.org/drawingml/2006/table">
            <a:tbl>
              <a:tblPr firstRow="1" bandRow="1">
                <a:tableStyleId>{5C22544A-7EE6-4342-B048-85BDC9FD1C3A}</a:tableStyleId>
              </a:tblPr>
              <a:tblGrid>
                <a:gridCol w="1836204">
                  <a:extLst>
                    <a:ext uri="{9D8B030D-6E8A-4147-A177-3AD203B41FA5}">
                      <a16:colId xmlns:a16="http://schemas.microsoft.com/office/drawing/2014/main" val="20000"/>
                    </a:ext>
                  </a:extLst>
                </a:gridCol>
                <a:gridCol w="1836204">
                  <a:extLst>
                    <a:ext uri="{9D8B030D-6E8A-4147-A177-3AD203B41FA5}">
                      <a16:colId xmlns:a16="http://schemas.microsoft.com/office/drawing/2014/main" val="20001"/>
                    </a:ext>
                  </a:extLst>
                </a:gridCol>
                <a:gridCol w="1836204">
                  <a:extLst>
                    <a:ext uri="{9D8B030D-6E8A-4147-A177-3AD203B41FA5}">
                      <a16:colId xmlns:a16="http://schemas.microsoft.com/office/drawing/2014/main" val="20002"/>
                    </a:ext>
                  </a:extLst>
                </a:gridCol>
                <a:gridCol w="1836204">
                  <a:extLst>
                    <a:ext uri="{9D8B030D-6E8A-4147-A177-3AD203B41FA5}">
                      <a16:colId xmlns:a16="http://schemas.microsoft.com/office/drawing/2014/main" val="20003"/>
                    </a:ext>
                  </a:extLst>
                </a:gridCol>
              </a:tblGrid>
              <a:tr h="602935">
                <a:tc>
                  <a:txBody>
                    <a:bodyPr/>
                    <a:lstStyle/>
                    <a:p>
                      <a:r>
                        <a:rPr lang="zh-CN" altLang="en-US" dirty="0"/>
                        <a:t>标记符</a:t>
                      </a:r>
                    </a:p>
                  </a:txBody>
                  <a:tcPr/>
                </a:tc>
                <a:tc>
                  <a:txBody>
                    <a:bodyPr/>
                    <a:lstStyle/>
                    <a:p>
                      <a:r>
                        <a:rPr lang="zh-CN" altLang="en-US" dirty="0"/>
                        <a:t>绘图方式</a:t>
                      </a:r>
                    </a:p>
                  </a:txBody>
                  <a:tcPr/>
                </a:tc>
                <a:tc>
                  <a:txBody>
                    <a:bodyPr/>
                    <a:lstStyle/>
                    <a:p>
                      <a:r>
                        <a:rPr lang="zh-CN" altLang="en-US" dirty="0"/>
                        <a:t>标记符</a:t>
                      </a:r>
                    </a:p>
                  </a:txBody>
                  <a:tcPr/>
                </a:tc>
                <a:tc>
                  <a:txBody>
                    <a:bodyPr/>
                    <a:lstStyle/>
                    <a:p>
                      <a:r>
                        <a:rPr lang="zh-CN" altLang="en-US" dirty="0"/>
                        <a:t>绘图方式</a:t>
                      </a:r>
                    </a:p>
                  </a:txBody>
                  <a:tcPr/>
                </a:tc>
                <a:extLst>
                  <a:ext uri="{0D108BD9-81ED-4DB2-BD59-A6C34878D82A}">
                    <a16:rowId xmlns:a16="http://schemas.microsoft.com/office/drawing/2014/main" val="10000"/>
                  </a:ext>
                </a:extLst>
              </a:tr>
              <a:tr h="434281">
                <a:tc>
                  <a:txBody>
                    <a:bodyPr/>
                    <a:lstStyle/>
                    <a:p>
                      <a:r>
                        <a:rPr lang="en-US" altLang="zh-CN" sz="1600" dirty="0"/>
                        <a:t>+</a:t>
                      </a:r>
                      <a:endParaRPr lang="zh-CN" altLang="en-US" sz="1600" dirty="0"/>
                    </a:p>
                  </a:txBody>
                  <a:tcPr/>
                </a:tc>
                <a:tc>
                  <a:txBody>
                    <a:bodyPr/>
                    <a:lstStyle/>
                    <a:p>
                      <a:r>
                        <a:rPr lang="en-US" altLang="zh-CN" dirty="0"/>
                        <a:t>+</a:t>
                      </a:r>
                      <a:r>
                        <a:rPr lang="zh-CN" altLang="en-US" dirty="0"/>
                        <a:t>字号</a:t>
                      </a:r>
                    </a:p>
                  </a:txBody>
                  <a:tcPr/>
                </a:tc>
                <a:tc>
                  <a:txBody>
                    <a:bodyPr/>
                    <a:lstStyle/>
                    <a:p>
                      <a:r>
                        <a:rPr lang="en-US" altLang="zh-CN" dirty="0"/>
                        <a:t>^</a:t>
                      </a:r>
                      <a:endParaRPr lang="zh-CN" altLang="en-US" dirty="0"/>
                    </a:p>
                  </a:txBody>
                  <a:tcPr/>
                </a:tc>
                <a:tc>
                  <a:txBody>
                    <a:bodyPr/>
                    <a:lstStyle/>
                    <a:p>
                      <a:r>
                        <a:rPr lang="zh-CN" altLang="en-US" dirty="0"/>
                        <a:t>反勾号</a:t>
                      </a:r>
                    </a:p>
                  </a:txBody>
                  <a:tcPr/>
                </a:tc>
                <a:extLst>
                  <a:ext uri="{0D108BD9-81ED-4DB2-BD59-A6C34878D82A}">
                    <a16:rowId xmlns:a16="http://schemas.microsoft.com/office/drawing/2014/main" val="10001"/>
                  </a:ext>
                </a:extLst>
              </a:tr>
              <a:tr h="434281">
                <a:tc>
                  <a:txBody>
                    <a:bodyPr/>
                    <a:lstStyle/>
                    <a:p>
                      <a:r>
                        <a:rPr lang="en-US" altLang="zh-CN" sz="1600" dirty="0"/>
                        <a:t>o</a:t>
                      </a:r>
                      <a:endParaRPr lang="zh-CN" altLang="en-US" sz="1600" dirty="0"/>
                    </a:p>
                  </a:txBody>
                  <a:tcPr/>
                </a:tc>
                <a:tc>
                  <a:txBody>
                    <a:bodyPr/>
                    <a:lstStyle/>
                    <a:p>
                      <a:r>
                        <a:rPr lang="zh-CN" altLang="en-US" dirty="0"/>
                        <a:t>小圆圈</a:t>
                      </a:r>
                    </a:p>
                  </a:txBody>
                  <a:tcPr/>
                </a:tc>
                <a:tc>
                  <a:txBody>
                    <a:bodyPr/>
                    <a:lstStyle/>
                    <a:p>
                      <a:r>
                        <a:rPr lang="en-US" altLang="zh-CN" dirty="0"/>
                        <a:t>v</a:t>
                      </a:r>
                      <a:endParaRPr lang="zh-CN" altLang="en-US" dirty="0"/>
                    </a:p>
                  </a:txBody>
                  <a:tcPr/>
                </a:tc>
                <a:tc>
                  <a:txBody>
                    <a:bodyPr/>
                    <a:lstStyle/>
                    <a:p>
                      <a:r>
                        <a:rPr lang="zh-CN" altLang="en-US" dirty="0"/>
                        <a:t>勾号</a:t>
                      </a:r>
                    </a:p>
                  </a:txBody>
                  <a:tcPr/>
                </a:tc>
                <a:extLst>
                  <a:ext uri="{0D108BD9-81ED-4DB2-BD59-A6C34878D82A}">
                    <a16:rowId xmlns:a16="http://schemas.microsoft.com/office/drawing/2014/main" val="10002"/>
                  </a:ext>
                </a:extLst>
              </a:tr>
              <a:tr h="434281">
                <a:tc>
                  <a:txBody>
                    <a:bodyPr/>
                    <a:lstStyle/>
                    <a:p>
                      <a:r>
                        <a:rPr lang="zh-CN" altLang="en-US" sz="1600" dirty="0"/>
                        <a:t>*</a:t>
                      </a:r>
                    </a:p>
                  </a:txBody>
                  <a:tcPr/>
                </a:tc>
                <a:tc>
                  <a:txBody>
                    <a:bodyPr/>
                    <a:lstStyle/>
                    <a:p>
                      <a:r>
                        <a:rPr lang="zh-CN" altLang="en-US" dirty="0"/>
                        <a:t>星号</a:t>
                      </a:r>
                    </a:p>
                  </a:txBody>
                  <a:tcPr/>
                </a:tc>
                <a:tc>
                  <a:txBody>
                    <a:bodyPr/>
                    <a:lstStyle/>
                    <a:p>
                      <a:r>
                        <a:rPr lang="en-US" altLang="zh-CN" dirty="0"/>
                        <a:t>&gt;</a:t>
                      </a:r>
                      <a:endParaRPr lang="zh-CN" altLang="en-US" dirty="0"/>
                    </a:p>
                  </a:txBody>
                  <a:tcPr/>
                </a:tc>
                <a:tc>
                  <a:txBody>
                    <a:bodyPr/>
                    <a:lstStyle/>
                    <a:p>
                      <a:r>
                        <a:rPr lang="zh-CN" altLang="en-US" dirty="0"/>
                        <a:t>大于号</a:t>
                      </a:r>
                    </a:p>
                  </a:txBody>
                  <a:tcPr/>
                </a:tc>
                <a:extLst>
                  <a:ext uri="{0D108BD9-81ED-4DB2-BD59-A6C34878D82A}">
                    <a16:rowId xmlns:a16="http://schemas.microsoft.com/office/drawing/2014/main" val="10003"/>
                  </a:ext>
                </a:extLst>
              </a:tr>
              <a:tr h="434281">
                <a:tc>
                  <a:txBody>
                    <a:bodyPr/>
                    <a:lstStyle/>
                    <a:p>
                      <a:r>
                        <a:rPr lang="en-US" altLang="zh-CN" sz="1600" dirty="0"/>
                        <a:t>.</a:t>
                      </a:r>
                      <a:endParaRPr lang="zh-CN" altLang="en-US" sz="1600" dirty="0"/>
                    </a:p>
                  </a:txBody>
                  <a:tcPr/>
                </a:tc>
                <a:tc>
                  <a:txBody>
                    <a:bodyPr/>
                    <a:lstStyle/>
                    <a:p>
                      <a:r>
                        <a:rPr lang="zh-CN" altLang="en-US" dirty="0"/>
                        <a:t>小黑点</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&lt;</a:t>
                      </a:r>
                      <a:endParaRPr lang="zh-CN" altLang="en-US" dirty="0"/>
                    </a:p>
                  </a:txBody>
                  <a:tcPr/>
                </a:tc>
                <a:tc>
                  <a:txBody>
                    <a:bodyPr/>
                    <a:lstStyle/>
                    <a:p>
                      <a:r>
                        <a:rPr lang="zh-CN" altLang="en-US" dirty="0"/>
                        <a:t>小于号</a:t>
                      </a:r>
                    </a:p>
                  </a:txBody>
                  <a:tcPr/>
                </a:tc>
                <a:extLst>
                  <a:ext uri="{0D108BD9-81ED-4DB2-BD59-A6C34878D82A}">
                    <a16:rowId xmlns:a16="http://schemas.microsoft.com/office/drawing/2014/main" val="10004"/>
                  </a:ext>
                </a:extLst>
              </a:tr>
              <a:tr h="434281">
                <a:tc>
                  <a:txBody>
                    <a:bodyPr/>
                    <a:lstStyle/>
                    <a:p>
                      <a:endParaRPr lang="zh-CN" dirty="0"/>
                    </a:p>
                  </a:txBody>
                  <a:tcPr>
                    <a:blipFill rotWithShape="1">
                      <a:blip r:embed="rId2"/>
                      <a:stretch>
                        <a:fillRect l="-369" t="-509836" r="-300000" b="-373770"/>
                      </a:stretch>
                    </a:blipFill>
                  </a:tcPr>
                </a:tc>
                <a:tc>
                  <a:txBody>
                    <a:bodyPr/>
                    <a:lstStyle/>
                    <a:p>
                      <a:r>
                        <a:rPr lang="zh-CN" altLang="en-US" dirty="0"/>
                        <a:t>叉号</a:t>
                      </a:r>
                    </a:p>
                  </a:txBody>
                  <a:tcPr/>
                </a:tc>
                <a:tc>
                  <a:txBody>
                    <a:bodyPr/>
                    <a:lstStyle/>
                    <a:p>
                      <a:r>
                        <a:rPr lang="en-US" altLang="zh-CN" dirty="0"/>
                        <a:t>pentagram</a:t>
                      </a:r>
                      <a:endParaRPr lang="zh-CN" altLang="en-US" dirty="0"/>
                    </a:p>
                  </a:txBody>
                  <a:tcPr/>
                </a:tc>
                <a:tc>
                  <a:txBody>
                    <a:bodyPr/>
                    <a:lstStyle/>
                    <a:p>
                      <a:r>
                        <a:rPr lang="zh-CN" altLang="en-US" dirty="0"/>
                        <a:t>五角星</a:t>
                      </a:r>
                    </a:p>
                  </a:txBody>
                  <a:tcPr/>
                </a:tc>
                <a:extLst>
                  <a:ext uri="{0D108BD9-81ED-4DB2-BD59-A6C34878D82A}">
                    <a16:rowId xmlns:a16="http://schemas.microsoft.com/office/drawing/2014/main" val="10005"/>
                  </a:ext>
                </a:extLst>
              </a:tr>
              <a:tr h="434281">
                <a:tc>
                  <a:txBody>
                    <a:bodyPr/>
                    <a:lstStyle/>
                    <a:p>
                      <a:r>
                        <a:rPr lang="en-US" altLang="zh-CN" sz="1600" dirty="0"/>
                        <a:t>square</a:t>
                      </a:r>
                      <a:endParaRPr lang="zh-CN" altLang="en-US" sz="1600" dirty="0"/>
                    </a:p>
                  </a:txBody>
                  <a:tcPr/>
                </a:tc>
                <a:tc>
                  <a:txBody>
                    <a:bodyPr/>
                    <a:lstStyle/>
                    <a:p>
                      <a:r>
                        <a:rPr lang="zh-CN" altLang="en-US" dirty="0"/>
                        <a:t>小正方形</a:t>
                      </a:r>
                    </a:p>
                  </a:txBody>
                  <a:tcPr/>
                </a:tc>
                <a:tc>
                  <a:txBody>
                    <a:bodyPr/>
                    <a:lstStyle/>
                    <a:p>
                      <a:r>
                        <a:rPr lang="en-US" altLang="zh-CN" dirty="0"/>
                        <a:t>hexagram</a:t>
                      </a:r>
                      <a:endParaRPr lang="zh-CN" altLang="en-US" dirty="0"/>
                    </a:p>
                  </a:txBody>
                  <a:tcPr/>
                </a:tc>
                <a:tc>
                  <a:txBody>
                    <a:bodyPr/>
                    <a:lstStyle/>
                    <a:p>
                      <a:r>
                        <a:rPr lang="zh-CN" altLang="en-US" dirty="0"/>
                        <a:t>六角形</a:t>
                      </a:r>
                    </a:p>
                  </a:txBody>
                  <a:tcPr/>
                </a:tc>
                <a:extLst>
                  <a:ext uri="{0D108BD9-81ED-4DB2-BD59-A6C34878D82A}">
                    <a16:rowId xmlns:a16="http://schemas.microsoft.com/office/drawing/2014/main" val="10006"/>
                  </a:ext>
                </a:extLst>
              </a:tr>
              <a:tr h="749582">
                <a:tc>
                  <a:txBody>
                    <a:bodyPr/>
                    <a:lstStyle/>
                    <a:p>
                      <a:r>
                        <a:rPr lang="en-US" altLang="zh-CN" sz="1600" dirty="0"/>
                        <a:t>diamond</a:t>
                      </a:r>
                      <a:endParaRPr lang="zh-CN" altLang="en-US" sz="1600" dirty="0"/>
                    </a:p>
                  </a:txBody>
                  <a:tcPr/>
                </a:tc>
                <a:tc>
                  <a:txBody>
                    <a:bodyPr/>
                    <a:lstStyle/>
                    <a:p>
                      <a:r>
                        <a:rPr lang="zh-CN" altLang="en-US" dirty="0"/>
                        <a:t>菱形符号</a:t>
                      </a:r>
                    </a:p>
                  </a:txBody>
                  <a:tcPr/>
                </a:tc>
                <a:tc>
                  <a:txBody>
                    <a:bodyPr/>
                    <a:lstStyle/>
                    <a:p>
                      <a:r>
                        <a:rPr lang="en-US" altLang="zh-CN" dirty="0"/>
                        <a:t>none</a:t>
                      </a:r>
                      <a:endParaRPr lang="zh-CN" altLang="en-US" dirty="0"/>
                    </a:p>
                  </a:txBody>
                  <a:tcPr/>
                </a:tc>
                <a:tc>
                  <a:txBody>
                    <a:bodyPr/>
                    <a:lstStyle/>
                    <a:p>
                      <a:r>
                        <a:rPr lang="zh-CN" altLang="en-US" dirty="0"/>
                        <a:t>数据点处无标记</a:t>
                      </a:r>
                    </a:p>
                  </a:txBody>
                  <a:tcPr/>
                </a:tc>
                <a:extLst>
                  <a:ext uri="{0D108BD9-81ED-4DB2-BD59-A6C34878D82A}">
                    <a16:rowId xmlns:a16="http://schemas.microsoft.com/office/drawing/2014/main" val="10007"/>
                  </a:ext>
                </a:extLst>
              </a:tr>
              <a:tr h="434281">
                <a:tc>
                  <a:txBody>
                    <a:bodyPr/>
                    <a:lstStyle/>
                    <a:p>
                      <a:endParaRPr lang="zh-CN" altLang="en-US" sz="1600"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0DD669B6-F0AA-44E3-9606-6EB48C67C15E}"/>
              </a:ext>
            </a:extLst>
          </p:cNvPr>
          <p:cNvSpPr>
            <a:spLocks noGrp="1" noChangeArrowheads="1"/>
          </p:cNvSpPr>
          <p:nvPr>
            <p:ph type="title"/>
          </p:nvPr>
        </p:nvSpPr>
        <p:spPr/>
        <p:txBody>
          <a:bodyPr/>
          <a:lstStyle/>
          <a:p>
            <a:r>
              <a:rPr lang="en-US" altLang="zh-CN"/>
              <a:t>Plot</a:t>
            </a:r>
            <a:r>
              <a:rPr lang="zh-CN" altLang="en-US"/>
              <a:t>的几种调用方法</a:t>
            </a:r>
          </a:p>
        </p:txBody>
      </p:sp>
      <p:sp>
        <p:nvSpPr>
          <p:cNvPr id="60419" name="内容占位符 2">
            <a:extLst>
              <a:ext uri="{FF2B5EF4-FFF2-40B4-BE49-F238E27FC236}">
                <a16:creationId xmlns:a16="http://schemas.microsoft.com/office/drawing/2014/main" id="{85845CDE-FF0E-40FA-A353-8DE45516EFAC}"/>
              </a:ext>
            </a:extLst>
          </p:cNvPr>
          <p:cNvSpPr>
            <a:spLocks noGrp="1" noChangeArrowheads="1"/>
          </p:cNvSpPr>
          <p:nvPr>
            <p:ph idx="1"/>
          </p:nvPr>
        </p:nvSpPr>
        <p:spPr>
          <a:xfrm>
            <a:off x="560388" y="1125538"/>
            <a:ext cx="8915400" cy="4530725"/>
          </a:xfrm>
        </p:spPr>
        <p:txBody>
          <a:bodyPr/>
          <a:lstStyle/>
          <a:p>
            <a:r>
              <a:rPr lang="en-US" altLang="zh-CN" dirty="0"/>
              <a:t>1. plot(y)</a:t>
            </a:r>
          </a:p>
          <a:p>
            <a:r>
              <a:rPr lang="zh-CN" altLang="en-US" dirty="0"/>
              <a:t>当</a:t>
            </a:r>
            <a:r>
              <a:rPr lang="en-US" altLang="zh-CN" dirty="0"/>
              <a:t>y</a:t>
            </a:r>
            <a:r>
              <a:rPr lang="zh-CN" altLang="en-US" dirty="0"/>
              <a:t>为向量时，则以</a:t>
            </a:r>
            <a:r>
              <a:rPr lang="en-US" altLang="zh-CN" dirty="0"/>
              <a:t>y</a:t>
            </a:r>
            <a:r>
              <a:rPr lang="zh-CN" altLang="en-US" dirty="0"/>
              <a:t>的元素值为纵坐标，以相应元素下标为横坐标，绘制连线图；</a:t>
            </a:r>
            <a:endParaRPr lang="en-US" altLang="zh-CN" dirty="0"/>
          </a:p>
          <a:p>
            <a:r>
              <a:rPr lang="zh-CN" altLang="en-US" dirty="0"/>
              <a:t>当</a:t>
            </a:r>
            <a:r>
              <a:rPr lang="en-US" altLang="zh-CN" dirty="0"/>
              <a:t>y</a:t>
            </a:r>
            <a:r>
              <a:rPr lang="zh-CN" altLang="en-US" dirty="0"/>
              <a:t>为实矩阵时，则按每列绘制元素值相对其下标的连线图，图中曲线数等于矩阵的列数；</a:t>
            </a:r>
            <a:endParaRPr lang="en-US" altLang="zh-CN" dirty="0"/>
          </a:p>
          <a:p>
            <a:r>
              <a:rPr lang="zh-CN" altLang="en-US" dirty="0"/>
              <a:t>当</a:t>
            </a:r>
            <a:r>
              <a:rPr lang="en-US" altLang="zh-CN" dirty="0"/>
              <a:t>y </a:t>
            </a:r>
            <a:r>
              <a:rPr lang="zh-CN" altLang="en-US" dirty="0"/>
              <a:t>为复数矩阵时，则分别以每列元素的实部和虚部为横纵坐标绘制多条连线图，图中曲线数等于矩阵的列数。</a:t>
            </a:r>
          </a:p>
        </p:txBody>
      </p:sp>
      <p:sp>
        <p:nvSpPr>
          <p:cNvPr id="60420" name="灯片编号占位符 3">
            <a:extLst>
              <a:ext uri="{FF2B5EF4-FFF2-40B4-BE49-F238E27FC236}">
                <a16:creationId xmlns:a16="http://schemas.microsoft.com/office/drawing/2014/main" id="{1E2B2CA5-7A94-4256-B231-3F8DDCE668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715C968-8F6F-4D23-A9E3-CCA9C387553F}" type="slidenum">
              <a:rPr lang="en-US" altLang="zh-CN" smtClean="0">
                <a:latin typeface="Garamond" panose="02020404030301010803" pitchFamily="18" charset="0"/>
              </a:rPr>
              <a:pPr/>
              <a:t>39</a:t>
            </a:fld>
            <a:endParaRPr lang="en-US" altLang="zh-CN">
              <a:latin typeface="Garamond" panose="02020404030301010803"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a:extLst>
              <a:ext uri="{FF2B5EF4-FFF2-40B4-BE49-F238E27FC236}">
                <a16:creationId xmlns:a16="http://schemas.microsoft.com/office/drawing/2014/main" id="{4C20CB7B-3584-41E3-99C3-7B57076F4D44}"/>
              </a:ext>
            </a:extLst>
          </p:cNvPr>
          <p:cNvSpPr>
            <a:spLocks noGrp="1" noChangeArrowheads="1"/>
          </p:cNvSpPr>
          <p:nvPr>
            <p:ph idx="1"/>
          </p:nvPr>
        </p:nvSpPr>
        <p:spPr>
          <a:xfrm>
            <a:off x="560388" y="333375"/>
            <a:ext cx="8915400" cy="5903913"/>
          </a:xfrm>
        </p:spPr>
        <p:txBody>
          <a:bodyPr/>
          <a:lstStyle/>
          <a:p>
            <a:r>
              <a:rPr lang="en-US" altLang="zh-CN" dirty="0"/>
              <a:t>2. plot(</a:t>
            </a:r>
            <a:r>
              <a:rPr lang="en-US" altLang="zh-CN" dirty="0" err="1"/>
              <a:t>x,y</a:t>
            </a:r>
            <a:r>
              <a:rPr lang="en-US" altLang="zh-CN" dirty="0"/>
              <a:t>)</a:t>
            </a:r>
          </a:p>
          <a:p>
            <a:r>
              <a:rPr lang="zh-CN" altLang="en-US" dirty="0"/>
              <a:t>当</a:t>
            </a:r>
            <a:r>
              <a:rPr lang="en-US" altLang="zh-CN" dirty="0"/>
              <a:t>y</a:t>
            </a:r>
            <a:r>
              <a:rPr lang="zh-CN" altLang="en-US" dirty="0"/>
              <a:t>和</a:t>
            </a:r>
            <a:r>
              <a:rPr lang="en-US" altLang="zh-CN" dirty="0"/>
              <a:t>x</a:t>
            </a:r>
            <a:r>
              <a:rPr lang="zh-CN" altLang="en-US" dirty="0"/>
              <a:t>为同维向量，则以</a:t>
            </a:r>
            <a:r>
              <a:rPr lang="en-US" altLang="zh-CN" dirty="0"/>
              <a:t>x</a:t>
            </a:r>
            <a:r>
              <a:rPr lang="zh-CN" altLang="en-US" dirty="0"/>
              <a:t>为横坐标，</a:t>
            </a:r>
            <a:r>
              <a:rPr lang="en-US" altLang="zh-CN" dirty="0"/>
              <a:t>y</a:t>
            </a:r>
            <a:r>
              <a:rPr lang="zh-CN" altLang="en-US" dirty="0"/>
              <a:t>为纵坐标绘制连线图。</a:t>
            </a:r>
            <a:endParaRPr lang="en-US" altLang="zh-CN" dirty="0"/>
          </a:p>
          <a:p>
            <a:r>
              <a:rPr lang="zh-CN" altLang="en-US" dirty="0"/>
              <a:t>若</a:t>
            </a:r>
            <a:r>
              <a:rPr lang="en-US" altLang="zh-CN" dirty="0"/>
              <a:t>x</a:t>
            </a:r>
            <a:r>
              <a:rPr lang="zh-CN" altLang="en-US" dirty="0"/>
              <a:t>是向量，</a:t>
            </a:r>
            <a:r>
              <a:rPr lang="en-US" altLang="zh-CN" dirty="0"/>
              <a:t>y</a:t>
            </a:r>
            <a:r>
              <a:rPr lang="zh-CN" altLang="en-US" dirty="0"/>
              <a:t>为有一维和</a:t>
            </a:r>
            <a:r>
              <a:rPr lang="en-US" altLang="zh-CN" dirty="0"/>
              <a:t>x</a:t>
            </a:r>
            <a:r>
              <a:rPr lang="zh-CN" altLang="en-US" dirty="0"/>
              <a:t>同维的矩阵，则绘制多条不同色彩的连线图，曲线的根数等于矩阵的另一维，</a:t>
            </a:r>
            <a:r>
              <a:rPr lang="en-US" altLang="zh-CN" dirty="0"/>
              <a:t>x</a:t>
            </a:r>
            <a:r>
              <a:rPr lang="zh-CN" altLang="en-US" dirty="0"/>
              <a:t>为这些曲线的共同横坐标；</a:t>
            </a:r>
            <a:endParaRPr lang="en-US" altLang="zh-CN" dirty="0"/>
          </a:p>
          <a:p>
            <a:r>
              <a:rPr lang="zh-CN" altLang="en-US" dirty="0"/>
              <a:t>如果</a:t>
            </a:r>
            <a:r>
              <a:rPr lang="en-US" altLang="zh-CN" dirty="0"/>
              <a:t>x</a:t>
            </a:r>
            <a:r>
              <a:rPr lang="zh-CN" altLang="en-US" dirty="0"/>
              <a:t>为矩阵，</a:t>
            </a:r>
            <a:r>
              <a:rPr lang="en-US" altLang="zh-CN" dirty="0"/>
              <a:t>y</a:t>
            </a:r>
            <a:r>
              <a:rPr lang="zh-CN" altLang="en-US" dirty="0"/>
              <a:t>为向量，情况与上相同，只是都以</a:t>
            </a:r>
            <a:r>
              <a:rPr lang="en-US" altLang="zh-CN" dirty="0"/>
              <a:t>y</a:t>
            </a:r>
            <a:r>
              <a:rPr lang="zh-CN" altLang="en-US" dirty="0"/>
              <a:t>为共同纵坐标。</a:t>
            </a:r>
            <a:endParaRPr lang="en-US" altLang="zh-CN" dirty="0"/>
          </a:p>
          <a:p>
            <a:r>
              <a:rPr lang="zh-CN" altLang="en-US" dirty="0"/>
              <a:t>如果</a:t>
            </a:r>
            <a:r>
              <a:rPr lang="en-US" altLang="zh-CN" dirty="0"/>
              <a:t>x</a:t>
            </a:r>
            <a:r>
              <a:rPr lang="zh-CN" altLang="en-US" dirty="0"/>
              <a:t>和</a:t>
            </a:r>
            <a:r>
              <a:rPr lang="en-US" altLang="zh-CN" dirty="0"/>
              <a:t>y </a:t>
            </a:r>
            <a:r>
              <a:rPr lang="zh-CN" altLang="en-US" dirty="0"/>
              <a:t>为同维矩阵，则以</a:t>
            </a:r>
            <a:r>
              <a:rPr lang="en-US" altLang="zh-CN" dirty="0" err="1"/>
              <a:t>x,y</a:t>
            </a:r>
            <a:r>
              <a:rPr lang="zh-CN" altLang="en-US" dirty="0"/>
              <a:t>对应列元素为横纵坐标分别绘制曲线，曲线条数等于矩阵的列数。</a:t>
            </a:r>
            <a:endParaRPr lang="en-US" altLang="zh-CN" dirty="0"/>
          </a:p>
          <a:p>
            <a:r>
              <a:rPr lang="zh-CN" altLang="en-US" dirty="0"/>
              <a:t>如果</a:t>
            </a:r>
            <a:r>
              <a:rPr lang="en-US" altLang="zh-CN" dirty="0"/>
              <a:t>x</a:t>
            </a:r>
            <a:r>
              <a:rPr lang="zh-CN" altLang="en-US" dirty="0"/>
              <a:t>和</a:t>
            </a:r>
            <a:r>
              <a:rPr lang="en-US" altLang="zh-CN" dirty="0"/>
              <a:t>y</a:t>
            </a:r>
            <a:r>
              <a:rPr lang="zh-CN" altLang="en-US" dirty="0"/>
              <a:t>为复数矩阵时，</a:t>
            </a:r>
            <a:r>
              <a:rPr lang="en-US" altLang="zh-CN" dirty="0" err="1"/>
              <a:t>matlab</a:t>
            </a:r>
            <a:r>
              <a:rPr lang="zh-CN" altLang="en-US" dirty="0"/>
              <a:t>将忽略虚数部分。</a:t>
            </a:r>
          </a:p>
        </p:txBody>
      </p:sp>
      <p:sp>
        <p:nvSpPr>
          <p:cNvPr id="61443" name="灯片编号占位符 3">
            <a:extLst>
              <a:ext uri="{FF2B5EF4-FFF2-40B4-BE49-F238E27FC236}">
                <a16:creationId xmlns:a16="http://schemas.microsoft.com/office/drawing/2014/main" id="{C6BF39A5-F5DB-41C4-8869-7E1FB382A1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CA30BD-8C7F-43ED-8A68-9AD54A13F773}" type="slidenum">
              <a:rPr lang="en-US" altLang="zh-CN" smtClean="0">
                <a:latin typeface="Garamond" panose="02020404030301010803" pitchFamily="18" charset="0"/>
              </a:rPr>
              <a:pPr/>
              <a:t>40</a:t>
            </a:fld>
            <a:endParaRPr lang="en-US" altLang="zh-CN">
              <a:latin typeface="Garamond" panose="02020404030301010803"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a:extLst>
              <a:ext uri="{FF2B5EF4-FFF2-40B4-BE49-F238E27FC236}">
                <a16:creationId xmlns:a16="http://schemas.microsoft.com/office/drawing/2014/main" id="{6A27E932-54CB-4CFA-9694-6A487AB1C0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5CC8EA5-D51E-46B7-B7F3-60AC345F8530}" type="slidenum">
              <a:rPr lang="en-US" altLang="zh-CN" sz="1200" smtClean="0">
                <a:latin typeface="Garamond" panose="02020404030301010803" pitchFamily="18" charset="0"/>
              </a:rPr>
              <a:pPr>
                <a:spcBef>
                  <a:spcPct val="0"/>
                </a:spcBef>
                <a:buClrTx/>
                <a:buSzTx/>
                <a:buFontTx/>
                <a:buNone/>
              </a:pPr>
              <a:t>41</a:t>
            </a:fld>
            <a:endParaRPr lang="en-US" altLang="zh-CN" sz="1200">
              <a:latin typeface="Garamond" panose="02020404030301010803" pitchFamily="18" charset="0"/>
            </a:endParaRPr>
          </a:p>
        </p:txBody>
      </p:sp>
      <p:sp>
        <p:nvSpPr>
          <p:cNvPr id="130050" name="Text Box 2">
            <a:extLst>
              <a:ext uri="{FF2B5EF4-FFF2-40B4-BE49-F238E27FC236}">
                <a16:creationId xmlns:a16="http://schemas.microsoft.com/office/drawing/2014/main" id="{0EEC9BFF-81D1-46D7-9747-BA59C922078D}"/>
              </a:ext>
            </a:extLst>
          </p:cNvPr>
          <p:cNvSpPr txBox="1">
            <a:spLocks noChangeArrowheads="1"/>
          </p:cNvSpPr>
          <p:nvPr/>
        </p:nvSpPr>
        <p:spPr bwMode="auto">
          <a:xfrm>
            <a:off x="1173163" y="620713"/>
            <a:ext cx="777240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800" dirty="0">
                <a:latin typeface="Impact" panose="020B0806030902050204" pitchFamily="34" charset="0"/>
              </a:rPr>
              <a:t>2</a:t>
            </a:r>
            <a:r>
              <a:rPr kumimoji="1" lang="zh-CN" altLang="en-US" sz="2800" dirty="0">
                <a:latin typeface="Impact" panose="020B0806030902050204" pitchFamily="34" charset="0"/>
              </a:rPr>
              <a:t>、选择图像</a:t>
            </a:r>
          </a:p>
          <a:p>
            <a:pPr eaLnBrk="1" hangingPunct="1">
              <a:buClrTx/>
              <a:buSzTx/>
              <a:buFontTx/>
              <a:buNone/>
            </a:pPr>
            <a:r>
              <a:rPr kumimoji="1" lang="en-US" altLang="zh-CN" sz="2800" dirty="0"/>
              <a:t>figure</a:t>
            </a:r>
            <a:r>
              <a:rPr kumimoji="1" lang="zh-CN" altLang="en-US" sz="2800" dirty="0"/>
              <a:t>（</a:t>
            </a:r>
            <a:r>
              <a:rPr kumimoji="1" lang="en-US" altLang="zh-CN" sz="2800" dirty="0"/>
              <a:t>1</a:t>
            </a:r>
            <a:r>
              <a:rPr kumimoji="1" lang="zh-CN" altLang="en-US" sz="2800" dirty="0"/>
              <a:t>）；</a:t>
            </a:r>
            <a:r>
              <a:rPr kumimoji="1" lang="en-US" altLang="zh-CN" sz="2800" dirty="0"/>
              <a:t>figure</a:t>
            </a:r>
            <a:r>
              <a:rPr kumimoji="1" lang="zh-CN" altLang="en-US" sz="2800" dirty="0"/>
              <a:t>（</a:t>
            </a:r>
            <a:r>
              <a:rPr kumimoji="1" lang="en-US" altLang="zh-CN" sz="2800" dirty="0"/>
              <a:t>2</a:t>
            </a:r>
            <a:r>
              <a:rPr kumimoji="1" lang="zh-CN" altLang="en-US" sz="2800" dirty="0"/>
              <a:t>）；</a:t>
            </a:r>
            <a:r>
              <a:rPr kumimoji="1" lang="en-US" altLang="zh-CN" sz="2800" dirty="0"/>
              <a:t>…</a:t>
            </a:r>
            <a:r>
              <a:rPr kumimoji="1" lang="zh-CN" altLang="en-US" sz="2800" dirty="0"/>
              <a:t>；</a:t>
            </a:r>
            <a:r>
              <a:rPr kumimoji="1" lang="en-US" altLang="zh-CN" sz="2800" dirty="0"/>
              <a:t>figure(n)</a:t>
            </a:r>
          </a:p>
          <a:p>
            <a:pPr eaLnBrk="1" hangingPunct="1">
              <a:buClrTx/>
              <a:buSzTx/>
              <a:buFontTx/>
              <a:buNone/>
            </a:pPr>
            <a:r>
              <a:rPr kumimoji="1" lang="zh-CN" altLang="en-US" sz="2800" dirty="0"/>
              <a:t>打开不同的图形窗口，以便绘制不同的图形。</a:t>
            </a:r>
            <a:endParaRPr kumimoji="1" lang="zh-CN" altLang="en-US" sz="2800" dirty="0">
              <a:latin typeface="Times New Roman" panose="02020603050405020304" pitchFamily="18" charset="0"/>
            </a:endParaRPr>
          </a:p>
        </p:txBody>
      </p:sp>
      <p:sp>
        <p:nvSpPr>
          <p:cNvPr id="130051" name="Text Box 3">
            <a:extLst>
              <a:ext uri="{FF2B5EF4-FFF2-40B4-BE49-F238E27FC236}">
                <a16:creationId xmlns:a16="http://schemas.microsoft.com/office/drawing/2014/main" id="{2173BDDE-8E89-4883-8338-62EEC1244133}"/>
              </a:ext>
            </a:extLst>
          </p:cNvPr>
          <p:cNvSpPr txBox="1">
            <a:spLocks noChangeArrowheads="1"/>
          </p:cNvSpPr>
          <p:nvPr/>
        </p:nvSpPr>
        <p:spPr bwMode="auto">
          <a:xfrm>
            <a:off x="1249363" y="2144713"/>
            <a:ext cx="74485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800" dirty="0"/>
              <a:t>3</a:t>
            </a:r>
            <a:r>
              <a:rPr kumimoji="1" lang="zh-CN" altLang="en-US" sz="2800" dirty="0"/>
              <a:t>、</a:t>
            </a:r>
            <a:r>
              <a:rPr kumimoji="1" lang="en-US" altLang="zh-CN" sz="2800" dirty="0"/>
              <a:t>grid on</a:t>
            </a:r>
            <a:r>
              <a:rPr kumimoji="1" lang="zh-CN" altLang="en-US" sz="2800" dirty="0"/>
              <a:t>：在所画出的图形坐标中加入栅格</a:t>
            </a:r>
          </a:p>
          <a:p>
            <a:pPr eaLnBrk="1" hangingPunct="1">
              <a:lnSpc>
                <a:spcPct val="90000"/>
              </a:lnSpc>
              <a:buClrTx/>
              <a:buSzTx/>
              <a:buFontTx/>
              <a:buNone/>
            </a:pPr>
            <a:r>
              <a:rPr kumimoji="1" lang="zh-CN" altLang="en-US" sz="2800" dirty="0"/>
              <a:t>      </a:t>
            </a:r>
            <a:r>
              <a:rPr kumimoji="1" lang="en-US" altLang="zh-CN" sz="2800" dirty="0"/>
              <a:t>grid off</a:t>
            </a:r>
            <a:r>
              <a:rPr kumimoji="1" lang="zh-CN" altLang="en-US" sz="2800" dirty="0">
                <a:latin typeface="Impact" panose="020B0806030902050204" pitchFamily="34" charset="0"/>
              </a:rPr>
              <a:t>：除去图形坐标中的栅格</a:t>
            </a:r>
          </a:p>
        </p:txBody>
      </p:sp>
      <p:sp>
        <p:nvSpPr>
          <p:cNvPr id="130052" name="Text Box 4">
            <a:extLst>
              <a:ext uri="{FF2B5EF4-FFF2-40B4-BE49-F238E27FC236}">
                <a16:creationId xmlns:a16="http://schemas.microsoft.com/office/drawing/2014/main" id="{E5CCA6F7-08B1-4D99-A164-FD2321355DB8}"/>
              </a:ext>
            </a:extLst>
          </p:cNvPr>
          <p:cNvSpPr txBox="1">
            <a:spLocks noChangeArrowheads="1"/>
          </p:cNvSpPr>
          <p:nvPr/>
        </p:nvSpPr>
        <p:spPr bwMode="auto">
          <a:xfrm>
            <a:off x="1136650" y="3363913"/>
            <a:ext cx="7921625"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800" dirty="0"/>
              <a:t>4</a:t>
            </a:r>
            <a:r>
              <a:rPr kumimoji="1" lang="zh-CN" altLang="en-US" sz="2800" dirty="0"/>
              <a:t>、</a:t>
            </a:r>
            <a:r>
              <a:rPr kumimoji="1" lang="en-US" altLang="zh-CN" sz="2800" dirty="0"/>
              <a:t>hold on</a:t>
            </a:r>
            <a:r>
              <a:rPr kumimoji="1" lang="zh-CN" altLang="en-US" sz="2800" dirty="0">
                <a:latin typeface="Impact" panose="020B0806030902050204" pitchFamily="34" charset="0"/>
              </a:rPr>
              <a:t>：把当前图形保持在屏幕上不变，同时允许在这个坐标内绘制另外一个图形。</a:t>
            </a:r>
          </a:p>
          <a:p>
            <a:pPr eaLnBrk="1" hangingPunct="1">
              <a:buClrTx/>
              <a:buSzTx/>
              <a:buFontTx/>
              <a:buNone/>
            </a:pPr>
            <a:r>
              <a:rPr kumimoji="1" lang="zh-CN" altLang="en-US" sz="2800" dirty="0">
                <a:latin typeface="Impact" panose="020B0806030902050204" pitchFamily="34" charset="0"/>
              </a:rPr>
              <a:t>         </a:t>
            </a:r>
            <a:r>
              <a:rPr kumimoji="1" lang="en-US" altLang="zh-CN" sz="2800" dirty="0"/>
              <a:t>hold off</a:t>
            </a:r>
            <a:r>
              <a:rPr kumimoji="1" lang="zh-CN" altLang="en-US" sz="2800" dirty="0">
                <a:latin typeface="Impact" panose="020B0806030902050204" pitchFamily="34" charset="0"/>
              </a:rPr>
              <a:t>：使新图覆盖旧的图形</a:t>
            </a:r>
          </a:p>
          <a:p>
            <a:pPr eaLnBrk="1" hangingPunct="1">
              <a:spcBef>
                <a:spcPct val="50000"/>
              </a:spcBef>
              <a:buClrTx/>
              <a:buSzTx/>
              <a:buFontTx/>
              <a:buNone/>
            </a:pPr>
            <a:r>
              <a:rPr kumimoji="1" lang="zh-CN" altLang="en-US" sz="2800" dirty="0"/>
              <a:t>例</a:t>
            </a:r>
            <a:r>
              <a:rPr kumimoji="1" lang="en-US" altLang="zh-CN" sz="2800" dirty="0"/>
              <a:t>exp2_4.m    exp2_4_.m</a:t>
            </a:r>
            <a:endParaRPr kumimoji="1"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0050"/>
                                        </p:tgtEl>
                                        <p:attrNameLst>
                                          <p:attrName>style.visibility</p:attrName>
                                        </p:attrNameLst>
                                      </p:cBhvr>
                                      <p:to>
                                        <p:strVal val="visible"/>
                                      </p:to>
                                    </p:set>
                                    <p:anim calcmode="lin" valueType="num">
                                      <p:cBhvr additive="base">
                                        <p:cTn id="7" dur="500" fill="hold"/>
                                        <p:tgtEl>
                                          <p:spTgt spid="130050"/>
                                        </p:tgtEl>
                                        <p:attrNameLst>
                                          <p:attrName>ppt_x</p:attrName>
                                        </p:attrNameLst>
                                      </p:cBhvr>
                                      <p:tavLst>
                                        <p:tav tm="0">
                                          <p:val>
                                            <p:strVal val="0-#ppt_w/2"/>
                                          </p:val>
                                        </p:tav>
                                        <p:tav tm="100000">
                                          <p:val>
                                            <p:strVal val="#ppt_x"/>
                                          </p:val>
                                        </p:tav>
                                      </p:tavLst>
                                    </p:anim>
                                    <p:anim calcmode="lin" valueType="num">
                                      <p:cBhvr additive="base">
                                        <p:cTn id="8" dur="500" fill="hold"/>
                                        <p:tgtEl>
                                          <p:spTgt spid="1300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30051"/>
                                        </p:tgtEl>
                                        <p:attrNameLst>
                                          <p:attrName>style.visibility</p:attrName>
                                        </p:attrNameLst>
                                      </p:cBhvr>
                                      <p:to>
                                        <p:strVal val="visible"/>
                                      </p:to>
                                    </p:set>
                                    <p:animEffect transition="in" filter="blinds(horizontal)">
                                      <p:cBhvr>
                                        <p:cTn id="13" dur="500"/>
                                        <p:tgtEl>
                                          <p:spTgt spid="1300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30052"/>
                                        </p:tgtEl>
                                        <p:attrNameLst>
                                          <p:attrName>style.visibility</p:attrName>
                                        </p:attrNameLst>
                                      </p:cBhvr>
                                      <p:to>
                                        <p:strVal val="visible"/>
                                      </p:to>
                                    </p:set>
                                    <p:animEffect transition="in" filter="checkerboard(across)">
                                      <p:cBhvr>
                                        <p:cTn id="18" dur="500"/>
                                        <p:tgtEl>
                                          <p:spTgt spid="130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utoUpdateAnimBg="0"/>
      <p:bldP spid="130051" grpId="0" autoUpdateAnimBg="0"/>
      <p:bldP spid="130052"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87092198-8222-42BC-854B-F44B6569D9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6418C04-597E-4392-8A00-EA85C888B8CF}" type="slidenum">
              <a:rPr lang="en-US" altLang="zh-CN" sz="1200" smtClean="0">
                <a:latin typeface="Garamond" panose="02020404030301010803" pitchFamily="18" charset="0"/>
              </a:rPr>
              <a:pPr>
                <a:spcBef>
                  <a:spcPct val="0"/>
                </a:spcBef>
                <a:buClrTx/>
                <a:buSzTx/>
                <a:buFontTx/>
                <a:buNone/>
              </a:pPr>
              <a:t>42</a:t>
            </a:fld>
            <a:endParaRPr lang="en-US" altLang="zh-CN" sz="1200">
              <a:latin typeface="Garamond" panose="02020404030301010803" pitchFamily="18" charset="0"/>
            </a:endParaRPr>
          </a:p>
        </p:txBody>
      </p:sp>
      <p:sp>
        <p:nvSpPr>
          <p:cNvPr id="99331" name="Text Box 3">
            <a:extLst>
              <a:ext uri="{FF2B5EF4-FFF2-40B4-BE49-F238E27FC236}">
                <a16:creationId xmlns:a16="http://schemas.microsoft.com/office/drawing/2014/main" id="{C71CCCB1-6D4D-49DC-AC9A-2131B953AB87}"/>
              </a:ext>
            </a:extLst>
          </p:cNvPr>
          <p:cNvSpPr txBox="1">
            <a:spLocks noChangeArrowheads="1"/>
          </p:cNvSpPr>
          <p:nvPr/>
        </p:nvSpPr>
        <p:spPr bwMode="auto">
          <a:xfrm>
            <a:off x="1219200" y="381000"/>
            <a:ext cx="8153400"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latin typeface="Impact" panose="020B0806030902050204" pitchFamily="34" charset="0"/>
              </a:rPr>
              <a:t>5</a:t>
            </a:r>
            <a:r>
              <a:rPr kumimoji="1" lang="zh-CN" altLang="en-US" sz="2400">
                <a:latin typeface="Impact" panose="020B0806030902050204" pitchFamily="34" charset="0"/>
              </a:rPr>
              <a:t>、设定轴的范围</a:t>
            </a:r>
          </a:p>
          <a:p>
            <a:pPr eaLnBrk="1" hangingPunct="1">
              <a:buClrTx/>
              <a:buSzTx/>
              <a:buFontTx/>
              <a:buNone/>
            </a:pPr>
            <a:r>
              <a:rPr kumimoji="1" lang="en-US" altLang="zh-CN" sz="2400"/>
              <a:t>axis</a:t>
            </a:r>
            <a:r>
              <a:rPr kumimoji="1" lang="zh-CN" altLang="en-US" sz="2400"/>
              <a:t>（</a:t>
            </a:r>
            <a:r>
              <a:rPr kumimoji="1" lang="en-US" altLang="zh-CN" sz="2400"/>
              <a:t>[xmin xmax ymin ymax]</a:t>
            </a:r>
            <a:r>
              <a:rPr kumimoji="1" lang="zh-CN" altLang="en-US" sz="2400"/>
              <a:t>）</a:t>
            </a:r>
          </a:p>
          <a:p>
            <a:pPr eaLnBrk="1" hangingPunct="1">
              <a:buClrTx/>
              <a:buSzTx/>
              <a:buFontTx/>
              <a:buNone/>
            </a:pPr>
            <a:r>
              <a:rPr kumimoji="1" lang="zh-CN" altLang="en-US" sz="2400"/>
              <a:t>例</a:t>
            </a:r>
            <a:r>
              <a:rPr kumimoji="1" lang="en-US" altLang="zh-CN" sz="2400"/>
              <a:t>exp2_5.m</a:t>
            </a:r>
          </a:p>
          <a:p>
            <a:pPr eaLnBrk="1" hangingPunct="1">
              <a:buClrTx/>
              <a:buSzTx/>
              <a:buFontTx/>
              <a:buNone/>
            </a:pPr>
            <a:r>
              <a:rPr kumimoji="1" lang="en-US" altLang="zh-CN" sz="2400">
                <a:latin typeface="Times New Roman" panose="02020603050405020304" pitchFamily="18" charset="0"/>
              </a:rPr>
              <a:t>axis([-Inf xmax ymin ymax])</a:t>
            </a:r>
          </a:p>
          <a:p>
            <a:pPr eaLnBrk="1" hangingPunct="1">
              <a:buClrTx/>
              <a:buSzTx/>
              <a:buFontTx/>
              <a:buNone/>
            </a:pPr>
            <a:r>
              <a:rPr kumimoji="1" lang="zh-CN" altLang="en-US" sz="2400">
                <a:latin typeface="Times New Roman" panose="02020603050405020304" pitchFamily="18" charset="0"/>
              </a:rPr>
              <a:t>只指定轴的一端。</a:t>
            </a:r>
            <a:endParaRPr kumimoji="1" lang="en-US" altLang="zh-CN" sz="2400">
              <a:latin typeface="Times New Roman" panose="02020603050405020304" pitchFamily="18" charset="0"/>
            </a:endParaRPr>
          </a:p>
          <a:p>
            <a:pPr eaLnBrk="1" hangingPunct="1">
              <a:buClrTx/>
              <a:buSzTx/>
              <a:buFontTx/>
              <a:buNone/>
            </a:pPr>
            <a:r>
              <a:rPr kumimoji="1" lang="zh-CN" altLang="en-US" sz="2400">
                <a:latin typeface="Times New Roman" panose="02020603050405020304" pitchFamily="18" charset="0"/>
              </a:rPr>
              <a:t>可以利用</a:t>
            </a:r>
            <a:r>
              <a:rPr kumimoji="1" lang="en-US" altLang="zh-CN" sz="2400">
                <a:latin typeface="Times New Roman" panose="02020603050405020304" pitchFamily="18" charset="0"/>
              </a:rPr>
              <a:t>xtick</a:t>
            </a:r>
            <a:r>
              <a:rPr kumimoji="1" lang="zh-CN" altLang="en-US" sz="2400">
                <a:latin typeface="Times New Roman" panose="02020603050405020304" pitchFamily="18" charset="0"/>
              </a:rPr>
              <a:t>和</a:t>
            </a:r>
            <a:r>
              <a:rPr kumimoji="1" lang="en-US" altLang="zh-CN" sz="2400">
                <a:latin typeface="Times New Roman" panose="02020603050405020304" pitchFamily="18" charset="0"/>
              </a:rPr>
              <a:t>ytick</a:t>
            </a:r>
            <a:r>
              <a:rPr kumimoji="1" lang="zh-CN" altLang="en-US" sz="2400">
                <a:latin typeface="Times New Roman" panose="02020603050405020304" pitchFamily="18" charset="0"/>
              </a:rPr>
              <a:t>自己设置刻度线的位置，刻度线之间的间距可以不等。设置时，将有刻度线的值按升序排列。例如：</a:t>
            </a:r>
            <a:endParaRPr kumimoji="1" lang="en-US" altLang="zh-CN" sz="2400">
              <a:latin typeface="Times New Roman" panose="02020603050405020304" pitchFamily="18" charset="0"/>
            </a:endParaRPr>
          </a:p>
          <a:p>
            <a:pPr eaLnBrk="1" hangingPunct="1">
              <a:buClrTx/>
              <a:buSzTx/>
              <a:buFontTx/>
              <a:buNone/>
            </a:pPr>
            <a:r>
              <a:rPr kumimoji="1" lang="en-US" altLang="zh-CN" sz="2400">
                <a:latin typeface="Times New Roman" panose="02020603050405020304" pitchFamily="18" charset="0"/>
              </a:rPr>
              <a:t>Set(gca,’xtick’,[2 2.1 2.2 2.3 2.4 2.5])</a:t>
            </a:r>
          </a:p>
          <a:p>
            <a:pPr eaLnBrk="1" hangingPunct="1">
              <a:buClrTx/>
              <a:buSzTx/>
              <a:buFontTx/>
              <a:buNone/>
            </a:pPr>
            <a:r>
              <a:rPr kumimoji="1" lang="zh-CN" altLang="en-US" sz="2400">
                <a:latin typeface="Times New Roman" panose="02020603050405020304" pitchFamily="18" charset="0"/>
              </a:rPr>
              <a:t>该命令使图形的</a:t>
            </a:r>
            <a:r>
              <a:rPr kumimoji="1" lang="en-US" altLang="zh-CN" sz="2400">
                <a:latin typeface="Times New Roman" panose="02020603050405020304" pitchFamily="18" charset="0"/>
              </a:rPr>
              <a:t>x</a:t>
            </a:r>
            <a:r>
              <a:rPr kumimoji="1" lang="zh-CN" altLang="en-US" sz="2400">
                <a:latin typeface="Times New Roman" panose="02020603050405020304" pitchFamily="18" charset="0"/>
              </a:rPr>
              <a:t>轴上只有</a:t>
            </a:r>
            <a:r>
              <a:rPr kumimoji="1" lang="en-US" altLang="zh-CN" sz="2400">
                <a:latin typeface="Times New Roman" panose="02020603050405020304" pitchFamily="18" charset="0"/>
              </a:rPr>
              <a:t>2~2.5</a:t>
            </a:r>
            <a:r>
              <a:rPr kumimoji="1" lang="zh-CN" altLang="en-US" sz="2400">
                <a:latin typeface="Times New Roman" panose="02020603050405020304" pitchFamily="18" charset="0"/>
              </a:rPr>
              <a:t>之间等间距地标出六条刻度线。当指定的轴的刻度值超出轴的范围时，</a:t>
            </a:r>
            <a:r>
              <a:rPr kumimoji="1" lang="en-US" altLang="zh-CN" sz="2400">
                <a:latin typeface="Times New Roman" panose="02020603050405020304" pitchFamily="18" charset="0"/>
              </a:rPr>
              <a:t>matlab</a:t>
            </a:r>
            <a:r>
              <a:rPr kumimoji="1" lang="zh-CN" altLang="en-US" sz="2400">
                <a:latin typeface="Times New Roman" panose="02020603050405020304" pitchFamily="18" charset="0"/>
              </a:rPr>
              <a:t>自动放弃这些刻度值。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animEffect transition="in" filter="box(out)">
                                      <p:cBhvr>
                                        <p:cTn id="7" dur="500"/>
                                        <p:tgtEl>
                                          <p:spTgt spid="99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灯片编号占位符 5">
            <a:extLst>
              <a:ext uri="{FF2B5EF4-FFF2-40B4-BE49-F238E27FC236}">
                <a16:creationId xmlns:a16="http://schemas.microsoft.com/office/drawing/2014/main" id="{8F409BBD-6052-45A0-8373-1C1F6C4D54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555484A-A40B-4153-BAB8-E0BCE51A9CA1}" type="slidenum">
              <a:rPr lang="en-US" altLang="zh-CN" sz="1200" smtClean="0">
                <a:latin typeface="Garamond" panose="02020404030301010803" pitchFamily="18" charset="0"/>
              </a:rPr>
              <a:pPr>
                <a:spcBef>
                  <a:spcPct val="0"/>
                </a:spcBef>
                <a:buClrTx/>
                <a:buSzTx/>
                <a:buFontTx/>
                <a:buNone/>
              </a:pPr>
              <a:t>43</a:t>
            </a:fld>
            <a:endParaRPr lang="en-US" altLang="zh-CN" sz="1200">
              <a:latin typeface="Garamond" panose="02020404030301010803" pitchFamily="18" charset="0"/>
            </a:endParaRPr>
          </a:p>
        </p:txBody>
      </p:sp>
      <p:sp>
        <p:nvSpPr>
          <p:cNvPr id="99330" name="Rectangle 2">
            <a:extLst>
              <a:ext uri="{FF2B5EF4-FFF2-40B4-BE49-F238E27FC236}">
                <a16:creationId xmlns:a16="http://schemas.microsoft.com/office/drawing/2014/main" id="{7F6128AA-F086-46EF-B4ED-1B2CE63549D0}"/>
              </a:ext>
            </a:extLst>
          </p:cNvPr>
          <p:cNvSpPr>
            <a:spLocks noGrp="1" noChangeArrowheads="1"/>
          </p:cNvSpPr>
          <p:nvPr>
            <p:ph type="body" idx="1"/>
          </p:nvPr>
        </p:nvSpPr>
        <p:spPr>
          <a:xfrm>
            <a:off x="1423988" y="3040063"/>
            <a:ext cx="8208962" cy="3197225"/>
          </a:xfrm>
        </p:spPr>
        <p:txBody>
          <a:bodyPr/>
          <a:lstStyle/>
          <a:p>
            <a:pPr eaLnBrk="1" hangingPunct="1">
              <a:lnSpc>
                <a:spcPct val="90000"/>
              </a:lnSpc>
              <a:buFont typeface="Wingdings" panose="05000000000000000000" pitchFamily="2" charset="2"/>
              <a:buNone/>
            </a:pPr>
            <a:r>
              <a:rPr lang="en-US" altLang="zh-CN" sz="2800"/>
              <a:t>6</a:t>
            </a:r>
            <a:r>
              <a:rPr lang="zh-CN" altLang="en-US" sz="2800"/>
              <a:t>、文字标示</a:t>
            </a:r>
          </a:p>
          <a:p>
            <a:pPr eaLnBrk="1" hangingPunct="1">
              <a:lnSpc>
                <a:spcPct val="90000"/>
              </a:lnSpc>
            </a:pPr>
            <a:r>
              <a:rPr lang="en-US" altLang="zh-CN" sz="2800"/>
              <a:t>text(x,y,’</a:t>
            </a:r>
            <a:r>
              <a:rPr lang="zh-CN" altLang="en-US" sz="2800"/>
              <a:t>字符串’</a:t>
            </a:r>
            <a:r>
              <a:rPr lang="en-US" altLang="zh-CN" sz="2800"/>
              <a:t>)</a:t>
            </a:r>
          </a:p>
          <a:p>
            <a:pPr eaLnBrk="1" hangingPunct="1">
              <a:lnSpc>
                <a:spcPct val="90000"/>
              </a:lnSpc>
              <a:buFont typeface="Wingdings" panose="05000000000000000000" pitchFamily="2" charset="2"/>
              <a:buNone/>
            </a:pPr>
            <a:r>
              <a:rPr lang="zh-CN" altLang="en-US" sz="2800"/>
              <a:t>在图形的指定坐标位置</a:t>
            </a:r>
            <a:r>
              <a:rPr lang="en-US" altLang="zh-CN" sz="2800"/>
              <a:t>(x,y)</a:t>
            </a:r>
            <a:r>
              <a:rPr lang="zh-CN" altLang="en-US" sz="2800"/>
              <a:t>处，标示单引号括起来的字符串。</a:t>
            </a:r>
          </a:p>
          <a:p>
            <a:pPr eaLnBrk="1" hangingPunct="1">
              <a:lnSpc>
                <a:spcPct val="90000"/>
              </a:lnSpc>
            </a:pPr>
            <a:r>
              <a:rPr lang="en-US" altLang="zh-CN" sz="2800"/>
              <a:t>gtext(‘</a:t>
            </a:r>
            <a:r>
              <a:rPr lang="zh-CN" altLang="en-US" sz="2800"/>
              <a:t>字符串’</a:t>
            </a:r>
            <a:r>
              <a:rPr lang="en-US" altLang="zh-CN" sz="2800"/>
              <a:t>)</a:t>
            </a:r>
          </a:p>
          <a:p>
            <a:pPr eaLnBrk="1" hangingPunct="1">
              <a:lnSpc>
                <a:spcPct val="90000"/>
              </a:lnSpc>
              <a:buFont typeface="Wingdings" panose="05000000000000000000" pitchFamily="2" charset="2"/>
              <a:buNone/>
            </a:pPr>
            <a:r>
              <a:rPr lang="zh-CN" altLang="en-US" sz="2800"/>
              <a:t>利用鼠标在图形的某一位置标示字符串。</a:t>
            </a:r>
          </a:p>
        </p:txBody>
      </p:sp>
      <p:sp>
        <p:nvSpPr>
          <p:cNvPr id="66564" name="TextBox 1">
            <a:extLst>
              <a:ext uri="{FF2B5EF4-FFF2-40B4-BE49-F238E27FC236}">
                <a16:creationId xmlns:a16="http://schemas.microsoft.com/office/drawing/2014/main" id="{E5E8923E-D7CC-4990-BDE7-195AF33F8D11}"/>
              </a:ext>
            </a:extLst>
          </p:cNvPr>
          <p:cNvSpPr txBox="1">
            <a:spLocks noChangeArrowheads="1"/>
          </p:cNvSpPr>
          <p:nvPr/>
        </p:nvSpPr>
        <p:spPr bwMode="auto">
          <a:xfrm>
            <a:off x="1065213" y="404813"/>
            <a:ext cx="86026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kumimoji="1" lang="en-US" altLang="zh-CN" sz="2400" dirty="0"/>
              <a:t>axis(‘equal’)</a:t>
            </a:r>
            <a:r>
              <a:rPr kumimoji="1" lang="zh-CN" altLang="en-US" sz="2400" dirty="0"/>
              <a:t>：将</a:t>
            </a:r>
            <a:r>
              <a:rPr kumimoji="1" lang="en-US" altLang="zh-CN" sz="2400" dirty="0"/>
              <a:t>x</a:t>
            </a:r>
            <a:r>
              <a:rPr kumimoji="1" lang="zh-CN" altLang="en-US" sz="2400" dirty="0"/>
              <a:t>坐标轴和</a:t>
            </a:r>
            <a:r>
              <a:rPr kumimoji="1" lang="en-US" altLang="zh-CN" sz="2400" dirty="0"/>
              <a:t>y</a:t>
            </a:r>
            <a:r>
              <a:rPr kumimoji="1" lang="zh-CN" altLang="en-US" sz="2400" dirty="0"/>
              <a:t>坐标轴的单位刻度大小调整为一样</a:t>
            </a:r>
            <a:endParaRPr kumimoji="1" lang="en-US" altLang="zh-CN" sz="2400" dirty="0"/>
          </a:p>
          <a:p>
            <a:pPr>
              <a:lnSpc>
                <a:spcPct val="150000"/>
              </a:lnSpc>
            </a:pPr>
            <a:r>
              <a:rPr kumimoji="1" lang="en-US" altLang="zh-CN" sz="2400" dirty="0"/>
              <a:t>axis(‘square’)</a:t>
            </a:r>
            <a:r>
              <a:rPr kumimoji="1" lang="zh-CN" altLang="en-US" sz="2400" dirty="0"/>
              <a:t>：指定两轴显示的长度相同</a:t>
            </a:r>
            <a:endParaRPr kumimoji="1" lang="en-US" altLang="zh-CN" sz="2400" dirty="0"/>
          </a:p>
          <a:p>
            <a:pPr>
              <a:lnSpc>
                <a:spcPct val="150000"/>
              </a:lnSpc>
            </a:pPr>
            <a:r>
              <a:rPr kumimoji="1" lang="en-US" altLang="zh-CN" sz="2400" dirty="0"/>
              <a:t>axis(‘tight’)</a:t>
            </a:r>
            <a:r>
              <a:rPr kumimoji="1" lang="zh-CN" altLang="en-US" sz="2400" dirty="0"/>
              <a:t> ：指定坐标轴填满已有的数据范围。</a:t>
            </a:r>
            <a:endParaRPr kumimoji="1" lang="en-US" altLang="zh-CN" sz="2400" dirty="0"/>
          </a:p>
          <a:p>
            <a:pPr>
              <a:lnSpc>
                <a:spcPct val="150000"/>
              </a:lnSpc>
            </a:pPr>
            <a:r>
              <a:rPr kumimoji="1" lang="en-US" altLang="zh-CN" sz="2400" dirty="0"/>
              <a:t>equal </a:t>
            </a:r>
            <a:r>
              <a:rPr kumimoji="1" lang="zh-CN" altLang="en-US" sz="2400" dirty="0"/>
              <a:t>和</a:t>
            </a:r>
            <a:r>
              <a:rPr kumimoji="1" lang="en-US" altLang="zh-CN" sz="2400" dirty="0"/>
              <a:t>tight</a:t>
            </a:r>
            <a:r>
              <a:rPr kumimoji="1" lang="zh-CN" altLang="en-US" sz="2400" dirty="0"/>
              <a:t>可以同时选中</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barn(outHorizontal)">
                                      <p:cBhvr>
                                        <p:cTn id="7" dur="500"/>
                                        <p:tgtEl>
                                          <p:spTgt spid="993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9330">
                                            <p:txEl>
                                              <p:pRg st="1" end="1"/>
                                            </p:txEl>
                                          </p:spTgt>
                                        </p:tgtEl>
                                        <p:attrNameLst>
                                          <p:attrName>style.visibility</p:attrName>
                                        </p:attrNameLst>
                                      </p:cBhvr>
                                      <p:to>
                                        <p:strVal val="visible"/>
                                      </p:to>
                                    </p:set>
                                    <p:animEffect transition="in" filter="barn(outHorizontal)">
                                      <p:cBhvr>
                                        <p:cTn id="12" dur="500"/>
                                        <p:tgtEl>
                                          <p:spTgt spid="993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99330">
                                            <p:txEl>
                                              <p:pRg st="2" end="2"/>
                                            </p:txEl>
                                          </p:spTgt>
                                        </p:tgtEl>
                                        <p:attrNameLst>
                                          <p:attrName>style.visibility</p:attrName>
                                        </p:attrNameLst>
                                      </p:cBhvr>
                                      <p:to>
                                        <p:strVal val="visible"/>
                                      </p:to>
                                    </p:set>
                                    <p:animEffect transition="in" filter="barn(outHorizontal)">
                                      <p:cBhvr>
                                        <p:cTn id="17" dur="500"/>
                                        <p:tgtEl>
                                          <p:spTgt spid="9933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99330">
                                            <p:txEl>
                                              <p:pRg st="3" end="3"/>
                                            </p:txEl>
                                          </p:spTgt>
                                        </p:tgtEl>
                                        <p:attrNameLst>
                                          <p:attrName>style.visibility</p:attrName>
                                        </p:attrNameLst>
                                      </p:cBhvr>
                                      <p:to>
                                        <p:strVal val="visible"/>
                                      </p:to>
                                    </p:set>
                                    <p:animEffect transition="in" filter="barn(outHorizontal)">
                                      <p:cBhvr>
                                        <p:cTn id="22" dur="500"/>
                                        <p:tgtEl>
                                          <p:spTgt spid="9933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99330">
                                            <p:txEl>
                                              <p:pRg st="4" end="4"/>
                                            </p:txEl>
                                          </p:spTgt>
                                        </p:tgtEl>
                                        <p:attrNameLst>
                                          <p:attrName>style.visibility</p:attrName>
                                        </p:attrNameLst>
                                      </p:cBhvr>
                                      <p:to>
                                        <p:strVal val="visible"/>
                                      </p:to>
                                    </p:set>
                                    <p:animEffect transition="in" filter="barn(outHorizontal)">
                                      <p:cBhvr>
                                        <p:cTn id="27" dur="500"/>
                                        <p:tgtEl>
                                          <p:spTgt spid="993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F574478D-2553-4DB5-812C-C1FD7CA96C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2E8B61A-6C5B-4FBE-B7AB-837EAF2D3586}" type="slidenum">
              <a:rPr lang="en-US" altLang="zh-CN" sz="1200" smtClean="0">
                <a:latin typeface="Garamond" panose="02020404030301010803" pitchFamily="18" charset="0"/>
              </a:rPr>
              <a:pPr>
                <a:spcBef>
                  <a:spcPct val="0"/>
                </a:spcBef>
                <a:buClrTx/>
                <a:buSzTx/>
                <a:buFontTx/>
                <a:buNone/>
              </a:pPr>
              <a:t>44</a:t>
            </a:fld>
            <a:endParaRPr lang="en-US" altLang="zh-CN" sz="1200">
              <a:latin typeface="Garamond" panose="02020404030301010803" pitchFamily="18" charset="0"/>
            </a:endParaRPr>
          </a:p>
        </p:txBody>
      </p:sp>
      <p:sp>
        <p:nvSpPr>
          <p:cNvPr id="68611" name="Rectangle 3">
            <a:extLst>
              <a:ext uri="{FF2B5EF4-FFF2-40B4-BE49-F238E27FC236}">
                <a16:creationId xmlns:a16="http://schemas.microsoft.com/office/drawing/2014/main" id="{1EAEA5B0-1C4D-44AF-A970-7E7E98D09859}"/>
              </a:ext>
            </a:extLst>
          </p:cNvPr>
          <p:cNvSpPr>
            <a:spLocks noGrp="1" noChangeArrowheads="1"/>
          </p:cNvSpPr>
          <p:nvPr>
            <p:ph type="body" idx="1"/>
          </p:nvPr>
        </p:nvSpPr>
        <p:spPr>
          <a:xfrm>
            <a:off x="631825" y="692150"/>
            <a:ext cx="9001125" cy="5438775"/>
          </a:xfrm>
        </p:spPr>
        <p:txBody>
          <a:bodyPr/>
          <a:lstStyle/>
          <a:p>
            <a:pPr eaLnBrk="1" hangingPunct="1"/>
            <a:r>
              <a:rPr lang="en-US" altLang="zh-CN" dirty="0"/>
              <a:t>title(‘</a:t>
            </a:r>
            <a:r>
              <a:rPr lang="zh-CN" altLang="en-US" dirty="0"/>
              <a:t>字符串’</a:t>
            </a:r>
            <a:r>
              <a:rPr lang="en-US" altLang="zh-CN" dirty="0"/>
              <a:t>)</a:t>
            </a:r>
          </a:p>
          <a:p>
            <a:pPr eaLnBrk="1" hangingPunct="1">
              <a:buFont typeface="Wingdings" panose="05000000000000000000" pitchFamily="2" charset="2"/>
              <a:buNone/>
            </a:pPr>
            <a:r>
              <a:rPr lang="zh-CN" altLang="en-US" dirty="0"/>
              <a:t>在所画图形的最上端显示说明该图形标题的字符串。</a:t>
            </a:r>
          </a:p>
          <a:p>
            <a:pPr eaLnBrk="1" hangingPunct="1"/>
            <a:r>
              <a:rPr lang="en-US" altLang="zh-CN" dirty="0" err="1"/>
              <a:t>xlabel</a:t>
            </a:r>
            <a:r>
              <a:rPr lang="en-US" altLang="zh-CN" dirty="0"/>
              <a:t>(‘</a:t>
            </a:r>
            <a:r>
              <a:rPr lang="zh-CN" altLang="en-US" dirty="0"/>
              <a:t>字符串’</a:t>
            </a:r>
            <a:r>
              <a:rPr lang="en-US" altLang="zh-CN" dirty="0"/>
              <a:t>)</a:t>
            </a:r>
            <a:r>
              <a:rPr lang="zh-CN" altLang="en-US" dirty="0"/>
              <a:t>，</a:t>
            </a:r>
            <a:r>
              <a:rPr lang="en-US" altLang="zh-CN" dirty="0" err="1"/>
              <a:t>ylabel</a:t>
            </a:r>
            <a:r>
              <a:rPr lang="en-US" altLang="zh-CN" dirty="0"/>
              <a:t>(‘</a:t>
            </a:r>
            <a:r>
              <a:rPr lang="zh-CN" altLang="en-US" dirty="0"/>
              <a:t>字符串’</a:t>
            </a:r>
            <a:r>
              <a:rPr lang="en-US" altLang="zh-CN" dirty="0"/>
              <a:t>)</a:t>
            </a:r>
          </a:p>
          <a:p>
            <a:pPr eaLnBrk="1" hangingPunct="1">
              <a:buFont typeface="Wingdings" panose="05000000000000000000" pitchFamily="2" charset="2"/>
              <a:buNone/>
            </a:pPr>
            <a:r>
              <a:rPr lang="zh-CN" altLang="en-US" dirty="0"/>
              <a:t>设置</a:t>
            </a:r>
            <a:r>
              <a:rPr lang="en-US" altLang="zh-CN" dirty="0"/>
              <a:t>x</a:t>
            </a:r>
            <a:r>
              <a:rPr lang="zh-CN" altLang="en-US" dirty="0"/>
              <a:t>，</a:t>
            </a:r>
            <a:r>
              <a:rPr lang="en-US" altLang="zh-CN" dirty="0"/>
              <a:t>y</a:t>
            </a:r>
            <a:r>
              <a:rPr lang="zh-CN" altLang="en-US" dirty="0"/>
              <a:t>坐标轴的名称。</a:t>
            </a:r>
          </a:p>
          <a:p>
            <a:pPr eaLnBrk="1" hangingPunct="1"/>
            <a:r>
              <a:rPr lang="zh-CN" altLang="en-US" dirty="0"/>
              <a:t>输入特殊的文字需要用反斜杠（</a:t>
            </a:r>
            <a:r>
              <a:rPr lang="en-US" altLang="zh-CN" dirty="0"/>
              <a:t>\</a:t>
            </a:r>
            <a:r>
              <a:rPr lang="zh-CN" altLang="en-US" dirty="0"/>
              <a:t>）开头。</a:t>
            </a:r>
          </a:p>
          <a:p>
            <a:pPr eaLnBrk="1" hangingPunct="1">
              <a:buFont typeface="Wingdings" panose="05000000000000000000" pitchFamily="2" charset="2"/>
              <a:buNone/>
            </a:pPr>
            <a:r>
              <a:rPr lang="en-US" altLang="zh-CN" dirty="0"/>
              <a:t>7</a:t>
            </a:r>
            <a:r>
              <a:rPr lang="zh-CN" altLang="en-US" dirty="0"/>
              <a:t>、</a:t>
            </a:r>
            <a:r>
              <a:rPr lang="en-US" altLang="zh-CN" dirty="0"/>
              <a:t>legend(‘</a:t>
            </a:r>
            <a:r>
              <a:rPr lang="zh-CN" altLang="en-US" dirty="0"/>
              <a:t>字符串</a:t>
            </a:r>
            <a:r>
              <a:rPr lang="en-US" altLang="zh-CN" dirty="0"/>
              <a:t>1’,‘</a:t>
            </a:r>
            <a:r>
              <a:rPr lang="zh-CN" altLang="en-US" dirty="0"/>
              <a:t>字符串</a:t>
            </a:r>
            <a:r>
              <a:rPr lang="en-US" altLang="zh-CN" dirty="0"/>
              <a:t>2’,…,‘</a:t>
            </a:r>
            <a:r>
              <a:rPr lang="zh-CN" altLang="en-US" dirty="0"/>
              <a:t>字符串</a:t>
            </a:r>
            <a:r>
              <a:rPr lang="en-US" altLang="zh-CN" dirty="0"/>
              <a:t>n’)</a:t>
            </a:r>
          </a:p>
          <a:p>
            <a:pPr eaLnBrk="1" hangingPunct="1"/>
            <a:r>
              <a:rPr lang="zh-CN" altLang="en-US" dirty="0"/>
              <a:t>在屏幕上开启一个小视窗，然后依据绘图命令的先后次序，用对应的字符串区分图形上的线。               例</a:t>
            </a:r>
            <a:r>
              <a:rPr lang="en-US" altLang="zh-CN" dirty="0"/>
              <a:t>exp2_5_.m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灯片编号占位符 5">
            <a:extLst>
              <a:ext uri="{FF2B5EF4-FFF2-40B4-BE49-F238E27FC236}">
                <a16:creationId xmlns:a16="http://schemas.microsoft.com/office/drawing/2014/main" id="{6E5E5C52-1CAB-419C-BE0F-9C5FC89B48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9193AB0-4D73-4D9F-86DA-87A2A5B44773}" type="slidenum">
              <a:rPr lang="en-US" altLang="zh-CN" sz="1200" smtClean="0">
                <a:latin typeface="Garamond" panose="02020404030301010803" pitchFamily="18" charset="0"/>
              </a:rPr>
              <a:pPr>
                <a:spcBef>
                  <a:spcPct val="0"/>
                </a:spcBef>
                <a:buClrTx/>
                <a:buSzTx/>
                <a:buFontTx/>
                <a:buNone/>
              </a:pPr>
              <a:t>45</a:t>
            </a:fld>
            <a:endParaRPr lang="en-US" altLang="zh-CN" sz="1200">
              <a:latin typeface="Garamond" panose="02020404030301010803" pitchFamily="18" charset="0"/>
            </a:endParaRPr>
          </a:p>
        </p:txBody>
      </p:sp>
      <p:sp>
        <p:nvSpPr>
          <p:cNvPr id="100354" name="Rectangle 2">
            <a:extLst>
              <a:ext uri="{FF2B5EF4-FFF2-40B4-BE49-F238E27FC236}">
                <a16:creationId xmlns:a16="http://schemas.microsoft.com/office/drawing/2014/main" id="{EFB0BCF0-4CFC-455F-8A3A-437179053B0B}"/>
              </a:ext>
            </a:extLst>
          </p:cNvPr>
          <p:cNvSpPr>
            <a:spLocks noGrp="1" noChangeArrowheads="1"/>
          </p:cNvSpPr>
          <p:nvPr>
            <p:ph type="body" idx="1"/>
          </p:nvPr>
        </p:nvSpPr>
        <p:spPr>
          <a:xfrm>
            <a:off x="1065213" y="1765300"/>
            <a:ext cx="8294687" cy="2633663"/>
          </a:xfrm>
        </p:spPr>
        <p:txBody>
          <a:bodyPr/>
          <a:lstStyle/>
          <a:p>
            <a:pPr eaLnBrk="1" hangingPunct="1">
              <a:buFont typeface="Wingdings" panose="05000000000000000000" pitchFamily="2" charset="2"/>
              <a:buNone/>
            </a:pPr>
            <a:r>
              <a:rPr lang="en-US" altLang="zh-CN" sz="2800" dirty="0"/>
              <a:t>9</a:t>
            </a:r>
            <a:r>
              <a:rPr lang="zh-CN" altLang="en-US" sz="2800" dirty="0"/>
              <a:t>、</a:t>
            </a:r>
            <a:r>
              <a:rPr lang="en-US" altLang="zh-CN" sz="2800" dirty="0" err="1"/>
              <a:t>semilogx</a:t>
            </a:r>
            <a:r>
              <a:rPr lang="zh-CN" altLang="en-US" sz="2800" dirty="0"/>
              <a:t>：绘制以</a:t>
            </a:r>
            <a:r>
              <a:rPr lang="en-US" altLang="zh-CN" sz="2800" dirty="0"/>
              <a:t>x</a:t>
            </a:r>
            <a:r>
              <a:rPr lang="zh-CN" altLang="en-US" sz="2800" dirty="0"/>
              <a:t>轴为对数坐标（以</a:t>
            </a:r>
            <a:r>
              <a:rPr lang="en-US" altLang="zh-CN" sz="2800" dirty="0"/>
              <a:t>10</a:t>
            </a:r>
            <a:r>
              <a:rPr lang="zh-CN" altLang="en-US" sz="2800" dirty="0"/>
              <a:t>为底），</a:t>
            </a:r>
            <a:r>
              <a:rPr lang="en-US" altLang="zh-CN" sz="2800" dirty="0"/>
              <a:t>y</a:t>
            </a:r>
            <a:r>
              <a:rPr lang="zh-CN" altLang="en-US" sz="2800" dirty="0"/>
              <a:t>轴为线性坐标的半对数坐标图形。</a:t>
            </a:r>
          </a:p>
          <a:p>
            <a:pPr eaLnBrk="1" hangingPunct="1">
              <a:buFont typeface="Wingdings" panose="05000000000000000000" pitchFamily="2" charset="2"/>
              <a:buNone/>
            </a:pPr>
            <a:r>
              <a:rPr lang="zh-CN" altLang="en-US" sz="2800" dirty="0"/>
              <a:t>      </a:t>
            </a:r>
            <a:r>
              <a:rPr lang="en-US" altLang="zh-CN" sz="2800" dirty="0" err="1"/>
              <a:t>semilogy</a:t>
            </a:r>
            <a:r>
              <a:rPr lang="zh-CN" altLang="en-US" sz="2800" dirty="0"/>
              <a:t>：绘制以</a:t>
            </a:r>
            <a:r>
              <a:rPr lang="en-US" altLang="zh-CN" sz="2800" dirty="0"/>
              <a:t>y</a:t>
            </a:r>
            <a:r>
              <a:rPr lang="zh-CN" altLang="en-US" sz="2800" dirty="0"/>
              <a:t>轴为对数坐标（以</a:t>
            </a:r>
            <a:r>
              <a:rPr lang="en-US" altLang="zh-CN" sz="2800" dirty="0"/>
              <a:t>10</a:t>
            </a:r>
            <a:r>
              <a:rPr lang="zh-CN" altLang="en-US" sz="2800" dirty="0"/>
              <a:t>为底），</a:t>
            </a:r>
            <a:r>
              <a:rPr lang="en-US" altLang="zh-CN" sz="2800" dirty="0"/>
              <a:t>x</a:t>
            </a:r>
            <a:r>
              <a:rPr lang="zh-CN" altLang="en-US" sz="2800" dirty="0"/>
              <a:t>轴为线性坐标的半对数坐标图形。</a:t>
            </a:r>
          </a:p>
          <a:p>
            <a:pPr eaLnBrk="1" hangingPunct="1">
              <a:buFont typeface="Wingdings" panose="05000000000000000000" pitchFamily="2" charset="2"/>
              <a:buNone/>
            </a:pPr>
            <a:r>
              <a:rPr lang="zh-CN" altLang="en-US" sz="2800" dirty="0"/>
              <a:t>      例</a:t>
            </a:r>
            <a:r>
              <a:rPr kumimoji="1" lang="en-US" altLang="zh-CN" sz="2800" dirty="0"/>
              <a:t>exp2_17.m</a:t>
            </a:r>
          </a:p>
        </p:txBody>
      </p:sp>
      <p:sp>
        <p:nvSpPr>
          <p:cNvPr id="100355" name="Text Box 3">
            <a:extLst>
              <a:ext uri="{FF2B5EF4-FFF2-40B4-BE49-F238E27FC236}">
                <a16:creationId xmlns:a16="http://schemas.microsoft.com/office/drawing/2014/main" id="{3ADFBC5A-BD50-4DD6-9885-8CEE557FE449}"/>
              </a:ext>
            </a:extLst>
          </p:cNvPr>
          <p:cNvSpPr txBox="1">
            <a:spLocks noChangeArrowheads="1"/>
          </p:cNvSpPr>
          <p:nvPr/>
        </p:nvSpPr>
        <p:spPr bwMode="auto">
          <a:xfrm>
            <a:off x="1295400" y="549275"/>
            <a:ext cx="8050213"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800">
                <a:latin typeface="Impact" panose="020B0806030902050204" pitchFamily="34" charset="0"/>
              </a:rPr>
              <a:t>8</a:t>
            </a:r>
            <a:r>
              <a:rPr kumimoji="1" lang="zh-CN" altLang="en-US" sz="2800">
                <a:latin typeface="Impact" panose="020B0806030902050204" pitchFamily="34" charset="0"/>
              </a:rPr>
              <a:t>、</a:t>
            </a:r>
            <a:r>
              <a:rPr kumimoji="1" lang="en-US" altLang="zh-CN" sz="2800"/>
              <a:t>subplot</a:t>
            </a:r>
            <a:r>
              <a:rPr kumimoji="1" lang="zh-CN" altLang="en-US" sz="2800"/>
              <a:t>（</a:t>
            </a:r>
            <a:r>
              <a:rPr kumimoji="1" lang="en-US" altLang="zh-CN" sz="2800"/>
              <a:t>mnk</a:t>
            </a:r>
            <a:r>
              <a:rPr kumimoji="1" lang="zh-CN" altLang="en-US" sz="2800"/>
              <a:t>）：</a:t>
            </a:r>
            <a:r>
              <a:rPr kumimoji="1" lang="zh-CN" altLang="en-US" sz="2800">
                <a:latin typeface="Impact" panose="020B0806030902050204" pitchFamily="34" charset="0"/>
              </a:rPr>
              <a:t>分割图形显示窗口</a:t>
            </a:r>
          </a:p>
          <a:p>
            <a:pPr eaLnBrk="1" hangingPunct="1">
              <a:lnSpc>
                <a:spcPct val="90000"/>
              </a:lnSpc>
              <a:buClrTx/>
              <a:buSzTx/>
              <a:buFontTx/>
              <a:buNone/>
            </a:pPr>
            <a:r>
              <a:rPr kumimoji="1" lang="en-US" altLang="zh-CN" sz="2800"/>
              <a:t>m:</a:t>
            </a:r>
            <a:r>
              <a:rPr kumimoji="1" lang="zh-CN" altLang="en-US" sz="2800"/>
              <a:t>上下分割个数，</a:t>
            </a:r>
            <a:r>
              <a:rPr kumimoji="1" lang="en-US" altLang="zh-CN" sz="2800"/>
              <a:t>n:</a:t>
            </a:r>
            <a:r>
              <a:rPr kumimoji="1" lang="zh-CN" altLang="en-US" sz="2800"/>
              <a:t>左右分割个数，</a:t>
            </a:r>
            <a:r>
              <a:rPr kumimoji="1" lang="en-US" altLang="zh-CN" sz="2800"/>
              <a:t>k:</a:t>
            </a:r>
            <a:r>
              <a:rPr kumimoji="1" lang="zh-CN" altLang="en-US" sz="2800"/>
              <a:t>子图编号            例</a:t>
            </a:r>
            <a:r>
              <a:rPr kumimoji="1" lang="en-US" altLang="zh-CN" sz="2800"/>
              <a:t>exp2_6.m</a:t>
            </a:r>
            <a:endParaRPr kumimoji="1" lang="en-US" altLang="zh-CN" sz="2800">
              <a:latin typeface="Times New Roman" panose="02020603050405020304" pitchFamily="18" charset="0"/>
            </a:endParaRPr>
          </a:p>
        </p:txBody>
      </p:sp>
      <p:sp>
        <p:nvSpPr>
          <p:cNvPr id="100356" name="Text Box 4">
            <a:extLst>
              <a:ext uri="{FF2B5EF4-FFF2-40B4-BE49-F238E27FC236}">
                <a16:creationId xmlns:a16="http://schemas.microsoft.com/office/drawing/2014/main" id="{97907F72-D847-46CE-8221-726AEA7ACDBD}"/>
              </a:ext>
            </a:extLst>
          </p:cNvPr>
          <p:cNvSpPr txBox="1">
            <a:spLocks noChangeArrowheads="1"/>
          </p:cNvSpPr>
          <p:nvPr/>
        </p:nvSpPr>
        <p:spPr bwMode="auto">
          <a:xfrm>
            <a:off x="1219200" y="4292600"/>
            <a:ext cx="834231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400" dirty="0">
                <a:latin typeface="Impact" panose="020B0806030902050204" pitchFamily="34" charset="0"/>
              </a:rPr>
              <a:t>10</a:t>
            </a:r>
            <a:r>
              <a:rPr kumimoji="1" lang="zh-CN" altLang="en-US" sz="2400" dirty="0">
                <a:latin typeface="Impact" panose="020B0806030902050204" pitchFamily="34" charset="0"/>
              </a:rPr>
              <a:t>、</a:t>
            </a:r>
            <a:r>
              <a:rPr kumimoji="1" lang="zh-CN" altLang="en-US" sz="2800" dirty="0">
                <a:latin typeface="Impact" panose="020B0806030902050204" pitchFamily="34" charset="0"/>
              </a:rPr>
              <a:t>了解应用型绘图指令：可用于数值统计分析或离散数据处理</a:t>
            </a:r>
          </a:p>
          <a:p>
            <a:pPr eaLnBrk="1" hangingPunct="1">
              <a:lnSpc>
                <a:spcPct val="90000"/>
              </a:lnSpc>
              <a:buClrTx/>
              <a:buSzTx/>
              <a:buFontTx/>
              <a:buNone/>
            </a:pPr>
            <a:r>
              <a:rPr kumimoji="1" lang="en-US" altLang="zh-CN" sz="2800" dirty="0"/>
              <a:t>bar</a:t>
            </a:r>
            <a:r>
              <a:rPr kumimoji="1" lang="zh-CN" altLang="en-US" sz="2800" dirty="0"/>
              <a:t>（</a:t>
            </a:r>
            <a:r>
              <a:rPr kumimoji="1" lang="en-US" altLang="zh-CN" sz="2800" dirty="0" err="1"/>
              <a:t>x,y</a:t>
            </a:r>
            <a:r>
              <a:rPr kumimoji="1" lang="zh-CN" altLang="en-US" sz="2800" dirty="0"/>
              <a:t>）；</a:t>
            </a:r>
            <a:r>
              <a:rPr kumimoji="1" lang="en-US" altLang="zh-CN" sz="2800" dirty="0"/>
              <a:t>hist</a:t>
            </a:r>
            <a:r>
              <a:rPr kumimoji="1" lang="zh-CN" altLang="en-US" sz="2800" dirty="0"/>
              <a:t>（</a:t>
            </a:r>
            <a:r>
              <a:rPr kumimoji="1" lang="en-US" altLang="zh-CN" sz="2800" dirty="0" err="1"/>
              <a:t>x,y</a:t>
            </a:r>
            <a:r>
              <a:rPr kumimoji="1" lang="zh-CN" altLang="en-US" sz="2800" dirty="0"/>
              <a:t>）；</a:t>
            </a:r>
            <a:r>
              <a:rPr kumimoji="1" lang="en-US" altLang="zh-CN" sz="2800" dirty="0"/>
              <a:t>stairs</a:t>
            </a:r>
            <a:r>
              <a:rPr kumimoji="1" lang="zh-CN" altLang="en-US" sz="2800" dirty="0"/>
              <a:t>（</a:t>
            </a:r>
            <a:r>
              <a:rPr kumimoji="1" lang="en-US" altLang="zh-CN" sz="2800" dirty="0" err="1"/>
              <a:t>x,y</a:t>
            </a:r>
            <a:r>
              <a:rPr kumimoji="1" lang="zh-CN" altLang="en-US" sz="2800" dirty="0"/>
              <a:t>）；</a:t>
            </a:r>
            <a:r>
              <a:rPr kumimoji="1" lang="en-US" altLang="zh-CN" sz="2800" dirty="0"/>
              <a:t>stem</a:t>
            </a:r>
            <a:r>
              <a:rPr kumimoji="1" lang="zh-CN" altLang="en-US" sz="2800" dirty="0"/>
              <a:t>（</a:t>
            </a:r>
            <a:r>
              <a:rPr kumimoji="1" lang="en-US" altLang="zh-CN" sz="2800" dirty="0" err="1"/>
              <a:t>x,y</a:t>
            </a:r>
            <a:r>
              <a:rPr kumimoji="1" lang="zh-CN" altLang="en-US" sz="2800" dirty="0"/>
              <a:t>）</a:t>
            </a:r>
          </a:p>
          <a:p>
            <a:pPr eaLnBrk="1" hangingPunct="1">
              <a:lnSpc>
                <a:spcPct val="90000"/>
              </a:lnSpc>
              <a:buClrTx/>
              <a:buSzTx/>
              <a:buFontTx/>
              <a:buNone/>
            </a:pPr>
            <a:r>
              <a:rPr kumimoji="1" lang="zh-CN" altLang="en-US" sz="2800" dirty="0"/>
              <a:t>	例</a:t>
            </a:r>
            <a:r>
              <a:rPr kumimoji="1" lang="en-US" altLang="zh-CN" sz="2800" dirty="0"/>
              <a:t>exp2_7.m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3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00354"/>
                                        </p:tgtEl>
                                        <p:attrNameLst>
                                          <p:attrName>style.visibility</p:attrName>
                                        </p:attrNameLst>
                                      </p:cBhvr>
                                      <p:to>
                                        <p:strVal val="visible"/>
                                      </p:to>
                                    </p:set>
                                    <p:animEffect transition="in" filter="dissolve">
                                      <p:cBhvr>
                                        <p:cTn id="11" dur="500"/>
                                        <p:tgtEl>
                                          <p:spTgt spid="1003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0356"/>
                                        </p:tgtEl>
                                        <p:attrNameLst>
                                          <p:attrName>style.visibility</p:attrName>
                                        </p:attrNameLst>
                                      </p:cBhvr>
                                      <p:to>
                                        <p:strVal val="visible"/>
                                      </p:to>
                                    </p:set>
                                    <p:animEffect transition="in" filter="blinds(horizontal)">
                                      <p:cBhvr>
                                        <p:cTn id="16"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5" grpId="0" autoUpdateAnimBg="0"/>
      <p:bldP spid="100356"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a:extLst>
              <a:ext uri="{FF2B5EF4-FFF2-40B4-BE49-F238E27FC236}">
                <a16:creationId xmlns:a16="http://schemas.microsoft.com/office/drawing/2014/main" id="{D3F479D2-02A7-422D-9293-200115638B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E0038B6-B915-4248-A739-57646D3E8CF7}" type="slidenum">
              <a:rPr lang="en-US" altLang="zh-CN" sz="1200" smtClean="0">
                <a:latin typeface="Garamond" panose="02020404030301010803" pitchFamily="18" charset="0"/>
              </a:rPr>
              <a:pPr>
                <a:spcBef>
                  <a:spcPct val="0"/>
                </a:spcBef>
                <a:buClrTx/>
                <a:buSzTx/>
                <a:buFontTx/>
                <a:buNone/>
              </a:pPr>
              <a:t>46</a:t>
            </a:fld>
            <a:endParaRPr lang="en-US" altLang="zh-CN" sz="1200">
              <a:latin typeface="Garamond" panose="02020404030301010803" pitchFamily="18" charset="0"/>
            </a:endParaRPr>
          </a:p>
        </p:txBody>
      </p:sp>
      <p:sp>
        <p:nvSpPr>
          <p:cNvPr id="71683" name="Rectangle 2">
            <a:extLst>
              <a:ext uri="{FF2B5EF4-FFF2-40B4-BE49-F238E27FC236}">
                <a16:creationId xmlns:a16="http://schemas.microsoft.com/office/drawing/2014/main" id="{879A2FF2-0765-4602-B0A5-14DCA7C9F6AD}"/>
              </a:ext>
            </a:extLst>
          </p:cNvPr>
          <p:cNvSpPr>
            <a:spLocks noGrp="1" noChangeArrowheads="1"/>
          </p:cNvSpPr>
          <p:nvPr>
            <p:ph type="body" idx="1"/>
          </p:nvPr>
        </p:nvSpPr>
        <p:spPr>
          <a:xfrm>
            <a:off x="1219200" y="1828800"/>
            <a:ext cx="8420100" cy="3886200"/>
          </a:xfrm>
        </p:spPr>
        <p:txBody>
          <a:bodyPr/>
          <a:lstStyle/>
          <a:p>
            <a:pPr eaLnBrk="1" hangingPunct="1"/>
            <a:r>
              <a:rPr lang="zh-CN" altLang="en-US">
                <a:solidFill>
                  <a:schemeClr val="tx2"/>
                </a:solidFill>
              </a:rPr>
              <a:t>对于图形的属性编辑同样可以通过在图形窗口上直接进行。</a:t>
            </a:r>
          </a:p>
          <a:p>
            <a:pPr eaLnBrk="1" hangingPunct="1"/>
            <a:r>
              <a:rPr lang="zh-CN" altLang="en-US">
                <a:solidFill>
                  <a:schemeClr val="tx2"/>
                </a:solidFill>
              </a:rPr>
              <a:t>但图形窗口关闭之后编辑结果不会保存</a:t>
            </a:r>
            <a:endParaRPr lang="zh-CN" altLang="en-US" sz="2600"/>
          </a:p>
        </p:txBody>
      </p:sp>
      <p:sp>
        <p:nvSpPr>
          <p:cNvPr id="71684" name="Rectangle 3">
            <a:extLst>
              <a:ext uri="{FF2B5EF4-FFF2-40B4-BE49-F238E27FC236}">
                <a16:creationId xmlns:a16="http://schemas.microsoft.com/office/drawing/2014/main" id="{78909FBE-A1A7-453A-A4CD-4EB7461FED0C}"/>
              </a:ext>
            </a:extLst>
          </p:cNvPr>
          <p:cNvSpPr>
            <a:spLocks noGrp="1" noChangeArrowheads="1"/>
          </p:cNvSpPr>
          <p:nvPr>
            <p:ph type="title"/>
          </p:nvPr>
        </p:nvSpPr>
        <p:spPr>
          <a:xfrm>
            <a:off x="495300" y="560388"/>
            <a:ext cx="8915400" cy="1139825"/>
          </a:xfrm>
        </p:spPr>
        <p:txBody>
          <a:bodyPr/>
          <a:lstStyle/>
          <a:p>
            <a:pPr eaLnBrk="1" hangingPunct="1"/>
            <a:r>
              <a:rPr lang="en-US" altLang="zh-CN" sz="2800">
                <a:solidFill>
                  <a:schemeClr val="tx1"/>
                </a:solidFill>
              </a:rPr>
              <a:t>10</a:t>
            </a:r>
            <a:r>
              <a:rPr lang="zh-CN" altLang="en-US" sz="2800">
                <a:solidFill>
                  <a:schemeClr val="tx1"/>
                </a:solidFill>
              </a:rPr>
              <a:t>、一点补充说明</a:t>
            </a:r>
            <a:endParaRPr lang="zh-CN" altLang="en-US" sz="28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灯片编号占位符 5">
            <a:extLst>
              <a:ext uri="{FF2B5EF4-FFF2-40B4-BE49-F238E27FC236}">
                <a16:creationId xmlns:a16="http://schemas.microsoft.com/office/drawing/2014/main" id="{665F245B-8049-4A47-A9B6-19C1758B2A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152AE62-81D1-4F59-925A-A013C212FD78}" type="slidenum">
              <a:rPr lang="en-US" altLang="zh-CN" sz="1200" smtClean="0">
                <a:latin typeface="Garamond" panose="02020404030301010803" pitchFamily="18" charset="0"/>
              </a:rPr>
              <a:pPr>
                <a:spcBef>
                  <a:spcPct val="0"/>
                </a:spcBef>
                <a:buClrTx/>
                <a:buSzTx/>
                <a:buFontTx/>
                <a:buNone/>
              </a:pPr>
              <a:t>47</a:t>
            </a:fld>
            <a:endParaRPr lang="en-US" altLang="zh-CN" sz="1200">
              <a:latin typeface="Garamond" panose="02020404030301010803" pitchFamily="18" charset="0"/>
            </a:endParaRPr>
          </a:p>
        </p:txBody>
      </p:sp>
      <p:sp>
        <p:nvSpPr>
          <p:cNvPr id="30722" name="Rectangle 2">
            <a:extLst>
              <a:ext uri="{FF2B5EF4-FFF2-40B4-BE49-F238E27FC236}">
                <a16:creationId xmlns:a16="http://schemas.microsoft.com/office/drawing/2014/main" id="{4FFBCCC5-1548-4B8F-A74D-F02AEFC5AA23}"/>
              </a:ext>
            </a:extLst>
          </p:cNvPr>
          <p:cNvSpPr>
            <a:spLocks noGrp="1" noChangeArrowheads="1"/>
          </p:cNvSpPr>
          <p:nvPr>
            <p:ph type="title"/>
          </p:nvPr>
        </p:nvSpPr>
        <p:spPr>
          <a:xfrm>
            <a:off x="1219200" y="911225"/>
            <a:ext cx="5487988" cy="501650"/>
          </a:xfrm>
        </p:spPr>
        <p:txBody>
          <a:bodyPr/>
          <a:lstStyle/>
          <a:p>
            <a:pPr eaLnBrk="1" hangingPunct="1"/>
            <a:r>
              <a:rPr lang="zh-CN" altLang="en-US" sz="2500"/>
              <a:t>一、</a:t>
            </a:r>
            <a:r>
              <a:rPr lang="en-US" altLang="zh-CN" sz="2500"/>
              <a:t>MATLBA</a:t>
            </a:r>
            <a:r>
              <a:rPr lang="zh-CN" altLang="en-US" sz="2500"/>
              <a:t>程序的基本设计原则</a:t>
            </a:r>
          </a:p>
        </p:txBody>
      </p:sp>
      <p:sp>
        <p:nvSpPr>
          <p:cNvPr id="30723" name="Rectangle 3">
            <a:extLst>
              <a:ext uri="{FF2B5EF4-FFF2-40B4-BE49-F238E27FC236}">
                <a16:creationId xmlns:a16="http://schemas.microsoft.com/office/drawing/2014/main" id="{5B2BD1AE-C1DB-438A-B9FD-4A49822E6BD4}"/>
              </a:ext>
            </a:extLst>
          </p:cNvPr>
          <p:cNvSpPr>
            <a:spLocks noGrp="1" noChangeArrowheads="1"/>
          </p:cNvSpPr>
          <p:nvPr>
            <p:ph type="body" idx="1"/>
          </p:nvPr>
        </p:nvSpPr>
        <p:spPr>
          <a:xfrm>
            <a:off x="848544" y="1412776"/>
            <a:ext cx="8528248" cy="5105400"/>
          </a:xfrm>
        </p:spPr>
        <p:txBody>
          <a:bodyPr/>
          <a:lstStyle/>
          <a:p>
            <a:pPr eaLnBrk="1" hangingPunct="1">
              <a:buFont typeface="Wingdings" panose="05000000000000000000" pitchFamily="2" charset="2"/>
              <a:buNone/>
            </a:pPr>
            <a:r>
              <a:rPr lang="en-US" altLang="zh-CN" dirty="0"/>
              <a:t>1</a:t>
            </a:r>
            <a:r>
              <a:rPr lang="zh-CN" altLang="en-US" dirty="0"/>
              <a:t>、％后面的内容是程序的注解，要善于运用注解使程序更具可读性。</a:t>
            </a:r>
          </a:p>
          <a:p>
            <a:pPr eaLnBrk="1" hangingPunct="1">
              <a:buFont typeface="Wingdings" panose="05000000000000000000" pitchFamily="2" charset="2"/>
              <a:buNone/>
            </a:pPr>
            <a:r>
              <a:rPr lang="en-US" altLang="zh-CN" dirty="0"/>
              <a:t>2</a:t>
            </a:r>
            <a:r>
              <a:rPr lang="zh-CN" altLang="en-US" dirty="0"/>
              <a:t>、养成在主程序开头用</a:t>
            </a:r>
            <a:r>
              <a:rPr lang="en-US" altLang="zh-CN" dirty="0"/>
              <a:t>clear</a:t>
            </a:r>
            <a:r>
              <a:rPr lang="zh-CN" altLang="en-US" dirty="0"/>
              <a:t>指令清除变量的习惯，以消除工作空间中其他变量对程序运行的影响。但注意在子程序中不要用</a:t>
            </a:r>
            <a:r>
              <a:rPr lang="en-US" altLang="zh-CN" dirty="0"/>
              <a:t>clear</a:t>
            </a:r>
            <a:r>
              <a:rPr lang="zh-CN" altLang="en-US" dirty="0"/>
              <a:t>。</a:t>
            </a:r>
          </a:p>
          <a:p>
            <a:pPr eaLnBrk="1" hangingPunct="1">
              <a:buFont typeface="Wingdings" panose="05000000000000000000" pitchFamily="2" charset="2"/>
              <a:buNone/>
            </a:pPr>
            <a:r>
              <a:rPr lang="zh-CN" altLang="en-US" dirty="0"/>
              <a:t> </a:t>
            </a:r>
            <a:r>
              <a:rPr lang="en-US" altLang="zh-CN" dirty="0"/>
              <a:t>3</a:t>
            </a:r>
            <a:r>
              <a:rPr lang="zh-CN" altLang="en-US" dirty="0"/>
              <a:t>、参数值要集中放在程序的开始部分，以便维护。要充分利用</a:t>
            </a:r>
            <a:r>
              <a:rPr lang="en-US" altLang="zh-CN" dirty="0"/>
              <a:t>MATLAB</a:t>
            </a:r>
            <a:r>
              <a:rPr lang="zh-CN" altLang="en-US" dirty="0"/>
              <a:t>工具箱提供的指令来执行所要进行的运算，在语句行之后输入分号使其及中间结果不在屏幕上显示，以提高执行速度。</a:t>
            </a:r>
          </a:p>
        </p:txBody>
      </p:sp>
      <p:sp>
        <p:nvSpPr>
          <p:cNvPr id="72709" name="Text Box 5">
            <a:extLst>
              <a:ext uri="{FF2B5EF4-FFF2-40B4-BE49-F238E27FC236}">
                <a16:creationId xmlns:a16="http://schemas.microsoft.com/office/drawing/2014/main" id="{85665256-E501-44D6-9CE1-504739C63084}"/>
              </a:ext>
            </a:extLst>
          </p:cNvPr>
          <p:cNvSpPr txBox="1">
            <a:spLocks noChangeArrowheads="1"/>
          </p:cNvSpPr>
          <p:nvPr/>
        </p:nvSpPr>
        <p:spPr bwMode="auto">
          <a:xfrm>
            <a:off x="2209800" y="381000"/>
            <a:ext cx="647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3200" dirty="0">
                <a:solidFill>
                  <a:schemeClr val="tx2"/>
                </a:solidFill>
                <a:latin typeface="Impact" panose="020B0806030902050204" pitchFamily="34" charset="0"/>
              </a:rPr>
              <a:t>第四节	</a:t>
            </a:r>
            <a:r>
              <a:rPr kumimoji="1" lang="en-US" altLang="zh-CN" sz="3200" dirty="0">
                <a:solidFill>
                  <a:schemeClr val="tx2"/>
                </a:solidFill>
                <a:latin typeface="Impact" panose="020B0806030902050204" pitchFamily="34" charset="0"/>
              </a:rPr>
              <a:t>MATLAB</a:t>
            </a:r>
            <a:r>
              <a:rPr kumimoji="1" lang="zh-CN" altLang="en-US" sz="3200" dirty="0">
                <a:solidFill>
                  <a:schemeClr val="tx2"/>
                </a:solidFill>
                <a:latin typeface="Impact" panose="020B0806030902050204" pitchFamily="34" charset="0"/>
              </a:rPr>
              <a:t>程序设计入门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blinds(horizontal)">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30723">
                                            <p:txEl>
                                              <p:pRg st="0" end="0"/>
                                            </p:txEl>
                                          </p:spTgt>
                                        </p:tgtEl>
                                        <p:attrNameLst>
                                          <p:attrName>style.visibility</p:attrName>
                                        </p:attrNameLst>
                                      </p:cBhvr>
                                      <p:to>
                                        <p:strVal val="visible"/>
                                      </p:to>
                                    </p:set>
                                    <p:animEffect transition="in" filter="checkerboard(down)">
                                      <p:cBhvr>
                                        <p:cTn id="12" dur="500"/>
                                        <p:tgtEl>
                                          <p:spTgt spid="307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30723">
                                            <p:txEl>
                                              <p:pRg st="1" end="1"/>
                                            </p:txEl>
                                          </p:spTgt>
                                        </p:tgtEl>
                                        <p:attrNameLst>
                                          <p:attrName>style.visibility</p:attrName>
                                        </p:attrNameLst>
                                      </p:cBhvr>
                                      <p:to>
                                        <p:strVal val="visible"/>
                                      </p:to>
                                    </p:set>
                                    <p:animEffect transition="in" filter="checkerboard(down)">
                                      <p:cBhvr>
                                        <p:cTn id="17" dur="500"/>
                                        <p:tgtEl>
                                          <p:spTgt spid="3072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5" fill="hold" grpId="0" nodeType="clickEffect">
                                  <p:stCondLst>
                                    <p:cond delay="0"/>
                                  </p:stCondLst>
                                  <p:childTnLst>
                                    <p:set>
                                      <p:cBhvr>
                                        <p:cTn id="21" dur="1" fill="hold">
                                          <p:stCondLst>
                                            <p:cond delay="0"/>
                                          </p:stCondLst>
                                        </p:cTn>
                                        <p:tgtEl>
                                          <p:spTgt spid="30723">
                                            <p:txEl>
                                              <p:pRg st="2" end="2"/>
                                            </p:txEl>
                                          </p:spTgt>
                                        </p:tgtEl>
                                        <p:attrNameLst>
                                          <p:attrName>style.visibility</p:attrName>
                                        </p:attrNameLst>
                                      </p:cBhvr>
                                      <p:to>
                                        <p:strVal val="visible"/>
                                      </p:to>
                                    </p:set>
                                    <p:animEffect transition="in" filter="checkerboard(down)">
                                      <p:cBhvr>
                                        <p:cTn id="22" dur="500"/>
                                        <p:tgtEl>
                                          <p:spTgt spid="30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a:extLst>
              <a:ext uri="{FF2B5EF4-FFF2-40B4-BE49-F238E27FC236}">
                <a16:creationId xmlns:a16="http://schemas.microsoft.com/office/drawing/2014/main" id="{A42552D4-FD8A-4EBD-9C7F-351690A9CE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27E535F-7F34-4570-8144-88B4D3885FC6}" type="slidenum">
              <a:rPr lang="en-US" altLang="zh-CN" sz="1200" smtClean="0">
                <a:latin typeface="Garamond" panose="02020404030301010803" pitchFamily="18" charset="0"/>
              </a:rPr>
              <a:pPr>
                <a:spcBef>
                  <a:spcPct val="0"/>
                </a:spcBef>
                <a:buClrTx/>
                <a:buSzTx/>
                <a:buFontTx/>
                <a:buNone/>
              </a:pPr>
              <a:t>48</a:t>
            </a:fld>
            <a:endParaRPr lang="en-US" altLang="zh-CN" sz="1200">
              <a:latin typeface="Garamond" panose="02020404030301010803" pitchFamily="18" charset="0"/>
            </a:endParaRPr>
          </a:p>
        </p:txBody>
      </p:sp>
      <p:sp>
        <p:nvSpPr>
          <p:cNvPr id="74755" name="Rectangle 3">
            <a:extLst>
              <a:ext uri="{FF2B5EF4-FFF2-40B4-BE49-F238E27FC236}">
                <a16:creationId xmlns:a16="http://schemas.microsoft.com/office/drawing/2014/main" id="{2AED8770-BE16-4746-A300-7BE3BC50080F}"/>
              </a:ext>
            </a:extLst>
          </p:cNvPr>
          <p:cNvSpPr>
            <a:spLocks noGrp="1" noChangeArrowheads="1"/>
          </p:cNvSpPr>
          <p:nvPr>
            <p:ph type="body" idx="1"/>
          </p:nvPr>
        </p:nvSpPr>
        <p:spPr>
          <a:xfrm>
            <a:off x="495300" y="549275"/>
            <a:ext cx="8915400" cy="5581650"/>
          </a:xfrm>
        </p:spPr>
        <p:txBody>
          <a:bodyPr/>
          <a:lstStyle/>
          <a:p>
            <a:pPr eaLnBrk="1" hangingPunct="1">
              <a:buFont typeface="Wingdings" panose="05000000000000000000" pitchFamily="2" charset="2"/>
              <a:buNone/>
            </a:pPr>
            <a:r>
              <a:rPr lang="en-US" altLang="zh-CN" dirty="0"/>
              <a:t>4</a:t>
            </a:r>
            <a:r>
              <a:rPr lang="zh-CN" altLang="en-US" dirty="0"/>
              <a:t>、</a:t>
            </a:r>
            <a:r>
              <a:rPr lang="en-US" altLang="zh-CN" dirty="0"/>
              <a:t>input</a:t>
            </a:r>
            <a:r>
              <a:rPr lang="zh-CN" altLang="en-US" dirty="0"/>
              <a:t>指令可以用来输入一些临时的数据；而对于大量参数，则通过建立一个存储参数的子程序，在主程序中用子程序的名称来调用。</a:t>
            </a:r>
          </a:p>
          <a:p>
            <a:pPr eaLnBrk="1" hangingPunct="1">
              <a:buFont typeface="Wingdings" panose="05000000000000000000" pitchFamily="2" charset="2"/>
              <a:buNone/>
            </a:pPr>
            <a:r>
              <a:rPr lang="en-US" altLang="zh-CN" dirty="0"/>
              <a:t>5</a:t>
            </a:r>
            <a:r>
              <a:rPr lang="zh-CN" altLang="en-US" dirty="0"/>
              <a:t>、程序尽量模块化，也就是采用主程序调用子程序的方法，将所有子程序合并在一起来执行全部的操作。</a:t>
            </a:r>
          </a:p>
          <a:p>
            <a:pPr eaLnBrk="1" hangingPunct="1">
              <a:buFont typeface="Wingdings" panose="05000000000000000000" pitchFamily="2" charset="2"/>
              <a:buNone/>
            </a:pPr>
            <a:r>
              <a:rPr lang="en-US" altLang="zh-CN" dirty="0"/>
              <a:t>6</a:t>
            </a:r>
            <a:r>
              <a:rPr lang="zh-CN" altLang="en-US" dirty="0"/>
              <a:t>、充分利用</a:t>
            </a:r>
            <a:r>
              <a:rPr lang="en-US" altLang="zh-CN" dirty="0"/>
              <a:t>Debugger</a:t>
            </a:r>
            <a:r>
              <a:rPr lang="zh-CN" altLang="en-US" dirty="0"/>
              <a:t>来进行程序的调试（设置断点、单步执行、连续执行），并利用其他工具箱或图形用户界面（</a:t>
            </a:r>
            <a:r>
              <a:rPr lang="en-US" altLang="zh-CN" dirty="0"/>
              <a:t>GUI</a:t>
            </a:r>
            <a:r>
              <a:rPr lang="zh-CN" altLang="en-US" dirty="0"/>
              <a:t>）的设计技巧，将设计结果集成到一起。</a:t>
            </a:r>
          </a:p>
          <a:p>
            <a:pPr eaLnBrk="1" hangingPunct="1">
              <a:buFont typeface="Wingdings" panose="05000000000000000000" pitchFamily="2" charset="2"/>
              <a:buNone/>
            </a:pPr>
            <a:r>
              <a:rPr lang="en-US" altLang="zh-CN" dirty="0"/>
              <a:t>7</a:t>
            </a:r>
            <a:r>
              <a:rPr lang="zh-CN" altLang="en-US" dirty="0"/>
              <a:t>、设置好</a:t>
            </a:r>
            <a:r>
              <a:rPr lang="en-US" altLang="zh-CN" dirty="0"/>
              <a:t>MATLAB</a:t>
            </a:r>
            <a:r>
              <a:rPr lang="zh-CN" altLang="en-US" dirty="0"/>
              <a:t>的工作路径，以便程序运行。</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a:extLst>
              <a:ext uri="{FF2B5EF4-FFF2-40B4-BE49-F238E27FC236}">
                <a16:creationId xmlns:a16="http://schemas.microsoft.com/office/drawing/2014/main" id="{CE3C8C7B-74DE-4481-AF42-94C612E16A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64DA4CA-11C4-4A8C-B5CB-B07D334F0064}" type="slidenum">
              <a:rPr lang="en-US" altLang="zh-CN" sz="1200" smtClean="0">
                <a:latin typeface="Garamond" panose="02020404030301010803" pitchFamily="18" charset="0"/>
              </a:rPr>
              <a:pPr>
                <a:spcBef>
                  <a:spcPct val="0"/>
                </a:spcBef>
                <a:buClrTx/>
                <a:buSzTx/>
                <a:buFontTx/>
                <a:buNone/>
              </a:pPr>
              <a:t>49</a:t>
            </a:fld>
            <a:endParaRPr lang="en-US" altLang="zh-CN" sz="1200">
              <a:latin typeface="Garamond" panose="02020404030301010803" pitchFamily="18" charset="0"/>
            </a:endParaRPr>
          </a:p>
        </p:txBody>
      </p:sp>
      <p:sp>
        <p:nvSpPr>
          <p:cNvPr id="75779" name="Rectangle 3">
            <a:extLst>
              <a:ext uri="{FF2B5EF4-FFF2-40B4-BE49-F238E27FC236}">
                <a16:creationId xmlns:a16="http://schemas.microsoft.com/office/drawing/2014/main" id="{BD3C365C-B091-42FB-A72C-1AD55FD5F25A}"/>
              </a:ext>
            </a:extLst>
          </p:cNvPr>
          <p:cNvSpPr>
            <a:spLocks noGrp="1" noChangeArrowheads="1"/>
          </p:cNvSpPr>
          <p:nvPr>
            <p:ph type="body" idx="1"/>
          </p:nvPr>
        </p:nvSpPr>
        <p:spPr>
          <a:xfrm>
            <a:off x="881063" y="428625"/>
            <a:ext cx="8305800" cy="5867400"/>
          </a:xfrm>
        </p:spPr>
        <p:txBody>
          <a:bodyPr/>
          <a:lstStyle/>
          <a:p>
            <a:pPr eaLnBrk="1" hangingPunct="1">
              <a:lnSpc>
                <a:spcPct val="80000"/>
              </a:lnSpc>
              <a:buFont typeface="Wingdings" panose="05000000000000000000" pitchFamily="2" charset="2"/>
              <a:buNone/>
            </a:pPr>
            <a:r>
              <a:rPr lang="en-US" altLang="zh-CN" sz="2600" dirty="0"/>
              <a:t>8</a:t>
            </a:r>
            <a:r>
              <a:rPr lang="zh-CN" altLang="en-US" sz="2600" dirty="0"/>
              <a:t>、</a:t>
            </a:r>
            <a:r>
              <a:rPr lang="en-US" altLang="zh-CN" sz="2600" dirty="0"/>
              <a:t>MATLAB</a:t>
            </a:r>
            <a:r>
              <a:rPr lang="zh-CN" altLang="en-US" sz="2600" dirty="0"/>
              <a:t>程序的基本组成结构</a:t>
            </a:r>
          </a:p>
          <a:p>
            <a:pPr eaLnBrk="1" hangingPunct="1">
              <a:lnSpc>
                <a:spcPct val="80000"/>
              </a:lnSpc>
              <a:buFont typeface="Wingdings" panose="05000000000000000000" pitchFamily="2" charset="2"/>
              <a:buNone/>
            </a:pPr>
            <a:r>
              <a:rPr lang="zh-CN" altLang="en-US" sz="2600" dirty="0"/>
              <a:t>％说明</a:t>
            </a:r>
          </a:p>
          <a:p>
            <a:pPr eaLnBrk="1" hangingPunct="1">
              <a:lnSpc>
                <a:spcPct val="80000"/>
              </a:lnSpc>
              <a:buFont typeface="Wingdings" panose="05000000000000000000" pitchFamily="2" charset="2"/>
              <a:buNone/>
            </a:pPr>
            <a:r>
              <a:rPr lang="zh-CN" altLang="en-US" sz="2600" dirty="0"/>
              <a:t>清除命令：清除</a:t>
            </a:r>
            <a:r>
              <a:rPr lang="en-US" altLang="zh-CN" sz="2600" dirty="0"/>
              <a:t>workspace</a:t>
            </a:r>
            <a:r>
              <a:rPr lang="zh-CN" altLang="en-US" sz="2600" dirty="0"/>
              <a:t>中的变量和图形（</a:t>
            </a:r>
            <a:r>
              <a:rPr lang="en-US" altLang="zh-CN" sz="2600" dirty="0" err="1"/>
              <a:t>clear,close</a:t>
            </a:r>
            <a:r>
              <a:rPr lang="zh-CN" altLang="en-US" sz="2600" dirty="0"/>
              <a:t>）</a:t>
            </a:r>
          </a:p>
          <a:p>
            <a:pPr eaLnBrk="1" hangingPunct="1">
              <a:lnSpc>
                <a:spcPct val="80000"/>
              </a:lnSpc>
              <a:buFont typeface="Wingdings" panose="05000000000000000000" pitchFamily="2" charset="2"/>
              <a:buNone/>
            </a:pPr>
            <a:r>
              <a:rPr lang="zh-CN" altLang="en-US" sz="2600" dirty="0"/>
              <a:t>定义变量：包括全局变量的声明及参数值的设定</a:t>
            </a:r>
          </a:p>
          <a:p>
            <a:pPr eaLnBrk="1" hangingPunct="1">
              <a:lnSpc>
                <a:spcPct val="80000"/>
              </a:lnSpc>
              <a:buFont typeface="Wingdings" panose="05000000000000000000" pitchFamily="2" charset="2"/>
              <a:buNone/>
            </a:pPr>
            <a:r>
              <a:rPr lang="zh-CN" altLang="en-US" sz="2600" dirty="0"/>
              <a:t>逐行执行命令：指</a:t>
            </a:r>
            <a:r>
              <a:rPr lang="en-US" altLang="zh-CN" sz="2600" dirty="0"/>
              <a:t>MATLAB</a:t>
            </a:r>
            <a:r>
              <a:rPr lang="zh-CN" altLang="en-US" sz="2600" dirty="0"/>
              <a:t>提供的运算指令或工具箱</a:t>
            </a:r>
          </a:p>
          <a:p>
            <a:pPr eaLnBrk="1" hangingPunct="1">
              <a:lnSpc>
                <a:spcPct val="80000"/>
              </a:lnSpc>
              <a:buFont typeface="Wingdings" panose="05000000000000000000" pitchFamily="2" charset="2"/>
              <a:buNone/>
            </a:pPr>
            <a:r>
              <a:rPr lang="en-US" altLang="zh-CN" sz="2600" dirty="0"/>
              <a:t>…  …  …           </a:t>
            </a:r>
            <a:r>
              <a:rPr lang="zh-CN" altLang="en-US" sz="2600" dirty="0"/>
              <a:t>提供的专用命令</a:t>
            </a:r>
          </a:p>
          <a:p>
            <a:pPr eaLnBrk="1" hangingPunct="1">
              <a:lnSpc>
                <a:spcPct val="80000"/>
              </a:lnSpc>
              <a:buFont typeface="Wingdings" panose="05000000000000000000" pitchFamily="2" charset="2"/>
              <a:buNone/>
            </a:pPr>
            <a:r>
              <a:rPr lang="zh-CN" altLang="en-US" sz="2600" dirty="0"/>
              <a:t>控制循环                ：包含</a:t>
            </a:r>
            <a:r>
              <a:rPr lang="en-US" altLang="zh-CN" sz="2600" dirty="0" err="1"/>
              <a:t>for,if</a:t>
            </a:r>
            <a:r>
              <a:rPr lang="en-US" altLang="zh-CN" sz="2600" dirty="0"/>
              <a:t> </a:t>
            </a:r>
            <a:r>
              <a:rPr lang="en-US" altLang="zh-CN" sz="2600" dirty="0" err="1"/>
              <a:t>then,switch,while</a:t>
            </a:r>
            <a:r>
              <a:rPr lang="zh-CN" altLang="en-US" sz="2600" dirty="0"/>
              <a:t>等语句                           </a:t>
            </a:r>
          </a:p>
          <a:p>
            <a:pPr eaLnBrk="1" hangingPunct="1">
              <a:lnSpc>
                <a:spcPct val="80000"/>
              </a:lnSpc>
              <a:buFont typeface="Wingdings" panose="05000000000000000000" pitchFamily="2" charset="2"/>
              <a:buNone/>
            </a:pPr>
            <a:r>
              <a:rPr lang="zh-CN" altLang="en-US" sz="2600" dirty="0"/>
              <a:t>逐行执行命令</a:t>
            </a:r>
          </a:p>
          <a:p>
            <a:pPr eaLnBrk="1" hangingPunct="1">
              <a:lnSpc>
                <a:spcPct val="80000"/>
              </a:lnSpc>
              <a:buFont typeface="Wingdings" panose="05000000000000000000" pitchFamily="2" charset="2"/>
              <a:buNone/>
            </a:pPr>
            <a:r>
              <a:rPr lang="en-US" altLang="zh-CN" sz="2600" dirty="0"/>
              <a:t>…  …  …</a:t>
            </a:r>
          </a:p>
          <a:p>
            <a:pPr eaLnBrk="1" hangingPunct="1">
              <a:lnSpc>
                <a:spcPct val="80000"/>
              </a:lnSpc>
              <a:buFont typeface="Wingdings" panose="05000000000000000000" pitchFamily="2" charset="2"/>
              <a:buNone/>
            </a:pPr>
            <a:r>
              <a:rPr lang="en-US" altLang="zh-CN" sz="2600" dirty="0"/>
              <a:t>end</a:t>
            </a:r>
          </a:p>
          <a:p>
            <a:pPr eaLnBrk="1" hangingPunct="1">
              <a:lnSpc>
                <a:spcPct val="80000"/>
              </a:lnSpc>
              <a:buFont typeface="Wingdings" panose="05000000000000000000" pitchFamily="2" charset="2"/>
              <a:buNone/>
            </a:pPr>
            <a:r>
              <a:rPr lang="zh-CN" altLang="en-US" sz="2600" dirty="0"/>
              <a:t>绘图命令：将运算结果绘制出来</a:t>
            </a:r>
          </a:p>
          <a:p>
            <a:pPr eaLnBrk="1" hangingPunct="1">
              <a:lnSpc>
                <a:spcPct val="80000"/>
              </a:lnSpc>
            </a:pPr>
            <a:r>
              <a:rPr lang="zh-CN" altLang="en-US" sz="2600" dirty="0"/>
              <a:t>当然更复杂程序还需要调用子程序，或与</a:t>
            </a:r>
            <a:r>
              <a:rPr lang="en-US" altLang="zh-CN" sz="2600" dirty="0" err="1"/>
              <a:t>simulink</a:t>
            </a:r>
            <a:r>
              <a:rPr lang="zh-CN" altLang="en-US" sz="2600" dirty="0"/>
              <a:t>以及其他应用程序结合起来。</a:t>
            </a:r>
          </a:p>
        </p:txBody>
      </p:sp>
      <p:grpSp>
        <p:nvGrpSpPr>
          <p:cNvPr id="75780" name="组合 1">
            <a:extLst>
              <a:ext uri="{FF2B5EF4-FFF2-40B4-BE49-F238E27FC236}">
                <a16:creationId xmlns:a16="http://schemas.microsoft.com/office/drawing/2014/main" id="{34FAB5BE-B0D1-40FA-8049-361259F78520}"/>
              </a:ext>
            </a:extLst>
          </p:cNvPr>
          <p:cNvGrpSpPr>
            <a:grpSpLocks/>
          </p:cNvGrpSpPr>
          <p:nvPr/>
        </p:nvGrpSpPr>
        <p:grpSpPr bwMode="auto">
          <a:xfrm>
            <a:off x="2289175" y="2849563"/>
            <a:ext cx="1068388" cy="1439862"/>
            <a:chOff x="2288704" y="2921516"/>
            <a:chExt cx="1068690" cy="1440000"/>
          </a:xfrm>
        </p:grpSpPr>
        <p:sp>
          <p:nvSpPr>
            <p:cNvPr id="75781" name="Line 4">
              <a:extLst>
                <a:ext uri="{FF2B5EF4-FFF2-40B4-BE49-F238E27FC236}">
                  <a16:creationId xmlns:a16="http://schemas.microsoft.com/office/drawing/2014/main" id="{9E87A4A5-AE2D-4145-9D4C-1FFEC1405F7D}"/>
                </a:ext>
              </a:extLst>
            </p:cNvPr>
            <p:cNvSpPr>
              <a:spLocks noChangeShapeType="1"/>
            </p:cNvSpPr>
            <p:nvPr/>
          </p:nvSpPr>
          <p:spPr bwMode="auto">
            <a:xfrm>
              <a:off x="3357394" y="2921516"/>
              <a:ext cx="0" cy="1440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5">
              <a:extLst>
                <a:ext uri="{FF2B5EF4-FFF2-40B4-BE49-F238E27FC236}">
                  <a16:creationId xmlns:a16="http://schemas.microsoft.com/office/drawing/2014/main" id="{607CAFAF-CF7E-47A4-9539-1B5D232E60F7}"/>
                </a:ext>
              </a:extLst>
            </p:cNvPr>
            <p:cNvSpPr>
              <a:spLocks noChangeShapeType="1"/>
            </p:cNvSpPr>
            <p:nvPr/>
          </p:nvSpPr>
          <p:spPr bwMode="auto">
            <a:xfrm flipH="1">
              <a:off x="2576736" y="2924944"/>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3" name="Line 6">
              <a:extLst>
                <a:ext uri="{FF2B5EF4-FFF2-40B4-BE49-F238E27FC236}">
                  <a16:creationId xmlns:a16="http://schemas.microsoft.com/office/drawing/2014/main" id="{A165B595-2446-49DF-82AD-6BB385453C41}"/>
                </a:ext>
              </a:extLst>
            </p:cNvPr>
            <p:cNvSpPr>
              <a:spLocks noChangeShapeType="1"/>
            </p:cNvSpPr>
            <p:nvPr/>
          </p:nvSpPr>
          <p:spPr bwMode="auto">
            <a:xfrm flipH="1">
              <a:off x="2288704" y="4293096"/>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灯片编号占位符 5">
            <a:extLst>
              <a:ext uri="{FF2B5EF4-FFF2-40B4-BE49-F238E27FC236}">
                <a16:creationId xmlns:a16="http://schemas.microsoft.com/office/drawing/2014/main" id="{AA70B7B8-5268-4838-91A0-D0614B55D2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C14D049-ACBD-4E74-B1FE-3802130EACB3}" type="slidenum">
              <a:rPr lang="en-US" altLang="zh-CN" sz="1200" smtClean="0">
                <a:latin typeface="Garamond" panose="02020404030301010803" pitchFamily="18" charset="0"/>
              </a:rPr>
              <a:pPr>
                <a:spcBef>
                  <a:spcPct val="0"/>
                </a:spcBef>
                <a:buClrTx/>
                <a:buSzTx/>
                <a:buFontTx/>
                <a:buNone/>
              </a:pPr>
              <a:t>50</a:t>
            </a:fld>
            <a:endParaRPr lang="en-US" altLang="zh-CN" sz="1200">
              <a:latin typeface="Garamond" panose="02020404030301010803" pitchFamily="18" charset="0"/>
            </a:endParaRPr>
          </a:p>
        </p:txBody>
      </p:sp>
      <p:sp>
        <p:nvSpPr>
          <p:cNvPr id="33795" name="Rectangle 3">
            <a:extLst>
              <a:ext uri="{FF2B5EF4-FFF2-40B4-BE49-F238E27FC236}">
                <a16:creationId xmlns:a16="http://schemas.microsoft.com/office/drawing/2014/main" id="{B1F831C0-ED27-4AC1-9B7E-3189D84D0103}"/>
              </a:ext>
            </a:extLst>
          </p:cNvPr>
          <p:cNvSpPr>
            <a:spLocks noGrp="1" noChangeArrowheads="1"/>
          </p:cNvSpPr>
          <p:nvPr>
            <p:ph type="body" idx="1"/>
          </p:nvPr>
        </p:nvSpPr>
        <p:spPr>
          <a:xfrm>
            <a:off x="1295400" y="1125538"/>
            <a:ext cx="8229600" cy="4648200"/>
          </a:xfrm>
        </p:spPr>
        <p:txBody>
          <a:bodyPr/>
          <a:lstStyle/>
          <a:p>
            <a:pPr eaLnBrk="1" hangingPunct="1"/>
            <a:r>
              <a:rPr lang="zh-CN" altLang="en-US" sz="2400"/>
              <a:t>进入</a:t>
            </a:r>
            <a:r>
              <a:rPr lang="en-US" altLang="zh-CN" sz="2400"/>
              <a:t>MATLAB</a:t>
            </a:r>
            <a:r>
              <a:rPr lang="zh-CN" altLang="en-US" sz="2400"/>
              <a:t>的</a:t>
            </a:r>
            <a:r>
              <a:rPr lang="en-US" altLang="zh-CN" sz="2400"/>
              <a:t>Editor/Debugger</a:t>
            </a:r>
            <a:r>
              <a:rPr lang="zh-CN" altLang="en-US" sz="2400"/>
              <a:t>窗口来编辑程序</a:t>
            </a:r>
          </a:p>
          <a:p>
            <a:pPr eaLnBrk="1" hangingPunct="1"/>
            <a:r>
              <a:rPr lang="zh-CN" altLang="en-US" sz="2400"/>
              <a:t>在编辑环境中，文字的不同颜色显示表明文字的不同属性。</a:t>
            </a:r>
          </a:p>
          <a:p>
            <a:pPr eaLnBrk="1" hangingPunct="1">
              <a:buFont typeface="Wingdings" panose="05000000000000000000" pitchFamily="2" charset="2"/>
              <a:buNone/>
            </a:pPr>
            <a:r>
              <a:rPr lang="zh-CN" altLang="en-US" sz="2400"/>
              <a:t>	绿色：注解；黑色：程序主体；红色：属性值的设定；蓝色：控制流程。</a:t>
            </a:r>
          </a:p>
          <a:p>
            <a:pPr eaLnBrk="1" hangingPunct="1"/>
            <a:r>
              <a:rPr lang="zh-CN" altLang="en-US" sz="2400"/>
              <a:t>在运行程序之前，必须设置好</a:t>
            </a:r>
            <a:r>
              <a:rPr lang="en-US" altLang="zh-CN" sz="2400"/>
              <a:t>MATLAB</a:t>
            </a:r>
            <a:r>
              <a:rPr lang="zh-CN" altLang="en-US" sz="2400"/>
              <a:t>的工作路径，使得所要运行的程序及运行程序所需要的其他文件处在当前目录之下，只有这样，才可以使程序得以正常运行。否则可能导致无法读取某些系统文件或数据，从而程序无法执行。</a:t>
            </a:r>
          </a:p>
          <a:p>
            <a:pPr eaLnBrk="1" hangingPunct="1"/>
            <a:r>
              <a:rPr lang="zh-CN" altLang="en-US" sz="2400"/>
              <a:t>通过</a:t>
            </a:r>
            <a:r>
              <a:rPr lang="en-US" altLang="zh-CN" sz="2400"/>
              <a:t>cd</a:t>
            </a:r>
            <a:r>
              <a:rPr lang="zh-CN" altLang="en-US" sz="2400"/>
              <a:t>指令在命令窗口中可以更改、显示当前工作路径。</a:t>
            </a:r>
          </a:p>
          <a:p>
            <a:pPr eaLnBrk="1" hangingPunct="1"/>
            <a:r>
              <a:rPr lang="zh-CN" altLang="en-US" sz="2400"/>
              <a:t>通过路径浏览器（</a:t>
            </a:r>
            <a:r>
              <a:rPr lang="en-US" altLang="zh-CN" sz="2400"/>
              <a:t>path browser</a:t>
            </a:r>
            <a:r>
              <a:rPr lang="zh-CN" altLang="en-US" sz="2400"/>
              <a:t>）也可以进行设置。</a:t>
            </a:r>
          </a:p>
        </p:txBody>
      </p:sp>
      <p:sp>
        <p:nvSpPr>
          <p:cNvPr id="76804" name="Text Box 5">
            <a:extLst>
              <a:ext uri="{FF2B5EF4-FFF2-40B4-BE49-F238E27FC236}">
                <a16:creationId xmlns:a16="http://schemas.microsoft.com/office/drawing/2014/main" id="{BB4B388C-9AD5-4D33-B4D3-AEC6F9FD5C25}"/>
              </a:ext>
            </a:extLst>
          </p:cNvPr>
          <p:cNvSpPr txBox="1">
            <a:spLocks noChangeArrowheads="1"/>
          </p:cNvSpPr>
          <p:nvPr/>
        </p:nvSpPr>
        <p:spPr bwMode="auto">
          <a:xfrm>
            <a:off x="1295400" y="47625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a:solidFill>
                  <a:schemeClr val="tx2"/>
                </a:solidFill>
                <a:latin typeface="Impact" panose="020B0806030902050204" pitchFamily="34" charset="0"/>
              </a:rPr>
              <a:t>二、</a:t>
            </a:r>
            <a:r>
              <a:rPr kumimoji="1" lang="en-US" altLang="zh-CN" sz="2800">
                <a:solidFill>
                  <a:schemeClr val="tx2"/>
                </a:solidFill>
              </a:rPr>
              <a:t>M</a:t>
            </a:r>
            <a:r>
              <a:rPr kumimoji="1" lang="zh-CN" altLang="en-US" sz="2800">
                <a:solidFill>
                  <a:schemeClr val="tx2"/>
                </a:solidFill>
              </a:rPr>
              <a:t>文件的编辑及</a:t>
            </a:r>
            <a:r>
              <a:rPr kumimoji="1" lang="en-US" altLang="zh-CN" sz="2800">
                <a:solidFill>
                  <a:schemeClr val="tx2"/>
                </a:solidFill>
                <a:latin typeface="Impact" panose="020B0806030902050204" pitchFamily="34" charset="0"/>
              </a:rPr>
              <a:t>MATLAB</a:t>
            </a:r>
            <a:r>
              <a:rPr kumimoji="1" lang="zh-CN" altLang="en-US" sz="2800">
                <a:solidFill>
                  <a:schemeClr val="tx2"/>
                </a:solidFill>
                <a:latin typeface="Impact" panose="020B0806030902050204" pitchFamily="34" charset="0"/>
              </a:rPr>
              <a:t>工作路径的设置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dissolve">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dissolve">
                                      <p:cBhvr>
                                        <p:cTn id="12" dur="500"/>
                                        <p:tgtEl>
                                          <p:spTgt spid="33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dissolve">
                                      <p:cBhvr>
                                        <p:cTn id="17" dur="500"/>
                                        <p:tgtEl>
                                          <p:spTgt spid="337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dissolve">
                                      <p:cBhvr>
                                        <p:cTn id="22" dur="500"/>
                                        <p:tgtEl>
                                          <p:spTgt spid="337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dissolve">
                                      <p:cBhvr>
                                        <p:cTn id="27" dur="500"/>
                                        <p:tgtEl>
                                          <p:spTgt spid="337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dissolve">
                                      <p:cBhvr>
                                        <p:cTn id="32" dur="5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灯片编号占位符 5">
            <a:extLst>
              <a:ext uri="{FF2B5EF4-FFF2-40B4-BE49-F238E27FC236}">
                <a16:creationId xmlns:a16="http://schemas.microsoft.com/office/drawing/2014/main" id="{BE4CF597-DFBA-4EBF-BDD2-4D1D892A43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BAA10F-9447-4692-8794-65768542B1CC}" type="slidenum">
              <a:rPr lang="en-US" altLang="zh-CN" sz="1200" smtClean="0">
                <a:latin typeface="Garamond" panose="02020404030301010803" pitchFamily="18" charset="0"/>
              </a:rPr>
              <a:pPr>
                <a:spcBef>
                  <a:spcPct val="0"/>
                </a:spcBef>
                <a:buClrTx/>
                <a:buSzTx/>
                <a:buFontTx/>
                <a:buNone/>
              </a:pPr>
              <a:t>51</a:t>
            </a:fld>
            <a:endParaRPr lang="en-US" altLang="zh-CN" sz="1200">
              <a:latin typeface="Garamond" panose="02020404030301010803" pitchFamily="18" charset="0"/>
            </a:endParaRPr>
          </a:p>
        </p:txBody>
      </p:sp>
      <p:sp>
        <p:nvSpPr>
          <p:cNvPr id="34818" name="Rectangle 2">
            <a:extLst>
              <a:ext uri="{FF2B5EF4-FFF2-40B4-BE49-F238E27FC236}">
                <a16:creationId xmlns:a16="http://schemas.microsoft.com/office/drawing/2014/main" id="{FCF25126-210C-4913-BD97-BDBAC8294F4F}"/>
              </a:ext>
            </a:extLst>
          </p:cNvPr>
          <p:cNvSpPr>
            <a:spLocks noGrp="1" noChangeArrowheads="1"/>
          </p:cNvSpPr>
          <p:nvPr>
            <p:ph type="body" idx="1"/>
          </p:nvPr>
        </p:nvSpPr>
        <p:spPr>
          <a:xfrm>
            <a:off x="1373188" y="3886200"/>
            <a:ext cx="8228012" cy="2286000"/>
          </a:xfrm>
        </p:spPr>
        <p:txBody>
          <a:bodyPr/>
          <a:lstStyle/>
          <a:p>
            <a:pPr eaLnBrk="1" hangingPunct="1">
              <a:lnSpc>
                <a:spcPct val="80000"/>
              </a:lnSpc>
              <a:buFont typeface="Wingdings" panose="05000000000000000000" pitchFamily="2" charset="2"/>
              <a:buNone/>
            </a:pPr>
            <a:r>
              <a:rPr lang="en-US" altLang="zh-CN" sz="2600" dirty="0"/>
              <a:t>2</a:t>
            </a:r>
            <a:r>
              <a:rPr lang="zh-CN" altLang="en-US" sz="2600" dirty="0"/>
              <a:t>、程序文件</a:t>
            </a:r>
          </a:p>
          <a:p>
            <a:pPr eaLnBrk="1" hangingPunct="1">
              <a:lnSpc>
                <a:spcPct val="80000"/>
              </a:lnSpc>
            </a:pPr>
            <a:r>
              <a:rPr lang="zh-CN" altLang="en-US" sz="2600" dirty="0"/>
              <a:t>以</a:t>
            </a:r>
            <a:r>
              <a:rPr lang="en-US" altLang="zh-CN" sz="2600" dirty="0"/>
              <a:t>.m</a:t>
            </a:r>
            <a:r>
              <a:rPr lang="zh-CN" altLang="en-US" sz="2600" dirty="0"/>
              <a:t>格式进行存取，包含一连串的</a:t>
            </a:r>
            <a:r>
              <a:rPr lang="en-US" altLang="zh-CN" sz="2600" dirty="0"/>
              <a:t>MATLAB</a:t>
            </a:r>
            <a:r>
              <a:rPr lang="zh-CN" altLang="en-US" sz="2600" dirty="0"/>
              <a:t>指令和必要的注解。需要在工作空间中创建并获取变量，也就是说处理的数据为命令窗口中的数据，没有输入参数，也不会返回参数。</a:t>
            </a:r>
          </a:p>
          <a:p>
            <a:pPr eaLnBrk="1" hangingPunct="1">
              <a:lnSpc>
                <a:spcPct val="80000"/>
              </a:lnSpc>
            </a:pPr>
            <a:r>
              <a:rPr lang="zh-CN" altLang="en-US" sz="2600" dirty="0"/>
              <a:t>程序运行时只需在工作空间中键入其名称即可。</a:t>
            </a:r>
          </a:p>
        </p:txBody>
      </p:sp>
      <p:sp>
        <p:nvSpPr>
          <p:cNvPr id="77828" name="Text Box 3">
            <a:extLst>
              <a:ext uri="{FF2B5EF4-FFF2-40B4-BE49-F238E27FC236}">
                <a16:creationId xmlns:a16="http://schemas.microsoft.com/office/drawing/2014/main" id="{FBE29466-5EAB-4BE0-BFD2-8BDFED3EF16A}"/>
              </a:ext>
            </a:extLst>
          </p:cNvPr>
          <p:cNvSpPr txBox="1">
            <a:spLocks noChangeArrowheads="1"/>
          </p:cNvSpPr>
          <p:nvPr/>
        </p:nvSpPr>
        <p:spPr bwMode="auto">
          <a:xfrm>
            <a:off x="1447800" y="685800"/>
            <a:ext cx="533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a:solidFill>
                  <a:schemeClr val="tx2"/>
                </a:solidFill>
                <a:latin typeface="Impact" panose="020B0806030902050204" pitchFamily="34" charset="0"/>
              </a:rPr>
              <a:t>三、</a:t>
            </a:r>
            <a:r>
              <a:rPr kumimoji="1" lang="en-US" altLang="zh-CN" sz="2800">
                <a:solidFill>
                  <a:schemeClr val="tx2"/>
                </a:solidFill>
                <a:latin typeface="Impact" panose="020B0806030902050204" pitchFamily="34" charset="0"/>
              </a:rPr>
              <a:t>MATLAB</a:t>
            </a:r>
            <a:r>
              <a:rPr kumimoji="1" lang="zh-CN" altLang="en-US" sz="2800">
                <a:solidFill>
                  <a:schemeClr val="tx2"/>
                </a:solidFill>
                <a:latin typeface="Impact" panose="020B0806030902050204" pitchFamily="34" charset="0"/>
              </a:rPr>
              <a:t>的程序类型</a:t>
            </a:r>
          </a:p>
        </p:txBody>
      </p:sp>
      <p:sp>
        <p:nvSpPr>
          <p:cNvPr id="34820" name="Text Box 4">
            <a:extLst>
              <a:ext uri="{FF2B5EF4-FFF2-40B4-BE49-F238E27FC236}">
                <a16:creationId xmlns:a16="http://schemas.microsoft.com/office/drawing/2014/main" id="{3C605DAC-C9F2-4F79-B8F2-6474DCCBB42B}"/>
              </a:ext>
            </a:extLst>
          </p:cNvPr>
          <p:cNvSpPr txBox="1">
            <a:spLocks noChangeArrowheads="1"/>
          </p:cNvSpPr>
          <p:nvPr/>
        </p:nvSpPr>
        <p:spPr bwMode="auto">
          <a:xfrm>
            <a:off x="1447800" y="1295400"/>
            <a:ext cx="7772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a:latin typeface="Impact" panose="020B0806030902050204" pitchFamily="34" charset="0"/>
              </a:rPr>
              <a:t>MATLAB</a:t>
            </a:r>
            <a:r>
              <a:rPr kumimoji="1" lang="zh-CN" altLang="en-US" sz="2400">
                <a:latin typeface="Impact" panose="020B0806030902050204" pitchFamily="34" charset="0"/>
              </a:rPr>
              <a:t>的程序类型有三种，一种是在命令窗口下执行的脚本</a:t>
            </a:r>
            <a:r>
              <a:rPr kumimoji="1" lang="en-US" altLang="zh-CN" sz="2400">
                <a:latin typeface="Impact" panose="020B0806030902050204" pitchFamily="34" charset="0"/>
              </a:rPr>
              <a:t>M</a:t>
            </a:r>
            <a:r>
              <a:rPr kumimoji="1" lang="zh-CN" altLang="en-US" sz="2400">
                <a:latin typeface="Impact" panose="020B0806030902050204" pitchFamily="34" charset="0"/>
              </a:rPr>
              <a:t>文件；另外一种是可以存取的</a:t>
            </a:r>
            <a:r>
              <a:rPr kumimoji="1" lang="en-US" altLang="zh-CN" sz="2400">
                <a:latin typeface="Impact" panose="020B0806030902050204" pitchFamily="34" charset="0"/>
              </a:rPr>
              <a:t>M</a:t>
            </a:r>
            <a:r>
              <a:rPr kumimoji="1" lang="zh-CN" altLang="en-US" sz="2400">
                <a:latin typeface="Impact" panose="020B0806030902050204" pitchFamily="34" charset="0"/>
              </a:rPr>
              <a:t>文件，也即程序文件；最后一种是函数（</a:t>
            </a:r>
            <a:r>
              <a:rPr kumimoji="1" lang="en-US" altLang="zh-CN" sz="2400">
                <a:latin typeface="Impact" panose="020B0806030902050204" pitchFamily="34" charset="0"/>
              </a:rPr>
              <a:t>function</a:t>
            </a:r>
            <a:r>
              <a:rPr kumimoji="1" lang="zh-CN" altLang="en-US" sz="2400">
                <a:latin typeface="Impact" panose="020B0806030902050204" pitchFamily="34" charset="0"/>
              </a:rPr>
              <a:t>）文件。</a:t>
            </a:r>
          </a:p>
        </p:txBody>
      </p:sp>
      <p:sp>
        <p:nvSpPr>
          <p:cNvPr id="34821" name="Text Box 5">
            <a:extLst>
              <a:ext uri="{FF2B5EF4-FFF2-40B4-BE49-F238E27FC236}">
                <a16:creationId xmlns:a16="http://schemas.microsoft.com/office/drawing/2014/main" id="{177182BD-712D-46F6-8338-B586EA80070A}"/>
              </a:ext>
            </a:extLst>
          </p:cNvPr>
          <p:cNvSpPr txBox="1">
            <a:spLocks noChangeArrowheads="1"/>
          </p:cNvSpPr>
          <p:nvPr/>
        </p:nvSpPr>
        <p:spPr bwMode="auto">
          <a:xfrm>
            <a:off x="1373188" y="2442837"/>
            <a:ext cx="822801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dirty="0">
                <a:latin typeface="Impact" panose="020B0806030902050204" pitchFamily="34" charset="0"/>
              </a:rPr>
              <a:t>1</a:t>
            </a:r>
            <a:r>
              <a:rPr kumimoji="1" lang="zh-CN" altLang="en-US" sz="2400" dirty="0">
                <a:latin typeface="Impact" panose="020B0806030902050204" pitchFamily="34" charset="0"/>
              </a:rPr>
              <a:t>、脚本</a:t>
            </a:r>
            <a:r>
              <a:rPr kumimoji="1" lang="en-US" altLang="zh-CN" sz="2400" dirty="0">
                <a:latin typeface="Impact" panose="020B0806030902050204" pitchFamily="34" charset="0"/>
              </a:rPr>
              <a:t>M</a:t>
            </a:r>
            <a:r>
              <a:rPr kumimoji="1" lang="zh-CN" altLang="en-US" sz="2400" dirty="0">
                <a:latin typeface="Impact" panose="020B0806030902050204" pitchFamily="34" charset="0"/>
              </a:rPr>
              <a:t>文件</a:t>
            </a:r>
          </a:p>
          <a:p>
            <a:pPr eaLnBrk="1" hangingPunct="1">
              <a:buClrTx/>
              <a:buSzTx/>
              <a:buFontTx/>
              <a:buNone/>
            </a:pPr>
            <a:r>
              <a:rPr kumimoji="1" lang="zh-CN" altLang="en-US" sz="2400" dirty="0">
                <a:latin typeface="Impact" panose="020B0806030902050204" pitchFamily="34" charset="0"/>
              </a:rPr>
              <a:t>在命令窗口中输入并执行，它所用的变量都要在工作空间中获取，不需要输入输出参数的调用，退出</a:t>
            </a:r>
            <a:r>
              <a:rPr kumimoji="1" lang="en-US" altLang="zh-CN" sz="2400" dirty="0">
                <a:latin typeface="Impact" panose="020B0806030902050204" pitchFamily="34" charset="0"/>
              </a:rPr>
              <a:t>MATLAB</a:t>
            </a:r>
            <a:r>
              <a:rPr kumimoji="1" lang="zh-CN" altLang="en-US" sz="2400" dirty="0">
                <a:latin typeface="Impact" panose="020B0806030902050204" pitchFamily="34" charset="0"/>
              </a:rPr>
              <a:t>后就释放了。</a:t>
            </a:r>
            <a:endParaRPr kumimoji="1" lang="en-US" altLang="zh-CN" sz="24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linds(horizontal)">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box(in)">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818">
                                            <p:txEl>
                                              <p:pRg st="0" end="0"/>
                                            </p:txEl>
                                          </p:spTgt>
                                        </p:tgtEl>
                                        <p:attrNameLst>
                                          <p:attrName>style.visibility</p:attrName>
                                        </p:attrNameLst>
                                      </p:cBhvr>
                                      <p:to>
                                        <p:strVal val="visible"/>
                                      </p:to>
                                    </p:set>
                                    <p:animEffect transition="in" filter="checkerboard(across)">
                                      <p:cBhvr>
                                        <p:cTn id="17" dur="500"/>
                                        <p:tgtEl>
                                          <p:spTgt spid="3481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818">
                                            <p:txEl>
                                              <p:pRg st="1" end="1"/>
                                            </p:txEl>
                                          </p:spTgt>
                                        </p:tgtEl>
                                        <p:attrNameLst>
                                          <p:attrName>style.visibility</p:attrName>
                                        </p:attrNameLst>
                                      </p:cBhvr>
                                      <p:to>
                                        <p:strVal val="visible"/>
                                      </p:to>
                                    </p:set>
                                    <p:animEffect transition="in" filter="checkerboard(across)">
                                      <p:cBhvr>
                                        <p:cTn id="22" dur="500"/>
                                        <p:tgtEl>
                                          <p:spTgt spid="3481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4818">
                                            <p:txEl>
                                              <p:pRg st="2" end="2"/>
                                            </p:txEl>
                                          </p:spTgt>
                                        </p:tgtEl>
                                        <p:attrNameLst>
                                          <p:attrName>style.visibility</p:attrName>
                                        </p:attrNameLst>
                                      </p:cBhvr>
                                      <p:to>
                                        <p:strVal val="visible"/>
                                      </p:to>
                                    </p:set>
                                    <p:animEffect transition="in" filter="checkerboard(across)">
                                      <p:cBhvr>
                                        <p:cTn id="27" dur="500"/>
                                        <p:tgtEl>
                                          <p:spTgt spid="348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autoUpdateAnimBg="0"/>
      <p:bldP spid="34820" grpId="0" autoUpdateAnimBg="0"/>
      <p:bldP spid="3482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灯片编号占位符 5">
            <a:extLst>
              <a:ext uri="{FF2B5EF4-FFF2-40B4-BE49-F238E27FC236}">
                <a16:creationId xmlns:a16="http://schemas.microsoft.com/office/drawing/2014/main" id="{A5A16BCB-3BFB-40DD-B002-4AF1162DFC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FE473ED-95E7-4C2B-A658-3C84BE34DDA7}" type="slidenum">
              <a:rPr lang="en-US" altLang="zh-CN" sz="1200" smtClean="0">
                <a:latin typeface="Garamond" panose="02020404030301010803" pitchFamily="18" charset="0"/>
              </a:rPr>
              <a:pPr>
                <a:spcBef>
                  <a:spcPct val="0"/>
                </a:spcBef>
                <a:buClrTx/>
                <a:buSzTx/>
                <a:buFontTx/>
                <a:buNone/>
              </a:pPr>
              <a:t>52</a:t>
            </a:fld>
            <a:endParaRPr lang="en-US" altLang="zh-CN" sz="1200">
              <a:latin typeface="Garamond" panose="02020404030301010803" pitchFamily="18" charset="0"/>
            </a:endParaRPr>
          </a:p>
        </p:txBody>
      </p:sp>
      <p:sp>
        <p:nvSpPr>
          <p:cNvPr id="35843" name="Rectangle 3">
            <a:extLst>
              <a:ext uri="{FF2B5EF4-FFF2-40B4-BE49-F238E27FC236}">
                <a16:creationId xmlns:a16="http://schemas.microsoft.com/office/drawing/2014/main" id="{E76292C6-1F54-4A62-B01A-632EFCCF803A}"/>
              </a:ext>
            </a:extLst>
          </p:cNvPr>
          <p:cNvSpPr>
            <a:spLocks noGrp="1" noChangeArrowheads="1"/>
          </p:cNvSpPr>
          <p:nvPr>
            <p:ph type="body" idx="1"/>
          </p:nvPr>
        </p:nvSpPr>
        <p:spPr>
          <a:xfrm>
            <a:off x="1065213" y="3213100"/>
            <a:ext cx="8458200" cy="2849563"/>
          </a:xfrm>
        </p:spPr>
        <p:txBody>
          <a:bodyPr/>
          <a:lstStyle/>
          <a:p>
            <a:pPr eaLnBrk="1" hangingPunct="1">
              <a:lnSpc>
                <a:spcPct val="90000"/>
              </a:lnSpc>
              <a:buFont typeface="Wingdings" panose="05000000000000000000" pitchFamily="2" charset="2"/>
              <a:buNone/>
            </a:pPr>
            <a:r>
              <a:rPr lang="zh-CN" altLang="en-US" sz="2800" dirty="0"/>
              <a:t>（</a:t>
            </a:r>
            <a:r>
              <a:rPr lang="en-US" altLang="zh-CN" sz="2800" dirty="0"/>
              <a:t>1</a:t>
            </a:r>
            <a:r>
              <a:rPr lang="zh-CN" altLang="en-US" sz="2800" dirty="0"/>
              <a:t>）函数定义行（关键字</a:t>
            </a:r>
            <a:r>
              <a:rPr lang="en-US" altLang="zh-CN" sz="2800" dirty="0"/>
              <a:t>function</a:t>
            </a:r>
            <a:r>
              <a:rPr lang="zh-CN" altLang="en-US" sz="2800" dirty="0"/>
              <a:t>）</a:t>
            </a:r>
          </a:p>
          <a:p>
            <a:pPr eaLnBrk="1" hangingPunct="1">
              <a:lnSpc>
                <a:spcPct val="90000"/>
              </a:lnSpc>
            </a:pPr>
            <a:r>
              <a:rPr lang="en-US" altLang="zh-CN" sz="2800" dirty="0"/>
              <a:t>function[out1,out2,..]=filename(in1,in2,..)</a:t>
            </a:r>
          </a:p>
          <a:p>
            <a:pPr eaLnBrk="1" hangingPunct="1">
              <a:lnSpc>
                <a:spcPct val="90000"/>
              </a:lnSpc>
            </a:pPr>
            <a:r>
              <a:rPr lang="zh-CN" altLang="en-US" sz="2800" dirty="0"/>
              <a:t>输入和输出（返回）的参数个数分别由</a:t>
            </a:r>
            <a:r>
              <a:rPr lang="en-US" altLang="zh-CN" sz="2800" dirty="0" err="1"/>
              <a:t>nargin</a:t>
            </a:r>
            <a:r>
              <a:rPr lang="zh-CN" altLang="en-US" sz="2800" dirty="0"/>
              <a:t>和</a:t>
            </a:r>
            <a:r>
              <a:rPr lang="en-US" altLang="zh-CN" sz="2800" dirty="0" err="1"/>
              <a:t>nargout</a:t>
            </a:r>
            <a:r>
              <a:rPr lang="zh-CN" altLang="en-US" sz="2800" dirty="0"/>
              <a:t>两个</a:t>
            </a:r>
            <a:r>
              <a:rPr lang="en-US" altLang="zh-CN" sz="2800" dirty="0"/>
              <a:t>MATLAB</a:t>
            </a:r>
            <a:r>
              <a:rPr lang="zh-CN" altLang="en-US" sz="2800" dirty="0"/>
              <a:t>保留的变量来给出。</a:t>
            </a:r>
          </a:p>
          <a:p>
            <a:pPr eaLnBrk="1" hangingPunct="1">
              <a:lnSpc>
                <a:spcPct val="90000"/>
              </a:lnSpc>
              <a:buFont typeface="Wingdings" panose="05000000000000000000" pitchFamily="2" charset="2"/>
              <a:buNone/>
            </a:pPr>
            <a:r>
              <a:rPr lang="zh-CN" altLang="en-US" sz="2800" dirty="0"/>
              <a:t>（</a:t>
            </a:r>
            <a:r>
              <a:rPr lang="en-US" altLang="zh-CN" sz="2800" dirty="0"/>
              <a:t>2</a:t>
            </a:r>
            <a:r>
              <a:rPr lang="zh-CN" altLang="en-US" sz="2800" dirty="0"/>
              <a:t>）第一行帮助行，即</a:t>
            </a:r>
            <a:r>
              <a:rPr lang="en-US" altLang="zh-CN" sz="2800" dirty="0"/>
              <a:t>H1</a:t>
            </a:r>
            <a:r>
              <a:rPr lang="zh-CN" altLang="en-US" sz="2800" dirty="0"/>
              <a:t>行</a:t>
            </a:r>
          </a:p>
          <a:p>
            <a:pPr eaLnBrk="1" hangingPunct="1">
              <a:lnSpc>
                <a:spcPct val="90000"/>
              </a:lnSpc>
            </a:pPr>
            <a:r>
              <a:rPr lang="zh-CN" altLang="en-US" sz="2800" dirty="0"/>
              <a:t>以（</a:t>
            </a:r>
            <a:r>
              <a:rPr lang="en-US" altLang="zh-CN" sz="2800" dirty="0"/>
              <a:t>%</a:t>
            </a:r>
            <a:r>
              <a:rPr lang="zh-CN" altLang="en-US" sz="2800" dirty="0"/>
              <a:t>）开头，作为</a:t>
            </a:r>
            <a:r>
              <a:rPr lang="en-US" altLang="zh-CN" sz="2800" dirty="0" err="1"/>
              <a:t>lookfor</a:t>
            </a:r>
            <a:r>
              <a:rPr lang="zh-CN" altLang="en-US" sz="2800" dirty="0"/>
              <a:t>指令搜索的行</a:t>
            </a:r>
            <a:r>
              <a:rPr lang="zh-CN" altLang="en-US" sz="1900" dirty="0"/>
              <a:t>      </a:t>
            </a:r>
          </a:p>
        </p:txBody>
      </p:sp>
      <p:sp>
        <p:nvSpPr>
          <p:cNvPr id="78852" name="Text Box 5">
            <a:extLst>
              <a:ext uri="{FF2B5EF4-FFF2-40B4-BE49-F238E27FC236}">
                <a16:creationId xmlns:a16="http://schemas.microsoft.com/office/drawing/2014/main" id="{ABC65CE8-2E22-4F68-9C31-6B3AD62ED8F5}"/>
              </a:ext>
            </a:extLst>
          </p:cNvPr>
          <p:cNvSpPr txBox="1">
            <a:spLocks noChangeArrowheads="1"/>
          </p:cNvSpPr>
          <p:nvPr/>
        </p:nvSpPr>
        <p:spPr bwMode="auto">
          <a:xfrm>
            <a:off x="941388" y="606425"/>
            <a:ext cx="7324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800">
                <a:latin typeface="Impact" panose="020B0806030902050204" pitchFamily="34" charset="0"/>
              </a:rPr>
              <a:t>3</a:t>
            </a:r>
            <a:r>
              <a:rPr kumimoji="1" lang="zh-CN" altLang="en-US" sz="2800">
                <a:latin typeface="Impact" panose="020B0806030902050204" pitchFamily="34" charset="0"/>
              </a:rPr>
              <a:t>、函数文件            例</a:t>
            </a:r>
            <a:r>
              <a:rPr kumimoji="1" lang="en-US" altLang="zh-CN" sz="2800"/>
              <a:t>myhilb1.m</a:t>
            </a:r>
            <a:r>
              <a:rPr kumimoji="1" lang="en-US" altLang="zh-CN" sz="2800">
                <a:latin typeface="Impact" panose="020B0806030902050204" pitchFamily="34" charset="0"/>
              </a:rPr>
              <a:t>       </a:t>
            </a:r>
            <a:r>
              <a:rPr kumimoji="1" lang="en-US" altLang="zh-CN" sz="2800"/>
              <a:t>myhilb.m</a:t>
            </a:r>
          </a:p>
        </p:txBody>
      </p:sp>
      <p:sp>
        <p:nvSpPr>
          <p:cNvPr id="35846" name="Rectangle 6">
            <a:extLst>
              <a:ext uri="{FF2B5EF4-FFF2-40B4-BE49-F238E27FC236}">
                <a16:creationId xmlns:a16="http://schemas.microsoft.com/office/drawing/2014/main" id="{4862530C-C273-4EFE-B5F8-DBBA6C9F0874}"/>
              </a:ext>
            </a:extLst>
          </p:cNvPr>
          <p:cNvSpPr>
            <a:spLocks noChangeArrowheads="1"/>
          </p:cNvSpPr>
          <p:nvPr/>
        </p:nvSpPr>
        <p:spPr bwMode="auto">
          <a:xfrm>
            <a:off x="1219200" y="1196975"/>
            <a:ext cx="82296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r>
              <a:rPr kumimoji="1" lang="zh-CN" altLang="en-US" sz="2800">
                <a:latin typeface="Impact" panose="020B0806030902050204" pitchFamily="34" charset="0"/>
              </a:rPr>
              <a:t>与在命令窗口中输入命令一样，函数接受输入参数，然后执行并输出结果。用</a:t>
            </a:r>
            <a:r>
              <a:rPr kumimoji="1" lang="en-US" altLang="zh-CN" sz="2800">
                <a:latin typeface="Impact" panose="020B0806030902050204" pitchFamily="34" charset="0"/>
              </a:rPr>
              <a:t>help</a:t>
            </a:r>
            <a:r>
              <a:rPr kumimoji="1" lang="zh-CN" altLang="en-US" sz="2800">
                <a:latin typeface="Impact" panose="020B0806030902050204" pitchFamily="34" charset="0"/>
              </a:rPr>
              <a:t>命令可以显示它的注释说明。</a:t>
            </a:r>
          </a:p>
          <a:p>
            <a:pPr eaLnBrk="1" hangingPunct="1">
              <a:buClrTx/>
              <a:buSzTx/>
              <a:buFontTx/>
              <a:buChar char="•"/>
            </a:pPr>
            <a:r>
              <a:rPr kumimoji="1" lang="zh-CN" altLang="en-US" sz="2800">
                <a:latin typeface="Impact" panose="020B0806030902050204" pitchFamily="34" charset="0"/>
              </a:rPr>
              <a:t>具有标准的基本结构。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 calcmode="lin" valueType="num">
                                      <p:cBhvr additive="base">
                                        <p:cTn id="7" dur="500" fill="hold"/>
                                        <p:tgtEl>
                                          <p:spTgt spid="35846"/>
                                        </p:tgtEl>
                                        <p:attrNameLst>
                                          <p:attrName>ppt_x</p:attrName>
                                        </p:attrNameLst>
                                      </p:cBhvr>
                                      <p:tavLst>
                                        <p:tav tm="0">
                                          <p:val>
                                            <p:strVal val="0-#ppt_w/2"/>
                                          </p:val>
                                        </p:tav>
                                        <p:tav tm="100000">
                                          <p:val>
                                            <p:strVal val="#ppt_x"/>
                                          </p:val>
                                        </p:tav>
                                      </p:tavLst>
                                    </p:anim>
                                    <p:anim calcmode="lin" valueType="num">
                                      <p:cBhvr additive="base">
                                        <p:cTn id="8"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5843">
                                            <p:txEl>
                                              <p:pRg st="0" end="0"/>
                                            </p:txEl>
                                          </p:spTgt>
                                        </p:tgtEl>
                                        <p:attrNameLst>
                                          <p:attrName>style.visibility</p:attrName>
                                        </p:attrNameLst>
                                      </p:cBhvr>
                                      <p:to>
                                        <p:strVal val="visible"/>
                                      </p:to>
                                    </p:set>
                                    <p:animEffect transition="in" filter="box(in)">
                                      <p:cBhvr>
                                        <p:cTn id="13" dur="500"/>
                                        <p:tgtEl>
                                          <p:spTgt spid="3584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5843">
                                            <p:txEl>
                                              <p:pRg st="1" end="1"/>
                                            </p:txEl>
                                          </p:spTgt>
                                        </p:tgtEl>
                                        <p:attrNameLst>
                                          <p:attrName>style.visibility</p:attrName>
                                        </p:attrNameLst>
                                      </p:cBhvr>
                                      <p:to>
                                        <p:strVal val="visible"/>
                                      </p:to>
                                    </p:set>
                                    <p:animEffect transition="in" filter="box(in)">
                                      <p:cBhvr>
                                        <p:cTn id="18" dur="500"/>
                                        <p:tgtEl>
                                          <p:spTgt spid="3584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35843">
                                            <p:txEl>
                                              <p:pRg st="2" end="2"/>
                                            </p:txEl>
                                          </p:spTgt>
                                        </p:tgtEl>
                                        <p:attrNameLst>
                                          <p:attrName>style.visibility</p:attrName>
                                        </p:attrNameLst>
                                      </p:cBhvr>
                                      <p:to>
                                        <p:strVal val="visible"/>
                                      </p:to>
                                    </p:set>
                                    <p:animEffect transition="in" filter="box(in)">
                                      <p:cBhvr>
                                        <p:cTn id="23" dur="500"/>
                                        <p:tgtEl>
                                          <p:spTgt spid="3584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35843">
                                            <p:txEl>
                                              <p:pRg st="3" end="3"/>
                                            </p:txEl>
                                          </p:spTgt>
                                        </p:tgtEl>
                                        <p:attrNameLst>
                                          <p:attrName>style.visibility</p:attrName>
                                        </p:attrNameLst>
                                      </p:cBhvr>
                                      <p:to>
                                        <p:strVal val="visible"/>
                                      </p:to>
                                    </p:set>
                                    <p:animEffect transition="in" filter="box(in)">
                                      <p:cBhvr>
                                        <p:cTn id="28" dur="500"/>
                                        <p:tgtEl>
                                          <p:spTgt spid="35843">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35843">
                                            <p:txEl>
                                              <p:pRg st="4" end="4"/>
                                            </p:txEl>
                                          </p:spTgt>
                                        </p:tgtEl>
                                        <p:attrNameLst>
                                          <p:attrName>style.visibility</p:attrName>
                                        </p:attrNameLst>
                                      </p:cBhvr>
                                      <p:to>
                                        <p:strVal val="visible"/>
                                      </p:to>
                                    </p:set>
                                    <p:animEffect transition="in" filter="box(in)">
                                      <p:cBhvr>
                                        <p:cTn id="33" dur="5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P spid="35846"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a:extLst>
              <a:ext uri="{FF2B5EF4-FFF2-40B4-BE49-F238E27FC236}">
                <a16:creationId xmlns:a16="http://schemas.microsoft.com/office/drawing/2014/main" id="{0C560A98-CBAA-4703-B30B-C62CB18AE1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CD900C5-0C57-49C3-8A19-370127AC29C9}" type="slidenum">
              <a:rPr lang="en-US" altLang="zh-CN" sz="1200" smtClean="0">
                <a:latin typeface="Garamond" panose="02020404030301010803" pitchFamily="18" charset="0"/>
              </a:rPr>
              <a:pPr>
                <a:spcBef>
                  <a:spcPct val="0"/>
                </a:spcBef>
                <a:buClrTx/>
                <a:buSzTx/>
                <a:buFontTx/>
                <a:buNone/>
              </a:pPr>
              <a:t>53</a:t>
            </a:fld>
            <a:endParaRPr lang="en-US" altLang="zh-CN" sz="1200">
              <a:latin typeface="Garamond" panose="02020404030301010803" pitchFamily="18" charset="0"/>
            </a:endParaRPr>
          </a:p>
        </p:txBody>
      </p:sp>
      <p:sp>
        <p:nvSpPr>
          <p:cNvPr id="80899" name="Rectangle 3">
            <a:extLst>
              <a:ext uri="{FF2B5EF4-FFF2-40B4-BE49-F238E27FC236}">
                <a16:creationId xmlns:a16="http://schemas.microsoft.com/office/drawing/2014/main" id="{82D529A8-2FEB-4070-9418-72D84FF00493}"/>
              </a:ext>
            </a:extLst>
          </p:cNvPr>
          <p:cNvSpPr>
            <a:spLocks noGrp="1" noChangeArrowheads="1"/>
          </p:cNvSpPr>
          <p:nvPr>
            <p:ph type="body" idx="1"/>
          </p:nvPr>
        </p:nvSpPr>
        <p:spPr>
          <a:xfrm>
            <a:off x="495300" y="692150"/>
            <a:ext cx="8915400" cy="5438775"/>
          </a:xfrm>
        </p:spPr>
        <p:txBody>
          <a:bodyPr/>
          <a:lstStyle/>
          <a:p>
            <a:pPr eaLnBrk="1" hangingPunct="1">
              <a:buFont typeface="Wingdings" panose="05000000000000000000" pitchFamily="2" charset="2"/>
              <a:buNone/>
            </a:pPr>
            <a:r>
              <a:rPr lang="zh-CN" altLang="en-US" dirty="0"/>
              <a:t>（</a:t>
            </a:r>
            <a:r>
              <a:rPr lang="en-US" altLang="zh-CN" dirty="0"/>
              <a:t>3</a:t>
            </a:r>
            <a:r>
              <a:rPr lang="zh-CN" altLang="en-US" dirty="0"/>
              <a:t>）函数体说明及有关注解</a:t>
            </a:r>
          </a:p>
          <a:p>
            <a:pPr eaLnBrk="1" hangingPunct="1"/>
            <a:r>
              <a:rPr lang="zh-CN" altLang="en-US" dirty="0"/>
              <a:t>以（</a:t>
            </a:r>
            <a:r>
              <a:rPr lang="en-US" altLang="zh-CN" dirty="0"/>
              <a:t>%</a:t>
            </a:r>
            <a:r>
              <a:rPr lang="zh-CN" altLang="en-US" dirty="0"/>
              <a:t>）开头，用以说明函数的作用及有关内容</a:t>
            </a:r>
          </a:p>
          <a:p>
            <a:pPr eaLnBrk="1" hangingPunct="1"/>
            <a:r>
              <a:rPr lang="zh-CN" altLang="en-US" dirty="0"/>
              <a:t>如果不希望显示某段信息，可在它的前面加空行</a:t>
            </a:r>
          </a:p>
          <a:p>
            <a:pPr eaLnBrk="1" hangingPunct="1">
              <a:buFont typeface="Wingdings" panose="05000000000000000000" pitchFamily="2" charset="2"/>
              <a:buNone/>
            </a:pPr>
            <a:r>
              <a:rPr lang="zh-CN" altLang="en-US" dirty="0"/>
              <a:t>（</a:t>
            </a:r>
            <a:r>
              <a:rPr lang="en-US" altLang="zh-CN" dirty="0"/>
              <a:t>4</a:t>
            </a:r>
            <a:r>
              <a:rPr lang="zh-CN" altLang="en-US" dirty="0"/>
              <a:t>）函数体语句</a:t>
            </a:r>
          </a:p>
          <a:p>
            <a:pPr eaLnBrk="1" hangingPunct="1"/>
            <a:r>
              <a:rPr lang="zh-CN" altLang="en-US" dirty="0"/>
              <a:t>函数体内使用的除返回和输入变量这些在</a:t>
            </a:r>
            <a:r>
              <a:rPr lang="en-US" altLang="zh-CN" dirty="0"/>
              <a:t>function</a:t>
            </a:r>
            <a:r>
              <a:rPr lang="zh-CN" altLang="en-US" dirty="0"/>
              <a:t>语句中直接引用的变量以外的所有变量都是局部变量，即在该函数返回之后，这些变量会自动在</a:t>
            </a:r>
            <a:r>
              <a:rPr lang="en-US" altLang="zh-CN" dirty="0"/>
              <a:t>MATLAB</a:t>
            </a:r>
            <a:r>
              <a:rPr lang="zh-CN" altLang="en-US" dirty="0"/>
              <a:t>的工作空间中清除掉。如果希望这些中间变量成为在整个程序中都起作用的变量，则可以将它们设置为全局变量。</a:t>
            </a:r>
          </a:p>
          <a:p>
            <a:pPr eaLnBrk="1" hangingPunct="1"/>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灯片编号占位符 5">
            <a:extLst>
              <a:ext uri="{FF2B5EF4-FFF2-40B4-BE49-F238E27FC236}">
                <a16:creationId xmlns:a16="http://schemas.microsoft.com/office/drawing/2014/main" id="{A2E4C544-A4E0-4FEF-BE50-2896D23F16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827D683-3F02-4C31-8D4C-BFEE783FBADA}" type="slidenum">
              <a:rPr lang="en-US" altLang="zh-CN" sz="1200" smtClean="0">
                <a:latin typeface="Garamond" panose="02020404030301010803" pitchFamily="18" charset="0"/>
              </a:rPr>
              <a:pPr>
                <a:spcBef>
                  <a:spcPct val="0"/>
                </a:spcBef>
                <a:buClrTx/>
                <a:buSzTx/>
                <a:buFontTx/>
                <a:buNone/>
              </a:pPr>
              <a:t>54</a:t>
            </a:fld>
            <a:endParaRPr lang="en-US" altLang="zh-CN" sz="1200">
              <a:latin typeface="Garamond" panose="02020404030301010803" pitchFamily="18" charset="0"/>
            </a:endParaRPr>
          </a:p>
        </p:txBody>
      </p:sp>
      <p:sp>
        <p:nvSpPr>
          <p:cNvPr id="2" name="Rectangle 2">
            <a:extLst>
              <a:ext uri="{FF2B5EF4-FFF2-40B4-BE49-F238E27FC236}">
                <a16:creationId xmlns:a16="http://schemas.microsoft.com/office/drawing/2014/main" id="{28AB163E-4246-4014-97D5-58EACD0644C1}"/>
              </a:ext>
            </a:extLst>
          </p:cNvPr>
          <p:cNvSpPr>
            <a:spLocks noGrp="1" noChangeArrowheads="1"/>
          </p:cNvSpPr>
          <p:nvPr>
            <p:ph type="body" idx="1"/>
          </p:nvPr>
        </p:nvSpPr>
        <p:spPr>
          <a:xfrm>
            <a:off x="1143000" y="1371600"/>
            <a:ext cx="8458200" cy="1371600"/>
          </a:xfrm>
        </p:spPr>
        <p:txBody>
          <a:bodyPr/>
          <a:lstStyle/>
          <a:p>
            <a:pPr eaLnBrk="1" hangingPunct="1">
              <a:buFont typeface="Wingdings" panose="05000000000000000000" pitchFamily="2" charset="2"/>
              <a:buNone/>
            </a:pPr>
            <a:r>
              <a:rPr lang="en-US" altLang="zh-CN" sz="2400" dirty="0"/>
              <a:t>1</a:t>
            </a:r>
            <a:r>
              <a:rPr lang="zh-CN" altLang="en-US" sz="2400" dirty="0"/>
              <a:t>、子程序与主程序之间的数据是通过参数进行传递的，子程序应用主程序传递来的参数进行计算后，将结果返回主程序。例</a:t>
            </a:r>
            <a:r>
              <a:rPr lang="en-US" altLang="zh-CN" sz="2400" dirty="0"/>
              <a:t>exp2_9.m</a:t>
            </a:r>
          </a:p>
        </p:txBody>
      </p:sp>
      <p:sp>
        <p:nvSpPr>
          <p:cNvPr id="81924" name="Text Box 4">
            <a:extLst>
              <a:ext uri="{FF2B5EF4-FFF2-40B4-BE49-F238E27FC236}">
                <a16:creationId xmlns:a16="http://schemas.microsoft.com/office/drawing/2014/main" id="{DDCA33BC-C757-4483-A5CC-721CA7C65EE0}"/>
              </a:ext>
            </a:extLst>
          </p:cNvPr>
          <p:cNvSpPr txBox="1">
            <a:spLocks noChangeArrowheads="1"/>
          </p:cNvSpPr>
          <p:nvPr/>
        </p:nvSpPr>
        <p:spPr bwMode="auto">
          <a:xfrm>
            <a:off x="1295400" y="762000"/>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a:solidFill>
                  <a:schemeClr val="tx2"/>
                </a:solidFill>
              </a:rPr>
              <a:t>四、声明子程序（函数程序）变量</a:t>
            </a:r>
          </a:p>
        </p:txBody>
      </p:sp>
      <p:sp>
        <p:nvSpPr>
          <p:cNvPr id="44037" name="Text Box 5">
            <a:extLst>
              <a:ext uri="{FF2B5EF4-FFF2-40B4-BE49-F238E27FC236}">
                <a16:creationId xmlns:a16="http://schemas.microsoft.com/office/drawing/2014/main" id="{0B483139-9809-4765-9DC6-C90C194FF086}"/>
              </a:ext>
            </a:extLst>
          </p:cNvPr>
          <p:cNvSpPr txBox="1">
            <a:spLocks noChangeArrowheads="1"/>
          </p:cNvSpPr>
          <p:nvPr/>
        </p:nvSpPr>
        <p:spPr bwMode="auto">
          <a:xfrm>
            <a:off x="1295400" y="2708275"/>
            <a:ext cx="8229600" cy="334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latin typeface="Impact" panose="020B0806030902050204" pitchFamily="34" charset="0"/>
              </a:rPr>
              <a:t>2</a:t>
            </a:r>
            <a:r>
              <a:rPr kumimoji="1" lang="zh-CN" altLang="en-US" sz="2400">
                <a:latin typeface="Impact" panose="020B0806030902050204" pitchFamily="34" charset="0"/>
              </a:rPr>
              <a:t>、如果一个函数内的变量没有特别声明，那么这个变量只在函数内部使用，即为局部变量。如果两个或多个函数共用一个变量（或者说在子程序中也要用到主程序中的变量，注意不是参数），那么可以用</a:t>
            </a:r>
            <a:r>
              <a:rPr kumimoji="1" lang="en-US" altLang="zh-CN" sz="2400">
                <a:latin typeface="Impact" panose="020B0806030902050204" pitchFamily="34" charset="0"/>
              </a:rPr>
              <a:t>global</a:t>
            </a:r>
            <a:r>
              <a:rPr kumimoji="1" lang="zh-CN" altLang="en-US" sz="2400">
                <a:latin typeface="Impact" panose="020B0806030902050204" pitchFamily="34" charset="0"/>
              </a:rPr>
              <a:t>来将它声明为全局变量。</a:t>
            </a:r>
          </a:p>
          <a:p>
            <a:pPr eaLnBrk="1" hangingPunct="1">
              <a:buClrTx/>
              <a:buSzTx/>
              <a:buFontTx/>
              <a:buNone/>
            </a:pPr>
            <a:r>
              <a:rPr kumimoji="1" lang="zh-CN" altLang="en-US" sz="2400">
                <a:latin typeface="Impact" panose="020B0806030902050204" pitchFamily="34" charset="0"/>
              </a:rPr>
              <a:t>      例</a:t>
            </a:r>
            <a:r>
              <a:rPr kumimoji="1" lang="en-US" altLang="zh-CN" sz="2400"/>
              <a:t>exp2_10.m</a:t>
            </a:r>
          </a:p>
          <a:p>
            <a:pPr eaLnBrk="1" hangingPunct="1">
              <a:buClrTx/>
              <a:buSzTx/>
              <a:buFontTx/>
              <a:buNone/>
            </a:pPr>
            <a:r>
              <a:rPr kumimoji="1" lang="en-US" altLang="zh-CN" sz="2400"/>
              <a:t>    </a:t>
            </a:r>
            <a:r>
              <a:rPr kumimoji="1" lang="zh-CN" altLang="en-US" sz="2400"/>
              <a:t>全局变量的使用可以减少参数传递，合理利用全局变量可以提高程序执行的效率。</a:t>
            </a:r>
            <a:endParaRPr kumimoji="1" lang="zh-CN" altLang="en-US" sz="2400">
              <a:latin typeface="Impact" panose="020B0806030902050204" pitchFamily="34" charset="0"/>
            </a:endParaRPr>
          </a:p>
          <a:p>
            <a:pPr eaLnBrk="1" hangingPunct="1">
              <a:spcBef>
                <a:spcPct val="50000"/>
              </a:spcBef>
              <a:buClrTx/>
              <a:buSzTx/>
              <a:buFontTx/>
              <a:buNone/>
            </a:pP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037">
                                            <p:txEl>
                                              <p:pRg st="0" end="0"/>
                                            </p:txEl>
                                          </p:spTgt>
                                        </p:tgtEl>
                                        <p:attrNameLst>
                                          <p:attrName>style.visibility</p:attrName>
                                        </p:attrNameLst>
                                      </p:cBhvr>
                                      <p:to>
                                        <p:strVal val="visible"/>
                                      </p:to>
                                    </p:set>
                                    <p:animEffect transition="in" filter="checkerboard(across)">
                                      <p:cBhvr>
                                        <p:cTn id="12" dur="500"/>
                                        <p:tgtEl>
                                          <p:spTgt spid="4403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4037">
                                            <p:txEl>
                                              <p:pRg st="1" end="1"/>
                                            </p:txEl>
                                          </p:spTgt>
                                        </p:tgtEl>
                                        <p:attrNameLst>
                                          <p:attrName>style.visibility</p:attrName>
                                        </p:attrNameLst>
                                      </p:cBhvr>
                                      <p:to>
                                        <p:strVal val="visible"/>
                                      </p:to>
                                    </p:set>
                                    <p:animEffect transition="in" filter="checkerboard(across)">
                                      <p:cBhvr>
                                        <p:cTn id="17" dur="500"/>
                                        <p:tgtEl>
                                          <p:spTgt spid="4403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4037">
                                            <p:txEl>
                                              <p:pRg st="2" end="2"/>
                                            </p:txEl>
                                          </p:spTgt>
                                        </p:tgtEl>
                                        <p:attrNameLst>
                                          <p:attrName>style.visibility</p:attrName>
                                        </p:attrNameLst>
                                      </p:cBhvr>
                                      <p:to>
                                        <p:strVal val="visible"/>
                                      </p:to>
                                    </p:set>
                                    <p:animEffect transition="in" filter="checkerboard(across)">
                                      <p:cBhvr>
                                        <p:cTn id="22" dur="500"/>
                                        <p:tgtEl>
                                          <p:spTgt spid="440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4037"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灯片编号占位符 5">
            <a:extLst>
              <a:ext uri="{FF2B5EF4-FFF2-40B4-BE49-F238E27FC236}">
                <a16:creationId xmlns:a16="http://schemas.microsoft.com/office/drawing/2014/main" id="{8EBBF45F-D552-40D9-8143-8D23719C61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51F8A6B-34AE-4FCA-BE86-A99E5FFA085E}" type="slidenum">
              <a:rPr lang="en-US" altLang="zh-CN" sz="1200" smtClean="0">
                <a:latin typeface="Garamond" panose="02020404030301010803" pitchFamily="18" charset="0"/>
              </a:rPr>
              <a:pPr>
                <a:spcBef>
                  <a:spcPct val="0"/>
                </a:spcBef>
                <a:buClrTx/>
                <a:buSzTx/>
                <a:buFontTx/>
                <a:buNone/>
              </a:pPr>
              <a:t>55</a:t>
            </a:fld>
            <a:endParaRPr lang="en-US" altLang="zh-CN" sz="1200">
              <a:latin typeface="Garamond" panose="02020404030301010803" pitchFamily="18" charset="0"/>
            </a:endParaRPr>
          </a:p>
        </p:txBody>
      </p:sp>
      <p:sp>
        <p:nvSpPr>
          <p:cNvPr id="47106" name="Rectangle 2">
            <a:extLst>
              <a:ext uri="{FF2B5EF4-FFF2-40B4-BE49-F238E27FC236}">
                <a16:creationId xmlns:a16="http://schemas.microsoft.com/office/drawing/2014/main" id="{0804BB96-B87E-4380-AA59-594F48CE4CA8}"/>
              </a:ext>
            </a:extLst>
          </p:cNvPr>
          <p:cNvSpPr>
            <a:spLocks noGrp="1" noChangeArrowheads="1"/>
          </p:cNvSpPr>
          <p:nvPr>
            <p:ph type="body" idx="1"/>
          </p:nvPr>
        </p:nvSpPr>
        <p:spPr>
          <a:xfrm>
            <a:off x="1143000" y="1219200"/>
            <a:ext cx="8458200" cy="1562100"/>
          </a:xfrm>
        </p:spPr>
        <p:txBody>
          <a:bodyPr/>
          <a:lstStyle/>
          <a:p>
            <a:pPr eaLnBrk="1" hangingPunct="1"/>
            <a:r>
              <a:rPr lang="en-US" altLang="zh-CN" sz="2400" dirty="0"/>
              <a:t>MATLAB</a:t>
            </a:r>
            <a:r>
              <a:rPr lang="zh-CN" altLang="en-US" sz="2400" dirty="0"/>
              <a:t>的运算符有三种类型：算术运算符、关系运算符、逻辑运算符。它们的处理顺序依次为算术运算符、关系运算符、逻辑运算符。在前面我们已经介绍例算术运算符，这里我们着重介绍后两种运算符。</a:t>
            </a:r>
          </a:p>
          <a:p>
            <a:pPr eaLnBrk="1" hangingPunct="1">
              <a:lnSpc>
                <a:spcPct val="80000"/>
              </a:lnSpc>
              <a:buFont typeface="Wingdings" panose="05000000000000000000" pitchFamily="2" charset="2"/>
              <a:buNone/>
            </a:pPr>
            <a:endParaRPr lang="en-US" altLang="zh-CN" sz="2100" dirty="0"/>
          </a:p>
        </p:txBody>
      </p:sp>
      <p:sp>
        <p:nvSpPr>
          <p:cNvPr id="83972" name="Text Box 3">
            <a:extLst>
              <a:ext uri="{FF2B5EF4-FFF2-40B4-BE49-F238E27FC236}">
                <a16:creationId xmlns:a16="http://schemas.microsoft.com/office/drawing/2014/main" id="{D1BB5741-EDC7-4403-B0FA-FB6417C76CBA}"/>
              </a:ext>
            </a:extLst>
          </p:cNvPr>
          <p:cNvSpPr txBox="1">
            <a:spLocks noChangeArrowheads="1"/>
          </p:cNvSpPr>
          <p:nvPr/>
        </p:nvSpPr>
        <p:spPr bwMode="auto">
          <a:xfrm>
            <a:off x="1373188" y="609600"/>
            <a:ext cx="55610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zh-CN" altLang="en-US" sz="3200">
                <a:solidFill>
                  <a:schemeClr val="tx2"/>
                </a:solidFill>
                <a:latin typeface="Impact" panose="020B0806030902050204" pitchFamily="34" charset="0"/>
              </a:rPr>
              <a:t>七、关系与逻辑运算符</a:t>
            </a:r>
            <a:endParaRPr kumimoji="1" lang="zh-CN" altLang="en-US" sz="2400">
              <a:latin typeface="Times New Roman" panose="02020603050405020304" pitchFamily="18" charset="0"/>
            </a:endParaRPr>
          </a:p>
        </p:txBody>
      </p:sp>
      <p:sp>
        <p:nvSpPr>
          <p:cNvPr id="47108" name="Rectangle 4">
            <a:extLst>
              <a:ext uri="{FF2B5EF4-FFF2-40B4-BE49-F238E27FC236}">
                <a16:creationId xmlns:a16="http://schemas.microsoft.com/office/drawing/2014/main" id="{96CE2505-A6FD-4B33-B29E-90F10280C4F1}"/>
              </a:ext>
            </a:extLst>
          </p:cNvPr>
          <p:cNvSpPr>
            <a:spLocks noChangeArrowheads="1"/>
          </p:cNvSpPr>
          <p:nvPr/>
        </p:nvSpPr>
        <p:spPr bwMode="auto">
          <a:xfrm>
            <a:off x="1208088" y="2781300"/>
            <a:ext cx="8458200" cy="330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en-US" altLang="zh-CN" sz="2400" dirty="0">
                <a:latin typeface="Impact" panose="020B0806030902050204" pitchFamily="34" charset="0"/>
              </a:rPr>
              <a:t>1</a:t>
            </a:r>
            <a:r>
              <a:rPr kumimoji="1" lang="zh-CN" altLang="en-US" sz="2400" dirty="0">
                <a:latin typeface="Impact" panose="020B0806030902050204" pitchFamily="34" charset="0"/>
              </a:rPr>
              <a:t>、关系运算符</a:t>
            </a:r>
          </a:p>
          <a:p>
            <a:pPr eaLnBrk="1" hangingPunct="1">
              <a:lnSpc>
                <a:spcPct val="90000"/>
              </a:lnSpc>
              <a:buClrTx/>
              <a:buSzTx/>
              <a:buFontTx/>
              <a:buNone/>
            </a:pPr>
            <a:r>
              <a:rPr kumimoji="1" lang="zh-CN" altLang="en-US" sz="2400" dirty="0">
                <a:latin typeface="Impact" panose="020B0806030902050204" pitchFamily="34" charset="0"/>
              </a:rPr>
              <a:t>假设有：</a:t>
            </a:r>
            <a:r>
              <a:rPr kumimoji="1" lang="en-US" altLang="zh-CN" sz="2400" dirty="0"/>
              <a:t>A=[1 2 -1 -5]    B=[0 2 3 1]</a:t>
            </a:r>
          </a:p>
          <a:p>
            <a:pPr eaLnBrk="1" hangingPunct="1">
              <a:lnSpc>
                <a:spcPct val="90000"/>
              </a:lnSpc>
              <a:buClrTx/>
              <a:buSzTx/>
              <a:buFontTx/>
              <a:buNone/>
            </a:pPr>
            <a:r>
              <a:rPr kumimoji="1" lang="en-US" altLang="zh-CN" sz="2400" dirty="0"/>
              <a:t>&lt;   </a:t>
            </a:r>
            <a:r>
              <a:rPr kumimoji="1" lang="zh-CN" altLang="en-US" sz="2400" dirty="0"/>
              <a:t>小于             </a:t>
            </a:r>
            <a:r>
              <a:rPr kumimoji="1" lang="en-US" altLang="zh-CN" sz="2400" dirty="0"/>
              <a:t>A&lt;B    </a:t>
            </a:r>
            <a:r>
              <a:rPr kumimoji="1" lang="en-US" altLang="zh-CN" sz="2400" dirty="0" err="1"/>
              <a:t>ans</a:t>
            </a:r>
            <a:r>
              <a:rPr kumimoji="1" lang="en-US" altLang="zh-CN" sz="2400" dirty="0"/>
              <a:t>=[0 0 1 1]   A&lt;1  </a:t>
            </a:r>
            <a:r>
              <a:rPr kumimoji="1" lang="en-US" altLang="zh-CN" sz="2400" dirty="0" err="1"/>
              <a:t>ans</a:t>
            </a:r>
            <a:r>
              <a:rPr kumimoji="1" lang="en-US" altLang="zh-CN" sz="2400" dirty="0"/>
              <a:t>=[0 0 1 1]</a:t>
            </a:r>
          </a:p>
          <a:p>
            <a:pPr eaLnBrk="1" hangingPunct="1">
              <a:lnSpc>
                <a:spcPct val="90000"/>
              </a:lnSpc>
              <a:buClrTx/>
              <a:buSzTx/>
              <a:buFontTx/>
              <a:buNone/>
            </a:pPr>
            <a:r>
              <a:rPr kumimoji="1" lang="en-US" altLang="zh-CN" sz="2400" dirty="0"/>
              <a:t>&gt;   </a:t>
            </a:r>
            <a:r>
              <a:rPr kumimoji="1" lang="zh-CN" altLang="en-US" sz="2400" dirty="0"/>
              <a:t>大于             </a:t>
            </a:r>
            <a:r>
              <a:rPr kumimoji="1" lang="en-US" altLang="zh-CN" sz="2400" dirty="0"/>
              <a:t>A&gt;B    </a:t>
            </a:r>
            <a:r>
              <a:rPr kumimoji="1" lang="en-US" altLang="zh-CN" sz="2400" dirty="0" err="1"/>
              <a:t>ans</a:t>
            </a:r>
            <a:r>
              <a:rPr kumimoji="1" lang="en-US" altLang="zh-CN" sz="2400" dirty="0"/>
              <a:t>=[1 0 0 0]   A&gt;1  </a:t>
            </a:r>
            <a:r>
              <a:rPr kumimoji="1" lang="en-US" altLang="zh-CN" sz="2400" dirty="0" err="1"/>
              <a:t>ans</a:t>
            </a:r>
            <a:r>
              <a:rPr kumimoji="1" lang="en-US" altLang="zh-CN" sz="2400" dirty="0"/>
              <a:t>=[0 1 0 0]</a:t>
            </a:r>
          </a:p>
          <a:p>
            <a:pPr eaLnBrk="1" hangingPunct="1">
              <a:lnSpc>
                <a:spcPct val="90000"/>
              </a:lnSpc>
              <a:buClrTx/>
              <a:buSzTx/>
              <a:buFontTx/>
              <a:buNone/>
            </a:pPr>
            <a:r>
              <a:rPr kumimoji="1" lang="en-US" altLang="zh-CN" sz="2400" dirty="0"/>
              <a:t>&lt;=   </a:t>
            </a:r>
            <a:r>
              <a:rPr kumimoji="1" lang="zh-CN" altLang="en-US" sz="2400" dirty="0"/>
              <a:t>小于等于    </a:t>
            </a:r>
            <a:r>
              <a:rPr kumimoji="1" lang="en-US" altLang="zh-CN" sz="2400" dirty="0"/>
              <a:t>A&lt;=B   </a:t>
            </a:r>
            <a:r>
              <a:rPr kumimoji="1" lang="en-US" altLang="zh-CN" sz="2400" dirty="0" err="1"/>
              <a:t>ans</a:t>
            </a:r>
            <a:r>
              <a:rPr kumimoji="1" lang="en-US" altLang="zh-CN" sz="2400" dirty="0"/>
              <a:t>=[0 1 1 1]</a:t>
            </a:r>
          </a:p>
          <a:p>
            <a:pPr eaLnBrk="1" hangingPunct="1">
              <a:lnSpc>
                <a:spcPct val="90000"/>
              </a:lnSpc>
              <a:buClrTx/>
              <a:buSzTx/>
              <a:buFontTx/>
              <a:buNone/>
            </a:pPr>
            <a:r>
              <a:rPr kumimoji="1" lang="en-US" altLang="zh-CN" sz="2400" dirty="0"/>
              <a:t>&gt;=   </a:t>
            </a:r>
            <a:r>
              <a:rPr kumimoji="1" lang="zh-CN" altLang="en-US" sz="2400" dirty="0"/>
              <a:t>大于等于    </a:t>
            </a:r>
            <a:r>
              <a:rPr kumimoji="1" lang="en-US" altLang="zh-CN" sz="2400" dirty="0"/>
              <a:t>A&gt;=B   </a:t>
            </a:r>
            <a:r>
              <a:rPr kumimoji="1" lang="en-US" altLang="zh-CN" sz="2400" dirty="0" err="1"/>
              <a:t>ans</a:t>
            </a:r>
            <a:r>
              <a:rPr kumimoji="1" lang="en-US" altLang="zh-CN" sz="2400" dirty="0"/>
              <a:t>=[1 1 0 0]  </a:t>
            </a:r>
          </a:p>
          <a:p>
            <a:pPr eaLnBrk="1" hangingPunct="1">
              <a:lnSpc>
                <a:spcPct val="90000"/>
              </a:lnSpc>
              <a:buClrTx/>
              <a:buSzTx/>
              <a:buFontTx/>
              <a:buNone/>
            </a:pPr>
            <a:r>
              <a:rPr kumimoji="1" lang="en-US" altLang="zh-CN" sz="2400" dirty="0">
                <a:latin typeface="Impact" panose="020B0806030902050204" pitchFamily="34" charset="0"/>
              </a:rPr>
              <a:t>==    </a:t>
            </a:r>
            <a:r>
              <a:rPr kumimoji="1" lang="zh-CN" altLang="en-US" sz="2400" dirty="0">
                <a:latin typeface="Impact" panose="020B0806030902050204" pitchFamily="34" charset="0"/>
              </a:rPr>
              <a:t>等于                  </a:t>
            </a:r>
            <a:r>
              <a:rPr kumimoji="1" lang="en-US" altLang="zh-CN" sz="2400" dirty="0"/>
              <a:t>A==B    </a:t>
            </a:r>
            <a:r>
              <a:rPr kumimoji="1" lang="en-US" altLang="zh-CN" sz="2400" dirty="0" err="1"/>
              <a:t>ans</a:t>
            </a:r>
            <a:r>
              <a:rPr kumimoji="1" lang="en-US" altLang="zh-CN" sz="2400" dirty="0"/>
              <a:t>=[0 1 0 0]  ; A==1   </a:t>
            </a:r>
            <a:r>
              <a:rPr kumimoji="1" lang="en-US" altLang="zh-CN" sz="2400" dirty="0" err="1"/>
              <a:t>ans</a:t>
            </a:r>
            <a:r>
              <a:rPr kumimoji="1" lang="en-US" altLang="zh-CN" sz="2400" dirty="0"/>
              <a:t>=[1 0 0 0]</a:t>
            </a:r>
          </a:p>
          <a:p>
            <a:pPr eaLnBrk="1" hangingPunct="1">
              <a:lnSpc>
                <a:spcPct val="90000"/>
              </a:lnSpc>
              <a:buClrTx/>
              <a:buSzTx/>
              <a:buFontTx/>
              <a:buNone/>
            </a:pPr>
            <a:r>
              <a:rPr kumimoji="1" lang="en-US" altLang="zh-CN" sz="2400" dirty="0"/>
              <a:t>~=   </a:t>
            </a:r>
            <a:r>
              <a:rPr kumimoji="1" lang="zh-CN" altLang="en-US" sz="2400" dirty="0"/>
              <a:t>不等于       </a:t>
            </a:r>
            <a:r>
              <a:rPr kumimoji="1" lang="en-US" altLang="zh-CN" sz="2400" dirty="0"/>
              <a:t>A~=B   </a:t>
            </a:r>
            <a:r>
              <a:rPr kumimoji="1" lang="en-US" altLang="zh-CN" sz="2400" dirty="0" err="1"/>
              <a:t>ans</a:t>
            </a:r>
            <a:r>
              <a:rPr kumimoji="1" lang="en-US" altLang="zh-CN" sz="2400" dirty="0"/>
              <a:t>=[1 0 1 1] ; A~=1 </a:t>
            </a:r>
            <a:r>
              <a:rPr kumimoji="1" lang="en-US" altLang="zh-CN" sz="2400" dirty="0" err="1"/>
              <a:t>ans</a:t>
            </a:r>
            <a:r>
              <a:rPr kumimoji="1" lang="en-US" altLang="zh-CN" sz="2400" dirty="0"/>
              <a:t>=[0 1 1 1]</a:t>
            </a:r>
            <a:endParaRPr kumimoji="1" lang="en-US" altLang="zh-CN" sz="2400" dirty="0">
              <a:latin typeface="Impact" panose="020B080603090205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box(out)">
                                      <p:cBhvr>
                                        <p:cTn id="7" dur="500"/>
                                        <p:tgtEl>
                                          <p:spTgt spid="471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7108">
                                            <p:txEl>
                                              <p:pRg st="0" end="0"/>
                                            </p:txEl>
                                          </p:spTgt>
                                        </p:tgtEl>
                                        <p:attrNameLst>
                                          <p:attrName>style.visibility</p:attrName>
                                        </p:attrNameLst>
                                      </p:cBhvr>
                                      <p:to>
                                        <p:strVal val="visible"/>
                                      </p:to>
                                    </p:set>
                                    <p:animEffect transition="in" filter="checkerboard(across)">
                                      <p:cBhvr>
                                        <p:cTn id="12" dur="500"/>
                                        <p:tgtEl>
                                          <p:spTgt spid="4710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7108">
                                            <p:txEl>
                                              <p:pRg st="1" end="1"/>
                                            </p:txEl>
                                          </p:spTgt>
                                        </p:tgtEl>
                                        <p:attrNameLst>
                                          <p:attrName>style.visibility</p:attrName>
                                        </p:attrNameLst>
                                      </p:cBhvr>
                                      <p:to>
                                        <p:strVal val="visible"/>
                                      </p:to>
                                    </p:set>
                                    <p:animEffect transition="in" filter="checkerboard(across)">
                                      <p:cBhvr>
                                        <p:cTn id="17" dur="500"/>
                                        <p:tgtEl>
                                          <p:spTgt spid="4710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7108">
                                            <p:txEl>
                                              <p:pRg st="2" end="2"/>
                                            </p:txEl>
                                          </p:spTgt>
                                        </p:tgtEl>
                                        <p:attrNameLst>
                                          <p:attrName>style.visibility</p:attrName>
                                        </p:attrNameLst>
                                      </p:cBhvr>
                                      <p:to>
                                        <p:strVal val="visible"/>
                                      </p:to>
                                    </p:set>
                                    <p:animEffect transition="in" filter="checkerboard(across)">
                                      <p:cBhvr>
                                        <p:cTn id="22" dur="500"/>
                                        <p:tgtEl>
                                          <p:spTgt spid="4710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7108">
                                            <p:txEl>
                                              <p:pRg st="3" end="3"/>
                                            </p:txEl>
                                          </p:spTgt>
                                        </p:tgtEl>
                                        <p:attrNameLst>
                                          <p:attrName>style.visibility</p:attrName>
                                        </p:attrNameLst>
                                      </p:cBhvr>
                                      <p:to>
                                        <p:strVal val="visible"/>
                                      </p:to>
                                    </p:set>
                                    <p:animEffect transition="in" filter="checkerboard(across)">
                                      <p:cBhvr>
                                        <p:cTn id="27" dur="500"/>
                                        <p:tgtEl>
                                          <p:spTgt spid="47108">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47108">
                                            <p:txEl>
                                              <p:pRg st="4" end="4"/>
                                            </p:txEl>
                                          </p:spTgt>
                                        </p:tgtEl>
                                        <p:attrNameLst>
                                          <p:attrName>style.visibility</p:attrName>
                                        </p:attrNameLst>
                                      </p:cBhvr>
                                      <p:to>
                                        <p:strVal val="visible"/>
                                      </p:to>
                                    </p:set>
                                    <p:animEffect transition="in" filter="checkerboard(across)">
                                      <p:cBhvr>
                                        <p:cTn id="32" dur="500"/>
                                        <p:tgtEl>
                                          <p:spTgt spid="47108">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47108">
                                            <p:txEl>
                                              <p:pRg st="5" end="5"/>
                                            </p:txEl>
                                          </p:spTgt>
                                        </p:tgtEl>
                                        <p:attrNameLst>
                                          <p:attrName>style.visibility</p:attrName>
                                        </p:attrNameLst>
                                      </p:cBhvr>
                                      <p:to>
                                        <p:strVal val="visible"/>
                                      </p:to>
                                    </p:set>
                                    <p:animEffect transition="in" filter="checkerboard(across)">
                                      <p:cBhvr>
                                        <p:cTn id="37" dur="500"/>
                                        <p:tgtEl>
                                          <p:spTgt spid="47108">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47108">
                                            <p:txEl>
                                              <p:pRg st="6" end="6"/>
                                            </p:txEl>
                                          </p:spTgt>
                                        </p:tgtEl>
                                        <p:attrNameLst>
                                          <p:attrName>style.visibility</p:attrName>
                                        </p:attrNameLst>
                                      </p:cBhvr>
                                      <p:to>
                                        <p:strVal val="visible"/>
                                      </p:to>
                                    </p:set>
                                    <p:animEffect transition="in" filter="checkerboard(across)">
                                      <p:cBhvr>
                                        <p:cTn id="42" dur="500"/>
                                        <p:tgtEl>
                                          <p:spTgt spid="47108">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7108">
                                            <p:txEl>
                                              <p:pRg st="7" end="7"/>
                                            </p:txEl>
                                          </p:spTgt>
                                        </p:tgtEl>
                                        <p:attrNameLst>
                                          <p:attrName>style.visibility</p:attrName>
                                        </p:attrNameLst>
                                      </p:cBhvr>
                                      <p:to>
                                        <p:strVal val="visible"/>
                                      </p:to>
                                    </p:set>
                                    <p:animEffect transition="in" filter="checkerboard(across)">
                                      <p:cBhvr>
                                        <p:cTn id="47" dur="500"/>
                                        <p:tgtEl>
                                          <p:spTgt spid="4710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utoUpdateAnimBg="0"/>
      <p:bldP spid="47108"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灯片编号占位符 5">
            <a:extLst>
              <a:ext uri="{FF2B5EF4-FFF2-40B4-BE49-F238E27FC236}">
                <a16:creationId xmlns:a16="http://schemas.microsoft.com/office/drawing/2014/main" id="{3F97D612-F64E-4382-8105-FE5CBE730B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51903A5-6940-4673-A0FE-651D0258C2B7}" type="slidenum">
              <a:rPr lang="en-US" altLang="zh-CN" sz="1200" smtClean="0">
                <a:latin typeface="Garamond" panose="02020404030301010803" pitchFamily="18" charset="0"/>
              </a:rPr>
              <a:pPr>
                <a:spcBef>
                  <a:spcPct val="0"/>
                </a:spcBef>
                <a:buClrTx/>
                <a:buSzTx/>
                <a:buFontTx/>
                <a:buNone/>
              </a:pPr>
              <a:t>56</a:t>
            </a:fld>
            <a:endParaRPr lang="en-US" altLang="zh-CN" sz="1200">
              <a:latin typeface="Garamond" panose="02020404030301010803" pitchFamily="18" charset="0"/>
            </a:endParaRPr>
          </a:p>
        </p:txBody>
      </p:sp>
      <p:sp>
        <p:nvSpPr>
          <p:cNvPr id="48130" name="Rectangle 2">
            <a:extLst>
              <a:ext uri="{FF2B5EF4-FFF2-40B4-BE49-F238E27FC236}">
                <a16:creationId xmlns:a16="http://schemas.microsoft.com/office/drawing/2014/main" id="{F011F531-76D2-42CB-A277-B1DEBEA4DB12}"/>
              </a:ext>
            </a:extLst>
          </p:cNvPr>
          <p:cNvSpPr>
            <a:spLocks noGrp="1" noChangeArrowheads="1"/>
          </p:cNvSpPr>
          <p:nvPr>
            <p:ph type="body" idx="1"/>
          </p:nvPr>
        </p:nvSpPr>
        <p:spPr>
          <a:xfrm>
            <a:off x="1752600" y="5029200"/>
            <a:ext cx="4191000" cy="1143000"/>
          </a:xfrm>
        </p:spPr>
        <p:txBody>
          <a:bodyPr/>
          <a:lstStyle/>
          <a:p>
            <a:pPr eaLnBrk="1" hangingPunct="1">
              <a:buFont typeface="Wingdings" panose="05000000000000000000" pitchFamily="2" charset="2"/>
              <a:buNone/>
            </a:pPr>
            <a:r>
              <a:rPr lang="en-US" altLang="zh-CN" sz="2100"/>
              <a:t>~   </a:t>
            </a:r>
            <a:r>
              <a:rPr lang="zh-CN" altLang="en-US" sz="2100"/>
              <a:t>非    </a:t>
            </a:r>
          </a:p>
          <a:p>
            <a:pPr eaLnBrk="1" hangingPunct="1">
              <a:buFont typeface="Wingdings" panose="05000000000000000000" pitchFamily="2" charset="2"/>
              <a:buNone/>
            </a:pPr>
            <a:r>
              <a:rPr lang="en-US" altLang="zh-CN" sz="2100"/>
              <a:t>~A=[0 0 1 0]      ~1=0</a:t>
            </a:r>
          </a:p>
        </p:txBody>
      </p:sp>
      <p:sp>
        <p:nvSpPr>
          <p:cNvPr id="86020" name="Text Box 3">
            <a:extLst>
              <a:ext uri="{FF2B5EF4-FFF2-40B4-BE49-F238E27FC236}">
                <a16:creationId xmlns:a16="http://schemas.microsoft.com/office/drawing/2014/main" id="{945E5FD3-D42E-4C42-98D9-D502289E7325}"/>
              </a:ext>
            </a:extLst>
          </p:cNvPr>
          <p:cNvSpPr txBox="1">
            <a:spLocks noChangeArrowheads="1"/>
          </p:cNvSpPr>
          <p:nvPr/>
        </p:nvSpPr>
        <p:spPr bwMode="auto">
          <a:xfrm>
            <a:off x="1373188" y="533400"/>
            <a:ext cx="4722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t>2</a:t>
            </a:r>
            <a:r>
              <a:rPr kumimoji="1" lang="zh-CN" altLang="en-US" sz="2400"/>
              <a:t>、逻辑运算符</a:t>
            </a:r>
            <a:endParaRPr kumimoji="1" lang="zh-CN" altLang="en-US" sz="2400">
              <a:latin typeface="Times New Roman" panose="02020603050405020304" pitchFamily="18" charset="0"/>
            </a:endParaRPr>
          </a:p>
        </p:txBody>
      </p:sp>
      <p:sp>
        <p:nvSpPr>
          <p:cNvPr id="48132" name="Text Box 4">
            <a:extLst>
              <a:ext uri="{FF2B5EF4-FFF2-40B4-BE49-F238E27FC236}">
                <a16:creationId xmlns:a16="http://schemas.microsoft.com/office/drawing/2014/main" id="{9178112B-808B-419C-90E1-FB5E56BDC321}"/>
              </a:ext>
            </a:extLst>
          </p:cNvPr>
          <p:cNvSpPr txBox="1">
            <a:spLocks noChangeArrowheads="1"/>
          </p:cNvSpPr>
          <p:nvPr/>
        </p:nvSpPr>
        <p:spPr bwMode="auto">
          <a:xfrm>
            <a:off x="1485900" y="990600"/>
            <a:ext cx="69342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t>注意：在处理逻辑运算时，运算元只有两个值即</a:t>
            </a:r>
            <a:r>
              <a:rPr kumimoji="1" lang="en-US" altLang="zh-CN" sz="2400"/>
              <a:t>0</a:t>
            </a:r>
            <a:r>
              <a:rPr kumimoji="1" lang="zh-CN" altLang="en-US" sz="2400"/>
              <a:t>和</a:t>
            </a:r>
            <a:r>
              <a:rPr kumimoji="1" lang="en-US" altLang="zh-CN" sz="2400"/>
              <a:t>1</a:t>
            </a:r>
            <a:r>
              <a:rPr kumimoji="1" lang="zh-CN" altLang="en-US" sz="2400"/>
              <a:t>，所以如果指定的数为</a:t>
            </a:r>
            <a:r>
              <a:rPr kumimoji="1" lang="en-US" altLang="zh-CN" sz="2400"/>
              <a:t>0</a:t>
            </a:r>
            <a:r>
              <a:rPr kumimoji="1" lang="zh-CN" altLang="en-US" sz="2400"/>
              <a:t>，</a:t>
            </a:r>
            <a:r>
              <a:rPr kumimoji="1" lang="en-US" altLang="zh-CN" sz="2400"/>
              <a:t>MATLAB</a:t>
            </a:r>
            <a:r>
              <a:rPr kumimoji="1" lang="zh-CN" altLang="en-US" sz="2400"/>
              <a:t>认为其为</a:t>
            </a:r>
            <a:r>
              <a:rPr kumimoji="1" lang="en-US" altLang="zh-CN" sz="2400"/>
              <a:t>0</a:t>
            </a:r>
            <a:r>
              <a:rPr kumimoji="1" lang="zh-CN" altLang="en-US" sz="2400"/>
              <a:t>，而任何数不等于</a:t>
            </a:r>
            <a:r>
              <a:rPr kumimoji="1" lang="en-US" altLang="zh-CN" sz="2400"/>
              <a:t>0</a:t>
            </a:r>
            <a:r>
              <a:rPr kumimoji="1" lang="zh-CN" altLang="en-US" sz="2400"/>
              <a:t>，则认为是</a:t>
            </a:r>
            <a:r>
              <a:rPr kumimoji="1" lang="en-US" altLang="zh-CN" sz="2400"/>
              <a:t>1</a:t>
            </a:r>
            <a:r>
              <a:rPr kumimoji="1" lang="zh-CN" altLang="en-US" sz="2400"/>
              <a:t>。</a:t>
            </a:r>
          </a:p>
        </p:txBody>
      </p:sp>
      <p:sp>
        <p:nvSpPr>
          <p:cNvPr id="48133" name="Text Box 5">
            <a:extLst>
              <a:ext uri="{FF2B5EF4-FFF2-40B4-BE49-F238E27FC236}">
                <a16:creationId xmlns:a16="http://schemas.microsoft.com/office/drawing/2014/main" id="{9B427927-9F86-4E2F-B92F-4BD7B43870FE}"/>
              </a:ext>
            </a:extLst>
          </p:cNvPr>
          <p:cNvSpPr txBox="1">
            <a:spLocks noChangeArrowheads="1"/>
          </p:cNvSpPr>
          <p:nvPr/>
        </p:nvSpPr>
        <p:spPr bwMode="auto">
          <a:xfrm>
            <a:off x="1373188" y="2209800"/>
            <a:ext cx="5789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400"/>
              <a:t>设有：</a:t>
            </a:r>
            <a:r>
              <a:rPr kumimoji="1" lang="en-US" altLang="zh-CN" sz="2400"/>
              <a:t>A=[5 -4 0 -0.5]    B=[0 1 0 9]</a:t>
            </a:r>
            <a:endParaRPr kumimoji="1" lang="en-US" altLang="zh-CN" sz="2400">
              <a:latin typeface="Times New Roman" panose="02020603050405020304" pitchFamily="18" charset="0"/>
            </a:endParaRPr>
          </a:p>
        </p:txBody>
      </p:sp>
      <p:sp>
        <p:nvSpPr>
          <p:cNvPr id="48134" name="Text Box 6">
            <a:extLst>
              <a:ext uri="{FF2B5EF4-FFF2-40B4-BE49-F238E27FC236}">
                <a16:creationId xmlns:a16="http://schemas.microsoft.com/office/drawing/2014/main" id="{6FE57295-CE42-4C40-A8D3-8ED6F928444E}"/>
              </a:ext>
            </a:extLst>
          </p:cNvPr>
          <p:cNvSpPr txBox="1">
            <a:spLocks noChangeArrowheads="1"/>
          </p:cNvSpPr>
          <p:nvPr/>
        </p:nvSpPr>
        <p:spPr bwMode="auto">
          <a:xfrm>
            <a:off x="1600200" y="2819400"/>
            <a:ext cx="49530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t>&amp;   </a:t>
            </a:r>
            <a:r>
              <a:rPr kumimoji="1" lang="zh-CN" altLang="en-US" sz="2400"/>
              <a:t>与     </a:t>
            </a:r>
          </a:p>
          <a:p>
            <a:pPr eaLnBrk="1" hangingPunct="1">
              <a:buClrTx/>
              <a:buSzTx/>
              <a:buFontTx/>
              <a:buNone/>
            </a:pPr>
            <a:r>
              <a:rPr kumimoji="1" lang="en-US" altLang="zh-CN" sz="2400"/>
              <a:t>A&amp;B=[0 1 0 1]   A&amp;1=[1 1 0 1]</a:t>
            </a:r>
          </a:p>
        </p:txBody>
      </p:sp>
      <p:sp>
        <p:nvSpPr>
          <p:cNvPr id="48135" name="Text Box 7">
            <a:extLst>
              <a:ext uri="{FF2B5EF4-FFF2-40B4-BE49-F238E27FC236}">
                <a16:creationId xmlns:a16="http://schemas.microsoft.com/office/drawing/2014/main" id="{042E07E1-07F2-467C-B62B-999750B54BB6}"/>
              </a:ext>
            </a:extLst>
          </p:cNvPr>
          <p:cNvSpPr txBox="1">
            <a:spLocks noChangeArrowheads="1"/>
          </p:cNvSpPr>
          <p:nvPr/>
        </p:nvSpPr>
        <p:spPr bwMode="auto">
          <a:xfrm>
            <a:off x="1676400" y="3962400"/>
            <a:ext cx="49530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t>|    </a:t>
            </a:r>
            <a:r>
              <a:rPr kumimoji="1" lang="zh-CN" altLang="en-US" sz="2400"/>
              <a:t>或       </a:t>
            </a:r>
          </a:p>
          <a:p>
            <a:pPr eaLnBrk="1" hangingPunct="1">
              <a:buClrTx/>
              <a:buSzTx/>
              <a:buFontTx/>
              <a:buNone/>
            </a:pPr>
            <a:r>
              <a:rPr kumimoji="1" lang="en-US" altLang="zh-CN" sz="2400"/>
              <a:t>A|B=[1 1 0 1]    A|1=[1 1 1 1]</a:t>
            </a: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box(out)">
                                      <p:cBhvr>
                                        <p:cTn id="7" dur="500"/>
                                        <p:tgtEl>
                                          <p:spTgt spid="481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8133"/>
                                        </p:tgtEl>
                                        <p:attrNameLst>
                                          <p:attrName>style.visibility</p:attrName>
                                        </p:attrNameLst>
                                      </p:cBhvr>
                                      <p:to>
                                        <p:strVal val="visible"/>
                                      </p:to>
                                    </p:set>
                                    <p:anim calcmode="lin" valueType="num">
                                      <p:cBhvr additive="base">
                                        <p:cTn id="12" dur="500" fill="hold"/>
                                        <p:tgtEl>
                                          <p:spTgt spid="48133"/>
                                        </p:tgtEl>
                                        <p:attrNameLst>
                                          <p:attrName>ppt_x</p:attrName>
                                        </p:attrNameLst>
                                      </p:cBhvr>
                                      <p:tavLst>
                                        <p:tav tm="0">
                                          <p:val>
                                            <p:strVal val="0-#ppt_w/2"/>
                                          </p:val>
                                        </p:tav>
                                        <p:tav tm="100000">
                                          <p:val>
                                            <p:strVal val="#ppt_x"/>
                                          </p:val>
                                        </p:tav>
                                      </p:tavLst>
                                    </p:anim>
                                    <p:anim calcmode="lin" valueType="num">
                                      <p:cBhvr additive="base">
                                        <p:cTn id="13" dur="500" fill="hold"/>
                                        <p:tgtEl>
                                          <p:spTgt spid="4813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48134"/>
                                        </p:tgtEl>
                                        <p:attrNameLst>
                                          <p:attrName>style.visibility</p:attrName>
                                        </p:attrNameLst>
                                      </p:cBhvr>
                                      <p:to>
                                        <p:strVal val="visible"/>
                                      </p:to>
                                    </p:set>
                                    <p:animEffect transition="in" filter="checkerboard(across)">
                                      <p:cBhvr>
                                        <p:cTn id="18" dur="500"/>
                                        <p:tgtEl>
                                          <p:spTgt spid="4813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48135"/>
                                        </p:tgtEl>
                                        <p:attrNameLst>
                                          <p:attrName>style.visibility</p:attrName>
                                        </p:attrNameLst>
                                      </p:cBhvr>
                                      <p:to>
                                        <p:strVal val="visible"/>
                                      </p:to>
                                    </p:set>
                                    <p:animEffect transition="in" filter="checkerboard(across)">
                                      <p:cBhvr>
                                        <p:cTn id="23" dur="500"/>
                                        <p:tgtEl>
                                          <p:spTgt spid="4813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48130"/>
                                        </p:tgtEl>
                                        <p:attrNameLst>
                                          <p:attrName>style.visibility</p:attrName>
                                        </p:attrNameLst>
                                      </p:cBhvr>
                                      <p:to>
                                        <p:strVal val="visible"/>
                                      </p:to>
                                    </p:set>
                                    <p:animEffect transition="in" filter="checkerboard(across)">
                                      <p:cBhvr>
                                        <p:cTn id="28"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P spid="48132" grpId="0" autoUpdateAnimBg="0"/>
      <p:bldP spid="48133" grpId="0" autoUpdateAnimBg="0"/>
      <p:bldP spid="48134" grpId="0" autoUpdateAnimBg="0"/>
      <p:bldP spid="48135"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灯片编号占位符 5">
            <a:extLst>
              <a:ext uri="{FF2B5EF4-FFF2-40B4-BE49-F238E27FC236}">
                <a16:creationId xmlns:a16="http://schemas.microsoft.com/office/drawing/2014/main" id="{8828CF24-569A-4371-9F2D-B17F7B0205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44E7765-1BF4-4C10-BB2C-16342F0C1BBB}" type="slidenum">
              <a:rPr lang="en-US" altLang="zh-CN" sz="1200" smtClean="0">
                <a:latin typeface="Garamond" panose="02020404030301010803" pitchFamily="18" charset="0"/>
              </a:rPr>
              <a:pPr>
                <a:spcBef>
                  <a:spcPct val="0"/>
                </a:spcBef>
                <a:buClrTx/>
                <a:buSzTx/>
                <a:buFontTx/>
                <a:buNone/>
              </a:pPr>
              <a:t>57</a:t>
            </a:fld>
            <a:endParaRPr lang="en-US" altLang="zh-CN" sz="1200">
              <a:latin typeface="Garamond" panose="02020404030301010803" pitchFamily="18" charset="0"/>
            </a:endParaRPr>
          </a:p>
        </p:txBody>
      </p:sp>
      <p:sp>
        <p:nvSpPr>
          <p:cNvPr id="49154" name="Rectangle 2">
            <a:extLst>
              <a:ext uri="{FF2B5EF4-FFF2-40B4-BE49-F238E27FC236}">
                <a16:creationId xmlns:a16="http://schemas.microsoft.com/office/drawing/2014/main" id="{063FC435-B15E-40C0-8D8F-F2911F000E9B}"/>
              </a:ext>
            </a:extLst>
          </p:cNvPr>
          <p:cNvSpPr>
            <a:spLocks noGrp="1" noChangeArrowheads="1"/>
          </p:cNvSpPr>
          <p:nvPr>
            <p:ph type="body" idx="1"/>
          </p:nvPr>
        </p:nvSpPr>
        <p:spPr>
          <a:xfrm>
            <a:off x="1143000" y="3644900"/>
            <a:ext cx="8229600" cy="2376488"/>
          </a:xfrm>
        </p:spPr>
        <p:txBody>
          <a:bodyPr/>
          <a:lstStyle/>
          <a:p>
            <a:pPr eaLnBrk="1" hangingPunct="1">
              <a:lnSpc>
                <a:spcPct val="90000"/>
              </a:lnSpc>
            </a:pPr>
            <a:r>
              <a:rPr lang="zh-CN" altLang="en-US" sz="2400" dirty="0"/>
              <a:t>步长缺省值为</a:t>
            </a:r>
            <a:r>
              <a:rPr lang="en-US" altLang="zh-CN" sz="2400" dirty="0"/>
              <a:t>1</a:t>
            </a:r>
            <a:r>
              <a:rPr lang="zh-CN" altLang="en-US" sz="2400" dirty="0"/>
              <a:t>，可以在正实数或负实数范围内任意指定。对于正数，循环变量的值大于终止值时，循环结束；对于负数，循环变量的值小于终止值时，循环结束。循环结构可以嵌套使用。</a:t>
            </a:r>
          </a:p>
          <a:p>
            <a:pPr eaLnBrk="1" hangingPunct="1">
              <a:lnSpc>
                <a:spcPct val="90000"/>
              </a:lnSpc>
            </a:pPr>
            <a:r>
              <a:rPr lang="zh-CN" altLang="en-US" sz="2400" dirty="0"/>
              <a:t>书写格式不必太过于拘泥，在</a:t>
            </a:r>
            <a:r>
              <a:rPr lang="en-US" altLang="zh-CN" sz="2400" dirty="0"/>
              <a:t>Editor</a:t>
            </a:r>
            <a:r>
              <a:rPr lang="zh-CN" altLang="en-US" sz="2400" dirty="0"/>
              <a:t>编辑器中会自动进行处理。                          </a:t>
            </a:r>
            <a:r>
              <a:rPr lang="en-US" altLang="zh-CN" sz="2400" dirty="0"/>
              <a:t>(</a:t>
            </a:r>
            <a:r>
              <a:rPr lang="zh-CN" altLang="en-US" sz="2400" dirty="0"/>
              <a:t>例</a:t>
            </a:r>
            <a:r>
              <a:rPr lang="en-US" altLang="zh-CN" sz="2400" dirty="0"/>
              <a:t>exp2_11.m)</a:t>
            </a:r>
            <a:r>
              <a:rPr lang="en-US" altLang="zh-CN" sz="1900" dirty="0"/>
              <a:t>   </a:t>
            </a:r>
          </a:p>
        </p:txBody>
      </p:sp>
      <p:sp>
        <p:nvSpPr>
          <p:cNvPr id="87044" name="Text Box 3">
            <a:extLst>
              <a:ext uri="{FF2B5EF4-FFF2-40B4-BE49-F238E27FC236}">
                <a16:creationId xmlns:a16="http://schemas.microsoft.com/office/drawing/2014/main" id="{4374EA60-931A-47F8-928E-E3BFE4953671}"/>
              </a:ext>
            </a:extLst>
          </p:cNvPr>
          <p:cNvSpPr txBox="1">
            <a:spLocks noChangeArrowheads="1"/>
          </p:cNvSpPr>
          <p:nvPr/>
        </p:nvSpPr>
        <p:spPr bwMode="auto">
          <a:xfrm>
            <a:off x="1219200" y="685800"/>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a:solidFill>
                  <a:schemeClr val="tx2"/>
                </a:solidFill>
              </a:rPr>
              <a:t>八、程序流程控制</a:t>
            </a:r>
          </a:p>
        </p:txBody>
      </p:sp>
      <p:sp>
        <p:nvSpPr>
          <p:cNvPr id="49156" name="Text Box 4">
            <a:extLst>
              <a:ext uri="{FF2B5EF4-FFF2-40B4-BE49-F238E27FC236}">
                <a16:creationId xmlns:a16="http://schemas.microsoft.com/office/drawing/2014/main" id="{ED2EEFA9-A5E0-4ED3-82F9-10A2E0A1D93D}"/>
              </a:ext>
            </a:extLst>
          </p:cNvPr>
          <p:cNvSpPr txBox="1">
            <a:spLocks noChangeArrowheads="1"/>
          </p:cNvSpPr>
          <p:nvPr/>
        </p:nvSpPr>
        <p:spPr bwMode="auto">
          <a:xfrm>
            <a:off x="1373188" y="1371600"/>
            <a:ext cx="731361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400">
                <a:latin typeface="Impact" panose="020B0806030902050204" pitchFamily="34" charset="0"/>
              </a:rPr>
              <a:t>1</a:t>
            </a:r>
            <a:r>
              <a:rPr kumimoji="1" lang="zh-CN" altLang="en-US" sz="2400">
                <a:latin typeface="Impact" panose="020B0806030902050204" pitchFamily="34" charset="0"/>
              </a:rPr>
              <a:t>、</a:t>
            </a:r>
            <a:r>
              <a:rPr kumimoji="1" lang="en-US" altLang="zh-CN" sz="2400"/>
              <a:t>for</a:t>
            </a:r>
            <a:r>
              <a:rPr kumimoji="1" lang="zh-CN" altLang="en-US" sz="2400">
                <a:latin typeface="Impact" panose="020B0806030902050204" pitchFamily="34" charset="0"/>
              </a:rPr>
              <a:t>循环语句</a:t>
            </a:r>
          </a:p>
          <a:p>
            <a:pPr eaLnBrk="1" hangingPunct="1">
              <a:buClrTx/>
              <a:buSzTx/>
              <a:buFontTx/>
              <a:buNone/>
            </a:pPr>
            <a:r>
              <a:rPr kumimoji="1" lang="zh-CN" altLang="en-US" sz="2400">
                <a:latin typeface="Impact" panose="020B0806030902050204" pitchFamily="34" charset="0"/>
              </a:rPr>
              <a:t>基本格式</a:t>
            </a:r>
          </a:p>
          <a:p>
            <a:pPr eaLnBrk="1" hangingPunct="1">
              <a:buClrTx/>
              <a:buSzTx/>
              <a:buFontTx/>
              <a:buNone/>
            </a:pPr>
            <a:r>
              <a:rPr kumimoji="1" lang="en-US" altLang="zh-CN" sz="2400">
                <a:latin typeface="Impact" panose="020B0806030902050204" pitchFamily="34" charset="0"/>
              </a:rPr>
              <a:t>for   </a:t>
            </a:r>
            <a:r>
              <a:rPr kumimoji="1" lang="zh-CN" altLang="en-US" sz="2400">
                <a:latin typeface="Impact" panose="020B0806030902050204" pitchFamily="34" charset="0"/>
              </a:rPr>
              <a:t>循环变量＝起始值：步长：终止值</a:t>
            </a:r>
          </a:p>
          <a:p>
            <a:pPr eaLnBrk="1" hangingPunct="1">
              <a:buClrTx/>
              <a:buSzTx/>
              <a:buFontTx/>
              <a:buNone/>
            </a:pPr>
            <a:r>
              <a:rPr kumimoji="1" lang="zh-CN" altLang="en-US" sz="2400">
                <a:latin typeface="Impact" panose="020B0806030902050204" pitchFamily="34" charset="0"/>
              </a:rPr>
              <a:t>          循环体</a:t>
            </a:r>
          </a:p>
          <a:p>
            <a:pPr eaLnBrk="1" hangingPunct="1">
              <a:buClrTx/>
              <a:buSzTx/>
              <a:buFontTx/>
              <a:buNone/>
            </a:pPr>
            <a:r>
              <a:rPr kumimoji="1" lang="zh-CN" altLang="en-US" sz="2400">
                <a:latin typeface="Impact" panose="020B0806030902050204" pitchFamily="34" charset="0"/>
              </a:rPr>
              <a:t> </a:t>
            </a:r>
            <a:r>
              <a:rPr kumimoji="1" lang="en-US" altLang="zh-CN" sz="2400">
                <a:latin typeface="Impact" panose="020B0806030902050204" pitchFamily="34" charset="0"/>
              </a:rPr>
              <a:t>end</a:t>
            </a: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checkerboard(down)">
                                      <p:cBhvr>
                                        <p:cTn id="7" dur="500"/>
                                        <p:tgtEl>
                                          <p:spTgt spid="49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9154"/>
                                        </p:tgtEl>
                                        <p:attrNameLst>
                                          <p:attrName>style.visibility</p:attrName>
                                        </p:attrNameLst>
                                      </p:cBhvr>
                                      <p:to>
                                        <p:strVal val="visible"/>
                                      </p:to>
                                    </p:set>
                                    <p:animEffect transition="in" filter="slide(fromTop)">
                                      <p:cBhvr>
                                        <p:cTn id="12"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p:bldP spid="49156"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灯片编号占位符 5">
            <a:extLst>
              <a:ext uri="{FF2B5EF4-FFF2-40B4-BE49-F238E27FC236}">
                <a16:creationId xmlns:a16="http://schemas.microsoft.com/office/drawing/2014/main" id="{F88047EC-CCA3-4AAB-BC7B-02FB08E434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AA3E284-77ED-484C-924C-6BFF6240BD2D}" type="slidenum">
              <a:rPr lang="en-US" altLang="zh-CN" sz="1200" smtClean="0">
                <a:latin typeface="Garamond" panose="02020404030301010803" pitchFamily="18" charset="0"/>
              </a:rPr>
              <a:pPr>
                <a:spcBef>
                  <a:spcPct val="0"/>
                </a:spcBef>
                <a:buClrTx/>
                <a:buSzTx/>
                <a:buFontTx/>
                <a:buNone/>
              </a:pPr>
              <a:t>58</a:t>
            </a:fld>
            <a:endParaRPr lang="en-US" altLang="zh-CN" sz="1200">
              <a:latin typeface="Garamond" panose="02020404030301010803" pitchFamily="18" charset="0"/>
            </a:endParaRPr>
          </a:p>
        </p:txBody>
      </p:sp>
      <p:sp>
        <p:nvSpPr>
          <p:cNvPr id="88067" name="Rectangle 2">
            <a:extLst>
              <a:ext uri="{FF2B5EF4-FFF2-40B4-BE49-F238E27FC236}">
                <a16:creationId xmlns:a16="http://schemas.microsoft.com/office/drawing/2014/main" id="{A2B1F23F-A57C-48A2-9052-38DA36576009}"/>
              </a:ext>
            </a:extLst>
          </p:cNvPr>
          <p:cNvSpPr>
            <a:spLocks noGrp="1" noChangeArrowheads="1"/>
          </p:cNvSpPr>
          <p:nvPr>
            <p:ph type="body" idx="1"/>
          </p:nvPr>
        </p:nvSpPr>
        <p:spPr>
          <a:xfrm>
            <a:off x="1219200" y="228600"/>
            <a:ext cx="3505200" cy="2286000"/>
          </a:xfrm>
        </p:spPr>
        <p:txBody>
          <a:bodyPr/>
          <a:lstStyle/>
          <a:p>
            <a:pPr eaLnBrk="1" hangingPunct="1">
              <a:lnSpc>
                <a:spcPct val="90000"/>
              </a:lnSpc>
              <a:buFont typeface="Wingdings" panose="05000000000000000000" pitchFamily="2" charset="2"/>
              <a:buNone/>
            </a:pPr>
            <a:r>
              <a:rPr lang="en-US" altLang="zh-CN" sz="2600"/>
              <a:t>2</a:t>
            </a:r>
            <a:r>
              <a:rPr lang="zh-CN" altLang="en-US" sz="2600"/>
              <a:t>、</a:t>
            </a:r>
            <a:r>
              <a:rPr lang="en-US" altLang="zh-CN" sz="2600"/>
              <a:t>while</a:t>
            </a:r>
            <a:r>
              <a:rPr lang="zh-CN" altLang="en-US" sz="2600"/>
              <a:t>循环语句</a:t>
            </a:r>
          </a:p>
          <a:p>
            <a:pPr eaLnBrk="1" hangingPunct="1">
              <a:lnSpc>
                <a:spcPct val="90000"/>
              </a:lnSpc>
              <a:buFont typeface="Wingdings" panose="05000000000000000000" pitchFamily="2" charset="2"/>
              <a:buNone/>
            </a:pPr>
            <a:r>
              <a:rPr lang="zh-CN" altLang="en-US" sz="2600"/>
              <a:t>基本格式</a:t>
            </a:r>
          </a:p>
          <a:p>
            <a:pPr eaLnBrk="1" hangingPunct="1">
              <a:lnSpc>
                <a:spcPct val="90000"/>
              </a:lnSpc>
              <a:buFont typeface="Wingdings" panose="05000000000000000000" pitchFamily="2" charset="2"/>
              <a:buNone/>
            </a:pPr>
            <a:r>
              <a:rPr lang="en-US" altLang="zh-CN" sz="2600"/>
              <a:t>while   </a:t>
            </a:r>
            <a:r>
              <a:rPr lang="zh-CN" altLang="en-US" sz="2600"/>
              <a:t>表达式</a:t>
            </a:r>
          </a:p>
          <a:p>
            <a:pPr eaLnBrk="1" hangingPunct="1">
              <a:lnSpc>
                <a:spcPct val="90000"/>
              </a:lnSpc>
              <a:buFont typeface="Wingdings" panose="05000000000000000000" pitchFamily="2" charset="2"/>
              <a:buNone/>
            </a:pPr>
            <a:r>
              <a:rPr lang="zh-CN" altLang="en-US" sz="2600"/>
              <a:t>            循环体</a:t>
            </a:r>
          </a:p>
          <a:p>
            <a:pPr eaLnBrk="1" hangingPunct="1">
              <a:lnSpc>
                <a:spcPct val="90000"/>
              </a:lnSpc>
              <a:buFont typeface="Wingdings" panose="05000000000000000000" pitchFamily="2" charset="2"/>
              <a:buNone/>
            </a:pPr>
            <a:r>
              <a:rPr lang="en-US" altLang="zh-CN" sz="2600"/>
              <a:t>end</a:t>
            </a:r>
            <a:endParaRPr lang="en-US" altLang="zh-CN" sz="3500"/>
          </a:p>
        </p:txBody>
      </p:sp>
      <p:sp>
        <p:nvSpPr>
          <p:cNvPr id="50179" name="Rectangle 3">
            <a:extLst>
              <a:ext uri="{FF2B5EF4-FFF2-40B4-BE49-F238E27FC236}">
                <a16:creationId xmlns:a16="http://schemas.microsoft.com/office/drawing/2014/main" id="{16B881BB-475B-4B7E-8C10-5BD4B68B2380}"/>
              </a:ext>
            </a:extLst>
          </p:cNvPr>
          <p:cNvSpPr>
            <a:spLocks noChangeArrowheads="1"/>
          </p:cNvSpPr>
          <p:nvPr/>
        </p:nvSpPr>
        <p:spPr bwMode="auto">
          <a:xfrm>
            <a:off x="1219200" y="236220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r>
              <a:rPr kumimoji="1" lang="zh-CN" altLang="en-US" sz="2400">
                <a:latin typeface="Impact" panose="020B0806030902050204" pitchFamily="34" charset="0"/>
              </a:rPr>
              <a:t>若表达式为真，则执行循环体的内容，执行后再判断表达式是否为真，若不为真，则跳出循环体，向下继续执行。</a:t>
            </a:r>
          </a:p>
          <a:p>
            <a:pPr eaLnBrk="1" hangingPunct="1">
              <a:buClrTx/>
              <a:buSzTx/>
              <a:buFontTx/>
              <a:buNone/>
            </a:pPr>
            <a:r>
              <a:rPr kumimoji="1" lang="zh-CN" altLang="en-US" sz="2400"/>
              <a:t>例</a:t>
            </a:r>
            <a:r>
              <a:rPr kumimoji="1" lang="en-US" altLang="zh-CN" sz="2400"/>
              <a:t>exp2_12.m</a:t>
            </a:r>
            <a:endParaRPr kumimoji="1" lang="en-US" altLang="zh-CN" sz="2400">
              <a:latin typeface="Impact" panose="020B0806030902050204" pitchFamily="34" charset="0"/>
            </a:endParaRPr>
          </a:p>
        </p:txBody>
      </p:sp>
      <p:sp>
        <p:nvSpPr>
          <p:cNvPr id="50180" name="Text Box 4">
            <a:extLst>
              <a:ext uri="{FF2B5EF4-FFF2-40B4-BE49-F238E27FC236}">
                <a16:creationId xmlns:a16="http://schemas.microsoft.com/office/drawing/2014/main" id="{B448EA12-77DC-4595-9606-CF7F7C15C932}"/>
              </a:ext>
            </a:extLst>
          </p:cNvPr>
          <p:cNvSpPr txBox="1">
            <a:spLocks noChangeArrowheads="1"/>
          </p:cNvSpPr>
          <p:nvPr/>
        </p:nvSpPr>
        <p:spPr bwMode="auto">
          <a:xfrm>
            <a:off x="1249363" y="3768725"/>
            <a:ext cx="79248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Tx/>
              <a:buSzTx/>
              <a:buFont typeface="Wingdings" panose="05000000000000000000" pitchFamily="2" charset="2"/>
              <a:buChar char="Ø"/>
            </a:pPr>
            <a:r>
              <a:rPr kumimoji="1" lang="en-US" altLang="zh-CN" sz="2800"/>
              <a:t>While</a:t>
            </a:r>
            <a:r>
              <a:rPr kumimoji="1" lang="zh-CN" altLang="en-US" sz="2800"/>
              <a:t>循环和</a:t>
            </a:r>
            <a:r>
              <a:rPr kumimoji="1" lang="en-US" altLang="zh-CN" sz="2800"/>
              <a:t>for</a:t>
            </a:r>
            <a:r>
              <a:rPr kumimoji="1" lang="zh-CN" altLang="en-US" sz="2800"/>
              <a:t>循环的区别在于，</a:t>
            </a:r>
            <a:r>
              <a:rPr kumimoji="1" lang="en-US" altLang="zh-CN" sz="2800"/>
              <a:t>while</a:t>
            </a:r>
            <a:r>
              <a:rPr kumimoji="1" lang="zh-CN" altLang="en-US" sz="2800"/>
              <a:t>循环结构的循环体被执行的次数不是确定的，而</a:t>
            </a:r>
            <a:r>
              <a:rPr kumimoji="1" lang="en-US" altLang="zh-CN" sz="2800"/>
              <a:t>for</a:t>
            </a:r>
            <a:r>
              <a:rPr kumimoji="1" lang="zh-CN" altLang="en-US" sz="2800"/>
              <a:t>结构中循环体的执行次数是确定的。</a:t>
            </a:r>
          </a:p>
        </p:txBody>
      </p:sp>
      <p:sp>
        <p:nvSpPr>
          <p:cNvPr id="6" name="Text Box 4">
            <a:extLst>
              <a:ext uri="{FF2B5EF4-FFF2-40B4-BE49-F238E27FC236}">
                <a16:creationId xmlns:a16="http://schemas.microsoft.com/office/drawing/2014/main" id="{1C5C386A-EF71-49BC-97C4-DAD843E0CE62}"/>
              </a:ext>
            </a:extLst>
          </p:cNvPr>
          <p:cNvSpPr txBox="1">
            <a:spLocks noChangeArrowheads="1"/>
          </p:cNvSpPr>
          <p:nvPr/>
        </p:nvSpPr>
        <p:spPr bwMode="auto">
          <a:xfrm>
            <a:off x="1293813" y="5081588"/>
            <a:ext cx="7924800"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Tx/>
              <a:buSzTx/>
              <a:buFont typeface="Wingdings" panose="05000000000000000000" pitchFamily="2" charset="2"/>
              <a:buChar char="Ø"/>
            </a:pPr>
            <a:r>
              <a:rPr kumimoji="1" lang="en-US" altLang="zh-CN" sz="2800" dirty="0"/>
              <a:t>Break </a:t>
            </a:r>
            <a:r>
              <a:rPr kumimoji="1" lang="zh-CN" altLang="en-US" sz="2800" dirty="0"/>
              <a:t>跳出总的循环</a:t>
            </a:r>
            <a:endParaRPr kumimoji="1" lang="en-US" altLang="zh-CN" sz="2800" dirty="0"/>
          </a:p>
          <a:p>
            <a:pPr eaLnBrk="1" hangingPunct="1">
              <a:lnSpc>
                <a:spcPct val="90000"/>
              </a:lnSpc>
              <a:spcBef>
                <a:spcPct val="50000"/>
              </a:spcBef>
              <a:buClrTx/>
              <a:buSzTx/>
              <a:buFont typeface="Wingdings" panose="05000000000000000000" pitchFamily="2" charset="2"/>
              <a:buChar char="Ø"/>
            </a:pPr>
            <a:r>
              <a:rPr kumimoji="1" lang="en-US" altLang="zh-CN" sz="2800" dirty="0"/>
              <a:t>Continue </a:t>
            </a:r>
            <a:r>
              <a:rPr kumimoji="1" lang="zh-CN" altLang="en-US" sz="2800" dirty="0"/>
              <a:t>跳出本次循环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blinds(horizontal)">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blinds(horizontal)">
                                      <p:cBhvr>
                                        <p:cTn id="12" dur="500"/>
                                        <p:tgtEl>
                                          <p:spTgt spid="501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utoUpdateAnimBg="0"/>
      <p:bldP spid="50180" grpId="0" autoUpdateAnimBg="0"/>
      <p:bldP spid="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灯片编号占位符 5">
            <a:extLst>
              <a:ext uri="{FF2B5EF4-FFF2-40B4-BE49-F238E27FC236}">
                <a16:creationId xmlns:a16="http://schemas.microsoft.com/office/drawing/2014/main" id="{C373B6BB-7639-4EE3-AC2A-63B1E9D41B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5DCCCAA-6B51-4827-8D75-157C7D91435B}" type="slidenum">
              <a:rPr lang="en-US" altLang="zh-CN" sz="1200" smtClean="0">
                <a:latin typeface="Garamond" panose="02020404030301010803" pitchFamily="18" charset="0"/>
              </a:rPr>
              <a:pPr>
                <a:spcBef>
                  <a:spcPct val="0"/>
                </a:spcBef>
                <a:buClrTx/>
                <a:buSzTx/>
                <a:buFontTx/>
                <a:buNone/>
              </a:pPr>
              <a:t>59</a:t>
            </a:fld>
            <a:endParaRPr lang="en-US" altLang="zh-CN" sz="1200">
              <a:latin typeface="Garamond" panose="02020404030301010803" pitchFamily="18" charset="0"/>
            </a:endParaRPr>
          </a:p>
        </p:txBody>
      </p:sp>
      <p:sp>
        <p:nvSpPr>
          <p:cNvPr id="89091" name="Rectangle 2">
            <a:extLst>
              <a:ext uri="{FF2B5EF4-FFF2-40B4-BE49-F238E27FC236}">
                <a16:creationId xmlns:a16="http://schemas.microsoft.com/office/drawing/2014/main" id="{9498E74F-0516-4C4A-A5FE-D6E84054F220}"/>
              </a:ext>
            </a:extLst>
          </p:cNvPr>
          <p:cNvSpPr>
            <a:spLocks noGrp="1" noChangeArrowheads="1"/>
          </p:cNvSpPr>
          <p:nvPr>
            <p:ph type="body" idx="1"/>
          </p:nvPr>
        </p:nvSpPr>
        <p:spPr>
          <a:xfrm>
            <a:off x="560388" y="609600"/>
            <a:ext cx="9040812" cy="1828800"/>
          </a:xfrm>
        </p:spPr>
        <p:txBody>
          <a:bodyPr/>
          <a:lstStyle/>
          <a:p>
            <a:pPr eaLnBrk="1" hangingPunct="1">
              <a:lnSpc>
                <a:spcPct val="90000"/>
              </a:lnSpc>
              <a:buFont typeface="Wingdings" panose="05000000000000000000" pitchFamily="2" charset="2"/>
              <a:buNone/>
            </a:pPr>
            <a:r>
              <a:rPr lang="en-US" altLang="zh-CN" dirty="0"/>
              <a:t>3</a:t>
            </a:r>
            <a:r>
              <a:rPr lang="zh-CN" altLang="en-US" dirty="0"/>
              <a:t>、</a:t>
            </a:r>
            <a:r>
              <a:rPr lang="en-US" altLang="zh-CN" dirty="0"/>
              <a:t>if</a:t>
            </a:r>
            <a:r>
              <a:rPr lang="zh-CN" altLang="en-US" dirty="0"/>
              <a:t>，</a:t>
            </a:r>
            <a:r>
              <a:rPr lang="en-US" altLang="zh-CN" dirty="0"/>
              <a:t>else</a:t>
            </a:r>
            <a:r>
              <a:rPr lang="zh-CN" altLang="en-US" dirty="0"/>
              <a:t>，</a:t>
            </a:r>
            <a:r>
              <a:rPr lang="en-US" altLang="zh-CN" dirty="0"/>
              <a:t>elseif</a:t>
            </a:r>
            <a:r>
              <a:rPr lang="zh-CN" altLang="en-US" dirty="0"/>
              <a:t>语句</a:t>
            </a:r>
          </a:p>
          <a:p>
            <a:pPr eaLnBrk="1" hangingPunct="1">
              <a:lnSpc>
                <a:spcPct val="90000"/>
              </a:lnSpc>
              <a:buFont typeface="Wingdings" panose="05000000000000000000" pitchFamily="2" charset="2"/>
              <a:buNone/>
            </a:pPr>
            <a:r>
              <a:rPr lang="zh-CN" altLang="en-US" sz="2600" dirty="0"/>
              <a:t>（</a:t>
            </a:r>
            <a:r>
              <a:rPr lang="en-US" altLang="zh-CN" sz="2600" dirty="0"/>
              <a:t>1</a:t>
            </a:r>
            <a:r>
              <a:rPr lang="zh-CN" altLang="en-US" sz="2600" dirty="0"/>
              <a:t>）</a:t>
            </a:r>
            <a:r>
              <a:rPr lang="en-US" altLang="zh-CN" sz="2600" dirty="0"/>
              <a:t>if      </a:t>
            </a:r>
            <a:r>
              <a:rPr lang="zh-CN" altLang="en-US" sz="2600" dirty="0"/>
              <a:t>逻辑表达式</a:t>
            </a:r>
          </a:p>
          <a:p>
            <a:pPr eaLnBrk="1" hangingPunct="1">
              <a:lnSpc>
                <a:spcPct val="90000"/>
              </a:lnSpc>
              <a:buFont typeface="Wingdings" panose="05000000000000000000" pitchFamily="2" charset="2"/>
              <a:buNone/>
            </a:pPr>
            <a:r>
              <a:rPr lang="zh-CN" altLang="en-US" sz="2600" dirty="0"/>
              <a:t>                        执行语句</a:t>
            </a:r>
          </a:p>
          <a:p>
            <a:pPr eaLnBrk="1" hangingPunct="1">
              <a:lnSpc>
                <a:spcPct val="90000"/>
              </a:lnSpc>
              <a:buFont typeface="Wingdings" panose="05000000000000000000" pitchFamily="2" charset="2"/>
              <a:buNone/>
            </a:pPr>
            <a:r>
              <a:rPr lang="zh-CN" altLang="en-US" sz="2600" dirty="0"/>
              <a:t>         </a:t>
            </a:r>
            <a:r>
              <a:rPr lang="en-US" altLang="zh-CN" sz="2600" dirty="0"/>
              <a:t>end</a:t>
            </a:r>
          </a:p>
          <a:p>
            <a:pPr eaLnBrk="1" hangingPunct="1">
              <a:lnSpc>
                <a:spcPct val="90000"/>
              </a:lnSpc>
              <a:buFont typeface="Wingdings" panose="05000000000000000000" pitchFamily="2" charset="2"/>
              <a:buNone/>
            </a:pPr>
            <a:endParaRPr lang="en-US" altLang="zh-CN" sz="2600" dirty="0"/>
          </a:p>
        </p:txBody>
      </p:sp>
      <p:sp>
        <p:nvSpPr>
          <p:cNvPr id="52227" name="Text Box 3">
            <a:extLst>
              <a:ext uri="{FF2B5EF4-FFF2-40B4-BE49-F238E27FC236}">
                <a16:creationId xmlns:a16="http://schemas.microsoft.com/office/drawing/2014/main" id="{5BCFAD82-86C0-4C6E-AB7F-C67E70FD0BF5}"/>
              </a:ext>
            </a:extLst>
          </p:cNvPr>
          <p:cNvSpPr txBox="1">
            <a:spLocks noChangeArrowheads="1"/>
          </p:cNvSpPr>
          <p:nvPr/>
        </p:nvSpPr>
        <p:spPr bwMode="auto">
          <a:xfrm>
            <a:off x="4665663" y="908050"/>
            <a:ext cx="4632325"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800" dirty="0">
                <a:latin typeface="Times New Roman" panose="02020603050405020304" pitchFamily="18" charset="0"/>
              </a:rPr>
              <a:t>当逻辑表达式的值为真时，执行该结构中的执行语句，执行完之后继续向下进行；若为假，则跳过结构中的内容，向下执行。</a:t>
            </a:r>
          </a:p>
        </p:txBody>
      </p:sp>
      <p:sp>
        <p:nvSpPr>
          <p:cNvPr id="52229" name="Text Box 5">
            <a:extLst>
              <a:ext uri="{FF2B5EF4-FFF2-40B4-BE49-F238E27FC236}">
                <a16:creationId xmlns:a16="http://schemas.microsoft.com/office/drawing/2014/main" id="{09929D82-C161-4474-B502-88B1A673A0C9}"/>
              </a:ext>
            </a:extLst>
          </p:cNvPr>
          <p:cNvSpPr txBox="1">
            <a:spLocks noChangeArrowheads="1"/>
          </p:cNvSpPr>
          <p:nvPr/>
        </p:nvSpPr>
        <p:spPr bwMode="auto">
          <a:xfrm>
            <a:off x="1143000" y="3154363"/>
            <a:ext cx="83058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800">
                <a:latin typeface="Impact" panose="020B0806030902050204" pitchFamily="34" charset="0"/>
              </a:rPr>
              <a:t>（</a:t>
            </a:r>
            <a:r>
              <a:rPr kumimoji="1" lang="en-US" altLang="zh-CN" sz="2800">
                <a:latin typeface="Impact" panose="020B0806030902050204" pitchFamily="34" charset="0"/>
              </a:rPr>
              <a:t>2</a:t>
            </a:r>
            <a:r>
              <a:rPr kumimoji="1" lang="zh-CN" altLang="en-US" sz="2800">
                <a:latin typeface="Impact" panose="020B0806030902050204" pitchFamily="34" charset="0"/>
              </a:rPr>
              <a:t>）</a:t>
            </a:r>
            <a:r>
              <a:rPr kumimoji="1" lang="en-US" altLang="zh-CN" sz="2800"/>
              <a:t>if   </a:t>
            </a:r>
            <a:r>
              <a:rPr kumimoji="1" lang="zh-CN" altLang="en-US" sz="2800"/>
              <a:t>逻辑表达式  （</a:t>
            </a:r>
            <a:r>
              <a:rPr kumimoji="1" lang="en-US" altLang="zh-CN" sz="2800"/>
              <a:t>3</a:t>
            </a:r>
            <a:r>
              <a:rPr kumimoji="1" lang="zh-CN" altLang="en-US" sz="2800"/>
              <a:t>） </a:t>
            </a:r>
            <a:r>
              <a:rPr kumimoji="1" lang="en-US" altLang="zh-CN" sz="2800"/>
              <a:t>if   </a:t>
            </a:r>
            <a:r>
              <a:rPr kumimoji="1" lang="zh-CN" altLang="en-US" sz="2800"/>
              <a:t>逻辑表达式</a:t>
            </a:r>
            <a:r>
              <a:rPr kumimoji="1" lang="en-US" altLang="zh-CN" sz="2800"/>
              <a:t>1</a:t>
            </a:r>
          </a:p>
          <a:p>
            <a:pPr eaLnBrk="1" hangingPunct="1">
              <a:buClrTx/>
              <a:buSzTx/>
              <a:buFontTx/>
              <a:buNone/>
            </a:pPr>
            <a:r>
              <a:rPr kumimoji="1" lang="en-US" altLang="zh-CN" sz="2800"/>
              <a:t>              </a:t>
            </a:r>
            <a:r>
              <a:rPr kumimoji="1" lang="zh-CN" altLang="en-US" sz="2800"/>
              <a:t>执行语句</a:t>
            </a:r>
            <a:r>
              <a:rPr kumimoji="1" lang="en-US" altLang="zh-CN" sz="2800"/>
              <a:t>1                   </a:t>
            </a:r>
            <a:r>
              <a:rPr kumimoji="1" lang="zh-CN" altLang="en-US" sz="2800"/>
              <a:t>执行语句</a:t>
            </a:r>
            <a:r>
              <a:rPr kumimoji="1" lang="en-US" altLang="zh-CN" sz="2800"/>
              <a:t>1</a:t>
            </a:r>
          </a:p>
          <a:p>
            <a:pPr eaLnBrk="1" hangingPunct="1">
              <a:buClrTx/>
              <a:buSzTx/>
              <a:buFontTx/>
              <a:buNone/>
            </a:pPr>
            <a:r>
              <a:rPr kumimoji="1" lang="en-US" altLang="zh-CN" sz="2800"/>
              <a:t>        else                             elseif   </a:t>
            </a:r>
            <a:r>
              <a:rPr kumimoji="1" lang="zh-CN" altLang="en-US" sz="2800"/>
              <a:t>逻辑表达式</a:t>
            </a:r>
            <a:r>
              <a:rPr kumimoji="1" lang="en-US" altLang="zh-CN" sz="2800"/>
              <a:t>2</a:t>
            </a:r>
          </a:p>
          <a:p>
            <a:pPr eaLnBrk="1" hangingPunct="1">
              <a:buClrTx/>
              <a:buSzTx/>
              <a:buFontTx/>
              <a:buNone/>
            </a:pPr>
            <a:r>
              <a:rPr kumimoji="1" lang="en-US" altLang="zh-CN" sz="2800"/>
              <a:t>              </a:t>
            </a:r>
            <a:r>
              <a:rPr kumimoji="1" lang="zh-CN" altLang="en-US" sz="2800"/>
              <a:t>执行语句</a:t>
            </a:r>
            <a:r>
              <a:rPr kumimoji="1" lang="en-US" altLang="zh-CN" sz="2800"/>
              <a:t>2                         </a:t>
            </a:r>
            <a:r>
              <a:rPr kumimoji="1" lang="zh-CN" altLang="en-US" sz="2800"/>
              <a:t>执行语句</a:t>
            </a:r>
            <a:r>
              <a:rPr kumimoji="1" lang="en-US" altLang="zh-CN" sz="2800"/>
              <a:t>2</a:t>
            </a:r>
          </a:p>
          <a:p>
            <a:pPr eaLnBrk="1" hangingPunct="1">
              <a:buClrTx/>
              <a:buSzTx/>
              <a:buFontTx/>
              <a:buNone/>
            </a:pPr>
            <a:r>
              <a:rPr kumimoji="1" lang="en-US" altLang="zh-CN" sz="2800"/>
              <a:t>        end                                             …</a:t>
            </a:r>
          </a:p>
          <a:p>
            <a:pPr eaLnBrk="1" hangingPunct="1">
              <a:buClrTx/>
              <a:buSzTx/>
              <a:buFontTx/>
              <a:buNone/>
            </a:pPr>
            <a:r>
              <a:rPr kumimoji="1" lang="en-US" altLang="zh-CN" sz="2800"/>
              <a:t>                                            end</a:t>
            </a:r>
            <a:r>
              <a:rPr kumimoji="1" lang="en-US" altLang="zh-CN" sz="2800">
                <a:latin typeface="Impact" panose="020B0806030902050204" pitchFamily="34" charset="0"/>
              </a:rPr>
              <a:t>  </a:t>
            </a:r>
            <a:endParaRPr kumimoji="1" lang="en-US" altLang="zh-C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blinds(horizontal)">
                                      <p:cBhvr>
                                        <p:cTn id="7" dur="500"/>
                                        <p:tgtEl>
                                          <p:spTgt spid="52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checkerboard(across)">
                                      <p:cBhvr>
                                        <p:cTn id="12" dur="5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P spid="5222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a:extLst>
              <a:ext uri="{FF2B5EF4-FFF2-40B4-BE49-F238E27FC236}">
                <a16:creationId xmlns:a16="http://schemas.microsoft.com/office/drawing/2014/main" id="{8B633BC7-E7C4-416A-99FA-A7916FEA06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C1992ED-86DB-4A24-B8A9-1B4546C8138F}" type="slidenum">
              <a:rPr lang="en-US" altLang="zh-CN" sz="1200" smtClean="0">
                <a:latin typeface="Garamond" panose="02020404030301010803" pitchFamily="18" charset="0"/>
              </a:rPr>
              <a:pPr>
                <a:spcBef>
                  <a:spcPct val="0"/>
                </a:spcBef>
                <a:buClrTx/>
                <a:buSzTx/>
                <a:buFontTx/>
                <a:buNone/>
              </a:pPr>
              <a:t>60</a:t>
            </a:fld>
            <a:endParaRPr lang="en-US" altLang="zh-CN" sz="1200">
              <a:latin typeface="Garamond" panose="02020404030301010803" pitchFamily="18" charset="0"/>
            </a:endParaRPr>
          </a:p>
        </p:txBody>
      </p:sp>
      <p:sp>
        <p:nvSpPr>
          <p:cNvPr id="90115" name="Rectangle 2">
            <a:extLst>
              <a:ext uri="{FF2B5EF4-FFF2-40B4-BE49-F238E27FC236}">
                <a16:creationId xmlns:a16="http://schemas.microsoft.com/office/drawing/2014/main" id="{36926779-4D71-421E-8C4E-77A7D107EB9E}"/>
              </a:ext>
            </a:extLst>
          </p:cNvPr>
          <p:cNvSpPr>
            <a:spLocks noGrp="1" noChangeArrowheads="1"/>
          </p:cNvSpPr>
          <p:nvPr>
            <p:ph type="title"/>
          </p:nvPr>
        </p:nvSpPr>
        <p:spPr/>
        <p:txBody>
          <a:bodyPr/>
          <a:lstStyle/>
          <a:p>
            <a:pPr eaLnBrk="1" hangingPunct="1"/>
            <a:endParaRPr lang="zh-CN" altLang="zh-CN"/>
          </a:p>
        </p:txBody>
      </p:sp>
      <p:sp>
        <p:nvSpPr>
          <p:cNvPr id="90116" name="Rectangle 3">
            <a:extLst>
              <a:ext uri="{FF2B5EF4-FFF2-40B4-BE49-F238E27FC236}">
                <a16:creationId xmlns:a16="http://schemas.microsoft.com/office/drawing/2014/main" id="{C43FE276-19AE-4EE8-BEF4-41C577E0A20B}"/>
              </a:ext>
            </a:extLst>
          </p:cNvPr>
          <p:cNvSpPr>
            <a:spLocks noGrp="1" noChangeArrowheads="1"/>
          </p:cNvSpPr>
          <p:nvPr>
            <p:ph type="body" idx="1"/>
          </p:nvPr>
        </p:nvSpPr>
        <p:spPr/>
        <p:txBody>
          <a:bodyPr/>
          <a:lstStyle/>
          <a:p>
            <a:pPr eaLnBrk="1" hangingPunct="1">
              <a:lnSpc>
                <a:spcPct val="120000"/>
              </a:lnSpc>
            </a:pPr>
            <a:r>
              <a:rPr kumimoji="1" lang="en-US" altLang="zh-CN"/>
              <a:t>if-else</a:t>
            </a:r>
            <a:r>
              <a:rPr kumimoji="1" lang="zh-CN" altLang="en-US"/>
              <a:t>的执行方式为：如果逻辑表达式的值为真，则执行语句</a:t>
            </a:r>
            <a:r>
              <a:rPr kumimoji="1" lang="en-US" altLang="zh-CN"/>
              <a:t>1</a:t>
            </a:r>
            <a:r>
              <a:rPr kumimoji="1" lang="zh-CN" altLang="en-US"/>
              <a:t>，然后跳过语句</a:t>
            </a:r>
            <a:r>
              <a:rPr kumimoji="1" lang="en-US" altLang="zh-CN"/>
              <a:t>2</a:t>
            </a:r>
            <a:r>
              <a:rPr kumimoji="1" lang="zh-CN" altLang="en-US"/>
              <a:t>，向下执行；如果为假，则执行语句</a:t>
            </a:r>
            <a:r>
              <a:rPr kumimoji="1" lang="en-US" altLang="zh-CN"/>
              <a:t>2</a:t>
            </a:r>
            <a:r>
              <a:rPr kumimoji="1" lang="zh-CN" altLang="en-US"/>
              <a:t>，然后向下执行。</a:t>
            </a:r>
          </a:p>
          <a:p>
            <a:pPr eaLnBrk="1" hangingPunct="1">
              <a:lnSpc>
                <a:spcPct val="120000"/>
              </a:lnSpc>
            </a:pPr>
            <a:r>
              <a:rPr kumimoji="1" lang="en-US" altLang="zh-CN"/>
              <a:t>if-elseif</a:t>
            </a:r>
            <a:r>
              <a:rPr kumimoji="1" lang="zh-CN" altLang="en-US"/>
              <a:t>的执行方式为：如果逻辑表达式</a:t>
            </a:r>
            <a:r>
              <a:rPr kumimoji="1" lang="en-US" altLang="zh-CN"/>
              <a:t>1</a:t>
            </a:r>
            <a:r>
              <a:rPr kumimoji="1" lang="zh-CN" altLang="en-US"/>
              <a:t>的值为真，则执行语句</a:t>
            </a:r>
            <a:r>
              <a:rPr kumimoji="1" lang="en-US" altLang="zh-CN"/>
              <a:t>1</a:t>
            </a:r>
            <a:r>
              <a:rPr kumimoji="1" lang="zh-CN" altLang="en-US"/>
              <a:t>；如果为假，则判断逻辑表达式</a:t>
            </a:r>
            <a:r>
              <a:rPr kumimoji="1" lang="en-US" altLang="zh-CN"/>
              <a:t>2</a:t>
            </a:r>
            <a:r>
              <a:rPr kumimoji="1" lang="zh-CN" altLang="en-US"/>
              <a:t>，如果为真，则执行语句</a:t>
            </a:r>
            <a:r>
              <a:rPr kumimoji="1" lang="en-US" altLang="zh-CN"/>
              <a:t>2</a:t>
            </a:r>
            <a:r>
              <a:rPr kumimoji="1" lang="zh-CN" altLang="en-US"/>
              <a:t>，否则向下执行。</a:t>
            </a:r>
          </a:p>
          <a:p>
            <a:pPr eaLnBrk="1" hangingPunct="1">
              <a:lnSpc>
                <a:spcPct val="120000"/>
              </a:lnSpc>
            </a:pPr>
            <a:r>
              <a:rPr kumimoji="1" lang="zh-CN" altLang="en-US"/>
              <a:t>      例</a:t>
            </a:r>
            <a:r>
              <a:rPr kumimoji="1" lang="en-US" altLang="zh-CN"/>
              <a:t>exp2_13.m	exp2_13_.m</a:t>
            </a:r>
          </a:p>
          <a:p>
            <a:pPr eaLnBrk="1" hangingPunct="1">
              <a:lnSpc>
                <a:spcPct val="120000"/>
              </a:lnSpc>
            </a:pPr>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灯片编号占位符 5">
            <a:extLst>
              <a:ext uri="{FF2B5EF4-FFF2-40B4-BE49-F238E27FC236}">
                <a16:creationId xmlns:a16="http://schemas.microsoft.com/office/drawing/2014/main" id="{422A4341-0EF5-414A-9E94-B4ADBB0D7A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AA0A146-5874-4D1B-902F-38CD6C4EB421}" type="slidenum">
              <a:rPr lang="en-US" altLang="zh-CN" sz="1200" smtClean="0">
                <a:latin typeface="Garamond" panose="02020404030301010803" pitchFamily="18" charset="0"/>
              </a:rPr>
              <a:pPr>
                <a:spcBef>
                  <a:spcPct val="0"/>
                </a:spcBef>
                <a:buClrTx/>
                <a:buSzTx/>
                <a:buFontTx/>
                <a:buNone/>
              </a:pPr>
              <a:t>61</a:t>
            </a:fld>
            <a:endParaRPr lang="en-US" altLang="zh-CN" sz="1200">
              <a:latin typeface="Garamond" panose="02020404030301010803" pitchFamily="18" charset="0"/>
            </a:endParaRPr>
          </a:p>
        </p:txBody>
      </p:sp>
      <p:sp>
        <p:nvSpPr>
          <p:cNvPr id="91139" name="Rectangle 2">
            <a:extLst>
              <a:ext uri="{FF2B5EF4-FFF2-40B4-BE49-F238E27FC236}">
                <a16:creationId xmlns:a16="http://schemas.microsoft.com/office/drawing/2014/main" id="{95ED4842-6B4B-4ADF-97D3-282B71F1AB52}"/>
              </a:ext>
            </a:extLst>
          </p:cNvPr>
          <p:cNvSpPr>
            <a:spLocks noGrp="1" noChangeArrowheads="1"/>
          </p:cNvSpPr>
          <p:nvPr>
            <p:ph type="body" idx="1"/>
          </p:nvPr>
        </p:nvSpPr>
        <p:spPr>
          <a:xfrm>
            <a:off x="704850" y="692150"/>
            <a:ext cx="6858000" cy="5410200"/>
          </a:xfrm>
        </p:spPr>
        <p:txBody>
          <a:bodyPr/>
          <a:lstStyle/>
          <a:p>
            <a:pPr eaLnBrk="1" hangingPunct="1">
              <a:lnSpc>
                <a:spcPct val="80000"/>
              </a:lnSpc>
              <a:buFont typeface="Wingdings" panose="05000000000000000000" pitchFamily="2" charset="2"/>
              <a:buNone/>
            </a:pPr>
            <a:r>
              <a:rPr lang="en-US" altLang="zh-CN" sz="2400" dirty="0"/>
              <a:t>4</a:t>
            </a:r>
            <a:r>
              <a:rPr lang="zh-CN" altLang="en-US" sz="2400" dirty="0"/>
              <a:t>、</a:t>
            </a:r>
            <a:r>
              <a:rPr lang="en-US" altLang="zh-CN" sz="2400" dirty="0"/>
              <a:t>switch</a:t>
            </a:r>
            <a:r>
              <a:rPr lang="zh-CN" altLang="en-US" sz="2400" dirty="0"/>
              <a:t>语句</a:t>
            </a:r>
          </a:p>
          <a:p>
            <a:pPr eaLnBrk="1" hangingPunct="1">
              <a:lnSpc>
                <a:spcPct val="80000"/>
              </a:lnSpc>
              <a:buFont typeface="Wingdings" panose="05000000000000000000" pitchFamily="2" charset="2"/>
              <a:buNone/>
            </a:pPr>
            <a:r>
              <a:rPr lang="zh-CN" altLang="en-US" sz="2400" dirty="0"/>
              <a:t>格式：</a:t>
            </a:r>
            <a:r>
              <a:rPr lang="en-US" altLang="zh-CN" sz="2400" dirty="0"/>
              <a:t>switch   </a:t>
            </a:r>
            <a:r>
              <a:rPr lang="zh-CN" altLang="en-US" sz="2400" dirty="0"/>
              <a:t>表达式（％可以是标量或字符串）</a:t>
            </a:r>
          </a:p>
          <a:p>
            <a:pPr eaLnBrk="1" hangingPunct="1">
              <a:lnSpc>
                <a:spcPct val="80000"/>
              </a:lnSpc>
              <a:buFont typeface="Wingdings" panose="05000000000000000000" pitchFamily="2" charset="2"/>
              <a:buNone/>
            </a:pPr>
            <a:r>
              <a:rPr lang="zh-CN" altLang="en-US" sz="2400" dirty="0"/>
              <a:t>           </a:t>
            </a:r>
            <a:r>
              <a:rPr lang="en-US" altLang="zh-CN" sz="2400" dirty="0"/>
              <a:t>case     </a:t>
            </a:r>
            <a:r>
              <a:rPr lang="zh-CN" altLang="en-US" sz="2400" dirty="0"/>
              <a:t>值</a:t>
            </a:r>
            <a:r>
              <a:rPr lang="en-US" altLang="zh-CN" sz="2400" dirty="0"/>
              <a:t>1</a:t>
            </a:r>
          </a:p>
          <a:p>
            <a:pPr eaLnBrk="1" hangingPunct="1">
              <a:lnSpc>
                <a:spcPct val="80000"/>
              </a:lnSpc>
              <a:buFont typeface="Wingdings" panose="05000000000000000000" pitchFamily="2" charset="2"/>
              <a:buNone/>
            </a:pPr>
            <a:r>
              <a:rPr lang="en-US" altLang="zh-CN" sz="2400" dirty="0"/>
              <a:t>                        </a:t>
            </a:r>
            <a:r>
              <a:rPr lang="zh-CN" altLang="en-US" sz="2400" dirty="0"/>
              <a:t>语句</a:t>
            </a:r>
            <a:r>
              <a:rPr lang="en-US" altLang="zh-CN" sz="2400" dirty="0"/>
              <a:t>1</a:t>
            </a:r>
          </a:p>
          <a:p>
            <a:pPr eaLnBrk="1" hangingPunct="1">
              <a:lnSpc>
                <a:spcPct val="80000"/>
              </a:lnSpc>
              <a:buFont typeface="Wingdings" panose="05000000000000000000" pitchFamily="2" charset="2"/>
              <a:buNone/>
            </a:pPr>
            <a:r>
              <a:rPr lang="en-US" altLang="zh-CN" sz="2400" dirty="0"/>
              <a:t>           case     </a:t>
            </a:r>
            <a:r>
              <a:rPr lang="zh-CN" altLang="en-US" sz="2400" dirty="0"/>
              <a:t>值</a:t>
            </a:r>
            <a:r>
              <a:rPr lang="en-US" altLang="zh-CN" sz="2400" dirty="0"/>
              <a:t>2</a:t>
            </a:r>
          </a:p>
          <a:p>
            <a:pPr eaLnBrk="1" hangingPunct="1">
              <a:lnSpc>
                <a:spcPct val="80000"/>
              </a:lnSpc>
              <a:buFont typeface="Wingdings" panose="05000000000000000000" pitchFamily="2" charset="2"/>
              <a:buNone/>
            </a:pPr>
            <a:r>
              <a:rPr lang="en-US" altLang="zh-CN" sz="2400" dirty="0"/>
              <a:t>                        </a:t>
            </a:r>
            <a:r>
              <a:rPr lang="zh-CN" altLang="en-US" sz="2400" dirty="0"/>
              <a:t>语句</a:t>
            </a:r>
            <a:r>
              <a:rPr lang="en-US" altLang="zh-CN" sz="2400" dirty="0"/>
              <a:t>2</a:t>
            </a:r>
          </a:p>
          <a:p>
            <a:pPr eaLnBrk="1" hangingPunct="1">
              <a:lnSpc>
                <a:spcPct val="80000"/>
              </a:lnSpc>
              <a:buFont typeface="Wingdings" panose="05000000000000000000" pitchFamily="2" charset="2"/>
              <a:buNone/>
            </a:pPr>
            <a:r>
              <a:rPr lang="en-US" altLang="zh-CN" sz="2400" dirty="0"/>
              <a:t>              ….</a:t>
            </a:r>
          </a:p>
          <a:p>
            <a:pPr eaLnBrk="1" hangingPunct="1">
              <a:lnSpc>
                <a:spcPct val="80000"/>
              </a:lnSpc>
              <a:buFont typeface="Wingdings" panose="05000000000000000000" pitchFamily="2" charset="2"/>
              <a:buNone/>
            </a:pPr>
            <a:r>
              <a:rPr lang="en-US" altLang="zh-CN" sz="2400" dirty="0"/>
              <a:t>           otherwise</a:t>
            </a:r>
          </a:p>
          <a:p>
            <a:pPr eaLnBrk="1" hangingPunct="1">
              <a:lnSpc>
                <a:spcPct val="80000"/>
              </a:lnSpc>
              <a:buFont typeface="Wingdings" panose="05000000000000000000" pitchFamily="2" charset="2"/>
              <a:buNone/>
            </a:pPr>
            <a:r>
              <a:rPr lang="en-US" altLang="zh-CN" sz="2400" dirty="0"/>
              <a:t>                        </a:t>
            </a:r>
            <a:r>
              <a:rPr lang="zh-CN" altLang="en-US" sz="2400" dirty="0"/>
              <a:t>语句</a:t>
            </a:r>
            <a:r>
              <a:rPr lang="en-US" altLang="zh-CN" sz="2400" dirty="0"/>
              <a:t>3</a:t>
            </a:r>
          </a:p>
          <a:p>
            <a:pPr eaLnBrk="1" hangingPunct="1">
              <a:lnSpc>
                <a:spcPct val="80000"/>
              </a:lnSpc>
              <a:buFont typeface="Wingdings" panose="05000000000000000000" pitchFamily="2" charset="2"/>
              <a:buNone/>
            </a:pPr>
            <a:r>
              <a:rPr lang="en-US" altLang="zh-CN" sz="2400" dirty="0"/>
              <a:t>           end</a:t>
            </a:r>
          </a:p>
          <a:p>
            <a:pPr eaLnBrk="1" hangingPunct="1">
              <a:lnSpc>
                <a:spcPct val="80000"/>
              </a:lnSpc>
              <a:buFont typeface="Wingdings" panose="05000000000000000000" pitchFamily="2" charset="2"/>
              <a:buNone/>
            </a:pPr>
            <a:endParaRPr lang="en-US" altLang="zh-CN" sz="2400" dirty="0"/>
          </a:p>
          <a:p>
            <a:pPr eaLnBrk="1" hangingPunct="1">
              <a:lnSpc>
                <a:spcPct val="80000"/>
              </a:lnSpc>
              <a:buFont typeface="Wingdings" panose="05000000000000000000" pitchFamily="2" charset="2"/>
              <a:buNone/>
            </a:pPr>
            <a:r>
              <a:rPr lang="en-US" altLang="zh-CN" sz="2400" dirty="0"/>
              <a:t>                </a:t>
            </a:r>
            <a:r>
              <a:rPr lang="zh-CN" altLang="en-US" sz="2400" dirty="0"/>
              <a:t>例</a:t>
            </a:r>
            <a:r>
              <a:rPr lang="en-US" altLang="zh-CN" sz="2400" dirty="0"/>
              <a:t>exp2_14.m</a:t>
            </a:r>
          </a:p>
          <a:p>
            <a:pPr eaLnBrk="1" hangingPunct="1">
              <a:lnSpc>
                <a:spcPct val="80000"/>
              </a:lnSpc>
              <a:buFont typeface="Wingdings" panose="05000000000000000000" pitchFamily="2" charset="2"/>
              <a:buNone/>
            </a:pPr>
            <a:r>
              <a:rPr lang="en-US" altLang="zh-CN" sz="1900" dirty="0"/>
              <a:t>  </a:t>
            </a:r>
          </a:p>
          <a:p>
            <a:pPr eaLnBrk="1" hangingPunct="1">
              <a:lnSpc>
                <a:spcPct val="80000"/>
              </a:lnSpc>
            </a:pPr>
            <a:endParaRPr lang="en-US" altLang="zh-CN" sz="1900" dirty="0"/>
          </a:p>
        </p:txBody>
      </p:sp>
      <p:sp>
        <p:nvSpPr>
          <p:cNvPr id="55300" name="Text Box 4">
            <a:extLst>
              <a:ext uri="{FF2B5EF4-FFF2-40B4-BE49-F238E27FC236}">
                <a16:creationId xmlns:a16="http://schemas.microsoft.com/office/drawing/2014/main" id="{78F12AEA-D0BE-4941-A3D2-412BB26D3A10}"/>
              </a:ext>
            </a:extLst>
          </p:cNvPr>
          <p:cNvSpPr txBox="1">
            <a:spLocks noChangeArrowheads="1"/>
          </p:cNvSpPr>
          <p:nvPr/>
        </p:nvSpPr>
        <p:spPr bwMode="auto">
          <a:xfrm>
            <a:off x="4953000" y="1557338"/>
            <a:ext cx="4495800" cy="470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kumimoji="1" lang="zh-CN" altLang="en-US" sz="2800" dirty="0"/>
              <a:t>执行方式：表达式的值和哪种情况</a:t>
            </a:r>
            <a:r>
              <a:rPr kumimoji="1" lang="en-US" altLang="zh-CN" sz="2800" dirty="0"/>
              <a:t>(case)</a:t>
            </a:r>
            <a:r>
              <a:rPr kumimoji="1" lang="zh-CN" altLang="en-US" sz="2800" dirty="0"/>
              <a:t>的值相同，就执行哪种情况中的语句，如果不同，则执行</a:t>
            </a:r>
            <a:r>
              <a:rPr kumimoji="1" lang="en-US" altLang="zh-CN" sz="2800" dirty="0"/>
              <a:t>otherwise</a:t>
            </a:r>
            <a:r>
              <a:rPr kumimoji="1" lang="zh-CN" altLang="en-US" sz="2800" dirty="0"/>
              <a:t>中的语句。格式中也可以不包括</a:t>
            </a:r>
            <a:r>
              <a:rPr kumimoji="1" lang="en-US" altLang="zh-CN" sz="2800" dirty="0"/>
              <a:t>otherwise</a:t>
            </a:r>
            <a:r>
              <a:rPr kumimoji="1" lang="zh-CN" altLang="en-US" sz="2800" dirty="0"/>
              <a:t>，这时如果表达式的值与列出的各种情况都不相同，则继续向下执行。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dissolve">
                                      <p:cBhvr>
                                        <p:cTn id="7" dur="5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2072C1B9-8702-4030-9904-3389B6AEDB1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926D06C-0053-48B1-9A30-F30747BE4C17}" type="slidenum">
              <a:rPr lang="en-US" altLang="zh-CN" sz="1200" smtClean="0">
                <a:latin typeface="Garamond" panose="02020404030301010803" pitchFamily="18" charset="0"/>
              </a:rPr>
              <a:pPr>
                <a:spcBef>
                  <a:spcPct val="0"/>
                </a:spcBef>
                <a:buClrTx/>
                <a:buSzTx/>
                <a:buFontTx/>
                <a:buNone/>
              </a:pPr>
              <a:t>62</a:t>
            </a:fld>
            <a:endParaRPr lang="en-US" altLang="zh-CN" sz="1200">
              <a:latin typeface="Garamond" panose="02020404030301010803" pitchFamily="18" charset="0"/>
            </a:endParaRPr>
          </a:p>
        </p:txBody>
      </p:sp>
      <p:sp>
        <p:nvSpPr>
          <p:cNvPr id="128002" name="Rectangle 2">
            <a:extLst>
              <a:ext uri="{FF2B5EF4-FFF2-40B4-BE49-F238E27FC236}">
                <a16:creationId xmlns:a16="http://schemas.microsoft.com/office/drawing/2014/main" id="{6A129897-5918-4D88-BF11-DFE3FA1DC77D}"/>
              </a:ext>
            </a:extLst>
          </p:cNvPr>
          <p:cNvSpPr>
            <a:spLocks noGrp="1" noChangeArrowheads="1"/>
          </p:cNvSpPr>
          <p:nvPr>
            <p:ph type="body" idx="1"/>
          </p:nvPr>
        </p:nvSpPr>
        <p:spPr>
          <a:xfrm>
            <a:off x="415925" y="1143000"/>
            <a:ext cx="9217025" cy="5181600"/>
          </a:xfrm>
        </p:spPr>
        <p:txBody>
          <a:bodyPr/>
          <a:lstStyle/>
          <a:p>
            <a:pPr eaLnBrk="1" hangingPunct="1">
              <a:lnSpc>
                <a:spcPct val="90000"/>
              </a:lnSpc>
            </a:pPr>
            <a:r>
              <a:rPr lang="zh-CN" altLang="en-US" sz="2400" dirty="0"/>
              <a:t>本章所要掌握的是</a:t>
            </a:r>
            <a:r>
              <a:rPr lang="en-US" altLang="zh-CN" sz="2400" dirty="0"/>
              <a:t>MATLAB</a:t>
            </a:r>
            <a:r>
              <a:rPr lang="zh-CN" altLang="en-US" sz="2400" dirty="0"/>
              <a:t>语言的基本知识，包括</a:t>
            </a:r>
            <a:r>
              <a:rPr lang="en-US" altLang="zh-CN" sz="2400" dirty="0"/>
              <a:t>MATLAB</a:t>
            </a:r>
            <a:r>
              <a:rPr lang="zh-CN" altLang="en-US" sz="2400" dirty="0"/>
              <a:t>窗口环境的使用；矩阵运算；基本的绘图命令；程序设计入门。</a:t>
            </a:r>
          </a:p>
          <a:p>
            <a:pPr eaLnBrk="1" hangingPunct="1">
              <a:lnSpc>
                <a:spcPct val="90000"/>
              </a:lnSpc>
            </a:pPr>
            <a:r>
              <a:rPr lang="en-US" altLang="zh-CN" sz="2400" dirty="0"/>
              <a:t>MATLAB</a:t>
            </a:r>
            <a:r>
              <a:rPr lang="zh-CN" altLang="en-US" sz="2400" dirty="0"/>
              <a:t>的窗口环境是基础的基础，要求熟练掌握语句命令的输入、变量的使用、基本的数学函数及各种工作空间与文件管理的命令。要善于运用</a:t>
            </a:r>
            <a:r>
              <a:rPr lang="en-US" altLang="zh-CN" sz="2400" dirty="0"/>
              <a:t>help</a:t>
            </a:r>
            <a:r>
              <a:rPr lang="zh-CN" altLang="en-US" sz="2400" dirty="0"/>
              <a:t>命令自学。</a:t>
            </a:r>
          </a:p>
          <a:p>
            <a:pPr eaLnBrk="1" hangingPunct="1">
              <a:lnSpc>
                <a:spcPct val="90000"/>
              </a:lnSpc>
            </a:pPr>
            <a:r>
              <a:rPr lang="en-US" altLang="zh-CN" sz="2400" dirty="0"/>
              <a:t>MATLAB</a:t>
            </a:r>
            <a:r>
              <a:rPr lang="zh-CN" altLang="en-US" sz="2400" dirty="0"/>
              <a:t>具有强大的矩阵运算能力，要求熟练掌握矩阵的输入与生成，掌握矩阵的基本运算及操作，区分带点运算与不带点运算点的不同；掌握多项式的建立与表示方法及多项式的基本运算。</a:t>
            </a:r>
          </a:p>
          <a:p>
            <a:pPr eaLnBrk="1" hangingPunct="1">
              <a:lnSpc>
                <a:spcPct val="90000"/>
              </a:lnSpc>
            </a:pPr>
            <a:r>
              <a:rPr lang="en-US" altLang="zh-CN" sz="2400" dirty="0"/>
              <a:t>MATLAB</a:t>
            </a:r>
            <a:r>
              <a:rPr lang="zh-CN" altLang="en-US" sz="2400" dirty="0"/>
              <a:t>同样具有强大的图形处理能力，要求熟练掌握基本的二维绘图命令。</a:t>
            </a:r>
          </a:p>
          <a:p>
            <a:pPr eaLnBrk="1" hangingPunct="1">
              <a:lnSpc>
                <a:spcPct val="90000"/>
              </a:lnSpc>
            </a:pPr>
            <a:r>
              <a:rPr lang="en-US" altLang="zh-CN" sz="2400" dirty="0"/>
              <a:t>MATLAB</a:t>
            </a:r>
            <a:r>
              <a:rPr lang="zh-CN" altLang="en-US" sz="2400" dirty="0"/>
              <a:t>具有三种基本的</a:t>
            </a:r>
            <a:r>
              <a:rPr lang="en-US" altLang="zh-CN" sz="2400" dirty="0"/>
              <a:t>M</a:t>
            </a:r>
            <a:r>
              <a:rPr lang="zh-CN" altLang="en-US" sz="2400" dirty="0"/>
              <a:t>文件类型，要求掌握它们的区别及基本结构，熟悉程序流程控制的使用及常用的编程命令。</a:t>
            </a:r>
            <a:endParaRPr lang="zh-CN" altLang="en-US" sz="1900" dirty="0"/>
          </a:p>
        </p:txBody>
      </p:sp>
      <p:sp>
        <p:nvSpPr>
          <p:cNvPr id="93188" name="Text Box 4">
            <a:extLst>
              <a:ext uri="{FF2B5EF4-FFF2-40B4-BE49-F238E27FC236}">
                <a16:creationId xmlns:a16="http://schemas.microsoft.com/office/drawing/2014/main" id="{586473DD-4964-4133-9DCB-A0F8DE357378}"/>
              </a:ext>
            </a:extLst>
          </p:cNvPr>
          <p:cNvSpPr txBox="1">
            <a:spLocks noChangeArrowheads="1"/>
          </p:cNvSpPr>
          <p:nvPr/>
        </p:nvSpPr>
        <p:spPr bwMode="auto">
          <a:xfrm>
            <a:off x="1373188" y="377825"/>
            <a:ext cx="3962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Tx/>
              <a:buSzTx/>
              <a:buFontTx/>
              <a:buNone/>
            </a:pPr>
            <a:r>
              <a:rPr kumimoji="1" lang="zh-CN" altLang="en-US" sz="3200">
                <a:solidFill>
                  <a:schemeClr val="tx2"/>
                </a:solidFill>
              </a:rPr>
              <a:t>本章总结</a:t>
            </a:r>
            <a:endParaRPr kumimoji="1"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8002">
                                            <p:txEl>
                                              <p:pRg st="0" end="0"/>
                                            </p:txEl>
                                          </p:spTgt>
                                        </p:tgtEl>
                                        <p:attrNameLst>
                                          <p:attrName>style.visibility</p:attrName>
                                        </p:attrNameLst>
                                      </p:cBhvr>
                                      <p:to>
                                        <p:strVal val="visible"/>
                                      </p:to>
                                    </p:set>
                                    <p:animEffect transition="in" filter="checkerboard(across)">
                                      <p:cBhvr>
                                        <p:cTn id="7" dur="500"/>
                                        <p:tgtEl>
                                          <p:spTgt spid="1280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8002">
                                            <p:txEl>
                                              <p:pRg st="1" end="1"/>
                                            </p:txEl>
                                          </p:spTgt>
                                        </p:tgtEl>
                                        <p:attrNameLst>
                                          <p:attrName>style.visibility</p:attrName>
                                        </p:attrNameLst>
                                      </p:cBhvr>
                                      <p:to>
                                        <p:strVal val="visible"/>
                                      </p:to>
                                    </p:set>
                                    <p:animEffect transition="in" filter="checkerboard(across)">
                                      <p:cBhvr>
                                        <p:cTn id="12" dur="500"/>
                                        <p:tgtEl>
                                          <p:spTgt spid="1280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8002">
                                            <p:txEl>
                                              <p:pRg st="2" end="2"/>
                                            </p:txEl>
                                          </p:spTgt>
                                        </p:tgtEl>
                                        <p:attrNameLst>
                                          <p:attrName>style.visibility</p:attrName>
                                        </p:attrNameLst>
                                      </p:cBhvr>
                                      <p:to>
                                        <p:strVal val="visible"/>
                                      </p:to>
                                    </p:set>
                                    <p:animEffect transition="in" filter="checkerboard(across)">
                                      <p:cBhvr>
                                        <p:cTn id="17" dur="500"/>
                                        <p:tgtEl>
                                          <p:spTgt spid="1280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8002">
                                            <p:txEl>
                                              <p:pRg st="3" end="3"/>
                                            </p:txEl>
                                          </p:spTgt>
                                        </p:tgtEl>
                                        <p:attrNameLst>
                                          <p:attrName>style.visibility</p:attrName>
                                        </p:attrNameLst>
                                      </p:cBhvr>
                                      <p:to>
                                        <p:strVal val="visible"/>
                                      </p:to>
                                    </p:set>
                                    <p:animEffect transition="in" filter="checkerboard(across)">
                                      <p:cBhvr>
                                        <p:cTn id="22" dur="500"/>
                                        <p:tgtEl>
                                          <p:spTgt spid="12800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28002">
                                            <p:txEl>
                                              <p:pRg st="4" end="4"/>
                                            </p:txEl>
                                          </p:spTgt>
                                        </p:tgtEl>
                                        <p:attrNameLst>
                                          <p:attrName>style.visibility</p:attrName>
                                        </p:attrNameLst>
                                      </p:cBhvr>
                                      <p:to>
                                        <p:strVal val="visible"/>
                                      </p:to>
                                    </p:set>
                                    <p:animEffect transition="in" filter="checkerboard(across)">
                                      <p:cBhvr>
                                        <p:cTn id="27" dur="500"/>
                                        <p:tgtEl>
                                          <p:spTgt spid="1280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a:extLst>
              <a:ext uri="{FF2B5EF4-FFF2-40B4-BE49-F238E27FC236}">
                <a16:creationId xmlns:a16="http://schemas.microsoft.com/office/drawing/2014/main" id="{371826CE-F634-41E7-AFB3-DC166470FE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2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9633FFC-6CC7-4422-B52F-FCC2DF36CA8A}" type="slidenum">
              <a:rPr lang="en-US" altLang="zh-CN" sz="1200" smtClean="0">
                <a:latin typeface="Garamond" panose="02020404030301010803" pitchFamily="18" charset="0"/>
              </a:rPr>
              <a:pPr>
                <a:spcBef>
                  <a:spcPct val="0"/>
                </a:spcBef>
                <a:buClrTx/>
                <a:buSzTx/>
                <a:buFontTx/>
                <a:buNone/>
              </a:pPr>
              <a:t>63</a:t>
            </a:fld>
            <a:endParaRPr lang="en-US" altLang="zh-CN" sz="1200">
              <a:latin typeface="Garamond" panose="02020404030301010803" pitchFamily="18" charset="0"/>
            </a:endParaRPr>
          </a:p>
        </p:txBody>
      </p:sp>
      <p:sp>
        <p:nvSpPr>
          <p:cNvPr id="95235" name="Rectangle 2">
            <a:extLst>
              <a:ext uri="{FF2B5EF4-FFF2-40B4-BE49-F238E27FC236}">
                <a16:creationId xmlns:a16="http://schemas.microsoft.com/office/drawing/2014/main" id="{1AFB1E2F-A6D5-4B2C-9396-4C30691048A6}"/>
              </a:ext>
            </a:extLst>
          </p:cNvPr>
          <p:cNvSpPr>
            <a:spLocks noGrp="1" noChangeArrowheads="1"/>
          </p:cNvSpPr>
          <p:nvPr>
            <p:ph type="title"/>
          </p:nvPr>
        </p:nvSpPr>
        <p:spPr/>
        <p:txBody>
          <a:bodyPr/>
          <a:lstStyle/>
          <a:p>
            <a:pPr eaLnBrk="1" hangingPunct="1"/>
            <a:r>
              <a:rPr lang="zh-CN" altLang="en-US"/>
              <a:t>练习</a:t>
            </a:r>
          </a:p>
        </p:txBody>
      </p:sp>
      <p:sp>
        <p:nvSpPr>
          <p:cNvPr id="95236" name="Rectangle 3">
            <a:extLst>
              <a:ext uri="{FF2B5EF4-FFF2-40B4-BE49-F238E27FC236}">
                <a16:creationId xmlns:a16="http://schemas.microsoft.com/office/drawing/2014/main" id="{7F834EBB-90D4-487D-97A7-3D99A59A57E6}"/>
              </a:ext>
            </a:extLst>
          </p:cNvPr>
          <p:cNvSpPr>
            <a:spLocks noGrp="1" noChangeArrowheads="1"/>
          </p:cNvSpPr>
          <p:nvPr>
            <p:ph type="body" idx="1"/>
          </p:nvPr>
        </p:nvSpPr>
        <p:spPr>
          <a:xfrm>
            <a:off x="495300" y="1125538"/>
            <a:ext cx="8915400" cy="5005387"/>
          </a:xfrm>
        </p:spPr>
        <p:txBody>
          <a:bodyPr/>
          <a:lstStyle/>
          <a:p>
            <a:pPr marL="609600" indent="-609600" eaLnBrk="1" hangingPunct="1">
              <a:lnSpc>
                <a:spcPct val="90000"/>
              </a:lnSpc>
              <a:buFont typeface="Wingdings" panose="05000000000000000000" pitchFamily="2" charset="2"/>
              <a:buNone/>
            </a:pPr>
            <a:r>
              <a:rPr lang="en-US" altLang="zh-CN"/>
              <a:t>【1】</a:t>
            </a:r>
            <a:r>
              <a:rPr lang="zh-CN" altLang="en-US"/>
              <a:t>画出</a:t>
            </a:r>
            <a:r>
              <a:rPr lang="en-US" altLang="zh-CN"/>
              <a:t>y=sin(x)</a:t>
            </a:r>
            <a:r>
              <a:rPr lang="zh-CN" altLang="en-US"/>
              <a:t>的图形</a:t>
            </a:r>
          </a:p>
          <a:p>
            <a:pPr marL="609600" indent="-609600" eaLnBrk="1" hangingPunct="1">
              <a:lnSpc>
                <a:spcPct val="90000"/>
              </a:lnSpc>
            </a:pPr>
            <a:r>
              <a:rPr lang="zh-CN" altLang="en-US"/>
              <a:t>要求：以</a:t>
            </a:r>
            <a:r>
              <a:rPr lang="en-US" altLang="zh-CN"/>
              <a:t>M</a:t>
            </a:r>
            <a:r>
              <a:rPr lang="zh-CN" altLang="en-US"/>
              <a:t>文件形式，</a:t>
            </a:r>
            <a:r>
              <a:rPr lang="en-US" altLang="zh-CN"/>
              <a:t>x</a:t>
            </a:r>
            <a:r>
              <a:rPr lang="zh-CN" altLang="en-US"/>
              <a:t>在</a:t>
            </a:r>
            <a:r>
              <a:rPr lang="en-US" altLang="zh-CN"/>
              <a:t>[0,2*pi]</a:t>
            </a:r>
            <a:r>
              <a:rPr lang="zh-CN" altLang="en-US"/>
              <a:t>之间取</a:t>
            </a:r>
            <a:r>
              <a:rPr lang="en-US" altLang="zh-CN"/>
              <a:t>30</a:t>
            </a:r>
            <a:r>
              <a:rPr lang="zh-CN" altLang="en-US"/>
              <a:t>个点，标出横轴与纵轴坐标、图名等。</a:t>
            </a:r>
          </a:p>
          <a:p>
            <a:pPr marL="609600" indent="-609600" eaLnBrk="1" hangingPunct="1">
              <a:lnSpc>
                <a:spcPct val="90000"/>
              </a:lnSpc>
              <a:buFont typeface="Wingdings" panose="05000000000000000000" pitchFamily="2" charset="2"/>
              <a:buNone/>
            </a:pPr>
            <a:r>
              <a:rPr lang="en-US" altLang="zh-CN"/>
              <a:t>【2】  </a:t>
            </a:r>
            <a:r>
              <a:rPr lang="zh-CN" altLang="en-US"/>
              <a:t>在同一坐标系中画出</a:t>
            </a:r>
            <a:r>
              <a:rPr lang="en-US" altLang="zh-CN"/>
              <a:t>y=sin(x)</a:t>
            </a:r>
            <a:r>
              <a:rPr lang="zh-CN" altLang="en-US"/>
              <a:t>，</a:t>
            </a:r>
            <a:r>
              <a:rPr lang="en-US" altLang="zh-CN"/>
              <a:t>y=x</a:t>
            </a:r>
            <a:r>
              <a:rPr lang="zh-CN" altLang="en-US"/>
              <a:t>，</a:t>
            </a:r>
            <a:r>
              <a:rPr lang="en-US" altLang="zh-CN"/>
              <a:t>y=tan(x)</a:t>
            </a:r>
            <a:r>
              <a:rPr lang="zh-CN" altLang="en-US"/>
              <a:t>的图象</a:t>
            </a:r>
          </a:p>
          <a:p>
            <a:pPr marL="609600" indent="-609600" eaLnBrk="1" hangingPunct="1">
              <a:lnSpc>
                <a:spcPct val="90000"/>
              </a:lnSpc>
            </a:pPr>
            <a:r>
              <a:rPr lang="zh-CN" altLang="en-US"/>
              <a:t>要求：采用不同颜色、不同形状的线条画出上述三种图像，并且分别予以标识。</a:t>
            </a:r>
          </a:p>
          <a:p>
            <a:pPr marL="609600" indent="-609600" eaLnBrk="1" hangingPunct="1">
              <a:lnSpc>
                <a:spcPct val="90000"/>
              </a:lnSpc>
              <a:buFont typeface="Wingdings" panose="05000000000000000000" pitchFamily="2" charset="2"/>
              <a:buNone/>
            </a:pPr>
            <a:r>
              <a:rPr lang="en-US" altLang="zh-CN"/>
              <a:t>【3】</a:t>
            </a:r>
            <a:r>
              <a:rPr lang="zh-CN" altLang="en-US"/>
              <a:t>编写一个函数文件，当输入</a:t>
            </a:r>
            <a:r>
              <a:rPr lang="en-US" altLang="zh-CN"/>
              <a:t>sin, cos, tan</a:t>
            </a:r>
            <a:r>
              <a:rPr lang="zh-CN" altLang="en-US"/>
              <a:t>符号时，画出各自的函数曲线。横轴数据范围可以自己任意设定，如设置为：</a:t>
            </a:r>
            <a:r>
              <a:rPr lang="en-US" altLang="zh-CN"/>
              <a:t>[0,2*pi]</a:t>
            </a:r>
            <a:r>
              <a:rPr lang="zh-CN" altLang="en-US"/>
              <a:t>之间等。</a:t>
            </a:r>
          </a:p>
        </p:txBody>
      </p:sp>
    </p:spTree>
  </p:cSld>
  <p:clrMapOvr>
    <a:masterClrMapping/>
  </p:clrMapOvr>
  <p:transition/>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7866</TotalTime>
  <Words>7772</Words>
  <Application>Microsoft Office PowerPoint</Application>
  <PresentationFormat>A4 纸张(210x297 毫米)</PresentationFormat>
  <Paragraphs>773</Paragraphs>
  <Slides>63</Slides>
  <Notes>31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63</vt:i4>
      </vt:variant>
    </vt:vector>
  </HeadingPairs>
  <TitlesOfParts>
    <vt:vector size="71" baseType="lpstr">
      <vt:lpstr>宋体</vt:lpstr>
      <vt:lpstr>Arial</vt:lpstr>
      <vt:lpstr>Garamond</vt:lpstr>
      <vt:lpstr>Impact</vt:lpstr>
      <vt:lpstr>Times New Roman</vt:lpstr>
      <vt:lpstr>Wingdings</vt:lpstr>
      <vt:lpstr>Edge</vt:lpstr>
      <vt:lpstr>公式</vt:lpstr>
      <vt:lpstr>CH2、  MATLAB语言基础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关于复数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第三节、绘图简介</vt:lpstr>
      <vt:lpstr>PowerPoint 演示文稿</vt:lpstr>
      <vt:lpstr>Plot的参数设置</vt:lpstr>
      <vt:lpstr>Plot的参数设置</vt:lpstr>
      <vt:lpstr>Plot的几种调用方法</vt:lpstr>
      <vt:lpstr>PowerPoint 演示文稿</vt:lpstr>
      <vt:lpstr>PowerPoint 演示文稿</vt:lpstr>
      <vt:lpstr>PowerPoint 演示文稿</vt:lpstr>
      <vt:lpstr>PowerPoint 演示文稿</vt:lpstr>
      <vt:lpstr>PowerPoint 演示文稿</vt:lpstr>
      <vt:lpstr>PowerPoint 演示文稿</vt:lpstr>
      <vt:lpstr>10、一点补充说明</vt:lpstr>
      <vt:lpstr>一、MATLBA程序的基本设计原则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计算机仿真技术概论</dc:title>
  <dc:creator>Yingfu Yang</dc:creator>
  <cp:lastModifiedBy>xiaoping wang</cp:lastModifiedBy>
  <cp:revision>278</cp:revision>
  <dcterms:created xsi:type="dcterms:W3CDTF">2001-11-18T01:50:53Z</dcterms:created>
  <dcterms:modified xsi:type="dcterms:W3CDTF">2025-09-16T14:05:06Z</dcterms:modified>
</cp:coreProperties>
</file>